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1" r:id="rId8"/>
    <p:sldId id="262" r:id="rId9"/>
    <p:sldId id="263" r:id="rId10"/>
    <p:sldId id="269" r:id="rId11"/>
    <p:sldId id="264" r:id="rId12"/>
    <p:sldId id="265" r:id="rId13"/>
    <p:sldId id="267" r:id="rId14"/>
    <p:sldId id="268" r:id="rId15"/>
    <p:sldId id="271" r:id="rId16"/>
    <p:sldId id="270" r:id="rId17"/>
    <p:sldId id="272" r:id="rId18"/>
    <p:sldId id="273" r:id="rId19"/>
    <p:sldId id="274" r:id="rId20"/>
    <p:sldId id="275" r:id="rId21"/>
    <p:sldId id="289" r:id="rId22"/>
    <p:sldId id="290" r:id="rId23"/>
    <p:sldId id="291" r:id="rId24"/>
    <p:sldId id="276" r:id="rId25"/>
    <p:sldId id="277" r:id="rId26"/>
    <p:sldId id="278" r:id="rId27"/>
    <p:sldId id="279" r:id="rId28"/>
    <p:sldId id="280" r:id="rId29"/>
    <p:sldId id="282" r:id="rId30"/>
    <p:sldId id="281" r:id="rId31"/>
    <p:sldId id="283" r:id="rId32"/>
    <p:sldId id="284" r:id="rId33"/>
    <p:sldId id="285" r:id="rId34"/>
    <p:sldId id="286" r:id="rId35"/>
    <p:sldId id="287" r:id="rId36"/>
    <p:sldId id="288" r:id="rId37"/>
    <p:sldId id="292" r:id="rId38"/>
    <p:sldId id="293" r:id="rId39"/>
    <p:sldId id="294" r:id="rId40"/>
    <p:sldId id="295" r:id="rId41"/>
    <p:sldId id="296" r:id="rId42"/>
    <p:sldId id="297" r:id="rId43"/>
    <p:sldId id="299" r:id="rId44"/>
    <p:sldId id="298" r:id="rId45"/>
    <p:sldId id="300" r:id="rId46"/>
    <p:sldId id="301" r:id="rId47"/>
    <p:sldId id="302" r:id="rId48"/>
    <p:sldId id="303" r:id="rId49"/>
    <p:sldId id="304" r:id="rId50"/>
    <p:sldId id="30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BEAC7"/>
            </a:gs>
            <a:gs pos="17999">
              <a:srgbClr val="FEE7F2"/>
            </a:gs>
            <a:gs pos="36000">
              <a:srgbClr val="FAC77D"/>
            </a:gs>
            <a:gs pos="61000">
              <a:srgbClr val="FBA97D"/>
            </a:gs>
            <a:gs pos="82001">
              <a:srgbClr val="FBD49C"/>
            </a:gs>
            <a:gs pos="100000">
              <a:srgbClr val="FEE7F2"/>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43001"/>
            <a:ext cx="7772400" cy="990599"/>
          </a:xfrm>
        </p:spPr>
        <p:txBody>
          <a:bodyPr>
            <a:normAutofit fontScale="90000"/>
          </a:bodyPr>
          <a:lstStyle/>
          <a:p>
            <a:r>
              <a:rPr lang="en-US" dirty="0"/>
              <a:t/>
            </a:r>
            <a:br>
              <a:rPr lang="en-US" dirty="0"/>
            </a:br>
            <a:r>
              <a:rPr lang="en-US" dirty="0"/>
              <a:t> </a:t>
            </a:r>
            <a:r>
              <a:rPr lang="en-US" b="1" dirty="0">
                <a:latin typeface="Times New Roman" pitchFamily="18" charset="0"/>
                <a:cs typeface="Times New Roman" pitchFamily="18" charset="0"/>
              </a:rPr>
              <a:t>Indian Knowledge Systems </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a:xfrm>
            <a:off x="1371600" y="2971800"/>
            <a:ext cx="6400800" cy="1676400"/>
          </a:xfrm>
        </p:spPr>
        <p:txBody>
          <a:bodyPr>
            <a:noAutofit/>
          </a:bodyPr>
          <a:lstStyle/>
          <a:p>
            <a:pPr>
              <a:spcBef>
                <a:spcPts val="0"/>
              </a:spcBef>
            </a:pPr>
            <a:r>
              <a:rPr lang="en-US" b="1" dirty="0" smtClean="0">
                <a:solidFill>
                  <a:schemeClr val="tx1"/>
                </a:solidFill>
                <a:latin typeface="Times New Roman" pitchFamily="18" charset="0"/>
                <a:cs typeface="Times New Roman" pitchFamily="18" charset="0"/>
              </a:rPr>
              <a:t>Unit – 2</a:t>
            </a:r>
          </a:p>
          <a:p>
            <a:pPr>
              <a:spcBef>
                <a:spcPts val="0"/>
              </a:spcBef>
            </a:pPr>
            <a:r>
              <a:rPr lang="en-US" b="1" dirty="0" smtClean="0">
                <a:solidFill>
                  <a:schemeClr val="tx1"/>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Number </a:t>
            </a:r>
            <a:r>
              <a:rPr lang="en-US" b="1" dirty="0" smtClean="0">
                <a:solidFill>
                  <a:schemeClr val="tx1"/>
                </a:solidFill>
                <a:latin typeface="Times New Roman" pitchFamily="18" charset="0"/>
                <a:cs typeface="Times New Roman" pitchFamily="18" charset="0"/>
              </a:rPr>
              <a:t>system and Units of Measurement</a:t>
            </a:r>
            <a:endParaRPr lang="en-US"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00438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228600" y="1600200"/>
            <a:ext cx="8686800" cy="4525963"/>
          </a:xfrm>
        </p:spPr>
        <p:txBody>
          <a:bodyPr>
            <a:normAutofit fontScale="92500" lnSpcReduction="20000"/>
          </a:bodyPr>
          <a:lstStyle/>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number systems developed in ancient India are one of the most remarkable achievements of human intellect. </a:t>
            </a:r>
          </a:p>
          <a:p>
            <a:pPr algn="just"/>
            <a:r>
              <a:rPr lang="en-US" dirty="0" smtClean="0">
                <a:latin typeface="Times New Roman" pitchFamily="18" charset="0"/>
                <a:cs typeface="Times New Roman" pitchFamily="18" charset="0"/>
              </a:rPr>
              <a:t>Ancient </a:t>
            </a:r>
            <a:r>
              <a:rPr lang="en-US" dirty="0">
                <a:latin typeface="Times New Roman" pitchFamily="18" charset="0"/>
                <a:cs typeface="Times New Roman" pitchFamily="18" charset="0"/>
              </a:rPr>
              <a:t>Indian mathematicians not only pioneered the development of numbers but also laid the foundation for modern mathematics and computational systems. </a:t>
            </a: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Indian Knowledge System (IKS) integrates mathematics with philosophy, linguistics, astronomy, and spiritual insights, reflecting a holistic approach to knowledge.</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04449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latin typeface="Times New Roman" pitchFamily="18" charset="0"/>
                <a:cs typeface="Times New Roman" pitchFamily="18" charset="0"/>
              </a:rPr>
              <a:t>Origin of Number Systems in India</a:t>
            </a:r>
          </a:p>
        </p:txBody>
      </p:sp>
      <p:sp>
        <p:nvSpPr>
          <p:cNvPr id="3" name="Content Placeholder 2"/>
          <p:cNvSpPr>
            <a:spLocks noGrp="1"/>
          </p:cNvSpPr>
          <p:nvPr>
            <p:ph idx="1"/>
          </p:nvPr>
        </p:nvSpPr>
        <p:spPr>
          <a:xfrm>
            <a:off x="228600" y="914400"/>
            <a:ext cx="8763000" cy="5791200"/>
          </a:xfrm>
        </p:spPr>
        <p:txBody>
          <a:bodyPr>
            <a:normAutofit fontScale="85000" lnSpcReduction="20000"/>
          </a:bodyPr>
          <a:lstStyle/>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roots of the Indian number system can be traced back to the Vedic period (circa 1500–500 BCE). </a:t>
            </a:r>
          </a:p>
          <a:p>
            <a:pPr algn="just"/>
            <a:r>
              <a:rPr lang="en-US" dirty="0" smtClean="0">
                <a:latin typeface="Times New Roman" pitchFamily="18" charset="0"/>
                <a:cs typeface="Times New Roman" pitchFamily="18" charset="0"/>
              </a:rPr>
              <a:t>The </a:t>
            </a:r>
            <a:r>
              <a:rPr lang="en-US" i="1" dirty="0" err="1">
                <a:latin typeface="Times New Roman" pitchFamily="18" charset="0"/>
                <a:cs typeface="Times New Roman" pitchFamily="18" charset="0"/>
              </a:rPr>
              <a:t>Rigveda</a:t>
            </a:r>
            <a:r>
              <a:rPr lang="en-US" dirty="0">
                <a:latin typeface="Times New Roman" pitchFamily="18" charset="0"/>
                <a:cs typeface="Times New Roman" pitchFamily="18" charset="0"/>
              </a:rPr>
              <a:t>, one of the earliest Indian texts, contains references to numbers and arithmetic operations used in rituals and measurements.</a:t>
            </a:r>
          </a:p>
          <a:p>
            <a:pPr algn="just"/>
            <a:r>
              <a:rPr lang="en-US" dirty="0" smtClean="0">
                <a:latin typeface="Times New Roman" pitchFamily="18" charset="0"/>
                <a:cs typeface="Times New Roman" pitchFamily="18" charset="0"/>
              </a:rPr>
              <a:t>Numerical </a:t>
            </a:r>
            <a:r>
              <a:rPr lang="en-US" dirty="0">
                <a:latin typeface="Times New Roman" pitchFamily="18" charset="0"/>
                <a:cs typeface="Times New Roman" pitchFamily="18" charset="0"/>
              </a:rPr>
              <a:t>concepts were deeply embedded in religious and cultural practices, such as the construction of altars with precise geometrical shapes and dimensions.</a:t>
            </a:r>
          </a:p>
          <a:p>
            <a:pPr algn="just"/>
            <a:r>
              <a:rPr lang="en-US" dirty="0" smtClean="0">
                <a:latin typeface="Times New Roman" pitchFamily="18" charset="0"/>
                <a:cs typeface="Times New Roman" pitchFamily="18" charset="0"/>
              </a:rPr>
              <a:t>During </a:t>
            </a:r>
            <a:r>
              <a:rPr lang="en-US" dirty="0">
                <a:latin typeface="Times New Roman" pitchFamily="18" charset="0"/>
                <a:cs typeface="Times New Roman" pitchFamily="18" charset="0"/>
              </a:rPr>
              <a:t>the later Vedic period, the </a:t>
            </a:r>
            <a:r>
              <a:rPr lang="en-US" i="1" dirty="0" err="1">
                <a:latin typeface="Times New Roman" pitchFamily="18" charset="0"/>
                <a:cs typeface="Times New Roman" pitchFamily="18" charset="0"/>
              </a:rPr>
              <a:t>Shulba</a:t>
            </a:r>
            <a:r>
              <a:rPr lang="en-US" i="1" dirty="0">
                <a:latin typeface="Times New Roman" pitchFamily="18" charset="0"/>
                <a:cs typeface="Times New Roman" pitchFamily="18" charset="0"/>
              </a:rPr>
              <a:t> Sutras </a:t>
            </a:r>
            <a:r>
              <a:rPr lang="en-US" dirty="0">
                <a:latin typeface="Times New Roman" pitchFamily="18" charset="0"/>
                <a:cs typeface="Times New Roman" pitchFamily="18" charset="0"/>
              </a:rPr>
              <a:t>(texts related to geometry and mathematics) demonstrated advanced numerical skills, including fractions, proportions, and square roots. </a:t>
            </a:r>
          </a:p>
          <a:p>
            <a:pPr algn="just"/>
            <a:r>
              <a:rPr lang="en-US" dirty="0" smtClean="0">
                <a:latin typeface="Times New Roman" pitchFamily="18" charset="0"/>
                <a:cs typeface="Times New Roman" pitchFamily="18" charset="0"/>
              </a:rPr>
              <a:t>These </a:t>
            </a:r>
            <a:r>
              <a:rPr lang="en-US" dirty="0">
                <a:latin typeface="Times New Roman" pitchFamily="18" charset="0"/>
                <a:cs typeface="Times New Roman" pitchFamily="18" charset="0"/>
              </a:rPr>
              <a:t>texts indicate that ancient Indians had a profound understanding of numbers well before the formalization of the decimal system.</a:t>
            </a:r>
          </a:p>
          <a:p>
            <a:endParaRPr lang="en-US" dirty="0"/>
          </a:p>
        </p:txBody>
      </p:sp>
    </p:spTree>
    <p:extLst>
      <p:ext uri="{BB962C8B-B14F-4D97-AF65-F5344CB8AC3E}">
        <p14:creationId xmlns:p14="http://schemas.microsoft.com/office/powerpoint/2010/main" val="2810811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fontScale="90000"/>
          </a:bodyPr>
          <a:lstStyle/>
          <a:p>
            <a:r>
              <a:rPr lang="en-US" b="1" dirty="0"/>
              <a:t>Decimal System and Place Value Notation</a:t>
            </a:r>
          </a:p>
        </p:txBody>
      </p:sp>
      <p:sp>
        <p:nvSpPr>
          <p:cNvPr id="3" name="Content Placeholder 2"/>
          <p:cNvSpPr>
            <a:spLocks noGrp="1"/>
          </p:cNvSpPr>
          <p:nvPr>
            <p:ph idx="1"/>
          </p:nvPr>
        </p:nvSpPr>
        <p:spPr>
          <a:xfrm>
            <a:off x="457200" y="1066800"/>
            <a:ext cx="8229600" cy="5638800"/>
          </a:xfrm>
        </p:spPr>
        <p:txBody>
          <a:bodyPr>
            <a:normAutofit fontScale="70000" lnSpcReduction="20000"/>
          </a:bodyPr>
          <a:lstStyle/>
          <a:p>
            <a:pPr algn="just"/>
            <a:r>
              <a:rPr lang="en-US" sz="3400" dirty="0" smtClean="0">
                <a:latin typeface="Times New Roman" pitchFamily="18" charset="0"/>
                <a:cs typeface="Times New Roman" pitchFamily="18" charset="0"/>
              </a:rPr>
              <a:t>The </a:t>
            </a:r>
            <a:r>
              <a:rPr lang="en-US" sz="3400" dirty="0">
                <a:latin typeface="Times New Roman" pitchFamily="18" charset="0"/>
                <a:cs typeface="Times New Roman" pitchFamily="18" charset="0"/>
              </a:rPr>
              <a:t>most significant contribution of ancient India to the world of numbers is the decimal place value system. </a:t>
            </a:r>
          </a:p>
          <a:p>
            <a:pPr algn="just"/>
            <a:r>
              <a:rPr lang="en-US" sz="3400" dirty="0" smtClean="0">
                <a:latin typeface="Times New Roman" pitchFamily="18" charset="0"/>
                <a:cs typeface="Times New Roman" pitchFamily="18" charset="0"/>
              </a:rPr>
              <a:t>This </a:t>
            </a:r>
            <a:r>
              <a:rPr lang="en-US" sz="3400" dirty="0">
                <a:latin typeface="Times New Roman" pitchFamily="18" charset="0"/>
                <a:cs typeface="Times New Roman" pitchFamily="18" charset="0"/>
              </a:rPr>
              <a:t>system, which uses ten symbols (0–9), revolutionized arithmetic, making calculations simple and efficient. The earliest evidence of the decimal system appears in inscriptions from the 3rd century BCE, such as the </a:t>
            </a:r>
            <a:r>
              <a:rPr lang="en-US" sz="3400" dirty="0" err="1">
                <a:latin typeface="Times New Roman" pitchFamily="18" charset="0"/>
                <a:cs typeface="Times New Roman" pitchFamily="18" charset="0"/>
              </a:rPr>
              <a:t>Ashokan</a:t>
            </a:r>
            <a:r>
              <a:rPr lang="en-US" sz="3400" dirty="0">
                <a:latin typeface="Times New Roman" pitchFamily="18" charset="0"/>
                <a:cs typeface="Times New Roman" pitchFamily="18" charset="0"/>
              </a:rPr>
              <a:t> Edicts.</a:t>
            </a:r>
          </a:p>
          <a:p>
            <a:pPr algn="just"/>
            <a:r>
              <a:rPr lang="en-US" sz="3400" dirty="0" smtClean="0">
                <a:latin typeface="Times New Roman" pitchFamily="18" charset="0"/>
                <a:cs typeface="Times New Roman" pitchFamily="18" charset="0"/>
              </a:rPr>
              <a:t>The </a:t>
            </a:r>
            <a:r>
              <a:rPr lang="en-US" sz="3400" dirty="0">
                <a:latin typeface="Times New Roman" pitchFamily="18" charset="0"/>
                <a:cs typeface="Times New Roman" pitchFamily="18" charset="0"/>
              </a:rPr>
              <a:t>concept of zero (</a:t>
            </a:r>
            <a:r>
              <a:rPr lang="en-US" sz="3400" dirty="0" err="1">
                <a:latin typeface="Times New Roman" pitchFamily="18" charset="0"/>
                <a:cs typeface="Times New Roman" pitchFamily="18" charset="0"/>
              </a:rPr>
              <a:t>śūnya</a:t>
            </a:r>
            <a:r>
              <a:rPr lang="en-US" sz="3400" dirty="0">
                <a:latin typeface="Times New Roman" pitchFamily="18" charset="0"/>
                <a:cs typeface="Times New Roman" pitchFamily="18" charset="0"/>
              </a:rPr>
              <a:t>), first formalized in India, was a groundbreaking innovation. The Indian mathematician </a:t>
            </a:r>
            <a:r>
              <a:rPr lang="en-US" sz="3400" b="1" i="1" dirty="0" err="1">
                <a:latin typeface="Times New Roman" pitchFamily="18" charset="0"/>
                <a:cs typeface="Times New Roman" pitchFamily="18" charset="0"/>
              </a:rPr>
              <a:t>Brahmagupta</a:t>
            </a:r>
            <a:r>
              <a:rPr lang="en-US" sz="3400" dirty="0">
                <a:latin typeface="Times New Roman" pitchFamily="18" charset="0"/>
                <a:cs typeface="Times New Roman" pitchFamily="18" charset="0"/>
              </a:rPr>
              <a:t>(598–668 CE) was the first to describe zero as a number and laid down rules for arithmetic operations involving zero in his seminal work </a:t>
            </a:r>
            <a:r>
              <a:rPr lang="en-US" sz="3400" b="1" i="1" dirty="0" err="1" smtClean="0">
                <a:latin typeface="Times New Roman" pitchFamily="18" charset="0"/>
                <a:cs typeface="Times New Roman" pitchFamily="18" charset="0"/>
              </a:rPr>
              <a:t>Brahmasphuta</a:t>
            </a:r>
            <a:r>
              <a:rPr lang="en-US" sz="3400" b="1" i="1" dirty="0" smtClean="0">
                <a:latin typeface="Times New Roman" pitchFamily="18" charset="0"/>
                <a:cs typeface="Times New Roman" pitchFamily="18" charset="0"/>
              </a:rPr>
              <a:t> </a:t>
            </a:r>
            <a:r>
              <a:rPr lang="en-US" sz="3400" b="1" i="1" dirty="0" err="1" smtClean="0">
                <a:latin typeface="Times New Roman" pitchFamily="18" charset="0"/>
                <a:cs typeface="Times New Roman" pitchFamily="18" charset="0"/>
              </a:rPr>
              <a:t>siddhanta</a:t>
            </a:r>
            <a:r>
              <a:rPr lang="en-US" sz="3400" dirty="0">
                <a:latin typeface="Times New Roman" pitchFamily="18" charset="0"/>
                <a:cs typeface="Times New Roman" pitchFamily="18" charset="0"/>
              </a:rPr>
              <a:t>. </a:t>
            </a:r>
          </a:p>
          <a:p>
            <a:pPr algn="just"/>
            <a:r>
              <a:rPr lang="en-US" sz="3400" dirty="0" smtClean="0">
                <a:latin typeface="Times New Roman" pitchFamily="18" charset="0"/>
                <a:cs typeface="Times New Roman" pitchFamily="18" charset="0"/>
              </a:rPr>
              <a:t>Zero</a:t>
            </a:r>
            <a:r>
              <a:rPr lang="en-US" sz="3400" dirty="0">
                <a:latin typeface="Times New Roman" pitchFamily="18" charset="0"/>
                <a:cs typeface="Times New Roman" pitchFamily="18" charset="0"/>
              </a:rPr>
              <a:t>, coupled with the place value system, allowed for infinite scalability in numerical representation and calculations.</a:t>
            </a:r>
          </a:p>
          <a:p>
            <a:pPr algn="just"/>
            <a:r>
              <a:rPr lang="en-US" sz="3400" dirty="0" smtClean="0">
                <a:latin typeface="Times New Roman" pitchFamily="18" charset="0"/>
                <a:cs typeface="Times New Roman" pitchFamily="18" charset="0"/>
              </a:rPr>
              <a:t>The </a:t>
            </a:r>
            <a:r>
              <a:rPr lang="en-US" sz="3400" dirty="0">
                <a:latin typeface="Times New Roman" pitchFamily="18" charset="0"/>
                <a:cs typeface="Times New Roman" pitchFamily="18" charset="0"/>
              </a:rPr>
              <a:t>Indian system of numbers was later transmitted to the Islamic world through scholars like Al-Khwarizmi and Al-</a:t>
            </a:r>
            <a:r>
              <a:rPr lang="en-US" sz="3400" dirty="0" err="1">
                <a:latin typeface="Times New Roman" pitchFamily="18" charset="0"/>
                <a:cs typeface="Times New Roman" pitchFamily="18" charset="0"/>
              </a:rPr>
              <a:t>Samawal</a:t>
            </a:r>
            <a:r>
              <a:rPr lang="en-US" sz="3400" dirty="0">
                <a:latin typeface="Times New Roman" pitchFamily="18" charset="0"/>
                <a:cs typeface="Times New Roman" pitchFamily="18" charset="0"/>
              </a:rPr>
              <a:t>, and eventually reached Europe, where it became the foundation of modern mathematics.</a:t>
            </a:r>
          </a:p>
          <a:p>
            <a:endParaRPr lang="en-US" dirty="0"/>
          </a:p>
        </p:txBody>
      </p:sp>
    </p:spTree>
    <p:extLst>
      <p:ext uri="{BB962C8B-B14F-4D97-AF65-F5344CB8AC3E}">
        <p14:creationId xmlns:p14="http://schemas.microsoft.com/office/powerpoint/2010/main" val="2030664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b="1" dirty="0">
                <a:latin typeface="Times New Roman" pitchFamily="18" charset="0"/>
                <a:cs typeface="Times New Roman" pitchFamily="18" charset="0"/>
              </a:rPr>
              <a:t>Large Numbers</a:t>
            </a:r>
          </a:p>
        </p:txBody>
      </p:sp>
      <p:sp>
        <p:nvSpPr>
          <p:cNvPr id="3" name="Content Placeholder 2"/>
          <p:cNvSpPr>
            <a:spLocks noGrp="1"/>
          </p:cNvSpPr>
          <p:nvPr>
            <p:ph idx="1"/>
          </p:nvPr>
        </p:nvSpPr>
        <p:spPr>
          <a:xfrm>
            <a:off x="457200" y="838200"/>
            <a:ext cx="8229600" cy="5791200"/>
          </a:xfrm>
        </p:spPr>
        <p:txBody>
          <a:bodyPr>
            <a:normAutofit fontScale="70000" lnSpcReduction="20000"/>
          </a:bodyPr>
          <a:lstStyle/>
          <a:p>
            <a:r>
              <a:rPr lang="en-US" dirty="0" smtClean="0">
                <a:latin typeface="Times New Roman" pitchFamily="18" charset="0"/>
                <a:cs typeface="Times New Roman" pitchFamily="18" charset="0"/>
              </a:rPr>
              <a:t>The </a:t>
            </a:r>
            <a:r>
              <a:rPr lang="en-US" dirty="0" err="1">
                <a:latin typeface="Times New Roman" pitchFamily="18" charset="0"/>
                <a:cs typeface="Times New Roman" pitchFamily="18" charset="0"/>
              </a:rPr>
              <a:t>Shukla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Yajurveda</a:t>
            </a:r>
            <a:r>
              <a:rPr lang="en-US" dirty="0">
                <a:latin typeface="Times New Roman" pitchFamily="18" charset="0"/>
                <a:cs typeface="Times New Roman" pitchFamily="18" charset="0"/>
              </a:rPr>
              <a:t> (17.2) [Chapter 17 mantra 2], has a list of names for powers of ten up to 1012. The list given in the </a:t>
            </a:r>
            <a:r>
              <a:rPr lang="en-US" dirty="0" err="1">
                <a:latin typeface="Times New Roman" pitchFamily="18" charset="0"/>
                <a:cs typeface="Times New Roman" pitchFamily="18" charset="0"/>
              </a:rPr>
              <a:t>Yajurveda</a:t>
            </a:r>
            <a:r>
              <a:rPr lang="en-US" dirty="0">
                <a:latin typeface="Times New Roman" pitchFamily="18" charset="0"/>
                <a:cs typeface="Times New Roman" pitchFamily="18" charset="0"/>
              </a:rPr>
              <a:t> text is</a:t>
            </a:r>
            <a:r>
              <a:rPr lang="en-US" dirty="0" smtClean="0">
                <a:latin typeface="Times New Roman" pitchFamily="18" charset="0"/>
                <a:cs typeface="Times New Roman" pitchFamily="18" charset="0"/>
              </a:rPr>
              <a:t>:</a:t>
            </a:r>
          </a:p>
          <a:p>
            <a:pPr marL="0" indent="0">
              <a:buNone/>
            </a:pPr>
            <a:endParaRPr lang="en-US" dirty="0">
              <a:latin typeface="Times New Roman" pitchFamily="18" charset="0"/>
              <a:cs typeface="Times New Roman" pitchFamily="18" charset="0"/>
            </a:endParaRPr>
          </a:p>
          <a:p>
            <a:r>
              <a:rPr lang="en-US" dirty="0" err="1" smtClean="0">
                <a:latin typeface="Times New Roman" pitchFamily="18" charset="0"/>
                <a:cs typeface="Times New Roman" pitchFamily="18" charset="0"/>
              </a:rPr>
              <a:t>eka</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(1) </a:t>
            </a:r>
          </a:p>
          <a:p>
            <a:r>
              <a:rPr lang="en-US" dirty="0" err="1" smtClean="0">
                <a:latin typeface="Times New Roman" pitchFamily="18" charset="0"/>
                <a:cs typeface="Times New Roman" pitchFamily="18" charset="0"/>
              </a:rPr>
              <a:t>daśa</a:t>
            </a:r>
            <a:r>
              <a:rPr lang="en-US" dirty="0" smtClean="0">
                <a:latin typeface="Times New Roman" pitchFamily="18" charset="0"/>
                <a:cs typeface="Times New Roman" pitchFamily="18" charset="0"/>
              </a:rPr>
              <a:t>(10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mesochi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shatam</a:t>
            </a:r>
            <a:r>
              <a:rPr lang="en-US" dirty="0">
                <a:latin typeface="Times New Roman" pitchFamily="18" charset="0"/>
                <a:cs typeface="Times New Roman" pitchFamily="18" charset="0"/>
              </a:rPr>
              <a:t>(100) </a:t>
            </a:r>
          </a:p>
          <a:p>
            <a:r>
              <a:rPr lang="en-US" dirty="0" err="1" smtClean="0">
                <a:latin typeface="Times New Roman" pitchFamily="18" charset="0"/>
                <a:cs typeface="Times New Roman" pitchFamily="18" charset="0"/>
              </a:rPr>
              <a:t>sahasra</a:t>
            </a:r>
            <a:r>
              <a:rPr lang="en-US" dirty="0" smtClean="0">
                <a:latin typeface="Times New Roman" pitchFamily="18" charset="0"/>
                <a:cs typeface="Times New Roman" pitchFamily="18" charset="0"/>
              </a:rPr>
              <a:t>(1000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ayuta</a:t>
            </a:r>
            <a:r>
              <a:rPr lang="en-US" dirty="0" smtClean="0">
                <a:latin typeface="Times New Roman" pitchFamily="18" charset="0"/>
                <a:cs typeface="Times New Roman" pitchFamily="18" charset="0"/>
              </a:rPr>
              <a:t>(10000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niyuta</a:t>
            </a:r>
            <a:r>
              <a:rPr lang="en-US" dirty="0" smtClean="0">
                <a:latin typeface="Times New Roman" pitchFamily="18" charset="0"/>
                <a:cs typeface="Times New Roman" pitchFamily="18" charset="0"/>
              </a:rPr>
              <a:t>(100000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prayuta</a:t>
            </a:r>
            <a:r>
              <a:rPr lang="en-US" dirty="0" smtClean="0">
                <a:latin typeface="Times New Roman" pitchFamily="18" charset="0"/>
                <a:cs typeface="Times New Roman" pitchFamily="18" charset="0"/>
              </a:rPr>
              <a:t>(1000000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arbuda</a:t>
            </a:r>
            <a:r>
              <a:rPr lang="en-US" dirty="0" smtClean="0">
                <a:latin typeface="Times New Roman" pitchFamily="18" charset="0"/>
                <a:cs typeface="Times New Roman" pitchFamily="18" charset="0"/>
              </a:rPr>
              <a:t>(10000000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nyarbuda</a:t>
            </a:r>
            <a:r>
              <a:rPr lang="en-US" dirty="0" smtClean="0">
                <a:latin typeface="Times New Roman" pitchFamily="18" charset="0"/>
                <a:cs typeface="Times New Roman" pitchFamily="18" charset="0"/>
              </a:rPr>
              <a:t>(100000000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saguran</a:t>
            </a:r>
            <a:r>
              <a:rPr lang="en-US" dirty="0" smtClean="0">
                <a:latin typeface="Times New Roman" pitchFamily="18" charset="0"/>
                <a:cs typeface="Times New Roman" pitchFamily="18" charset="0"/>
              </a:rPr>
              <a:t>(1000000000</a:t>
            </a:r>
            <a:r>
              <a:rPr lang="en-US" dirty="0">
                <a:latin typeface="Times New Roman" pitchFamily="18" charset="0"/>
                <a:cs typeface="Times New Roman" pitchFamily="18" charset="0"/>
              </a:rPr>
              <a:t>) </a:t>
            </a:r>
          </a:p>
          <a:p>
            <a:r>
              <a:rPr lang="en-US" dirty="0" err="1" smtClean="0">
                <a:latin typeface="Times New Roman" pitchFamily="18" charset="0"/>
                <a:cs typeface="Times New Roman" pitchFamily="18" charset="0"/>
              </a:rPr>
              <a:t>madhya</a:t>
            </a:r>
            <a:r>
              <a:rPr lang="en-US" dirty="0" smtClean="0">
                <a:latin typeface="Times New Roman" pitchFamily="18" charset="0"/>
                <a:cs typeface="Times New Roman" pitchFamily="18" charset="0"/>
              </a:rPr>
              <a:t>(10000000000</a:t>
            </a:r>
            <a:r>
              <a:rPr lang="en-US" dirty="0">
                <a:latin typeface="Times New Roman" pitchFamily="18" charset="0"/>
                <a:cs typeface="Times New Roman" pitchFamily="18" charset="0"/>
              </a:rPr>
              <a:t>) </a:t>
            </a:r>
          </a:p>
          <a:p>
            <a:r>
              <a:rPr lang="en-US" dirty="0" smtClean="0">
                <a:latin typeface="Times New Roman" pitchFamily="18" charset="0"/>
                <a:cs typeface="Times New Roman" pitchFamily="18" charset="0"/>
              </a:rPr>
              <a:t>anta </a:t>
            </a:r>
            <a:r>
              <a:rPr lang="en-US" dirty="0">
                <a:latin typeface="Times New Roman" pitchFamily="18" charset="0"/>
                <a:cs typeface="Times New Roman" pitchFamily="18" charset="0"/>
              </a:rPr>
              <a:t>(100000000000) </a:t>
            </a:r>
          </a:p>
          <a:p>
            <a:r>
              <a:rPr lang="en-US" dirty="0" err="1" smtClean="0">
                <a:latin typeface="Times New Roman" pitchFamily="18" charset="0"/>
                <a:cs typeface="Times New Roman" pitchFamily="18" charset="0"/>
              </a:rPr>
              <a:t>parârdha</a:t>
            </a:r>
            <a:r>
              <a:rPr lang="en-US" dirty="0" smtClean="0">
                <a:latin typeface="Times New Roman" pitchFamily="18" charset="0"/>
                <a:cs typeface="Times New Roman" pitchFamily="18" charset="0"/>
              </a:rPr>
              <a:t>(1000000000000</a:t>
            </a:r>
            <a:r>
              <a:rPr lang="en-US"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989974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Large Numbers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IN" dirty="0">
                    <a:latin typeface="Times New Roman" pitchFamily="18" charset="0"/>
                    <a:cs typeface="Times New Roman" pitchFamily="18" charset="0"/>
                  </a:rPr>
                  <a:t>During </a:t>
                </a:r>
                <a:r>
                  <a:rPr lang="en-IN" dirty="0" err="1">
                    <a:latin typeface="Times New Roman" pitchFamily="18" charset="0"/>
                    <a:cs typeface="Times New Roman" pitchFamily="18" charset="0"/>
                  </a:rPr>
                  <a:t>Rigveda</a:t>
                </a:r>
                <a:r>
                  <a:rPr lang="en-IN" dirty="0">
                    <a:latin typeface="Times New Roman" pitchFamily="18" charset="0"/>
                    <a:cs typeface="Times New Roman" pitchFamily="18" charset="0"/>
                  </a:rPr>
                  <a:t> time, the Sanskrit language has unique names for the </a:t>
                </a:r>
                <a:r>
                  <a:rPr lang="en-IN" dirty="0" smtClean="0">
                    <a:latin typeface="Times New Roman" pitchFamily="18" charset="0"/>
                    <a:cs typeface="Times New Roman" pitchFamily="18" charset="0"/>
                  </a:rPr>
                  <a:t>numbers:</a:t>
                </a:r>
              </a:p>
              <a:p>
                <a:pPr algn="just"/>
                <a:r>
                  <a:rPr lang="en-IN" dirty="0" smtClean="0">
                    <a:latin typeface="Times New Roman" pitchFamily="18" charset="0"/>
                    <a:cs typeface="Times New Roman" pitchFamily="18" charset="0"/>
                  </a:rPr>
                  <a:t>1-ekam</a:t>
                </a:r>
                <a:r>
                  <a:rPr lang="en-IN" dirty="0">
                    <a:latin typeface="Times New Roman" pitchFamily="18" charset="0"/>
                    <a:cs typeface="Times New Roman" pitchFamily="18" charset="0"/>
                  </a:rPr>
                  <a:t>, 2-dve,3- </a:t>
                </a:r>
                <a:r>
                  <a:rPr lang="en-IN" dirty="0" err="1">
                    <a:latin typeface="Times New Roman" pitchFamily="18" charset="0"/>
                    <a:cs typeface="Times New Roman" pitchFamily="18" charset="0"/>
                  </a:rPr>
                  <a:t>tr</a:t>
                </a:r>
                <a14:m>
                  <m:oMath xmlns:m="http://schemas.openxmlformats.org/officeDocument/2006/math">
                    <m:acc>
                      <m:accPr>
                        <m:chr m:val="̇"/>
                        <m:ctrlPr>
                          <a:rPr lang="en-US" i="1">
                            <a:latin typeface="Cambria Math"/>
                          </a:rPr>
                        </m:ctrlPr>
                      </m:accPr>
                      <m:e>
                        <m:r>
                          <m:rPr>
                            <m:nor/>
                          </m:rPr>
                          <a:rPr lang="en-IN">
                            <a:latin typeface="Times New Roman" pitchFamily="18" charset="0"/>
                            <a:cs typeface="Times New Roman" pitchFamily="18" charset="0"/>
                          </a:rPr>
                          <m:t>i</m:t>
                        </m:r>
                      </m:e>
                    </m:acc>
                  </m:oMath>
                </a14:m>
                <a:r>
                  <a:rPr lang="en-IN" dirty="0" err="1">
                    <a:latin typeface="Times New Roman" pitchFamily="18" charset="0"/>
                    <a:cs typeface="Times New Roman" pitchFamily="18" charset="0"/>
                  </a:rPr>
                  <a:t>ni</a:t>
                </a:r>
                <a:r>
                  <a:rPr lang="en-IN" dirty="0">
                    <a:latin typeface="Times New Roman" pitchFamily="18" charset="0"/>
                    <a:cs typeface="Times New Roman" pitchFamily="18" charset="0"/>
                  </a:rPr>
                  <a:t>, 4-catv</a:t>
                </a:r>
                <a14:m>
                  <m:oMath xmlns:m="http://schemas.openxmlformats.org/officeDocument/2006/math">
                    <m:acc>
                      <m:accPr>
                        <m:chr m:val="̅"/>
                        <m:ctrlPr>
                          <a:rPr lang="en-US" i="1">
                            <a:latin typeface="Cambria Math"/>
                          </a:rPr>
                        </m:ctrlPr>
                      </m:accPr>
                      <m:e>
                        <m:r>
                          <m:rPr>
                            <m:nor/>
                          </m:rPr>
                          <a:rPr lang="en-IN">
                            <a:latin typeface="Times New Roman" pitchFamily="18" charset="0"/>
                            <a:cs typeface="Times New Roman" pitchFamily="18" charset="0"/>
                          </a:rPr>
                          <m:t>a</m:t>
                        </m:r>
                      </m:e>
                    </m:acc>
                  </m:oMath>
                </a14:m>
                <a:r>
                  <a:rPr lang="en-IN" dirty="0" err="1">
                    <a:latin typeface="Times New Roman" pitchFamily="18" charset="0"/>
                    <a:cs typeface="Times New Roman" pitchFamily="18" charset="0"/>
                  </a:rPr>
                  <a:t>ri</a:t>
                </a:r>
                <a:r>
                  <a:rPr lang="en-IN" dirty="0">
                    <a:latin typeface="Times New Roman" pitchFamily="18" charset="0"/>
                    <a:cs typeface="Times New Roman" pitchFamily="18" charset="0"/>
                  </a:rPr>
                  <a:t>, 5-pa</a:t>
                </a:r>
                <a14:m>
                  <m:oMath xmlns:m="http://schemas.openxmlformats.org/officeDocument/2006/math">
                    <m:acc>
                      <m:accPr>
                        <m:chr m:val="̅"/>
                        <m:ctrlPr>
                          <a:rPr lang="en-US" i="1">
                            <a:latin typeface="Cambria Math"/>
                          </a:rPr>
                        </m:ctrlPr>
                      </m:accPr>
                      <m:e>
                        <m:r>
                          <m:rPr>
                            <m:nor/>
                          </m:rPr>
                          <a:rPr lang="en-IN">
                            <a:latin typeface="Times New Roman" pitchFamily="18" charset="0"/>
                            <a:cs typeface="Times New Roman" pitchFamily="18" charset="0"/>
                          </a:rPr>
                          <m:t>n</m:t>
                        </m:r>
                      </m:e>
                    </m:acc>
                  </m:oMath>
                </a14:m>
                <a:r>
                  <a:rPr lang="en-IN" dirty="0" err="1">
                    <a:latin typeface="Times New Roman" pitchFamily="18" charset="0"/>
                    <a:cs typeface="Times New Roman" pitchFamily="18" charset="0"/>
                  </a:rPr>
                  <a:t>ca</a:t>
                </a:r>
                <a:r>
                  <a:rPr lang="en-IN" dirty="0">
                    <a:latin typeface="Times New Roman" pitchFamily="18" charset="0"/>
                    <a:cs typeface="Times New Roman" pitchFamily="18" charset="0"/>
                  </a:rPr>
                  <a:t>, 6-sat, 7-sapta, 8-asta, 9-nava </a:t>
                </a:r>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There </a:t>
                </a:r>
                <a:r>
                  <a:rPr lang="en-IN" dirty="0">
                    <a:latin typeface="Times New Roman" pitchFamily="18" charset="0"/>
                    <a:cs typeface="Times New Roman" pitchFamily="18" charset="0"/>
                  </a:rPr>
                  <a:t>are unique names for numbers from 10 to 100 in steps of ten (</a:t>
                </a:r>
                <a:r>
                  <a:rPr lang="en-IN" dirty="0" err="1">
                    <a:latin typeface="Times New Roman" pitchFamily="18" charset="0"/>
                    <a:cs typeface="Times New Roman" pitchFamily="18" charset="0"/>
                  </a:rPr>
                  <a:t>dasa</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vimsati</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trimsat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catvarimsat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pancasat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sasti</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saptati</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asiti</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navati</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sata</a:t>
                </a:r>
                <a:r>
                  <a:rPr lang="en-IN"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887" r="-3111" b="-10647"/>
                </a:stretch>
              </a:blipFill>
            </p:spPr>
            <p:txBody>
              <a:bodyPr/>
              <a:lstStyle/>
              <a:p>
                <a:r>
                  <a:rPr lang="en-US">
                    <a:noFill/>
                  </a:rPr>
                  <a:t> </a:t>
                </a:r>
              </a:p>
            </p:txBody>
          </p:sp>
        </mc:Fallback>
      </mc:AlternateContent>
    </p:spTree>
    <p:extLst>
      <p:ext uri="{BB962C8B-B14F-4D97-AF65-F5344CB8AC3E}">
        <p14:creationId xmlns:p14="http://schemas.microsoft.com/office/powerpoint/2010/main" val="414680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
            </a:r>
            <a:br>
              <a:rPr lang="en-US" dirty="0" smtClean="0"/>
            </a:br>
            <a:r>
              <a:rPr lang="en-US" b="1" dirty="0" smtClean="0">
                <a:latin typeface="Times New Roman" pitchFamily="18" charset="0"/>
                <a:cs typeface="Times New Roman" pitchFamily="18" charset="0"/>
              </a:rPr>
              <a:t>Large </a:t>
            </a:r>
            <a:r>
              <a:rPr lang="en-US" b="1" dirty="0">
                <a:latin typeface="Times New Roman" pitchFamily="18" charset="0"/>
                <a:cs typeface="Times New Roman" pitchFamily="18" charset="0"/>
              </a:rPr>
              <a:t>Numbers</a:t>
            </a:r>
            <a:br>
              <a:rPr lang="en-US" b="1" dirty="0">
                <a:latin typeface="Times New Roman" pitchFamily="18" charset="0"/>
                <a:cs typeface="Times New Roman" pitchFamily="18" charset="0"/>
              </a:rPr>
            </a:br>
            <a:r>
              <a:rPr lang="en-US" dirty="0"/>
              <a:t/>
            </a:r>
            <a:br>
              <a:rPr lang="en-US" dirty="0"/>
            </a:br>
            <a:endParaRPr lang="en-US" dirty="0"/>
          </a:p>
        </p:txBody>
      </p:sp>
      <p:sp>
        <p:nvSpPr>
          <p:cNvPr id="3" name="Content Placeholder 2"/>
          <p:cNvSpPr>
            <a:spLocks noGrp="1"/>
          </p:cNvSpPr>
          <p:nvPr>
            <p:ph idx="1"/>
          </p:nvPr>
        </p:nvSpPr>
        <p:spPr>
          <a:xfrm>
            <a:off x="228600" y="685800"/>
            <a:ext cx="8763000" cy="5440363"/>
          </a:xfrm>
        </p:spPr>
        <p:txBody>
          <a:bodyPr>
            <a:normAutofit/>
          </a:bodyPr>
          <a:lstStyle/>
          <a:p>
            <a:pPr algn="just"/>
            <a:r>
              <a:rPr lang="en-US" dirty="0" smtClean="0">
                <a:latin typeface="Times New Roman" pitchFamily="18" charset="0"/>
                <a:cs typeface="Times New Roman" pitchFamily="18" charset="0"/>
              </a:rPr>
              <a:t>Later </a:t>
            </a:r>
            <a:r>
              <a:rPr lang="en-US" dirty="0">
                <a:latin typeface="Times New Roman" pitchFamily="18" charset="0"/>
                <a:cs typeface="Times New Roman" pitchFamily="18" charset="0"/>
              </a:rPr>
              <a:t>Hindu and Buddhist texts have extended this list, but these lists are no longer mutually consistent and names of numbers larger than 108 differ between texts.</a:t>
            </a:r>
          </a:p>
          <a:p>
            <a:pPr algn="just"/>
            <a:r>
              <a:rPr lang="en-US" dirty="0" smtClean="0">
                <a:latin typeface="Times New Roman" pitchFamily="18" charset="0"/>
                <a:cs typeface="Times New Roman" pitchFamily="18" charset="0"/>
              </a:rPr>
              <a:t>For </a:t>
            </a:r>
            <a:r>
              <a:rPr lang="en-US" dirty="0">
                <a:latin typeface="Times New Roman" pitchFamily="18" charset="0"/>
                <a:cs typeface="Times New Roman" pitchFamily="18" charset="0"/>
              </a:rPr>
              <a:t>example, the </a:t>
            </a:r>
            <a:r>
              <a:rPr lang="en-US" dirty="0" err="1" smtClean="0">
                <a:latin typeface="Times New Roman" pitchFamily="18" charset="0"/>
                <a:cs typeface="Times New Roman" pitchFamily="18" charset="0"/>
              </a:rPr>
              <a:t>Panchavimsha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Brahmana</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lists </a:t>
            </a:r>
            <a:r>
              <a:rPr lang="en-US" dirty="0" smtClean="0">
                <a:latin typeface="Times New Roman" pitchFamily="18" charset="0"/>
                <a:cs typeface="Times New Roman" pitchFamily="18" charset="0"/>
              </a:rPr>
              <a:t>10</a:t>
            </a:r>
            <a:r>
              <a:rPr lang="en-US" baseline="30000" dirty="0" smtClean="0">
                <a:latin typeface="Times New Roman" pitchFamily="18" charset="0"/>
                <a:cs typeface="Times New Roman" pitchFamily="18" charset="0"/>
              </a:rPr>
              <a:t>9</a:t>
            </a:r>
            <a:r>
              <a:rPr lang="en-US" dirty="0" smtClean="0">
                <a:latin typeface="Times New Roman" pitchFamily="18" charset="0"/>
                <a:cs typeface="Times New Roman" pitchFamily="18" charset="0"/>
              </a:rPr>
              <a:t> as </a:t>
            </a:r>
            <a:r>
              <a:rPr lang="en-US" dirty="0" err="1">
                <a:latin typeface="Times New Roman" pitchFamily="18" charset="0"/>
                <a:cs typeface="Times New Roman" pitchFamily="18" charset="0"/>
              </a:rPr>
              <a:t>nikharva</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10</a:t>
            </a:r>
            <a:r>
              <a:rPr lang="en-US" baseline="30000" dirty="0" smtClean="0">
                <a:latin typeface="Times New Roman" pitchFamily="18" charset="0"/>
                <a:cs typeface="Times New Roman" pitchFamily="18" charset="0"/>
              </a:rPr>
              <a:t>10</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vâdava</a:t>
            </a:r>
            <a:r>
              <a:rPr lang="en-US" dirty="0">
                <a:latin typeface="Times New Roman" pitchFamily="18" charset="0"/>
                <a:cs typeface="Times New Roman" pitchFamily="18" charset="0"/>
              </a:rPr>
              <a:t>, 10</a:t>
            </a:r>
            <a:r>
              <a:rPr lang="en-US" baseline="30000" dirty="0">
                <a:latin typeface="Times New Roman" pitchFamily="18" charset="0"/>
                <a:cs typeface="Times New Roman" pitchFamily="18" charset="0"/>
              </a:rPr>
              <a:t>11</a:t>
            </a:r>
            <a:r>
              <a:rPr lang="en-US" dirty="0">
                <a:latin typeface="Times New Roman" pitchFamily="18" charset="0"/>
                <a:cs typeface="Times New Roman" pitchFamily="18" charset="0"/>
              </a:rPr>
              <a:t>akṣiti, while </a:t>
            </a:r>
            <a:r>
              <a:rPr lang="en-US" dirty="0" err="1" smtClean="0">
                <a:latin typeface="Times New Roman" pitchFamily="18" charset="0"/>
                <a:cs typeface="Times New Roman" pitchFamily="18" charset="0"/>
              </a:rPr>
              <a:t>ŚâṅkhyâyanaŚrauta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Sûtrah</a:t>
            </a:r>
            <a:r>
              <a:rPr lang="en-US" dirty="0" smtClean="0">
                <a:latin typeface="Times New Roman" pitchFamily="18" charset="0"/>
                <a:cs typeface="Times New Roman" pitchFamily="18" charset="0"/>
              </a:rPr>
              <a:t> as 10</a:t>
            </a:r>
            <a:r>
              <a:rPr lang="en-US" baseline="30000" dirty="0" smtClean="0">
                <a:latin typeface="Times New Roman" pitchFamily="18" charset="0"/>
                <a:cs typeface="Times New Roman" pitchFamily="18" charset="0"/>
              </a:rPr>
              <a:t>9 </a:t>
            </a:r>
            <a:r>
              <a:rPr lang="en-US" dirty="0" err="1" smtClean="0">
                <a:latin typeface="Times New Roman" pitchFamily="18" charset="0"/>
                <a:cs typeface="Times New Roman" pitchFamily="18" charset="0"/>
              </a:rPr>
              <a:t>nikharva</a:t>
            </a:r>
            <a:r>
              <a:rPr lang="en-US" dirty="0">
                <a:latin typeface="Times New Roman" pitchFamily="18" charset="0"/>
                <a:cs typeface="Times New Roman" pitchFamily="18" charset="0"/>
              </a:rPr>
              <a:t>, 10</a:t>
            </a:r>
            <a:r>
              <a:rPr lang="en-US" baseline="30000" dirty="0">
                <a:latin typeface="Times New Roman" pitchFamily="18" charset="0"/>
                <a:cs typeface="Times New Roman" pitchFamily="18" charset="0"/>
              </a:rPr>
              <a:t>10</a:t>
            </a:r>
            <a:r>
              <a:rPr lang="en-US" dirty="0">
                <a:latin typeface="Times New Roman" pitchFamily="18" charset="0"/>
                <a:cs typeface="Times New Roman" pitchFamily="18" charset="0"/>
              </a:rPr>
              <a:t>samudra, </a:t>
            </a:r>
            <a:r>
              <a:rPr lang="en-US" dirty="0" smtClean="0">
                <a:latin typeface="Times New Roman" pitchFamily="18" charset="0"/>
                <a:cs typeface="Times New Roman" pitchFamily="18" charset="0"/>
              </a:rPr>
              <a:t>10</a:t>
            </a:r>
            <a:r>
              <a:rPr lang="en-US" baseline="30000" dirty="0" smtClean="0">
                <a:latin typeface="Times New Roman" pitchFamily="18" charset="0"/>
                <a:cs typeface="Times New Roman" pitchFamily="18" charset="0"/>
              </a:rPr>
              <a:t>11 </a:t>
            </a:r>
            <a:r>
              <a:rPr lang="en-US" dirty="0" err="1" smtClean="0">
                <a:latin typeface="Times New Roman" pitchFamily="18" charset="0"/>
                <a:cs typeface="Times New Roman" pitchFamily="18" charset="0"/>
              </a:rPr>
              <a:t>salila</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10</a:t>
            </a:r>
            <a:r>
              <a:rPr lang="en-US" baseline="30000" dirty="0" smtClean="0">
                <a:latin typeface="Times New Roman" pitchFamily="18" charset="0"/>
                <a:cs typeface="Times New Roman" pitchFamily="18" charset="0"/>
              </a:rPr>
              <a:t>12 </a:t>
            </a:r>
            <a:r>
              <a:rPr lang="en-US" dirty="0" err="1" smtClean="0">
                <a:latin typeface="Times New Roman" pitchFamily="18" charset="0"/>
                <a:cs typeface="Times New Roman" pitchFamily="18" charset="0"/>
              </a:rPr>
              <a:t>antya</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10</a:t>
            </a:r>
            <a:r>
              <a:rPr lang="en-US" baseline="30000" dirty="0" smtClean="0">
                <a:latin typeface="Times New Roman" pitchFamily="18" charset="0"/>
                <a:cs typeface="Times New Roman" pitchFamily="18" charset="0"/>
              </a:rPr>
              <a:t>13 </a:t>
            </a:r>
            <a:r>
              <a:rPr lang="en-US" dirty="0" err="1" smtClean="0">
                <a:latin typeface="Times New Roman" pitchFamily="18" charset="0"/>
                <a:cs typeface="Times New Roman" pitchFamily="18" charset="0"/>
              </a:rPr>
              <a:t>ananta</a:t>
            </a:r>
            <a:r>
              <a:rPr lang="en-US" dirty="0">
                <a:latin typeface="Times New Roman" pitchFamily="18" charset="0"/>
                <a:cs typeface="Times New Roman" pitchFamily="18" charset="0"/>
              </a:rPr>
              <a:t>. Such lists of names for powers of ten are called </a:t>
            </a:r>
            <a:r>
              <a:rPr lang="en-US" i="1" dirty="0" err="1" smtClean="0">
                <a:latin typeface="Times New Roman" pitchFamily="18" charset="0"/>
                <a:cs typeface="Times New Roman" pitchFamily="18" charset="0"/>
              </a:rPr>
              <a:t>daśaguṇottarra</a:t>
            </a:r>
            <a:r>
              <a:rPr lang="en-US" i="1" dirty="0" smtClean="0">
                <a:latin typeface="Times New Roman" pitchFamily="18" charset="0"/>
                <a:cs typeface="Times New Roman" pitchFamily="18" charset="0"/>
              </a:rPr>
              <a:t> </a:t>
            </a:r>
            <a:r>
              <a:rPr lang="en-US" i="1" dirty="0" err="1" smtClean="0">
                <a:latin typeface="Times New Roman" pitchFamily="18" charset="0"/>
                <a:cs typeface="Times New Roman" pitchFamily="18" charset="0"/>
              </a:rPr>
              <a:t>saṁjñâ</a:t>
            </a:r>
            <a:r>
              <a:rPr lang="en-US"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3814138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362"/>
          </a:xfrm>
        </p:spPr>
        <p:txBody>
          <a:bodyPr>
            <a:normAutofit fontScale="90000"/>
          </a:bodyPr>
          <a:lstStyle/>
          <a:p>
            <a:r>
              <a:rPr lang="en-US" dirty="0"/>
              <a:t/>
            </a:r>
            <a:br>
              <a:rPr lang="en-US" dirty="0"/>
            </a:br>
            <a:r>
              <a:rPr lang="en-US" sz="3600" b="1" dirty="0" smtClean="0">
                <a:latin typeface="Times New Roman" pitchFamily="18" charset="0"/>
                <a:cs typeface="Times New Roman" pitchFamily="18" charset="0"/>
              </a:rPr>
              <a:t>Large Numbers –Encounter with Siddhartha</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914400"/>
            <a:ext cx="8839200" cy="5791200"/>
          </a:xfrm>
        </p:spPr>
        <p:txBody>
          <a:bodyPr>
            <a:normAutofit fontScale="47500" lnSpcReduction="20000"/>
          </a:bodyPr>
          <a:lstStyle/>
          <a:p>
            <a:r>
              <a:rPr lang="en-US" dirty="0" smtClean="0"/>
              <a:t>The </a:t>
            </a:r>
            <a:r>
              <a:rPr lang="en-US" dirty="0"/>
              <a:t>mathematician </a:t>
            </a:r>
            <a:r>
              <a:rPr lang="en-US" dirty="0" err="1"/>
              <a:t>Arjuna</a:t>
            </a:r>
            <a:r>
              <a:rPr lang="en-US" dirty="0"/>
              <a:t> asked Siddhartha: O young man, do you know the counting which goes beyond </a:t>
            </a:r>
            <a:r>
              <a:rPr lang="en-US" dirty="0" smtClean="0"/>
              <a:t>the </a:t>
            </a:r>
            <a:r>
              <a:rPr lang="en-US" i="1" dirty="0" err="1" smtClean="0"/>
              <a:t>koti</a:t>
            </a:r>
            <a:r>
              <a:rPr lang="en-US" i="1" dirty="0" smtClean="0"/>
              <a:t> </a:t>
            </a:r>
            <a:r>
              <a:rPr lang="en-US" dirty="0" smtClean="0"/>
              <a:t>on </a:t>
            </a:r>
            <a:r>
              <a:rPr lang="en-US" dirty="0"/>
              <a:t>the centesimal scale</a:t>
            </a:r>
            <a:r>
              <a:rPr lang="en-US" dirty="0" smtClean="0"/>
              <a:t>? Siddhartha</a:t>
            </a:r>
            <a:r>
              <a:rPr lang="en-US" dirty="0"/>
              <a:t>: Yes, I know</a:t>
            </a:r>
            <a:r>
              <a:rPr lang="en-US" dirty="0" smtClean="0"/>
              <a:t>.</a:t>
            </a:r>
          </a:p>
          <a:p>
            <a:r>
              <a:rPr lang="en-US" dirty="0" err="1" smtClean="0"/>
              <a:t>Arjuna</a:t>
            </a:r>
            <a:r>
              <a:rPr lang="en-US" dirty="0"/>
              <a:t>: How does the counting proceed beyond </a:t>
            </a:r>
            <a:r>
              <a:rPr lang="en-US" dirty="0" smtClean="0"/>
              <a:t>the </a:t>
            </a:r>
            <a:r>
              <a:rPr lang="en-US" i="1" dirty="0" err="1" smtClean="0"/>
              <a:t>koti</a:t>
            </a:r>
            <a:r>
              <a:rPr lang="en-US" i="1" dirty="0" smtClean="0"/>
              <a:t> </a:t>
            </a:r>
            <a:r>
              <a:rPr lang="en-US" dirty="0" smtClean="0"/>
              <a:t>on </a:t>
            </a:r>
            <a:r>
              <a:rPr lang="en-US" dirty="0"/>
              <a:t>the </a:t>
            </a:r>
            <a:r>
              <a:rPr lang="en-US" dirty="0" smtClean="0"/>
              <a:t>        centesimal </a:t>
            </a:r>
            <a:r>
              <a:rPr lang="en-US" dirty="0"/>
              <a:t>scale</a:t>
            </a:r>
            <a:r>
              <a:rPr lang="en-US" dirty="0" smtClean="0"/>
              <a:t>?</a:t>
            </a:r>
          </a:p>
          <a:p>
            <a:r>
              <a:rPr lang="en-US" dirty="0" smtClean="0"/>
              <a:t>Siddhartha</a:t>
            </a:r>
            <a:r>
              <a:rPr lang="en-US" dirty="0"/>
              <a:t>: </a:t>
            </a:r>
            <a:r>
              <a:rPr lang="en-US" dirty="0" smtClean="0"/>
              <a:t>Hundred </a:t>
            </a:r>
            <a:r>
              <a:rPr lang="en-US" i="1" dirty="0" err="1" smtClean="0"/>
              <a:t>Kotis</a:t>
            </a:r>
            <a:r>
              <a:rPr lang="en-US" i="1" dirty="0"/>
              <a:t> </a:t>
            </a:r>
            <a:r>
              <a:rPr lang="en-US" dirty="0" smtClean="0"/>
              <a:t>are called </a:t>
            </a:r>
            <a:r>
              <a:rPr lang="en-US" i="1" dirty="0" err="1" smtClean="0"/>
              <a:t>ayuta</a:t>
            </a:r>
            <a:r>
              <a:rPr lang="en-US" dirty="0"/>
              <a:t>, </a:t>
            </a:r>
            <a:endParaRPr lang="en-US" dirty="0" smtClean="0"/>
          </a:p>
          <a:p>
            <a:r>
              <a:rPr lang="en-US" dirty="0" smtClean="0"/>
              <a:t>Hundred </a:t>
            </a:r>
            <a:r>
              <a:rPr lang="en-US" i="1" dirty="0" err="1" smtClean="0"/>
              <a:t>ayutas</a:t>
            </a:r>
            <a:r>
              <a:rPr lang="en-US" i="1" dirty="0" smtClean="0"/>
              <a:t> </a:t>
            </a:r>
            <a:r>
              <a:rPr lang="en-US" dirty="0" smtClean="0"/>
              <a:t>a </a:t>
            </a:r>
            <a:r>
              <a:rPr lang="en-US" i="1" dirty="0" err="1" smtClean="0"/>
              <a:t>niyuta</a:t>
            </a:r>
            <a:r>
              <a:rPr lang="en-US" dirty="0"/>
              <a:t>, </a:t>
            </a:r>
            <a:endParaRPr lang="en-US" dirty="0" smtClean="0"/>
          </a:p>
          <a:p>
            <a:r>
              <a:rPr lang="en-US" dirty="0" smtClean="0"/>
              <a:t>Hundred </a:t>
            </a:r>
            <a:r>
              <a:rPr lang="en-US" i="1" dirty="0" err="1" smtClean="0"/>
              <a:t>niyutas</a:t>
            </a:r>
            <a:r>
              <a:rPr lang="en-US" i="1" dirty="0" smtClean="0"/>
              <a:t> </a:t>
            </a:r>
            <a:r>
              <a:rPr lang="en-US" dirty="0" smtClean="0"/>
              <a:t>a </a:t>
            </a:r>
            <a:r>
              <a:rPr lang="en-US" i="1" dirty="0" err="1" smtClean="0"/>
              <a:t>kankara</a:t>
            </a:r>
            <a:r>
              <a:rPr lang="en-US" dirty="0"/>
              <a:t>, </a:t>
            </a:r>
            <a:endParaRPr lang="en-US" dirty="0" smtClean="0"/>
          </a:p>
          <a:p>
            <a:r>
              <a:rPr lang="en-US" dirty="0" smtClean="0"/>
              <a:t>Hundred </a:t>
            </a:r>
            <a:r>
              <a:rPr lang="en-US" i="1" dirty="0" err="1" smtClean="0"/>
              <a:t>kankaras</a:t>
            </a:r>
            <a:r>
              <a:rPr lang="en-US" i="1" dirty="0" smtClean="0"/>
              <a:t> </a:t>
            </a:r>
            <a:r>
              <a:rPr lang="en-US" dirty="0" smtClean="0"/>
              <a:t>a </a:t>
            </a:r>
            <a:r>
              <a:rPr lang="en-US" i="1" dirty="0" err="1" smtClean="0"/>
              <a:t>vivaha</a:t>
            </a:r>
            <a:r>
              <a:rPr lang="en-US" dirty="0" smtClean="0"/>
              <a:t>,</a:t>
            </a:r>
          </a:p>
          <a:p>
            <a:r>
              <a:rPr lang="en-US" dirty="0" smtClean="0"/>
              <a:t>Hundred </a:t>
            </a:r>
            <a:r>
              <a:rPr lang="en-US" i="1" dirty="0" err="1" smtClean="0"/>
              <a:t>vivahas</a:t>
            </a:r>
            <a:r>
              <a:rPr lang="en-US" i="1" dirty="0" smtClean="0"/>
              <a:t> </a:t>
            </a:r>
            <a:r>
              <a:rPr lang="en-US" dirty="0" smtClean="0"/>
              <a:t>a </a:t>
            </a:r>
            <a:r>
              <a:rPr lang="en-US" i="1" dirty="0" err="1" smtClean="0"/>
              <a:t>utsanga</a:t>
            </a:r>
            <a:r>
              <a:rPr lang="en-US" dirty="0" smtClean="0"/>
              <a:t>,</a:t>
            </a:r>
          </a:p>
          <a:p>
            <a:r>
              <a:rPr lang="en-US" dirty="0" smtClean="0"/>
              <a:t> hundred </a:t>
            </a:r>
            <a:r>
              <a:rPr lang="en-US" i="1" dirty="0" err="1" smtClean="0"/>
              <a:t>utsangas</a:t>
            </a:r>
            <a:r>
              <a:rPr lang="en-US" i="1" dirty="0" smtClean="0"/>
              <a:t> </a:t>
            </a:r>
            <a:r>
              <a:rPr lang="en-US" dirty="0" smtClean="0"/>
              <a:t>a </a:t>
            </a:r>
            <a:r>
              <a:rPr lang="en-US" i="1" dirty="0" err="1" smtClean="0"/>
              <a:t>bahula</a:t>
            </a:r>
            <a:r>
              <a:rPr lang="en-US" dirty="0"/>
              <a:t>, </a:t>
            </a:r>
            <a:endParaRPr lang="en-US" dirty="0" smtClean="0"/>
          </a:p>
          <a:p>
            <a:r>
              <a:rPr lang="en-US" dirty="0" smtClean="0"/>
              <a:t>Hundred </a:t>
            </a:r>
            <a:r>
              <a:rPr lang="en-US" i="1" dirty="0" err="1" smtClean="0"/>
              <a:t>bahulas</a:t>
            </a:r>
            <a:r>
              <a:rPr lang="en-US" i="1" dirty="0" smtClean="0"/>
              <a:t> </a:t>
            </a:r>
            <a:r>
              <a:rPr lang="en-US" dirty="0" smtClean="0"/>
              <a:t>a </a:t>
            </a:r>
            <a:r>
              <a:rPr lang="en-US" i="1" dirty="0" err="1" smtClean="0"/>
              <a:t>nagabala</a:t>
            </a:r>
            <a:r>
              <a:rPr lang="en-US" dirty="0"/>
              <a:t>, </a:t>
            </a:r>
            <a:endParaRPr lang="en-US" dirty="0" smtClean="0"/>
          </a:p>
          <a:p>
            <a:r>
              <a:rPr lang="en-US" dirty="0" smtClean="0"/>
              <a:t>Hundred </a:t>
            </a:r>
            <a:r>
              <a:rPr lang="en-US" i="1" dirty="0" err="1" smtClean="0"/>
              <a:t>nagabalas</a:t>
            </a:r>
            <a:r>
              <a:rPr lang="en-US" i="1" dirty="0" smtClean="0"/>
              <a:t> </a:t>
            </a:r>
            <a:r>
              <a:rPr lang="en-US" dirty="0" smtClean="0"/>
              <a:t>a </a:t>
            </a:r>
            <a:r>
              <a:rPr lang="en-US" i="1" dirty="0" err="1" smtClean="0"/>
              <a:t>titilambha</a:t>
            </a:r>
            <a:r>
              <a:rPr lang="en-US" dirty="0"/>
              <a:t>, </a:t>
            </a:r>
            <a:endParaRPr lang="en-US" dirty="0" smtClean="0"/>
          </a:p>
          <a:p>
            <a:r>
              <a:rPr lang="en-US" dirty="0" smtClean="0"/>
              <a:t>Hundred </a:t>
            </a:r>
            <a:r>
              <a:rPr lang="en-US" i="1" dirty="0" err="1" smtClean="0"/>
              <a:t>titilambhas</a:t>
            </a:r>
            <a:r>
              <a:rPr lang="en-US" i="1" dirty="0" smtClean="0"/>
              <a:t> </a:t>
            </a:r>
            <a:r>
              <a:rPr lang="en-US" dirty="0" smtClean="0"/>
              <a:t>a </a:t>
            </a:r>
            <a:r>
              <a:rPr lang="en-US" i="1" dirty="0" err="1" smtClean="0"/>
              <a:t>vyavasthana</a:t>
            </a:r>
            <a:r>
              <a:rPr lang="en-US" i="1" dirty="0" smtClean="0"/>
              <a:t> - </a:t>
            </a:r>
            <a:r>
              <a:rPr lang="en-US" i="1" dirty="0" err="1" smtClean="0"/>
              <a:t>prajnapati</a:t>
            </a:r>
            <a:r>
              <a:rPr lang="en-US" dirty="0" smtClean="0"/>
              <a:t>, </a:t>
            </a:r>
          </a:p>
          <a:p>
            <a:r>
              <a:rPr lang="en-US" dirty="0" smtClean="0"/>
              <a:t>Hundred </a:t>
            </a:r>
            <a:r>
              <a:rPr lang="en-US" i="1" dirty="0" err="1" smtClean="0"/>
              <a:t>vyavasthanaprajnapatis</a:t>
            </a:r>
            <a:r>
              <a:rPr lang="en-US" i="1" dirty="0" smtClean="0"/>
              <a:t> </a:t>
            </a:r>
            <a:r>
              <a:rPr lang="en-US" dirty="0" smtClean="0"/>
              <a:t>a </a:t>
            </a:r>
            <a:r>
              <a:rPr lang="en-US" i="1" dirty="0" err="1" smtClean="0"/>
              <a:t>hetuhila</a:t>
            </a:r>
            <a:r>
              <a:rPr lang="en-US" i="1" dirty="0" smtClean="0"/>
              <a:t>, </a:t>
            </a:r>
          </a:p>
          <a:p>
            <a:r>
              <a:rPr lang="en-US" dirty="0" smtClean="0"/>
              <a:t>Hundred </a:t>
            </a:r>
            <a:r>
              <a:rPr lang="en-US" i="1" dirty="0" err="1" smtClean="0"/>
              <a:t>hetuhilas</a:t>
            </a:r>
            <a:r>
              <a:rPr lang="en-US" i="1" dirty="0" smtClean="0"/>
              <a:t> </a:t>
            </a:r>
            <a:r>
              <a:rPr lang="en-US" dirty="0" smtClean="0"/>
              <a:t>a </a:t>
            </a:r>
            <a:r>
              <a:rPr lang="en-US" i="1" dirty="0" err="1" smtClean="0"/>
              <a:t>karahu</a:t>
            </a:r>
            <a:r>
              <a:rPr lang="en-US" i="1" dirty="0" smtClean="0"/>
              <a:t>,</a:t>
            </a:r>
          </a:p>
          <a:p>
            <a:r>
              <a:rPr lang="en-US" dirty="0" smtClean="0"/>
              <a:t>Hundred </a:t>
            </a:r>
            <a:r>
              <a:rPr lang="en-US" i="1" dirty="0" err="1" smtClean="0"/>
              <a:t>karahus</a:t>
            </a:r>
            <a:r>
              <a:rPr lang="en-US" i="1" dirty="0" smtClean="0"/>
              <a:t> </a:t>
            </a:r>
            <a:r>
              <a:rPr lang="en-US" dirty="0" smtClean="0"/>
              <a:t>a </a:t>
            </a:r>
            <a:r>
              <a:rPr lang="en-US" i="1" dirty="0" err="1" smtClean="0"/>
              <a:t>hetvindriya</a:t>
            </a:r>
            <a:r>
              <a:rPr lang="en-US" i="1" dirty="0" smtClean="0"/>
              <a:t>,</a:t>
            </a:r>
          </a:p>
          <a:p>
            <a:r>
              <a:rPr lang="en-US" dirty="0" smtClean="0"/>
              <a:t>Hundred </a:t>
            </a:r>
            <a:r>
              <a:rPr lang="en-US" i="1" dirty="0" err="1" smtClean="0"/>
              <a:t>hetvindriyas</a:t>
            </a:r>
            <a:r>
              <a:rPr lang="en-US" i="1" dirty="0" smtClean="0"/>
              <a:t> </a:t>
            </a:r>
            <a:r>
              <a:rPr lang="en-US" dirty="0" smtClean="0"/>
              <a:t>a </a:t>
            </a:r>
            <a:r>
              <a:rPr lang="en-US" i="1" dirty="0" err="1" smtClean="0"/>
              <a:t>samapta-lambha</a:t>
            </a:r>
            <a:r>
              <a:rPr lang="en-US" i="1" dirty="0" smtClean="0"/>
              <a:t>,</a:t>
            </a:r>
          </a:p>
          <a:p>
            <a:r>
              <a:rPr lang="en-US" dirty="0" smtClean="0"/>
              <a:t>Hundred </a:t>
            </a:r>
            <a:r>
              <a:rPr lang="en-US" i="1" dirty="0" err="1" smtClean="0"/>
              <a:t>samapta-lambhas</a:t>
            </a:r>
            <a:r>
              <a:rPr lang="en-US" i="1" dirty="0" smtClean="0"/>
              <a:t> </a:t>
            </a:r>
            <a:r>
              <a:rPr lang="en-US" dirty="0" smtClean="0"/>
              <a:t>a </a:t>
            </a:r>
            <a:r>
              <a:rPr lang="en-US" i="1" dirty="0" err="1" smtClean="0"/>
              <a:t>gananagati</a:t>
            </a:r>
            <a:r>
              <a:rPr lang="en-US" i="1" dirty="0" smtClean="0"/>
              <a:t>,</a:t>
            </a:r>
          </a:p>
          <a:p>
            <a:r>
              <a:rPr lang="en-US" dirty="0" smtClean="0"/>
              <a:t>Hundred </a:t>
            </a:r>
            <a:r>
              <a:rPr lang="en-US" i="1" dirty="0" err="1" smtClean="0"/>
              <a:t>gananagatis</a:t>
            </a:r>
            <a:r>
              <a:rPr lang="en-US" i="1" dirty="0" smtClean="0"/>
              <a:t> </a:t>
            </a:r>
            <a:r>
              <a:rPr lang="en-US" dirty="0" smtClean="0"/>
              <a:t>a </a:t>
            </a:r>
            <a:r>
              <a:rPr lang="en-US" i="1" dirty="0" err="1" smtClean="0"/>
              <a:t>niravadya</a:t>
            </a:r>
            <a:r>
              <a:rPr lang="en-US" i="1" dirty="0"/>
              <a:t>, </a:t>
            </a:r>
            <a:endParaRPr lang="en-US" i="1" dirty="0" smtClean="0"/>
          </a:p>
          <a:p>
            <a:r>
              <a:rPr lang="en-US" dirty="0" smtClean="0"/>
              <a:t>Hundred </a:t>
            </a:r>
            <a:r>
              <a:rPr lang="en-US" i="1" dirty="0" err="1" smtClean="0"/>
              <a:t>niravadyas</a:t>
            </a:r>
            <a:r>
              <a:rPr lang="en-US" i="1" dirty="0" smtClean="0"/>
              <a:t> </a:t>
            </a:r>
            <a:r>
              <a:rPr lang="en-US" dirty="0" smtClean="0"/>
              <a:t>a </a:t>
            </a:r>
            <a:r>
              <a:rPr lang="en-US" i="1" dirty="0" smtClean="0"/>
              <a:t>mudra-</a:t>
            </a:r>
            <a:r>
              <a:rPr lang="en-US" i="1" dirty="0" err="1" smtClean="0"/>
              <a:t>bala</a:t>
            </a:r>
            <a:r>
              <a:rPr lang="en-US" i="1" dirty="0" smtClean="0"/>
              <a:t>,</a:t>
            </a:r>
          </a:p>
          <a:p>
            <a:r>
              <a:rPr lang="en-US" dirty="0" smtClean="0"/>
              <a:t>Hundred </a:t>
            </a:r>
            <a:r>
              <a:rPr lang="en-US" i="1" dirty="0" smtClean="0"/>
              <a:t>mudra-</a:t>
            </a:r>
            <a:r>
              <a:rPr lang="en-US" i="1" dirty="0" err="1" smtClean="0"/>
              <a:t>balas</a:t>
            </a:r>
            <a:r>
              <a:rPr lang="en-US" i="1" dirty="0" smtClean="0"/>
              <a:t> </a:t>
            </a:r>
            <a:r>
              <a:rPr lang="en-US" dirty="0" smtClean="0"/>
              <a:t>a </a:t>
            </a:r>
            <a:r>
              <a:rPr lang="en-US" i="1" dirty="0" err="1" smtClean="0"/>
              <a:t>sarva-bala</a:t>
            </a:r>
            <a:r>
              <a:rPr lang="en-US" i="1" dirty="0" smtClean="0"/>
              <a:t>,</a:t>
            </a:r>
          </a:p>
          <a:p>
            <a:r>
              <a:rPr lang="en-US" dirty="0" smtClean="0"/>
              <a:t>Hundred </a:t>
            </a:r>
            <a:r>
              <a:rPr lang="en-US" i="1" dirty="0" err="1" smtClean="0"/>
              <a:t>sarva-balas</a:t>
            </a:r>
            <a:r>
              <a:rPr lang="en-US" i="1" dirty="0" smtClean="0"/>
              <a:t> </a:t>
            </a:r>
            <a:r>
              <a:rPr lang="en-US" dirty="0" smtClean="0"/>
              <a:t>a </a:t>
            </a:r>
            <a:r>
              <a:rPr lang="en-US" i="1" dirty="0" err="1" smtClean="0"/>
              <a:t>visamjna-gati</a:t>
            </a:r>
            <a:r>
              <a:rPr lang="en-US" i="1" dirty="0" smtClean="0"/>
              <a:t>,</a:t>
            </a:r>
          </a:p>
          <a:p>
            <a:r>
              <a:rPr lang="en-US" dirty="0" smtClean="0"/>
              <a:t>Hundred </a:t>
            </a:r>
            <a:r>
              <a:rPr lang="en-US" i="1" dirty="0" err="1" smtClean="0"/>
              <a:t>visamgjna-gatis</a:t>
            </a:r>
            <a:r>
              <a:rPr lang="en-US" i="1" dirty="0" smtClean="0"/>
              <a:t> </a:t>
            </a:r>
            <a:r>
              <a:rPr lang="en-US" dirty="0" smtClean="0"/>
              <a:t>a </a:t>
            </a:r>
            <a:r>
              <a:rPr lang="en-US" i="1" dirty="0" err="1" smtClean="0"/>
              <a:t>sarvajna</a:t>
            </a:r>
            <a:r>
              <a:rPr lang="en-US" i="1" dirty="0" smtClean="0"/>
              <a:t>,</a:t>
            </a:r>
          </a:p>
          <a:p>
            <a:r>
              <a:rPr lang="en-US" dirty="0" smtClean="0"/>
              <a:t>Hundred </a:t>
            </a:r>
            <a:r>
              <a:rPr lang="en-US" i="1" dirty="0" err="1" smtClean="0"/>
              <a:t>sarvajnas</a:t>
            </a:r>
            <a:r>
              <a:rPr lang="en-US" i="1" dirty="0" smtClean="0"/>
              <a:t> </a:t>
            </a:r>
            <a:r>
              <a:rPr lang="en-US" dirty="0" smtClean="0"/>
              <a:t>a </a:t>
            </a:r>
            <a:r>
              <a:rPr lang="en-US" i="1" dirty="0" err="1" smtClean="0"/>
              <a:t>vibhutangama</a:t>
            </a:r>
            <a:r>
              <a:rPr lang="en-US" i="1" dirty="0" smtClean="0"/>
              <a:t>,</a:t>
            </a:r>
          </a:p>
          <a:p>
            <a:r>
              <a:rPr lang="en-US" dirty="0" smtClean="0"/>
              <a:t>Hundred </a:t>
            </a:r>
            <a:r>
              <a:rPr lang="en-US" i="1" dirty="0" err="1" smtClean="0"/>
              <a:t>vibhutangamas</a:t>
            </a:r>
            <a:r>
              <a:rPr lang="en-US" i="1" dirty="0" smtClean="0"/>
              <a:t> </a:t>
            </a:r>
            <a:r>
              <a:rPr lang="en-US" dirty="0" smtClean="0"/>
              <a:t>a </a:t>
            </a:r>
            <a:r>
              <a:rPr lang="en-US" i="1" dirty="0" err="1" smtClean="0"/>
              <a:t>tallaksana</a:t>
            </a:r>
            <a:r>
              <a:rPr lang="en-US" i="1" dirty="0"/>
              <a:t>.</a:t>
            </a:r>
            <a:endParaRPr lang="en-US" dirty="0"/>
          </a:p>
          <a:p>
            <a:r>
              <a:rPr lang="en-US" dirty="0"/>
              <a:t>Thus </a:t>
            </a:r>
            <a:r>
              <a:rPr lang="en-US" dirty="0" smtClean="0"/>
              <a:t>a </a:t>
            </a:r>
            <a:r>
              <a:rPr lang="en-US" i="1" dirty="0" err="1" smtClean="0"/>
              <a:t>tallaksana</a:t>
            </a:r>
            <a:r>
              <a:rPr lang="en-US" i="1" dirty="0" smtClean="0"/>
              <a:t> </a:t>
            </a:r>
            <a:r>
              <a:rPr lang="en-US" dirty="0" smtClean="0"/>
              <a:t>is </a:t>
            </a:r>
            <a:r>
              <a:rPr lang="en-US" dirty="0"/>
              <a:t>10^53</a:t>
            </a:r>
          </a:p>
          <a:p>
            <a:endParaRPr lang="en-US" dirty="0"/>
          </a:p>
        </p:txBody>
      </p:sp>
    </p:spTree>
    <p:extLst>
      <p:ext uri="{BB962C8B-B14F-4D97-AF65-F5344CB8AC3E}">
        <p14:creationId xmlns:p14="http://schemas.microsoft.com/office/powerpoint/2010/main" val="3262872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Times New Roman" pitchFamily="18" charset="0"/>
                <a:cs typeface="Times New Roman" pitchFamily="18" charset="0"/>
              </a:rPr>
              <a:t>Large Numbers –Encounter with Siddhartha</a:t>
            </a:r>
          </a:p>
        </p:txBody>
      </p:sp>
      <p:sp>
        <p:nvSpPr>
          <p:cNvPr id="3" name="Content Placeholder 2"/>
          <p:cNvSpPr>
            <a:spLocks noGrp="1"/>
          </p:cNvSpPr>
          <p:nvPr>
            <p:ph idx="1"/>
          </p:nvPr>
        </p:nvSpPr>
        <p:spPr>
          <a:xfrm>
            <a:off x="228600" y="1600200"/>
            <a:ext cx="8686800" cy="4525963"/>
          </a:xfrm>
        </p:spPr>
        <p:txBody>
          <a:bodyPr>
            <a:noAutofit/>
          </a:bodyPr>
          <a:lstStyle/>
          <a:p>
            <a:pPr algn="just"/>
            <a:r>
              <a:rPr lang="en-US" sz="2800" dirty="0" smtClean="0">
                <a:latin typeface="Times New Roman" pitchFamily="18" charset="0"/>
                <a:cs typeface="Times New Roman" pitchFamily="18" charset="0"/>
              </a:rPr>
              <a:t>Entire </a:t>
            </a:r>
            <a:r>
              <a:rPr lang="en-US" sz="2800" dirty="0">
                <a:latin typeface="Times New Roman" pitchFamily="18" charset="0"/>
                <a:cs typeface="Times New Roman" pitchFamily="18" charset="0"/>
              </a:rPr>
              <a:t>universe measured in meters and then squared would be around </a:t>
            </a:r>
            <a:r>
              <a:rPr lang="en-US" sz="2800" dirty="0" smtClean="0">
                <a:latin typeface="Times New Roman" pitchFamily="18" charset="0"/>
                <a:cs typeface="Times New Roman" pitchFamily="18" charset="0"/>
              </a:rPr>
              <a:t>10^53.</a:t>
            </a:r>
            <a:endParaRPr lang="en-US" sz="2800" dirty="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This </a:t>
            </a:r>
            <a:r>
              <a:rPr lang="en-US" sz="2800" dirty="0">
                <a:latin typeface="Times New Roman" pitchFamily="18" charset="0"/>
                <a:cs typeface="Times New Roman" pitchFamily="18" charset="0"/>
              </a:rPr>
              <a:t>is just one of a series of counting systems that can be expanded geometrically. The last number at which he arrived at after going through nine successive counting systems was10</a:t>
            </a:r>
            <a:r>
              <a:rPr lang="en-US" sz="2800" baseline="30000" dirty="0">
                <a:latin typeface="Times New Roman" pitchFamily="18" charset="0"/>
                <a:cs typeface="Times New Roman" pitchFamily="18" charset="0"/>
              </a:rPr>
              <a:t>421</a:t>
            </a:r>
            <a:r>
              <a:rPr lang="en-US" sz="2800" dirty="0">
                <a:latin typeface="Times New Roman" pitchFamily="18" charset="0"/>
                <a:cs typeface="Times New Roman" pitchFamily="18" charset="0"/>
              </a:rPr>
              <a:t>, that is, a 1 followed by 421 zeros!</a:t>
            </a:r>
          </a:p>
          <a:p>
            <a:pPr algn="just"/>
            <a:r>
              <a:rPr lang="en-US" sz="2800" dirty="0" err="1" smtClean="0">
                <a:latin typeface="Times New Roman" pitchFamily="18" charset="0"/>
                <a:cs typeface="Times New Roman" pitchFamily="18" charset="0"/>
              </a:rPr>
              <a:t>Siddharth</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mentioned that this number </a:t>
            </a:r>
            <a:r>
              <a:rPr lang="en-US" sz="2800" i="1" dirty="0" err="1" smtClean="0">
                <a:latin typeface="Times New Roman" pitchFamily="18" charset="0"/>
                <a:cs typeface="Times New Roman" pitchFamily="18" charset="0"/>
              </a:rPr>
              <a:t>tallakshana</a:t>
            </a:r>
            <a:r>
              <a:rPr lang="en-US" sz="2800" i="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forms </a:t>
            </a:r>
            <a:r>
              <a:rPr lang="en-US" sz="2800" dirty="0">
                <a:latin typeface="Times New Roman" pitchFamily="18" charset="0"/>
                <a:cs typeface="Times New Roman" pitchFamily="18" charset="0"/>
              </a:rPr>
              <a:t>part of one counting system. He further went on to show that eight more such counting systems are available to enumerate higher numbers. In each system there are 23 terms starting from the previous system.</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737305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2600" b="1" dirty="0" smtClean="0">
                <a:latin typeface="Times New Roman" pitchFamily="18" charset="0"/>
                <a:cs typeface="Times New Roman" pitchFamily="18" charset="0"/>
              </a:rPr>
              <a:t>Table 6.1 : Reference to Large Numbers in Ancient Texts.</a:t>
            </a:r>
            <a:endParaRPr lang="en-US" sz="26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2905076391"/>
                  </p:ext>
                </p:extLst>
              </p:nvPr>
            </p:nvGraphicFramePr>
            <p:xfrm>
              <a:off x="990600" y="914400"/>
              <a:ext cx="7467599" cy="5410199"/>
            </p:xfrm>
            <a:graphic>
              <a:graphicData uri="http://schemas.openxmlformats.org/drawingml/2006/table">
                <a:tbl>
                  <a:tblPr firstRow="1" firstCol="1" bandRow="1">
                    <a:tableStyleId>{5C22544A-7EE6-4342-B048-85BDC9FD1C3A}</a:tableStyleId>
                  </a:tblPr>
                  <a:tblGrid>
                    <a:gridCol w="606395"/>
                    <a:gridCol w="2718728"/>
                    <a:gridCol w="2511422"/>
                    <a:gridCol w="1631054"/>
                  </a:tblGrid>
                  <a:tr h="753173">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Sl. No.</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Text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Context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Number quoted</a:t>
                          </a:r>
                          <a:endParaRPr lang="en-US" sz="1800" dirty="0">
                            <a:effectLst/>
                            <a:latin typeface="Times New Roman" pitchFamily="18" charset="0"/>
                            <a:ea typeface="Calibri"/>
                            <a:cs typeface="Times New Roman" pitchFamily="18" charset="0"/>
                          </a:endParaRPr>
                        </a:p>
                      </a:txBody>
                      <a:tcPr marL="68580" marR="68580" marT="0" marB="0"/>
                    </a:tc>
                  </a:tr>
                  <a:tr h="753173">
                    <a:tc>
                      <a:txBody>
                        <a:bodyPr/>
                        <a:lstStyle/>
                        <a:p>
                          <a:r>
                            <a:rPr lang="en-US" sz="1800" dirty="0" smtClean="0">
                              <a:latin typeface="Times New Roman" pitchFamily="18" charset="0"/>
                              <a:cs typeface="Times New Roman" pitchFamily="18" charset="0"/>
                            </a:rPr>
                            <a:t>1</a:t>
                          </a:r>
                          <a:endParaRPr lang="en-US" sz="1800" dirty="0">
                            <a:latin typeface="Times New Roman" pitchFamily="18" charset="0"/>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err="1">
                              <a:effectLst/>
                              <a:latin typeface="Times New Roman" pitchFamily="18" charset="0"/>
                              <a:cs typeface="Times New Roman" pitchFamily="18" charset="0"/>
                            </a:rPr>
                            <a:t>Lalitavistara</a:t>
                          </a:r>
                          <a:r>
                            <a:rPr lang="en-IN" sz="1800" dirty="0">
                              <a:effectLst/>
                              <a:latin typeface="Times New Roman" pitchFamily="18" charset="0"/>
                              <a:cs typeface="Times New Roman" pitchFamily="18" charset="0"/>
                            </a:rPr>
                            <a:t>-sutra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Siddhartha during swayamvara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10</m:t>
                                    </m:r>
                                  </m:e>
                                  <m:sup>
                                    <m:r>
                                      <a:rPr lang="en-IN" sz="1800">
                                        <a:effectLst/>
                                        <a:latin typeface="Cambria Math"/>
                                      </a:rPr>
                                      <m:t>421</m:t>
                                    </m:r>
                                  </m:sup>
                                </m:sSup>
                              </m:oMath>
                            </m:oMathPara>
                          </a14:m>
                          <a:endParaRPr lang="en-US" sz="1800">
                            <a:effectLst/>
                            <a:latin typeface="Times New Roman" pitchFamily="18" charset="0"/>
                            <a:ea typeface="Calibri"/>
                            <a:cs typeface="Times New Roman" pitchFamily="18" charset="0"/>
                          </a:endParaRPr>
                        </a:p>
                      </a:txBody>
                      <a:tcPr marL="68580" marR="68580" marT="0" marB="0"/>
                    </a:tc>
                  </a:tr>
                  <a:tr h="42367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2</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err="1">
                              <a:effectLst/>
                              <a:latin typeface="Times New Roman" pitchFamily="18" charset="0"/>
                              <a:cs typeface="Times New Roman" pitchFamily="18" charset="0"/>
                            </a:rPr>
                            <a:t>Kaccayana’s</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Pali</a:t>
                          </a:r>
                          <a:r>
                            <a:rPr lang="en-IN" sz="1800" dirty="0">
                              <a:effectLst/>
                              <a:latin typeface="Times New Roman" pitchFamily="18" charset="0"/>
                              <a:cs typeface="Times New Roman" pitchFamily="18" charset="0"/>
                            </a:rPr>
                            <a:t> Grammar</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 </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10</m:t>
                                    </m:r>
                                  </m:e>
                                  <m:sup>
                                    <m:r>
                                      <a:rPr lang="en-IN" sz="1800">
                                        <a:effectLst/>
                                        <a:latin typeface="Cambria Math"/>
                                      </a:rPr>
                                      <m:t>140</m:t>
                                    </m:r>
                                  </m:sup>
                                </m:sSup>
                              </m:oMath>
                            </m:oMathPara>
                          </a14:m>
                          <a:endParaRPr lang="en-US" sz="1800">
                            <a:effectLst/>
                            <a:latin typeface="Times New Roman" pitchFamily="18" charset="0"/>
                            <a:ea typeface="Calibri"/>
                            <a:cs typeface="Times New Roman" pitchFamily="18" charset="0"/>
                          </a:endParaRPr>
                        </a:p>
                      </a:txBody>
                      <a:tcPr marL="68580" marR="68580" marT="0" marB="0"/>
                    </a:tc>
                  </a:tr>
                  <a:tr h="657944">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3</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Ramayana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Size of Rama’s army</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10</m:t>
                                    </m:r>
                                  </m:e>
                                  <m:sup>
                                    <m:r>
                                      <a:rPr lang="en-IN" sz="1800">
                                        <a:effectLst/>
                                        <a:latin typeface="Cambria Math"/>
                                      </a:rPr>
                                      <m:t>62</m:t>
                                    </m:r>
                                  </m:sup>
                                </m:sSup>
                              </m:oMath>
                            </m:oMathPara>
                          </a14:m>
                          <a:endParaRPr lang="en-US" sz="1800">
                            <a:effectLst/>
                            <a:latin typeface="Times New Roman" pitchFamily="18" charset="0"/>
                            <a:ea typeface="Calibri"/>
                            <a:cs typeface="Times New Roman" pitchFamily="18" charset="0"/>
                          </a:endParaRPr>
                        </a:p>
                      </a:txBody>
                      <a:tcPr marL="68580" marR="68580" marT="0" marB="0"/>
                    </a:tc>
                  </a:tr>
                  <a:tr h="753173">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Jain canonical works </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err="1">
                              <a:effectLst/>
                              <a:latin typeface="Times New Roman" pitchFamily="18" charset="0"/>
                              <a:cs typeface="Times New Roman" pitchFamily="18" charset="0"/>
                            </a:rPr>
                            <a:t>Sirsaprahelika</a:t>
                          </a:r>
                          <a:r>
                            <a:rPr lang="en-IN" sz="1800" dirty="0">
                              <a:effectLst/>
                              <a:latin typeface="Times New Roman" pitchFamily="18" charset="0"/>
                              <a:cs typeface="Times New Roman" pitchFamily="18" charset="0"/>
                            </a:rPr>
                            <a:t>-an estimate of time</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(8,400,000)</m:t>
                                    </m:r>
                                  </m:e>
                                  <m:sup>
                                    <m:r>
                                      <a:rPr lang="en-IN" sz="1800">
                                        <a:effectLst/>
                                        <a:latin typeface="Cambria Math"/>
                                      </a:rPr>
                                      <m:t>28</m:t>
                                    </m:r>
                                  </m:sup>
                                </m:sSup>
                              </m:oMath>
                            </m:oMathPara>
                          </a14:m>
                          <a:endParaRPr lang="en-US" sz="1800">
                            <a:effectLst/>
                            <a:latin typeface="Times New Roman" pitchFamily="18" charset="0"/>
                            <a:ea typeface="Calibri"/>
                            <a:cs typeface="Times New Roman" pitchFamily="18" charset="0"/>
                          </a:endParaRPr>
                        </a:p>
                      </a:txBody>
                      <a:tcPr marL="68580" marR="68580" marT="0" marB="0"/>
                    </a:tc>
                  </a:tr>
                  <a:tr h="657944">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Anuyogadvara-sutra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Jain canonical text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10</m:t>
                                    </m:r>
                                  </m:e>
                                  <m:sup>
                                    <m:r>
                                      <a:rPr lang="en-IN" sz="1800">
                                        <a:effectLst/>
                                        <a:latin typeface="Cambria Math"/>
                                      </a:rPr>
                                      <m:t>28</m:t>
                                    </m:r>
                                  </m:sup>
                                </m:sSup>
                              </m:oMath>
                            </m:oMathPara>
                          </a14:m>
                          <a:endParaRPr lang="en-US" sz="1800" dirty="0">
                            <a:effectLst/>
                            <a:latin typeface="Times New Roman" pitchFamily="18" charset="0"/>
                            <a:ea typeface="Calibri"/>
                            <a:cs typeface="Times New Roman" pitchFamily="18" charset="0"/>
                          </a:endParaRPr>
                        </a:p>
                      </a:txBody>
                      <a:tcPr marL="68580" marR="68580" marT="0" marB="0"/>
                    </a:tc>
                  </a:tr>
                  <a:tr h="657944">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6</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Taittiriya upanisad</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An inquiry into bliss</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10</m:t>
                                    </m:r>
                                  </m:e>
                                  <m:sup>
                                    <m:r>
                                      <a:rPr lang="en-IN" sz="1800">
                                        <a:effectLst/>
                                        <a:latin typeface="Cambria Math"/>
                                      </a:rPr>
                                      <m:t>21</m:t>
                                    </m:r>
                                  </m:sup>
                                </m:sSup>
                              </m:oMath>
                            </m:oMathPara>
                          </a14:m>
                          <a:endParaRPr lang="en-US" sz="1800" dirty="0">
                            <a:effectLst/>
                            <a:latin typeface="Times New Roman" pitchFamily="18" charset="0"/>
                            <a:ea typeface="Calibri"/>
                            <a:cs typeface="Times New Roman" pitchFamily="18" charset="0"/>
                          </a:endParaRPr>
                        </a:p>
                      </a:txBody>
                      <a:tcPr marL="68580" marR="68580" marT="0" marB="0"/>
                    </a:tc>
                  </a:tr>
                  <a:tr h="753173">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7</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Lilavati</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Description of place value number system</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a:rPr>
                                    </m:ctrlPr>
                                  </m:sSupPr>
                                  <m:e>
                                    <m:r>
                                      <a:rPr lang="en-IN" sz="1800">
                                        <a:effectLst/>
                                        <a:latin typeface="Cambria Math"/>
                                      </a:rPr>
                                      <m:t>10</m:t>
                                    </m:r>
                                  </m:e>
                                  <m:sup>
                                    <m:r>
                                      <a:rPr lang="en-IN" sz="1800">
                                        <a:effectLst/>
                                        <a:latin typeface="Cambria Math"/>
                                      </a:rPr>
                                      <m:t>17</m:t>
                                    </m:r>
                                  </m:sup>
                                </m:sSup>
                              </m:oMath>
                            </m:oMathPara>
                          </a14:m>
                          <a:endParaRPr lang="en-US" sz="1800" dirty="0">
                            <a:effectLst/>
                            <a:latin typeface="Times New Roman" pitchFamily="18" charset="0"/>
                            <a:ea typeface="Calibri"/>
                            <a:cs typeface="Times New Roman" pitchFamily="18" charset="0"/>
                          </a:endParaRPr>
                        </a:p>
                      </a:txBody>
                      <a:tcPr marL="68580" marR="68580" marT="0" marB="0"/>
                    </a:tc>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2905076391"/>
                  </p:ext>
                </p:extLst>
              </p:nvPr>
            </p:nvGraphicFramePr>
            <p:xfrm>
              <a:off x="990600" y="914400"/>
              <a:ext cx="7467599" cy="5410199"/>
            </p:xfrm>
            <a:graphic>
              <a:graphicData uri="http://schemas.openxmlformats.org/drawingml/2006/table">
                <a:tbl>
                  <a:tblPr firstRow="1" firstCol="1" bandRow="1">
                    <a:tableStyleId>{5C22544A-7EE6-4342-B048-85BDC9FD1C3A}</a:tableStyleId>
                  </a:tblPr>
                  <a:tblGrid>
                    <a:gridCol w="606395"/>
                    <a:gridCol w="2718728"/>
                    <a:gridCol w="2511422"/>
                    <a:gridCol w="1631054"/>
                  </a:tblGrid>
                  <a:tr h="753173">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Sl. No.</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Text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Context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Number quoted</a:t>
                          </a:r>
                          <a:endParaRPr lang="en-US" sz="1800" dirty="0">
                            <a:effectLst/>
                            <a:latin typeface="Times New Roman" pitchFamily="18" charset="0"/>
                            <a:ea typeface="Calibri"/>
                            <a:cs typeface="Times New Roman" pitchFamily="18" charset="0"/>
                          </a:endParaRPr>
                        </a:p>
                      </a:txBody>
                      <a:tcPr marL="68580" marR="68580" marT="0" marB="0"/>
                    </a:tc>
                  </a:tr>
                  <a:tr h="753173">
                    <a:tc>
                      <a:txBody>
                        <a:bodyPr/>
                        <a:lstStyle/>
                        <a:p>
                          <a:r>
                            <a:rPr lang="en-US" sz="1800" dirty="0" smtClean="0">
                              <a:latin typeface="Times New Roman" pitchFamily="18" charset="0"/>
                              <a:cs typeface="Times New Roman" pitchFamily="18" charset="0"/>
                            </a:rPr>
                            <a:t>1</a:t>
                          </a:r>
                          <a:endParaRPr lang="en-US" sz="1800" dirty="0">
                            <a:latin typeface="Times New Roman" pitchFamily="18" charset="0"/>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err="1">
                              <a:effectLst/>
                              <a:latin typeface="Times New Roman" pitchFamily="18" charset="0"/>
                              <a:cs typeface="Times New Roman" pitchFamily="18" charset="0"/>
                            </a:rPr>
                            <a:t>Lalitavistara</a:t>
                          </a:r>
                          <a:r>
                            <a:rPr lang="en-IN" sz="1800" dirty="0">
                              <a:effectLst/>
                              <a:latin typeface="Times New Roman" pitchFamily="18" charset="0"/>
                              <a:cs typeface="Times New Roman" pitchFamily="18" charset="0"/>
                            </a:rPr>
                            <a:t>-sutra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Siddhartha during swayamvara</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106452" r="-375" b="-516935"/>
                          </a:stretch>
                        </a:blipFill>
                      </a:tcPr>
                    </a:tc>
                  </a:tr>
                  <a:tr h="42367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2</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err="1">
                              <a:effectLst/>
                              <a:latin typeface="Times New Roman" pitchFamily="18" charset="0"/>
                              <a:cs typeface="Times New Roman" pitchFamily="18" charset="0"/>
                            </a:rPr>
                            <a:t>Kaccayana’s</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Pali</a:t>
                          </a:r>
                          <a:r>
                            <a:rPr lang="en-IN" sz="1800" dirty="0">
                              <a:effectLst/>
                              <a:latin typeface="Times New Roman" pitchFamily="18" charset="0"/>
                              <a:cs typeface="Times New Roman" pitchFamily="18" charset="0"/>
                            </a:rPr>
                            <a:t> Grammar</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 </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371014" r="-375" b="-828986"/>
                          </a:stretch>
                        </a:blipFill>
                      </a:tcPr>
                    </a:tc>
                  </a:tr>
                  <a:tr h="657944">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3</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Ramayana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Size of Rama’s army</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300926" r="-375" b="-429630"/>
                          </a:stretch>
                        </a:blipFill>
                      </a:tcPr>
                    </a:tc>
                  </a:tr>
                  <a:tr h="753173">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Jain canonical works </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err="1">
                              <a:effectLst/>
                              <a:latin typeface="Times New Roman" pitchFamily="18" charset="0"/>
                              <a:cs typeface="Times New Roman" pitchFamily="18" charset="0"/>
                            </a:rPr>
                            <a:t>Sirsaprahelika</a:t>
                          </a:r>
                          <a:r>
                            <a:rPr lang="en-IN" sz="1800" dirty="0">
                              <a:effectLst/>
                              <a:latin typeface="Times New Roman" pitchFamily="18" charset="0"/>
                              <a:cs typeface="Times New Roman" pitchFamily="18" charset="0"/>
                            </a:rPr>
                            <a:t>-an estimate of time</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349194" r="-375" b="-274194"/>
                          </a:stretch>
                        </a:blipFill>
                      </a:tcPr>
                    </a:tc>
                  </a:tr>
                  <a:tr h="657944">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Anuyogadvara-sutra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Jain canonical text</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515741" r="-375" b="-214815"/>
                          </a:stretch>
                        </a:blipFill>
                      </a:tcPr>
                    </a:tc>
                  </a:tr>
                  <a:tr h="657944">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6</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Taittiriya upanisad</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An inquiry into bliss</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615741" r="-375" b="-114815"/>
                          </a:stretch>
                        </a:blipFill>
                      </a:tcPr>
                    </a:tc>
                  </a:tr>
                  <a:tr h="753173">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7</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Lilavati</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Description of place value number system</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8801" t="-628455" r="-375" b="-813"/>
                          </a:stretch>
                        </a:blipFill>
                      </a:tcPr>
                    </a:tc>
                  </a:tr>
                </a:tbl>
              </a:graphicData>
            </a:graphic>
          </p:graphicFrame>
        </mc:Fallback>
      </mc:AlternateContent>
    </p:spTree>
    <p:extLst>
      <p:ext uri="{BB962C8B-B14F-4D97-AF65-F5344CB8AC3E}">
        <p14:creationId xmlns:p14="http://schemas.microsoft.com/office/powerpoint/2010/main" val="1183943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itchFamily="18" charset="0"/>
                <a:cs typeface="Times New Roman" pitchFamily="18" charset="0"/>
              </a:rPr>
              <a:t>Large Numbers –Encounter with Siddhartha</a:t>
            </a:r>
          </a:p>
        </p:txBody>
      </p:sp>
      <p:sp>
        <p:nvSpPr>
          <p:cNvPr id="3" name="Content Placeholder 2"/>
          <p:cNvSpPr>
            <a:spLocks noGrp="1"/>
          </p:cNvSpPr>
          <p:nvPr>
            <p:ph idx="1"/>
          </p:nvPr>
        </p:nvSpPr>
        <p:spPr>
          <a:xfrm>
            <a:off x="76200" y="1600200"/>
            <a:ext cx="8991600" cy="4525963"/>
          </a:xfrm>
        </p:spPr>
        <p:txBody>
          <a:bodyPr>
            <a:normAutofit lnSpcReduction="10000"/>
          </a:bodyPr>
          <a:lstStyle/>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method to get these numbers can be generalized using a </a:t>
            </a:r>
            <a:r>
              <a:rPr lang="en-US" dirty="0" smtClean="0">
                <a:latin typeface="Times New Roman" pitchFamily="18" charset="0"/>
                <a:cs typeface="Times New Roman" pitchFamily="18" charset="0"/>
              </a:rPr>
              <a:t>formula:</a:t>
            </a:r>
            <a:endParaRPr lang="en-US" dirty="0">
              <a:latin typeface="Times New Roman" pitchFamily="18" charset="0"/>
              <a:cs typeface="Times New Roman" pitchFamily="18" charset="0"/>
            </a:endParaRPr>
          </a:p>
          <a:p>
            <a:pPr marL="0" indent="0" algn="just">
              <a:buNone/>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10</a:t>
            </a:r>
            <a:r>
              <a:rPr lang="en-US" baseline="30000" dirty="0">
                <a:latin typeface="Times New Roman" pitchFamily="18" charset="0"/>
                <a:cs typeface="Times New Roman" pitchFamily="18" charset="0"/>
              </a:rPr>
              <a:t>(7+46*n)</a:t>
            </a:r>
            <a:r>
              <a:rPr lang="en-US" dirty="0">
                <a:latin typeface="Times New Roman" pitchFamily="18" charset="0"/>
                <a:cs typeface="Times New Roman" pitchFamily="18" charset="0"/>
              </a:rPr>
              <a:t>)*(10</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a:t>
            </a:r>
            <a:r>
              <a:rPr lang="en-US" baseline="30000" dirty="0">
                <a:latin typeface="Times New Roman" pitchFamily="18" charset="0"/>
                <a:cs typeface="Times New Roman" pitchFamily="18" charset="0"/>
              </a:rPr>
              <a:t>23</a:t>
            </a:r>
          </a:p>
          <a:p>
            <a:pPr algn="just"/>
            <a:r>
              <a:rPr lang="en-US" dirty="0">
                <a:latin typeface="Times New Roman" pitchFamily="18" charset="0"/>
                <a:cs typeface="Times New Roman" pitchFamily="18" charset="0"/>
              </a:rPr>
              <a:t>When n = 0, number is 10</a:t>
            </a:r>
            <a:r>
              <a:rPr lang="en-US" baseline="30000" dirty="0">
                <a:latin typeface="Times New Roman" pitchFamily="18" charset="0"/>
                <a:cs typeface="Times New Roman" pitchFamily="18" charset="0"/>
              </a:rPr>
              <a:t>53</a:t>
            </a:r>
            <a:r>
              <a:rPr lang="en-US" dirty="0">
                <a:latin typeface="Times New Roman" pitchFamily="18" charset="0"/>
                <a:cs typeface="Times New Roman" pitchFamily="18" charset="0"/>
              </a:rPr>
              <a:t>(</a:t>
            </a:r>
            <a:r>
              <a:rPr lang="en-US" i="1" dirty="0" err="1">
                <a:latin typeface="Times New Roman" pitchFamily="18" charset="0"/>
                <a:cs typeface="Times New Roman" pitchFamily="18" charset="0"/>
              </a:rPr>
              <a:t>tallaksana</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When n = 1, number is 10</a:t>
            </a:r>
            <a:r>
              <a:rPr lang="en-US" baseline="30000" dirty="0">
                <a:latin typeface="Times New Roman" pitchFamily="18" charset="0"/>
                <a:cs typeface="Times New Roman" pitchFamily="18" charset="0"/>
              </a:rPr>
              <a:t>99</a:t>
            </a:r>
            <a:r>
              <a:rPr lang="en-US" dirty="0">
                <a:latin typeface="Times New Roman" pitchFamily="18" charset="0"/>
                <a:cs typeface="Times New Roman" pitchFamily="18" charset="0"/>
              </a:rPr>
              <a:t>(</a:t>
            </a:r>
            <a:r>
              <a:rPr lang="en-US" i="1" dirty="0" err="1">
                <a:latin typeface="Times New Roman" pitchFamily="18" charset="0"/>
                <a:cs typeface="Times New Roman" pitchFamily="18" charset="0"/>
              </a:rPr>
              <a:t>dhvajagravati</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When n = </a:t>
            </a:r>
            <a:r>
              <a:rPr lang="en-US" dirty="0" smtClean="0">
                <a:latin typeface="Times New Roman" pitchFamily="18" charset="0"/>
                <a:cs typeface="Times New Roman" pitchFamily="18" charset="0"/>
              </a:rPr>
              <a:t>8,</a:t>
            </a:r>
          </a:p>
          <a:p>
            <a:pPr marL="0" indent="0" algn="just">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 number </a:t>
            </a:r>
            <a:r>
              <a:rPr lang="en-US" dirty="0" smtClean="0">
                <a:latin typeface="Times New Roman" pitchFamily="18" charset="0"/>
                <a:cs typeface="Times New Roman" pitchFamily="18" charset="0"/>
              </a:rPr>
              <a:t>is 10</a:t>
            </a:r>
            <a:r>
              <a:rPr lang="en-US" baseline="30000" dirty="0" smtClean="0">
                <a:latin typeface="Times New Roman" pitchFamily="18" charset="0"/>
                <a:cs typeface="Times New Roman" pitchFamily="18" charset="0"/>
              </a:rPr>
              <a:t>421</a:t>
            </a:r>
            <a:r>
              <a:rPr lang="en-US" dirty="0" smtClean="0">
                <a:latin typeface="Times New Roman" pitchFamily="18" charset="0"/>
                <a:cs typeface="Times New Roman" pitchFamily="18" charset="0"/>
              </a:rPr>
              <a:t>(</a:t>
            </a:r>
            <a:r>
              <a:rPr lang="en-US" i="1" dirty="0" err="1" smtClean="0">
                <a:latin typeface="Times New Roman" pitchFamily="18" charset="0"/>
                <a:cs typeface="Times New Roman" pitchFamily="18" charset="0"/>
              </a:rPr>
              <a:t>dvajagranishamani</a:t>
            </a:r>
            <a:r>
              <a:rPr lang="en-US" i="1"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610264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3200" b="1" dirty="0">
                <a:latin typeface="Times New Roman" pitchFamily="18" charset="0"/>
                <a:cs typeface="Times New Roman" pitchFamily="18" charset="0"/>
              </a:rPr>
              <a:t>Small Numbers –Buddha’s reply to </a:t>
            </a:r>
            <a:r>
              <a:rPr lang="en-US" sz="3200" b="1" dirty="0" err="1">
                <a:latin typeface="Times New Roman" pitchFamily="18" charset="0"/>
                <a:cs typeface="Times New Roman" pitchFamily="18" charset="0"/>
              </a:rPr>
              <a:t>Arjuna</a:t>
            </a:r>
            <a:endParaRPr lang="en-US" sz="3200" b="1" dirty="0">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3617" y="838200"/>
            <a:ext cx="3756765"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0560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IN" sz="3600" b="1" dirty="0">
                <a:latin typeface="Times New Roman" pitchFamily="18" charset="0"/>
                <a:cs typeface="Times New Roman" pitchFamily="18" charset="0"/>
              </a:rPr>
              <a:t>Indian Legacy in Units of Measurement</a:t>
            </a:r>
            <a:r>
              <a:rPr lang="en-US" sz="3600" dirty="0">
                <a:latin typeface="Times New Roman" pitchFamily="18" charset="0"/>
                <a:cs typeface="Times New Roman" pitchFamily="18" charset="0"/>
              </a:rPr>
              <a:t/>
            </a:r>
            <a:br>
              <a:rPr lang="en-US"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914400"/>
                <a:ext cx="8839200" cy="5715000"/>
              </a:xfrm>
            </p:spPr>
            <p:txBody>
              <a:bodyPr>
                <a:normAutofit fontScale="85000" lnSpcReduction="10000"/>
              </a:bodyPr>
              <a:lstStyle/>
              <a:p>
                <a:pPr lvl="0" algn="just"/>
                <a:r>
                  <a:rPr lang="en-IN" b="1" dirty="0">
                    <a:latin typeface="Times New Roman" pitchFamily="18" charset="0"/>
                    <a:cs typeface="Times New Roman" pitchFamily="18" charset="0"/>
                  </a:rPr>
                  <a:t>Standardized Units:</a:t>
                </a:r>
                <a:r>
                  <a:rPr lang="en-IN" dirty="0">
                    <a:latin typeface="Times New Roman" pitchFamily="18" charset="0"/>
                    <a:cs typeface="Times New Roman" pitchFamily="18" charset="0"/>
                  </a:rPr>
                  <a:t> The Indus-</a:t>
                </a:r>
                <a:r>
                  <a:rPr lang="en-IN" dirty="0" err="1">
                    <a:latin typeface="Times New Roman" pitchFamily="18" charset="0"/>
                    <a:cs typeface="Times New Roman" pitchFamily="18" charset="0"/>
                  </a:rPr>
                  <a:t>Saraswati</a:t>
                </a:r>
                <a:r>
                  <a:rPr lang="en-IN" dirty="0">
                    <a:latin typeface="Times New Roman" pitchFamily="18" charset="0"/>
                    <a:cs typeface="Times New Roman" pitchFamily="18" charset="0"/>
                  </a:rPr>
                  <a:t> civilization used standardized units for street widths, such as </a:t>
                </a:r>
                <a:r>
                  <a:rPr lang="en-IN" dirty="0" err="1">
                    <a:latin typeface="Times New Roman" pitchFamily="18" charset="0"/>
                    <a:cs typeface="Times New Roman" pitchFamily="18" charset="0"/>
                  </a:rPr>
                  <a:t>Dhanusha</a:t>
                </a:r>
                <a:r>
                  <a:rPr lang="en-IN" dirty="0">
                    <a:latin typeface="Times New Roman" pitchFamily="18" charset="0"/>
                    <a:cs typeface="Times New Roman" pitchFamily="18" charset="0"/>
                  </a:rPr>
                  <a:t> and </a:t>
                </a:r>
                <a:r>
                  <a:rPr lang="en-IN" dirty="0" err="1">
                    <a:latin typeface="Times New Roman" pitchFamily="18" charset="0"/>
                    <a:cs typeface="Times New Roman" pitchFamily="18" charset="0"/>
                  </a:rPr>
                  <a:t>Garhapatya</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Dhanusha</a:t>
                </a:r>
                <a:r>
                  <a:rPr lang="en-IN" dirty="0">
                    <a:latin typeface="Times New Roman" pitchFamily="18" charset="0"/>
                    <a:cs typeface="Times New Roman" pitchFamily="18" charset="0"/>
                  </a:rPr>
                  <a:t>. For instance </a:t>
                </a:r>
                <a:r>
                  <a:rPr lang="en-IN" dirty="0" err="1">
                    <a:latin typeface="Times New Roman" pitchFamily="18" charset="0"/>
                    <a:cs typeface="Times New Roman" pitchFamily="18" charset="0"/>
                  </a:rPr>
                  <a:t>Kalibangam</a:t>
                </a:r>
                <a:r>
                  <a:rPr lang="en-IN" dirty="0" smtClean="0">
                    <a:latin typeface="Times New Roman" pitchFamily="18" charset="0"/>
                    <a:cs typeface="Times New Roman" pitchFamily="18" charset="0"/>
                  </a:rPr>
                  <a:t>, a </a:t>
                </a:r>
                <a:r>
                  <a:rPr lang="en-IN" dirty="0">
                    <a:latin typeface="Times New Roman" pitchFamily="18" charset="0"/>
                    <a:cs typeface="Times New Roman" pitchFamily="18" charset="0"/>
                  </a:rPr>
                  <a:t>city in the Indus-</a:t>
                </a:r>
                <a:r>
                  <a:rPr lang="en-IN" dirty="0" err="1">
                    <a:latin typeface="Times New Roman" pitchFamily="18" charset="0"/>
                    <a:cs typeface="Times New Roman" pitchFamily="18" charset="0"/>
                  </a:rPr>
                  <a:t>Saraswati</a:t>
                </a:r>
                <a:r>
                  <a:rPr lang="en-IN" dirty="0">
                    <a:latin typeface="Times New Roman" pitchFamily="18" charset="0"/>
                    <a:cs typeface="Times New Roman" pitchFamily="18" charset="0"/>
                  </a:rPr>
                  <a:t> civilization(in Rajasthan in India) had street widths of 1.8m, 3.6m, 5.4m and 7.2m</a:t>
                </a:r>
                <a:r>
                  <a:rPr lang="en-IN" baseline="30000" dirty="0">
                    <a:latin typeface="Times New Roman" pitchFamily="18" charset="0"/>
                    <a:cs typeface="Times New Roman" pitchFamily="18" charset="0"/>
                  </a:rPr>
                  <a:t>4</a:t>
                </a:r>
                <a:r>
                  <a:rPr lang="en-IN"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lvl="0" algn="just"/>
                <a:r>
                  <a:rPr lang="en-IN" b="1" dirty="0">
                    <a:latin typeface="Times New Roman" pitchFamily="18" charset="0"/>
                    <a:cs typeface="Times New Roman" pitchFamily="18" charset="0"/>
                  </a:rPr>
                  <a:t>Brick Ratios:</a:t>
                </a:r>
                <a:r>
                  <a:rPr lang="en-IN" dirty="0">
                    <a:latin typeface="Times New Roman" pitchFamily="18" charset="0"/>
                    <a:cs typeface="Times New Roman" pitchFamily="18" charset="0"/>
                  </a:rPr>
                  <a:t> Excavations at Harappa, Mohenjo-Daro, </a:t>
                </a:r>
                <a:r>
                  <a:rPr lang="en-IN" dirty="0" err="1">
                    <a:latin typeface="Times New Roman" pitchFamily="18" charset="0"/>
                    <a:cs typeface="Times New Roman" pitchFamily="18" charset="0"/>
                  </a:rPr>
                  <a:t>Dholavira</a:t>
                </a:r>
                <a:r>
                  <a:rPr lang="en-IN" dirty="0">
                    <a:latin typeface="Times New Roman" pitchFamily="18" charset="0"/>
                    <a:cs typeface="Times New Roman" pitchFamily="18" charset="0"/>
                  </a:rPr>
                  <a:t>, and </a:t>
                </a:r>
                <a:r>
                  <a:rPr lang="en-IN" dirty="0" err="1">
                    <a:latin typeface="Times New Roman" pitchFamily="18" charset="0"/>
                    <a:cs typeface="Times New Roman" pitchFamily="18" charset="0"/>
                  </a:rPr>
                  <a:t>Lothal</a:t>
                </a:r>
                <a:r>
                  <a:rPr lang="en-IN" dirty="0">
                    <a:latin typeface="Times New Roman" pitchFamily="18" charset="0"/>
                    <a:cs typeface="Times New Roman" pitchFamily="18" charset="0"/>
                  </a:rPr>
                  <a:t> revealed standardized fired bricks with length, width, and depth ratios of 4:2:1</a:t>
                </a:r>
                <a:r>
                  <a:rPr lang="en-IN"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lvl="0" algn="just"/>
                <a:r>
                  <a:rPr lang="en-IN" b="1" dirty="0" err="1">
                    <a:latin typeface="Times New Roman" pitchFamily="18" charset="0"/>
                    <a:cs typeface="Times New Roman" pitchFamily="18" charset="0"/>
                  </a:rPr>
                  <a:t>Artha</a:t>
                </a:r>
                <a14:m>
                  <m:oMath xmlns:m="http://schemas.openxmlformats.org/officeDocument/2006/math">
                    <m:acc>
                      <m:accPr>
                        <m:chr m:val="́"/>
                        <m:ctrlPr>
                          <a:rPr lang="en-US" b="1" i="1">
                            <a:latin typeface="Cambria Math"/>
                          </a:rPr>
                        </m:ctrlPr>
                      </m:accPr>
                      <m:e>
                        <m:r>
                          <a:rPr lang="en-IN" b="1" i="1">
                            <a:latin typeface="Cambria Math"/>
                          </a:rPr>
                          <m:t>𝒔</m:t>
                        </m:r>
                      </m:e>
                    </m:acc>
                    <m:acc>
                      <m:accPr>
                        <m:chr m:val="̅"/>
                        <m:ctrlPr>
                          <a:rPr lang="en-US" b="1" i="1">
                            <a:latin typeface="Cambria Math"/>
                          </a:rPr>
                        </m:ctrlPr>
                      </m:accPr>
                      <m:e>
                        <m:r>
                          <a:rPr lang="en-IN" b="1" i="1">
                            <a:latin typeface="Cambria Math"/>
                          </a:rPr>
                          <m:t>𝒂</m:t>
                        </m:r>
                      </m:e>
                    </m:acc>
                  </m:oMath>
                </a14:m>
                <a:r>
                  <a:rPr lang="en-IN" b="1" dirty="0" err="1">
                    <a:latin typeface="Times New Roman" pitchFamily="18" charset="0"/>
                    <a:cs typeface="Times New Roman" pitchFamily="18" charset="0"/>
                  </a:rPr>
                  <a:t>stra</a:t>
                </a:r>
                <a:r>
                  <a:rPr lang="en-IN" b="1" dirty="0">
                    <a:latin typeface="Times New Roman" pitchFamily="18" charset="0"/>
                    <a:cs typeface="Times New Roman" pitchFamily="18" charset="0"/>
                  </a:rPr>
                  <a:t>:</a:t>
                </a:r>
                <a:r>
                  <a:rPr lang="en-IN" dirty="0">
                    <a:latin typeface="Times New Roman" pitchFamily="18" charset="0"/>
                    <a:cs typeface="Times New Roman" pitchFamily="18" charset="0"/>
                  </a:rPr>
                  <a:t> This ancient text mentions two types of </a:t>
                </a:r>
                <a:r>
                  <a:rPr lang="en-IN" dirty="0" err="1">
                    <a:latin typeface="Times New Roman" pitchFamily="18" charset="0"/>
                    <a:cs typeface="Times New Roman" pitchFamily="18" charset="0"/>
                  </a:rPr>
                  <a:t>Dhanush</a:t>
                </a:r>
                <a:r>
                  <a:rPr lang="en-IN" dirty="0">
                    <a:latin typeface="Times New Roman" pitchFamily="18" charset="0"/>
                    <a:cs typeface="Times New Roman" pitchFamily="18" charset="0"/>
                  </a:rPr>
                  <a:t> as units for measuring roads and distances. </a:t>
                </a:r>
                <a:r>
                  <a:rPr lang="en-IN" dirty="0" err="1">
                    <a:latin typeface="Times New Roman" pitchFamily="18" charset="0"/>
                    <a:cs typeface="Times New Roman" pitchFamily="18" charset="0"/>
                  </a:rPr>
                  <a:t>Dhanus</a:t>
                </a:r>
                <a:r>
                  <a:rPr lang="en-IN" dirty="0">
                    <a:latin typeface="Times New Roman" pitchFamily="18" charset="0"/>
                    <a:cs typeface="Times New Roman" pitchFamily="18" charset="0"/>
                  </a:rPr>
                  <a:t> = 96 A</a:t>
                </a:r>
                <a14:m>
                  <m:oMath xmlns:m="http://schemas.openxmlformats.org/officeDocument/2006/math">
                    <m:acc>
                      <m:accPr>
                        <m:chr m:val="̇"/>
                        <m:ctrlPr>
                          <a:rPr lang="en-US" i="1">
                            <a:latin typeface="Cambria Math"/>
                          </a:rPr>
                        </m:ctrlPr>
                      </m:accPr>
                      <m:e>
                        <m:r>
                          <m:rPr>
                            <m:nor/>
                          </m:rPr>
                          <a:rPr lang="en-IN">
                            <a:latin typeface="Times New Roman" pitchFamily="18" charset="0"/>
                            <a:cs typeface="Times New Roman" pitchFamily="18" charset="0"/>
                          </a:rPr>
                          <m:t>n</m:t>
                        </m:r>
                      </m:e>
                    </m:acc>
                  </m:oMath>
                </a14:m>
                <a:r>
                  <a:rPr lang="en-IN" dirty="0" err="1">
                    <a:latin typeface="Times New Roman" pitchFamily="18" charset="0"/>
                    <a:cs typeface="Times New Roman" pitchFamily="18" charset="0"/>
                  </a:rPr>
                  <a:t>gulas</a:t>
                </a:r>
                <a:r>
                  <a:rPr lang="en-IN" dirty="0">
                    <a:latin typeface="Times New Roman" pitchFamily="18" charset="0"/>
                    <a:cs typeface="Times New Roman" pitchFamily="18" charset="0"/>
                  </a:rPr>
                  <a:t>; G</a:t>
                </a:r>
                <a14:m>
                  <m:oMath xmlns:m="http://schemas.openxmlformats.org/officeDocument/2006/math">
                    <m:acc>
                      <m:accPr>
                        <m:chr m:val="̅"/>
                        <m:ctrlPr>
                          <a:rPr lang="en-US" i="1">
                            <a:latin typeface="Cambria Math"/>
                          </a:rPr>
                        </m:ctrlPr>
                      </m:accPr>
                      <m:e>
                        <m:r>
                          <m:rPr>
                            <m:nor/>
                          </m:rPr>
                          <a:rPr lang="en-IN">
                            <a:latin typeface="Times New Roman" pitchFamily="18" charset="0"/>
                            <a:cs typeface="Times New Roman" pitchFamily="18" charset="0"/>
                          </a:rPr>
                          <m:t>a</m:t>
                        </m:r>
                      </m:e>
                    </m:acc>
                  </m:oMath>
                </a14:m>
                <a:r>
                  <a:rPr lang="en-IN" dirty="0" err="1">
                    <a:latin typeface="Times New Roman" pitchFamily="18" charset="0"/>
                    <a:cs typeface="Times New Roman" pitchFamily="18" charset="0"/>
                  </a:rPr>
                  <a:t>rhapatya-dhanus</a:t>
                </a:r>
                <a:r>
                  <a:rPr lang="en-IN" dirty="0">
                    <a:latin typeface="Times New Roman" pitchFamily="18" charset="0"/>
                    <a:cs typeface="Times New Roman" pitchFamily="18" charset="0"/>
                  </a:rPr>
                  <a:t>=108 A</a:t>
                </a:r>
                <a14:m>
                  <m:oMath xmlns:m="http://schemas.openxmlformats.org/officeDocument/2006/math">
                    <m:acc>
                      <m:accPr>
                        <m:chr m:val="̇"/>
                        <m:ctrlPr>
                          <a:rPr lang="en-US" i="1">
                            <a:latin typeface="Cambria Math"/>
                          </a:rPr>
                        </m:ctrlPr>
                      </m:accPr>
                      <m:e>
                        <m:r>
                          <m:rPr>
                            <m:nor/>
                          </m:rPr>
                          <a:rPr lang="en-IN">
                            <a:latin typeface="Times New Roman" pitchFamily="18" charset="0"/>
                            <a:cs typeface="Times New Roman" pitchFamily="18" charset="0"/>
                          </a:rPr>
                          <m:t>n</m:t>
                        </m:r>
                      </m:e>
                    </m:acc>
                  </m:oMath>
                </a14:m>
                <a:r>
                  <a:rPr lang="en-IN" dirty="0" err="1">
                    <a:latin typeface="Times New Roman" pitchFamily="18" charset="0"/>
                    <a:cs typeface="Times New Roman" pitchFamily="18" charset="0"/>
                  </a:rPr>
                  <a:t>gulas</a:t>
                </a:r>
                <a:r>
                  <a:rPr lang="en-IN" dirty="0">
                    <a:latin typeface="Times New Roman" pitchFamily="18" charset="0"/>
                    <a:cs typeface="Times New Roman" pitchFamily="18" charset="0"/>
                  </a:rPr>
                  <a:t> used for measurement  of roads and distances.</a:t>
                </a:r>
                <a:endParaRPr lang="en-US" dirty="0">
                  <a:latin typeface="Times New Roman" pitchFamily="18" charset="0"/>
                  <a:cs typeface="Times New Roman" pitchFamily="18"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914400"/>
                <a:ext cx="8839200" cy="5715000"/>
              </a:xfrm>
              <a:blipFill rotWithShape="1">
                <a:blip r:embed="rId2"/>
                <a:stretch>
                  <a:fillRect l="-1241" t="-1599" r="-2345" b="-8742"/>
                </a:stretch>
              </a:blipFill>
            </p:spPr>
            <p:txBody>
              <a:bodyPr/>
              <a:lstStyle/>
              <a:p>
                <a:r>
                  <a:rPr lang="en-US">
                    <a:noFill/>
                  </a:rPr>
                  <a:t> </a:t>
                </a:r>
              </a:p>
            </p:txBody>
          </p:sp>
        </mc:Fallback>
      </mc:AlternateContent>
    </p:spTree>
    <p:extLst>
      <p:ext uri="{BB962C8B-B14F-4D97-AF65-F5344CB8AC3E}">
        <p14:creationId xmlns:p14="http://schemas.microsoft.com/office/powerpoint/2010/main" val="1944454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b="1" dirty="0">
                <a:latin typeface="Times New Roman" pitchFamily="18" charset="0"/>
                <a:cs typeface="Times New Roman" pitchFamily="18" charset="0"/>
              </a:rPr>
              <a:t>Unique ways to represent Numbers</a:t>
            </a:r>
          </a:p>
        </p:txBody>
      </p:sp>
      <p:sp>
        <p:nvSpPr>
          <p:cNvPr id="3" name="Content Placeholder 2"/>
          <p:cNvSpPr>
            <a:spLocks noGrp="1"/>
          </p:cNvSpPr>
          <p:nvPr>
            <p:ph idx="1"/>
          </p:nvPr>
        </p:nvSpPr>
        <p:spPr>
          <a:xfrm>
            <a:off x="457200" y="838200"/>
            <a:ext cx="8229600" cy="5287963"/>
          </a:xfrm>
        </p:spPr>
        <p:txBody>
          <a:bodyPr>
            <a:noAutofit/>
          </a:bodyPr>
          <a:lstStyle/>
          <a:p>
            <a:pPr algn="just"/>
            <a:r>
              <a:rPr lang="en-US" sz="2800" dirty="0" smtClean="0">
                <a:latin typeface="Times New Roman" pitchFamily="18" charset="0"/>
                <a:cs typeface="Times New Roman" pitchFamily="18" charset="0"/>
              </a:rPr>
              <a:t>Ancient </a:t>
            </a:r>
            <a:r>
              <a:rPr lang="en-US" sz="2800" dirty="0">
                <a:latin typeface="Times New Roman" pitchFamily="18" charset="0"/>
                <a:cs typeface="Times New Roman" pitchFamily="18" charset="0"/>
              </a:rPr>
              <a:t>Indian mathematics seamlessly integrated mathematics with literature and poetry.</a:t>
            </a:r>
          </a:p>
          <a:p>
            <a:pPr algn="just"/>
            <a:r>
              <a:rPr lang="en-US" sz="2800" dirty="0" smtClean="0">
                <a:latin typeface="Times New Roman" pitchFamily="18" charset="0"/>
                <a:cs typeface="Times New Roman" pitchFamily="18" charset="0"/>
              </a:rPr>
              <a:t>When </a:t>
            </a:r>
            <a:r>
              <a:rPr lang="en-US" sz="2800" dirty="0">
                <a:latin typeface="Times New Roman" pitchFamily="18" charset="0"/>
                <a:cs typeface="Times New Roman" pitchFamily="18" charset="0"/>
              </a:rPr>
              <a:t>dealing with mathematical concepts and numbers, poetry was freely used to communicate the same. To do this, the numbers should have equivalent representations in terms of phrases and or alphabets. </a:t>
            </a:r>
          </a:p>
          <a:p>
            <a:pPr algn="just"/>
            <a:r>
              <a:rPr lang="en-US" sz="2800" b="1" dirty="0" err="1" smtClean="0">
                <a:latin typeface="Times New Roman" pitchFamily="18" charset="0"/>
                <a:cs typeface="Times New Roman" pitchFamily="18" charset="0"/>
              </a:rPr>
              <a:t>Bhūta-Saṃkhyā</a:t>
            </a:r>
            <a:r>
              <a:rPr lang="en-US" sz="2800" b="1"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system is a system of expressing numbers by means of words representing certain entities.</a:t>
            </a:r>
          </a:p>
          <a:p>
            <a:pPr algn="just"/>
            <a:r>
              <a:rPr lang="en-US" sz="2800" b="1" dirty="0" err="1" smtClean="0">
                <a:latin typeface="Times New Roman" pitchFamily="18" charset="0"/>
                <a:cs typeface="Times New Roman" pitchFamily="18" charset="0"/>
              </a:rPr>
              <a:t>Kaţapayādi</a:t>
            </a:r>
            <a:r>
              <a:rPr lang="en-US" sz="2800" b="1"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system employs a technique to convert the numerals to alphabets using certain rules.</a:t>
            </a:r>
          </a:p>
          <a:p>
            <a:pPr algn="just"/>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927233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sz="3100" b="1" dirty="0">
                <a:latin typeface="Times New Roman" pitchFamily="18" charset="0"/>
                <a:cs typeface="Times New Roman" pitchFamily="18" charset="0"/>
              </a:rPr>
              <a:t>Basic Principles of </a:t>
            </a:r>
            <a:r>
              <a:rPr lang="en-IN" sz="3100" b="1" dirty="0" err="1">
                <a:latin typeface="Times New Roman" pitchFamily="18" charset="0"/>
                <a:cs typeface="Times New Roman" pitchFamily="18" charset="0"/>
              </a:rPr>
              <a:t>Bhūta-Sankhyā</a:t>
            </a:r>
            <a:r>
              <a:rPr lang="en-US" dirty="0"/>
              <a:t/>
            </a:r>
            <a:br>
              <a:rPr lang="en-US" dirty="0"/>
            </a:br>
            <a:endParaRPr lang="en-US" dirty="0"/>
          </a:p>
        </p:txBody>
      </p:sp>
      <p:sp>
        <p:nvSpPr>
          <p:cNvPr id="3" name="Content Placeholder 2"/>
          <p:cNvSpPr>
            <a:spLocks noGrp="1"/>
          </p:cNvSpPr>
          <p:nvPr>
            <p:ph idx="1"/>
          </p:nvPr>
        </p:nvSpPr>
        <p:spPr>
          <a:xfrm>
            <a:off x="457200" y="685800"/>
            <a:ext cx="8229600" cy="5440363"/>
          </a:xfrm>
        </p:spPr>
        <p:txBody>
          <a:bodyPr>
            <a:normAutofit fontScale="70000" lnSpcReduction="20000"/>
          </a:bodyPr>
          <a:lstStyle/>
          <a:p>
            <a:pPr lvl="0" algn="just"/>
            <a:r>
              <a:rPr lang="en-IN" sz="3600" b="1" dirty="0" err="1">
                <a:latin typeface="Times New Roman" pitchFamily="18" charset="0"/>
                <a:cs typeface="Times New Roman" pitchFamily="18" charset="0"/>
              </a:rPr>
              <a:t>Bhūta</a:t>
            </a:r>
            <a:r>
              <a:rPr lang="en-IN" sz="3600" b="1" dirty="0">
                <a:latin typeface="Times New Roman" pitchFamily="18" charset="0"/>
                <a:cs typeface="Times New Roman" pitchFamily="18" charset="0"/>
              </a:rPr>
              <a:t> and </a:t>
            </a:r>
            <a:r>
              <a:rPr lang="en-IN" sz="3600" b="1" dirty="0" err="1">
                <a:latin typeface="Times New Roman" pitchFamily="18" charset="0"/>
                <a:cs typeface="Times New Roman" pitchFamily="18" charset="0"/>
              </a:rPr>
              <a:t>Sankhyā</a:t>
            </a:r>
            <a:r>
              <a:rPr lang="en-IN" sz="3600" b="1" dirty="0">
                <a:latin typeface="Times New Roman" pitchFamily="18" charset="0"/>
                <a:cs typeface="Times New Roman" pitchFamily="18" charset="0"/>
              </a:rPr>
              <a:t>:</a:t>
            </a:r>
            <a:r>
              <a:rPr lang="en-IN" sz="3600" dirty="0">
                <a:latin typeface="Times New Roman" pitchFamily="18" charset="0"/>
                <a:cs typeface="Times New Roman" pitchFamily="18" charset="0"/>
              </a:rPr>
              <a:t> The word "</a:t>
            </a:r>
            <a:r>
              <a:rPr lang="en-IN" sz="3600" dirty="0" err="1">
                <a:latin typeface="Times New Roman" pitchFamily="18" charset="0"/>
                <a:cs typeface="Times New Roman" pitchFamily="18" charset="0"/>
              </a:rPr>
              <a:t>Bhūta</a:t>
            </a:r>
            <a:r>
              <a:rPr lang="en-IN" sz="3600" dirty="0">
                <a:latin typeface="Times New Roman" pitchFamily="18" charset="0"/>
                <a:cs typeface="Times New Roman" pitchFamily="18" charset="0"/>
              </a:rPr>
              <a:t>" refers to entities, beings, or concepts, while "</a:t>
            </a:r>
            <a:r>
              <a:rPr lang="en-IN" sz="3600" dirty="0" err="1">
                <a:latin typeface="Times New Roman" pitchFamily="18" charset="0"/>
                <a:cs typeface="Times New Roman" pitchFamily="18" charset="0"/>
              </a:rPr>
              <a:t>Saṃkhyā</a:t>
            </a:r>
            <a:r>
              <a:rPr lang="en-IN" sz="3600" dirty="0">
                <a:latin typeface="Times New Roman" pitchFamily="18" charset="0"/>
                <a:cs typeface="Times New Roman" pitchFamily="18" charset="0"/>
              </a:rPr>
              <a:t>" means number</a:t>
            </a:r>
            <a:r>
              <a:rPr lang="en-IN" sz="3600" dirty="0" smtClean="0">
                <a:latin typeface="Times New Roman" pitchFamily="18" charset="0"/>
                <a:cs typeface="Times New Roman" pitchFamily="18" charset="0"/>
              </a:rPr>
              <a:t>.</a:t>
            </a:r>
          </a:p>
          <a:p>
            <a:pPr marL="0" lvl="0" indent="0" algn="just">
              <a:buNone/>
            </a:pPr>
            <a:endParaRPr lang="en-US" sz="3600" dirty="0">
              <a:latin typeface="Times New Roman" pitchFamily="18" charset="0"/>
              <a:cs typeface="Times New Roman" pitchFamily="18" charset="0"/>
            </a:endParaRPr>
          </a:p>
          <a:p>
            <a:pPr lvl="0" algn="just"/>
            <a:r>
              <a:rPr lang="en-IN" sz="3600" b="1" dirty="0">
                <a:latin typeface="Times New Roman" pitchFamily="18" charset="0"/>
                <a:cs typeface="Times New Roman" pitchFamily="18" charset="0"/>
              </a:rPr>
              <a:t>Association of Numbers with Entities:</a:t>
            </a:r>
            <a:r>
              <a:rPr lang="en-IN" sz="3600" dirty="0">
                <a:latin typeface="Times New Roman" pitchFamily="18" charset="0"/>
                <a:cs typeface="Times New Roman" pitchFamily="18" charset="0"/>
              </a:rPr>
              <a:t> Each number from 0 to 9 is associated with specific entities or concepts. For instance, the number 2 is represented by the word "eye" since humans have two eyes. </a:t>
            </a:r>
            <a:endParaRPr lang="en-IN" sz="3600" dirty="0" smtClean="0">
              <a:latin typeface="Times New Roman" pitchFamily="18" charset="0"/>
              <a:cs typeface="Times New Roman" pitchFamily="18" charset="0"/>
            </a:endParaRPr>
          </a:p>
          <a:p>
            <a:pPr marL="0" lvl="0" indent="0" algn="just">
              <a:buNone/>
            </a:pPr>
            <a:endParaRPr lang="en-US" sz="3600" dirty="0">
              <a:latin typeface="Times New Roman" pitchFamily="18" charset="0"/>
              <a:cs typeface="Times New Roman" pitchFamily="18" charset="0"/>
            </a:endParaRPr>
          </a:p>
          <a:p>
            <a:pPr lvl="0" algn="just"/>
            <a:r>
              <a:rPr lang="en-IN" sz="3600" b="1" dirty="0">
                <a:latin typeface="Times New Roman" pitchFamily="18" charset="0"/>
                <a:cs typeface="Times New Roman" pitchFamily="18" charset="0"/>
              </a:rPr>
              <a:t>Synonyms:</a:t>
            </a:r>
            <a:r>
              <a:rPr lang="en-IN" sz="3600" dirty="0">
                <a:latin typeface="Times New Roman" pitchFamily="18" charset="0"/>
                <a:cs typeface="Times New Roman" pitchFamily="18" charset="0"/>
              </a:rPr>
              <a:t> To expand the scope of the system, synonyms are used for the entities. For example, the moon (Chandra) represents the number 1, and its synonyms like </a:t>
            </a:r>
            <a:r>
              <a:rPr lang="en-IN" sz="3600" dirty="0" err="1">
                <a:latin typeface="Times New Roman" pitchFamily="18" charset="0"/>
                <a:cs typeface="Times New Roman" pitchFamily="18" charset="0"/>
              </a:rPr>
              <a:t>Sashi</a:t>
            </a:r>
            <a:r>
              <a:rPr lang="en-IN" sz="3600" dirty="0">
                <a:latin typeface="Times New Roman" pitchFamily="18" charset="0"/>
                <a:cs typeface="Times New Roman" pitchFamily="18" charset="0"/>
              </a:rPr>
              <a:t>, </a:t>
            </a:r>
            <a:r>
              <a:rPr lang="en-IN" sz="3600" dirty="0" err="1">
                <a:latin typeface="Times New Roman" pitchFamily="18" charset="0"/>
                <a:cs typeface="Times New Roman" pitchFamily="18" charset="0"/>
              </a:rPr>
              <a:t>Vidhu</a:t>
            </a:r>
            <a:r>
              <a:rPr lang="en-IN" sz="3600" dirty="0">
                <a:latin typeface="Times New Roman" pitchFamily="18" charset="0"/>
                <a:cs typeface="Times New Roman" pitchFamily="18" charset="0"/>
              </a:rPr>
              <a:t>, Soma, and </a:t>
            </a:r>
            <a:r>
              <a:rPr lang="en-IN" sz="3600" dirty="0" err="1">
                <a:latin typeface="Times New Roman" pitchFamily="18" charset="0"/>
                <a:cs typeface="Times New Roman" pitchFamily="18" charset="0"/>
              </a:rPr>
              <a:t>Indu</a:t>
            </a:r>
            <a:r>
              <a:rPr lang="en-IN" sz="3600" dirty="0">
                <a:latin typeface="Times New Roman" pitchFamily="18" charset="0"/>
                <a:cs typeface="Times New Roman" pitchFamily="18" charset="0"/>
              </a:rPr>
              <a:t> can also be used</a:t>
            </a:r>
            <a:r>
              <a:rPr lang="en-IN" sz="3600" dirty="0" smtClean="0">
                <a:latin typeface="Times New Roman" pitchFamily="18" charset="0"/>
                <a:cs typeface="Times New Roman" pitchFamily="18" charset="0"/>
              </a:rPr>
              <a:t>.</a:t>
            </a:r>
          </a:p>
          <a:p>
            <a:pPr marL="0" lvl="0" indent="0" algn="just">
              <a:buNone/>
            </a:pPr>
            <a:endParaRPr lang="en-US" sz="3600" dirty="0">
              <a:latin typeface="Times New Roman" pitchFamily="18" charset="0"/>
              <a:cs typeface="Times New Roman" pitchFamily="18" charset="0"/>
            </a:endParaRPr>
          </a:p>
          <a:p>
            <a:pPr lvl="0" algn="just"/>
            <a:r>
              <a:rPr lang="en-IN" sz="3600" b="1" dirty="0">
                <a:latin typeface="Times New Roman" pitchFamily="18" charset="0"/>
                <a:cs typeface="Times New Roman" pitchFamily="18" charset="0"/>
              </a:rPr>
              <a:t>Open-Ended List:</a:t>
            </a:r>
            <a:r>
              <a:rPr lang="en-IN" sz="3600" dirty="0">
                <a:latin typeface="Times New Roman" pitchFamily="18" charset="0"/>
                <a:cs typeface="Times New Roman" pitchFamily="18" charset="0"/>
              </a:rPr>
              <a:t> The </a:t>
            </a:r>
            <a:r>
              <a:rPr lang="en-IN" sz="3600" dirty="0" err="1">
                <a:latin typeface="Times New Roman" pitchFamily="18" charset="0"/>
                <a:cs typeface="Times New Roman" pitchFamily="18" charset="0"/>
              </a:rPr>
              <a:t>Bhūta-Sankhyā</a:t>
            </a:r>
            <a:r>
              <a:rPr lang="en-IN" sz="3600" dirty="0">
                <a:latin typeface="Times New Roman" pitchFamily="18" charset="0"/>
                <a:cs typeface="Times New Roman" pitchFamily="18" charset="0"/>
              </a:rPr>
              <a:t> system is open-ended, allowing users to choose appropriate words based on the context and their preference.</a:t>
            </a:r>
            <a:endParaRPr lang="en-US" sz="36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873076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itchFamily="18" charset="0"/>
                <a:cs typeface="Times New Roman" pitchFamily="18" charset="0"/>
              </a:rPr>
              <a:t>Basic Principles of </a:t>
            </a:r>
            <a:r>
              <a:rPr lang="en-IN" b="1" dirty="0" err="1">
                <a:latin typeface="Times New Roman" pitchFamily="18" charset="0"/>
                <a:cs typeface="Times New Roman" pitchFamily="18" charset="0"/>
              </a:rPr>
              <a:t>Bhūta-Sankhyā</a:t>
            </a:r>
            <a:endParaRPr lang="en-US" dirty="0"/>
          </a:p>
        </p:txBody>
      </p:sp>
      <p:sp>
        <p:nvSpPr>
          <p:cNvPr id="3" name="Content Placeholder 2"/>
          <p:cNvSpPr>
            <a:spLocks noGrp="1"/>
          </p:cNvSpPr>
          <p:nvPr>
            <p:ph idx="1"/>
          </p:nvPr>
        </p:nvSpPr>
        <p:spPr>
          <a:xfrm>
            <a:off x="457200" y="1600200"/>
            <a:ext cx="8534400" cy="4525963"/>
          </a:xfrm>
        </p:spPr>
        <p:txBody>
          <a:bodyPr/>
          <a:lstStyle/>
          <a:p>
            <a:pPr algn="just"/>
            <a:r>
              <a:rPr lang="en-US" dirty="0" smtClean="0">
                <a:latin typeface="Times New Roman" pitchFamily="18" charset="0"/>
                <a:cs typeface="Times New Roman" pitchFamily="18" charset="0"/>
              </a:rPr>
              <a:t>For </a:t>
            </a:r>
            <a:r>
              <a:rPr lang="en-US" dirty="0">
                <a:latin typeface="Times New Roman" pitchFamily="18" charset="0"/>
                <a:cs typeface="Times New Roman" pitchFamily="18" charset="0"/>
              </a:rPr>
              <a:t>example, </a:t>
            </a:r>
          </a:p>
          <a:p>
            <a:pPr algn="just"/>
            <a:r>
              <a:rPr lang="en-US" dirty="0">
                <a:latin typeface="Times New Roman" pitchFamily="18" charset="0"/>
                <a:cs typeface="Times New Roman" pitchFamily="18" charset="0"/>
              </a:rPr>
              <a:t>'eye’ : 'two' since we know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the pair of eyes is commonplace knowledge. </a:t>
            </a:r>
          </a:p>
          <a:p>
            <a:pPr algn="just"/>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guna</a:t>
            </a:r>
            <a:r>
              <a:rPr lang="en-US" dirty="0">
                <a:latin typeface="Times New Roman" pitchFamily="18" charset="0"/>
                <a:cs typeface="Times New Roman" pitchFamily="18" charset="0"/>
              </a:rPr>
              <a:t>’ : 'three' since tri-</a:t>
            </a:r>
            <a:r>
              <a:rPr lang="en-US" dirty="0" err="1">
                <a:latin typeface="Times New Roman" pitchFamily="18" charset="0"/>
                <a:cs typeface="Times New Roman" pitchFamily="18" charset="0"/>
              </a:rPr>
              <a:t>guņa</a:t>
            </a:r>
            <a:r>
              <a:rPr lang="en-US" dirty="0">
                <a:latin typeface="Times New Roman" pitchFamily="18" charset="0"/>
                <a:cs typeface="Times New Roman" pitchFamily="18" charset="0"/>
              </a:rPr>
              <a:t> is also a widely understood idea.</a:t>
            </a:r>
          </a:p>
          <a:p>
            <a:pPr algn="just"/>
            <a:r>
              <a:rPr lang="vi-VN" dirty="0">
                <a:latin typeface="Times New Roman" pitchFamily="18" charset="0"/>
                <a:cs typeface="Times New Roman" pitchFamily="18" charset="0"/>
              </a:rPr>
              <a:t>For Fractions: kală denotes ¹⁄₁₆ kustha denotes ¹⁄12 </a:t>
            </a:r>
            <a:r>
              <a:rPr lang="en-US" dirty="0" smtClean="0">
                <a:latin typeface="Times New Roman" pitchFamily="18" charset="0"/>
                <a:cs typeface="Times New Roman" pitchFamily="18" charset="0"/>
              </a:rPr>
              <a:t>and </a:t>
            </a:r>
            <a:r>
              <a:rPr lang="vi-VN" dirty="0" smtClean="0">
                <a:latin typeface="Times New Roman" pitchFamily="18" charset="0"/>
                <a:cs typeface="Times New Roman" pitchFamily="18" charset="0"/>
              </a:rPr>
              <a:t>śapha </a:t>
            </a:r>
            <a:r>
              <a:rPr lang="vi-VN" dirty="0">
                <a:latin typeface="Times New Roman" pitchFamily="18" charset="0"/>
                <a:cs typeface="Times New Roman" pitchFamily="18" charset="0"/>
              </a:rPr>
              <a:t>denotes ¹⁄8</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0012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IN" b="1" dirty="0">
                <a:latin typeface="Times New Roman" pitchFamily="18" charset="0"/>
                <a:cs typeface="Times New Roman" pitchFamily="18" charset="0"/>
              </a:rPr>
              <a:t>Basic Principles of </a:t>
            </a:r>
            <a:r>
              <a:rPr lang="en-IN" b="1" dirty="0" err="1">
                <a:latin typeface="Times New Roman" pitchFamily="18" charset="0"/>
                <a:cs typeface="Times New Roman" pitchFamily="18" charset="0"/>
              </a:rPr>
              <a:t>Bhūta-Sankhyā</a:t>
            </a:r>
            <a:endParaRPr lang="en-US" dirty="0"/>
          </a:p>
        </p:txBody>
      </p:sp>
      <p:sp>
        <p:nvSpPr>
          <p:cNvPr id="3" name="Content Placeholder 2"/>
          <p:cNvSpPr>
            <a:spLocks noGrp="1"/>
          </p:cNvSpPr>
          <p:nvPr>
            <p:ph idx="1"/>
          </p:nvPr>
        </p:nvSpPr>
        <p:spPr>
          <a:xfrm>
            <a:off x="76200" y="838200"/>
            <a:ext cx="8915400" cy="5867400"/>
          </a:xfrm>
        </p:spPr>
        <p:txBody>
          <a:bodyPr>
            <a:normAutofit fontScale="77500" lnSpcReduction="20000"/>
          </a:bodyPr>
          <a:lstStyle/>
          <a:p>
            <a:pPr marL="0" indent="0" algn="just">
              <a:buNone/>
            </a:pPr>
            <a:r>
              <a:rPr lang="en-US" sz="3600" dirty="0">
                <a:latin typeface="Times New Roman" pitchFamily="18" charset="0"/>
                <a:cs typeface="Times New Roman" pitchFamily="18" charset="0"/>
              </a:rPr>
              <a:t>No strict rules govern what qualifies to be used from the '</a:t>
            </a:r>
            <a:r>
              <a:rPr lang="en-US" sz="3600" dirty="0" err="1">
                <a:latin typeface="Times New Roman" pitchFamily="18" charset="0"/>
                <a:cs typeface="Times New Roman" pitchFamily="18" charset="0"/>
              </a:rPr>
              <a:t>bhūta</a:t>
            </a:r>
            <a:r>
              <a:rPr lang="en-US" sz="3600" dirty="0">
                <a:latin typeface="Times New Roman" pitchFamily="18" charset="0"/>
                <a:cs typeface="Times New Roman" pitchFamily="18" charset="0"/>
              </a:rPr>
              <a:t>' list to represent the </a:t>
            </a:r>
            <a:r>
              <a:rPr lang="en-US" sz="3600" dirty="0" smtClean="0">
                <a:latin typeface="Times New Roman" pitchFamily="18" charset="0"/>
                <a:cs typeface="Times New Roman" pitchFamily="18" charset="0"/>
              </a:rPr>
              <a:t>‘</a:t>
            </a:r>
            <a:r>
              <a:rPr lang="en-US" sz="3600" dirty="0" err="1" smtClean="0">
                <a:latin typeface="Times New Roman" pitchFamily="18" charset="0"/>
                <a:cs typeface="Times New Roman" pitchFamily="18" charset="0"/>
              </a:rPr>
              <a:t>samkhyā</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The following are some of the categories from which we frequently find words being used:</a:t>
            </a:r>
          </a:p>
          <a:p>
            <a:pPr algn="just"/>
            <a:r>
              <a:rPr lang="en-US" sz="3600" dirty="0">
                <a:latin typeface="Times New Roman" pitchFamily="18" charset="0"/>
                <a:cs typeface="Times New Roman" pitchFamily="18" charset="0"/>
              </a:rPr>
              <a:t>Word name for the number itself-</a:t>
            </a:r>
            <a:r>
              <a:rPr lang="en-US" sz="3600" dirty="0" err="1">
                <a:latin typeface="Times New Roman" pitchFamily="18" charset="0"/>
                <a:cs typeface="Times New Roman" pitchFamily="18" charset="0"/>
              </a:rPr>
              <a:t>śūnya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eka</a:t>
            </a:r>
            <a:r>
              <a:rPr lang="en-US" sz="3600" dirty="0">
                <a:latin typeface="Times New Roman" pitchFamily="18" charset="0"/>
                <a:cs typeface="Times New Roman" pitchFamily="18" charset="0"/>
              </a:rPr>
              <a:t>, dvi, tri ... Nava</a:t>
            </a:r>
          </a:p>
          <a:p>
            <a:pPr algn="just"/>
            <a:r>
              <a:rPr lang="en-US" sz="3600" dirty="0">
                <a:latin typeface="Times New Roman" pitchFamily="18" charset="0"/>
                <a:cs typeface="Times New Roman" pitchFamily="18" charset="0"/>
              </a:rPr>
              <a:t>Physical entities such as earth, moon, stars, mountain, fire, sky, direction</a:t>
            </a:r>
          </a:p>
          <a:p>
            <a:pPr algn="just"/>
            <a:r>
              <a:rPr lang="en-US" sz="3600" dirty="0">
                <a:latin typeface="Times New Roman" pitchFamily="18" charset="0"/>
                <a:cs typeface="Times New Roman" pitchFamily="18" charset="0"/>
              </a:rPr>
              <a:t>Examples from the animal kingdom such as elephant, horse, snake</a:t>
            </a:r>
          </a:p>
          <a:p>
            <a:pPr algn="just"/>
            <a:r>
              <a:rPr lang="en-US" sz="3600" dirty="0">
                <a:latin typeface="Times New Roman" pitchFamily="18" charset="0"/>
                <a:cs typeface="Times New Roman" pitchFamily="18" charset="0"/>
              </a:rPr>
              <a:t>Parts of the body eyes, limbs, seven </a:t>
            </a:r>
            <a:r>
              <a:rPr lang="en-US" sz="3600" dirty="0" err="1">
                <a:latin typeface="Times New Roman" pitchFamily="18" charset="0"/>
                <a:cs typeface="Times New Roman" pitchFamily="18" charset="0"/>
              </a:rPr>
              <a:t>dhātus</a:t>
            </a:r>
            <a:r>
              <a:rPr lang="en-US" sz="3600" dirty="0">
                <a:latin typeface="Times New Roman" pitchFamily="18" charset="0"/>
                <a:cs typeface="Times New Roman" pitchFamily="18" charset="0"/>
              </a:rPr>
              <a:t>, etc.</a:t>
            </a:r>
          </a:p>
          <a:p>
            <a:pPr algn="just"/>
            <a:r>
              <a:rPr lang="lv-LV" sz="3600" dirty="0">
                <a:latin typeface="Times New Roman" pitchFamily="18" charset="0"/>
                <a:cs typeface="Times New Roman" pitchFamily="18" charset="0"/>
              </a:rPr>
              <a:t>Names of Gods - Šiva, Vişņu, Indra, Manu, Agni, etc.</a:t>
            </a:r>
          </a:p>
          <a:p>
            <a:pPr algn="just"/>
            <a:r>
              <a:rPr lang="en-US" sz="3600" dirty="0">
                <a:latin typeface="Times New Roman" pitchFamily="18" charset="0"/>
                <a:cs typeface="Times New Roman" pitchFamily="18" charset="0"/>
              </a:rPr>
              <a:t>Other concepts - such as seasons, month, days, five </a:t>
            </a:r>
            <a:r>
              <a:rPr lang="en-US" sz="3600" dirty="0" err="1">
                <a:latin typeface="Times New Roman" pitchFamily="18" charset="0"/>
                <a:cs typeface="Times New Roman" pitchFamily="18" charset="0"/>
              </a:rPr>
              <a:t>bhūtas</a:t>
            </a:r>
            <a:endParaRPr lang="en-US" sz="36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961937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itchFamily="18" charset="0"/>
                <a:cs typeface="Times New Roman" pitchFamily="18" charset="0"/>
              </a:rPr>
              <a:t>Basic Principles of </a:t>
            </a:r>
            <a:r>
              <a:rPr lang="en-IN" b="1" dirty="0" err="1">
                <a:latin typeface="Times New Roman" pitchFamily="18" charset="0"/>
                <a:cs typeface="Times New Roman" pitchFamily="18" charset="0"/>
              </a:rPr>
              <a:t>Bhūta-Sankhyā</a:t>
            </a:r>
            <a:endParaRPr lang="en-US" dirty="0"/>
          </a:p>
        </p:txBody>
      </p:sp>
      <p:sp>
        <p:nvSpPr>
          <p:cNvPr id="3" name="Content Placeholder 2"/>
          <p:cNvSpPr>
            <a:spLocks noGrp="1"/>
          </p:cNvSpPr>
          <p:nvPr>
            <p:ph idx="1"/>
          </p:nvPr>
        </p:nvSpPr>
        <p:spPr/>
        <p:txBody>
          <a:bodyPr>
            <a:normAutofit/>
          </a:bodyPr>
          <a:lstStyle/>
          <a:p>
            <a:pPr algn="just"/>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is up to the user to choose an appropriate word. </a:t>
            </a:r>
          </a:p>
          <a:p>
            <a:pPr algn="just"/>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is also contingent on the part of the reader to be aware of the terms and their synonyms. </a:t>
            </a: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advantage of the system is the ability of the user to beautifully merge aesthetics and literature into mathematical ideas that he/she wants to communicate through some verses. </a:t>
            </a:r>
          </a:p>
          <a:p>
            <a:endParaRPr lang="en-US" dirty="0"/>
          </a:p>
        </p:txBody>
      </p:sp>
    </p:spTree>
    <p:extLst>
      <p:ext uri="{BB962C8B-B14F-4D97-AF65-F5344CB8AC3E}">
        <p14:creationId xmlns:p14="http://schemas.microsoft.com/office/powerpoint/2010/main" val="1565122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fontScale="90000"/>
          </a:bodyPr>
          <a:lstStyle/>
          <a:p>
            <a:r>
              <a:rPr lang="en-US" sz="3600" b="1" dirty="0" smtClean="0">
                <a:latin typeface="Times New Roman" pitchFamily="18" charset="0"/>
                <a:cs typeface="Times New Roman" pitchFamily="18" charset="0"/>
              </a:rPr>
              <a:t>Word Numerals for </a:t>
            </a:r>
            <a:r>
              <a:rPr lang="en-US" sz="3600" b="1" dirty="0" err="1" smtClean="0">
                <a:latin typeface="Times New Roman" pitchFamily="18" charset="0"/>
                <a:cs typeface="Times New Roman" pitchFamily="18" charset="0"/>
              </a:rPr>
              <a:t>Bhūta-Saṃkhyā</a:t>
            </a:r>
            <a:r>
              <a:rPr lang="en-US" sz="3600" b="1" dirty="0" smtClean="0">
                <a:latin typeface="Times New Roman" pitchFamily="18" charset="0"/>
                <a:cs typeface="Times New Roman" pitchFamily="18" charset="0"/>
              </a:rPr>
              <a:t> </a:t>
            </a:r>
            <a:r>
              <a:rPr lang="en-US" sz="3600" b="1" dirty="0">
                <a:latin typeface="Times New Roman" pitchFamily="18" charset="0"/>
                <a:cs typeface="Times New Roman" pitchFamily="18" charset="0"/>
              </a:rPr>
              <a:t>System</a:t>
            </a:r>
            <a:endParaRPr lang="en-US" sz="36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17502279"/>
              </p:ext>
            </p:extLst>
          </p:nvPr>
        </p:nvGraphicFramePr>
        <p:xfrm>
          <a:off x="2133600" y="914414"/>
          <a:ext cx="5181600" cy="5970996"/>
        </p:xfrm>
        <a:graphic>
          <a:graphicData uri="http://schemas.openxmlformats.org/drawingml/2006/table">
            <a:tbl>
              <a:tblPr firstRow="1" firstCol="1" bandRow="1">
                <a:tableStyleId>{5C22544A-7EE6-4342-B048-85BDC9FD1C3A}</a:tableStyleId>
              </a:tblPr>
              <a:tblGrid>
                <a:gridCol w="1143000"/>
                <a:gridCol w="4038600"/>
              </a:tblGrid>
              <a:tr h="608040">
                <a:tc>
                  <a:txBody>
                    <a:bodyPr/>
                    <a:lstStyle/>
                    <a:p>
                      <a:pPr marL="0" marR="0" algn="just">
                        <a:lnSpc>
                          <a:spcPct val="115000"/>
                        </a:lnSpc>
                        <a:spcBef>
                          <a:spcPts val="0"/>
                        </a:spcBef>
                        <a:spcAft>
                          <a:spcPts val="1000"/>
                        </a:spcAft>
                      </a:pPr>
                      <a:r>
                        <a:rPr lang="en-IN" sz="1800" dirty="0">
                          <a:effectLst/>
                          <a:latin typeface="Times New Roman" pitchFamily="18" charset="0"/>
                          <a:cs typeface="Times New Roman" pitchFamily="18" charset="0"/>
                        </a:rPr>
                        <a:t>Number</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a:effectLst/>
                          <a:latin typeface="Times New Roman" pitchFamily="18" charset="0"/>
                          <a:cs typeface="Times New Roman" pitchFamily="18" charset="0"/>
                        </a:rPr>
                        <a:t>Represented by </a:t>
                      </a:r>
                      <a:r>
                        <a:rPr lang="en-IN" sz="1800" dirty="0" smtClean="0">
                          <a:effectLst/>
                          <a:latin typeface="Times New Roman" pitchFamily="18" charset="0"/>
                          <a:cs typeface="Times New Roman" pitchFamily="18" charset="0"/>
                        </a:rPr>
                        <a:t>(Partial list only)</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Sunya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Anata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purna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kha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Adi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candra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prithvi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eka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2</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Asvin</a:t>
                      </a:r>
                      <a:r>
                        <a:rPr lang="en-IN" sz="1800" dirty="0">
                          <a:effectLst/>
                          <a:latin typeface="Times New Roman" pitchFamily="18" charset="0"/>
                          <a:cs typeface="Times New Roman" pitchFamily="18" charset="0"/>
                        </a:rPr>
                        <a:t>, pairs of limbs, </a:t>
                      </a:r>
                      <a:r>
                        <a:rPr lang="en-IN" sz="1800" dirty="0" err="1">
                          <a:effectLst/>
                          <a:latin typeface="Times New Roman" pitchFamily="18" charset="0"/>
                          <a:cs typeface="Times New Roman" pitchFamily="18" charset="0"/>
                        </a:rPr>
                        <a:t>ayana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dvan</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3</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a:effectLst/>
                          <a:latin typeface="Times New Roman" pitchFamily="18" charset="0"/>
                          <a:cs typeface="Times New Roman" pitchFamily="18" charset="0"/>
                        </a:rPr>
                        <a:t>Rama, </a:t>
                      </a:r>
                      <a:r>
                        <a:rPr lang="en-IN" sz="1800" dirty="0" err="1">
                          <a:effectLst/>
                          <a:latin typeface="Times New Roman" pitchFamily="18" charset="0"/>
                          <a:cs typeface="Times New Roman" pitchFamily="18" charset="0"/>
                        </a:rPr>
                        <a:t>guna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loka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kala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agni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trinetra</a:t>
                      </a:r>
                      <a:endParaRPr lang="en-US" sz="1800" dirty="0">
                        <a:effectLst/>
                        <a:latin typeface="Times New Roman" pitchFamily="18" charset="0"/>
                        <a:ea typeface="Calibri"/>
                        <a:cs typeface="Times New Roman" pitchFamily="18" charset="0"/>
                      </a:endParaRPr>
                    </a:p>
                  </a:txBody>
                  <a:tcPr marL="68580" marR="68580" marT="0" marB="0"/>
                </a:tc>
              </a:tr>
              <a:tr h="608040">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4</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a:effectLst/>
                          <a:latin typeface="Times New Roman" pitchFamily="18" charset="0"/>
                          <a:cs typeface="Times New Roman" pitchFamily="18" charset="0"/>
                        </a:rPr>
                        <a:t>Veda, </a:t>
                      </a:r>
                      <a:r>
                        <a:rPr lang="en-IN" sz="1800" dirty="0" err="1">
                          <a:effectLst/>
                          <a:latin typeface="Times New Roman" pitchFamily="18" charset="0"/>
                          <a:cs typeface="Times New Roman" pitchFamily="18" charset="0"/>
                        </a:rPr>
                        <a:t>sruti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yuga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asrama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varna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samudra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krta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5</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Bhuta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sastra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bana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pandava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indriya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6</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Anga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rtu</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darsana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sanmukha</a:t>
                      </a:r>
                      <a:r>
                        <a:rPr lang="en-IN" sz="1800" dirty="0">
                          <a:effectLst/>
                          <a:latin typeface="Times New Roman" pitchFamily="18" charset="0"/>
                          <a:cs typeface="Times New Roman" pitchFamily="18" charset="0"/>
                        </a:rPr>
                        <a:t>, sat</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7</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Rsi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adri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svara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dhatu</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chandas</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8</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Vasu</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bhujanga</a:t>
                      </a:r>
                      <a:r>
                        <a:rPr lang="en-IN" sz="1800" dirty="0">
                          <a:effectLst/>
                          <a:latin typeface="Times New Roman" pitchFamily="18" charset="0"/>
                          <a:cs typeface="Times New Roman" pitchFamily="18" charset="0"/>
                        </a:rPr>
                        <a:t> siddhi, </a:t>
                      </a:r>
                      <a:r>
                        <a:rPr lang="en-IN" sz="1800" dirty="0" err="1">
                          <a:effectLst/>
                          <a:latin typeface="Times New Roman" pitchFamily="18" charset="0"/>
                          <a:cs typeface="Times New Roman" pitchFamily="18" charset="0"/>
                        </a:rPr>
                        <a:t>dik</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kunjara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naga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9</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Graha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anka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nanda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Dik,anguli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avatara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ranasiras</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Rudra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12</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Aditya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rasi</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13</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Visva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kama</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14</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a:effectLst/>
                          <a:latin typeface="Times New Roman" pitchFamily="18" charset="0"/>
                          <a:cs typeface="Times New Roman" pitchFamily="18" charset="0"/>
                        </a:rPr>
                        <a:t>Manu</a:t>
                      </a:r>
                      <a:endParaRPr lang="en-US" sz="1800" dirty="0">
                        <a:effectLst/>
                        <a:latin typeface="Times New Roman" pitchFamily="18" charset="0"/>
                        <a:ea typeface="Calibri"/>
                        <a:cs typeface="Times New Roman" pitchFamily="18" charset="0"/>
                      </a:endParaRPr>
                    </a:p>
                  </a:txBody>
                  <a:tcPr marL="68580" marR="68580" marT="0" marB="0"/>
                </a:tc>
              </a:tr>
              <a:tr h="294847">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15</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Tithi</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dina</a:t>
                      </a:r>
                      <a:endParaRPr lang="en-US" sz="1800" dirty="0">
                        <a:effectLst/>
                        <a:latin typeface="Times New Roman" pitchFamily="18" charset="0"/>
                        <a:ea typeface="Calibri"/>
                        <a:cs typeface="Times New Roman" pitchFamily="18" charset="0"/>
                      </a:endParaRPr>
                    </a:p>
                  </a:txBody>
                  <a:tcPr marL="68580" marR="68580" marT="0" marB="0"/>
                </a:tc>
              </a:tr>
            </a:tbl>
          </a:graphicData>
        </a:graphic>
      </p:graphicFrame>
    </p:spTree>
    <p:extLst>
      <p:ext uri="{BB962C8B-B14F-4D97-AF65-F5344CB8AC3E}">
        <p14:creationId xmlns:p14="http://schemas.microsoft.com/office/powerpoint/2010/main" val="121788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4000" b="1" dirty="0" err="1" smtClean="0">
                <a:latin typeface="Times New Roman" pitchFamily="18" charset="0"/>
                <a:cs typeface="Times New Roman" pitchFamily="18" charset="0"/>
              </a:rPr>
              <a:t>Bhūta-Saṃkhyā</a:t>
            </a:r>
            <a:r>
              <a:rPr lang="en-US" sz="4000" b="1" dirty="0" smtClean="0">
                <a:latin typeface="Times New Roman" pitchFamily="18" charset="0"/>
                <a:cs typeface="Times New Roman" pitchFamily="18" charset="0"/>
              </a:rPr>
              <a:t> </a:t>
            </a:r>
            <a:r>
              <a:rPr lang="en-US" sz="4000" b="1" dirty="0">
                <a:latin typeface="Times New Roman" pitchFamily="18" charset="0"/>
                <a:cs typeface="Times New Roman" pitchFamily="18" charset="0"/>
              </a:rPr>
              <a:t>System - Examples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2400" y="990600"/>
            <a:ext cx="8839200" cy="5715000"/>
          </a:xfrm>
        </p:spPr>
        <p:txBody>
          <a:bodyPr>
            <a:normAutofit fontScale="92500" lnSpcReduction="20000"/>
          </a:bodyPr>
          <a:lstStyle/>
          <a:p>
            <a:pPr marL="0" indent="0" algn="just">
              <a:buNone/>
            </a:pPr>
            <a:r>
              <a:rPr lang="en-US" sz="3300" dirty="0" smtClean="0">
                <a:latin typeface="Times New Roman" pitchFamily="18" charset="0"/>
                <a:cs typeface="Times New Roman" pitchFamily="18" charset="0"/>
              </a:rPr>
              <a:t>In </a:t>
            </a:r>
            <a:r>
              <a:rPr lang="en-US" sz="3300" dirty="0">
                <a:latin typeface="Times New Roman" pitchFamily="18" charset="0"/>
                <a:cs typeface="Times New Roman" pitchFamily="18" charset="0"/>
              </a:rPr>
              <a:t>ancient Indian Mathematics, the numbers are mentioned in the order of units, tens, hundreds, etc. (left to right). </a:t>
            </a:r>
          </a:p>
          <a:p>
            <a:pPr marL="514350" indent="-514350" algn="just">
              <a:buFont typeface="+mj-lt"/>
              <a:buAutoNum type="arabicPeriod"/>
            </a:pPr>
            <a:r>
              <a:rPr lang="en-US" sz="3300" dirty="0" err="1" smtClean="0">
                <a:latin typeface="Times New Roman" pitchFamily="18" charset="0"/>
                <a:cs typeface="Times New Roman" pitchFamily="18" charset="0"/>
              </a:rPr>
              <a:t>veda-vedāńka-candräḥ</a:t>
            </a:r>
            <a:r>
              <a:rPr lang="en-US" sz="3300" dirty="0" smtClean="0">
                <a:latin typeface="Times New Roman" pitchFamily="18" charset="0"/>
                <a:cs typeface="Times New Roman" pitchFamily="18" charset="0"/>
              </a:rPr>
              <a:t> : Let us split the words and associate the numbers to them. Veda (4); Veda (4): </a:t>
            </a:r>
            <a:r>
              <a:rPr lang="en-US" sz="3300" dirty="0" err="1" smtClean="0">
                <a:latin typeface="Times New Roman" pitchFamily="18" charset="0"/>
                <a:cs typeface="Times New Roman" pitchFamily="18" charset="0"/>
              </a:rPr>
              <a:t>Anka</a:t>
            </a:r>
            <a:r>
              <a:rPr lang="en-US" sz="3300" dirty="0" smtClean="0">
                <a:latin typeface="Times New Roman" pitchFamily="18" charset="0"/>
                <a:cs typeface="Times New Roman" pitchFamily="18" charset="0"/>
              </a:rPr>
              <a:t>(9); </a:t>
            </a:r>
            <a:r>
              <a:rPr lang="en-US" sz="3300" dirty="0" err="1" smtClean="0">
                <a:latin typeface="Times New Roman" pitchFamily="18" charset="0"/>
                <a:cs typeface="Times New Roman" pitchFamily="18" charset="0"/>
              </a:rPr>
              <a:t>Candra</a:t>
            </a:r>
            <a:r>
              <a:rPr lang="en-US" sz="3300" dirty="0" smtClean="0">
                <a:latin typeface="Times New Roman" pitchFamily="18" charset="0"/>
                <a:cs typeface="Times New Roman" pitchFamily="18" charset="0"/>
              </a:rPr>
              <a:t>(1). Therefore, the number is 1944.</a:t>
            </a:r>
          </a:p>
          <a:p>
            <a:pPr marL="514350" indent="-514350" algn="just">
              <a:buFont typeface="+mj-lt"/>
              <a:buAutoNum type="arabicPeriod"/>
            </a:pPr>
            <a:r>
              <a:rPr lang="en-US" sz="3300" dirty="0" err="1" smtClean="0">
                <a:latin typeface="Times New Roman" pitchFamily="18" charset="0"/>
                <a:cs typeface="Times New Roman" pitchFamily="18" charset="0"/>
              </a:rPr>
              <a:t>khādri-rāmāgnayaḥ</a:t>
            </a:r>
            <a:r>
              <a:rPr lang="en-US" sz="3300" dirty="0" smtClean="0">
                <a:latin typeface="Times New Roman" pitchFamily="18" charset="0"/>
                <a:cs typeface="Times New Roman" pitchFamily="18" charset="0"/>
              </a:rPr>
              <a:t>: </a:t>
            </a:r>
            <a:r>
              <a:rPr lang="en-US" sz="3300" dirty="0" err="1" smtClean="0">
                <a:latin typeface="Times New Roman" pitchFamily="18" charset="0"/>
                <a:cs typeface="Times New Roman" pitchFamily="18" charset="0"/>
              </a:rPr>
              <a:t>Kha</a:t>
            </a:r>
            <a:r>
              <a:rPr lang="en-US" sz="3300" dirty="0" smtClean="0">
                <a:latin typeface="Times New Roman" pitchFamily="18" charset="0"/>
                <a:cs typeface="Times New Roman" pitchFamily="18" charset="0"/>
              </a:rPr>
              <a:t> </a:t>
            </a:r>
            <a:r>
              <a:rPr lang="en-US" sz="3300" dirty="0">
                <a:latin typeface="Times New Roman" pitchFamily="18" charset="0"/>
                <a:cs typeface="Times New Roman" pitchFamily="18" charset="0"/>
              </a:rPr>
              <a:t>(0); </a:t>
            </a:r>
            <a:r>
              <a:rPr lang="en-US" sz="3300" dirty="0" err="1">
                <a:latin typeface="Times New Roman" pitchFamily="18" charset="0"/>
                <a:cs typeface="Times New Roman" pitchFamily="18" charset="0"/>
              </a:rPr>
              <a:t>Adri</a:t>
            </a:r>
            <a:r>
              <a:rPr lang="en-US" sz="3300" dirty="0">
                <a:latin typeface="Times New Roman" pitchFamily="18" charset="0"/>
                <a:cs typeface="Times New Roman" pitchFamily="18" charset="0"/>
              </a:rPr>
              <a:t> (7); </a:t>
            </a:r>
            <a:r>
              <a:rPr lang="en-US" sz="3300" dirty="0" err="1">
                <a:latin typeface="Times New Roman" pitchFamily="18" charset="0"/>
                <a:cs typeface="Times New Roman" pitchFamily="18" charset="0"/>
              </a:rPr>
              <a:t>Râma</a:t>
            </a:r>
            <a:r>
              <a:rPr lang="en-US" sz="3300" dirty="0">
                <a:latin typeface="Times New Roman" pitchFamily="18" charset="0"/>
                <a:cs typeface="Times New Roman" pitchFamily="18" charset="0"/>
              </a:rPr>
              <a:t> (3); Agni (3). Therefore, the number is 3370.</a:t>
            </a:r>
          </a:p>
          <a:p>
            <a:pPr marL="514350" indent="-514350" algn="just">
              <a:buFont typeface="+mj-lt"/>
              <a:buAutoNum type="arabicPeriod"/>
            </a:pPr>
            <a:r>
              <a:rPr lang="lv-LV" sz="3300" dirty="0" smtClean="0">
                <a:latin typeface="Times New Roman" pitchFamily="18" charset="0"/>
                <a:cs typeface="Times New Roman" pitchFamily="18" charset="0"/>
              </a:rPr>
              <a:t>bhujanga-nanda-dvi-naga-anga-bana-sat-krita-indavaḥ</a:t>
            </a:r>
            <a:r>
              <a:rPr lang="en-US" sz="3300" dirty="0" smtClean="0">
                <a:latin typeface="Times New Roman" pitchFamily="18" charset="0"/>
                <a:cs typeface="Times New Roman" pitchFamily="18" charset="0"/>
              </a:rPr>
              <a:t>: </a:t>
            </a:r>
            <a:r>
              <a:rPr lang="lv-LV" sz="3300" dirty="0" smtClean="0">
                <a:latin typeface="Times New Roman" pitchFamily="18" charset="0"/>
                <a:cs typeface="Times New Roman" pitchFamily="18" charset="0"/>
              </a:rPr>
              <a:t> </a:t>
            </a:r>
            <a:r>
              <a:rPr lang="lv-LV" sz="3300" dirty="0">
                <a:latin typeface="Times New Roman" pitchFamily="18" charset="0"/>
                <a:cs typeface="Times New Roman" pitchFamily="18" charset="0"/>
              </a:rPr>
              <a:t>bhujanga (8), nanda (9</a:t>
            </a:r>
            <a:r>
              <a:rPr lang="lv-LV" sz="3300" dirty="0" smtClean="0">
                <a:latin typeface="Times New Roman" pitchFamily="18" charset="0"/>
                <a:cs typeface="Times New Roman" pitchFamily="18" charset="0"/>
              </a:rPr>
              <a:t>),</a:t>
            </a:r>
            <a:r>
              <a:rPr lang="en-US" sz="3300" dirty="0" smtClean="0">
                <a:latin typeface="Times New Roman" pitchFamily="18" charset="0"/>
                <a:cs typeface="Times New Roman" pitchFamily="18" charset="0"/>
              </a:rPr>
              <a:t> </a:t>
            </a:r>
            <a:r>
              <a:rPr lang="lv-LV" sz="3300" dirty="0" smtClean="0">
                <a:latin typeface="Times New Roman" pitchFamily="18" charset="0"/>
                <a:cs typeface="Times New Roman" pitchFamily="18" charset="0"/>
              </a:rPr>
              <a:t>dvi </a:t>
            </a:r>
            <a:r>
              <a:rPr lang="lv-LV" sz="3300" dirty="0">
                <a:latin typeface="Times New Roman" pitchFamily="18" charset="0"/>
                <a:cs typeface="Times New Roman" pitchFamily="18" charset="0"/>
              </a:rPr>
              <a:t>(2), naga (synonym of adri) (7), anga (6), bâņa (5), sat(6), krta (4), indu (1). Therefore, the number is 146,567,298.</a:t>
            </a:r>
          </a:p>
          <a:p>
            <a:endParaRPr lang="en-US" dirty="0"/>
          </a:p>
        </p:txBody>
      </p:sp>
    </p:spTree>
    <p:extLst>
      <p:ext uri="{BB962C8B-B14F-4D97-AF65-F5344CB8AC3E}">
        <p14:creationId xmlns:p14="http://schemas.microsoft.com/office/powerpoint/2010/main" val="2853600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r>
              <a:rPr lang="en-US" b="1" dirty="0" err="1">
                <a:latin typeface="Times New Roman" pitchFamily="18" charset="0"/>
                <a:cs typeface="Times New Roman" pitchFamily="18" charset="0"/>
              </a:rPr>
              <a:t>Madhavācārya's</a:t>
            </a:r>
            <a:r>
              <a:rPr lang="en-US" b="1" dirty="0">
                <a:latin typeface="Times New Roman" pitchFamily="18" charset="0"/>
                <a:cs typeface="Times New Roman" pitchFamily="18" charset="0"/>
              </a:rPr>
              <a:t> Approximation to </a:t>
            </a:r>
            <a:r>
              <a:rPr lang="el-GR" b="1" dirty="0">
                <a:latin typeface="Times New Roman" pitchFamily="18" charset="0"/>
                <a:cs typeface="Times New Roman" pitchFamily="18" charset="0"/>
              </a:rPr>
              <a:t>π</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762000"/>
            <a:ext cx="8839200" cy="5867400"/>
          </a:xfrm>
        </p:spPr>
        <p:txBody>
          <a:bodyPr>
            <a:normAutofit/>
          </a:bodyPr>
          <a:lstStyle/>
          <a:p>
            <a:pPr algn="just"/>
            <a:r>
              <a:rPr lang="en-US" dirty="0" smtClean="0">
                <a:latin typeface="Times New Roman" pitchFamily="18" charset="0"/>
                <a:cs typeface="Times New Roman" pitchFamily="18" charset="0"/>
              </a:rPr>
              <a:t>Ancient </a:t>
            </a:r>
            <a:r>
              <a:rPr lang="en-US" dirty="0">
                <a:latin typeface="Times New Roman" pitchFamily="18" charset="0"/>
                <a:cs typeface="Times New Roman" pitchFamily="18" charset="0"/>
              </a:rPr>
              <a:t>Indian mathematicians have provided multiple approximations to π.</a:t>
            </a:r>
          </a:p>
          <a:p>
            <a:pPr algn="just"/>
            <a:r>
              <a:rPr lang="en-US" dirty="0" smtClean="0">
                <a:latin typeface="Times New Roman" pitchFamily="18" charset="0"/>
                <a:cs typeface="Times New Roman" pitchFamily="18" charset="0"/>
              </a:rPr>
              <a:t>Many </a:t>
            </a:r>
            <a:r>
              <a:rPr lang="en-US" dirty="0">
                <a:latin typeface="Times New Roman" pitchFamily="18" charset="0"/>
                <a:cs typeface="Times New Roman" pitchFamily="18" charset="0"/>
              </a:rPr>
              <a:t>of these mathematical details, numbers and computations required are invariably provided in the form of some verses using word numeral systems such as </a:t>
            </a:r>
            <a:r>
              <a:rPr lang="en-US" dirty="0" err="1">
                <a:latin typeface="Times New Roman" pitchFamily="18" charset="0"/>
                <a:cs typeface="Times New Roman" pitchFamily="18" charset="0"/>
              </a:rPr>
              <a:t>bhūta-samkhyā</a:t>
            </a:r>
            <a:r>
              <a:rPr lang="en-US" dirty="0">
                <a:latin typeface="Times New Roman" pitchFamily="18" charset="0"/>
                <a:cs typeface="Times New Roman" pitchFamily="18" charset="0"/>
              </a:rPr>
              <a:t> system.</a:t>
            </a:r>
          </a:p>
          <a:p>
            <a:pPr algn="just"/>
            <a:r>
              <a:rPr lang="en-US" dirty="0" smtClean="0">
                <a:latin typeface="Times New Roman" pitchFamily="18" charset="0"/>
                <a:cs typeface="Times New Roman" pitchFamily="18" charset="0"/>
              </a:rPr>
              <a:t>One </a:t>
            </a:r>
            <a:r>
              <a:rPr lang="en-US" dirty="0">
                <a:latin typeface="Times New Roman" pitchFamily="18" charset="0"/>
                <a:cs typeface="Times New Roman" pitchFamily="18" charset="0"/>
              </a:rPr>
              <a:t>such approximation is due to the 11th Century CE mathematician </a:t>
            </a:r>
            <a:r>
              <a:rPr lang="en-US" dirty="0" err="1">
                <a:latin typeface="Times New Roman" pitchFamily="18" charset="0"/>
                <a:cs typeface="Times New Roman" pitchFamily="18" charset="0"/>
              </a:rPr>
              <a:t>Madhavācārya</a:t>
            </a:r>
            <a:r>
              <a:rPr lang="en-US" dirty="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verse below contains the relevant details. Let us use the </a:t>
            </a:r>
            <a:r>
              <a:rPr lang="en-US" dirty="0" err="1">
                <a:latin typeface="Times New Roman" pitchFamily="18" charset="0"/>
                <a:cs typeface="Times New Roman" pitchFamily="18" charset="0"/>
              </a:rPr>
              <a:t>bhūta-samkhyā</a:t>
            </a:r>
            <a:r>
              <a:rPr lang="en-US" dirty="0">
                <a:latin typeface="Times New Roman" pitchFamily="18" charset="0"/>
                <a:cs typeface="Times New Roman" pitchFamily="18" charset="0"/>
              </a:rPr>
              <a:t> system to deciphers the details.</a:t>
            </a:r>
          </a:p>
          <a:p>
            <a:endParaRPr lang="en-US" dirty="0"/>
          </a:p>
        </p:txBody>
      </p:sp>
    </p:spTree>
    <p:extLst>
      <p:ext uri="{BB962C8B-B14F-4D97-AF65-F5344CB8AC3E}">
        <p14:creationId xmlns:p14="http://schemas.microsoft.com/office/powerpoint/2010/main" val="2133721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err="1">
                <a:latin typeface="Times New Roman" pitchFamily="18" charset="0"/>
                <a:cs typeface="Times New Roman" pitchFamily="18" charset="0"/>
              </a:rPr>
              <a:t>Madhavācārya's</a:t>
            </a:r>
            <a:r>
              <a:rPr lang="en-US" b="1" dirty="0">
                <a:latin typeface="Times New Roman" pitchFamily="18" charset="0"/>
                <a:cs typeface="Times New Roman" pitchFamily="18" charset="0"/>
              </a:rPr>
              <a:t> Approximation to </a:t>
            </a:r>
            <a:r>
              <a:rPr lang="el-GR" b="1" dirty="0">
                <a:latin typeface="Times New Roman" pitchFamily="18" charset="0"/>
                <a:cs typeface="Times New Roman" pitchFamily="18" charset="0"/>
              </a:rPr>
              <a:t>π</a:t>
            </a:r>
            <a:endParaRPr lang="en-US" dirty="0"/>
          </a:p>
        </p:txBody>
      </p:sp>
      <p:sp>
        <p:nvSpPr>
          <p:cNvPr id="3" name="Content Placeholder 2"/>
          <p:cNvSpPr>
            <a:spLocks noGrp="1"/>
          </p:cNvSpPr>
          <p:nvPr>
            <p:ph idx="1"/>
          </p:nvPr>
        </p:nvSpPr>
        <p:spPr>
          <a:xfrm>
            <a:off x="152400" y="685800"/>
            <a:ext cx="8839200" cy="6019800"/>
          </a:xfrm>
        </p:spPr>
        <p:txBody>
          <a:bodyPr>
            <a:normAutofit/>
          </a:bodyPr>
          <a:lstStyle/>
          <a:p>
            <a:pPr marL="0" indent="0">
              <a:buNone/>
            </a:pPr>
            <a:r>
              <a:rPr lang="lv-LV" sz="2400" i="1" dirty="0">
                <a:latin typeface="Times New Roman" pitchFamily="18" charset="0"/>
                <a:cs typeface="Times New Roman" pitchFamily="18" charset="0"/>
              </a:rPr>
              <a:t>vibudha-netra-gaja-ahi-hutāśana-triguna-veda-bha-vāraņa-bāhavaḥ </a:t>
            </a:r>
            <a:r>
              <a:rPr lang="lv-LV" sz="2400" dirty="0">
                <a:latin typeface="Times New Roman" pitchFamily="18" charset="0"/>
                <a:cs typeface="Times New Roman" pitchFamily="18" charset="0"/>
              </a:rPr>
              <a:t>।</a:t>
            </a:r>
          </a:p>
          <a:p>
            <a:pPr marL="0" indent="0">
              <a:buNone/>
            </a:pPr>
            <a:r>
              <a:rPr lang="en-US" sz="2400" i="1" dirty="0" err="1" smtClean="0">
                <a:latin typeface="Times New Roman" pitchFamily="18" charset="0"/>
                <a:cs typeface="Times New Roman" pitchFamily="18" charset="0"/>
              </a:rPr>
              <a:t>navanikharva</a:t>
            </a:r>
            <a:r>
              <a:rPr lang="en-US" sz="2400" i="1" dirty="0" smtClean="0">
                <a:latin typeface="Times New Roman" pitchFamily="18" charset="0"/>
                <a:cs typeface="Times New Roman" pitchFamily="18" charset="0"/>
              </a:rPr>
              <a:t>-mite </a:t>
            </a:r>
            <a:r>
              <a:rPr lang="en-US" sz="2400" i="1" dirty="0" err="1">
                <a:latin typeface="Times New Roman" pitchFamily="18" charset="0"/>
                <a:cs typeface="Times New Roman" pitchFamily="18" charset="0"/>
              </a:rPr>
              <a:t>vrttivistare</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paridhimānam-idam</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jagadurbudhāḥ</a:t>
            </a:r>
            <a:r>
              <a:rPr lang="en-US" sz="2400" i="1"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a:t>
            </a:r>
          </a:p>
          <a:p>
            <a:pPr marL="0" indent="0">
              <a:buNone/>
            </a:pPr>
            <a:endParaRPr lang="en-US" sz="2400" dirty="0"/>
          </a:p>
          <a:p>
            <a:r>
              <a:rPr lang="en-US" sz="2800" dirty="0">
                <a:latin typeface="Times New Roman" pitchFamily="18" charset="0"/>
                <a:cs typeface="Times New Roman" pitchFamily="18" charset="0"/>
              </a:rPr>
              <a:t>In the first line of the verse, numbers are provided using the </a:t>
            </a:r>
            <a:r>
              <a:rPr lang="en-US" sz="2800" dirty="0" err="1">
                <a:latin typeface="Times New Roman" pitchFamily="18" charset="0"/>
                <a:cs typeface="Times New Roman" pitchFamily="18" charset="0"/>
              </a:rPr>
              <a:t>bhūta-samkhya</a:t>
            </a:r>
            <a:r>
              <a:rPr lang="en-US" sz="2800" dirty="0">
                <a:latin typeface="Times New Roman" pitchFamily="18" charset="0"/>
                <a:cs typeface="Times New Roman" pitchFamily="18" charset="0"/>
              </a:rPr>
              <a:t> system. </a:t>
            </a:r>
          </a:p>
          <a:p>
            <a:r>
              <a:rPr lang="lv-LV" sz="2800" dirty="0" smtClean="0">
                <a:latin typeface="Times New Roman" pitchFamily="18" charset="0"/>
                <a:cs typeface="Times New Roman" pitchFamily="18" charset="0"/>
              </a:rPr>
              <a:t>Let </a:t>
            </a:r>
            <a:r>
              <a:rPr lang="lv-LV" sz="2800" dirty="0">
                <a:latin typeface="Times New Roman" pitchFamily="18" charset="0"/>
                <a:cs typeface="Times New Roman" pitchFamily="18" charset="0"/>
              </a:rPr>
              <a:t>us first extract the numbers. </a:t>
            </a:r>
            <a:r>
              <a:rPr lang="lv-LV" sz="2800" i="1" dirty="0">
                <a:latin typeface="Times New Roman" pitchFamily="18" charset="0"/>
                <a:cs typeface="Times New Roman" pitchFamily="18" charset="0"/>
              </a:rPr>
              <a:t>vibudha - Devas (33); netra - Eyes (2); gaja - Elephant (8); ahi - Snake (8); hutāśana - Agni (3); tri (3), guna - (3); veda (4) bha - stars (27); vāraņa - Elephant (8); bahu - Hands (2); </a:t>
            </a:r>
            <a:r>
              <a:rPr lang="lv-LV" sz="2800" dirty="0">
                <a:latin typeface="Times New Roman" pitchFamily="18" charset="0"/>
                <a:cs typeface="Times New Roman" pitchFamily="18" charset="0"/>
              </a:rPr>
              <a:t>Therefore, the number mentioned is 2,827,433,388,233.</a:t>
            </a:r>
          </a:p>
          <a:p>
            <a:r>
              <a:rPr lang="en-US" sz="2800" dirty="0" smtClean="0">
                <a:latin typeface="Times New Roman" pitchFamily="18" charset="0"/>
                <a:cs typeface="Times New Roman" pitchFamily="18" charset="0"/>
              </a:rPr>
              <a:t>In </a:t>
            </a:r>
            <a:r>
              <a:rPr lang="en-US" sz="2800" dirty="0">
                <a:latin typeface="Times New Roman" pitchFamily="18" charset="0"/>
                <a:cs typeface="Times New Roman" pitchFamily="18" charset="0"/>
              </a:rPr>
              <a:t>the second line of the verse, there is again a mention of a number; </a:t>
            </a:r>
            <a:r>
              <a:rPr lang="en-US" sz="2800" i="1" dirty="0" err="1">
                <a:latin typeface="Times New Roman" pitchFamily="18" charset="0"/>
                <a:cs typeface="Times New Roman" pitchFamily="18" charset="0"/>
              </a:rPr>
              <a:t>nava</a:t>
            </a:r>
            <a:r>
              <a:rPr lang="en-US" sz="2800" i="1" dirty="0">
                <a:latin typeface="Times New Roman" pitchFamily="18" charset="0"/>
                <a:cs typeface="Times New Roman" pitchFamily="18" charset="0"/>
              </a:rPr>
              <a:t> - (9); </a:t>
            </a:r>
            <a:r>
              <a:rPr lang="en-US" sz="2800" i="1" dirty="0" err="1">
                <a:latin typeface="Times New Roman" pitchFamily="18" charset="0"/>
                <a:cs typeface="Times New Roman" pitchFamily="18" charset="0"/>
              </a:rPr>
              <a:t>nikharva</a:t>
            </a:r>
            <a:r>
              <a:rPr lang="en-US" sz="2800" i="1" dirty="0">
                <a:latin typeface="Times New Roman" pitchFamily="18" charset="0"/>
                <a:cs typeface="Times New Roman" pitchFamily="18" charset="0"/>
              </a:rPr>
              <a:t> - 10</a:t>
            </a:r>
            <a:r>
              <a:rPr lang="en-US" sz="2800" i="1" baseline="30000" dirty="0">
                <a:latin typeface="Times New Roman" pitchFamily="18" charset="0"/>
                <a:cs typeface="Times New Roman" pitchFamily="18" charset="0"/>
              </a:rPr>
              <a:t>11</a:t>
            </a:r>
            <a:r>
              <a:rPr lang="en-US" sz="2800" i="1" dirty="0">
                <a:latin typeface="Times New Roman" pitchFamily="18" charset="0"/>
                <a:cs typeface="Times New Roman" pitchFamily="18" charset="0"/>
              </a:rPr>
              <a:t>. This number is 9 x 10</a:t>
            </a:r>
            <a:r>
              <a:rPr lang="en-US" sz="2800" i="1" baseline="30000" dirty="0">
                <a:latin typeface="Times New Roman" pitchFamily="18" charset="0"/>
                <a:cs typeface="Times New Roman" pitchFamily="18" charset="0"/>
              </a:rPr>
              <a:t>11</a:t>
            </a:r>
            <a:r>
              <a:rPr lang="en-US" sz="2800" i="1" dirty="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730755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457200"/>
          </a:xfrm>
        </p:spPr>
        <p:txBody>
          <a:bodyPr>
            <a:normAutofit fontScale="90000"/>
          </a:bodyPr>
          <a:lstStyle/>
          <a:p>
            <a:r>
              <a:rPr lang="en-US" b="1" dirty="0" err="1">
                <a:latin typeface="Times New Roman" pitchFamily="18" charset="0"/>
                <a:cs typeface="Times New Roman" pitchFamily="18" charset="0"/>
              </a:rPr>
              <a:t>Madhavācārya's</a:t>
            </a:r>
            <a:r>
              <a:rPr lang="en-US" b="1" dirty="0">
                <a:latin typeface="Times New Roman" pitchFamily="18" charset="0"/>
                <a:cs typeface="Times New Roman" pitchFamily="18" charset="0"/>
              </a:rPr>
              <a:t> Approximation to </a:t>
            </a:r>
            <a:r>
              <a:rPr lang="el-GR" b="1" dirty="0">
                <a:latin typeface="Times New Roman" pitchFamily="18" charset="0"/>
                <a:cs typeface="Times New Roman" pitchFamily="18" charset="0"/>
              </a:rPr>
              <a:t>π</a:t>
            </a:r>
            <a:endParaRPr lang="en-US" dirty="0"/>
          </a:p>
        </p:txBody>
      </p:sp>
      <p:sp>
        <p:nvSpPr>
          <p:cNvPr id="3" name="Content Placeholder 2"/>
          <p:cNvSpPr>
            <a:spLocks noGrp="1"/>
          </p:cNvSpPr>
          <p:nvPr>
            <p:ph idx="1"/>
          </p:nvPr>
        </p:nvSpPr>
        <p:spPr>
          <a:xfrm>
            <a:off x="152400" y="838200"/>
            <a:ext cx="8839200" cy="5287963"/>
          </a:xfrm>
        </p:spPr>
        <p:txBody>
          <a:bodyPr>
            <a:normAutofit/>
          </a:bodyPr>
          <a:lstStyle/>
          <a:p>
            <a:pPr marL="0" indent="0">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balance part of the </a:t>
            </a:r>
            <a:r>
              <a:rPr lang="en-US" i="1" dirty="0" err="1">
                <a:latin typeface="Times New Roman" pitchFamily="18" charset="0"/>
                <a:cs typeface="Times New Roman" pitchFamily="18" charset="0"/>
              </a:rPr>
              <a:t>śloka</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mentions that this is the ratio of the circumference (</a:t>
            </a:r>
            <a:r>
              <a:rPr lang="en-US" i="1" dirty="0" err="1">
                <a:latin typeface="Times New Roman" pitchFamily="18" charset="0"/>
                <a:cs typeface="Times New Roman" pitchFamily="18" charset="0"/>
              </a:rPr>
              <a:t>paridhimānam</a:t>
            </a:r>
            <a:r>
              <a:rPr lang="en-US" dirty="0">
                <a:latin typeface="Times New Roman" pitchFamily="18" charset="0"/>
                <a:cs typeface="Times New Roman" pitchFamily="18" charset="0"/>
              </a:rPr>
              <a:t>) to the diameter (</a:t>
            </a:r>
            <a:r>
              <a:rPr lang="en-US" i="1" dirty="0" err="1">
                <a:latin typeface="Times New Roman" pitchFamily="18" charset="0"/>
                <a:cs typeface="Times New Roman" pitchFamily="18" charset="0"/>
              </a:rPr>
              <a:t>vrttivistare</a:t>
            </a:r>
            <a:r>
              <a:rPr lang="en-US" dirty="0">
                <a:latin typeface="Times New Roman" pitchFamily="18" charset="0"/>
                <a:cs typeface="Times New Roman" pitchFamily="18" charset="0"/>
              </a:rPr>
              <a:t>) of the circle. </a:t>
            </a:r>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Taking </a:t>
            </a:r>
            <a:r>
              <a:rPr lang="en-US" dirty="0">
                <a:latin typeface="Times New Roman" pitchFamily="18" charset="0"/>
                <a:cs typeface="Times New Roman" pitchFamily="18" charset="0"/>
              </a:rPr>
              <a:t>this ratio will yield us the value of π</a:t>
            </a:r>
            <a:r>
              <a:rPr lang="en-US" dirty="0" smtClean="0">
                <a:latin typeface="Times New Roman" pitchFamily="18" charset="0"/>
                <a:cs typeface="Times New Roman" pitchFamily="18" charset="0"/>
              </a:rPr>
              <a:t>.</a:t>
            </a:r>
          </a:p>
          <a:p>
            <a:pPr marL="0" indent="0">
              <a:buNone/>
            </a:pPr>
            <a:endParaRPr lang="en-US" dirty="0">
              <a:latin typeface="Times New Roman" pitchFamily="18" charset="0"/>
              <a:cs typeface="Times New Roman" pitchFamily="18" charset="0"/>
            </a:endParaRPr>
          </a:p>
          <a:p>
            <a:r>
              <a:rPr lang="el-GR" dirty="0">
                <a:latin typeface="Times New Roman" pitchFamily="18" charset="0"/>
                <a:cs typeface="Times New Roman" pitchFamily="18" charset="0"/>
              </a:rPr>
              <a:t>π = 2827433388233/ 9×10</a:t>
            </a:r>
            <a:r>
              <a:rPr lang="el-GR" baseline="30000" dirty="0">
                <a:latin typeface="Times New Roman" pitchFamily="18" charset="0"/>
                <a:cs typeface="Times New Roman" pitchFamily="18" charset="0"/>
              </a:rPr>
              <a:t>11</a:t>
            </a:r>
            <a:r>
              <a:rPr lang="el-GR" dirty="0">
                <a:latin typeface="Times New Roman" pitchFamily="18" charset="0"/>
                <a:cs typeface="Times New Roman" pitchFamily="18" charset="0"/>
              </a:rPr>
              <a:t> = 3.14159265359222</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12560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a:normAutofit fontScale="90000"/>
          </a:bodyPr>
          <a:lstStyle/>
          <a:p>
            <a:r>
              <a:rPr lang="en-US" b="1" dirty="0" err="1">
                <a:latin typeface="Times New Roman" pitchFamily="18" charset="0"/>
                <a:cs typeface="Times New Roman" pitchFamily="18" charset="0"/>
              </a:rPr>
              <a:t>Kațapayādi</a:t>
            </a:r>
            <a:r>
              <a:rPr lang="en-US" b="1" dirty="0">
                <a:latin typeface="Times New Roman" pitchFamily="18" charset="0"/>
                <a:cs typeface="Times New Roman" pitchFamily="18" charset="0"/>
              </a:rPr>
              <a:t> System</a:t>
            </a:r>
          </a:p>
        </p:txBody>
      </p:sp>
      <p:sp>
        <p:nvSpPr>
          <p:cNvPr id="3" name="Content Placeholder 2"/>
          <p:cNvSpPr>
            <a:spLocks noGrp="1"/>
          </p:cNvSpPr>
          <p:nvPr>
            <p:ph idx="1"/>
          </p:nvPr>
        </p:nvSpPr>
        <p:spPr>
          <a:xfrm>
            <a:off x="152400" y="609600"/>
            <a:ext cx="8763000" cy="6019800"/>
          </a:xfrm>
        </p:spPr>
        <p:txBody>
          <a:bodyPr>
            <a:normAutofit/>
          </a:bodyPr>
          <a:lstStyle/>
          <a:p>
            <a:pPr algn="just"/>
            <a:r>
              <a:rPr lang="en-US" dirty="0" smtClean="0">
                <a:latin typeface="Times New Roman" pitchFamily="18" charset="0"/>
                <a:cs typeface="Times New Roman" pitchFamily="18" charset="0"/>
              </a:rPr>
              <a:t>It's </a:t>
            </a:r>
            <a:r>
              <a:rPr lang="en-US" dirty="0">
                <a:latin typeface="Times New Roman" pitchFamily="18" charset="0"/>
                <a:cs typeface="Times New Roman" pitchFamily="18" charset="0"/>
              </a:rPr>
              <a:t>a system to convert the numerals to words is to associate a number to one or more alphabets.</a:t>
            </a:r>
          </a:p>
          <a:p>
            <a:pPr algn="just"/>
            <a:r>
              <a:rPr lang="en-US" dirty="0" smtClean="0">
                <a:latin typeface="Times New Roman" pitchFamily="18" charset="0"/>
                <a:cs typeface="Times New Roman" pitchFamily="18" charset="0"/>
              </a:rPr>
              <a:t>Once </a:t>
            </a:r>
            <a:r>
              <a:rPr lang="en-US" dirty="0">
                <a:latin typeface="Times New Roman" pitchFamily="18" charset="0"/>
                <a:cs typeface="Times New Roman" pitchFamily="18" charset="0"/>
              </a:rPr>
              <a:t>this association is established, the numbers can be replaced with a corresponding alphabet.</a:t>
            </a:r>
          </a:p>
          <a:p>
            <a:pPr algn="just"/>
            <a:r>
              <a:rPr lang="en-US" dirty="0" smtClean="0">
                <a:latin typeface="Times New Roman" pitchFamily="18" charset="0"/>
                <a:cs typeface="Times New Roman" pitchFamily="18" charset="0"/>
              </a:rPr>
              <a:t>Using </a:t>
            </a:r>
            <a:r>
              <a:rPr lang="en-US" dirty="0">
                <a:latin typeface="Times New Roman" pitchFamily="18" charset="0"/>
                <a:cs typeface="Times New Roman" pitchFamily="18" charset="0"/>
              </a:rPr>
              <a:t>the alphabet in the place of numbers, one can construct words, which by deciphering one alphabet at a time will reveal the number expressed in the word.</a:t>
            </a:r>
          </a:p>
          <a:p>
            <a:pPr algn="just"/>
            <a:r>
              <a:rPr lang="en-US" dirty="0" smtClean="0">
                <a:latin typeface="Times New Roman" pitchFamily="18" charset="0"/>
                <a:cs typeface="Times New Roman" pitchFamily="18" charset="0"/>
              </a:rPr>
              <a:t>Used </a:t>
            </a:r>
            <a:r>
              <a:rPr lang="en-US" dirty="0">
                <a:latin typeface="Times New Roman" pitchFamily="18" charset="0"/>
                <a:cs typeface="Times New Roman" pitchFamily="18" charset="0"/>
              </a:rPr>
              <a:t>in Carnatic </a:t>
            </a:r>
            <a:r>
              <a:rPr lang="en-US" dirty="0" smtClean="0">
                <a:latin typeface="Times New Roman" pitchFamily="18" charset="0"/>
                <a:cs typeface="Times New Roman" pitchFamily="18" charset="0"/>
              </a:rPr>
              <a:t>music.</a:t>
            </a:r>
            <a:endParaRPr lang="en-US"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Very </a:t>
            </a:r>
            <a:r>
              <a:rPr lang="en-US" dirty="0">
                <a:latin typeface="Times New Roman" pitchFamily="18" charset="0"/>
                <a:cs typeface="Times New Roman" pitchFamily="18" charset="0"/>
              </a:rPr>
              <a:t>similar to ASCII in modern days.</a:t>
            </a:r>
          </a:p>
          <a:p>
            <a:pPr marL="0" indent="0">
              <a:buNone/>
            </a:pPr>
            <a:endParaRPr lang="en-US" dirty="0"/>
          </a:p>
        </p:txBody>
      </p:sp>
    </p:spTree>
    <p:extLst>
      <p:ext uri="{BB962C8B-B14F-4D97-AF65-F5344CB8AC3E}">
        <p14:creationId xmlns:p14="http://schemas.microsoft.com/office/powerpoint/2010/main" val="476154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a:normAutofit fontScale="90000"/>
          </a:bodyPr>
          <a:lstStyle/>
          <a:p>
            <a:r>
              <a:rPr lang="en-US" b="1" dirty="0" err="1">
                <a:latin typeface="Times New Roman" pitchFamily="18" charset="0"/>
                <a:cs typeface="Times New Roman" pitchFamily="18" charset="0"/>
              </a:rPr>
              <a:t>Kațapayādi</a:t>
            </a:r>
            <a:r>
              <a:rPr lang="en-US" b="1" dirty="0">
                <a:latin typeface="Times New Roman" pitchFamily="18" charset="0"/>
                <a:cs typeface="Times New Roman" pitchFamily="18" charset="0"/>
              </a:rPr>
              <a:t> System - Rules</a:t>
            </a:r>
          </a:p>
        </p:txBody>
      </p:sp>
      <p:sp>
        <p:nvSpPr>
          <p:cNvPr id="3" name="Content Placeholder 2"/>
          <p:cNvSpPr>
            <a:spLocks noGrp="1"/>
          </p:cNvSpPr>
          <p:nvPr>
            <p:ph idx="1"/>
          </p:nvPr>
        </p:nvSpPr>
        <p:spPr>
          <a:xfrm>
            <a:off x="152400" y="685800"/>
            <a:ext cx="8839200" cy="6096000"/>
          </a:xfrm>
        </p:spPr>
        <p:txBody>
          <a:bodyPr>
            <a:normAutofit fontScale="70000" lnSpcReduction="20000"/>
          </a:bodyPr>
          <a:lstStyle/>
          <a:p>
            <a:pPr marL="514350" indent="-514350" algn="just">
              <a:buFont typeface="+mj-lt"/>
              <a:buAutoNum type="alphaLcPeriod"/>
            </a:pPr>
            <a:r>
              <a:rPr lang="en-US" sz="3400" dirty="0" smtClean="0">
                <a:latin typeface="Times New Roman" pitchFamily="18" charset="0"/>
                <a:cs typeface="Times New Roman" pitchFamily="18" charset="0"/>
              </a:rPr>
              <a:t>The </a:t>
            </a:r>
            <a:r>
              <a:rPr lang="en-US" sz="3400" dirty="0">
                <a:latin typeface="Times New Roman" pitchFamily="18" charset="0"/>
                <a:cs typeface="Times New Roman" pitchFamily="18" charset="0"/>
              </a:rPr>
              <a:t>vowels when standing alone indicate the number zero. In all other cases when they are conjoined with consonants, they have no role in this system other than facilitating the pronunciation of the consonants when used in a word.</a:t>
            </a:r>
          </a:p>
          <a:p>
            <a:pPr marL="514350" indent="-514350" algn="just">
              <a:buFont typeface="+mj-lt"/>
              <a:buAutoNum type="alphaLcPeriod"/>
            </a:pPr>
            <a:r>
              <a:rPr lang="en-US" sz="3400" dirty="0">
                <a:latin typeface="Times New Roman" pitchFamily="18" charset="0"/>
                <a:cs typeface="Times New Roman" pitchFamily="18" charset="0"/>
              </a:rPr>
              <a:t>Each consonant is uniquely associated with a number from 0 to 9. For example, the consonants </a:t>
            </a:r>
            <a:r>
              <a:rPr lang="en-US" sz="3400" dirty="0" err="1">
                <a:latin typeface="Times New Roman" pitchFamily="18" charset="0"/>
                <a:cs typeface="Times New Roman" pitchFamily="18" charset="0"/>
              </a:rPr>
              <a:t>ka</a:t>
            </a:r>
            <a:r>
              <a:rPr lang="en-US" sz="3400" dirty="0">
                <a:latin typeface="Times New Roman" pitchFamily="18" charset="0"/>
                <a:cs typeface="Times New Roman" pitchFamily="18" charset="0"/>
              </a:rPr>
              <a:t>-ta-pa-</a:t>
            </a:r>
            <a:r>
              <a:rPr lang="en-US" sz="3400" dirty="0" err="1">
                <a:latin typeface="Times New Roman" pitchFamily="18" charset="0"/>
                <a:cs typeface="Times New Roman" pitchFamily="18" charset="0"/>
              </a:rPr>
              <a:t>ya</a:t>
            </a:r>
            <a:r>
              <a:rPr lang="en-US" sz="3400" dirty="0">
                <a:latin typeface="Times New Roman" pitchFamily="18" charset="0"/>
                <a:cs typeface="Times New Roman" pitchFamily="18" charset="0"/>
              </a:rPr>
              <a:t> was used to denote number 1. Therefore, the system was referred to as the </a:t>
            </a:r>
            <a:r>
              <a:rPr lang="en-US" sz="3400" dirty="0" err="1">
                <a:latin typeface="Times New Roman" pitchFamily="18" charset="0"/>
                <a:cs typeface="Times New Roman" pitchFamily="18" charset="0"/>
              </a:rPr>
              <a:t>Katapayadi</a:t>
            </a:r>
            <a:r>
              <a:rPr lang="en-US" sz="3400" dirty="0">
                <a:latin typeface="Times New Roman" pitchFamily="18" charset="0"/>
                <a:cs typeface="Times New Roman" pitchFamily="18" charset="0"/>
              </a:rPr>
              <a:t> system. Similarly, </a:t>
            </a:r>
            <a:r>
              <a:rPr lang="en-US" sz="3400" dirty="0" err="1">
                <a:latin typeface="Times New Roman" pitchFamily="18" charset="0"/>
                <a:cs typeface="Times New Roman" pitchFamily="18" charset="0"/>
              </a:rPr>
              <a:t>kha-tha-pha-ra</a:t>
            </a:r>
            <a:r>
              <a:rPr lang="en-US" sz="3400" dirty="0">
                <a:latin typeface="Times New Roman" pitchFamily="18" charset="0"/>
                <a:cs typeface="Times New Roman" pitchFamily="18" charset="0"/>
              </a:rPr>
              <a:t> denotes number 2, and so on. </a:t>
            </a:r>
            <a:endParaRPr lang="en-US" sz="3400" dirty="0" smtClean="0">
              <a:latin typeface="Times New Roman" pitchFamily="18" charset="0"/>
              <a:cs typeface="Times New Roman" pitchFamily="18" charset="0"/>
            </a:endParaRPr>
          </a:p>
          <a:p>
            <a:pPr marL="514350" indent="-514350" algn="just">
              <a:buFont typeface="+mj-lt"/>
              <a:buAutoNum type="alphaLcPeriod"/>
            </a:pPr>
            <a:r>
              <a:rPr lang="en-US" sz="3400" dirty="0" smtClean="0">
                <a:latin typeface="Times New Roman" pitchFamily="18" charset="0"/>
                <a:cs typeface="Times New Roman" pitchFamily="18" charset="0"/>
              </a:rPr>
              <a:t>More than one consonant may be associated with each of the numerals.</a:t>
            </a:r>
          </a:p>
          <a:p>
            <a:pPr marL="514350" indent="-514350" algn="just">
              <a:buFont typeface="+mj-lt"/>
              <a:buAutoNum type="alphaLcPeriod"/>
            </a:pPr>
            <a:r>
              <a:rPr lang="en-US" sz="3400" dirty="0" smtClean="0">
                <a:latin typeface="Times New Roman" pitchFamily="18" charset="0"/>
                <a:cs typeface="Times New Roman" pitchFamily="18" charset="0"/>
              </a:rPr>
              <a:t>When </a:t>
            </a:r>
            <a:r>
              <a:rPr lang="en-US" sz="3400" dirty="0">
                <a:latin typeface="Times New Roman" pitchFamily="18" charset="0"/>
                <a:cs typeface="Times New Roman" pitchFamily="18" charset="0"/>
              </a:rPr>
              <a:t>more than one consonant is used in conjunction, only the terminal consonant preceding a vowel is to be considered for the identification of the corresponding numeral.</a:t>
            </a:r>
          </a:p>
          <a:p>
            <a:pPr marL="514350" indent="-514350" algn="just">
              <a:buFont typeface="+mj-lt"/>
              <a:buAutoNum type="alphaLcPeriod"/>
            </a:pPr>
            <a:r>
              <a:rPr lang="en-US" sz="3400" dirty="0">
                <a:latin typeface="Times New Roman" pitchFamily="18" charset="0"/>
                <a:cs typeface="Times New Roman" pitchFamily="18" charset="0"/>
              </a:rPr>
              <a:t>If a consonant is not conjoined with a vowel and stands alone, then it will not be considered for identification of the numeral.</a:t>
            </a:r>
          </a:p>
          <a:p>
            <a:pPr marL="514350" indent="-514350" algn="just">
              <a:buFont typeface="+mj-lt"/>
              <a:buAutoNum type="alphaLcPeriod"/>
            </a:pPr>
            <a:r>
              <a:rPr lang="en-US" sz="3400" dirty="0">
                <a:latin typeface="Times New Roman" pitchFamily="18" charset="0"/>
                <a:cs typeface="Times New Roman" pitchFamily="18" charset="0"/>
              </a:rPr>
              <a:t>Similar to the </a:t>
            </a:r>
            <a:r>
              <a:rPr lang="en-US" sz="3400" dirty="0" err="1">
                <a:latin typeface="Times New Roman" pitchFamily="18" charset="0"/>
                <a:cs typeface="Times New Roman" pitchFamily="18" charset="0"/>
              </a:rPr>
              <a:t>Bhūta-Saṃkhyā</a:t>
            </a:r>
            <a:r>
              <a:rPr lang="en-US" sz="3400" dirty="0">
                <a:latin typeface="Times New Roman" pitchFamily="18" charset="0"/>
                <a:cs typeface="Times New Roman" pitchFamily="18" charset="0"/>
              </a:rPr>
              <a:t> System, the numbers are to be read as units - tens hundreds ... etc.</a:t>
            </a:r>
          </a:p>
          <a:p>
            <a:pPr algn="just"/>
            <a:endParaRPr lang="en-US" dirty="0"/>
          </a:p>
        </p:txBody>
      </p:sp>
    </p:spTree>
    <p:extLst>
      <p:ext uri="{BB962C8B-B14F-4D97-AF65-F5344CB8AC3E}">
        <p14:creationId xmlns:p14="http://schemas.microsoft.com/office/powerpoint/2010/main" val="2540799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Autofit/>
          </a:bodyPr>
          <a:lstStyle/>
          <a:p>
            <a:r>
              <a:rPr lang="en-US" sz="3600" b="1" dirty="0" err="1">
                <a:latin typeface="Times New Roman" pitchFamily="18" charset="0"/>
                <a:cs typeface="Times New Roman" pitchFamily="18" charset="0"/>
              </a:rPr>
              <a:t>Kațapayādi</a:t>
            </a:r>
            <a:r>
              <a:rPr lang="en-US" sz="3600" b="1" dirty="0">
                <a:latin typeface="Times New Roman" pitchFamily="18" charset="0"/>
                <a:cs typeface="Times New Roman" pitchFamily="18" charset="0"/>
              </a:rPr>
              <a:t> System – Letter Numerals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0471" y="1143000"/>
            <a:ext cx="8215138"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8841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52400"/>
          </a:xfrm>
        </p:spPr>
        <p:txBody>
          <a:bodyPr>
            <a:normAutofit fontScale="90000"/>
          </a:bodyPr>
          <a:lstStyle/>
          <a:p>
            <a:r>
              <a:rPr lang="en-US" dirty="0"/>
              <a:t/>
            </a:r>
            <a:br>
              <a:rPr lang="en-US" dirty="0"/>
            </a:br>
            <a:r>
              <a:rPr lang="en-US" sz="4000" b="1" dirty="0" err="1">
                <a:latin typeface="Times New Roman" pitchFamily="18" charset="0"/>
                <a:cs typeface="Times New Roman" pitchFamily="18" charset="0"/>
              </a:rPr>
              <a:t>Kațapayādi</a:t>
            </a:r>
            <a:r>
              <a:rPr lang="en-US" sz="4000" b="1" dirty="0">
                <a:latin typeface="Times New Roman" pitchFamily="18" charset="0"/>
                <a:cs typeface="Times New Roman" pitchFamily="18" charset="0"/>
              </a:rPr>
              <a:t> System - Examples</a:t>
            </a:r>
          </a:p>
        </p:txBody>
      </p:sp>
      <p:sp>
        <p:nvSpPr>
          <p:cNvPr id="3" name="Content Placeholder 2"/>
          <p:cNvSpPr>
            <a:spLocks noGrp="1"/>
          </p:cNvSpPr>
          <p:nvPr>
            <p:ph idx="1"/>
          </p:nvPr>
        </p:nvSpPr>
        <p:spPr>
          <a:xfrm>
            <a:off x="152400" y="762000"/>
            <a:ext cx="8915400" cy="5867400"/>
          </a:xfrm>
        </p:spPr>
        <p:txBody>
          <a:bodyPr>
            <a:noAutofit/>
          </a:bodyPr>
          <a:lstStyle/>
          <a:p>
            <a:pPr marL="0" indent="0" algn="just">
              <a:buNone/>
            </a:pPr>
            <a:endParaRPr lang="en-US" sz="2200" dirty="0">
              <a:latin typeface="Times New Roman" pitchFamily="18" charset="0"/>
              <a:cs typeface="Times New Roman" pitchFamily="18" charset="0"/>
            </a:endParaRPr>
          </a:p>
          <a:p>
            <a:pPr marL="514350" indent="-514350" algn="just">
              <a:buFont typeface="+mj-lt"/>
              <a:buAutoNum type="arabicPeriod"/>
            </a:pP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bhavati</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Spliting</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them into separate letters </a:t>
            </a:r>
            <a:r>
              <a:rPr lang="en-US" sz="2200" dirty="0" err="1">
                <a:latin typeface="Times New Roman" pitchFamily="18" charset="0"/>
                <a:cs typeface="Times New Roman" pitchFamily="18" charset="0"/>
              </a:rPr>
              <a:t>bha-va-ti</a:t>
            </a:r>
            <a:r>
              <a:rPr lang="en-US" sz="2200" dirty="0">
                <a:latin typeface="Times New Roman" pitchFamily="18" charset="0"/>
                <a:cs typeface="Times New Roman" pitchFamily="18" charset="0"/>
              </a:rPr>
              <a:t>. After ignoring all the vowels and reading from the table the corresponding numbers, we get 4-4-6. Therefore, the is 644.</a:t>
            </a:r>
          </a:p>
          <a:p>
            <a:pPr marL="514350" indent="-514350" algn="just">
              <a:buFont typeface="+mj-lt"/>
              <a:buAutoNum type="arabicPeriod"/>
            </a:pP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śaktyāloke</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śa</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ktyā</a:t>
            </a:r>
            <a:r>
              <a:rPr lang="en-US" sz="2200" dirty="0">
                <a:latin typeface="Times New Roman" pitchFamily="18" charset="0"/>
                <a:cs typeface="Times New Roman" pitchFamily="18" charset="0"/>
              </a:rPr>
              <a:t>-lo-</a:t>
            </a:r>
            <a:r>
              <a:rPr lang="en-US" sz="2200" dirty="0" err="1">
                <a:latin typeface="Times New Roman" pitchFamily="18" charset="0"/>
                <a:cs typeface="Times New Roman" pitchFamily="18" charset="0"/>
              </a:rPr>
              <a:t>ke</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this case, the second group has conjoined consonant 'k' followed by 't' and '</a:t>
            </a:r>
            <a:r>
              <a:rPr lang="en-US" sz="2200" dirty="0" err="1">
                <a:latin typeface="Times New Roman" pitchFamily="18" charset="0"/>
                <a:cs typeface="Times New Roman" pitchFamily="18" charset="0"/>
              </a:rPr>
              <a:t>ya</a:t>
            </a:r>
            <a:r>
              <a:rPr lang="en-US" sz="2200" dirty="0">
                <a:latin typeface="Times New Roman" pitchFamily="18" charset="0"/>
                <a:cs typeface="Times New Roman" pitchFamily="18" charset="0"/>
              </a:rPr>
              <a:t> We ignore all the preceding ones and take only '</a:t>
            </a:r>
            <a:r>
              <a:rPr lang="en-US" sz="2200" dirty="0" err="1">
                <a:latin typeface="Times New Roman" pitchFamily="18" charset="0"/>
                <a:cs typeface="Times New Roman" pitchFamily="18" charset="0"/>
              </a:rPr>
              <a:t>ya</a:t>
            </a:r>
            <a:r>
              <a:rPr lang="en-US" sz="2200" dirty="0">
                <a:latin typeface="Times New Roman" pitchFamily="18" charset="0"/>
                <a:cs typeface="Times New Roman" pitchFamily="18" charset="0"/>
              </a:rPr>
              <a:t>' for consideration. The resultant numbers for the string of these alphabets are ‘5-1-3-1. Therefore, the number is 1315.</a:t>
            </a:r>
          </a:p>
          <a:p>
            <a:pPr marL="514350" indent="-514350" algn="just">
              <a:buFont typeface="+mj-lt"/>
              <a:buAutoNum type="arabicPeriod"/>
            </a:pPr>
            <a:r>
              <a:rPr lang="en-US" sz="2200" dirty="0" smtClean="0">
                <a:latin typeface="Times New Roman" pitchFamily="18" charset="0"/>
                <a:cs typeface="Times New Roman" pitchFamily="18" charset="0"/>
              </a:rPr>
              <a:t>(</a:t>
            </a:r>
            <a:r>
              <a:rPr lang="en-US" sz="2200" dirty="0" err="1">
                <a:latin typeface="Times New Roman" pitchFamily="18" charset="0"/>
                <a:cs typeface="Times New Roman" pitchFamily="18" charset="0"/>
              </a:rPr>
              <a:t>sarvārthaśīlasthiraḥ</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sa</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rvă</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rtha</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śī</a:t>
            </a:r>
            <a:r>
              <a:rPr lang="en-US" sz="2200" dirty="0">
                <a:latin typeface="Times New Roman" pitchFamily="18" charset="0"/>
                <a:cs typeface="Times New Roman" pitchFamily="18" charset="0"/>
              </a:rPr>
              <a:t>-la-</a:t>
            </a:r>
            <a:r>
              <a:rPr lang="en-US" sz="2200" dirty="0" err="1">
                <a:latin typeface="Times New Roman" pitchFamily="18" charset="0"/>
                <a:cs typeface="Times New Roman" pitchFamily="18" charset="0"/>
              </a:rPr>
              <a:t>sthi</a:t>
            </a:r>
            <a:r>
              <a:rPr lang="en-US" sz="2200" dirty="0">
                <a:latin typeface="Times New Roman" pitchFamily="18" charset="0"/>
                <a:cs typeface="Times New Roman" pitchFamily="18" charset="0"/>
              </a:rPr>
              <a:t>-rah) </a:t>
            </a:r>
            <a:r>
              <a:rPr lang="en-US" sz="2200" dirty="0" smtClean="0">
                <a:latin typeface="Times New Roman" pitchFamily="18" charset="0"/>
                <a:cs typeface="Times New Roman" pitchFamily="18" charset="0"/>
              </a:rPr>
              <a:t>: As </a:t>
            </a:r>
            <a:r>
              <a:rPr lang="en-US" sz="2200" dirty="0">
                <a:latin typeface="Times New Roman" pitchFamily="18" charset="0"/>
                <a:cs typeface="Times New Roman" pitchFamily="18" charset="0"/>
              </a:rPr>
              <a:t>per the rules and the table, we have (7-4-7-5-3-7-2). Therefore, the number is 2,735,747.</a:t>
            </a:r>
          </a:p>
          <a:p>
            <a:pPr marL="514350" indent="-514350" algn="just">
              <a:buFont typeface="+mj-lt"/>
              <a:buAutoNum type="arabicPeriod"/>
            </a:pPr>
            <a:r>
              <a:rPr lang="hi-IN" sz="2200" dirty="0" smtClean="0">
                <a:latin typeface="Times New Roman" pitchFamily="18" charset="0"/>
              </a:rPr>
              <a:t>(</a:t>
            </a:r>
            <a:r>
              <a:rPr lang="en-US" sz="2200" dirty="0" err="1">
                <a:latin typeface="Times New Roman" pitchFamily="18" charset="0"/>
                <a:cs typeface="Times New Roman" pitchFamily="18" charset="0"/>
              </a:rPr>
              <a:t>āyurarogyasaukhyam</a:t>
            </a:r>
            <a:r>
              <a:rPr lang="en-US" sz="2200" dirty="0">
                <a:latin typeface="Times New Roman" pitchFamily="18" charset="0"/>
                <a:cs typeface="Times New Roman" pitchFamily="18" charset="0"/>
              </a:rPr>
              <a:t> a-</a:t>
            </a:r>
            <a:r>
              <a:rPr lang="en-US" sz="2200" dirty="0" err="1">
                <a:latin typeface="Times New Roman" pitchFamily="18" charset="0"/>
                <a:cs typeface="Times New Roman" pitchFamily="18" charset="0"/>
              </a:rPr>
              <a:t>yu</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rā</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ro</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gya</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sau</a:t>
            </a:r>
            <a:r>
              <a:rPr lang="en-US"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khya</a:t>
            </a:r>
            <a:r>
              <a:rPr lang="en-US" sz="2200" dirty="0">
                <a:latin typeface="Times New Roman" pitchFamily="18" charset="0"/>
                <a:cs typeface="Times New Roman" pitchFamily="18" charset="0"/>
              </a:rPr>
              <a:t>-m) </a:t>
            </a:r>
            <a:r>
              <a:rPr lang="en-US" sz="2200" dirty="0" smtClean="0">
                <a:latin typeface="Times New Roman" pitchFamily="18" charset="0"/>
                <a:cs typeface="Times New Roman" pitchFamily="18" charset="0"/>
              </a:rPr>
              <a:t>: In </a:t>
            </a:r>
            <a:r>
              <a:rPr lang="en-US" sz="2200" dirty="0">
                <a:latin typeface="Times New Roman" pitchFamily="18" charset="0"/>
                <a:cs typeface="Times New Roman" pitchFamily="18" charset="0"/>
              </a:rPr>
              <a:t>this case, there is a standalone vowel (a), which will indicate 0. There is a standalone consonant at the end (m), which will have to be ignored. The digits are 0-1-2-2 -1-7-1. Therefore, the number is 1,712,210.</a:t>
            </a:r>
          </a:p>
        </p:txBody>
      </p:sp>
    </p:spTree>
    <p:extLst>
      <p:ext uri="{BB962C8B-B14F-4D97-AF65-F5344CB8AC3E}">
        <p14:creationId xmlns:p14="http://schemas.microsoft.com/office/powerpoint/2010/main" val="334364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b="1" dirty="0" err="1">
                <a:latin typeface="Times New Roman" pitchFamily="18" charset="0"/>
                <a:cs typeface="Times New Roman" pitchFamily="18" charset="0"/>
              </a:rPr>
              <a:t>Kațapayādi</a:t>
            </a:r>
            <a:r>
              <a:rPr lang="en-US" sz="4000" b="1" dirty="0">
                <a:latin typeface="Times New Roman" pitchFamily="18" charset="0"/>
                <a:cs typeface="Times New Roman" pitchFamily="18" charset="0"/>
              </a:rPr>
              <a:t> System - Advantages</a:t>
            </a:r>
          </a:p>
        </p:txBody>
      </p:sp>
      <p:sp>
        <p:nvSpPr>
          <p:cNvPr id="3" name="Content Placeholder 2"/>
          <p:cNvSpPr>
            <a:spLocks noGrp="1"/>
          </p:cNvSpPr>
          <p:nvPr>
            <p:ph idx="1"/>
          </p:nvPr>
        </p:nvSpPr>
        <p:spPr>
          <a:xfrm>
            <a:off x="228600" y="990600"/>
            <a:ext cx="8763000" cy="5135563"/>
          </a:xfrm>
        </p:spPr>
        <p:txBody>
          <a:bodyPr>
            <a:normAutofit lnSpcReduction="10000"/>
          </a:bodyPr>
          <a:lstStyle/>
          <a:p>
            <a:pPr algn="just"/>
            <a:r>
              <a:rPr lang="en-US" dirty="0" smtClean="0">
                <a:latin typeface="Times New Roman" pitchFamily="18" charset="0"/>
                <a:cs typeface="Times New Roman" pitchFamily="18" charset="0"/>
              </a:rPr>
              <a:t>Representing </a:t>
            </a:r>
            <a:r>
              <a:rPr lang="en-US" dirty="0">
                <a:latin typeface="Times New Roman" pitchFamily="18" charset="0"/>
                <a:cs typeface="Times New Roman" pitchFamily="18" charset="0"/>
              </a:rPr>
              <a:t>long (or large) numbers using a nice and easy-to-remember word, which can be easily remembered.</a:t>
            </a:r>
          </a:p>
          <a:p>
            <a:pPr algn="just"/>
            <a:r>
              <a:rPr lang="en-US" dirty="0">
                <a:latin typeface="Times New Roman" pitchFamily="18" charset="0"/>
                <a:cs typeface="Times New Roman" pitchFamily="18" charset="0"/>
              </a:rPr>
              <a:t>Particularly very valuable in an oral tradition, where large numbers may have to be remembered and communicated without loss of digits.</a:t>
            </a:r>
          </a:p>
          <a:p>
            <a:pPr algn="just"/>
            <a:r>
              <a:rPr lang="en-US" dirty="0">
                <a:latin typeface="Times New Roman" pitchFamily="18" charset="0"/>
                <a:cs typeface="Times New Roman" pitchFamily="18" charset="0"/>
              </a:rPr>
              <a:t>Very efficient method of presenting results of complex calculations using number symbols and then codifying and committing to memory effortlessly.</a:t>
            </a:r>
          </a:p>
          <a:p>
            <a:endParaRPr lang="en-US" dirty="0"/>
          </a:p>
        </p:txBody>
      </p:sp>
    </p:spTree>
    <p:extLst>
      <p:ext uri="{BB962C8B-B14F-4D97-AF65-F5344CB8AC3E}">
        <p14:creationId xmlns:p14="http://schemas.microsoft.com/office/powerpoint/2010/main" val="3678621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
            <a:ext cx="14097000" cy="7553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4044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457200"/>
          </a:xfrm>
        </p:spPr>
        <p:txBody>
          <a:bodyPr>
            <a:noAutofit/>
          </a:bodyPr>
          <a:lstStyle/>
          <a:p>
            <a:r>
              <a:rPr lang="en-IN" sz="3600" b="1" dirty="0">
                <a:latin typeface="Times New Roman" pitchFamily="18" charset="0"/>
                <a:cs typeface="Times New Roman" pitchFamily="18" charset="0"/>
              </a:rPr>
              <a:t>Measurements for time, distance and weight</a:t>
            </a:r>
            <a:r>
              <a:rPr lang="en-US" sz="3600" b="1" dirty="0">
                <a:latin typeface="Times New Roman" pitchFamily="18" charset="0"/>
                <a:cs typeface="Times New Roman" pitchFamily="18" charset="0"/>
              </a:rPr>
              <a:t/>
            </a:r>
            <a:br>
              <a:rPr lang="en-US" sz="3600" b="1"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4876799"/>
          </a:xfrm>
        </p:spPr>
        <p:txBody>
          <a:bodyPr>
            <a:noAutofit/>
          </a:bodyPr>
          <a:lstStyle/>
          <a:p>
            <a:pPr algn="just"/>
            <a:r>
              <a:rPr lang="en-IN" sz="2400" dirty="0">
                <a:latin typeface="Times New Roman" pitchFamily="18" charset="0"/>
                <a:cs typeface="Times New Roman" pitchFamily="18" charset="0"/>
              </a:rPr>
              <a:t>In the Ancient Indian literature three fundamental physical measures for quantifying length, time, and weight are found</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 </a:t>
            </a:r>
            <a:r>
              <a:rPr lang="en-IN" sz="2400" dirty="0">
                <a:latin typeface="Times New Roman" pitchFamily="18" charset="0"/>
                <a:cs typeface="Times New Roman" pitchFamily="18" charset="0"/>
              </a:rPr>
              <a:t>There are several sources in the literature which specify units of  measurements for these three physical quantities.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In </a:t>
            </a:r>
            <a:r>
              <a:rPr lang="en-IN" sz="2400" dirty="0" err="1">
                <a:latin typeface="Times New Roman" pitchFamily="18" charset="0"/>
                <a:cs typeface="Times New Roman" pitchFamily="18" charset="0"/>
              </a:rPr>
              <a:t>Lilavati</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Bhaskaracarya</a:t>
            </a:r>
            <a:r>
              <a:rPr lang="en-IN" sz="2400" dirty="0">
                <a:latin typeface="Times New Roman" pitchFamily="18" charset="0"/>
                <a:cs typeface="Times New Roman" pitchFamily="18" charset="0"/>
              </a:rPr>
              <a:t> defined certain measures for length, volume, and mass</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 </a:t>
            </a:r>
            <a:r>
              <a:rPr lang="en-IN" sz="2400" dirty="0" err="1">
                <a:latin typeface="Times New Roman" pitchFamily="18" charset="0"/>
                <a:cs typeface="Times New Roman" pitchFamily="18" charset="0"/>
              </a:rPr>
              <a:t>Arthasastra</a:t>
            </a:r>
            <a:r>
              <a:rPr lang="en-IN" sz="2400" dirty="0">
                <a:latin typeface="Times New Roman" pitchFamily="18" charset="0"/>
                <a:cs typeface="Times New Roman" pitchFamily="18" charset="0"/>
              </a:rPr>
              <a:t> provides the units of measurement for space, time, and weight. </a:t>
            </a:r>
            <a:endParaRPr lang="en-IN" sz="2400" dirty="0" smtClean="0">
              <a:latin typeface="Times New Roman" pitchFamily="18" charset="0"/>
              <a:cs typeface="Times New Roman" pitchFamily="18" charset="0"/>
            </a:endParaRPr>
          </a:p>
          <a:p>
            <a:pPr algn="just"/>
            <a:r>
              <a:rPr lang="en-IN" sz="2400" dirty="0" err="1" smtClean="0">
                <a:latin typeface="Times New Roman" pitchFamily="18" charset="0"/>
                <a:cs typeface="Times New Roman" pitchFamily="18" charset="0"/>
              </a:rPr>
              <a:t>Ayurvedic</a:t>
            </a:r>
            <a:r>
              <a:rPr lang="en-IN" sz="2400" dirty="0" smtClean="0">
                <a:latin typeface="Times New Roman" pitchFamily="18" charset="0"/>
                <a:cs typeface="Times New Roman" pitchFamily="18" charset="0"/>
              </a:rPr>
              <a:t> </a:t>
            </a:r>
            <a:r>
              <a:rPr lang="en-IN" sz="2400" dirty="0">
                <a:latin typeface="Times New Roman" pitchFamily="18" charset="0"/>
                <a:cs typeface="Times New Roman" pitchFamily="18" charset="0"/>
              </a:rPr>
              <a:t>texts provide several measures for weight as these are used to measure ingredients while preparing a mixture of different substances.</a:t>
            </a:r>
            <a:endParaRPr lang="en-US" sz="2400" dirty="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215161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sz="4000" b="1" dirty="0" err="1">
                <a:latin typeface="Times New Roman" pitchFamily="18" charset="0"/>
                <a:cs typeface="Times New Roman" pitchFamily="18" charset="0"/>
              </a:rPr>
              <a:t>Paramanu</a:t>
            </a:r>
            <a:r>
              <a:rPr lang="en-IN" sz="4000" b="1" dirty="0">
                <a:latin typeface="Times New Roman" pitchFamily="18" charset="0"/>
                <a:cs typeface="Times New Roman" pitchFamily="18" charset="0"/>
              </a:rPr>
              <a:t>: The Smallest Unit</a:t>
            </a:r>
            <a:r>
              <a:rPr lang="en-US" b="1" dirty="0"/>
              <a:t/>
            </a:r>
            <a:br>
              <a:rPr lang="en-US" b="1" dirty="0"/>
            </a:br>
            <a:endParaRPr lang="en-US" dirty="0"/>
          </a:p>
        </p:txBody>
      </p:sp>
      <p:sp>
        <p:nvSpPr>
          <p:cNvPr id="3" name="Content Placeholder 2"/>
          <p:cNvSpPr>
            <a:spLocks noGrp="1"/>
          </p:cNvSpPr>
          <p:nvPr>
            <p:ph idx="1"/>
          </p:nvPr>
        </p:nvSpPr>
        <p:spPr>
          <a:xfrm>
            <a:off x="457200" y="990600"/>
            <a:ext cx="8229600" cy="5135563"/>
          </a:xfrm>
        </p:spPr>
        <p:txBody>
          <a:bodyPr>
            <a:normAutofit lnSpcReduction="10000"/>
          </a:bodyPr>
          <a:lstStyle/>
          <a:p>
            <a:pPr algn="just"/>
            <a:r>
              <a:rPr lang="en-IN" dirty="0">
                <a:latin typeface="Times New Roman" pitchFamily="18" charset="0"/>
                <a:cs typeface="Times New Roman" pitchFamily="18" charset="0"/>
              </a:rPr>
              <a:t>The concept of </a:t>
            </a:r>
            <a:r>
              <a:rPr lang="en-IN" dirty="0" err="1">
                <a:latin typeface="Times New Roman" pitchFamily="18" charset="0"/>
                <a:cs typeface="Times New Roman" pitchFamily="18" charset="0"/>
              </a:rPr>
              <a:t>Paramanu</a:t>
            </a:r>
            <a:r>
              <a:rPr lang="en-IN" dirty="0">
                <a:latin typeface="Times New Roman" pitchFamily="18" charset="0"/>
                <a:cs typeface="Times New Roman" pitchFamily="18" charset="0"/>
              </a:rPr>
              <a:t> in ancient Indian literature refers to the smallest indivisible unit of matter. </a:t>
            </a:r>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The </a:t>
            </a:r>
            <a:r>
              <a:rPr lang="en-IN" dirty="0">
                <a:latin typeface="Times New Roman" pitchFamily="18" charset="0"/>
                <a:cs typeface="Times New Roman" pitchFamily="18" charset="0"/>
              </a:rPr>
              <a:t>time taken for light to pass through a </a:t>
            </a:r>
            <a:r>
              <a:rPr lang="en-IN" dirty="0" err="1">
                <a:latin typeface="Times New Roman" pitchFamily="18" charset="0"/>
                <a:cs typeface="Times New Roman" pitchFamily="18" charset="0"/>
              </a:rPr>
              <a:t>Paramanu</a:t>
            </a:r>
            <a:r>
              <a:rPr lang="en-IN" dirty="0">
                <a:latin typeface="Times New Roman" pitchFamily="18" charset="0"/>
                <a:cs typeface="Times New Roman" pitchFamily="18" charset="0"/>
              </a:rPr>
              <a:t> is considered the smallest measure of time, equivalent to 1.31 x 10</a:t>
            </a:r>
            <a:r>
              <a:rPr lang="en-IN" baseline="30000" dirty="0">
                <a:latin typeface="Times New Roman" pitchFamily="18" charset="0"/>
                <a:cs typeface="Times New Roman" pitchFamily="18" charset="0"/>
              </a:rPr>
              <a:t>-5</a:t>
            </a:r>
            <a:r>
              <a:rPr lang="en-IN" dirty="0">
                <a:latin typeface="Times New Roman" pitchFamily="18" charset="0"/>
                <a:cs typeface="Times New Roman" pitchFamily="18" charset="0"/>
              </a:rPr>
              <a:t> seconds. </a:t>
            </a:r>
            <a:endParaRPr lang="en-IN" dirty="0" smtClean="0">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The </a:t>
            </a:r>
            <a:r>
              <a:rPr lang="en-IN" dirty="0">
                <a:latin typeface="Times New Roman" pitchFamily="18" charset="0"/>
                <a:cs typeface="Times New Roman" pitchFamily="18" charset="0"/>
              </a:rPr>
              <a:t>weight and length of a </a:t>
            </a:r>
            <a:r>
              <a:rPr lang="en-IN" dirty="0" err="1">
                <a:latin typeface="Times New Roman" pitchFamily="18" charset="0"/>
                <a:cs typeface="Times New Roman" pitchFamily="18" charset="0"/>
              </a:rPr>
              <a:t>Paramanu</a:t>
            </a:r>
            <a:r>
              <a:rPr lang="en-IN" dirty="0">
                <a:latin typeface="Times New Roman" pitchFamily="18" charset="0"/>
                <a:cs typeface="Times New Roman" pitchFamily="18" charset="0"/>
              </a:rPr>
              <a:t> represent the smallest units for these measures which are 2.88 x 10</a:t>
            </a:r>
            <a:r>
              <a:rPr lang="en-IN" baseline="30000" dirty="0">
                <a:latin typeface="Times New Roman" pitchFamily="18" charset="0"/>
                <a:cs typeface="Times New Roman" pitchFamily="18" charset="0"/>
              </a:rPr>
              <a:t>-7</a:t>
            </a:r>
            <a:r>
              <a:rPr lang="en-IN" dirty="0">
                <a:latin typeface="Times New Roman" pitchFamily="18" charset="0"/>
                <a:cs typeface="Times New Roman" pitchFamily="18" charset="0"/>
              </a:rPr>
              <a:t> mm and 1.31 x 10</a:t>
            </a:r>
            <a:r>
              <a:rPr lang="en-IN" baseline="30000" dirty="0">
                <a:latin typeface="Times New Roman" pitchFamily="18" charset="0"/>
                <a:cs typeface="Times New Roman" pitchFamily="18" charset="0"/>
              </a:rPr>
              <a:t>-5</a:t>
            </a:r>
            <a:r>
              <a:rPr lang="en-IN" dirty="0">
                <a:latin typeface="Times New Roman" pitchFamily="18" charset="0"/>
                <a:cs typeface="Times New Roman" pitchFamily="18" charset="0"/>
              </a:rPr>
              <a:t> seconds respectively.</a:t>
            </a: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135980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sz="4000" b="1" dirty="0">
                <a:latin typeface="Times New Roman" pitchFamily="18" charset="0"/>
                <a:cs typeface="Times New Roman" pitchFamily="18" charset="0"/>
              </a:rPr>
              <a:t>Measures for Length</a:t>
            </a:r>
            <a:r>
              <a:rPr lang="en-US" b="1" dirty="0"/>
              <a:t/>
            </a:r>
            <a:br>
              <a:rPr lang="en-US" b="1" dirty="0"/>
            </a:br>
            <a:endParaRPr lang="en-US" dirty="0"/>
          </a:p>
        </p:txBody>
      </p:sp>
      <p:sp>
        <p:nvSpPr>
          <p:cNvPr id="3" name="Content Placeholder 2"/>
          <p:cNvSpPr>
            <a:spLocks noGrp="1"/>
          </p:cNvSpPr>
          <p:nvPr>
            <p:ph idx="1"/>
          </p:nvPr>
        </p:nvSpPr>
        <p:spPr>
          <a:xfrm>
            <a:off x="457200" y="838200"/>
            <a:ext cx="8229600" cy="5562600"/>
          </a:xfrm>
        </p:spPr>
        <p:txBody>
          <a:bodyPr>
            <a:normAutofit fontScale="77500" lnSpcReduction="20000"/>
          </a:bodyPr>
          <a:lstStyle/>
          <a:p>
            <a:pPr lvl="0" algn="just"/>
            <a:r>
              <a:rPr lang="en-IN" sz="3400" dirty="0">
                <a:latin typeface="Times New Roman" pitchFamily="18" charset="0"/>
                <a:cs typeface="Times New Roman" pitchFamily="18" charset="0"/>
              </a:rPr>
              <a:t>The units were based on multiples of 7, with 7 </a:t>
            </a:r>
            <a:r>
              <a:rPr lang="en-IN" sz="3400" dirty="0" err="1">
                <a:latin typeface="Times New Roman" pitchFamily="18" charset="0"/>
                <a:cs typeface="Times New Roman" pitchFamily="18" charset="0"/>
              </a:rPr>
              <a:t>Paramanus</a:t>
            </a:r>
            <a:r>
              <a:rPr lang="en-IN" sz="3400" dirty="0">
                <a:latin typeface="Times New Roman" pitchFamily="18" charset="0"/>
                <a:cs typeface="Times New Roman" pitchFamily="18" charset="0"/>
              </a:rPr>
              <a:t> making a </a:t>
            </a:r>
            <a:r>
              <a:rPr lang="en-IN" sz="3400" dirty="0" err="1">
                <a:latin typeface="Times New Roman" pitchFamily="18" charset="0"/>
                <a:cs typeface="Times New Roman" pitchFamily="18" charset="0"/>
              </a:rPr>
              <a:t>Renu</a:t>
            </a:r>
            <a:r>
              <a:rPr lang="en-IN" sz="3400" dirty="0">
                <a:latin typeface="Times New Roman" pitchFamily="18" charset="0"/>
                <a:cs typeface="Times New Roman" pitchFamily="18" charset="0"/>
              </a:rPr>
              <a:t>, 7 </a:t>
            </a:r>
            <a:r>
              <a:rPr lang="en-IN" sz="3400" dirty="0" err="1">
                <a:latin typeface="Times New Roman" pitchFamily="18" charset="0"/>
                <a:cs typeface="Times New Roman" pitchFamily="18" charset="0"/>
              </a:rPr>
              <a:t>Renus</a:t>
            </a:r>
            <a:r>
              <a:rPr lang="en-IN" sz="3400" dirty="0">
                <a:latin typeface="Times New Roman" pitchFamily="18" charset="0"/>
                <a:cs typeface="Times New Roman" pitchFamily="18" charset="0"/>
              </a:rPr>
              <a:t> making a </a:t>
            </a:r>
            <a:r>
              <a:rPr lang="en-IN" sz="3400" dirty="0" err="1">
                <a:latin typeface="Times New Roman" pitchFamily="18" charset="0"/>
                <a:cs typeface="Times New Roman" pitchFamily="18" charset="0"/>
              </a:rPr>
              <a:t>Truti</a:t>
            </a:r>
            <a:r>
              <a:rPr lang="en-IN" sz="3400" dirty="0">
                <a:latin typeface="Times New Roman" pitchFamily="18" charset="0"/>
                <a:cs typeface="Times New Roman" pitchFamily="18" charset="0"/>
              </a:rPr>
              <a:t>, and so on.</a:t>
            </a:r>
            <a:endParaRPr lang="en-US" sz="3400" dirty="0">
              <a:latin typeface="Times New Roman" pitchFamily="18" charset="0"/>
              <a:cs typeface="Times New Roman" pitchFamily="18" charset="0"/>
            </a:endParaRPr>
          </a:p>
          <a:p>
            <a:pPr lvl="0" algn="just"/>
            <a:r>
              <a:rPr lang="en-IN" sz="3400" dirty="0">
                <a:latin typeface="Times New Roman" pitchFamily="18" charset="0"/>
                <a:cs typeface="Times New Roman" pitchFamily="18" charset="0"/>
              </a:rPr>
              <a:t>Larger units like </a:t>
            </a:r>
            <a:r>
              <a:rPr lang="en-IN" sz="3400" dirty="0" err="1">
                <a:latin typeface="Times New Roman" pitchFamily="18" charset="0"/>
                <a:cs typeface="Times New Roman" pitchFamily="18" charset="0"/>
              </a:rPr>
              <a:t>Angula</a:t>
            </a:r>
            <a:r>
              <a:rPr lang="en-IN" sz="3400" dirty="0">
                <a:latin typeface="Times New Roman" pitchFamily="18" charset="0"/>
                <a:cs typeface="Times New Roman" pitchFamily="18" charset="0"/>
              </a:rPr>
              <a:t>, </a:t>
            </a:r>
            <a:r>
              <a:rPr lang="en-IN" sz="3400" dirty="0" err="1">
                <a:latin typeface="Times New Roman" pitchFamily="18" charset="0"/>
                <a:cs typeface="Times New Roman" pitchFamily="18" charset="0"/>
              </a:rPr>
              <a:t>Dhanurmusti</a:t>
            </a:r>
            <a:r>
              <a:rPr lang="en-IN" sz="3400" dirty="0">
                <a:latin typeface="Times New Roman" pitchFamily="18" charset="0"/>
                <a:cs typeface="Times New Roman" pitchFamily="18" charset="0"/>
              </a:rPr>
              <a:t>, </a:t>
            </a:r>
            <a:r>
              <a:rPr lang="en-IN" sz="3400" dirty="0" err="1">
                <a:latin typeface="Times New Roman" pitchFamily="18" charset="0"/>
                <a:cs typeface="Times New Roman" pitchFamily="18" charset="0"/>
              </a:rPr>
              <a:t>Prajapatya</a:t>
            </a:r>
            <a:r>
              <a:rPr lang="en-IN" sz="3400" dirty="0">
                <a:latin typeface="Times New Roman" pitchFamily="18" charset="0"/>
                <a:cs typeface="Times New Roman" pitchFamily="18" charset="0"/>
              </a:rPr>
              <a:t>-hasta, </a:t>
            </a:r>
            <a:r>
              <a:rPr lang="en-IN" sz="3400" dirty="0" err="1">
                <a:latin typeface="Times New Roman" pitchFamily="18" charset="0"/>
                <a:cs typeface="Times New Roman" pitchFamily="18" charset="0"/>
              </a:rPr>
              <a:t>Dhanus</a:t>
            </a:r>
            <a:r>
              <a:rPr lang="en-IN" sz="3400" dirty="0">
                <a:latin typeface="Times New Roman" pitchFamily="18" charset="0"/>
                <a:cs typeface="Times New Roman" pitchFamily="18" charset="0"/>
              </a:rPr>
              <a:t>, </a:t>
            </a:r>
            <a:r>
              <a:rPr lang="en-IN" sz="3400" dirty="0" err="1">
                <a:latin typeface="Times New Roman" pitchFamily="18" charset="0"/>
                <a:cs typeface="Times New Roman" pitchFamily="18" charset="0"/>
              </a:rPr>
              <a:t>Garhapatya-dhanus</a:t>
            </a:r>
            <a:r>
              <a:rPr lang="en-IN" sz="3400" dirty="0">
                <a:latin typeface="Times New Roman" pitchFamily="18" charset="0"/>
                <a:cs typeface="Times New Roman" pitchFamily="18" charset="0"/>
              </a:rPr>
              <a:t>, </a:t>
            </a:r>
            <a:r>
              <a:rPr lang="en-IN" sz="3400" dirty="0" err="1">
                <a:latin typeface="Times New Roman" pitchFamily="18" charset="0"/>
                <a:cs typeface="Times New Roman" pitchFamily="18" charset="0"/>
              </a:rPr>
              <a:t>Goruta</a:t>
            </a:r>
            <a:r>
              <a:rPr lang="en-IN" sz="3400" dirty="0">
                <a:latin typeface="Times New Roman" pitchFamily="18" charset="0"/>
                <a:cs typeface="Times New Roman" pitchFamily="18" charset="0"/>
              </a:rPr>
              <a:t>, and </a:t>
            </a:r>
            <a:r>
              <a:rPr lang="en-IN" sz="3400" dirty="0" err="1">
                <a:latin typeface="Times New Roman" pitchFamily="18" charset="0"/>
                <a:cs typeface="Times New Roman" pitchFamily="18" charset="0"/>
              </a:rPr>
              <a:t>Yojana</a:t>
            </a:r>
            <a:r>
              <a:rPr lang="en-IN" sz="3400" dirty="0">
                <a:latin typeface="Times New Roman" pitchFamily="18" charset="0"/>
                <a:cs typeface="Times New Roman" pitchFamily="18" charset="0"/>
              </a:rPr>
              <a:t> were also used.</a:t>
            </a:r>
            <a:endParaRPr lang="en-US" sz="3400" dirty="0">
              <a:latin typeface="Times New Roman" pitchFamily="18" charset="0"/>
              <a:cs typeface="Times New Roman" pitchFamily="18" charset="0"/>
            </a:endParaRPr>
          </a:p>
          <a:p>
            <a:pPr lvl="0" algn="just"/>
            <a:r>
              <a:rPr lang="en-IN" sz="3400" dirty="0">
                <a:latin typeface="Times New Roman" pitchFamily="18" charset="0"/>
                <a:cs typeface="Times New Roman" pitchFamily="18" charset="0"/>
              </a:rPr>
              <a:t>1 </a:t>
            </a:r>
            <a:r>
              <a:rPr lang="en-IN" sz="3400" dirty="0" err="1">
                <a:latin typeface="Times New Roman" pitchFamily="18" charset="0"/>
                <a:cs typeface="Times New Roman" pitchFamily="18" charset="0"/>
              </a:rPr>
              <a:t>Angula</a:t>
            </a:r>
            <a:r>
              <a:rPr lang="en-IN" sz="3400" dirty="0">
                <a:latin typeface="Times New Roman" pitchFamily="18" charset="0"/>
                <a:cs typeface="Times New Roman" pitchFamily="18" charset="0"/>
              </a:rPr>
              <a:t> is equivalent to 1.67 </a:t>
            </a:r>
            <a:r>
              <a:rPr lang="en-IN" sz="3400" dirty="0" err="1">
                <a:latin typeface="Times New Roman" pitchFamily="18" charset="0"/>
                <a:cs typeface="Times New Roman" pitchFamily="18" charset="0"/>
              </a:rPr>
              <a:t>centimeters</a:t>
            </a:r>
            <a:r>
              <a:rPr lang="en-IN" sz="3400" dirty="0">
                <a:latin typeface="Times New Roman" pitchFamily="18" charset="0"/>
                <a:cs typeface="Times New Roman" pitchFamily="18" charset="0"/>
              </a:rPr>
              <a:t> in modern terms.</a:t>
            </a:r>
            <a:endParaRPr lang="en-US" sz="3400" dirty="0">
              <a:latin typeface="Times New Roman" pitchFamily="18" charset="0"/>
              <a:cs typeface="Times New Roman" pitchFamily="18" charset="0"/>
            </a:endParaRPr>
          </a:p>
          <a:p>
            <a:pPr lvl="0" algn="just"/>
            <a:r>
              <a:rPr lang="en-US" sz="3400" dirty="0">
                <a:latin typeface="Times New Roman" pitchFamily="18" charset="0"/>
                <a:cs typeface="Times New Roman" pitchFamily="18" charset="0"/>
              </a:rPr>
              <a:t>A </a:t>
            </a:r>
            <a:r>
              <a:rPr lang="en-US" sz="3400" dirty="0" err="1">
                <a:latin typeface="Times New Roman" pitchFamily="18" charset="0"/>
                <a:cs typeface="Times New Roman" pitchFamily="18" charset="0"/>
              </a:rPr>
              <a:t>Dhanusha</a:t>
            </a:r>
            <a:r>
              <a:rPr lang="en-US" sz="3400" dirty="0">
                <a:latin typeface="Times New Roman" pitchFamily="18" charset="0"/>
                <a:cs typeface="Times New Roman" pitchFamily="18" charset="0"/>
              </a:rPr>
              <a:t> of 96 </a:t>
            </a:r>
            <a:r>
              <a:rPr lang="en-US" sz="3400" dirty="0" err="1">
                <a:latin typeface="Times New Roman" pitchFamily="18" charset="0"/>
                <a:cs typeface="Times New Roman" pitchFamily="18" charset="0"/>
              </a:rPr>
              <a:t>Angulas</a:t>
            </a:r>
            <a:r>
              <a:rPr lang="en-US" sz="3400" dirty="0">
                <a:latin typeface="Times New Roman" pitchFamily="18" charset="0"/>
                <a:cs typeface="Times New Roman" pitchFamily="18" charset="0"/>
              </a:rPr>
              <a:t> = 96 x 16.764mm = 1.609344m.</a:t>
            </a:r>
          </a:p>
          <a:p>
            <a:pPr lvl="0" algn="just"/>
            <a:r>
              <a:rPr lang="en-US" sz="3400" dirty="0" err="1">
                <a:latin typeface="Times New Roman" pitchFamily="18" charset="0"/>
                <a:cs typeface="Times New Roman" pitchFamily="18" charset="0"/>
              </a:rPr>
              <a:t>ADhanusha</a:t>
            </a:r>
            <a:r>
              <a:rPr lang="en-US" sz="3400" dirty="0">
                <a:latin typeface="Times New Roman" pitchFamily="18" charset="0"/>
                <a:cs typeface="Times New Roman" pitchFamily="18" charset="0"/>
              </a:rPr>
              <a:t> of108 </a:t>
            </a:r>
            <a:r>
              <a:rPr lang="en-US" sz="3400" dirty="0" err="1">
                <a:latin typeface="Times New Roman" pitchFamily="18" charset="0"/>
                <a:cs typeface="Times New Roman" pitchFamily="18" charset="0"/>
              </a:rPr>
              <a:t>Angulas</a:t>
            </a:r>
            <a:r>
              <a:rPr lang="en-US" sz="3400" dirty="0">
                <a:latin typeface="Times New Roman" pitchFamily="18" charset="0"/>
                <a:cs typeface="Times New Roman" pitchFamily="18" charset="0"/>
              </a:rPr>
              <a:t> = 108x16.764mm=1.810512m.</a:t>
            </a:r>
          </a:p>
          <a:p>
            <a:pPr lvl="0" algn="just"/>
            <a:r>
              <a:rPr lang="en-US" sz="3400" dirty="0" err="1">
                <a:latin typeface="Times New Roman" pitchFamily="18" charset="0"/>
                <a:cs typeface="Times New Roman" pitchFamily="18" charset="0"/>
              </a:rPr>
              <a:t>AYojana</a:t>
            </a:r>
            <a:r>
              <a:rPr lang="en-US" sz="3400" dirty="0">
                <a:latin typeface="Times New Roman" pitchFamily="18" charset="0"/>
                <a:cs typeface="Times New Roman" pitchFamily="18" charset="0"/>
              </a:rPr>
              <a:t> = 8000Dhanusha(of 108 </a:t>
            </a:r>
            <a:r>
              <a:rPr lang="en-US" sz="3400" dirty="0" err="1">
                <a:latin typeface="Times New Roman" pitchFamily="18" charset="0"/>
                <a:cs typeface="Times New Roman" pitchFamily="18" charset="0"/>
              </a:rPr>
              <a:t>Angulaseach</a:t>
            </a:r>
            <a:r>
              <a:rPr lang="en-US" sz="3400" dirty="0">
                <a:latin typeface="Times New Roman" pitchFamily="18" charset="0"/>
                <a:cs typeface="Times New Roman" pitchFamily="18" charset="0"/>
              </a:rPr>
              <a:t>)=8000x1.810512m=14.484096km.</a:t>
            </a:r>
          </a:p>
          <a:p>
            <a:pPr lvl="0" algn="just"/>
            <a:r>
              <a:rPr lang="en-US" sz="3400" dirty="0">
                <a:latin typeface="Times New Roman" pitchFamily="18" charset="0"/>
                <a:cs typeface="Times New Roman" pitchFamily="18" charset="0"/>
              </a:rPr>
              <a:t>14.484096 km = 9miles,(exactly!).</a:t>
            </a:r>
          </a:p>
          <a:p>
            <a:pPr lvl="0" algn="just"/>
            <a:r>
              <a:rPr lang="en-US" sz="3400" dirty="0">
                <a:latin typeface="Times New Roman" pitchFamily="18" charset="0"/>
                <a:cs typeface="Times New Roman" pitchFamily="18" charset="0"/>
              </a:rPr>
              <a:t>1000 </a:t>
            </a:r>
            <a:r>
              <a:rPr lang="en-US" sz="3400" dirty="0" err="1">
                <a:latin typeface="Times New Roman" pitchFamily="18" charset="0"/>
                <a:cs typeface="Times New Roman" pitchFamily="18" charset="0"/>
              </a:rPr>
              <a:t>Dhanushas</a:t>
            </a:r>
            <a:r>
              <a:rPr lang="en-US" sz="3400" dirty="0">
                <a:latin typeface="Times New Roman" pitchFamily="18" charset="0"/>
                <a:cs typeface="Times New Roman" pitchFamily="18" charset="0"/>
              </a:rPr>
              <a:t> of 96 </a:t>
            </a:r>
            <a:r>
              <a:rPr lang="en-US" sz="3400" dirty="0" err="1">
                <a:latin typeface="Times New Roman" pitchFamily="18" charset="0"/>
                <a:cs typeface="Times New Roman" pitchFamily="18" charset="0"/>
              </a:rPr>
              <a:t>Angulas</a:t>
            </a:r>
            <a:r>
              <a:rPr lang="en-US" sz="3400" b="1" dirty="0">
                <a:latin typeface="Times New Roman" pitchFamily="18" charset="0"/>
                <a:cs typeface="Times New Roman" pitchFamily="18" charset="0"/>
              </a:rPr>
              <a:t> </a:t>
            </a:r>
            <a:r>
              <a:rPr lang="en-US" sz="3400" dirty="0">
                <a:latin typeface="Times New Roman" pitchFamily="18" charset="0"/>
                <a:cs typeface="Times New Roman" pitchFamily="18" charset="0"/>
              </a:rPr>
              <a:t>each=1mile.</a:t>
            </a:r>
          </a:p>
          <a:p>
            <a:endParaRPr lang="en-US" dirty="0"/>
          </a:p>
        </p:txBody>
      </p:sp>
    </p:spTree>
    <p:extLst>
      <p:ext uri="{BB962C8B-B14F-4D97-AF65-F5344CB8AC3E}">
        <p14:creationId xmlns:p14="http://schemas.microsoft.com/office/powerpoint/2010/main" val="2839627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sz="4000" b="1" dirty="0">
                <a:latin typeface="Times New Roman" pitchFamily="18" charset="0"/>
                <a:cs typeface="Times New Roman" pitchFamily="18" charset="0"/>
              </a:rPr>
              <a:t>Ancient Indian Measures for Length</a:t>
            </a:r>
            <a:r>
              <a:rPr lang="en-US" dirty="0"/>
              <a:t/>
            </a:r>
            <a:br>
              <a:rPr lang="en-US" dirty="0"/>
            </a:br>
            <a:endParaRPr lang="en-US" dirty="0"/>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539960488"/>
                  </p:ext>
                </p:extLst>
              </p:nvPr>
            </p:nvGraphicFramePr>
            <p:xfrm>
              <a:off x="1981200" y="762000"/>
              <a:ext cx="5943600" cy="5915280"/>
            </p:xfrm>
            <a:graphic>
              <a:graphicData uri="http://schemas.openxmlformats.org/drawingml/2006/table">
                <a:tbl>
                  <a:tblPr firstRow="1" firstCol="1" bandRow="1">
                    <a:tableStyleId>{5C22544A-7EE6-4342-B048-85BDC9FD1C3A}</a:tableStyleId>
                  </a:tblPr>
                  <a:tblGrid>
                    <a:gridCol w="1529413"/>
                    <a:gridCol w="1518587"/>
                    <a:gridCol w="1219200"/>
                    <a:gridCol w="1676400"/>
                  </a:tblGrid>
                  <a:tr h="533400">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Unit</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Multiplier of preceding unit </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No. of </a:t>
                          </a:r>
                          <a:r>
                            <a:rPr lang="en-IN" sz="1500" dirty="0" err="1">
                              <a:effectLst/>
                              <a:latin typeface="Times New Roman" pitchFamily="18" charset="0"/>
                              <a:cs typeface="Times New Roman" pitchFamily="18" charset="0"/>
                            </a:rPr>
                            <a:t>Paramanus</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Length (in mm)</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Paramanu-rajas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0"/>
                            </a:spcAft>
                          </a:pPr>
                          <a14:m>
                            <m:oMath xmlns:m="http://schemas.openxmlformats.org/officeDocument/2006/math">
                              <m:sSup>
                                <m:sSupPr>
                                  <m:ctrlPr>
                                    <a:rPr lang="en-US" sz="1500" i="1">
                                      <a:effectLst/>
                                      <a:latin typeface="Cambria Math"/>
                                    </a:rPr>
                                  </m:ctrlPr>
                                </m:sSupPr>
                                <m:e>
                                  <m:r>
                                    <a:rPr lang="en-IN" sz="1500">
                                      <a:effectLst/>
                                      <a:latin typeface="Cambria Math"/>
                                    </a:rPr>
                                    <m:t>2.8778×10</m:t>
                                  </m:r>
                                </m:e>
                                <m:sup>
                                  <m:r>
                                    <a:rPr lang="en-IN" sz="1500">
                                      <a:effectLst/>
                                      <a:latin typeface="Cambria Math"/>
                                    </a:rPr>
                                    <m:t>−7</m:t>
                                  </m:r>
                                </m:sup>
                              </m:sSup>
                            </m:oMath>
                          </a14:m>
                          <a:r>
                            <a:rPr lang="en-IN" sz="1500" dirty="0">
                              <a:effectLst/>
                              <a:latin typeface="Times New Roman" pitchFamily="18" charset="0"/>
                              <a:cs typeface="Times New Roman" pitchFamily="18" charset="0"/>
                            </a:rPr>
                            <a:t> </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dirty="0" err="1">
                              <a:effectLst/>
                              <a:latin typeface="Times New Roman" pitchFamily="18" charset="0"/>
                              <a:cs typeface="Times New Roman" pitchFamily="18" charset="0"/>
                            </a:rPr>
                            <a:t>Renu</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0"/>
                            </a:spcAft>
                          </a:pPr>
                          <a14:m>
                            <m:oMath xmlns:m="http://schemas.openxmlformats.org/officeDocument/2006/math">
                              <m:sSup>
                                <m:sSupPr>
                                  <m:ctrlPr>
                                    <a:rPr lang="en-US" sz="1500" i="1">
                                      <a:effectLst/>
                                      <a:latin typeface="Cambria Math"/>
                                    </a:rPr>
                                  </m:ctrlPr>
                                </m:sSupPr>
                                <m:e>
                                  <m:r>
                                    <a:rPr lang="en-IN" sz="1500">
                                      <a:effectLst/>
                                      <a:latin typeface="Cambria Math"/>
                                    </a:rPr>
                                    <m:t>2.0145×10</m:t>
                                  </m:r>
                                </m:e>
                                <m:sup>
                                  <m:r>
                                    <a:rPr lang="en-IN" sz="1500">
                                      <a:effectLst/>
                                      <a:latin typeface="Cambria Math"/>
                                    </a:rPr>
                                    <m:t>−6</m:t>
                                  </m:r>
                                </m:sup>
                              </m:sSup>
                            </m:oMath>
                          </a14:m>
                          <a:r>
                            <a:rPr lang="en-IN" sz="1500" dirty="0">
                              <a:effectLst/>
                              <a:latin typeface="Times New Roman" pitchFamily="18" charset="0"/>
                              <a:cs typeface="Times New Roman" pitchFamily="18" charset="0"/>
                            </a:rPr>
                            <a:t> </a:t>
                          </a:r>
                          <a:endParaRPr lang="en-US" sz="1500" dirty="0">
                            <a:effectLst/>
                            <a:latin typeface="Times New Roman" pitchFamily="18" charset="0"/>
                            <a:ea typeface="Calibri"/>
                            <a:cs typeface="Times New Roman" pitchFamily="18" charset="0"/>
                          </a:endParaRPr>
                        </a:p>
                      </a:txBody>
                      <a:tcPr marL="53023" marR="53023" marT="0" marB="0"/>
                    </a:tc>
                  </a:tr>
                  <a:tr h="206502">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Truti</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49</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14:m>
                            <m:oMath xmlns:m="http://schemas.openxmlformats.org/officeDocument/2006/math">
                              <m:r>
                                <a:rPr lang="en-IN" sz="1500">
                                  <a:effectLst/>
                                  <a:latin typeface="Cambria Math"/>
                                </a:rPr>
                                <m:t>1.4101×</m:t>
                              </m:r>
                              <m:sSup>
                                <m:sSupPr>
                                  <m:ctrlPr>
                                    <a:rPr lang="en-US" sz="1500" i="1">
                                      <a:effectLst/>
                                      <a:latin typeface="Cambria Math"/>
                                    </a:rPr>
                                  </m:ctrlPr>
                                </m:sSupPr>
                                <m:e>
                                  <m:r>
                                    <a:rPr lang="en-IN" sz="1500">
                                      <a:effectLst/>
                                      <a:latin typeface="Cambria Math"/>
                                    </a:rPr>
                                    <m:t>10</m:t>
                                  </m:r>
                                </m:e>
                                <m:sup>
                                  <m:r>
                                    <a:rPr lang="en-IN" sz="1500">
                                      <a:effectLst/>
                                      <a:latin typeface="Cambria Math"/>
                                    </a:rPr>
                                    <m:t>−5</m:t>
                                  </m:r>
                                </m:sup>
                              </m:sSup>
                            </m:oMath>
                          </a14:m>
                          <a:r>
                            <a:rPr lang="en-IN" sz="1500" dirty="0">
                              <a:effectLst/>
                              <a:latin typeface="Times New Roman" pitchFamily="18" charset="0"/>
                              <a:cs typeface="Times New Roman" pitchFamily="18" charset="0"/>
                            </a:rPr>
                            <a:t> </a:t>
                          </a:r>
                          <a:endParaRPr lang="en-US" sz="1500" dirty="0">
                            <a:effectLst/>
                            <a:latin typeface="Times New Roman" pitchFamily="18" charset="0"/>
                            <a:ea typeface="Calibri"/>
                            <a:cs typeface="Times New Roman" pitchFamily="18" charset="0"/>
                          </a:endParaRPr>
                        </a:p>
                      </a:txBody>
                      <a:tcPr marL="53023" marR="53023" marT="0" marB="0"/>
                    </a:tc>
                  </a:tr>
                  <a:tr h="206502">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Vatayana-rajas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343</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14:m>
                            <m:oMath xmlns:m="http://schemas.openxmlformats.org/officeDocument/2006/math">
                              <m:sSup>
                                <m:sSupPr>
                                  <m:ctrlPr>
                                    <a:rPr lang="en-US" sz="1500" i="1">
                                      <a:effectLst/>
                                      <a:latin typeface="Cambria Math"/>
                                    </a:rPr>
                                  </m:ctrlPr>
                                </m:sSupPr>
                                <m:e>
                                  <m:r>
                                    <a:rPr lang="en-IN" sz="1500">
                                      <a:effectLst/>
                                      <a:latin typeface="Cambria Math"/>
                                    </a:rPr>
                                    <m:t>9.8709×10</m:t>
                                  </m:r>
                                </m:e>
                                <m:sup>
                                  <m:r>
                                    <a:rPr lang="en-IN" sz="1500">
                                      <a:effectLst/>
                                      <a:latin typeface="Cambria Math"/>
                                    </a:rPr>
                                    <m:t>−5</m:t>
                                  </m:r>
                                </m:sup>
                              </m:sSup>
                            </m:oMath>
                          </a14:m>
                          <a:r>
                            <a:rPr lang="en-IN" sz="1500" dirty="0">
                              <a:effectLst/>
                              <a:latin typeface="Times New Roman" pitchFamily="18" charset="0"/>
                              <a:cs typeface="Times New Roman" pitchFamily="18" charset="0"/>
                            </a:rPr>
                            <a:t> </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Sasa-rajas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2,401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14:m>
                            <m:oMath xmlns:m="http://schemas.openxmlformats.org/officeDocument/2006/math">
                              <m:sSup>
                                <m:sSupPr>
                                  <m:ctrlPr>
                                    <a:rPr lang="en-US" sz="1500" i="1">
                                      <a:effectLst/>
                                      <a:latin typeface="Cambria Math"/>
                                    </a:rPr>
                                  </m:ctrlPr>
                                </m:sSupPr>
                                <m:e>
                                  <m:r>
                                    <a:rPr lang="en-IN" sz="1500">
                                      <a:effectLst/>
                                      <a:latin typeface="Cambria Math"/>
                                    </a:rPr>
                                    <m:t>6.9096×10</m:t>
                                  </m:r>
                                </m:e>
                                <m:sup>
                                  <m:r>
                                    <a:rPr lang="en-IN" sz="1500">
                                      <a:effectLst/>
                                      <a:latin typeface="Cambria Math"/>
                                    </a:rPr>
                                    <m:t>−4</m:t>
                                  </m:r>
                                </m:sup>
                              </m:sSup>
                            </m:oMath>
                          </a14:m>
                          <a:r>
                            <a:rPr lang="en-IN" sz="1500" dirty="0">
                              <a:effectLst/>
                              <a:latin typeface="Times New Roman" pitchFamily="18" charset="0"/>
                              <a:cs typeface="Times New Roman" pitchFamily="18" charset="0"/>
                            </a:rPr>
                            <a:t> </a:t>
                          </a:r>
                          <a:endParaRPr lang="en-US" sz="1500" dirty="0">
                            <a:effectLst/>
                            <a:latin typeface="Times New Roman" pitchFamily="18" charset="0"/>
                            <a:ea typeface="Calibri"/>
                            <a:cs typeface="Times New Roman" pitchFamily="18" charset="0"/>
                          </a:endParaRPr>
                        </a:p>
                      </a:txBody>
                      <a:tcPr marL="53023" marR="53023" marT="0" marB="0"/>
                    </a:tc>
                  </a:tr>
                  <a:tr h="375842">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Edaka-rajas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16,807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p>
                                  <m:sSupPr>
                                    <m:ctrlPr>
                                      <a:rPr lang="en-US" sz="1500" i="1">
                                        <a:effectLst/>
                                        <a:latin typeface="Cambria Math"/>
                                      </a:rPr>
                                    </m:ctrlPr>
                                  </m:sSupPr>
                                  <m:e>
                                    <m:r>
                                      <a:rPr lang="en-IN" sz="1500">
                                        <a:effectLst/>
                                        <a:latin typeface="Cambria Math"/>
                                      </a:rPr>
                                      <m:t>4.8367×10</m:t>
                                    </m:r>
                                  </m:e>
                                  <m:sup>
                                    <m:r>
                                      <a:rPr lang="en-IN" sz="1500">
                                        <a:effectLst/>
                                        <a:latin typeface="Cambria Math"/>
                                      </a:rPr>
                                      <m:t>−3</m:t>
                                    </m:r>
                                  </m:sup>
                                </m:sSup>
                              </m:oMath>
                            </m:oMathPara>
                          </a14:m>
                          <a:endParaRPr lang="en-US" sz="1500" dirty="0">
                            <a:effectLst/>
                            <a:latin typeface="Times New Roman" pitchFamily="18" charset="0"/>
                            <a:ea typeface="Calibri"/>
                            <a:cs typeface="Times New Roman" pitchFamily="18" charset="0"/>
                          </a:endParaRPr>
                        </a:p>
                      </a:txBody>
                      <a:tcPr marL="53023" marR="53023" marT="0" marB="0"/>
                    </a:tc>
                  </a:tr>
                  <a:tr h="357505">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Go-rajas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1,17,649</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r>
                                  <a:rPr lang="en-IN" sz="1500">
                                    <a:effectLst/>
                                    <a:latin typeface="Cambria Math"/>
                                  </a:rPr>
                                  <m:t>0.033857202</m:t>
                                </m:r>
                              </m:oMath>
                            </m:oMathPara>
                          </a14:m>
                          <a:endParaRPr lang="en-US" sz="1500" dirty="0">
                            <a:effectLst/>
                            <a:latin typeface="Times New Roman" pitchFamily="18" charset="0"/>
                            <a:ea typeface="Calibri"/>
                            <a:cs typeface="Times New Roman" pitchFamily="18" charset="0"/>
                          </a:endParaRPr>
                        </a:p>
                      </a:txBody>
                      <a:tcPr marL="53023" marR="53023" marT="0" marB="0"/>
                    </a:tc>
                  </a:tr>
                  <a:tr h="357505">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Liksa-rajas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8,23,543</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r>
                                  <a:rPr lang="en-IN" sz="1500">
                                    <a:effectLst/>
                                    <a:latin typeface="Cambria Math"/>
                                  </a:rPr>
                                  <m:t>0.237000411</m:t>
                                </m:r>
                              </m:oMath>
                            </m:oMathPara>
                          </a14:m>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Sarsapa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57,64,801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1.65900288</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Yava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4,03,53,607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11.61302016</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Anguli-parva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28,24,75,249</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81.29114114</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Angula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0.016764</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Dhanurmusti</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8</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0.134112</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Prajapatya-hasta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3</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24</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0.402336</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Dhanus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4</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96</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1.609344</a:t>
                          </a:r>
                          <a:endParaRPr lang="en-US" sz="1500" dirty="0">
                            <a:effectLst/>
                            <a:latin typeface="Times New Roman" pitchFamily="18" charset="0"/>
                            <a:ea typeface="Calibri"/>
                            <a:cs typeface="Times New Roman" pitchFamily="18" charset="0"/>
                          </a:endParaRPr>
                        </a:p>
                      </a:txBody>
                      <a:tcPr marL="53023" marR="53023" marT="0" marB="0"/>
                    </a:tc>
                  </a:tr>
                  <a:tr h="408320">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Garhapatya-dhanus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1.125</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108</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1.810512</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Goruta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2000</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216,000</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3621.024</a:t>
                          </a:r>
                          <a:endParaRPr lang="en-US" sz="1500" dirty="0">
                            <a:effectLst/>
                            <a:latin typeface="Times New Roman" pitchFamily="18" charset="0"/>
                            <a:ea typeface="Calibri"/>
                            <a:cs typeface="Times New Roman" pitchFamily="18" charset="0"/>
                          </a:endParaRPr>
                        </a:p>
                      </a:txBody>
                      <a:tcPr marL="53023" marR="53023" marT="0" marB="0"/>
                    </a:tc>
                  </a:tr>
                  <a:tr h="20415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Yojana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4</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864,000</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14484.096</a:t>
                          </a:r>
                          <a:endParaRPr lang="en-US" sz="1500" dirty="0">
                            <a:effectLst/>
                            <a:latin typeface="Times New Roman" pitchFamily="18" charset="0"/>
                            <a:ea typeface="Calibri"/>
                            <a:cs typeface="Times New Roman" pitchFamily="18" charset="0"/>
                          </a:endParaRPr>
                        </a:p>
                      </a:txBody>
                      <a:tcPr marL="53023" marR="53023" marT="0" marB="0"/>
                    </a:tc>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539960488"/>
                  </p:ext>
                </p:extLst>
              </p:nvPr>
            </p:nvGraphicFramePr>
            <p:xfrm>
              <a:off x="1981200" y="762000"/>
              <a:ext cx="5943600" cy="5714874"/>
            </p:xfrm>
            <a:graphic>
              <a:graphicData uri="http://schemas.openxmlformats.org/drawingml/2006/table">
                <a:tbl>
                  <a:tblPr firstRow="1" firstCol="1" bandRow="1">
                    <a:tableStyleId>{5C22544A-7EE6-4342-B048-85BDC9FD1C3A}</a:tableStyleId>
                  </a:tblPr>
                  <a:tblGrid>
                    <a:gridCol w="1529413"/>
                    <a:gridCol w="1518587"/>
                    <a:gridCol w="1219200"/>
                    <a:gridCol w="1676400"/>
                  </a:tblGrid>
                  <a:tr h="533400">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Unit</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Multiplier of preceding unit </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No. of </a:t>
                          </a:r>
                          <a:r>
                            <a:rPr lang="en-IN" sz="1500" dirty="0" err="1">
                              <a:effectLst/>
                              <a:latin typeface="Times New Roman" pitchFamily="18" charset="0"/>
                              <a:cs typeface="Times New Roman" pitchFamily="18" charset="0"/>
                            </a:rPr>
                            <a:t>Paramanus</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nSpc>
                              <a:spcPct val="115000"/>
                            </a:lnSpc>
                            <a:spcBef>
                              <a:spcPts val="0"/>
                            </a:spcBef>
                            <a:spcAft>
                              <a:spcPts val="1000"/>
                            </a:spcAft>
                          </a:pPr>
                          <a:r>
                            <a:rPr lang="en-IN" sz="1500" dirty="0">
                              <a:effectLst/>
                              <a:latin typeface="Times New Roman" pitchFamily="18" charset="0"/>
                              <a:cs typeface="Times New Roman" pitchFamily="18" charset="0"/>
                            </a:rPr>
                            <a:t>Length (in mm)</a:t>
                          </a:r>
                          <a:endParaRPr lang="en-US" sz="1500" dirty="0">
                            <a:effectLst/>
                            <a:latin typeface="Times New Roman" pitchFamily="18" charset="0"/>
                            <a:ea typeface="Calibri"/>
                            <a:cs typeface="Times New Roman" pitchFamily="18" charset="0"/>
                          </a:endParaRPr>
                        </a:p>
                      </a:txBody>
                      <a:tcPr marL="53023" marR="53023" marT="0" marB="0"/>
                    </a:tc>
                  </a:tr>
                  <a:tr h="258699">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Paramanu-rajas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a:t>
                          </a:r>
                          <a:endParaRPr lang="en-US" sz="150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218605" b="-1918605"/>
                          </a:stretch>
                        </a:blipFill>
                      </a:tcPr>
                    </a:tc>
                  </a:tr>
                  <a:tr h="263652">
                    <a:tc>
                      <a:txBody>
                        <a:bodyPr/>
                        <a:lstStyle/>
                        <a:p>
                          <a:pPr marL="0" marR="0">
                            <a:lnSpc>
                              <a:spcPct val="115000"/>
                            </a:lnSpc>
                            <a:spcBef>
                              <a:spcPts val="0"/>
                            </a:spcBef>
                            <a:spcAft>
                              <a:spcPts val="1000"/>
                            </a:spcAft>
                          </a:pPr>
                          <a:r>
                            <a:rPr lang="en-IN" sz="1500" dirty="0" err="1">
                              <a:effectLst/>
                              <a:latin typeface="Times New Roman" pitchFamily="18" charset="0"/>
                              <a:cs typeface="Times New Roman" pitchFamily="18" charset="0"/>
                            </a:rPr>
                            <a:t>Renu</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318605" b="-1818605"/>
                          </a:stretch>
                        </a:blipFill>
                      </a:tcPr>
                    </a:tc>
                  </a:tr>
                  <a:tr h="262573">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Truti</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49</a:t>
                          </a:r>
                          <a:endParaRPr lang="en-US" sz="1500" dirty="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418605" b="-1718605"/>
                          </a:stretch>
                        </a:blipFill>
                      </a:tcPr>
                    </a:tc>
                  </a:tr>
                  <a:tr h="262573">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Vatayana-rajas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343</a:t>
                          </a:r>
                          <a:endParaRPr lang="en-US" sz="1500" dirty="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518605" b="-1618605"/>
                          </a:stretch>
                        </a:blipFill>
                      </a:tcPr>
                    </a:tc>
                  </a:tr>
                  <a:tr h="259080">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Sasa-rajas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2,401</a:t>
                          </a:r>
                          <a:endParaRPr lang="en-US" sz="1500" dirty="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618605" b="-1518605"/>
                          </a:stretch>
                        </a:blipFill>
                      </a:tcPr>
                    </a:tc>
                  </a:tr>
                  <a:tr h="414147">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Edaka-rajas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16,807</a:t>
                          </a:r>
                          <a:endParaRPr lang="en-US" sz="1500" dirty="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454412" b="-860294"/>
                          </a:stretch>
                        </a:blipFill>
                      </a:tcPr>
                    </a:tc>
                  </a:tr>
                  <a:tr h="389890">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Go-rajas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1,17,649</a:t>
                          </a:r>
                          <a:endParaRPr lang="en-US" sz="1500" dirty="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589063" b="-814063"/>
                          </a:stretch>
                        </a:blipFill>
                      </a:tcPr>
                    </a:tc>
                  </a:tr>
                  <a:tr h="389890">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Liksa-rajas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8,23,543</a:t>
                          </a:r>
                          <a:endParaRPr lang="en-US" sz="1500" dirty="0">
                            <a:effectLst/>
                            <a:latin typeface="Times New Roman" pitchFamily="18" charset="0"/>
                            <a:ea typeface="Calibri"/>
                            <a:cs typeface="Times New Roman" pitchFamily="18" charset="0"/>
                          </a:endParaRPr>
                        </a:p>
                      </a:txBody>
                      <a:tcPr marL="53023" marR="53023" marT="0" marB="0"/>
                    </a:tc>
                    <a:tc>
                      <a:txBody>
                        <a:bodyPr/>
                        <a:lstStyle/>
                        <a:p>
                          <a:endParaRPr lang="en-US"/>
                        </a:p>
                      </a:txBody>
                      <a:tcPr marL="53023" marR="53023" marT="0" marB="0">
                        <a:blipFill rotWithShape="1">
                          <a:blip r:embed="rId2"/>
                          <a:stretch>
                            <a:fillRect l="-254545" t="-700000" b="-726984"/>
                          </a:stretch>
                        </a:blipFill>
                      </a:tcPr>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Sarsapa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57,64,801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1.65900288</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Yava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4,03,53,607</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11.61302016</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Anguli-parva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7</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28,24,75,249</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81.29114114</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Angula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0.016764</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Dhanurmusti</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8</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0.134112</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Prajapatya-hasta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3</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24</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0.402336</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Dhanus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4</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96</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1.609344</a:t>
                          </a:r>
                          <a:endParaRPr lang="en-US" sz="1500" dirty="0">
                            <a:effectLst/>
                            <a:latin typeface="Times New Roman" pitchFamily="18" charset="0"/>
                            <a:ea typeface="Calibri"/>
                            <a:cs typeface="Times New Roman" pitchFamily="18" charset="0"/>
                          </a:endParaRPr>
                        </a:p>
                      </a:txBody>
                      <a:tcPr marL="53023" marR="53023" marT="0" marB="0"/>
                    </a:tc>
                  </a:tr>
                  <a:tr h="50469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Garhapatya-dhanus</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1.125</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108</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1.810512</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Goruta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2000</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216,000</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3621.024</a:t>
                          </a:r>
                          <a:endParaRPr lang="en-US" sz="1500" dirty="0">
                            <a:effectLst/>
                            <a:latin typeface="Times New Roman" pitchFamily="18" charset="0"/>
                            <a:ea typeface="Calibri"/>
                            <a:cs typeface="Times New Roman" pitchFamily="18" charset="0"/>
                          </a:endParaRPr>
                        </a:p>
                      </a:txBody>
                      <a:tcPr marL="53023" marR="53023" marT="0" marB="0"/>
                    </a:tc>
                  </a:tr>
                  <a:tr h="241808">
                    <a:tc>
                      <a:txBody>
                        <a:bodyPr/>
                        <a:lstStyle/>
                        <a:p>
                          <a:pPr marL="0" marR="0">
                            <a:lnSpc>
                              <a:spcPct val="115000"/>
                            </a:lnSpc>
                            <a:spcBef>
                              <a:spcPts val="0"/>
                            </a:spcBef>
                            <a:spcAft>
                              <a:spcPts val="1000"/>
                            </a:spcAft>
                          </a:pPr>
                          <a:r>
                            <a:rPr lang="en-IN" sz="1500">
                              <a:effectLst/>
                              <a:latin typeface="Times New Roman" pitchFamily="18" charset="0"/>
                              <a:cs typeface="Times New Roman" pitchFamily="18" charset="0"/>
                            </a:rPr>
                            <a:t>Yojana</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a:effectLst/>
                              <a:latin typeface="Times New Roman" pitchFamily="18" charset="0"/>
                              <a:cs typeface="Times New Roman" pitchFamily="18" charset="0"/>
                            </a:rPr>
                            <a:t>4</a:t>
                          </a:r>
                          <a:endParaRPr lang="en-US" sz="150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864,000</a:t>
                          </a:r>
                          <a:endParaRPr lang="en-US" sz="1500" dirty="0">
                            <a:effectLst/>
                            <a:latin typeface="Times New Roman" pitchFamily="18" charset="0"/>
                            <a:ea typeface="Calibri"/>
                            <a:cs typeface="Times New Roman" pitchFamily="18" charset="0"/>
                          </a:endParaRPr>
                        </a:p>
                      </a:txBody>
                      <a:tcPr marL="53023" marR="53023" marT="0" marB="0"/>
                    </a:tc>
                    <a:tc>
                      <a:txBody>
                        <a:bodyPr/>
                        <a:lstStyle/>
                        <a:p>
                          <a:pPr marL="0" marR="0" algn="ctr">
                            <a:lnSpc>
                              <a:spcPct val="115000"/>
                            </a:lnSpc>
                            <a:spcBef>
                              <a:spcPts val="0"/>
                            </a:spcBef>
                            <a:spcAft>
                              <a:spcPts val="1000"/>
                            </a:spcAft>
                          </a:pPr>
                          <a:r>
                            <a:rPr lang="en-IN" sz="1500" dirty="0">
                              <a:effectLst/>
                              <a:latin typeface="Times New Roman" pitchFamily="18" charset="0"/>
                              <a:cs typeface="Times New Roman" pitchFamily="18" charset="0"/>
                            </a:rPr>
                            <a:t>14484.096</a:t>
                          </a:r>
                          <a:endParaRPr lang="en-US" sz="1500" dirty="0">
                            <a:effectLst/>
                            <a:latin typeface="Times New Roman" pitchFamily="18" charset="0"/>
                            <a:ea typeface="Calibri"/>
                            <a:cs typeface="Times New Roman" pitchFamily="18" charset="0"/>
                          </a:endParaRPr>
                        </a:p>
                      </a:txBody>
                      <a:tcPr marL="53023" marR="53023" marT="0" marB="0"/>
                    </a:tc>
                  </a:tr>
                </a:tbl>
              </a:graphicData>
            </a:graphic>
          </p:graphicFrame>
        </mc:Fallback>
      </mc:AlternateContent>
    </p:spTree>
    <p:extLst>
      <p:ext uri="{BB962C8B-B14F-4D97-AF65-F5344CB8AC3E}">
        <p14:creationId xmlns:p14="http://schemas.microsoft.com/office/powerpoint/2010/main" val="1842986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IN" sz="3600" b="1" dirty="0">
                <a:latin typeface="Times New Roman" pitchFamily="18" charset="0"/>
                <a:cs typeface="Times New Roman" pitchFamily="18" charset="0"/>
              </a:rPr>
              <a:t>Measures for Time</a:t>
            </a:r>
            <a:r>
              <a:rPr lang="en-US" sz="3600" b="1" dirty="0">
                <a:latin typeface="Times New Roman" pitchFamily="18" charset="0"/>
                <a:cs typeface="Times New Roman" pitchFamily="18" charset="0"/>
              </a:rPr>
              <a:t/>
            </a:r>
            <a:br>
              <a:rPr lang="en-US" sz="3600" b="1"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533400"/>
            <a:ext cx="7010400" cy="6172200"/>
          </a:xfrm>
          <a:prstGeom prst="rect">
            <a:avLst/>
          </a:prstGeom>
          <a:noFill/>
          <a:ln>
            <a:noFill/>
          </a:ln>
        </p:spPr>
      </p:pic>
    </p:spTree>
    <p:extLst>
      <p:ext uri="{BB962C8B-B14F-4D97-AF65-F5344CB8AC3E}">
        <p14:creationId xmlns:p14="http://schemas.microsoft.com/office/powerpoint/2010/main" val="3837792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latin typeface="Times New Roman" pitchFamily="18" charset="0"/>
                <a:cs typeface="Times New Roman" pitchFamily="18" charset="0"/>
              </a:rPr>
              <a:t>Measures for </a:t>
            </a:r>
            <a:r>
              <a:rPr lang="en-IN" sz="3600" b="1" dirty="0" smtClean="0">
                <a:latin typeface="Times New Roman" pitchFamily="18" charset="0"/>
                <a:cs typeface="Times New Roman" pitchFamily="18" charset="0"/>
              </a:rPr>
              <a:t>Weight - </a:t>
            </a:r>
            <a:r>
              <a:rPr lang="en-US" sz="3600" b="1" dirty="0">
                <a:latin typeface="Times New Roman" pitchFamily="18" charset="0"/>
                <a:cs typeface="Times New Roman" pitchFamily="18" charset="0"/>
              </a:rPr>
              <a:t/>
            </a:r>
            <a:br>
              <a:rPr lang="en-US" sz="3600" b="1" dirty="0">
                <a:latin typeface="Times New Roman" pitchFamily="18" charset="0"/>
                <a:cs typeface="Times New Roman" pitchFamily="18" charset="0"/>
              </a:rPr>
            </a:br>
            <a:r>
              <a:rPr lang="en-IN" sz="3600" b="1" dirty="0" smtClean="0">
                <a:latin typeface="Times New Roman" pitchFamily="18" charset="0"/>
                <a:cs typeface="Times New Roman" pitchFamily="18" charset="0"/>
              </a:rPr>
              <a:t>Illustration </a:t>
            </a:r>
            <a:r>
              <a:rPr lang="en-IN" sz="3600" b="1" dirty="0">
                <a:latin typeface="Times New Roman" pitchFamily="18" charset="0"/>
                <a:cs typeface="Times New Roman" pitchFamily="18" charset="0"/>
              </a:rPr>
              <a:t>of a balance during </a:t>
            </a:r>
            <a:r>
              <a:rPr lang="en-IN" sz="3600" b="1" dirty="0" err="1">
                <a:latin typeface="Times New Roman" pitchFamily="18" charset="0"/>
                <a:cs typeface="Times New Roman" pitchFamily="18" charset="0"/>
              </a:rPr>
              <a:t>Mauryan</a:t>
            </a:r>
            <a:endParaRPr lang="en-US" sz="3600" b="1"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2738666" y="1848363"/>
            <a:ext cx="3666667" cy="4029637"/>
          </a:xfrm>
          <a:prstGeom prst="rect">
            <a:avLst/>
          </a:prstGeom>
          <a:noFill/>
          <a:ln w="9525">
            <a:noFill/>
            <a:miter lim="800000"/>
            <a:headEnd/>
            <a:tailEnd/>
          </a:ln>
        </p:spPr>
      </p:pic>
    </p:spTree>
    <p:extLst>
      <p:ext uri="{BB962C8B-B14F-4D97-AF65-F5344CB8AC3E}">
        <p14:creationId xmlns:p14="http://schemas.microsoft.com/office/powerpoint/2010/main" val="4159711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latin typeface="Times New Roman" pitchFamily="18" charset="0"/>
                <a:cs typeface="Times New Roman" pitchFamily="18" charset="0"/>
              </a:rPr>
              <a:t>Ancient Indian </a:t>
            </a:r>
            <a:r>
              <a:rPr lang="en-IN" sz="3600" b="1" dirty="0">
                <a:latin typeface="Times New Roman" pitchFamily="18" charset="0"/>
                <a:cs typeface="Times New Roman" pitchFamily="18" charset="0"/>
              </a:rPr>
              <a:t>measures for weight</a:t>
            </a:r>
            <a:endParaRPr lang="en-US" sz="36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1762233713"/>
                  </p:ext>
                </p:extLst>
              </p:nvPr>
            </p:nvGraphicFramePr>
            <p:xfrm>
              <a:off x="1066798" y="1676397"/>
              <a:ext cx="7086601" cy="4953002"/>
            </p:xfrm>
            <a:graphic>
              <a:graphicData uri="http://schemas.openxmlformats.org/drawingml/2006/table">
                <a:tbl>
                  <a:tblPr firstRow="1" firstCol="1" bandRow="1">
                    <a:tableStyleId>{5C22544A-7EE6-4342-B048-85BDC9FD1C3A}</a:tableStyleId>
                  </a:tblPr>
                  <a:tblGrid>
                    <a:gridCol w="1421964"/>
                    <a:gridCol w="2224841"/>
                    <a:gridCol w="1884343"/>
                    <a:gridCol w="1555453"/>
                  </a:tblGrid>
                  <a:tr h="832795">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Unit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Multiplier of preceding unit </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No. of Paramanus</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Length</a:t>
                          </a:r>
                          <a:endParaRPr lang="en-US" sz="1800">
                            <a:effectLst/>
                            <a:latin typeface="Times New Roman" pitchFamily="18" charset="0"/>
                            <a:ea typeface="Calibri"/>
                            <a:cs typeface="Times New Roman" pitchFamily="18" charset="0"/>
                          </a:endParaRPr>
                        </a:p>
                      </a:txBody>
                      <a:tcPr marL="68580" marR="68580" marT="0" marB="0"/>
                    </a:tc>
                  </a:tr>
                  <a:tr h="436991">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Paramanu</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0"/>
                            </a:spcAft>
                          </a:pPr>
                          <a14:m>
                            <m:oMath xmlns:m="http://schemas.openxmlformats.org/officeDocument/2006/math">
                              <m:sSup>
                                <m:sSupPr>
                                  <m:ctrlPr>
                                    <a:rPr lang="en-US" sz="1800" i="1">
                                      <a:effectLst/>
                                      <a:latin typeface="Cambria Math"/>
                                    </a:rPr>
                                  </m:ctrlPr>
                                </m:sSupPr>
                                <m:e>
                                  <m:r>
                                    <a:rPr lang="en-IN" sz="1800">
                                      <a:effectLst/>
                                      <a:latin typeface="Cambria Math"/>
                                    </a:rPr>
                                    <m:t>5.787×10</m:t>
                                  </m:r>
                                </m:e>
                                <m:sup>
                                  <m:r>
                                    <a:rPr lang="en-IN" sz="1800">
                                      <a:effectLst/>
                                      <a:latin typeface="Cambria Math"/>
                                    </a:rPr>
                                    <m:t>−5</m:t>
                                  </m:r>
                                </m:sup>
                              </m:sSup>
                            </m:oMath>
                          </a14:m>
                          <a:r>
                            <a:rPr lang="en-IN" sz="1800">
                              <a:effectLst/>
                              <a:latin typeface="Times New Roman" pitchFamily="18" charset="0"/>
                              <a:cs typeface="Times New Roman" pitchFamily="18" charset="0"/>
                            </a:rPr>
                            <a:t> </a:t>
                          </a:r>
                          <a:endParaRPr lang="en-US" sz="1800">
                            <a:effectLst/>
                            <a:latin typeface="Times New Roman" pitchFamily="18" charset="0"/>
                            <a:ea typeface="Calibri"/>
                            <a:cs typeface="Times New Roman" pitchFamily="18" charset="0"/>
                          </a:endParaRPr>
                        </a:p>
                      </a:txBody>
                      <a:tcPr marL="68580" marR="68580" marT="0" marB="0"/>
                    </a:tc>
                  </a:tr>
                  <a:tr h="425466">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Vamsi</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30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30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0"/>
                            </a:spcAft>
                          </a:pPr>
                          <a14:m>
                            <m:oMath xmlns:m="http://schemas.openxmlformats.org/officeDocument/2006/math">
                              <m:sSup>
                                <m:sSupPr>
                                  <m:ctrlPr>
                                    <a:rPr lang="en-US" sz="1800" i="1">
                                      <a:effectLst/>
                                      <a:latin typeface="Cambria Math"/>
                                    </a:rPr>
                                  </m:ctrlPr>
                                </m:sSupPr>
                                <m:e>
                                  <m:r>
                                    <a:rPr lang="en-IN" sz="1800">
                                      <a:effectLst/>
                                      <a:latin typeface="Cambria Math"/>
                                    </a:rPr>
                                    <m:t>1.736×10</m:t>
                                  </m:r>
                                </m:e>
                                <m:sup>
                                  <m:r>
                                    <a:rPr lang="en-IN" sz="1800">
                                      <a:effectLst/>
                                      <a:latin typeface="Cambria Math"/>
                                    </a:rPr>
                                    <m:t>−3</m:t>
                                  </m:r>
                                </m:sup>
                              </m:sSup>
                            </m:oMath>
                          </a14:m>
                          <a:r>
                            <a:rPr lang="en-IN" sz="1800">
                              <a:effectLst/>
                              <a:latin typeface="Times New Roman" pitchFamily="18" charset="0"/>
                              <a:cs typeface="Times New Roman" pitchFamily="18" charset="0"/>
                            </a:rPr>
                            <a:t> </a:t>
                          </a:r>
                          <a:endParaRPr lang="en-US" sz="1800">
                            <a:effectLst/>
                            <a:latin typeface="Times New Roman" pitchFamily="18" charset="0"/>
                            <a:ea typeface="Calibri"/>
                            <a:cs typeface="Times New Roman" pitchFamily="18" charset="0"/>
                          </a:endParaRPr>
                        </a:p>
                      </a:txBody>
                      <a:tcPr marL="68580" marR="68580" marT="0" marB="0"/>
                    </a:tc>
                  </a:tr>
                  <a:tr h="43090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Sarsapa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9</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270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14:m>
                            <m:oMath xmlns:m="http://schemas.openxmlformats.org/officeDocument/2006/math">
                              <m:r>
                                <a:rPr lang="en-IN" sz="1800">
                                  <a:effectLst/>
                                  <a:latin typeface="Cambria Math"/>
                                </a:rPr>
                                <m:t>1.563×</m:t>
                              </m:r>
                              <m:sSup>
                                <m:sSupPr>
                                  <m:ctrlPr>
                                    <a:rPr lang="en-US" sz="1800" i="1">
                                      <a:effectLst/>
                                      <a:latin typeface="Cambria Math"/>
                                    </a:rPr>
                                  </m:ctrlPr>
                                </m:sSupPr>
                                <m:e>
                                  <m:r>
                                    <a:rPr lang="en-IN" sz="1800">
                                      <a:effectLst/>
                                      <a:latin typeface="Cambria Math"/>
                                    </a:rPr>
                                    <m:t>10</m:t>
                                  </m:r>
                                </m:e>
                                <m:sup>
                                  <m:r>
                                    <a:rPr lang="en-IN" sz="1800">
                                      <a:effectLst/>
                                      <a:latin typeface="Cambria Math"/>
                                    </a:rPr>
                                    <m:t>−2</m:t>
                                  </m:r>
                                </m:sup>
                              </m:sSup>
                            </m:oMath>
                          </a14:m>
                          <a:r>
                            <a:rPr lang="en-IN" sz="1800">
                              <a:effectLst/>
                              <a:latin typeface="Times New Roman" pitchFamily="18" charset="0"/>
                              <a:cs typeface="Times New Roman" pitchFamily="18" charset="0"/>
                            </a:rPr>
                            <a:t> </a:t>
                          </a:r>
                          <a:endParaRPr lang="en-US" sz="180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Yava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8</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2,160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14:m>
                            <m:oMath xmlns:m="http://schemas.openxmlformats.org/officeDocument/2006/math">
                              <m:r>
                                <a:rPr lang="en-IN" sz="1800">
                                  <a:effectLst/>
                                  <a:latin typeface="Cambria Math"/>
                                </a:rPr>
                                <m:t>0.125</m:t>
                              </m:r>
                            </m:oMath>
                          </a14:m>
                          <a:r>
                            <a:rPr lang="en-IN" sz="1800" dirty="0">
                              <a:effectLst/>
                              <a:latin typeface="Times New Roman" pitchFamily="18" charset="0"/>
                              <a:cs typeface="Times New Roman" pitchFamily="18" charset="0"/>
                            </a:rPr>
                            <a:t> </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Gunja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8,640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14:m>
                            <m:oMath xmlns:m="http://schemas.openxmlformats.org/officeDocument/2006/math">
                              <m:r>
                                <a:rPr lang="en-IN" sz="1800">
                                  <a:effectLst/>
                                  <a:latin typeface="Cambria Math"/>
                                </a:rPr>
                                <m:t>0.5</m:t>
                              </m:r>
                            </m:oMath>
                          </a14:m>
                          <a:r>
                            <a:rPr lang="en-IN" sz="1800" dirty="0">
                              <a:effectLst/>
                              <a:latin typeface="Times New Roman" pitchFamily="18" charset="0"/>
                              <a:cs typeface="Times New Roman" pitchFamily="18" charset="0"/>
                            </a:rPr>
                            <a:t> </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Masaka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6</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51,840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14:m>
                            <m:oMath xmlns:m="http://schemas.openxmlformats.org/officeDocument/2006/math">
                              <m:r>
                                <a:rPr lang="en-IN" sz="1800">
                                  <a:effectLst/>
                                  <a:latin typeface="Cambria Math"/>
                                </a:rPr>
                                <m:t>3</m:t>
                              </m:r>
                            </m:oMath>
                          </a14:m>
                          <a:r>
                            <a:rPr lang="en-IN" sz="1800" dirty="0">
                              <a:effectLst/>
                              <a:latin typeface="Times New Roman" pitchFamily="18" charset="0"/>
                              <a:cs typeface="Times New Roman" pitchFamily="18" charset="0"/>
                            </a:rPr>
                            <a:t> </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Karsa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2,07,360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14:m>
                            <m:oMath xmlns:m="http://schemas.openxmlformats.org/officeDocument/2006/math">
                              <m:r>
                                <a:rPr lang="en-IN" sz="1800">
                                  <a:effectLst/>
                                  <a:latin typeface="Cambria Math"/>
                                </a:rPr>
                                <m:t>12</m:t>
                              </m:r>
                            </m:oMath>
                          </a14:m>
                          <a:r>
                            <a:rPr lang="en-IN" sz="1800" dirty="0">
                              <a:effectLst/>
                              <a:latin typeface="Times New Roman" pitchFamily="18" charset="0"/>
                              <a:cs typeface="Times New Roman" pitchFamily="18" charset="0"/>
                            </a:rPr>
                            <a:t> </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Pala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8,29,440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14:m>
                            <m:oMath xmlns:m="http://schemas.openxmlformats.org/officeDocument/2006/math">
                              <m:r>
                                <a:rPr lang="en-IN" sz="1800">
                                  <a:effectLst/>
                                  <a:latin typeface="Cambria Math"/>
                                </a:rPr>
                                <m:t>48</m:t>
                              </m:r>
                            </m:oMath>
                          </a14:m>
                          <a:r>
                            <a:rPr lang="en-IN" sz="1800" dirty="0">
                              <a:effectLst/>
                              <a:latin typeface="Times New Roman" pitchFamily="18" charset="0"/>
                              <a:cs typeface="Times New Roman" pitchFamily="18" charset="0"/>
                            </a:rPr>
                            <a:t> </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Tula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100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8,29,44,000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4800</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Bhara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20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1,65,88,80,000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96000</a:t>
                          </a:r>
                          <a:endParaRPr lang="en-US" sz="1800" dirty="0">
                            <a:effectLst/>
                            <a:latin typeface="Times New Roman" pitchFamily="18" charset="0"/>
                            <a:ea typeface="Calibri"/>
                            <a:cs typeface="Times New Roman" pitchFamily="18" charset="0"/>
                          </a:endParaRPr>
                        </a:p>
                      </a:txBody>
                      <a:tcPr marL="68580" marR="68580" marT="0" marB="0"/>
                    </a:tc>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1762233713"/>
                  </p:ext>
                </p:extLst>
              </p:nvPr>
            </p:nvGraphicFramePr>
            <p:xfrm>
              <a:off x="1066798" y="1676397"/>
              <a:ext cx="7086601" cy="4953002"/>
            </p:xfrm>
            <a:graphic>
              <a:graphicData uri="http://schemas.openxmlformats.org/drawingml/2006/table">
                <a:tbl>
                  <a:tblPr firstRow="1" firstCol="1" bandRow="1">
                    <a:tableStyleId>{5C22544A-7EE6-4342-B048-85BDC9FD1C3A}</a:tableStyleId>
                  </a:tblPr>
                  <a:tblGrid>
                    <a:gridCol w="1421964"/>
                    <a:gridCol w="2224841"/>
                    <a:gridCol w="1884343"/>
                    <a:gridCol w="1555453"/>
                  </a:tblGrid>
                  <a:tr h="832795">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Unit</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dirty="0">
                              <a:effectLst/>
                              <a:latin typeface="Times New Roman" pitchFamily="18" charset="0"/>
                              <a:cs typeface="Times New Roman" pitchFamily="18" charset="0"/>
                            </a:rPr>
                            <a:t>Multiplier of preceding unit </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No. of Paramanus</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Length</a:t>
                          </a:r>
                          <a:endParaRPr lang="en-US" sz="1800">
                            <a:effectLst/>
                            <a:latin typeface="Times New Roman" pitchFamily="18" charset="0"/>
                            <a:ea typeface="Calibri"/>
                            <a:cs typeface="Times New Roman" pitchFamily="18" charset="0"/>
                          </a:endParaRPr>
                        </a:p>
                      </a:txBody>
                      <a:tcPr marL="68580" marR="68580" marT="0" marB="0"/>
                    </a:tc>
                  </a:tr>
                  <a:tr h="436991">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Paramanu</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205634" r="-392" b="-859155"/>
                          </a:stretch>
                        </a:blipFill>
                      </a:tcPr>
                    </a:tc>
                  </a:tr>
                  <a:tr h="425466">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Vamsi</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30</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30</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310000" r="-392" b="-771429"/>
                          </a:stretch>
                        </a:blipFill>
                      </a:tcPr>
                    </a:tc>
                  </a:tr>
                  <a:tr h="43090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Sarsapa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9</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270</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404225" r="-392" b="-660563"/>
                          </a:stretch>
                        </a:blipFill>
                      </a:tcPr>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Yava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8</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2,160</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542424" r="-392" b="-610606"/>
                          </a:stretch>
                        </a:blipFill>
                      </a:tcPr>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Gunja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8,640</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642424" r="-392" b="-510606"/>
                          </a:stretch>
                        </a:blipFill>
                      </a:tcPr>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Masaka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6</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51,840</a:t>
                          </a:r>
                          <a:endParaRPr lang="en-US" sz="1800" dirty="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742424" r="-392" b="-410606"/>
                          </a:stretch>
                        </a:blipFill>
                      </a:tcPr>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Karsa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2,07,360</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842424" r="-392" b="-310606"/>
                          </a:stretch>
                        </a:blipFill>
                      </a:tcPr>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Pala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8,29,440</a:t>
                          </a:r>
                          <a:endParaRPr lang="en-US" sz="18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355686" t="-928358" r="-392" b="-205970"/>
                          </a:stretch>
                        </a:blipFill>
                      </a:tcPr>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Tula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100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8,29,44,000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4800</a:t>
                          </a:r>
                          <a:endParaRPr lang="en-US" sz="1800" dirty="0">
                            <a:effectLst/>
                            <a:latin typeface="Times New Roman" pitchFamily="18" charset="0"/>
                            <a:ea typeface="Calibri"/>
                            <a:cs typeface="Times New Roman" pitchFamily="18" charset="0"/>
                          </a:endParaRPr>
                        </a:p>
                      </a:txBody>
                      <a:tcPr marL="68580" marR="68580" marT="0" marB="0"/>
                    </a:tc>
                  </a:tr>
                  <a:tr h="403835">
                    <a:tc>
                      <a:txBody>
                        <a:bodyPr/>
                        <a:lstStyle/>
                        <a:p>
                          <a:pPr marL="0" marR="0">
                            <a:lnSpc>
                              <a:spcPct val="115000"/>
                            </a:lnSpc>
                            <a:spcBef>
                              <a:spcPts val="0"/>
                            </a:spcBef>
                            <a:spcAft>
                              <a:spcPts val="1000"/>
                            </a:spcAft>
                          </a:pPr>
                          <a:r>
                            <a:rPr lang="en-IN" sz="1800">
                              <a:effectLst/>
                              <a:latin typeface="Times New Roman" pitchFamily="18" charset="0"/>
                              <a:cs typeface="Times New Roman" pitchFamily="18" charset="0"/>
                            </a:rPr>
                            <a:t>Bhara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20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1,65,88,80,000</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96000</a:t>
                          </a:r>
                          <a:endParaRPr lang="en-US" sz="1800" dirty="0">
                            <a:effectLst/>
                            <a:latin typeface="Times New Roman" pitchFamily="18" charset="0"/>
                            <a:ea typeface="Calibri"/>
                            <a:cs typeface="Times New Roman" pitchFamily="18" charset="0"/>
                          </a:endParaRPr>
                        </a:p>
                      </a:txBody>
                      <a:tcPr marL="68580" marR="68580" marT="0" marB="0"/>
                    </a:tc>
                  </a:tr>
                </a:tbl>
              </a:graphicData>
            </a:graphic>
          </p:graphicFrame>
        </mc:Fallback>
      </mc:AlternateContent>
    </p:spTree>
    <p:extLst>
      <p:ext uri="{BB962C8B-B14F-4D97-AF65-F5344CB8AC3E}">
        <p14:creationId xmlns:p14="http://schemas.microsoft.com/office/powerpoint/2010/main" val="1878409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Autofit/>
          </a:bodyPr>
          <a:lstStyle/>
          <a:p>
            <a:r>
              <a:rPr lang="en-US" sz="3600" b="1" dirty="0" err="1">
                <a:latin typeface="Times New Roman" pitchFamily="18" charset="0"/>
                <a:cs typeface="Times New Roman" pitchFamily="18" charset="0"/>
              </a:rPr>
              <a:t>Piṅgala</a:t>
            </a:r>
            <a:r>
              <a:rPr lang="en-US" sz="3600" b="1" dirty="0">
                <a:latin typeface="Times New Roman" pitchFamily="18" charset="0"/>
                <a:cs typeface="Times New Roman" pitchFamily="18" charset="0"/>
              </a:rPr>
              <a:t> and the Binary system </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990600"/>
            <a:ext cx="8763000" cy="5638800"/>
          </a:xfrm>
        </p:spPr>
        <p:txBody>
          <a:bodyPr>
            <a:noAutofit/>
          </a:bodyPr>
          <a:lstStyle/>
          <a:p>
            <a:pPr algn="just"/>
            <a:r>
              <a:rPr lang="en-US" sz="2300" dirty="0" smtClean="0">
                <a:latin typeface="Times New Roman" pitchFamily="18" charset="0"/>
                <a:cs typeface="Times New Roman" pitchFamily="18" charset="0"/>
              </a:rPr>
              <a:t>The </a:t>
            </a:r>
            <a:r>
              <a:rPr lang="en-US" sz="2300" dirty="0">
                <a:latin typeface="Times New Roman" pitchFamily="18" charset="0"/>
                <a:cs typeface="Times New Roman" pitchFamily="18" charset="0"/>
              </a:rPr>
              <a:t>Binary Number System is discovered in India.</a:t>
            </a:r>
          </a:p>
          <a:p>
            <a:pPr algn="just"/>
            <a:r>
              <a:rPr lang="en-US" sz="2300" dirty="0" smtClean="0">
                <a:latin typeface="Times New Roman" pitchFamily="18" charset="0"/>
                <a:cs typeface="Times New Roman" pitchFamily="18" charset="0"/>
              </a:rPr>
              <a:t>It's </a:t>
            </a:r>
            <a:r>
              <a:rPr lang="en-US" sz="2300" dirty="0">
                <a:latin typeface="Times New Roman" pitchFamily="18" charset="0"/>
                <a:cs typeface="Times New Roman" pitchFamily="18" charset="0"/>
              </a:rPr>
              <a:t>discovered by </a:t>
            </a:r>
            <a:r>
              <a:rPr lang="en-US" sz="2300" dirty="0" err="1">
                <a:latin typeface="Times New Roman" pitchFamily="18" charset="0"/>
                <a:cs typeface="Times New Roman" pitchFamily="18" charset="0"/>
              </a:rPr>
              <a:t>Acharya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Piṅgala</a:t>
            </a:r>
            <a:r>
              <a:rPr lang="en-US" sz="2300" dirty="0">
                <a:latin typeface="Times New Roman" pitchFamily="18" charset="0"/>
                <a:cs typeface="Times New Roman" pitchFamily="18" charset="0"/>
              </a:rPr>
              <a:t> in his </a:t>
            </a:r>
            <a:r>
              <a:rPr lang="en-US" sz="2300" dirty="0" err="1">
                <a:latin typeface="Times New Roman" pitchFamily="18" charset="0"/>
                <a:cs typeface="Times New Roman" pitchFamily="18" charset="0"/>
              </a:rPr>
              <a:t>Chhandasastra</a:t>
            </a:r>
            <a:r>
              <a:rPr lang="en-US" sz="2300" dirty="0">
                <a:latin typeface="Times New Roman" pitchFamily="18" charset="0"/>
                <a:cs typeface="Times New Roman" pitchFamily="18" charset="0"/>
              </a:rPr>
              <a:t> - a discussion on prosody (</a:t>
            </a:r>
            <a:r>
              <a:rPr lang="en-US" sz="2300" dirty="0" err="1">
                <a:latin typeface="Times New Roman" pitchFamily="18" charset="0"/>
                <a:cs typeface="Times New Roman" pitchFamily="18" charset="0"/>
              </a:rPr>
              <a:t>chhanda</a:t>
            </a:r>
            <a:r>
              <a:rPr lang="en-US" sz="2300" dirty="0">
                <a:latin typeface="Times New Roman" pitchFamily="18" charset="0"/>
                <a:cs typeface="Times New Roman" pitchFamily="18" charset="0"/>
              </a:rPr>
              <a:t>), the other </a:t>
            </a:r>
            <a:r>
              <a:rPr lang="en-US" sz="2300" dirty="0" err="1">
                <a:latin typeface="Times New Roman" pitchFamily="18" charset="0"/>
                <a:cs typeface="Times New Roman" pitchFamily="18" charset="0"/>
              </a:rPr>
              <a:t>Vedanga</a:t>
            </a:r>
            <a:r>
              <a:rPr lang="en-US" sz="2300" dirty="0">
                <a:latin typeface="Times New Roman" pitchFamily="18" charset="0"/>
                <a:cs typeface="Times New Roman" pitchFamily="18" charset="0"/>
              </a:rPr>
              <a:t> during 300 BCE.</a:t>
            </a:r>
          </a:p>
          <a:p>
            <a:pPr algn="just"/>
            <a:r>
              <a:rPr lang="en-US" sz="2300" dirty="0" smtClean="0">
                <a:latin typeface="Times New Roman" pitchFamily="18" charset="0"/>
                <a:cs typeface="Times New Roman" pitchFamily="18" charset="0"/>
              </a:rPr>
              <a:t>However</a:t>
            </a:r>
            <a:r>
              <a:rPr lang="en-US" sz="2300" dirty="0">
                <a:latin typeface="Times New Roman" pitchFamily="18" charset="0"/>
                <a:cs typeface="Times New Roman" pitchFamily="18" charset="0"/>
              </a:rPr>
              <a:t>, the discovery of Binary Number System by Indians escaped the attention of Western Scholars. It may be because of its evidence in '</a:t>
            </a:r>
            <a:r>
              <a:rPr lang="en-US" sz="2300" dirty="0" err="1">
                <a:latin typeface="Times New Roman" pitchFamily="18" charset="0"/>
                <a:cs typeface="Times New Roman" pitchFamily="18" charset="0"/>
              </a:rPr>
              <a:t>chandashāstra</a:t>
            </a:r>
            <a:r>
              <a:rPr lang="en-US" sz="2300" dirty="0">
                <a:latin typeface="Times New Roman" pitchFamily="18" charset="0"/>
                <a:cs typeface="Times New Roman" pitchFamily="18" charset="0"/>
              </a:rPr>
              <a:t>' a text related to description and analysis of meters in poetic literary work, totally unrelated to mathematics.</a:t>
            </a:r>
          </a:p>
          <a:p>
            <a:pPr algn="just"/>
            <a:r>
              <a:rPr lang="en-US" sz="2300" dirty="0" smtClean="0">
                <a:latin typeface="Times New Roman" pitchFamily="18" charset="0"/>
                <a:cs typeface="Times New Roman" pitchFamily="18" charset="0"/>
              </a:rPr>
              <a:t>Binary </a:t>
            </a:r>
            <a:r>
              <a:rPr lang="en-US" sz="2300" dirty="0">
                <a:latin typeface="Times New Roman" pitchFamily="18" charset="0"/>
                <a:cs typeface="Times New Roman" pitchFamily="18" charset="0"/>
              </a:rPr>
              <a:t>Number System forms a basis of the modern digital world and modern logic. The two numbers “1” and “0” may be interpreted as either “on” and “off” or “true” and “false', or “</a:t>
            </a:r>
            <a:r>
              <a:rPr lang="en-US" sz="2300" dirty="0" err="1">
                <a:latin typeface="Times New Roman" pitchFamily="18" charset="0"/>
                <a:cs typeface="Times New Roman" pitchFamily="18" charset="0"/>
              </a:rPr>
              <a:t>magnetised</a:t>
            </a:r>
            <a:r>
              <a:rPr lang="en-US" sz="2300" dirty="0">
                <a:latin typeface="Times New Roman" pitchFamily="18" charset="0"/>
                <a:cs typeface="Times New Roman" pitchFamily="18" charset="0"/>
              </a:rPr>
              <a:t>” and “</a:t>
            </a:r>
            <a:r>
              <a:rPr lang="en-US" sz="2300" dirty="0" err="1">
                <a:latin typeface="Times New Roman" pitchFamily="18" charset="0"/>
                <a:cs typeface="Times New Roman" pitchFamily="18" charset="0"/>
              </a:rPr>
              <a:t>demagnetised</a:t>
            </a:r>
            <a:r>
              <a:rPr lang="en-US" sz="2300" dirty="0">
                <a:latin typeface="Times New Roman" pitchFamily="18" charset="0"/>
                <a:cs typeface="Times New Roman" pitchFamily="18" charset="0"/>
              </a:rPr>
              <a:t>”, or “</a:t>
            </a:r>
            <a:r>
              <a:rPr lang="en-US" sz="2300" dirty="0" err="1">
                <a:latin typeface="Times New Roman" pitchFamily="18" charset="0"/>
                <a:cs typeface="Times New Roman" pitchFamily="18" charset="0"/>
              </a:rPr>
              <a:t>laghu</a:t>
            </a:r>
            <a:r>
              <a:rPr lang="en-US" sz="2300" dirty="0">
                <a:latin typeface="Times New Roman" pitchFamily="18" charset="0"/>
                <a:cs typeface="Times New Roman" pitchFamily="18" charset="0"/>
              </a:rPr>
              <a:t> and guru” as in the case of '</a:t>
            </a:r>
            <a:r>
              <a:rPr lang="en-US" sz="2300" dirty="0" err="1">
                <a:latin typeface="Times New Roman" pitchFamily="18" charset="0"/>
                <a:cs typeface="Times New Roman" pitchFamily="18" charset="0"/>
              </a:rPr>
              <a:t>chandashāstra</a:t>
            </a:r>
            <a:r>
              <a:rPr lang="en-US" sz="2300" dirty="0">
                <a:latin typeface="Times New Roman" pitchFamily="18" charset="0"/>
                <a:cs typeface="Times New Roman" pitchFamily="18" charset="0"/>
              </a:rPr>
              <a:t>' etc.</a:t>
            </a:r>
          </a:p>
          <a:p>
            <a:pPr algn="just"/>
            <a:r>
              <a:rPr lang="en-US" sz="2300" dirty="0" smtClean="0">
                <a:latin typeface="Times New Roman" pitchFamily="18" charset="0"/>
                <a:cs typeface="Times New Roman" pitchFamily="18" charset="0"/>
              </a:rPr>
              <a:t>The </a:t>
            </a:r>
            <a:r>
              <a:rPr lang="en-US" sz="2300" dirty="0">
                <a:latin typeface="Times New Roman" pitchFamily="18" charset="0"/>
                <a:cs typeface="Times New Roman" pitchFamily="18" charset="0"/>
              </a:rPr>
              <a:t>German philosopher </a:t>
            </a:r>
            <a:r>
              <a:rPr lang="en-US" sz="2300" dirty="0" err="1">
                <a:latin typeface="Times New Roman" pitchFamily="18" charset="0"/>
                <a:cs typeface="Times New Roman" pitchFamily="18" charset="0"/>
              </a:rPr>
              <a:t>Gotfried</a:t>
            </a:r>
            <a:r>
              <a:rPr lang="en-US" sz="2300" dirty="0">
                <a:latin typeface="Times New Roman" pitchFamily="18" charset="0"/>
                <a:cs typeface="Times New Roman" pitchFamily="18" charset="0"/>
              </a:rPr>
              <a:t> Leibniz in 1695 rediscovered Binary Number System</a:t>
            </a:r>
            <a:r>
              <a:rPr lang="en-US" sz="2600" dirty="0">
                <a:latin typeface="Times New Roman" pitchFamily="18" charset="0"/>
                <a:cs typeface="Times New Roman" pitchFamily="18" charset="0"/>
              </a:rPr>
              <a:t>.</a:t>
            </a:r>
          </a:p>
          <a:p>
            <a:pPr algn="just"/>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603877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err="1">
                <a:latin typeface="Times New Roman" pitchFamily="18" charset="0"/>
                <a:cs typeface="Times New Roman" pitchFamily="18" charset="0"/>
              </a:rPr>
              <a:t>Piṅgala</a:t>
            </a:r>
            <a:r>
              <a:rPr lang="en-US" b="1" dirty="0">
                <a:latin typeface="Times New Roman" pitchFamily="18" charset="0"/>
                <a:cs typeface="Times New Roman" pitchFamily="18" charset="0"/>
              </a:rPr>
              <a:t> and the Binary system </a:t>
            </a:r>
            <a:endParaRPr lang="en-US" dirty="0"/>
          </a:p>
        </p:txBody>
      </p:sp>
      <p:sp>
        <p:nvSpPr>
          <p:cNvPr id="3" name="Content Placeholder 2"/>
          <p:cNvSpPr>
            <a:spLocks noGrp="1"/>
          </p:cNvSpPr>
          <p:nvPr>
            <p:ph idx="1"/>
          </p:nvPr>
        </p:nvSpPr>
        <p:spPr>
          <a:xfrm>
            <a:off x="152400" y="914400"/>
            <a:ext cx="8763000" cy="5715000"/>
          </a:xfrm>
        </p:spPr>
        <p:txBody>
          <a:bodyPr>
            <a:normAutofit fontScale="77500" lnSpcReduction="20000"/>
          </a:bodyPr>
          <a:lstStyle/>
          <a:p>
            <a:pPr algn="just"/>
            <a:r>
              <a:rPr lang="en-US" sz="3400" dirty="0" smtClean="0">
                <a:latin typeface="Times New Roman" pitchFamily="18" charset="0"/>
                <a:cs typeface="Times New Roman" pitchFamily="18" charset="0"/>
              </a:rPr>
              <a:t>Vedas </a:t>
            </a:r>
            <a:r>
              <a:rPr lang="en-US" sz="3400" dirty="0">
                <a:latin typeface="Times New Roman" pitchFamily="18" charset="0"/>
                <a:cs typeface="Times New Roman" pitchFamily="18" charset="0"/>
              </a:rPr>
              <a:t>are in the form of poetic verses and are written in different “meters” (</a:t>
            </a:r>
            <a:r>
              <a:rPr lang="en-US" sz="3400" dirty="0" err="1">
                <a:latin typeface="Times New Roman" pitchFamily="18" charset="0"/>
                <a:cs typeface="Times New Roman" pitchFamily="18" charset="0"/>
              </a:rPr>
              <a:t>Chandas</a:t>
            </a:r>
            <a:r>
              <a:rPr lang="en-US" sz="3400" dirty="0">
                <a:latin typeface="Times New Roman" pitchFamily="18" charset="0"/>
                <a:cs typeface="Times New Roman" pitchFamily="18" charset="0"/>
              </a:rPr>
              <a:t>).</a:t>
            </a:r>
          </a:p>
          <a:p>
            <a:pPr algn="just"/>
            <a:r>
              <a:rPr lang="en-US" sz="3400" dirty="0" err="1" smtClean="0">
                <a:latin typeface="Times New Roman" pitchFamily="18" charset="0"/>
                <a:cs typeface="Times New Roman" pitchFamily="18" charset="0"/>
              </a:rPr>
              <a:t>Chandashāstra</a:t>
            </a:r>
            <a:r>
              <a:rPr lang="en-US" sz="3400" dirty="0" smtClean="0">
                <a:latin typeface="Times New Roman" pitchFamily="18" charset="0"/>
                <a:cs typeface="Times New Roman" pitchFamily="18" charset="0"/>
              </a:rPr>
              <a:t> </a:t>
            </a:r>
            <a:r>
              <a:rPr lang="en-US" sz="3400" dirty="0">
                <a:latin typeface="Times New Roman" pitchFamily="18" charset="0"/>
                <a:cs typeface="Times New Roman" pitchFamily="18" charset="0"/>
              </a:rPr>
              <a:t>by '</a:t>
            </a:r>
            <a:r>
              <a:rPr lang="en-US" sz="3400" dirty="0" err="1">
                <a:latin typeface="Times New Roman" pitchFamily="18" charset="0"/>
                <a:cs typeface="Times New Roman" pitchFamily="18" charset="0"/>
              </a:rPr>
              <a:t>Piṅgala</a:t>
            </a:r>
            <a:r>
              <a:rPr lang="en-US" sz="3400" dirty="0">
                <a:latin typeface="Times New Roman" pitchFamily="18" charset="0"/>
                <a:cs typeface="Times New Roman" pitchFamily="18" charset="0"/>
              </a:rPr>
              <a:t>' is the earliest treatise found on the Vedic Sanskrit meters.</a:t>
            </a:r>
          </a:p>
          <a:p>
            <a:pPr algn="just"/>
            <a:r>
              <a:rPr lang="en-US" sz="3400" dirty="0" err="1" smtClean="0">
                <a:latin typeface="Times New Roman" pitchFamily="18" charset="0"/>
                <a:cs typeface="Times New Roman" pitchFamily="18" charset="0"/>
              </a:rPr>
              <a:t>Piṅgala</a:t>
            </a:r>
            <a:r>
              <a:rPr lang="en-US" sz="3400" dirty="0" smtClean="0">
                <a:latin typeface="Times New Roman" pitchFamily="18" charset="0"/>
                <a:cs typeface="Times New Roman" pitchFamily="18" charset="0"/>
              </a:rPr>
              <a:t> </a:t>
            </a:r>
            <a:r>
              <a:rPr lang="en-US" sz="3400" dirty="0">
                <a:latin typeface="Times New Roman" pitchFamily="18" charset="0"/>
                <a:cs typeface="Times New Roman" pitchFamily="18" charset="0"/>
              </a:rPr>
              <a:t>defines different meters on the basis of the sequence of what are called </a:t>
            </a:r>
            <a:r>
              <a:rPr lang="en-US" sz="3400" dirty="0" err="1">
                <a:latin typeface="Times New Roman" pitchFamily="18" charset="0"/>
                <a:cs typeface="Times New Roman" pitchFamily="18" charset="0"/>
              </a:rPr>
              <a:t>laghu</a:t>
            </a:r>
            <a:r>
              <a:rPr lang="en-US" sz="3400" dirty="0">
                <a:latin typeface="Times New Roman" pitchFamily="18" charset="0"/>
                <a:cs typeface="Times New Roman" pitchFamily="18" charset="0"/>
              </a:rPr>
              <a:t> and guru (short and long) syllables and their number in the verse.</a:t>
            </a:r>
          </a:p>
          <a:p>
            <a:pPr algn="just"/>
            <a:r>
              <a:rPr lang="en-US" sz="3400" dirty="0" smtClean="0">
                <a:latin typeface="Times New Roman" pitchFamily="18" charset="0"/>
                <a:cs typeface="Times New Roman" pitchFamily="18" charset="0"/>
              </a:rPr>
              <a:t>He </a:t>
            </a:r>
            <a:r>
              <a:rPr lang="en-US" sz="3400" dirty="0">
                <a:latin typeface="Times New Roman" pitchFamily="18" charset="0"/>
                <a:cs typeface="Times New Roman" pitchFamily="18" charset="0"/>
              </a:rPr>
              <a:t>has described different sequences that can be constructed with a given number of syllables and has also named them.</a:t>
            </a:r>
          </a:p>
          <a:p>
            <a:pPr algn="just"/>
            <a:r>
              <a:rPr lang="en-US" sz="3400" dirty="0" smtClean="0">
                <a:latin typeface="Times New Roman" pitchFamily="18" charset="0"/>
                <a:cs typeface="Times New Roman" pitchFamily="18" charset="0"/>
              </a:rPr>
              <a:t>He </a:t>
            </a:r>
            <a:r>
              <a:rPr lang="en-US" sz="3400" dirty="0">
                <a:latin typeface="Times New Roman" pitchFamily="18" charset="0"/>
                <a:cs typeface="Times New Roman" pitchFamily="18" charset="0"/>
              </a:rPr>
              <a:t>also gave rules to list all possible combinations of </a:t>
            </a:r>
            <a:r>
              <a:rPr lang="en-US" sz="3400" dirty="0" err="1">
                <a:latin typeface="Times New Roman" pitchFamily="18" charset="0"/>
                <a:cs typeface="Times New Roman" pitchFamily="18" charset="0"/>
              </a:rPr>
              <a:t>laghu</a:t>
            </a:r>
            <a:r>
              <a:rPr lang="en-US" sz="3400" dirty="0">
                <a:latin typeface="Times New Roman" pitchFamily="18" charset="0"/>
                <a:cs typeface="Times New Roman" pitchFamily="18" charset="0"/>
              </a:rPr>
              <a:t> and guru (L and G) in a verse with 'n' syllables, rules to find out the </a:t>
            </a:r>
            <a:r>
              <a:rPr lang="en-US" sz="3400" dirty="0" err="1">
                <a:latin typeface="Times New Roman" pitchFamily="18" charset="0"/>
                <a:cs typeface="Times New Roman" pitchFamily="18" charset="0"/>
              </a:rPr>
              <a:t>laghuguru</a:t>
            </a:r>
            <a:r>
              <a:rPr lang="en-US" sz="3400" dirty="0">
                <a:latin typeface="Times New Roman" pitchFamily="18" charset="0"/>
                <a:cs typeface="Times New Roman" pitchFamily="18" charset="0"/>
              </a:rPr>
              <a:t> combinations corresponding to a given index, total number of possible combinations of 'n' LG syllables and so on.</a:t>
            </a:r>
          </a:p>
          <a:p>
            <a:pPr algn="just"/>
            <a:r>
              <a:rPr lang="en-US" sz="3400" dirty="0" smtClean="0">
                <a:latin typeface="Times New Roman" pitchFamily="18" charset="0"/>
                <a:cs typeface="Times New Roman" pitchFamily="18" charset="0"/>
              </a:rPr>
              <a:t>In </a:t>
            </a:r>
            <a:r>
              <a:rPr lang="en-US" sz="3400" dirty="0">
                <a:latin typeface="Times New Roman" pitchFamily="18" charset="0"/>
                <a:cs typeface="Times New Roman" pitchFamily="18" charset="0"/>
              </a:rPr>
              <a:t>short </a:t>
            </a:r>
            <a:r>
              <a:rPr lang="en-US" sz="3400" dirty="0" err="1">
                <a:latin typeface="Times New Roman" pitchFamily="18" charset="0"/>
                <a:cs typeface="Times New Roman" pitchFamily="18" charset="0"/>
              </a:rPr>
              <a:t>Piṅgala</a:t>
            </a:r>
            <a:r>
              <a:rPr lang="en-US" sz="3400" dirty="0">
                <a:latin typeface="Times New Roman" pitchFamily="18" charset="0"/>
                <a:cs typeface="Times New Roman" pitchFamily="18" charset="0"/>
              </a:rPr>
              <a:t> describes the 'combinatorial mathematics' of meters in </a:t>
            </a:r>
            <a:r>
              <a:rPr lang="en-US" sz="3400" dirty="0" err="1">
                <a:latin typeface="Times New Roman" pitchFamily="18" charset="0"/>
                <a:cs typeface="Times New Roman" pitchFamily="18" charset="0"/>
              </a:rPr>
              <a:t>Chandashāstra</a:t>
            </a:r>
            <a:r>
              <a:rPr lang="en-US" sz="3400"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4271365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4000" b="1" dirty="0" err="1">
                <a:latin typeface="Times New Roman" pitchFamily="18" charset="0"/>
                <a:cs typeface="Times New Roman" pitchFamily="18" charset="0"/>
              </a:rPr>
              <a:t>Piṅgala's</a:t>
            </a:r>
            <a:r>
              <a:rPr lang="en-US" sz="4000" b="1" dirty="0">
                <a:latin typeface="Times New Roman" pitchFamily="18" charset="0"/>
                <a:cs typeface="Times New Roman" pitchFamily="18" charset="0"/>
              </a:rPr>
              <a:t> </a:t>
            </a:r>
            <a:r>
              <a:rPr lang="en-US" sz="4000" b="1" dirty="0" err="1">
                <a:latin typeface="Times New Roman" pitchFamily="18" charset="0"/>
                <a:cs typeface="Times New Roman" pitchFamily="18" charset="0"/>
              </a:rPr>
              <a:t>Chandashastra</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algn="just"/>
            <a:r>
              <a:rPr lang="en-US" sz="3000" dirty="0" err="1" smtClean="0">
                <a:latin typeface="Times New Roman" pitchFamily="18" charset="0"/>
                <a:cs typeface="Times New Roman" pitchFamily="18" charset="0"/>
              </a:rPr>
              <a:t>Piṅgala</a:t>
            </a:r>
            <a:r>
              <a:rPr lang="en-US" sz="3000" dirty="0" smtClean="0">
                <a:latin typeface="Times New Roman" pitchFamily="18" charset="0"/>
                <a:cs typeface="Times New Roman" pitchFamily="18" charset="0"/>
              </a:rPr>
              <a:t> </a:t>
            </a:r>
            <a:r>
              <a:rPr lang="en-US" sz="3000" dirty="0">
                <a:latin typeface="Times New Roman" pitchFamily="18" charset="0"/>
                <a:cs typeface="Times New Roman" pitchFamily="18" charset="0"/>
              </a:rPr>
              <a:t>mainly worked on </a:t>
            </a:r>
            <a:r>
              <a:rPr lang="en-US" sz="3000" dirty="0" err="1">
                <a:latin typeface="Times New Roman" pitchFamily="18" charset="0"/>
                <a:cs typeface="Times New Roman" pitchFamily="18" charset="0"/>
              </a:rPr>
              <a:t>Vṛttachandaḥ</a:t>
            </a:r>
            <a:r>
              <a:rPr lang="en-US" sz="3000" dirty="0">
                <a:latin typeface="Times New Roman" pitchFamily="18" charset="0"/>
                <a:cs typeface="Times New Roman" pitchFamily="18" charset="0"/>
              </a:rPr>
              <a:t>,</a:t>
            </a:r>
          </a:p>
          <a:p>
            <a:pPr algn="just"/>
            <a:r>
              <a:rPr lang="en-US" sz="3000" dirty="0" smtClean="0">
                <a:latin typeface="Times New Roman" pitchFamily="18" charset="0"/>
                <a:cs typeface="Times New Roman" pitchFamily="18" charset="0"/>
              </a:rPr>
              <a:t>The </a:t>
            </a:r>
            <a:r>
              <a:rPr lang="en-US" sz="3000" dirty="0" err="1">
                <a:latin typeface="Times New Roman" pitchFamily="18" charset="0"/>
                <a:cs typeface="Times New Roman" pitchFamily="18" charset="0"/>
              </a:rPr>
              <a:t>vedic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akṣarachandaḥ</a:t>
            </a:r>
            <a:r>
              <a:rPr lang="en-US" sz="3000" dirty="0">
                <a:latin typeface="Times New Roman" pitchFamily="18" charset="0"/>
                <a:cs typeface="Times New Roman" pitchFamily="18" charset="0"/>
              </a:rPr>
              <a:t>, referred to as </a:t>
            </a:r>
            <a:r>
              <a:rPr lang="en-US" sz="3000" dirty="0" err="1">
                <a:latin typeface="Times New Roman" pitchFamily="18" charset="0"/>
                <a:cs typeface="Times New Roman" pitchFamily="18" charset="0"/>
              </a:rPr>
              <a:t>Chandaḥ</a:t>
            </a:r>
            <a:r>
              <a:rPr lang="en-US" sz="3000" dirty="0">
                <a:latin typeface="Times New Roman" pitchFamily="18" charset="0"/>
                <a:cs typeface="Times New Roman" pitchFamily="18" charset="0"/>
              </a:rPr>
              <a:t>, are specified simply by the number of syllables. The later </a:t>
            </a:r>
            <a:r>
              <a:rPr lang="en-US" sz="3000" dirty="0" err="1">
                <a:latin typeface="Times New Roman" pitchFamily="18" charset="0"/>
                <a:cs typeface="Times New Roman" pitchFamily="18" charset="0"/>
              </a:rPr>
              <a:t>akṣarachandaḥ</a:t>
            </a:r>
            <a:r>
              <a:rPr lang="en-US" sz="3000" dirty="0">
                <a:latin typeface="Times New Roman" pitchFamily="18" charset="0"/>
                <a:cs typeface="Times New Roman" pitchFamily="18" charset="0"/>
              </a:rPr>
              <a:t>, called </a:t>
            </a:r>
            <a:r>
              <a:rPr lang="en-US" sz="3000" dirty="0" err="1">
                <a:latin typeface="Times New Roman" pitchFamily="18" charset="0"/>
                <a:cs typeface="Times New Roman" pitchFamily="18" charset="0"/>
              </a:rPr>
              <a:t>Vṛttachandaḥ</a:t>
            </a:r>
            <a:r>
              <a:rPr lang="en-US" sz="3000" dirty="0">
                <a:latin typeface="Times New Roman" pitchFamily="18" charset="0"/>
                <a:cs typeface="Times New Roman" pitchFamily="18" charset="0"/>
              </a:rPr>
              <a:t>, consist of 4 </a:t>
            </a:r>
            <a:r>
              <a:rPr lang="en-US" sz="3000" dirty="0" err="1">
                <a:latin typeface="Times New Roman" pitchFamily="18" charset="0"/>
                <a:cs typeface="Times New Roman" pitchFamily="18" charset="0"/>
              </a:rPr>
              <a:t>pāda</a:t>
            </a:r>
            <a:r>
              <a:rPr lang="en-US" sz="3000" dirty="0">
                <a:latin typeface="Times New Roman" pitchFamily="18" charset="0"/>
                <a:cs typeface="Times New Roman" pitchFamily="18" charset="0"/>
              </a:rPr>
              <a:t>, each </a:t>
            </a:r>
            <a:r>
              <a:rPr lang="en-US" sz="3000" dirty="0" err="1">
                <a:latin typeface="Times New Roman" pitchFamily="18" charset="0"/>
                <a:cs typeface="Times New Roman" pitchFamily="18" charset="0"/>
              </a:rPr>
              <a:t>pāda</a:t>
            </a:r>
            <a:r>
              <a:rPr lang="en-US" sz="3000" dirty="0">
                <a:latin typeface="Times New Roman" pitchFamily="18" charset="0"/>
                <a:cs typeface="Times New Roman" pitchFamily="18" charset="0"/>
              </a:rPr>
              <a:t> having a specified sequence of long and short syllables.</a:t>
            </a:r>
          </a:p>
          <a:p>
            <a:pPr algn="just"/>
            <a:r>
              <a:rPr lang="en-US" sz="3000" dirty="0" smtClean="0">
                <a:latin typeface="Times New Roman" pitchFamily="18" charset="0"/>
                <a:cs typeface="Times New Roman" pitchFamily="18" charset="0"/>
              </a:rPr>
              <a:t>Poetic </a:t>
            </a:r>
            <a:r>
              <a:rPr lang="en-US" sz="3000" dirty="0">
                <a:latin typeface="Times New Roman" pitchFamily="18" charset="0"/>
                <a:cs typeface="Times New Roman" pitchFamily="18" charset="0"/>
              </a:rPr>
              <a:t>Literature follows certain rules. For example, the length of each line will be specified in terms the number of syllables. Combination of syllables in terms of vowels and consonants (long and short forms) to be used is also specified.</a:t>
            </a:r>
          </a:p>
          <a:p>
            <a:endParaRPr lang="en-US" dirty="0"/>
          </a:p>
        </p:txBody>
      </p:sp>
    </p:spTree>
    <p:extLst>
      <p:ext uri="{BB962C8B-B14F-4D97-AF65-F5344CB8AC3E}">
        <p14:creationId xmlns:p14="http://schemas.microsoft.com/office/powerpoint/2010/main" val="2358665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Autofit/>
          </a:bodyPr>
          <a:lstStyle/>
          <a:p>
            <a:r>
              <a:rPr lang="en-US" sz="3600" b="1" dirty="0" err="1">
                <a:latin typeface="Times New Roman" pitchFamily="18" charset="0"/>
                <a:cs typeface="Times New Roman" pitchFamily="18" charset="0"/>
              </a:rPr>
              <a:t>Piṅgala's</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Chandashastra</a:t>
            </a:r>
            <a:r>
              <a:rPr lang="en-US" sz="3600" b="1" dirty="0">
                <a:latin typeface="Times New Roman" pitchFamily="18" charset="0"/>
                <a:cs typeface="Times New Roman" pitchFamily="18" charset="0"/>
              </a:rPr>
              <a:t> – Understanding </a:t>
            </a:r>
            <a:r>
              <a:rPr lang="en-US" sz="3600" b="1" dirty="0" err="1">
                <a:latin typeface="Times New Roman" pitchFamily="18" charset="0"/>
                <a:cs typeface="Times New Roman" pitchFamily="18" charset="0"/>
              </a:rPr>
              <a:t>Laghu</a:t>
            </a:r>
            <a:r>
              <a:rPr lang="en-US" sz="3600" b="1" dirty="0">
                <a:latin typeface="Times New Roman" pitchFamily="18" charset="0"/>
                <a:cs typeface="Times New Roman" pitchFamily="18" charset="0"/>
              </a:rPr>
              <a:t> and Guru</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152400" y="1219200"/>
            <a:ext cx="8839200" cy="5410200"/>
          </a:xfrm>
        </p:spPr>
        <p:txBody>
          <a:bodyPr>
            <a:normAutofit fontScale="85000" lnSpcReduction="20000"/>
          </a:bodyPr>
          <a:lstStyle/>
          <a:p>
            <a:pPr algn="just"/>
            <a:r>
              <a:rPr lang="en-US" sz="3300" dirty="0" err="1">
                <a:latin typeface="Times New Roman" pitchFamily="18" charset="0"/>
                <a:cs typeface="Times New Roman" pitchFamily="18" charset="0"/>
              </a:rPr>
              <a:t>Piṅgala's</a:t>
            </a:r>
            <a:r>
              <a:rPr lang="en-US" sz="3300" dirty="0">
                <a:latin typeface="Times New Roman" pitchFamily="18" charset="0"/>
                <a:cs typeface="Times New Roman" pitchFamily="18" charset="0"/>
              </a:rPr>
              <a:t> </a:t>
            </a:r>
            <a:r>
              <a:rPr lang="en-US" sz="3300" dirty="0" err="1">
                <a:latin typeface="Times New Roman" pitchFamily="18" charset="0"/>
                <a:cs typeface="Times New Roman" pitchFamily="18" charset="0"/>
              </a:rPr>
              <a:t>Chandah-śastra</a:t>
            </a:r>
            <a:r>
              <a:rPr lang="en-US" sz="3300" dirty="0">
                <a:latin typeface="Times New Roman" pitchFamily="18" charset="0"/>
                <a:cs typeface="Times New Roman" pitchFamily="18" charset="0"/>
              </a:rPr>
              <a:t> dealt with rules governing prosody. The basic building block of poetry is a syllable. A syllable is a vowel or a vowel with one or more consonants preceding it. There are two types of syllables defined by </a:t>
            </a:r>
            <a:r>
              <a:rPr lang="en-US" sz="3300" dirty="0" err="1">
                <a:latin typeface="Times New Roman" pitchFamily="18" charset="0"/>
                <a:cs typeface="Times New Roman" pitchFamily="18" charset="0"/>
              </a:rPr>
              <a:t>Piṅgala</a:t>
            </a:r>
            <a:r>
              <a:rPr lang="en-US" sz="3300" dirty="0">
                <a:latin typeface="Times New Roman" pitchFamily="18" charset="0"/>
                <a:cs typeface="Times New Roman" pitchFamily="18" charset="0"/>
              </a:rPr>
              <a:t> in the </a:t>
            </a:r>
            <a:r>
              <a:rPr lang="en-US" sz="3300" dirty="0" err="1">
                <a:latin typeface="Times New Roman" pitchFamily="18" charset="0"/>
                <a:cs typeface="Times New Roman" pitchFamily="18" charset="0"/>
              </a:rPr>
              <a:t>Chandah-śastra</a:t>
            </a:r>
            <a:r>
              <a:rPr lang="en-US" sz="3300" dirty="0">
                <a:latin typeface="Times New Roman" pitchFamily="18" charset="0"/>
                <a:cs typeface="Times New Roman" pitchFamily="18" charset="0"/>
              </a:rPr>
              <a:t>.</a:t>
            </a:r>
          </a:p>
          <a:p>
            <a:pPr marL="514350" indent="-514350" algn="just">
              <a:buFont typeface="+mj-lt"/>
              <a:buAutoNum type="alphaLcPeriod"/>
            </a:pPr>
            <a:r>
              <a:rPr lang="en-US" sz="3300" dirty="0" err="1">
                <a:latin typeface="Times New Roman" pitchFamily="18" charset="0"/>
                <a:cs typeface="Times New Roman" pitchFamily="18" charset="0"/>
              </a:rPr>
              <a:t>Laghu</a:t>
            </a:r>
            <a:r>
              <a:rPr lang="en-US" sz="3300" dirty="0">
                <a:latin typeface="Times New Roman" pitchFamily="18" charset="0"/>
                <a:cs typeface="Times New Roman" pitchFamily="18" charset="0"/>
              </a:rPr>
              <a:t> (Short Syllable) - Any syllable with a short vowel</a:t>
            </a:r>
          </a:p>
          <a:p>
            <a:pPr marL="514350" indent="-514350" algn="just">
              <a:buFont typeface="+mj-lt"/>
              <a:buAutoNum type="alphaLcPeriod"/>
            </a:pPr>
            <a:r>
              <a:rPr lang="en-US" sz="3300" dirty="0">
                <a:latin typeface="Times New Roman" pitchFamily="18" charset="0"/>
                <a:cs typeface="Times New Roman" pitchFamily="18" charset="0"/>
              </a:rPr>
              <a:t>Guru (Long Syllable) can be of four varieties</a:t>
            </a:r>
            <a:r>
              <a:rPr lang="en-US" sz="3300" dirty="0" smtClean="0">
                <a:latin typeface="Times New Roman" pitchFamily="18" charset="0"/>
                <a:cs typeface="Times New Roman" pitchFamily="18" charset="0"/>
              </a:rPr>
              <a:t>:</a:t>
            </a:r>
          </a:p>
          <a:p>
            <a:pPr marL="514350" indent="-514350" algn="just">
              <a:buFont typeface="+mj-lt"/>
              <a:buAutoNum type="arabicPeriod"/>
            </a:pPr>
            <a:r>
              <a:rPr lang="en-US" sz="3300" dirty="0" smtClean="0">
                <a:latin typeface="Times New Roman" pitchFamily="18" charset="0"/>
                <a:cs typeface="Times New Roman" pitchFamily="18" charset="0"/>
              </a:rPr>
              <a:t>Any </a:t>
            </a:r>
            <a:r>
              <a:rPr lang="en-US" sz="3300" dirty="0">
                <a:latin typeface="Times New Roman" pitchFamily="18" charset="0"/>
                <a:cs typeface="Times New Roman" pitchFamily="18" charset="0"/>
              </a:rPr>
              <a:t>syllable with a long vowel.</a:t>
            </a:r>
          </a:p>
          <a:p>
            <a:pPr marL="514350" indent="-514350" algn="just">
              <a:buFont typeface="+mj-lt"/>
              <a:buAutoNum type="arabicPeriod"/>
            </a:pPr>
            <a:r>
              <a:rPr lang="en-US" sz="3300" dirty="0">
                <a:latin typeface="Times New Roman" pitchFamily="18" charset="0"/>
                <a:cs typeface="Times New Roman" pitchFamily="18" charset="0"/>
              </a:rPr>
              <a:t>Any short syllable followed by conjunction of consonants.</a:t>
            </a:r>
          </a:p>
          <a:p>
            <a:pPr marL="514350" indent="-514350" algn="just">
              <a:buFont typeface="+mj-lt"/>
              <a:buAutoNum type="arabicPeriod"/>
            </a:pPr>
            <a:r>
              <a:rPr lang="en-US" sz="3300" dirty="0">
                <a:latin typeface="Times New Roman" pitchFamily="18" charset="0"/>
                <a:cs typeface="Times New Roman" pitchFamily="18" charset="0"/>
              </a:rPr>
              <a:t>Any short syllable followed by 'm' known as </a:t>
            </a:r>
            <a:r>
              <a:rPr lang="en-US" sz="3300" dirty="0" err="1">
                <a:latin typeface="Times New Roman" pitchFamily="18" charset="0"/>
                <a:cs typeface="Times New Roman" pitchFamily="18" charset="0"/>
              </a:rPr>
              <a:t>anusvåra</a:t>
            </a:r>
            <a:r>
              <a:rPr lang="en-US" sz="3300" dirty="0">
                <a:latin typeface="Times New Roman" pitchFamily="18" charset="0"/>
                <a:cs typeface="Times New Roman" pitchFamily="18" charset="0"/>
              </a:rPr>
              <a:t> or </a:t>
            </a:r>
            <a:r>
              <a:rPr lang="en-US" sz="3300" dirty="0" err="1">
                <a:latin typeface="Times New Roman" pitchFamily="18" charset="0"/>
                <a:cs typeface="Times New Roman" pitchFamily="18" charset="0"/>
              </a:rPr>
              <a:t>visarga</a:t>
            </a:r>
            <a:r>
              <a:rPr lang="en-US" sz="3300" dirty="0">
                <a:latin typeface="Times New Roman" pitchFamily="18" charset="0"/>
                <a:cs typeface="Times New Roman" pitchFamily="18" charset="0"/>
              </a:rPr>
              <a:t> denoted by ‘:’</a:t>
            </a:r>
          </a:p>
          <a:p>
            <a:pPr marL="514350" indent="-514350" algn="just">
              <a:buFont typeface="+mj-lt"/>
              <a:buAutoNum type="arabicPeriod"/>
            </a:pPr>
            <a:r>
              <a:rPr lang="en-US" sz="3300" dirty="0">
                <a:latin typeface="Times New Roman" pitchFamily="18" charset="0"/>
                <a:cs typeface="Times New Roman" pitchFamily="18" charset="0"/>
              </a:rPr>
              <a:t>The last syllable in the quarter of a meter (optionally).</a:t>
            </a:r>
          </a:p>
          <a:p>
            <a:endParaRPr lang="en-US" dirty="0"/>
          </a:p>
          <a:p>
            <a:endParaRPr lang="en-US" dirty="0"/>
          </a:p>
        </p:txBody>
      </p:sp>
    </p:spTree>
    <p:extLst>
      <p:ext uri="{BB962C8B-B14F-4D97-AF65-F5344CB8AC3E}">
        <p14:creationId xmlns:p14="http://schemas.microsoft.com/office/powerpoint/2010/main" val="3353390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latin typeface="Times New Roman" pitchFamily="18" charset="0"/>
                <a:cs typeface="Times New Roman" pitchFamily="18" charset="0"/>
              </a:rPr>
              <a:t>Piṅgala's</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Chandashastra</a:t>
            </a:r>
            <a:r>
              <a:rPr lang="en-US" b="1" dirty="0">
                <a:latin typeface="Times New Roman" pitchFamily="18" charset="0"/>
                <a:cs typeface="Times New Roman" pitchFamily="18" charset="0"/>
              </a:rPr>
              <a:t> – Understanding </a:t>
            </a:r>
            <a:r>
              <a:rPr lang="en-US" b="1" dirty="0" err="1">
                <a:latin typeface="Times New Roman" pitchFamily="18" charset="0"/>
                <a:cs typeface="Times New Roman" pitchFamily="18" charset="0"/>
              </a:rPr>
              <a:t>Laghu</a:t>
            </a:r>
            <a:r>
              <a:rPr lang="en-US" b="1" dirty="0">
                <a:latin typeface="Times New Roman" pitchFamily="18" charset="0"/>
                <a:cs typeface="Times New Roman" pitchFamily="18" charset="0"/>
              </a:rPr>
              <a:t> and Guru</a:t>
            </a:r>
            <a:endParaRPr lang="en-US" dirty="0"/>
          </a:p>
        </p:txBody>
      </p:sp>
      <p:sp>
        <p:nvSpPr>
          <p:cNvPr id="3" name="Content Placeholder 2"/>
          <p:cNvSpPr>
            <a:spLocks noGrp="1"/>
          </p:cNvSpPr>
          <p:nvPr>
            <p:ph idx="1"/>
          </p:nvPr>
        </p:nvSpPr>
        <p:spPr>
          <a:xfrm>
            <a:off x="228600" y="1600200"/>
            <a:ext cx="8763000" cy="4525963"/>
          </a:xfrm>
        </p:spPr>
        <p:txBody>
          <a:bodyPr>
            <a:normAutofit/>
          </a:bodyPr>
          <a:lstStyle/>
          <a:p>
            <a:r>
              <a:rPr lang="en-US" dirty="0">
                <a:latin typeface="Times New Roman" pitchFamily="18" charset="0"/>
                <a:cs typeface="Times New Roman" pitchFamily="18" charset="0"/>
              </a:rPr>
              <a:t>Let us take a verse to understand this classification</a:t>
            </a:r>
            <a:r>
              <a:rPr lang="en-US" dirty="0" smtClean="0">
                <a:latin typeface="Times New Roman" pitchFamily="18" charset="0"/>
                <a:cs typeface="Times New Roman" pitchFamily="18" charset="0"/>
              </a:rPr>
              <a:t>.</a:t>
            </a:r>
          </a:p>
          <a:p>
            <a:pPr marL="0" indent="0">
              <a:buNone/>
            </a:pPr>
            <a:endParaRPr lang="en-US" dirty="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yadā</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yadā</a:t>
            </a:r>
            <a:r>
              <a:rPr lang="en-US" sz="2800" dirty="0">
                <a:latin typeface="Times New Roman" pitchFamily="18" charset="0"/>
                <a:cs typeface="Times New Roman" pitchFamily="18" charset="0"/>
              </a:rPr>
              <a:t> hi </a:t>
            </a:r>
            <a:r>
              <a:rPr lang="en-US" sz="2800" dirty="0" err="1">
                <a:latin typeface="Times New Roman" pitchFamily="18" charset="0"/>
                <a:cs typeface="Times New Roman" pitchFamily="18" charset="0"/>
              </a:rPr>
              <a:t>dharmasya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glänirbhavati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bhārata</a:t>
            </a:r>
            <a:r>
              <a:rPr lang="en-US" sz="2800" dirty="0">
                <a:latin typeface="Times New Roman" pitchFamily="18" charset="0"/>
                <a:cs typeface="Times New Roman" pitchFamily="18" charset="0"/>
              </a:rPr>
              <a:t> ।</a:t>
            </a:r>
          </a:p>
          <a:p>
            <a:pPr marL="0" indent="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abhyutthanamadharmasya</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tadātmānam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sṛjāmyaham</a:t>
            </a:r>
            <a:r>
              <a:rPr lang="en-US" sz="2800" dirty="0">
                <a:latin typeface="Times New Roman" pitchFamily="18" charset="0"/>
                <a:cs typeface="Times New Roman" pitchFamily="18" charset="0"/>
              </a:rPr>
              <a:t> ॥</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Using </a:t>
            </a:r>
            <a:r>
              <a:rPr lang="en-IN" sz="2800" dirty="0">
                <a:latin typeface="Times New Roman" pitchFamily="18" charset="0"/>
                <a:cs typeface="Times New Roman" pitchFamily="18" charset="0"/>
              </a:rPr>
              <a:t>the above rules for </a:t>
            </a:r>
            <a:r>
              <a:rPr lang="en-IN" sz="2800" dirty="0" err="1">
                <a:latin typeface="Times New Roman" pitchFamily="18" charset="0"/>
                <a:cs typeface="Times New Roman" pitchFamily="18" charset="0"/>
              </a:rPr>
              <a:t>laghu</a:t>
            </a:r>
            <a:r>
              <a:rPr lang="en-IN" sz="2800" dirty="0">
                <a:latin typeface="Times New Roman" pitchFamily="18" charset="0"/>
                <a:cs typeface="Times New Roman" pitchFamily="18" charset="0"/>
              </a:rPr>
              <a:t> and guru, </a:t>
            </a:r>
            <a:r>
              <a:rPr lang="en-IN" sz="2800" dirty="0" err="1">
                <a:latin typeface="Times New Roman" pitchFamily="18" charset="0"/>
                <a:cs typeface="Times New Roman" pitchFamily="18" charset="0"/>
              </a:rPr>
              <a:t>Laghu</a:t>
            </a:r>
            <a:r>
              <a:rPr lang="en-IN" sz="2800" dirty="0">
                <a:latin typeface="Times New Roman" pitchFamily="18" charset="0"/>
                <a:cs typeface="Times New Roman" pitchFamily="18" charset="0"/>
              </a:rPr>
              <a:t> is labelled as ‘L’ and guru as ‘G’</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029287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latin typeface="Times New Roman" pitchFamily="18" charset="0"/>
                <a:cs typeface="Times New Roman" pitchFamily="18" charset="0"/>
              </a:rPr>
              <a:t>Piṅgala's</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Chandashastra</a:t>
            </a:r>
            <a:r>
              <a:rPr lang="en-US" b="1" dirty="0">
                <a:latin typeface="Times New Roman" pitchFamily="18" charset="0"/>
                <a:cs typeface="Times New Roman" pitchFamily="18" charset="0"/>
              </a:rPr>
              <a:t> – Understanding </a:t>
            </a:r>
            <a:r>
              <a:rPr lang="en-US" b="1" dirty="0" err="1">
                <a:latin typeface="Times New Roman" pitchFamily="18" charset="0"/>
                <a:cs typeface="Times New Roman" pitchFamily="18" charset="0"/>
              </a:rPr>
              <a:t>Laghu</a:t>
            </a:r>
            <a:r>
              <a:rPr lang="en-US" b="1" dirty="0">
                <a:latin typeface="Times New Roman" pitchFamily="18" charset="0"/>
                <a:cs typeface="Times New Roman" pitchFamily="18" charset="0"/>
              </a:rPr>
              <a:t> and Guru</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82629961"/>
              </p:ext>
            </p:extLst>
          </p:nvPr>
        </p:nvGraphicFramePr>
        <p:xfrm>
          <a:off x="304793" y="2590800"/>
          <a:ext cx="8458206" cy="911225"/>
        </p:xfrm>
        <a:graphic>
          <a:graphicData uri="http://schemas.openxmlformats.org/drawingml/2006/table">
            <a:tbl>
              <a:tblPr firstRow="1" firstCol="1" lastRow="1" lastCol="1" bandRow="1" bandCol="1">
                <a:tableStyleId>{5C22544A-7EE6-4342-B048-85BDC9FD1C3A}</a:tableStyleId>
              </a:tblPr>
              <a:tblGrid>
                <a:gridCol w="404028"/>
                <a:gridCol w="511391"/>
                <a:gridCol w="511391"/>
                <a:gridCol w="511391"/>
                <a:gridCol w="639464"/>
                <a:gridCol w="638561"/>
                <a:gridCol w="511391"/>
                <a:gridCol w="639464"/>
                <a:gridCol w="639464"/>
                <a:gridCol w="511391"/>
                <a:gridCol w="639464"/>
                <a:gridCol w="383317"/>
                <a:gridCol w="383317"/>
                <a:gridCol w="639464"/>
                <a:gridCol w="383317"/>
                <a:gridCol w="511391"/>
              </a:tblGrid>
              <a:tr h="503555">
                <a:tc>
                  <a:txBody>
                    <a:bodyPr/>
                    <a:lstStyle/>
                    <a:p>
                      <a:pPr marL="8255" marR="0" algn="ctr">
                        <a:lnSpc>
                          <a:spcPct val="115000"/>
                        </a:lnSpc>
                        <a:spcBef>
                          <a:spcPts val="715"/>
                        </a:spcBef>
                        <a:spcAft>
                          <a:spcPts val="0"/>
                        </a:spcAft>
                      </a:pPr>
                      <a:r>
                        <a:rPr lang="en-US" sz="2100" spc="-25" dirty="0" err="1">
                          <a:effectLst/>
                          <a:latin typeface="Times New Roman" pitchFamily="18" charset="0"/>
                          <a:cs typeface="Times New Roman" pitchFamily="18" charset="0"/>
                        </a:rPr>
                        <a:t>ya</a:t>
                      </a:r>
                      <a:endParaRPr lang="en-US" sz="2100" dirty="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100" spc="-25" dirty="0" err="1">
                          <a:effectLst/>
                          <a:latin typeface="Times New Roman" pitchFamily="18" charset="0"/>
                          <a:cs typeface="Times New Roman" pitchFamily="18" charset="0"/>
                        </a:rPr>
                        <a:t>dā</a:t>
                      </a:r>
                      <a:endParaRPr lang="en-US" sz="2100" dirty="0">
                        <a:effectLst/>
                        <a:latin typeface="Times New Roman" pitchFamily="18" charset="0"/>
                        <a:ea typeface="Calibri"/>
                        <a:cs typeface="Times New Roman" pitchFamily="18" charset="0"/>
                      </a:endParaRPr>
                    </a:p>
                  </a:txBody>
                  <a:tcPr marL="0" marR="0" marT="0" marB="0"/>
                </a:tc>
                <a:tc>
                  <a:txBody>
                    <a:bodyPr/>
                    <a:lstStyle/>
                    <a:p>
                      <a:pPr marL="8255" marR="0" algn="ctr">
                        <a:lnSpc>
                          <a:spcPct val="115000"/>
                        </a:lnSpc>
                        <a:spcBef>
                          <a:spcPts val="715"/>
                        </a:spcBef>
                        <a:spcAft>
                          <a:spcPts val="0"/>
                        </a:spcAft>
                      </a:pPr>
                      <a:r>
                        <a:rPr lang="en-US" sz="2100" spc="-25" dirty="0" err="1">
                          <a:effectLst/>
                          <a:latin typeface="Times New Roman" pitchFamily="18" charset="0"/>
                          <a:cs typeface="Times New Roman" pitchFamily="18" charset="0"/>
                        </a:rPr>
                        <a:t>ya</a:t>
                      </a:r>
                      <a:endParaRPr lang="en-US" sz="2100" dirty="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100" spc="-25" dirty="0" err="1">
                          <a:effectLst/>
                          <a:latin typeface="Times New Roman" pitchFamily="18" charset="0"/>
                          <a:cs typeface="Times New Roman" pitchFamily="18" charset="0"/>
                        </a:rPr>
                        <a:t>dā</a:t>
                      </a:r>
                      <a:endParaRPr lang="en-US" sz="2100" dirty="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100" spc="-25" dirty="0">
                          <a:effectLst/>
                          <a:latin typeface="Times New Roman" pitchFamily="18" charset="0"/>
                          <a:cs typeface="Times New Roman" pitchFamily="18" charset="0"/>
                        </a:rPr>
                        <a:t>hi</a:t>
                      </a:r>
                      <a:endParaRPr lang="en-US" sz="2100" dirty="0">
                        <a:effectLst/>
                        <a:latin typeface="Times New Roman" pitchFamily="18" charset="0"/>
                        <a:ea typeface="Calibri"/>
                        <a:cs typeface="Times New Roman" pitchFamily="18" charset="0"/>
                      </a:endParaRPr>
                    </a:p>
                  </a:txBody>
                  <a:tcPr marL="0" marR="0" marT="0" marB="0"/>
                </a:tc>
                <a:tc>
                  <a:txBody>
                    <a:bodyPr/>
                    <a:lstStyle/>
                    <a:p>
                      <a:pPr marL="12700" marR="0" algn="ctr">
                        <a:lnSpc>
                          <a:spcPct val="115000"/>
                        </a:lnSpc>
                        <a:spcBef>
                          <a:spcPts val="715"/>
                        </a:spcBef>
                        <a:spcAft>
                          <a:spcPts val="0"/>
                        </a:spcAft>
                      </a:pPr>
                      <a:r>
                        <a:rPr lang="en-US" sz="2100" spc="-25" dirty="0" err="1">
                          <a:effectLst/>
                          <a:latin typeface="Times New Roman" pitchFamily="18" charset="0"/>
                          <a:cs typeface="Times New Roman" pitchFamily="18" charset="0"/>
                        </a:rPr>
                        <a:t>dha</a:t>
                      </a:r>
                      <a:endParaRPr lang="en-US" sz="2100" dirty="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100" spc="-25" dirty="0" err="1">
                          <a:effectLst/>
                          <a:latin typeface="Times New Roman" pitchFamily="18" charset="0"/>
                          <a:cs typeface="Times New Roman" pitchFamily="18" charset="0"/>
                        </a:rPr>
                        <a:t>rma</a:t>
                      </a:r>
                      <a:endParaRPr lang="en-US" sz="2100" dirty="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100" spc="-25">
                          <a:effectLst/>
                          <a:latin typeface="Times New Roman" pitchFamily="18" charset="0"/>
                          <a:cs typeface="Times New Roman" pitchFamily="18" charset="0"/>
                        </a:rPr>
                        <a:t>sya</a:t>
                      </a:r>
                      <a:endParaRPr lang="en-US" sz="21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25">
                          <a:effectLst/>
                          <a:latin typeface="Times New Roman" pitchFamily="18" charset="0"/>
                          <a:cs typeface="Times New Roman" pitchFamily="18" charset="0"/>
                        </a:rPr>
                        <a:t>glā</a:t>
                      </a:r>
                      <a:endParaRPr lang="en-US" sz="21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25">
                          <a:effectLst/>
                          <a:latin typeface="Times New Roman" pitchFamily="18" charset="0"/>
                          <a:cs typeface="Times New Roman" pitchFamily="18" charset="0"/>
                        </a:rPr>
                        <a:t>ni</a:t>
                      </a:r>
                      <a:endParaRPr lang="en-US" sz="210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100" spc="-20">
                          <a:effectLst/>
                          <a:latin typeface="Times New Roman" pitchFamily="18" charset="0"/>
                          <a:cs typeface="Times New Roman" pitchFamily="18" charset="0"/>
                        </a:rPr>
                        <a:t>rbha</a:t>
                      </a:r>
                      <a:endParaRPr lang="en-US" sz="2100">
                        <a:effectLst/>
                        <a:latin typeface="Times New Roman" pitchFamily="18" charset="0"/>
                        <a:ea typeface="Calibri"/>
                        <a:cs typeface="Times New Roman" pitchFamily="18" charset="0"/>
                      </a:endParaRPr>
                    </a:p>
                  </a:txBody>
                  <a:tcPr marL="0" marR="0" marT="0" marB="0"/>
                </a:tc>
                <a:tc>
                  <a:txBody>
                    <a:bodyPr/>
                    <a:lstStyle/>
                    <a:p>
                      <a:pPr marL="10160" marR="0" algn="ctr">
                        <a:lnSpc>
                          <a:spcPct val="115000"/>
                        </a:lnSpc>
                        <a:spcBef>
                          <a:spcPts val="715"/>
                        </a:spcBef>
                        <a:spcAft>
                          <a:spcPts val="0"/>
                        </a:spcAft>
                      </a:pPr>
                      <a:r>
                        <a:rPr lang="en-US" sz="2100" spc="-25">
                          <a:effectLst/>
                          <a:latin typeface="Times New Roman" pitchFamily="18" charset="0"/>
                          <a:cs typeface="Times New Roman" pitchFamily="18" charset="0"/>
                        </a:rPr>
                        <a:t>va</a:t>
                      </a:r>
                      <a:endParaRPr lang="en-US" sz="21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25">
                          <a:effectLst/>
                          <a:latin typeface="Times New Roman" pitchFamily="18" charset="0"/>
                          <a:cs typeface="Times New Roman" pitchFamily="18" charset="0"/>
                        </a:rPr>
                        <a:t>ti</a:t>
                      </a:r>
                      <a:endParaRPr lang="en-US" sz="21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25">
                          <a:effectLst/>
                          <a:latin typeface="Times New Roman" pitchFamily="18" charset="0"/>
                          <a:cs typeface="Times New Roman" pitchFamily="18" charset="0"/>
                        </a:rPr>
                        <a:t>bhā</a:t>
                      </a:r>
                      <a:endParaRPr lang="en-US" sz="2100">
                        <a:effectLst/>
                        <a:latin typeface="Times New Roman" pitchFamily="18" charset="0"/>
                        <a:ea typeface="Calibri"/>
                        <a:cs typeface="Times New Roman" pitchFamily="18" charset="0"/>
                      </a:endParaRPr>
                    </a:p>
                  </a:txBody>
                  <a:tcPr marL="0" marR="0" marT="0" marB="0"/>
                </a:tc>
                <a:tc>
                  <a:txBody>
                    <a:bodyPr/>
                    <a:lstStyle/>
                    <a:p>
                      <a:pPr marL="10160" marR="0" algn="ctr">
                        <a:lnSpc>
                          <a:spcPct val="115000"/>
                        </a:lnSpc>
                        <a:spcBef>
                          <a:spcPts val="715"/>
                        </a:spcBef>
                        <a:spcAft>
                          <a:spcPts val="0"/>
                        </a:spcAft>
                      </a:pPr>
                      <a:r>
                        <a:rPr lang="en-US" sz="2100" spc="-25">
                          <a:effectLst/>
                          <a:latin typeface="Times New Roman" pitchFamily="18" charset="0"/>
                          <a:cs typeface="Times New Roman" pitchFamily="18" charset="0"/>
                        </a:rPr>
                        <a:t>ra</a:t>
                      </a:r>
                      <a:endParaRPr lang="en-US" sz="2100">
                        <a:effectLst/>
                        <a:latin typeface="Times New Roman" pitchFamily="18" charset="0"/>
                        <a:ea typeface="Calibri"/>
                        <a:cs typeface="Times New Roman" pitchFamily="18" charset="0"/>
                      </a:endParaRPr>
                    </a:p>
                  </a:txBody>
                  <a:tcPr marL="0" marR="0" marT="0" marB="0"/>
                </a:tc>
                <a:tc>
                  <a:txBody>
                    <a:bodyPr/>
                    <a:lstStyle/>
                    <a:p>
                      <a:pPr marL="10160" marR="0" algn="ctr">
                        <a:lnSpc>
                          <a:spcPct val="115000"/>
                        </a:lnSpc>
                        <a:spcBef>
                          <a:spcPts val="715"/>
                        </a:spcBef>
                        <a:spcAft>
                          <a:spcPts val="0"/>
                        </a:spcAft>
                      </a:pPr>
                      <a:r>
                        <a:rPr lang="en-US" sz="2100" spc="-25">
                          <a:effectLst/>
                          <a:latin typeface="Times New Roman" pitchFamily="18" charset="0"/>
                          <a:cs typeface="Times New Roman" pitchFamily="18" charset="0"/>
                        </a:rPr>
                        <a:t>ta</a:t>
                      </a:r>
                      <a:endParaRPr lang="en-US" sz="2100">
                        <a:effectLst/>
                        <a:latin typeface="Times New Roman" pitchFamily="18" charset="0"/>
                        <a:ea typeface="Calibri"/>
                        <a:cs typeface="Times New Roman" pitchFamily="18" charset="0"/>
                      </a:endParaRPr>
                    </a:p>
                  </a:txBody>
                  <a:tcPr marL="0" marR="0" marT="0" marB="0"/>
                </a:tc>
              </a:tr>
              <a:tr h="407670">
                <a:tc>
                  <a:txBody>
                    <a:bodyPr/>
                    <a:lstStyle/>
                    <a:p>
                      <a:pPr marL="11430" marR="0" algn="ctr">
                        <a:lnSpc>
                          <a:spcPct val="115000"/>
                        </a:lnSpc>
                        <a:spcBef>
                          <a:spcPts val="715"/>
                        </a:spcBef>
                        <a:spcAft>
                          <a:spcPts val="0"/>
                        </a:spcAft>
                      </a:pPr>
                      <a:r>
                        <a:rPr lang="en-US" sz="2100" spc="-50">
                          <a:effectLst/>
                          <a:latin typeface="Times New Roman" pitchFamily="18" charset="0"/>
                          <a:cs typeface="Times New Roman" pitchFamily="18" charset="0"/>
                        </a:rPr>
                        <a:t>L</a:t>
                      </a:r>
                      <a:endParaRPr lang="en-US" sz="21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100" spc="-50">
                          <a:effectLst/>
                          <a:latin typeface="Times New Roman" pitchFamily="18" charset="0"/>
                          <a:cs typeface="Times New Roman" pitchFamily="18" charset="0"/>
                        </a:rPr>
                        <a:t>G</a:t>
                      </a:r>
                      <a:endParaRPr lang="en-US" sz="2100">
                        <a:effectLst/>
                        <a:latin typeface="Times New Roman" pitchFamily="18" charset="0"/>
                        <a:ea typeface="Calibri"/>
                        <a:cs typeface="Times New Roman" pitchFamily="18" charset="0"/>
                      </a:endParaRPr>
                    </a:p>
                  </a:txBody>
                  <a:tcPr marL="0" marR="0" marT="0" marB="0"/>
                </a:tc>
                <a:tc>
                  <a:txBody>
                    <a:bodyPr/>
                    <a:lstStyle/>
                    <a:p>
                      <a:pPr marL="11430" marR="0" algn="ctr">
                        <a:lnSpc>
                          <a:spcPct val="115000"/>
                        </a:lnSpc>
                        <a:spcBef>
                          <a:spcPts val="715"/>
                        </a:spcBef>
                        <a:spcAft>
                          <a:spcPts val="0"/>
                        </a:spcAft>
                      </a:pPr>
                      <a:r>
                        <a:rPr lang="en-US" sz="2100" spc="-50">
                          <a:effectLst/>
                          <a:latin typeface="Times New Roman" pitchFamily="18" charset="0"/>
                          <a:cs typeface="Times New Roman" pitchFamily="18" charset="0"/>
                        </a:rPr>
                        <a:t>L</a:t>
                      </a:r>
                      <a:endParaRPr lang="en-US" sz="21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100" spc="-50">
                          <a:effectLst/>
                          <a:latin typeface="Times New Roman" pitchFamily="18" charset="0"/>
                          <a:cs typeface="Times New Roman" pitchFamily="18" charset="0"/>
                        </a:rPr>
                        <a:t>G</a:t>
                      </a:r>
                      <a:endParaRPr lang="en-US" sz="210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100" spc="-50">
                          <a:effectLst/>
                          <a:latin typeface="Times New Roman" pitchFamily="18" charset="0"/>
                          <a:cs typeface="Times New Roman" pitchFamily="18" charset="0"/>
                        </a:rPr>
                        <a:t>L</a:t>
                      </a:r>
                      <a:endParaRPr lang="en-US" sz="21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50">
                          <a:effectLst/>
                          <a:latin typeface="Times New Roman" pitchFamily="18" charset="0"/>
                          <a:cs typeface="Times New Roman" pitchFamily="18" charset="0"/>
                        </a:rPr>
                        <a:t>G</a:t>
                      </a:r>
                      <a:endParaRPr lang="en-US" sz="21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50" dirty="0">
                          <a:effectLst/>
                          <a:latin typeface="Times New Roman" pitchFamily="18" charset="0"/>
                          <a:cs typeface="Times New Roman" pitchFamily="18" charset="0"/>
                        </a:rPr>
                        <a:t>G</a:t>
                      </a:r>
                      <a:endParaRPr lang="en-US" sz="2100" dirty="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50" dirty="0">
                          <a:effectLst/>
                          <a:latin typeface="Times New Roman" pitchFamily="18" charset="0"/>
                          <a:cs typeface="Times New Roman" pitchFamily="18" charset="0"/>
                        </a:rPr>
                        <a:t>G</a:t>
                      </a:r>
                      <a:endParaRPr lang="en-US" sz="2100" dirty="0">
                        <a:effectLst/>
                        <a:latin typeface="Times New Roman" pitchFamily="18" charset="0"/>
                        <a:ea typeface="Calibri"/>
                        <a:cs typeface="Times New Roman" pitchFamily="18" charset="0"/>
                      </a:endParaRPr>
                    </a:p>
                  </a:txBody>
                  <a:tcPr marL="0" marR="0" marT="0" marB="0"/>
                </a:tc>
                <a:tc>
                  <a:txBody>
                    <a:bodyPr/>
                    <a:lstStyle/>
                    <a:p>
                      <a:pPr marL="14605" marR="0" algn="ctr">
                        <a:lnSpc>
                          <a:spcPct val="115000"/>
                        </a:lnSpc>
                        <a:spcBef>
                          <a:spcPts val="715"/>
                        </a:spcBef>
                        <a:spcAft>
                          <a:spcPts val="0"/>
                        </a:spcAft>
                      </a:pPr>
                      <a:r>
                        <a:rPr lang="en-US" sz="2100" spc="-50" dirty="0">
                          <a:effectLst/>
                          <a:latin typeface="Times New Roman" pitchFamily="18" charset="0"/>
                          <a:cs typeface="Times New Roman" pitchFamily="18" charset="0"/>
                        </a:rPr>
                        <a:t>G</a:t>
                      </a:r>
                      <a:endParaRPr lang="en-US" sz="2100" dirty="0">
                        <a:effectLst/>
                        <a:latin typeface="Times New Roman" pitchFamily="18" charset="0"/>
                        <a:ea typeface="Calibri"/>
                        <a:cs typeface="Times New Roman" pitchFamily="18" charset="0"/>
                      </a:endParaRPr>
                    </a:p>
                  </a:txBody>
                  <a:tcPr marL="0" marR="0" marT="0" marB="0"/>
                </a:tc>
                <a:tc>
                  <a:txBody>
                    <a:bodyPr/>
                    <a:lstStyle/>
                    <a:p>
                      <a:pPr marL="14605" marR="0" algn="ctr">
                        <a:lnSpc>
                          <a:spcPct val="115000"/>
                        </a:lnSpc>
                        <a:spcBef>
                          <a:spcPts val="715"/>
                        </a:spcBef>
                        <a:spcAft>
                          <a:spcPts val="0"/>
                        </a:spcAft>
                      </a:pPr>
                      <a:r>
                        <a:rPr lang="en-US" sz="2100" spc="-50" dirty="0">
                          <a:effectLst/>
                          <a:latin typeface="Times New Roman" pitchFamily="18" charset="0"/>
                          <a:cs typeface="Times New Roman" pitchFamily="18" charset="0"/>
                        </a:rPr>
                        <a:t>G</a:t>
                      </a:r>
                      <a:endParaRPr lang="en-US" sz="2100" dirty="0">
                        <a:effectLst/>
                        <a:latin typeface="Times New Roman" pitchFamily="18" charset="0"/>
                        <a:ea typeface="Calibri"/>
                        <a:cs typeface="Times New Roman" pitchFamily="18" charset="0"/>
                      </a:endParaRPr>
                    </a:p>
                  </a:txBody>
                  <a:tcPr marL="0" marR="0" marT="0" marB="0"/>
                </a:tc>
                <a:tc>
                  <a:txBody>
                    <a:bodyPr/>
                    <a:lstStyle/>
                    <a:p>
                      <a:pPr marL="12700" marR="0" algn="ctr">
                        <a:lnSpc>
                          <a:spcPct val="115000"/>
                        </a:lnSpc>
                        <a:spcBef>
                          <a:spcPts val="715"/>
                        </a:spcBef>
                        <a:spcAft>
                          <a:spcPts val="0"/>
                        </a:spcAft>
                      </a:pPr>
                      <a:r>
                        <a:rPr lang="en-US" sz="2100" spc="-50" dirty="0">
                          <a:effectLst/>
                          <a:latin typeface="Times New Roman" pitchFamily="18" charset="0"/>
                          <a:cs typeface="Times New Roman" pitchFamily="18" charset="0"/>
                        </a:rPr>
                        <a:t>L</a:t>
                      </a:r>
                      <a:endParaRPr lang="en-US" sz="2100" dirty="0">
                        <a:effectLst/>
                        <a:latin typeface="Times New Roman" pitchFamily="18" charset="0"/>
                        <a:ea typeface="Calibri"/>
                        <a:cs typeface="Times New Roman" pitchFamily="18" charset="0"/>
                      </a:endParaRPr>
                    </a:p>
                  </a:txBody>
                  <a:tcPr marL="0" marR="0" marT="0" marB="0"/>
                </a:tc>
                <a:tc>
                  <a:txBody>
                    <a:bodyPr/>
                    <a:lstStyle/>
                    <a:p>
                      <a:pPr marL="12700" marR="0" algn="ctr">
                        <a:lnSpc>
                          <a:spcPct val="115000"/>
                        </a:lnSpc>
                        <a:spcBef>
                          <a:spcPts val="715"/>
                        </a:spcBef>
                        <a:spcAft>
                          <a:spcPts val="0"/>
                        </a:spcAft>
                      </a:pPr>
                      <a:r>
                        <a:rPr lang="en-US" sz="2100" spc="-50" dirty="0">
                          <a:effectLst/>
                          <a:latin typeface="Times New Roman" pitchFamily="18" charset="0"/>
                          <a:cs typeface="Times New Roman" pitchFamily="18" charset="0"/>
                        </a:rPr>
                        <a:t>L</a:t>
                      </a:r>
                      <a:endParaRPr lang="en-US" sz="2100" dirty="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100" spc="-50" dirty="0">
                          <a:effectLst/>
                          <a:latin typeface="Times New Roman" pitchFamily="18" charset="0"/>
                          <a:cs typeface="Times New Roman" pitchFamily="18" charset="0"/>
                        </a:rPr>
                        <a:t>L</a:t>
                      </a:r>
                      <a:endParaRPr lang="en-US" sz="2100" dirty="0">
                        <a:effectLst/>
                        <a:latin typeface="Times New Roman" pitchFamily="18" charset="0"/>
                        <a:ea typeface="Calibri"/>
                        <a:cs typeface="Times New Roman" pitchFamily="18" charset="0"/>
                      </a:endParaRPr>
                    </a:p>
                  </a:txBody>
                  <a:tcPr marL="0" marR="0" marT="0" marB="0"/>
                </a:tc>
                <a:tc>
                  <a:txBody>
                    <a:bodyPr/>
                    <a:lstStyle/>
                    <a:p>
                      <a:pPr marL="15240" marR="0" algn="ctr">
                        <a:lnSpc>
                          <a:spcPct val="115000"/>
                        </a:lnSpc>
                        <a:spcBef>
                          <a:spcPts val="715"/>
                        </a:spcBef>
                        <a:spcAft>
                          <a:spcPts val="0"/>
                        </a:spcAft>
                      </a:pPr>
                      <a:r>
                        <a:rPr lang="en-US" sz="2100" spc="-50" dirty="0">
                          <a:effectLst/>
                          <a:latin typeface="Times New Roman" pitchFamily="18" charset="0"/>
                          <a:cs typeface="Times New Roman" pitchFamily="18" charset="0"/>
                        </a:rPr>
                        <a:t>G</a:t>
                      </a:r>
                      <a:endParaRPr lang="en-US" sz="2100" dirty="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100" spc="-50" dirty="0">
                          <a:effectLst/>
                          <a:latin typeface="Times New Roman" pitchFamily="18" charset="0"/>
                          <a:cs typeface="Times New Roman" pitchFamily="18" charset="0"/>
                        </a:rPr>
                        <a:t>L</a:t>
                      </a:r>
                      <a:endParaRPr lang="en-US" sz="2100" dirty="0">
                        <a:effectLst/>
                        <a:latin typeface="Times New Roman" pitchFamily="18" charset="0"/>
                        <a:ea typeface="Calibri"/>
                        <a:cs typeface="Times New Roman" pitchFamily="18" charset="0"/>
                      </a:endParaRPr>
                    </a:p>
                  </a:txBody>
                  <a:tcPr marL="0" marR="0" marT="0" marB="0"/>
                </a:tc>
                <a:tc>
                  <a:txBody>
                    <a:bodyPr/>
                    <a:lstStyle/>
                    <a:p>
                      <a:pPr marL="15240" marR="0" algn="ctr">
                        <a:lnSpc>
                          <a:spcPct val="115000"/>
                        </a:lnSpc>
                        <a:spcBef>
                          <a:spcPts val="715"/>
                        </a:spcBef>
                        <a:spcAft>
                          <a:spcPts val="0"/>
                        </a:spcAft>
                      </a:pPr>
                      <a:r>
                        <a:rPr lang="en-US" sz="2100" spc="-50" dirty="0">
                          <a:effectLst/>
                          <a:latin typeface="Times New Roman" pitchFamily="18" charset="0"/>
                          <a:cs typeface="Times New Roman" pitchFamily="18" charset="0"/>
                        </a:rPr>
                        <a:t>G</a:t>
                      </a:r>
                      <a:endParaRPr lang="en-US" sz="2100" dirty="0">
                        <a:effectLst/>
                        <a:latin typeface="Times New Roman" pitchFamily="18" charset="0"/>
                        <a:ea typeface="Calibri"/>
                        <a:cs typeface="Times New Roman" pitchFamily="18" charset="0"/>
                      </a:endParaRPr>
                    </a:p>
                  </a:txBody>
                  <a:tcPr marL="0" marR="0" marT="0" marB="0"/>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463440820"/>
              </p:ext>
            </p:extLst>
          </p:nvPr>
        </p:nvGraphicFramePr>
        <p:xfrm>
          <a:off x="380996" y="4572000"/>
          <a:ext cx="8382003" cy="828675"/>
        </p:xfrm>
        <a:graphic>
          <a:graphicData uri="http://schemas.openxmlformats.org/drawingml/2006/table">
            <a:tbl>
              <a:tblPr firstRow="1" firstCol="1" lastRow="1" lastCol="1" bandRow="1" bandCol="1"/>
              <a:tblGrid>
                <a:gridCol w="498867"/>
                <a:gridCol w="634464"/>
                <a:gridCol w="491450"/>
                <a:gridCol w="614530"/>
                <a:gridCol w="491450"/>
                <a:gridCol w="613662"/>
                <a:gridCol w="644867"/>
                <a:gridCol w="461113"/>
                <a:gridCol w="468913"/>
                <a:gridCol w="465447"/>
                <a:gridCol w="580727"/>
                <a:gridCol w="698604"/>
                <a:gridCol w="348436"/>
                <a:gridCol w="348436"/>
                <a:gridCol w="529587"/>
                <a:gridCol w="491450"/>
              </a:tblGrid>
              <a:tr h="405130">
                <a:tc>
                  <a:txBody>
                    <a:bodyPr/>
                    <a:lstStyle/>
                    <a:p>
                      <a:pPr marL="12700" marR="2540" algn="ctr">
                        <a:lnSpc>
                          <a:spcPct val="115000"/>
                        </a:lnSpc>
                        <a:spcBef>
                          <a:spcPts val="675"/>
                        </a:spcBef>
                        <a:spcAft>
                          <a:spcPts val="0"/>
                        </a:spcAft>
                      </a:pPr>
                      <a:r>
                        <a:rPr lang="en-US" sz="2200" spc="-50" dirty="0">
                          <a:effectLst/>
                          <a:latin typeface="Times New Roman"/>
                          <a:ea typeface="Calibri"/>
                          <a:cs typeface="Times New Roman"/>
                        </a:rPr>
                        <a:t>a</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 marR="1905" algn="ctr">
                        <a:lnSpc>
                          <a:spcPct val="115000"/>
                        </a:lnSpc>
                        <a:spcBef>
                          <a:spcPts val="675"/>
                        </a:spcBef>
                        <a:spcAft>
                          <a:spcPts val="0"/>
                        </a:spcAft>
                      </a:pPr>
                      <a:r>
                        <a:rPr lang="en-US" sz="2200" spc="-20" dirty="0" err="1">
                          <a:effectLst/>
                          <a:latin typeface="Times New Roman"/>
                          <a:ea typeface="Calibri"/>
                          <a:cs typeface="Times New Roman"/>
                        </a:rPr>
                        <a:t>bhyu</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160" marR="0" algn="ctr">
                        <a:lnSpc>
                          <a:spcPct val="115000"/>
                        </a:lnSpc>
                        <a:spcBef>
                          <a:spcPts val="675"/>
                        </a:spcBef>
                        <a:spcAft>
                          <a:spcPts val="0"/>
                        </a:spcAft>
                      </a:pPr>
                      <a:r>
                        <a:rPr lang="en-US" sz="2200" spc="-20" dirty="0" err="1">
                          <a:effectLst/>
                          <a:latin typeface="Times New Roman"/>
                          <a:ea typeface="Calibri"/>
                          <a:cs typeface="Times New Roman"/>
                        </a:rPr>
                        <a:t>ttha</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065" marR="0" algn="ctr">
                        <a:lnSpc>
                          <a:spcPct val="115000"/>
                        </a:lnSpc>
                        <a:spcBef>
                          <a:spcPts val="675"/>
                        </a:spcBef>
                        <a:spcAft>
                          <a:spcPts val="0"/>
                        </a:spcAft>
                      </a:pPr>
                      <a:r>
                        <a:rPr lang="en-US" sz="2200" spc="-25" dirty="0" err="1">
                          <a:effectLst/>
                          <a:latin typeface="Times New Roman"/>
                          <a:ea typeface="Calibri"/>
                          <a:cs typeface="Times New Roman"/>
                        </a:rPr>
                        <a:t>na</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 marR="0" algn="ctr">
                        <a:lnSpc>
                          <a:spcPct val="115000"/>
                        </a:lnSpc>
                        <a:spcBef>
                          <a:spcPts val="675"/>
                        </a:spcBef>
                        <a:spcAft>
                          <a:spcPts val="0"/>
                        </a:spcAft>
                      </a:pPr>
                      <a:r>
                        <a:rPr lang="en-US" sz="2200" spc="-25" dirty="0">
                          <a:effectLst/>
                          <a:latin typeface="Times New Roman"/>
                          <a:ea typeface="Calibri"/>
                          <a:cs typeface="Times New Roman"/>
                        </a:rPr>
                        <a:t>ma</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 marR="0" algn="ctr">
                        <a:lnSpc>
                          <a:spcPct val="115000"/>
                        </a:lnSpc>
                        <a:spcBef>
                          <a:spcPts val="675"/>
                        </a:spcBef>
                        <a:spcAft>
                          <a:spcPts val="0"/>
                        </a:spcAft>
                      </a:pPr>
                      <a:r>
                        <a:rPr lang="en-US" sz="2200" spc="-25" dirty="0" err="1">
                          <a:effectLst/>
                          <a:latin typeface="Times New Roman"/>
                          <a:ea typeface="Calibri"/>
                          <a:cs typeface="Times New Roman"/>
                        </a:rPr>
                        <a:t>dha</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 marR="0" algn="ctr">
                        <a:lnSpc>
                          <a:spcPct val="115000"/>
                        </a:lnSpc>
                        <a:spcBef>
                          <a:spcPts val="675"/>
                        </a:spcBef>
                        <a:spcAft>
                          <a:spcPts val="0"/>
                        </a:spcAft>
                      </a:pPr>
                      <a:r>
                        <a:rPr lang="en-US" sz="2200" spc="-25">
                          <a:effectLst/>
                          <a:latin typeface="Times New Roman"/>
                          <a:ea typeface="Calibri"/>
                          <a:cs typeface="Times New Roman"/>
                        </a:rPr>
                        <a:t>rma</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 marR="0" algn="ctr">
                        <a:lnSpc>
                          <a:spcPct val="115000"/>
                        </a:lnSpc>
                        <a:spcBef>
                          <a:spcPts val="675"/>
                        </a:spcBef>
                        <a:spcAft>
                          <a:spcPts val="0"/>
                        </a:spcAft>
                      </a:pPr>
                      <a:r>
                        <a:rPr lang="en-US" sz="2200" spc="-25">
                          <a:effectLst/>
                          <a:latin typeface="Times New Roman"/>
                          <a:ea typeface="Calibri"/>
                          <a:cs typeface="Times New Roman"/>
                        </a:rPr>
                        <a:t>sya</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525" marR="0" algn="ctr">
                        <a:lnSpc>
                          <a:spcPct val="115000"/>
                        </a:lnSpc>
                        <a:spcBef>
                          <a:spcPts val="675"/>
                        </a:spcBef>
                        <a:spcAft>
                          <a:spcPts val="0"/>
                        </a:spcAft>
                      </a:pPr>
                      <a:r>
                        <a:rPr lang="en-US" sz="2200" spc="-25">
                          <a:effectLst/>
                          <a:latin typeface="Times New Roman"/>
                          <a:ea typeface="Calibri"/>
                          <a:cs typeface="Times New Roman"/>
                        </a:rPr>
                        <a:t>ta</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 marR="0" algn="ctr">
                        <a:lnSpc>
                          <a:spcPct val="115000"/>
                        </a:lnSpc>
                        <a:spcBef>
                          <a:spcPts val="675"/>
                        </a:spcBef>
                        <a:spcAft>
                          <a:spcPts val="0"/>
                        </a:spcAft>
                      </a:pPr>
                      <a:r>
                        <a:rPr lang="en-US" sz="2200" spc="-25">
                          <a:effectLst/>
                          <a:latin typeface="Times New Roman"/>
                          <a:ea typeface="Calibri"/>
                          <a:cs typeface="Times New Roman"/>
                        </a:rPr>
                        <a:t>dā</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675"/>
                        </a:spcBef>
                        <a:spcAft>
                          <a:spcPts val="0"/>
                        </a:spcAft>
                      </a:pPr>
                      <a:r>
                        <a:rPr lang="en-US" sz="2200" spc="-25">
                          <a:effectLst/>
                          <a:latin typeface="Times New Roman"/>
                          <a:ea typeface="Calibri"/>
                          <a:cs typeface="Times New Roman"/>
                        </a:rPr>
                        <a:t>tmā</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675"/>
                        </a:spcBef>
                        <a:spcAft>
                          <a:spcPts val="0"/>
                        </a:spcAft>
                      </a:pPr>
                      <a:r>
                        <a:rPr lang="en-US" sz="2200" spc="-25">
                          <a:effectLst/>
                          <a:latin typeface="Times New Roman"/>
                          <a:ea typeface="Calibri"/>
                          <a:cs typeface="Times New Roman"/>
                        </a:rPr>
                        <a:t>nam</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675"/>
                        </a:spcBef>
                        <a:spcAft>
                          <a:spcPts val="0"/>
                        </a:spcAft>
                      </a:pPr>
                      <a:r>
                        <a:rPr lang="en-US" sz="2200" spc="-25">
                          <a:effectLst/>
                          <a:latin typeface="Times New Roman"/>
                          <a:ea typeface="Calibri"/>
                          <a:cs typeface="Times New Roman"/>
                        </a:rPr>
                        <a:t>sṛ</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 marR="0" algn="ctr">
                        <a:lnSpc>
                          <a:spcPct val="115000"/>
                        </a:lnSpc>
                        <a:spcBef>
                          <a:spcPts val="675"/>
                        </a:spcBef>
                        <a:spcAft>
                          <a:spcPts val="0"/>
                        </a:spcAft>
                      </a:pPr>
                      <a:r>
                        <a:rPr lang="en-US" sz="2200" spc="-25">
                          <a:effectLst/>
                          <a:latin typeface="Times New Roman"/>
                          <a:ea typeface="Calibri"/>
                          <a:cs typeface="Times New Roman"/>
                        </a:rPr>
                        <a:t>jā</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240" marR="0" algn="ctr">
                        <a:lnSpc>
                          <a:spcPct val="115000"/>
                        </a:lnSpc>
                        <a:spcBef>
                          <a:spcPts val="675"/>
                        </a:spcBef>
                        <a:spcAft>
                          <a:spcPts val="0"/>
                        </a:spcAft>
                      </a:pPr>
                      <a:r>
                        <a:rPr lang="en-US" sz="2200" spc="-25">
                          <a:effectLst/>
                          <a:latin typeface="Times New Roman"/>
                          <a:ea typeface="Calibri"/>
                          <a:cs typeface="Times New Roman"/>
                        </a:rPr>
                        <a:t>mya</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240" marR="0" algn="ctr">
                        <a:lnSpc>
                          <a:spcPct val="115000"/>
                        </a:lnSpc>
                        <a:spcBef>
                          <a:spcPts val="675"/>
                        </a:spcBef>
                        <a:spcAft>
                          <a:spcPts val="0"/>
                        </a:spcAft>
                      </a:pPr>
                      <a:r>
                        <a:rPr lang="en-US" sz="2200" spc="-25">
                          <a:effectLst/>
                          <a:latin typeface="Times New Roman"/>
                          <a:ea typeface="Calibri"/>
                          <a:cs typeface="Times New Roman"/>
                        </a:rPr>
                        <a:t>ham</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3545">
                <a:tc>
                  <a:txBody>
                    <a:bodyPr/>
                    <a:lstStyle/>
                    <a:p>
                      <a:pPr marL="12700" marR="0" algn="ctr">
                        <a:lnSpc>
                          <a:spcPct val="115000"/>
                        </a:lnSpc>
                        <a:spcBef>
                          <a:spcPts val="755"/>
                        </a:spcBef>
                        <a:spcAft>
                          <a:spcPts val="0"/>
                        </a:spcAft>
                      </a:pPr>
                      <a:r>
                        <a:rPr lang="en-US" sz="2200" spc="-50">
                          <a:effectLst/>
                          <a:latin typeface="Times New Roman"/>
                          <a:ea typeface="Calibri"/>
                          <a:cs typeface="Times New Roman"/>
                        </a:rPr>
                        <a:t>G</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 marR="0" algn="ctr">
                        <a:lnSpc>
                          <a:spcPct val="115000"/>
                        </a:lnSpc>
                        <a:spcBef>
                          <a:spcPts val="755"/>
                        </a:spcBef>
                        <a:spcAft>
                          <a:spcPts val="0"/>
                        </a:spcAft>
                      </a:pPr>
                      <a:r>
                        <a:rPr lang="en-US" sz="2200" spc="-50">
                          <a:effectLst/>
                          <a:latin typeface="Times New Roman"/>
                          <a:ea typeface="Calibri"/>
                          <a:cs typeface="Times New Roman"/>
                        </a:rPr>
                        <a:t>G</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 marR="0" algn="ctr">
                        <a:lnSpc>
                          <a:spcPct val="115000"/>
                        </a:lnSpc>
                        <a:spcBef>
                          <a:spcPts val="755"/>
                        </a:spcBef>
                        <a:spcAft>
                          <a:spcPts val="0"/>
                        </a:spcAft>
                      </a:pPr>
                      <a:r>
                        <a:rPr lang="en-US" sz="2200" spc="-50">
                          <a:effectLst/>
                          <a:latin typeface="Times New Roman"/>
                          <a:ea typeface="Calibri"/>
                          <a:cs typeface="Times New Roman"/>
                        </a:rPr>
                        <a:t>G</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065" marR="0" algn="ctr">
                        <a:lnSpc>
                          <a:spcPct val="115000"/>
                        </a:lnSpc>
                        <a:spcBef>
                          <a:spcPts val="755"/>
                        </a:spcBef>
                        <a:spcAft>
                          <a:spcPts val="0"/>
                        </a:spcAft>
                      </a:pPr>
                      <a:r>
                        <a:rPr lang="en-US" sz="2200" spc="-50">
                          <a:effectLst/>
                          <a:latin typeface="Times New Roman"/>
                          <a:ea typeface="Calibri"/>
                          <a:cs typeface="Times New Roman"/>
                        </a:rPr>
                        <a:t>L</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065" marR="0" algn="ctr">
                        <a:lnSpc>
                          <a:spcPct val="115000"/>
                        </a:lnSpc>
                        <a:spcBef>
                          <a:spcPts val="755"/>
                        </a:spcBef>
                        <a:spcAft>
                          <a:spcPts val="0"/>
                        </a:spcAft>
                      </a:pPr>
                      <a:r>
                        <a:rPr lang="en-US" sz="2200" spc="-50">
                          <a:effectLst/>
                          <a:latin typeface="Times New Roman"/>
                          <a:ea typeface="Calibri"/>
                          <a:cs typeface="Times New Roman"/>
                        </a:rPr>
                        <a:t>L</a:t>
                      </a:r>
                      <a:endParaRPr lang="en-US" sz="220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2700" marR="0" algn="ctr">
                        <a:lnSpc>
                          <a:spcPct val="115000"/>
                        </a:lnSpc>
                        <a:spcBef>
                          <a:spcPts val="755"/>
                        </a:spcBef>
                        <a:spcAft>
                          <a:spcPts val="0"/>
                        </a:spcAft>
                      </a:pPr>
                      <a:r>
                        <a:rPr lang="en-US" sz="2200" spc="-50" dirty="0">
                          <a:effectLst/>
                          <a:latin typeface="Times New Roman"/>
                          <a:ea typeface="Calibri"/>
                          <a:cs typeface="Times New Roman"/>
                        </a:rPr>
                        <a:t>L</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460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 marR="0" algn="ctr">
                        <a:lnSpc>
                          <a:spcPct val="115000"/>
                        </a:lnSpc>
                        <a:spcBef>
                          <a:spcPts val="755"/>
                        </a:spcBef>
                        <a:spcAft>
                          <a:spcPts val="0"/>
                        </a:spcAft>
                      </a:pPr>
                      <a:r>
                        <a:rPr lang="en-US" sz="2200" spc="-50" dirty="0">
                          <a:effectLst/>
                          <a:latin typeface="Times New Roman"/>
                          <a:ea typeface="Calibri"/>
                          <a:cs typeface="Times New Roman"/>
                        </a:rPr>
                        <a:t>L</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 marR="0" algn="ctr">
                        <a:lnSpc>
                          <a:spcPct val="115000"/>
                        </a:lnSpc>
                        <a:spcBef>
                          <a:spcPts val="755"/>
                        </a:spcBef>
                        <a:spcAft>
                          <a:spcPts val="0"/>
                        </a:spcAft>
                      </a:pPr>
                      <a:r>
                        <a:rPr lang="en-US" sz="2200" spc="-50" dirty="0">
                          <a:effectLst/>
                          <a:latin typeface="Times New Roman"/>
                          <a:ea typeface="Calibri"/>
                          <a:cs typeface="Times New Roman"/>
                        </a:rPr>
                        <a:t>L</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 marR="0" algn="ctr">
                        <a:lnSpc>
                          <a:spcPct val="115000"/>
                        </a:lnSpc>
                        <a:spcBef>
                          <a:spcPts val="755"/>
                        </a:spcBef>
                        <a:spcAft>
                          <a:spcPts val="0"/>
                        </a:spcAft>
                      </a:pPr>
                      <a:r>
                        <a:rPr lang="en-US" sz="2200" spc="-50" dirty="0">
                          <a:effectLst/>
                          <a:latin typeface="Times New Roman"/>
                          <a:ea typeface="Calibri"/>
                          <a:cs typeface="Times New Roman"/>
                        </a:rPr>
                        <a:t>G</a:t>
                      </a:r>
                      <a:endParaRPr lang="en-US" sz="2200" dirty="0">
                        <a:effectLst/>
                        <a:latin typeface="Calibri"/>
                        <a:ea typeface="Calibri"/>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52926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itchFamily="18" charset="0"/>
                <a:cs typeface="Times New Roman" pitchFamily="18" charset="0"/>
              </a:rPr>
              <a:t>Laghu</a:t>
            </a:r>
            <a:r>
              <a:rPr lang="en-US" b="1" dirty="0">
                <a:latin typeface="Times New Roman" pitchFamily="18" charset="0"/>
                <a:cs typeface="Times New Roman" pitchFamily="18" charset="0"/>
              </a:rPr>
              <a:t> and Guru</a:t>
            </a: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1" y="1505744"/>
            <a:ext cx="8702322" cy="4895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43862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err="1">
                <a:latin typeface="Times New Roman" pitchFamily="18" charset="0"/>
                <a:cs typeface="Times New Roman" pitchFamily="18" charset="0"/>
              </a:rPr>
              <a:t>Laghu</a:t>
            </a:r>
            <a:r>
              <a:rPr lang="en-US" sz="3600" b="1" dirty="0">
                <a:latin typeface="Times New Roman" pitchFamily="18" charset="0"/>
                <a:cs typeface="Times New Roman" pitchFamily="18" charset="0"/>
              </a:rPr>
              <a:t> and Guru</a:t>
            </a:r>
            <a:endParaRPr lang="en-US" sz="3600" b="1" dirty="0">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521" y="1371600"/>
            <a:ext cx="880533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97006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a:bodyPr>
          <a:lstStyle/>
          <a:p>
            <a:r>
              <a:rPr lang="en-US" sz="3600" b="1" dirty="0" err="1">
                <a:latin typeface="Times New Roman" pitchFamily="18" charset="0"/>
                <a:cs typeface="Times New Roman" pitchFamily="18" charset="0"/>
              </a:rPr>
              <a:t>Bhavani</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ashtakam</a:t>
            </a:r>
            <a:r>
              <a:rPr lang="en-US" sz="3600" b="1" dirty="0">
                <a:latin typeface="Times New Roman" pitchFamily="18" charset="0"/>
                <a:cs typeface="Times New Roman" pitchFamily="18" charset="0"/>
              </a:rPr>
              <a:t> - Analysis</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86400"/>
          </a:xfrm>
        </p:spPr>
        <p:txBody>
          <a:bodyPr>
            <a:normAutofit fontScale="92500" lnSpcReduction="20000"/>
          </a:bodyPr>
          <a:lstStyle/>
          <a:p>
            <a:pPr algn="just"/>
            <a:r>
              <a:rPr lang="en-US" sz="3300" dirty="0" smtClean="0">
                <a:latin typeface="Times New Roman" pitchFamily="18" charset="0"/>
                <a:cs typeface="Times New Roman" pitchFamily="18" charset="0"/>
              </a:rPr>
              <a:t>Every </a:t>
            </a:r>
            <a:r>
              <a:rPr lang="en-US" sz="3300" dirty="0">
                <a:latin typeface="Times New Roman" pitchFamily="18" charset="0"/>
                <a:cs typeface="Times New Roman" pitchFamily="18" charset="0"/>
              </a:rPr>
              <a:t>quarter of </a:t>
            </a:r>
            <a:r>
              <a:rPr lang="en-US" sz="3300" dirty="0" err="1">
                <a:latin typeface="Times New Roman" pitchFamily="18" charset="0"/>
                <a:cs typeface="Times New Roman" pitchFamily="18" charset="0"/>
              </a:rPr>
              <a:t>Bhavani</a:t>
            </a:r>
            <a:r>
              <a:rPr lang="en-US" sz="3300" dirty="0">
                <a:latin typeface="Times New Roman" pitchFamily="18" charset="0"/>
                <a:cs typeface="Times New Roman" pitchFamily="18" charset="0"/>
              </a:rPr>
              <a:t> </a:t>
            </a:r>
            <a:r>
              <a:rPr lang="en-US" sz="3300" dirty="0" err="1">
                <a:latin typeface="Times New Roman" pitchFamily="18" charset="0"/>
                <a:cs typeface="Times New Roman" pitchFamily="18" charset="0"/>
              </a:rPr>
              <a:t>ashtakam</a:t>
            </a:r>
            <a:r>
              <a:rPr lang="en-US" sz="3300" dirty="0">
                <a:latin typeface="Times New Roman" pitchFamily="18" charset="0"/>
                <a:cs typeface="Times New Roman" pitchFamily="18" charset="0"/>
              </a:rPr>
              <a:t> consists of 12 letters. The pattern or the order of arrangement of syllables in each quarter is</a:t>
            </a:r>
          </a:p>
          <a:p>
            <a:pPr algn="just"/>
            <a:r>
              <a:rPr lang="en-US" sz="3300" dirty="0">
                <a:latin typeface="Times New Roman" pitchFamily="18" charset="0"/>
                <a:cs typeface="Times New Roman" pitchFamily="18" charset="0"/>
              </a:rPr>
              <a:t>LGG </a:t>
            </a:r>
            <a:r>
              <a:rPr lang="en-US" sz="3300" dirty="0" err="1">
                <a:latin typeface="Times New Roman" pitchFamily="18" charset="0"/>
                <a:cs typeface="Times New Roman" pitchFamily="18" charset="0"/>
              </a:rPr>
              <a:t>LGG</a:t>
            </a:r>
            <a:r>
              <a:rPr lang="en-US" sz="3300" dirty="0">
                <a:latin typeface="Times New Roman" pitchFamily="18" charset="0"/>
                <a:cs typeface="Times New Roman" pitchFamily="18" charset="0"/>
              </a:rPr>
              <a:t> </a:t>
            </a:r>
            <a:r>
              <a:rPr lang="en-US" sz="3300" dirty="0" err="1">
                <a:latin typeface="Times New Roman" pitchFamily="18" charset="0"/>
                <a:cs typeface="Times New Roman" pitchFamily="18" charset="0"/>
              </a:rPr>
              <a:t>LGG</a:t>
            </a:r>
            <a:r>
              <a:rPr lang="en-US" sz="3300" dirty="0">
                <a:latin typeface="Times New Roman" pitchFamily="18" charset="0"/>
                <a:cs typeface="Times New Roman" pitchFamily="18" charset="0"/>
              </a:rPr>
              <a:t> </a:t>
            </a:r>
            <a:r>
              <a:rPr lang="en-US" sz="3300" dirty="0" err="1">
                <a:latin typeface="Times New Roman" pitchFamily="18" charset="0"/>
                <a:cs typeface="Times New Roman" pitchFamily="18" charset="0"/>
              </a:rPr>
              <a:t>LGG</a:t>
            </a:r>
            <a:endParaRPr lang="en-US" sz="3300" dirty="0">
              <a:latin typeface="Times New Roman" pitchFamily="18" charset="0"/>
              <a:cs typeface="Times New Roman" pitchFamily="18" charset="0"/>
            </a:endParaRPr>
          </a:p>
          <a:p>
            <a:pPr algn="just"/>
            <a:r>
              <a:rPr lang="en-US" sz="3300" dirty="0">
                <a:latin typeface="Times New Roman" pitchFamily="18" charset="0"/>
                <a:cs typeface="Times New Roman" pitchFamily="18" charset="0"/>
              </a:rPr>
              <a:t>Here, G is Guru and L is </a:t>
            </a:r>
            <a:r>
              <a:rPr lang="en-US" sz="3300" dirty="0" err="1">
                <a:latin typeface="Times New Roman" pitchFamily="18" charset="0"/>
                <a:cs typeface="Times New Roman" pitchFamily="18" charset="0"/>
              </a:rPr>
              <a:t>Laghu</a:t>
            </a:r>
            <a:r>
              <a:rPr lang="en-US" sz="3300" dirty="0">
                <a:latin typeface="Times New Roman" pitchFamily="18" charset="0"/>
                <a:cs typeface="Times New Roman" pitchFamily="18" charset="0"/>
              </a:rPr>
              <a:t> syllable.</a:t>
            </a:r>
          </a:p>
          <a:p>
            <a:pPr algn="just"/>
            <a:r>
              <a:rPr lang="en-US" sz="3300" dirty="0">
                <a:latin typeface="Times New Roman" pitchFamily="18" charset="0"/>
                <a:cs typeface="Times New Roman" pitchFamily="18" charset="0"/>
              </a:rPr>
              <a:t>This </a:t>
            </a:r>
            <a:r>
              <a:rPr lang="en-US" sz="3300" dirty="0" err="1">
                <a:latin typeface="Times New Roman" pitchFamily="18" charset="0"/>
                <a:cs typeface="Times New Roman" pitchFamily="18" charset="0"/>
              </a:rPr>
              <a:t>metre</a:t>
            </a:r>
            <a:r>
              <a:rPr lang="en-US" sz="3300" dirty="0">
                <a:latin typeface="Times New Roman" pitchFamily="18" charset="0"/>
                <a:cs typeface="Times New Roman" pitchFamily="18" charset="0"/>
              </a:rPr>
              <a:t> is called </a:t>
            </a:r>
            <a:r>
              <a:rPr lang="hi-IN" sz="3300" dirty="0">
                <a:latin typeface="Times New Roman" pitchFamily="18" charset="0"/>
              </a:rPr>
              <a:t>भुजङ्गप्रयातम् (</a:t>
            </a:r>
            <a:r>
              <a:rPr lang="en-US" sz="3300" dirty="0" err="1">
                <a:latin typeface="Times New Roman" pitchFamily="18" charset="0"/>
                <a:cs typeface="Times New Roman" pitchFamily="18" charset="0"/>
              </a:rPr>
              <a:t>Bhujangaprayatam</a:t>
            </a:r>
            <a:r>
              <a:rPr lang="en-US" sz="3300" dirty="0">
                <a:latin typeface="Times New Roman" pitchFamily="18" charset="0"/>
                <a:cs typeface="Times New Roman" pitchFamily="18" charset="0"/>
              </a:rPr>
              <a:t>, snake-like advancing).</a:t>
            </a:r>
          </a:p>
          <a:p>
            <a:pPr algn="just"/>
            <a:r>
              <a:rPr lang="en-US" sz="3300" dirty="0">
                <a:latin typeface="Times New Roman" pitchFamily="18" charset="0"/>
                <a:cs typeface="Times New Roman" pitchFamily="18" charset="0"/>
              </a:rPr>
              <a:t>For a quarter having 12 letters, one can have 2^12 = 4096 different arrangements of Guru and </a:t>
            </a:r>
            <a:r>
              <a:rPr lang="en-US" sz="3300" dirty="0" err="1">
                <a:latin typeface="Times New Roman" pitchFamily="18" charset="0"/>
                <a:cs typeface="Times New Roman" pitchFamily="18" charset="0"/>
              </a:rPr>
              <a:t>Laghu</a:t>
            </a:r>
            <a:r>
              <a:rPr lang="en-US" sz="3300" dirty="0">
                <a:latin typeface="Times New Roman" pitchFamily="18" charset="0"/>
                <a:cs typeface="Times New Roman" pitchFamily="18" charset="0"/>
              </a:rPr>
              <a:t> syllables.</a:t>
            </a:r>
          </a:p>
          <a:p>
            <a:pPr algn="just"/>
            <a:r>
              <a:rPr lang="en-US" sz="3300" dirty="0">
                <a:latin typeface="Times New Roman" pitchFamily="18" charset="0"/>
                <a:cs typeface="Times New Roman" pitchFamily="18" charset="0"/>
              </a:rPr>
              <a:t>This means that you can have 4096 different </a:t>
            </a:r>
            <a:r>
              <a:rPr lang="en-US" sz="3300" dirty="0" err="1">
                <a:latin typeface="Times New Roman" pitchFamily="18" charset="0"/>
                <a:cs typeface="Times New Roman" pitchFamily="18" charset="0"/>
              </a:rPr>
              <a:t>metres</a:t>
            </a:r>
            <a:r>
              <a:rPr lang="en-US" sz="3300" dirty="0">
                <a:latin typeface="Times New Roman" pitchFamily="18" charset="0"/>
                <a:cs typeface="Times New Roman" pitchFamily="18" charset="0"/>
              </a:rPr>
              <a:t> with a quarter consisting of 12 letters.</a:t>
            </a:r>
          </a:p>
          <a:p>
            <a:endParaRPr lang="en-US" dirty="0"/>
          </a:p>
        </p:txBody>
      </p:sp>
    </p:spTree>
    <p:extLst>
      <p:ext uri="{BB962C8B-B14F-4D97-AF65-F5344CB8AC3E}">
        <p14:creationId xmlns:p14="http://schemas.microsoft.com/office/powerpoint/2010/main" val="4232612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itchFamily="18" charset="0"/>
                <a:cs typeface="Times New Roman" pitchFamily="18" charset="0"/>
              </a:rPr>
              <a:t>Ganas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en-US" dirty="0" smtClean="0">
                <a:latin typeface="Times New Roman" pitchFamily="18" charset="0"/>
                <a:cs typeface="Times New Roman" pitchFamily="18" charset="0"/>
              </a:rPr>
              <a:t>Every </a:t>
            </a:r>
            <a:r>
              <a:rPr lang="en-US" dirty="0">
                <a:latin typeface="Times New Roman" pitchFamily="18" charset="0"/>
                <a:cs typeface="Times New Roman" pitchFamily="18" charset="0"/>
              </a:rPr>
              <a:t>quarter in a </a:t>
            </a:r>
            <a:r>
              <a:rPr lang="en-US" dirty="0" err="1">
                <a:latin typeface="Times New Roman" pitchFamily="18" charset="0"/>
                <a:cs typeface="Times New Roman" pitchFamily="18" charset="0"/>
              </a:rPr>
              <a:t>pada</a:t>
            </a:r>
            <a:r>
              <a:rPr lang="en-US" dirty="0">
                <a:latin typeface="Times New Roman" pitchFamily="18" charset="0"/>
                <a:cs typeface="Times New Roman" pitchFamily="18" charset="0"/>
              </a:rPr>
              <a:t> is represented by a combinations of gurus and </a:t>
            </a:r>
            <a:r>
              <a:rPr lang="en-US" dirty="0" err="1">
                <a:latin typeface="Times New Roman" pitchFamily="18" charset="0"/>
                <a:cs typeface="Times New Roman" pitchFamily="18" charset="0"/>
              </a:rPr>
              <a:t>lagghus</a:t>
            </a:r>
            <a:r>
              <a:rPr lang="en-US" dirty="0">
                <a:latin typeface="Times New Roman" pitchFamily="18" charset="0"/>
                <a:cs typeface="Times New Roman" pitchFamily="18" charset="0"/>
              </a:rPr>
              <a:t> of length three.</a:t>
            </a:r>
          </a:p>
          <a:p>
            <a:pPr algn="just"/>
            <a:r>
              <a:rPr lang="en-US" dirty="0" smtClean="0">
                <a:latin typeface="Times New Roman" pitchFamily="18" charset="0"/>
                <a:cs typeface="Times New Roman" pitchFamily="18" charset="0"/>
              </a:rPr>
              <a:t>There </a:t>
            </a:r>
            <a:r>
              <a:rPr lang="en-US" dirty="0">
                <a:latin typeface="Times New Roman" pitchFamily="18" charset="0"/>
                <a:cs typeface="Times New Roman" pitchFamily="18" charset="0"/>
              </a:rPr>
              <a:t>are eight unique combination of </a:t>
            </a:r>
            <a:r>
              <a:rPr lang="en-US" dirty="0" err="1">
                <a:latin typeface="Times New Roman" pitchFamily="18" charset="0"/>
                <a:cs typeface="Times New Roman" pitchFamily="18" charset="0"/>
              </a:rPr>
              <a:t>laghu</a:t>
            </a:r>
            <a:r>
              <a:rPr lang="en-US" dirty="0">
                <a:latin typeface="Times New Roman" pitchFamily="18" charset="0"/>
                <a:cs typeface="Times New Roman" pitchFamily="18" charset="0"/>
              </a:rPr>
              <a:t> and guru (binary) one can obtain . </a:t>
            </a:r>
            <a:r>
              <a:rPr lang="en-US" dirty="0" err="1">
                <a:latin typeface="Times New Roman" pitchFamily="18" charset="0"/>
                <a:cs typeface="Times New Roman" pitchFamily="18" charset="0"/>
              </a:rPr>
              <a:t>Pingala</a:t>
            </a:r>
            <a:r>
              <a:rPr lang="en-US" dirty="0">
                <a:latin typeface="Times New Roman" pitchFamily="18" charset="0"/>
                <a:cs typeface="Times New Roman" pitchFamily="18" charset="0"/>
              </a:rPr>
              <a:t> defined 8 categories of these building blocks called ‘</a:t>
            </a:r>
            <a:r>
              <a:rPr lang="en-US" dirty="0" err="1">
                <a:latin typeface="Times New Roman" pitchFamily="18" charset="0"/>
                <a:cs typeface="Times New Roman" pitchFamily="18" charset="0"/>
              </a:rPr>
              <a:t>Ganas</a:t>
            </a:r>
            <a:r>
              <a:rPr lang="en-US" dirty="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Each </a:t>
            </a:r>
            <a:r>
              <a:rPr lang="en-US" dirty="0" err="1">
                <a:latin typeface="Times New Roman" pitchFamily="18" charset="0"/>
                <a:cs typeface="Times New Roman" pitchFamily="18" charset="0"/>
              </a:rPr>
              <a:t>gana</a:t>
            </a:r>
            <a:r>
              <a:rPr lang="en-US" dirty="0">
                <a:latin typeface="Times New Roman" pitchFamily="18" charset="0"/>
                <a:cs typeface="Times New Roman" pitchFamily="18" charset="0"/>
              </a:rPr>
              <a:t> make a unique combination of </a:t>
            </a:r>
            <a:r>
              <a:rPr lang="en-US" dirty="0" err="1">
                <a:latin typeface="Times New Roman" pitchFamily="18" charset="0"/>
                <a:cs typeface="Times New Roman" pitchFamily="18" charset="0"/>
              </a:rPr>
              <a:t>laghu</a:t>
            </a:r>
            <a:r>
              <a:rPr lang="en-US" dirty="0">
                <a:latin typeface="Times New Roman" pitchFamily="18" charset="0"/>
                <a:cs typeface="Times New Roman" pitchFamily="18" charset="0"/>
              </a:rPr>
              <a:t> and guru</a:t>
            </a:r>
          </a:p>
          <a:p>
            <a:endParaRPr lang="en-US" dirty="0"/>
          </a:p>
        </p:txBody>
      </p:sp>
    </p:spTree>
    <p:extLst>
      <p:ext uri="{BB962C8B-B14F-4D97-AF65-F5344CB8AC3E}">
        <p14:creationId xmlns:p14="http://schemas.microsoft.com/office/powerpoint/2010/main" val="30043277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r>
              <a:rPr lang="en-US" dirty="0"/>
              <a:t/>
            </a:r>
            <a:br>
              <a:rPr lang="en-US" dirty="0"/>
            </a:br>
            <a:r>
              <a:rPr lang="en-US" sz="4000" b="1" dirty="0">
                <a:latin typeface="Times New Roman" pitchFamily="18" charset="0"/>
                <a:cs typeface="Times New Roman" pitchFamily="18" charset="0"/>
              </a:rPr>
              <a:t>Eight </a:t>
            </a:r>
            <a:r>
              <a:rPr lang="en-US" sz="4000" b="1" dirty="0" err="1">
                <a:latin typeface="Times New Roman" pitchFamily="18" charset="0"/>
                <a:cs typeface="Times New Roman" pitchFamily="18" charset="0"/>
              </a:rPr>
              <a:t>Ganas</a:t>
            </a:r>
            <a:r>
              <a:rPr lang="en-US" sz="4000" b="1" dirty="0">
                <a:latin typeface="Times New Roman" pitchFamily="18" charset="0"/>
                <a:cs typeface="Times New Roman" pitchFamily="18" charset="0"/>
              </a:rPr>
              <a:t> Defined by </a:t>
            </a:r>
            <a:r>
              <a:rPr lang="en-US" sz="4000" b="1" dirty="0" err="1">
                <a:latin typeface="Times New Roman" pitchFamily="18" charset="0"/>
                <a:cs typeface="Times New Roman" pitchFamily="18" charset="0"/>
              </a:rPr>
              <a:t>Pingala</a:t>
            </a:r>
            <a:endParaRPr lang="en-US" sz="4000" b="1"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82304247"/>
              </p:ext>
            </p:extLst>
          </p:nvPr>
        </p:nvGraphicFramePr>
        <p:xfrm>
          <a:off x="2514600" y="1447800"/>
          <a:ext cx="3765296" cy="3733798"/>
        </p:xfrm>
        <a:graphic>
          <a:graphicData uri="http://schemas.openxmlformats.org/drawingml/2006/table">
            <a:tbl>
              <a:tblPr firstRow="1" firstCol="1" bandRow="1">
                <a:tableStyleId>{5C22544A-7EE6-4342-B048-85BDC9FD1C3A}</a:tableStyleId>
              </a:tblPr>
              <a:tblGrid>
                <a:gridCol w="838200"/>
                <a:gridCol w="1447800"/>
                <a:gridCol w="1479296"/>
              </a:tblGrid>
              <a:tr h="765230">
                <a:tc>
                  <a:txBody>
                    <a:bodyPr/>
                    <a:lstStyle/>
                    <a:p>
                      <a:pPr marL="0" marR="0" algn="just">
                        <a:lnSpc>
                          <a:spcPct val="115000"/>
                        </a:lnSpc>
                        <a:spcBef>
                          <a:spcPts val="0"/>
                        </a:spcBef>
                        <a:spcAft>
                          <a:spcPts val="1000"/>
                        </a:spcAft>
                      </a:pPr>
                      <a:r>
                        <a:rPr lang="en-IN" sz="1800" dirty="0">
                          <a:effectLst/>
                          <a:latin typeface="Times New Roman" pitchFamily="18" charset="0"/>
                          <a:cs typeface="Times New Roman" pitchFamily="18" charset="0"/>
                        </a:rPr>
                        <a:t>Sl. No.</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dirty="0" err="1">
                          <a:effectLst/>
                          <a:latin typeface="Times New Roman" pitchFamily="18" charset="0"/>
                          <a:cs typeface="Times New Roman" pitchFamily="18" charset="0"/>
                        </a:rPr>
                        <a:t>Gana</a:t>
                      </a:r>
                      <a:r>
                        <a:rPr lang="en-IN" sz="1800" dirty="0">
                          <a:effectLst/>
                          <a:latin typeface="Times New Roman" pitchFamily="18" charset="0"/>
                          <a:cs typeface="Times New Roman" pitchFamily="18" charset="0"/>
                        </a:rPr>
                        <a:t> Name</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just">
                        <a:lnSpc>
                          <a:spcPct val="115000"/>
                        </a:lnSpc>
                        <a:spcBef>
                          <a:spcPts val="0"/>
                        </a:spcBef>
                        <a:spcAft>
                          <a:spcPts val="1000"/>
                        </a:spcAft>
                      </a:pPr>
                      <a:r>
                        <a:rPr lang="en-IN" sz="1800">
                          <a:effectLst/>
                          <a:latin typeface="Times New Roman" pitchFamily="18" charset="0"/>
                          <a:cs typeface="Times New Roman" pitchFamily="18" charset="0"/>
                        </a:rPr>
                        <a:t>Binary Word</a:t>
                      </a:r>
                      <a:endParaRPr lang="en-US" sz="180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a:t>
                      </a:r>
                      <a:r>
                        <a:rPr lang="en-IN" sz="1800" dirty="0" err="1">
                          <a:effectLst/>
                          <a:latin typeface="Times New Roman" pitchFamily="18" charset="0"/>
                          <a:cs typeface="Times New Roman" pitchFamily="18" charset="0"/>
                        </a:rPr>
                        <a:t>Ya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Gana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100</a:t>
                      </a:r>
                      <a:endParaRPr lang="en-US" sz="180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2</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‘Ma’ </a:t>
                      </a:r>
                      <a:r>
                        <a:rPr lang="en-IN" sz="1800" dirty="0" err="1">
                          <a:effectLst/>
                          <a:latin typeface="Times New Roman" pitchFamily="18" charset="0"/>
                          <a:cs typeface="Times New Roman" pitchFamily="18" charset="0"/>
                        </a:rPr>
                        <a:t>Gana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000</a:t>
                      </a:r>
                      <a:endParaRPr lang="en-US" sz="180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3</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‘Ta’ </a:t>
                      </a:r>
                      <a:r>
                        <a:rPr lang="en-IN" sz="1800" dirty="0" err="1">
                          <a:effectLst/>
                          <a:latin typeface="Times New Roman" pitchFamily="18" charset="0"/>
                          <a:cs typeface="Times New Roman" pitchFamily="18" charset="0"/>
                        </a:rPr>
                        <a:t>Gana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001</a:t>
                      </a:r>
                      <a:endParaRPr lang="en-US" sz="180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4</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‘Ra’ </a:t>
                      </a:r>
                      <a:r>
                        <a:rPr lang="en-IN" sz="1800" dirty="0" err="1">
                          <a:effectLst/>
                          <a:latin typeface="Times New Roman" pitchFamily="18" charset="0"/>
                          <a:cs typeface="Times New Roman" pitchFamily="18" charset="0"/>
                        </a:rPr>
                        <a:t>Gana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010</a:t>
                      </a:r>
                      <a:endParaRPr lang="en-US" sz="180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5</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a:t>
                      </a:r>
                      <a:r>
                        <a:rPr lang="en-IN" sz="1800" dirty="0" err="1">
                          <a:effectLst/>
                          <a:latin typeface="Times New Roman" pitchFamily="18" charset="0"/>
                          <a:cs typeface="Times New Roman" pitchFamily="18" charset="0"/>
                        </a:rPr>
                        <a:t>Ja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Gana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101</a:t>
                      </a:r>
                      <a:endParaRPr lang="en-US" sz="1800" dirty="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6</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a:t>
                      </a:r>
                      <a:r>
                        <a:rPr lang="en-IN" sz="1800" dirty="0" err="1">
                          <a:effectLst/>
                          <a:latin typeface="Times New Roman" pitchFamily="18" charset="0"/>
                          <a:cs typeface="Times New Roman" pitchFamily="18" charset="0"/>
                        </a:rPr>
                        <a:t>Bha</a:t>
                      </a:r>
                      <a:r>
                        <a:rPr lang="en-IN" sz="1800" dirty="0">
                          <a:effectLst/>
                          <a:latin typeface="Times New Roman" pitchFamily="18" charset="0"/>
                          <a:cs typeface="Times New Roman" pitchFamily="18" charset="0"/>
                        </a:rPr>
                        <a:t>’ </a:t>
                      </a:r>
                      <a:r>
                        <a:rPr lang="en-IN" sz="1800" dirty="0" err="1">
                          <a:effectLst/>
                          <a:latin typeface="Times New Roman" pitchFamily="18" charset="0"/>
                          <a:cs typeface="Times New Roman" pitchFamily="18" charset="0"/>
                        </a:rPr>
                        <a:t>Gana</a:t>
                      </a:r>
                      <a:endParaRPr lang="en-US" sz="1800" dirty="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011</a:t>
                      </a:r>
                      <a:endParaRPr lang="en-US" sz="1800" dirty="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7</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‘Na’ Gana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111</a:t>
                      </a:r>
                      <a:endParaRPr lang="en-US" sz="1800" dirty="0">
                        <a:effectLst/>
                        <a:latin typeface="Times New Roman" pitchFamily="18" charset="0"/>
                        <a:ea typeface="Calibri"/>
                        <a:cs typeface="Times New Roman" pitchFamily="18" charset="0"/>
                      </a:endParaRPr>
                    </a:p>
                  </a:txBody>
                  <a:tcPr marL="68580" marR="68580" marT="0" marB="0"/>
                </a:tc>
              </a:tr>
              <a:tr h="371071">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8</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a:effectLst/>
                          <a:latin typeface="Times New Roman" pitchFamily="18" charset="0"/>
                          <a:cs typeface="Times New Roman" pitchFamily="18" charset="0"/>
                        </a:rPr>
                        <a:t>‘Sa’ Gana</a:t>
                      </a:r>
                      <a:endParaRPr lang="en-US" sz="1800">
                        <a:effectLst/>
                        <a:latin typeface="Times New Roman" pitchFamily="18" charset="0"/>
                        <a:ea typeface="Calibri"/>
                        <a:cs typeface="Times New Roman" pitchFamily="18" charset="0"/>
                      </a:endParaRPr>
                    </a:p>
                  </a:txBody>
                  <a:tcPr marL="68580" marR="68580" marT="0" marB="0"/>
                </a:tc>
                <a:tc>
                  <a:txBody>
                    <a:bodyPr/>
                    <a:lstStyle/>
                    <a:p>
                      <a:pPr marL="0" marR="0" algn="ctr">
                        <a:lnSpc>
                          <a:spcPct val="115000"/>
                        </a:lnSpc>
                        <a:spcBef>
                          <a:spcPts val="0"/>
                        </a:spcBef>
                        <a:spcAft>
                          <a:spcPts val="1000"/>
                        </a:spcAft>
                      </a:pPr>
                      <a:r>
                        <a:rPr lang="en-IN" sz="1800" dirty="0">
                          <a:effectLst/>
                          <a:latin typeface="Times New Roman" pitchFamily="18" charset="0"/>
                          <a:cs typeface="Times New Roman" pitchFamily="18" charset="0"/>
                        </a:rPr>
                        <a:t>110</a:t>
                      </a:r>
                      <a:endParaRPr lang="en-US" sz="1800" dirty="0">
                        <a:effectLst/>
                        <a:latin typeface="Times New Roman" pitchFamily="18" charset="0"/>
                        <a:ea typeface="Calibri"/>
                        <a:cs typeface="Times New Roman" pitchFamily="18" charset="0"/>
                      </a:endParaRPr>
                    </a:p>
                  </a:txBody>
                  <a:tcPr marL="68580" marR="68580" marT="0" marB="0"/>
                </a:tc>
              </a:tr>
            </a:tbl>
          </a:graphicData>
        </a:graphic>
      </p:graphicFrame>
    </p:spTree>
    <p:extLst>
      <p:ext uri="{BB962C8B-B14F-4D97-AF65-F5344CB8AC3E}">
        <p14:creationId xmlns:p14="http://schemas.microsoft.com/office/powerpoint/2010/main" val="3499906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Eight </a:t>
            </a:r>
            <a:r>
              <a:rPr lang="en-US" b="1" dirty="0" err="1">
                <a:latin typeface="Times New Roman" pitchFamily="18" charset="0"/>
                <a:cs typeface="Times New Roman" pitchFamily="18" charset="0"/>
              </a:rPr>
              <a:t>Ganas</a:t>
            </a:r>
            <a:r>
              <a:rPr lang="en-US" b="1" dirty="0">
                <a:latin typeface="Times New Roman" pitchFamily="18" charset="0"/>
                <a:cs typeface="Times New Roman" pitchFamily="18" charset="0"/>
              </a:rPr>
              <a:t> Defined by </a:t>
            </a:r>
            <a:r>
              <a:rPr lang="en-US" b="1" dirty="0" err="1">
                <a:latin typeface="Times New Roman" pitchFamily="18" charset="0"/>
                <a:cs typeface="Times New Roman" pitchFamily="18" charset="0"/>
              </a:rPr>
              <a:t>Pingala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28120422"/>
              </p:ext>
            </p:extLst>
          </p:nvPr>
        </p:nvGraphicFramePr>
        <p:xfrm>
          <a:off x="1714500" y="4876800"/>
          <a:ext cx="5181600" cy="1318895"/>
        </p:xfrm>
        <a:graphic>
          <a:graphicData uri="http://schemas.openxmlformats.org/drawingml/2006/table">
            <a:tbl>
              <a:tblPr firstRow="1" firstCol="1" lastRow="1" lastCol="1" bandRow="1" bandCol="1">
                <a:tableStyleId>{5C22544A-7EE6-4342-B048-85BDC9FD1C3A}</a:tableStyleId>
              </a:tblPr>
              <a:tblGrid>
                <a:gridCol w="635000"/>
                <a:gridCol w="508000"/>
                <a:gridCol w="381000"/>
                <a:gridCol w="381000"/>
                <a:gridCol w="381000"/>
                <a:gridCol w="457200"/>
                <a:gridCol w="609600"/>
                <a:gridCol w="457200"/>
                <a:gridCol w="533400"/>
                <a:gridCol w="838200"/>
              </a:tblGrid>
              <a:tr h="503555">
                <a:tc>
                  <a:txBody>
                    <a:bodyPr/>
                    <a:lstStyle/>
                    <a:p>
                      <a:pPr marL="8255" marR="0" algn="ctr">
                        <a:lnSpc>
                          <a:spcPct val="115000"/>
                        </a:lnSpc>
                        <a:spcBef>
                          <a:spcPts val="715"/>
                        </a:spcBef>
                        <a:spcAft>
                          <a:spcPts val="0"/>
                        </a:spcAft>
                      </a:pPr>
                      <a:r>
                        <a:rPr lang="en-US" sz="2000" spc="-25" dirty="0" err="1">
                          <a:effectLst/>
                          <a:latin typeface="Times New Roman" pitchFamily="18" charset="0"/>
                          <a:cs typeface="Times New Roman" pitchFamily="18" charset="0"/>
                        </a:rPr>
                        <a:t>ya</a:t>
                      </a:r>
                      <a:endParaRPr lang="en-US" sz="2000" dirty="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000" spc="-25" dirty="0" err="1">
                          <a:effectLst/>
                          <a:latin typeface="Times New Roman" pitchFamily="18" charset="0"/>
                          <a:cs typeface="Times New Roman" pitchFamily="18" charset="0"/>
                        </a:rPr>
                        <a:t>mā</a:t>
                      </a:r>
                      <a:endParaRPr lang="en-US" sz="2000" dirty="0">
                        <a:effectLst/>
                        <a:latin typeface="Times New Roman" pitchFamily="18" charset="0"/>
                        <a:ea typeface="Calibri"/>
                        <a:cs typeface="Times New Roman" pitchFamily="18" charset="0"/>
                      </a:endParaRPr>
                    </a:p>
                  </a:txBody>
                  <a:tcPr marL="0" marR="0" marT="0" marB="0"/>
                </a:tc>
                <a:tc>
                  <a:txBody>
                    <a:bodyPr/>
                    <a:lstStyle/>
                    <a:p>
                      <a:pPr marL="8255" marR="0" algn="ctr">
                        <a:lnSpc>
                          <a:spcPct val="115000"/>
                        </a:lnSpc>
                        <a:spcBef>
                          <a:spcPts val="715"/>
                        </a:spcBef>
                        <a:spcAft>
                          <a:spcPts val="0"/>
                        </a:spcAft>
                      </a:pPr>
                      <a:r>
                        <a:rPr lang="en-US" sz="2000" spc="-25" dirty="0" err="1">
                          <a:effectLst/>
                          <a:latin typeface="Times New Roman" pitchFamily="18" charset="0"/>
                          <a:cs typeface="Times New Roman" pitchFamily="18" charset="0"/>
                        </a:rPr>
                        <a:t>tā</a:t>
                      </a:r>
                      <a:endParaRPr lang="en-US" sz="2000" dirty="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000" spc="-25">
                          <a:effectLst/>
                          <a:latin typeface="Times New Roman" pitchFamily="18" charset="0"/>
                          <a:cs typeface="Times New Roman" pitchFamily="18" charset="0"/>
                        </a:rPr>
                        <a:t>rā</a:t>
                      </a:r>
                      <a:endParaRPr lang="en-US" sz="20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000" spc="-25">
                          <a:effectLst/>
                          <a:latin typeface="Times New Roman" pitchFamily="18" charset="0"/>
                          <a:cs typeface="Times New Roman" pitchFamily="18" charset="0"/>
                        </a:rPr>
                        <a:t>ja</a:t>
                      </a:r>
                      <a:endParaRPr lang="en-US" sz="2000">
                        <a:effectLst/>
                        <a:latin typeface="Times New Roman" pitchFamily="18" charset="0"/>
                        <a:ea typeface="Calibri"/>
                        <a:cs typeface="Times New Roman" pitchFamily="18" charset="0"/>
                      </a:endParaRPr>
                    </a:p>
                  </a:txBody>
                  <a:tcPr marL="0" marR="0" marT="0" marB="0"/>
                </a:tc>
                <a:tc>
                  <a:txBody>
                    <a:bodyPr/>
                    <a:lstStyle/>
                    <a:p>
                      <a:pPr marL="12700" marR="0" algn="ctr">
                        <a:lnSpc>
                          <a:spcPct val="115000"/>
                        </a:lnSpc>
                        <a:spcBef>
                          <a:spcPts val="715"/>
                        </a:spcBef>
                        <a:spcAft>
                          <a:spcPts val="0"/>
                        </a:spcAft>
                      </a:pPr>
                      <a:r>
                        <a:rPr lang="en-US" sz="2000" spc="-25">
                          <a:effectLst/>
                          <a:latin typeface="Times New Roman" pitchFamily="18" charset="0"/>
                          <a:cs typeface="Times New Roman" pitchFamily="18" charset="0"/>
                        </a:rPr>
                        <a:t>bhā</a:t>
                      </a:r>
                      <a:endParaRPr lang="en-US" sz="20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000" spc="-25">
                          <a:effectLst/>
                          <a:latin typeface="Times New Roman" pitchFamily="18" charset="0"/>
                          <a:cs typeface="Times New Roman" pitchFamily="18" charset="0"/>
                        </a:rPr>
                        <a:t>na</a:t>
                      </a:r>
                      <a:endParaRPr lang="en-US" sz="20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000" spc="-25">
                          <a:effectLst/>
                          <a:latin typeface="Times New Roman" pitchFamily="18" charset="0"/>
                          <a:cs typeface="Times New Roman" pitchFamily="18" charset="0"/>
                        </a:rPr>
                        <a:t>sa</a:t>
                      </a:r>
                      <a:endParaRPr lang="en-US" sz="20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000" spc="-25">
                          <a:effectLst/>
                          <a:latin typeface="Times New Roman" pitchFamily="18" charset="0"/>
                          <a:cs typeface="Times New Roman" pitchFamily="18" charset="0"/>
                        </a:rPr>
                        <a:t>la</a:t>
                      </a:r>
                      <a:endParaRPr lang="en-US" sz="200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000" spc="-20">
                          <a:effectLst/>
                          <a:latin typeface="Times New Roman" pitchFamily="18" charset="0"/>
                          <a:cs typeface="Times New Roman" pitchFamily="18" charset="0"/>
                        </a:rPr>
                        <a:t>gam</a:t>
                      </a:r>
                      <a:endParaRPr lang="en-US" sz="2000">
                        <a:effectLst/>
                        <a:latin typeface="Times New Roman" pitchFamily="18" charset="0"/>
                        <a:ea typeface="Calibri"/>
                        <a:cs typeface="Times New Roman" pitchFamily="18" charset="0"/>
                      </a:endParaRPr>
                    </a:p>
                  </a:txBody>
                  <a:tcPr marL="0" marR="0" marT="0" marB="0"/>
                </a:tc>
              </a:tr>
              <a:tr h="407670">
                <a:tc>
                  <a:txBody>
                    <a:bodyPr/>
                    <a:lstStyle/>
                    <a:p>
                      <a:pPr marL="11430" marR="0" algn="ctr">
                        <a:lnSpc>
                          <a:spcPct val="115000"/>
                        </a:lnSpc>
                        <a:spcBef>
                          <a:spcPts val="715"/>
                        </a:spcBef>
                        <a:spcAft>
                          <a:spcPts val="0"/>
                        </a:spcAft>
                      </a:pPr>
                      <a:r>
                        <a:rPr lang="en-US" sz="2000" spc="-50">
                          <a:effectLst/>
                          <a:latin typeface="Times New Roman" pitchFamily="18" charset="0"/>
                          <a:cs typeface="Times New Roman" pitchFamily="18" charset="0"/>
                        </a:rPr>
                        <a:t>L</a:t>
                      </a:r>
                      <a:endParaRPr lang="en-US" sz="20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000" spc="-50">
                          <a:effectLst/>
                          <a:latin typeface="Times New Roman" pitchFamily="18" charset="0"/>
                          <a:cs typeface="Times New Roman" pitchFamily="18" charset="0"/>
                        </a:rPr>
                        <a:t>G</a:t>
                      </a:r>
                      <a:endParaRPr lang="en-US" sz="2000">
                        <a:effectLst/>
                        <a:latin typeface="Times New Roman" pitchFamily="18" charset="0"/>
                        <a:ea typeface="Calibri"/>
                        <a:cs typeface="Times New Roman" pitchFamily="18" charset="0"/>
                      </a:endParaRPr>
                    </a:p>
                  </a:txBody>
                  <a:tcPr marL="0" marR="0" marT="0" marB="0"/>
                </a:tc>
                <a:tc>
                  <a:txBody>
                    <a:bodyPr/>
                    <a:lstStyle/>
                    <a:p>
                      <a:pPr marL="11430" marR="0" algn="ctr">
                        <a:lnSpc>
                          <a:spcPct val="115000"/>
                        </a:lnSpc>
                        <a:spcBef>
                          <a:spcPts val="715"/>
                        </a:spcBef>
                        <a:spcAft>
                          <a:spcPts val="0"/>
                        </a:spcAft>
                      </a:pPr>
                      <a:r>
                        <a:rPr lang="en-US" sz="2000" spc="-50" dirty="0">
                          <a:effectLst/>
                          <a:latin typeface="Times New Roman" pitchFamily="18" charset="0"/>
                          <a:cs typeface="Times New Roman" pitchFamily="18" charset="0"/>
                        </a:rPr>
                        <a:t>G</a:t>
                      </a:r>
                      <a:endParaRPr lang="en-US" sz="2000" dirty="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000" spc="-50" dirty="0">
                          <a:effectLst/>
                          <a:latin typeface="Times New Roman" pitchFamily="18" charset="0"/>
                          <a:cs typeface="Times New Roman" pitchFamily="18" charset="0"/>
                        </a:rPr>
                        <a:t>G</a:t>
                      </a:r>
                      <a:endParaRPr lang="en-US" sz="2000" dirty="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000" spc="-50" dirty="0">
                          <a:effectLst/>
                          <a:latin typeface="Times New Roman" pitchFamily="18" charset="0"/>
                          <a:cs typeface="Times New Roman" pitchFamily="18" charset="0"/>
                        </a:rPr>
                        <a:t>L</a:t>
                      </a:r>
                      <a:endParaRPr lang="en-US" sz="2000" dirty="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000" spc="-50" dirty="0">
                          <a:effectLst/>
                          <a:latin typeface="Times New Roman" pitchFamily="18" charset="0"/>
                          <a:cs typeface="Times New Roman" pitchFamily="18" charset="0"/>
                        </a:rPr>
                        <a:t>G</a:t>
                      </a:r>
                      <a:endParaRPr lang="en-US" sz="2000" dirty="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000" spc="-50" dirty="0">
                          <a:effectLst/>
                          <a:latin typeface="Times New Roman" pitchFamily="18" charset="0"/>
                          <a:cs typeface="Times New Roman" pitchFamily="18" charset="0"/>
                        </a:rPr>
                        <a:t>L</a:t>
                      </a:r>
                      <a:endParaRPr lang="en-US" sz="2000" dirty="0">
                        <a:effectLst/>
                        <a:latin typeface="Times New Roman" pitchFamily="18" charset="0"/>
                        <a:ea typeface="Calibri"/>
                        <a:cs typeface="Times New Roman" pitchFamily="18" charset="0"/>
                      </a:endParaRPr>
                    </a:p>
                  </a:txBody>
                  <a:tcPr marL="0" marR="0" marT="0" marB="0"/>
                </a:tc>
                <a:tc>
                  <a:txBody>
                    <a:bodyPr/>
                    <a:lstStyle/>
                    <a:p>
                      <a:pPr marL="14605" marR="0" algn="ctr">
                        <a:lnSpc>
                          <a:spcPct val="115000"/>
                        </a:lnSpc>
                        <a:spcBef>
                          <a:spcPts val="715"/>
                        </a:spcBef>
                        <a:spcAft>
                          <a:spcPts val="0"/>
                        </a:spcAft>
                      </a:pPr>
                      <a:r>
                        <a:rPr lang="en-US" sz="2000" spc="-50" dirty="0">
                          <a:effectLst/>
                          <a:latin typeface="Times New Roman" pitchFamily="18" charset="0"/>
                          <a:cs typeface="Times New Roman" pitchFamily="18" charset="0"/>
                        </a:rPr>
                        <a:t>L</a:t>
                      </a:r>
                      <a:endParaRPr lang="en-US" sz="2000" dirty="0">
                        <a:effectLst/>
                        <a:latin typeface="Times New Roman" pitchFamily="18" charset="0"/>
                        <a:ea typeface="Calibri"/>
                        <a:cs typeface="Times New Roman" pitchFamily="18" charset="0"/>
                      </a:endParaRPr>
                    </a:p>
                  </a:txBody>
                  <a:tcPr marL="0" marR="0" marT="0" marB="0"/>
                </a:tc>
                <a:tc>
                  <a:txBody>
                    <a:bodyPr/>
                    <a:lstStyle/>
                    <a:p>
                      <a:pPr marL="14605" marR="0" algn="ctr">
                        <a:lnSpc>
                          <a:spcPct val="115000"/>
                        </a:lnSpc>
                        <a:spcBef>
                          <a:spcPts val="715"/>
                        </a:spcBef>
                        <a:spcAft>
                          <a:spcPts val="0"/>
                        </a:spcAft>
                      </a:pPr>
                      <a:r>
                        <a:rPr lang="en-US" sz="2000" spc="-50" dirty="0">
                          <a:effectLst/>
                          <a:latin typeface="Times New Roman" pitchFamily="18" charset="0"/>
                          <a:cs typeface="Times New Roman" pitchFamily="18" charset="0"/>
                        </a:rPr>
                        <a:t>L</a:t>
                      </a:r>
                      <a:endParaRPr lang="en-US" sz="2000" dirty="0">
                        <a:effectLst/>
                        <a:latin typeface="Times New Roman" pitchFamily="18" charset="0"/>
                        <a:ea typeface="Calibri"/>
                        <a:cs typeface="Times New Roman" pitchFamily="18" charset="0"/>
                      </a:endParaRPr>
                    </a:p>
                  </a:txBody>
                  <a:tcPr marL="0" marR="0" marT="0" marB="0"/>
                </a:tc>
                <a:tc>
                  <a:txBody>
                    <a:bodyPr/>
                    <a:lstStyle/>
                    <a:p>
                      <a:pPr marL="12700" marR="0" algn="ctr">
                        <a:lnSpc>
                          <a:spcPct val="115000"/>
                        </a:lnSpc>
                        <a:spcBef>
                          <a:spcPts val="715"/>
                        </a:spcBef>
                        <a:spcAft>
                          <a:spcPts val="0"/>
                        </a:spcAft>
                      </a:pPr>
                      <a:r>
                        <a:rPr lang="en-US" sz="2000" spc="-50">
                          <a:effectLst/>
                          <a:latin typeface="Times New Roman" pitchFamily="18" charset="0"/>
                          <a:cs typeface="Times New Roman" pitchFamily="18" charset="0"/>
                        </a:rPr>
                        <a:t>G</a:t>
                      </a:r>
                      <a:endParaRPr lang="en-US" sz="2000">
                        <a:effectLst/>
                        <a:latin typeface="Times New Roman" pitchFamily="18" charset="0"/>
                        <a:ea typeface="Calibri"/>
                        <a:cs typeface="Times New Roman" pitchFamily="18" charset="0"/>
                      </a:endParaRPr>
                    </a:p>
                  </a:txBody>
                  <a:tcPr marL="0" marR="0" marT="0" marB="0"/>
                </a:tc>
              </a:tr>
              <a:tr h="407670">
                <a:tc>
                  <a:txBody>
                    <a:bodyPr/>
                    <a:lstStyle/>
                    <a:p>
                      <a:pPr marL="11430" marR="0" algn="ctr">
                        <a:lnSpc>
                          <a:spcPct val="115000"/>
                        </a:lnSpc>
                        <a:spcBef>
                          <a:spcPts val="715"/>
                        </a:spcBef>
                        <a:spcAft>
                          <a:spcPts val="0"/>
                        </a:spcAft>
                      </a:pPr>
                      <a:r>
                        <a:rPr lang="en-US" sz="2000" spc="-50">
                          <a:effectLst/>
                          <a:latin typeface="Times New Roman" pitchFamily="18" charset="0"/>
                          <a:cs typeface="Times New Roman" pitchFamily="18" charset="0"/>
                        </a:rPr>
                        <a:t>1</a:t>
                      </a:r>
                      <a:endParaRPr lang="en-US" sz="20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000" spc="-50">
                          <a:effectLst/>
                          <a:latin typeface="Times New Roman" pitchFamily="18" charset="0"/>
                          <a:cs typeface="Times New Roman" pitchFamily="18" charset="0"/>
                        </a:rPr>
                        <a:t>0</a:t>
                      </a:r>
                      <a:endParaRPr lang="en-US" sz="2000">
                        <a:effectLst/>
                        <a:latin typeface="Times New Roman" pitchFamily="18" charset="0"/>
                        <a:ea typeface="Calibri"/>
                        <a:cs typeface="Times New Roman" pitchFamily="18" charset="0"/>
                      </a:endParaRPr>
                    </a:p>
                  </a:txBody>
                  <a:tcPr marL="0" marR="0" marT="0" marB="0"/>
                </a:tc>
                <a:tc>
                  <a:txBody>
                    <a:bodyPr/>
                    <a:lstStyle/>
                    <a:p>
                      <a:pPr marL="11430" marR="0" algn="ctr">
                        <a:lnSpc>
                          <a:spcPct val="115000"/>
                        </a:lnSpc>
                        <a:spcBef>
                          <a:spcPts val="715"/>
                        </a:spcBef>
                        <a:spcAft>
                          <a:spcPts val="0"/>
                        </a:spcAft>
                      </a:pPr>
                      <a:r>
                        <a:rPr lang="en-US" sz="2000" spc="-50">
                          <a:effectLst/>
                          <a:latin typeface="Times New Roman" pitchFamily="18" charset="0"/>
                          <a:cs typeface="Times New Roman" pitchFamily="18" charset="0"/>
                        </a:rPr>
                        <a:t>0</a:t>
                      </a:r>
                      <a:endParaRPr lang="en-US" sz="2000">
                        <a:effectLst/>
                        <a:latin typeface="Times New Roman" pitchFamily="18" charset="0"/>
                        <a:ea typeface="Calibri"/>
                        <a:cs typeface="Times New Roman" pitchFamily="18" charset="0"/>
                      </a:endParaRPr>
                    </a:p>
                  </a:txBody>
                  <a:tcPr marL="0" marR="0" marT="0" marB="0"/>
                </a:tc>
                <a:tc>
                  <a:txBody>
                    <a:bodyPr/>
                    <a:lstStyle/>
                    <a:p>
                      <a:pPr marL="13335" marR="0" algn="ctr">
                        <a:lnSpc>
                          <a:spcPct val="115000"/>
                        </a:lnSpc>
                        <a:spcBef>
                          <a:spcPts val="715"/>
                        </a:spcBef>
                        <a:spcAft>
                          <a:spcPts val="0"/>
                        </a:spcAft>
                      </a:pPr>
                      <a:r>
                        <a:rPr lang="en-US" sz="2000" spc="-50">
                          <a:effectLst/>
                          <a:latin typeface="Times New Roman" pitchFamily="18" charset="0"/>
                          <a:cs typeface="Times New Roman" pitchFamily="18" charset="0"/>
                        </a:rPr>
                        <a:t>0</a:t>
                      </a:r>
                      <a:endParaRPr lang="en-US" sz="2000">
                        <a:effectLst/>
                        <a:latin typeface="Times New Roman" pitchFamily="18" charset="0"/>
                        <a:ea typeface="Calibri"/>
                        <a:cs typeface="Times New Roman" pitchFamily="18" charset="0"/>
                      </a:endParaRPr>
                    </a:p>
                  </a:txBody>
                  <a:tcPr marL="0" marR="0" marT="0" marB="0"/>
                </a:tc>
                <a:tc>
                  <a:txBody>
                    <a:bodyPr/>
                    <a:lstStyle/>
                    <a:p>
                      <a:pPr marL="12065" marR="0" algn="ctr">
                        <a:lnSpc>
                          <a:spcPct val="115000"/>
                        </a:lnSpc>
                        <a:spcBef>
                          <a:spcPts val="715"/>
                        </a:spcBef>
                        <a:spcAft>
                          <a:spcPts val="0"/>
                        </a:spcAft>
                      </a:pPr>
                      <a:r>
                        <a:rPr lang="en-US" sz="2000" spc="-50">
                          <a:effectLst/>
                          <a:latin typeface="Times New Roman" pitchFamily="18" charset="0"/>
                          <a:cs typeface="Times New Roman" pitchFamily="18" charset="0"/>
                        </a:rPr>
                        <a:t>1</a:t>
                      </a:r>
                      <a:endParaRPr lang="en-US" sz="20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000" spc="-50">
                          <a:effectLst/>
                          <a:latin typeface="Times New Roman" pitchFamily="18" charset="0"/>
                          <a:cs typeface="Times New Roman" pitchFamily="18" charset="0"/>
                        </a:rPr>
                        <a:t>0</a:t>
                      </a:r>
                      <a:endParaRPr lang="en-US" sz="2000">
                        <a:effectLst/>
                        <a:latin typeface="Times New Roman" pitchFamily="18" charset="0"/>
                        <a:ea typeface="Calibri"/>
                        <a:cs typeface="Times New Roman" pitchFamily="18" charset="0"/>
                      </a:endParaRPr>
                    </a:p>
                  </a:txBody>
                  <a:tcPr marL="0" marR="0" marT="0" marB="0"/>
                </a:tc>
                <a:tc>
                  <a:txBody>
                    <a:bodyPr/>
                    <a:lstStyle/>
                    <a:p>
                      <a:pPr marL="13970" marR="0" algn="ctr">
                        <a:lnSpc>
                          <a:spcPct val="115000"/>
                        </a:lnSpc>
                        <a:spcBef>
                          <a:spcPts val="715"/>
                        </a:spcBef>
                        <a:spcAft>
                          <a:spcPts val="0"/>
                        </a:spcAft>
                      </a:pPr>
                      <a:r>
                        <a:rPr lang="en-US" sz="2000" spc="-50">
                          <a:effectLst/>
                          <a:latin typeface="Times New Roman" pitchFamily="18" charset="0"/>
                          <a:cs typeface="Times New Roman" pitchFamily="18" charset="0"/>
                        </a:rPr>
                        <a:t>1</a:t>
                      </a:r>
                      <a:endParaRPr lang="en-US" sz="2000">
                        <a:effectLst/>
                        <a:latin typeface="Times New Roman" pitchFamily="18" charset="0"/>
                        <a:ea typeface="Calibri"/>
                        <a:cs typeface="Times New Roman" pitchFamily="18" charset="0"/>
                      </a:endParaRPr>
                    </a:p>
                  </a:txBody>
                  <a:tcPr marL="0" marR="0" marT="0" marB="0"/>
                </a:tc>
                <a:tc>
                  <a:txBody>
                    <a:bodyPr/>
                    <a:lstStyle/>
                    <a:p>
                      <a:pPr marL="14605" marR="0" algn="ctr">
                        <a:lnSpc>
                          <a:spcPct val="115000"/>
                        </a:lnSpc>
                        <a:spcBef>
                          <a:spcPts val="715"/>
                        </a:spcBef>
                        <a:spcAft>
                          <a:spcPts val="0"/>
                        </a:spcAft>
                      </a:pPr>
                      <a:r>
                        <a:rPr lang="en-US" sz="2000" spc="-50">
                          <a:effectLst/>
                          <a:latin typeface="Times New Roman" pitchFamily="18" charset="0"/>
                          <a:cs typeface="Times New Roman" pitchFamily="18" charset="0"/>
                        </a:rPr>
                        <a:t>1</a:t>
                      </a:r>
                      <a:endParaRPr lang="en-US" sz="2000">
                        <a:effectLst/>
                        <a:latin typeface="Times New Roman" pitchFamily="18" charset="0"/>
                        <a:ea typeface="Calibri"/>
                        <a:cs typeface="Times New Roman" pitchFamily="18" charset="0"/>
                      </a:endParaRPr>
                    </a:p>
                  </a:txBody>
                  <a:tcPr marL="0" marR="0" marT="0" marB="0"/>
                </a:tc>
                <a:tc>
                  <a:txBody>
                    <a:bodyPr/>
                    <a:lstStyle/>
                    <a:p>
                      <a:pPr marL="14605" marR="0" algn="ctr">
                        <a:lnSpc>
                          <a:spcPct val="115000"/>
                        </a:lnSpc>
                        <a:spcBef>
                          <a:spcPts val="715"/>
                        </a:spcBef>
                        <a:spcAft>
                          <a:spcPts val="0"/>
                        </a:spcAft>
                      </a:pPr>
                      <a:r>
                        <a:rPr lang="en-US" sz="2000" spc="-50" dirty="0">
                          <a:effectLst/>
                          <a:latin typeface="Times New Roman" pitchFamily="18" charset="0"/>
                          <a:cs typeface="Times New Roman" pitchFamily="18" charset="0"/>
                        </a:rPr>
                        <a:t>1</a:t>
                      </a:r>
                      <a:endParaRPr lang="en-US" sz="2000" dirty="0">
                        <a:effectLst/>
                        <a:latin typeface="Times New Roman" pitchFamily="18" charset="0"/>
                        <a:ea typeface="Calibri"/>
                        <a:cs typeface="Times New Roman" pitchFamily="18" charset="0"/>
                      </a:endParaRPr>
                    </a:p>
                  </a:txBody>
                  <a:tcPr marL="0" marR="0" marT="0" marB="0"/>
                </a:tc>
                <a:tc>
                  <a:txBody>
                    <a:bodyPr/>
                    <a:lstStyle/>
                    <a:p>
                      <a:pPr marL="12700" marR="0" algn="ctr">
                        <a:lnSpc>
                          <a:spcPct val="115000"/>
                        </a:lnSpc>
                        <a:spcBef>
                          <a:spcPts val="715"/>
                        </a:spcBef>
                        <a:spcAft>
                          <a:spcPts val="0"/>
                        </a:spcAft>
                      </a:pPr>
                      <a:r>
                        <a:rPr lang="en-US" sz="2000" spc="-50" dirty="0">
                          <a:effectLst/>
                          <a:latin typeface="Times New Roman" pitchFamily="18" charset="0"/>
                          <a:cs typeface="Times New Roman" pitchFamily="18" charset="0"/>
                        </a:rPr>
                        <a:t>0</a:t>
                      </a:r>
                      <a:endParaRPr lang="en-US" sz="2000" dirty="0">
                        <a:effectLst/>
                        <a:latin typeface="Times New Roman" pitchFamily="18" charset="0"/>
                        <a:ea typeface="Calibri"/>
                        <a:cs typeface="Times New Roman" pitchFamily="18" charset="0"/>
                      </a:endParaRPr>
                    </a:p>
                  </a:txBody>
                  <a:tcPr marL="0" marR="0" marT="0" marB="0"/>
                </a:tc>
              </a:tr>
            </a:tbl>
          </a:graphicData>
        </a:graphic>
      </p:graphicFrame>
      <p:sp>
        <p:nvSpPr>
          <p:cNvPr id="5" name="Rectangle 1"/>
          <p:cNvSpPr>
            <a:spLocks noChangeArrowheads="1"/>
          </p:cNvSpPr>
          <p:nvPr/>
        </p:nvSpPr>
        <p:spPr bwMode="auto">
          <a:xfrm>
            <a:off x="457200" y="242191"/>
            <a:ext cx="81534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800" dirty="0">
              <a:latin typeface="Times New Roman" pitchFamily="18" charset="0"/>
              <a:ea typeface="Times New Roman" pitchFamily="18" charset="0"/>
              <a:cs typeface="Times New Roman" pitchFamily="18" charset="0"/>
            </a:endParaRPr>
          </a:p>
          <a:p>
            <a:pPr algn="just" fontAlgn="base">
              <a:spcBef>
                <a:spcPct val="0"/>
              </a:spcBef>
              <a:spcAft>
                <a:spcPct val="0"/>
              </a:spcAft>
            </a:pPr>
            <a:endParaRPr lang="en-IN" sz="2800" dirty="0" smtClean="0"/>
          </a:p>
          <a:p>
            <a:pPr algn="just" fontAlgn="base">
              <a:spcBef>
                <a:spcPct val="0"/>
              </a:spcBef>
              <a:spcAft>
                <a:spcPct val="0"/>
              </a:spcAft>
            </a:pPr>
            <a:r>
              <a:rPr lang="en-IN" sz="2800" dirty="0" smtClean="0">
                <a:latin typeface="Times New Roman" pitchFamily="18" charset="0"/>
                <a:cs typeface="Times New Roman" pitchFamily="18" charset="0"/>
              </a:rPr>
              <a:t>There </a:t>
            </a:r>
            <a:r>
              <a:rPr lang="en-IN" sz="2800" dirty="0">
                <a:latin typeface="Times New Roman" pitchFamily="18" charset="0"/>
                <a:cs typeface="Times New Roman" pitchFamily="18" charset="0"/>
              </a:rPr>
              <a:t>is an easy to remember mnemonic for the composition of the eight </a:t>
            </a:r>
            <a:r>
              <a:rPr lang="en-IN" sz="2800" dirty="0" err="1">
                <a:latin typeface="Times New Roman" pitchFamily="18" charset="0"/>
                <a:cs typeface="Times New Roman" pitchFamily="18" charset="0"/>
              </a:rPr>
              <a:t>ganas</a:t>
            </a:r>
            <a:r>
              <a:rPr lang="en-IN" sz="2800" dirty="0">
                <a:latin typeface="Times New Roman" pitchFamily="18" charset="0"/>
                <a:cs typeface="Times New Roman" pitchFamily="18" charset="0"/>
              </a:rPr>
              <a:t> given by the following short phrase:</a:t>
            </a:r>
            <a:endParaRPr lang="en-US" sz="2800" dirty="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Yamata</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-raja-</a:t>
            </a:r>
            <a:r>
              <a:rPr kumimoji="0" lang="en-US" sz="28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bhana</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r>
              <a:rPr kumimoji="0" lang="en-US" sz="28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salagam</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Analysing</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the phrase using the rules of </a:t>
            </a:r>
            <a:r>
              <a:rPr kumimoji="0" lang="en-US" sz="28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laghu</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and guru and converting into a binary word we get the result as presented in table:</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3259613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latin typeface="Times New Roman" pitchFamily="18" charset="0"/>
                <a:cs typeface="Times New Roman" pitchFamily="18" charset="0"/>
              </a:rPr>
              <a:t>Eight </a:t>
            </a:r>
            <a:r>
              <a:rPr lang="en-US" b="1" dirty="0" err="1">
                <a:latin typeface="Times New Roman" pitchFamily="18" charset="0"/>
                <a:cs typeface="Times New Roman" pitchFamily="18" charset="0"/>
              </a:rPr>
              <a:t>Ganas</a:t>
            </a:r>
            <a:r>
              <a:rPr lang="en-US" b="1" dirty="0">
                <a:latin typeface="Times New Roman" pitchFamily="18" charset="0"/>
                <a:cs typeface="Times New Roman" pitchFamily="18" charset="0"/>
              </a:rPr>
              <a:t> Defined by </a:t>
            </a:r>
            <a:r>
              <a:rPr lang="en-US" b="1" dirty="0" err="1">
                <a:latin typeface="Times New Roman" pitchFamily="18" charset="0"/>
                <a:cs typeface="Times New Roman" pitchFamily="18" charset="0"/>
              </a:rPr>
              <a:t>Pingala</a:t>
            </a:r>
            <a:endParaRPr lang="en-US" dirty="0"/>
          </a:p>
        </p:txBody>
      </p:sp>
      <p:sp>
        <p:nvSpPr>
          <p:cNvPr id="3" name="Content Placeholder 2"/>
          <p:cNvSpPr>
            <a:spLocks noGrp="1"/>
          </p:cNvSpPr>
          <p:nvPr>
            <p:ph idx="1"/>
          </p:nvPr>
        </p:nvSpPr>
        <p:spPr>
          <a:xfrm>
            <a:off x="457200" y="838200"/>
            <a:ext cx="8229600" cy="5791200"/>
          </a:xfrm>
        </p:spPr>
        <p:txBody>
          <a:bodyPr>
            <a:noAutofit/>
          </a:bodyPr>
          <a:lstStyle/>
          <a:p>
            <a:pPr algn="just"/>
            <a:r>
              <a:rPr lang="en-IN" sz="2400" dirty="0">
                <a:latin typeface="Times New Roman" pitchFamily="18" charset="0"/>
                <a:cs typeface="Times New Roman" pitchFamily="18" charset="0"/>
              </a:rPr>
              <a:t>Using the binary cycle we can generate all the 8 unique combinations of the binary word of length three that constituted the eight </a:t>
            </a:r>
            <a:r>
              <a:rPr lang="en-IN" sz="2400" dirty="0" err="1">
                <a:latin typeface="Times New Roman" pitchFamily="18" charset="0"/>
                <a:cs typeface="Times New Roman" pitchFamily="18" charset="0"/>
              </a:rPr>
              <a:t>ganas</a:t>
            </a:r>
            <a:r>
              <a:rPr lang="en-IN" sz="2400" dirty="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For </a:t>
            </a:r>
            <a:r>
              <a:rPr lang="en-IN" sz="2400" dirty="0">
                <a:latin typeface="Times New Roman" pitchFamily="18" charset="0"/>
                <a:cs typeface="Times New Roman" pitchFamily="18" charset="0"/>
              </a:rPr>
              <a:t>example, from the point indicated as ‘begin’, we can progressively derive all the 8 </a:t>
            </a:r>
            <a:r>
              <a:rPr lang="en-IN" sz="2400" dirty="0" err="1">
                <a:latin typeface="Times New Roman" pitchFamily="18" charset="0"/>
                <a:cs typeface="Times New Roman" pitchFamily="18" charset="0"/>
              </a:rPr>
              <a:t>ganas</a:t>
            </a:r>
            <a:r>
              <a:rPr lang="en-IN" sz="2400" dirty="0">
                <a:latin typeface="Times New Roman" pitchFamily="18" charset="0"/>
                <a:cs typeface="Times New Roman" pitchFamily="18" charset="0"/>
              </a:rPr>
              <a:t> and their binary composition  taking three consecutive binary numbers at a time , ‘1-0-0’ forms the ‘</a:t>
            </a:r>
            <a:r>
              <a:rPr lang="en-IN" sz="2400" dirty="0" err="1">
                <a:latin typeface="Times New Roman" pitchFamily="18" charset="0"/>
                <a:cs typeface="Times New Roman" pitchFamily="18" charset="0"/>
              </a:rPr>
              <a:t>ya</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gana</a:t>
            </a:r>
            <a:r>
              <a:rPr lang="en-IN" sz="2400" dirty="0">
                <a:latin typeface="Times New Roman" pitchFamily="18" charset="0"/>
                <a:cs typeface="Times New Roman" pitchFamily="18" charset="0"/>
              </a:rPr>
              <a:t>,  ‘0-0-0’ forms the ‘ma’ </a:t>
            </a:r>
            <a:r>
              <a:rPr lang="en-IN" sz="2400" dirty="0" err="1">
                <a:latin typeface="Times New Roman" pitchFamily="18" charset="0"/>
                <a:cs typeface="Times New Roman" pitchFamily="18" charset="0"/>
              </a:rPr>
              <a:t>gana</a:t>
            </a:r>
            <a:r>
              <a:rPr lang="en-IN" sz="2400" dirty="0">
                <a:latin typeface="Times New Roman" pitchFamily="18" charset="0"/>
                <a:cs typeface="Times New Roman" pitchFamily="18" charset="0"/>
              </a:rPr>
              <a:t> and so on.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This </a:t>
            </a:r>
            <a:r>
              <a:rPr lang="en-IN" sz="2400" dirty="0">
                <a:latin typeface="Times New Roman" pitchFamily="18" charset="0"/>
                <a:cs typeface="Times New Roman" pitchFamily="18" charset="0"/>
              </a:rPr>
              <a:t>method of string generation was discovered using combinatorial mathematics known as the De </a:t>
            </a:r>
            <a:r>
              <a:rPr lang="en-IN" sz="2400" dirty="0" err="1">
                <a:latin typeface="Times New Roman" pitchFamily="18" charset="0"/>
                <a:cs typeface="Times New Roman" pitchFamily="18" charset="0"/>
              </a:rPr>
              <a:t>Brujian</a:t>
            </a:r>
            <a:r>
              <a:rPr lang="en-IN" sz="2400" dirty="0">
                <a:latin typeface="Times New Roman" pitchFamily="18" charset="0"/>
                <a:cs typeface="Times New Roman" pitchFamily="18" charset="0"/>
              </a:rPr>
              <a:t> sequence. It is a sequence of </a:t>
            </a:r>
            <a:r>
              <a:rPr lang="en-IN" sz="2400" dirty="0" err="1">
                <a:latin typeface="Times New Roman" pitchFamily="18" charset="0"/>
                <a:cs typeface="Times New Roman" pitchFamily="18" charset="0"/>
              </a:rPr>
              <a:t>order’n</a:t>
            </a:r>
            <a:r>
              <a:rPr lang="en-IN" sz="2400" dirty="0">
                <a:latin typeface="Times New Roman" pitchFamily="18" charset="0"/>
                <a:cs typeface="Times New Roman" pitchFamily="18" charset="0"/>
              </a:rPr>
              <a:t>’ on an alphabet  A of size ‘k’ in which every possible length ‘n’ string on A occurs exactly once as a substring. </a:t>
            </a:r>
            <a:endParaRPr lang="en-IN" sz="2400" dirty="0" smtClean="0">
              <a:latin typeface="Times New Roman" pitchFamily="18" charset="0"/>
              <a:cs typeface="Times New Roman" pitchFamily="18" charset="0"/>
            </a:endParaRPr>
          </a:p>
          <a:p>
            <a:pPr algn="just"/>
            <a:r>
              <a:rPr lang="en-IN" sz="2400" dirty="0" err="1" smtClean="0">
                <a:latin typeface="Times New Roman" pitchFamily="18" charset="0"/>
                <a:cs typeface="Times New Roman" pitchFamily="18" charset="0"/>
              </a:rPr>
              <a:t>Pingala</a:t>
            </a:r>
            <a:r>
              <a:rPr lang="en-IN" sz="2400" dirty="0" smtClean="0">
                <a:latin typeface="Times New Roman" pitchFamily="18" charset="0"/>
                <a:cs typeface="Times New Roman" pitchFamily="18" charset="0"/>
              </a:rPr>
              <a:t> </a:t>
            </a:r>
            <a:r>
              <a:rPr lang="en-IN" sz="2400" dirty="0">
                <a:latin typeface="Times New Roman" pitchFamily="18" charset="0"/>
                <a:cs typeface="Times New Roman" pitchFamily="18" charset="0"/>
              </a:rPr>
              <a:t>demonstrated this for k  = 2 (</a:t>
            </a:r>
            <a:r>
              <a:rPr lang="en-IN" sz="2400" dirty="0" err="1">
                <a:latin typeface="Times New Roman" pitchFamily="18" charset="0"/>
                <a:cs typeface="Times New Roman" pitchFamily="18" charset="0"/>
              </a:rPr>
              <a:t>laghu</a:t>
            </a:r>
            <a:r>
              <a:rPr lang="en-IN" sz="2400" dirty="0">
                <a:latin typeface="Times New Roman" pitchFamily="18" charset="0"/>
                <a:cs typeface="Times New Roman" pitchFamily="18" charset="0"/>
              </a:rPr>
              <a:t>, guru)  and n = 3(</a:t>
            </a:r>
            <a:r>
              <a:rPr lang="en-IN" sz="2400" dirty="0" err="1">
                <a:latin typeface="Times New Roman" pitchFamily="18" charset="0"/>
                <a:cs typeface="Times New Roman" pitchFamily="18" charset="0"/>
              </a:rPr>
              <a:t>gana</a:t>
            </a:r>
            <a:r>
              <a:rPr lang="en-IN" sz="2400" dirty="0">
                <a:latin typeface="Times New Roman" pitchFamily="18" charset="0"/>
                <a:cs typeface="Times New Roman" pitchFamily="18" charset="0"/>
              </a:rPr>
              <a:t> of size 3)</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0192236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Binary Cycle of Length 3</a:t>
            </a:r>
            <a:endParaRPr lang="en-US" sz="3600" b="1" dirty="0">
              <a:latin typeface="Times New Roman" pitchFamily="18" charset="0"/>
              <a:cs typeface="Times New Roman" pitchFamily="18" charset="0"/>
            </a:endParaRPr>
          </a:p>
        </p:txBody>
      </p:sp>
      <p:pic>
        <p:nvPicPr>
          <p:cNvPr id="4" name="Image 153"/>
          <p:cNvPicPr>
            <a:picLocks noGrp="1"/>
          </p:cNvPicPr>
          <p:nvPr>
            <p:ph idx="1"/>
          </p:nvPr>
        </p:nvPicPr>
        <p:blipFill>
          <a:blip r:embed="rId2" cstate="print"/>
          <a:stretch>
            <a:fillRect/>
          </a:stretch>
        </p:blipFill>
        <p:spPr>
          <a:xfrm>
            <a:off x="1905000" y="1600200"/>
            <a:ext cx="4800600" cy="4724400"/>
          </a:xfrm>
          <a:prstGeom prst="rect">
            <a:avLst/>
          </a:prstGeom>
        </p:spPr>
      </p:pic>
    </p:spTree>
    <p:extLst>
      <p:ext uri="{BB962C8B-B14F-4D97-AF65-F5344CB8AC3E}">
        <p14:creationId xmlns:p14="http://schemas.microsoft.com/office/powerpoint/2010/main" val="1623561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707</TotalTime>
  <Words>4247</Words>
  <Application>Microsoft Office PowerPoint</Application>
  <PresentationFormat>On-screen Show (4:3)</PresentationFormat>
  <Paragraphs>556</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  Indian Knowledge Systems </vt:lpstr>
      <vt:lpstr>Introduction</vt:lpstr>
      <vt:lpstr>Origin of Number Systems in India</vt:lpstr>
      <vt:lpstr>Decimal System and Place Value Notation</vt:lpstr>
      <vt:lpstr>Large Numbers</vt:lpstr>
      <vt:lpstr>Large Numbers</vt:lpstr>
      <vt:lpstr> Large Numbers  </vt:lpstr>
      <vt:lpstr> Large Numbers –Encounter with Siddhartha</vt:lpstr>
      <vt:lpstr>Large Numbers –Encounter with Siddhartha</vt:lpstr>
      <vt:lpstr>Table 6.1 : Reference to Large Numbers in Ancient Texts.</vt:lpstr>
      <vt:lpstr>Large Numbers –Encounter with Siddhartha</vt:lpstr>
      <vt:lpstr>Small Numbers –Buddha’s reply to Arjuna</vt:lpstr>
      <vt:lpstr>Indian Legacy in Units of Measurement </vt:lpstr>
      <vt:lpstr>Unique ways to represent Numbers</vt:lpstr>
      <vt:lpstr>Basic Principles of Bhūta-Sankhyā </vt:lpstr>
      <vt:lpstr>Basic Principles of Bhūta-Sankhyā</vt:lpstr>
      <vt:lpstr>Basic Principles of Bhūta-Sankhyā</vt:lpstr>
      <vt:lpstr>Basic Principles of Bhūta-Sankhyā</vt:lpstr>
      <vt:lpstr>Word Numerals for Bhūta-Saṃkhyā System</vt:lpstr>
      <vt:lpstr>Bhūta-Saṃkhyā System - Examples</vt:lpstr>
      <vt:lpstr>Madhavācārya's Approximation to π</vt:lpstr>
      <vt:lpstr>Madhavācārya's Approximation to π</vt:lpstr>
      <vt:lpstr>Madhavācārya's Approximation to π</vt:lpstr>
      <vt:lpstr>Kațapayādi System</vt:lpstr>
      <vt:lpstr>Kațapayādi System - Rules</vt:lpstr>
      <vt:lpstr>Kațapayādi System – Letter Numerals</vt:lpstr>
      <vt:lpstr> Kațapayādi System - Examples</vt:lpstr>
      <vt:lpstr>Kațapayādi System - Advantages</vt:lpstr>
      <vt:lpstr>PowerPoint Presentation</vt:lpstr>
      <vt:lpstr>Measurements for time, distance and weight </vt:lpstr>
      <vt:lpstr>Paramanu: The Smallest Unit </vt:lpstr>
      <vt:lpstr>Measures for Length </vt:lpstr>
      <vt:lpstr>Ancient Indian Measures for Length </vt:lpstr>
      <vt:lpstr>Measures for Time </vt:lpstr>
      <vt:lpstr>Measures for Weight -  Illustration of a balance during Mauryan</vt:lpstr>
      <vt:lpstr>Ancient Indian measures for weight</vt:lpstr>
      <vt:lpstr>Piṅgala and the Binary system </vt:lpstr>
      <vt:lpstr>Piṅgala and the Binary system </vt:lpstr>
      <vt:lpstr>Piṅgala's Chandashastra</vt:lpstr>
      <vt:lpstr>Piṅgala's Chandashastra – Understanding Laghu and Guru</vt:lpstr>
      <vt:lpstr>Piṅgala's Chandashastra – Understanding Laghu and Guru</vt:lpstr>
      <vt:lpstr>Piṅgala's Chandashastra – Understanding Laghu and Guru</vt:lpstr>
      <vt:lpstr>Laghu and Guru</vt:lpstr>
      <vt:lpstr>Laghu and Guru</vt:lpstr>
      <vt:lpstr>Bhavani ashtakam - Analysis</vt:lpstr>
      <vt:lpstr>Ganas</vt:lpstr>
      <vt:lpstr> Eight Ganas Defined by Pingala</vt:lpstr>
      <vt:lpstr>Eight Ganas Defined by Pingala</vt:lpstr>
      <vt:lpstr>Eight Ganas Defined by Pingala</vt:lpstr>
      <vt:lpstr>Binary Cycle of Length 3</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Indian Knowledge Systems </dc:title>
  <dc:creator>admin</dc:creator>
  <cp:lastModifiedBy>Windows User</cp:lastModifiedBy>
  <cp:revision>34</cp:revision>
  <dcterms:created xsi:type="dcterms:W3CDTF">2006-08-16T00:00:00Z</dcterms:created>
  <dcterms:modified xsi:type="dcterms:W3CDTF">2025-10-25T08:07:12Z</dcterms:modified>
</cp:coreProperties>
</file>
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7"/>
  </p:notesMasterIdLst>
  <p:sldIdLst>
    <p:sldId id="256" r:id="rId2"/>
    <p:sldId id="294" r:id="rId3"/>
    <p:sldId id="296" r:id="rId4"/>
    <p:sldId id="297" r:id="rId5"/>
    <p:sldId id="277" r:id="rId6"/>
    <p:sldId id="298" r:id="rId7"/>
    <p:sldId id="299" r:id="rId8"/>
    <p:sldId id="300" r:id="rId9"/>
    <p:sldId id="301" r:id="rId10"/>
    <p:sldId id="302" r:id="rId11"/>
    <p:sldId id="303" r:id="rId12"/>
    <p:sldId id="304" r:id="rId13"/>
    <p:sldId id="305" r:id="rId14"/>
    <p:sldId id="306" r:id="rId15"/>
    <p:sldId id="316" r:id="rId16"/>
    <p:sldId id="317" r:id="rId17"/>
    <p:sldId id="289" r:id="rId18"/>
    <p:sldId id="292" r:id="rId19"/>
    <p:sldId id="291" r:id="rId20"/>
    <p:sldId id="318" r:id="rId21"/>
    <p:sldId id="319" r:id="rId22"/>
    <p:sldId id="320" r:id="rId23"/>
    <p:sldId id="322" r:id="rId24"/>
    <p:sldId id="323" r:id="rId25"/>
    <p:sldId id="324" r:id="rId26"/>
    <p:sldId id="325" r:id="rId27"/>
    <p:sldId id="326" r:id="rId28"/>
    <p:sldId id="327" r:id="rId29"/>
    <p:sldId id="332" r:id="rId30"/>
    <p:sldId id="334" r:id="rId31"/>
    <p:sldId id="333" r:id="rId32"/>
    <p:sldId id="335" r:id="rId33"/>
    <p:sldId id="337" r:id="rId34"/>
    <p:sldId id="336" r:id="rId35"/>
    <p:sldId id="328" r:id="rId36"/>
    <p:sldId id="329" r:id="rId37"/>
    <p:sldId id="330" r:id="rId38"/>
    <p:sldId id="338" r:id="rId39"/>
    <p:sldId id="340" r:id="rId40"/>
    <p:sldId id="341" r:id="rId41"/>
    <p:sldId id="342" r:id="rId42"/>
    <p:sldId id="344" r:id="rId43"/>
    <p:sldId id="343" r:id="rId44"/>
    <p:sldId id="348" r:id="rId45"/>
    <p:sldId id="345" r:id="rId46"/>
    <p:sldId id="346" r:id="rId47"/>
    <p:sldId id="347" r:id="rId48"/>
    <p:sldId id="349" r:id="rId49"/>
    <p:sldId id="350" r:id="rId50"/>
    <p:sldId id="331" r:id="rId51"/>
    <p:sldId id="309" r:id="rId52"/>
    <p:sldId id="308" r:id="rId53"/>
    <p:sldId id="307" r:id="rId54"/>
    <p:sldId id="310" r:id="rId55"/>
    <p:sldId id="313" r:id="rId56"/>
    <p:sldId id="311" r:id="rId57"/>
    <p:sldId id="314" r:id="rId58"/>
    <p:sldId id="257" r:id="rId59"/>
    <p:sldId id="258" r:id="rId60"/>
    <p:sldId id="266" r:id="rId61"/>
    <p:sldId id="267" r:id="rId62"/>
    <p:sldId id="263" r:id="rId63"/>
    <p:sldId id="264" r:id="rId64"/>
    <p:sldId id="265" r:id="rId65"/>
    <p:sldId id="262" r:id="rId6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3" d="100"/>
          <a:sy n="113" d="100"/>
        </p:scale>
        <p:origin x="510" y="114"/>
      </p:cViewPr>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9B4F31-9D6E-4221-8CBA-231CF5135115}" type="datetimeFigureOut">
              <a:rPr lang="en-IN" smtClean="0"/>
              <a:t>25-10-2025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C73D39-6432-48E1-A286-E6978433512E}" type="slidenum">
              <a:rPr lang="en-IN" smtClean="0"/>
              <a:t>‹#›</a:t>
            </a:fld>
            <a:endParaRPr lang="en-IN"/>
          </a:p>
        </p:txBody>
      </p:sp>
    </p:spTree>
    <p:extLst>
      <p:ext uri="{BB962C8B-B14F-4D97-AF65-F5344CB8AC3E}">
        <p14:creationId xmlns:p14="http://schemas.microsoft.com/office/powerpoint/2010/main" val="2368677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10/25/2025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6378" y="1866378"/>
            <a:ext cx="8961829" cy="1896395"/>
          </a:xfrm>
        </p:spPr>
        <p:txBody>
          <a:bodyPr>
            <a:normAutofit/>
          </a:bodyPr>
          <a:lstStyle/>
          <a:p>
            <a:r>
              <a:rPr lang="en-US" dirty="0"/>
              <a:t>Information Storage and Management</a:t>
            </a:r>
          </a:p>
        </p:txBody>
      </p:sp>
    </p:spTree>
    <p:extLst>
      <p:ext uri="{BB962C8B-B14F-4D97-AF65-F5344CB8AC3E}">
        <p14:creationId xmlns:p14="http://schemas.microsoft.com/office/powerpoint/2010/main" val="3517728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C1291-6FD5-3B8E-B60B-52DF91CF6005}"/>
              </a:ext>
            </a:extLst>
          </p:cNvPr>
          <p:cNvSpPr>
            <a:spLocks noGrp="1"/>
          </p:cNvSpPr>
          <p:nvPr>
            <p:ph type="title"/>
          </p:nvPr>
        </p:nvSpPr>
        <p:spPr/>
        <p:txBody>
          <a:bodyPr>
            <a:normAutofit fontScale="90000"/>
          </a:bodyPr>
          <a:lstStyle/>
          <a:p>
            <a:pPr algn="ctr"/>
            <a:r>
              <a:rPr lang="en-US" sz="3200" dirty="0"/>
              <a:t>UNIT I - Introduction to Information Storage and Management </a:t>
            </a:r>
            <a:br>
              <a:rPr lang="en-US" sz="3200" dirty="0"/>
            </a:br>
            <a:endParaRPr lang="en-IN" sz="3200" dirty="0"/>
          </a:p>
        </p:txBody>
      </p:sp>
      <p:sp>
        <p:nvSpPr>
          <p:cNvPr id="3" name="Content Placeholder 2">
            <a:extLst>
              <a:ext uri="{FF2B5EF4-FFF2-40B4-BE49-F238E27FC236}">
                <a16:creationId xmlns:a16="http://schemas.microsoft.com/office/drawing/2014/main" id="{00AFCF4B-4C12-B9A5-CF29-336C2D1F96F8}"/>
              </a:ext>
            </a:extLst>
          </p:cNvPr>
          <p:cNvSpPr>
            <a:spLocks noGrp="1"/>
          </p:cNvSpPr>
          <p:nvPr>
            <p:ph idx="1"/>
          </p:nvPr>
        </p:nvSpPr>
        <p:spPr>
          <a:xfrm>
            <a:off x="2287460" y="1978152"/>
            <a:ext cx="8915400" cy="3425952"/>
          </a:xfrm>
        </p:spPr>
        <p:txBody>
          <a:bodyPr/>
          <a:lstStyle/>
          <a:p>
            <a:pPr algn="just"/>
            <a:r>
              <a:rPr lang="en-US" sz="1800" dirty="0">
                <a:effectLst/>
                <a:latin typeface="Times New Roman" panose="02020603050405020304" pitchFamily="18" charset="0"/>
                <a:ea typeface="Times New Roman" panose="02020603050405020304" pitchFamily="18" charset="0"/>
              </a:rPr>
              <a:t>Introduction to Information Storage and Management: Storage System Environment, Information Storage, Evolution of Storage Technology and Architecture, Data Center Infrastructure, Key Challenges in Managing Information, Information Lifecycle Components of Storage System Environment, Disk Drive Components, Disk Drive Performance, Fundamental Laws Governing Disk Performance, Logical Components of the Host, Application Requirements and Disk Performance.</a:t>
            </a:r>
            <a:endParaRPr lang="en-IN" sz="1800" dirty="0">
              <a:effectLst/>
              <a:latin typeface="Times New Roman" panose="02020603050405020304" pitchFamily="18" charset="0"/>
              <a:ea typeface="Times New Roman" panose="02020603050405020304" pitchFamily="18" charset="0"/>
            </a:endParaRPr>
          </a:p>
          <a:p>
            <a:pPr marL="0" indent="0" algn="just">
              <a:buNone/>
            </a:pPr>
            <a:endParaRPr lang="en-IN" dirty="0"/>
          </a:p>
        </p:txBody>
      </p:sp>
      <p:sp>
        <p:nvSpPr>
          <p:cNvPr id="4" name="Content Placeholder 2"/>
          <p:cNvSpPr txBox="1">
            <a:spLocks/>
          </p:cNvSpPr>
          <p:nvPr/>
        </p:nvSpPr>
        <p:spPr>
          <a:xfrm>
            <a:off x="7668053" y="6039528"/>
            <a:ext cx="4031257" cy="311063"/>
          </a:xfrm>
          <a:prstGeom prst="rect">
            <a:avLst/>
          </a:prstGeom>
        </p:spPr>
        <p:txBody>
          <a:bodyPr vert="horz" lIns="91440" tIns="45720" rIns="91440" bIns="45720" rtlCol="0">
            <a:normAutofit fontScale="625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800" dirty="0"/>
              <a:t>…Briefly described in UNIT III</a:t>
            </a:r>
          </a:p>
        </p:txBody>
      </p:sp>
    </p:spTree>
    <p:extLst>
      <p:ext uri="{BB962C8B-B14F-4D97-AF65-F5344CB8AC3E}">
        <p14:creationId xmlns:p14="http://schemas.microsoft.com/office/powerpoint/2010/main" val="1949885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477014"/>
            <a:ext cx="7772400" cy="685800"/>
          </a:xfrm>
        </p:spPr>
        <p:txBody>
          <a:bodyPr>
            <a:noAutofit/>
          </a:bodyPr>
          <a:lstStyle/>
          <a:p>
            <a:pPr rtl="0"/>
            <a:r>
              <a:rPr lang="en-US" b="1" dirty="0">
                <a:effectLst>
                  <a:outerShdw blurRad="38100" dist="38100" dir="2700000" algn="tl">
                    <a:srgbClr val="000000">
                      <a:alpha val="43137"/>
                    </a:srgbClr>
                  </a:outerShdw>
                </a:effectLst>
              </a:rPr>
              <a:t>Components of a Storage System Environment</a:t>
            </a:r>
            <a:endParaRPr lang="fa-IR"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514600" y="1828800"/>
            <a:ext cx="9454896" cy="4191000"/>
          </a:xfrm>
        </p:spPr>
        <p:txBody>
          <a:bodyPr>
            <a:norm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The three main components in a storage system environment the host, connectivity, and storage are described in this section.</a:t>
            </a:r>
            <a:endParaRPr lang="fa-IR"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5137D0E-4A4F-4307-8994-C1891D747D59}" type="slidenum">
              <a:rPr lang="en-US" smtClean="0"/>
              <a:t>3</a:t>
            </a:fld>
            <a:endParaRPr lang="en-US"/>
          </a:p>
        </p:txBody>
      </p:sp>
    </p:spTree>
    <p:extLst>
      <p:ext uri="{BB962C8B-B14F-4D97-AF65-F5344CB8AC3E}">
        <p14:creationId xmlns:p14="http://schemas.microsoft.com/office/powerpoint/2010/main" val="1283628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381000"/>
            <a:ext cx="7202776" cy="685800"/>
          </a:xfrm>
        </p:spPr>
        <p:txBody>
          <a:bodyPr>
            <a:normAutofit/>
          </a:bodyPr>
          <a:lstStyle/>
          <a:p>
            <a:pPr rtl="0"/>
            <a:r>
              <a:rPr lang="en-US" b="1" dirty="0">
                <a:effectLst>
                  <a:outerShdw blurRad="38100" dist="38100" dir="2700000" algn="tl">
                    <a:srgbClr val="000000">
                      <a:alpha val="43137"/>
                    </a:srgbClr>
                  </a:outerShdw>
                </a:effectLst>
              </a:rPr>
              <a:t>Host</a:t>
            </a:r>
            <a:endParaRPr lang="fa-IR"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764792" y="1152907"/>
            <a:ext cx="9994392" cy="5372100"/>
          </a:xfrm>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Users store and retrieve data through applications. The computers on which these applications run are referred to as hosts. </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Hosts can range from simple laptops to complex clusters of servers. </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A host consists of physical components (hardware devices) that communicate with one another using logical components (software and protocols). </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Access to data and the overall performance of the storage system environment depend on both the physical and logical components of a host .</a:t>
            </a:r>
            <a:endParaRPr lang="fa-IR"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5137D0E-4A4F-4307-8994-C1891D747D59}" type="slidenum">
              <a:rPr lang="en-US" smtClean="0"/>
              <a:t>4</a:t>
            </a:fld>
            <a:endParaRPr lang="en-US"/>
          </a:p>
        </p:txBody>
      </p:sp>
    </p:spTree>
    <p:extLst>
      <p:ext uri="{BB962C8B-B14F-4D97-AF65-F5344CB8AC3E}">
        <p14:creationId xmlns:p14="http://schemas.microsoft.com/office/powerpoint/2010/main" val="1859867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4600" y="685800"/>
            <a:ext cx="7543800" cy="5715000"/>
          </a:xfrm>
        </p:spPr>
        <p:txBody>
          <a:bodyPr>
            <a:normAutofit/>
          </a:bodyPr>
          <a:lstStyle/>
          <a:p>
            <a:pPr marL="0" indent="0">
              <a:lnSpc>
                <a:spcPct val="140000"/>
              </a:lnSpc>
              <a:buNone/>
            </a:pPr>
            <a:r>
              <a:rPr lang="en-US" sz="2400" b="1" dirty="0">
                <a:solidFill>
                  <a:srgbClr val="C00000"/>
                </a:solidFill>
                <a:effectLst>
                  <a:outerShdw blurRad="38100" dist="38100" dir="2700000" algn="tl">
                    <a:srgbClr val="000000">
                      <a:alpha val="43137"/>
                    </a:srgbClr>
                  </a:outerShdw>
                </a:effectLst>
              </a:rPr>
              <a:t>Physical Components</a:t>
            </a:r>
          </a:p>
          <a:p>
            <a:pPr algn="l" rtl="0">
              <a:lnSpc>
                <a:spcPct val="100000"/>
              </a:lnSpc>
            </a:pPr>
            <a:r>
              <a:rPr lang="en-US" sz="2200" b="1" dirty="0"/>
              <a:t>Central processing unit (CPU)</a:t>
            </a:r>
          </a:p>
          <a:p>
            <a:pPr algn="l" rtl="0">
              <a:lnSpc>
                <a:spcPct val="100000"/>
              </a:lnSpc>
            </a:pPr>
            <a:r>
              <a:rPr lang="en-US" sz="2200" b="1" dirty="0"/>
              <a:t>Storage, such as internal memory and disk devices</a:t>
            </a:r>
          </a:p>
          <a:p>
            <a:pPr algn="l" rtl="0">
              <a:lnSpc>
                <a:spcPct val="100000"/>
              </a:lnSpc>
            </a:pPr>
            <a:r>
              <a:rPr lang="en-US" sz="2200" b="1" dirty="0"/>
              <a:t>Input/output (I/O) devices</a:t>
            </a:r>
          </a:p>
          <a:p>
            <a:pPr marL="0" indent="0">
              <a:lnSpc>
                <a:spcPct val="140000"/>
              </a:lnSpc>
              <a:buNone/>
            </a:pPr>
            <a:r>
              <a:rPr lang="en-US" sz="2400" b="1" dirty="0">
                <a:solidFill>
                  <a:srgbClr val="C00000"/>
                </a:solidFill>
                <a:effectLst>
                  <a:outerShdw blurRad="38100" dist="38100" dir="2700000" algn="tl">
                    <a:srgbClr val="000000">
                      <a:alpha val="43137"/>
                    </a:srgbClr>
                  </a:outerShdw>
                </a:effectLst>
              </a:rPr>
              <a:t>CPU</a:t>
            </a:r>
          </a:p>
          <a:p>
            <a:pPr algn="l" rtl="0"/>
            <a:r>
              <a:rPr lang="en-US" sz="2200" b="1" dirty="0"/>
              <a:t>Arithmetic Logic Unit (ALU)</a:t>
            </a:r>
          </a:p>
          <a:p>
            <a:pPr algn="l" rtl="0"/>
            <a:r>
              <a:rPr lang="en-US" sz="2200" b="1" dirty="0"/>
              <a:t> Control Unit</a:t>
            </a:r>
          </a:p>
          <a:p>
            <a:pPr algn="l" rtl="0"/>
            <a:r>
              <a:rPr lang="en-US" sz="2200" b="1" dirty="0"/>
              <a:t>Register</a:t>
            </a:r>
          </a:p>
          <a:p>
            <a:pPr algn="l" rtl="0"/>
            <a:r>
              <a:rPr lang="en-US" sz="2200" b="1" dirty="0"/>
              <a:t>Level 1 (L1) cache</a:t>
            </a:r>
          </a:p>
        </p:txBody>
      </p:sp>
      <p:sp>
        <p:nvSpPr>
          <p:cNvPr id="4" name="Slide Number Placeholder 3"/>
          <p:cNvSpPr>
            <a:spLocks noGrp="1"/>
          </p:cNvSpPr>
          <p:nvPr>
            <p:ph type="sldNum" sz="quarter" idx="12"/>
          </p:nvPr>
        </p:nvSpPr>
        <p:spPr/>
        <p:txBody>
          <a:bodyPr/>
          <a:lstStyle/>
          <a:p>
            <a:fld id="{E5137D0E-4A4F-4307-8994-C1891D747D59}" type="slidenum">
              <a:rPr lang="en-US" smtClean="0"/>
              <a:t>5</a:t>
            </a:fld>
            <a:endParaRPr lang="en-US"/>
          </a:p>
        </p:txBody>
      </p:sp>
    </p:spTree>
    <p:extLst>
      <p:ext uri="{BB962C8B-B14F-4D97-AF65-F5344CB8AC3E}">
        <p14:creationId xmlns:p14="http://schemas.microsoft.com/office/powerpoint/2010/main" val="800730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86584" y="262128"/>
            <a:ext cx="7202776" cy="5791200"/>
          </a:xfrm>
        </p:spPr>
        <p:txBody>
          <a:bodyPr>
            <a:normAutofit fontScale="92500" lnSpcReduction="10000"/>
          </a:bodyPr>
          <a:lstStyle/>
          <a:p>
            <a:pPr marL="0" indent="0">
              <a:lnSpc>
                <a:spcPct val="120000"/>
              </a:lnSpc>
              <a:buNone/>
            </a:pPr>
            <a:r>
              <a:rPr lang="en-US" sz="2600" b="1" dirty="0">
                <a:solidFill>
                  <a:srgbClr val="C00000"/>
                </a:solidFill>
                <a:effectLst>
                  <a:outerShdw blurRad="38100" dist="38100" dir="2700000" algn="tl">
                    <a:srgbClr val="000000">
                      <a:alpha val="43137"/>
                    </a:srgbClr>
                  </a:outerShdw>
                </a:effectLst>
              </a:rPr>
              <a:t>Storage</a:t>
            </a:r>
          </a:p>
          <a:p>
            <a:pPr algn="l" rtl="0">
              <a:lnSpc>
                <a:spcPct val="120000"/>
              </a:lnSpc>
            </a:pPr>
            <a:r>
              <a:rPr lang="en-US" sz="2200" b="1" dirty="0"/>
              <a:t>Random Access Memory (RAM)</a:t>
            </a:r>
          </a:p>
          <a:p>
            <a:pPr algn="l" rtl="0">
              <a:lnSpc>
                <a:spcPct val="120000"/>
              </a:lnSpc>
            </a:pPr>
            <a:r>
              <a:rPr lang="en-US" sz="2200" b="1" dirty="0"/>
              <a:t>Read-Only Memory (ROM)</a:t>
            </a:r>
          </a:p>
          <a:p>
            <a:pPr algn="l" rtl="0">
              <a:lnSpc>
                <a:spcPct val="120000"/>
              </a:lnSpc>
            </a:pPr>
            <a:r>
              <a:rPr lang="en-US" sz="2200" b="1" dirty="0"/>
              <a:t>Hard disk (magnetic)</a:t>
            </a:r>
          </a:p>
          <a:p>
            <a:pPr algn="l" rtl="0">
              <a:lnSpc>
                <a:spcPct val="120000"/>
              </a:lnSpc>
            </a:pPr>
            <a:r>
              <a:rPr lang="en-US" sz="2200" b="1" dirty="0"/>
              <a:t>CD-ROM or DVD-ROM (optical)</a:t>
            </a:r>
          </a:p>
          <a:p>
            <a:pPr algn="l" rtl="0">
              <a:lnSpc>
                <a:spcPct val="120000"/>
              </a:lnSpc>
            </a:pPr>
            <a:r>
              <a:rPr lang="en-US" sz="2200" b="1" dirty="0"/>
              <a:t>Floppy disk (magnetic)</a:t>
            </a:r>
          </a:p>
          <a:p>
            <a:pPr algn="l" rtl="0">
              <a:lnSpc>
                <a:spcPct val="120000"/>
              </a:lnSpc>
            </a:pPr>
            <a:r>
              <a:rPr lang="en-US" sz="2200" b="1" dirty="0"/>
              <a:t>Tape drive (magnetic)  </a:t>
            </a:r>
          </a:p>
          <a:p>
            <a:pPr marL="0" indent="0" algn="l" rtl="0">
              <a:lnSpc>
                <a:spcPct val="120000"/>
              </a:lnSpc>
              <a:buNone/>
            </a:pPr>
            <a:endParaRPr lang="en-US" sz="2200" b="1" dirty="0"/>
          </a:p>
          <a:p>
            <a:pPr marL="0" indent="0">
              <a:lnSpc>
                <a:spcPct val="120000"/>
              </a:lnSpc>
              <a:buNone/>
            </a:pPr>
            <a:r>
              <a:rPr lang="en-US" sz="2600" b="1" dirty="0">
                <a:solidFill>
                  <a:srgbClr val="C00000"/>
                </a:solidFill>
                <a:effectLst>
                  <a:outerShdw blurRad="38100" dist="38100" dir="2700000" algn="tl">
                    <a:srgbClr val="000000">
                      <a:alpha val="43137"/>
                    </a:srgbClr>
                  </a:outerShdw>
                </a:effectLst>
              </a:rPr>
              <a:t>I/O Devices</a:t>
            </a:r>
          </a:p>
          <a:p>
            <a:pPr algn="l" rtl="0">
              <a:lnSpc>
                <a:spcPct val="120000"/>
              </a:lnSpc>
            </a:pPr>
            <a:r>
              <a:rPr lang="en-US" sz="2200" b="1" dirty="0"/>
              <a:t>User to host communications</a:t>
            </a:r>
          </a:p>
          <a:p>
            <a:pPr algn="l" rtl="0">
              <a:lnSpc>
                <a:spcPct val="120000"/>
              </a:lnSpc>
            </a:pPr>
            <a:r>
              <a:rPr lang="en-US" sz="2200" b="1" dirty="0"/>
              <a:t>Host to host communications</a:t>
            </a:r>
          </a:p>
          <a:p>
            <a:pPr algn="l" rtl="0">
              <a:lnSpc>
                <a:spcPct val="120000"/>
              </a:lnSpc>
            </a:pPr>
            <a:r>
              <a:rPr lang="en-US" sz="2200" b="1" dirty="0"/>
              <a:t>Host to storage device communications</a:t>
            </a:r>
          </a:p>
        </p:txBody>
      </p:sp>
      <p:sp>
        <p:nvSpPr>
          <p:cNvPr id="4" name="Slide Number Placeholder 3"/>
          <p:cNvSpPr>
            <a:spLocks noGrp="1"/>
          </p:cNvSpPr>
          <p:nvPr>
            <p:ph type="sldNum" sz="quarter" idx="12"/>
          </p:nvPr>
        </p:nvSpPr>
        <p:spPr/>
        <p:txBody>
          <a:bodyPr/>
          <a:lstStyle/>
          <a:p>
            <a:fld id="{E5137D0E-4A4F-4307-8994-C1891D747D59}" type="slidenum">
              <a:rPr lang="en-US" smtClean="0"/>
              <a:t>6</a:t>
            </a:fld>
            <a:endParaRPr lang="en-US"/>
          </a:p>
        </p:txBody>
      </p:sp>
    </p:spTree>
    <p:extLst>
      <p:ext uri="{BB962C8B-B14F-4D97-AF65-F5344CB8AC3E}">
        <p14:creationId xmlns:p14="http://schemas.microsoft.com/office/powerpoint/2010/main" val="771936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381000"/>
            <a:ext cx="7202776" cy="762000"/>
          </a:xfrm>
        </p:spPr>
        <p:txBody>
          <a:bodyPr>
            <a:normAutofit/>
          </a:bodyPr>
          <a:lstStyle/>
          <a:p>
            <a:r>
              <a:rPr lang="en-US" b="1" dirty="0">
                <a:effectLst>
                  <a:outerShdw blurRad="38100" dist="38100" dir="2700000" algn="tl">
                    <a:srgbClr val="000000">
                      <a:alpha val="43137"/>
                    </a:srgbClr>
                  </a:outerShdw>
                </a:effectLst>
              </a:rPr>
              <a:t>Connectivity</a:t>
            </a:r>
          </a:p>
        </p:txBody>
      </p:sp>
      <p:sp>
        <p:nvSpPr>
          <p:cNvPr id="3" name="Content Placeholder 2"/>
          <p:cNvSpPr>
            <a:spLocks noGrp="1"/>
          </p:cNvSpPr>
          <p:nvPr>
            <p:ph idx="1"/>
          </p:nvPr>
        </p:nvSpPr>
        <p:spPr>
          <a:xfrm>
            <a:off x="2640708" y="1143000"/>
            <a:ext cx="8514972" cy="5257800"/>
          </a:xfrm>
        </p:spPr>
        <p:txBody>
          <a:bodyPr>
            <a:norm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The discussion here focuses on the connectivity between the host and the storage device. </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The components of connectivity in a storage system environment can be classified as </a:t>
            </a:r>
            <a:r>
              <a:rPr lang="en-US" sz="2400" b="1" dirty="0">
                <a:solidFill>
                  <a:srgbClr val="C00000"/>
                </a:solidFill>
                <a:effectLst>
                  <a:outerShdw blurRad="38100" dist="38100" dir="2700000" algn="tl">
                    <a:srgbClr val="000000">
                      <a:alpha val="43137"/>
                    </a:srgbClr>
                  </a:outerShdw>
                </a:effectLst>
              </a:rPr>
              <a:t>Physical</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 </a:t>
            </a:r>
            <a:r>
              <a:rPr lang="en-US" sz="2400" b="1" dirty="0">
                <a:solidFill>
                  <a:srgbClr val="C00000"/>
                </a:solidFill>
                <a:effectLst>
                  <a:outerShdw blurRad="38100" dist="38100" dir="2700000" algn="tl">
                    <a:srgbClr val="000000">
                      <a:alpha val="43137"/>
                    </a:srgbClr>
                  </a:outerShdw>
                </a:effectLst>
              </a:rPr>
              <a:t>Logical</a:t>
            </a:r>
            <a:r>
              <a:rPr lang="en-US" sz="2400" dirty="0">
                <a:latin typeface="Times New Roman" panose="02020603050405020304" pitchFamily="18" charset="0"/>
                <a:cs typeface="Times New Roman" panose="02020603050405020304" pitchFamily="18" charset="0"/>
              </a:rPr>
              <a:t>. </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The physical components are the hardware elements that connect the host to storage and the logical</a:t>
            </a:r>
            <a:r>
              <a:rPr lang="en-US" b="1" dirty="0">
                <a:solidFill>
                  <a:srgbClr val="C00000"/>
                </a:solidFill>
                <a:effectLst>
                  <a:outerShdw blurRad="38100" dist="38100" dir="2700000" algn="tl">
                    <a:srgbClr val="000000">
                      <a:alpha val="43137"/>
                    </a:srgbClr>
                  </a:outerShdw>
                </a:effectLst>
              </a:rPr>
              <a:t> </a:t>
            </a:r>
            <a:r>
              <a:rPr lang="en-US" sz="2400" dirty="0">
                <a:latin typeface="Times New Roman" panose="02020603050405020304" pitchFamily="18" charset="0"/>
                <a:cs typeface="Times New Roman" panose="02020603050405020304" pitchFamily="18" charset="0"/>
              </a:rPr>
              <a:t>components of connectivity are the protocols used for communication between the host and storage.</a:t>
            </a:r>
          </a:p>
        </p:txBody>
      </p:sp>
      <p:sp>
        <p:nvSpPr>
          <p:cNvPr id="5" name="Slide Number Placeholder 4"/>
          <p:cNvSpPr>
            <a:spLocks noGrp="1"/>
          </p:cNvSpPr>
          <p:nvPr>
            <p:ph type="sldNum" sz="quarter" idx="12"/>
          </p:nvPr>
        </p:nvSpPr>
        <p:spPr/>
        <p:txBody>
          <a:bodyPr/>
          <a:lstStyle/>
          <a:p>
            <a:fld id="{E5137D0E-4A4F-4307-8994-C1891D747D59}" type="slidenum">
              <a:rPr lang="en-US" smtClean="0"/>
              <a:t>7</a:t>
            </a:fld>
            <a:endParaRPr lang="en-US"/>
          </a:p>
        </p:txBody>
      </p:sp>
    </p:spTree>
    <p:extLst>
      <p:ext uri="{BB962C8B-B14F-4D97-AF65-F5344CB8AC3E}">
        <p14:creationId xmlns:p14="http://schemas.microsoft.com/office/powerpoint/2010/main" val="3924363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0800" y="762000"/>
            <a:ext cx="7202776" cy="5486400"/>
          </a:xfrm>
        </p:spPr>
        <p:txBody>
          <a:bodyPr/>
          <a:lstStyle/>
          <a:p>
            <a:pPr marL="0" indent="0">
              <a:buNone/>
            </a:pPr>
            <a:endParaRPr lang="en-US" dirty="0"/>
          </a:p>
          <a:p>
            <a:pPr marL="0" indent="0">
              <a:buNone/>
            </a:pPr>
            <a:r>
              <a:rPr lang="en-US" sz="2400" b="1" dirty="0"/>
              <a:t>Physical Components of Connectivity</a:t>
            </a:r>
          </a:p>
          <a:p>
            <a:pPr marL="0" indent="0">
              <a:buNone/>
            </a:pPr>
            <a:endParaRPr lang="en-US" dirty="0"/>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9518" y="2514600"/>
            <a:ext cx="7785340" cy="2895600"/>
          </a:xfrm>
          <a:prstGeom prst="rect">
            <a:avLst/>
          </a:prstGeom>
        </p:spPr>
      </p:pic>
      <p:sp>
        <p:nvSpPr>
          <p:cNvPr id="5" name="Slide Number Placeholder 4"/>
          <p:cNvSpPr>
            <a:spLocks noGrp="1"/>
          </p:cNvSpPr>
          <p:nvPr>
            <p:ph type="sldNum" sz="quarter" idx="12"/>
          </p:nvPr>
        </p:nvSpPr>
        <p:spPr/>
        <p:txBody>
          <a:bodyPr/>
          <a:lstStyle/>
          <a:p>
            <a:fld id="{E5137D0E-4A4F-4307-8994-C1891D747D59}" type="slidenum">
              <a:rPr lang="en-US" smtClean="0"/>
              <a:t>8</a:t>
            </a:fld>
            <a:endParaRPr lang="en-US"/>
          </a:p>
        </p:txBody>
      </p:sp>
    </p:spTree>
    <p:extLst>
      <p:ext uri="{BB962C8B-B14F-4D97-AF65-F5344CB8AC3E}">
        <p14:creationId xmlns:p14="http://schemas.microsoft.com/office/powerpoint/2010/main" val="275960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0720" y="549275"/>
            <a:ext cx="9598152" cy="5486400"/>
          </a:xfrm>
        </p:spPr>
        <p:txBody>
          <a:bodyPr>
            <a:noAutofit/>
          </a:bodyPr>
          <a:lstStyle/>
          <a:p>
            <a:pPr marL="279082" lvl="1" indent="0">
              <a:lnSpc>
                <a:spcPct val="150000"/>
              </a:lnSpc>
              <a:buNone/>
            </a:pPr>
            <a:r>
              <a:rPr lang="en-US" sz="1800" dirty="0">
                <a:latin typeface="Times New Roman" panose="02020603050405020304" pitchFamily="18" charset="0"/>
                <a:cs typeface="Times New Roman" panose="02020603050405020304" pitchFamily="18" charset="0"/>
              </a:rPr>
              <a:t>The bus is the collection of paths that facilitates data transmission from one part of a computer to another, such as from the CPU to the memory. </a:t>
            </a:r>
          </a:p>
          <a:p>
            <a:pPr marL="279082" lvl="1" indent="0">
              <a:lnSpc>
                <a:spcPct val="150000"/>
              </a:lnSpc>
              <a:buNone/>
            </a:pPr>
            <a:r>
              <a:rPr lang="en-US" sz="1800" dirty="0">
                <a:latin typeface="Times New Roman" panose="02020603050405020304" pitchFamily="18" charset="0"/>
                <a:cs typeface="Times New Roman" panose="02020603050405020304" pitchFamily="18" charset="0"/>
              </a:rPr>
              <a:t>The port is a specialized outlet that enables connectivity between the host and external devices. </a:t>
            </a:r>
          </a:p>
          <a:p>
            <a:pPr marL="279082" lvl="1" indent="0">
              <a:lnSpc>
                <a:spcPct val="150000"/>
              </a:lnSpc>
              <a:buNone/>
            </a:pPr>
            <a:r>
              <a:rPr lang="en-US" sz="1800" dirty="0">
                <a:latin typeface="Times New Roman" panose="02020603050405020304" pitchFamily="18" charset="0"/>
                <a:cs typeface="Times New Roman" panose="02020603050405020304" pitchFamily="18" charset="0"/>
              </a:rPr>
              <a:t>Cables connect hosts to internal or external devices using copper or fiber optic media.</a:t>
            </a:r>
          </a:p>
          <a:p>
            <a:pPr marL="279082" lvl="1" indent="0">
              <a:lnSpc>
                <a:spcPct val="150000"/>
              </a:lnSpc>
              <a:buNone/>
            </a:pPr>
            <a:r>
              <a:rPr lang="en-US" sz="1800" dirty="0">
                <a:latin typeface="Times New Roman" panose="02020603050405020304" pitchFamily="18" charset="0"/>
                <a:cs typeface="Times New Roman" panose="02020603050405020304" pitchFamily="18" charset="0"/>
              </a:rPr>
              <a:t> Physical components communicate across a bus by sending bits (control, data, and address) of data between devices.</a:t>
            </a:r>
          </a:p>
          <a:p>
            <a:pPr marL="279082" lvl="1" indent="0">
              <a:lnSpc>
                <a:spcPct val="150000"/>
              </a:lnSpc>
              <a:buNone/>
            </a:pPr>
            <a:r>
              <a:rPr lang="en-US" sz="1800" dirty="0">
                <a:latin typeface="Times New Roman" panose="02020603050405020304" pitchFamily="18" charset="0"/>
                <a:cs typeface="Times New Roman" panose="02020603050405020304" pitchFamily="18" charset="0"/>
              </a:rPr>
              <a:t> These bits are transmitted through the bus in either of the following ways:</a:t>
            </a:r>
          </a:p>
          <a:p>
            <a:pPr lvl="1" algn="l" rtl="0">
              <a:lnSpc>
                <a:spcPct val="150000"/>
              </a:lnSpc>
              <a:buFont typeface="Arial" panose="020B0604020202020204" pitchFamily="34" charset="0"/>
              <a:buChar char="•"/>
            </a:pPr>
            <a:r>
              <a:rPr lang="en-US" sz="1800" b="1" dirty="0">
                <a:solidFill>
                  <a:srgbClr val="C00000"/>
                </a:solidFill>
                <a:effectLst>
                  <a:outerShdw blurRad="38100" dist="38100" dir="2700000" algn="tl">
                    <a:srgbClr val="000000">
                      <a:alpha val="43137"/>
                    </a:srgbClr>
                  </a:outerShdw>
                </a:effectLst>
              </a:rPr>
              <a:t>Serially</a:t>
            </a:r>
          </a:p>
          <a:p>
            <a:pPr lvl="1" algn="l" rtl="0">
              <a:lnSpc>
                <a:spcPct val="150000"/>
              </a:lnSpc>
              <a:buFont typeface="Arial" panose="020B0604020202020204" pitchFamily="34" charset="0"/>
              <a:buChar char="•"/>
            </a:pPr>
            <a:r>
              <a:rPr lang="en-US" sz="1800" b="1" dirty="0">
                <a:solidFill>
                  <a:srgbClr val="C00000"/>
                </a:solidFill>
                <a:effectLst>
                  <a:outerShdw blurRad="38100" dist="38100" dir="2700000" algn="tl">
                    <a:srgbClr val="000000">
                      <a:alpha val="43137"/>
                    </a:srgbClr>
                  </a:outerShdw>
                </a:effectLst>
              </a:rPr>
              <a:t>In parallel</a:t>
            </a:r>
          </a:p>
        </p:txBody>
      </p:sp>
      <p:sp>
        <p:nvSpPr>
          <p:cNvPr id="4" name="Slide Number Placeholder 3"/>
          <p:cNvSpPr>
            <a:spLocks noGrp="1"/>
          </p:cNvSpPr>
          <p:nvPr>
            <p:ph type="sldNum" sz="quarter" idx="12"/>
          </p:nvPr>
        </p:nvSpPr>
        <p:spPr/>
        <p:txBody>
          <a:bodyPr/>
          <a:lstStyle/>
          <a:p>
            <a:fld id="{E5137D0E-4A4F-4307-8994-C1891D747D59}" type="slidenum">
              <a:rPr lang="en-US" smtClean="0"/>
              <a:t>9</a:t>
            </a:fld>
            <a:endParaRPr lang="en-US"/>
          </a:p>
        </p:txBody>
      </p:sp>
    </p:spTree>
    <p:extLst>
      <p:ext uri="{BB962C8B-B14F-4D97-AF65-F5344CB8AC3E}">
        <p14:creationId xmlns:p14="http://schemas.microsoft.com/office/powerpoint/2010/main" val="166265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4600" y="685800"/>
            <a:ext cx="7772400" cy="5867400"/>
          </a:xfrm>
        </p:spPr>
        <p:txBody>
          <a:bodyPr>
            <a:normAutofit/>
          </a:bodyPr>
          <a:lstStyle/>
          <a:p>
            <a:pPr marL="0" indent="0">
              <a:buNone/>
            </a:pPr>
            <a:r>
              <a:rPr lang="en-US" sz="2400" b="1" dirty="0"/>
              <a:t>Logical Components of Connectivity</a:t>
            </a:r>
          </a:p>
          <a:p>
            <a:pPr marL="0" indent="0">
              <a:lnSpc>
                <a:spcPct val="150000"/>
              </a:lnSpc>
              <a:buNone/>
            </a:pPr>
            <a:r>
              <a:rPr lang="en-US" sz="2200" dirty="0">
                <a:latin typeface="Times New Roman" panose="02020603050405020304" pitchFamily="18" charset="0"/>
                <a:cs typeface="Times New Roman" panose="02020603050405020304" pitchFamily="18" charset="0"/>
              </a:rPr>
              <a:t>The popular interface protocol used for the local bus to connect to a peripheral device is peripheral component interconnect (PCI). The interface protocols that connect to disk systems are Integrated Device Electronics/Advanced Technology Attachment (IDE/ATA) and Small Computer System Interface (SCSI).</a:t>
            </a:r>
          </a:p>
          <a:p>
            <a:pPr lvl="1" algn="l" rtl="0">
              <a:lnSpc>
                <a:spcPct val="150000"/>
              </a:lnSpc>
              <a:buFont typeface="Arial" panose="020B0604020202020204" pitchFamily="34" charset="0"/>
              <a:buChar char="•"/>
            </a:pPr>
            <a:r>
              <a:rPr lang="en-US" sz="2400" b="1" dirty="0">
                <a:solidFill>
                  <a:srgbClr val="C00000"/>
                </a:solidFill>
                <a:effectLst>
                  <a:outerShdw blurRad="38100" dist="38100" dir="2700000" algn="tl">
                    <a:srgbClr val="000000">
                      <a:alpha val="43137"/>
                    </a:srgbClr>
                  </a:outerShdw>
                </a:effectLst>
              </a:rPr>
              <a:t>PCI</a:t>
            </a:r>
          </a:p>
          <a:p>
            <a:pPr lvl="1" algn="l" rtl="0">
              <a:lnSpc>
                <a:spcPct val="150000"/>
              </a:lnSpc>
              <a:buFont typeface="Arial" panose="020B0604020202020204" pitchFamily="34" charset="0"/>
              <a:buChar char="•"/>
            </a:pPr>
            <a:r>
              <a:rPr lang="en-US" sz="2400" b="1" dirty="0">
                <a:solidFill>
                  <a:srgbClr val="C00000"/>
                </a:solidFill>
                <a:effectLst>
                  <a:outerShdw blurRad="38100" dist="38100" dir="2700000" algn="tl">
                    <a:srgbClr val="000000">
                      <a:alpha val="43137"/>
                    </a:srgbClr>
                  </a:outerShdw>
                </a:effectLst>
              </a:rPr>
              <a:t>IDE/ATA</a:t>
            </a:r>
          </a:p>
          <a:p>
            <a:pPr lvl="1" algn="l" rtl="0">
              <a:lnSpc>
                <a:spcPct val="150000"/>
              </a:lnSpc>
              <a:buFont typeface="Arial" panose="020B0604020202020204" pitchFamily="34" charset="0"/>
              <a:buChar char="•"/>
            </a:pPr>
            <a:r>
              <a:rPr lang="en-US" sz="2400" b="1" dirty="0">
                <a:solidFill>
                  <a:srgbClr val="C00000"/>
                </a:solidFill>
                <a:effectLst>
                  <a:outerShdw blurRad="38100" dist="38100" dir="2700000" algn="tl">
                    <a:srgbClr val="000000">
                      <a:alpha val="43137"/>
                    </a:srgbClr>
                  </a:outerShdw>
                </a:effectLst>
              </a:rPr>
              <a:t>SCSI</a:t>
            </a:r>
          </a:p>
          <a:p>
            <a:pPr marL="0" indent="0">
              <a:lnSpc>
                <a:spcPct val="150000"/>
              </a:lnSpc>
              <a:buNone/>
            </a:pPr>
            <a:endParaRPr lang="en-US" sz="2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E5137D0E-4A4F-4307-8994-C1891D747D59}" type="slidenum">
              <a:rPr lang="en-US" smtClean="0"/>
              <a:t>10</a:t>
            </a:fld>
            <a:endParaRPr lang="en-US"/>
          </a:p>
        </p:txBody>
      </p:sp>
    </p:spTree>
    <p:extLst>
      <p:ext uri="{BB962C8B-B14F-4D97-AF65-F5344CB8AC3E}">
        <p14:creationId xmlns:p14="http://schemas.microsoft.com/office/powerpoint/2010/main" val="1906435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482600"/>
            <a:ext cx="7202776" cy="685800"/>
          </a:xfrm>
        </p:spPr>
        <p:txBody>
          <a:bodyPr>
            <a:normAutofit/>
          </a:bodyPr>
          <a:lstStyle/>
          <a:p>
            <a:r>
              <a:rPr lang="en-US" b="1" dirty="0">
                <a:effectLst>
                  <a:outerShdw blurRad="38100" dist="38100" dir="2700000" algn="tl">
                    <a:srgbClr val="000000">
                      <a:alpha val="43137"/>
                    </a:srgbClr>
                  </a:outerShdw>
                </a:effectLst>
              </a:rPr>
              <a:t>Storage</a:t>
            </a:r>
          </a:p>
        </p:txBody>
      </p:sp>
      <p:sp>
        <p:nvSpPr>
          <p:cNvPr id="3" name="Content Placeholder 2"/>
          <p:cNvSpPr>
            <a:spLocks noGrp="1"/>
          </p:cNvSpPr>
          <p:nvPr>
            <p:ph idx="1"/>
          </p:nvPr>
        </p:nvSpPr>
        <p:spPr>
          <a:xfrm>
            <a:off x="2514600" y="1168400"/>
            <a:ext cx="7772400" cy="5384800"/>
          </a:xfrm>
        </p:spPr>
        <p:txBody>
          <a:bodyPr>
            <a:normAutofit lnSpcReduction="10000"/>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A storage device uses magnetic or solid state media. </a:t>
            </a:r>
          </a:p>
          <a:p>
            <a:pPr marL="0" indent="0">
              <a:lnSpc>
                <a:spcPct val="150000"/>
              </a:lnSpc>
              <a:buNone/>
            </a:pPr>
            <a:r>
              <a:rPr lang="en-US" sz="2400" dirty="0">
                <a:latin typeface="Times New Roman" panose="02020603050405020304" pitchFamily="18" charset="0"/>
                <a:cs typeface="Times New Roman" panose="02020603050405020304" pitchFamily="18" charset="0"/>
              </a:rPr>
              <a:t>Disks, tapes, and diskettes use magnetic media. CD-ROM is an example of a storage device that uses optical media, and removable flash memory card is an example of solid state media.</a:t>
            </a:r>
          </a:p>
          <a:p>
            <a:pPr marL="0" indent="0">
              <a:lnSpc>
                <a:spcPct val="150000"/>
              </a:lnSpc>
              <a:buNone/>
            </a:pPr>
            <a:r>
              <a:rPr lang="en-US" sz="2400" dirty="0">
                <a:latin typeface="Times New Roman" panose="02020603050405020304" pitchFamily="18" charset="0"/>
                <a:cs typeface="Times New Roman" panose="02020603050405020304" pitchFamily="18" charset="0"/>
              </a:rPr>
              <a:t>Tapes are a popular storage media used for backup because of their relatively low cost. </a:t>
            </a:r>
          </a:p>
          <a:p>
            <a:pPr marL="0" indent="0">
              <a:lnSpc>
                <a:spcPct val="150000"/>
              </a:lnSpc>
              <a:buNone/>
            </a:pPr>
            <a:r>
              <a:rPr lang="en-US" sz="2400" dirty="0">
                <a:latin typeface="Times New Roman" panose="02020603050405020304" pitchFamily="18" charset="0"/>
                <a:cs typeface="Times New Roman" panose="02020603050405020304" pitchFamily="18" charset="0"/>
              </a:rPr>
              <a:t>In the past, data centers hosted a large number of tape drives and processed several thousand reels of tape. </a:t>
            </a:r>
          </a:p>
          <a:p>
            <a:pPr marL="0" indent="0">
              <a:lnSpc>
                <a:spcPct val="150000"/>
              </a:lnSpc>
              <a:buNone/>
            </a:pPr>
            <a:endParaRPr lang="en-US"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5137D0E-4A4F-4307-8994-C1891D747D59}" type="slidenum">
              <a:rPr lang="en-US" smtClean="0"/>
              <a:t>11</a:t>
            </a:fld>
            <a:endParaRPr lang="en-US"/>
          </a:p>
        </p:txBody>
      </p:sp>
    </p:spTree>
    <p:extLst>
      <p:ext uri="{BB962C8B-B14F-4D97-AF65-F5344CB8AC3E}">
        <p14:creationId xmlns:p14="http://schemas.microsoft.com/office/powerpoint/2010/main" val="322474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4624" y="970344"/>
            <a:ext cx="9384792" cy="5486400"/>
          </a:xfrm>
        </p:spPr>
        <p:txBody>
          <a:bodyPr>
            <a:normAutofit/>
          </a:bodyPr>
          <a:lstStyle/>
          <a:p>
            <a:pPr lvl="1" algn="just" rtl="0">
              <a:lnSpc>
                <a:spcPct val="150000"/>
              </a:lnSpc>
              <a:buFont typeface="Arial" panose="020B0604020202020204" pitchFamily="34" charset="0"/>
              <a:buChar char="•"/>
            </a:pPr>
            <a:r>
              <a:rPr lang="en-US" sz="2400" b="1" dirty="0">
                <a:solidFill>
                  <a:srgbClr val="C00000"/>
                </a:solidFill>
                <a:effectLst>
                  <a:outerShdw blurRad="38100" dist="38100" dir="2700000" algn="tl">
                    <a:srgbClr val="000000">
                      <a:alpha val="43137"/>
                    </a:srgbClr>
                  </a:outerShdw>
                </a:effectLst>
              </a:rPr>
              <a:t>Data is stored </a:t>
            </a:r>
            <a:r>
              <a:rPr lang="en-US" sz="2200" dirty="0">
                <a:latin typeface="Times New Roman" panose="02020603050405020304" pitchFamily="18" charset="0"/>
                <a:cs typeface="Times New Roman" panose="02020603050405020304" pitchFamily="18" charset="0"/>
              </a:rPr>
              <a:t>on the tape linearly along the length of the tape. Search and retrieval of data is done sequentially, invariably taking several seconds to access the data. </a:t>
            </a:r>
          </a:p>
          <a:p>
            <a:pPr lvl="1" algn="just" rtl="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As a result, random data access is slow and time consuming. This limits tapes as a viable option for applications that require real-time, rapid access to data.</a:t>
            </a:r>
          </a:p>
          <a:p>
            <a:pPr lvl="1" algn="just" rtl="0">
              <a:lnSpc>
                <a:spcPct val="150000"/>
              </a:lnSpc>
              <a:buFont typeface="Arial" panose="020B0604020202020204" pitchFamily="34" charset="0"/>
              <a:buChar char="•"/>
            </a:pPr>
            <a:r>
              <a:rPr lang="en-US" sz="2400" b="1" dirty="0">
                <a:solidFill>
                  <a:srgbClr val="C00000"/>
                </a:solidFill>
                <a:effectLst>
                  <a:outerShdw blurRad="38100" dist="38100" dir="2700000" algn="tl">
                    <a:srgbClr val="000000">
                      <a:alpha val="43137"/>
                    </a:srgbClr>
                  </a:outerShdw>
                </a:effectLst>
              </a:rPr>
              <a:t>Data stored </a:t>
            </a:r>
            <a:r>
              <a:rPr lang="en-US" sz="2200" dirty="0">
                <a:latin typeface="Times New Roman" panose="02020603050405020304" pitchFamily="18" charset="0"/>
                <a:cs typeface="Times New Roman" panose="02020603050405020304" pitchFamily="18" charset="0"/>
              </a:rPr>
              <a:t>on tape cannot be accessed by multiple applications simultaneously, restricting its use to one application at a time.</a:t>
            </a:r>
          </a:p>
        </p:txBody>
      </p:sp>
      <p:sp>
        <p:nvSpPr>
          <p:cNvPr id="4" name="Slide Number Placeholder 3"/>
          <p:cNvSpPr>
            <a:spLocks noGrp="1"/>
          </p:cNvSpPr>
          <p:nvPr>
            <p:ph type="sldNum" sz="quarter" idx="12"/>
          </p:nvPr>
        </p:nvSpPr>
        <p:spPr/>
        <p:txBody>
          <a:bodyPr/>
          <a:lstStyle/>
          <a:p>
            <a:fld id="{E5137D0E-4A4F-4307-8994-C1891D747D59}" type="slidenum">
              <a:rPr lang="en-US" smtClean="0"/>
              <a:t>12</a:t>
            </a:fld>
            <a:endParaRPr lang="en-US"/>
          </a:p>
        </p:txBody>
      </p:sp>
      <p:sp>
        <p:nvSpPr>
          <p:cNvPr id="6" name="TextBox 5">
            <a:extLst>
              <a:ext uri="{FF2B5EF4-FFF2-40B4-BE49-F238E27FC236}">
                <a16:creationId xmlns:a16="http://schemas.microsoft.com/office/drawing/2014/main" id="{4BFCAA26-C9CD-5E2A-1CA3-01EEF55A5495}"/>
              </a:ext>
            </a:extLst>
          </p:cNvPr>
          <p:cNvSpPr txBox="1"/>
          <p:nvPr/>
        </p:nvSpPr>
        <p:spPr>
          <a:xfrm>
            <a:off x="1794510" y="329708"/>
            <a:ext cx="6094476" cy="458074"/>
          </a:xfrm>
          <a:prstGeom prst="rect">
            <a:avLst/>
          </a:prstGeom>
          <a:noFill/>
        </p:spPr>
        <p:txBody>
          <a:bodyPr wrap="square">
            <a:spAutoFit/>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However, tape has the following limitations:</a:t>
            </a:r>
          </a:p>
        </p:txBody>
      </p:sp>
    </p:spTree>
    <p:extLst>
      <p:ext uri="{BB962C8B-B14F-4D97-AF65-F5344CB8AC3E}">
        <p14:creationId xmlns:p14="http://schemas.microsoft.com/office/powerpoint/2010/main" val="2899469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4600" y="1143000"/>
            <a:ext cx="9281160" cy="5181600"/>
          </a:xfrm>
        </p:spPr>
        <p:txBody>
          <a:bodyPr>
            <a:normAutofit/>
          </a:bodyPr>
          <a:lstStyle/>
          <a:p>
            <a:pPr algn="just" rtl="0">
              <a:lnSpc>
                <a:spcPct val="150000"/>
              </a:lnSpc>
            </a:pPr>
            <a:r>
              <a:rPr lang="en-US" sz="2400" b="1" dirty="0">
                <a:solidFill>
                  <a:srgbClr val="C00000"/>
                </a:solidFill>
                <a:effectLst>
                  <a:outerShdw blurRad="38100" dist="38100" dir="2700000" algn="tl">
                    <a:srgbClr val="000000">
                      <a:alpha val="43137"/>
                    </a:srgbClr>
                  </a:outerShdw>
                </a:effectLst>
              </a:rPr>
              <a:t>On a tape drive</a:t>
            </a:r>
            <a:r>
              <a:rPr lang="en-US" sz="2200" dirty="0">
                <a:latin typeface="Times New Roman" panose="02020603050405020304" pitchFamily="18" charset="0"/>
                <a:cs typeface="Times New Roman" panose="02020603050405020304" pitchFamily="18" charset="0"/>
              </a:rPr>
              <a:t>, the read/write head touches the tape surface, so the tape degrades or wears out after repeated use.</a:t>
            </a:r>
          </a:p>
          <a:p>
            <a:pPr marL="0" indent="0" algn="just">
              <a:lnSpc>
                <a:spcPct val="150000"/>
              </a:lnSpc>
              <a:buNone/>
            </a:pPr>
            <a:endParaRPr lang="en-US" sz="2200" dirty="0">
              <a:latin typeface="Times New Roman" panose="02020603050405020304" pitchFamily="18" charset="0"/>
              <a:cs typeface="Times New Roman" panose="02020603050405020304" pitchFamily="18" charset="0"/>
            </a:endParaRPr>
          </a:p>
          <a:p>
            <a:pPr algn="just" rtl="0">
              <a:lnSpc>
                <a:spcPct val="150000"/>
              </a:lnSpc>
            </a:pPr>
            <a:r>
              <a:rPr lang="en-US" sz="2400" b="1" dirty="0">
                <a:solidFill>
                  <a:srgbClr val="C00000"/>
                </a:solidFill>
                <a:effectLst>
                  <a:outerShdw blurRad="38100" dist="38100" dir="2700000" algn="tl">
                    <a:srgbClr val="000000">
                      <a:alpha val="43137"/>
                    </a:srgbClr>
                  </a:outerShdw>
                </a:effectLst>
              </a:rPr>
              <a:t>The storage </a:t>
            </a:r>
            <a:r>
              <a:rPr lang="en-US" sz="2200" dirty="0">
                <a:latin typeface="Times New Roman" panose="02020603050405020304" pitchFamily="18" charset="0"/>
                <a:cs typeface="Times New Roman" panose="02020603050405020304" pitchFamily="18" charset="0"/>
              </a:rPr>
              <a:t>and retrieval requirements of data from tape and the overhead associated with managing tape media are significant.</a:t>
            </a:r>
          </a:p>
        </p:txBody>
      </p:sp>
      <p:sp>
        <p:nvSpPr>
          <p:cNvPr id="4" name="Slide Number Placeholder 3"/>
          <p:cNvSpPr>
            <a:spLocks noGrp="1"/>
          </p:cNvSpPr>
          <p:nvPr>
            <p:ph type="sldNum" sz="quarter" idx="12"/>
          </p:nvPr>
        </p:nvSpPr>
        <p:spPr/>
        <p:txBody>
          <a:bodyPr/>
          <a:lstStyle/>
          <a:p>
            <a:fld id="{E5137D0E-4A4F-4307-8994-C1891D747D59}" type="slidenum">
              <a:rPr lang="en-US" smtClean="0"/>
              <a:t>13</a:t>
            </a:fld>
            <a:endParaRPr lang="en-US"/>
          </a:p>
        </p:txBody>
      </p:sp>
    </p:spTree>
    <p:extLst>
      <p:ext uri="{BB962C8B-B14F-4D97-AF65-F5344CB8AC3E}">
        <p14:creationId xmlns:p14="http://schemas.microsoft.com/office/powerpoint/2010/main" val="1475355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381000"/>
            <a:ext cx="7202776" cy="762000"/>
          </a:xfrm>
        </p:spPr>
        <p:txBody>
          <a:bodyPr>
            <a:normAutofit/>
          </a:bodyPr>
          <a:lstStyle/>
          <a:p>
            <a:r>
              <a:rPr lang="en-US" b="1" dirty="0">
                <a:effectLst>
                  <a:outerShdw blurRad="38100" dist="38100" dir="2700000" algn="tl">
                    <a:srgbClr val="000000">
                      <a:alpha val="43137"/>
                    </a:srgbClr>
                  </a:outerShdw>
                </a:effectLst>
              </a:rPr>
              <a:t> Disk Drive Components</a:t>
            </a:r>
          </a:p>
        </p:txBody>
      </p:sp>
      <p:sp>
        <p:nvSpPr>
          <p:cNvPr id="3" name="Content Placeholder 2"/>
          <p:cNvSpPr>
            <a:spLocks noGrp="1"/>
          </p:cNvSpPr>
          <p:nvPr>
            <p:ph idx="1"/>
          </p:nvPr>
        </p:nvSpPr>
        <p:spPr>
          <a:xfrm>
            <a:off x="1883664" y="1092200"/>
            <a:ext cx="8906256" cy="5384800"/>
          </a:xfrm>
        </p:spPr>
        <p:txBody>
          <a:bodyPr>
            <a:normAutofit/>
          </a:bodyPr>
          <a:lstStyle/>
          <a:p>
            <a:pPr marL="0" indent="0" algn="just">
              <a:lnSpc>
                <a:spcPct val="150000"/>
              </a:lnSpc>
              <a:buNone/>
            </a:pPr>
            <a:r>
              <a:rPr lang="en-US" sz="2100" dirty="0">
                <a:latin typeface="Times New Roman" panose="02020603050405020304" pitchFamily="18" charset="0"/>
                <a:cs typeface="Times New Roman" panose="02020603050405020304" pitchFamily="18" charset="0"/>
              </a:rPr>
              <a:t>A disk drive uses a rapidly moving arm to read and write data across a flat platter coated with magnetic particles. </a:t>
            </a:r>
          </a:p>
          <a:p>
            <a:pPr marL="0" indent="0" algn="just">
              <a:lnSpc>
                <a:spcPct val="150000"/>
              </a:lnSpc>
              <a:buNone/>
            </a:pPr>
            <a:r>
              <a:rPr lang="en-US" sz="2100" dirty="0">
                <a:latin typeface="Times New Roman" panose="02020603050405020304" pitchFamily="18" charset="0"/>
                <a:cs typeface="Times New Roman" panose="02020603050405020304" pitchFamily="18" charset="0"/>
              </a:rPr>
              <a:t>Data is transferred from the magnetic platter through the R/W head to the computer. </a:t>
            </a:r>
          </a:p>
          <a:p>
            <a:pPr marL="0" indent="0" algn="just">
              <a:lnSpc>
                <a:spcPct val="150000"/>
              </a:lnSpc>
              <a:buNone/>
            </a:pPr>
            <a:r>
              <a:rPr lang="en-US" sz="2100" dirty="0">
                <a:latin typeface="Times New Roman" panose="02020603050405020304" pitchFamily="18" charset="0"/>
                <a:cs typeface="Times New Roman" panose="02020603050405020304" pitchFamily="18" charset="0"/>
              </a:rPr>
              <a:t>Several platters are assembled together with the R/W head and controller, most commonly referred to as a hard disk drive (HDD). </a:t>
            </a:r>
          </a:p>
          <a:p>
            <a:pPr marL="0" indent="0" algn="just">
              <a:lnSpc>
                <a:spcPct val="150000"/>
              </a:lnSpc>
              <a:buNone/>
            </a:pPr>
            <a:r>
              <a:rPr lang="en-US" sz="2100" dirty="0">
                <a:latin typeface="Times New Roman" panose="02020603050405020304" pitchFamily="18" charset="0"/>
                <a:cs typeface="Times New Roman" panose="02020603050405020304" pitchFamily="18" charset="0"/>
              </a:rPr>
              <a:t>Data can be recorded and erased on a magnetic disk any number of times. </a:t>
            </a:r>
          </a:p>
          <a:p>
            <a:pPr marL="0" indent="0" algn="just">
              <a:lnSpc>
                <a:spcPct val="150000"/>
              </a:lnSpc>
              <a:buNone/>
            </a:pPr>
            <a:r>
              <a:rPr lang="en-US" sz="2100" dirty="0">
                <a:latin typeface="Times New Roman" panose="02020603050405020304" pitchFamily="18" charset="0"/>
                <a:cs typeface="Times New Roman" panose="02020603050405020304" pitchFamily="18" charset="0"/>
              </a:rPr>
              <a:t>This section details the different components of the disk, the mechanism for organizing and storing data on disks, and the factors that affect disk performance.</a:t>
            </a:r>
          </a:p>
        </p:txBody>
      </p:sp>
      <p:sp>
        <p:nvSpPr>
          <p:cNvPr id="5" name="Slide Number Placeholder 4"/>
          <p:cNvSpPr>
            <a:spLocks noGrp="1"/>
          </p:cNvSpPr>
          <p:nvPr>
            <p:ph type="sldNum" sz="quarter" idx="12"/>
          </p:nvPr>
        </p:nvSpPr>
        <p:spPr/>
        <p:txBody>
          <a:bodyPr/>
          <a:lstStyle/>
          <a:p>
            <a:fld id="{E5137D0E-4A4F-4307-8994-C1891D747D59}" type="slidenum">
              <a:rPr lang="en-US" smtClean="0"/>
              <a:t>14</a:t>
            </a:fld>
            <a:endParaRPr lang="en-US"/>
          </a:p>
        </p:txBody>
      </p:sp>
    </p:spTree>
    <p:extLst>
      <p:ext uri="{BB962C8B-B14F-4D97-AF65-F5344CB8AC3E}">
        <p14:creationId xmlns:p14="http://schemas.microsoft.com/office/powerpoint/2010/main" val="549874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0" y="164592"/>
            <a:ext cx="7620000" cy="6693408"/>
          </a:xfrm>
        </p:spPr>
      </p:pic>
      <p:sp>
        <p:nvSpPr>
          <p:cNvPr id="3" name="Slide Number Placeholder 2"/>
          <p:cNvSpPr>
            <a:spLocks noGrp="1"/>
          </p:cNvSpPr>
          <p:nvPr>
            <p:ph type="sldNum" sz="quarter" idx="12"/>
          </p:nvPr>
        </p:nvSpPr>
        <p:spPr/>
        <p:txBody>
          <a:bodyPr/>
          <a:lstStyle/>
          <a:p>
            <a:fld id="{E5137D0E-4A4F-4307-8994-C1891D747D59}" type="slidenum">
              <a:rPr lang="en-US" smtClean="0"/>
              <a:t>15</a:t>
            </a:fld>
            <a:endParaRPr lang="en-US"/>
          </a:p>
        </p:txBody>
      </p:sp>
      <p:sp>
        <p:nvSpPr>
          <p:cNvPr id="2" name="Content Placeholder 2"/>
          <p:cNvSpPr txBox="1">
            <a:spLocks/>
          </p:cNvSpPr>
          <p:nvPr/>
        </p:nvSpPr>
        <p:spPr>
          <a:xfrm>
            <a:off x="295656" y="1292352"/>
            <a:ext cx="4203192" cy="4953000"/>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200" dirty="0">
                <a:latin typeface="Times New Roman" panose="02020603050405020304" pitchFamily="18" charset="0"/>
                <a:cs typeface="Times New Roman" panose="02020603050405020304" pitchFamily="18" charset="0"/>
              </a:rPr>
              <a:t>Key components of a disk drive (Figure 2-2):</a:t>
            </a:r>
          </a:p>
          <a:p>
            <a:r>
              <a:rPr lang="en-US" sz="2400" b="1" dirty="0">
                <a:solidFill>
                  <a:srgbClr val="C00000"/>
                </a:solidFill>
                <a:effectLst>
                  <a:outerShdw blurRad="38100" dist="38100" dir="2700000" algn="tl">
                    <a:srgbClr val="000000">
                      <a:alpha val="43137"/>
                    </a:srgbClr>
                  </a:outerShdw>
                </a:effectLst>
              </a:rPr>
              <a:t>Platter</a:t>
            </a:r>
          </a:p>
          <a:p>
            <a:r>
              <a:rPr lang="en-US" sz="2400" b="1" dirty="0">
                <a:solidFill>
                  <a:srgbClr val="C00000"/>
                </a:solidFill>
                <a:effectLst>
                  <a:outerShdw blurRad="38100" dist="38100" dir="2700000" algn="tl">
                    <a:srgbClr val="000000">
                      <a:alpha val="43137"/>
                    </a:srgbClr>
                  </a:outerShdw>
                </a:effectLst>
              </a:rPr>
              <a:t>Spindle</a:t>
            </a:r>
          </a:p>
          <a:p>
            <a:r>
              <a:rPr lang="en-US" sz="2400" b="1" dirty="0">
                <a:solidFill>
                  <a:srgbClr val="C00000"/>
                </a:solidFill>
                <a:effectLst>
                  <a:outerShdw blurRad="38100" dist="38100" dir="2700000" algn="tl">
                    <a:srgbClr val="000000">
                      <a:alpha val="43137"/>
                    </a:srgbClr>
                  </a:outerShdw>
                </a:effectLst>
              </a:rPr>
              <a:t>Read/Write Head</a:t>
            </a:r>
          </a:p>
          <a:p>
            <a:r>
              <a:rPr lang="en-US" sz="2400" b="1" dirty="0">
                <a:solidFill>
                  <a:srgbClr val="C00000"/>
                </a:solidFill>
                <a:effectLst>
                  <a:outerShdw blurRad="38100" dist="38100" dir="2700000" algn="tl">
                    <a:srgbClr val="000000">
                      <a:alpha val="43137"/>
                    </a:srgbClr>
                  </a:outerShdw>
                </a:effectLst>
              </a:rPr>
              <a:t>Actuator Arm Assembly</a:t>
            </a:r>
          </a:p>
          <a:p>
            <a:r>
              <a:rPr lang="en-US" sz="2400" b="1" dirty="0">
                <a:solidFill>
                  <a:srgbClr val="C00000"/>
                </a:solidFill>
                <a:effectLst>
                  <a:outerShdw blurRad="38100" dist="38100" dir="2700000" algn="tl">
                    <a:srgbClr val="000000">
                      <a:alpha val="43137"/>
                    </a:srgbClr>
                  </a:outerShdw>
                </a:effectLst>
              </a:rPr>
              <a:t>Controller</a:t>
            </a:r>
          </a:p>
          <a:p>
            <a:r>
              <a:rPr lang="en-US" sz="2400" b="1" dirty="0">
                <a:solidFill>
                  <a:srgbClr val="C00000"/>
                </a:solidFill>
                <a:effectLst>
                  <a:outerShdw blurRad="38100" dist="38100" dir="2700000" algn="tl">
                    <a:srgbClr val="000000">
                      <a:alpha val="43137"/>
                    </a:srgbClr>
                  </a:outerShdw>
                </a:effectLst>
              </a:rPr>
              <a:t>Physical Disk Structure</a:t>
            </a:r>
          </a:p>
          <a:p>
            <a:r>
              <a:rPr lang="en-US" sz="2400" b="1" dirty="0">
                <a:solidFill>
                  <a:srgbClr val="C00000"/>
                </a:solidFill>
                <a:effectLst>
                  <a:outerShdw blurRad="38100" dist="38100" dir="2700000" algn="tl">
                    <a:srgbClr val="000000">
                      <a:alpha val="43137"/>
                    </a:srgbClr>
                  </a:outerShdw>
                </a:effectLst>
              </a:rPr>
              <a:t>Zoned Bit Recording</a:t>
            </a:r>
          </a:p>
          <a:p>
            <a:r>
              <a:rPr lang="en-US" sz="2400" b="1" dirty="0">
                <a:solidFill>
                  <a:srgbClr val="C00000"/>
                </a:solidFill>
                <a:effectLst>
                  <a:outerShdw blurRad="38100" dist="38100" dir="2700000" algn="tl">
                    <a:srgbClr val="000000">
                      <a:alpha val="43137"/>
                    </a:srgbClr>
                  </a:outerShdw>
                </a:effectLst>
              </a:rPr>
              <a:t>Logical Block Addressing</a:t>
            </a:r>
          </a:p>
          <a:p>
            <a:pPr marL="0" indent="0">
              <a:buFont typeface="Wingdings 3" charset="2"/>
              <a:buNone/>
            </a:pPr>
            <a:endParaRPr lang="en-US" b="1" dirty="0"/>
          </a:p>
          <a:p>
            <a:pPr marL="0" indent="0">
              <a:buFont typeface="Wingdings 3" charset="2"/>
              <a:buNone/>
            </a:pPr>
            <a:endParaRPr lang="en-US" b="1" dirty="0"/>
          </a:p>
          <a:p>
            <a:pPr marL="0" indent="0">
              <a:buFont typeface="Wingdings 3" charset="2"/>
              <a:buNone/>
            </a:pPr>
            <a:endParaRPr lang="en-US" dirty="0"/>
          </a:p>
        </p:txBody>
      </p:sp>
    </p:spTree>
    <p:extLst>
      <p:ext uri="{BB962C8B-B14F-4D97-AF65-F5344CB8AC3E}">
        <p14:creationId xmlns:p14="http://schemas.microsoft.com/office/powerpoint/2010/main" val="4246846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8612" y="208344"/>
            <a:ext cx="7202776" cy="762000"/>
          </a:xfrm>
        </p:spPr>
        <p:txBody>
          <a:bodyPr>
            <a:normAutofit/>
          </a:bodyPr>
          <a:lstStyle/>
          <a:p>
            <a:r>
              <a:rPr lang="en-US" b="1" dirty="0">
                <a:effectLst>
                  <a:outerShdw blurRad="38100" dist="38100" dir="2700000" algn="tl">
                    <a:srgbClr val="000000">
                      <a:alpha val="43137"/>
                    </a:srgbClr>
                  </a:outerShdw>
                </a:effectLst>
              </a:rPr>
              <a:t>Platter</a:t>
            </a:r>
          </a:p>
        </p:txBody>
      </p:sp>
      <p:sp>
        <p:nvSpPr>
          <p:cNvPr id="3" name="Content Placeholder 2"/>
          <p:cNvSpPr>
            <a:spLocks noGrp="1"/>
          </p:cNvSpPr>
          <p:nvPr>
            <p:ph idx="1"/>
          </p:nvPr>
        </p:nvSpPr>
        <p:spPr>
          <a:xfrm>
            <a:off x="1755648" y="1231900"/>
            <a:ext cx="9125712" cy="5168900"/>
          </a:xfrm>
        </p:spPr>
        <p:txBody>
          <a:bodyPr>
            <a:normAutofit/>
          </a:bodyPr>
          <a:lstStyle/>
          <a:p>
            <a:pPr marL="0" indent="0" algn="just">
              <a:lnSpc>
                <a:spcPct val="150000"/>
              </a:lnSpc>
              <a:buNone/>
            </a:pPr>
            <a:r>
              <a:rPr lang="en-US" sz="2200" dirty="0">
                <a:latin typeface="Times New Roman" panose="02020603050405020304" pitchFamily="18" charset="0"/>
                <a:cs typeface="Times New Roman" panose="02020603050405020304" pitchFamily="18" charset="0"/>
              </a:rPr>
              <a:t>A typical HDD consists of one or more flat circular disks called platters.</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The data is recorded on these platters in binary codes (0s and1s).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The set of rotating platters is sealed in a case, called a </a:t>
            </a:r>
            <a:r>
              <a:rPr lang="en-US" sz="2200">
                <a:latin typeface="Times New Roman" panose="02020603050405020304" pitchFamily="18" charset="0"/>
                <a:cs typeface="Times New Roman" panose="02020603050405020304" pitchFamily="18" charset="0"/>
              </a:rPr>
              <a:t>Head Disk Assembly </a:t>
            </a:r>
            <a:r>
              <a:rPr lang="en-US" sz="2200" dirty="0">
                <a:latin typeface="Times New Roman" panose="02020603050405020304" pitchFamily="18" charset="0"/>
                <a:cs typeface="Times New Roman" panose="02020603050405020304" pitchFamily="18" charset="0"/>
              </a:rPr>
              <a:t>(HDA).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A platter is a rigid, round disk coated with magnetic material on both surfaces (top and bottom).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The data is encoded by polarizing the magnetic area, or domains, of the disk surface.</a:t>
            </a:r>
          </a:p>
        </p:txBody>
      </p:sp>
      <p:sp>
        <p:nvSpPr>
          <p:cNvPr id="5" name="Slide Number Placeholder 4"/>
          <p:cNvSpPr>
            <a:spLocks noGrp="1"/>
          </p:cNvSpPr>
          <p:nvPr>
            <p:ph type="sldNum" sz="quarter" idx="12"/>
          </p:nvPr>
        </p:nvSpPr>
        <p:spPr/>
        <p:txBody>
          <a:bodyPr/>
          <a:lstStyle/>
          <a:p>
            <a:fld id="{E5137D0E-4A4F-4307-8994-C1891D747D59}" type="slidenum">
              <a:rPr lang="en-US" smtClean="0"/>
              <a:t>16</a:t>
            </a:fld>
            <a:endParaRPr lang="en-US"/>
          </a:p>
        </p:txBody>
      </p:sp>
    </p:spTree>
    <p:extLst>
      <p:ext uri="{BB962C8B-B14F-4D97-AF65-F5344CB8AC3E}">
        <p14:creationId xmlns:p14="http://schemas.microsoft.com/office/powerpoint/2010/main" val="37973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14616" y="905256"/>
            <a:ext cx="4892040" cy="4599432"/>
          </a:xfrm>
        </p:spPr>
      </p:pic>
      <p:sp>
        <p:nvSpPr>
          <p:cNvPr id="3" name="Slide Number Placeholder 2"/>
          <p:cNvSpPr>
            <a:spLocks noGrp="1"/>
          </p:cNvSpPr>
          <p:nvPr>
            <p:ph type="sldNum" sz="quarter" idx="12"/>
          </p:nvPr>
        </p:nvSpPr>
        <p:spPr/>
        <p:txBody>
          <a:bodyPr/>
          <a:lstStyle/>
          <a:p>
            <a:fld id="{E5137D0E-4A4F-4307-8994-C1891D747D59}" type="slidenum">
              <a:rPr lang="en-US" smtClean="0"/>
              <a:t>17</a:t>
            </a:fld>
            <a:endParaRPr lang="en-US"/>
          </a:p>
        </p:txBody>
      </p:sp>
      <p:sp>
        <p:nvSpPr>
          <p:cNvPr id="2" name="Content Placeholder 2"/>
          <p:cNvSpPr txBox="1">
            <a:spLocks/>
          </p:cNvSpPr>
          <p:nvPr/>
        </p:nvSpPr>
        <p:spPr>
          <a:xfrm>
            <a:off x="531812" y="1445515"/>
            <a:ext cx="6682804" cy="4507229"/>
          </a:xfrm>
          <a:prstGeom prst="rect">
            <a:avLst/>
          </a:prstGeom>
        </p:spPr>
        <p:txBody>
          <a:bodyPr vert="horz" lIns="91440" tIns="45720" rIns="91440" bIns="45720" rtlCol="0">
            <a:normAutofit fontScale="775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just">
              <a:lnSpc>
                <a:spcPct val="150000"/>
              </a:lnSpc>
              <a:buFont typeface="Wingdings 3" charset="2"/>
              <a:buNone/>
            </a:pPr>
            <a:r>
              <a:rPr lang="en-US" sz="2700" b="1" dirty="0">
                <a:effectLst>
                  <a:outerShdw blurRad="38100" dist="38100" dir="2700000" algn="tl">
                    <a:srgbClr val="000000">
                      <a:alpha val="43137"/>
                    </a:srgbClr>
                  </a:outerShdw>
                </a:effectLst>
              </a:rPr>
              <a:t>Spindle </a:t>
            </a:r>
          </a:p>
          <a:p>
            <a:pPr marL="0" indent="0" algn="just">
              <a:lnSpc>
                <a:spcPct val="150000"/>
              </a:lnSpc>
              <a:buFont typeface="Wingdings 3" charset="2"/>
              <a:buNone/>
            </a:pPr>
            <a:r>
              <a:rPr lang="en-US" sz="2200" dirty="0">
                <a:latin typeface="Times New Roman" panose="02020603050405020304" pitchFamily="18" charset="0"/>
                <a:cs typeface="Times New Roman" panose="02020603050405020304" pitchFamily="18" charset="0"/>
              </a:rPr>
              <a:t>A spindle connects all the platters, as shown in Figure 2-3, and is connected to a motor. </a:t>
            </a:r>
          </a:p>
          <a:p>
            <a:pPr marL="0" indent="0" algn="just">
              <a:lnSpc>
                <a:spcPct val="150000"/>
              </a:lnSpc>
              <a:buFont typeface="Wingdings 3" charset="2"/>
              <a:buNone/>
            </a:pPr>
            <a:r>
              <a:rPr lang="en-US" sz="2200" dirty="0">
                <a:latin typeface="Times New Roman" panose="02020603050405020304" pitchFamily="18" charset="0"/>
                <a:cs typeface="Times New Roman" panose="02020603050405020304" pitchFamily="18" charset="0"/>
              </a:rPr>
              <a:t>The motor of the spindle rotates with a constant speed. The disk platter spins at a speed of several thousands of revolutions per minute (rpm). </a:t>
            </a:r>
          </a:p>
          <a:p>
            <a:pPr marL="0" indent="0" algn="just">
              <a:lnSpc>
                <a:spcPct val="150000"/>
              </a:lnSpc>
              <a:buFont typeface="Wingdings 3" charset="2"/>
              <a:buNone/>
            </a:pPr>
            <a:r>
              <a:rPr lang="en-US" sz="2200" dirty="0">
                <a:latin typeface="Times New Roman" panose="02020603050405020304" pitchFamily="18" charset="0"/>
                <a:cs typeface="Times New Roman" panose="02020603050405020304" pitchFamily="18" charset="0"/>
              </a:rPr>
              <a:t>Disk drives have spindle speeds of 7,200 rpm, 10,000 rpm, or 15,000 rpm. </a:t>
            </a:r>
          </a:p>
          <a:p>
            <a:pPr marL="0" indent="0" algn="just">
              <a:lnSpc>
                <a:spcPct val="150000"/>
              </a:lnSpc>
              <a:buFont typeface="Wingdings 3" charset="2"/>
              <a:buNone/>
            </a:pPr>
            <a:r>
              <a:rPr lang="en-US" sz="2200" dirty="0">
                <a:latin typeface="Times New Roman" panose="02020603050405020304" pitchFamily="18" charset="0"/>
                <a:cs typeface="Times New Roman" panose="02020603050405020304" pitchFamily="18" charset="0"/>
              </a:rPr>
              <a:t>Disks used on current storage systems have a platter diameter of 3.5” (90 mm). </a:t>
            </a:r>
          </a:p>
          <a:p>
            <a:pPr marL="0" indent="0" algn="just">
              <a:lnSpc>
                <a:spcPct val="150000"/>
              </a:lnSpc>
              <a:buFont typeface="Wingdings 3" charset="2"/>
              <a:buNone/>
            </a:pPr>
            <a:r>
              <a:rPr lang="en-US" sz="2200" dirty="0">
                <a:latin typeface="Times New Roman" panose="02020603050405020304" pitchFamily="18" charset="0"/>
                <a:cs typeface="Times New Roman" panose="02020603050405020304" pitchFamily="18" charset="0"/>
              </a:rPr>
              <a:t>When the platter spins at 15,000 rpm, the outer edge is moving at around 25 percent of the speed of sound.</a:t>
            </a:r>
          </a:p>
        </p:txBody>
      </p:sp>
    </p:spTree>
    <p:extLst>
      <p:ext uri="{BB962C8B-B14F-4D97-AF65-F5344CB8AC3E}">
        <p14:creationId xmlns:p14="http://schemas.microsoft.com/office/powerpoint/2010/main" val="3362755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0800" y="762000"/>
            <a:ext cx="7543800" cy="5410200"/>
          </a:xfrm>
        </p:spPr>
      </p:pic>
      <p:sp>
        <p:nvSpPr>
          <p:cNvPr id="3" name="Slide Number Placeholder 2"/>
          <p:cNvSpPr>
            <a:spLocks noGrp="1"/>
          </p:cNvSpPr>
          <p:nvPr>
            <p:ph type="sldNum" sz="quarter" idx="12"/>
          </p:nvPr>
        </p:nvSpPr>
        <p:spPr/>
        <p:txBody>
          <a:bodyPr/>
          <a:lstStyle/>
          <a:p>
            <a:fld id="{E5137D0E-4A4F-4307-8994-C1891D747D59}" type="slidenum">
              <a:rPr lang="en-US" smtClean="0"/>
              <a:t>18</a:t>
            </a:fld>
            <a:endParaRPr lang="en-US"/>
          </a:p>
        </p:txBody>
      </p:sp>
    </p:spTree>
    <p:extLst>
      <p:ext uri="{BB962C8B-B14F-4D97-AF65-F5344CB8AC3E}">
        <p14:creationId xmlns:p14="http://schemas.microsoft.com/office/powerpoint/2010/main" val="269396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8100" y="381000"/>
            <a:ext cx="7202776" cy="685800"/>
          </a:xfrm>
        </p:spPr>
        <p:txBody>
          <a:bodyPr>
            <a:normAutofit/>
          </a:bodyPr>
          <a:lstStyle/>
          <a:p>
            <a:r>
              <a:rPr lang="en-US" b="1" dirty="0">
                <a:effectLst>
                  <a:outerShdw blurRad="38100" dist="38100" dir="2700000" algn="tl">
                    <a:srgbClr val="000000">
                      <a:alpha val="43137"/>
                    </a:srgbClr>
                  </a:outerShdw>
                </a:effectLst>
              </a:rPr>
              <a:t>Read/Write Head</a:t>
            </a:r>
          </a:p>
        </p:txBody>
      </p:sp>
      <p:sp>
        <p:nvSpPr>
          <p:cNvPr id="3" name="Content Placeholder 2"/>
          <p:cNvSpPr>
            <a:spLocks noGrp="1"/>
          </p:cNvSpPr>
          <p:nvPr>
            <p:ph idx="1"/>
          </p:nvPr>
        </p:nvSpPr>
        <p:spPr>
          <a:xfrm>
            <a:off x="1800860" y="1003872"/>
            <a:ext cx="9363964" cy="5562600"/>
          </a:xfrm>
        </p:spPr>
        <p:txBody>
          <a:bodyPr>
            <a:normAutofit fontScale="77500" lnSpcReduction="20000"/>
          </a:bodyPr>
          <a:lstStyle/>
          <a:p>
            <a:pPr marL="0" indent="0" algn="just">
              <a:lnSpc>
                <a:spcPct val="150000"/>
              </a:lnSpc>
              <a:buNone/>
            </a:pPr>
            <a:r>
              <a:rPr lang="en-US" sz="2200" dirty="0">
                <a:latin typeface="Times New Roman" panose="02020603050405020304" pitchFamily="18" charset="0"/>
                <a:cs typeface="Times New Roman" panose="02020603050405020304" pitchFamily="18" charset="0"/>
              </a:rPr>
              <a:t>Read/Write (R/W) heads, shown in Figure 2-4, read and write data from or to a platter.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Drives have two R/W heads per platter, one for each surface of the platter.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The R/W head changes the magnetic polarization on the surface of the platter when writing data.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While reading data, this head detects magnetic polarization on the surface of the platter.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During reads and writes, the R/W head senses the magnetic polarization and never touches the surface of the platter.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When the spindle is rotating, there is a microscopic air gap between the R/W heads and the platters, known as the head flying height.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This air gap is removed when the spindle stops rotating and the R/W head rests on a special area on the platter near the spindle.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This area is called the landing zone. The landing zone is coated with a lubricant to reduce friction between the head and the platter.</a:t>
            </a:r>
          </a:p>
        </p:txBody>
      </p:sp>
      <p:sp>
        <p:nvSpPr>
          <p:cNvPr id="5" name="Slide Number Placeholder 4"/>
          <p:cNvSpPr>
            <a:spLocks noGrp="1"/>
          </p:cNvSpPr>
          <p:nvPr>
            <p:ph type="sldNum" sz="quarter" idx="12"/>
          </p:nvPr>
        </p:nvSpPr>
        <p:spPr/>
        <p:txBody>
          <a:bodyPr/>
          <a:lstStyle/>
          <a:p>
            <a:fld id="{E5137D0E-4A4F-4307-8994-C1891D747D59}" type="slidenum">
              <a:rPr lang="en-US" smtClean="0"/>
              <a:t>19</a:t>
            </a:fld>
            <a:endParaRPr lang="en-US"/>
          </a:p>
        </p:txBody>
      </p:sp>
    </p:spTree>
    <p:extLst>
      <p:ext uri="{BB962C8B-B14F-4D97-AF65-F5344CB8AC3E}">
        <p14:creationId xmlns:p14="http://schemas.microsoft.com/office/powerpoint/2010/main" val="2961624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381000"/>
            <a:ext cx="7202776" cy="762000"/>
          </a:xfrm>
        </p:spPr>
        <p:txBody>
          <a:bodyPr>
            <a:normAutofit/>
          </a:bodyPr>
          <a:lstStyle/>
          <a:p>
            <a:r>
              <a:rPr lang="en-US" b="1" dirty="0">
                <a:effectLst>
                  <a:outerShdw blurRad="38100" dist="38100" dir="2700000" algn="tl">
                    <a:srgbClr val="000000">
                      <a:alpha val="43137"/>
                    </a:srgbClr>
                  </a:outerShdw>
                </a:effectLst>
              </a:rPr>
              <a:t>Actuator Arm Assembly</a:t>
            </a:r>
          </a:p>
        </p:txBody>
      </p:sp>
      <p:sp>
        <p:nvSpPr>
          <p:cNvPr id="3" name="Content Placeholder 2"/>
          <p:cNvSpPr>
            <a:spLocks noGrp="1"/>
          </p:cNvSpPr>
          <p:nvPr>
            <p:ph idx="1"/>
          </p:nvPr>
        </p:nvSpPr>
        <p:spPr>
          <a:xfrm>
            <a:off x="339788" y="1271779"/>
            <a:ext cx="6298756" cy="4953000"/>
          </a:xfrm>
        </p:spPr>
        <p:txBody>
          <a:bodyPr>
            <a:normAutofit/>
          </a:bodyPr>
          <a:lstStyle/>
          <a:p>
            <a:pPr marL="0" indent="0" algn="just">
              <a:lnSpc>
                <a:spcPct val="150000"/>
              </a:lnSpc>
              <a:buNone/>
            </a:pPr>
            <a:r>
              <a:rPr lang="en-US" sz="2100" dirty="0">
                <a:latin typeface="Times New Roman" panose="02020603050405020304" pitchFamily="18" charset="0"/>
                <a:cs typeface="Times New Roman" panose="02020603050405020304" pitchFamily="18" charset="0"/>
              </a:rPr>
              <a:t>The R/W heads are mounted on the actuator arm assembly (refer to Figure 2-2 [a]), which positions the R/W head at the location on the platter where the data needs to be written or read. </a:t>
            </a:r>
          </a:p>
          <a:p>
            <a:pPr marL="0" indent="0">
              <a:lnSpc>
                <a:spcPct val="150000"/>
              </a:lnSpc>
              <a:buNone/>
            </a:pPr>
            <a:r>
              <a:rPr lang="en-US" sz="2100" dirty="0">
                <a:latin typeface="Times New Roman" panose="02020603050405020304" pitchFamily="18" charset="0"/>
                <a:cs typeface="Times New Roman" panose="02020603050405020304" pitchFamily="18" charset="0"/>
              </a:rPr>
              <a:t>The R/W heads for all platters on a drive are attached to one actuator arm assembly and move across the platters simultaneously. </a:t>
            </a:r>
          </a:p>
          <a:p>
            <a:pPr marL="0" indent="0">
              <a:lnSpc>
                <a:spcPct val="150000"/>
              </a:lnSpc>
              <a:buNone/>
            </a:pPr>
            <a:r>
              <a:rPr lang="en-US" sz="2100" dirty="0">
                <a:latin typeface="Times New Roman" panose="02020603050405020304" pitchFamily="18" charset="0"/>
                <a:cs typeface="Times New Roman" panose="02020603050405020304" pitchFamily="18" charset="0"/>
              </a:rPr>
              <a:t>Note that there are two R/W heads per platter, one for each surface, as shown in Figure 2-4.</a:t>
            </a:r>
          </a:p>
        </p:txBody>
      </p:sp>
      <p:sp>
        <p:nvSpPr>
          <p:cNvPr id="5" name="Slide Number Placeholder 4"/>
          <p:cNvSpPr>
            <a:spLocks noGrp="1"/>
          </p:cNvSpPr>
          <p:nvPr>
            <p:ph type="sldNum" sz="quarter" idx="12"/>
          </p:nvPr>
        </p:nvSpPr>
        <p:spPr/>
        <p:txBody>
          <a:bodyPr/>
          <a:lstStyle/>
          <a:p>
            <a:fld id="{E5137D0E-4A4F-4307-8994-C1891D747D59}" type="slidenum">
              <a:rPr lang="en-US" smtClean="0"/>
              <a:t>20</a:t>
            </a:fld>
            <a:endParaRPr lang="en-US"/>
          </a:p>
        </p:txBody>
      </p:sp>
      <p:pic>
        <p:nvPicPr>
          <p:cNvPr id="8" name="Picture 7">
            <a:extLst>
              <a:ext uri="{FF2B5EF4-FFF2-40B4-BE49-F238E27FC236}">
                <a16:creationId xmlns:a16="http://schemas.microsoft.com/office/drawing/2014/main" id="{950A1466-3311-7281-B104-D81BB99E009B}"/>
              </a:ext>
            </a:extLst>
          </p:cNvPr>
          <p:cNvPicPr>
            <a:picLocks noChangeAspect="1"/>
          </p:cNvPicPr>
          <p:nvPr/>
        </p:nvPicPr>
        <p:blipFill>
          <a:blip r:embed="rId2"/>
          <a:stretch>
            <a:fillRect/>
          </a:stretch>
        </p:blipFill>
        <p:spPr>
          <a:xfrm>
            <a:off x="6867144" y="1527048"/>
            <a:ext cx="5224273" cy="3886200"/>
          </a:xfrm>
          <a:prstGeom prst="rect">
            <a:avLst/>
          </a:prstGeom>
        </p:spPr>
      </p:pic>
    </p:spTree>
    <p:extLst>
      <p:ext uri="{BB962C8B-B14F-4D97-AF65-F5344CB8AC3E}">
        <p14:creationId xmlns:p14="http://schemas.microsoft.com/office/powerpoint/2010/main" val="1130959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0" y="381000"/>
            <a:ext cx="7202776" cy="762000"/>
          </a:xfrm>
        </p:spPr>
        <p:txBody>
          <a:bodyPr>
            <a:normAutofit/>
          </a:bodyPr>
          <a:lstStyle/>
          <a:p>
            <a:r>
              <a:rPr lang="en-US" b="1" dirty="0">
                <a:effectLst>
                  <a:outerShdw blurRad="38100" dist="38100" dir="2700000" algn="tl">
                    <a:srgbClr val="000000">
                      <a:alpha val="43137"/>
                    </a:srgbClr>
                  </a:outerShdw>
                </a:effectLst>
              </a:rPr>
              <a:t>Controller</a:t>
            </a:r>
          </a:p>
        </p:txBody>
      </p:sp>
      <p:sp>
        <p:nvSpPr>
          <p:cNvPr id="3" name="Content Placeholder 2"/>
          <p:cNvSpPr>
            <a:spLocks noGrp="1"/>
          </p:cNvSpPr>
          <p:nvPr>
            <p:ph idx="1"/>
          </p:nvPr>
        </p:nvSpPr>
        <p:spPr>
          <a:xfrm>
            <a:off x="441960" y="1470152"/>
            <a:ext cx="6644640" cy="4345432"/>
          </a:xfrm>
        </p:spPr>
        <p:txBody>
          <a:bodyPr>
            <a:normAutofit fontScale="85000" lnSpcReduction="20000"/>
          </a:bodyPr>
          <a:lstStyle/>
          <a:p>
            <a:pPr marL="0" indent="0" algn="just">
              <a:lnSpc>
                <a:spcPct val="150000"/>
              </a:lnSpc>
              <a:buNone/>
            </a:pPr>
            <a:r>
              <a:rPr lang="en-US" sz="2200" dirty="0">
                <a:latin typeface="Times New Roman" panose="02020603050405020304" pitchFamily="18" charset="0"/>
                <a:cs typeface="Times New Roman" panose="02020603050405020304" pitchFamily="18" charset="0"/>
              </a:rPr>
              <a:t>The controller (see Figure 2-2 [b]) is a printed circuit board, mounted at the bottom of a disk drive.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It consists of a microprocessor, internal memory, circuitry, and firmware.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The firmware controls power to the spindle motor and the speed of the motor.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It also manages communication between the drive and the host.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In addition, it controls the R/W operations by moving the actuator arm and switching between different R/W heads, and performs the optimization of data access.</a:t>
            </a:r>
          </a:p>
        </p:txBody>
      </p:sp>
      <p:sp>
        <p:nvSpPr>
          <p:cNvPr id="5" name="Slide Number Placeholder 4"/>
          <p:cNvSpPr>
            <a:spLocks noGrp="1"/>
          </p:cNvSpPr>
          <p:nvPr>
            <p:ph type="sldNum" sz="quarter" idx="12"/>
          </p:nvPr>
        </p:nvSpPr>
        <p:spPr/>
        <p:txBody>
          <a:bodyPr/>
          <a:lstStyle/>
          <a:p>
            <a:fld id="{E5137D0E-4A4F-4307-8994-C1891D747D59}" type="slidenum">
              <a:rPr lang="en-US" smtClean="0"/>
              <a:t>21</a:t>
            </a:fld>
            <a:endParaRPr lang="en-US"/>
          </a:p>
        </p:txBody>
      </p:sp>
      <p:pic>
        <p:nvPicPr>
          <p:cNvPr id="7" name="Picture 6">
            <a:extLst>
              <a:ext uri="{FF2B5EF4-FFF2-40B4-BE49-F238E27FC236}">
                <a16:creationId xmlns:a16="http://schemas.microsoft.com/office/drawing/2014/main" id="{190D9E17-9442-B740-7763-F23193C4FBB7}"/>
              </a:ext>
            </a:extLst>
          </p:cNvPr>
          <p:cNvPicPr>
            <a:picLocks noChangeAspect="1"/>
          </p:cNvPicPr>
          <p:nvPr/>
        </p:nvPicPr>
        <p:blipFill>
          <a:blip r:embed="rId2"/>
          <a:stretch>
            <a:fillRect/>
          </a:stretch>
        </p:blipFill>
        <p:spPr>
          <a:xfrm>
            <a:off x="7086600" y="1736579"/>
            <a:ext cx="4953830" cy="3000794"/>
          </a:xfrm>
          <a:prstGeom prst="rect">
            <a:avLst/>
          </a:prstGeom>
        </p:spPr>
      </p:pic>
    </p:spTree>
    <p:extLst>
      <p:ext uri="{BB962C8B-B14F-4D97-AF65-F5344CB8AC3E}">
        <p14:creationId xmlns:p14="http://schemas.microsoft.com/office/powerpoint/2010/main" val="1611404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6108" y="381000"/>
            <a:ext cx="7202776" cy="762000"/>
          </a:xfrm>
        </p:spPr>
        <p:txBody>
          <a:bodyPr>
            <a:normAutofit/>
          </a:bodyPr>
          <a:lstStyle/>
          <a:p>
            <a:r>
              <a:rPr lang="en-US" b="1" dirty="0">
                <a:effectLst>
                  <a:outerShdw blurRad="38100" dist="38100" dir="2700000" algn="tl">
                    <a:srgbClr val="000000">
                      <a:alpha val="43137"/>
                    </a:srgbClr>
                  </a:outerShdw>
                </a:effectLst>
              </a:rPr>
              <a:t>Physical Disk Structure</a:t>
            </a:r>
          </a:p>
        </p:txBody>
      </p:sp>
      <p:sp>
        <p:nvSpPr>
          <p:cNvPr id="3" name="Content Placeholder 2"/>
          <p:cNvSpPr>
            <a:spLocks noGrp="1"/>
          </p:cNvSpPr>
          <p:nvPr>
            <p:ph idx="1"/>
          </p:nvPr>
        </p:nvSpPr>
        <p:spPr>
          <a:xfrm>
            <a:off x="733595" y="1595628"/>
            <a:ext cx="5200861" cy="3758184"/>
          </a:xfrm>
        </p:spPr>
        <p:txBody>
          <a:bodyPr>
            <a:normAutofit fontScale="92500" lnSpcReduction="10000"/>
          </a:bodyPr>
          <a:lstStyle/>
          <a:p>
            <a:pPr marL="0" indent="0" algn="just">
              <a:lnSpc>
                <a:spcPct val="150000"/>
              </a:lnSpc>
              <a:buNone/>
            </a:pPr>
            <a:r>
              <a:rPr lang="en-US" sz="2200" dirty="0">
                <a:latin typeface="Times New Roman" panose="02020603050405020304" pitchFamily="18" charset="0"/>
                <a:cs typeface="Times New Roman" panose="02020603050405020304" pitchFamily="18" charset="0"/>
              </a:rPr>
              <a:t>Data on the disk is recorded on tracks, which are concentric rings on the platter around the spindle, as shown in Figure 2-5.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The tracks are numbered, starting from zero, from the outer edge of the platter.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The number of tracks per inch (TPI) on the platter (or the track density) measures how tightly the tracks are packed on a platter.</a:t>
            </a:r>
          </a:p>
        </p:txBody>
      </p:sp>
      <p:sp>
        <p:nvSpPr>
          <p:cNvPr id="5" name="Slide Number Placeholder 4"/>
          <p:cNvSpPr>
            <a:spLocks noGrp="1"/>
          </p:cNvSpPr>
          <p:nvPr>
            <p:ph type="sldNum" sz="quarter" idx="12"/>
          </p:nvPr>
        </p:nvSpPr>
        <p:spPr/>
        <p:txBody>
          <a:bodyPr/>
          <a:lstStyle/>
          <a:p>
            <a:fld id="{E5137D0E-4A4F-4307-8994-C1891D747D59}" type="slidenum">
              <a:rPr lang="en-US" smtClean="0"/>
              <a:t>22</a:t>
            </a:fld>
            <a:endParaRPr lang="en-US"/>
          </a:p>
        </p:txBody>
      </p:sp>
      <p:pic>
        <p:nvPicPr>
          <p:cNvPr id="6" name="Content Placeholder 3">
            <a:extLst>
              <a:ext uri="{FF2B5EF4-FFF2-40B4-BE49-F238E27FC236}">
                <a16:creationId xmlns:a16="http://schemas.microsoft.com/office/drawing/2014/main" id="{41908101-CCC4-AC7C-62F3-26CC6AC2D4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504188"/>
            <a:ext cx="5755091" cy="3849624"/>
          </a:xfrm>
          <a:prstGeom prst="rect">
            <a:avLst/>
          </a:prstGeom>
        </p:spPr>
      </p:pic>
    </p:spTree>
    <p:extLst>
      <p:ext uri="{BB962C8B-B14F-4D97-AF65-F5344CB8AC3E}">
        <p14:creationId xmlns:p14="http://schemas.microsoft.com/office/powerpoint/2010/main" val="3351513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381000"/>
            <a:ext cx="7202776" cy="762000"/>
          </a:xfrm>
        </p:spPr>
        <p:txBody>
          <a:bodyPr>
            <a:normAutofit/>
          </a:bodyPr>
          <a:lstStyle/>
          <a:p>
            <a:r>
              <a:rPr lang="en-US" b="1" dirty="0">
                <a:effectLst>
                  <a:outerShdw blurRad="38100" dist="38100" dir="2700000" algn="tl">
                    <a:srgbClr val="000000">
                      <a:alpha val="43137"/>
                    </a:srgbClr>
                  </a:outerShdw>
                </a:effectLst>
              </a:rPr>
              <a:t>Zoned Bit Recording</a:t>
            </a:r>
          </a:p>
        </p:txBody>
      </p:sp>
      <p:sp>
        <p:nvSpPr>
          <p:cNvPr id="3" name="Content Placeholder 2"/>
          <p:cNvSpPr>
            <a:spLocks noGrp="1"/>
          </p:cNvSpPr>
          <p:nvPr>
            <p:ph idx="1"/>
          </p:nvPr>
        </p:nvSpPr>
        <p:spPr>
          <a:xfrm>
            <a:off x="1311579" y="1168400"/>
            <a:ext cx="10136709" cy="5308600"/>
          </a:xfrm>
        </p:spPr>
        <p:txBody>
          <a:bodyPr>
            <a:normAutofit lnSpcReduction="10000"/>
          </a:bodyPr>
          <a:lstStyle/>
          <a:p>
            <a:pPr marL="0" indent="0" algn="just">
              <a:lnSpc>
                <a:spcPct val="150000"/>
              </a:lnSpc>
              <a:buNone/>
            </a:pPr>
            <a:r>
              <a:rPr lang="en-US" sz="2200" dirty="0">
                <a:latin typeface="Times New Roman" panose="02020603050405020304" pitchFamily="18" charset="0"/>
                <a:cs typeface="Times New Roman" panose="02020603050405020304" pitchFamily="18" charset="0"/>
              </a:rPr>
              <a:t>Because the platters are made of concentric tracks, the outer tracks can hold more data than the inner tracks, because the outer tracks are physically longer than the inner tracks, as shown in Figure 2-6 (a).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On older disk drives, the outer tracks had the same number of sectors as the inner tracks, so data density was low on the outer tracks.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This was an inefficient use of available space. Zone bit recording utilizes the disk efficiently.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As shown in Figure 2-6 (b), this mechanism groups tracks into zones based on their distance from the center of the disk. The zones are numbered, with the outermost zone being zone 0. </a:t>
            </a:r>
          </a:p>
        </p:txBody>
      </p:sp>
      <p:sp>
        <p:nvSpPr>
          <p:cNvPr id="5" name="Slide Number Placeholder 4"/>
          <p:cNvSpPr>
            <a:spLocks noGrp="1"/>
          </p:cNvSpPr>
          <p:nvPr>
            <p:ph type="sldNum" sz="quarter" idx="12"/>
          </p:nvPr>
        </p:nvSpPr>
        <p:spPr/>
        <p:txBody>
          <a:bodyPr/>
          <a:lstStyle/>
          <a:p>
            <a:fld id="{E5137D0E-4A4F-4307-8994-C1891D747D59}" type="slidenum">
              <a:rPr lang="en-US" smtClean="0"/>
              <a:t>23</a:t>
            </a:fld>
            <a:endParaRPr lang="en-US"/>
          </a:p>
        </p:txBody>
      </p:sp>
    </p:spTree>
    <p:extLst>
      <p:ext uri="{BB962C8B-B14F-4D97-AF65-F5344CB8AC3E}">
        <p14:creationId xmlns:p14="http://schemas.microsoft.com/office/powerpoint/2010/main" val="42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5137D0E-4A4F-4307-8994-C1891D747D59}" type="slidenum">
              <a:rPr lang="en-US" smtClean="0"/>
              <a:t>24</a:t>
            </a:fld>
            <a:endParaRPr lang="en-US"/>
          </a:p>
        </p:txBody>
      </p:sp>
      <p:pic>
        <p:nvPicPr>
          <p:cNvPr id="5" name="Picture 4">
            <a:extLst>
              <a:ext uri="{FF2B5EF4-FFF2-40B4-BE49-F238E27FC236}">
                <a16:creationId xmlns:a16="http://schemas.microsoft.com/office/drawing/2014/main" id="{95727232-568E-3F61-54EA-BE289FA7A33C}"/>
              </a:ext>
            </a:extLst>
          </p:cNvPr>
          <p:cNvPicPr>
            <a:picLocks noChangeAspect="1"/>
          </p:cNvPicPr>
          <p:nvPr/>
        </p:nvPicPr>
        <p:blipFill>
          <a:blip r:embed="rId2"/>
          <a:stretch>
            <a:fillRect/>
          </a:stretch>
        </p:blipFill>
        <p:spPr>
          <a:xfrm>
            <a:off x="2438399" y="910759"/>
            <a:ext cx="7382933" cy="5176774"/>
          </a:xfrm>
          <a:prstGeom prst="rect">
            <a:avLst/>
          </a:prstGeom>
        </p:spPr>
      </p:pic>
    </p:spTree>
    <p:extLst>
      <p:ext uri="{BB962C8B-B14F-4D97-AF65-F5344CB8AC3E}">
        <p14:creationId xmlns:p14="http://schemas.microsoft.com/office/powerpoint/2010/main" val="3839878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381000"/>
            <a:ext cx="7202776" cy="762000"/>
          </a:xfrm>
        </p:spPr>
        <p:txBody>
          <a:bodyPr>
            <a:normAutofit/>
          </a:bodyPr>
          <a:lstStyle/>
          <a:p>
            <a:r>
              <a:rPr lang="en-US" b="1" dirty="0">
                <a:effectLst>
                  <a:outerShdw blurRad="38100" dist="38100" dir="2700000" algn="tl">
                    <a:srgbClr val="000000">
                      <a:alpha val="43137"/>
                    </a:srgbClr>
                  </a:outerShdw>
                </a:effectLst>
              </a:rPr>
              <a:t>Logical Block Addressing</a:t>
            </a:r>
          </a:p>
        </p:txBody>
      </p:sp>
      <p:sp>
        <p:nvSpPr>
          <p:cNvPr id="3" name="Content Placeholder 2"/>
          <p:cNvSpPr>
            <a:spLocks noGrp="1"/>
          </p:cNvSpPr>
          <p:nvPr>
            <p:ph idx="1"/>
          </p:nvPr>
        </p:nvSpPr>
        <p:spPr>
          <a:xfrm>
            <a:off x="1501140" y="1152907"/>
            <a:ext cx="9517380" cy="5410200"/>
          </a:xfrm>
        </p:spPr>
        <p:txBody>
          <a:bodyPr>
            <a:normAutofit/>
          </a:bodyPr>
          <a:lstStyle/>
          <a:p>
            <a:pPr marL="0" indent="0" algn="just">
              <a:lnSpc>
                <a:spcPct val="150000"/>
              </a:lnSpc>
              <a:buNone/>
            </a:pPr>
            <a:r>
              <a:rPr lang="en-US" sz="2200" dirty="0">
                <a:latin typeface="Times New Roman" panose="02020603050405020304" pitchFamily="18" charset="0"/>
                <a:cs typeface="Times New Roman" panose="02020603050405020304" pitchFamily="18" charset="0"/>
              </a:rPr>
              <a:t>Earlier drives used physical addresses consisting of the cylinder, head, and sector (CHS) number to refer to specific locations on the disk, as shown in Figure 2-7 (a), and the host operating system had to be aware of the geometry of each disk being used.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Logical block addressing (LBA), shown in Figure 2-7 (b), simplifies addressing by using a linear address to access physical blocks of data.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The disk controller translates LBA to a CHS address, and the host only needs to know the size of the disk drive in terms of the number of blocks.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The logical blocks are mapped to physical sectors on a 1:1 basis.</a:t>
            </a:r>
          </a:p>
        </p:txBody>
      </p:sp>
      <p:sp>
        <p:nvSpPr>
          <p:cNvPr id="5" name="Slide Number Placeholder 4"/>
          <p:cNvSpPr>
            <a:spLocks noGrp="1"/>
          </p:cNvSpPr>
          <p:nvPr>
            <p:ph type="sldNum" sz="quarter" idx="12"/>
          </p:nvPr>
        </p:nvSpPr>
        <p:spPr/>
        <p:txBody>
          <a:bodyPr/>
          <a:lstStyle/>
          <a:p>
            <a:fld id="{E5137D0E-4A4F-4307-8994-C1891D747D59}" type="slidenum">
              <a:rPr lang="en-US" smtClean="0"/>
              <a:t>25</a:t>
            </a:fld>
            <a:endParaRPr lang="en-US"/>
          </a:p>
        </p:txBody>
      </p:sp>
    </p:spTree>
    <p:extLst>
      <p:ext uri="{BB962C8B-B14F-4D97-AF65-F5344CB8AC3E}">
        <p14:creationId xmlns:p14="http://schemas.microsoft.com/office/powerpoint/2010/main" val="3922407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5137D0E-4A4F-4307-8994-C1891D747D59}" type="slidenum">
              <a:rPr lang="en-US" smtClean="0"/>
              <a:t>26</a:t>
            </a:fld>
            <a:endParaRPr lang="en-US"/>
          </a:p>
        </p:txBody>
      </p:sp>
      <p:pic>
        <p:nvPicPr>
          <p:cNvPr id="9" name="Picture 8">
            <a:extLst>
              <a:ext uri="{FF2B5EF4-FFF2-40B4-BE49-F238E27FC236}">
                <a16:creationId xmlns:a16="http://schemas.microsoft.com/office/drawing/2014/main" id="{BE821E18-D6EF-0541-70B3-90A356B179C8}"/>
              </a:ext>
            </a:extLst>
          </p:cNvPr>
          <p:cNvPicPr>
            <a:picLocks noChangeAspect="1"/>
          </p:cNvPicPr>
          <p:nvPr/>
        </p:nvPicPr>
        <p:blipFill>
          <a:blip r:embed="rId2"/>
          <a:stretch>
            <a:fillRect/>
          </a:stretch>
        </p:blipFill>
        <p:spPr>
          <a:xfrm>
            <a:off x="1033238" y="1008974"/>
            <a:ext cx="9390747" cy="5357860"/>
          </a:xfrm>
          <a:prstGeom prst="rect">
            <a:avLst/>
          </a:prstGeom>
        </p:spPr>
      </p:pic>
    </p:spTree>
    <p:extLst>
      <p:ext uri="{BB962C8B-B14F-4D97-AF65-F5344CB8AC3E}">
        <p14:creationId xmlns:p14="http://schemas.microsoft.com/office/powerpoint/2010/main" val="349108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381000"/>
            <a:ext cx="7202776" cy="762000"/>
          </a:xfrm>
        </p:spPr>
        <p:txBody>
          <a:bodyPr>
            <a:normAutofit/>
          </a:bodyPr>
          <a:lstStyle/>
          <a:p>
            <a:r>
              <a:rPr lang="en-US" b="1" dirty="0">
                <a:effectLst>
                  <a:outerShdw blurRad="38100" dist="38100" dir="2700000" algn="tl">
                    <a:srgbClr val="000000">
                      <a:alpha val="43137"/>
                    </a:srgbClr>
                  </a:outerShdw>
                </a:effectLst>
              </a:rPr>
              <a:t>Disk Drive Performance</a:t>
            </a:r>
          </a:p>
        </p:txBody>
      </p:sp>
      <p:sp>
        <p:nvSpPr>
          <p:cNvPr id="3" name="Content Placeholder 2"/>
          <p:cNvSpPr>
            <a:spLocks noGrp="1"/>
          </p:cNvSpPr>
          <p:nvPr>
            <p:ph idx="1"/>
          </p:nvPr>
        </p:nvSpPr>
        <p:spPr>
          <a:xfrm>
            <a:off x="2020824" y="1328928"/>
            <a:ext cx="8769096" cy="4864100"/>
          </a:xfrm>
        </p:spPr>
        <p:txBody>
          <a:bodyPr>
            <a:normAutofit/>
          </a:bodyPr>
          <a:lstStyle/>
          <a:p>
            <a:pPr marL="0" indent="0">
              <a:lnSpc>
                <a:spcPct val="150000"/>
              </a:lnSpc>
              <a:buNone/>
            </a:pPr>
            <a:r>
              <a:rPr lang="en-US" sz="2200" dirty="0">
                <a:latin typeface="Times New Roman" panose="02020603050405020304" pitchFamily="18" charset="0"/>
                <a:cs typeface="Times New Roman" panose="02020603050405020304" pitchFamily="18" charset="0"/>
              </a:rPr>
              <a:t>A disk drive is an electromechanical device that governs the overall performance of the storage system environment. The various factors that affect the performance of disk drives are discussed in this section.</a:t>
            </a:r>
          </a:p>
        </p:txBody>
      </p:sp>
      <p:sp>
        <p:nvSpPr>
          <p:cNvPr id="5" name="Slide Number Placeholder 4"/>
          <p:cNvSpPr>
            <a:spLocks noGrp="1"/>
          </p:cNvSpPr>
          <p:nvPr>
            <p:ph type="sldNum" sz="quarter" idx="12"/>
          </p:nvPr>
        </p:nvSpPr>
        <p:spPr/>
        <p:txBody>
          <a:bodyPr/>
          <a:lstStyle/>
          <a:p>
            <a:fld id="{E5137D0E-4A4F-4307-8994-C1891D747D59}" type="slidenum">
              <a:rPr lang="en-US" smtClean="0"/>
              <a:t>27</a:t>
            </a:fld>
            <a:endParaRPr lang="en-US"/>
          </a:p>
        </p:txBody>
      </p:sp>
    </p:spTree>
    <p:extLst>
      <p:ext uri="{BB962C8B-B14F-4D97-AF65-F5344CB8AC3E}">
        <p14:creationId xmlns:p14="http://schemas.microsoft.com/office/powerpoint/2010/main" val="597647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8296" y="208344"/>
            <a:ext cx="7202776" cy="762000"/>
          </a:xfrm>
        </p:spPr>
        <p:txBody>
          <a:bodyPr>
            <a:normAutofit fontScale="90000"/>
          </a:bodyPr>
          <a:lstStyle/>
          <a:p>
            <a:r>
              <a:rPr lang="en-US" b="1" dirty="0">
                <a:effectLst>
                  <a:outerShdw blurRad="38100" dist="38100" dir="2700000" algn="tl">
                    <a:srgbClr val="000000">
                      <a:alpha val="43137"/>
                    </a:srgbClr>
                  </a:outerShdw>
                </a:effectLst>
              </a:rPr>
              <a:t>Disk Service Time</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1920240" y="1066800"/>
            <a:ext cx="10030968" cy="5257800"/>
          </a:xfrm>
        </p:spPr>
        <p:txBody>
          <a:bodyPr>
            <a:normAutofit/>
          </a:bodyPr>
          <a:lstStyle/>
          <a:p>
            <a:pPr marL="0" indent="0">
              <a:lnSpc>
                <a:spcPct val="150000"/>
              </a:lnSpc>
              <a:buNone/>
            </a:pPr>
            <a:r>
              <a:rPr lang="en-US" sz="2200" dirty="0">
                <a:latin typeface="Times New Roman" panose="02020603050405020304" pitchFamily="18" charset="0"/>
                <a:cs typeface="Times New Roman" panose="02020603050405020304" pitchFamily="18" charset="0"/>
              </a:rPr>
              <a:t>Disk service time is the time taken by a disk to complete an I/O request. Components that contribute to service time on a disk drive are seek time, rotational latency, and data transfer rate.</a:t>
            </a:r>
          </a:p>
          <a:p>
            <a:pPr algn="l" rtl="0"/>
            <a:r>
              <a:rPr lang="en-US" sz="2400" b="1" dirty="0">
                <a:solidFill>
                  <a:srgbClr val="C00000"/>
                </a:solidFill>
                <a:effectLst>
                  <a:outerShdw blurRad="38100" dist="38100" dir="2700000" algn="tl">
                    <a:srgbClr val="000000">
                      <a:alpha val="43137"/>
                    </a:srgbClr>
                  </a:outerShdw>
                </a:effectLst>
              </a:rPr>
              <a:t>Seek Time</a:t>
            </a:r>
          </a:p>
          <a:p>
            <a:pPr marL="514350" indent="-514350">
              <a:buFont typeface="+mj-lt"/>
              <a:buAutoNum type="arabicParenR"/>
            </a:pPr>
            <a:r>
              <a:rPr lang="en-US" b="1" dirty="0"/>
              <a:t>Full Stroke</a:t>
            </a:r>
          </a:p>
          <a:p>
            <a:pPr marL="514350" indent="-514350">
              <a:buFont typeface="+mj-lt"/>
              <a:buAutoNum type="arabicParenR"/>
            </a:pPr>
            <a:r>
              <a:rPr lang="en-US" b="1" dirty="0"/>
              <a:t>Average</a:t>
            </a:r>
          </a:p>
          <a:p>
            <a:pPr marL="514350" indent="-514350">
              <a:buFont typeface="+mj-lt"/>
              <a:buAutoNum type="arabicParenR"/>
            </a:pPr>
            <a:r>
              <a:rPr lang="en-US" b="1" dirty="0"/>
              <a:t>Track-to-Track</a:t>
            </a:r>
          </a:p>
          <a:p>
            <a:pPr algn="l" rtl="0"/>
            <a:r>
              <a:rPr lang="en-US" sz="2400" b="1" dirty="0">
                <a:solidFill>
                  <a:srgbClr val="C00000"/>
                </a:solidFill>
                <a:effectLst>
                  <a:outerShdw blurRad="38100" dist="38100" dir="2700000" algn="tl">
                    <a:srgbClr val="000000">
                      <a:alpha val="43137"/>
                    </a:srgbClr>
                  </a:outerShdw>
                </a:effectLst>
              </a:rPr>
              <a:t>Rotational Latency</a:t>
            </a:r>
          </a:p>
          <a:p>
            <a:pPr algn="l" rtl="0"/>
            <a:r>
              <a:rPr lang="en-US" sz="2400" b="1" dirty="0">
                <a:solidFill>
                  <a:srgbClr val="C00000"/>
                </a:solidFill>
                <a:effectLst>
                  <a:outerShdw blurRad="38100" dist="38100" dir="2700000" algn="tl">
                    <a:srgbClr val="000000">
                      <a:alpha val="43137"/>
                    </a:srgbClr>
                  </a:outerShdw>
                </a:effectLst>
              </a:rPr>
              <a:t>Data Transfer Rate</a:t>
            </a:r>
          </a:p>
        </p:txBody>
      </p:sp>
      <p:sp>
        <p:nvSpPr>
          <p:cNvPr id="5" name="Slide Number Placeholder 4"/>
          <p:cNvSpPr>
            <a:spLocks noGrp="1"/>
          </p:cNvSpPr>
          <p:nvPr>
            <p:ph type="sldNum" sz="quarter" idx="12"/>
          </p:nvPr>
        </p:nvSpPr>
        <p:spPr/>
        <p:txBody>
          <a:bodyPr/>
          <a:lstStyle/>
          <a:p>
            <a:fld id="{E5137D0E-4A4F-4307-8994-C1891D747D59}" type="slidenum">
              <a:rPr lang="en-US" smtClean="0"/>
              <a:t>28</a:t>
            </a:fld>
            <a:endParaRPr lang="en-US"/>
          </a:p>
        </p:txBody>
      </p:sp>
    </p:spTree>
    <p:extLst>
      <p:ext uri="{BB962C8B-B14F-4D97-AF65-F5344CB8AC3E}">
        <p14:creationId xmlns:p14="http://schemas.microsoft.com/office/powerpoint/2010/main" val="443599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16E945-282D-AA65-93CF-92E1CCD939EA}"/>
              </a:ext>
            </a:extLst>
          </p:cNvPr>
          <p:cNvSpPr txBox="1"/>
          <p:nvPr/>
        </p:nvSpPr>
        <p:spPr>
          <a:xfrm>
            <a:off x="1659467" y="779145"/>
            <a:ext cx="9795933" cy="3662541"/>
          </a:xfrm>
          <a:prstGeom prst="rect">
            <a:avLst/>
          </a:prstGeom>
          <a:noFill/>
        </p:spPr>
        <p:txBody>
          <a:bodyPr wrap="square">
            <a:spAutoFit/>
          </a:bodyPr>
          <a:lstStyle/>
          <a:p>
            <a:pPr algn="just"/>
            <a:r>
              <a:rPr lang="en-GB" sz="1800" b="0" i="0" u="none" strike="noStrike" baseline="0" dirty="0">
                <a:latin typeface="Palatino-Roman"/>
              </a:rPr>
              <a:t>The </a:t>
            </a:r>
            <a:r>
              <a:rPr lang="en-GB" sz="1800" b="0" i="1" u="none" strike="noStrike" baseline="0" dirty="0">
                <a:latin typeface="Palatino-Italic"/>
              </a:rPr>
              <a:t>seek time </a:t>
            </a:r>
            <a:r>
              <a:rPr lang="en-GB" sz="1800" b="0" i="0" u="none" strike="noStrike" baseline="0" dirty="0">
                <a:latin typeface="Palatino-Roman"/>
              </a:rPr>
              <a:t>(also called </a:t>
            </a:r>
            <a:r>
              <a:rPr lang="en-GB" sz="1800" b="0" i="1" u="none" strike="noStrike" baseline="0" dirty="0">
                <a:latin typeface="Palatino-Italic"/>
              </a:rPr>
              <a:t>access time</a:t>
            </a:r>
            <a:r>
              <a:rPr lang="en-GB" sz="1800" b="0" i="0" u="none" strike="noStrike" baseline="0" dirty="0">
                <a:latin typeface="Palatino-Roman"/>
              </a:rPr>
              <a:t>) describes the time taken to position and settle the arm and the head over the correct track. </a:t>
            </a:r>
          </a:p>
          <a:p>
            <a:pPr algn="just"/>
            <a:r>
              <a:rPr lang="en-GB" sz="1800" b="0" i="0" u="none" strike="noStrike" baseline="0" dirty="0">
                <a:latin typeface="Palatino-Roman"/>
              </a:rPr>
              <a:t>Therefore, the lower the seek time, the faster the I/O operation. </a:t>
            </a:r>
          </a:p>
          <a:p>
            <a:pPr algn="just"/>
            <a:r>
              <a:rPr lang="en-GB" sz="800" b="0" i="0" u="none" strike="noStrike" baseline="0" dirty="0">
                <a:latin typeface="ZapfDingbats"/>
              </a:rPr>
              <a:t> </a:t>
            </a:r>
          </a:p>
          <a:p>
            <a:pPr algn="just"/>
            <a:r>
              <a:rPr lang="en-GB" sz="1800" b="1" i="0" u="none" strike="noStrike" baseline="0" dirty="0">
                <a:latin typeface="Palatino-Bold"/>
              </a:rPr>
              <a:t>Full Stroke: </a:t>
            </a:r>
            <a:r>
              <a:rPr lang="en-GB" sz="1800" b="0" i="0" u="none" strike="noStrike" baseline="0" dirty="0">
                <a:latin typeface="Palatino-Roman"/>
              </a:rPr>
              <a:t>The time taken by the R/W head to move across the entire width of the disk, from the innermost track to the outermost track.</a:t>
            </a:r>
          </a:p>
          <a:p>
            <a:pPr algn="just"/>
            <a:endParaRPr lang="en-GB" sz="1800" b="1" i="0" u="none" strike="noStrike" baseline="0" dirty="0">
              <a:latin typeface="Palatino-Bold"/>
            </a:endParaRPr>
          </a:p>
          <a:p>
            <a:pPr algn="just"/>
            <a:r>
              <a:rPr lang="en-GB" sz="1800" b="1" i="0" u="none" strike="noStrike" baseline="0" dirty="0">
                <a:latin typeface="Palatino-Bold"/>
              </a:rPr>
              <a:t>Average: </a:t>
            </a:r>
            <a:r>
              <a:rPr lang="en-GB" sz="1800" b="0" i="0" u="none" strike="noStrike" baseline="0" dirty="0">
                <a:latin typeface="Palatino-Roman"/>
              </a:rPr>
              <a:t>The average time taken by the R/W head to move from one random track to another, normally listed as the time for one-third of a </a:t>
            </a:r>
            <a:r>
              <a:rPr lang="en-IN" sz="1800" b="0" i="0" u="none" strike="noStrike" baseline="0" dirty="0">
                <a:latin typeface="Palatino-Roman"/>
              </a:rPr>
              <a:t>full stroke.</a:t>
            </a:r>
          </a:p>
          <a:p>
            <a:pPr algn="just"/>
            <a:r>
              <a:rPr lang="en-GB" sz="800" b="0" i="0" u="none" strike="noStrike" baseline="0" dirty="0">
                <a:latin typeface="ZapfDingbats"/>
              </a:rPr>
              <a:t> </a:t>
            </a:r>
          </a:p>
          <a:p>
            <a:pPr algn="just"/>
            <a:r>
              <a:rPr lang="en-GB" sz="1800" b="1" i="0" u="none" strike="noStrike" baseline="0" dirty="0">
                <a:latin typeface="Palatino-Bold"/>
              </a:rPr>
              <a:t>Track-to-Track: </a:t>
            </a:r>
            <a:r>
              <a:rPr lang="en-GB" sz="1800" b="0" i="0" u="none" strike="noStrike" baseline="0" dirty="0">
                <a:latin typeface="Palatino-Roman"/>
              </a:rPr>
              <a:t>The time taken by the R/W head to move between adjacent </a:t>
            </a:r>
            <a:r>
              <a:rPr lang="en-IN" sz="1800" b="0" i="0" u="none" strike="noStrike" baseline="0" dirty="0">
                <a:latin typeface="Palatino-Roman"/>
              </a:rPr>
              <a:t>tracks.</a:t>
            </a:r>
          </a:p>
          <a:p>
            <a:pPr algn="just"/>
            <a:endParaRPr lang="en-GB" sz="1800" b="0" i="0" u="none" strike="noStrike" baseline="0" dirty="0">
              <a:latin typeface="Palatino-Roman"/>
            </a:endParaRPr>
          </a:p>
          <a:p>
            <a:pPr algn="just"/>
            <a:r>
              <a:rPr lang="en-GB" sz="1800" b="0" i="0" u="none" strike="noStrike" baseline="0" dirty="0">
                <a:latin typeface="Palatino-Roman"/>
              </a:rPr>
              <a:t>The average seek time on a modern disk is typically in the range of 3 to 15 milliseconds. </a:t>
            </a:r>
          </a:p>
          <a:p>
            <a:pPr algn="just"/>
            <a:endParaRPr lang="en-GB" sz="1800" b="0" i="0" u="none" strike="noStrike" baseline="0" dirty="0">
              <a:latin typeface="Palatino-Roman"/>
            </a:endParaRPr>
          </a:p>
        </p:txBody>
      </p:sp>
    </p:spTree>
    <p:extLst>
      <p:ext uri="{BB962C8B-B14F-4D97-AF65-F5344CB8AC3E}">
        <p14:creationId xmlns:p14="http://schemas.microsoft.com/office/powerpoint/2010/main" val="1914085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3C294-EE54-78EB-A445-66AC8F05B947}"/>
              </a:ext>
            </a:extLst>
          </p:cNvPr>
          <p:cNvSpPr>
            <a:spLocks noGrp="1"/>
          </p:cNvSpPr>
          <p:nvPr>
            <p:ph type="title"/>
          </p:nvPr>
        </p:nvSpPr>
        <p:spPr>
          <a:xfrm>
            <a:off x="1890192" y="590244"/>
            <a:ext cx="8911687" cy="1280890"/>
          </a:xfrm>
        </p:spPr>
        <p:txBody>
          <a:bodyPr/>
          <a:lstStyle/>
          <a:p>
            <a:r>
              <a:rPr lang="en-IN" b="1" i="1" dirty="0"/>
              <a:t>Rotational Latency</a:t>
            </a:r>
            <a:endParaRPr lang="en-IN" dirty="0"/>
          </a:p>
        </p:txBody>
      </p:sp>
      <p:sp>
        <p:nvSpPr>
          <p:cNvPr id="3" name="Content Placeholder 2">
            <a:extLst>
              <a:ext uri="{FF2B5EF4-FFF2-40B4-BE49-F238E27FC236}">
                <a16:creationId xmlns:a16="http://schemas.microsoft.com/office/drawing/2014/main" id="{F5953238-6411-B0BA-7267-91ABC9F4B0D6}"/>
              </a:ext>
            </a:extLst>
          </p:cNvPr>
          <p:cNvSpPr>
            <a:spLocks noGrp="1"/>
          </p:cNvSpPr>
          <p:nvPr>
            <p:ph idx="1"/>
          </p:nvPr>
        </p:nvSpPr>
        <p:spPr>
          <a:xfrm>
            <a:off x="1464733" y="1752600"/>
            <a:ext cx="9413346" cy="4124755"/>
          </a:xfrm>
        </p:spPr>
        <p:txBody>
          <a:bodyPr>
            <a:normAutofit lnSpcReduction="10000"/>
          </a:bodyPr>
          <a:lstStyle/>
          <a:p>
            <a:pPr algn="just"/>
            <a:r>
              <a:rPr lang="en-GB" dirty="0">
                <a:solidFill>
                  <a:schemeClr val="tx1"/>
                </a:solidFill>
                <a:latin typeface="Palatino-Roman"/>
              </a:rPr>
              <a:t>To access data, the actuator arm moves the R/W head over the platter to a particular track while the platter spins to position the requested sector under the R/W head. </a:t>
            </a:r>
          </a:p>
          <a:p>
            <a:pPr algn="just"/>
            <a:r>
              <a:rPr lang="en-GB" dirty="0">
                <a:solidFill>
                  <a:schemeClr val="tx1"/>
                </a:solidFill>
                <a:latin typeface="Palatino-Roman"/>
              </a:rPr>
              <a:t>The time taken by the platter to rotate and position the data under the R/W head is called rotational latency. </a:t>
            </a:r>
          </a:p>
          <a:p>
            <a:pPr algn="just"/>
            <a:r>
              <a:rPr lang="en-GB" dirty="0">
                <a:solidFill>
                  <a:schemeClr val="tx1"/>
                </a:solidFill>
                <a:latin typeface="Palatino-Roman"/>
              </a:rPr>
              <a:t>This latency depends on the rotation speed of the spindle and is measured in milliseconds. The average rotational latency is one-half of the time taken for a full rotation. </a:t>
            </a:r>
          </a:p>
          <a:p>
            <a:pPr algn="just"/>
            <a:r>
              <a:rPr lang="en-GB" dirty="0">
                <a:solidFill>
                  <a:schemeClr val="tx1"/>
                </a:solidFill>
                <a:latin typeface="Palatino-Roman"/>
              </a:rPr>
              <a:t>Similar to the seek time, rotational latency has more impact on the reading/writing of random sectors on the disk than on the same operations on adjacent sectors. </a:t>
            </a:r>
          </a:p>
          <a:p>
            <a:pPr algn="just"/>
            <a:r>
              <a:rPr lang="en-GB" dirty="0">
                <a:solidFill>
                  <a:schemeClr val="tx1"/>
                </a:solidFill>
                <a:latin typeface="Palatino-Roman"/>
              </a:rPr>
              <a:t>Average rotational latency is approximately 5.5 </a:t>
            </a:r>
            <a:r>
              <a:rPr lang="en-GB" dirty="0" err="1">
                <a:solidFill>
                  <a:schemeClr val="tx1"/>
                </a:solidFill>
                <a:latin typeface="Palatino-Roman"/>
              </a:rPr>
              <a:t>ms</a:t>
            </a:r>
            <a:r>
              <a:rPr lang="en-GB" dirty="0">
                <a:solidFill>
                  <a:schemeClr val="tx1"/>
                </a:solidFill>
                <a:latin typeface="Palatino-Roman"/>
              </a:rPr>
              <a:t> for a 5,400-rpm drive, and around 2.0 </a:t>
            </a:r>
            <a:r>
              <a:rPr lang="en-GB" dirty="0" err="1">
                <a:solidFill>
                  <a:schemeClr val="tx1"/>
                </a:solidFill>
                <a:latin typeface="Palatino-Roman"/>
              </a:rPr>
              <a:t>ms</a:t>
            </a:r>
            <a:r>
              <a:rPr lang="en-GB" dirty="0">
                <a:solidFill>
                  <a:schemeClr val="tx1"/>
                </a:solidFill>
                <a:latin typeface="Palatino-Roman"/>
              </a:rPr>
              <a:t> for a 15,000-rpm (or 250-rps revolution per second) drive as </a:t>
            </a:r>
            <a:r>
              <a:rPr lang="en-IN" dirty="0">
                <a:solidFill>
                  <a:schemeClr val="tx1"/>
                </a:solidFill>
                <a:latin typeface="Palatino-Roman"/>
              </a:rPr>
              <a:t>shown here:</a:t>
            </a:r>
          </a:p>
          <a:p>
            <a:pPr algn="just"/>
            <a:r>
              <a:rPr lang="en-GB" dirty="0">
                <a:solidFill>
                  <a:schemeClr val="tx1"/>
                </a:solidFill>
                <a:latin typeface="Palatino-Roman"/>
              </a:rPr>
              <a:t>Average rotational latency for a 15,000 rpm (</a:t>
            </a:r>
            <a:r>
              <a:rPr lang="fr-FR" dirty="0">
                <a:solidFill>
                  <a:schemeClr val="tx1"/>
                </a:solidFill>
                <a:latin typeface="Palatino-Roman"/>
              </a:rPr>
              <a:t>RPS=15,000​/60=250 révolutions per second </a:t>
            </a:r>
            <a:r>
              <a:rPr lang="en-GB" dirty="0">
                <a:solidFill>
                  <a:schemeClr val="tx1"/>
                </a:solidFill>
                <a:latin typeface="Palatino-Roman"/>
              </a:rPr>
              <a:t>or 250 </a:t>
            </a:r>
            <a:r>
              <a:rPr lang="en-GB" dirty="0" err="1">
                <a:solidFill>
                  <a:schemeClr val="tx1"/>
                </a:solidFill>
                <a:latin typeface="Palatino-Roman"/>
              </a:rPr>
              <a:t>rps</a:t>
            </a:r>
            <a:r>
              <a:rPr lang="en-GB" dirty="0">
                <a:solidFill>
                  <a:schemeClr val="tx1"/>
                </a:solidFill>
                <a:latin typeface="Palatino-Roman"/>
              </a:rPr>
              <a:t>) </a:t>
            </a:r>
            <a:r>
              <a:rPr lang="en-IN" dirty="0">
                <a:solidFill>
                  <a:schemeClr val="tx1"/>
                </a:solidFill>
                <a:latin typeface="Palatino-Roman"/>
              </a:rPr>
              <a:t>drive = 0.5/250 = 2 milliseconds</a:t>
            </a:r>
          </a:p>
        </p:txBody>
      </p:sp>
      <p:sp>
        <p:nvSpPr>
          <p:cNvPr id="5" name="TextBox 4">
            <a:extLst>
              <a:ext uri="{FF2B5EF4-FFF2-40B4-BE49-F238E27FC236}">
                <a16:creationId xmlns:a16="http://schemas.microsoft.com/office/drawing/2014/main" id="{A628E586-1A8E-8704-1934-1BD4CD3CCD40}"/>
              </a:ext>
            </a:extLst>
          </p:cNvPr>
          <p:cNvSpPr txBox="1"/>
          <p:nvPr/>
        </p:nvSpPr>
        <p:spPr>
          <a:xfrm>
            <a:off x="2336799" y="5898424"/>
            <a:ext cx="6773333" cy="369332"/>
          </a:xfrm>
          <a:prstGeom prst="rect">
            <a:avLst/>
          </a:prstGeom>
          <a:noFill/>
        </p:spPr>
        <p:txBody>
          <a:bodyPr wrap="square">
            <a:spAutoFit/>
          </a:bodyPr>
          <a:lstStyle/>
          <a:p>
            <a:r>
              <a:rPr lang="en-GB" b="1" dirty="0"/>
              <a:t>Average Rotational Latency=1/2 ​×Time per Revolution</a:t>
            </a:r>
            <a:endParaRPr lang="en-IN" b="1" dirty="0"/>
          </a:p>
        </p:txBody>
      </p:sp>
    </p:spTree>
    <p:extLst>
      <p:ext uri="{BB962C8B-B14F-4D97-AF65-F5344CB8AC3E}">
        <p14:creationId xmlns:p14="http://schemas.microsoft.com/office/powerpoint/2010/main" val="16866550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5128D-E260-3745-6048-FE47349529A6}"/>
              </a:ext>
            </a:extLst>
          </p:cNvPr>
          <p:cNvSpPr>
            <a:spLocks noGrp="1"/>
          </p:cNvSpPr>
          <p:nvPr>
            <p:ph type="title"/>
          </p:nvPr>
        </p:nvSpPr>
        <p:spPr/>
        <p:txBody>
          <a:bodyPr/>
          <a:lstStyle/>
          <a:p>
            <a:r>
              <a:rPr lang="en-IN" b="1" i="1" dirty="0"/>
              <a:t>Rotational Latency</a:t>
            </a:r>
            <a:endParaRPr lang="en-IN" dirty="0"/>
          </a:p>
        </p:txBody>
      </p:sp>
      <p:sp>
        <p:nvSpPr>
          <p:cNvPr id="3" name="Content Placeholder 2">
            <a:extLst>
              <a:ext uri="{FF2B5EF4-FFF2-40B4-BE49-F238E27FC236}">
                <a16:creationId xmlns:a16="http://schemas.microsoft.com/office/drawing/2014/main" id="{A47E0BFB-464C-6E79-D466-5CBD5A30CDCD}"/>
              </a:ext>
            </a:extLst>
          </p:cNvPr>
          <p:cNvSpPr>
            <a:spLocks noGrp="1"/>
          </p:cNvSpPr>
          <p:nvPr>
            <p:ph idx="1"/>
          </p:nvPr>
        </p:nvSpPr>
        <p:spPr/>
        <p:txBody>
          <a:bodyPr/>
          <a:lstStyle/>
          <a:p>
            <a:r>
              <a:rPr lang="en-GB" dirty="0"/>
              <a:t>Average rotational latency is approximately 5.5 </a:t>
            </a:r>
            <a:r>
              <a:rPr lang="en-GB" dirty="0" err="1"/>
              <a:t>ms</a:t>
            </a:r>
            <a:r>
              <a:rPr lang="en-GB" dirty="0"/>
              <a:t> for a 5,400-rpm drive,</a:t>
            </a:r>
          </a:p>
          <a:p>
            <a:r>
              <a:rPr lang="en-GB" dirty="0"/>
              <a:t>and around 2.0 </a:t>
            </a:r>
            <a:r>
              <a:rPr lang="en-GB" dirty="0" err="1"/>
              <a:t>ms</a:t>
            </a:r>
            <a:r>
              <a:rPr lang="en-GB" dirty="0"/>
              <a:t> for a 15,000-rpm (or 250-rps revolution per second) drive as</a:t>
            </a:r>
          </a:p>
          <a:p>
            <a:r>
              <a:rPr lang="en-IN" dirty="0"/>
              <a:t>shown here:</a:t>
            </a:r>
          </a:p>
          <a:p>
            <a:r>
              <a:rPr lang="en-GB" dirty="0"/>
              <a:t>Average rotational latency for a 15,000 rpm (or 250 </a:t>
            </a:r>
            <a:r>
              <a:rPr lang="en-GB" dirty="0" err="1"/>
              <a:t>rps</a:t>
            </a:r>
            <a:r>
              <a:rPr lang="en-GB" dirty="0"/>
              <a:t>)</a:t>
            </a:r>
          </a:p>
          <a:p>
            <a:r>
              <a:rPr lang="en-IN" dirty="0"/>
              <a:t>drive = 0.5/250 = 2 milliseconds.</a:t>
            </a:r>
          </a:p>
        </p:txBody>
      </p:sp>
    </p:spTree>
    <p:extLst>
      <p:ext uri="{BB962C8B-B14F-4D97-AF65-F5344CB8AC3E}">
        <p14:creationId xmlns:p14="http://schemas.microsoft.com/office/powerpoint/2010/main" val="23590857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E62BE-7A07-BFF0-4B24-36A1728AD2AF}"/>
              </a:ext>
            </a:extLst>
          </p:cNvPr>
          <p:cNvSpPr>
            <a:spLocks noGrp="1"/>
          </p:cNvSpPr>
          <p:nvPr>
            <p:ph type="title"/>
          </p:nvPr>
        </p:nvSpPr>
        <p:spPr>
          <a:xfrm>
            <a:off x="2017191" y="306333"/>
            <a:ext cx="8911687" cy="1280890"/>
          </a:xfrm>
        </p:spPr>
        <p:txBody>
          <a:bodyPr/>
          <a:lstStyle/>
          <a:p>
            <a:r>
              <a:rPr lang="en-GB" dirty="0"/>
              <a:t>Data Transfer rate</a:t>
            </a:r>
            <a:endParaRPr lang="en-IN" dirty="0"/>
          </a:p>
        </p:txBody>
      </p:sp>
      <p:sp>
        <p:nvSpPr>
          <p:cNvPr id="3" name="Content Placeholder 2">
            <a:extLst>
              <a:ext uri="{FF2B5EF4-FFF2-40B4-BE49-F238E27FC236}">
                <a16:creationId xmlns:a16="http://schemas.microsoft.com/office/drawing/2014/main" id="{2ED4D037-0C62-7B12-FE45-12F12BFC953F}"/>
              </a:ext>
            </a:extLst>
          </p:cNvPr>
          <p:cNvSpPr>
            <a:spLocks noGrp="1"/>
          </p:cNvSpPr>
          <p:nvPr>
            <p:ph idx="1"/>
          </p:nvPr>
        </p:nvSpPr>
        <p:spPr>
          <a:xfrm>
            <a:off x="1452033" y="1430867"/>
            <a:ext cx="8915400" cy="3777622"/>
          </a:xfrm>
        </p:spPr>
        <p:txBody>
          <a:bodyPr>
            <a:normAutofit/>
          </a:bodyPr>
          <a:lstStyle/>
          <a:p>
            <a:pPr algn="just"/>
            <a:r>
              <a:rPr lang="en-GB" dirty="0">
                <a:solidFill>
                  <a:schemeClr val="tx1"/>
                </a:solidFill>
                <a:latin typeface="Palatino-Roman"/>
              </a:rPr>
              <a:t>The data transfer rate (also called transfer rate) refers to the average amount of data per unit time that the drive can deliver to the HBA. </a:t>
            </a:r>
          </a:p>
          <a:p>
            <a:pPr algn="just"/>
            <a:r>
              <a:rPr lang="en-GB" dirty="0">
                <a:solidFill>
                  <a:schemeClr val="tx1"/>
                </a:solidFill>
                <a:latin typeface="Palatino-Roman"/>
              </a:rPr>
              <a:t>In a read operation, the data fi </a:t>
            </a:r>
            <a:r>
              <a:rPr lang="en-GB" dirty="0" err="1">
                <a:solidFill>
                  <a:schemeClr val="tx1"/>
                </a:solidFill>
                <a:latin typeface="Palatino-Roman"/>
              </a:rPr>
              <a:t>rst</a:t>
            </a:r>
            <a:r>
              <a:rPr lang="en-GB" dirty="0">
                <a:solidFill>
                  <a:schemeClr val="tx1"/>
                </a:solidFill>
                <a:latin typeface="Palatino-Roman"/>
              </a:rPr>
              <a:t> moves from disk platters to R/W heads; then it moves to the drive’s internal buffer. Finally, data moves from the buffer through the interface to the host HBA. </a:t>
            </a:r>
          </a:p>
          <a:p>
            <a:pPr algn="just"/>
            <a:r>
              <a:rPr lang="en-GB" dirty="0">
                <a:solidFill>
                  <a:schemeClr val="tx1"/>
                </a:solidFill>
                <a:latin typeface="Palatino-Roman"/>
              </a:rPr>
              <a:t>In a write operation, the data moves from the HBA to the internal buffer of the disk drive through the drive’s interface. The data then moves from the buffer to the R/W heads. Finally, it moves from the R/W </a:t>
            </a:r>
            <a:r>
              <a:rPr lang="en-IN" dirty="0">
                <a:solidFill>
                  <a:schemeClr val="tx1"/>
                </a:solidFill>
                <a:latin typeface="Palatino-Roman"/>
              </a:rPr>
              <a:t>heads to the platters.</a:t>
            </a:r>
          </a:p>
          <a:p>
            <a:pPr algn="just"/>
            <a:r>
              <a:rPr lang="en-GB" dirty="0">
                <a:solidFill>
                  <a:schemeClr val="tx1"/>
                </a:solidFill>
                <a:latin typeface="Palatino-Roman"/>
              </a:rPr>
              <a:t>The data transfer rates during the R/W operations are measured in terms of internal and external transfer rates, as shown in Figure 2-11.</a:t>
            </a:r>
            <a:endParaRPr lang="en-IN" dirty="0">
              <a:solidFill>
                <a:schemeClr val="tx1"/>
              </a:solidFill>
              <a:latin typeface="Palatino-Roman"/>
            </a:endParaRPr>
          </a:p>
        </p:txBody>
      </p:sp>
    </p:spTree>
    <p:extLst>
      <p:ext uri="{BB962C8B-B14F-4D97-AF65-F5344CB8AC3E}">
        <p14:creationId xmlns:p14="http://schemas.microsoft.com/office/powerpoint/2010/main" val="32531430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445D9-1875-2BF4-625B-5966CC1BF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61EA8-D2F7-1F40-8506-D9A29EDC95C2}"/>
              </a:ext>
            </a:extLst>
          </p:cNvPr>
          <p:cNvSpPr>
            <a:spLocks noGrp="1"/>
          </p:cNvSpPr>
          <p:nvPr>
            <p:ph type="title"/>
          </p:nvPr>
        </p:nvSpPr>
        <p:spPr>
          <a:xfrm>
            <a:off x="2017191" y="306333"/>
            <a:ext cx="8911687" cy="1280890"/>
          </a:xfrm>
        </p:spPr>
        <p:txBody>
          <a:bodyPr/>
          <a:lstStyle/>
          <a:p>
            <a:r>
              <a:rPr lang="en-GB" dirty="0"/>
              <a:t>Data Transfer rate</a:t>
            </a:r>
            <a:endParaRPr lang="en-IN" dirty="0"/>
          </a:p>
        </p:txBody>
      </p:sp>
      <p:sp>
        <p:nvSpPr>
          <p:cNvPr id="3" name="Content Placeholder 2">
            <a:extLst>
              <a:ext uri="{FF2B5EF4-FFF2-40B4-BE49-F238E27FC236}">
                <a16:creationId xmlns:a16="http://schemas.microsoft.com/office/drawing/2014/main" id="{7BC7EDE7-CDF7-1226-C18D-C6E0A91D3943}"/>
              </a:ext>
            </a:extLst>
          </p:cNvPr>
          <p:cNvSpPr>
            <a:spLocks noGrp="1"/>
          </p:cNvSpPr>
          <p:nvPr>
            <p:ph idx="1"/>
          </p:nvPr>
        </p:nvSpPr>
        <p:spPr>
          <a:xfrm>
            <a:off x="1452033" y="1430867"/>
            <a:ext cx="8915400" cy="3777622"/>
          </a:xfrm>
        </p:spPr>
        <p:txBody>
          <a:bodyPr>
            <a:normAutofit/>
          </a:bodyPr>
          <a:lstStyle/>
          <a:p>
            <a:pPr algn="just"/>
            <a:r>
              <a:rPr lang="en-GB" dirty="0">
                <a:solidFill>
                  <a:schemeClr val="tx1"/>
                </a:solidFill>
                <a:latin typeface="Palatino-Roman"/>
              </a:rPr>
              <a:t>The data transfer rate (also called transfer rate) refers to the average amount of data per unit time that the drive can deliver to the HBA. </a:t>
            </a:r>
          </a:p>
          <a:p>
            <a:pPr algn="just"/>
            <a:r>
              <a:rPr lang="en-GB" dirty="0">
                <a:solidFill>
                  <a:schemeClr val="tx1"/>
                </a:solidFill>
                <a:latin typeface="Palatino-Roman"/>
              </a:rPr>
              <a:t>In a read operation, the </a:t>
            </a:r>
            <a:r>
              <a:rPr lang="en-GB">
                <a:solidFill>
                  <a:schemeClr val="tx1"/>
                </a:solidFill>
                <a:latin typeface="Palatino-Roman"/>
              </a:rPr>
              <a:t>data first </a:t>
            </a:r>
            <a:r>
              <a:rPr lang="en-GB" dirty="0">
                <a:solidFill>
                  <a:schemeClr val="tx1"/>
                </a:solidFill>
                <a:latin typeface="Palatino-Roman"/>
              </a:rPr>
              <a:t>moves from disk platters to R/W heads; then it moves to the drive’s internal buffer. Finally, data moves from the buffer through the interface to the host HBA. </a:t>
            </a:r>
          </a:p>
          <a:p>
            <a:pPr algn="just"/>
            <a:r>
              <a:rPr lang="en-GB" dirty="0">
                <a:solidFill>
                  <a:schemeClr val="tx1"/>
                </a:solidFill>
                <a:latin typeface="Palatino-Roman"/>
              </a:rPr>
              <a:t>In a write operation, the data moves from the HBA to the internal buffer of the disk drive through the drive’s interface. The data then moves from the buffer to the R/W heads. Finally, it moves from the R/W </a:t>
            </a:r>
            <a:r>
              <a:rPr lang="en-IN" dirty="0">
                <a:solidFill>
                  <a:schemeClr val="tx1"/>
                </a:solidFill>
                <a:latin typeface="Palatino-Roman"/>
              </a:rPr>
              <a:t>heads to the platters.</a:t>
            </a:r>
          </a:p>
          <a:p>
            <a:pPr algn="just"/>
            <a:r>
              <a:rPr lang="en-GB" dirty="0">
                <a:solidFill>
                  <a:schemeClr val="tx1"/>
                </a:solidFill>
                <a:latin typeface="Palatino-Roman"/>
              </a:rPr>
              <a:t>The data transfer rates during the R/W operations are measured in terms of internal and external transfer rates, as shown in Figure 2-11.</a:t>
            </a:r>
            <a:endParaRPr lang="en-IN" dirty="0">
              <a:solidFill>
                <a:schemeClr val="tx1"/>
              </a:solidFill>
              <a:latin typeface="Palatino-Roman"/>
            </a:endParaRPr>
          </a:p>
        </p:txBody>
      </p:sp>
    </p:spTree>
    <p:extLst>
      <p:ext uri="{BB962C8B-B14F-4D97-AF65-F5344CB8AC3E}">
        <p14:creationId xmlns:p14="http://schemas.microsoft.com/office/powerpoint/2010/main" val="26205237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127A7-BF26-9E7B-A632-20BF40F07B40}"/>
              </a:ext>
            </a:extLst>
          </p:cNvPr>
          <p:cNvSpPr>
            <a:spLocks noGrp="1"/>
          </p:cNvSpPr>
          <p:nvPr>
            <p:ph type="title"/>
          </p:nvPr>
        </p:nvSpPr>
        <p:spPr>
          <a:xfrm>
            <a:off x="880013" y="0"/>
            <a:ext cx="8911687" cy="620490"/>
          </a:xfrm>
        </p:spPr>
        <p:txBody>
          <a:bodyPr>
            <a:normAutofit fontScale="90000"/>
          </a:bodyPr>
          <a:lstStyle/>
          <a:p>
            <a:r>
              <a:rPr lang="en-GB" dirty="0"/>
              <a:t>Data Transfer rate</a:t>
            </a:r>
            <a:endParaRPr lang="en-IN" dirty="0"/>
          </a:p>
        </p:txBody>
      </p:sp>
      <p:sp>
        <p:nvSpPr>
          <p:cNvPr id="3" name="Content Placeholder 2">
            <a:extLst>
              <a:ext uri="{FF2B5EF4-FFF2-40B4-BE49-F238E27FC236}">
                <a16:creationId xmlns:a16="http://schemas.microsoft.com/office/drawing/2014/main" id="{E07F1DAE-3CAF-5E34-E858-33A3557A341C}"/>
              </a:ext>
            </a:extLst>
          </p:cNvPr>
          <p:cNvSpPr>
            <a:spLocks noGrp="1"/>
          </p:cNvSpPr>
          <p:nvPr>
            <p:ph idx="1"/>
          </p:nvPr>
        </p:nvSpPr>
        <p:spPr>
          <a:xfrm>
            <a:off x="1655231" y="3829145"/>
            <a:ext cx="9469969" cy="2857900"/>
          </a:xfrm>
        </p:spPr>
        <p:txBody>
          <a:bodyPr/>
          <a:lstStyle/>
          <a:p>
            <a:pPr algn="just"/>
            <a:r>
              <a:rPr lang="en-GB" dirty="0">
                <a:solidFill>
                  <a:schemeClr val="tx1"/>
                </a:solidFill>
                <a:latin typeface="Palatino-Roman"/>
              </a:rPr>
              <a:t>Internal transfer rate is the speed at which data moves from a platter’s surface to the internal buffer (cache) of the disk. </a:t>
            </a:r>
          </a:p>
          <a:p>
            <a:pPr algn="just"/>
            <a:r>
              <a:rPr lang="en-GB" dirty="0">
                <a:solidFill>
                  <a:schemeClr val="tx1"/>
                </a:solidFill>
                <a:latin typeface="Palatino-Roman"/>
              </a:rPr>
              <a:t>The internal transfer rate takes into account factors such as the seek time and rotational latency. External transfer rate is the rate at which data can move through the interface to the HBA. </a:t>
            </a:r>
          </a:p>
          <a:p>
            <a:pPr algn="just"/>
            <a:r>
              <a:rPr lang="en-GB" dirty="0">
                <a:solidFill>
                  <a:schemeClr val="tx1"/>
                </a:solidFill>
                <a:latin typeface="Palatino-Roman"/>
              </a:rPr>
              <a:t>The external transfer rate is generally the advertised speed of the interface, such as 133 MB/s for ATA. The sustained external transfer rate is lower than the interface speed.</a:t>
            </a:r>
            <a:endParaRPr lang="en-IN" dirty="0">
              <a:solidFill>
                <a:schemeClr val="tx1"/>
              </a:solidFill>
              <a:latin typeface="Palatino-Roman"/>
            </a:endParaRPr>
          </a:p>
        </p:txBody>
      </p:sp>
      <p:pic>
        <p:nvPicPr>
          <p:cNvPr id="5" name="Picture 4">
            <a:extLst>
              <a:ext uri="{FF2B5EF4-FFF2-40B4-BE49-F238E27FC236}">
                <a16:creationId xmlns:a16="http://schemas.microsoft.com/office/drawing/2014/main" id="{990580B0-8DD6-947B-CAEC-56B4DD64D3A2}"/>
              </a:ext>
            </a:extLst>
          </p:cNvPr>
          <p:cNvPicPr>
            <a:picLocks noChangeAspect="1"/>
          </p:cNvPicPr>
          <p:nvPr/>
        </p:nvPicPr>
        <p:blipFill>
          <a:blip r:embed="rId2"/>
          <a:stretch>
            <a:fillRect/>
          </a:stretch>
        </p:blipFill>
        <p:spPr>
          <a:xfrm>
            <a:off x="3111113" y="795868"/>
            <a:ext cx="5563376" cy="2857899"/>
          </a:xfrm>
          <a:prstGeom prst="rect">
            <a:avLst/>
          </a:prstGeom>
        </p:spPr>
      </p:pic>
    </p:spTree>
    <p:extLst>
      <p:ext uri="{BB962C8B-B14F-4D97-AF65-F5344CB8AC3E}">
        <p14:creationId xmlns:p14="http://schemas.microsoft.com/office/powerpoint/2010/main" val="33718068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4728" y="216282"/>
            <a:ext cx="9259824" cy="1143000"/>
          </a:xfrm>
        </p:spPr>
        <p:txBody>
          <a:bodyPr>
            <a:normAutofit/>
          </a:bodyPr>
          <a:lstStyle/>
          <a:p>
            <a:r>
              <a:rPr lang="en-IN" b="1" dirty="0"/>
              <a:t>Disk I/O Controller Utilization</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463040" y="1490980"/>
            <a:ext cx="10113264" cy="5016500"/>
          </a:xfrm>
        </p:spPr>
        <p:txBody>
          <a:bodyPr/>
          <a:lstStyle/>
          <a:p>
            <a:pPr marL="0" indent="0">
              <a:lnSpc>
                <a:spcPct val="150000"/>
              </a:lnSpc>
              <a:buNone/>
            </a:pPr>
            <a:r>
              <a:rPr lang="en-US" sz="2200" dirty="0">
                <a:latin typeface="Times New Roman" panose="02020603050405020304" pitchFamily="18" charset="0"/>
                <a:cs typeface="Times New Roman" panose="02020603050405020304" pitchFamily="18" charset="0"/>
              </a:rPr>
              <a:t>To understand the laws of disk performance, a disk can be viewed as a black box consisting of two elements:</a:t>
            </a:r>
          </a:p>
          <a:p>
            <a:pPr algn="l" rtl="0">
              <a:lnSpc>
                <a:spcPct val="150000"/>
              </a:lnSpc>
            </a:pPr>
            <a:r>
              <a:rPr lang="en-US" sz="2400" b="1" dirty="0">
                <a:solidFill>
                  <a:srgbClr val="C00000"/>
                </a:solidFill>
                <a:effectLst>
                  <a:outerShdw blurRad="38100" dist="38100" dir="2700000" algn="tl">
                    <a:srgbClr val="000000">
                      <a:alpha val="43137"/>
                    </a:srgbClr>
                  </a:outerShdw>
                </a:effectLst>
              </a:rPr>
              <a:t>Queue: </a:t>
            </a:r>
            <a:r>
              <a:rPr lang="en-US" sz="2200" dirty="0">
                <a:latin typeface="Times New Roman" panose="02020603050405020304" pitchFamily="18" charset="0"/>
                <a:cs typeface="Times New Roman" panose="02020603050405020304" pitchFamily="18" charset="0"/>
              </a:rPr>
              <a:t>The location where an I/O request waits before it is processed by the I/O controller.</a:t>
            </a:r>
          </a:p>
          <a:p>
            <a:pPr algn="l" rtl="0">
              <a:lnSpc>
                <a:spcPct val="150000"/>
              </a:lnSpc>
            </a:pPr>
            <a:r>
              <a:rPr lang="en-US" sz="2400" b="1" dirty="0">
                <a:solidFill>
                  <a:srgbClr val="C00000"/>
                </a:solidFill>
                <a:effectLst>
                  <a:outerShdw blurRad="38100" dist="38100" dir="2700000" algn="tl">
                    <a:srgbClr val="000000">
                      <a:alpha val="43137"/>
                    </a:srgbClr>
                  </a:outerShdw>
                </a:effectLst>
              </a:rPr>
              <a:t>Disk I/O Controller: </a:t>
            </a:r>
            <a:r>
              <a:rPr lang="en-US" sz="2200" dirty="0">
                <a:latin typeface="Times New Roman" panose="02020603050405020304" pitchFamily="18" charset="0"/>
                <a:cs typeface="Times New Roman" panose="02020603050405020304" pitchFamily="18" charset="0"/>
              </a:rPr>
              <a:t>Processes I/O s that are waiting in the queue one by one.</a:t>
            </a:r>
          </a:p>
        </p:txBody>
      </p:sp>
      <p:sp>
        <p:nvSpPr>
          <p:cNvPr id="5" name="Slide Number Placeholder 4"/>
          <p:cNvSpPr>
            <a:spLocks noGrp="1"/>
          </p:cNvSpPr>
          <p:nvPr>
            <p:ph type="sldNum" sz="quarter" idx="12"/>
          </p:nvPr>
        </p:nvSpPr>
        <p:spPr/>
        <p:txBody>
          <a:bodyPr/>
          <a:lstStyle/>
          <a:p>
            <a:fld id="{E5137D0E-4A4F-4307-8994-C1891D747D59}" type="slidenum">
              <a:rPr lang="en-US" smtClean="0"/>
              <a:t>35</a:t>
            </a:fld>
            <a:endParaRPr lang="en-US"/>
          </a:p>
        </p:txBody>
      </p:sp>
      <p:pic>
        <p:nvPicPr>
          <p:cNvPr id="6" name="Picture 5">
            <a:extLst>
              <a:ext uri="{FF2B5EF4-FFF2-40B4-BE49-F238E27FC236}">
                <a16:creationId xmlns:a16="http://schemas.microsoft.com/office/drawing/2014/main" id="{2F944A70-4C5F-F78E-022C-38E26C7E889C}"/>
              </a:ext>
            </a:extLst>
          </p:cNvPr>
          <p:cNvPicPr>
            <a:picLocks noChangeAspect="1"/>
          </p:cNvPicPr>
          <p:nvPr/>
        </p:nvPicPr>
        <p:blipFill>
          <a:blip r:embed="rId2"/>
          <a:stretch>
            <a:fillRect/>
          </a:stretch>
        </p:blipFill>
        <p:spPr>
          <a:xfrm>
            <a:off x="2441698" y="4746021"/>
            <a:ext cx="5801535" cy="1057423"/>
          </a:xfrm>
          <a:prstGeom prst="rect">
            <a:avLst/>
          </a:prstGeom>
        </p:spPr>
      </p:pic>
    </p:spTree>
    <p:extLst>
      <p:ext uri="{BB962C8B-B14F-4D97-AF65-F5344CB8AC3E}">
        <p14:creationId xmlns:p14="http://schemas.microsoft.com/office/powerpoint/2010/main" val="1128361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03019" y="1333309"/>
            <a:ext cx="5387247" cy="4462315"/>
          </a:xfrm>
        </p:spPr>
        <p:txBody>
          <a:bodyPr>
            <a:normAutofit fontScale="85000" lnSpcReduction="10000"/>
          </a:bodyPr>
          <a:lstStyle/>
          <a:p>
            <a:pPr marL="0" indent="0" algn="just">
              <a:lnSpc>
                <a:spcPct val="150000"/>
              </a:lnSpc>
              <a:buNone/>
            </a:pPr>
            <a:r>
              <a:rPr lang="en-US" dirty="0">
                <a:solidFill>
                  <a:schemeClr val="tx1"/>
                </a:solidFill>
                <a:latin typeface="Palatino-Roman"/>
              </a:rPr>
              <a:t>As a result, it can be concluded that by reducing the service time (the sum of seek time, latency, and internal transfer rate) or utilization by half, the response time can be reduced drastically (almost six times in the preceding example). </a:t>
            </a:r>
          </a:p>
          <a:p>
            <a:pPr marL="0" indent="0" algn="just">
              <a:lnSpc>
                <a:spcPct val="150000"/>
              </a:lnSpc>
              <a:buNone/>
            </a:pPr>
            <a:r>
              <a:rPr lang="en-US" dirty="0">
                <a:solidFill>
                  <a:schemeClr val="tx1"/>
                </a:solidFill>
                <a:latin typeface="Palatino-Roman"/>
              </a:rPr>
              <a:t>The relationship between utilization and response time is shown in Figure 2-10.</a:t>
            </a:r>
          </a:p>
          <a:p>
            <a:pPr marL="0" indent="0" algn="just">
              <a:lnSpc>
                <a:spcPct val="150000"/>
              </a:lnSpc>
              <a:buNone/>
            </a:pPr>
            <a:r>
              <a:rPr lang="en-US" dirty="0">
                <a:solidFill>
                  <a:schemeClr val="tx1"/>
                </a:solidFill>
                <a:latin typeface="Palatino-Roman"/>
              </a:rPr>
              <a:t>Response time changes are nonlinear as utilization increases. </a:t>
            </a:r>
          </a:p>
          <a:p>
            <a:pPr marL="0" indent="0" algn="just">
              <a:lnSpc>
                <a:spcPct val="150000"/>
              </a:lnSpc>
              <a:buNone/>
            </a:pPr>
            <a:r>
              <a:rPr lang="en-US" dirty="0">
                <a:solidFill>
                  <a:schemeClr val="tx1"/>
                </a:solidFill>
                <a:latin typeface="Palatino-Roman"/>
              </a:rPr>
              <a:t>When the average queue sizes are low, response time remains low. </a:t>
            </a:r>
          </a:p>
          <a:p>
            <a:pPr marL="0" indent="0" algn="just">
              <a:lnSpc>
                <a:spcPct val="150000"/>
              </a:lnSpc>
              <a:buNone/>
            </a:pPr>
            <a:r>
              <a:rPr lang="en-US" dirty="0">
                <a:solidFill>
                  <a:schemeClr val="tx1"/>
                </a:solidFill>
                <a:latin typeface="Palatino-Roman"/>
              </a:rPr>
              <a:t>Response time increases slowly with added load on the queue, and increases exponentially when utilization exceeds 70 percent.</a:t>
            </a:r>
          </a:p>
        </p:txBody>
      </p:sp>
      <p:sp>
        <p:nvSpPr>
          <p:cNvPr id="4" name="Slide Number Placeholder 3"/>
          <p:cNvSpPr>
            <a:spLocks noGrp="1"/>
          </p:cNvSpPr>
          <p:nvPr>
            <p:ph type="sldNum" sz="quarter" idx="12"/>
          </p:nvPr>
        </p:nvSpPr>
        <p:spPr/>
        <p:txBody>
          <a:bodyPr/>
          <a:lstStyle/>
          <a:p>
            <a:fld id="{E5137D0E-4A4F-4307-8994-C1891D747D59}" type="slidenum">
              <a:rPr lang="en-US" smtClean="0"/>
              <a:t>36</a:t>
            </a:fld>
            <a:endParaRPr lang="en-US"/>
          </a:p>
        </p:txBody>
      </p:sp>
      <p:pic>
        <p:nvPicPr>
          <p:cNvPr id="2"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3467" y="1900575"/>
            <a:ext cx="4741334" cy="3056849"/>
          </a:xfrm>
          <a:prstGeom prst="rect">
            <a:avLst/>
          </a:prstGeom>
        </p:spPr>
      </p:pic>
      <p:sp>
        <p:nvSpPr>
          <p:cNvPr id="5" name="Title 1">
            <a:extLst>
              <a:ext uri="{FF2B5EF4-FFF2-40B4-BE49-F238E27FC236}">
                <a16:creationId xmlns:a16="http://schemas.microsoft.com/office/drawing/2014/main" id="{F399EA2E-5D44-55C4-AC50-5F72BE19C424}"/>
              </a:ext>
            </a:extLst>
          </p:cNvPr>
          <p:cNvSpPr>
            <a:spLocks noGrp="1"/>
          </p:cNvSpPr>
          <p:nvPr>
            <p:ph type="title"/>
          </p:nvPr>
        </p:nvSpPr>
        <p:spPr>
          <a:xfrm>
            <a:off x="2014728" y="216282"/>
            <a:ext cx="9259824" cy="638851"/>
          </a:xfrm>
        </p:spPr>
        <p:txBody>
          <a:bodyPr>
            <a:normAutofit fontScale="90000"/>
          </a:bodyPr>
          <a:lstStyle/>
          <a:p>
            <a:r>
              <a:rPr lang="en-IN" b="1" dirty="0"/>
              <a:t>Disk I/O Controller Utilization</a:t>
            </a:r>
            <a:endParaRPr lang="en-US"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44898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5137D0E-4A4F-4307-8994-C1891D747D59}" type="slidenum">
              <a:rPr lang="en-US" smtClean="0"/>
              <a:t>37</a:t>
            </a:fld>
            <a:endParaRPr lang="en-US"/>
          </a:p>
        </p:txBody>
      </p:sp>
      <p:sp>
        <p:nvSpPr>
          <p:cNvPr id="7" name="TextBox 6">
            <a:extLst>
              <a:ext uri="{FF2B5EF4-FFF2-40B4-BE49-F238E27FC236}">
                <a16:creationId xmlns:a16="http://schemas.microsoft.com/office/drawing/2014/main" id="{632C3964-FF32-4466-4D40-4F5D7470DDA9}"/>
              </a:ext>
            </a:extLst>
          </p:cNvPr>
          <p:cNvSpPr txBox="1"/>
          <p:nvPr/>
        </p:nvSpPr>
        <p:spPr>
          <a:xfrm>
            <a:off x="2201333" y="464616"/>
            <a:ext cx="8991600" cy="369332"/>
          </a:xfrm>
          <a:prstGeom prst="rect">
            <a:avLst/>
          </a:prstGeom>
          <a:noFill/>
        </p:spPr>
        <p:txBody>
          <a:bodyPr wrap="square">
            <a:spAutoFit/>
          </a:bodyPr>
          <a:lstStyle/>
          <a:p>
            <a:pPr algn="l"/>
            <a:r>
              <a:rPr lang="en-GB" sz="1800" b="1" i="0" u="none" strike="noStrike" baseline="0" dirty="0">
                <a:latin typeface="Formata-Medium"/>
              </a:rPr>
              <a:t>Storage Design Based on Application </a:t>
            </a:r>
            <a:r>
              <a:rPr lang="en-IN" sz="1800" b="1" i="0" u="none" strike="noStrike" baseline="0" dirty="0">
                <a:latin typeface="Formata-Medium"/>
              </a:rPr>
              <a:t>Requirements and Disk Performance</a:t>
            </a:r>
            <a:endParaRPr lang="en-IN" dirty="0"/>
          </a:p>
        </p:txBody>
      </p:sp>
      <p:sp>
        <p:nvSpPr>
          <p:cNvPr id="11" name="TextBox 10">
            <a:extLst>
              <a:ext uri="{FF2B5EF4-FFF2-40B4-BE49-F238E27FC236}">
                <a16:creationId xmlns:a16="http://schemas.microsoft.com/office/drawing/2014/main" id="{79E8295D-D317-8703-60BE-FDA062253DA9}"/>
              </a:ext>
            </a:extLst>
          </p:cNvPr>
          <p:cNvSpPr txBox="1"/>
          <p:nvPr/>
        </p:nvSpPr>
        <p:spPr>
          <a:xfrm>
            <a:off x="821267" y="1219200"/>
            <a:ext cx="10371666" cy="4247317"/>
          </a:xfrm>
          <a:prstGeom prst="rect">
            <a:avLst/>
          </a:prstGeom>
          <a:noFill/>
        </p:spPr>
        <p:txBody>
          <a:bodyPr wrap="square">
            <a:spAutoFit/>
          </a:bodyPr>
          <a:lstStyle/>
          <a:p>
            <a:pPr marL="285750" indent="-285750" algn="just">
              <a:buFont typeface="Arial" panose="020B0604020202020204" pitchFamily="34" charset="0"/>
              <a:buChar char="•"/>
            </a:pPr>
            <a:r>
              <a:rPr lang="en-GB" sz="1800" b="0" i="0" u="none" strike="noStrike" baseline="0" dirty="0">
                <a:latin typeface="Palatino-Roman"/>
              </a:rPr>
              <a:t>Determining storage requirements for an application is estimated by the size and number of file systems and database components used by applications. </a:t>
            </a:r>
          </a:p>
          <a:p>
            <a:pPr marL="285750" indent="-285750" algn="just">
              <a:buFont typeface="Arial" panose="020B0604020202020204" pitchFamily="34" charset="0"/>
              <a:buChar char="•"/>
            </a:pPr>
            <a:endParaRPr lang="en-GB" sz="1800" b="0" i="0" u="none" strike="noStrike" baseline="0" dirty="0">
              <a:latin typeface="Palatino-Roman"/>
            </a:endParaRPr>
          </a:p>
          <a:p>
            <a:pPr marL="285750" indent="-285750" algn="just">
              <a:buFont typeface="Arial" panose="020B0604020202020204" pitchFamily="34" charset="0"/>
              <a:buChar char="•"/>
            </a:pPr>
            <a:r>
              <a:rPr lang="en-GB" sz="1800" b="0" i="0" u="none" strike="noStrike" baseline="0" dirty="0">
                <a:latin typeface="Palatino-Roman"/>
              </a:rPr>
              <a:t>The I/O size, I/O characteristics, and the number of I/</a:t>
            </a:r>
            <a:r>
              <a:rPr lang="en-GB" sz="1800" b="0" i="0" u="none" strike="noStrike" baseline="0" dirty="0" err="1">
                <a:latin typeface="Palatino-Roman"/>
              </a:rPr>
              <a:t>Os</a:t>
            </a:r>
            <a:r>
              <a:rPr lang="en-GB" dirty="0">
                <a:latin typeface="Palatino-Roman"/>
              </a:rPr>
              <a:t> </a:t>
            </a:r>
            <a:r>
              <a:rPr lang="en-GB" sz="1800" b="0" i="0" u="none" strike="noStrike" baseline="0" dirty="0">
                <a:latin typeface="Palatino-Roman"/>
              </a:rPr>
              <a:t>generated by the application at peak workload are other factors that affect disk performance, I/O response time, and design of storage systems. </a:t>
            </a:r>
          </a:p>
          <a:p>
            <a:pPr marL="285750" indent="-285750" algn="just">
              <a:buFont typeface="Arial" panose="020B0604020202020204" pitchFamily="34" charset="0"/>
              <a:buChar char="•"/>
            </a:pPr>
            <a:endParaRPr lang="en-GB" sz="1800" b="0" i="0" u="none" strike="noStrike" baseline="0" dirty="0">
              <a:latin typeface="Palatino-Roman"/>
            </a:endParaRPr>
          </a:p>
          <a:p>
            <a:pPr marL="285750" indent="-285750" algn="just">
              <a:buFont typeface="Arial" panose="020B0604020202020204" pitchFamily="34" charset="0"/>
              <a:buChar char="•"/>
            </a:pPr>
            <a:r>
              <a:rPr lang="en-GB" sz="1800" b="0" i="0" u="none" strike="noStrike" baseline="0" dirty="0">
                <a:latin typeface="Palatino-Roman"/>
              </a:rPr>
              <a:t>The I/O block size depends on the file system and the database on which the application is built.</a:t>
            </a:r>
            <a:endParaRPr lang="en-GB" dirty="0">
              <a:latin typeface="Palatino-Roman"/>
            </a:endParaRPr>
          </a:p>
          <a:p>
            <a:pPr marL="285750" indent="-285750" algn="just">
              <a:buFont typeface="Arial" panose="020B0604020202020204" pitchFamily="34" charset="0"/>
              <a:buChar char="•"/>
            </a:pPr>
            <a:endParaRPr lang="en-GB" sz="1800" b="0" i="0" u="none" strike="noStrike" baseline="0" dirty="0">
              <a:latin typeface="Palatino-Roman"/>
            </a:endParaRPr>
          </a:p>
          <a:p>
            <a:pPr marL="285750" indent="-285750" algn="l">
              <a:buFont typeface="Arial" panose="020B0604020202020204" pitchFamily="34" charset="0"/>
              <a:buChar char="•"/>
            </a:pPr>
            <a:endParaRPr lang="en-GB" sz="1800" b="0" i="0" u="none" strike="noStrike" baseline="0" dirty="0">
              <a:latin typeface="Palatino-Roman"/>
            </a:endParaRPr>
          </a:p>
          <a:p>
            <a:pPr marL="285750" indent="-285750" algn="just">
              <a:buFont typeface="Arial" panose="020B0604020202020204" pitchFamily="34" charset="0"/>
              <a:buChar char="•"/>
            </a:pPr>
            <a:r>
              <a:rPr lang="en-GB" sz="1800" b="0" i="0" u="none" strike="noStrike" baseline="0" dirty="0">
                <a:latin typeface="Palatino-Roman"/>
              </a:rPr>
              <a:t>The disk service time (T</a:t>
            </a:r>
            <a:r>
              <a:rPr lang="en-GB" sz="800" b="0" i="0" u="none" strike="noStrike" baseline="0" dirty="0">
                <a:latin typeface="Palatino-Roman"/>
              </a:rPr>
              <a:t>S</a:t>
            </a:r>
            <a:r>
              <a:rPr lang="en-GB" sz="1800" b="0" i="0" u="none" strike="noStrike" baseline="0" dirty="0">
                <a:latin typeface="Palatino-Roman"/>
              </a:rPr>
              <a:t>) for an I/O is a key measure of disk performance; T</a:t>
            </a:r>
            <a:r>
              <a:rPr lang="en-GB" sz="800" b="0" i="0" u="none" strike="noStrike" baseline="0" dirty="0">
                <a:latin typeface="Palatino-Roman"/>
              </a:rPr>
              <a:t>S</a:t>
            </a:r>
            <a:r>
              <a:rPr lang="en-GB" sz="1800" b="0" i="0" u="none" strike="noStrike" baseline="0" dirty="0">
                <a:latin typeface="Palatino-Roman"/>
              </a:rPr>
              <a:t>, along with disk utilization rate (U), determines the I/O response time for an application. </a:t>
            </a:r>
          </a:p>
          <a:p>
            <a:pPr marL="285750" indent="-285750" algn="l">
              <a:buFont typeface="Arial" panose="020B0604020202020204" pitchFamily="34" charset="0"/>
              <a:buChar char="•"/>
            </a:pPr>
            <a:endParaRPr lang="en-GB" dirty="0">
              <a:latin typeface="Palatino-Roman"/>
            </a:endParaRPr>
          </a:p>
          <a:p>
            <a:pPr marL="285750" indent="-285750" algn="just">
              <a:buFont typeface="Arial" panose="020B0604020202020204" pitchFamily="34" charset="0"/>
              <a:buChar char="•"/>
            </a:pPr>
            <a:r>
              <a:rPr lang="en-GB" sz="1800" b="0" i="0" u="none" strike="noStrike" baseline="0" dirty="0">
                <a:latin typeface="Palatino-Roman"/>
              </a:rPr>
              <a:t>The total disk service time (T</a:t>
            </a:r>
            <a:r>
              <a:rPr lang="en-GB" sz="800" b="0" i="0" u="none" strike="noStrike" baseline="0" dirty="0">
                <a:latin typeface="Palatino-Roman"/>
              </a:rPr>
              <a:t>S</a:t>
            </a:r>
            <a:r>
              <a:rPr lang="en-GB" sz="1800" b="0" i="0" u="none" strike="noStrike" baseline="0" dirty="0">
                <a:latin typeface="Palatino-Roman"/>
              </a:rPr>
              <a:t>) is the sum of the seek time (T), rotational latency (L), and internal transfer time (X):  </a:t>
            </a:r>
            <a:r>
              <a:rPr lang="en-IN" sz="1800" b="0" i="0" u="none" strike="noStrike" baseline="0" dirty="0">
                <a:latin typeface="Palatino-Roman"/>
              </a:rPr>
              <a:t>T</a:t>
            </a:r>
            <a:r>
              <a:rPr lang="en-IN" sz="800" b="0" i="0" u="none" strike="noStrike" baseline="0" dirty="0">
                <a:latin typeface="Palatino-Roman"/>
              </a:rPr>
              <a:t>S </a:t>
            </a:r>
            <a:r>
              <a:rPr lang="en-IN" sz="1800" b="0" i="0" u="none" strike="noStrike" baseline="0" dirty="0">
                <a:latin typeface="Palatino-Roman"/>
              </a:rPr>
              <a:t>= T + L + X</a:t>
            </a:r>
          </a:p>
        </p:txBody>
      </p:sp>
    </p:spTree>
    <p:extLst>
      <p:ext uri="{BB962C8B-B14F-4D97-AF65-F5344CB8AC3E}">
        <p14:creationId xmlns:p14="http://schemas.microsoft.com/office/powerpoint/2010/main" val="1549630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91FF47-242E-D4AB-59DE-9EF733A0117E}"/>
              </a:ext>
            </a:extLst>
          </p:cNvPr>
          <p:cNvSpPr>
            <a:spLocks noGrp="1"/>
          </p:cNvSpPr>
          <p:nvPr>
            <p:ph idx="1"/>
          </p:nvPr>
        </p:nvSpPr>
        <p:spPr>
          <a:xfrm>
            <a:off x="1492250" y="1353922"/>
            <a:ext cx="9436100" cy="3777622"/>
          </a:xfrm>
        </p:spPr>
        <p:txBody>
          <a:bodyPr>
            <a:noAutofit/>
          </a:bodyPr>
          <a:lstStyle/>
          <a:p>
            <a:pPr marL="0" indent="0" algn="just">
              <a:buNone/>
            </a:pPr>
            <a:r>
              <a:rPr lang="en-GB" sz="1600" dirty="0">
                <a:solidFill>
                  <a:schemeClr val="tx1"/>
                </a:solidFill>
                <a:latin typeface="Palatino-Roman"/>
              </a:rPr>
              <a:t>Consider an example with the following specifications provided for a disk:</a:t>
            </a:r>
          </a:p>
          <a:p>
            <a:pPr algn="just"/>
            <a:r>
              <a:rPr lang="en-GB" sz="1600" dirty="0">
                <a:solidFill>
                  <a:schemeClr val="tx1"/>
                </a:solidFill>
                <a:latin typeface="Palatino-Roman"/>
              </a:rPr>
              <a:t>The average seek time is 5 </a:t>
            </a:r>
            <a:r>
              <a:rPr lang="en-GB" sz="1600" dirty="0" err="1">
                <a:solidFill>
                  <a:schemeClr val="tx1"/>
                </a:solidFill>
                <a:latin typeface="Palatino-Roman"/>
              </a:rPr>
              <a:t>ms</a:t>
            </a:r>
            <a:r>
              <a:rPr lang="en-GB" sz="1600" dirty="0">
                <a:solidFill>
                  <a:schemeClr val="tx1"/>
                </a:solidFill>
                <a:latin typeface="Palatino-Roman"/>
              </a:rPr>
              <a:t> in a random I/O environment; therefore,</a:t>
            </a:r>
          </a:p>
          <a:p>
            <a:pPr algn="just"/>
            <a:r>
              <a:rPr lang="en-IN" sz="1600" dirty="0">
                <a:solidFill>
                  <a:srgbClr val="C00000"/>
                </a:solidFill>
                <a:latin typeface="Palatino-Roman"/>
              </a:rPr>
              <a:t>T = 5 </a:t>
            </a:r>
            <a:r>
              <a:rPr lang="en-IN" sz="1600" dirty="0" err="1">
                <a:solidFill>
                  <a:srgbClr val="C00000"/>
                </a:solidFill>
                <a:latin typeface="Palatino-Roman"/>
              </a:rPr>
              <a:t>ms</a:t>
            </a:r>
            <a:r>
              <a:rPr lang="en-IN" sz="1600" dirty="0">
                <a:solidFill>
                  <a:srgbClr val="C00000"/>
                </a:solidFill>
                <a:latin typeface="Palatino-Roman"/>
              </a:rPr>
              <a:t>.</a:t>
            </a:r>
          </a:p>
          <a:p>
            <a:pPr algn="just"/>
            <a:r>
              <a:rPr lang="en-GB" sz="1600" dirty="0">
                <a:solidFill>
                  <a:schemeClr val="tx1"/>
                </a:solidFill>
                <a:latin typeface="Palatino-Roman"/>
              </a:rPr>
              <a:t>Disk rotation speed of 15,000 revolutions per minute or 250 revolutions per second — from which rotational latency (L) can be determined, which is one-half of the time taken for a full rotation or             </a:t>
            </a:r>
            <a:r>
              <a:rPr lang="en-GB" sz="1600" dirty="0">
                <a:solidFill>
                  <a:srgbClr val="C00000"/>
                </a:solidFill>
                <a:latin typeface="Palatino-Roman"/>
              </a:rPr>
              <a:t>L = (0.5/250 </a:t>
            </a:r>
            <a:r>
              <a:rPr lang="en-GB" sz="1600" dirty="0" err="1">
                <a:solidFill>
                  <a:srgbClr val="C00000"/>
                </a:solidFill>
                <a:latin typeface="Palatino-Roman"/>
              </a:rPr>
              <a:t>rps</a:t>
            </a:r>
            <a:r>
              <a:rPr lang="en-GB" sz="1600" dirty="0">
                <a:solidFill>
                  <a:srgbClr val="C00000"/>
                </a:solidFill>
                <a:latin typeface="Palatino-Roman"/>
              </a:rPr>
              <a:t> expressed </a:t>
            </a:r>
            <a:r>
              <a:rPr lang="en-IN" sz="1600" dirty="0">
                <a:solidFill>
                  <a:srgbClr val="C00000"/>
                </a:solidFill>
                <a:latin typeface="Palatino-Roman"/>
              </a:rPr>
              <a:t>in </a:t>
            </a:r>
            <a:r>
              <a:rPr lang="en-IN" sz="1600" dirty="0" err="1">
                <a:solidFill>
                  <a:srgbClr val="C00000"/>
                </a:solidFill>
                <a:latin typeface="Palatino-Roman"/>
              </a:rPr>
              <a:t>ms</a:t>
            </a:r>
            <a:r>
              <a:rPr lang="en-IN" sz="1600" dirty="0">
                <a:solidFill>
                  <a:srgbClr val="C00000"/>
                </a:solidFill>
                <a:latin typeface="Palatino-Roman"/>
              </a:rPr>
              <a:t>). </a:t>
            </a:r>
          </a:p>
          <a:p>
            <a:pPr algn="just"/>
            <a:r>
              <a:rPr lang="en-GB" sz="1600" dirty="0">
                <a:solidFill>
                  <a:schemeClr val="tx1"/>
                </a:solidFill>
                <a:latin typeface="Palatino-Roman"/>
              </a:rPr>
              <a:t>40 MB/s internal data transfer rate, from which the internal transfer time</a:t>
            </a:r>
          </a:p>
          <a:p>
            <a:pPr algn="just"/>
            <a:r>
              <a:rPr lang="en-GB" sz="1600" dirty="0">
                <a:solidFill>
                  <a:schemeClr val="tx1"/>
                </a:solidFill>
                <a:latin typeface="Palatino-Roman"/>
              </a:rPr>
              <a:t>(X) is derived based on the block size of the I/O — for example, an I/O with a block size of 32 KB; therefore </a:t>
            </a:r>
            <a:r>
              <a:rPr lang="en-GB" sz="1600" dirty="0">
                <a:solidFill>
                  <a:srgbClr val="C00000"/>
                </a:solidFill>
                <a:latin typeface="Palatino-Roman"/>
              </a:rPr>
              <a:t>X = 32 KB/40 MB.</a:t>
            </a:r>
          </a:p>
          <a:p>
            <a:pPr algn="just"/>
            <a:r>
              <a:rPr lang="en-GB" sz="1600" dirty="0">
                <a:solidFill>
                  <a:schemeClr val="tx1"/>
                </a:solidFill>
                <a:latin typeface="Palatino-Roman"/>
              </a:rPr>
              <a:t>Consequently, the time taken by the I/O controller to serve an I/O of block size 32 KB is                             </a:t>
            </a:r>
          </a:p>
          <a:p>
            <a:pPr algn="just"/>
            <a:r>
              <a:rPr lang="en-GB" sz="1600" dirty="0">
                <a:solidFill>
                  <a:schemeClr val="tx1"/>
                </a:solidFill>
                <a:latin typeface="Palatino-Roman"/>
              </a:rPr>
              <a:t>TS = 5 </a:t>
            </a:r>
            <a:r>
              <a:rPr lang="en-GB" sz="1600" dirty="0" err="1">
                <a:solidFill>
                  <a:schemeClr val="tx1"/>
                </a:solidFill>
                <a:latin typeface="Palatino-Roman"/>
              </a:rPr>
              <a:t>ms</a:t>
            </a:r>
            <a:r>
              <a:rPr lang="en-GB" sz="1600" dirty="0">
                <a:solidFill>
                  <a:schemeClr val="tx1"/>
                </a:solidFill>
                <a:latin typeface="Palatino-Roman"/>
              </a:rPr>
              <a:t> + (0.5/250) + 32 KB/40 MB = 7.8 </a:t>
            </a:r>
            <a:r>
              <a:rPr lang="en-GB" sz="1600" dirty="0" err="1">
                <a:solidFill>
                  <a:schemeClr val="tx1"/>
                </a:solidFill>
                <a:latin typeface="Palatino-Roman"/>
              </a:rPr>
              <a:t>ms</a:t>
            </a:r>
            <a:r>
              <a:rPr lang="en-GB" sz="1600" dirty="0">
                <a:solidFill>
                  <a:schemeClr val="tx1"/>
                </a:solidFill>
                <a:latin typeface="Palatino-Roman"/>
              </a:rPr>
              <a:t>.</a:t>
            </a:r>
          </a:p>
          <a:p>
            <a:pPr marL="0" indent="0" algn="just">
              <a:buNone/>
            </a:pPr>
            <a:endParaRPr lang="en-GB" sz="1600" dirty="0">
              <a:solidFill>
                <a:schemeClr val="tx1"/>
              </a:solidFill>
              <a:latin typeface="Palatino-Roman"/>
            </a:endParaRPr>
          </a:p>
          <a:p>
            <a:pPr marL="0" indent="0" algn="just">
              <a:buNone/>
            </a:pPr>
            <a:r>
              <a:rPr lang="en-GB" sz="1600" dirty="0">
                <a:solidFill>
                  <a:schemeClr val="tx1"/>
                </a:solidFill>
                <a:latin typeface="Palatino-Roman"/>
              </a:rPr>
              <a:t>Therefore, the maximum number of I/</a:t>
            </a:r>
            <a:r>
              <a:rPr lang="en-GB" sz="1600" dirty="0" err="1">
                <a:solidFill>
                  <a:schemeClr val="tx1"/>
                </a:solidFill>
                <a:latin typeface="Palatino-Roman"/>
              </a:rPr>
              <a:t>Os</a:t>
            </a:r>
            <a:r>
              <a:rPr lang="en-GB" sz="1600" dirty="0">
                <a:solidFill>
                  <a:schemeClr val="tx1"/>
                </a:solidFill>
                <a:latin typeface="Palatino-Roman"/>
              </a:rPr>
              <a:t> serviced per second or IOPS is</a:t>
            </a:r>
          </a:p>
          <a:p>
            <a:pPr algn="just"/>
            <a:r>
              <a:rPr lang="en-GB" sz="1600" dirty="0">
                <a:solidFill>
                  <a:srgbClr val="C00000"/>
                </a:solidFill>
                <a:latin typeface="Palatino-Roman"/>
              </a:rPr>
              <a:t>(1/TS) = 1/(7.8 × 10-3) = 128 IOPS.</a:t>
            </a:r>
            <a:endParaRPr lang="en-IN" sz="1600" dirty="0">
              <a:solidFill>
                <a:srgbClr val="C00000"/>
              </a:solidFill>
              <a:latin typeface="Palatino-Roman"/>
            </a:endParaRPr>
          </a:p>
          <a:p>
            <a:pPr algn="just"/>
            <a:endParaRPr lang="en-IN" sz="1600" dirty="0"/>
          </a:p>
        </p:txBody>
      </p:sp>
      <p:sp>
        <p:nvSpPr>
          <p:cNvPr id="4" name="Title 3">
            <a:extLst>
              <a:ext uri="{FF2B5EF4-FFF2-40B4-BE49-F238E27FC236}">
                <a16:creationId xmlns:a16="http://schemas.microsoft.com/office/drawing/2014/main" id="{39712BA9-AEE2-5540-8CFA-4CC8F2E14335}"/>
              </a:ext>
            </a:extLst>
          </p:cNvPr>
          <p:cNvSpPr txBox="1">
            <a:spLocks noGrp="1"/>
          </p:cNvSpPr>
          <p:nvPr>
            <p:ph type="title"/>
          </p:nvPr>
        </p:nvSpPr>
        <p:spPr>
          <a:xfrm>
            <a:off x="1754188" y="192088"/>
            <a:ext cx="8912225" cy="1281112"/>
          </a:xfrm>
          <a:prstGeom prst="rect">
            <a:avLst/>
          </a:prstGeom>
          <a:noFill/>
        </p:spPr>
        <p:txBody>
          <a:bodyPr wrap="square">
            <a:spAutoFit/>
          </a:bodyPr>
          <a:lstStyle/>
          <a:p>
            <a:pPr algn="l"/>
            <a:r>
              <a:rPr lang="en-GB" sz="1800" b="1" i="0" u="none" strike="noStrike" baseline="0" dirty="0">
                <a:solidFill>
                  <a:srgbClr val="FF0000"/>
                </a:solidFill>
                <a:latin typeface="Formata-Medium"/>
              </a:rPr>
              <a:t>Storage Design Based on Application </a:t>
            </a:r>
            <a:r>
              <a:rPr lang="en-IN" sz="1800" b="1" i="0" u="none" strike="noStrike" baseline="0" dirty="0">
                <a:solidFill>
                  <a:srgbClr val="FF0000"/>
                </a:solidFill>
                <a:latin typeface="Formata-Medium"/>
              </a:rPr>
              <a:t>Requirements and Disk Performance</a:t>
            </a:r>
            <a:endParaRPr lang="en-IN" dirty="0">
              <a:solidFill>
                <a:srgbClr val="FF0000"/>
              </a:solidFill>
            </a:endParaRPr>
          </a:p>
        </p:txBody>
      </p:sp>
    </p:spTree>
    <p:extLst>
      <p:ext uri="{BB962C8B-B14F-4D97-AF65-F5344CB8AC3E}">
        <p14:creationId xmlns:p14="http://schemas.microsoft.com/office/powerpoint/2010/main" val="3980618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F857672-122F-C37F-4FF6-1744E9CBAC38}"/>
              </a:ext>
            </a:extLst>
          </p:cNvPr>
          <p:cNvPicPr>
            <a:picLocks noGrp="1" noChangeAspect="1"/>
          </p:cNvPicPr>
          <p:nvPr>
            <p:ph idx="1"/>
          </p:nvPr>
        </p:nvPicPr>
        <p:blipFill>
          <a:blip r:embed="rId2"/>
          <a:stretch>
            <a:fillRect/>
          </a:stretch>
        </p:blipFill>
        <p:spPr>
          <a:xfrm>
            <a:off x="2590800" y="1601926"/>
            <a:ext cx="5668166" cy="2800741"/>
          </a:xfrm>
          <a:prstGeom prst="rect">
            <a:avLst/>
          </a:prstGeom>
        </p:spPr>
      </p:pic>
      <p:sp>
        <p:nvSpPr>
          <p:cNvPr id="6" name="Title 3">
            <a:extLst>
              <a:ext uri="{FF2B5EF4-FFF2-40B4-BE49-F238E27FC236}">
                <a16:creationId xmlns:a16="http://schemas.microsoft.com/office/drawing/2014/main" id="{FA1E8DC0-9FD0-468E-1769-9BD15D888899}"/>
              </a:ext>
            </a:extLst>
          </p:cNvPr>
          <p:cNvSpPr txBox="1">
            <a:spLocks noGrp="1"/>
          </p:cNvSpPr>
          <p:nvPr>
            <p:ph type="title"/>
          </p:nvPr>
        </p:nvSpPr>
        <p:spPr>
          <a:xfrm>
            <a:off x="1796521" y="251354"/>
            <a:ext cx="8912225" cy="1281112"/>
          </a:xfrm>
          <a:prstGeom prst="rect">
            <a:avLst/>
          </a:prstGeom>
          <a:noFill/>
        </p:spPr>
        <p:txBody>
          <a:bodyPr wrap="square">
            <a:spAutoFit/>
          </a:bodyPr>
          <a:lstStyle/>
          <a:p>
            <a:pPr algn="l"/>
            <a:r>
              <a:rPr lang="en-GB" sz="1800" b="1" i="0" u="none" strike="noStrike" baseline="0" dirty="0">
                <a:solidFill>
                  <a:srgbClr val="FF0000"/>
                </a:solidFill>
                <a:latin typeface="Formata-Medium"/>
              </a:rPr>
              <a:t>Storage Design Based on Application </a:t>
            </a:r>
            <a:r>
              <a:rPr lang="en-IN" sz="1800" b="1" i="0" u="none" strike="noStrike" baseline="0" dirty="0">
                <a:solidFill>
                  <a:srgbClr val="FF0000"/>
                </a:solidFill>
                <a:latin typeface="Formata-Medium"/>
              </a:rPr>
              <a:t>Requirements and Disk Performance</a:t>
            </a:r>
            <a:endParaRPr lang="en-IN" dirty="0">
              <a:solidFill>
                <a:srgbClr val="FF0000"/>
              </a:solidFill>
            </a:endParaRPr>
          </a:p>
        </p:txBody>
      </p:sp>
    </p:spTree>
    <p:extLst>
      <p:ext uri="{BB962C8B-B14F-4D97-AF65-F5344CB8AC3E}">
        <p14:creationId xmlns:p14="http://schemas.microsoft.com/office/powerpoint/2010/main" val="26882782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0374426-5236-8F50-6767-3B8CCD985798}"/>
              </a:ext>
            </a:extLst>
          </p:cNvPr>
          <p:cNvSpPr txBox="1"/>
          <p:nvPr/>
        </p:nvSpPr>
        <p:spPr>
          <a:xfrm>
            <a:off x="1566333" y="747223"/>
            <a:ext cx="10016067" cy="5909310"/>
          </a:xfrm>
          <a:prstGeom prst="rect">
            <a:avLst/>
          </a:prstGeom>
          <a:noFill/>
        </p:spPr>
        <p:txBody>
          <a:bodyPr wrap="square">
            <a:spAutoFit/>
          </a:bodyPr>
          <a:lstStyle/>
          <a:p>
            <a:pPr marL="285750" indent="-285750" algn="l">
              <a:buFont typeface="Arial" panose="020B0604020202020204" pitchFamily="34" charset="0"/>
              <a:buChar char="•"/>
            </a:pPr>
            <a:r>
              <a:rPr lang="en-GB" sz="1400" b="0" i="0" u="none" strike="noStrike" baseline="0" dirty="0">
                <a:latin typeface="Palatino-Roman"/>
              </a:rPr>
              <a:t>The application response time, R, increases with an increase in disk controller utilization. </a:t>
            </a:r>
          </a:p>
          <a:p>
            <a:pPr marL="285750" indent="-285750" algn="l">
              <a:buFont typeface="Arial" panose="020B0604020202020204" pitchFamily="34" charset="0"/>
              <a:buChar char="•"/>
            </a:pPr>
            <a:endParaRPr lang="en-GB" sz="1400" dirty="0">
              <a:latin typeface="Palatino-Roman"/>
            </a:endParaRPr>
          </a:p>
          <a:p>
            <a:pPr marL="285750" indent="-285750" algn="l">
              <a:buFont typeface="Arial" panose="020B0604020202020204" pitchFamily="34" charset="0"/>
              <a:buChar char="•"/>
            </a:pPr>
            <a:r>
              <a:rPr lang="en-GB" sz="1400" b="0" i="0" u="none" strike="noStrike" baseline="0" dirty="0">
                <a:latin typeface="Palatino-Roman"/>
              </a:rPr>
              <a:t>For example, the response time (R) for an I/O with a block size of 32 KB at 96 percent disk </a:t>
            </a:r>
            <a:r>
              <a:rPr lang="en-IN" sz="1400" b="0" i="0" u="none" strike="noStrike" baseline="0" dirty="0">
                <a:latin typeface="Palatino-Roman"/>
              </a:rPr>
              <a:t>controller utilization is</a:t>
            </a:r>
          </a:p>
          <a:p>
            <a:pPr marL="285750" indent="-285750" algn="l">
              <a:buFont typeface="Arial" panose="020B0604020202020204" pitchFamily="34" charset="0"/>
              <a:buChar char="•"/>
            </a:pPr>
            <a:r>
              <a:rPr lang="en-IN" sz="1400" b="1" i="0" u="none" strike="noStrike" baseline="0" dirty="0">
                <a:solidFill>
                  <a:srgbClr val="C00000"/>
                </a:solidFill>
                <a:latin typeface="Palatino-Roman"/>
              </a:rPr>
              <a:t>R = TS/(1 – U) = 7.8/(1 – 0.96) = 195 </a:t>
            </a:r>
            <a:r>
              <a:rPr lang="en-IN" sz="1400" b="1" i="0" u="none" strike="noStrike" baseline="0" dirty="0" err="1">
                <a:solidFill>
                  <a:srgbClr val="C00000"/>
                </a:solidFill>
                <a:latin typeface="Palatino-Roman"/>
              </a:rPr>
              <a:t>ms</a:t>
            </a:r>
            <a:endParaRPr lang="en-IN" sz="1400" b="1" i="0" u="none" strike="noStrike" baseline="0" dirty="0">
              <a:solidFill>
                <a:srgbClr val="C00000"/>
              </a:solidFill>
              <a:latin typeface="Palatino-Roman"/>
            </a:endParaRPr>
          </a:p>
          <a:p>
            <a:pPr marL="285750" indent="-285750" algn="l">
              <a:buFont typeface="Arial" panose="020B0604020202020204" pitchFamily="34" charset="0"/>
              <a:buChar char="•"/>
            </a:pPr>
            <a:endParaRPr lang="en-GB" sz="1400" b="0" i="0" u="none" strike="noStrike" baseline="0" dirty="0">
              <a:latin typeface="Palatino-Roman"/>
            </a:endParaRPr>
          </a:p>
          <a:p>
            <a:pPr marL="285750" indent="-285750" algn="l">
              <a:buFont typeface="Arial" panose="020B0604020202020204" pitchFamily="34" charset="0"/>
              <a:buChar char="•"/>
            </a:pPr>
            <a:r>
              <a:rPr lang="en-GB" sz="1400" b="0" i="0" u="none" strike="noStrike" baseline="0" dirty="0">
                <a:latin typeface="Palatino-Roman"/>
              </a:rPr>
              <a:t>If the application demands a faster response time, then the utilization for the disks should be maintained below 70 percent. </a:t>
            </a:r>
            <a:r>
              <a:rPr lang="en-GB" sz="1400" dirty="0">
                <a:latin typeface="Palatino-Roman"/>
              </a:rPr>
              <a:t> </a:t>
            </a:r>
          </a:p>
          <a:p>
            <a:pPr marL="285750" indent="-285750" algn="l">
              <a:buFont typeface="Arial" panose="020B0604020202020204" pitchFamily="34" charset="0"/>
              <a:buChar char="•"/>
            </a:pPr>
            <a:endParaRPr lang="en-GB" sz="1400" b="0" i="0" u="none" strike="noStrike" baseline="0" dirty="0">
              <a:latin typeface="Palatino-Roman"/>
            </a:endParaRPr>
          </a:p>
          <a:p>
            <a:pPr marL="285750" indent="-285750" algn="l">
              <a:buFont typeface="Arial" panose="020B0604020202020204" pitchFamily="34" charset="0"/>
              <a:buChar char="•"/>
            </a:pPr>
            <a:r>
              <a:rPr lang="en-GB" sz="1400" b="0" i="0" u="none" strike="noStrike" baseline="0" dirty="0">
                <a:latin typeface="Palatino-Roman"/>
              </a:rPr>
              <a:t>For the same 32-KB block size, at 70-percent disk utilization, the response time reduces drastically to </a:t>
            </a:r>
            <a:r>
              <a:rPr lang="en-GB" sz="1400" b="1" dirty="0">
                <a:solidFill>
                  <a:srgbClr val="C00000"/>
                </a:solidFill>
                <a:latin typeface="Palatino-Roman"/>
              </a:rPr>
              <a:t>26 </a:t>
            </a:r>
            <a:r>
              <a:rPr lang="en-GB" sz="1400" b="1" dirty="0" err="1">
                <a:solidFill>
                  <a:srgbClr val="C00000"/>
                </a:solidFill>
                <a:latin typeface="Palatino-Roman"/>
              </a:rPr>
              <a:t>ms</a:t>
            </a:r>
            <a:r>
              <a:rPr lang="en-GB" sz="1400" b="1" dirty="0">
                <a:solidFill>
                  <a:srgbClr val="C00000"/>
                </a:solidFill>
                <a:latin typeface="Palatino-Roman"/>
              </a:rPr>
              <a:t>. </a:t>
            </a:r>
          </a:p>
          <a:p>
            <a:pPr marL="285750" indent="-285750" algn="l">
              <a:buFont typeface="Arial" panose="020B0604020202020204" pitchFamily="34" charset="0"/>
              <a:buChar char="•"/>
            </a:pPr>
            <a:endParaRPr lang="en-GB" sz="1400" b="0" i="0" u="none" strike="noStrike" baseline="0" dirty="0">
              <a:latin typeface="Palatino-Roman"/>
            </a:endParaRPr>
          </a:p>
          <a:p>
            <a:pPr marL="285750" indent="-285750" algn="l">
              <a:buFont typeface="Arial" panose="020B0604020202020204" pitchFamily="34" charset="0"/>
              <a:buChar char="•"/>
            </a:pPr>
            <a:r>
              <a:rPr lang="en-GB" sz="1400" b="0" i="0" u="none" strike="noStrike" baseline="0" dirty="0">
                <a:latin typeface="Palatino-Roman"/>
              </a:rPr>
              <a:t>However, at lower disk utilization, the number of IOPS a disk can perform is also reduced. </a:t>
            </a:r>
          </a:p>
          <a:p>
            <a:pPr marL="285750" indent="-285750" algn="l">
              <a:buFont typeface="Arial" panose="020B0604020202020204" pitchFamily="34" charset="0"/>
              <a:buChar char="•"/>
            </a:pPr>
            <a:endParaRPr lang="en-GB" sz="1400" b="0" i="0" u="none" strike="noStrike" baseline="0" dirty="0">
              <a:latin typeface="Palatino-Roman"/>
            </a:endParaRPr>
          </a:p>
          <a:p>
            <a:pPr marL="285750" indent="-285750" algn="just">
              <a:buFont typeface="Arial" panose="020B0604020202020204" pitchFamily="34" charset="0"/>
              <a:buChar char="•"/>
            </a:pPr>
            <a:r>
              <a:rPr lang="en-GB" sz="1400" b="0" i="0" u="none" strike="noStrike" baseline="0" dirty="0">
                <a:latin typeface="Palatino-Roman"/>
              </a:rPr>
              <a:t>In the case of a 32-KB block size, a disk can perform 128 IOPS at almost 100 percent utilization, whereas the number of IOPS it can perform at 70-percent utilization is </a:t>
            </a:r>
            <a:r>
              <a:rPr lang="en-GB" sz="1400" b="1" dirty="0">
                <a:solidFill>
                  <a:srgbClr val="C00000"/>
                </a:solidFill>
                <a:latin typeface="Palatino-Roman"/>
              </a:rPr>
              <a:t>89 (128 x 0.7). </a:t>
            </a:r>
          </a:p>
          <a:p>
            <a:pPr marL="285750" indent="-285750" algn="l">
              <a:buFont typeface="Arial" panose="020B0604020202020204" pitchFamily="34" charset="0"/>
              <a:buChar char="•"/>
            </a:pPr>
            <a:endParaRPr lang="en-GB" sz="1400" b="0" i="0" u="none" strike="noStrike" baseline="0" dirty="0">
              <a:latin typeface="Palatino-Roman"/>
            </a:endParaRPr>
          </a:p>
          <a:p>
            <a:pPr marL="285750" indent="-285750" algn="l">
              <a:buFont typeface="Arial" panose="020B0604020202020204" pitchFamily="34" charset="0"/>
              <a:buChar char="•"/>
            </a:pPr>
            <a:r>
              <a:rPr lang="en-GB" sz="1400" b="0" i="0" u="none" strike="noStrike" baseline="0" dirty="0">
                <a:latin typeface="Palatino-Roman"/>
              </a:rPr>
              <a:t>This indicates that the number of I/</a:t>
            </a:r>
            <a:r>
              <a:rPr lang="en-GB" sz="1400" b="0" i="0" u="none" strike="noStrike" baseline="0" dirty="0" err="1">
                <a:latin typeface="Palatino-Roman"/>
              </a:rPr>
              <a:t>Os</a:t>
            </a:r>
            <a:r>
              <a:rPr lang="en-GB" sz="1400" b="0" i="0" u="none" strike="noStrike" baseline="0" dirty="0">
                <a:latin typeface="Palatino-Roman"/>
              </a:rPr>
              <a:t> a disk can perform is an important factor that needs to be considered while designing the storage requirement for an application.</a:t>
            </a:r>
          </a:p>
          <a:p>
            <a:pPr marL="285750" indent="-285750" algn="l">
              <a:buFont typeface="Arial" panose="020B0604020202020204" pitchFamily="34" charset="0"/>
              <a:buChar char="•"/>
            </a:pPr>
            <a:endParaRPr lang="en-GB" sz="1400" b="0" i="0" u="none" strike="noStrike" baseline="0" dirty="0">
              <a:latin typeface="Palatino-Roman"/>
            </a:endParaRPr>
          </a:p>
          <a:p>
            <a:pPr marL="285750" indent="-285750" algn="l">
              <a:buFont typeface="Arial" panose="020B0604020202020204" pitchFamily="34" charset="0"/>
              <a:buChar char="•"/>
            </a:pPr>
            <a:r>
              <a:rPr lang="en-GB" sz="1400" b="0" i="0" u="none" strike="noStrike" baseline="0" dirty="0">
                <a:latin typeface="Palatino-Roman"/>
              </a:rPr>
              <a:t>Therefore, the storage requirement for an application is determined in terms of both the capacity and IOPS.                                                             </a:t>
            </a:r>
          </a:p>
          <a:p>
            <a:pPr marL="285750" indent="-285750" algn="l">
              <a:buFont typeface="Arial" panose="020B0604020202020204" pitchFamily="34" charset="0"/>
              <a:buChar char="•"/>
            </a:pPr>
            <a:endParaRPr lang="en-GB" sz="1400" dirty="0">
              <a:latin typeface="Palatino-Roman"/>
            </a:endParaRPr>
          </a:p>
          <a:p>
            <a:pPr marL="285750" indent="-285750" algn="l">
              <a:buFont typeface="Arial" panose="020B0604020202020204" pitchFamily="34" charset="0"/>
              <a:buChar char="•"/>
            </a:pPr>
            <a:r>
              <a:rPr lang="en-GB" sz="1400" b="0" i="0" u="none" strike="noStrike" baseline="0" dirty="0">
                <a:latin typeface="Palatino-Roman"/>
              </a:rPr>
              <a:t>If an application needs 200 GB of disk space, then this capacity can be provided simply with a single disk. </a:t>
            </a:r>
          </a:p>
          <a:p>
            <a:pPr marL="285750" indent="-285750" algn="l">
              <a:buFont typeface="Arial" panose="020B0604020202020204" pitchFamily="34" charset="0"/>
              <a:buChar char="•"/>
            </a:pPr>
            <a:endParaRPr lang="en-GB" sz="1400" b="0" i="0" u="none" strike="noStrike" baseline="0" dirty="0">
              <a:latin typeface="Palatino-Roman"/>
            </a:endParaRPr>
          </a:p>
          <a:p>
            <a:pPr marL="285750" indent="-285750" algn="just">
              <a:buFont typeface="Arial" panose="020B0604020202020204" pitchFamily="34" charset="0"/>
              <a:buChar char="•"/>
            </a:pPr>
            <a:r>
              <a:rPr lang="en-GB" sz="1400" b="0" i="0" u="none" strike="noStrike" baseline="0" dirty="0">
                <a:latin typeface="Palatino-Roman"/>
              </a:rPr>
              <a:t>However, if the application IOPS requirement is high, then it results in performance degradation because just a single disk might not provide the required response time </a:t>
            </a:r>
            <a:r>
              <a:rPr lang="en-IN" sz="1400" b="0" i="0" u="none" strike="noStrike" baseline="0" dirty="0">
                <a:latin typeface="Palatino-Roman"/>
              </a:rPr>
              <a:t>for I/O operations.</a:t>
            </a:r>
          </a:p>
          <a:p>
            <a:pPr marL="285750" indent="-285750" algn="just">
              <a:buFont typeface="Arial" panose="020B0604020202020204" pitchFamily="34" charset="0"/>
              <a:buChar char="•"/>
            </a:pPr>
            <a:endParaRPr lang="en-IN" sz="1400" dirty="0">
              <a:latin typeface="Palatino-Roman"/>
            </a:endParaRPr>
          </a:p>
          <a:p>
            <a:pPr marL="285750" indent="-285750" algn="just">
              <a:buFont typeface="Arial" panose="020B0604020202020204" pitchFamily="34" charset="0"/>
              <a:buChar char="•"/>
            </a:pPr>
            <a:r>
              <a:rPr lang="en-IN" sz="1400" dirty="0">
                <a:latin typeface="Palatino-Roman"/>
              </a:rPr>
              <a:t>T</a:t>
            </a:r>
            <a:r>
              <a:rPr lang="en-GB" sz="1400" b="0" i="0" u="none" strike="noStrike" baseline="0" dirty="0">
                <a:latin typeface="Palatino-Roman"/>
              </a:rPr>
              <a:t>he total number of disks required (DR) for an application is computed as follows:</a:t>
            </a:r>
          </a:p>
          <a:p>
            <a:pPr algn="l"/>
            <a:r>
              <a:rPr lang="en-IN" sz="1400" b="0" i="0" u="none" strike="noStrike" baseline="0" dirty="0">
                <a:latin typeface="Palatino-Roman"/>
              </a:rPr>
              <a:t>                                            </a:t>
            </a:r>
            <a:r>
              <a:rPr lang="en-IN" sz="1400" b="1" dirty="0">
                <a:solidFill>
                  <a:srgbClr val="C00000"/>
                </a:solidFill>
                <a:latin typeface="Palatino-Roman"/>
              </a:rPr>
              <a:t>DR = Max (DC, DI)</a:t>
            </a:r>
          </a:p>
        </p:txBody>
      </p:sp>
      <p:sp>
        <p:nvSpPr>
          <p:cNvPr id="4" name="Title 3">
            <a:extLst>
              <a:ext uri="{FF2B5EF4-FFF2-40B4-BE49-F238E27FC236}">
                <a16:creationId xmlns:a16="http://schemas.microsoft.com/office/drawing/2014/main" id="{A57D6D95-5EC4-0C09-D147-9A7EB088178E}"/>
              </a:ext>
            </a:extLst>
          </p:cNvPr>
          <p:cNvSpPr txBox="1">
            <a:spLocks noGrp="1"/>
          </p:cNvSpPr>
          <p:nvPr>
            <p:ph type="title"/>
          </p:nvPr>
        </p:nvSpPr>
        <p:spPr>
          <a:xfrm>
            <a:off x="1796521" y="251354"/>
            <a:ext cx="8912225" cy="1281112"/>
          </a:xfrm>
          <a:prstGeom prst="rect">
            <a:avLst/>
          </a:prstGeom>
          <a:noFill/>
        </p:spPr>
        <p:txBody>
          <a:bodyPr wrap="square">
            <a:spAutoFit/>
          </a:bodyPr>
          <a:lstStyle/>
          <a:p>
            <a:pPr algn="l"/>
            <a:r>
              <a:rPr lang="en-GB" sz="1800" b="1" i="0" u="none" strike="noStrike" baseline="0" dirty="0">
                <a:solidFill>
                  <a:srgbClr val="FF0000"/>
                </a:solidFill>
                <a:latin typeface="Formata-Medium"/>
              </a:rPr>
              <a:t>Storage Design Based on Application </a:t>
            </a:r>
            <a:r>
              <a:rPr lang="en-IN" sz="1800" b="1" i="0" u="none" strike="noStrike" baseline="0" dirty="0">
                <a:solidFill>
                  <a:srgbClr val="FF0000"/>
                </a:solidFill>
                <a:latin typeface="Formata-Medium"/>
              </a:rPr>
              <a:t>Requirements and Disk Performance</a:t>
            </a:r>
            <a:endParaRPr lang="en-IN" dirty="0">
              <a:solidFill>
                <a:srgbClr val="FF0000"/>
              </a:solidFill>
            </a:endParaRPr>
          </a:p>
        </p:txBody>
      </p:sp>
    </p:spTree>
    <p:extLst>
      <p:ext uri="{BB962C8B-B14F-4D97-AF65-F5344CB8AC3E}">
        <p14:creationId xmlns:p14="http://schemas.microsoft.com/office/powerpoint/2010/main" val="32681451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EA1A9-02EC-23B1-F10D-01B7E2FC6AA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EF69FC4-4E01-2EA1-BD08-0CE19368D46F}"/>
              </a:ext>
            </a:extLst>
          </p:cNvPr>
          <p:cNvSpPr txBox="1"/>
          <p:nvPr/>
        </p:nvSpPr>
        <p:spPr>
          <a:xfrm>
            <a:off x="1566333" y="747223"/>
            <a:ext cx="10016067" cy="5478423"/>
          </a:xfrm>
          <a:prstGeom prst="rect">
            <a:avLst/>
          </a:prstGeom>
          <a:noFill/>
        </p:spPr>
        <p:txBody>
          <a:bodyPr wrap="square">
            <a:spAutoFit/>
          </a:bodyPr>
          <a:lstStyle/>
          <a:p>
            <a:pPr marL="285750" indent="-285750" algn="l">
              <a:buFont typeface="Arial" panose="020B0604020202020204" pitchFamily="34" charset="0"/>
              <a:buChar char="•"/>
            </a:pPr>
            <a:r>
              <a:rPr lang="en-GB" sz="1400" b="0" i="0" u="none" strike="noStrike" baseline="0" dirty="0">
                <a:latin typeface="Palatino-Roman"/>
              </a:rPr>
              <a:t>The application response time, R, increases with an increase in disk controller utilization. </a:t>
            </a:r>
          </a:p>
          <a:p>
            <a:pPr marL="285750" indent="-285750" algn="l">
              <a:buFont typeface="Arial" panose="020B0604020202020204" pitchFamily="34" charset="0"/>
              <a:buChar char="•"/>
            </a:pPr>
            <a:endParaRPr lang="en-GB" sz="1400" dirty="0">
              <a:latin typeface="Palatino-Roman"/>
            </a:endParaRPr>
          </a:p>
          <a:p>
            <a:pPr marL="285750" indent="-285750" algn="l">
              <a:buFont typeface="Arial" panose="020B0604020202020204" pitchFamily="34" charset="0"/>
              <a:buChar char="•"/>
            </a:pPr>
            <a:r>
              <a:rPr lang="en-GB" sz="1400" b="0" i="0" u="none" strike="noStrike" baseline="0" dirty="0">
                <a:latin typeface="Palatino-Roman"/>
              </a:rPr>
              <a:t>For example, the response time (R) for an I/O with a block size of 32 KB at 96 percent disk </a:t>
            </a:r>
            <a:r>
              <a:rPr lang="en-IN" sz="1400" b="0" i="0" u="none" strike="noStrike" baseline="0" dirty="0">
                <a:latin typeface="Palatino-Roman"/>
              </a:rPr>
              <a:t>controller utilization is</a:t>
            </a:r>
          </a:p>
          <a:p>
            <a:pPr marL="285750" indent="-285750" algn="l">
              <a:buFont typeface="Arial" panose="020B0604020202020204" pitchFamily="34" charset="0"/>
              <a:buChar char="•"/>
            </a:pPr>
            <a:r>
              <a:rPr lang="en-IN" sz="1400" b="1" i="0" u="none" strike="noStrike" baseline="0" dirty="0">
                <a:solidFill>
                  <a:srgbClr val="C00000"/>
                </a:solidFill>
                <a:latin typeface="Palatino-Roman"/>
              </a:rPr>
              <a:t>R = TS/(1 – U) = 7.8/(1 – 0.96) = 195 </a:t>
            </a:r>
            <a:r>
              <a:rPr lang="en-IN" sz="1400" b="1" i="0" u="none" strike="noStrike" baseline="0" dirty="0" err="1">
                <a:solidFill>
                  <a:srgbClr val="C00000"/>
                </a:solidFill>
                <a:latin typeface="Palatino-Roman"/>
              </a:rPr>
              <a:t>ms</a:t>
            </a:r>
            <a:endParaRPr lang="en-IN" sz="1400" b="1" i="0" u="none" strike="noStrike" baseline="0" dirty="0">
              <a:solidFill>
                <a:srgbClr val="C00000"/>
              </a:solidFill>
              <a:latin typeface="Palatino-Roman"/>
            </a:endParaRPr>
          </a:p>
          <a:p>
            <a:pPr marL="285750" indent="-285750" algn="l">
              <a:buFont typeface="Arial" panose="020B0604020202020204" pitchFamily="34" charset="0"/>
              <a:buChar char="•"/>
            </a:pPr>
            <a:endParaRPr lang="en-GB" sz="1400" b="0" i="0" u="none" strike="noStrike" baseline="0" dirty="0">
              <a:latin typeface="Palatino-Roman"/>
            </a:endParaRPr>
          </a:p>
          <a:p>
            <a:pPr marL="285750" indent="-285750" algn="l">
              <a:buFont typeface="Arial" panose="020B0604020202020204" pitchFamily="34" charset="0"/>
              <a:buChar char="•"/>
            </a:pPr>
            <a:r>
              <a:rPr lang="en-GB" sz="1400" b="0" i="0" u="none" strike="noStrike" baseline="0" dirty="0">
                <a:latin typeface="Palatino-Roman"/>
              </a:rPr>
              <a:t>If the application demands a faster response time, then the utilization for the disks should be maintained below 70 percent. </a:t>
            </a:r>
            <a:r>
              <a:rPr lang="en-GB" sz="1400" dirty="0">
                <a:latin typeface="Palatino-Roman"/>
              </a:rPr>
              <a:t> </a:t>
            </a:r>
          </a:p>
          <a:p>
            <a:pPr marL="285750" indent="-285750" algn="l">
              <a:buFont typeface="Arial" panose="020B0604020202020204" pitchFamily="34" charset="0"/>
              <a:buChar char="•"/>
            </a:pPr>
            <a:endParaRPr lang="en-GB" sz="1400" b="0" i="0" u="none" strike="noStrike" baseline="0" dirty="0">
              <a:latin typeface="Palatino-Roman"/>
            </a:endParaRPr>
          </a:p>
          <a:p>
            <a:pPr marL="285750" indent="-285750" algn="l">
              <a:buFont typeface="Arial" panose="020B0604020202020204" pitchFamily="34" charset="0"/>
              <a:buChar char="•"/>
            </a:pPr>
            <a:r>
              <a:rPr lang="en-GB" sz="1400" b="0" i="0" u="none" strike="noStrike" baseline="0" dirty="0">
                <a:latin typeface="Palatino-Roman"/>
              </a:rPr>
              <a:t>For the same 32-KB block size, at 70-percent disk utilization, the response time reduces drastically to </a:t>
            </a:r>
            <a:r>
              <a:rPr lang="en-GB" sz="1400" b="1" dirty="0">
                <a:solidFill>
                  <a:srgbClr val="C00000"/>
                </a:solidFill>
                <a:latin typeface="Palatino-Roman"/>
              </a:rPr>
              <a:t>26 </a:t>
            </a:r>
            <a:r>
              <a:rPr lang="en-GB" sz="1400" b="1" dirty="0" err="1">
                <a:solidFill>
                  <a:srgbClr val="C00000"/>
                </a:solidFill>
                <a:latin typeface="Palatino-Roman"/>
              </a:rPr>
              <a:t>ms</a:t>
            </a:r>
            <a:r>
              <a:rPr lang="en-GB" sz="1400" b="1" dirty="0">
                <a:solidFill>
                  <a:srgbClr val="C00000"/>
                </a:solidFill>
                <a:latin typeface="Palatino-Roman"/>
              </a:rPr>
              <a:t>. </a:t>
            </a:r>
          </a:p>
          <a:p>
            <a:pPr marL="285750" indent="-285750" algn="l">
              <a:buFont typeface="Arial" panose="020B0604020202020204" pitchFamily="34" charset="0"/>
              <a:buChar char="•"/>
            </a:pPr>
            <a:endParaRPr lang="en-GB" sz="1400" b="0" i="0" u="none" strike="noStrike" baseline="0" dirty="0">
              <a:latin typeface="Palatino-Roman"/>
            </a:endParaRPr>
          </a:p>
          <a:p>
            <a:pPr marL="285750" indent="-285750" algn="l">
              <a:buFont typeface="Arial" panose="020B0604020202020204" pitchFamily="34" charset="0"/>
              <a:buChar char="•"/>
            </a:pPr>
            <a:r>
              <a:rPr lang="en-GB" sz="1400" b="0" i="0" u="none" strike="noStrike" baseline="0" dirty="0">
                <a:latin typeface="Palatino-Roman"/>
              </a:rPr>
              <a:t>However, at lower disk utilization, the number of IOPS a disk can perform is also reduced. </a:t>
            </a:r>
          </a:p>
          <a:p>
            <a:pPr marL="285750" indent="-285750" algn="l">
              <a:buFont typeface="Arial" panose="020B0604020202020204" pitchFamily="34" charset="0"/>
              <a:buChar char="•"/>
            </a:pPr>
            <a:endParaRPr lang="en-GB" sz="1400" b="0" i="0" u="none" strike="noStrike" baseline="0" dirty="0">
              <a:latin typeface="Palatino-Roman"/>
            </a:endParaRPr>
          </a:p>
          <a:p>
            <a:pPr marL="285750" indent="-285750" algn="just">
              <a:buFont typeface="Arial" panose="020B0604020202020204" pitchFamily="34" charset="0"/>
              <a:buChar char="•"/>
            </a:pPr>
            <a:r>
              <a:rPr lang="en-GB" sz="1400" b="0" i="0" u="none" strike="noStrike" baseline="0" dirty="0">
                <a:latin typeface="Palatino-Roman"/>
              </a:rPr>
              <a:t>In the case of a 32-KB block size, a disk can perform 128 IOPS at almost 100 percent utilization, whereas the number of IOPS it can perform at 70-percent utilization is </a:t>
            </a:r>
            <a:r>
              <a:rPr lang="en-GB" sz="1400" b="1" dirty="0">
                <a:solidFill>
                  <a:srgbClr val="C00000"/>
                </a:solidFill>
                <a:latin typeface="Palatino-Roman"/>
              </a:rPr>
              <a:t>89 (128 x 0.7). </a:t>
            </a:r>
          </a:p>
          <a:p>
            <a:pPr marL="285750" indent="-285750" algn="l">
              <a:buFont typeface="Arial" panose="020B0604020202020204" pitchFamily="34" charset="0"/>
              <a:buChar char="•"/>
            </a:pPr>
            <a:endParaRPr lang="en-GB" sz="1400" b="0" i="0" u="none" strike="noStrike" baseline="0" dirty="0">
              <a:latin typeface="Palatino-Roman"/>
            </a:endParaRPr>
          </a:p>
          <a:p>
            <a:pPr marL="285750" indent="-285750" algn="l">
              <a:buFont typeface="Arial" panose="020B0604020202020204" pitchFamily="34" charset="0"/>
              <a:buChar char="•"/>
            </a:pPr>
            <a:r>
              <a:rPr lang="en-GB" sz="1400" b="0" i="0" u="none" strike="noStrike" baseline="0" dirty="0">
                <a:latin typeface="Palatino-Roman"/>
              </a:rPr>
              <a:t>This indicates that the number of I/</a:t>
            </a:r>
            <a:r>
              <a:rPr lang="en-GB" sz="1400" b="0" i="0" u="none" strike="noStrike" baseline="0" dirty="0" err="1">
                <a:latin typeface="Palatino-Roman"/>
              </a:rPr>
              <a:t>Os</a:t>
            </a:r>
            <a:r>
              <a:rPr lang="en-GB" sz="1400" b="0" i="0" u="none" strike="noStrike" baseline="0" dirty="0">
                <a:latin typeface="Palatino-Roman"/>
              </a:rPr>
              <a:t> a disk can perform is an important factor that needs to be considered while designing the storage requirement for an application.</a:t>
            </a:r>
          </a:p>
          <a:p>
            <a:pPr marL="285750" indent="-285750" algn="l">
              <a:buFont typeface="Arial" panose="020B0604020202020204" pitchFamily="34" charset="0"/>
              <a:buChar char="•"/>
            </a:pPr>
            <a:endParaRPr lang="en-GB" sz="1400" b="0" i="0" u="none" strike="noStrike" baseline="0" dirty="0">
              <a:latin typeface="Palatino-Roman"/>
            </a:endParaRPr>
          </a:p>
          <a:p>
            <a:pPr marL="285750" indent="-285750" algn="l">
              <a:buFont typeface="Arial" panose="020B0604020202020204" pitchFamily="34" charset="0"/>
              <a:buChar char="•"/>
            </a:pPr>
            <a:r>
              <a:rPr lang="en-GB" sz="1400" b="0" i="0" u="none" strike="noStrike" baseline="0" dirty="0">
                <a:latin typeface="Palatino-Roman"/>
              </a:rPr>
              <a:t>Therefore, the storage requirement for an application is determined in terms of both the capacity and IOPS.                                                             </a:t>
            </a:r>
          </a:p>
          <a:p>
            <a:pPr marL="285750" indent="-285750" algn="l">
              <a:buFont typeface="Arial" panose="020B0604020202020204" pitchFamily="34" charset="0"/>
              <a:buChar char="•"/>
            </a:pPr>
            <a:endParaRPr lang="en-GB" sz="1400" dirty="0">
              <a:latin typeface="Palatino-Roman"/>
            </a:endParaRPr>
          </a:p>
          <a:p>
            <a:pPr marL="285750" indent="-285750" algn="l">
              <a:buFont typeface="Arial" panose="020B0604020202020204" pitchFamily="34" charset="0"/>
              <a:buChar char="•"/>
            </a:pPr>
            <a:r>
              <a:rPr lang="en-GB" sz="1400" b="0" i="0" u="none" strike="noStrike" baseline="0" dirty="0">
                <a:latin typeface="Palatino-Roman"/>
              </a:rPr>
              <a:t>If an application needs 200 GB of disk space, then this capacity can be provided simply with a single disk. </a:t>
            </a:r>
          </a:p>
          <a:p>
            <a:pPr marL="285750" indent="-285750" algn="l">
              <a:buFont typeface="Arial" panose="020B0604020202020204" pitchFamily="34" charset="0"/>
              <a:buChar char="•"/>
            </a:pPr>
            <a:endParaRPr lang="en-GB" sz="1400" b="0" i="0" u="none" strike="noStrike" baseline="0" dirty="0">
              <a:latin typeface="Palatino-Roman"/>
            </a:endParaRPr>
          </a:p>
          <a:p>
            <a:pPr marL="285750" indent="-285750" algn="just">
              <a:buFont typeface="Arial" panose="020B0604020202020204" pitchFamily="34" charset="0"/>
              <a:buChar char="•"/>
            </a:pPr>
            <a:r>
              <a:rPr lang="en-GB" sz="1400" b="0" i="0" u="none" strike="noStrike" baseline="0" dirty="0">
                <a:latin typeface="Palatino-Roman"/>
              </a:rPr>
              <a:t>However, if the application IOPS requirement is high, then it results in performance degradation because just a single disk might not provide the required response time </a:t>
            </a:r>
            <a:r>
              <a:rPr lang="en-IN" sz="1400" b="0" i="0" u="none" strike="noStrike" baseline="0" dirty="0">
                <a:latin typeface="Palatino-Roman"/>
              </a:rPr>
              <a:t>for I/O operations.</a:t>
            </a:r>
          </a:p>
          <a:p>
            <a:pPr marL="285750" indent="-285750" algn="just">
              <a:buFont typeface="Arial" panose="020B0604020202020204" pitchFamily="34" charset="0"/>
              <a:buChar char="•"/>
            </a:pPr>
            <a:endParaRPr lang="en-IN" sz="1400" dirty="0">
              <a:latin typeface="Palatino-Roman"/>
            </a:endParaRPr>
          </a:p>
        </p:txBody>
      </p:sp>
      <p:sp>
        <p:nvSpPr>
          <p:cNvPr id="4" name="Title 3">
            <a:extLst>
              <a:ext uri="{FF2B5EF4-FFF2-40B4-BE49-F238E27FC236}">
                <a16:creationId xmlns:a16="http://schemas.microsoft.com/office/drawing/2014/main" id="{2C617DEC-88D1-A772-0A80-413F6560F84E}"/>
              </a:ext>
            </a:extLst>
          </p:cNvPr>
          <p:cNvSpPr txBox="1">
            <a:spLocks noGrp="1"/>
          </p:cNvSpPr>
          <p:nvPr>
            <p:ph type="title"/>
          </p:nvPr>
        </p:nvSpPr>
        <p:spPr>
          <a:xfrm>
            <a:off x="1796521" y="251354"/>
            <a:ext cx="8912225" cy="1281112"/>
          </a:xfrm>
          <a:prstGeom prst="rect">
            <a:avLst/>
          </a:prstGeom>
          <a:noFill/>
        </p:spPr>
        <p:txBody>
          <a:bodyPr wrap="square">
            <a:spAutoFit/>
          </a:bodyPr>
          <a:lstStyle/>
          <a:p>
            <a:pPr algn="l"/>
            <a:r>
              <a:rPr lang="en-GB" sz="1800" b="1" i="0" u="none" strike="noStrike" baseline="0" dirty="0">
                <a:solidFill>
                  <a:srgbClr val="FF0000"/>
                </a:solidFill>
                <a:latin typeface="Formata-Medium"/>
              </a:rPr>
              <a:t>Storage Design Based on Application </a:t>
            </a:r>
            <a:r>
              <a:rPr lang="en-IN" sz="1800" b="1" i="0" u="none" strike="noStrike" baseline="0" dirty="0">
                <a:solidFill>
                  <a:srgbClr val="FF0000"/>
                </a:solidFill>
                <a:latin typeface="Formata-Medium"/>
              </a:rPr>
              <a:t>Requirements and Disk Performance</a:t>
            </a:r>
            <a:endParaRPr lang="en-IN" dirty="0">
              <a:solidFill>
                <a:srgbClr val="FF0000"/>
              </a:solidFill>
            </a:endParaRPr>
          </a:p>
        </p:txBody>
      </p:sp>
    </p:spTree>
    <p:extLst>
      <p:ext uri="{BB962C8B-B14F-4D97-AF65-F5344CB8AC3E}">
        <p14:creationId xmlns:p14="http://schemas.microsoft.com/office/powerpoint/2010/main" val="3494628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543E4-9A2B-2175-6963-F73984EDAFF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EC5960D-BF76-A186-A32C-B0566B489EFD}"/>
              </a:ext>
            </a:extLst>
          </p:cNvPr>
          <p:cNvSpPr txBox="1"/>
          <p:nvPr/>
        </p:nvSpPr>
        <p:spPr>
          <a:xfrm>
            <a:off x="1642533" y="680243"/>
            <a:ext cx="10176934" cy="5693866"/>
          </a:xfrm>
          <a:prstGeom prst="rect">
            <a:avLst/>
          </a:prstGeom>
          <a:noFill/>
        </p:spPr>
        <p:txBody>
          <a:bodyPr wrap="square">
            <a:spAutoFit/>
          </a:bodyPr>
          <a:lstStyle/>
          <a:p>
            <a:pPr marL="285750" indent="-285750" algn="just">
              <a:buFont typeface="Arial" panose="020B0604020202020204" pitchFamily="34" charset="0"/>
              <a:buChar char="•"/>
            </a:pPr>
            <a:r>
              <a:rPr lang="en-IN" sz="1300" dirty="0">
                <a:latin typeface="Palatino-Roman"/>
              </a:rPr>
              <a:t>T</a:t>
            </a:r>
            <a:r>
              <a:rPr lang="en-GB" sz="1300" dirty="0">
                <a:latin typeface="Palatino-Roman"/>
              </a:rPr>
              <a:t>he total number of disks required (DR) for an application is computed as follows:</a:t>
            </a:r>
            <a:r>
              <a:rPr lang="en-IN" sz="1300" dirty="0">
                <a:latin typeface="Palatino-Roman"/>
              </a:rPr>
              <a:t>     </a:t>
            </a:r>
            <a:r>
              <a:rPr lang="en-IN" sz="1300" b="1" dirty="0">
                <a:solidFill>
                  <a:srgbClr val="C00000"/>
                </a:solidFill>
                <a:latin typeface="Palatino-Roman"/>
              </a:rPr>
              <a:t>DR = Max (DC, DI)</a:t>
            </a:r>
          </a:p>
          <a:p>
            <a:pPr marL="285750" indent="-285750" algn="just">
              <a:buFont typeface="Arial" panose="020B0604020202020204" pitchFamily="34" charset="0"/>
              <a:buChar char="•"/>
            </a:pPr>
            <a:endParaRPr lang="en-GB" sz="1300" dirty="0">
              <a:latin typeface="Palatino-Roman"/>
            </a:endParaRPr>
          </a:p>
          <a:p>
            <a:pPr marL="285750" indent="-285750" algn="just">
              <a:buFont typeface="Arial" panose="020B0604020202020204" pitchFamily="34" charset="0"/>
              <a:buChar char="•"/>
            </a:pPr>
            <a:r>
              <a:rPr lang="en-GB" sz="1300" dirty="0">
                <a:latin typeface="Palatino-Roman"/>
              </a:rPr>
              <a:t>Where DC is the number of disks required to meet the capacity, and DI is the number of disks required to meet the application IOPS requirement. </a:t>
            </a:r>
          </a:p>
          <a:p>
            <a:pPr marL="285750" indent="-285750" algn="just">
              <a:buFont typeface="Arial" panose="020B0604020202020204" pitchFamily="34" charset="0"/>
              <a:buChar char="•"/>
            </a:pPr>
            <a:endParaRPr lang="en-GB" sz="1300" dirty="0">
              <a:latin typeface="Palatino-Roman"/>
            </a:endParaRPr>
          </a:p>
          <a:p>
            <a:pPr marL="285750" indent="-285750" algn="just">
              <a:buFont typeface="Arial" panose="020B0604020202020204" pitchFamily="34" charset="0"/>
              <a:buChar char="•"/>
            </a:pPr>
            <a:r>
              <a:rPr lang="en-GB" sz="1300" b="1" dirty="0">
                <a:solidFill>
                  <a:srgbClr val="C00000"/>
                </a:solidFill>
                <a:latin typeface="Palatino-Roman"/>
              </a:rPr>
              <a:t>Eg: </a:t>
            </a:r>
            <a:r>
              <a:rPr lang="en-GB" sz="1300" dirty="0">
                <a:latin typeface="Palatino-Roman"/>
              </a:rPr>
              <a:t>Consider an example in which the capacity requirement for an application is 1.46 TB. The number of IOPS generated by the application at peak workload is estimated at 9,000 IOPS. The vendor specifies that a 146-GB, 15,000-rpm drive is capable of doing a maximum 180 IOPS.</a:t>
            </a:r>
          </a:p>
          <a:p>
            <a:pPr marL="285750" indent="-285750" algn="just">
              <a:buFont typeface="Arial" panose="020B0604020202020204" pitchFamily="34" charset="0"/>
              <a:buChar char="•"/>
            </a:pPr>
            <a:endParaRPr lang="en-GB" sz="1300" dirty="0">
              <a:latin typeface="Palatino-Roman"/>
            </a:endParaRPr>
          </a:p>
          <a:p>
            <a:pPr marL="285750" indent="-285750" algn="just">
              <a:buFont typeface="Arial" panose="020B0604020202020204" pitchFamily="34" charset="0"/>
              <a:buChar char="•"/>
            </a:pPr>
            <a:r>
              <a:rPr lang="en-GB" sz="1300" dirty="0">
                <a:latin typeface="Palatino-Roman"/>
              </a:rPr>
              <a:t>In this example, the number of disks required to meet the capacity requirements will be 1.46 TB/146 GB = 10 disks. </a:t>
            </a:r>
          </a:p>
          <a:p>
            <a:pPr marL="285750" indent="-285750" algn="just">
              <a:buFont typeface="Arial" panose="020B0604020202020204" pitchFamily="34" charset="0"/>
              <a:buChar char="•"/>
            </a:pPr>
            <a:endParaRPr lang="en-GB" sz="1300" dirty="0">
              <a:latin typeface="Palatino-Roman"/>
            </a:endParaRPr>
          </a:p>
          <a:p>
            <a:pPr marL="285750" indent="-285750" algn="just">
              <a:buFont typeface="Arial" panose="020B0604020202020204" pitchFamily="34" charset="0"/>
              <a:buChar char="•"/>
            </a:pPr>
            <a:r>
              <a:rPr lang="en-GB" sz="1300" dirty="0">
                <a:latin typeface="Palatino-Roman"/>
              </a:rPr>
              <a:t>To meet the application IOPS requirements, the number of disks required is 9,000/180 = 50.</a:t>
            </a:r>
          </a:p>
          <a:p>
            <a:pPr marL="285750" indent="-285750" algn="just">
              <a:buFont typeface="Arial" panose="020B0604020202020204" pitchFamily="34" charset="0"/>
              <a:buChar char="•"/>
            </a:pPr>
            <a:endParaRPr lang="en-GB" sz="1300" dirty="0">
              <a:latin typeface="Palatino-Roman"/>
            </a:endParaRPr>
          </a:p>
          <a:p>
            <a:pPr marL="285750" indent="-285750" algn="just">
              <a:buFont typeface="Arial" panose="020B0604020202020204" pitchFamily="34" charset="0"/>
              <a:buChar char="•"/>
            </a:pPr>
            <a:r>
              <a:rPr lang="en-GB" sz="1300" dirty="0">
                <a:latin typeface="Palatino-Roman"/>
              </a:rPr>
              <a:t>However, if the application is response-time sensitive, the number of IOPS a disk drive can perform should be calculated based on 70- percent disk utilization. </a:t>
            </a:r>
          </a:p>
          <a:p>
            <a:pPr marL="285750" indent="-285750" algn="just">
              <a:buFont typeface="Arial" panose="020B0604020202020204" pitchFamily="34" charset="0"/>
              <a:buChar char="•"/>
            </a:pPr>
            <a:endParaRPr lang="en-GB" sz="1300" dirty="0">
              <a:latin typeface="Palatino-Roman"/>
            </a:endParaRPr>
          </a:p>
          <a:p>
            <a:pPr marL="285750" indent="-285750" algn="just">
              <a:buFont typeface="Arial" panose="020B0604020202020204" pitchFamily="34" charset="0"/>
              <a:buChar char="•"/>
            </a:pPr>
            <a:r>
              <a:rPr lang="en-GB" sz="1300" dirty="0">
                <a:latin typeface="Palatino-Roman"/>
              </a:rPr>
              <a:t>Considering this, the number of IOPS a disk can perform at 70 percent utilization is 180 x 0.7 = 126 IOPS. </a:t>
            </a:r>
          </a:p>
          <a:p>
            <a:pPr marL="285750" indent="-285750" algn="just">
              <a:buFont typeface="Arial" panose="020B0604020202020204" pitchFamily="34" charset="0"/>
              <a:buChar char="•"/>
            </a:pPr>
            <a:endParaRPr lang="en-GB" sz="1300" dirty="0">
              <a:latin typeface="Palatino-Roman"/>
            </a:endParaRPr>
          </a:p>
          <a:p>
            <a:pPr marL="285750" indent="-285750" algn="just">
              <a:buFont typeface="Arial" panose="020B0604020202020204" pitchFamily="34" charset="0"/>
              <a:buChar char="•"/>
            </a:pPr>
            <a:r>
              <a:rPr lang="en-GB" sz="1300" dirty="0">
                <a:latin typeface="Palatino-Roman"/>
              </a:rPr>
              <a:t>Therefore, the number of disks required to meet the application IOPS requirement will be 9,000/126 = 72. </a:t>
            </a:r>
          </a:p>
          <a:p>
            <a:pPr marL="285750" indent="-285750" algn="just">
              <a:buFont typeface="Arial" panose="020B0604020202020204" pitchFamily="34" charset="0"/>
              <a:buChar char="•"/>
            </a:pPr>
            <a:endParaRPr lang="en-GB" sz="1300" dirty="0">
              <a:latin typeface="Palatino-Roman"/>
            </a:endParaRPr>
          </a:p>
          <a:p>
            <a:pPr marL="285750" indent="-285750" algn="just">
              <a:buFont typeface="Arial" panose="020B0604020202020204" pitchFamily="34" charset="0"/>
              <a:buChar char="•"/>
            </a:pPr>
            <a:r>
              <a:rPr lang="en-GB" sz="1300" dirty="0">
                <a:latin typeface="Palatino-Roman"/>
              </a:rPr>
              <a:t>As a result, the number of disks required to meet the application requirements will be Max (10, 72) = 72 disks.                                   </a:t>
            </a:r>
          </a:p>
          <a:p>
            <a:pPr marL="285750" indent="-285750" algn="just">
              <a:buFont typeface="Arial" panose="020B0604020202020204" pitchFamily="34" charset="0"/>
              <a:buChar char="•"/>
            </a:pPr>
            <a:endParaRPr lang="en-GB" sz="1300" dirty="0">
              <a:latin typeface="Palatino-Roman"/>
            </a:endParaRPr>
          </a:p>
          <a:p>
            <a:pPr marL="285750" indent="-285750" algn="just">
              <a:buFont typeface="Arial" panose="020B0604020202020204" pitchFamily="34" charset="0"/>
              <a:buChar char="•"/>
            </a:pPr>
            <a:r>
              <a:rPr lang="en-GB" sz="1300" dirty="0">
                <a:latin typeface="Palatino-Roman"/>
              </a:rPr>
              <a:t>The preceding example indicates that from a capacity-perspective, 10 disks are sufficient; however, the number of disks required to meet application performance is 72. </a:t>
            </a:r>
          </a:p>
          <a:p>
            <a:pPr marL="285750" indent="-285750" algn="just">
              <a:buFont typeface="Arial" panose="020B0604020202020204" pitchFamily="34" charset="0"/>
              <a:buChar char="•"/>
            </a:pPr>
            <a:endParaRPr lang="en-GB" sz="1300" dirty="0">
              <a:latin typeface="Palatino-Roman"/>
            </a:endParaRPr>
          </a:p>
          <a:p>
            <a:pPr marL="285750" indent="-285750" algn="just">
              <a:buFont typeface="Arial" panose="020B0604020202020204" pitchFamily="34" charset="0"/>
              <a:buChar char="•"/>
            </a:pPr>
            <a:r>
              <a:rPr lang="en-GB" sz="1300" dirty="0">
                <a:latin typeface="Palatino-Roman"/>
              </a:rPr>
              <a:t>To optimize disk requirements from a performance perspective, various  solutions are deployed in a real-time environment. </a:t>
            </a:r>
          </a:p>
          <a:p>
            <a:pPr marL="285750" indent="-285750" algn="just">
              <a:buFont typeface="Arial" panose="020B0604020202020204" pitchFamily="34" charset="0"/>
              <a:buChar char="•"/>
            </a:pPr>
            <a:endParaRPr lang="en-GB" sz="1300" dirty="0">
              <a:latin typeface="Palatino-Roman"/>
            </a:endParaRPr>
          </a:p>
          <a:p>
            <a:pPr marL="285750" indent="-285750" algn="just">
              <a:buFont typeface="Arial" panose="020B0604020202020204" pitchFamily="34" charset="0"/>
              <a:buChar char="•"/>
            </a:pPr>
            <a:r>
              <a:rPr lang="en-GB" sz="1300" dirty="0">
                <a:latin typeface="Palatino-Roman"/>
              </a:rPr>
              <a:t>Examples of these solutions are disk native command queuing, use of flash drives, RAID, and the use of cache memory. </a:t>
            </a:r>
            <a:endParaRPr lang="en-IN" sz="1300" dirty="0">
              <a:latin typeface="Palatino-Roman"/>
            </a:endParaRPr>
          </a:p>
        </p:txBody>
      </p:sp>
      <p:sp>
        <p:nvSpPr>
          <p:cNvPr id="4" name="Title 3">
            <a:extLst>
              <a:ext uri="{FF2B5EF4-FFF2-40B4-BE49-F238E27FC236}">
                <a16:creationId xmlns:a16="http://schemas.microsoft.com/office/drawing/2014/main" id="{758560C4-1D37-4857-B0F8-3407A648C61A}"/>
              </a:ext>
            </a:extLst>
          </p:cNvPr>
          <p:cNvSpPr txBox="1">
            <a:spLocks noGrp="1"/>
          </p:cNvSpPr>
          <p:nvPr>
            <p:ph type="title"/>
          </p:nvPr>
        </p:nvSpPr>
        <p:spPr>
          <a:xfrm>
            <a:off x="1796521" y="251354"/>
            <a:ext cx="8912225" cy="1281112"/>
          </a:xfrm>
          <a:prstGeom prst="rect">
            <a:avLst/>
          </a:prstGeom>
          <a:noFill/>
        </p:spPr>
        <p:txBody>
          <a:bodyPr wrap="square">
            <a:spAutoFit/>
          </a:bodyPr>
          <a:lstStyle/>
          <a:p>
            <a:pPr algn="l"/>
            <a:r>
              <a:rPr lang="en-GB" sz="1800" b="1" i="0" u="none" strike="noStrike" baseline="0" dirty="0">
                <a:solidFill>
                  <a:srgbClr val="FF0000"/>
                </a:solidFill>
                <a:latin typeface="Formata-Medium"/>
              </a:rPr>
              <a:t>Storage Design Based on Application </a:t>
            </a:r>
            <a:r>
              <a:rPr lang="en-IN" sz="1800" b="1" i="0" u="none" strike="noStrike" baseline="0" dirty="0">
                <a:solidFill>
                  <a:srgbClr val="FF0000"/>
                </a:solidFill>
                <a:latin typeface="Formata-Medium"/>
              </a:rPr>
              <a:t>Requirements and Disk Performance</a:t>
            </a:r>
            <a:endParaRPr lang="en-IN" dirty="0">
              <a:solidFill>
                <a:srgbClr val="FF0000"/>
              </a:solidFill>
            </a:endParaRPr>
          </a:p>
        </p:txBody>
      </p:sp>
    </p:spTree>
    <p:extLst>
      <p:ext uri="{BB962C8B-B14F-4D97-AF65-F5344CB8AC3E}">
        <p14:creationId xmlns:p14="http://schemas.microsoft.com/office/powerpoint/2010/main" val="17950047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B1EBFE-6ABD-D4D1-38AF-A180BBDA54B6}"/>
              </a:ext>
            </a:extLst>
          </p:cNvPr>
          <p:cNvSpPr txBox="1"/>
          <p:nvPr/>
        </p:nvSpPr>
        <p:spPr>
          <a:xfrm>
            <a:off x="2319867" y="196989"/>
            <a:ext cx="6096000" cy="369332"/>
          </a:xfrm>
          <a:prstGeom prst="rect">
            <a:avLst/>
          </a:prstGeom>
          <a:noFill/>
        </p:spPr>
        <p:txBody>
          <a:bodyPr wrap="square">
            <a:spAutoFit/>
          </a:bodyPr>
          <a:lstStyle/>
          <a:p>
            <a:pPr algn="ctr"/>
            <a:r>
              <a:rPr lang="en-IN" sz="1800" b="1" i="0" u="none" strike="noStrike" baseline="0" dirty="0">
                <a:solidFill>
                  <a:srgbClr val="C00000"/>
                </a:solidFill>
                <a:latin typeface="Formata-Medium"/>
              </a:rPr>
              <a:t>Introduction to Flash Drives</a:t>
            </a:r>
            <a:endParaRPr lang="en-IN" dirty="0">
              <a:solidFill>
                <a:srgbClr val="C00000"/>
              </a:solidFill>
            </a:endParaRPr>
          </a:p>
        </p:txBody>
      </p:sp>
      <p:sp>
        <p:nvSpPr>
          <p:cNvPr id="7" name="TextBox 6">
            <a:extLst>
              <a:ext uri="{FF2B5EF4-FFF2-40B4-BE49-F238E27FC236}">
                <a16:creationId xmlns:a16="http://schemas.microsoft.com/office/drawing/2014/main" id="{07BD8696-70FF-C6F7-F83B-561972E57919}"/>
              </a:ext>
            </a:extLst>
          </p:cNvPr>
          <p:cNvSpPr txBox="1"/>
          <p:nvPr/>
        </p:nvSpPr>
        <p:spPr>
          <a:xfrm>
            <a:off x="1752600" y="646099"/>
            <a:ext cx="9922934" cy="6340197"/>
          </a:xfrm>
          <a:prstGeom prst="rect">
            <a:avLst/>
          </a:prstGeom>
          <a:noFill/>
        </p:spPr>
        <p:txBody>
          <a:bodyPr wrap="square">
            <a:spAutoFit/>
          </a:bodyPr>
          <a:lstStyle/>
          <a:p>
            <a:pPr marL="171450" indent="-171450" algn="just">
              <a:buFont typeface="Arial" panose="020B0604020202020204" pitchFamily="34" charset="0"/>
              <a:buChar char="•"/>
            </a:pPr>
            <a:r>
              <a:rPr lang="en-GB" sz="1400" dirty="0">
                <a:latin typeface="Palatino-Roman"/>
              </a:rPr>
              <a:t>Traditionally, high I/O requirements were met by simply using more disks. </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Availability of enterprise class flash drives (EFD) has changed the scenario. </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Flash drives, also referred as solid state drives (SSDs), are new generation drives that deliver ultra-high performance required by performance sensitive applications. </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Flash drives use semiconductor-based solid state memory (flash memory) to store and retrieve data. </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Unlike conventional mechanical disk drives, flash drives contain no moving parts; therefore, they do not have seek and rotational latencies.</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Flash drives deliver a high number of IOPS with very low response times. </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Also, being a semiconductor based device, flash drives consume less power, compared to mechanical drives. </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Flash drives are especially suited for applications with small block size and random-read workloads that require consistently low (less than 1 millisecond) response times. </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Applications that need to process massive amounts of information quickly, such as currency exchange, electronic trading systems, and real-time data feed processing benefit </a:t>
            </a:r>
            <a:r>
              <a:rPr lang="en-IN" sz="1400" dirty="0">
                <a:latin typeface="Palatino-Roman"/>
              </a:rPr>
              <a:t>from flash drives.</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Compared to conventional mechanical disk drives, EFD provides up to 30 times the throughput and up to one-tenth the response time (&lt;1 </a:t>
            </a:r>
            <a:r>
              <a:rPr lang="en-GB" sz="1400" dirty="0" err="1">
                <a:latin typeface="Palatino-Roman"/>
              </a:rPr>
              <a:t>ms</a:t>
            </a:r>
            <a:r>
              <a:rPr lang="en-GB" sz="1400" dirty="0">
                <a:latin typeface="Palatino-Roman"/>
              </a:rPr>
              <a:t> compared with 6-10 </a:t>
            </a:r>
            <a:r>
              <a:rPr lang="en-GB" sz="1400" dirty="0" err="1">
                <a:latin typeface="Palatino-Roman"/>
              </a:rPr>
              <a:t>ms</a:t>
            </a:r>
            <a:r>
              <a:rPr lang="en-GB" sz="1400" dirty="0">
                <a:latin typeface="Palatino-Roman"/>
              </a:rPr>
              <a:t>). </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In addition, flash drives can store data using up to 38 percent less energy per TB than traditional disk drives, which translates into approximately 98 percent less power consumption per I/O. </a:t>
            </a:r>
          </a:p>
          <a:p>
            <a:pPr marL="171450" indent="-171450" algn="just">
              <a:buFont typeface="Arial" panose="020B0604020202020204" pitchFamily="34" charset="0"/>
              <a:buChar char="•"/>
            </a:pPr>
            <a:endParaRPr lang="en-GB" sz="1400" dirty="0">
              <a:latin typeface="Palatino-Roman"/>
            </a:endParaRPr>
          </a:p>
          <a:p>
            <a:pPr algn="just"/>
            <a:endParaRPr lang="en-GB" sz="1400" dirty="0">
              <a:latin typeface="Palatino-Roman"/>
            </a:endParaRPr>
          </a:p>
        </p:txBody>
      </p:sp>
    </p:spTree>
    <p:extLst>
      <p:ext uri="{BB962C8B-B14F-4D97-AF65-F5344CB8AC3E}">
        <p14:creationId xmlns:p14="http://schemas.microsoft.com/office/powerpoint/2010/main" val="12516704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34EBB-E3DB-D4A7-2107-E6B21703832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ED3A973-9E34-0564-DA55-8593CDB39E84}"/>
              </a:ext>
            </a:extLst>
          </p:cNvPr>
          <p:cNvSpPr txBox="1"/>
          <p:nvPr/>
        </p:nvSpPr>
        <p:spPr>
          <a:xfrm>
            <a:off x="2319867" y="196989"/>
            <a:ext cx="6096000" cy="646331"/>
          </a:xfrm>
          <a:prstGeom prst="rect">
            <a:avLst/>
          </a:prstGeom>
          <a:noFill/>
        </p:spPr>
        <p:txBody>
          <a:bodyPr wrap="square">
            <a:spAutoFit/>
          </a:bodyPr>
          <a:lstStyle/>
          <a:p>
            <a:pPr algn="ctr"/>
            <a:r>
              <a:rPr lang="en-GB" b="1" dirty="0">
                <a:solidFill>
                  <a:srgbClr val="C00000"/>
                </a:solidFill>
                <a:latin typeface="Formata-Medium"/>
              </a:rPr>
              <a:t>Components and Architecture of Flash Drives</a:t>
            </a:r>
          </a:p>
          <a:p>
            <a:pPr algn="ctr"/>
            <a:endParaRPr lang="en-IN" dirty="0">
              <a:solidFill>
                <a:srgbClr val="C00000"/>
              </a:solidFill>
            </a:endParaRPr>
          </a:p>
        </p:txBody>
      </p:sp>
      <p:sp>
        <p:nvSpPr>
          <p:cNvPr id="7" name="TextBox 6">
            <a:extLst>
              <a:ext uri="{FF2B5EF4-FFF2-40B4-BE49-F238E27FC236}">
                <a16:creationId xmlns:a16="http://schemas.microsoft.com/office/drawing/2014/main" id="{00C5F92F-FC23-831B-C682-3D25C78FD8C7}"/>
              </a:ext>
            </a:extLst>
          </p:cNvPr>
          <p:cNvSpPr txBox="1"/>
          <p:nvPr/>
        </p:nvSpPr>
        <p:spPr>
          <a:xfrm>
            <a:off x="1752600" y="646099"/>
            <a:ext cx="9922934" cy="6340197"/>
          </a:xfrm>
          <a:prstGeom prst="rect">
            <a:avLst/>
          </a:prstGeom>
          <a:noFill/>
        </p:spPr>
        <p:txBody>
          <a:bodyPr wrap="square">
            <a:spAutoFit/>
          </a:bodyPr>
          <a:lstStyle/>
          <a:p>
            <a:pPr marL="171450" indent="-171450" algn="just">
              <a:buFont typeface="Arial" panose="020B0604020202020204" pitchFamily="34" charset="0"/>
              <a:buChar char="•"/>
            </a:pPr>
            <a:r>
              <a:rPr lang="en-GB" sz="1400" dirty="0">
                <a:latin typeface="Palatino-Roman"/>
              </a:rPr>
              <a:t>Traditionally, high I/O requirements were met by simply using more disks. </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Availability of enterprise class flash drives (EFD) has changed the scenario. </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Flash drives, also referred as solid state drives (SSDs), are new generation drives that deliver ultra-high performance required by performance sensitive applications. </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Flash drives use semiconductor-based solid state memory (flash memory) to store and retrieve data. </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Unlike conventional mechanical disk drives, flash drives contain no moving parts; therefore, they do not have seek and rotational latencies.</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Flash drives deliver a high number of IOPS with very low response times. </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Also, being a semiconductor based device, flash drives consume less power, compared to mechanical drives. </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Flash drives are especially suited for applications with small block size and random-read workloads that require consistently low (less than 1 millisecond) response times. </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Applications that need to process massive amounts of information quickly, such as currency exchange, electronic trading systems, and real-time data feed processing benefit </a:t>
            </a:r>
            <a:r>
              <a:rPr lang="en-IN" sz="1400" dirty="0">
                <a:latin typeface="Palatino-Roman"/>
              </a:rPr>
              <a:t>from flash drives.</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Compared to conventional mechanical disk drives, EFD provides up to 30 times the throughput and up to one-tenth the response time (&lt;1 </a:t>
            </a:r>
            <a:r>
              <a:rPr lang="en-GB" sz="1400" dirty="0" err="1">
                <a:latin typeface="Palatino-Roman"/>
              </a:rPr>
              <a:t>ms</a:t>
            </a:r>
            <a:r>
              <a:rPr lang="en-GB" sz="1400" dirty="0">
                <a:latin typeface="Palatino-Roman"/>
              </a:rPr>
              <a:t> compared with 6-10 </a:t>
            </a:r>
            <a:r>
              <a:rPr lang="en-GB" sz="1400" dirty="0" err="1">
                <a:latin typeface="Palatino-Roman"/>
              </a:rPr>
              <a:t>ms</a:t>
            </a:r>
            <a:r>
              <a:rPr lang="en-GB" sz="1400" dirty="0">
                <a:latin typeface="Palatino-Roman"/>
              </a:rPr>
              <a:t>). </a:t>
            </a:r>
          </a:p>
          <a:p>
            <a:pPr marL="171450" indent="-171450" algn="just">
              <a:buFont typeface="Arial" panose="020B0604020202020204" pitchFamily="34" charset="0"/>
              <a:buChar char="•"/>
            </a:pPr>
            <a:endParaRPr lang="en-GB" sz="1400" dirty="0">
              <a:latin typeface="Palatino-Roman"/>
            </a:endParaRPr>
          </a:p>
          <a:p>
            <a:pPr marL="171450" indent="-171450" algn="just">
              <a:buFont typeface="Arial" panose="020B0604020202020204" pitchFamily="34" charset="0"/>
              <a:buChar char="•"/>
            </a:pPr>
            <a:r>
              <a:rPr lang="en-GB" sz="1400" dirty="0">
                <a:latin typeface="Palatino-Roman"/>
              </a:rPr>
              <a:t>In addition, flash drives can store data using up to 38 percent less energy per TB than traditional disk drives, which translates into approximately 98 percent less power consumption per I/O. </a:t>
            </a:r>
          </a:p>
          <a:p>
            <a:pPr marL="171450" indent="-171450" algn="just">
              <a:buFont typeface="Arial" panose="020B0604020202020204" pitchFamily="34" charset="0"/>
              <a:buChar char="•"/>
            </a:pPr>
            <a:endParaRPr lang="en-GB" sz="1400" dirty="0">
              <a:latin typeface="Palatino-Roman"/>
            </a:endParaRPr>
          </a:p>
          <a:p>
            <a:pPr algn="just"/>
            <a:endParaRPr lang="en-GB" sz="1400" dirty="0">
              <a:latin typeface="Palatino-Roman"/>
            </a:endParaRPr>
          </a:p>
        </p:txBody>
      </p:sp>
    </p:spTree>
    <p:extLst>
      <p:ext uri="{BB962C8B-B14F-4D97-AF65-F5344CB8AC3E}">
        <p14:creationId xmlns:p14="http://schemas.microsoft.com/office/powerpoint/2010/main" val="27545633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2D1C65-4189-41DE-086C-C87322E7AE13}"/>
              </a:ext>
            </a:extLst>
          </p:cNvPr>
          <p:cNvSpPr txBox="1"/>
          <p:nvPr/>
        </p:nvSpPr>
        <p:spPr>
          <a:xfrm>
            <a:off x="1422399" y="1370042"/>
            <a:ext cx="9999133" cy="421198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sz="1500" b="0" i="0" u="none" strike="noStrike" baseline="0" dirty="0">
                <a:latin typeface="Palatino-Roman"/>
              </a:rPr>
              <a:t>Flash drives use similar physical form factor and connectors as mechanical disk drives to maintain compatibility. </a:t>
            </a:r>
          </a:p>
          <a:p>
            <a:pPr marL="285750" indent="-285750" algn="just">
              <a:lnSpc>
                <a:spcPct val="150000"/>
              </a:lnSpc>
              <a:buFont typeface="Arial" panose="020B0604020202020204" pitchFamily="34" charset="0"/>
              <a:buChar char="•"/>
            </a:pPr>
            <a:r>
              <a:rPr lang="en-GB" sz="1500" b="0" i="0" u="none" strike="noStrike" baseline="0" dirty="0">
                <a:latin typeface="Palatino-Roman"/>
              </a:rPr>
              <a:t>This enables easy replacement of a mechanical</a:t>
            </a:r>
            <a:r>
              <a:rPr lang="en-GB" sz="1500" dirty="0">
                <a:latin typeface="Palatino-Roman"/>
              </a:rPr>
              <a:t> </a:t>
            </a:r>
            <a:r>
              <a:rPr lang="en-GB" sz="1500" b="0" i="0" u="none" strike="noStrike" baseline="0" dirty="0">
                <a:latin typeface="Palatino-Roman"/>
              </a:rPr>
              <a:t>disk drive with a flash drive in a storage array enclosure. </a:t>
            </a:r>
          </a:p>
          <a:p>
            <a:pPr marL="285750" indent="-285750" algn="just">
              <a:lnSpc>
                <a:spcPct val="150000"/>
              </a:lnSpc>
              <a:buFont typeface="Arial" panose="020B0604020202020204" pitchFamily="34" charset="0"/>
              <a:buChar char="•"/>
            </a:pPr>
            <a:r>
              <a:rPr lang="en-GB" sz="1500" b="0" i="0" u="none" strike="noStrike" baseline="0" dirty="0">
                <a:latin typeface="Palatino-Roman"/>
              </a:rPr>
              <a:t>The key components of a flash drive are the controller, I/O interface, mass storage (collection of memory chips), and cache. </a:t>
            </a:r>
          </a:p>
          <a:p>
            <a:pPr marL="285750" indent="-285750" algn="just">
              <a:lnSpc>
                <a:spcPct val="150000"/>
              </a:lnSpc>
              <a:buFont typeface="Arial" panose="020B0604020202020204" pitchFamily="34" charset="0"/>
              <a:buChar char="•"/>
            </a:pPr>
            <a:r>
              <a:rPr lang="en-GB" sz="1500" b="0" i="0" u="none" strike="noStrike" baseline="0" dirty="0">
                <a:latin typeface="Palatino-Roman"/>
              </a:rPr>
              <a:t>The controller manages the functioning of the drive, and the I/O interface provides power and data access. </a:t>
            </a:r>
          </a:p>
          <a:p>
            <a:pPr marL="285750" indent="-285750" algn="just">
              <a:lnSpc>
                <a:spcPct val="150000"/>
              </a:lnSpc>
              <a:buFont typeface="Arial" panose="020B0604020202020204" pitchFamily="34" charset="0"/>
              <a:buChar char="•"/>
            </a:pPr>
            <a:r>
              <a:rPr lang="en-GB" sz="1500" b="0" i="0" u="none" strike="noStrike" baseline="0" dirty="0">
                <a:latin typeface="Palatino-Roman"/>
              </a:rPr>
              <a:t>Mass storage is an array of </a:t>
            </a:r>
            <a:r>
              <a:rPr lang="en-GB" sz="1500" b="0" i="0" u="none" strike="noStrike" baseline="0" dirty="0" err="1">
                <a:latin typeface="Palatino-Roman"/>
              </a:rPr>
              <a:t>nonvolatile</a:t>
            </a:r>
            <a:r>
              <a:rPr lang="en-GB" sz="1500" b="0" i="0" u="none" strike="noStrike" baseline="0" dirty="0">
                <a:latin typeface="Palatino-Roman"/>
              </a:rPr>
              <a:t> NAND (negated AND) memory chips used for storing data.</a:t>
            </a:r>
          </a:p>
          <a:p>
            <a:pPr marL="285750" indent="-285750" algn="just">
              <a:lnSpc>
                <a:spcPct val="150000"/>
              </a:lnSpc>
              <a:buFont typeface="Arial" panose="020B0604020202020204" pitchFamily="34" charset="0"/>
              <a:buChar char="•"/>
            </a:pPr>
            <a:r>
              <a:rPr lang="en-GB" sz="1500" b="0" i="0" u="none" strike="noStrike" baseline="0" dirty="0">
                <a:latin typeface="Palatino-Roman"/>
              </a:rPr>
              <a:t>Cache serves as a temporary space or buffer for data transaction and operations. </a:t>
            </a:r>
          </a:p>
          <a:p>
            <a:pPr marL="285750" indent="-285750" algn="just">
              <a:lnSpc>
                <a:spcPct val="150000"/>
              </a:lnSpc>
              <a:buFont typeface="Arial" panose="020B0604020202020204" pitchFamily="34" charset="0"/>
              <a:buChar char="•"/>
            </a:pPr>
            <a:r>
              <a:rPr lang="en-GB" sz="1500" b="0" i="0" u="none" strike="noStrike" baseline="0" dirty="0">
                <a:latin typeface="Palatino-Roman"/>
              </a:rPr>
              <a:t>A flash drive uses multiple parallel I/O channels (from its drive controller</a:t>
            </a:r>
            <a:r>
              <a:rPr lang="en-GB" sz="1500" dirty="0">
                <a:latin typeface="Palatino-Roman"/>
              </a:rPr>
              <a:t> </a:t>
            </a:r>
            <a:r>
              <a:rPr lang="en-GB" sz="1500" b="0" i="0" u="none" strike="noStrike" baseline="0" dirty="0">
                <a:latin typeface="Palatino-Roman"/>
              </a:rPr>
              <a:t>to the flash memory chips) for data access. </a:t>
            </a:r>
          </a:p>
          <a:p>
            <a:pPr marL="285750" indent="-285750" algn="just">
              <a:lnSpc>
                <a:spcPct val="150000"/>
              </a:lnSpc>
              <a:buFont typeface="Arial" panose="020B0604020202020204" pitchFamily="34" charset="0"/>
              <a:buChar char="•"/>
            </a:pPr>
            <a:r>
              <a:rPr lang="en-GB" sz="1500" b="0" i="0" u="none" strike="noStrike" baseline="0" dirty="0">
                <a:latin typeface="Palatino-Roman"/>
              </a:rPr>
              <a:t>Generally, the larger the number of flash memory chips and channels, the higher the drive’s internal bandwidth, and ultimately the higher the drive’s performance. </a:t>
            </a:r>
          </a:p>
          <a:p>
            <a:pPr marL="285750" indent="-285750" algn="just">
              <a:lnSpc>
                <a:spcPct val="150000"/>
              </a:lnSpc>
              <a:buFont typeface="Arial" panose="020B0604020202020204" pitchFamily="34" charset="0"/>
              <a:buChar char="•"/>
            </a:pPr>
            <a:r>
              <a:rPr lang="en-GB" sz="1500" b="0" i="0" u="none" strike="noStrike" baseline="0" dirty="0">
                <a:latin typeface="Palatino-Roman"/>
              </a:rPr>
              <a:t>Flash drives typically have </a:t>
            </a:r>
            <a:r>
              <a:rPr lang="en-IN" sz="1500" b="0" i="0" u="none" strike="noStrike" baseline="0" dirty="0">
                <a:latin typeface="Palatino-Roman"/>
              </a:rPr>
              <a:t>eight to 24 channels.</a:t>
            </a:r>
          </a:p>
        </p:txBody>
      </p:sp>
      <p:sp>
        <p:nvSpPr>
          <p:cNvPr id="6" name="TextBox 5">
            <a:extLst>
              <a:ext uri="{FF2B5EF4-FFF2-40B4-BE49-F238E27FC236}">
                <a16:creationId xmlns:a16="http://schemas.microsoft.com/office/drawing/2014/main" id="{5DCFCC43-C17B-225A-0884-4FC2C44D95C9}"/>
              </a:ext>
            </a:extLst>
          </p:cNvPr>
          <p:cNvSpPr txBox="1"/>
          <p:nvPr/>
        </p:nvSpPr>
        <p:spPr>
          <a:xfrm>
            <a:off x="2319867" y="196989"/>
            <a:ext cx="6096000" cy="646331"/>
          </a:xfrm>
          <a:prstGeom prst="rect">
            <a:avLst/>
          </a:prstGeom>
          <a:noFill/>
        </p:spPr>
        <p:txBody>
          <a:bodyPr wrap="square">
            <a:spAutoFit/>
          </a:bodyPr>
          <a:lstStyle/>
          <a:p>
            <a:pPr algn="ctr"/>
            <a:r>
              <a:rPr lang="en-GB" b="1" dirty="0">
                <a:solidFill>
                  <a:srgbClr val="C00000"/>
                </a:solidFill>
                <a:latin typeface="Formata-Medium"/>
              </a:rPr>
              <a:t>Components and Architecture of Flash Drives</a:t>
            </a:r>
          </a:p>
          <a:p>
            <a:pPr algn="ctr"/>
            <a:endParaRPr lang="en-IN" dirty="0">
              <a:solidFill>
                <a:srgbClr val="C00000"/>
              </a:solidFill>
            </a:endParaRPr>
          </a:p>
        </p:txBody>
      </p:sp>
    </p:spTree>
    <p:extLst>
      <p:ext uri="{BB962C8B-B14F-4D97-AF65-F5344CB8AC3E}">
        <p14:creationId xmlns:p14="http://schemas.microsoft.com/office/powerpoint/2010/main" val="5417596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E5FB97-F182-EF00-28B7-7706E784CE4A}"/>
              </a:ext>
            </a:extLst>
          </p:cNvPr>
          <p:cNvSpPr>
            <a:spLocks noGrp="1"/>
          </p:cNvSpPr>
          <p:nvPr>
            <p:ph idx="1"/>
          </p:nvPr>
        </p:nvSpPr>
        <p:spPr>
          <a:xfrm>
            <a:off x="1748367" y="1540189"/>
            <a:ext cx="8915400" cy="3777622"/>
          </a:xfrm>
        </p:spPr>
        <p:txBody>
          <a:bodyPr>
            <a:normAutofit/>
          </a:bodyPr>
          <a:lstStyle/>
          <a:p>
            <a:pPr marL="285750" indent="-285750" algn="just">
              <a:buFont typeface="Arial" panose="020B0604020202020204" pitchFamily="34" charset="0"/>
              <a:buChar char="•"/>
            </a:pPr>
            <a:r>
              <a:rPr lang="en-GB" sz="1400" dirty="0">
                <a:solidFill>
                  <a:schemeClr val="tx1"/>
                </a:solidFill>
                <a:latin typeface="Palatino-Roman"/>
              </a:rPr>
              <a:t>M</a:t>
            </a:r>
            <a:r>
              <a:rPr lang="en-GB" dirty="0">
                <a:solidFill>
                  <a:schemeClr val="tx1"/>
                </a:solidFill>
                <a:latin typeface="Palatino-Roman"/>
              </a:rPr>
              <a:t>emory chips in flash drives are logically organized in blocks and pages.</a:t>
            </a:r>
          </a:p>
          <a:p>
            <a:pPr marL="285750" indent="-285750" algn="just">
              <a:buFont typeface="Arial" panose="020B0604020202020204" pitchFamily="34" charset="0"/>
              <a:buChar char="•"/>
            </a:pPr>
            <a:r>
              <a:rPr lang="en-GB" dirty="0">
                <a:solidFill>
                  <a:schemeClr val="tx1"/>
                </a:solidFill>
                <a:latin typeface="Palatino-Roman"/>
              </a:rPr>
              <a:t>A </a:t>
            </a:r>
            <a:r>
              <a:rPr lang="en-GB" i="1" dirty="0">
                <a:solidFill>
                  <a:schemeClr val="tx1"/>
                </a:solidFill>
                <a:latin typeface="Palatino-Italic"/>
              </a:rPr>
              <a:t>page </a:t>
            </a:r>
            <a:r>
              <a:rPr lang="en-GB" dirty="0">
                <a:solidFill>
                  <a:schemeClr val="tx1"/>
                </a:solidFill>
                <a:latin typeface="Palatino-Roman"/>
              </a:rPr>
              <a:t>is the smallest object that can be read or written on a flash drive. </a:t>
            </a:r>
          </a:p>
          <a:p>
            <a:pPr marL="285750" indent="-285750" algn="just">
              <a:buFont typeface="Arial" panose="020B0604020202020204" pitchFamily="34" charset="0"/>
              <a:buChar char="•"/>
            </a:pPr>
            <a:r>
              <a:rPr lang="en-GB" dirty="0">
                <a:solidFill>
                  <a:schemeClr val="tx1"/>
                </a:solidFill>
                <a:latin typeface="Palatino-Roman"/>
              </a:rPr>
              <a:t>Pages are grouped together into </a:t>
            </a:r>
            <a:r>
              <a:rPr lang="en-GB" i="1" dirty="0">
                <a:solidFill>
                  <a:schemeClr val="tx1"/>
                </a:solidFill>
                <a:latin typeface="Palatino-Italic"/>
              </a:rPr>
              <a:t>blocks</a:t>
            </a:r>
            <a:r>
              <a:rPr lang="en-GB" dirty="0">
                <a:solidFill>
                  <a:schemeClr val="tx1"/>
                </a:solidFill>
                <a:latin typeface="Palatino-Roman"/>
              </a:rPr>
              <a:t>. (These blocks should not be confused with the 512-byte blocks in mechanical disk drive sectors.)</a:t>
            </a:r>
            <a:endParaRPr lang="en-IN" dirty="0">
              <a:solidFill>
                <a:schemeClr val="tx1"/>
              </a:solidFill>
              <a:latin typeface="Palatino-Roman"/>
            </a:endParaRPr>
          </a:p>
          <a:p>
            <a:pPr algn="just">
              <a:buFont typeface="Arial" panose="020B0604020202020204" pitchFamily="34" charset="0"/>
              <a:buChar char="•"/>
            </a:pPr>
            <a:r>
              <a:rPr lang="en-GB" dirty="0">
                <a:solidFill>
                  <a:schemeClr val="tx1"/>
                </a:solidFill>
                <a:latin typeface="Palatino-Italic"/>
              </a:rPr>
              <a:t>A block may have 32, 64, or 128 pages. Pages do not have a standard size; typical page sizes are 4 KB,</a:t>
            </a:r>
          </a:p>
          <a:p>
            <a:pPr algn="just">
              <a:buFont typeface="Arial" panose="020B0604020202020204" pitchFamily="34" charset="0"/>
              <a:buChar char="•"/>
            </a:pPr>
            <a:r>
              <a:rPr lang="en-GB" dirty="0">
                <a:solidFill>
                  <a:schemeClr val="tx1"/>
                </a:solidFill>
                <a:latin typeface="Palatino-Italic"/>
              </a:rPr>
              <a:t>8 KB, and 16 KB. Because flash drives emulate mechanical drives that use logical block addresses (LBAs), a page spans across a consecutive series of data blocks.</a:t>
            </a:r>
          </a:p>
          <a:p>
            <a:pPr algn="just">
              <a:buFont typeface="Arial" panose="020B0604020202020204" pitchFamily="34" charset="0"/>
              <a:buChar char="•"/>
            </a:pPr>
            <a:r>
              <a:rPr lang="en-GB" dirty="0">
                <a:solidFill>
                  <a:schemeClr val="tx1"/>
                </a:solidFill>
                <a:latin typeface="Palatino-Italic"/>
              </a:rPr>
              <a:t>For example, a 4-KB page would span across eight 512-byte data blocks with consecutive addresses. In flash drives, a read operation can happen at the page level, whereas a write or an erase operation happens only at the block level.</a:t>
            </a:r>
            <a:endParaRPr lang="en-IN" dirty="0">
              <a:solidFill>
                <a:schemeClr val="tx1"/>
              </a:solidFill>
              <a:latin typeface="Palatino-Italic"/>
            </a:endParaRPr>
          </a:p>
          <a:p>
            <a:pPr algn="just"/>
            <a:endParaRPr lang="en-IN" dirty="0"/>
          </a:p>
        </p:txBody>
      </p:sp>
      <p:sp>
        <p:nvSpPr>
          <p:cNvPr id="4" name="TextBox 3">
            <a:extLst>
              <a:ext uri="{FF2B5EF4-FFF2-40B4-BE49-F238E27FC236}">
                <a16:creationId xmlns:a16="http://schemas.microsoft.com/office/drawing/2014/main" id="{20B8579E-5D4D-C10B-BD83-D436DA76119A}"/>
              </a:ext>
            </a:extLst>
          </p:cNvPr>
          <p:cNvSpPr txBox="1"/>
          <p:nvPr/>
        </p:nvSpPr>
        <p:spPr>
          <a:xfrm>
            <a:off x="3335867" y="594922"/>
            <a:ext cx="6096000" cy="646331"/>
          </a:xfrm>
          <a:prstGeom prst="rect">
            <a:avLst/>
          </a:prstGeom>
          <a:noFill/>
        </p:spPr>
        <p:txBody>
          <a:bodyPr wrap="square">
            <a:spAutoFit/>
          </a:bodyPr>
          <a:lstStyle/>
          <a:p>
            <a:pPr algn="ctr"/>
            <a:r>
              <a:rPr lang="en-GB" b="1" dirty="0">
                <a:solidFill>
                  <a:srgbClr val="C00000"/>
                </a:solidFill>
                <a:latin typeface="Formata-Medium"/>
              </a:rPr>
              <a:t>Components and Architecture of Flash Drives</a:t>
            </a:r>
          </a:p>
          <a:p>
            <a:pPr algn="ctr"/>
            <a:endParaRPr lang="en-IN" dirty="0">
              <a:solidFill>
                <a:srgbClr val="C00000"/>
              </a:solidFill>
            </a:endParaRPr>
          </a:p>
        </p:txBody>
      </p:sp>
    </p:spTree>
    <p:extLst>
      <p:ext uri="{BB962C8B-B14F-4D97-AF65-F5344CB8AC3E}">
        <p14:creationId xmlns:p14="http://schemas.microsoft.com/office/powerpoint/2010/main" val="28261081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EEC09FC-DA0C-1B30-CE39-7911FAD5678D}"/>
              </a:ext>
            </a:extLst>
          </p:cNvPr>
          <p:cNvSpPr txBox="1"/>
          <p:nvPr/>
        </p:nvSpPr>
        <p:spPr>
          <a:xfrm>
            <a:off x="1896532" y="354879"/>
            <a:ext cx="9635068" cy="6186309"/>
          </a:xfrm>
          <a:prstGeom prst="rect">
            <a:avLst/>
          </a:prstGeom>
          <a:noFill/>
        </p:spPr>
        <p:txBody>
          <a:bodyPr wrap="square">
            <a:spAutoFit/>
          </a:bodyPr>
          <a:lstStyle/>
          <a:p>
            <a:pPr algn="l"/>
            <a:r>
              <a:rPr lang="en-GB" b="1" dirty="0">
                <a:solidFill>
                  <a:srgbClr val="C00000"/>
                </a:solidFill>
                <a:latin typeface="Formata-Medium"/>
              </a:rPr>
              <a:t>Features of Enterprise Flash Drives</a:t>
            </a:r>
          </a:p>
          <a:p>
            <a:pPr algn="l"/>
            <a:r>
              <a:rPr lang="en-GB" sz="1800" b="0" i="0" u="none" strike="noStrike" baseline="0" dirty="0">
                <a:latin typeface="Palatino-Roman"/>
              </a:rPr>
              <a:t>The key features of enterprise class </a:t>
            </a:r>
            <a:r>
              <a:rPr lang="en-GB" sz="1800" b="0" i="0" u="none" strike="noStrike" baseline="0" dirty="0" err="1">
                <a:latin typeface="Palatino-Roman"/>
              </a:rPr>
              <a:t>fl</a:t>
            </a:r>
            <a:r>
              <a:rPr lang="en-GB" sz="1800" b="0" i="0" u="none" strike="noStrike" baseline="0" dirty="0">
                <a:latin typeface="Palatino-Roman"/>
              </a:rPr>
              <a:t> ash drives are as follows:</a:t>
            </a:r>
          </a:p>
          <a:p>
            <a:pPr marL="285750" indent="-285750" algn="l">
              <a:buFont typeface="Arial" panose="020B0604020202020204" pitchFamily="34" charset="0"/>
              <a:buChar char="•"/>
            </a:pPr>
            <a:r>
              <a:rPr lang="en-GB" sz="1800" b="1" i="0" u="none" strike="noStrike" baseline="0" dirty="0">
                <a:latin typeface="Palatino-Bold"/>
              </a:rPr>
              <a:t>NAND flash memory technology: </a:t>
            </a:r>
            <a:r>
              <a:rPr lang="en-GB" sz="1800" b="0" i="0" u="none" strike="noStrike" baseline="0" dirty="0">
                <a:latin typeface="Palatino-Roman"/>
              </a:rPr>
              <a:t>NAND memory technology is well suited for accessing random data. A NAND device uses bad block tracking and error correcting code (ECC) to maintain data integrity and provide </a:t>
            </a:r>
            <a:r>
              <a:rPr lang="en-IN" sz="1800" b="0" i="0" u="none" strike="noStrike" baseline="0" dirty="0">
                <a:latin typeface="Palatino-Roman"/>
              </a:rPr>
              <a:t>the fastest write speeds.</a:t>
            </a:r>
          </a:p>
          <a:p>
            <a:pPr marL="285750" indent="-285750" algn="just">
              <a:buFont typeface="Arial" panose="020B0604020202020204" pitchFamily="34" charset="0"/>
              <a:buChar char="•"/>
            </a:pPr>
            <a:endParaRPr lang="en-GB" sz="1800" b="1" i="0" u="none" strike="noStrike" baseline="0" dirty="0">
              <a:latin typeface="Palatino-Bold"/>
            </a:endParaRPr>
          </a:p>
          <a:p>
            <a:pPr marL="285750" indent="-285750" algn="just">
              <a:buFont typeface="Arial" panose="020B0604020202020204" pitchFamily="34" charset="0"/>
              <a:buChar char="•"/>
            </a:pPr>
            <a:r>
              <a:rPr lang="en-GB" sz="1800" b="1" i="0" u="none" strike="noStrike" baseline="0" dirty="0">
                <a:latin typeface="Palatino-Bold"/>
              </a:rPr>
              <a:t>Single-Level Cell (SLC)-based flash: </a:t>
            </a:r>
            <a:r>
              <a:rPr lang="en-GB" sz="1800" b="0" i="0" u="none" strike="noStrike" baseline="0" dirty="0">
                <a:latin typeface="Palatino-Roman"/>
              </a:rPr>
              <a:t>NAND technology is available in two different cell designs. A multi-level cell (MLC) stores more than one bit per cell by virtue of its capability to register multiple states, versus a single-level cell that can store only 1 bit. </a:t>
            </a:r>
            <a:r>
              <a:rPr lang="en-GB" dirty="0">
                <a:latin typeface="Palatino-Roman"/>
              </a:rPr>
              <a:t> </a:t>
            </a:r>
            <a:r>
              <a:rPr lang="en-GB" sz="1800" b="0" i="0" u="none" strike="noStrike" baseline="0" dirty="0">
                <a:latin typeface="Palatino-Roman"/>
              </a:rPr>
              <a:t>SLC is the preferred technology for enterprise data applications due to its performance and longevity. </a:t>
            </a:r>
          </a:p>
          <a:p>
            <a:pPr marL="285750" indent="-285750" algn="just">
              <a:buFont typeface="Arial" panose="020B0604020202020204" pitchFamily="34" charset="0"/>
              <a:buChar char="•"/>
            </a:pPr>
            <a:r>
              <a:rPr lang="en-GB" sz="1800" b="0" i="0" u="none" strike="noStrike" baseline="0" dirty="0">
                <a:latin typeface="Palatino-Roman"/>
              </a:rPr>
              <a:t>SLC read speeds are typically rated at twice those of MLC devices, and write speeds are up to four times higher. </a:t>
            </a:r>
          </a:p>
          <a:p>
            <a:pPr marL="285750" indent="-285750" algn="just">
              <a:buFont typeface="Arial" panose="020B0604020202020204" pitchFamily="34" charset="0"/>
              <a:buChar char="•"/>
            </a:pPr>
            <a:r>
              <a:rPr lang="en-GB" sz="1800" b="0" i="0" u="none" strike="noStrike" baseline="0" dirty="0">
                <a:latin typeface="Palatino-Roman"/>
              </a:rPr>
              <a:t>SLC devices typically have 10 times higher write erase cycles, compared to MLC designs. In addition, the SLC flash memory has higher reliability because it stores only 1 bit per cell. Hence, the likelihood for error is reduced.</a:t>
            </a:r>
          </a:p>
          <a:p>
            <a:pPr marL="285750" indent="-285750" algn="just">
              <a:buFont typeface="Arial" panose="020B0604020202020204" pitchFamily="34" charset="0"/>
              <a:buChar char="•"/>
            </a:pPr>
            <a:endParaRPr lang="en-GB" sz="1800" b="1" i="0" u="none" strike="noStrike" baseline="0" dirty="0">
              <a:latin typeface="Palatino-Bold"/>
            </a:endParaRPr>
          </a:p>
          <a:p>
            <a:pPr marL="285750" indent="-285750" algn="just">
              <a:buFont typeface="Arial" panose="020B0604020202020204" pitchFamily="34" charset="0"/>
              <a:buChar char="•"/>
            </a:pPr>
            <a:r>
              <a:rPr lang="en-GB" sz="1800" b="1" i="0" u="none" strike="noStrike" baseline="0" dirty="0">
                <a:latin typeface="Palatino-Bold"/>
              </a:rPr>
              <a:t>Write levelling technique: </a:t>
            </a:r>
            <a:r>
              <a:rPr lang="en-GB" sz="1800" b="0" i="0" u="none" strike="noStrike" baseline="0" dirty="0">
                <a:latin typeface="Palatino-Roman"/>
              </a:rPr>
              <a:t>An important element of maximizing a flash </a:t>
            </a:r>
            <a:r>
              <a:rPr lang="en-GB" dirty="0">
                <a:latin typeface="Palatino-Roman"/>
              </a:rPr>
              <a:t>drive’s useful life is ensuring that the individual memory cells experience uniform use. This means that data that is frequently updated is written to different locations to avoid rewriting the same cells. In EFDs, the device is designed to ensure that with any new write operation, the </a:t>
            </a:r>
            <a:r>
              <a:rPr lang="en-IN" dirty="0">
                <a:latin typeface="Palatino-Roman"/>
              </a:rPr>
              <a:t>youngest block is used.</a:t>
            </a:r>
          </a:p>
        </p:txBody>
      </p:sp>
    </p:spTree>
    <p:extLst>
      <p:ext uri="{BB962C8B-B14F-4D97-AF65-F5344CB8AC3E}">
        <p14:creationId xmlns:p14="http://schemas.microsoft.com/office/powerpoint/2010/main" val="42684254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F821914-1E23-82CF-9765-BE157E967315}"/>
              </a:ext>
            </a:extLst>
          </p:cNvPr>
          <p:cNvSpPr txBox="1"/>
          <p:nvPr/>
        </p:nvSpPr>
        <p:spPr>
          <a:xfrm>
            <a:off x="1854199" y="922890"/>
            <a:ext cx="10227734" cy="5355312"/>
          </a:xfrm>
          <a:prstGeom prst="rect">
            <a:avLst/>
          </a:prstGeom>
          <a:noFill/>
        </p:spPr>
        <p:txBody>
          <a:bodyPr wrap="square">
            <a:spAutoFit/>
          </a:bodyPr>
          <a:lstStyle/>
          <a:p>
            <a:pPr algn="l"/>
            <a:r>
              <a:rPr lang="en-GB" sz="1800" b="0" i="0" u="none" strike="noStrike" baseline="0" dirty="0">
                <a:latin typeface="Palatino-Roman"/>
              </a:rPr>
              <a:t>VMware is the leading provider for a server virtualization solution.</a:t>
            </a:r>
          </a:p>
          <a:p>
            <a:pPr algn="l"/>
            <a:endParaRPr lang="en-GB" dirty="0">
              <a:latin typeface="Palatino-Roman"/>
            </a:endParaRPr>
          </a:p>
          <a:p>
            <a:pPr algn="l"/>
            <a:r>
              <a:rPr lang="en-GB" sz="1800" b="0" i="0" u="none" strike="noStrike" baseline="0" dirty="0">
                <a:latin typeface="Palatino-Roman"/>
              </a:rPr>
              <a:t> </a:t>
            </a:r>
            <a:r>
              <a:rPr lang="en-GB" sz="1800" b="0" i="0" u="none" strike="noStrike" baseline="0" dirty="0" err="1">
                <a:latin typeface="Palatino-Roman"/>
              </a:rPr>
              <a:t>Vmware</a:t>
            </a:r>
            <a:r>
              <a:rPr lang="en-GB" sz="1800" b="0" i="0" u="none" strike="noStrike" baseline="0" dirty="0">
                <a:latin typeface="Palatino-Roman"/>
              </a:rPr>
              <a:t> </a:t>
            </a:r>
            <a:r>
              <a:rPr lang="en-GB" sz="1800" b="0" i="0" u="none" strike="noStrike" baseline="0" dirty="0" err="1">
                <a:latin typeface="Palatino-Roman"/>
              </a:rPr>
              <a:t>ESXi</a:t>
            </a:r>
            <a:r>
              <a:rPr lang="en-GB" sz="1800" b="0" i="0" u="none" strike="noStrike" baseline="0" dirty="0">
                <a:latin typeface="Palatino-Roman"/>
              </a:rPr>
              <a:t> provides a platform called hypervisor. </a:t>
            </a:r>
          </a:p>
          <a:p>
            <a:pPr algn="l"/>
            <a:endParaRPr lang="en-GB" dirty="0">
              <a:latin typeface="Palatino-Roman"/>
            </a:endParaRPr>
          </a:p>
          <a:p>
            <a:pPr algn="l"/>
            <a:r>
              <a:rPr lang="en-GB" sz="1800" b="0" i="0" u="none" strike="noStrike" baseline="0" dirty="0">
                <a:latin typeface="Palatino-Roman"/>
              </a:rPr>
              <a:t>The hypervisor abstracts CPU, memory, and storage resources to run multiple virtual machines concurrently on the same physical server. </a:t>
            </a:r>
          </a:p>
          <a:p>
            <a:pPr algn="l"/>
            <a:endParaRPr lang="en-GB" dirty="0">
              <a:latin typeface="Palatino-Roman"/>
            </a:endParaRPr>
          </a:p>
          <a:p>
            <a:pPr algn="l"/>
            <a:r>
              <a:rPr lang="en-GB" sz="1800" b="0" i="0" u="none" strike="noStrike" baseline="0" dirty="0">
                <a:latin typeface="Palatino-Roman"/>
              </a:rPr>
              <a:t>VMware </a:t>
            </a:r>
            <a:r>
              <a:rPr lang="en-GB" sz="1800" b="0" i="0" u="none" strike="noStrike" baseline="0" dirty="0" err="1">
                <a:latin typeface="Palatino-Roman"/>
              </a:rPr>
              <a:t>ESXi</a:t>
            </a:r>
            <a:r>
              <a:rPr lang="en-GB" sz="1800" b="0" i="0" u="none" strike="noStrike" baseline="0" dirty="0">
                <a:latin typeface="Palatino-Roman"/>
              </a:rPr>
              <a:t> is a hypervisor that installs on x86 hardware to enable server virtualization. It enables creating multiple virtual machines (VMs) that can run simultaneously on the same physical machine. </a:t>
            </a:r>
          </a:p>
          <a:p>
            <a:pPr algn="l"/>
            <a:endParaRPr lang="en-GB" dirty="0">
              <a:latin typeface="Palatino-Roman"/>
            </a:endParaRPr>
          </a:p>
          <a:p>
            <a:pPr algn="just"/>
            <a:r>
              <a:rPr lang="en-GB" sz="1800" b="0" i="0" u="none" strike="noStrike" baseline="0" dirty="0">
                <a:latin typeface="Palatino-Roman"/>
              </a:rPr>
              <a:t>A VM is a discrete set of fi les that can be moved, copied, and used as a template. All the files that make up a VM are typically stored in a single directory on a cluster file system called Virtual Machine File System (VMFS). </a:t>
            </a:r>
          </a:p>
          <a:p>
            <a:pPr algn="l"/>
            <a:endParaRPr lang="en-GB" dirty="0">
              <a:latin typeface="Palatino-Roman"/>
            </a:endParaRPr>
          </a:p>
          <a:p>
            <a:pPr algn="l"/>
            <a:r>
              <a:rPr lang="en-GB" sz="1800" b="0" i="0" u="none" strike="noStrike" baseline="0" dirty="0">
                <a:latin typeface="Palatino-Roman"/>
              </a:rPr>
              <a:t>The physical machine that houses </a:t>
            </a:r>
            <a:r>
              <a:rPr lang="en-GB" sz="1800" b="0" i="0" u="none" strike="noStrike" baseline="0" dirty="0" err="1">
                <a:latin typeface="Palatino-Roman"/>
              </a:rPr>
              <a:t>ESXi</a:t>
            </a:r>
            <a:r>
              <a:rPr lang="en-GB" sz="1800" b="0" i="0" u="none" strike="noStrike" baseline="0" dirty="0">
                <a:latin typeface="Palatino-Roman"/>
              </a:rPr>
              <a:t> is called the </a:t>
            </a:r>
            <a:r>
              <a:rPr lang="en-GB" sz="1800" b="0" i="0" u="none" strike="noStrike" baseline="0" dirty="0" err="1">
                <a:latin typeface="Palatino-Roman"/>
              </a:rPr>
              <a:t>ESXi</a:t>
            </a:r>
            <a:r>
              <a:rPr lang="en-GB" sz="1800" b="0" i="0" u="none" strike="noStrike" baseline="0" dirty="0">
                <a:latin typeface="Palatino-Roman"/>
              </a:rPr>
              <a:t> host. </a:t>
            </a:r>
            <a:r>
              <a:rPr lang="en-GB" sz="1800" b="0" i="0" u="none" strike="noStrike" baseline="0" dirty="0" err="1">
                <a:latin typeface="Palatino-Roman"/>
              </a:rPr>
              <a:t>ESXi</a:t>
            </a:r>
            <a:r>
              <a:rPr lang="en-GB" sz="1800" b="0" i="0" u="none" strike="noStrike" baseline="0" dirty="0">
                <a:latin typeface="Palatino-Roman"/>
              </a:rPr>
              <a:t> hosts provide physical resources used to run virtual machines. </a:t>
            </a:r>
            <a:r>
              <a:rPr lang="en-GB" sz="1800" b="0" i="0" u="none" strike="noStrike" baseline="0" dirty="0" err="1">
                <a:latin typeface="Palatino-Roman"/>
              </a:rPr>
              <a:t>ESXi</a:t>
            </a:r>
            <a:r>
              <a:rPr lang="en-GB" sz="1800" b="0" i="0" u="none" strike="noStrike" baseline="0" dirty="0">
                <a:latin typeface="Palatino-Roman"/>
              </a:rPr>
              <a:t> has two key components: </a:t>
            </a:r>
            <a:r>
              <a:rPr lang="en-GB" sz="1800" b="0" i="0" u="none" strike="noStrike" baseline="0" dirty="0" err="1">
                <a:latin typeface="Palatino-Roman"/>
              </a:rPr>
              <a:t>VMkernel</a:t>
            </a:r>
            <a:r>
              <a:rPr lang="en-GB" sz="1800" b="0" i="0" u="none" strike="noStrike" baseline="0" dirty="0">
                <a:latin typeface="Palatino-Roman"/>
              </a:rPr>
              <a:t> and</a:t>
            </a:r>
            <a:r>
              <a:rPr lang="en-GB" dirty="0">
                <a:latin typeface="Palatino-Roman"/>
              </a:rPr>
              <a:t> </a:t>
            </a:r>
            <a:r>
              <a:rPr lang="en-GB" sz="1800" b="0" i="0" u="none" strike="noStrike" baseline="0" dirty="0">
                <a:latin typeface="Palatino-Roman"/>
              </a:rPr>
              <a:t>Virtual Machine Monitor.</a:t>
            </a:r>
          </a:p>
          <a:p>
            <a:pPr algn="l"/>
            <a:endParaRPr lang="en-GB" sz="1800" b="0" i="0" u="none" strike="noStrike" baseline="0" dirty="0">
              <a:latin typeface="Palatino-Roman"/>
            </a:endParaRPr>
          </a:p>
        </p:txBody>
      </p:sp>
      <p:sp>
        <p:nvSpPr>
          <p:cNvPr id="9" name="TextBox 8">
            <a:extLst>
              <a:ext uri="{FF2B5EF4-FFF2-40B4-BE49-F238E27FC236}">
                <a16:creationId xmlns:a16="http://schemas.microsoft.com/office/drawing/2014/main" id="{6360AFF9-F4C5-DB22-FD74-F015F9D3770E}"/>
              </a:ext>
            </a:extLst>
          </p:cNvPr>
          <p:cNvSpPr txBox="1"/>
          <p:nvPr/>
        </p:nvSpPr>
        <p:spPr>
          <a:xfrm>
            <a:off x="2946400" y="395132"/>
            <a:ext cx="6096000" cy="369332"/>
          </a:xfrm>
          <a:prstGeom prst="rect">
            <a:avLst/>
          </a:prstGeom>
          <a:noFill/>
        </p:spPr>
        <p:txBody>
          <a:bodyPr wrap="square">
            <a:spAutoFit/>
          </a:bodyPr>
          <a:lstStyle/>
          <a:p>
            <a:r>
              <a:rPr lang="en-IN" sz="1800" b="1" i="0" u="none" strike="noStrike" baseline="0" dirty="0">
                <a:solidFill>
                  <a:srgbClr val="C00000"/>
                </a:solidFill>
                <a:latin typeface="Formata-Medium"/>
              </a:rPr>
              <a:t>Concept in Practice: VMware </a:t>
            </a:r>
            <a:r>
              <a:rPr lang="en-IN" sz="1800" b="1" i="0" u="none" strike="noStrike" baseline="0" dirty="0" err="1">
                <a:solidFill>
                  <a:srgbClr val="C00000"/>
                </a:solidFill>
                <a:latin typeface="Formata-Medium"/>
              </a:rPr>
              <a:t>ESXi</a:t>
            </a:r>
            <a:endParaRPr lang="en-IN" dirty="0">
              <a:solidFill>
                <a:srgbClr val="C00000"/>
              </a:solidFill>
            </a:endParaRPr>
          </a:p>
        </p:txBody>
      </p:sp>
    </p:spTree>
    <p:extLst>
      <p:ext uri="{BB962C8B-B14F-4D97-AF65-F5344CB8AC3E}">
        <p14:creationId xmlns:p14="http://schemas.microsoft.com/office/powerpoint/2010/main" val="10349402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3E96449-DECB-44E4-F054-774572FEF4C1}"/>
              </a:ext>
            </a:extLst>
          </p:cNvPr>
          <p:cNvSpPr txBox="1"/>
          <p:nvPr/>
        </p:nvSpPr>
        <p:spPr>
          <a:xfrm>
            <a:off x="1219199" y="1417240"/>
            <a:ext cx="10176934" cy="3970318"/>
          </a:xfrm>
          <a:prstGeom prst="rect">
            <a:avLst/>
          </a:prstGeom>
          <a:noFill/>
        </p:spPr>
        <p:txBody>
          <a:bodyPr wrap="square">
            <a:spAutoFit/>
          </a:bodyPr>
          <a:lstStyle/>
          <a:p>
            <a:pPr algn="just"/>
            <a:r>
              <a:rPr lang="en-GB" sz="1800" b="0" i="0" u="none" strike="noStrike" baseline="0" dirty="0" err="1">
                <a:latin typeface="Palatino-Roman"/>
              </a:rPr>
              <a:t>VMkernel</a:t>
            </a:r>
            <a:r>
              <a:rPr lang="en-GB" sz="1800" b="0" i="0" u="none" strike="noStrike" baseline="0" dirty="0">
                <a:latin typeface="Palatino-Roman"/>
              </a:rPr>
              <a:t> provides functionality similar to that found in other operating systems, such as process creation, file system management, and process scheduling.                                              </a:t>
            </a:r>
          </a:p>
          <a:p>
            <a:pPr algn="just"/>
            <a:endParaRPr lang="en-GB" dirty="0">
              <a:latin typeface="Palatino-Roman"/>
            </a:endParaRPr>
          </a:p>
          <a:p>
            <a:pPr algn="just"/>
            <a:r>
              <a:rPr lang="en-GB" sz="1800" b="0" i="0" u="none" strike="noStrike" baseline="0" dirty="0">
                <a:latin typeface="Palatino-Roman"/>
              </a:rPr>
              <a:t>It is designed to specifically support running multiple VMs and provide core functionality such as resource scheduling, I/O stacks, and so on.                                       </a:t>
            </a:r>
          </a:p>
          <a:p>
            <a:pPr algn="just"/>
            <a:endParaRPr lang="en-GB" sz="1800" b="0" i="0" u="none" strike="noStrike" baseline="0" dirty="0">
              <a:latin typeface="Palatino-Roman"/>
            </a:endParaRPr>
          </a:p>
          <a:p>
            <a:pPr algn="just"/>
            <a:r>
              <a:rPr lang="en-GB" sz="1800" b="0" i="0" u="none" strike="noStrike" baseline="0" dirty="0">
                <a:latin typeface="Palatino-Roman"/>
              </a:rPr>
              <a:t>The virtual machine monitor is responsible for executing commands on the CPUs and performing Binary Translation (BT). </a:t>
            </a:r>
          </a:p>
          <a:p>
            <a:pPr algn="just"/>
            <a:endParaRPr lang="en-GB" sz="1800" b="0" i="0" u="none" strike="noStrike" baseline="0" dirty="0">
              <a:latin typeface="Palatino-Roman"/>
            </a:endParaRPr>
          </a:p>
          <a:p>
            <a:pPr algn="just"/>
            <a:r>
              <a:rPr lang="en-GB" sz="1800" b="0" i="0" u="none" strike="noStrike" baseline="0" dirty="0">
                <a:latin typeface="Palatino-Roman"/>
              </a:rPr>
              <a:t>A virtual machine monitor performs</a:t>
            </a:r>
            <a:r>
              <a:rPr lang="en-GB" dirty="0">
                <a:latin typeface="Palatino-Roman"/>
              </a:rPr>
              <a:t> </a:t>
            </a:r>
            <a:r>
              <a:rPr lang="en-GB" sz="1800" b="0" i="0" u="none" strike="noStrike" baseline="0" dirty="0">
                <a:latin typeface="Palatino-Roman"/>
              </a:rPr>
              <a:t>hardware abstraction to appear as a physical machine with its own CPU, memory, and I/O devices. </a:t>
            </a:r>
          </a:p>
          <a:p>
            <a:pPr algn="just"/>
            <a:endParaRPr lang="en-GB" dirty="0">
              <a:latin typeface="Palatino-Roman"/>
            </a:endParaRPr>
          </a:p>
          <a:p>
            <a:pPr algn="just"/>
            <a:r>
              <a:rPr lang="en-GB" sz="1800" b="0" i="0" u="none" strike="noStrike" baseline="0" dirty="0">
                <a:latin typeface="Palatino-Roman"/>
              </a:rPr>
              <a:t>Each VM is assigned a virtual machine monitor that has a share of the CPU, memory, and I/O devices to successfully run the VM.</a:t>
            </a:r>
            <a:endParaRPr lang="en-IN" dirty="0"/>
          </a:p>
        </p:txBody>
      </p:sp>
      <p:sp>
        <p:nvSpPr>
          <p:cNvPr id="6" name="TextBox 5">
            <a:extLst>
              <a:ext uri="{FF2B5EF4-FFF2-40B4-BE49-F238E27FC236}">
                <a16:creationId xmlns:a16="http://schemas.microsoft.com/office/drawing/2014/main" id="{49E3DD3C-E0EC-D91A-D8FE-E10B504A21F8}"/>
              </a:ext>
            </a:extLst>
          </p:cNvPr>
          <p:cNvSpPr txBox="1"/>
          <p:nvPr/>
        </p:nvSpPr>
        <p:spPr>
          <a:xfrm>
            <a:off x="2946400" y="395132"/>
            <a:ext cx="6096000" cy="369332"/>
          </a:xfrm>
          <a:prstGeom prst="rect">
            <a:avLst/>
          </a:prstGeom>
          <a:noFill/>
        </p:spPr>
        <p:txBody>
          <a:bodyPr wrap="square">
            <a:spAutoFit/>
          </a:bodyPr>
          <a:lstStyle/>
          <a:p>
            <a:r>
              <a:rPr lang="en-IN" sz="1800" b="1" i="0" u="none" strike="noStrike" baseline="0" dirty="0">
                <a:solidFill>
                  <a:srgbClr val="C00000"/>
                </a:solidFill>
                <a:latin typeface="Formata-Medium"/>
              </a:rPr>
              <a:t>Concept in Practice: VMware </a:t>
            </a:r>
            <a:r>
              <a:rPr lang="en-IN" sz="1800" b="1" i="0" u="none" strike="noStrike" baseline="0" dirty="0" err="1">
                <a:solidFill>
                  <a:srgbClr val="C00000"/>
                </a:solidFill>
                <a:latin typeface="Formata-Medium"/>
              </a:rPr>
              <a:t>ESXi</a:t>
            </a:r>
            <a:endParaRPr lang="en-IN" dirty="0">
              <a:solidFill>
                <a:srgbClr val="C00000"/>
              </a:solidFill>
            </a:endParaRPr>
          </a:p>
        </p:txBody>
      </p:sp>
    </p:spTree>
    <p:extLst>
      <p:ext uri="{BB962C8B-B14F-4D97-AF65-F5344CB8AC3E}">
        <p14:creationId xmlns:p14="http://schemas.microsoft.com/office/powerpoint/2010/main" val="15074993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0" y="533400"/>
            <a:ext cx="7202776" cy="609600"/>
          </a:xfrm>
        </p:spPr>
        <p:txBody>
          <a:bodyPr>
            <a:normAutofit fontScale="90000"/>
          </a:bodyPr>
          <a:lstStyle/>
          <a:p>
            <a:r>
              <a:rPr lang="en-US" b="1" dirty="0">
                <a:effectLst>
                  <a:outerShdw blurRad="38100" dist="38100" dir="2700000" algn="tl">
                    <a:srgbClr val="000000">
                      <a:alpha val="43137"/>
                    </a:srgbClr>
                  </a:outerShdw>
                </a:effectLst>
              </a:rPr>
              <a:t>Logical Components of the Host</a:t>
            </a:r>
          </a:p>
        </p:txBody>
      </p:sp>
      <p:sp>
        <p:nvSpPr>
          <p:cNvPr id="3" name="Content Placeholder 2"/>
          <p:cNvSpPr>
            <a:spLocks noGrp="1"/>
          </p:cNvSpPr>
          <p:nvPr>
            <p:ph idx="1"/>
          </p:nvPr>
        </p:nvSpPr>
        <p:spPr>
          <a:xfrm>
            <a:off x="2590800" y="1155700"/>
            <a:ext cx="7620000" cy="5397500"/>
          </a:xfrm>
        </p:spPr>
        <p:txBody>
          <a:bodyPr/>
          <a:lstStyle/>
          <a:p>
            <a:pPr marL="0" indent="0">
              <a:lnSpc>
                <a:spcPct val="150000"/>
              </a:lnSpc>
              <a:buNone/>
            </a:pPr>
            <a:r>
              <a:rPr lang="en-US" sz="2200" dirty="0">
                <a:latin typeface="Times New Roman" panose="02020603050405020304" pitchFamily="18" charset="0"/>
                <a:cs typeface="Times New Roman" panose="02020603050405020304" pitchFamily="18" charset="0"/>
              </a:rPr>
              <a:t>The logical components of a host consist of the software applications and protocols that enable data communication with the user as well as the physical components. Following are the logical components of a host:</a:t>
            </a:r>
          </a:p>
          <a:p>
            <a:pPr algn="l" rtl="0"/>
            <a:r>
              <a:rPr lang="en-US" sz="2400" b="1" dirty="0">
                <a:solidFill>
                  <a:srgbClr val="C00000"/>
                </a:solidFill>
                <a:effectLst>
                  <a:outerShdw blurRad="38100" dist="38100" dir="2700000" algn="tl">
                    <a:srgbClr val="000000">
                      <a:alpha val="43137"/>
                    </a:srgbClr>
                  </a:outerShdw>
                </a:effectLst>
              </a:rPr>
              <a:t>Operating system</a:t>
            </a:r>
          </a:p>
          <a:p>
            <a:pPr algn="l" rtl="0"/>
            <a:r>
              <a:rPr lang="en-US" sz="2400" b="1" dirty="0">
                <a:solidFill>
                  <a:srgbClr val="C00000"/>
                </a:solidFill>
                <a:effectLst>
                  <a:outerShdw blurRad="38100" dist="38100" dir="2700000" algn="tl">
                    <a:srgbClr val="000000">
                      <a:alpha val="43137"/>
                    </a:srgbClr>
                  </a:outerShdw>
                </a:effectLst>
              </a:rPr>
              <a:t>Device drivers</a:t>
            </a:r>
          </a:p>
          <a:p>
            <a:pPr algn="l" rtl="0"/>
            <a:r>
              <a:rPr lang="en-US" sz="2400" b="1" dirty="0">
                <a:solidFill>
                  <a:srgbClr val="C00000"/>
                </a:solidFill>
                <a:effectLst>
                  <a:outerShdw blurRad="38100" dist="38100" dir="2700000" algn="tl">
                    <a:srgbClr val="000000">
                      <a:alpha val="43137"/>
                    </a:srgbClr>
                  </a:outerShdw>
                </a:effectLst>
              </a:rPr>
              <a:t>Volume manager</a:t>
            </a:r>
          </a:p>
          <a:p>
            <a:pPr algn="l" rtl="0"/>
            <a:r>
              <a:rPr lang="en-US" sz="2400" b="1" dirty="0">
                <a:solidFill>
                  <a:srgbClr val="C00000"/>
                </a:solidFill>
                <a:effectLst>
                  <a:outerShdw blurRad="38100" dist="38100" dir="2700000" algn="tl">
                    <a:srgbClr val="000000">
                      <a:alpha val="43137"/>
                    </a:srgbClr>
                  </a:outerShdw>
                </a:effectLst>
              </a:rPr>
              <a:t>File system</a:t>
            </a:r>
          </a:p>
          <a:p>
            <a:pPr algn="l" rtl="0"/>
            <a:r>
              <a:rPr lang="en-US" sz="2400" b="1" dirty="0">
                <a:solidFill>
                  <a:srgbClr val="C00000"/>
                </a:solidFill>
                <a:effectLst>
                  <a:outerShdw blurRad="38100" dist="38100" dir="2700000" algn="tl">
                    <a:srgbClr val="000000">
                      <a:alpha val="43137"/>
                    </a:srgbClr>
                  </a:outerShdw>
                </a:effectLst>
              </a:rPr>
              <a:t>Application</a:t>
            </a:r>
          </a:p>
          <a:p>
            <a:pPr marL="0" indent="0">
              <a:buNone/>
            </a:pPr>
            <a:endParaRPr lang="en-US" dirty="0"/>
          </a:p>
        </p:txBody>
      </p:sp>
      <p:sp>
        <p:nvSpPr>
          <p:cNvPr id="5" name="Slide Number Placeholder 4"/>
          <p:cNvSpPr>
            <a:spLocks noGrp="1"/>
          </p:cNvSpPr>
          <p:nvPr>
            <p:ph type="sldNum" sz="quarter" idx="12"/>
          </p:nvPr>
        </p:nvSpPr>
        <p:spPr/>
        <p:txBody>
          <a:bodyPr/>
          <a:lstStyle/>
          <a:p>
            <a:fld id="{E5137D0E-4A4F-4307-8994-C1891D747D59}" type="slidenum">
              <a:rPr lang="en-US" smtClean="0"/>
              <a:t>50</a:t>
            </a:fld>
            <a:endParaRPr lang="en-US"/>
          </a:p>
        </p:txBody>
      </p:sp>
    </p:spTree>
    <p:extLst>
      <p:ext uri="{BB962C8B-B14F-4D97-AF65-F5344CB8AC3E}">
        <p14:creationId xmlns:p14="http://schemas.microsoft.com/office/powerpoint/2010/main" val="573027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68716" y="473075"/>
            <a:ext cx="9491472" cy="5562600"/>
          </a:xfrm>
        </p:spPr>
        <p:txBody>
          <a:bodyPr>
            <a:normAutofit fontScale="92500" lnSpcReduction="20000"/>
          </a:bodyPr>
          <a:lstStyle/>
          <a:p>
            <a:pPr marL="0" indent="0" algn="just">
              <a:buNone/>
            </a:pPr>
            <a:r>
              <a:rPr lang="en-US" sz="2400" b="1" dirty="0"/>
              <a:t>Operating System</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An operating system controls all aspects of the computing environment.</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It works between the application and physical components of the computer system.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One of the services it provides to the application is data access.</a:t>
            </a:r>
            <a:endParaRPr lang="en-US" dirty="0"/>
          </a:p>
          <a:p>
            <a:pPr marL="0" indent="0" algn="just">
              <a:buNone/>
            </a:pPr>
            <a:endParaRPr lang="en-US" sz="2400" b="1" dirty="0"/>
          </a:p>
          <a:p>
            <a:pPr marL="0" indent="0" algn="just">
              <a:buNone/>
            </a:pPr>
            <a:r>
              <a:rPr lang="en-US" sz="2400" b="1" dirty="0"/>
              <a:t>Device Driver</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A device driver is special software that permits the operating system to interact with a specific device, such as a printer, a mouse, or a hard drive.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A device driver enables the operating system to recognize the device and to use a standard interface (provided as an application programming interface, or API) to access and control devices.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Device drivers are hardware dependent and operating system specific.</a:t>
            </a:r>
          </a:p>
        </p:txBody>
      </p:sp>
      <p:sp>
        <p:nvSpPr>
          <p:cNvPr id="4" name="Slide Number Placeholder 3"/>
          <p:cNvSpPr>
            <a:spLocks noGrp="1"/>
          </p:cNvSpPr>
          <p:nvPr>
            <p:ph type="sldNum" sz="quarter" idx="12"/>
          </p:nvPr>
        </p:nvSpPr>
        <p:spPr/>
        <p:txBody>
          <a:bodyPr/>
          <a:lstStyle/>
          <a:p>
            <a:fld id="{E5137D0E-4A4F-4307-8994-C1891D747D59}" type="slidenum">
              <a:rPr lang="en-US" smtClean="0"/>
              <a:t>51</a:t>
            </a:fld>
            <a:endParaRPr lang="en-US"/>
          </a:p>
        </p:txBody>
      </p:sp>
    </p:spTree>
    <p:extLst>
      <p:ext uri="{BB962C8B-B14F-4D97-AF65-F5344CB8AC3E}">
        <p14:creationId xmlns:p14="http://schemas.microsoft.com/office/powerpoint/2010/main" val="2991320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5688" y="423672"/>
            <a:ext cx="9145588" cy="5791200"/>
          </a:xfrm>
        </p:spPr>
        <p:txBody>
          <a:bodyPr>
            <a:normAutofit fontScale="92500" lnSpcReduction="20000"/>
          </a:bodyPr>
          <a:lstStyle/>
          <a:p>
            <a:pPr marL="0" indent="0" algn="just">
              <a:lnSpc>
                <a:spcPct val="150000"/>
              </a:lnSpc>
              <a:buNone/>
            </a:pPr>
            <a:r>
              <a:rPr lang="en-US" sz="2400" b="1" dirty="0"/>
              <a:t>Volume Manager</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Disk partitioning was introduced to improve the flexibility and utilization of HDDs. In partitioning, an HDD is divided into logical containers called logical volumes (LVs) (see Figure 2-11).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For example, a large physical drive can be partitioned into multiple LVs to maintain data according to the file system’s and applications’ requirements.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The partitions are created from groups of contiguous cylinders when the hard disk is initially set up on the host.</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The host’s file system accesses the partitions without any knowledge of partitioning and the physical structure of the disk. </a:t>
            </a:r>
          </a:p>
          <a:p>
            <a:pPr marL="0" indent="0" algn="just">
              <a:lnSpc>
                <a:spcPct val="150000"/>
              </a:lnSpc>
              <a:buNone/>
            </a:pPr>
            <a:r>
              <a:rPr lang="en-US" sz="2200" dirty="0">
                <a:latin typeface="Times New Roman" panose="02020603050405020304" pitchFamily="18" charset="0"/>
                <a:cs typeface="Times New Roman" panose="02020603050405020304" pitchFamily="18" charset="0"/>
              </a:rPr>
              <a:t>Concatenation is the process of grouping several smaller physical drives and presenting them to the host as one logical drive (see Figure 2-11).</a:t>
            </a:r>
          </a:p>
        </p:txBody>
      </p:sp>
      <p:sp>
        <p:nvSpPr>
          <p:cNvPr id="4" name="Slide Number Placeholder 3"/>
          <p:cNvSpPr>
            <a:spLocks noGrp="1"/>
          </p:cNvSpPr>
          <p:nvPr>
            <p:ph type="sldNum" sz="quarter" idx="12"/>
          </p:nvPr>
        </p:nvSpPr>
        <p:spPr/>
        <p:txBody>
          <a:bodyPr/>
          <a:lstStyle/>
          <a:p>
            <a:fld id="{E5137D0E-4A4F-4307-8994-C1891D747D59}" type="slidenum">
              <a:rPr lang="en-US" smtClean="0"/>
              <a:t>52</a:t>
            </a:fld>
            <a:endParaRPr lang="en-US"/>
          </a:p>
        </p:txBody>
      </p:sp>
    </p:spTree>
    <p:extLst>
      <p:ext uri="{BB962C8B-B14F-4D97-AF65-F5344CB8AC3E}">
        <p14:creationId xmlns:p14="http://schemas.microsoft.com/office/powerpoint/2010/main" val="4147989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2201" y="1295400"/>
            <a:ext cx="7853155" cy="4800600"/>
          </a:xfrm>
        </p:spPr>
      </p:pic>
      <p:sp>
        <p:nvSpPr>
          <p:cNvPr id="3" name="Slide Number Placeholder 2"/>
          <p:cNvSpPr>
            <a:spLocks noGrp="1"/>
          </p:cNvSpPr>
          <p:nvPr>
            <p:ph type="sldNum" sz="quarter" idx="12"/>
          </p:nvPr>
        </p:nvSpPr>
        <p:spPr/>
        <p:txBody>
          <a:bodyPr/>
          <a:lstStyle/>
          <a:p>
            <a:fld id="{E5137D0E-4A4F-4307-8994-C1891D747D59}" type="slidenum">
              <a:rPr lang="en-US" smtClean="0"/>
              <a:t>53</a:t>
            </a:fld>
            <a:endParaRPr lang="en-US"/>
          </a:p>
        </p:txBody>
      </p:sp>
    </p:spTree>
    <p:extLst>
      <p:ext uri="{BB962C8B-B14F-4D97-AF65-F5344CB8AC3E}">
        <p14:creationId xmlns:p14="http://schemas.microsoft.com/office/powerpoint/2010/main" val="4106331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5688" y="282829"/>
            <a:ext cx="9006840" cy="5943600"/>
          </a:xfrm>
        </p:spPr>
        <p:txBody>
          <a:bodyPr>
            <a:normAutofit fontScale="92500" lnSpcReduction="10000"/>
          </a:bodyPr>
          <a:lstStyle/>
          <a:p>
            <a:pPr marL="0" indent="0" algn="just">
              <a:lnSpc>
                <a:spcPct val="150000"/>
              </a:lnSpc>
              <a:buNone/>
            </a:pPr>
            <a:r>
              <a:rPr lang="en-US" b="1" dirty="0"/>
              <a:t>File System</a:t>
            </a:r>
          </a:p>
          <a:p>
            <a:pPr marL="0" indent="0" algn="just">
              <a:lnSpc>
                <a:spcPct val="150000"/>
              </a:lnSpc>
              <a:buNone/>
            </a:pPr>
            <a:r>
              <a:rPr lang="en-US" dirty="0">
                <a:latin typeface="Times New Roman" panose="02020603050405020304" pitchFamily="18" charset="0"/>
                <a:cs typeface="Times New Roman" panose="02020603050405020304" pitchFamily="18" charset="0"/>
              </a:rPr>
              <a:t>A file is a collection of related records or data stored as a unit with a name. </a:t>
            </a:r>
          </a:p>
          <a:p>
            <a:pPr marL="0" indent="0" algn="just">
              <a:lnSpc>
                <a:spcPct val="150000"/>
              </a:lnSpc>
              <a:buNone/>
            </a:pPr>
            <a:r>
              <a:rPr lang="en-US" dirty="0">
                <a:latin typeface="Times New Roman" panose="02020603050405020304" pitchFamily="18" charset="0"/>
                <a:cs typeface="Times New Roman" panose="02020603050405020304" pitchFamily="18" charset="0"/>
              </a:rPr>
              <a:t>A file system is a hierarchical structure of files. </a:t>
            </a:r>
          </a:p>
          <a:p>
            <a:pPr marL="0" indent="0" algn="just">
              <a:lnSpc>
                <a:spcPct val="150000"/>
              </a:lnSpc>
              <a:buNone/>
            </a:pPr>
            <a:r>
              <a:rPr lang="en-US" dirty="0">
                <a:latin typeface="Times New Roman" panose="02020603050405020304" pitchFamily="18" charset="0"/>
                <a:cs typeface="Times New Roman" panose="02020603050405020304" pitchFamily="18" charset="0"/>
              </a:rPr>
              <a:t>File systems enable easy access to data files residing within a disk drive, a disk partition, or a logical volume. </a:t>
            </a:r>
          </a:p>
          <a:p>
            <a:pPr marL="0" indent="0" algn="just">
              <a:lnSpc>
                <a:spcPct val="150000"/>
              </a:lnSpc>
              <a:buNone/>
            </a:pPr>
            <a:r>
              <a:rPr lang="en-US" dirty="0">
                <a:latin typeface="Times New Roman" panose="02020603050405020304" pitchFamily="18" charset="0"/>
                <a:cs typeface="Times New Roman" panose="02020603050405020304" pitchFamily="18" charset="0"/>
              </a:rPr>
              <a:t>A file system needs host-based logical structures and software routines that control access to files. </a:t>
            </a:r>
          </a:p>
          <a:p>
            <a:pPr marL="0" indent="0" algn="just">
              <a:lnSpc>
                <a:spcPct val="150000"/>
              </a:lnSpc>
              <a:buNone/>
            </a:pPr>
            <a:r>
              <a:rPr lang="en-US" dirty="0">
                <a:latin typeface="Times New Roman" panose="02020603050405020304" pitchFamily="18" charset="0"/>
                <a:cs typeface="Times New Roman" panose="02020603050405020304" pitchFamily="18" charset="0"/>
              </a:rPr>
              <a:t>It provides users with the functionality to create, modify, delete, and access files. </a:t>
            </a:r>
          </a:p>
          <a:p>
            <a:pPr marL="0" indent="0" algn="just">
              <a:lnSpc>
                <a:spcPct val="150000"/>
              </a:lnSpc>
              <a:buNone/>
            </a:pPr>
            <a:r>
              <a:rPr lang="en-US" dirty="0">
                <a:latin typeface="Times New Roman" panose="02020603050405020304" pitchFamily="18" charset="0"/>
                <a:cs typeface="Times New Roman" panose="02020603050405020304" pitchFamily="18" charset="0"/>
              </a:rPr>
              <a:t>Access to the files on the disks is controlled by the permissions given to the file by the owner, which are also maintained by the file system.</a:t>
            </a:r>
          </a:p>
          <a:p>
            <a:pPr algn="just" rtl="0">
              <a:lnSpc>
                <a:spcPct val="100000"/>
              </a:lnSpc>
            </a:pPr>
            <a:r>
              <a:rPr lang="en-US" sz="2100" b="1" dirty="0">
                <a:solidFill>
                  <a:srgbClr val="C00000"/>
                </a:solidFill>
                <a:effectLst>
                  <a:outerShdw blurRad="38100" dist="38100" dir="2700000" algn="tl">
                    <a:srgbClr val="000000">
                      <a:alpha val="43137"/>
                    </a:srgbClr>
                  </a:outerShdw>
                </a:effectLst>
              </a:rPr>
              <a:t>FAT 32 (File Allocation Table) for Microsoft Windows</a:t>
            </a:r>
          </a:p>
          <a:p>
            <a:pPr algn="just" rtl="0">
              <a:lnSpc>
                <a:spcPct val="100000"/>
              </a:lnSpc>
            </a:pPr>
            <a:r>
              <a:rPr lang="nn-NO" sz="2100" b="1" dirty="0">
                <a:solidFill>
                  <a:srgbClr val="C00000"/>
                </a:solidFill>
                <a:effectLst>
                  <a:outerShdw blurRad="38100" dist="38100" dir="2700000" algn="tl">
                    <a:srgbClr val="000000">
                      <a:alpha val="43137"/>
                    </a:srgbClr>
                  </a:outerShdw>
                </a:effectLst>
              </a:rPr>
              <a:t>NT File System (NTFS) for Microsoft Windows</a:t>
            </a:r>
          </a:p>
          <a:p>
            <a:pPr algn="just" rtl="0">
              <a:lnSpc>
                <a:spcPct val="100000"/>
              </a:lnSpc>
            </a:pPr>
            <a:r>
              <a:rPr lang="nn-NO" sz="2100" b="1" dirty="0">
                <a:solidFill>
                  <a:srgbClr val="C00000"/>
                </a:solidFill>
                <a:effectLst>
                  <a:outerShdw blurRad="38100" dist="38100" dir="2700000" algn="tl">
                    <a:srgbClr val="000000">
                      <a:alpha val="43137"/>
                    </a:srgbClr>
                  </a:outerShdw>
                </a:effectLst>
              </a:rPr>
              <a:t>UNIX File System (UFS) for UNIX</a:t>
            </a:r>
          </a:p>
          <a:p>
            <a:pPr algn="just" rtl="0">
              <a:lnSpc>
                <a:spcPct val="100000"/>
              </a:lnSpc>
            </a:pPr>
            <a:r>
              <a:rPr lang="en-US" sz="2100" b="1" dirty="0">
                <a:solidFill>
                  <a:srgbClr val="C00000"/>
                </a:solidFill>
                <a:effectLst>
                  <a:outerShdw blurRad="38100" dist="38100" dir="2700000" algn="tl">
                    <a:srgbClr val="000000">
                      <a:alpha val="43137"/>
                    </a:srgbClr>
                  </a:outerShdw>
                </a:effectLst>
              </a:rPr>
              <a:t>Extended File System (EXT2/3) for Linux</a:t>
            </a:r>
          </a:p>
        </p:txBody>
      </p:sp>
      <p:sp>
        <p:nvSpPr>
          <p:cNvPr id="4" name="Slide Number Placeholder 3"/>
          <p:cNvSpPr>
            <a:spLocks noGrp="1"/>
          </p:cNvSpPr>
          <p:nvPr>
            <p:ph type="sldNum" sz="quarter" idx="12"/>
          </p:nvPr>
        </p:nvSpPr>
        <p:spPr/>
        <p:txBody>
          <a:bodyPr/>
          <a:lstStyle/>
          <a:p>
            <a:fld id="{E5137D0E-4A4F-4307-8994-C1891D747D59}" type="slidenum">
              <a:rPr lang="en-US" smtClean="0"/>
              <a:t>54</a:t>
            </a:fld>
            <a:endParaRPr lang="en-US"/>
          </a:p>
        </p:txBody>
      </p:sp>
    </p:spTree>
    <p:extLst>
      <p:ext uri="{BB962C8B-B14F-4D97-AF65-F5344CB8AC3E}">
        <p14:creationId xmlns:p14="http://schemas.microsoft.com/office/powerpoint/2010/main" val="15683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19656" y="469393"/>
            <a:ext cx="9409176" cy="5562600"/>
          </a:xfrm>
        </p:spPr>
        <p:txBody>
          <a:bodyPr>
            <a:normAutofit fontScale="92500" lnSpcReduction="10000"/>
          </a:bodyPr>
          <a:lstStyle/>
          <a:p>
            <a:pPr marL="0" indent="0">
              <a:lnSpc>
                <a:spcPct val="150000"/>
              </a:lnSpc>
              <a:buNone/>
            </a:pPr>
            <a:r>
              <a:rPr lang="en-US" sz="2200" dirty="0">
                <a:latin typeface="Times New Roman" panose="02020603050405020304" pitchFamily="18" charset="0"/>
                <a:cs typeface="Times New Roman" panose="02020603050405020304" pitchFamily="18" charset="0"/>
              </a:rPr>
              <a:t>A file system block is the smallest “container” of physical disk space allocated for data. </a:t>
            </a:r>
          </a:p>
          <a:p>
            <a:pPr marL="0" indent="0">
              <a:lnSpc>
                <a:spcPct val="150000"/>
              </a:lnSpc>
              <a:buNone/>
            </a:pPr>
            <a:r>
              <a:rPr lang="en-US" sz="2200" dirty="0">
                <a:latin typeface="Times New Roman" panose="02020603050405020304" pitchFamily="18" charset="0"/>
                <a:cs typeface="Times New Roman" panose="02020603050405020304" pitchFamily="18" charset="0"/>
              </a:rPr>
              <a:t>Each file system block is a contiguous area on the physical disk. </a:t>
            </a:r>
          </a:p>
          <a:p>
            <a:pPr marL="0" indent="0">
              <a:lnSpc>
                <a:spcPct val="150000"/>
              </a:lnSpc>
              <a:buNone/>
            </a:pPr>
            <a:r>
              <a:rPr lang="en-US" sz="2200" dirty="0">
                <a:latin typeface="Times New Roman" panose="02020603050405020304" pitchFamily="18" charset="0"/>
                <a:cs typeface="Times New Roman" panose="02020603050405020304" pitchFamily="18" charset="0"/>
              </a:rPr>
              <a:t>The block size of a file system is fixed at the time of its creation. </a:t>
            </a:r>
          </a:p>
          <a:p>
            <a:pPr marL="0" indent="0">
              <a:lnSpc>
                <a:spcPct val="150000"/>
              </a:lnSpc>
              <a:buNone/>
            </a:pPr>
            <a:r>
              <a:rPr lang="en-US" sz="2200" dirty="0">
                <a:latin typeface="Times New Roman" panose="02020603050405020304" pitchFamily="18" charset="0"/>
                <a:cs typeface="Times New Roman" panose="02020603050405020304" pitchFamily="18" charset="0"/>
              </a:rPr>
              <a:t>File system size depends on block size and the total number of blocks of data stored. </a:t>
            </a:r>
          </a:p>
          <a:p>
            <a:pPr marL="0" indent="0">
              <a:lnSpc>
                <a:spcPct val="150000"/>
              </a:lnSpc>
              <a:buNone/>
            </a:pPr>
            <a:r>
              <a:rPr lang="en-US" sz="2200" dirty="0">
                <a:latin typeface="Times New Roman" panose="02020603050405020304" pitchFamily="18" charset="0"/>
                <a:cs typeface="Times New Roman" panose="02020603050405020304" pitchFamily="18" charset="0"/>
              </a:rPr>
              <a:t>A file can span multiple file system blocks because most files are larger than the predefined block size of the file system. </a:t>
            </a:r>
          </a:p>
          <a:p>
            <a:pPr marL="0" indent="0">
              <a:lnSpc>
                <a:spcPct val="150000"/>
              </a:lnSpc>
              <a:buNone/>
            </a:pPr>
            <a:r>
              <a:rPr lang="en-US" sz="2200" dirty="0">
                <a:latin typeface="Times New Roman" panose="02020603050405020304" pitchFamily="18" charset="0"/>
                <a:cs typeface="Times New Roman" panose="02020603050405020304" pitchFamily="18" charset="0"/>
              </a:rPr>
              <a:t>File system blocks cease to be contiguous (i.e., become fragmented) when new blocks are added or deleted. </a:t>
            </a:r>
          </a:p>
          <a:p>
            <a:pPr marL="0" indent="0">
              <a:lnSpc>
                <a:spcPct val="150000"/>
              </a:lnSpc>
              <a:buNone/>
            </a:pPr>
            <a:r>
              <a:rPr lang="en-US" sz="2200" dirty="0">
                <a:latin typeface="Times New Roman" panose="02020603050405020304" pitchFamily="18" charset="0"/>
                <a:cs typeface="Times New Roman" panose="02020603050405020304" pitchFamily="18" charset="0"/>
              </a:rPr>
              <a:t>Over time, as files grow larger, the file system becomes increasingly fragmented. Figure 2-12 shows the following process of mapping user files to the disk storage subsystem with an LVM:</a:t>
            </a:r>
          </a:p>
          <a:p>
            <a:pPr marL="0" indent="0">
              <a:lnSpc>
                <a:spcPct val="150000"/>
              </a:lnSpc>
              <a:buNone/>
            </a:pPr>
            <a:endParaRPr lang="en-US" sz="19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E5137D0E-4A4F-4307-8994-C1891D747D59}" type="slidenum">
              <a:rPr lang="en-US" smtClean="0"/>
              <a:t>55</a:t>
            </a:fld>
            <a:endParaRPr lang="en-US"/>
          </a:p>
        </p:txBody>
      </p:sp>
    </p:spTree>
    <p:extLst>
      <p:ext uri="{BB962C8B-B14F-4D97-AF65-F5344CB8AC3E}">
        <p14:creationId xmlns:p14="http://schemas.microsoft.com/office/powerpoint/2010/main" val="3416644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4990" t="4000" r="1206" b="12000"/>
          <a:stretch/>
        </p:blipFill>
        <p:spPr>
          <a:xfrm>
            <a:off x="2590800" y="762000"/>
            <a:ext cx="7503886" cy="5029200"/>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01" y="5943601"/>
            <a:ext cx="5694589" cy="428625"/>
          </a:xfrm>
          <a:prstGeom prst="rect">
            <a:avLst/>
          </a:prstGeom>
        </p:spPr>
      </p:pic>
      <p:sp>
        <p:nvSpPr>
          <p:cNvPr id="3" name="Slide Number Placeholder 2"/>
          <p:cNvSpPr>
            <a:spLocks noGrp="1"/>
          </p:cNvSpPr>
          <p:nvPr>
            <p:ph type="sldNum" sz="quarter" idx="12"/>
          </p:nvPr>
        </p:nvSpPr>
        <p:spPr/>
        <p:txBody>
          <a:bodyPr/>
          <a:lstStyle/>
          <a:p>
            <a:fld id="{E5137D0E-4A4F-4307-8994-C1891D747D59}" type="slidenum">
              <a:rPr lang="en-US" smtClean="0"/>
              <a:t>56</a:t>
            </a:fld>
            <a:endParaRPr lang="en-US"/>
          </a:p>
        </p:txBody>
      </p:sp>
    </p:spTree>
    <p:extLst>
      <p:ext uri="{BB962C8B-B14F-4D97-AF65-F5344CB8AC3E}">
        <p14:creationId xmlns:p14="http://schemas.microsoft.com/office/powerpoint/2010/main" val="1425188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0800" y="609600"/>
            <a:ext cx="7543800" cy="5867400"/>
          </a:xfrm>
        </p:spPr>
        <p:txBody>
          <a:bodyPr>
            <a:normAutofit/>
          </a:bodyPr>
          <a:lstStyle/>
          <a:p>
            <a:pPr marL="457200" indent="-457200">
              <a:lnSpc>
                <a:spcPct val="150000"/>
              </a:lnSpc>
              <a:buFont typeface="+mj-lt"/>
              <a:buAutoNum type="arabicParenR"/>
            </a:pPr>
            <a:r>
              <a:rPr lang="en-US" sz="2100" dirty="0">
                <a:latin typeface="Times New Roman" panose="02020603050405020304" pitchFamily="18" charset="0"/>
                <a:cs typeface="Times New Roman" panose="02020603050405020304" pitchFamily="18" charset="0"/>
              </a:rPr>
              <a:t>Files are created and managed by users and applications.</a:t>
            </a:r>
          </a:p>
          <a:p>
            <a:pPr marL="457200" indent="-457200">
              <a:lnSpc>
                <a:spcPct val="150000"/>
              </a:lnSpc>
              <a:buFont typeface="+mj-lt"/>
              <a:buAutoNum type="arabicParenR"/>
            </a:pPr>
            <a:r>
              <a:rPr lang="en-US" sz="2100" dirty="0">
                <a:latin typeface="Times New Roman" panose="02020603050405020304" pitchFamily="18" charset="0"/>
                <a:cs typeface="Times New Roman" panose="02020603050405020304" pitchFamily="18" charset="0"/>
              </a:rPr>
              <a:t>These files reside in the file systems.</a:t>
            </a:r>
          </a:p>
          <a:p>
            <a:pPr marL="457200" indent="-457200">
              <a:lnSpc>
                <a:spcPct val="150000"/>
              </a:lnSpc>
              <a:buFont typeface="+mj-lt"/>
              <a:buAutoNum type="arabicParenR"/>
            </a:pPr>
            <a:r>
              <a:rPr lang="en-US" sz="2100" dirty="0">
                <a:latin typeface="Times New Roman" panose="02020603050405020304" pitchFamily="18" charset="0"/>
                <a:cs typeface="Times New Roman" panose="02020603050405020304" pitchFamily="18" charset="0"/>
              </a:rPr>
              <a:t>The file systems are then mapped to units of data, or file system blocks.</a:t>
            </a:r>
          </a:p>
          <a:p>
            <a:pPr marL="457200" indent="-457200">
              <a:lnSpc>
                <a:spcPct val="150000"/>
              </a:lnSpc>
              <a:buFont typeface="+mj-lt"/>
              <a:buAutoNum type="arabicParenR"/>
            </a:pPr>
            <a:r>
              <a:rPr lang="en-US" sz="2100" dirty="0">
                <a:latin typeface="Times New Roman" panose="02020603050405020304" pitchFamily="18" charset="0"/>
                <a:cs typeface="Times New Roman" panose="02020603050405020304" pitchFamily="18" charset="0"/>
              </a:rPr>
              <a:t>The file system blocks are mapped to logical extents.</a:t>
            </a:r>
          </a:p>
          <a:p>
            <a:pPr marL="457200" indent="-457200">
              <a:lnSpc>
                <a:spcPct val="150000"/>
              </a:lnSpc>
              <a:buFont typeface="+mj-lt"/>
              <a:buAutoNum type="arabicParenR"/>
            </a:pPr>
            <a:r>
              <a:rPr lang="en-US" sz="2100" dirty="0">
                <a:latin typeface="Times New Roman" panose="02020603050405020304" pitchFamily="18" charset="0"/>
                <a:cs typeface="Times New Roman" panose="02020603050405020304" pitchFamily="18" charset="0"/>
              </a:rPr>
              <a:t>These in turn are mapped to disk physical extents either by the operating system or by the LVM.</a:t>
            </a:r>
          </a:p>
          <a:p>
            <a:pPr marL="457200" indent="-457200">
              <a:lnSpc>
                <a:spcPct val="150000"/>
              </a:lnSpc>
              <a:buFont typeface="+mj-lt"/>
              <a:buAutoNum type="arabicParenR"/>
            </a:pPr>
            <a:r>
              <a:rPr lang="en-US" sz="2100" dirty="0">
                <a:latin typeface="Times New Roman" panose="02020603050405020304" pitchFamily="18" charset="0"/>
                <a:cs typeface="Times New Roman" panose="02020603050405020304" pitchFamily="18" charset="0"/>
              </a:rPr>
              <a:t>These physical extents are mapped to the disk storage subsystem.</a:t>
            </a:r>
          </a:p>
        </p:txBody>
      </p:sp>
      <p:sp>
        <p:nvSpPr>
          <p:cNvPr id="4" name="Slide Number Placeholder 3"/>
          <p:cNvSpPr>
            <a:spLocks noGrp="1"/>
          </p:cNvSpPr>
          <p:nvPr>
            <p:ph type="sldNum" sz="quarter" idx="12"/>
          </p:nvPr>
        </p:nvSpPr>
        <p:spPr/>
        <p:txBody>
          <a:bodyPr/>
          <a:lstStyle/>
          <a:p>
            <a:fld id="{E5137D0E-4A4F-4307-8994-C1891D747D59}" type="slidenum">
              <a:rPr lang="en-US" smtClean="0"/>
              <a:t>57</a:t>
            </a:fld>
            <a:endParaRPr lang="en-US"/>
          </a:p>
        </p:txBody>
      </p:sp>
    </p:spTree>
    <p:extLst>
      <p:ext uri="{BB962C8B-B14F-4D97-AF65-F5344CB8AC3E}">
        <p14:creationId xmlns:p14="http://schemas.microsoft.com/office/powerpoint/2010/main" val="3837074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311784" y="1556150"/>
            <a:ext cx="9932976" cy="2602064"/>
          </a:xfrm>
        </p:spPr>
        <p:txBody>
          <a:bodyPr>
            <a:normAutofit lnSpcReduction="10000"/>
          </a:bodyPr>
          <a:lstStyle/>
          <a:p>
            <a:r>
              <a:rPr lang="en-US" b="1" dirty="0"/>
              <a:t>Application</a:t>
            </a:r>
            <a:r>
              <a:rPr lang="en-US" dirty="0"/>
              <a:t>: An application is a computer program that provides the logic for computing operations.</a:t>
            </a:r>
          </a:p>
          <a:p>
            <a:r>
              <a:rPr lang="en-US" b="1" dirty="0"/>
              <a:t>Database </a:t>
            </a:r>
            <a:r>
              <a:rPr lang="en-US" dirty="0"/>
              <a:t>: A Database is an organized collection of Data.</a:t>
            </a:r>
          </a:p>
          <a:p>
            <a:r>
              <a:rPr lang="en-US" b="1" dirty="0"/>
              <a:t>Server and operating system</a:t>
            </a:r>
            <a:r>
              <a:rPr lang="en-US" dirty="0"/>
              <a:t>: A computing platform that runs applications and databases.</a:t>
            </a:r>
          </a:p>
          <a:p>
            <a:r>
              <a:rPr lang="en-US" b="1" dirty="0"/>
              <a:t>Network</a:t>
            </a:r>
            <a:r>
              <a:rPr lang="en-US" dirty="0"/>
              <a:t>: A data path that facilitates communication between clients and servers or between servers and storage.</a:t>
            </a:r>
          </a:p>
          <a:p>
            <a:r>
              <a:rPr lang="en-US" b="1" dirty="0"/>
              <a:t>Storage array</a:t>
            </a:r>
            <a:r>
              <a:rPr lang="en-US" dirty="0"/>
              <a:t>: A device that stores data persistently for subsequent use.</a:t>
            </a:r>
          </a:p>
        </p:txBody>
      </p:sp>
      <p:sp>
        <p:nvSpPr>
          <p:cNvPr id="7" name="Title 1"/>
          <p:cNvSpPr txBox="1">
            <a:spLocks/>
          </p:cNvSpPr>
          <p:nvPr/>
        </p:nvSpPr>
        <p:spPr>
          <a:xfrm>
            <a:off x="2177625" y="550584"/>
            <a:ext cx="8911687" cy="670308"/>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Core elements of a Data center</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8608" y="4000818"/>
            <a:ext cx="9779327" cy="2444832"/>
          </a:xfrm>
          <a:prstGeom prst="rect">
            <a:avLst/>
          </a:prstGeom>
        </p:spPr>
      </p:pic>
    </p:spTree>
    <p:extLst>
      <p:ext uri="{BB962C8B-B14F-4D97-AF65-F5344CB8AC3E}">
        <p14:creationId xmlns:p14="http://schemas.microsoft.com/office/powerpoint/2010/main" val="12613894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586532"/>
            <a:ext cx="8911687" cy="1280890"/>
          </a:xfrm>
        </p:spPr>
        <p:txBody>
          <a:bodyPr/>
          <a:lstStyle/>
          <a:p>
            <a:r>
              <a:rPr lang="en-US" dirty="0"/>
              <a:t>Key Requirements for Data Center Elements</a:t>
            </a:r>
          </a:p>
        </p:txBody>
      </p:sp>
      <p:sp>
        <p:nvSpPr>
          <p:cNvPr id="3" name="Content Placeholder 2"/>
          <p:cNvSpPr>
            <a:spLocks noGrp="1"/>
          </p:cNvSpPr>
          <p:nvPr>
            <p:ph idx="1"/>
          </p:nvPr>
        </p:nvSpPr>
        <p:spPr>
          <a:xfrm>
            <a:off x="5144719" y="2411373"/>
            <a:ext cx="318871" cy="192987"/>
          </a:xfrm>
        </p:spPr>
        <p:txBody>
          <a:bodyPr>
            <a:normAutofit fontScale="47500" lnSpcReduction="20000"/>
          </a:bodyPr>
          <a:lstStyle/>
          <a:p>
            <a:pPr lvl="1"/>
            <a:endParaRPr lang="en-US" dirty="0"/>
          </a:p>
        </p:txBody>
      </p:sp>
      <p:pic>
        <p:nvPicPr>
          <p:cNvPr id="4" name="Picture 3"/>
          <p:cNvPicPr>
            <a:picLocks noChangeAspect="1"/>
          </p:cNvPicPr>
          <p:nvPr/>
        </p:nvPicPr>
        <p:blipFill>
          <a:blip r:embed="rId2"/>
          <a:stretch>
            <a:fillRect/>
          </a:stretch>
        </p:blipFill>
        <p:spPr>
          <a:xfrm>
            <a:off x="2319488" y="2091273"/>
            <a:ext cx="8574752" cy="4346532"/>
          </a:xfrm>
          <a:prstGeom prst="rect">
            <a:avLst/>
          </a:prstGeom>
        </p:spPr>
      </p:pic>
    </p:spTree>
    <p:extLst>
      <p:ext uri="{BB962C8B-B14F-4D97-AF65-F5344CB8AC3E}">
        <p14:creationId xmlns:p14="http://schemas.microsoft.com/office/powerpoint/2010/main" val="8475944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7125" y="258350"/>
            <a:ext cx="9989219" cy="1280890"/>
          </a:xfrm>
        </p:spPr>
        <p:txBody>
          <a:bodyPr>
            <a:normAutofit/>
          </a:bodyPr>
          <a:lstStyle/>
          <a:p>
            <a:r>
              <a:rPr lang="en-US" sz="3100" dirty="0"/>
              <a:t>Key Requirements for Data Center Elements</a:t>
            </a:r>
          </a:p>
        </p:txBody>
      </p:sp>
      <p:sp>
        <p:nvSpPr>
          <p:cNvPr id="3" name="Content Placeholder 2"/>
          <p:cNvSpPr>
            <a:spLocks noGrp="1"/>
          </p:cNvSpPr>
          <p:nvPr>
            <p:ph idx="1"/>
          </p:nvPr>
        </p:nvSpPr>
        <p:spPr>
          <a:xfrm>
            <a:off x="1687669" y="1127760"/>
            <a:ext cx="9630092" cy="4792980"/>
          </a:xfrm>
        </p:spPr>
        <p:txBody>
          <a:bodyPr/>
          <a:lstStyle/>
          <a:p>
            <a:r>
              <a:rPr lang="en-US" dirty="0"/>
              <a:t>Availability : Accessibility should be insured for a business implementation.</a:t>
            </a:r>
          </a:p>
          <a:p>
            <a:r>
              <a:rPr lang="en-US" dirty="0"/>
              <a:t>Security : Polices, procedures, and proper integration of the data center core elements that will prevent unauthorized access to information must be established.</a:t>
            </a:r>
          </a:p>
          <a:p>
            <a:r>
              <a:rPr lang="en-US" dirty="0"/>
              <a:t>Scalability : Additional On-Demand services , without interrupting business operations.</a:t>
            </a:r>
          </a:p>
          <a:p>
            <a:r>
              <a:rPr lang="en-US" dirty="0"/>
              <a:t>Performance: All the core elements of the data center should be able to provide optimal performance and service all processing requests at high speed.</a:t>
            </a:r>
          </a:p>
          <a:p>
            <a:r>
              <a:rPr lang="en-US" dirty="0"/>
              <a:t>Data integrity : Mechanisms such as error correction codes and parity bits which ensure that data is written to disk exactly as it was received.</a:t>
            </a:r>
          </a:p>
          <a:p>
            <a:r>
              <a:rPr lang="en-US" dirty="0"/>
              <a:t>Capacity : To increase and decrease core elements capacity on demand.</a:t>
            </a:r>
          </a:p>
          <a:p>
            <a:r>
              <a:rPr lang="en-US" dirty="0"/>
              <a:t>Manageability: A data center should perform all operations and activities in the most efficient manner. Manageability can be achieved through automation and the reduction of human (manual) intervention in common tasks.</a:t>
            </a:r>
          </a:p>
        </p:txBody>
      </p:sp>
    </p:spTree>
    <p:extLst>
      <p:ext uri="{BB962C8B-B14F-4D97-AF65-F5344CB8AC3E}">
        <p14:creationId xmlns:p14="http://schemas.microsoft.com/office/powerpoint/2010/main" val="2025168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Evolution of Storage Technology and Architecture</a:t>
            </a:r>
          </a:p>
        </p:txBody>
      </p:sp>
      <p:sp>
        <p:nvSpPr>
          <p:cNvPr id="3" name="Content Placeholder 2"/>
          <p:cNvSpPr>
            <a:spLocks noGrp="1"/>
          </p:cNvSpPr>
          <p:nvPr>
            <p:ph idx="1"/>
          </p:nvPr>
        </p:nvSpPr>
        <p:spPr>
          <a:xfrm>
            <a:off x="2400900" y="2119780"/>
            <a:ext cx="8562755" cy="3627224"/>
          </a:xfrm>
        </p:spPr>
        <p:txBody>
          <a:bodyPr>
            <a:normAutofit/>
          </a:bodyPr>
          <a:lstStyle/>
          <a:p>
            <a:r>
              <a:rPr lang="en-US" sz="2800" dirty="0"/>
              <a:t>Direct-attached storage (DAS)</a:t>
            </a:r>
          </a:p>
          <a:p>
            <a:r>
              <a:rPr lang="en-US" sz="2800" dirty="0"/>
              <a:t>Just a Bunch Of Disk(JBOD)</a:t>
            </a:r>
          </a:p>
          <a:p>
            <a:r>
              <a:rPr lang="en-US" sz="2800" dirty="0"/>
              <a:t>Redundant Array of Independent Disks (RAID)</a:t>
            </a:r>
          </a:p>
          <a:p>
            <a:r>
              <a:rPr lang="en-US" sz="2800" dirty="0"/>
              <a:t>Network-attached storage (NAS)</a:t>
            </a:r>
          </a:p>
          <a:p>
            <a:r>
              <a:rPr lang="en-US" sz="2800" dirty="0"/>
              <a:t>Storage area network (SAN)</a:t>
            </a:r>
          </a:p>
          <a:p>
            <a:r>
              <a:rPr lang="en-US" sz="2800" dirty="0"/>
              <a:t>Internet Protocol SAN (IP-SAN)</a:t>
            </a:r>
          </a:p>
          <a:p>
            <a:pPr marL="0" indent="0">
              <a:buNone/>
            </a:pPr>
            <a:endParaRPr lang="en-US" sz="2800" dirty="0"/>
          </a:p>
        </p:txBody>
      </p:sp>
    </p:spTree>
    <p:extLst>
      <p:ext uri="{BB962C8B-B14F-4D97-AF65-F5344CB8AC3E}">
        <p14:creationId xmlns:p14="http://schemas.microsoft.com/office/powerpoint/2010/main" val="6448502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8124" y="98090"/>
            <a:ext cx="9195752" cy="1280890"/>
          </a:xfrm>
        </p:spPr>
        <p:txBody>
          <a:bodyPr/>
          <a:lstStyle/>
          <a:p>
            <a:r>
              <a:rPr lang="en-US" dirty="0"/>
              <a:t>Information Lifecycle Management(ILM)</a:t>
            </a:r>
          </a:p>
        </p:txBody>
      </p:sp>
      <p:sp>
        <p:nvSpPr>
          <p:cNvPr id="3" name="Content Placeholder 2"/>
          <p:cNvSpPr>
            <a:spLocks noGrp="1"/>
          </p:cNvSpPr>
          <p:nvPr>
            <p:ph idx="1"/>
          </p:nvPr>
        </p:nvSpPr>
        <p:spPr>
          <a:xfrm>
            <a:off x="1648113" y="1041916"/>
            <a:ext cx="9744391" cy="5198856"/>
          </a:xfrm>
        </p:spPr>
        <p:txBody>
          <a:bodyPr>
            <a:normAutofit fontScale="92500" lnSpcReduction="10000"/>
          </a:bodyPr>
          <a:lstStyle/>
          <a:p>
            <a:pPr marL="0" indent="0" algn="just">
              <a:buNone/>
            </a:pPr>
            <a:r>
              <a:rPr lang="en-US" dirty="0"/>
              <a:t>Information lifecycle management (ILM) is a proactive strategy that enables an IT organization to effectively manage the data throughout its lifecycle, based on predefined business policies. </a:t>
            </a:r>
          </a:p>
          <a:p>
            <a:pPr marL="0" indent="0" algn="just">
              <a:buNone/>
            </a:pPr>
            <a:r>
              <a:rPr lang="en-US" dirty="0"/>
              <a:t>This allows an IT organization to optimize the storage infrastructure for maximum return on investment. </a:t>
            </a:r>
          </a:p>
          <a:p>
            <a:pPr marL="0" indent="0" algn="just">
              <a:buNone/>
            </a:pPr>
            <a:r>
              <a:rPr lang="en-US" dirty="0"/>
              <a:t>An ILM strategy should include the following characteristics: </a:t>
            </a:r>
          </a:p>
          <a:p>
            <a:pPr algn="just"/>
            <a:r>
              <a:rPr lang="en-US" dirty="0"/>
              <a:t>Business-centric: It should be integrated with key processes, applications, and initiatives of the business to meet both current and future growth in information. </a:t>
            </a:r>
          </a:p>
          <a:p>
            <a:pPr algn="just"/>
            <a:r>
              <a:rPr lang="en-US" dirty="0"/>
              <a:t>Centrally managed: All the information assets of a business should be under the purview of the ILM strategy. </a:t>
            </a:r>
          </a:p>
          <a:p>
            <a:pPr algn="just"/>
            <a:r>
              <a:rPr lang="en-US" dirty="0"/>
              <a:t>Policy-based: The implementation of ILM should not be restricted to a few departments. ILM should be implemented as a policy and encompass all business applications, processes, and resources.</a:t>
            </a:r>
          </a:p>
          <a:p>
            <a:pPr algn="just"/>
            <a:r>
              <a:rPr lang="en-US" dirty="0"/>
              <a:t>Heterogeneous: An ILM strategy should take into account all types of storage platforms and operating systems. </a:t>
            </a:r>
          </a:p>
          <a:p>
            <a:pPr algn="just"/>
            <a:r>
              <a:rPr lang="en-US" dirty="0"/>
              <a:t>Optimized: Because the value of information varies, an ILM strategy should consider the different storage requirements and allocate storage resources based on the information’s value to the business.</a:t>
            </a:r>
          </a:p>
        </p:txBody>
      </p:sp>
    </p:spTree>
    <p:extLst>
      <p:ext uri="{BB962C8B-B14F-4D97-AF65-F5344CB8AC3E}">
        <p14:creationId xmlns:p14="http://schemas.microsoft.com/office/powerpoint/2010/main" val="33413234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4813" y="217202"/>
            <a:ext cx="8911687" cy="1280890"/>
          </a:xfrm>
        </p:spPr>
        <p:txBody>
          <a:bodyPr/>
          <a:lstStyle/>
          <a:p>
            <a:pPr algn="ctr"/>
            <a:r>
              <a:rPr lang="en-US" dirty="0"/>
              <a:t>ILM Implementation</a:t>
            </a:r>
          </a:p>
        </p:txBody>
      </p:sp>
      <p:sp>
        <p:nvSpPr>
          <p:cNvPr id="3" name="Content Placeholder 2"/>
          <p:cNvSpPr>
            <a:spLocks noGrp="1"/>
          </p:cNvSpPr>
          <p:nvPr>
            <p:ph idx="1"/>
          </p:nvPr>
        </p:nvSpPr>
        <p:spPr>
          <a:xfrm>
            <a:off x="1152348" y="1680972"/>
            <a:ext cx="5659932" cy="4267200"/>
          </a:xfrm>
        </p:spPr>
        <p:txBody>
          <a:bodyPr>
            <a:normAutofit/>
          </a:bodyPr>
          <a:lstStyle/>
          <a:p>
            <a:pPr algn="just"/>
            <a:r>
              <a:rPr lang="en-US" dirty="0"/>
              <a:t>Classifying data and applications on the basis of business rules and policies to enable differentiated treatment of information </a:t>
            </a:r>
          </a:p>
          <a:p>
            <a:pPr algn="just"/>
            <a:r>
              <a:rPr lang="en-US" dirty="0"/>
              <a:t>Implementing policies by using information management tools, starting from the creation of data and ending with its disposal </a:t>
            </a:r>
          </a:p>
          <a:p>
            <a:pPr algn="just"/>
            <a:r>
              <a:rPr lang="en-US" dirty="0"/>
              <a:t>Managing the environment by using integrated tools to reduce operational complexity </a:t>
            </a:r>
          </a:p>
          <a:p>
            <a:pPr algn="just"/>
            <a:r>
              <a:rPr lang="en-US" dirty="0"/>
              <a:t>Organizing storage resources in tiers to align the resources with data classes, and storing information in the right type of infrastructure based on the information’s current value</a:t>
            </a:r>
          </a:p>
        </p:txBody>
      </p:sp>
      <p:pic>
        <p:nvPicPr>
          <p:cNvPr id="4" name="Picture 3"/>
          <p:cNvPicPr>
            <a:picLocks noChangeAspect="1"/>
          </p:cNvPicPr>
          <p:nvPr/>
        </p:nvPicPr>
        <p:blipFill>
          <a:blip r:embed="rId2"/>
          <a:stretch>
            <a:fillRect/>
          </a:stretch>
        </p:blipFill>
        <p:spPr>
          <a:xfrm>
            <a:off x="6940296" y="1573530"/>
            <a:ext cx="5094403" cy="4562094"/>
          </a:xfrm>
          <a:prstGeom prst="rect">
            <a:avLst/>
          </a:prstGeom>
        </p:spPr>
      </p:pic>
    </p:spTree>
    <p:extLst>
      <p:ext uri="{BB962C8B-B14F-4D97-AF65-F5344CB8AC3E}">
        <p14:creationId xmlns:p14="http://schemas.microsoft.com/office/powerpoint/2010/main" val="16125304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ILM Benefits</a:t>
            </a:r>
          </a:p>
        </p:txBody>
      </p:sp>
      <p:sp>
        <p:nvSpPr>
          <p:cNvPr id="3" name="Content Placeholder 2"/>
          <p:cNvSpPr>
            <a:spLocks noGrp="1"/>
          </p:cNvSpPr>
          <p:nvPr>
            <p:ph idx="1"/>
          </p:nvPr>
        </p:nvSpPr>
        <p:spPr>
          <a:xfrm>
            <a:off x="2159444" y="1758696"/>
            <a:ext cx="9736900" cy="3777622"/>
          </a:xfrm>
        </p:spPr>
        <p:txBody>
          <a:bodyPr>
            <a:normAutofit lnSpcReduction="10000"/>
          </a:bodyPr>
          <a:lstStyle/>
          <a:p>
            <a:r>
              <a:rPr lang="en-US" dirty="0"/>
              <a:t>Improved utilization by using tiered storage platforms and increased visibility of all enterprise information. </a:t>
            </a:r>
          </a:p>
          <a:p>
            <a:r>
              <a:rPr lang="en-US" dirty="0"/>
              <a:t>Simplified management by integrating process steps and interfaces with individual tools and by increasing automation.</a:t>
            </a:r>
          </a:p>
          <a:p>
            <a:r>
              <a:rPr lang="en-US" dirty="0"/>
              <a:t>A wider range of options for backup, and recovery to balance the need for business continuity.</a:t>
            </a:r>
          </a:p>
          <a:p>
            <a:r>
              <a:rPr lang="en-US" dirty="0"/>
              <a:t>Maintaining compliance by knowing what data needs to be protected for what length of time.</a:t>
            </a:r>
          </a:p>
          <a:p>
            <a:r>
              <a:rPr lang="en-US" dirty="0"/>
              <a:t>Lower Total Cost of Ownership (TCO) by aligning the infrastructure and management costs with information value. As a result, resources are not wasted, and complexity is not introduced by managing low-value data at the expense of high-value data.</a:t>
            </a:r>
          </a:p>
        </p:txBody>
      </p:sp>
    </p:spTree>
    <p:extLst>
      <p:ext uri="{BB962C8B-B14F-4D97-AF65-F5344CB8AC3E}">
        <p14:creationId xmlns:p14="http://schemas.microsoft.com/office/powerpoint/2010/main" val="9381559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100" dirty="0"/>
              <a:t>Key Challenges in Managing Information </a:t>
            </a:r>
          </a:p>
        </p:txBody>
      </p:sp>
      <p:sp>
        <p:nvSpPr>
          <p:cNvPr id="3" name="Content Placeholder 2"/>
          <p:cNvSpPr>
            <a:spLocks noGrp="1"/>
          </p:cNvSpPr>
          <p:nvPr>
            <p:ph idx="1"/>
          </p:nvPr>
        </p:nvSpPr>
        <p:spPr>
          <a:xfrm>
            <a:off x="1784540" y="1722120"/>
            <a:ext cx="9791764" cy="3777622"/>
          </a:xfrm>
        </p:spPr>
        <p:txBody>
          <a:bodyPr>
            <a:normAutofit lnSpcReduction="10000"/>
          </a:bodyPr>
          <a:lstStyle/>
          <a:p>
            <a:pPr algn="just"/>
            <a:r>
              <a:rPr lang="en-US" dirty="0"/>
              <a:t>Exploding digital universe: The rate of information growth is increasing exponentially. Duplication of data to ensure high availability and repurposing has also contributed to the multifold increase of information growth.</a:t>
            </a:r>
          </a:p>
          <a:p>
            <a:pPr algn="just"/>
            <a:endParaRPr lang="en-US" dirty="0"/>
          </a:p>
          <a:p>
            <a:pPr algn="just"/>
            <a:r>
              <a:rPr lang="en-US" dirty="0"/>
              <a:t>Increasing dependency on information: The strategic use of information plays an important role in determining the success of a business and provides competitive advantages in the marketplace.</a:t>
            </a:r>
          </a:p>
          <a:p>
            <a:pPr algn="just"/>
            <a:endParaRPr lang="en-US" dirty="0"/>
          </a:p>
          <a:p>
            <a:pPr algn="just"/>
            <a:r>
              <a:rPr lang="en-US" dirty="0"/>
              <a:t>Changing value of information: Information that is valuable today may become less important tomorrow. The value of information often changes over time. Framing a policy to meet these challenges involves understanding the value of information over its lifecycle.</a:t>
            </a:r>
          </a:p>
        </p:txBody>
      </p:sp>
    </p:spTree>
    <p:extLst>
      <p:ext uri="{BB962C8B-B14F-4D97-AF65-F5344CB8AC3E}">
        <p14:creationId xmlns:p14="http://schemas.microsoft.com/office/powerpoint/2010/main" val="403973005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1058</TotalTime>
  <Words>7044</Words>
  <Application>Microsoft Office PowerPoint</Application>
  <PresentationFormat>Widescreen</PresentationFormat>
  <Paragraphs>497</Paragraphs>
  <Slides>65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65</vt:i4>
      </vt:variant>
    </vt:vector>
  </HeadingPairs>
  <TitlesOfParts>
    <vt:vector size="76" baseType="lpstr">
      <vt:lpstr>Arial</vt:lpstr>
      <vt:lpstr>Calibri</vt:lpstr>
      <vt:lpstr>Century Gothic</vt:lpstr>
      <vt:lpstr>Formata-Medium</vt:lpstr>
      <vt:lpstr>Palatino-Bold</vt:lpstr>
      <vt:lpstr>Palatino-Italic</vt:lpstr>
      <vt:lpstr>Palatino-Roman</vt:lpstr>
      <vt:lpstr>Times New Roman</vt:lpstr>
      <vt:lpstr>Wingdings 3</vt:lpstr>
      <vt:lpstr>ZapfDingbats</vt:lpstr>
      <vt:lpstr>Wisp</vt:lpstr>
      <vt:lpstr>Information Storage and Management</vt:lpstr>
      <vt:lpstr>UNIT I - Introduction to Information Storage and Management  </vt:lpstr>
      <vt:lpstr>Components of a Storage System Environment</vt:lpstr>
      <vt:lpstr>Host</vt:lpstr>
      <vt:lpstr>PowerPoint Presentation</vt:lpstr>
      <vt:lpstr>PowerPoint Presentation</vt:lpstr>
      <vt:lpstr>Connectivity</vt:lpstr>
      <vt:lpstr>PowerPoint Presentation</vt:lpstr>
      <vt:lpstr>PowerPoint Presentation</vt:lpstr>
      <vt:lpstr>PowerPoint Presentation</vt:lpstr>
      <vt:lpstr>Storage</vt:lpstr>
      <vt:lpstr>PowerPoint Presentation</vt:lpstr>
      <vt:lpstr>PowerPoint Presentation</vt:lpstr>
      <vt:lpstr> Disk Drive Components</vt:lpstr>
      <vt:lpstr>PowerPoint Presentation</vt:lpstr>
      <vt:lpstr>Platter</vt:lpstr>
      <vt:lpstr>PowerPoint Presentation</vt:lpstr>
      <vt:lpstr>PowerPoint Presentation</vt:lpstr>
      <vt:lpstr>Read/Write Head</vt:lpstr>
      <vt:lpstr>Actuator Arm Assembly</vt:lpstr>
      <vt:lpstr>Controller</vt:lpstr>
      <vt:lpstr>Physical Disk Structure</vt:lpstr>
      <vt:lpstr>Zoned Bit Recording</vt:lpstr>
      <vt:lpstr>PowerPoint Presentation</vt:lpstr>
      <vt:lpstr>Logical Block Addressing</vt:lpstr>
      <vt:lpstr>PowerPoint Presentation</vt:lpstr>
      <vt:lpstr>Disk Drive Performance</vt:lpstr>
      <vt:lpstr>Disk Service Time </vt:lpstr>
      <vt:lpstr>PowerPoint Presentation</vt:lpstr>
      <vt:lpstr>Rotational Latency</vt:lpstr>
      <vt:lpstr>Rotational Latency</vt:lpstr>
      <vt:lpstr>Data Transfer rate</vt:lpstr>
      <vt:lpstr>Data Transfer rate</vt:lpstr>
      <vt:lpstr>Data Transfer rate</vt:lpstr>
      <vt:lpstr>Disk I/O Controller Utilization</vt:lpstr>
      <vt:lpstr>Disk I/O Controller Utilization</vt:lpstr>
      <vt:lpstr>PowerPoint Presentation</vt:lpstr>
      <vt:lpstr>Storage Design Based on Application Requirements and Disk Performance</vt:lpstr>
      <vt:lpstr>Storage Design Based on Application Requirements and Disk Performance</vt:lpstr>
      <vt:lpstr>Storage Design Based on Application Requirements and Disk Performance</vt:lpstr>
      <vt:lpstr>Storage Design Based on Application Requirements and Disk Performance</vt:lpstr>
      <vt:lpstr>Storage Design Based on Application Requirements and Disk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Logical Components of the Host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Requirements for Data Center Elements</vt:lpstr>
      <vt:lpstr>Key Requirements for Data Center Elements</vt:lpstr>
      <vt:lpstr>Evolution of Storage Technology and Architecture</vt:lpstr>
      <vt:lpstr>Information Lifecycle Management(ILM)</vt:lpstr>
      <vt:lpstr>ILM Implementation</vt:lpstr>
      <vt:lpstr>ILM Benefits</vt:lpstr>
      <vt:lpstr>Key Challenges in Managing Information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Storage and Management</dc:title>
  <dc:creator>Akash Badone</dc:creator>
  <cp:lastModifiedBy>rajshri shettar</cp:lastModifiedBy>
  <cp:revision>120</cp:revision>
  <dcterms:created xsi:type="dcterms:W3CDTF">2016-09-05T15:09:25Z</dcterms:created>
  <dcterms:modified xsi:type="dcterms:W3CDTF">2025-10-25T06:17:49Z</dcterms:modified>
</cp:coreProperties>
</file>
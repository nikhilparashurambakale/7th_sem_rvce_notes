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tags/tag1.xml" ContentType="application/vnd.openxmlformats-officedocument.presentationml.tags+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89"/>
  </p:notesMasterIdLst>
  <p:handoutMasterIdLst>
    <p:handoutMasterId r:id="rId90"/>
  </p:handoutMasterIdLst>
  <p:sldIdLst>
    <p:sldId id="264" r:id="rId2"/>
    <p:sldId id="258" r:id="rId3"/>
    <p:sldId id="259" r:id="rId4"/>
    <p:sldId id="260" r:id="rId5"/>
    <p:sldId id="266" r:id="rId6"/>
    <p:sldId id="268" r:id="rId7"/>
    <p:sldId id="257" r:id="rId8"/>
    <p:sldId id="269" r:id="rId9"/>
    <p:sldId id="270" r:id="rId10"/>
    <p:sldId id="271" r:id="rId11"/>
    <p:sldId id="272" r:id="rId12"/>
    <p:sldId id="313" r:id="rId13"/>
    <p:sldId id="287" r:id="rId14"/>
    <p:sldId id="274" r:id="rId15"/>
    <p:sldId id="275" r:id="rId16"/>
    <p:sldId id="314" r:id="rId17"/>
    <p:sldId id="277" r:id="rId18"/>
    <p:sldId id="278" r:id="rId19"/>
    <p:sldId id="280" r:id="rId20"/>
    <p:sldId id="281" r:id="rId21"/>
    <p:sldId id="283" r:id="rId22"/>
    <p:sldId id="317" r:id="rId23"/>
    <p:sldId id="288" r:id="rId24"/>
    <p:sldId id="289" r:id="rId25"/>
    <p:sldId id="318" r:id="rId26"/>
    <p:sldId id="290" r:id="rId27"/>
    <p:sldId id="319" r:id="rId28"/>
    <p:sldId id="293" r:id="rId29"/>
    <p:sldId id="294" r:id="rId30"/>
    <p:sldId id="295" r:id="rId31"/>
    <p:sldId id="296" r:id="rId32"/>
    <p:sldId id="298" r:id="rId33"/>
    <p:sldId id="297" r:id="rId34"/>
    <p:sldId id="299" r:id="rId35"/>
    <p:sldId id="300" r:id="rId36"/>
    <p:sldId id="302" r:id="rId37"/>
    <p:sldId id="303" r:id="rId38"/>
    <p:sldId id="304" r:id="rId39"/>
    <p:sldId id="306" r:id="rId40"/>
    <p:sldId id="307" r:id="rId41"/>
    <p:sldId id="309" r:id="rId42"/>
    <p:sldId id="308" r:id="rId43"/>
    <p:sldId id="310" r:id="rId44"/>
    <p:sldId id="311" r:id="rId45"/>
    <p:sldId id="320" r:id="rId46"/>
    <p:sldId id="282" r:id="rId47"/>
    <p:sldId id="321" r:id="rId48"/>
    <p:sldId id="380" r:id="rId49"/>
    <p:sldId id="368" r:id="rId50"/>
    <p:sldId id="363" r:id="rId51"/>
    <p:sldId id="286" r:id="rId52"/>
    <p:sldId id="381" r:id="rId53"/>
    <p:sldId id="382" r:id="rId54"/>
    <p:sldId id="383" r:id="rId55"/>
    <p:sldId id="384" r:id="rId56"/>
    <p:sldId id="292" r:id="rId57"/>
    <p:sldId id="385" r:id="rId58"/>
    <p:sldId id="301" r:id="rId59"/>
    <p:sldId id="386" r:id="rId60"/>
    <p:sldId id="387" r:id="rId61"/>
    <p:sldId id="388" r:id="rId62"/>
    <p:sldId id="305" r:id="rId63"/>
    <p:sldId id="389" r:id="rId64"/>
    <p:sldId id="390" r:id="rId65"/>
    <p:sldId id="391" r:id="rId66"/>
    <p:sldId id="392" r:id="rId67"/>
    <p:sldId id="393" r:id="rId68"/>
    <p:sldId id="371" r:id="rId69"/>
    <p:sldId id="340" r:id="rId70"/>
    <p:sldId id="341" r:id="rId71"/>
    <p:sldId id="378" r:id="rId72"/>
    <p:sldId id="342" r:id="rId73"/>
    <p:sldId id="394" r:id="rId74"/>
    <p:sldId id="343" r:id="rId75"/>
    <p:sldId id="344" r:id="rId76"/>
    <p:sldId id="350" r:id="rId77"/>
    <p:sldId id="351" r:id="rId78"/>
    <p:sldId id="352" r:id="rId79"/>
    <p:sldId id="353" r:id="rId80"/>
    <p:sldId id="354" r:id="rId81"/>
    <p:sldId id="395" r:id="rId82"/>
    <p:sldId id="356" r:id="rId83"/>
    <p:sldId id="365" r:id="rId84"/>
    <p:sldId id="362" r:id="rId85"/>
    <p:sldId id="372" r:id="rId86"/>
    <p:sldId id="375" r:id="rId87"/>
    <p:sldId id="396" r:id="rId88"/>
  </p:sldIdLst>
  <p:sldSz cx="9144000" cy="6858000" type="screen4x3"/>
  <p:notesSz cx="6858000" cy="9144000"/>
  <p:defaultTextStyle>
    <a:defPPr>
      <a:defRPr lang="en-US"/>
    </a:defPPr>
    <a:lvl1pPr algn="ctr" rtl="0" fontAlgn="base">
      <a:spcBef>
        <a:spcPct val="50000"/>
      </a:spcBef>
      <a:spcAft>
        <a:spcPct val="0"/>
      </a:spcAft>
      <a:buClr>
        <a:srgbClr val="003580"/>
      </a:buClr>
      <a:buFont typeface="Wingdings" panose="05000000000000000000" pitchFamily="2" charset="2"/>
      <a:defRPr sz="2600" kern="1200">
        <a:solidFill>
          <a:srgbClr val="003580"/>
        </a:solidFill>
        <a:latin typeface="Arial" panose="020B0604020202020204" pitchFamily="34" charset="0"/>
        <a:ea typeface="+mn-ea"/>
        <a:cs typeface="Arial" panose="020B0604020202020204" pitchFamily="34" charset="0"/>
      </a:defRPr>
    </a:lvl1pPr>
    <a:lvl2pPr marL="457200" algn="ctr" rtl="0" fontAlgn="base">
      <a:spcBef>
        <a:spcPct val="50000"/>
      </a:spcBef>
      <a:spcAft>
        <a:spcPct val="0"/>
      </a:spcAft>
      <a:buClr>
        <a:srgbClr val="003580"/>
      </a:buClr>
      <a:buFont typeface="Wingdings" panose="05000000000000000000" pitchFamily="2" charset="2"/>
      <a:defRPr sz="2600" kern="1200">
        <a:solidFill>
          <a:srgbClr val="003580"/>
        </a:solidFill>
        <a:latin typeface="Arial" panose="020B0604020202020204" pitchFamily="34" charset="0"/>
        <a:ea typeface="+mn-ea"/>
        <a:cs typeface="Arial" panose="020B0604020202020204" pitchFamily="34" charset="0"/>
      </a:defRPr>
    </a:lvl2pPr>
    <a:lvl3pPr marL="914400" algn="ctr" rtl="0" fontAlgn="base">
      <a:spcBef>
        <a:spcPct val="50000"/>
      </a:spcBef>
      <a:spcAft>
        <a:spcPct val="0"/>
      </a:spcAft>
      <a:buClr>
        <a:srgbClr val="003580"/>
      </a:buClr>
      <a:buFont typeface="Wingdings" panose="05000000000000000000" pitchFamily="2" charset="2"/>
      <a:defRPr sz="2600" kern="1200">
        <a:solidFill>
          <a:srgbClr val="003580"/>
        </a:solidFill>
        <a:latin typeface="Arial" panose="020B0604020202020204" pitchFamily="34" charset="0"/>
        <a:ea typeface="+mn-ea"/>
        <a:cs typeface="Arial" panose="020B0604020202020204" pitchFamily="34" charset="0"/>
      </a:defRPr>
    </a:lvl3pPr>
    <a:lvl4pPr marL="1371600" algn="ctr" rtl="0" fontAlgn="base">
      <a:spcBef>
        <a:spcPct val="50000"/>
      </a:spcBef>
      <a:spcAft>
        <a:spcPct val="0"/>
      </a:spcAft>
      <a:buClr>
        <a:srgbClr val="003580"/>
      </a:buClr>
      <a:buFont typeface="Wingdings" panose="05000000000000000000" pitchFamily="2" charset="2"/>
      <a:defRPr sz="2600" kern="1200">
        <a:solidFill>
          <a:srgbClr val="003580"/>
        </a:solidFill>
        <a:latin typeface="Arial" panose="020B0604020202020204" pitchFamily="34" charset="0"/>
        <a:ea typeface="+mn-ea"/>
        <a:cs typeface="Arial" panose="020B0604020202020204" pitchFamily="34" charset="0"/>
      </a:defRPr>
    </a:lvl4pPr>
    <a:lvl5pPr marL="1828800" algn="ctr" rtl="0" fontAlgn="base">
      <a:spcBef>
        <a:spcPct val="50000"/>
      </a:spcBef>
      <a:spcAft>
        <a:spcPct val="0"/>
      </a:spcAft>
      <a:buClr>
        <a:srgbClr val="003580"/>
      </a:buClr>
      <a:buFont typeface="Wingdings" panose="05000000000000000000" pitchFamily="2" charset="2"/>
      <a:defRPr sz="2600" kern="1200">
        <a:solidFill>
          <a:srgbClr val="003580"/>
        </a:solidFill>
        <a:latin typeface="Arial" panose="020B0604020202020204" pitchFamily="34" charset="0"/>
        <a:ea typeface="+mn-ea"/>
        <a:cs typeface="Arial" panose="020B0604020202020204" pitchFamily="34" charset="0"/>
      </a:defRPr>
    </a:lvl5pPr>
    <a:lvl6pPr marL="2286000" algn="l" defTabSz="914400" rtl="0" eaLnBrk="1" latinLnBrk="0" hangingPunct="1">
      <a:defRPr sz="2600" kern="1200">
        <a:solidFill>
          <a:srgbClr val="003580"/>
        </a:solidFill>
        <a:latin typeface="Arial" panose="020B0604020202020204" pitchFamily="34" charset="0"/>
        <a:ea typeface="+mn-ea"/>
        <a:cs typeface="Arial" panose="020B0604020202020204" pitchFamily="34" charset="0"/>
      </a:defRPr>
    </a:lvl6pPr>
    <a:lvl7pPr marL="2743200" algn="l" defTabSz="914400" rtl="0" eaLnBrk="1" latinLnBrk="0" hangingPunct="1">
      <a:defRPr sz="2600" kern="1200">
        <a:solidFill>
          <a:srgbClr val="003580"/>
        </a:solidFill>
        <a:latin typeface="Arial" panose="020B0604020202020204" pitchFamily="34" charset="0"/>
        <a:ea typeface="+mn-ea"/>
        <a:cs typeface="Arial" panose="020B0604020202020204" pitchFamily="34" charset="0"/>
      </a:defRPr>
    </a:lvl7pPr>
    <a:lvl8pPr marL="3200400" algn="l" defTabSz="914400" rtl="0" eaLnBrk="1" latinLnBrk="0" hangingPunct="1">
      <a:defRPr sz="2600" kern="1200">
        <a:solidFill>
          <a:srgbClr val="003580"/>
        </a:solidFill>
        <a:latin typeface="Arial" panose="020B0604020202020204" pitchFamily="34" charset="0"/>
        <a:ea typeface="+mn-ea"/>
        <a:cs typeface="Arial" panose="020B0604020202020204" pitchFamily="34" charset="0"/>
      </a:defRPr>
    </a:lvl8pPr>
    <a:lvl9pPr marL="3657600" algn="l" defTabSz="914400" rtl="0" eaLnBrk="1" latinLnBrk="0" hangingPunct="1">
      <a:defRPr sz="2600" kern="1200">
        <a:solidFill>
          <a:srgbClr val="003580"/>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rga2" initials="" lastIdx="9" clrIdx="0"/>
  <p:cmAuthor id="2" name="Sagar Patil"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EDE"/>
    <a:srgbClr val="000000"/>
    <a:srgbClr val="CCFFCC"/>
    <a:srgbClr val="99CCFF"/>
    <a:srgbClr val="CC99FF"/>
    <a:srgbClr val="FFFF99"/>
    <a:srgbClr val="FFB9DC"/>
    <a:srgbClr val="C7BD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92" autoAdjust="0"/>
    <p:restoredTop sz="96211" autoAdjust="0"/>
  </p:normalViewPr>
  <p:slideViewPr>
    <p:cSldViewPr>
      <p:cViewPr varScale="1">
        <p:scale>
          <a:sx n="113" d="100"/>
          <a:sy n="113" d="100"/>
        </p:scale>
        <p:origin x="1470"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070"/>
    </p:cViewPr>
  </p:sorterViewPr>
  <p:notesViewPr>
    <p:cSldViewPr>
      <p:cViewPr>
        <p:scale>
          <a:sx n="75" d="100"/>
          <a:sy n="75" d="100"/>
        </p:scale>
        <p:origin x="-1326"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handoutMaster" Target="handoutMasters/handoutMaster1.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EE7E94BD-A61A-D606-84AA-3B3139C80962}"/>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spcBef>
                <a:spcPct val="0"/>
              </a:spcBef>
              <a:buClrTx/>
              <a:buFontTx/>
              <a:buNone/>
              <a:defRPr sz="1200">
                <a:solidFill>
                  <a:schemeClr val="tx1"/>
                </a:solidFill>
                <a:ea typeface="宋体" panose="02010600030101010101" pitchFamily="2" charset="-122"/>
              </a:defRPr>
            </a:lvl1pPr>
          </a:lstStyle>
          <a:p>
            <a:r>
              <a:rPr lang="zh-CN" altLang="en-US"/>
              <a:t>Copyright © 2009 EMC Corporation. Do not Copy - All Rights Reserved.</a:t>
            </a:r>
          </a:p>
        </p:txBody>
      </p:sp>
      <p:sp>
        <p:nvSpPr>
          <p:cNvPr id="161795" name="Rectangle 3">
            <a:extLst>
              <a:ext uri="{FF2B5EF4-FFF2-40B4-BE49-F238E27FC236}">
                <a16:creationId xmlns:a16="http://schemas.microsoft.com/office/drawing/2014/main" id="{D924CFC3-A3E9-84CA-6843-4092117E8FC7}"/>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solidFill>
                  <a:schemeClr val="tx1"/>
                </a:solidFill>
                <a:ea typeface="宋体" panose="02010600030101010101" pitchFamily="2" charset="-122"/>
              </a:defRPr>
            </a:lvl1pPr>
          </a:lstStyle>
          <a:p>
            <a:endParaRPr lang="en-US" altLang="zh-CN"/>
          </a:p>
        </p:txBody>
      </p:sp>
      <p:sp>
        <p:nvSpPr>
          <p:cNvPr id="161796" name="Rectangle 4">
            <a:extLst>
              <a:ext uri="{FF2B5EF4-FFF2-40B4-BE49-F238E27FC236}">
                <a16:creationId xmlns:a16="http://schemas.microsoft.com/office/drawing/2014/main" id="{10E0C62D-B737-01DF-A01D-FB924AE4C951}"/>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spcBef>
                <a:spcPct val="0"/>
              </a:spcBef>
              <a:buClrTx/>
              <a:buFontTx/>
              <a:buNone/>
              <a:defRPr sz="1200">
                <a:solidFill>
                  <a:schemeClr val="tx1"/>
                </a:solidFill>
                <a:ea typeface="宋体" panose="02010600030101010101" pitchFamily="2" charset="-122"/>
              </a:defRPr>
            </a:lvl1pPr>
          </a:lstStyle>
          <a:p>
            <a:r>
              <a:rPr lang="zh-CN" altLang="en-US"/>
              <a:t>Securing the Storage Infrastructure</a:t>
            </a:r>
            <a:endParaRPr lang="en-US" altLang="zh-CN"/>
          </a:p>
        </p:txBody>
      </p:sp>
      <p:sp>
        <p:nvSpPr>
          <p:cNvPr id="161797" name="Rectangle 5">
            <a:extLst>
              <a:ext uri="{FF2B5EF4-FFF2-40B4-BE49-F238E27FC236}">
                <a16:creationId xmlns:a16="http://schemas.microsoft.com/office/drawing/2014/main" id="{9E76CAF2-AB38-C8DD-07E8-9D7C355456BF}"/>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solidFill>
                  <a:schemeClr val="tx1"/>
                </a:solidFill>
                <a:ea typeface="宋体" panose="02010600030101010101" pitchFamily="2" charset="-122"/>
              </a:defRPr>
            </a:lvl1pPr>
          </a:lstStyle>
          <a:p>
            <a:fld id="{6751A3B5-53D0-4726-86F6-636283BA9750}"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F0A8A12-1870-0FEE-DD98-8790DC1E0E5F}"/>
              </a:ext>
            </a:extLst>
          </p:cNvPr>
          <p:cNvSpPr>
            <a:spLocks noGrp="1" noChangeArrowheads="1"/>
          </p:cNvSpPr>
          <p:nvPr>
            <p:ph type="hdr" sz="quarter"/>
          </p:nvPr>
        </p:nvSpPr>
        <p:spPr bwMode="auto">
          <a:xfrm>
            <a:off x="0" y="0"/>
            <a:ext cx="685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solidFill>
                  <a:schemeClr val="tx1"/>
                </a:solidFill>
                <a:ea typeface="宋体" panose="02010600030101010101" pitchFamily="2" charset="-122"/>
              </a:defRPr>
            </a:lvl1pPr>
          </a:lstStyle>
          <a:p>
            <a:r>
              <a:rPr lang="zh-CN" altLang="en-US"/>
              <a:t>Copyright © 2009 EMC Corporation. Do not Copy - All Rights Reserved.</a:t>
            </a:r>
          </a:p>
        </p:txBody>
      </p:sp>
      <p:sp>
        <p:nvSpPr>
          <p:cNvPr id="9220" name="Rectangle 4">
            <a:extLst>
              <a:ext uri="{FF2B5EF4-FFF2-40B4-BE49-F238E27FC236}">
                <a16:creationId xmlns:a16="http://schemas.microsoft.com/office/drawing/2014/main" id="{770CA750-84D7-4574-1711-7D76BC31B0DB}"/>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21" name="Rectangle 5">
            <a:extLst>
              <a:ext uri="{FF2B5EF4-FFF2-40B4-BE49-F238E27FC236}">
                <a16:creationId xmlns:a16="http://schemas.microsoft.com/office/drawing/2014/main" id="{44E8555B-6BCA-6A57-DF8C-50B33CEF4E1F}"/>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9222" name="Rectangle 6">
            <a:extLst>
              <a:ext uri="{FF2B5EF4-FFF2-40B4-BE49-F238E27FC236}">
                <a16:creationId xmlns:a16="http://schemas.microsoft.com/office/drawing/2014/main" id="{05642B67-BB8D-3E13-CD80-5F626AEC56B0}"/>
              </a:ext>
            </a:extLst>
          </p:cNvPr>
          <p:cNvSpPr>
            <a:spLocks noGrp="1" noChangeArrowheads="1"/>
          </p:cNvSpPr>
          <p:nvPr>
            <p:ph type="ftr" sz="quarter" idx="4"/>
          </p:nvPr>
        </p:nvSpPr>
        <p:spPr bwMode="auto">
          <a:xfrm>
            <a:off x="0" y="8685213"/>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solidFill>
                  <a:schemeClr val="tx1"/>
                </a:solidFill>
                <a:ea typeface="宋体" panose="02010600030101010101" pitchFamily="2" charset="-122"/>
              </a:defRPr>
            </a:lvl1pPr>
          </a:lstStyle>
          <a:p>
            <a:r>
              <a:rPr lang="zh-CN" altLang="en-US"/>
              <a:t>Securing the Storage Infrastructure</a:t>
            </a:r>
            <a:endParaRPr lang="en-US" altLang="zh-CN"/>
          </a:p>
        </p:txBody>
      </p:sp>
      <p:sp>
        <p:nvSpPr>
          <p:cNvPr id="9223" name="Rectangle 7">
            <a:extLst>
              <a:ext uri="{FF2B5EF4-FFF2-40B4-BE49-F238E27FC236}">
                <a16:creationId xmlns:a16="http://schemas.microsoft.com/office/drawing/2014/main" id="{B364A99E-6006-2EE3-48F8-669D70BBEB96}"/>
              </a:ext>
            </a:extLst>
          </p:cNvPr>
          <p:cNvSpPr>
            <a:spLocks noGrp="1" noChangeArrowheads="1"/>
          </p:cNvSpPr>
          <p:nvPr>
            <p:ph type="sldNum" sz="quarter" idx="5"/>
          </p:nvPr>
        </p:nvSpPr>
        <p:spPr bwMode="auto">
          <a:xfrm>
            <a:off x="640080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spcBef>
                <a:spcPct val="0"/>
              </a:spcBef>
              <a:buClrTx/>
              <a:buFontTx/>
              <a:buNone/>
              <a:defRPr sz="1200">
                <a:solidFill>
                  <a:schemeClr val="tx1"/>
                </a:solidFill>
                <a:ea typeface="宋体" panose="02010600030101010101" pitchFamily="2" charset="-122"/>
              </a:defRPr>
            </a:lvl1pPr>
          </a:lstStyle>
          <a:p>
            <a:r>
              <a:rPr lang="en-US" altLang="zh-CN"/>
              <a:t>- </a:t>
            </a:r>
            <a:fld id="{7A21C6A1-706B-4CFC-A20C-5CC745481BC9}" type="slidenum">
              <a:rPr lang="en-US" altLang="zh-CN"/>
              <a:pPr/>
              <a:t>‹#›</a:t>
            </a:fld>
            <a:endParaRPr lang="en-US" altLang="zh-CN"/>
          </a:p>
        </p:txBody>
      </p:sp>
    </p:spTree>
  </p:cSld>
  <p:clrMap bg1="lt1" tx1="dk1" bg2="lt2" tx2="dk2" accent1="accent1" accent2="accent2" accent3="accent3" accent4="accent4" accent5="accent5" accent6="accent6" hlink="hlink" folHlink="folHlink"/>
  <p:hf dt="0"/>
  <p:notesStyle>
    <a:lvl1pPr algn="just"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just"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just"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just"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just"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EF5DB81-172A-1E93-3928-FF678AC02C03}"/>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56CC4177-EC75-42C7-C04A-5B95F0A77E9A}"/>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B51354D3-8E93-D2EB-8236-DE7BED5DED91}"/>
              </a:ext>
            </a:extLst>
          </p:cNvPr>
          <p:cNvSpPr>
            <a:spLocks noGrp="1" noChangeArrowheads="1"/>
          </p:cNvSpPr>
          <p:nvPr>
            <p:ph type="sldNum" sz="quarter" idx="5"/>
          </p:nvPr>
        </p:nvSpPr>
        <p:spPr>
          <a:ln/>
        </p:spPr>
        <p:txBody>
          <a:bodyPr/>
          <a:lstStyle/>
          <a:p>
            <a:r>
              <a:rPr lang="en-US" altLang="zh-CN"/>
              <a:t>- </a:t>
            </a:r>
            <a:fld id="{0CA2B408-416C-4EB3-8B57-ABBFE800BC5F}" type="slidenum">
              <a:rPr lang="en-US" altLang="zh-CN"/>
              <a:pPr/>
              <a:t>2</a:t>
            </a:fld>
            <a:endParaRPr lang="en-US" altLang="zh-CN"/>
          </a:p>
        </p:txBody>
      </p:sp>
      <p:sp>
        <p:nvSpPr>
          <p:cNvPr id="10242" name="Rectangle 2">
            <a:extLst>
              <a:ext uri="{FF2B5EF4-FFF2-40B4-BE49-F238E27FC236}">
                <a16:creationId xmlns:a16="http://schemas.microsoft.com/office/drawing/2014/main" id="{26335E52-A127-9B9E-A098-E2CF4FC1AF24}"/>
              </a:ext>
            </a:extLst>
          </p:cNvPr>
          <p:cNvSpPr>
            <a:spLocks noRot="1" noChangeArrowheads="1" noTextEdit="1"/>
          </p:cNvSpPr>
          <p:nvPr>
            <p:ph type="sldImg"/>
          </p:nvPr>
        </p:nvSpPr>
        <p:spPr>
          <a:ln/>
        </p:spPr>
      </p:sp>
      <p:sp>
        <p:nvSpPr>
          <p:cNvPr id="10243" name="Rectangle 3">
            <a:extLst>
              <a:ext uri="{FF2B5EF4-FFF2-40B4-BE49-F238E27FC236}">
                <a16:creationId xmlns:a16="http://schemas.microsoft.com/office/drawing/2014/main" id="{D8EBD66B-39E0-9C77-8425-5F45D0E4472C}"/>
              </a:ext>
            </a:extLst>
          </p:cNvPr>
          <p:cNvSpPr>
            <a:spLocks noGrp="1" noChangeArrowheads="1"/>
          </p:cNvSpPr>
          <p:nvPr>
            <p:ph type="body" idx="1"/>
          </p:nvPr>
        </p:nvSpPr>
        <p:spPr/>
        <p:txBody>
          <a:bodyPr/>
          <a:lstStyle/>
          <a:p>
            <a:r>
              <a:rPr lang="en-US" altLang="zh-CN">
                <a:ea typeface="宋体" panose="02010600030101010101" pitchFamily="2" charset="-122"/>
              </a:rPr>
              <a:t>The objectives for this module are listed here.  Please take a moment to review them.</a:t>
            </a:r>
          </a:p>
          <a:p>
            <a:endParaRPr lang="zh-CN" altLang="en-US">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AE8FB32-D614-4214-8749-E578AFC920E1}"/>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AAF97CDE-4C31-995C-4D73-EB58F633F816}"/>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3B728868-A48B-DD27-2464-4EFA1C87DD9D}"/>
              </a:ext>
            </a:extLst>
          </p:cNvPr>
          <p:cNvSpPr>
            <a:spLocks noGrp="1" noChangeArrowheads="1"/>
          </p:cNvSpPr>
          <p:nvPr>
            <p:ph type="sldNum" sz="quarter" idx="5"/>
          </p:nvPr>
        </p:nvSpPr>
        <p:spPr>
          <a:ln/>
        </p:spPr>
        <p:txBody>
          <a:bodyPr/>
          <a:lstStyle/>
          <a:p>
            <a:r>
              <a:rPr lang="en-US" altLang="zh-CN"/>
              <a:t>- </a:t>
            </a:r>
            <a:fld id="{0F1D72D5-123C-4ABF-B093-864BB8747FF8}" type="slidenum">
              <a:rPr lang="en-US" altLang="zh-CN"/>
              <a:pPr/>
              <a:t>3</a:t>
            </a:fld>
            <a:endParaRPr lang="en-US" altLang="zh-CN"/>
          </a:p>
        </p:txBody>
      </p:sp>
      <p:sp>
        <p:nvSpPr>
          <p:cNvPr id="12290" name="Rectangle 2">
            <a:extLst>
              <a:ext uri="{FF2B5EF4-FFF2-40B4-BE49-F238E27FC236}">
                <a16:creationId xmlns:a16="http://schemas.microsoft.com/office/drawing/2014/main" id="{7C6DD2CD-A8C8-AB30-D681-28CF16CB82FD}"/>
              </a:ext>
            </a:extLst>
          </p:cNvPr>
          <p:cNvSpPr>
            <a:spLocks noRot="1" noChangeArrowheads="1" noTextEdit="1"/>
          </p:cNvSpPr>
          <p:nvPr>
            <p:ph type="sldImg"/>
          </p:nvPr>
        </p:nvSpPr>
        <p:spPr>
          <a:xfrm>
            <a:off x="692150" y="458788"/>
            <a:ext cx="5475288" cy="4108450"/>
          </a:xfrm>
          <a:ln/>
        </p:spPr>
      </p:sp>
      <p:sp>
        <p:nvSpPr>
          <p:cNvPr id="12291" name="Rectangle 3">
            <a:extLst>
              <a:ext uri="{FF2B5EF4-FFF2-40B4-BE49-F238E27FC236}">
                <a16:creationId xmlns:a16="http://schemas.microsoft.com/office/drawing/2014/main" id="{B4CBC61F-601F-5915-E708-BD57AF9EF77B}"/>
              </a:ext>
            </a:extLst>
          </p:cNvPr>
          <p:cNvSpPr>
            <a:spLocks noGrp="1" noChangeArrowheads="1"/>
          </p:cNvSpPr>
          <p:nvPr>
            <p:ph type="body" idx="1"/>
          </p:nvPr>
        </p:nvSpPr>
        <p:spPr>
          <a:xfrm>
            <a:off x="374650" y="4686300"/>
            <a:ext cx="6110288" cy="4002088"/>
          </a:xfrm>
        </p:spPr>
        <p:txBody>
          <a:bodyPr/>
          <a:lstStyle/>
          <a:p>
            <a:r>
              <a:rPr lang="en-US" altLang="zh-CN">
                <a:ea typeface="宋体" panose="02010600030101010101" pitchFamily="2" charset="-122"/>
              </a:rPr>
              <a:t>The objectives for this lesson are shown here.  Please take a moment to review them.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2490147-A678-8E71-428B-17D8CEF299E8}"/>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6900CFDC-DDF1-230C-C117-B36878FB32E9}"/>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9909F1CC-F722-48DB-5FD8-1FC9ADE887BC}"/>
              </a:ext>
            </a:extLst>
          </p:cNvPr>
          <p:cNvSpPr>
            <a:spLocks noGrp="1" noChangeArrowheads="1"/>
          </p:cNvSpPr>
          <p:nvPr>
            <p:ph type="sldNum" sz="quarter" idx="5"/>
          </p:nvPr>
        </p:nvSpPr>
        <p:spPr>
          <a:ln/>
        </p:spPr>
        <p:txBody>
          <a:bodyPr/>
          <a:lstStyle/>
          <a:p>
            <a:r>
              <a:rPr lang="en-US" altLang="zh-CN"/>
              <a:t>- </a:t>
            </a:r>
            <a:fld id="{8A5B4638-3D69-4DBD-B5C9-652A2C1C6CD4}" type="slidenum">
              <a:rPr lang="en-US" altLang="zh-CN"/>
              <a:pPr/>
              <a:t>4</a:t>
            </a:fld>
            <a:endParaRPr lang="en-US" altLang="zh-CN"/>
          </a:p>
        </p:txBody>
      </p:sp>
      <p:sp>
        <p:nvSpPr>
          <p:cNvPr id="14338" name="Rectangle 2">
            <a:extLst>
              <a:ext uri="{FF2B5EF4-FFF2-40B4-BE49-F238E27FC236}">
                <a16:creationId xmlns:a16="http://schemas.microsoft.com/office/drawing/2014/main" id="{53D54ED2-2424-F112-6E33-A69286C108A8}"/>
              </a:ext>
            </a:extLst>
          </p:cNvPr>
          <p:cNvSpPr>
            <a:spLocks noRot="1" noChangeArrowheads="1" noTextEdit="1"/>
          </p:cNvSpPr>
          <p:nvPr>
            <p:ph type="sldImg"/>
          </p:nvPr>
        </p:nvSpPr>
        <p:spPr>
          <a:ln/>
        </p:spPr>
      </p:sp>
      <p:sp>
        <p:nvSpPr>
          <p:cNvPr id="14339" name="Rectangle 3">
            <a:extLst>
              <a:ext uri="{FF2B5EF4-FFF2-40B4-BE49-F238E27FC236}">
                <a16:creationId xmlns:a16="http://schemas.microsoft.com/office/drawing/2014/main" id="{6B82D6F3-E58B-F53E-BA5E-404E7D8EA619}"/>
              </a:ext>
            </a:extLst>
          </p:cNvPr>
          <p:cNvSpPr>
            <a:spLocks noGrp="1" noChangeArrowheads="1"/>
          </p:cNvSpPr>
          <p:nvPr>
            <p:ph type="body" idx="1"/>
          </p:nvPr>
        </p:nvSpPr>
        <p:spPr/>
        <p:txBody>
          <a:bodyPr/>
          <a:lstStyle/>
          <a:p>
            <a:r>
              <a:rPr lang="en-US" altLang="zh-CN">
                <a:ea typeface="宋体" panose="02010600030101010101" pitchFamily="2" charset="-122"/>
              </a:rPr>
              <a:t>Storage security is the application of information security principles and practices within the domain of storage networking technologies.  Storage networking combines data storage technologies (SCSI, RAID, etc.), with various networking technologies (TCP/IP, Fibre-Channel), along with various support services (e.g. the name service protocol at the Fibre-Channel layer). </a:t>
            </a:r>
          </a:p>
          <a:p>
            <a:r>
              <a:rPr lang="en-US" altLang="zh-CN">
                <a:ea typeface="宋体" panose="02010600030101010101" pitchFamily="2" charset="-122"/>
              </a:rPr>
              <a:t>Storage security is an activity to implement various kinds of safeguards or controls, in order to lessen the risk of an exploitation or a vulnerability in the storage network which could otherwise cause a significant impact to organization’s business. From this perspective, security is an ongoing process, not static and requires continuing revalidation and modification.</a:t>
            </a:r>
          </a:p>
          <a:p>
            <a:endParaRPr lang="zh-CN" altLang="en-US">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56FE17F-B3ED-FD81-A53E-E2AB3F9EE2D2}"/>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9FFBD8CF-354E-5F07-D39E-75FCA954C1D9}"/>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07C2B7C9-528D-1DA6-72CA-766DC9B2DFAB}"/>
              </a:ext>
            </a:extLst>
          </p:cNvPr>
          <p:cNvSpPr>
            <a:spLocks noGrp="1" noChangeArrowheads="1"/>
          </p:cNvSpPr>
          <p:nvPr>
            <p:ph type="sldNum" sz="quarter" idx="5"/>
          </p:nvPr>
        </p:nvSpPr>
        <p:spPr>
          <a:ln/>
        </p:spPr>
        <p:txBody>
          <a:bodyPr/>
          <a:lstStyle/>
          <a:p>
            <a:r>
              <a:rPr lang="en-US" altLang="zh-CN"/>
              <a:t>- </a:t>
            </a:r>
            <a:fld id="{BFFFDF42-C9CC-4443-96D2-9340BFA4E9D0}" type="slidenum">
              <a:rPr lang="en-US" altLang="zh-CN"/>
              <a:pPr/>
              <a:t>5</a:t>
            </a:fld>
            <a:endParaRPr lang="en-US" altLang="zh-CN"/>
          </a:p>
        </p:txBody>
      </p:sp>
      <p:sp>
        <p:nvSpPr>
          <p:cNvPr id="26626" name="Rectangle 2">
            <a:extLst>
              <a:ext uri="{FF2B5EF4-FFF2-40B4-BE49-F238E27FC236}">
                <a16:creationId xmlns:a16="http://schemas.microsoft.com/office/drawing/2014/main" id="{F3E70667-99AD-26CB-F562-CB69A59299D0}"/>
              </a:ext>
            </a:extLst>
          </p:cNvPr>
          <p:cNvSpPr>
            <a:spLocks noRot="1" noChangeArrowheads="1" noTextEdit="1"/>
          </p:cNvSpPr>
          <p:nvPr>
            <p:ph type="sldImg"/>
          </p:nvPr>
        </p:nvSpPr>
        <p:spPr>
          <a:ln/>
        </p:spPr>
      </p:sp>
      <p:sp>
        <p:nvSpPr>
          <p:cNvPr id="26627" name="Rectangle 3">
            <a:extLst>
              <a:ext uri="{FF2B5EF4-FFF2-40B4-BE49-F238E27FC236}">
                <a16:creationId xmlns:a16="http://schemas.microsoft.com/office/drawing/2014/main" id="{5AADBFAB-7594-BEEE-A24D-EE5768416213}"/>
              </a:ext>
            </a:extLst>
          </p:cNvPr>
          <p:cNvSpPr>
            <a:spLocks noGrp="1" noChangeArrowheads="1"/>
          </p:cNvSpPr>
          <p:nvPr>
            <p:ph type="body" idx="1"/>
          </p:nvPr>
        </p:nvSpPr>
        <p:spPr/>
        <p:txBody>
          <a:bodyPr/>
          <a:lstStyle/>
          <a:p>
            <a:r>
              <a:rPr lang="en-US" altLang="zh-CN">
                <a:ea typeface="宋体" panose="02010600030101010101" pitchFamily="2" charset="-122"/>
              </a:rPr>
              <a:t>The basic security framework is built around the four primary services of security: accountability, confidentiality, integrity, and availability. This framework incorporates all security measures required to mitigate threats to these four primary security attributes.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5EFD134-6711-B9A4-F9F5-8F1059BBF0A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EAF0A1F1-10F2-45E6-EDAA-230946FFDBB1}"/>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C48FC7A3-6A5D-AB89-89D0-A94E47826016}"/>
              </a:ext>
            </a:extLst>
          </p:cNvPr>
          <p:cNvSpPr>
            <a:spLocks noGrp="1" noChangeArrowheads="1"/>
          </p:cNvSpPr>
          <p:nvPr>
            <p:ph type="sldNum" sz="quarter" idx="5"/>
          </p:nvPr>
        </p:nvSpPr>
        <p:spPr>
          <a:ln/>
        </p:spPr>
        <p:txBody>
          <a:bodyPr/>
          <a:lstStyle/>
          <a:p>
            <a:r>
              <a:rPr lang="en-US" altLang="zh-CN"/>
              <a:t>- </a:t>
            </a:r>
            <a:fld id="{A2A6ABFF-8D8F-42DF-B1CD-380F7B850BCE}" type="slidenum">
              <a:rPr lang="en-US" altLang="zh-CN"/>
              <a:pPr/>
              <a:t>6</a:t>
            </a:fld>
            <a:endParaRPr lang="en-US" altLang="zh-CN"/>
          </a:p>
        </p:txBody>
      </p:sp>
      <p:sp>
        <p:nvSpPr>
          <p:cNvPr id="30722" name="Rectangle 2">
            <a:extLst>
              <a:ext uri="{FF2B5EF4-FFF2-40B4-BE49-F238E27FC236}">
                <a16:creationId xmlns:a16="http://schemas.microsoft.com/office/drawing/2014/main" id="{336ADA3E-F971-BF21-4F65-D8DD39E3135B}"/>
              </a:ext>
            </a:extLst>
          </p:cNvPr>
          <p:cNvSpPr>
            <a:spLocks noRot="1" noChangeArrowheads="1" noTextEdit="1"/>
          </p:cNvSpPr>
          <p:nvPr>
            <p:ph type="sldImg"/>
          </p:nvPr>
        </p:nvSpPr>
        <p:spPr>
          <a:xfrm>
            <a:off x="688975" y="457200"/>
            <a:ext cx="5480050" cy="4110038"/>
          </a:xfrm>
          <a:ln/>
        </p:spPr>
      </p:sp>
      <p:sp>
        <p:nvSpPr>
          <p:cNvPr id="30723" name="Rectangle 3">
            <a:extLst>
              <a:ext uri="{FF2B5EF4-FFF2-40B4-BE49-F238E27FC236}">
                <a16:creationId xmlns:a16="http://schemas.microsoft.com/office/drawing/2014/main" id="{AA022A79-4E8B-B5C0-4A4F-C77D688C6617}"/>
              </a:ext>
            </a:extLst>
          </p:cNvPr>
          <p:cNvSpPr>
            <a:spLocks noGrp="1" noChangeArrowheads="1"/>
          </p:cNvSpPr>
          <p:nvPr>
            <p:ph type="body" idx="1"/>
          </p:nvPr>
        </p:nvSpPr>
        <p:spPr>
          <a:xfrm>
            <a:off x="374650" y="4686300"/>
            <a:ext cx="6110288" cy="4003675"/>
          </a:xfrm>
        </p:spPr>
        <p:txBody>
          <a:bodyPr/>
          <a:lstStyle/>
          <a:p>
            <a:pPr>
              <a:buFontTx/>
              <a:buChar char="•"/>
            </a:pPr>
            <a:r>
              <a:rPr lang="en-US" altLang="zh-CN" sz="1100" b="1">
                <a:ea typeface="宋体" panose="02010600030101010101" pitchFamily="2" charset="-122"/>
              </a:rPr>
              <a:t>Confidentiality service: </a:t>
            </a:r>
            <a:r>
              <a:rPr lang="en-US" altLang="zh-CN" sz="1100">
                <a:ea typeface="宋体" panose="02010600030101010101" pitchFamily="2" charset="-122"/>
              </a:rPr>
              <a:t>Provides the required secrecy of information and ensures that only authorized users have access to data. This service authenticates users who need to access information and typically covers both data in transit (data transmitted over cables), or data at rest (data on a backup media or in the archives). Data in transit and at rest can be encrypted to maintain its confidentiality. In addition to restricting unauthorized users from accessing information, confidentiality services also implement traffic flow protection measures as part of the security protocol. These protection measures generally include hiding source and destination addresses, frequency of data being sent, and amount of data sent. </a:t>
            </a:r>
          </a:p>
          <a:p>
            <a:pPr>
              <a:buFontTx/>
              <a:buChar char="•"/>
            </a:pPr>
            <a:r>
              <a:rPr lang="en-US" altLang="zh-CN" sz="1100" b="1">
                <a:ea typeface="宋体" panose="02010600030101010101" pitchFamily="2" charset="-122"/>
              </a:rPr>
              <a:t>Integrity service: </a:t>
            </a:r>
            <a:r>
              <a:rPr lang="en-US" altLang="zh-CN" sz="1100">
                <a:ea typeface="宋体" panose="02010600030101010101" pitchFamily="2" charset="-122"/>
              </a:rPr>
              <a:t>Ensures that the information is unaltered. The objective of the service is to detect and protect against unauthorized alteration or deletion of information. Similar to confidentiality services, integrity services work in collaboration with accountability services to identify and authenticate the users. Integrity services stipulate measures for both in-transit data and at-rest data. </a:t>
            </a:r>
          </a:p>
          <a:p>
            <a:pPr>
              <a:buFontTx/>
              <a:buChar char="•"/>
            </a:pPr>
            <a:r>
              <a:rPr lang="en-US" altLang="zh-CN" sz="1100" b="1">
                <a:ea typeface="宋体" panose="02010600030101010101" pitchFamily="2" charset="-122"/>
              </a:rPr>
              <a:t>Availability service: </a:t>
            </a:r>
            <a:r>
              <a:rPr lang="en-US" altLang="zh-CN" sz="1100">
                <a:ea typeface="宋体" panose="02010600030101010101" pitchFamily="2" charset="-122"/>
              </a:rPr>
              <a:t>This ensures that authorized users have reliable and timely access to data. These services enable users to access the required computer systems, data, and applications residing on these systems. Availability services are also implemented on communication systems used to transmit information among computers that may reside at different locations. This ensures availability of information if a failure in one particular location occurs. These services must be implemented for both electronic data and physical data.</a:t>
            </a:r>
          </a:p>
          <a:p>
            <a:pPr>
              <a:buFontTx/>
              <a:buChar char="•"/>
            </a:pPr>
            <a:r>
              <a:rPr lang="en-US" altLang="zh-CN" sz="1100" b="1">
                <a:ea typeface="宋体" panose="02010600030101010101" pitchFamily="2" charset="-122"/>
              </a:rPr>
              <a:t>Accountability service: </a:t>
            </a:r>
            <a:r>
              <a:rPr lang="en-US" altLang="zh-CN" sz="1100">
                <a:ea typeface="宋体" panose="02010600030101010101" pitchFamily="2" charset="-122"/>
              </a:rPr>
              <a:t>Refers to accounting for all the events and operations that takes place in data center infrastructure. The accountability service maintains a log of events that can be audited or traced later for the purpose of security. </a:t>
            </a:r>
          </a:p>
          <a:p>
            <a:pPr>
              <a:buFontTx/>
              <a:buChar char="•"/>
            </a:pPr>
            <a:endParaRPr lang="en-US" altLang="zh-CN" sz="110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B6F43ED-388B-6E09-D951-5514E6BA6C15}"/>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35AF7460-7D47-930A-B03D-0B00D22D4CFD}"/>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94DCE706-9259-6081-C83B-9BDC3B0EEB96}"/>
              </a:ext>
            </a:extLst>
          </p:cNvPr>
          <p:cNvSpPr>
            <a:spLocks noGrp="1" noChangeArrowheads="1"/>
          </p:cNvSpPr>
          <p:nvPr>
            <p:ph type="sldNum" sz="quarter" idx="5"/>
          </p:nvPr>
        </p:nvSpPr>
        <p:spPr>
          <a:ln/>
        </p:spPr>
        <p:txBody>
          <a:bodyPr/>
          <a:lstStyle/>
          <a:p>
            <a:r>
              <a:rPr lang="en-US" altLang="zh-CN"/>
              <a:t>- </a:t>
            </a:r>
            <a:fld id="{AF37D18B-3682-4A0D-BE14-C77031A21AF5}" type="slidenum">
              <a:rPr lang="en-US" altLang="zh-CN"/>
              <a:pPr/>
              <a:t>7</a:t>
            </a:fld>
            <a:endParaRPr lang="en-US" altLang="zh-CN"/>
          </a:p>
        </p:txBody>
      </p:sp>
      <p:sp>
        <p:nvSpPr>
          <p:cNvPr id="31746" name="Rectangle 2">
            <a:extLst>
              <a:ext uri="{FF2B5EF4-FFF2-40B4-BE49-F238E27FC236}">
                <a16:creationId xmlns:a16="http://schemas.microsoft.com/office/drawing/2014/main" id="{0E2AD77B-0F81-C092-03F0-FAA2CCE4371D}"/>
              </a:ext>
            </a:extLst>
          </p:cNvPr>
          <p:cNvSpPr>
            <a:spLocks noRot="1" noChangeArrowheads="1" noTextEdit="1"/>
          </p:cNvSpPr>
          <p:nvPr>
            <p:ph type="sldImg"/>
          </p:nvPr>
        </p:nvSpPr>
        <p:spPr>
          <a:ln/>
        </p:spPr>
      </p:sp>
      <p:sp>
        <p:nvSpPr>
          <p:cNvPr id="31747" name="Rectangle 3">
            <a:extLst>
              <a:ext uri="{FF2B5EF4-FFF2-40B4-BE49-F238E27FC236}">
                <a16:creationId xmlns:a16="http://schemas.microsoft.com/office/drawing/2014/main" id="{DEA0251E-46DC-F2F7-724E-B598670121A8}"/>
              </a:ext>
            </a:extLst>
          </p:cNvPr>
          <p:cNvSpPr>
            <a:spLocks noGrp="1" noChangeArrowheads="1"/>
          </p:cNvSpPr>
          <p:nvPr>
            <p:ph type="body" idx="1"/>
          </p:nvPr>
        </p:nvSpPr>
        <p:spPr/>
        <p:txBody>
          <a:bodyPr/>
          <a:lstStyle/>
          <a:p>
            <a:r>
              <a:rPr lang="en-US" altLang="zh-CN">
                <a:ea typeface="宋体" panose="02010600030101010101" pitchFamily="2" charset="-122"/>
              </a:rPr>
              <a:t>Risk triad defines the risk in terms of threats, assets, and vulnerabilities. Risk arises when a threat agent (an attacker) seeks to access assets by exploiting an existing vulnerability. To manage risks, organizations primarily focus on vulnerabilities because they cannot eliminate threat agents that may appear in various forms and sources to its assets. Organizations can install countermeasures to reduce the impact of an attack by a threat agent, thereby reducing vulnerability.</a:t>
            </a:r>
          </a:p>
          <a:p>
            <a:r>
              <a:rPr lang="en-US" altLang="zh-CN">
                <a:ea typeface="宋体" panose="02010600030101010101" pitchFamily="2" charset="-122"/>
              </a:rPr>
              <a:t>Risk assessment is the first step in determining the extent of potential threats and risks in an IT infrastructure. The process assesses risk and helps to identify appropriate controls to mitigate or eliminate risks. The severity of an adverse event is estimated by the impact that it may have on critical business activities. Based on this analysis, a relative value of criticality and sensitivity can be assigned to IT assets and resources. For example, a particular IT system component may be assigned a high-criticality value if an attack on this particular component can cause a complete termination of mission-critical services. </a:t>
            </a:r>
          </a:p>
          <a:p>
            <a:r>
              <a:rPr lang="en-US" altLang="zh-CN">
                <a:ea typeface="宋体" panose="02010600030101010101" pitchFamily="2" charset="-122"/>
              </a:rPr>
              <a:t>Lets examine the three key elements of the risk triad.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50923A5-652A-B7D7-EEF1-1DF40AFA7F2F}"/>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F8076839-7DCE-BF69-946B-024A26461F6E}"/>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C803B70E-4F2A-5E49-3409-9116B9866E6C}"/>
              </a:ext>
            </a:extLst>
          </p:cNvPr>
          <p:cNvSpPr>
            <a:spLocks noGrp="1" noChangeArrowheads="1"/>
          </p:cNvSpPr>
          <p:nvPr>
            <p:ph type="sldNum" sz="quarter" idx="5"/>
          </p:nvPr>
        </p:nvSpPr>
        <p:spPr>
          <a:ln/>
        </p:spPr>
        <p:txBody>
          <a:bodyPr/>
          <a:lstStyle/>
          <a:p>
            <a:r>
              <a:rPr lang="en-US" altLang="zh-CN"/>
              <a:t>- </a:t>
            </a:r>
            <a:fld id="{9C8EB590-BD04-47CD-BFCB-785614A2BF68}" type="slidenum">
              <a:rPr lang="en-US" altLang="zh-CN"/>
              <a:pPr/>
              <a:t>8</a:t>
            </a:fld>
            <a:endParaRPr lang="en-US" altLang="zh-CN"/>
          </a:p>
        </p:txBody>
      </p:sp>
      <p:sp>
        <p:nvSpPr>
          <p:cNvPr id="33794" name="Rectangle 2">
            <a:extLst>
              <a:ext uri="{FF2B5EF4-FFF2-40B4-BE49-F238E27FC236}">
                <a16:creationId xmlns:a16="http://schemas.microsoft.com/office/drawing/2014/main" id="{2F895468-BEA6-BAAA-C929-7AF21BD66D5B}"/>
              </a:ext>
            </a:extLst>
          </p:cNvPr>
          <p:cNvSpPr>
            <a:spLocks noRot="1" noChangeArrowheads="1" noTextEdit="1"/>
          </p:cNvSpPr>
          <p:nvPr>
            <p:ph type="sldImg"/>
          </p:nvPr>
        </p:nvSpPr>
        <p:spPr>
          <a:ln/>
        </p:spPr>
      </p:sp>
      <p:sp>
        <p:nvSpPr>
          <p:cNvPr id="33795" name="Rectangle 3">
            <a:extLst>
              <a:ext uri="{FF2B5EF4-FFF2-40B4-BE49-F238E27FC236}">
                <a16:creationId xmlns:a16="http://schemas.microsoft.com/office/drawing/2014/main" id="{64379601-C419-2499-EC00-4F11FABC6591}"/>
              </a:ext>
            </a:extLst>
          </p:cNvPr>
          <p:cNvSpPr>
            <a:spLocks noGrp="1" noChangeArrowheads="1"/>
          </p:cNvSpPr>
          <p:nvPr>
            <p:ph type="body" idx="1"/>
          </p:nvPr>
        </p:nvSpPr>
        <p:spPr/>
        <p:txBody>
          <a:bodyPr/>
          <a:lstStyle/>
          <a:p>
            <a:pPr marL="190500" indent="-190500"/>
            <a:r>
              <a:rPr lang="zh-CN" altLang="en-US">
                <a:ea typeface="宋体" panose="02010600030101010101" pitchFamily="2" charset="-122"/>
              </a:rPr>
              <a:t>     </a:t>
            </a:r>
            <a:r>
              <a:rPr lang="en-US" altLang="zh-CN">
                <a:ea typeface="宋体" panose="02010600030101010101" pitchFamily="2" charset="-122"/>
              </a:rPr>
              <a:t>Information is one of the most important </a:t>
            </a:r>
            <a:r>
              <a:rPr lang="en-US" altLang="zh-CN" i="1">
                <a:ea typeface="宋体" panose="02010600030101010101" pitchFamily="2" charset="-122"/>
              </a:rPr>
              <a:t>assets </a:t>
            </a:r>
            <a:r>
              <a:rPr lang="en-US" altLang="zh-CN">
                <a:ea typeface="宋体" panose="02010600030101010101" pitchFamily="2" charset="-122"/>
              </a:rPr>
              <a:t>for any organization. Other assets include hardware, software, and the network infrastructure required to access this information.  Several factors need to be considered when planning for asset security. </a:t>
            </a:r>
          </a:p>
          <a:p>
            <a:pPr marL="190500" indent="-190500"/>
            <a:r>
              <a:rPr lang="en-US" altLang="zh-CN">
                <a:ea typeface="宋体" panose="02010600030101010101" pitchFamily="2" charset="-122"/>
              </a:rPr>
              <a:t>    Security methods have two objectives. </a:t>
            </a:r>
          </a:p>
          <a:p>
            <a:pPr marL="190500" indent="-190500">
              <a:buFontTx/>
              <a:buAutoNum type="arabicPeriod"/>
            </a:pPr>
            <a:r>
              <a:rPr lang="en-US" altLang="zh-CN">
                <a:ea typeface="宋体" panose="02010600030101010101" pitchFamily="2" charset="-122"/>
              </a:rPr>
              <a:t>Ensure that the network is easily accessible to authorized users at all times. </a:t>
            </a:r>
          </a:p>
          <a:p>
            <a:pPr marL="190500" indent="-190500">
              <a:buFontTx/>
              <a:buAutoNum type="arabicPeriod"/>
            </a:pPr>
            <a:r>
              <a:rPr lang="en-US" altLang="zh-CN">
                <a:ea typeface="宋体" panose="02010600030101010101" pitchFamily="2" charset="-122"/>
              </a:rPr>
              <a:t>Make it very difficult for potential attackers to access and compromise the system. </a:t>
            </a:r>
          </a:p>
          <a:p>
            <a:pPr marL="190500" indent="-190500"/>
            <a:r>
              <a:rPr lang="en-US" altLang="zh-CN">
                <a:ea typeface="宋体" panose="02010600030101010101" pitchFamily="2" charset="-122"/>
              </a:rPr>
              <a:t>     These methods should provide adequate protection against unauthorized access to resources, viruses, worms, Trojans and other malicious software programs. Security measures should also encrypt critical data and disable unused services to minimize the number of potential security gaps. In order for the security system to function smoothly, it is important to ensure that all users are informed of the policies governing use of the network.</a:t>
            </a:r>
          </a:p>
          <a:p>
            <a:pPr marL="190500" indent="-190500"/>
            <a:r>
              <a:rPr lang="en-US" altLang="zh-CN">
                <a:ea typeface="宋体" panose="02010600030101010101" pitchFamily="2" charset="-122"/>
              </a:rPr>
              <a:t>     The effectiveness of a storage security methodology can be measured by two criteria. One, the cost of implementing the system should only be a small fraction of the value of the protected data. Two, it should cost a potential attacker more, in terms of money and time, to compromise the system than the protected data is worth.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F696C02-8387-4F6B-1A1C-29744956EF08}"/>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A11B32B7-1B71-A5EC-4D5F-97585B341D95}"/>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DC07BE16-A2B9-8754-88CE-7B2B9CFA40E0}"/>
              </a:ext>
            </a:extLst>
          </p:cNvPr>
          <p:cNvSpPr>
            <a:spLocks noGrp="1" noChangeArrowheads="1"/>
          </p:cNvSpPr>
          <p:nvPr>
            <p:ph type="sldNum" sz="quarter" idx="5"/>
          </p:nvPr>
        </p:nvSpPr>
        <p:spPr>
          <a:ln/>
        </p:spPr>
        <p:txBody>
          <a:bodyPr/>
          <a:lstStyle/>
          <a:p>
            <a:r>
              <a:rPr lang="en-US" altLang="zh-CN"/>
              <a:t>- </a:t>
            </a:r>
            <a:fld id="{A3C7A3C0-A0A1-47CD-8744-6818CE19C998}" type="slidenum">
              <a:rPr lang="en-US" altLang="zh-CN"/>
              <a:pPr/>
              <a:t>9</a:t>
            </a:fld>
            <a:endParaRPr lang="en-US" altLang="zh-CN"/>
          </a:p>
        </p:txBody>
      </p:sp>
      <p:sp>
        <p:nvSpPr>
          <p:cNvPr id="35842" name="Rectangle 2">
            <a:extLst>
              <a:ext uri="{FF2B5EF4-FFF2-40B4-BE49-F238E27FC236}">
                <a16:creationId xmlns:a16="http://schemas.microsoft.com/office/drawing/2014/main" id="{94BFA1B2-AFAB-3244-E6E2-EE6069343A66}"/>
              </a:ext>
            </a:extLst>
          </p:cNvPr>
          <p:cNvSpPr>
            <a:spLocks noRot="1" noChangeArrowheads="1" noTextEdit="1"/>
          </p:cNvSpPr>
          <p:nvPr>
            <p:ph type="sldImg"/>
          </p:nvPr>
        </p:nvSpPr>
        <p:spPr>
          <a:ln/>
        </p:spPr>
      </p:sp>
      <p:sp>
        <p:nvSpPr>
          <p:cNvPr id="35843" name="Rectangle 3">
            <a:extLst>
              <a:ext uri="{FF2B5EF4-FFF2-40B4-BE49-F238E27FC236}">
                <a16:creationId xmlns:a16="http://schemas.microsoft.com/office/drawing/2014/main" id="{AD5BE450-273D-B14F-E888-5C5A1F291AA7}"/>
              </a:ext>
            </a:extLst>
          </p:cNvPr>
          <p:cNvSpPr>
            <a:spLocks noGrp="1" noChangeArrowheads="1"/>
          </p:cNvSpPr>
          <p:nvPr>
            <p:ph type="body" idx="1"/>
          </p:nvPr>
        </p:nvSpPr>
        <p:spPr/>
        <p:txBody>
          <a:bodyPr/>
          <a:lstStyle/>
          <a:p>
            <a:r>
              <a:rPr lang="en-US" altLang="zh-CN">
                <a:ea typeface="宋体" panose="02010600030101010101" pitchFamily="2" charset="-122"/>
              </a:rPr>
              <a:t>Threats are the potential attacks that can be carried out on an IT infrastructure. </a:t>
            </a:r>
          </a:p>
          <a:p>
            <a:r>
              <a:rPr lang="en-US" altLang="zh-CN" b="1" i="1">
                <a:ea typeface="宋体" panose="02010600030101010101" pitchFamily="2" charset="-122"/>
              </a:rPr>
              <a:t>Passive </a:t>
            </a:r>
            <a:r>
              <a:rPr lang="en-US" altLang="zh-CN" b="1">
                <a:ea typeface="宋体" panose="02010600030101010101" pitchFamily="2" charset="-122"/>
              </a:rPr>
              <a:t>attacks</a:t>
            </a:r>
            <a:r>
              <a:rPr lang="en-US" altLang="zh-CN">
                <a:ea typeface="宋体" panose="02010600030101010101" pitchFamily="2" charset="-122"/>
              </a:rPr>
              <a:t> are attempts to gain unauthorized access into the system. They pose threats to confidentiality of information. </a:t>
            </a:r>
          </a:p>
          <a:p>
            <a:r>
              <a:rPr lang="en-US" altLang="zh-CN" b="1" i="1">
                <a:ea typeface="宋体" panose="02010600030101010101" pitchFamily="2" charset="-122"/>
              </a:rPr>
              <a:t>Active </a:t>
            </a:r>
            <a:r>
              <a:rPr lang="en-US" altLang="zh-CN" b="1">
                <a:ea typeface="宋体" panose="02010600030101010101" pitchFamily="2" charset="-122"/>
              </a:rPr>
              <a:t>attacks</a:t>
            </a:r>
            <a:r>
              <a:rPr lang="en-US" altLang="zh-CN">
                <a:ea typeface="宋体" panose="02010600030101010101" pitchFamily="2" charset="-122"/>
              </a:rPr>
              <a:t> include data modification, Denial of Service (DoS), and repudiation attacks. They pose threats to data integrity and availability. </a:t>
            </a:r>
          </a:p>
          <a:p>
            <a:r>
              <a:rPr lang="en-US" altLang="zh-CN">
                <a:ea typeface="宋体" panose="02010600030101010101" pitchFamily="2" charset="-122"/>
              </a:rPr>
              <a:t>In a </a:t>
            </a:r>
            <a:r>
              <a:rPr lang="en-US" altLang="zh-CN" b="1" i="1">
                <a:ea typeface="宋体" panose="02010600030101010101" pitchFamily="2" charset="-122"/>
              </a:rPr>
              <a:t>modification</a:t>
            </a:r>
            <a:r>
              <a:rPr lang="en-US" altLang="zh-CN" i="1">
                <a:ea typeface="宋体" panose="02010600030101010101" pitchFamily="2" charset="-122"/>
              </a:rPr>
              <a:t> </a:t>
            </a:r>
            <a:r>
              <a:rPr lang="en-US" altLang="zh-CN">
                <a:ea typeface="宋体" panose="02010600030101010101" pitchFamily="2" charset="-122"/>
              </a:rPr>
              <a:t>attack, the unauthorized user attempts to modify information for malicious purposes. A modification attack can target data at rest or data in</a:t>
            </a:r>
          </a:p>
          <a:p>
            <a:r>
              <a:rPr lang="en-US" altLang="zh-CN">
                <a:ea typeface="宋体" panose="02010600030101010101" pitchFamily="2" charset="-122"/>
              </a:rPr>
              <a:t>transit. These attacks pose a threat to data integrity. </a:t>
            </a:r>
          </a:p>
          <a:p>
            <a:r>
              <a:rPr lang="en-US" altLang="zh-CN" b="1" i="1">
                <a:ea typeface="宋体" panose="02010600030101010101" pitchFamily="2" charset="-122"/>
              </a:rPr>
              <a:t>Denial of Service</a:t>
            </a:r>
            <a:r>
              <a:rPr lang="en-US" altLang="zh-CN" i="1">
                <a:ea typeface="宋体" panose="02010600030101010101" pitchFamily="2" charset="-122"/>
              </a:rPr>
              <a:t> (DoS) </a:t>
            </a:r>
            <a:r>
              <a:rPr lang="en-US" altLang="zh-CN">
                <a:ea typeface="宋体" panose="02010600030101010101" pitchFamily="2" charset="-122"/>
              </a:rPr>
              <a:t>attacks denies the use of resources to legitimate users. These attacks generally do not involve access to or modification of information on the computer system. Instead, they pose a threat to data availability. The intentional flooding of a network or website to prevent legitimate access to authorized users is one example of a DoS attack.</a:t>
            </a:r>
          </a:p>
          <a:p>
            <a:r>
              <a:rPr lang="en-US" altLang="zh-CN" b="1">
                <a:ea typeface="宋体" panose="02010600030101010101" pitchFamily="2" charset="-122"/>
              </a:rPr>
              <a:t>Repudiation</a:t>
            </a:r>
            <a:r>
              <a:rPr lang="en-US" altLang="zh-CN">
                <a:ea typeface="宋体" panose="02010600030101010101" pitchFamily="2" charset="-122"/>
              </a:rPr>
              <a:t> is an attack against the accountability of the information. It attempts to provide false information by either impersonating someone or denying that an event or a transaction has taken place. </a:t>
            </a:r>
          </a:p>
          <a:p>
            <a:r>
              <a:rPr lang="en-US" altLang="zh-CN">
                <a:ea typeface="宋体" panose="02010600030101010101" pitchFamily="2" charset="-122"/>
              </a:rPr>
              <a:t>The table describes different forms of attacks and the security services used to manage them.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B9F2EB3-AAEB-0CCE-77C1-74E4CFC4750B}"/>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EBEEB4AF-86C3-EF9F-C491-C709B4632DA7}"/>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0C928600-BBF5-0D50-F04C-2D7E9F9FAF8F}"/>
              </a:ext>
            </a:extLst>
          </p:cNvPr>
          <p:cNvSpPr>
            <a:spLocks noGrp="1" noChangeArrowheads="1"/>
          </p:cNvSpPr>
          <p:nvPr>
            <p:ph type="sldNum" sz="quarter" idx="5"/>
          </p:nvPr>
        </p:nvSpPr>
        <p:spPr>
          <a:ln/>
        </p:spPr>
        <p:txBody>
          <a:bodyPr/>
          <a:lstStyle/>
          <a:p>
            <a:r>
              <a:rPr lang="en-US" altLang="zh-CN"/>
              <a:t>- </a:t>
            </a:r>
            <a:fld id="{A7080138-BB7C-44B5-976A-9F15498892FD}" type="slidenum">
              <a:rPr lang="en-US" altLang="zh-CN"/>
              <a:pPr/>
              <a:t>10</a:t>
            </a:fld>
            <a:endParaRPr lang="en-US" altLang="zh-CN"/>
          </a:p>
        </p:txBody>
      </p:sp>
      <p:sp>
        <p:nvSpPr>
          <p:cNvPr id="37890" name="Rectangle 2">
            <a:extLst>
              <a:ext uri="{FF2B5EF4-FFF2-40B4-BE49-F238E27FC236}">
                <a16:creationId xmlns:a16="http://schemas.microsoft.com/office/drawing/2014/main" id="{70A424FB-0D38-152E-67CE-944CFC79EA66}"/>
              </a:ext>
            </a:extLst>
          </p:cNvPr>
          <p:cNvSpPr>
            <a:spLocks noRot="1" noChangeArrowheads="1" noTextEdit="1"/>
          </p:cNvSpPr>
          <p:nvPr>
            <p:ph type="sldImg"/>
          </p:nvPr>
        </p:nvSpPr>
        <p:spPr>
          <a:ln/>
        </p:spPr>
      </p:sp>
      <p:sp>
        <p:nvSpPr>
          <p:cNvPr id="37891" name="Rectangle 3">
            <a:extLst>
              <a:ext uri="{FF2B5EF4-FFF2-40B4-BE49-F238E27FC236}">
                <a16:creationId xmlns:a16="http://schemas.microsoft.com/office/drawing/2014/main" id="{FA2C8582-09D2-CC6E-F44E-69196C291939}"/>
              </a:ext>
            </a:extLst>
          </p:cNvPr>
          <p:cNvSpPr>
            <a:spLocks noGrp="1" noChangeArrowheads="1"/>
          </p:cNvSpPr>
          <p:nvPr>
            <p:ph type="body" idx="1"/>
          </p:nvPr>
        </p:nvSpPr>
        <p:spPr/>
        <p:txBody>
          <a:bodyPr/>
          <a:lstStyle/>
          <a:p>
            <a:r>
              <a:rPr lang="en-US" altLang="zh-CN">
                <a:ea typeface="宋体" panose="02010600030101010101" pitchFamily="2" charset="-122"/>
              </a:rPr>
              <a:t>The paths that provide access to information are the most vulnerable to potential attacks. Each of these paths may contain various access points, each of which provides different levels of access to the storage resources. It is very important to implement adequate security controls at </a:t>
            </a:r>
            <a:r>
              <a:rPr lang="en-US" altLang="zh-CN" i="1">
                <a:ea typeface="宋体" panose="02010600030101010101" pitchFamily="2" charset="-122"/>
              </a:rPr>
              <a:t>all </a:t>
            </a:r>
            <a:r>
              <a:rPr lang="en-US" altLang="zh-CN">
                <a:ea typeface="宋体" panose="02010600030101010101" pitchFamily="2" charset="-122"/>
              </a:rPr>
              <a:t>the access points on an access path. Implementing security controls at each access point of every access path is termed as </a:t>
            </a:r>
            <a:r>
              <a:rPr lang="en-US" altLang="zh-CN" b="1" i="1">
                <a:ea typeface="宋体" panose="02010600030101010101" pitchFamily="2" charset="-122"/>
              </a:rPr>
              <a:t>defense in depth</a:t>
            </a:r>
            <a:r>
              <a:rPr lang="en-US" altLang="zh-CN">
                <a:ea typeface="宋体" panose="02010600030101010101" pitchFamily="2" charset="-122"/>
              </a:rPr>
              <a:t>.</a:t>
            </a:r>
          </a:p>
          <a:p>
            <a:r>
              <a:rPr lang="en-US" altLang="zh-CN">
                <a:ea typeface="宋体" panose="02010600030101010101" pitchFamily="2" charset="-122"/>
              </a:rPr>
              <a:t>Defense in depth recommends protecting all access points within an environment. This reduces vulnerability to an attacker who can gain access to storage resources by bypassing inadequate security controls implemented at the vulnerable single point of access. Such an attack can jeopardize the security of information assets. For example, a failure to properly authenticate a user may put the confidentiality of information at risk. Similarly, a DoS attack against a storage device can jeopardize information availability.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5F4B2CF-C0AD-9E9E-E02C-3FF77D85CCC0}"/>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FEAE6DBC-2550-E6E9-22CE-FC312C979715}"/>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DC92DCA7-12FD-4725-41CA-14AD2FF43001}"/>
              </a:ext>
            </a:extLst>
          </p:cNvPr>
          <p:cNvSpPr>
            <a:spLocks noGrp="1" noChangeArrowheads="1"/>
          </p:cNvSpPr>
          <p:nvPr>
            <p:ph type="sldNum" sz="quarter" idx="5"/>
          </p:nvPr>
        </p:nvSpPr>
        <p:spPr>
          <a:ln/>
        </p:spPr>
        <p:txBody>
          <a:bodyPr/>
          <a:lstStyle/>
          <a:p>
            <a:r>
              <a:rPr lang="en-US" altLang="zh-CN"/>
              <a:t>- </a:t>
            </a:r>
            <a:fld id="{482088CD-7F2E-4411-945B-950684889B57}" type="slidenum">
              <a:rPr lang="en-US" altLang="zh-CN"/>
              <a:pPr/>
              <a:t>11</a:t>
            </a:fld>
            <a:endParaRPr lang="en-US" altLang="zh-CN"/>
          </a:p>
        </p:txBody>
      </p:sp>
      <p:sp>
        <p:nvSpPr>
          <p:cNvPr id="39938" name="Rectangle 2">
            <a:extLst>
              <a:ext uri="{FF2B5EF4-FFF2-40B4-BE49-F238E27FC236}">
                <a16:creationId xmlns:a16="http://schemas.microsoft.com/office/drawing/2014/main" id="{BBC8E2EB-BE35-AA7E-8E8A-37991AFA7D8A}"/>
              </a:ext>
            </a:extLst>
          </p:cNvPr>
          <p:cNvSpPr>
            <a:spLocks noRot="1" noChangeArrowheads="1" noTextEdit="1"/>
          </p:cNvSpPr>
          <p:nvPr>
            <p:ph type="sldImg"/>
          </p:nvPr>
        </p:nvSpPr>
        <p:spPr>
          <a:xfrm>
            <a:off x="688975" y="457200"/>
            <a:ext cx="5480050" cy="4110038"/>
          </a:xfrm>
          <a:ln/>
        </p:spPr>
      </p:sp>
      <p:sp>
        <p:nvSpPr>
          <p:cNvPr id="39939" name="Rectangle 3">
            <a:extLst>
              <a:ext uri="{FF2B5EF4-FFF2-40B4-BE49-F238E27FC236}">
                <a16:creationId xmlns:a16="http://schemas.microsoft.com/office/drawing/2014/main" id="{6A6264E4-A8E3-4F6E-547D-929F2ACC9A37}"/>
              </a:ext>
            </a:extLst>
          </p:cNvPr>
          <p:cNvSpPr>
            <a:spLocks noGrp="1" noChangeArrowheads="1"/>
          </p:cNvSpPr>
          <p:nvPr>
            <p:ph type="body" idx="1"/>
          </p:nvPr>
        </p:nvSpPr>
        <p:spPr>
          <a:xfrm>
            <a:off x="374650" y="4686300"/>
            <a:ext cx="6110288" cy="4003675"/>
          </a:xfrm>
        </p:spPr>
        <p:txBody>
          <a:bodyPr/>
          <a:lstStyle/>
          <a:p>
            <a:r>
              <a:rPr lang="en-US" altLang="zh-CN" sz="1100" i="1">
                <a:ea typeface="宋体" panose="02010600030101010101" pitchFamily="2" charset="-122"/>
              </a:rPr>
              <a:t>Attack surface</a:t>
            </a:r>
            <a:r>
              <a:rPr lang="en-US" altLang="zh-CN" sz="1100">
                <a:ea typeface="宋体" panose="02010600030101010101" pitchFamily="2" charset="-122"/>
              </a:rPr>
              <a:t>, </a:t>
            </a:r>
            <a:r>
              <a:rPr lang="en-US" altLang="zh-CN" sz="1100" i="1">
                <a:ea typeface="宋体" panose="02010600030101010101" pitchFamily="2" charset="-122"/>
              </a:rPr>
              <a:t>attack vector</a:t>
            </a:r>
            <a:r>
              <a:rPr lang="en-US" altLang="zh-CN" sz="1100">
                <a:ea typeface="宋体" panose="02010600030101010101" pitchFamily="2" charset="-122"/>
              </a:rPr>
              <a:t>, and </a:t>
            </a:r>
            <a:r>
              <a:rPr lang="en-US" altLang="zh-CN" sz="1100" i="1">
                <a:ea typeface="宋体" panose="02010600030101010101" pitchFamily="2" charset="-122"/>
              </a:rPr>
              <a:t>work factor </a:t>
            </a:r>
            <a:r>
              <a:rPr lang="en-US" altLang="zh-CN" sz="1100">
                <a:ea typeface="宋体" panose="02010600030101010101" pitchFamily="2" charset="-122"/>
              </a:rPr>
              <a:t>are the three factors to consider when assessing the extent to which an environment is vulnerable to security threats.</a:t>
            </a:r>
          </a:p>
          <a:p>
            <a:r>
              <a:rPr lang="en-US" altLang="zh-CN" sz="1100" b="1" i="1">
                <a:ea typeface="宋体" panose="02010600030101010101" pitchFamily="2" charset="-122"/>
              </a:rPr>
              <a:t>Attack surface</a:t>
            </a:r>
            <a:r>
              <a:rPr lang="en-US" altLang="zh-CN" sz="1100" i="1">
                <a:ea typeface="宋体" panose="02010600030101010101" pitchFamily="2" charset="-122"/>
              </a:rPr>
              <a:t> </a:t>
            </a:r>
            <a:r>
              <a:rPr lang="en-US" altLang="zh-CN" sz="1100">
                <a:ea typeface="宋体" panose="02010600030101010101" pitchFamily="2" charset="-122"/>
              </a:rPr>
              <a:t>refers to the various entry points that an attacker can use to launch an attack. Each component of a storage network is a source of potential vulnerability. All of the external interfaces supported by that component, such as the hardware interfaces, the supported protocols, and the management and administrative interfaces, can be used by an attacker to execute various attacks. These interfaces form the attack surface for the attacker. Even unused network services, if enabled, can become a part of the attack surface.</a:t>
            </a:r>
          </a:p>
          <a:p>
            <a:r>
              <a:rPr lang="en-US" altLang="zh-CN" sz="1100">
                <a:ea typeface="宋体" panose="02010600030101010101" pitchFamily="2" charset="-122"/>
              </a:rPr>
              <a:t>An </a:t>
            </a:r>
            <a:r>
              <a:rPr lang="en-US" altLang="zh-CN" sz="1100" b="1" i="1">
                <a:ea typeface="宋体" panose="02010600030101010101" pitchFamily="2" charset="-122"/>
              </a:rPr>
              <a:t>attack vector</a:t>
            </a:r>
            <a:r>
              <a:rPr lang="en-US" altLang="zh-CN" sz="1100" i="1">
                <a:ea typeface="宋体" panose="02010600030101010101" pitchFamily="2" charset="-122"/>
              </a:rPr>
              <a:t> </a:t>
            </a:r>
            <a:r>
              <a:rPr lang="en-US" altLang="zh-CN" sz="1100">
                <a:ea typeface="宋体" panose="02010600030101010101" pitchFamily="2" charset="-122"/>
              </a:rPr>
              <a:t>is a step or a series of steps necessary to complete an attack. For example, an attacker might exploit a bug in the management interface to execute a snoop attack whereby the attacker can modify the configuration of the storage device to allow the traffic to be accessed from one more host. This redirected traffic can be used to snoop the data in transit.</a:t>
            </a:r>
          </a:p>
          <a:p>
            <a:r>
              <a:rPr lang="en-US" altLang="zh-CN" sz="1100" b="1" i="1">
                <a:ea typeface="宋体" panose="02010600030101010101" pitchFamily="2" charset="-122"/>
              </a:rPr>
              <a:t>Work factor</a:t>
            </a:r>
            <a:r>
              <a:rPr lang="en-US" altLang="zh-CN" sz="1100" i="1">
                <a:ea typeface="宋体" panose="02010600030101010101" pitchFamily="2" charset="-122"/>
              </a:rPr>
              <a:t> </a:t>
            </a:r>
            <a:r>
              <a:rPr lang="en-US" altLang="zh-CN" sz="1100">
                <a:ea typeface="宋体" panose="02010600030101010101" pitchFamily="2" charset="-122"/>
              </a:rPr>
              <a:t>refers to the amount of time and effort required to exploit an attack vector. For example, if attackers attempt to retrieve sensitive information, they consider the time and effort that would be required for executing an attack on a database. This may include determining privileged accounts, determining the database schema, and writing SQL queries. Instead, based on the work factor, they consider a less effort-intensive way to exploit the storage array by attaching to it directly and reading from the raw disk blocks. There is a need to minimize attack surfaces and maximize the work factor to exploit an attack vector. </a:t>
            </a:r>
          </a:p>
          <a:p>
            <a:endParaRPr lang="en-US" altLang="zh-CN" sz="110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D58C433-4601-9A80-6A7D-A17EC231CD31}"/>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8C35AECB-B149-2EDE-641E-E43E3065CD5B}"/>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8BFAADCB-932A-1A29-4B8D-11A9CEB06D78}"/>
              </a:ext>
            </a:extLst>
          </p:cNvPr>
          <p:cNvSpPr>
            <a:spLocks noGrp="1" noChangeArrowheads="1"/>
          </p:cNvSpPr>
          <p:nvPr>
            <p:ph type="sldNum" sz="quarter" idx="5"/>
          </p:nvPr>
        </p:nvSpPr>
        <p:spPr>
          <a:ln/>
        </p:spPr>
        <p:txBody>
          <a:bodyPr/>
          <a:lstStyle/>
          <a:p>
            <a:r>
              <a:rPr lang="en-US" altLang="zh-CN"/>
              <a:t>- </a:t>
            </a:r>
            <a:fld id="{86F59C70-DD91-4660-89BB-3AD6758CC23E}" type="slidenum">
              <a:rPr lang="en-US" altLang="zh-CN"/>
              <a:pPr/>
              <a:t>12</a:t>
            </a:fld>
            <a:endParaRPr lang="en-US" altLang="zh-CN"/>
          </a:p>
        </p:txBody>
      </p:sp>
      <p:sp>
        <p:nvSpPr>
          <p:cNvPr id="133122" name="Rectangle 2">
            <a:extLst>
              <a:ext uri="{FF2B5EF4-FFF2-40B4-BE49-F238E27FC236}">
                <a16:creationId xmlns:a16="http://schemas.microsoft.com/office/drawing/2014/main" id="{DF8FC4AB-41C0-6D05-3A07-53024E982332}"/>
              </a:ext>
            </a:extLst>
          </p:cNvPr>
          <p:cNvSpPr>
            <a:spLocks noRot="1" noChangeArrowheads="1" noTextEdit="1"/>
          </p:cNvSpPr>
          <p:nvPr>
            <p:ph type="sldImg"/>
          </p:nvPr>
        </p:nvSpPr>
        <p:spPr>
          <a:xfrm>
            <a:off x="688975" y="457200"/>
            <a:ext cx="5480050" cy="4110038"/>
          </a:xfrm>
          <a:ln/>
        </p:spPr>
      </p:sp>
      <p:sp>
        <p:nvSpPr>
          <p:cNvPr id="133123" name="Rectangle 3">
            <a:extLst>
              <a:ext uri="{FF2B5EF4-FFF2-40B4-BE49-F238E27FC236}">
                <a16:creationId xmlns:a16="http://schemas.microsoft.com/office/drawing/2014/main" id="{F98163D7-A874-0E50-3533-E12835A2E55F}"/>
              </a:ext>
            </a:extLst>
          </p:cNvPr>
          <p:cNvSpPr>
            <a:spLocks noGrp="1" noChangeArrowheads="1"/>
          </p:cNvSpPr>
          <p:nvPr>
            <p:ph type="body" idx="1"/>
          </p:nvPr>
        </p:nvSpPr>
        <p:spPr>
          <a:xfrm>
            <a:off x="374650" y="4686300"/>
            <a:ext cx="6110288" cy="4003675"/>
          </a:xfrm>
        </p:spPr>
        <p:txBody>
          <a:bodyPr/>
          <a:lstStyle/>
          <a:p>
            <a:r>
              <a:rPr lang="en-US" altLang="zh-CN">
                <a:ea typeface="宋体" panose="02010600030101010101" pitchFamily="2" charset="-122"/>
              </a:rPr>
              <a:t>Having assessed the vulnerability of the network environment to security threats, organizations can plan and deploy specific control measures directed at reducing vulnerability by minimizing attack surfaces and maximizing the work factor. These controls can be technical or non-technical. </a:t>
            </a:r>
          </a:p>
          <a:p>
            <a:r>
              <a:rPr lang="en-US" altLang="zh-CN">
                <a:ea typeface="宋体" panose="02010600030101010101" pitchFamily="2" charset="-122"/>
              </a:rPr>
              <a:t>Technical controls are usually implemented through computer systems, whereas non-technical controls are implemented through administrative and physical controls. Administrative controls include security and personnel policies or standard procedures to direct the safe execution of various operations. Physical controls include setting up physical barriers, such as security guards, fences, or locks. Based on the roles they play, controls can be categorized as preventive, detective, corrective, recovering, or compensating.</a:t>
            </a:r>
          </a:p>
          <a:p>
            <a:r>
              <a:rPr lang="en-US" altLang="zh-CN">
                <a:ea typeface="宋体" panose="02010600030101010101" pitchFamily="2" charset="-122"/>
              </a:rPr>
              <a:t>The preventive control attempts to prevent an attack; the detective control detects whether an attack is in progress; and after an attack is discovered, the corrective controls are</a:t>
            </a:r>
          </a:p>
          <a:p>
            <a:r>
              <a:rPr lang="en-US" altLang="zh-CN">
                <a:ea typeface="宋体" panose="02010600030101010101" pitchFamily="2" charset="-122"/>
              </a:rPr>
              <a:t>implemented. </a:t>
            </a:r>
            <a:r>
              <a:rPr lang="en-US" altLang="zh-CN" i="1">
                <a:ea typeface="宋体" panose="02010600030101010101" pitchFamily="2" charset="-122"/>
              </a:rPr>
              <a:t>Preventive </a:t>
            </a:r>
            <a:r>
              <a:rPr lang="en-US" altLang="zh-CN">
                <a:ea typeface="宋体" panose="02010600030101010101" pitchFamily="2" charset="-122"/>
              </a:rPr>
              <a:t>controls avert the vulnerabilities from being exploited and prevent an attack or reduce its impact. </a:t>
            </a:r>
            <a:r>
              <a:rPr lang="en-US" altLang="zh-CN" i="1">
                <a:ea typeface="宋体" panose="02010600030101010101" pitchFamily="2" charset="-122"/>
              </a:rPr>
              <a:t>Corrective </a:t>
            </a:r>
            <a:r>
              <a:rPr lang="en-US" altLang="zh-CN">
                <a:ea typeface="宋体" panose="02010600030101010101" pitchFamily="2" charset="-122"/>
              </a:rPr>
              <a:t>controls reduce the effect of an attack, while </a:t>
            </a:r>
            <a:r>
              <a:rPr lang="en-US" altLang="zh-CN" i="1">
                <a:ea typeface="宋体" panose="02010600030101010101" pitchFamily="2" charset="-122"/>
              </a:rPr>
              <a:t>detective </a:t>
            </a:r>
            <a:r>
              <a:rPr lang="en-US" altLang="zh-CN">
                <a:ea typeface="宋体" panose="02010600030101010101" pitchFamily="2" charset="-122"/>
              </a:rPr>
              <a:t>controls discover attacks and trigger preventive or corrective controls. For example, an Intrusion Detection/Intrusion Prevention System (IDS/IPS) is a detective control that determines whether an attack is underway and then attempts to stop it by terminating a network connection or invoking a firewall rule to block traffic.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FA48A2A-67A6-E638-85E1-07066F21045F}"/>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A6A92E91-F9E7-7E15-306A-308FC260D635}"/>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E86C6217-82A5-1D2E-5B9D-1BEE45E3C5FD}"/>
              </a:ext>
            </a:extLst>
          </p:cNvPr>
          <p:cNvSpPr>
            <a:spLocks noGrp="1" noChangeArrowheads="1"/>
          </p:cNvSpPr>
          <p:nvPr>
            <p:ph type="sldNum" sz="quarter" idx="5"/>
          </p:nvPr>
        </p:nvSpPr>
        <p:spPr>
          <a:ln/>
        </p:spPr>
        <p:txBody>
          <a:bodyPr/>
          <a:lstStyle/>
          <a:p>
            <a:r>
              <a:rPr lang="en-US" altLang="zh-CN"/>
              <a:t>- </a:t>
            </a:r>
            <a:fld id="{4DE14D15-45BC-4BC4-BD9C-C97BCBD6131E}" type="slidenum">
              <a:rPr lang="en-US" altLang="zh-CN"/>
              <a:pPr/>
              <a:t>13</a:t>
            </a:fld>
            <a:endParaRPr lang="en-US" altLang="zh-CN"/>
          </a:p>
        </p:txBody>
      </p:sp>
      <p:sp>
        <p:nvSpPr>
          <p:cNvPr id="70658" name="Rectangle 2">
            <a:extLst>
              <a:ext uri="{FF2B5EF4-FFF2-40B4-BE49-F238E27FC236}">
                <a16:creationId xmlns:a16="http://schemas.microsoft.com/office/drawing/2014/main" id="{8DA2D3FD-F393-5172-A7F8-78468FF28C68}"/>
              </a:ext>
            </a:extLst>
          </p:cNvPr>
          <p:cNvSpPr>
            <a:spLocks noRot="1" noChangeArrowheads="1" noTextEdit="1"/>
          </p:cNvSpPr>
          <p:nvPr>
            <p:ph type="sldImg"/>
          </p:nvPr>
        </p:nvSpPr>
        <p:spPr>
          <a:xfrm>
            <a:off x="1144588" y="685800"/>
            <a:ext cx="4572000" cy="3429000"/>
          </a:xfrm>
          <a:ln/>
        </p:spPr>
      </p:sp>
      <p:sp>
        <p:nvSpPr>
          <p:cNvPr id="70659" name="Rectangle 3">
            <a:extLst>
              <a:ext uri="{FF2B5EF4-FFF2-40B4-BE49-F238E27FC236}">
                <a16:creationId xmlns:a16="http://schemas.microsoft.com/office/drawing/2014/main" id="{8227A20C-D0F6-9AA9-025A-99CC2E1FB513}"/>
              </a:ext>
            </a:extLst>
          </p:cNvPr>
          <p:cNvSpPr>
            <a:spLocks noGrp="1" noChangeArrowheads="1"/>
          </p:cNvSpPr>
          <p:nvPr>
            <p:ph type="body" idx="1"/>
          </p:nvPr>
        </p:nvSpPr>
        <p:spPr/>
        <p:txBody>
          <a:bodyPr/>
          <a:lstStyle/>
          <a:p>
            <a:endParaRPr lang="zh-CN" altLang="en-US">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6D60A18-2F0C-9C10-FF33-3D4A9D7D5FA6}"/>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6F1E188E-CCCC-829F-7354-889ED9F2EA53}"/>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3F23246A-C420-C077-CD7B-048655AE7656}"/>
              </a:ext>
            </a:extLst>
          </p:cNvPr>
          <p:cNvSpPr>
            <a:spLocks noGrp="1" noChangeArrowheads="1"/>
          </p:cNvSpPr>
          <p:nvPr>
            <p:ph type="sldNum" sz="quarter" idx="5"/>
          </p:nvPr>
        </p:nvSpPr>
        <p:spPr>
          <a:ln/>
        </p:spPr>
        <p:txBody>
          <a:bodyPr/>
          <a:lstStyle/>
          <a:p>
            <a:r>
              <a:rPr lang="en-US" altLang="zh-CN"/>
              <a:t>- </a:t>
            </a:r>
            <a:fld id="{EEE82C28-72D6-4ECA-AFD1-8658DEA6B68E}" type="slidenum">
              <a:rPr lang="en-US" altLang="zh-CN"/>
              <a:pPr/>
              <a:t>14</a:t>
            </a:fld>
            <a:endParaRPr lang="en-US" altLang="zh-CN"/>
          </a:p>
        </p:txBody>
      </p:sp>
      <p:sp>
        <p:nvSpPr>
          <p:cNvPr id="44034" name="Rectangle 2">
            <a:extLst>
              <a:ext uri="{FF2B5EF4-FFF2-40B4-BE49-F238E27FC236}">
                <a16:creationId xmlns:a16="http://schemas.microsoft.com/office/drawing/2014/main" id="{18E07AC7-8C61-178B-3B9E-ABF40EC1772D}"/>
              </a:ext>
            </a:extLst>
          </p:cNvPr>
          <p:cNvSpPr>
            <a:spLocks noRot="1" noChangeArrowheads="1" noTextEdit="1"/>
          </p:cNvSpPr>
          <p:nvPr>
            <p:ph type="sldImg"/>
          </p:nvPr>
        </p:nvSpPr>
        <p:spPr>
          <a:xfrm>
            <a:off x="692150" y="458788"/>
            <a:ext cx="5475288" cy="4108450"/>
          </a:xfrm>
          <a:ln/>
        </p:spPr>
      </p:sp>
      <p:sp>
        <p:nvSpPr>
          <p:cNvPr id="44035" name="Rectangle 3">
            <a:extLst>
              <a:ext uri="{FF2B5EF4-FFF2-40B4-BE49-F238E27FC236}">
                <a16:creationId xmlns:a16="http://schemas.microsoft.com/office/drawing/2014/main" id="{3A446646-3864-63BF-FB30-52ED914E2CD7}"/>
              </a:ext>
            </a:extLst>
          </p:cNvPr>
          <p:cNvSpPr>
            <a:spLocks noGrp="1" noChangeArrowheads="1"/>
          </p:cNvSpPr>
          <p:nvPr>
            <p:ph type="body" idx="1"/>
          </p:nvPr>
        </p:nvSpPr>
        <p:spPr>
          <a:xfrm>
            <a:off x="374650" y="4686300"/>
            <a:ext cx="6110288" cy="4002088"/>
          </a:xfrm>
        </p:spPr>
        <p:txBody>
          <a:bodyPr/>
          <a:lstStyle/>
          <a:p>
            <a:r>
              <a:rPr lang="en-US" altLang="zh-CN">
                <a:ea typeface="宋体" panose="02010600030101010101" pitchFamily="2" charset="-122"/>
              </a:rPr>
              <a:t>The objectives for this lesson are shown here.  Please take a moment to review them.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7DD1F81-792A-AAF2-440A-1B88264ECCF9}"/>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F3115C3B-543C-4262-D88C-FA55436A4BCF}"/>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ED87C569-B432-F123-3E2B-9D1450A501FE}"/>
              </a:ext>
            </a:extLst>
          </p:cNvPr>
          <p:cNvSpPr>
            <a:spLocks noGrp="1" noChangeArrowheads="1"/>
          </p:cNvSpPr>
          <p:nvPr>
            <p:ph type="sldNum" sz="quarter" idx="5"/>
          </p:nvPr>
        </p:nvSpPr>
        <p:spPr>
          <a:ln/>
        </p:spPr>
        <p:txBody>
          <a:bodyPr/>
          <a:lstStyle/>
          <a:p>
            <a:r>
              <a:rPr lang="en-US" altLang="zh-CN"/>
              <a:t>- </a:t>
            </a:r>
            <a:fld id="{C49EE498-6A46-4C9D-A6C7-4585788E5C54}" type="slidenum">
              <a:rPr lang="en-US" altLang="zh-CN"/>
              <a:pPr/>
              <a:t>15</a:t>
            </a:fld>
            <a:endParaRPr lang="en-US" altLang="zh-CN"/>
          </a:p>
        </p:txBody>
      </p:sp>
      <p:sp>
        <p:nvSpPr>
          <p:cNvPr id="46082" name="Rectangle 2">
            <a:extLst>
              <a:ext uri="{FF2B5EF4-FFF2-40B4-BE49-F238E27FC236}">
                <a16:creationId xmlns:a16="http://schemas.microsoft.com/office/drawing/2014/main" id="{036C8EEE-1C30-CC53-618E-9A7B28086B00}"/>
              </a:ext>
            </a:extLst>
          </p:cNvPr>
          <p:cNvSpPr>
            <a:spLocks noRot="1" noChangeArrowheads="1" noTextEdit="1"/>
          </p:cNvSpPr>
          <p:nvPr>
            <p:ph type="sldImg"/>
          </p:nvPr>
        </p:nvSpPr>
        <p:spPr>
          <a:ln/>
        </p:spPr>
      </p:sp>
      <p:sp>
        <p:nvSpPr>
          <p:cNvPr id="46083" name="Rectangle 3">
            <a:extLst>
              <a:ext uri="{FF2B5EF4-FFF2-40B4-BE49-F238E27FC236}">
                <a16:creationId xmlns:a16="http://schemas.microsoft.com/office/drawing/2014/main" id="{79E62AE7-2CA9-82FA-300A-52218844140D}"/>
              </a:ext>
            </a:extLst>
          </p:cNvPr>
          <p:cNvSpPr>
            <a:spLocks noGrp="1" noChangeArrowheads="1"/>
          </p:cNvSpPr>
          <p:nvPr>
            <p:ph type="body" idx="1"/>
          </p:nvPr>
        </p:nvSpPr>
        <p:spPr/>
        <p:txBody>
          <a:bodyPr/>
          <a:lstStyle/>
          <a:p>
            <a:r>
              <a:rPr lang="en-US" altLang="zh-CN">
                <a:ea typeface="宋体" panose="02010600030101010101" pitchFamily="2" charset="-122"/>
              </a:rPr>
              <a:t>Storage devices that are not connected to a storage network are less vulnerable because they are not exposed to security threats via networks. However, with increasing use of networking in storage environments, storage devices are becoming highly exposed to security threats from a variety of sources. Specific controls must be implemented to secure a storage networking environment.</a:t>
            </a:r>
          </a:p>
          <a:p>
            <a:r>
              <a:rPr lang="en-US" altLang="zh-CN">
                <a:ea typeface="宋体" panose="02010600030101010101" pitchFamily="2" charset="-122"/>
              </a:rPr>
              <a:t>In order to identify the threats that apply to a storage network, access paths to data storage can be categorized into three security domains: </a:t>
            </a:r>
            <a:r>
              <a:rPr lang="en-US" altLang="zh-CN" i="1">
                <a:ea typeface="宋体" panose="02010600030101010101" pitchFamily="2" charset="-122"/>
              </a:rPr>
              <a:t>application access</a:t>
            </a:r>
            <a:r>
              <a:rPr lang="en-US" altLang="zh-CN">
                <a:ea typeface="宋体" panose="02010600030101010101" pitchFamily="2" charset="-122"/>
              </a:rPr>
              <a:t>, </a:t>
            </a:r>
            <a:r>
              <a:rPr lang="en-US" altLang="zh-CN" i="1">
                <a:ea typeface="宋体" panose="02010600030101010101" pitchFamily="2" charset="-122"/>
              </a:rPr>
              <a:t>management access</a:t>
            </a:r>
            <a:r>
              <a:rPr lang="en-US" altLang="zh-CN">
                <a:ea typeface="宋体" panose="02010600030101010101" pitchFamily="2" charset="-122"/>
              </a:rPr>
              <a:t>, and </a:t>
            </a:r>
            <a:r>
              <a:rPr lang="en-US" altLang="zh-CN" i="1">
                <a:ea typeface="宋体" panose="02010600030101010101" pitchFamily="2" charset="-122"/>
              </a:rPr>
              <a:t>BURA (backup, recovery, and archive)</a:t>
            </a:r>
            <a:r>
              <a:rPr lang="en-US" altLang="zh-CN">
                <a:ea typeface="宋体" panose="02010600030101010101" pitchFamily="2" charset="-122"/>
              </a:rPr>
              <a:t>. The figure above depicts the three security domains of a storage system environment. </a:t>
            </a:r>
          </a:p>
          <a:p>
            <a:r>
              <a:rPr lang="en-US" altLang="zh-CN">
                <a:ea typeface="宋体" panose="02010600030101010101" pitchFamily="2" charset="-122"/>
              </a:rPr>
              <a:t>The first security domain involves application access to the stored data through the storage network. The second security domain includes management access to storage and interconnect devices and to the data residing on those devices. This domain is primarily accessed by storage administrators who configure and manage the environment. The third domain consists of BURA access. Along with the access points in the other two domains, backup media also needs to be secured. To secure the storage networking environment, identify the existing threats within each of the security domains and classify the threats based on the type of security services—availability, confidentiality, integrity, and accountability. The next step is to select and implement various controls as countermeasures to the threats.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E4C3C71-39A1-A8ED-9119-592FD9636CE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FB8BEBBD-4EF3-7FA1-7D91-F427ED7B7D31}"/>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AD992D11-6B09-1914-82E7-1675592B8F25}"/>
              </a:ext>
            </a:extLst>
          </p:cNvPr>
          <p:cNvSpPr>
            <a:spLocks noGrp="1" noChangeArrowheads="1"/>
          </p:cNvSpPr>
          <p:nvPr>
            <p:ph type="sldNum" sz="quarter" idx="5"/>
          </p:nvPr>
        </p:nvSpPr>
        <p:spPr>
          <a:ln/>
        </p:spPr>
        <p:txBody>
          <a:bodyPr/>
          <a:lstStyle/>
          <a:p>
            <a:r>
              <a:rPr lang="en-US" altLang="zh-CN"/>
              <a:t>- </a:t>
            </a:r>
            <a:fld id="{019C7725-70DA-404F-9A32-CAF7BF7003A5}" type="slidenum">
              <a:rPr lang="en-US" altLang="zh-CN"/>
              <a:pPr/>
              <a:t>16</a:t>
            </a:fld>
            <a:endParaRPr lang="en-US" altLang="zh-CN"/>
          </a:p>
        </p:txBody>
      </p:sp>
      <p:sp>
        <p:nvSpPr>
          <p:cNvPr id="138242" name="Rectangle 2">
            <a:extLst>
              <a:ext uri="{FF2B5EF4-FFF2-40B4-BE49-F238E27FC236}">
                <a16:creationId xmlns:a16="http://schemas.microsoft.com/office/drawing/2014/main" id="{BE30D377-391B-09E2-0EEF-46F204586B91}"/>
              </a:ext>
            </a:extLst>
          </p:cNvPr>
          <p:cNvSpPr>
            <a:spLocks noRot="1" noChangeArrowheads="1" noTextEdit="1"/>
          </p:cNvSpPr>
          <p:nvPr>
            <p:ph type="sldImg"/>
          </p:nvPr>
        </p:nvSpPr>
        <p:spPr>
          <a:xfrm>
            <a:off x="688975" y="457200"/>
            <a:ext cx="5480050" cy="4110038"/>
          </a:xfrm>
          <a:ln/>
        </p:spPr>
      </p:sp>
      <p:sp>
        <p:nvSpPr>
          <p:cNvPr id="138243" name="Rectangle 3">
            <a:extLst>
              <a:ext uri="{FF2B5EF4-FFF2-40B4-BE49-F238E27FC236}">
                <a16:creationId xmlns:a16="http://schemas.microsoft.com/office/drawing/2014/main" id="{AD483DFF-A22A-05F6-1292-888D9AFAF748}"/>
              </a:ext>
            </a:extLst>
          </p:cNvPr>
          <p:cNvSpPr>
            <a:spLocks noGrp="1" noChangeArrowheads="1"/>
          </p:cNvSpPr>
          <p:nvPr>
            <p:ph type="body" idx="1"/>
          </p:nvPr>
        </p:nvSpPr>
        <p:spPr>
          <a:xfrm>
            <a:off x="374650" y="4686300"/>
            <a:ext cx="6110288" cy="4003675"/>
          </a:xfrm>
        </p:spPr>
        <p:txBody>
          <a:bodyPr/>
          <a:lstStyle/>
          <a:p>
            <a:r>
              <a:rPr lang="en-US" altLang="zh-CN">
                <a:ea typeface="宋体" panose="02010600030101010101" pitchFamily="2" charset="-122"/>
              </a:rPr>
              <a:t>The application access domain may include only those applications that access the data through the file system or a database interface. The application access in a storage networking environment is shown here. Host A can access all V1 volumes; host B can access all V2 volumes. These volumes are classified according to access level, such as confidential, restricted, and public.</a:t>
            </a:r>
          </a:p>
          <a:p>
            <a:r>
              <a:rPr lang="en-US" altLang="zh-CN">
                <a:ea typeface="宋体" panose="02010600030101010101" pitchFamily="2" charset="-122"/>
              </a:rPr>
              <a:t>Some of the possible threat in this scenario could be </a:t>
            </a:r>
          </a:p>
          <a:p>
            <a:pPr>
              <a:buFontTx/>
              <a:buChar char="•"/>
            </a:pPr>
            <a:r>
              <a:rPr lang="en-US" altLang="zh-CN">
                <a:ea typeface="宋体" panose="02010600030101010101" pitchFamily="2" charset="-122"/>
              </a:rPr>
              <a:t>host A spoofing the identity or elevating the privileges of host B to gain access to host B’s resources. </a:t>
            </a:r>
          </a:p>
          <a:p>
            <a:pPr>
              <a:buFontTx/>
              <a:buChar char="•"/>
            </a:pPr>
            <a:r>
              <a:rPr lang="en-US" altLang="zh-CN">
                <a:ea typeface="宋体" panose="02010600030101010101" pitchFamily="2" charset="-122"/>
              </a:rPr>
              <a:t>an unauthorized host gain access to the network</a:t>
            </a:r>
          </a:p>
          <a:p>
            <a:pPr>
              <a:buFontTx/>
              <a:buChar char="•"/>
            </a:pPr>
            <a:r>
              <a:rPr lang="en-US" altLang="zh-CN">
                <a:ea typeface="宋体" panose="02010600030101010101" pitchFamily="2" charset="-122"/>
              </a:rPr>
              <a:t>the attacker on this host may try to spoof the identity of another host and tamper with data, snoop the network, or execute a DoS attack. </a:t>
            </a:r>
          </a:p>
          <a:p>
            <a:r>
              <a:rPr lang="en-US" altLang="zh-CN">
                <a:ea typeface="宋体" panose="02010600030101010101" pitchFamily="2" charset="-122"/>
              </a:rPr>
              <a:t>Also any form of media theft could also compromise security. These threats can pose several serious challenges to the network security, hence they need to be addressed.</a:t>
            </a:r>
          </a:p>
          <a:p>
            <a:r>
              <a:rPr lang="en-US" altLang="zh-CN">
                <a:ea typeface="宋体" panose="02010600030101010101" pitchFamily="2" charset="-122"/>
              </a:rPr>
              <a:t>An important step for securing the application access domain is to identify the core functions that can prevent these threats from being exploited and to identify the appropriate controls that should be applied. Implementing physical security is also an important consideration to prevent media theft.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B0920B1-B50C-CAF1-084E-80A89B90B9A9}"/>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AE90B66C-21A2-E59C-B3D7-458764850A7A}"/>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742D82E2-A12C-47EA-CB37-135133D9F1D1}"/>
              </a:ext>
            </a:extLst>
          </p:cNvPr>
          <p:cNvSpPr>
            <a:spLocks noGrp="1" noChangeArrowheads="1"/>
          </p:cNvSpPr>
          <p:nvPr>
            <p:ph type="sldNum" sz="quarter" idx="5"/>
          </p:nvPr>
        </p:nvSpPr>
        <p:spPr>
          <a:ln/>
        </p:spPr>
        <p:txBody>
          <a:bodyPr/>
          <a:lstStyle/>
          <a:p>
            <a:r>
              <a:rPr lang="en-US" altLang="zh-CN"/>
              <a:t>- </a:t>
            </a:r>
            <a:fld id="{E06175BE-316C-468E-9637-3E1880C8F680}" type="slidenum">
              <a:rPr lang="en-US" altLang="zh-CN"/>
              <a:pPr/>
              <a:t>17</a:t>
            </a:fld>
            <a:endParaRPr lang="en-US" altLang="zh-CN"/>
          </a:p>
        </p:txBody>
      </p:sp>
      <p:sp>
        <p:nvSpPr>
          <p:cNvPr id="56322" name="Rectangle 2">
            <a:extLst>
              <a:ext uri="{FF2B5EF4-FFF2-40B4-BE49-F238E27FC236}">
                <a16:creationId xmlns:a16="http://schemas.microsoft.com/office/drawing/2014/main" id="{CC125A48-380F-1950-DA78-A17E413217C5}"/>
              </a:ext>
            </a:extLst>
          </p:cNvPr>
          <p:cNvSpPr>
            <a:spLocks noRot="1" noChangeArrowheads="1" noTextEdit="1"/>
          </p:cNvSpPr>
          <p:nvPr>
            <p:ph type="sldImg"/>
          </p:nvPr>
        </p:nvSpPr>
        <p:spPr>
          <a:ln/>
        </p:spPr>
      </p:sp>
      <p:sp>
        <p:nvSpPr>
          <p:cNvPr id="56323" name="Rectangle 3">
            <a:extLst>
              <a:ext uri="{FF2B5EF4-FFF2-40B4-BE49-F238E27FC236}">
                <a16:creationId xmlns:a16="http://schemas.microsoft.com/office/drawing/2014/main" id="{E591C77B-9B50-2097-B151-13C38CD2EDAF}"/>
              </a:ext>
            </a:extLst>
          </p:cNvPr>
          <p:cNvSpPr>
            <a:spLocks noGrp="1" noChangeArrowheads="1"/>
          </p:cNvSpPr>
          <p:nvPr>
            <p:ph type="body" idx="1"/>
          </p:nvPr>
        </p:nvSpPr>
        <p:spPr/>
        <p:txBody>
          <a:bodyPr/>
          <a:lstStyle/>
          <a:p>
            <a:r>
              <a:rPr lang="en-US" altLang="zh-CN" sz="1100">
                <a:ea typeface="宋体" panose="02010600030101010101" pitchFamily="2" charset="-122"/>
              </a:rPr>
              <a:t>Access control services regulate user (and/or Host) access to data. These services mitigate the threats of spoofing user identity and elevating their privileges. Both of these threats affect data integrity and confidentiality.</a:t>
            </a:r>
          </a:p>
          <a:p>
            <a:r>
              <a:rPr lang="en-US" altLang="zh-CN" sz="1100">
                <a:ea typeface="宋体" panose="02010600030101010101" pitchFamily="2" charset="-122"/>
              </a:rPr>
              <a:t>Technical control in the form of user authentication and administrative control in the form of user authorization are the two access control mechanisms used in application access control. These mechanisms may lie outside the boundaries of the storage network and require various systems to interconnect with other enterprise identity management and authentication systems. NAS devices support the creation of </a:t>
            </a:r>
            <a:r>
              <a:rPr lang="en-US" altLang="zh-CN" sz="1100" i="1">
                <a:ea typeface="宋体" panose="02010600030101010101" pitchFamily="2" charset="-122"/>
              </a:rPr>
              <a:t>access control lists </a:t>
            </a:r>
            <a:r>
              <a:rPr lang="en-US" altLang="zh-CN" sz="1100">
                <a:ea typeface="宋体" panose="02010600030101010101" pitchFamily="2" charset="-122"/>
              </a:rPr>
              <a:t>that are used to regulate user access to specific files. The Enterprise Content Management application enforces access to data by using Information Rights Management (IRM) that specify which users have what rights to a document. </a:t>
            </a:r>
          </a:p>
          <a:p>
            <a:r>
              <a:rPr lang="en-US" altLang="zh-CN" sz="1100">
                <a:ea typeface="宋体" panose="02010600030101010101" pitchFamily="2" charset="-122"/>
              </a:rPr>
              <a:t>Restricting access at the host level starts with authenticating a node when it tries to connect to a network. Different storage networking technologies, such as iSCSI, FC, and IP-based storage, use various authentication mechanisms, such as Challenge-Handshake Authentication Protocol (CHAP), Fibre Channel Security Protocol (FC-SP), and IPSec, respectively. After a host has been authenticated, the next step is to specify security controls for the storage resources, such as ports, volumes, or storage pools, that the host is authorized to access. </a:t>
            </a:r>
            <a:r>
              <a:rPr lang="en-US" altLang="zh-CN" sz="1100" i="1">
                <a:ea typeface="宋体" panose="02010600030101010101" pitchFamily="2" charset="-122"/>
              </a:rPr>
              <a:t>Zoning </a:t>
            </a:r>
            <a:r>
              <a:rPr lang="en-US" altLang="zh-CN" sz="1100">
                <a:ea typeface="宋体" panose="02010600030101010101" pitchFamily="2" charset="-122"/>
              </a:rPr>
              <a:t>is a control mechanism on the switches that segments the network into specific paths to be used for data traffic; </a:t>
            </a:r>
            <a:r>
              <a:rPr lang="en-US" altLang="zh-CN" sz="1100" i="1">
                <a:ea typeface="宋体" panose="02010600030101010101" pitchFamily="2" charset="-122"/>
              </a:rPr>
              <a:t>LUN masking </a:t>
            </a:r>
            <a:r>
              <a:rPr lang="en-US" altLang="zh-CN" sz="1100">
                <a:ea typeface="宋体" panose="02010600030101010101" pitchFamily="2" charset="-122"/>
              </a:rPr>
              <a:t>determines which hosts can access which storage devices. Some devices support mapping of a host’s WWN to a particular FC port, and from there to a particular LUN. This binding of the WWN to a physical port is the most secure. Finally, it is very important to ensure that administrative controls, such as defined policies and standards, are implemented. Regular auditing is required to ensure proper functioning of administrative controls.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A5C36BA-2675-AC72-693E-364C368D50A7}"/>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9B74CBDF-BB92-4E09-59C8-3FDD7E7F6AFB}"/>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DA86C06E-48C5-29DA-3F2F-C9342E5CC911}"/>
              </a:ext>
            </a:extLst>
          </p:cNvPr>
          <p:cNvSpPr>
            <a:spLocks noGrp="1" noChangeArrowheads="1"/>
          </p:cNvSpPr>
          <p:nvPr>
            <p:ph type="sldNum" sz="quarter" idx="5"/>
          </p:nvPr>
        </p:nvSpPr>
        <p:spPr>
          <a:ln/>
        </p:spPr>
        <p:txBody>
          <a:bodyPr/>
          <a:lstStyle/>
          <a:p>
            <a:r>
              <a:rPr lang="en-US" altLang="zh-CN"/>
              <a:t>- </a:t>
            </a:r>
            <a:fld id="{6E854C4C-F1B0-4D10-88A3-AD13F7B767D1}" type="slidenum">
              <a:rPr lang="en-US" altLang="zh-CN"/>
              <a:pPr/>
              <a:t>18</a:t>
            </a:fld>
            <a:endParaRPr lang="en-US" altLang="zh-CN"/>
          </a:p>
        </p:txBody>
      </p:sp>
      <p:sp>
        <p:nvSpPr>
          <p:cNvPr id="59394" name="Rectangle 2">
            <a:extLst>
              <a:ext uri="{FF2B5EF4-FFF2-40B4-BE49-F238E27FC236}">
                <a16:creationId xmlns:a16="http://schemas.microsoft.com/office/drawing/2014/main" id="{D99B6365-DDF5-D266-3830-A523012CC13E}"/>
              </a:ext>
            </a:extLst>
          </p:cNvPr>
          <p:cNvSpPr>
            <a:spLocks noRot="1" noChangeArrowheads="1" noTextEdit="1"/>
          </p:cNvSpPr>
          <p:nvPr>
            <p:ph type="sldImg"/>
          </p:nvPr>
        </p:nvSpPr>
        <p:spPr>
          <a:ln/>
        </p:spPr>
      </p:sp>
      <p:sp>
        <p:nvSpPr>
          <p:cNvPr id="59395" name="Rectangle 3">
            <a:extLst>
              <a:ext uri="{FF2B5EF4-FFF2-40B4-BE49-F238E27FC236}">
                <a16:creationId xmlns:a16="http://schemas.microsoft.com/office/drawing/2014/main" id="{959CB8A6-8652-04CC-82EB-E88DC89711DB}"/>
              </a:ext>
            </a:extLst>
          </p:cNvPr>
          <p:cNvSpPr>
            <a:spLocks noGrp="1" noChangeArrowheads="1"/>
          </p:cNvSpPr>
          <p:nvPr>
            <p:ph type="body" idx="1"/>
          </p:nvPr>
        </p:nvSpPr>
        <p:spPr/>
        <p:txBody>
          <a:bodyPr/>
          <a:lstStyle/>
          <a:p>
            <a:pPr>
              <a:lnSpc>
                <a:spcPct val="90000"/>
              </a:lnSpc>
            </a:pPr>
            <a:r>
              <a:rPr lang="en-US" altLang="zh-CN" sz="1000">
                <a:ea typeface="宋体" panose="02010600030101010101" pitchFamily="2" charset="-122"/>
              </a:rPr>
              <a:t>Securing the storage infrastructure from unauthorized access involves protecting all the elements of the infrastructure. Security controls for protecting the storage infrastructure address the threats of unauthorized tampering of data in transit that leads to a loss of data integrity, denial of service that compromises availability, and network snooping that may result in a loss of confidentiality.</a:t>
            </a:r>
          </a:p>
          <a:p>
            <a:pPr>
              <a:lnSpc>
                <a:spcPct val="90000"/>
              </a:lnSpc>
            </a:pPr>
            <a:r>
              <a:rPr lang="en-US" altLang="zh-CN" sz="1000">
                <a:ea typeface="宋体" panose="02010600030101010101" pitchFamily="2" charset="-122"/>
              </a:rPr>
              <a:t>The security controls for protecting the network fall into two general categories: </a:t>
            </a:r>
            <a:r>
              <a:rPr lang="en-US" altLang="zh-CN" sz="1000" i="1">
                <a:ea typeface="宋体" panose="02010600030101010101" pitchFamily="2" charset="-122"/>
              </a:rPr>
              <a:t>connectivity infrastructure integrity </a:t>
            </a:r>
            <a:r>
              <a:rPr lang="en-US" altLang="zh-CN" sz="1000">
                <a:ea typeface="宋体" panose="02010600030101010101" pitchFamily="2" charset="-122"/>
              </a:rPr>
              <a:t>and </a:t>
            </a:r>
            <a:r>
              <a:rPr lang="en-US" altLang="zh-CN" sz="1000" i="1">
                <a:ea typeface="宋体" panose="02010600030101010101" pitchFamily="2" charset="-122"/>
              </a:rPr>
              <a:t>storage network encryption</a:t>
            </a:r>
            <a:r>
              <a:rPr lang="en-US" altLang="zh-CN" sz="1000">
                <a:ea typeface="宋体" panose="02010600030101010101" pitchFamily="2" charset="-122"/>
              </a:rPr>
              <a:t>. Controls for ensuring the infrastructure integrity include a fabric switch function to ensure fabric integrity. This is achieved by preventing a host from being added to the SAN fabric without proper authorization. Storage network encryption methods include the use of IPSec, for protecting IP-based storage networks, and FC-SP, for protecting FC networks.</a:t>
            </a:r>
          </a:p>
          <a:p>
            <a:pPr>
              <a:lnSpc>
                <a:spcPct val="90000"/>
              </a:lnSpc>
            </a:pPr>
            <a:r>
              <a:rPr lang="en-US" altLang="zh-CN" sz="1000">
                <a:ea typeface="宋体" panose="02010600030101010101" pitchFamily="2" charset="-122"/>
              </a:rPr>
              <a:t>The most important aspect of securing data is protecting data held inside the storage arrays. Threats at this level include tampering with data, which violates data integrity, and media theft, which compromises data availability and confidentiality. To protect against these threats, encrypt the data held on the storage media or encrypt the data prior to being transferred to the disk. </a:t>
            </a:r>
          </a:p>
          <a:p>
            <a:pPr>
              <a:lnSpc>
                <a:spcPct val="90000"/>
              </a:lnSpc>
            </a:pPr>
            <a:r>
              <a:rPr lang="en-US" altLang="zh-CN" sz="1000">
                <a:ea typeface="宋体" panose="02010600030101010101" pitchFamily="2" charset="-122"/>
              </a:rPr>
              <a:t>Data should be encrypted as close to its origin as possible. If it is not possible to perform encryption on the host device, an encryption appliance can be used for encrypting data at the point of entry into the storage network. Encryption devices can be implemented on the fabric that encrypts data between the host and the storage media. These mechanisms can protect both the data at rest on the destination device and data in transit.</a:t>
            </a:r>
          </a:p>
          <a:p>
            <a:pPr>
              <a:lnSpc>
                <a:spcPct val="90000"/>
              </a:lnSpc>
            </a:pPr>
            <a:r>
              <a:rPr lang="en-US" altLang="zh-CN" sz="1000">
                <a:ea typeface="宋体" panose="02010600030101010101" pitchFamily="2" charset="-122"/>
              </a:rPr>
              <a:t>On NAS devices, adding antivirus checks and file extension controls can further enhance data integrity. In the case of CAS, use of MD5 or SHA-256 cryptographic algorithms guarantee data integrity by detecting any change in content bit patterns. In addition, the CAS data erasure service ensures that the data has been completely scrubbed from the disk before the disk is discarded. An organization’s data classification policy determines whether the disk should actually be scrubbed prior to discarding it as well as the level of erasure needed based on regulatory requirements.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2B068C9-00C5-57B2-EC75-EB50313DB249}"/>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6CAEE7A4-8BF7-B12A-AEB7-C98AB7CC1BEC}"/>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AB5E12CB-40A4-2E9C-8AF2-43DC3DA76206}"/>
              </a:ext>
            </a:extLst>
          </p:cNvPr>
          <p:cNvSpPr>
            <a:spLocks noGrp="1" noChangeArrowheads="1"/>
          </p:cNvSpPr>
          <p:nvPr>
            <p:ph type="sldNum" sz="quarter" idx="5"/>
          </p:nvPr>
        </p:nvSpPr>
        <p:spPr>
          <a:ln/>
        </p:spPr>
        <p:txBody>
          <a:bodyPr/>
          <a:lstStyle/>
          <a:p>
            <a:r>
              <a:rPr lang="en-US" altLang="zh-CN"/>
              <a:t>- </a:t>
            </a:r>
            <a:fld id="{13E987AB-551E-42DE-9D7F-D3A10049C42B}" type="slidenum">
              <a:rPr lang="en-US" altLang="zh-CN"/>
              <a:pPr/>
              <a:t>19</a:t>
            </a:fld>
            <a:endParaRPr lang="en-US" altLang="zh-CN"/>
          </a:p>
        </p:txBody>
      </p:sp>
      <p:sp>
        <p:nvSpPr>
          <p:cNvPr id="63490" name="Rectangle 2">
            <a:extLst>
              <a:ext uri="{FF2B5EF4-FFF2-40B4-BE49-F238E27FC236}">
                <a16:creationId xmlns:a16="http://schemas.microsoft.com/office/drawing/2014/main" id="{5CDB7B5B-7C28-3F53-6DF0-1BD83DCB36C2}"/>
              </a:ext>
            </a:extLst>
          </p:cNvPr>
          <p:cNvSpPr>
            <a:spLocks noRot="1" noChangeArrowheads="1" noTextEdit="1"/>
          </p:cNvSpPr>
          <p:nvPr>
            <p:ph type="sldImg"/>
          </p:nvPr>
        </p:nvSpPr>
        <p:spPr>
          <a:ln/>
        </p:spPr>
      </p:sp>
      <p:sp>
        <p:nvSpPr>
          <p:cNvPr id="63491" name="Rectangle 3">
            <a:extLst>
              <a:ext uri="{FF2B5EF4-FFF2-40B4-BE49-F238E27FC236}">
                <a16:creationId xmlns:a16="http://schemas.microsoft.com/office/drawing/2014/main" id="{A1F00415-1A96-9B63-F186-B038AD67E18E}"/>
              </a:ext>
            </a:extLst>
          </p:cNvPr>
          <p:cNvSpPr>
            <a:spLocks noGrp="1" noChangeArrowheads="1"/>
          </p:cNvSpPr>
          <p:nvPr>
            <p:ph type="body" idx="1"/>
          </p:nvPr>
        </p:nvSpPr>
        <p:spPr/>
        <p:txBody>
          <a:bodyPr/>
          <a:lstStyle/>
          <a:p>
            <a:pPr>
              <a:lnSpc>
                <a:spcPct val="80000"/>
              </a:lnSpc>
            </a:pPr>
            <a:r>
              <a:rPr lang="en-US" altLang="zh-CN" sz="1100">
                <a:ea typeface="宋体" panose="02010600030101010101" pitchFamily="2" charset="-122"/>
              </a:rPr>
              <a:t>Management access, whether monitoring, provisioning, or managing storage resources, is associated with every device within the storage network. Most management software supports some form of CLI, system management console, or a web-based interface. It is very important to implement appropriate controls for securing storage management applications as the damage caused to the storage system by using these applications can be far more extensive. Shown here is a storage networking environment in which production hosts are connected to a SAN fabric and are accessing storage Array A, which is connected to storage Array B for replication purposes. Further, this configuration has a storage management platform on Host B and a monitoring console on Host A. All these hosts are interconnected through an IP network. Some of the possible threats in this system are:</a:t>
            </a:r>
          </a:p>
          <a:p>
            <a:pPr>
              <a:lnSpc>
                <a:spcPct val="80000"/>
              </a:lnSpc>
              <a:buFontTx/>
              <a:buChar char="•"/>
            </a:pPr>
            <a:r>
              <a:rPr lang="en-US" altLang="zh-CN" sz="1100">
                <a:ea typeface="宋体" panose="02010600030101010101" pitchFamily="2" charset="-122"/>
              </a:rPr>
              <a:t>Unauthorized access</a:t>
            </a:r>
          </a:p>
          <a:p>
            <a:pPr>
              <a:lnSpc>
                <a:spcPct val="80000"/>
              </a:lnSpc>
              <a:buFontTx/>
              <a:buChar char="•"/>
            </a:pPr>
            <a:r>
              <a:rPr lang="en-US" altLang="zh-CN" sz="1100">
                <a:ea typeface="宋体" panose="02010600030101010101" pitchFamily="2" charset="-122"/>
              </a:rPr>
              <a:t>Host may spoof the user or host identity to manage the storage arrays or network. </a:t>
            </a:r>
          </a:p>
          <a:p>
            <a:pPr>
              <a:lnSpc>
                <a:spcPct val="80000"/>
              </a:lnSpc>
            </a:pPr>
            <a:r>
              <a:rPr lang="en-US" altLang="zh-CN" sz="1100">
                <a:ea typeface="宋体" panose="02010600030101010101" pitchFamily="2" charset="-122"/>
              </a:rPr>
              <a:t>For example, Host A may gain management access to array B. Remote console support for the management software also increases the attack surface. Using remote console support, several other systems in the network may also be used to execute an attack.</a:t>
            </a:r>
          </a:p>
          <a:p>
            <a:pPr>
              <a:lnSpc>
                <a:spcPct val="80000"/>
              </a:lnSpc>
            </a:pPr>
            <a:r>
              <a:rPr lang="en-US" altLang="zh-CN" sz="1100">
                <a:ea typeface="宋体" panose="02010600030101010101" pitchFamily="2" charset="-122"/>
              </a:rPr>
              <a:t>Providing management access through an external network increases potential for an unauthorized host or switch to connect to that network. Using secure communication channels, such as Secure Shell (SSH) or Secure Sockets Layer (SSL)/ Transport Layer Security (TLS), provides effective protection against these threats. Event log monitoring helps to identify unauthorized access and unauthorized changes to the infrastructure. The administrator’s identity and role should be secured against any spoofing attempts so an attacker cannot manipulate the entire storage array and cause intolerable data loss by reformatting storage media or making data resources unavailable.</a:t>
            </a:r>
          </a:p>
          <a:p>
            <a:pPr>
              <a:lnSpc>
                <a:spcPct val="80000"/>
              </a:lnSpc>
            </a:pPr>
            <a:endParaRPr lang="zh-CN" altLang="en-US" sz="110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26D362B-5FDA-6050-9829-DEFA6A834E76}"/>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056B71A0-3A04-A25D-7697-E4A38E8FF48B}"/>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709E4C66-16E3-7CA4-E446-37CA71A53C2B}"/>
              </a:ext>
            </a:extLst>
          </p:cNvPr>
          <p:cNvSpPr>
            <a:spLocks noGrp="1" noChangeArrowheads="1"/>
          </p:cNvSpPr>
          <p:nvPr>
            <p:ph type="sldNum" sz="quarter" idx="5"/>
          </p:nvPr>
        </p:nvSpPr>
        <p:spPr>
          <a:ln/>
        </p:spPr>
        <p:txBody>
          <a:bodyPr/>
          <a:lstStyle/>
          <a:p>
            <a:r>
              <a:rPr lang="en-US" altLang="zh-CN"/>
              <a:t>- </a:t>
            </a:r>
            <a:fld id="{EB536C1F-0136-41CB-B646-6B0D5328BCC0}" type="slidenum">
              <a:rPr lang="en-US" altLang="zh-CN"/>
              <a:pPr/>
              <a:t>20</a:t>
            </a:fld>
            <a:endParaRPr lang="en-US" altLang="zh-CN"/>
          </a:p>
        </p:txBody>
      </p:sp>
      <p:sp>
        <p:nvSpPr>
          <p:cNvPr id="66562" name="Rectangle 2">
            <a:extLst>
              <a:ext uri="{FF2B5EF4-FFF2-40B4-BE49-F238E27FC236}">
                <a16:creationId xmlns:a16="http://schemas.microsoft.com/office/drawing/2014/main" id="{CFDAAF3A-44BC-C6F1-88C2-A32898D543DB}"/>
              </a:ext>
            </a:extLst>
          </p:cNvPr>
          <p:cNvSpPr>
            <a:spLocks noRot="1" noChangeArrowheads="1" noTextEdit="1"/>
          </p:cNvSpPr>
          <p:nvPr>
            <p:ph type="sldImg"/>
          </p:nvPr>
        </p:nvSpPr>
        <p:spPr>
          <a:ln/>
        </p:spPr>
      </p:sp>
      <p:sp>
        <p:nvSpPr>
          <p:cNvPr id="66563" name="Rectangle 3">
            <a:extLst>
              <a:ext uri="{FF2B5EF4-FFF2-40B4-BE49-F238E27FC236}">
                <a16:creationId xmlns:a16="http://schemas.microsoft.com/office/drawing/2014/main" id="{0B8C382E-58AE-1802-26A2-57FE355A95AA}"/>
              </a:ext>
            </a:extLst>
          </p:cNvPr>
          <p:cNvSpPr>
            <a:spLocks noGrp="1" noChangeArrowheads="1"/>
          </p:cNvSpPr>
          <p:nvPr>
            <p:ph type="body" idx="1"/>
          </p:nvPr>
        </p:nvSpPr>
        <p:spPr/>
        <p:txBody>
          <a:bodyPr/>
          <a:lstStyle/>
          <a:p>
            <a:pPr>
              <a:lnSpc>
                <a:spcPct val="90000"/>
              </a:lnSpc>
            </a:pPr>
            <a:r>
              <a:rPr lang="en-US" altLang="zh-CN" sz="1100">
                <a:ea typeface="宋体" panose="02010600030101010101" pitchFamily="2" charset="-122"/>
              </a:rPr>
              <a:t>Controlling administrative access to storage aims to safeguard against the threats of an attacker spoofing an administrator’s identity or elevating another user’s identity and privileges to gain administrative access. Both of these threats affect the integrity of data and devices. Security best practices stipulate that no single user should have ultimate control over all aspects of the system. If an administrative user is a necessity, the number of activities requiring administrative privileges should be minimized. Instead, it is better to assign various administrative functions by using </a:t>
            </a:r>
            <a:r>
              <a:rPr lang="en-US" altLang="zh-CN" sz="1100" i="1">
                <a:ea typeface="宋体" panose="02010600030101010101" pitchFamily="2" charset="-122"/>
              </a:rPr>
              <a:t>role-based access control (RBAC). </a:t>
            </a:r>
            <a:r>
              <a:rPr lang="en-US" altLang="zh-CN" sz="1100">
                <a:ea typeface="宋体" panose="02010600030101010101" pitchFamily="2" charset="-122"/>
              </a:rPr>
              <a:t>It is also advisable to consider administrative controls, such as “separation of duties,” when defining data center procedures. Clear separation of duties ensures that no single individual is able to both specify an action and carry it out. Auditing logged events is a critical control measure to track the activities of an administrator. However, access to administrative log files as well as their content must be protected. </a:t>
            </a:r>
          </a:p>
          <a:p>
            <a:pPr>
              <a:lnSpc>
                <a:spcPct val="90000"/>
              </a:lnSpc>
            </a:pPr>
            <a:r>
              <a:rPr lang="en-US" altLang="zh-CN" sz="1100">
                <a:ea typeface="宋体" panose="02010600030101010101" pitchFamily="2" charset="-122"/>
              </a:rPr>
              <a:t>Protecting the management network infrastructure is also necessary. Controls to protect the management network infrastructure include encrypting management traffic, enforcing management access controls, and applying IP network security best practices. These best practices include the use of IP routers and Ethernet switches to restrict traffic to certain devices and management protocols. At the IP network layer, restricting network activity and access to a limited set of hosts minimizes the threat of an unauthorized device attaching to the network and gaining access to the management interfaces of all devices within the storage network. Access controls need to be enforced at the storage-array level to specify which host has management access to which array. A separate private management network must be created for management traffic. If possible, management traffic should not be mixed with either production data traffic or other LAN traffic used in the enterprise. Unused network services must be disabled on every device within the storage network. This decreases the attack surface for that device by minimizing the number of interfaces through which the device can be accessed.</a:t>
            </a:r>
            <a:r>
              <a:rPr lang="en-US" altLang="zh-CN" sz="1000">
                <a:ea typeface="宋体" panose="02010600030101010101" pitchFamily="2" charset="-122"/>
              </a:rPr>
              <a:t> </a:t>
            </a:r>
            <a:endParaRPr lang="en-US" altLang="zh-CN">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13CB3AA-263F-C0A6-5609-AFA9DFC1C6F0}"/>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953235CC-5A43-D2A8-E464-65A05FBD4064}"/>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0CFC17EF-02F1-9F0E-9414-F449FE555DA8}"/>
              </a:ext>
            </a:extLst>
          </p:cNvPr>
          <p:cNvSpPr>
            <a:spLocks noGrp="1" noChangeArrowheads="1"/>
          </p:cNvSpPr>
          <p:nvPr>
            <p:ph type="sldNum" sz="quarter" idx="5"/>
          </p:nvPr>
        </p:nvSpPr>
        <p:spPr>
          <a:ln/>
        </p:spPr>
        <p:txBody>
          <a:bodyPr/>
          <a:lstStyle/>
          <a:p>
            <a:r>
              <a:rPr lang="en-US" altLang="zh-CN"/>
              <a:t>- </a:t>
            </a:r>
            <a:fld id="{E57CA9E0-3FD9-454B-9B4C-330F04C64959}" type="slidenum">
              <a:rPr lang="en-US" altLang="zh-CN"/>
              <a:pPr/>
              <a:t>21</a:t>
            </a:fld>
            <a:endParaRPr lang="en-US" altLang="zh-CN"/>
          </a:p>
        </p:txBody>
      </p:sp>
      <p:sp>
        <p:nvSpPr>
          <p:cNvPr id="68610" name="Rectangle 2">
            <a:extLst>
              <a:ext uri="{FF2B5EF4-FFF2-40B4-BE49-F238E27FC236}">
                <a16:creationId xmlns:a16="http://schemas.microsoft.com/office/drawing/2014/main" id="{BD5B57D4-1C45-1FE3-4981-5090AF49D60D}"/>
              </a:ext>
            </a:extLst>
          </p:cNvPr>
          <p:cNvSpPr>
            <a:spLocks noRot="1" noChangeArrowheads="1" noTextEdit="1"/>
          </p:cNvSpPr>
          <p:nvPr>
            <p:ph type="sldImg"/>
          </p:nvPr>
        </p:nvSpPr>
        <p:spPr>
          <a:ln/>
        </p:spPr>
      </p:sp>
      <p:sp>
        <p:nvSpPr>
          <p:cNvPr id="68611" name="Rectangle 3">
            <a:extLst>
              <a:ext uri="{FF2B5EF4-FFF2-40B4-BE49-F238E27FC236}">
                <a16:creationId xmlns:a16="http://schemas.microsoft.com/office/drawing/2014/main" id="{321022F9-6531-4D6E-7F03-E065D202CC35}"/>
              </a:ext>
            </a:extLst>
          </p:cNvPr>
          <p:cNvSpPr>
            <a:spLocks noGrp="1" noChangeArrowheads="1"/>
          </p:cNvSpPr>
          <p:nvPr>
            <p:ph type="body" idx="1"/>
          </p:nvPr>
        </p:nvSpPr>
        <p:spPr/>
        <p:txBody>
          <a:bodyPr/>
          <a:lstStyle/>
          <a:p>
            <a:pPr>
              <a:lnSpc>
                <a:spcPct val="90000"/>
              </a:lnSpc>
            </a:pPr>
            <a:r>
              <a:rPr lang="en-US" altLang="zh-CN">
                <a:ea typeface="宋体" panose="02010600030101010101" pitchFamily="2" charset="-122"/>
              </a:rPr>
              <a:t>BURA is the third domain that needs to be secured against attack. A backup involves copying the data from a storage array to backup media, such as tapes or disks. Securing BURA is complex and is based on the BURA software accessing the storage arrays. Organizations must ensure that the DR site maintains the same level of security for the backed up data. Protecting the BURA infrastructure requires addressing several threats, including spoofing the legitimate identity of a DR site, tampering with data, network snooping, DoS attacks, and media theft. Such threats represent potential violations of integrity, confidentiality, and availability. </a:t>
            </a:r>
          </a:p>
          <a:p>
            <a:pPr>
              <a:lnSpc>
                <a:spcPct val="90000"/>
              </a:lnSpc>
            </a:pPr>
            <a:r>
              <a:rPr lang="en-US" altLang="zh-CN">
                <a:ea typeface="宋体" panose="02010600030101010101" pitchFamily="2" charset="-122"/>
              </a:rPr>
              <a:t>A generic remote backup design whereby data on a storage array is replicated over a disaster recovery (DR) network to a secondary storage at the DR site is shown here. In a remote backup solution where the storage components are separated by a network, the threats at the transmission layer need to be countered. Otherwise, an attacker can spoof the identity of the backup server and request the host to send its data. The unauthorized host claims to be the backup server at the DR site, which may lead to a remote backup being performed to an unauthorized and unknown site. In addition, attackers can use the connection to the DR network to tamper with data, snoop the network for authentication data, and create a DoS attack against the storage devices.</a:t>
            </a:r>
          </a:p>
          <a:p>
            <a:pPr>
              <a:lnSpc>
                <a:spcPct val="90000"/>
              </a:lnSpc>
            </a:pPr>
            <a:r>
              <a:rPr lang="en-US" altLang="zh-CN">
                <a:ea typeface="宋体" panose="02010600030101010101" pitchFamily="2" charset="-122"/>
              </a:rPr>
              <a:t>The physical threat of a backup tape being lost, stolen, or misplaced, especially if the tapes contain highly confidential information, is another type of threat. Backup-to-tape applications are vulnerable to severe security implications if they do not encrypt data while backing it up.</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ACAA3DA-2371-0E6E-3E49-F355A867A327}"/>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DFBAB606-F7F5-E855-13C3-D632AB5690A1}"/>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2025807F-1F61-4D7B-EE0F-AA4B0D711725}"/>
              </a:ext>
            </a:extLst>
          </p:cNvPr>
          <p:cNvSpPr>
            <a:spLocks noGrp="1" noChangeArrowheads="1"/>
          </p:cNvSpPr>
          <p:nvPr>
            <p:ph type="sldNum" sz="quarter" idx="5"/>
          </p:nvPr>
        </p:nvSpPr>
        <p:spPr>
          <a:ln/>
        </p:spPr>
        <p:txBody>
          <a:bodyPr/>
          <a:lstStyle/>
          <a:p>
            <a:r>
              <a:rPr lang="en-US" altLang="zh-CN"/>
              <a:t>- </a:t>
            </a:r>
            <a:fld id="{C9D5CC47-5FBC-4A96-9813-AC8A3BA50351}" type="slidenum">
              <a:rPr lang="en-US" altLang="zh-CN"/>
              <a:pPr/>
              <a:t>22</a:t>
            </a:fld>
            <a:endParaRPr lang="en-US" altLang="zh-CN"/>
          </a:p>
        </p:txBody>
      </p:sp>
      <p:sp>
        <p:nvSpPr>
          <p:cNvPr id="144386" name="Rectangle 2">
            <a:extLst>
              <a:ext uri="{FF2B5EF4-FFF2-40B4-BE49-F238E27FC236}">
                <a16:creationId xmlns:a16="http://schemas.microsoft.com/office/drawing/2014/main" id="{CBC8767C-FFFF-9DE1-908C-838126D65C38}"/>
              </a:ext>
            </a:extLst>
          </p:cNvPr>
          <p:cNvSpPr>
            <a:spLocks noRot="1" noChangeArrowheads="1" noTextEdit="1"/>
          </p:cNvSpPr>
          <p:nvPr>
            <p:ph type="sldImg"/>
          </p:nvPr>
        </p:nvSpPr>
        <p:spPr>
          <a:xfrm>
            <a:off x="688975" y="457200"/>
            <a:ext cx="5480050" cy="4110038"/>
          </a:xfrm>
          <a:ln/>
        </p:spPr>
      </p:sp>
      <p:sp>
        <p:nvSpPr>
          <p:cNvPr id="144387" name="Rectangle 3">
            <a:extLst>
              <a:ext uri="{FF2B5EF4-FFF2-40B4-BE49-F238E27FC236}">
                <a16:creationId xmlns:a16="http://schemas.microsoft.com/office/drawing/2014/main" id="{D8C629EC-AB66-12F0-8053-EC7F2421B7BF}"/>
              </a:ext>
            </a:extLst>
          </p:cNvPr>
          <p:cNvSpPr>
            <a:spLocks noGrp="1" noChangeArrowheads="1"/>
          </p:cNvSpPr>
          <p:nvPr>
            <p:ph type="body" idx="1"/>
          </p:nvPr>
        </p:nvSpPr>
        <p:spPr>
          <a:xfrm>
            <a:off x="374650" y="4686300"/>
            <a:ext cx="6110288" cy="4003675"/>
          </a:xfrm>
        </p:spPr>
        <p:txBody>
          <a:bodyPr/>
          <a:lstStyle/>
          <a:p>
            <a:r>
              <a:rPr lang="en-US" altLang="zh-CN">
                <a:ea typeface="宋体" panose="02010600030101010101" pitchFamily="2" charset="-122"/>
              </a:rPr>
              <a:t>Protecting the BURA infrastructure requires addressing several threats. These threats include spoofing of legitimate identity of a DR site, tampering with data, network snooping, and denial of service attacks. Such threats represent potential violations of information integrity, confidentiality, and availability. </a:t>
            </a:r>
          </a:p>
          <a:p>
            <a:r>
              <a:rPr lang="en-US" altLang="zh-CN">
                <a:ea typeface="宋体" panose="02010600030101010101" pitchFamily="2" charset="-122"/>
              </a:rPr>
              <a:t>Controls available to mitigate the risk created by these threats include encryption to ensure confidentiality and integrity, and access control to lessen the risk of spoofing the DR site identity.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F88F801-28D3-E069-402E-A4AF19DC147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05B81DAE-FB1C-4006-C794-2AE8A7B1804D}"/>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769D83EB-7579-5AAA-3AD6-5EE15A0B441E}"/>
              </a:ext>
            </a:extLst>
          </p:cNvPr>
          <p:cNvSpPr>
            <a:spLocks noGrp="1" noChangeArrowheads="1"/>
          </p:cNvSpPr>
          <p:nvPr>
            <p:ph type="sldNum" sz="quarter" idx="5"/>
          </p:nvPr>
        </p:nvSpPr>
        <p:spPr>
          <a:ln/>
        </p:spPr>
        <p:txBody>
          <a:bodyPr/>
          <a:lstStyle/>
          <a:p>
            <a:r>
              <a:rPr lang="en-US" altLang="zh-CN"/>
              <a:t>- </a:t>
            </a:r>
            <a:fld id="{00F022E8-A879-4DB4-9357-DF81E5E8AF59}" type="slidenum">
              <a:rPr lang="en-US" altLang="zh-CN"/>
              <a:pPr/>
              <a:t>23</a:t>
            </a:fld>
            <a:endParaRPr lang="en-US" altLang="zh-CN"/>
          </a:p>
        </p:txBody>
      </p:sp>
      <p:sp>
        <p:nvSpPr>
          <p:cNvPr id="72706" name="Rectangle 2">
            <a:extLst>
              <a:ext uri="{FF2B5EF4-FFF2-40B4-BE49-F238E27FC236}">
                <a16:creationId xmlns:a16="http://schemas.microsoft.com/office/drawing/2014/main" id="{D8080E06-0A37-3C9B-5C7F-B6FABFFB2BC1}"/>
              </a:ext>
            </a:extLst>
          </p:cNvPr>
          <p:cNvSpPr>
            <a:spLocks noRot="1" noChangeArrowheads="1" noTextEdit="1"/>
          </p:cNvSpPr>
          <p:nvPr>
            <p:ph type="sldImg"/>
          </p:nvPr>
        </p:nvSpPr>
        <p:spPr>
          <a:xfrm>
            <a:off x="1144588" y="685800"/>
            <a:ext cx="4572000" cy="3429000"/>
          </a:xfrm>
          <a:ln/>
        </p:spPr>
      </p:sp>
      <p:sp>
        <p:nvSpPr>
          <p:cNvPr id="72707" name="Rectangle 3">
            <a:extLst>
              <a:ext uri="{FF2B5EF4-FFF2-40B4-BE49-F238E27FC236}">
                <a16:creationId xmlns:a16="http://schemas.microsoft.com/office/drawing/2014/main" id="{FC3BB5FF-5933-EF4E-95A3-A8B296CE3CEC}"/>
              </a:ext>
            </a:extLst>
          </p:cNvPr>
          <p:cNvSpPr>
            <a:spLocks noGrp="1" noChangeArrowheads="1"/>
          </p:cNvSpPr>
          <p:nvPr>
            <p:ph type="body" idx="1"/>
          </p:nvPr>
        </p:nvSpPr>
        <p:spPr/>
        <p:txBody>
          <a:bodyPr/>
          <a:lstStyle/>
          <a:p>
            <a:endParaRPr lang="zh-CN" altLang="en-US">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6C3DE14-A56D-DE25-9CA7-AE037511B2E4}"/>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83660A94-C2C3-AF66-AB15-362301CAEE91}"/>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CF65CA7E-1D7D-6947-C6CD-93EE9C6A2956}"/>
              </a:ext>
            </a:extLst>
          </p:cNvPr>
          <p:cNvSpPr>
            <a:spLocks noGrp="1" noChangeArrowheads="1"/>
          </p:cNvSpPr>
          <p:nvPr>
            <p:ph type="sldNum" sz="quarter" idx="5"/>
          </p:nvPr>
        </p:nvSpPr>
        <p:spPr>
          <a:ln/>
        </p:spPr>
        <p:txBody>
          <a:bodyPr/>
          <a:lstStyle/>
          <a:p>
            <a:r>
              <a:rPr lang="en-US" altLang="zh-CN"/>
              <a:t>- </a:t>
            </a:r>
            <a:fld id="{F8F85E43-02B4-4D40-BCB6-FF38336C3FA3}" type="slidenum">
              <a:rPr lang="en-US" altLang="zh-CN"/>
              <a:pPr/>
              <a:t>24</a:t>
            </a:fld>
            <a:endParaRPr lang="en-US" altLang="zh-CN"/>
          </a:p>
        </p:txBody>
      </p:sp>
      <p:sp>
        <p:nvSpPr>
          <p:cNvPr id="74754" name="Rectangle 2">
            <a:extLst>
              <a:ext uri="{FF2B5EF4-FFF2-40B4-BE49-F238E27FC236}">
                <a16:creationId xmlns:a16="http://schemas.microsoft.com/office/drawing/2014/main" id="{7B28B899-C2A3-3FBA-3F6C-7D42C335EF97}"/>
              </a:ext>
            </a:extLst>
          </p:cNvPr>
          <p:cNvSpPr>
            <a:spLocks noRot="1" noChangeArrowheads="1" noTextEdit="1"/>
          </p:cNvSpPr>
          <p:nvPr>
            <p:ph type="sldImg"/>
          </p:nvPr>
        </p:nvSpPr>
        <p:spPr>
          <a:xfrm>
            <a:off x="692150" y="458788"/>
            <a:ext cx="5475288" cy="4108450"/>
          </a:xfrm>
          <a:ln/>
        </p:spPr>
      </p:sp>
      <p:sp>
        <p:nvSpPr>
          <p:cNvPr id="74755" name="Rectangle 3">
            <a:extLst>
              <a:ext uri="{FF2B5EF4-FFF2-40B4-BE49-F238E27FC236}">
                <a16:creationId xmlns:a16="http://schemas.microsoft.com/office/drawing/2014/main" id="{20A6F985-984C-3330-05DC-6D8BA195B80C}"/>
              </a:ext>
            </a:extLst>
          </p:cNvPr>
          <p:cNvSpPr>
            <a:spLocks noGrp="1" noChangeArrowheads="1"/>
          </p:cNvSpPr>
          <p:nvPr>
            <p:ph type="body" idx="1"/>
          </p:nvPr>
        </p:nvSpPr>
        <p:spPr>
          <a:xfrm>
            <a:off x="374650" y="4686300"/>
            <a:ext cx="6110288" cy="4002088"/>
          </a:xfrm>
        </p:spPr>
        <p:txBody>
          <a:bodyPr/>
          <a:lstStyle/>
          <a:p>
            <a:r>
              <a:rPr lang="en-US" altLang="zh-CN">
                <a:ea typeface="宋体" panose="02010600030101010101" pitchFamily="2" charset="-122"/>
              </a:rPr>
              <a:t>The objectives for this lesson are shown here.  Please take a moment to review them.</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DE15C43-946A-4097-2579-4DC9C66B44A0}"/>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CD443068-B461-C484-A179-F8725B8C741F}"/>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D7F5A6E2-A1CA-844F-A710-619E20E74F2D}"/>
              </a:ext>
            </a:extLst>
          </p:cNvPr>
          <p:cNvSpPr>
            <a:spLocks noGrp="1" noChangeArrowheads="1"/>
          </p:cNvSpPr>
          <p:nvPr>
            <p:ph type="sldNum" sz="quarter" idx="5"/>
          </p:nvPr>
        </p:nvSpPr>
        <p:spPr>
          <a:ln/>
        </p:spPr>
        <p:txBody>
          <a:bodyPr/>
          <a:lstStyle/>
          <a:p>
            <a:r>
              <a:rPr lang="en-US" altLang="zh-CN"/>
              <a:t>- </a:t>
            </a:r>
            <a:fld id="{025259A0-E5D2-4017-9398-31044C50A576}" type="slidenum">
              <a:rPr lang="en-US" altLang="zh-CN"/>
              <a:pPr/>
              <a:t>25</a:t>
            </a:fld>
            <a:endParaRPr lang="en-US" altLang="zh-CN"/>
          </a:p>
        </p:txBody>
      </p:sp>
      <p:sp>
        <p:nvSpPr>
          <p:cNvPr id="146434" name="Rectangle 2">
            <a:extLst>
              <a:ext uri="{FF2B5EF4-FFF2-40B4-BE49-F238E27FC236}">
                <a16:creationId xmlns:a16="http://schemas.microsoft.com/office/drawing/2014/main" id="{9985C4E5-61D6-0555-C256-1FB02308C486}"/>
              </a:ext>
            </a:extLst>
          </p:cNvPr>
          <p:cNvSpPr>
            <a:spLocks noRot="1" noChangeArrowheads="1" noTextEdit="1"/>
          </p:cNvSpPr>
          <p:nvPr>
            <p:ph type="sldImg"/>
          </p:nvPr>
        </p:nvSpPr>
        <p:spPr>
          <a:ln/>
        </p:spPr>
      </p:sp>
      <p:sp>
        <p:nvSpPr>
          <p:cNvPr id="146435" name="Rectangle 3">
            <a:extLst>
              <a:ext uri="{FF2B5EF4-FFF2-40B4-BE49-F238E27FC236}">
                <a16:creationId xmlns:a16="http://schemas.microsoft.com/office/drawing/2014/main" id="{BEDC2BFB-93A3-BFB1-0CDC-FFA92CA3E0CB}"/>
              </a:ext>
            </a:extLst>
          </p:cNvPr>
          <p:cNvSpPr>
            <a:spLocks noGrp="1" noChangeArrowheads="1"/>
          </p:cNvSpPr>
          <p:nvPr>
            <p:ph type="body" idx="1"/>
          </p:nvPr>
        </p:nvSpPr>
        <p:spPr/>
        <p:txBody>
          <a:bodyPr/>
          <a:lstStyle/>
          <a:p>
            <a:r>
              <a:rPr lang="en-US" altLang="zh-CN">
                <a:ea typeface="宋体" panose="02010600030101010101" pitchFamily="2" charset="-122"/>
              </a:rPr>
              <a:t>Traditional FC SANs enjoy a natural security advantage over IP-based networks. An FC SAN is configured as an isolated private environment with fewer nodes than an IP network. Consequently, FC SANs impose fewer security threats. However, this scenario has changed with storage consolidation, driving rapid growth and necessitating designs for large, complex SANs that span multiple sites across the enterprise. Today, no single comprehensive security solution is available for SANs. Many SAN security mechanisms have evolved from their counterpart in IP networking, thereby bringing in mature security solutions. </a:t>
            </a:r>
            <a:r>
              <a:rPr lang="en-US" altLang="zh-CN" i="1">
                <a:ea typeface="宋体" panose="02010600030101010101" pitchFamily="2" charset="-122"/>
              </a:rPr>
              <a:t>FC-SP (Fibre Channel Security Protocol) </a:t>
            </a:r>
            <a:r>
              <a:rPr lang="en-US" altLang="zh-CN">
                <a:ea typeface="宋体" panose="02010600030101010101" pitchFamily="2" charset="-122"/>
              </a:rPr>
              <a:t>standards (T11 standards), published in 2006, align security mechanisms and algorithms between IP and FC interconnects. These standards describe protocols used to implement security measures in an FC fabric, among fabric elements and N_Ports within the fabric. They also include guidelines for authenticating FC entities, setting up session keys, negotiating the parameters required to ensure frame-by-frame integrity and confidentiality, and establishing and distributing policies across an FC fabric. The current version of the FC-SP standard is referred to as FC-SP-1.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AC077AF-4969-1C68-16E3-04B46F375346}"/>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1E595E6B-8A18-C020-B52E-247487A1D277}"/>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0097B7EA-12EC-D03B-1D2F-CFED03CC4FCB}"/>
              </a:ext>
            </a:extLst>
          </p:cNvPr>
          <p:cNvSpPr>
            <a:spLocks noGrp="1" noChangeArrowheads="1"/>
          </p:cNvSpPr>
          <p:nvPr>
            <p:ph type="sldNum" sz="quarter" idx="5"/>
          </p:nvPr>
        </p:nvSpPr>
        <p:spPr>
          <a:ln/>
        </p:spPr>
        <p:txBody>
          <a:bodyPr/>
          <a:lstStyle/>
          <a:p>
            <a:r>
              <a:rPr lang="en-US" altLang="zh-CN"/>
              <a:t>- </a:t>
            </a:r>
            <a:fld id="{A0C3AD87-BB11-418A-B3DE-07EBBB5302E5}" type="slidenum">
              <a:rPr lang="en-US" altLang="zh-CN"/>
              <a:pPr/>
              <a:t>26</a:t>
            </a:fld>
            <a:endParaRPr lang="en-US" altLang="zh-CN"/>
          </a:p>
        </p:txBody>
      </p:sp>
      <p:sp>
        <p:nvSpPr>
          <p:cNvPr id="76802" name="Rectangle 2">
            <a:extLst>
              <a:ext uri="{FF2B5EF4-FFF2-40B4-BE49-F238E27FC236}">
                <a16:creationId xmlns:a16="http://schemas.microsoft.com/office/drawing/2014/main" id="{C3D00CED-4479-E228-CE4E-11DF1AC10608}"/>
              </a:ext>
            </a:extLst>
          </p:cNvPr>
          <p:cNvSpPr>
            <a:spLocks noRot="1" noChangeArrowheads="1" noTextEdit="1"/>
          </p:cNvSpPr>
          <p:nvPr>
            <p:ph type="sldImg"/>
          </p:nvPr>
        </p:nvSpPr>
        <p:spPr>
          <a:ln/>
        </p:spPr>
      </p:sp>
      <p:sp>
        <p:nvSpPr>
          <p:cNvPr id="76803" name="Rectangle 3">
            <a:extLst>
              <a:ext uri="{FF2B5EF4-FFF2-40B4-BE49-F238E27FC236}">
                <a16:creationId xmlns:a16="http://schemas.microsoft.com/office/drawing/2014/main" id="{76EDE1AD-2468-EAE0-A90C-EB5E4D22066D}"/>
              </a:ext>
            </a:extLst>
          </p:cNvPr>
          <p:cNvSpPr>
            <a:spLocks noGrp="1" noChangeArrowheads="1"/>
          </p:cNvSpPr>
          <p:nvPr>
            <p:ph type="body" idx="1"/>
          </p:nvPr>
        </p:nvSpPr>
        <p:spPr/>
        <p:txBody>
          <a:bodyPr/>
          <a:lstStyle/>
          <a:p>
            <a:pPr>
              <a:lnSpc>
                <a:spcPct val="90000"/>
              </a:lnSpc>
            </a:pPr>
            <a:r>
              <a:rPr lang="en-US" altLang="zh-CN">
                <a:ea typeface="宋体" panose="02010600030101010101" pitchFamily="2" charset="-122"/>
              </a:rPr>
              <a:t>SAN security strategies based on </a:t>
            </a:r>
            <a:r>
              <a:rPr lang="en-US" altLang="zh-CN" i="1">
                <a:ea typeface="宋体" panose="02010600030101010101" pitchFamily="2" charset="-122"/>
              </a:rPr>
              <a:t>defense in depth </a:t>
            </a:r>
            <a:r>
              <a:rPr lang="en-US" altLang="zh-CN">
                <a:ea typeface="宋体" panose="02010600030101010101" pitchFamily="2" charset="-122"/>
              </a:rPr>
              <a:t>concept recommends multiple integrated layers of security. This ensures that the failure of one security control will not compromise the assets under protection. Implement security at multiple levels or zones. E.g. these security zones may exist between switches, between servers and switches, between SAN management systems and switches, and between administrators and access control management systems. </a:t>
            </a:r>
          </a:p>
          <a:p>
            <a:pPr>
              <a:lnSpc>
                <a:spcPct val="90000"/>
              </a:lnSpc>
            </a:pPr>
            <a:r>
              <a:rPr lang="en-US" altLang="zh-CN">
                <a:ea typeface="宋体" panose="02010600030101010101" pitchFamily="2" charset="-122"/>
              </a:rPr>
              <a:t>SANs not only suffer from certain risks and vulnerabilities that are unique, but also share common security problems associated with physical security and remote administrative access. In addition to implementing SAN-specific security measures, organizations must simultaneously leverage other security implementations in the enterprise. The table provides a comprehensive list of protection strategies that must be implemented in various security zones. Note that some of the security mechanisms listed here are not specific to SAN, but are commonly used data center techniques. For example, two-factor authentication is implemented widely; in a simple implementation it requires the use of a user name/password and an additional security component such as a smart card for authentication.</a:t>
            </a:r>
          </a:p>
          <a:p>
            <a:pPr>
              <a:lnSpc>
                <a:spcPct val="90000"/>
              </a:lnSpc>
            </a:pPr>
            <a:endParaRPr lang="en-US" altLang="zh-CN">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1F98EF8-81A1-2058-A3F5-4F64267C5BA8}"/>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7AB814EE-C95A-EC66-FACA-009CFF7C0EF0}"/>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F28B910D-A4DB-5854-ECF4-E81703BACD2E}"/>
              </a:ext>
            </a:extLst>
          </p:cNvPr>
          <p:cNvSpPr>
            <a:spLocks noGrp="1" noChangeArrowheads="1"/>
          </p:cNvSpPr>
          <p:nvPr>
            <p:ph type="sldNum" sz="quarter" idx="5"/>
          </p:nvPr>
        </p:nvSpPr>
        <p:spPr>
          <a:ln/>
        </p:spPr>
        <p:txBody>
          <a:bodyPr/>
          <a:lstStyle/>
          <a:p>
            <a:r>
              <a:rPr lang="en-US" altLang="zh-CN"/>
              <a:t>- </a:t>
            </a:r>
            <a:fld id="{44A7C379-C577-423A-B1BC-8B59BBA86001}" type="slidenum">
              <a:rPr lang="en-US" altLang="zh-CN"/>
              <a:pPr/>
              <a:t>27</a:t>
            </a:fld>
            <a:endParaRPr lang="en-US" altLang="zh-CN"/>
          </a:p>
        </p:txBody>
      </p:sp>
      <p:sp>
        <p:nvSpPr>
          <p:cNvPr id="154626" name="Rectangle 2">
            <a:extLst>
              <a:ext uri="{FF2B5EF4-FFF2-40B4-BE49-F238E27FC236}">
                <a16:creationId xmlns:a16="http://schemas.microsoft.com/office/drawing/2014/main" id="{9CCB4255-75E5-193D-B74B-6ED9164A36D2}"/>
              </a:ext>
            </a:extLst>
          </p:cNvPr>
          <p:cNvSpPr>
            <a:spLocks noRot="1" noChangeArrowheads="1" noTextEdit="1"/>
          </p:cNvSpPr>
          <p:nvPr>
            <p:ph type="sldImg"/>
          </p:nvPr>
        </p:nvSpPr>
        <p:spPr>
          <a:ln/>
        </p:spPr>
      </p:sp>
      <p:sp>
        <p:nvSpPr>
          <p:cNvPr id="154627" name="Rectangle 3">
            <a:extLst>
              <a:ext uri="{FF2B5EF4-FFF2-40B4-BE49-F238E27FC236}">
                <a16:creationId xmlns:a16="http://schemas.microsoft.com/office/drawing/2014/main" id="{EFBDA579-ABA3-477F-D46D-DE119050A339}"/>
              </a:ext>
            </a:extLst>
          </p:cNvPr>
          <p:cNvSpPr>
            <a:spLocks noGrp="1" noChangeArrowheads="1"/>
          </p:cNvSpPr>
          <p:nvPr>
            <p:ph type="body" idx="1"/>
          </p:nvPr>
        </p:nvSpPr>
        <p:spPr/>
        <p:txBody>
          <a:bodyPr/>
          <a:lstStyle/>
          <a:p>
            <a:r>
              <a:rPr lang="en-US" altLang="zh-CN">
                <a:ea typeface="宋体" panose="02010600030101010101" pitchFamily="2" charset="-122"/>
              </a:rPr>
              <a:t>LUN masking and zoning, switch-wide and fabric-wide access control, RBAC, and logical partitioning of a fabric (Virtual SAN) are the most commonly used SAN security methods.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4B6B305-7B01-01F1-16D9-4EA68CC3FCB7}"/>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55B036AE-1042-F0C1-A767-3C87BFCC5812}"/>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95A2009F-8554-B882-67E2-745E9D2B463F}"/>
              </a:ext>
            </a:extLst>
          </p:cNvPr>
          <p:cNvSpPr>
            <a:spLocks noGrp="1" noChangeArrowheads="1"/>
          </p:cNvSpPr>
          <p:nvPr>
            <p:ph type="sldNum" sz="quarter" idx="5"/>
          </p:nvPr>
        </p:nvSpPr>
        <p:spPr>
          <a:ln/>
        </p:spPr>
        <p:txBody>
          <a:bodyPr/>
          <a:lstStyle/>
          <a:p>
            <a:r>
              <a:rPr lang="en-US" altLang="zh-CN"/>
              <a:t>- </a:t>
            </a:r>
            <a:fld id="{7F05AB74-B265-4BC8-A6CF-13DDEB2A2A2A}" type="slidenum">
              <a:rPr lang="en-US" altLang="zh-CN"/>
              <a:pPr/>
              <a:t>28</a:t>
            </a:fld>
            <a:endParaRPr lang="en-US" altLang="zh-CN"/>
          </a:p>
        </p:txBody>
      </p:sp>
      <p:sp>
        <p:nvSpPr>
          <p:cNvPr id="82946" name="Rectangle 2">
            <a:extLst>
              <a:ext uri="{FF2B5EF4-FFF2-40B4-BE49-F238E27FC236}">
                <a16:creationId xmlns:a16="http://schemas.microsoft.com/office/drawing/2014/main" id="{5E73C9D9-34FE-E55A-C4B9-53341220FA94}"/>
              </a:ext>
            </a:extLst>
          </p:cNvPr>
          <p:cNvSpPr>
            <a:spLocks noRot="1" noChangeArrowheads="1" noTextEdit="1"/>
          </p:cNvSpPr>
          <p:nvPr>
            <p:ph type="sldImg"/>
          </p:nvPr>
        </p:nvSpPr>
        <p:spPr>
          <a:ln/>
        </p:spPr>
      </p:sp>
      <p:sp>
        <p:nvSpPr>
          <p:cNvPr id="82947" name="Rectangle 3">
            <a:extLst>
              <a:ext uri="{FF2B5EF4-FFF2-40B4-BE49-F238E27FC236}">
                <a16:creationId xmlns:a16="http://schemas.microsoft.com/office/drawing/2014/main" id="{9017CE33-E0DA-F0F7-8D29-BE9F0EDA31D2}"/>
              </a:ext>
            </a:extLst>
          </p:cNvPr>
          <p:cNvSpPr>
            <a:spLocks noGrp="1" noChangeArrowheads="1"/>
          </p:cNvSpPr>
          <p:nvPr>
            <p:ph type="body" idx="1"/>
          </p:nvPr>
        </p:nvSpPr>
        <p:spPr/>
        <p:txBody>
          <a:bodyPr/>
          <a:lstStyle/>
          <a:p>
            <a:r>
              <a:rPr lang="en-US" altLang="zh-CN">
                <a:ea typeface="宋体" panose="02010600030101010101" pitchFamily="2" charset="-122"/>
              </a:rPr>
              <a:t>LUN masking and zoning are the basic SAN security mechanisms used to protect against unauthorized access to storage. Standard implementations of storage arrays mask the LUNs that are presented to a front-end storage port, based on the WWPNs of the source HBAs. A stronger variant of LUN masking may sometimes be offered whereby masking can be done on the basis of source FCIDs. Note that the FCID typically changes if the HBA is relocated across ports in the fabric. To avoid this problem, major switch vendors offer a mechanism to lock down the FCID of a given node port regardless of its location.</a:t>
            </a:r>
          </a:p>
          <a:p>
            <a:r>
              <a:rPr lang="en-US" altLang="zh-CN" i="1">
                <a:ea typeface="宋体" panose="02010600030101010101" pitchFamily="2" charset="-122"/>
              </a:rPr>
              <a:t>Hard zoning </a:t>
            </a:r>
            <a:r>
              <a:rPr lang="en-US" altLang="zh-CN">
                <a:ea typeface="宋体" panose="02010600030101010101" pitchFamily="2" charset="-122"/>
              </a:rPr>
              <a:t>or </a:t>
            </a:r>
            <a:r>
              <a:rPr lang="en-US" altLang="zh-CN" i="1">
                <a:ea typeface="宋体" panose="02010600030101010101" pitchFamily="2" charset="-122"/>
              </a:rPr>
              <a:t>port zoning </a:t>
            </a:r>
            <a:r>
              <a:rPr lang="en-US" altLang="zh-CN">
                <a:ea typeface="宋体" panose="02010600030101010101" pitchFamily="2" charset="-122"/>
              </a:rPr>
              <a:t>is the mechanism of choice in security-conscious environments. Unlike soft zoning or WWPN zoning, it actually filters frames to ensure that only authorized zone members can communicate. However, it lacks one significant advantage of WWPN zoning: The zoning configuration must change if the source or the target is relocated across ports in the fabric. There is a trade-off between ease of management and the security provided by WWPN zoning and port zoning.</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4AA3822-EB5E-7B8A-9414-E6D3974D4BB2}"/>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F63FBAF6-247A-7A19-2600-8239913E087F}"/>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D82CBCC8-2A0E-639B-7AA3-F0C2D2F7A61B}"/>
              </a:ext>
            </a:extLst>
          </p:cNvPr>
          <p:cNvSpPr>
            <a:spLocks noGrp="1" noChangeArrowheads="1"/>
          </p:cNvSpPr>
          <p:nvPr>
            <p:ph type="sldNum" sz="quarter" idx="5"/>
          </p:nvPr>
        </p:nvSpPr>
        <p:spPr>
          <a:ln/>
        </p:spPr>
        <p:txBody>
          <a:bodyPr/>
          <a:lstStyle/>
          <a:p>
            <a:r>
              <a:rPr lang="en-US" altLang="zh-CN"/>
              <a:t>- </a:t>
            </a:r>
            <a:fld id="{A0AB989F-021D-4796-93D1-092FD5292D35}" type="slidenum">
              <a:rPr lang="en-US" altLang="zh-CN"/>
              <a:pPr/>
              <a:t>29</a:t>
            </a:fld>
            <a:endParaRPr lang="en-US" altLang="zh-CN"/>
          </a:p>
        </p:txBody>
      </p:sp>
      <p:sp>
        <p:nvSpPr>
          <p:cNvPr id="84994" name="Rectangle 2">
            <a:extLst>
              <a:ext uri="{FF2B5EF4-FFF2-40B4-BE49-F238E27FC236}">
                <a16:creationId xmlns:a16="http://schemas.microsoft.com/office/drawing/2014/main" id="{E8B86FC3-7F85-3EC8-6ECF-8076423B863C}"/>
              </a:ext>
            </a:extLst>
          </p:cNvPr>
          <p:cNvSpPr>
            <a:spLocks noRot="1" noChangeArrowheads="1" noTextEdit="1"/>
          </p:cNvSpPr>
          <p:nvPr>
            <p:ph type="sldImg"/>
          </p:nvPr>
        </p:nvSpPr>
        <p:spPr>
          <a:ln/>
        </p:spPr>
      </p:sp>
      <p:sp>
        <p:nvSpPr>
          <p:cNvPr id="84995" name="Rectangle 3">
            <a:extLst>
              <a:ext uri="{FF2B5EF4-FFF2-40B4-BE49-F238E27FC236}">
                <a16:creationId xmlns:a16="http://schemas.microsoft.com/office/drawing/2014/main" id="{446784BD-1DE8-7B11-7456-375CCF7CB670}"/>
              </a:ext>
            </a:extLst>
          </p:cNvPr>
          <p:cNvSpPr>
            <a:spLocks noGrp="1" noChangeArrowheads="1"/>
          </p:cNvSpPr>
          <p:nvPr>
            <p:ph type="body" idx="1"/>
          </p:nvPr>
        </p:nvSpPr>
        <p:spPr/>
        <p:txBody>
          <a:bodyPr/>
          <a:lstStyle/>
          <a:p>
            <a:r>
              <a:rPr lang="en-US" altLang="zh-CN">
                <a:ea typeface="宋体" panose="02010600030101010101" pitchFamily="2" charset="-122"/>
              </a:rPr>
              <a:t>Apart from zoning and LUN masking, additional security mechanisms such as port binding, port lockdown, port lockout, and persistent port disable can be implemented on switch ports. </a:t>
            </a:r>
          </a:p>
          <a:p>
            <a:pPr>
              <a:buFontTx/>
              <a:buChar char="•"/>
            </a:pPr>
            <a:r>
              <a:rPr lang="en-US" altLang="zh-CN" i="1">
                <a:ea typeface="宋体" panose="02010600030101010101" pitchFamily="2" charset="-122"/>
              </a:rPr>
              <a:t>Port binding </a:t>
            </a:r>
            <a:r>
              <a:rPr lang="en-US" altLang="zh-CN">
                <a:ea typeface="宋体" panose="02010600030101010101" pitchFamily="2" charset="-122"/>
              </a:rPr>
              <a:t>limits the number of devices that can attach to a particular switch port and allows only the corresponding switch port to connect to a node for fabric access. Port binding mitigates but does not eliminate WWPN spoofing. </a:t>
            </a:r>
          </a:p>
          <a:p>
            <a:pPr>
              <a:buFontTx/>
              <a:buChar char="•"/>
            </a:pPr>
            <a:r>
              <a:rPr lang="en-US" altLang="zh-CN" i="1">
                <a:ea typeface="宋体" panose="02010600030101010101" pitchFamily="2" charset="-122"/>
              </a:rPr>
              <a:t>Port lockdown </a:t>
            </a:r>
            <a:r>
              <a:rPr lang="en-US" altLang="zh-CN">
                <a:ea typeface="宋体" panose="02010600030101010101" pitchFamily="2" charset="-122"/>
              </a:rPr>
              <a:t>and </a:t>
            </a:r>
            <a:r>
              <a:rPr lang="en-US" altLang="zh-CN" i="1">
                <a:ea typeface="宋体" panose="02010600030101010101" pitchFamily="2" charset="-122"/>
              </a:rPr>
              <a:t>port lockout </a:t>
            </a:r>
            <a:r>
              <a:rPr lang="en-US" altLang="zh-CN">
                <a:ea typeface="宋体" panose="02010600030101010101" pitchFamily="2" charset="-122"/>
              </a:rPr>
              <a:t>restrict a switch port’s type of initialization. Typical variants of port lockout ensure that the switch port cannot function as an E_Port and cannot be used to create an ISL, such as a rogue switch. Some variants ensure that the port role is restricted to only FL_Port, F_Port, E_Port, or a combination of these. </a:t>
            </a:r>
          </a:p>
          <a:p>
            <a:pPr>
              <a:buFontTx/>
              <a:buChar char="•"/>
            </a:pPr>
            <a:r>
              <a:rPr lang="en-US" altLang="zh-CN" i="1">
                <a:ea typeface="宋体" panose="02010600030101010101" pitchFamily="2" charset="-122"/>
              </a:rPr>
              <a:t>Persistent port disable </a:t>
            </a:r>
            <a:r>
              <a:rPr lang="en-US" altLang="zh-CN">
                <a:ea typeface="宋体" panose="02010600030101010101" pitchFamily="2" charset="-122"/>
              </a:rPr>
              <a:t>prevents a switch port from being enabled even after a switch reboot.</a:t>
            </a:r>
            <a:endParaRPr lang="en-US" altLang="zh-CN" i="1">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6309B46-1C3D-5D1E-FCCF-E93986FC0B85}"/>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61B4EC92-C624-26CB-1C35-4CA314568797}"/>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974B2C25-9AFE-8560-7E46-369731C4940D}"/>
              </a:ext>
            </a:extLst>
          </p:cNvPr>
          <p:cNvSpPr>
            <a:spLocks noGrp="1" noChangeArrowheads="1"/>
          </p:cNvSpPr>
          <p:nvPr>
            <p:ph type="sldNum" sz="quarter" idx="5"/>
          </p:nvPr>
        </p:nvSpPr>
        <p:spPr>
          <a:ln/>
        </p:spPr>
        <p:txBody>
          <a:bodyPr/>
          <a:lstStyle/>
          <a:p>
            <a:r>
              <a:rPr lang="en-US" altLang="zh-CN"/>
              <a:t>- </a:t>
            </a:r>
            <a:fld id="{FBF7B780-C1D5-4DFB-9511-54F10A4E4396}" type="slidenum">
              <a:rPr lang="en-US" altLang="zh-CN"/>
              <a:pPr/>
              <a:t>30</a:t>
            </a:fld>
            <a:endParaRPr lang="en-US" altLang="zh-CN"/>
          </a:p>
        </p:txBody>
      </p:sp>
      <p:sp>
        <p:nvSpPr>
          <p:cNvPr id="87042" name="Rectangle 2">
            <a:extLst>
              <a:ext uri="{FF2B5EF4-FFF2-40B4-BE49-F238E27FC236}">
                <a16:creationId xmlns:a16="http://schemas.microsoft.com/office/drawing/2014/main" id="{AF1EADBF-4E47-54AD-F0DC-FAE2FF252E6E}"/>
              </a:ext>
            </a:extLst>
          </p:cNvPr>
          <p:cNvSpPr>
            <a:spLocks noRot="1" noChangeArrowheads="1" noTextEdit="1"/>
          </p:cNvSpPr>
          <p:nvPr>
            <p:ph type="sldImg"/>
          </p:nvPr>
        </p:nvSpPr>
        <p:spPr>
          <a:ln/>
        </p:spPr>
      </p:sp>
      <p:sp>
        <p:nvSpPr>
          <p:cNvPr id="87043" name="Rectangle 3">
            <a:extLst>
              <a:ext uri="{FF2B5EF4-FFF2-40B4-BE49-F238E27FC236}">
                <a16:creationId xmlns:a16="http://schemas.microsoft.com/office/drawing/2014/main" id="{068C44D2-617F-8048-A8EE-EE13C0C1F847}"/>
              </a:ext>
            </a:extLst>
          </p:cNvPr>
          <p:cNvSpPr>
            <a:spLocks noGrp="1" noChangeArrowheads="1"/>
          </p:cNvSpPr>
          <p:nvPr>
            <p:ph type="body" idx="1"/>
          </p:nvPr>
        </p:nvSpPr>
        <p:spPr/>
        <p:txBody>
          <a:bodyPr/>
          <a:lstStyle/>
          <a:p>
            <a:r>
              <a:rPr lang="en-US" altLang="zh-CN">
                <a:ea typeface="宋体" panose="02010600030101010101" pitchFamily="2" charset="-122"/>
              </a:rPr>
              <a:t>As organizations grow their SANs locally or over longer distances there is a greater need to effectively manage SAN security. Network security can be configured on the FC switch by using </a:t>
            </a:r>
            <a:r>
              <a:rPr lang="en-US" altLang="zh-CN" i="1">
                <a:ea typeface="宋体" panose="02010600030101010101" pitchFamily="2" charset="-122"/>
              </a:rPr>
              <a:t>access control lists (ACLs) </a:t>
            </a:r>
            <a:r>
              <a:rPr lang="en-US" altLang="zh-CN">
                <a:ea typeface="宋体" panose="02010600030101010101" pitchFamily="2" charset="-122"/>
              </a:rPr>
              <a:t>and on the fabric by using fabric binding.</a:t>
            </a:r>
          </a:p>
          <a:p>
            <a:r>
              <a:rPr lang="en-US" altLang="zh-CN" b="1">
                <a:ea typeface="宋体" panose="02010600030101010101" pitchFamily="2" charset="-122"/>
              </a:rPr>
              <a:t>ACLs</a:t>
            </a:r>
            <a:r>
              <a:rPr lang="en-US" altLang="zh-CN">
                <a:ea typeface="宋体" panose="02010600030101010101" pitchFamily="2" charset="-122"/>
              </a:rPr>
              <a:t> incorporate the device connection control and switch connection control policies. The device connection control policy specifies which HBAs and storage ports can be a part of the fabric, preventing unauthorized devices (identified by WWPNs) from accessing it. Similarly, the switch connection control policy specifies which switches are allowed to be part of the fabric, preventing unauthorized switches (identified by WWNs) from joining it.</a:t>
            </a:r>
          </a:p>
          <a:p>
            <a:r>
              <a:rPr lang="en-US" altLang="zh-CN" b="1" i="1">
                <a:ea typeface="宋体" panose="02010600030101010101" pitchFamily="2" charset="-122"/>
              </a:rPr>
              <a:t>Fabric binding</a:t>
            </a:r>
            <a:r>
              <a:rPr lang="en-US" altLang="zh-CN" i="1">
                <a:ea typeface="宋体" panose="02010600030101010101" pitchFamily="2" charset="-122"/>
              </a:rPr>
              <a:t> </a:t>
            </a:r>
            <a:r>
              <a:rPr lang="en-US" altLang="zh-CN">
                <a:ea typeface="宋体" panose="02010600030101010101" pitchFamily="2" charset="-122"/>
              </a:rPr>
              <a:t>prevents an unauthorized switch from joining any existing switch in the fabric. It ensures that authorized membership data exists on every switch and that any attempt to connect two switches by using an ISL causes the fabric to segment. </a:t>
            </a:r>
          </a:p>
          <a:p>
            <a:r>
              <a:rPr lang="en-US" altLang="zh-CN" b="1">
                <a:ea typeface="宋体" panose="02010600030101010101" pitchFamily="2" charset="-122"/>
              </a:rPr>
              <a:t>Role-based access control</a:t>
            </a:r>
            <a:r>
              <a:rPr lang="en-US" altLang="zh-CN">
                <a:ea typeface="宋体" panose="02010600030101010101" pitchFamily="2" charset="-122"/>
              </a:rPr>
              <a:t> provides additional security to a SAN by preventing unauthorized management activity on the fabric for management operations. It enables the security administrator to assign roles to users that explicitly specify privileges or access rights after logging into the fabric. For example, the </a:t>
            </a:r>
            <a:r>
              <a:rPr lang="en-US" altLang="zh-CN" i="1">
                <a:ea typeface="宋体" panose="02010600030101010101" pitchFamily="2" charset="-122"/>
              </a:rPr>
              <a:t>zoneadmin </a:t>
            </a:r>
            <a:r>
              <a:rPr lang="en-US" altLang="zh-CN">
                <a:ea typeface="宋体" panose="02010600030101010101" pitchFamily="2" charset="-122"/>
              </a:rPr>
              <a:t>role is able to modify the zones on the fabric, whereas a basic user may only be able to view fabric-related information, such as port types and logged-in nodes.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8A2C0D9-0320-F36C-C696-D5F5ABE9A4EB}"/>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C1114B8E-DDD2-C2BE-B882-5F502E08DF9C}"/>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1B3C3878-6383-4F6F-45B3-C9328CBF91C2}"/>
              </a:ext>
            </a:extLst>
          </p:cNvPr>
          <p:cNvSpPr>
            <a:spLocks noGrp="1" noChangeArrowheads="1"/>
          </p:cNvSpPr>
          <p:nvPr>
            <p:ph type="sldNum" sz="quarter" idx="5"/>
          </p:nvPr>
        </p:nvSpPr>
        <p:spPr>
          <a:ln/>
        </p:spPr>
        <p:txBody>
          <a:bodyPr/>
          <a:lstStyle/>
          <a:p>
            <a:r>
              <a:rPr lang="en-US" altLang="zh-CN"/>
              <a:t>- </a:t>
            </a:r>
            <a:fld id="{C1DA810B-070D-46A6-9911-17F7B9FA00C1}" type="slidenum">
              <a:rPr lang="en-US" altLang="zh-CN"/>
              <a:pPr/>
              <a:t>31</a:t>
            </a:fld>
            <a:endParaRPr lang="en-US" altLang="zh-CN"/>
          </a:p>
        </p:txBody>
      </p:sp>
      <p:sp>
        <p:nvSpPr>
          <p:cNvPr id="89090" name="Rectangle 2">
            <a:extLst>
              <a:ext uri="{FF2B5EF4-FFF2-40B4-BE49-F238E27FC236}">
                <a16:creationId xmlns:a16="http://schemas.microsoft.com/office/drawing/2014/main" id="{61495FF0-809C-BCF0-DAD3-4BD277109555}"/>
              </a:ext>
            </a:extLst>
          </p:cNvPr>
          <p:cNvSpPr>
            <a:spLocks noRot="1" noChangeArrowheads="1" noTextEdit="1"/>
          </p:cNvSpPr>
          <p:nvPr>
            <p:ph type="sldImg"/>
          </p:nvPr>
        </p:nvSpPr>
        <p:spPr>
          <a:ln/>
        </p:spPr>
      </p:sp>
      <p:sp>
        <p:nvSpPr>
          <p:cNvPr id="89091" name="Rectangle 3">
            <a:extLst>
              <a:ext uri="{FF2B5EF4-FFF2-40B4-BE49-F238E27FC236}">
                <a16:creationId xmlns:a16="http://schemas.microsoft.com/office/drawing/2014/main" id="{E5244C6F-7380-85DC-A81F-1BAF93D420B7}"/>
              </a:ext>
            </a:extLst>
          </p:cNvPr>
          <p:cNvSpPr>
            <a:spLocks noGrp="1" noChangeArrowheads="1"/>
          </p:cNvSpPr>
          <p:nvPr>
            <p:ph type="body" idx="1"/>
          </p:nvPr>
        </p:nvSpPr>
        <p:spPr/>
        <p:txBody>
          <a:bodyPr/>
          <a:lstStyle/>
          <a:p>
            <a:pPr>
              <a:lnSpc>
                <a:spcPct val="90000"/>
              </a:lnSpc>
            </a:pPr>
            <a:r>
              <a:rPr lang="en-US" altLang="zh-CN">
                <a:ea typeface="宋体" panose="02010600030101010101" pitchFamily="2" charset="-122"/>
              </a:rPr>
              <a:t>VSANs enable the creation of multiple logical SANs over a common physical SAN. They provide the capability to build larger consolidated fabrics and still maintain the required security and isolation between them. Figure above depicts logical partitioning in a VSAN. </a:t>
            </a:r>
          </a:p>
          <a:p>
            <a:pPr>
              <a:lnSpc>
                <a:spcPct val="90000"/>
              </a:lnSpc>
            </a:pPr>
            <a:r>
              <a:rPr lang="en-US" altLang="zh-CN">
                <a:ea typeface="宋体" panose="02010600030101010101" pitchFamily="2" charset="-122"/>
              </a:rPr>
              <a:t>Zoning should be done for each VSAN to secure the entire physical SAN. Each managed VSAN can have only one active zone set at a time. As depicted in the figure, VSAN 1 is the active zone set. The SAN administrator can create distinct VSANs other than VSAN 1 and populate each of them with switch ports. In the example, the switch ports are distributed over three VSANs: 1, 2, and 3—for the IT, Engineering, and HR divisions, respectively. A zone set is defined for each VSAN, providing connectivity for HBAs and storage ports logged into the VSAN. Therefore, each of the three divisions—Engineering, IT, and HR—has its own logical fabric. Although they share physical switching gear with other divisions, they can be managed individually as stand-alone fabrics. </a:t>
            </a:r>
          </a:p>
          <a:p>
            <a:pPr>
              <a:lnSpc>
                <a:spcPct val="90000"/>
              </a:lnSpc>
            </a:pPr>
            <a:r>
              <a:rPr lang="en-US" altLang="zh-CN">
                <a:ea typeface="宋体" panose="02010600030101010101" pitchFamily="2" charset="-122"/>
              </a:rPr>
              <a:t>VSANs minimize the impact of fabric wide disruptive events because management and control traffic on the SAN—which may include RSCNs, zone set activation events, and more—does not traverse VSAN boundaries. Therefore, VSANs are a cost-effective alternative for building isolated physical fabrics. They contribute to information availability and security by isolating fabric events and providing a finer degree of authorization control within a single fabric.</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87122A9-A7C9-F2BF-DE76-9573D325C1D8}"/>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E0E69DE3-C2FD-E83E-EAE2-A75FDA4C9B4A}"/>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B139B807-4B65-A469-8309-2BD8FDB972BE}"/>
              </a:ext>
            </a:extLst>
          </p:cNvPr>
          <p:cNvSpPr>
            <a:spLocks noGrp="1" noChangeArrowheads="1"/>
          </p:cNvSpPr>
          <p:nvPr>
            <p:ph type="sldNum" sz="quarter" idx="5"/>
          </p:nvPr>
        </p:nvSpPr>
        <p:spPr>
          <a:ln/>
        </p:spPr>
        <p:txBody>
          <a:bodyPr/>
          <a:lstStyle/>
          <a:p>
            <a:r>
              <a:rPr lang="en-US" altLang="zh-CN"/>
              <a:t>- </a:t>
            </a:r>
            <a:fld id="{AED89D8E-60E0-4614-A82C-34C2175B08F8}" type="slidenum">
              <a:rPr lang="en-US" altLang="zh-CN"/>
              <a:pPr/>
              <a:t>32</a:t>
            </a:fld>
            <a:endParaRPr lang="en-US" altLang="zh-CN"/>
          </a:p>
        </p:txBody>
      </p:sp>
      <p:sp>
        <p:nvSpPr>
          <p:cNvPr id="93186" name="Rectangle 2">
            <a:extLst>
              <a:ext uri="{FF2B5EF4-FFF2-40B4-BE49-F238E27FC236}">
                <a16:creationId xmlns:a16="http://schemas.microsoft.com/office/drawing/2014/main" id="{E66C1250-8C73-3B8A-F3DF-1201A8B01B14}"/>
              </a:ext>
            </a:extLst>
          </p:cNvPr>
          <p:cNvSpPr>
            <a:spLocks noRot="1" noChangeArrowheads="1" noTextEdit="1"/>
          </p:cNvSpPr>
          <p:nvPr>
            <p:ph type="sldImg"/>
          </p:nvPr>
        </p:nvSpPr>
        <p:spPr>
          <a:ln/>
        </p:spPr>
      </p:sp>
      <p:sp>
        <p:nvSpPr>
          <p:cNvPr id="93187" name="Rectangle 3">
            <a:extLst>
              <a:ext uri="{FF2B5EF4-FFF2-40B4-BE49-F238E27FC236}">
                <a16:creationId xmlns:a16="http://schemas.microsoft.com/office/drawing/2014/main" id="{DCA4EFCC-F932-214D-C4A1-B0CA10B4C22F}"/>
              </a:ext>
            </a:extLst>
          </p:cNvPr>
          <p:cNvSpPr>
            <a:spLocks noGrp="1" noChangeArrowheads="1"/>
          </p:cNvSpPr>
          <p:nvPr>
            <p:ph type="body" idx="1"/>
          </p:nvPr>
        </p:nvSpPr>
        <p:spPr/>
        <p:txBody>
          <a:bodyPr/>
          <a:lstStyle/>
          <a:p>
            <a:r>
              <a:rPr lang="en-US" altLang="zh-CN">
                <a:ea typeface="宋体" panose="02010600030101010101" pitchFamily="2" charset="-122"/>
              </a:rPr>
              <a:t>NAS is open to multiple exploits, including viruses, worms, unauthorized access, snooping, and data tampering. Various security mechanisms are implemented in NAS to secure data and the storage networking infrastructure. </a:t>
            </a:r>
          </a:p>
          <a:p>
            <a:r>
              <a:rPr lang="en-US" altLang="zh-CN">
                <a:ea typeface="宋体" panose="02010600030101010101" pitchFamily="2" charset="-122"/>
              </a:rPr>
              <a:t>Permissions and ACLs form the first level of protection to NAS resources by restricting accessibility and sharing. These permissions are deployed over and above the default behaviors and attributes associated with files and folders. In addition, various other authentication and authorization mechanisms, such as Kerberos and directory services, are implemented to verify the identity of network users and define their privileges. Similarly, firewalls are used to protect the storage infrastructure from unauthorized access and malicious attacks.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4A1025C-4696-EDE4-C6BA-39275CC0F311}"/>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63789428-9CC1-5DC6-D200-E5986542E434}"/>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5037D5DB-1CD4-0726-704B-037DF2126955}"/>
              </a:ext>
            </a:extLst>
          </p:cNvPr>
          <p:cNvSpPr>
            <a:spLocks noGrp="1" noChangeArrowheads="1"/>
          </p:cNvSpPr>
          <p:nvPr>
            <p:ph type="sldNum" sz="quarter" idx="5"/>
          </p:nvPr>
        </p:nvSpPr>
        <p:spPr>
          <a:ln/>
        </p:spPr>
        <p:txBody>
          <a:bodyPr/>
          <a:lstStyle/>
          <a:p>
            <a:r>
              <a:rPr lang="en-US" altLang="zh-CN"/>
              <a:t>- </a:t>
            </a:r>
            <a:fld id="{ABAAE7C2-07F5-4A4C-9DAB-CC5011773CCD}" type="slidenum">
              <a:rPr lang="en-US" altLang="zh-CN"/>
              <a:pPr/>
              <a:t>33</a:t>
            </a:fld>
            <a:endParaRPr lang="en-US" altLang="zh-CN"/>
          </a:p>
        </p:txBody>
      </p:sp>
      <p:sp>
        <p:nvSpPr>
          <p:cNvPr id="94210" name="Rectangle 2">
            <a:extLst>
              <a:ext uri="{FF2B5EF4-FFF2-40B4-BE49-F238E27FC236}">
                <a16:creationId xmlns:a16="http://schemas.microsoft.com/office/drawing/2014/main" id="{5CF0D69E-D6F7-ECDC-41C4-6100916DA7A6}"/>
              </a:ext>
            </a:extLst>
          </p:cNvPr>
          <p:cNvSpPr>
            <a:spLocks noRot="1" noChangeArrowheads="1" noTextEdit="1"/>
          </p:cNvSpPr>
          <p:nvPr>
            <p:ph type="sldImg"/>
          </p:nvPr>
        </p:nvSpPr>
        <p:spPr>
          <a:ln/>
        </p:spPr>
      </p:sp>
      <p:sp>
        <p:nvSpPr>
          <p:cNvPr id="94211" name="Rectangle 3">
            <a:extLst>
              <a:ext uri="{FF2B5EF4-FFF2-40B4-BE49-F238E27FC236}">
                <a16:creationId xmlns:a16="http://schemas.microsoft.com/office/drawing/2014/main" id="{94EB0077-B10D-08F6-A3D6-FC03AA7A4EDD}"/>
              </a:ext>
            </a:extLst>
          </p:cNvPr>
          <p:cNvSpPr>
            <a:spLocks noGrp="1" noChangeArrowheads="1"/>
          </p:cNvSpPr>
          <p:nvPr>
            <p:ph type="body" idx="1"/>
          </p:nvPr>
        </p:nvSpPr>
        <p:spPr/>
        <p:txBody>
          <a:bodyPr/>
          <a:lstStyle/>
          <a:p>
            <a:r>
              <a:rPr lang="en-US" altLang="zh-CN">
                <a:ea typeface="宋体" panose="02010600030101010101" pitchFamily="2" charset="-122"/>
              </a:rPr>
              <a:t>Windows supports two types of ACLs: </a:t>
            </a:r>
            <a:r>
              <a:rPr lang="en-US" altLang="zh-CN" i="1">
                <a:ea typeface="宋体" panose="02010600030101010101" pitchFamily="2" charset="-122"/>
              </a:rPr>
              <a:t>discretionary access control lists (DACLs) </a:t>
            </a:r>
            <a:r>
              <a:rPr lang="en-US" altLang="zh-CN">
                <a:ea typeface="宋体" panose="02010600030101010101" pitchFamily="2" charset="-122"/>
              </a:rPr>
              <a:t>and </a:t>
            </a:r>
            <a:r>
              <a:rPr lang="en-US" altLang="zh-CN" i="1">
                <a:ea typeface="宋体" panose="02010600030101010101" pitchFamily="2" charset="-122"/>
              </a:rPr>
              <a:t>system access control lists (SACLs)</a:t>
            </a:r>
            <a:r>
              <a:rPr lang="en-US" altLang="zh-CN">
                <a:ea typeface="宋体" panose="02010600030101010101" pitchFamily="2" charset="-122"/>
              </a:rPr>
              <a:t>. The DACL, commonly referred to as the ACL, is used to determine access control. The SACL determines what accesses need to be audited if auditing is enabled. In addition to these ACLs, Windows also supports the concept of object ownership. The owner of an object has hard-coded rights to that object, and these rights do not have to be explicitly granted in the SACL. The owner, SACL, and DACL are all statically held as an attribute of each object. Windows also offers the functionality to inherit permissions, which allows the child objects existing within a parent object to automatically inherit the ACLs of the parent object.</a:t>
            </a:r>
          </a:p>
          <a:p>
            <a:r>
              <a:rPr lang="en-US" altLang="zh-CN">
                <a:ea typeface="宋体" panose="02010600030101010101" pitchFamily="2" charset="-122"/>
              </a:rPr>
              <a:t>ACLs are also applied to directory objects known as SIDs. These are automatically generated by a Windows server or domain when a user or group is created, and they are abstracted from the user. In this way, though a user may identify his or her login ID as “User1,” it is simply a textual representation of the true SID, which is used by the underlying operating system. ACLs are set by using the standard Windows Explorer GUI, but can also be configured with CLI commands or other third-party tools.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6AA2A59-8C3F-1536-75EE-B93184F515A4}"/>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A2586DB5-97E9-CA25-BB71-972525E5CE2B}"/>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6CCF392B-F959-14A1-E02F-A4ABF32396D8}"/>
              </a:ext>
            </a:extLst>
          </p:cNvPr>
          <p:cNvSpPr>
            <a:spLocks noGrp="1" noChangeArrowheads="1"/>
          </p:cNvSpPr>
          <p:nvPr>
            <p:ph type="sldNum" sz="quarter" idx="5"/>
          </p:nvPr>
        </p:nvSpPr>
        <p:spPr>
          <a:ln/>
        </p:spPr>
        <p:txBody>
          <a:bodyPr/>
          <a:lstStyle/>
          <a:p>
            <a:r>
              <a:rPr lang="en-US" altLang="zh-CN"/>
              <a:t>- </a:t>
            </a:r>
            <a:fld id="{7F524BA1-D45D-444B-AA34-3BCC8A01E639}" type="slidenum">
              <a:rPr lang="en-US" altLang="zh-CN"/>
              <a:pPr/>
              <a:t>34</a:t>
            </a:fld>
            <a:endParaRPr lang="en-US" altLang="zh-CN"/>
          </a:p>
        </p:txBody>
      </p:sp>
      <p:sp>
        <p:nvSpPr>
          <p:cNvPr id="96258" name="Rectangle 2">
            <a:extLst>
              <a:ext uri="{FF2B5EF4-FFF2-40B4-BE49-F238E27FC236}">
                <a16:creationId xmlns:a16="http://schemas.microsoft.com/office/drawing/2014/main" id="{3FEFD5DB-78EE-DC3E-D530-0E7E6F493ECB}"/>
              </a:ext>
            </a:extLst>
          </p:cNvPr>
          <p:cNvSpPr>
            <a:spLocks noRot="1" noChangeArrowheads="1" noTextEdit="1"/>
          </p:cNvSpPr>
          <p:nvPr>
            <p:ph type="sldImg"/>
          </p:nvPr>
        </p:nvSpPr>
        <p:spPr>
          <a:ln/>
        </p:spPr>
      </p:sp>
      <p:sp>
        <p:nvSpPr>
          <p:cNvPr id="96259" name="Rectangle 3">
            <a:extLst>
              <a:ext uri="{FF2B5EF4-FFF2-40B4-BE49-F238E27FC236}">
                <a16:creationId xmlns:a16="http://schemas.microsoft.com/office/drawing/2014/main" id="{F0A83CAD-4897-D1EF-DFB7-9159443284B0}"/>
              </a:ext>
            </a:extLst>
          </p:cNvPr>
          <p:cNvSpPr>
            <a:spLocks noGrp="1" noChangeArrowheads="1"/>
          </p:cNvSpPr>
          <p:nvPr>
            <p:ph type="body" idx="1"/>
          </p:nvPr>
        </p:nvSpPr>
        <p:spPr>
          <a:xfrm>
            <a:off x="685800" y="4343400"/>
            <a:ext cx="5486400" cy="4419600"/>
          </a:xfrm>
        </p:spPr>
        <p:txBody>
          <a:bodyPr/>
          <a:lstStyle/>
          <a:p>
            <a:r>
              <a:rPr lang="en-US" altLang="zh-CN" sz="1100">
                <a:ea typeface="宋体" panose="02010600030101010101" pitchFamily="2" charset="-122"/>
              </a:rPr>
              <a:t>For the UNIX operating system, a </a:t>
            </a:r>
            <a:r>
              <a:rPr lang="en-US" altLang="zh-CN" sz="1100" i="1">
                <a:ea typeface="宋体" panose="02010600030101010101" pitchFamily="2" charset="-122"/>
              </a:rPr>
              <a:t>user </a:t>
            </a:r>
            <a:r>
              <a:rPr lang="en-US" altLang="zh-CN" sz="1100">
                <a:ea typeface="宋体" panose="02010600030101010101" pitchFamily="2" charset="-122"/>
              </a:rPr>
              <a:t>is an abstraction that denotes a logical entity for assignment of ownership and operation privileges for the system. A user can be either a person or a system operation. A UNIX system is only aware of the privileges of the user to perform specific operations on the system, and identifies each user by a user ID (UID) and a user name, regardless of whether it is a person, a system operation, or a device.</a:t>
            </a:r>
          </a:p>
          <a:p>
            <a:r>
              <a:rPr lang="en-US" altLang="zh-CN" sz="1100">
                <a:ea typeface="宋体" panose="02010600030101010101" pitchFamily="2" charset="-122"/>
              </a:rPr>
              <a:t>In UNIX, a user can be organized into one or more groups. The concept of groups serves the purpose of assigning sets of privileges for a given resource and sharing them among many users that need them. For example, a group of people working on one project may need the same permissions for a set of files. </a:t>
            </a:r>
          </a:p>
          <a:p>
            <a:r>
              <a:rPr lang="en-US" altLang="zh-CN" sz="1100">
                <a:ea typeface="宋体" panose="02010600030101010101" pitchFamily="2" charset="-122"/>
              </a:rPr>
              <a:t>UNIX permissions specify the operations that can be performed by any ownership relation with respect to a file. In simpler terms, these permissions specify what the owner can do, what the owner group can do, and what everyone else can do with the file. For any given ownership relation, three bits are used to specify access permissions. The first bit denotes read (r) access, the second bit denotes write (w) access, and the third bit denotes execute (x) access. As UNIX defines three ownership relations, (Owner, Group, and All) a triplet (defining the access permission) is required for each ownership relationship, resulting in nine bits. </a:t>
            </a:r>
          </a:p>
          <a:p>
            <a:r>
              <a:rPr lang="en-US" altLang="zh-CN" sz="1100">
                <a:ea typeface="宋体" panose="02010600030101010101" pitchFamily="2" charset="-122"/>
              </a:rPr>
              <a:t>Each bit can be either set or clear. When displayed, a set bit is marked by its corresponding operation letter (r, w, or x), a clear bit is denoted by a dash (-), and all are put in a row, such as rwxr-xr-x. In this example, the owner can do anything with the file, but group owners and the rest of the world can only read or execute.</a:t>
            </a:r>
          </a:p>
          <a:p>
            <a:r>
              <a:rPr lang="en-US" altLang="zh-CN" sz="1100">
                <a:ea typeface="宋体" panose="02010600030101010101" pitchFamily="2" charset="-122"/>
              </a:rPr>
              <a:t>When displayed, a character denoting the mode of the file may precede this nine bit pattern. For example, if the file is a directory, it is denoted as “d”; and if it is a link, it is denoted as “l.”</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46EE71B-52FD-8580-F203-16F69E817CE6}"/>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CE800183-DCC0-3886-E861-11A8A6944B26}"/>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60006CE4-C61F-3F30-7B49-F886F6121535}"/>
              </a:ext>
            </a:extLst>
          </p:cNvPr>
          <p:cNvSpPr>
            <a:spLocks noGrp="1" noChangeArrowheads="1"/>
          </p:cNvSpPr>
          <p:nvPr>
            <p:ph type="sldNum" sz="quarter" idx="5"/>
          </p:nvPr>
        </p:nvSpPr>
        <p:spPr>
          <a:ln/>
        </p:spPr>
        <p:txBody>
          <a:bodyPr/>
          <a:lstStyle/>
          <a:p>
            <a:r>
              <a:rPr lang="en-US" altLang="zh-CN"/>
              <a:t>- </a:t>
            </a:r>
            <a:fld id="{442CC59F-C990-4D76-8C88-04657B1ED6A7}" type="slidenum">
              <a:rPr lang="en-US" altLang="zh-CN"/>
              <a:pPr/>
              <a:t>35</a:t>
            </a:fld>
            <a:endParaRPr lang="en-US" altLang="zh-CN"/>
          </a:p>
        </p:txBody>
      </p:sp>
      <p:sp>
        <p:nvSpPr>
          <p:cNvPr id="98306" name="Rectangle 2">
            <a:extLst>
              <a:ext uri="{FF2B5EF4-FFF2-40B4-BE49-F238E27FC236}">
                <a16:creationId xmlns:a16="http://schemas.microsoft.com/office/drawing/2014/main" id="{8E7CAE27-D0A9-D459-9A29-F96576DCCF4A}"/>
              </a:ext>
            </a:extLst>
          </p:cNvPr>
          <p:cNvSpPr>
            <a:spLocks noRot="1" noChangeArrowheads="1" noTextEdit="1"/>
          </p:cNvSpPr>
          <p:nvPr>
            <p:ph type="sldImg"/>
          </p:nvPr>
        </p:nvSpPr>
        <p:spPr>
          <a:ln/>
        </p:spPr>
      </p:sp>
      <p:sp>
        <p:nvSpPr>
          <p:cNvPr id="98307" name="Rectangle 3">
            <a:extLst>
              <a:ext uri="{FF2B5EF4-FFF2-40B4-BE49-F238E27FC236}">
                <a16:creationId xmlns:a16="http://schemas.microsoft.com/office/drawing/2014/main" id="{A1A324AE-F527-AF02-3847-A580254DE930}"/>
              </a:ext>
            </a:extLst>
          </p:cNvPr>
          <p:cNvSpPr>
            <a:spLocks noGrp="1" noChangeArrowheads="1"/>
          </p:cNvSpPr>
          <p:nvPr>
            <p:ph type="body" idx="1"/>
          </p:nvPr>
        </p:nvSpPr>
        <p:spPr/>
        <p:txBody>
          <a:bodyPr/>
          <a:lstStyle/>
          <a:p>
            <a:r>
              <a:rPr lang="en-US" altLang="zh-CN">
                <a:ea typeface="宋体" panose="02010600030101010101" pitchFamily="2" charset="-122"/>
              </a:rPr>
              <a:t>In a file-sharing environment, NAS devices use standard file-sharing protocols, NFS and CIFS. Therefore, authentication and authorization are implemented and supported on NAS devices in the same way as in a UNIX or Windows files haring environment. Authentication requires verifying the identity of a network user and therefore involves a login credential lookup on a Network Information System (NIS) server in a UNIX environment. Similarly, a Windows client is authenticated by a Windows domain controller that houses the Active Directory. The Active Directory uses LDAP to access information about network objects in the directory, and Kerberos for network security. NAS devices use the same authentication techniques to validate network user credentials. Active Directory, LDAP, and Kerberos are discussed later in this chapter. The figure above depicts the authentication process in a NAS environment.</a:t>
            </a:r>
          </a:p>
          <a:p>
            <a:r>
              <a:rPr lang="en-US" altLang="zh-CN">
                <a:ea typeface="宋体" panose="02010600030101010101" pitchFamily="2" charset="-122"/>
              </a:rPr>
              <a:t>Authorization defines user privileges in a network. The authorization techniques for UNIX users and Windows users are quite different. UNIX files use mode bits to define access rights granted to owners, groups, and other users, whereas Windows uses an ACL to allow or deny specific rights to a particular user for a particular file.</a:t>
            </a:r>
          </a:p>
          <a:p>
            <a:r>
              <a:rPr lang="en-US" altLang="zh-CN">
                <a:ea typeface="宋体" panose="02010600030101010101" pitchFamily="2" charset="-122"/>
              </a:rPr>
              <a:t>Although NAS devices support both of these methodologies for UNIX and Windows users, complexities arise when UNIX and Windows users access and share the same data. If the NAS device supports multiple protocols, the integrity of both permission methodologies must be maintained. NAS device vendors provide a method of mapping UNIX permissions to Windows and vice versa, so a multiprotocol environment can be supported.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58476AE-3CCE-FCED-A114-545916D7A7A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32A454F7-4E7E-6B5E-5564-B12E9E588C05}"/>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9CB17670-34C6-6BDB-0F4E-AC0D519FC688}"/>
              </a:ext>
            </a:extLst>
          </p:cNvPr>
          <p:cNvSpPr>
            <a:spLocks noGrp="1" noChangeArrowheads="1"/>
          </p:cNvSpPr>
          <p:nvPr>
            <p:ph type="sldNum" sz="quarter" idx="5"/>
          </p:nvPr>
        </p:nvSpPr>
        <p:spPr>
          <a:ln/>
        </p:spPr>
        <p:txBody>
          <a:bodyPr/>
          <a:lstStyle/>
          <a:p>
            <a:r>
              <a:rPr lang="en-US" altLang="zh-CN"/>
              <a:t>- </a:t>
            </a:r>
            <a:fld id="{22DCAE01-B0D3-4617-ABDD-07FE3181C66A}" type="slidenum">
              <a:rPr lang="en-US" altLang="zh-CN"/>
              <a:pPr/>
              <a:t>36</a:t>
            </a:fld>
            <a:endParaRPr lang="en-US" altLang="zh-CN"/>
          </a:p>
        </p:txBody>
      </p:sp>
      <p:sp>
        <p:nvSpPr>
          <p:cNvPr id="102402" name="Rectangle 2">
            <a:extLst>
              <a:ext uri="{FF2B5EF4-FFF2-40B4-BE49-F238E27FC236}">
                <a16:creationId xmlns:a16="http://schemas.microsoft.com/office/drawing/2014/main" id="{EB0A6977-CEFE-5FED-7BD0-DEB62F6A563E}"/>
              </a:ext>
            </a:extLst>
          </p:cNvPr>
          <p:cNvSpPr>
            <a:spLocks noRot="1" noChangeArrowheads="1" noTextEdit="1"/>
          </p:cNvSpPr>
          <p:nvPr>
            <p:ph type="sldImg"/>
          </p:nvPr>
        </p:nvSpPr>
        <p:spPr>
          <a:ln/>
        </p:spPr>
      </p:sp>
      <p:sp>
        <p:nvSpPr>
          <p:cNvPr id="102403" name="Rectangle 3">
            <a:extLst>
              <a:ext uri="{FF2B5EF4-FFF2-40B4-BE49-F238E27FC236}">
                <a16:creationId xmlns:a16="http://schemas.microsoft.com/office/drawing/2014/main" id="{5BC03E56-2D6C-E6DE-CDC1-14F074E4E3D6}"/>
              </a:ext>
            </a:extLst>
          </p:cNvPr>
          <p:cNvSpPr>
            <a:spLocks noGrp="1" noChangeArrowheads="1"/>
          </p:cNvSpPr>
          <p:nvPr>
            <p:ph type="body" idx="1"/>
          </p:nvPr>
        </p:nvSpPr>
        <p:spPr/>
        <p:txBody>
          <a:bodyPr/>
          <a:lstStyle/>
          <a:p>
            <a:r>
              <a:rPr lang="en-US" altLang="zh-CN">
                <a:ea typeface="宋体" panose="02010600030101010101" pitchFamily="2" charset="-122"/>
              </a:rPr>
              <a:t>Kerberos is a network authentication protocol. It is designed to provide strong authentication for client/server applications by using secret-key cryptography. The Kerberos protocol uses strong cryptography so that a client can prove its identity to a server (and vice versa) across an insecure network connection. After a client and server have used Kerberos to prove their identity, they can also encrypt all of their communications to assure privacy and data integrity as they go about their business. </a:t>
            </a:r>
          </a:p>
          <a:p>
            <a:r>
              <a:rPr lang="en-US" altLang="zh-CN">
                <a:ea typeface="宋体" panose="02010600030101010101" pitchFamily="2" charset="-122"/>
              </a:rPr>
              <a:t>In Kerberos, all authentications occur between clients and servers. The client gets a ticket for a service, and the server decrypts this ticket by using its secret key. Any entity, user, or host that gets a service ticket for a Kerberos service is called a </a:t>
            </a:r>
            <a:r>
              <a:rPr lang="en-US" altLang="zh-CN" i="1">
                <a:ea typeface="宋体" panose="02010600030101010101" pitchFamily="2" charset="-122"/>
              </a:rPr>
              <a:t>Kerberos client</a:t>
            </a:r>
            <a:r>
              <a:rPr lang="en-US" altLang="zh-CN">
                <a:ea typeface="宋体" panose="02010600030101010101" pitchFamily="2" charset="-122"/>
              </a:rPr>
              <a:t>. The term </a:t>
            </a:r>
            <a:r>
              <a:rPr lang="en-US" altLang="zh-CN" i="1">
                <a:ea typeface="宋体" panose="02010600030101010101" pitchFamily="2" charset="-122"/>
              </a:rPr>
              <a:t>Kerberos server </a:t>
            </a:r>
            <a:r>
              <a:rPr lang="en-US" altLang="zh-CN">
                <a:ea typeface="宋体" panose="02010600030101010101" pitchFamily="2" charset="-122"/>
              </a:rPr>
              <a:t>generally refers to the Key Distribution Center (KDC). The KDC implements the Authentication Service (AS) and the Ticket Granting Service (TGS). The KDC has a copy of every password associated with every principal, so it is absolutely vital that the KDC remain secure.</a:t>
            </a:r>
          </a:p>
          <a:p>
            <a:r>
              <a:rPr lang="en-US" altLang="zh-CN">
                <a:ea typeface="宋体" panose="02010600030101010101" pitchFamily="2" charset="-122"/>
              </a:rPr>
              <a:t>In a NAS environment, Kerberos is primarily used when authenticating against a Microsoft Active Directory domain although it can be used to execute security functions in UNIX environments.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31785BD-F57F-C6A8-41D0-849AAECD0FAC}"/>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DF415488-67DA-6699-1210-EA85F9E472E0}"/>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F12AF497-EFC1-2D0D-CD35-9F0573E50B7C}"/>
              </a:ext>
            </a:extLst>
          </p:cNvPr>
          <p:cNvSpPr>
            <a:spLocks noGrp="1" noChangeArrowheads="1"/>
          </p:cNvSpPr>
          <p:nvPr>
            <p:ph type="sldNum" sz="quarter" idx="5"/>
          </p:nvPr>
        </p:nvSpPr>
        <p:spPr>
          <a:ln/>
        </p:spPr>
        <p:txBody>
          <a:bodyPr/>
          <a:lstStyle/>
          <a:p>
            <a:r>
              <a:rPr lang="en-US" altLang="zh-CN"/>
              <a:t>- </a:t>
            </a:r>
            <a:fld id="{A50D02B2-9D57-40B4-AE93-5764F118C18A}" type="slidenum">
              <a:rPr lang="en-US" altLang="zh-CN"/>
              <a:pPr/>
              <a:t>37</a:t>
            </a:fld>
            <a:endParaRPr lang="en-US" altLang="zh-CN"/>
          </a:p>
        </p:txBody>
      </p:sp>
      <p:sp>
        <p:nvSpPr>
          <p:cNvPr id="104450" name="Rectangle 2">
            <a:extLst>
              <a:ext uri="{FF2B5EF4-FFF2-40B4-BE49-F238E27FC236}">
                <a16:creationId xmlns:a16="http://schemas.microsoft.com/office/drawing/2014/main" id="{6310F5F3-AC14-9164-92A0-C0B271C5A6C5}"/>
              </a:ext>
            </a:extLst>
          </p:cNvPr>
          <p:cNvSpPr>
            <a:spLocks noRot="1" noChangeArrowheads="1" noTextEdit="1"/>
          </p:cNvSpPr>
          <p:nvPr>
            <p:ph type="sldImg"/>
          </p:nvPr>
        </p:nvSpPr>
        <p:spPr>
          <a:ln/>
        </p:spPr>
      </p:sp>
      <p:sp>
        <p:nvSpPr>
          <p:cNvPr id="104451" name="Rectangle 3">
            <a:extLst>
              <a:ext uri="{FF2B5EF4-FFF2-40B4-BE49-F238E27FC236}">
                <a16:creationId xmlns:a16="http://schemas.microsoft.com/office/drawing/2014/main" id="{05F61005-A66F-0D2D-5C8C-A6398ABE3E92}"/>
              </a:ext>
            </a:extLst>
          </p:cNvPr>
          <p:cNvSpPr>
            <a:spLocks noGrp="1" noChangeArrowheads="1"/>
          </p:cNvSpPr>
          <p:nvPr>
            <p:ph type="body" idx="1"/>
          </p:nvPr>
        </p:nvSpPr>
        <p:spPr/>
        <p:txBody>
          <a:bodyPr/>
          <a:lstStyle/>
          <a:p>
            <a:r>
              <a:rPr lang="en-US" altLang="zh-CN" sz="1100">
                <a:ea typeface="宋体" panose="02010600030101010101" pitchFamily="2" charset="-122"/>
              </a:rPr>
              <a:t>The Kerberos authorization process shown in the above figure includes the following steps:</a:t>
            </a:r>
          </a:p>
          <a:p>
            <a:r>
              <a:rPr lang="en-US" altLang="zh-CN" sz="1100">
                <a:ea typeface="宋体" panose="02010600030101010101" pitchFamily="2" charset="-122"/>
              </a:rPr>
              <a:t>1. The user logs on to the workstation in the Active Directory domain (or forest) using an ID and a password. The client computer sends a request to the AS running on the KDC for a Kerberos ticket. The KDC verifies the user’s login information from Active Directory. (Note that this step is not explicitly shown in Figure 15-8.)</a:t>
            </a:r>
          </a:p>
          <a:p>
            <a:r>
              <a:rPr lang="en-US" altLang="zh-CN" sz="1100">
                <a:ea typeface="宋体" panose="02010600030101010101" pitchFamily="2" charset="-122"/>
              </a:rPr>
              <a:t>2. The KDC responds with a TGT (TKT is a key used for identification and has limited validity period). It contains two parts, one decryptable by the client and the other by the KDC.</a:t>
            </a:r>
          </a:p>
          <a:p>
            <a:r>
              <a:rPr lang="en-US" altLang="zh-CN" sz="1100">
                <a:ea typeface="宋体" panose="02010600030101010101" pitchFamily="2" charset="-122"/>
              </a:rPr>
              <a:t>3. When the client requests a service from a server, it sends a request, composed of the previously generated TGT and the resource information, to the KDC.</a:t>
            </a:r>
          </a:p>
          <a:p>
            <a:r>
              <a:rPr lang="en-US" altLang="zh-CN" sz="1100">
                <a:ea typeface="宋体" panose="02010600030101010101" pitchFamily="2" charset="-122"/>
              </a:rPr>
              <a:t>4. The KDC checks the permissions in Active Directory and ensures that the user is authorized to use that service. </a:t>
            </a:r>
          </a:p>
          <a:p>
            <a:r>
              <a:rPr lang="en-US" altLang="zh-CN" sz="1100">
                <a:ea typeface="宋体" panose="02010600030101010101" pitchFamily="2" charset="-122"/>
              </a:rPr>
              <a:t>5. The KDC returns a service ticket to the client. This service ticket contains fields addressed to the client and to the server that is hosting the service.</a:t>
            </a:r>
          </a:p>
          <a:p>
            <a:r>
              <a:rPr lang="en-US" altLang="zh-CN" sz="1100">
                <a:ea typeface="宋体" panose="02010600030101010101" pitchFamily="2" charset="-122"/>
              </a:rPr>
              <a:t>6. The client then sends the service ticket to the server that houses the desired resources. </a:t>
            </a:r>
          </a:p>
          <a:p>
            <a:r>
              <a:rPr lang="en-US" altLang="zh-CN" sz="1100">
                <a:ea typeface="宋体" panose="02010600030101010101" pitchFamily="2" charset="-122"/>
              </a:rPr>
              <a:t>7. The server, in this case the NAS device, decrypts the server portion of the ticket and stores the information in a keytab file. As long as the client’s Kerberos ticket is valid, this authorization process does not need to be repeated. The server automatically allows the client to access the appropriate resources.</a:t>
            </a:r>
          </a:p>
          <a:p>
            <a:r>
              <a:rPr lang="en-US" altLang="zh-CN" sz="1100">
                <a:ea typeface="宋体" panose="02010600030101010101" pitchFamily="2" charset="-122"/>
              </a:rPr>
              <a:t>8. A client/server session is now established. The server returns a session ID to the client, which is used to track client activity, such as file locking, as long as the session is active.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E17954F-55AC-E407-86F7-EC42B9E1639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6C6125A2-7BFA-96F9-C533-6F7F6FA21C1F}"/>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B682594D-470E-67DB-E6ED-90F0E9480595}"/>
              </a:ext>
            </a:extLst>
          </p:cNvPr>
          <p:cNvSpPr>
            <a:spLocks noGrp="1" noChangeArrowheads="1"/>
          </p:cNvSpPr>
          <p:nvPr>
            <p:ph type="sldNum" sz="quarter" idx="5"/>
          </p:nvPr>
        </p:nvSpPr>
        <p:spPr>
          <a:ln/>
        </p:spPr>
        <p:txBody>
          <a:bodyPr/>
          <a:lstStyle/>
          <a:p>
            <a:r>
              <a:rPr lang="en-US" altLang="zh-CN"/>
              <a:t>- </a:t>
            </a:r>
            <a:fld id="{DEBA9C17-DA9F-466E-B21C-5A0EFD6328E9}" type="slidenum">
              <a:rPr lang="en-US" altLang="zh-CN"/>
              <a:pPr/>
              <a:t>38</a:t>
            </a:fld>
            <a:endParaRPr lang="en-US" altLang="zh-CN"/>
          </a:p>
        </p:txBody>
      </p:sp>
      <p:sp>
        <p:nvSpPr>
          <p:cNvPr id="106498" name="Rectangle 2">
            <a:extLst>
              <a:ext uri="{FF2B5EF4-FFF2-40B4-BE49-F238E27FC236}">
                <a16:creationId xmlns:a16="http://schemas.microsoft.com/office/drawing/2014/main" id="{03E61C2F-90FB-814A-5F1F-F8795F506936}"/>
              </a:ext>
            </a:extLst>
          </p:cNvPr>
          <p:cNvSpPr>
            <a:spLocks noRot="1" noChangeArrowheads="1" noTextEdit="1"/>
          </p:cNvSpPr>
          <p:nvPr>
            <p:ph type="sldImg"/>
          </p:nvPr>
        </p:nvSpPr>
        <p:spPr>
          <a:ln/>
        </p:spPr>
      </p:sp>
      <p:sp>
        <p:nvSpPr>
          <p:cNvPr id="106499" name="Rectangle 3">
            <a:extLst>
              <a:ext uri="{FF2B5EF4-FFF2-40B4-BE49-F238E27FC236}">
                <a16:creationId xmlns:a16="http://schemas.microsoft.com/office/drawing/2014/main" id="{F0C697A7-9C93-0C2D-20BF-4FB487B8FA14}"/>
              </a:ext>
            </a:extLst>
          </p:cNvPr>
          <p:cNvSpPr>
            <a:spLocks noGrp="1" noChangeArrowheads="1"/>
          </p:cNvSpPr>
          <p:nvPr>
            <p:ph type="body" idx="1"/>
          </p:nvPr>
        </p:nvSpPr>
        <p:spPr/>
        <p:txBody>
          <a:bodyPr/>
          <a:lstStyle/>
          <a:p>
            <a:r>
              <a:rPr lang="en-US" altLang="zh-CN">
                <a:ea typeface="宋体" panose="02010600030101010101" pitchFamily="2" charset="-122"/>
              </a:rPr>
              <a:t>Because NAS devices utilize the IP protocol stack, they are vulnerable to various attacks initiated through the public IP network. Network layer firewalls are implemented in NAS environments to protect the NAS devices from these security threats. These network-layer firewalls are capable of examining network packets and comparing them to a set of configured security rules. Packets that are not authorized by a security rule are dropped and not allowed to continue to the requested destination. Rules can be established based on a source address (network or host), a destination address (network or host), a port, or a combination of those factors (source IP, destination IP, and port number). The effectiveness of a firewall depends on how robust and extensive the security rules are. A loosely defined rule set can increase the probability of a security breach. Figure shown here depicts a typical firewall implementation. </a:t>
            </a:r>
          </a:p>
          <a:p>
            <a:r>
              <a:rPr lang="en-US" altLang="zh-CN">
                <a:ea typeface="宋体" panose="02010600030101010101" pitchFamily="2" charset="-122"/>
              </a:rPr>
              <a:t>Demilitarized zone (DMZ) is commonly used in networking environments. A DMZ provides a means of securing internal assets while allowing Internet-based access to various resources. In a DMZ environment, servers that need to be accessed through the Internet are placed between two sets of firewalls. Application-specific ports, such as HTTP or FTP, are allowed through the firewall to the DMZ servers. However, no Internet-based traffic is allowed to penetrate the second set of firewalls and gain access to internal network. The servers in the DMZ may or may not be allowed to communicate with internal resources. In such a setup, the server in the DMZ is an Internet-facing Web application that is accessing data stored on a NAS device, which may be located on the internal private network. A secure design would only serve data to internal and external applications through the DMZ.</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1D6C046-9197-308E-C4BD-C8CB3F1A93AB}"/>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26F8DE00-3C0B-ED11-DEE9-556544F6C741}"/>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9FCBC95A-94BC-0639-7FD1-6A82D9BC81DA}"/>
              </a:ext>
            </a:extLst>
          </p:cNvPr>
          <p:cNvSpPr>
            <a:spLocks noGrp="1" noChangeArrowheads="1"/>
          </p:cNvSpPr>
          <p:nvPr>
            <p:ph type="sldNum" sz="quarter" idx="5"/>
          </p:nvPr>
        </p:nvSpPr>
        <p:spPr>
          <a:ln/>
        </p:spPr>
        <p:txBody>
          <a:bodyPr/>
          <a:lstStyle/>
          <a:p>
            <a:r>
              <a:rPr lang="en-US" altLang="zh-CN"/>
              <a:t>- </a:t>
            </a:r>
            <a:fld id="{75CB9EE0-6335-4573-A0A2-A56575AD8BF6}" type="slidenum">
              <a:rPr lang="en-US" altLang="zh-CN"/>
              <a:pPr/>
              <a:t>39</a:t>
            </a:fld>
            <a:endParaRPr lang="en-US" altLang="zh-CN"/>
          </a:p>
        </p:txBody>
      </p:sp>
      <p:sp>
        <p:nvSpPr>
          <p:cNvPr id="110594" name="Rectangle 2">
            <a:extLst>
              <a:ext uri="{FF2B5EF4-FFF2-40B4-BE49-F238E27FC236}">
                <a16:creationId xmlns:a16="http://schemas.microsoft.com/office/drawing/2014/main" id="{6BDD3F6B-3900-44E1-FCEB-9AC80C0BC4AB}"/>
              </a:ext>
            </a:extLst>
          </p:cNvPr>
          <p:cNvSpPr>
            <a:spLocks noRot="1" noChangeArrowheads="1" noTextEdit="1"/>
          </p:cNvSpPr>
          <p:nvPr>
            <p:ph type="sldImg"/>
          </p:nvPr>
        </p:nvSpPr>
        <p:spPr>
          <a:ln/>
        </p:spPr>
      </p:sp>
      <p:sp>
        <p:nvSpPr>
          <p:cNvPr id="110595" name="Rectangle 3">
            <a:extLst>
              <a:ext uri="{FF2B5EF4-FFF2-40B4-BE49-F238E27FC236}">
                <a16:creationId xmlns:a16="http://schemas.microsoft.com/office/drawing/2014/main" id="{17315112-1D22-3037-A704-9A7AFF8D4747}"/>
              </a:ext>
            </a:extLst>
          </p:cNvPr>
          <p:cNvSpPr>
            <a:spLocks noGrp="1" noChangeArrowheads="1"/>
          </p:cNvSpPr>
          <p:nvPr>
            <p:ph type="body" idx="1"/>
          </p:nvPr>
        </p:nvSpPr>
        <p:spPr/>
        <p:txBody>
          <a:bodyPr/>
          <a:lstStyle/>
          <a:p>
            <a:r>
              <a:rPr lang="en-US" altLang="zh-CN">
                <a:ea typeface="宋体" panose="02010600030101010101" pitchFamily="2" charset="-122"/>
              </a:rPr>
              <a:t>The </a:t>
            </a:r>
            <a:r>
              <a:rPr lang="en-US" altLang="zh-CN" i="1">
                <a:ea typeface="宋体" panose="02010600030101010101" pitchFamily="2" charset="-122"/>
              </a:rPr>
              <a:t>Challenge-Handshake Authentication Protocol (CHAP) </a:t>
            </a:r>
            <a:r>
              <a:rPr lang="en-US" altLang="zh-CN">
                <a:ea typeface="宋体" panose="02010600030101010101" pitchFamily="2" charset="-122"/>
              </a:rPr>
              <a:t>is a basic authentication mechanism that has been widely adopted by network devices and hosts. CHAP provides a method for initiators and targets to authenticate each other by utilizing a secret code or password. CHAP secrets are usually random secrets of 12 to 128 characters. The secret is never exchanged directly over the wire; rather, a one-way hash function converts it into a hash value, which is then exchanged. A hash function, using the MD5 algorithm, transforms data in such a way that the result is unique and cannot be changed back to its original form. </a:t>
            </a:r>
          </a:p>
          <a:p>
            <a:endParaRPr lang="en-US" altLang="zh-CN">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A47FEDD7-F37F-CA7D-D2A3-621400099994}"/>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452D52FA-0258-2F59-4C20-1F979342B521}"/>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880C6E48-37DB-A4BA-850F-87450308BA5D}"/>
              </a:ext>
            </a:extLst>
          </p:cNvPr>
          <p:cNvSpPr>
            <a:spLocks noGrp="1" noChangeArrowheads="1"/>
          </p:cNvSpPr>
          <p:nvPr>
            <p:ph type="sldNum" sz="quarter" idx="5"/>
          </p:nvPr>
        </p:nvSpPr>
        <p:spPr>
          <a:ln/>
        </p:spPr>
        <p:txBody>
          <a:bodyPr/>
          <a:lstStyle/>
          <a:p>
            <a:r>
              <a:rPr lang="en-US" altLang="zh-CN"/>
              <a:t>- </a:t>
            </a:r>
            <a:fld id="{0AF74206-D13B-4413-9C64-3D1E9A76E881}" type="slidenum">
              <a:rPr lang="en-US" altLang="zh-CN"/>
              <a:pPr/>
              <a:t>40</a:t>
            </a:fld>
            <a:endParaRPr lang="en-US" altLang="zh-CN"/>
          </a:p>
        </p:txBody>
      </p:sp>
      <p:sp>
        <p:nvSpPr>
          <p:cNvPr id="112642" name="Rectangle 2">
            <a:extLst>
              <a:ext uri="{FF2B5EF4-FFF2-40B4-BE49-F238E27FC236}">
                <a16:creationId xmlns:a16="http://schemas.microsoft.com/office/drawing/2014/main" id="{BD5A7759-E41B-725F-5582-3ED6D1E52335}"/>
              </a:ext>
            </a:extLst>
          </p:cNvPr>
          <p:cNvSpPr>
            <a:spLocks noRot="1" noChangeArrowheads="1" noTextEdit="1"/>
          </p:cNvSpPr>
          <p:nvPr>
            <p:ph type="sldImg"/>
          </p:nvPr>
        </p:nvSpPr>
        <p:spPr>
          <a:ln/>
        </p:spPr>
      </p:sp>
      <p:sp>
        <p:nvSpPr>
          <p:cNvPr id="112643" name="Rectangle 3">
            <a:extLst>
              <a:ext uri="{FF2B5EF4-FFF2-40B4-BE49-F238E27FC236}">
                <a16:creationId xmlns:a16="http://schemas.microsoft.com/office/drawing/2014/main" id="{9F5D3B5D-6116-4F8E-CC92-0897C984CC81}"/>
              </a:ext>
            </a:extLst>
          </p:cNvPr>
          <p:cNvSpPr>
            <a:spLocks noGrp="1" noChangeArrowheads="1"/>
          </p:cNvSpPr>
          <p:nvPr>
            <p:ph type="body" idx="1"/>
          </p:nvPr>
        </p:nvSpPr>
        <p:spPr/>
        <p:txBody>
          <a:bodyPr/>
          <a:lstStyle/>
          <a:p>
            <a:r>
              <a:rPr lang="en-US" altLang="zh-CN">
                <a:ea typeface="宋体" panose="02010600030101010101" pitchFamily="2" charset="-122"/>
              </a:rPr>
              <a:t>The above figure illustrates the CHAP authentication process. </a:t>
            </a:r>
          </a:p>
          <a:p>
            <a:endParaRPr lang="en-US" altLang="zh-CN">
              <a:ea typeface="宋体" panose="02010600030101010101" pitchFamily="2" charset="-122"/>
            </a:endParaRPr>
          </a:p>
          <a:p>
            <a:r>
              <a:rPr lang="en-US" altLang="zh-CN">
                <a:ea typeface="宋体" panose="02010600030101010101" pitchFamily="2" charset="-122"/>
              </a:rPr>
              <a:t>If the initiator requires reverse CHAP authentication, the initiator authenticates the target by using the same procedure. The CHAP secret must be configured on the initiator and the target. A CHAP entry, comprising the name of a node and the secret associated with the node, is maintained by the target and the initiator.</a:t>
            </a:r>
          </a:p>
          <a:p>
            <a:endParaRPr lang="en-US" altLang="zh-CN">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EE2906B-DFAD-97F0-41FC-9B85F44D764C}"/>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F347AD6D-1969-3257-A896-70403896BEC8}"/>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40611BDC-F790-86D8-9E56-89FF706903BD}"/>
              </a:ext>
            </a:extLst>
          </p:cNvPr>
          <p:cNvSpPr>
            <a:spLocks noGrp="1" noChangeArrowheads="1"/>
          </p:cNvSpPr>
          <p:nvPr>
            <p:ph type="sldNum" sz="quarter" idx="5"/>
          </p:nvPr>
        </p:nvSpPr>
        <p:spPr>
          <a:ln/>
        </p:spPr>
        <p:txBody>
          <a:bodyPr/>
          <a:lstStyle/>
          <a:p>
            <a:r>
              <a:rPr lang="en-US" altLang="zh-CN"/>
              <a:t>- </a:t>
            </a:r>
            <a:fld id="{41E7EE19-B7FE-4FEE-BEB5-3108BFC32A86}" type="slidenum">
              <a:rPr lang="en-US" altLang="zh-CN"/>
              <a:pPr/>
              <a:t>41</a:t>
            </a:fld>
            <a:endParaRPr lang="en-US" altLang="zh-CN"/>
          </a:p>
        </p:txBody>
      </p:sp>
      <p:sp>
        <p:nvSpPr>
          <p:cNvPr id="116738" name="Rectangle 2">
            <a:extLst>
              <a:ext uri="{FF2B5EF4-FFF2-40B4-BE49-F238E27FC236}">
                <a16:creationId xmlns:a16="http://schemas.microsoft.com/office/drawing/2014/main" id="{6159FBA6-286C-287A-CB04-6AE613061988}"/>
              </a:ext>
            </a:extLst>
          </p:cNvPr>
          <p:cNvSpPr>
            <a:spLocks noRot="1" noChangeArrowheads="1" noTextEdit="1"/>
          </p:cNvSpPr>
          <p:nvPr>
            <p:ph type="sldImg"/>
          </p:nvPr>
        </p:nvSpPr>
        <p:spPr>
          <a:ln/>
        </p:spPr>
      </p:sp>
      <p:sp>
        <p:nvSpPr>
          <p:cNvPr id="116739" name="Rectangle 3">
            <a:extLst>
              <a:ext uri="{FF2B5EF4-FFF2-40B4-BE49-F238E27FC236}">
                <a16:creationId xmlns:a16="http://schemas.microsoft.com/office/drawing/2014/main" id="{F806CEB4-7516-DC2C-B966-8EF291E99648}"/>
              </a:ext>
            </a:extLst>
          </p:cNvPr>
          <p:cNvSpPr>
            <a:spLocks noGrp="1" noChangeArrowheads="1"/>
          </p:cNvSpPr>
          <p:nvPr>
            <p:ph type="body" idx="1"/>
          </p:nvPr>
        </p:nvSpPr>
        <p:spPr/>
        <p:txBody>
          <a:bodyPr/>
          <a:lstStyle/>
          <a:p>
            <a:r>
              <a:rPr lang="en-US" altLang="zh-CN">
                <a:ea typeface="宋体" panose="02010600030101010101" pitchFamily="2" charset="-122"/>
              </a:rPr>
              <a:t>The same steps are executed in a two-way CHAP authentication scenario. After these steps are completed, the initiator authenticates the target. If both authentication steps succeed, then data access is allowed. CHAP is often used.</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C3480D3-051D-C4BF-10EE-3AD44902C07B}"/>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C7D4F6B7-9E40-8F47-7482-DC213CA6C185}"/>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E5E53BC3-7174-3575-3D78-FE2D2F796054}"/>
              </a:ext>
            </a:extLst>
          </p:cNvPr>
          <p:cNvSpPr>
            <a:spLocks noGrp="1" noChangeArrowheads="1"/>
          </p:cNvSpPr>
          <p:nvPr>
            <p:ph type="sldNum" sz="quarter" idx="5"/>
          </p:nvPr>
        </p:nvSpPr>
        <p:spPr>
          <a:ln/>
        </p:spPr>
        <p:txBody>
          <a:bodyPr/>
          <a:lstStyle/>
          <a:p>
            <a:r>
              <a:rPr lang="en-US" altLang="zh-CN"/>
              <a:t>- </a:t>
            </a:r>
            <a:fld id="{BC35071B-8196-41A7-97F1-F0140115DB50}" type="slidenum">
              <a:rPr lang="en-US" altLang="zh-CN"/>
              <a:pPr/>
              <a:t>42</a:t>
            </a:fld>
            <a:endParaRPr lang="en-US" altLang="zh-CN"/>
          </a:p>
        </p:txBody>
      </p:sp>
      <p:sp>
        <p:nvSpPr>
          <p:cNvPr id="114690" name="Rectangle 2">
            <a:extLst>
              <a:ext uri="{FF2B5EF4-FFF2-40B4-BE49-F238E27FC236}">
                <a16:creationId xmlns:a16="http://schemas.microsoft.com/office/drawing/2014/main" id="{D210B9DD-7EB5-ED01-B0E1-BC796E106284}"/>
              </a:ext>
            </a:extLst>
          </p:cNvPr>
          <p:cNvSpPr>
            <a:spLocks noRot="1" noChangeArrowheads="1" noTextEdit="1"/>
          </p:cNvSpPr>
          <p:nvPr>
            <p:ph type="sldImg"/>
          </p:nvPr>
        </p:nvSpPr>
        <p:spPr>
          <a:ln/>
        </p:spPr>
      </p:sp>
      <p:sp>
        <p:nvSpPr>
          <p:cNvPr id="114691" name="Rectangle 3">
            <a:extLst>
              <a:ext uri="{FF2B5EF4-FFF2-40B4-BE49-F238E27FC236}">
                <a16:creationId xmlns:a16="http://schemas.microsoft.com/office/drawing/2014/main" id="{17A9E53C-0DD4-7ED2-00FB-B849D5D22901}"/>
              </a:ext>
            </a:extLst>
          </p:cNvPr>
          <p:cNvSpPr>
            <a:spLocks noGrp="1" noChangeArrowheads="1"/>
          </p:cNvSpPr>
          <p:nvPr>
            <p:ph type="body" idx="1"/>
          </p:nvPr>
        </p:nvSpPr>
        <p:spPr/>
        <p:txBody>
          <a:bodyPr/>
          <a:lstStyle/>
          <a:p>
            <a:r>
              <a:rPr lang="en-US" altLang="zh-CN" i="1">
                <a:ea typeface="宋体" panose="02010600030101010101" pitchFamily="2" charset="-122"/>
              </a:rPr>
              <a:t>iSNS discovery domains </a:t>
            </a:r>
            <a:r>
              <a:rPr lang="en-US" altLang="zh-CN">
                <a:ea typeface="宋体" panose="02010600030101010101" pitchFamily="2" charset="-122"/>
              </a:rPr>
              <a:t>function in the same way as FC zones. Discovery domains provide functional groupings of devices in an IP-SAN. In order for devices to communicate with one another, they must be configured in the same discovery domain. State change notifications (SCNs) tell the iSNS server when devices are added or removed from a discovery domain. Figure shown here illustrates the discovery domains in iSNS.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CEC0F78-36E5-5C7E-1781-7CCDF2080FF9}"/>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3187AAAB-8332-CCEA-F854-9599B901B844}"/>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E904A907-520E-B550-2D66-4BB41063BC10}"/>
              </a:ext>
            </a:extLst>
          </p:cNvPr>
          <p:cNvSpPr>
            <a:spLocks noGrp="1" noChangeArrowheads="1"/>
          </p:cNvSpPr>
          <p:nvPr>
            <p:ph type="sldNum" sz="quarter" idx="5"/>
          </p:nvPr>
        </p:nvSpPr>
        <p:spPr>
          <a:ln/>
        </p:spPr>
        <p:txBody>
          <a:bodyPr/>
          <a:lstStyle/>
          <a:p>
            <a:r>
              <a:rPr lang="en-US" altLang="zh-CN"/>
              <a:t>- </a:t>
            </a:r>
            <a:fld id="{B4DD8AFB-BCDE-4B4E-A71E-88282DE47AA7}" type="slidenum">
              <a:rPr lang="en-US" altLang="zh-CN"/>
              <a:pPr/>
              <a:t>43</a:t>
            </a:fld>
            <a:endParaRPr lang="en-US" altLang="zh-CN"/>
          </a:p>
        </p:txBody>
      </p:sp>
      <p:sp>
        <p:nvSpPr>
          <p:cNvPr id="118786" name="Rectangle 2">
            <a:extLst>
              <a:ext uri="{FF2B5EF4-FFF2-40B4-BE49-F238E27FC236}">
                <a16:creationId xmlns:a16="http://schemas.microsoft.com/office/drawing/2014/main" id="{DB71EC38-76CB-BF51-B495-2B4BCA49A93D}"/>
              </a:ext>
            </a:extLst>
          </p:cNvPr>
          <p:cNvSpPr>
            <a:spLocks noRot="1" noChangeArrowheads="1" noTextEdit="1"/>
          </p:cNvSpPr>
          <p:nvPr>
            <p:ph type="sldImg"/>
          </p:nvPr>
        </p:nvSpPr>
        <p:spPr>
          <a:xfrm>
            <a:off x="1144588" y="685800"/>
            <a:ext cx="4572000" cy="3429000"/>
          </a:xfrm>
          <a:ln/>
        </p:spPr>
      </p:sp>
      <p:sp>
        <p:nvSpPr>
          <p:cNvPr id="118787" name="Rectangle 3">
            <a:extLst>
              <a:ext uri="{FF2B5EF4-FFF2-40B4-BE49-F238E27FC236}">
                <a16:creationId xmlns:a16="http://schemas.microsoft.com/office/drawing/2014/main" id="{25C1CD4F-7396-989D-E975-2B473B8DE2D1}"/>
              </a:ext>
            </a:extLst>
          </p:cNvPr>
          <p:cNvSpPr>
            <a:spLocks noGrp="1" noChangeArrowheads="1"/>
          </p:cNvSpPr>
          <p:nvPr>
            <p:ph type="body" idx="1"/>
          </p:nvPr>
        </p:nvSpPr>
        <p:spPr/>
        <p:txBody>
          <a:bodyPr/>
          <a:lstStyle/>
          <a:p>
            <a:endParaRPr lang="zh-CN" altLang="en-US">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3E5973B-8881-E2A3-69D7-93E02F3A1DAB}"/>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F1626E2A-1734-280E-FA05-1555ACEBDDA9}"/>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E93F766E-F048-A128-D07F-AE78A8C8E75F}"/>
              </a:ext>
            </a:extLst>
          </p:cNvPr>
          <p:cNvSpPr>
            <a:spLocks noGrp="1" noChangeArrowheads="1"/>
          </p:cNvSpPr>
          <p:nvPr>
            <p:ph type="sldNum" sz="quarter" idx="5"/>
          </p:nvPr>
        </p:nvSpPr>
        <p:spPr>
          <a:ln/>
        </p:spPr>
        <p:txBody>
          <a:bodyPr/>
          <a:lstStyle/>
          <a:p>
            <a:r>
              <a:rPr lang="en-US" altLang="zh-CN"/>
              <a:t>- </a:t>
            </a:r>
            <a:fld id="{0736AB53-2848-489C-951E-0F4A72DC5943}" type="slidenum">
              <a:rPr lang="en-US" altLang="zh-CN"/>
              <a:pPr/>
              <a:t>44</a:t>
            </a:fld>
            <a:endParaRPr lang="en-US" altLang="zh-CN"/>
          </a:p>
        </p:txBody>
      </p:sp>
      <p:sp>
        <p:nvSpPr>
          <p:cNvPr id="120834" name="Rectangle 2">
            <a:extLst>
              <a:ext uri="{FF2B5EF4-FFF2-40B4-BE49-F238E27FC236}">
                <a16:creationId xmlns:a16="http://schemas.microsoft.com/office/drawing/2014/main" id="{4D65A9B1-8576-25E6-BAB4-2CF4CC22EFDC}"/>
              </a:ext>
            </a:extLst>
          </p:cNvPr>
          <p:cNvSpPr>
            <a:spLocks noRot="1" noChangeArrowheads="1" noTextEdit="1"/>
          </p:cNvSpPr>
          <p:nvPr>
            <p:ph type="sldImg"/>
          </p:nvPr>
        </p:nvSpPr>
        <p:spPr>
          <a:xfrm>
            <a:off x="690563" y="458788"/>
            <a:ext cx="5478462" cy="4108450"/>
          </a:xfrm>
          <a:ln/>
        </p:spPr>
      </p:sp>
      <p:sp>
        <p:nvSpPr>
          <p:cNvPr id="120835" name="Rectangle 3">
            <a:extLst>
              <a:ext uri="{FF2B5EF4-FFF2-40B4-BE49-F238E27FC236}">
                <a16:creationId xmlns:a16="http://schemas.microsoft.com/office/drawing/2014/main" id="{7F236AC3-A5C5-2925-70DD-6B3DA03449FF}"/>
              </a:ext>
            </a:extLst>
          </p:cNvPr>
          <p:cNvSpPr>
            <a:spLocks noGrp="1" noChangeArrowheads="1"/>
          </p:cNvSpPr>
          <p:nvPr>
            <p:ph type="body" idx="1"/>
          </p:nvPr>
        </p:nvSpPr>
        <p:spPr>
          <a:xfrm>
            <a:off x="374650" y="4686300"/>
            <a:ext cx="6110288" cy="4002088"/>
          </a:xfrm>
        </p:spPr>
        <p:txBody>
          <a:bodyPr/>
          <a:lstStyle/>
          <a:p>
            <a:r>
              <a:rPr lang="en-US" altLang="zh-CN">
                <a:ea typeface="宋体" panose="02010600030101010101" pitchFamily="2" charset="-122"/>
              </a:rPr>
              <a:t>These are the key points covered in this module. Please take a moment to review them.</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29FCF8F-89A6-9BCE-320A-6C53D727340F}"/>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 name="Rectangle 6">
            <a:extLst>
              <a:ext uri="{FF2B5EF4-FFF2-40B4-BE49-F238E27FC236}">
                <a16:creationId xmlns:a16="http://schemas.microsoft.com/office/drawing/2014/main" id="{46FC5745-FD0A-7AF8-71F0-6A5DC41D2EBC}"/>
              </a:ext>
            </a:extLst>
          </p:cNvPr>
          <p:cNvSpPr>
            <a:spLocks noGrp="1" noChangeArrowheads="1"/>
          </p:cNvSpPr>
          <p:nvPr>
            <p:ph type="ftr" sz="quarter" idx="4"/>
          </p:nvPr>
        </p:nvSpPr>
        <p:spPr>
          <a:ln/>
        </p:spPr>
        <p:txBody>
          <a:bodyPr/>
          <a:lstStyle/>
          <a:p>
            <a:r>
              <a:rPr lang="zh-CN" altLang="en-US"/>
              <a:t>Securing the Storage Infrastructure</a:t>
            </a:r>
            <a:endParaRPr lang="en-US" altLang="zh-CN"/>
          </a:p>
        </p:txBody>
      </p:sp>
      <p:sp>
        <p:nvSpPr>
          <p:cNvPr id="4" name="Rectangle 7">
            <a:extLst>
              <a:ext uri="{FF2B5EF4-FFF2-40B4-BE49-F238E27FC236}">
                <a16:creationId xmlns:a16="http://schemas.microsoft.com/office/drawing/2014/main" id="{06193B8D-BD1E-48F1-0BB2-B7236E437643}"/>
              </a:ext>
            </a:extLst>
          </p:cNvPr>
          <p:cNvSpPr>
            <a:spLocks noGrp="1" noChangeArrowheads="1"/>
          </p:cNvSpPr>
          <p:nvPr>
            <p:ph type="sldNum" sz="quarter" idx="5"/>
          </p:nvPr>
        </p:nvSpPr>
        <p:spPr>
          <a:ln/>
        </p:spPr>
        <p:txBody>
          <a:bodyPr/>
          <a:lstStyle/>
          <a:p>
            <a:r>
              <a:rPr lang="en-US" altLang="zh-CN"/>
              <a:t>- </a:t>
            </a:r>
            <a:fld id="{3745E1C4-5A2F-4BD1-9DF9-9071B448BADF}" type="slidenum">
              <a:rPr lang="en-US" altLang="zh-CN"/>
              <a:pPr/>
              <a:t>45</a:t>
            </a:fld>
            <a:endParaRPr lang="en-US" altLang="zh-CN"/>
          </a:p>
        </p:txBody>
      </p:sp>
      <p:sp>
        <p:nvSpPr>
          <p:cNvPr id="160770" name="Rectangle 2">
            <a:extLst>
              <a:ext uri="{FF2B5EF4-FFF2-40B4-BE49-F238E27FC236}">
                <a16:creationId xmlns:a16="http://schemas.microsoft.com/office/drawing/2014/main" id="{227DF8AE-6115-31CF-A21F-15A18ED83FCD}"/>
              </a:ext>
            </a:extLst>
          </p:cNvPr>
          <p:cNvSpPr>
            <a:spLocks noRot="1" noChangeArrowheads="1" noTextEdit="1"/>
          </p:cNvSpPr>
          <p:nvPr>
            <p:ph type="sldImg"/>
          </p:nvPr>
        </p:nvSpPr>
        <p:spPr>
          <a:xfrm>
            <a:off x="688975" y="457200"/>
            <a:ext cx="5480050" cy="4110038"/>
          </a:xfrm>
          <a:ln/>
        </p:spPr>
      </p:sp>
      <p:sp>
        <p:nvSpPr>
          <p:cNvPr id="160771" name="Rectangle 3">
            <a:extLst>
              <a:ext uri="{FF2B5EF4-FFF2-40B4-BE49-F238E27FC236}">
                <a16:creationId xmlns:a16="http://schemas.microsoft.com/office/drawing/2014/main" id="{FA45B65D-F5E2-3E29-7B03-DDBCBAE36828}"/>
              </a:ext>
            </a:extLst>
          </p:cNvPr>
          <p:cNvSpPr>
            <a:spLocks noGrp="1" noChangeArrowheads="1"/>
          </p:cNvSpPr>
          <p:nvPr>
            <p:ph type="body" idx="1"/>
          </p:nvPr>
        </p:nvSpPr>
        <p:spPr>
          <a:xfrm>
            <a:off x="374650" y="4686300"/>
            <a:ext cx="6110288" cy="4003675"/>
          </a:xfrm>
        </p:spPr>
        <p:txBody>
          <a:bodyPr/>
          <a:lstStyle/>
          <a:p>
            <a:endParaRPr lang="zh-CN" altLang="en-US">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CD75C40-082F-6671-FBD4-C304B422C2D6}"/>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33766" name="Rectangle 6">
            <a:extLst>
              <a:ext uri="{FF2B5EF4-FFF2-40B4-BE49-F238E27FC236}">
                <a16:creationId xmlns:a16="http://schemas.microsoft.com/office/drawing/2014/main" id="{A611F7DA-CF4F-E6B4-66CC-86872957B8B4}"/>
              </a:ext>
            </a:extLst>
          </p:cNvPr>
          <p:cNvSpPr>
            <a:spLocks noRot="1" noChangeAspect="1" noChangeArrowheads="1" noTextEdit="1"/>
          </p:cNvSpPr>
          <p:nvPr>
            <p:ph type="sldImg"/>
          </p:nvPr>
        </p:nvSpPr>
        <p:spPr>
          <a:xfrm>
            <a:off x="822325" y="481013"/>
            <a:ext cx="5753100" cy="4314825"/>
          </a:xfrm>
          <a:ln/>
        </p:spPr>
      </p:sp>
      <p:sp>
        <p:nvSpPr>
          <p:cNvPr id="2933767" name="Rectangle 7">
            <a:extLst>
              <a:ext uri="{FF2B5EF4-FFF2-40B4-BE49-F238E27FC236}">
                <a16:creationId xmlns:a16="http://schemas.microsoft.com/office/drawing/2014/main" id="{0D24C19C-89AA-E0F2-47F9-3F4FC0FD2303}"/>
              </a:ext>
            </a:extLst>
          </p:cNvPr>
          <p:cNvSpPr>
            <a:spLocks noGrp="1" noChangeAspect="1" noChangeArrowheads="1"/>
          </p:cNvSpPr>
          <p:nvPr>
            <p:ph type="body" idx="1"/>
          </p:nvPr>
        </p:nvSpPr>
        <p:spPr/>
        <p:txBody>
          <a:bodyPr/>
          <a:lstStyle/>
          <a:p>
            <a:endParaRPr lang="zh-CN" altLang="en-US">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D72C694-841E-BE65-0D8A-7F5FCF833C81}"/>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35814" name="Rectangle 6">
            <a:extLst>
              <a:ext uri="{FF2B5EF4-FFF2-40B4-BE49-F238E27FC236}">
                <a16:creationId xmlns:a16="http://schemas.microsoft.com/office/drawing/2014/main" id="{CD04BB88-6C97-8AEF-754D-D041B2A4D838}"/>
              </a:ext>
            </a:extLst>
          </p:cNvPr>
          <p:cNvSpPr>
            <a:spLocks noRot="1" noChangeAspect="1" noChangeArrowheads="1" noTextEdit="1"/>
          </p:cNvSpPr>
          <p:nvPr>
            <p:ph type="sldImg"/>
          </p:nvPr>
        </p:nvSpPr>
        <p:spPr>
          <a:ln/>
        </p:spPr>
      </p:sp>
      <p:sp>
        <p:nvSpPr>
          <p:cNvPr id="2935815" name="Rectangle 7">
            <a:extLst>
              <a:ext uri="{FF2B5EF4-FFF2-40B4-BE49-F238E27FC236}">
                <a16:creationId xmlns:a16="http://schemas.microsoft.com/office/drawing/2014/main" id="{EC47D1D3-B84B-8461-3B8C-798028C95EBC}"/>
              </a:ext>
            </a:extLst>
          </p:cNvPr>
          <p:cNvSpPr>
            <a:spLocks noGrp="1" noChangeAspect="1" noChangeArrowheads="1"/>
          </p:cNvSpPr>
          <p:nvPr>
            <p:ph type="body" idx="1"/>
          </p:nvPr>
        </p:nvSpPr>
        <p:spPr/>
        <p:txBody>
          <a:bodyPr/>
          <a:lstStyle/>
          <a:p>
            <a:r>
              <a:rPr lang="en-US" altLang="zh-CN">
                <a:ea typeface="宋体" panose="02010600030101010101" pitchFamily="2" charset="-122"/>
              </a:rPr>
              <a:t>In this module, you learn about different aspects of monitoring data center components, including the benefits of pro-active monitoring and the challenges of managing a heterogeneous environment (multiple hardware/software from various vendors).</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0E58773-8E2C-CDF7-2507-F3E00046041F}"/>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59042" name="Rectangle 2">
            <a:extLst>
              <a:ext uri="{FF2B5EF4-FFF2-40B4-BE49-F238E27FC236}">
                <a16:creationId xmlns:a16="http://schemas.microsoft.com/office/drawing/2014/main" id="{FA3C3A57-44E7-49C5-BF27-1ACECCBB2891}"/>
              </a:ext>
            </a:extLst>
          </p:cNvPr>
          <p:cNvSpPr>
            <a:spLocks noRot="1" noChangeAspect="1" noChangeArrowheads="1" noTextEdit="1"/>
          </p:cNvSpPr>
          <p:nvPr>
            <p:ph type="sldImg"/>
          </p:nvPr>
        </p:nvSpPr>
        <p:spPr>
          <a:ln/>
        </p:spPr>
      </p:sp>
      <p:sp>
        <p:nvSpPr>
          <p:cNvPr id="3159043" name="Rectangle 3">
            <a:extLst>
              <a:ext uri="{FF2B5EF4-FFF2-40B4-BE49-F238E27FC236}">
                <a16:creationId xmlns:a16="http://schemas.microsoft.com/office/drawing/2014/main" id="{0CAFE79F-043D-A49C-5AC8-2ED75C78D0E0}"/>
              </a:ext>
            </a:extLst>
          </p:cNvPr>
          <p:cNvSpPr>
            <a:spLocks noGrp="1" noChangeAspect="1" noChangeArrowheads="1"/>
          </p:cNvSpPr>
          <p:nvPr>
            <p:ph type="body" idx="1"/>
          </p:nvPr>
        </p:nvSpPr>
        <p:spPr/>
        <p:txBody>
          <a:bodyPr/>
          <a:lstStyle/>
          <a:p>
            <a:r>
              <a:rPr lang="en-US" altLang="zh-CN" sz="1100" b="1">
                <a:ea typeface="宋体" panose="02010600030101010101" pitchFamily="2" charset="-122"/>
              </a:rPr>
              <a:t>P</a:t>
            </a:r>
            <a:r>
              <a:rPr lang="en-US" altLang="zh-CN" sz="1100">
                <a:ea typeface="宋体" panose="02010600030101010101" pitchFamily="2" charset="-122"/>
              </a:rPr>
              <a:t>roliferation of applications, complexity of business processes, and requirements of 24×7 availability of information have put increasingly higher demands on IT infrastructure. Managing storage infrastructure is a key that enables organizations to address these challenges and ensures continuity of business. Comprehensive storage infrastructure management requires the implementation of intelligent processes and tools. This ensures availability and performance of all storage infrastructure elements, greater data protection and security, centralized auditing, and meeting compliance requirements. It also ensures the consolidation and better utilization of resources, limiting the need for excessive investment in technology, and helps to efficiently leverage existing resources. </a:t>
            </a:r>
          </a:p>
          <a:p>
            <a:r>
              <a:rPr lang="en-US" altLang="zh-CN" sz="1100">
                <a:ea typeface="宋体" panose="02010600030101010101" pitchFamily="2" charset="-122"/>
              </a:rPr>
              <a:t>Managing the storage infrastructure comprises various activities including availability, capacity, performance, and security management. Each of these aspects are interrelated and must work together to maximize the return on investment. Virtualization technologies have dramatically changed the storage management scenario and have simplified the storage infrastructure management. Monitoring is one of the most important aspects that forms the basis for managing a storage infrastructure. Monitoring enables the identification status of various storage components and provides information to perform essential management activities. The management of the storage infrastructure components begins with defining products and services followed by defining service levels for these products and services. The service level defines the scope of the service, the associated security definitions, level of criticality to the business, and severity or priority levels. It also defines the response time associated with each level, hours of  normal operation, promises of quality, and speed of service. These service levels are defined with metrics that can be monitored and measured. Establishing management processes and implementing appropriate tools is the key to meeting service levels proactively. The management process establishes procedures for efficient handling of incidents, problems, and change requests to the storage infrastructure environment. It is imperative  to manage not just the individual components, but the storage infrastructure end-to-end due to the components’ interdependency. </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2954336-5067-425A-A4D0-A77D76404AE6}"/>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31394" name="Rectangle 2">
            <a:extLst>
              <a:ext uri="{FF2B5EF4-FFF2-40B4-BE49-F238E27FC236}">
                <a16:creationId xmlns:a16="http://schemas.microsoft.com/office/drawing/2014/main" id="{5737781B-F759-C47C-E2CE-EECC6E716F57}"/>
              </a:ext>
            </a:extLst>
          </p:cNvPr>
          <p:cNvSpPr>
            <a:spLocks noRot="1" noChangeAspect="1" noChangeArrowheads="1" noTextEdit="1"/>
          </p:cNvSpPr>
          <p:nvPr>
            <p:ph type="sldImg"/>
          </p:nvPr>
        </p:nvSpPr>
        <p:spPr>
          <a:ln/>
        </p:spPr>
      </p:sp>
      <p:sp>
        <p:nvSpPr>
          <p:cNvPr id="3131395" name="Rectangle 3">
            <a:extLst>
              <a:ext uri="{FF2B5EF4-FFF2-40B4-BE49-F238E27FC236}">
                <a16:creationId xmlns:a16="http://schemas.microsoft.com/office/drawing/2014/main" id="{2C0ACAA9-1FC6-15F0-7D59-5B3A84AEFA9F}"/>
              </a:ext>
            </a:extLst>
          </p:cNvPr>
          <p:cNvSpPr>
            <a:spLocks noGrp="1" noChangeAspect="1" noChangeArrowheads="1"/>
          </p:cNvSpPr>
          <p:nvPr>
            <p:ph type="body" idx="1"/>
          </p:nvPr>
        </p:nvSpPr>
        <p:spPr/>
        <p:txBody>
          <a:bodyPr/>
          <a:lstStyle/>
          <a:p>
            <a:r>
              <a:rPr lang="en-US" altLang="zh-CN">
                <a:ea typeface="宋体" panose="02010600030101010101" pitchFamily="2" charset="-122"/>
              </a:rPr>
              <a:t>The objectives for this lesson are shown here.  Please take a moment to review them.</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D24C453-47C3-07D1-1961-6EE6A897109E}"/>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16034" name="Rectangle 2">
            <a:extLst>
              <a:ext uri="{FF2B5EF4-FFF2-40B4-BE49-F238E27FC236}">
                <a16:creationId xmlns:a16="http://schemas.microsoft.com/office/drawing/2014/main" id="{06B5CE85-0750-96DF-48D0-F022B61B9DF6}"/>
              </a:ext>
            </a:extLst>
          </p:cNvPr>
          <p:cNvSpPr>
            <a:spLocks noRot="1" noChangeAspect="1" noChangeArrowheads="1" noTextEdit="1"/>
          </p:cNvSpPr>
          <p:nvPr>
            <p:ph type="sldImg"/>
          </p:nvPr>
        </p:nvSpPr>
        <p:spPr>
          <a:ln/>
        </p:spPr>
      </p:sp>
      <p:sp>
        <p:nvSpPr>
          <p:cNvPr id="3116035" name="Rectangle 3">
            <a:extLst>
              <a:ext uri="{FF2B5EF4-FFF2-40B4-BE49-F238E27FC236}">
                <a16:creationId xmlns:a16="http://schemas.microsoft.com/office/drawing/2014/main" id="{59AD868C-48A7-1A45-A0F8-B9566E2DE2ED}"/>
              </a:ext>
            </a:extLst>
          </p:cNvPr>
          <p:cNvSpPr>
            <a:spLocks noGrp="1" noChangeAspect="1" noChangeArrowheads="1"/>
          </p:cNvSpPr>
          <p:nvPr>
            <p:ph type="body" idx="1"/>
          </p:nvPr>
        </p:nvSpPr>
        <p:spPr/>
        <p:txBody>
          <a:bodyPr/>
          <a:lstStyle/>
          <a:p>
            <a:r>
              <a:rPr lang="en-US" altLang="zh-CN">
                <a:ea typeface="宋体" panose="02010600030101010101" pitchFamily="2" charset="-122"/>
              </a:rPr>
              <a:t>Monitoring helps to analyze the status and utilization of various storage infrastructure components. This analysis facilitates optimal use of resources and proactive management. Monitoring supports capacity planning, trend analysis, and root cause/impact analysis. As the business grows, monitoring helps to optimize the storage infrastructure resources. The monitoring process also includes the storage infrastructure’s environmental controls and the operating environments for key components such as storage arrays and servers.</a:t>
            </a:r>
          </a:p>
          <a:p>
            <a:r>
              <a:rPr lang="en-US" altLang="zh-CN">
                <a:ea typeface="宋体" panose="02010600030101010101" pitchFamily="2" charset="-122"/>
              </a:rPr>
              <a:t>The major storage infrastructure components that should be monitored</a:t>
            </a:r>
          </a:p>
          <a:p>
            <a:pPr lvl="1"/>
            <a:r>
              <a:rPr lang="en-US" altLang="zh-CN">
                <a:ea typeface="宋体" panose="02010600030101010101" pitchFamily="2" charset="-122"/>
              </a:rPr>
              <a:t>Servers, databases and applications</a:t>
            </a:r>
          </a:p>
          <a:p>
            <a:pPr lvl="1"/>
            <a:r>
              <a:rPr lang="en-US" altLang="zh-CN">
                <a:ea typeface="宋体" panose="02010600030101010101" pitchFamily="2" charset="-122"/>
              </a:rPr>
              <a:t>Network (SAN and IP)</a:t>
            </a:r>
          </a:p>
          <a:p>
            <a:pPr lvl="1"/>
            <a:r>
              <a:rPr lang="en-US" altLang="zh-CN">
                <a:ea typeface="宋体" panose="02010600030101010101" pitchFamily="2" charset="-122"/>
              </a:rPr>
              <a:t>Storage arrays</a:t>
            </a:r>
          </a:p>
          <a:p>
            <a:r>
              <a:rPr lang="en-US" altLang="zh-CN">
                <a:ea typeface="宋体" panose="02010600030101010101" pitchFamily="2" charset="-122"/>
              </a:rPr>
              <a:t>Each of these components should be monitored for accessibility, capacity, performance and security.</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FC03C87-CBC3-CF0E-133C-A4F0035BECF6}"/>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41958" name="Rectangle 6">
            <a:extLst>
              <a:ext uri="{FF2B5EF4-FFF2-40B4-BE49-F238E27FC236}">
                <a16:creationId xmlns:a16="http://schemas.microsoft.com/office/drawing/2014/main" id="{478914C8-CAF1-A864-09B9-32989DFF8DA7}"/>
              </a:ext>
            </a:extLst>
          </p:cNvPr>
          <p:cNvSpPr>
            <a:spLocks noRot="1" noChangeAspect="1" noChangeArrowheads="1" noTextEdit="1"/>
          </p:cNvSpPr>
          <p:nvPr>
            <p:ph type="sldImg"/>
          </p:nvPr>
        </p:nvSpPr>
        <p:spPr>
          <a:ln/>
        </p:spPr>
      </p:sp>
      <p:sp>
        <p:nvSpPr>
          <p:cNvPr id="2941959" name="Rectangle 7">
            <a:extLst>
              <a:ext uri="{FF2B5EF4-FFF2-40B4-BE49-F238E27FC236}">
                <a16:creationId xmlns:a16="http://schemas.microsoft.com/office/drawing/2014/main" id="{BC2D9AD1-F304-B660-E737-70ED1E6EA6AC}"/>
              </a:ext>
            </a:extLst>
          </p:cNvPr>
          <p:cNvSpPr>
            <a:spLocks noGrp="1" noChangeAspect="1" noChangeArrowheads="1"/>
          </p:cNvSpPr>
          <p:nvPr>
            <p:ph type="body" idx="1"/>
          </p:nvPr>
        </p:nvSpPr>
        <p:spPr/>
        <p:txBody>
          <a:bodyPr/>
          <a:lstStyle/>
          <a:p>
            <a:r>
              <a:rPr lang="en-US" altLang="zh-CN">
                <a:ea typeface="宋体" panose="02010600030101010101" pitchFamily="2" charset="-122"/>
              </a:rPr>
              <a:t>Accessibility refers to the availability of a component to perform a desired operation.</a:t>
            </a:r>
          </a:p>
          <a:p>
            <a:r>
              <a:rPr lang="en-US" altLang="zh-CN">
                <a:ea typeface="宋体" panose="02010600030101010101" pitchFamily="2" charset="-122"/>
              </a:rPr>
              <a:t>A component is said to be accessible when it is functioning without any fault at any given point in time. Monitoring hardware components (e.g., a SAN interconnect device, a port, an HBA, or a disk drive) or software components (e.g.,a database instance) for accessibility involves checking their availability status by listening to pre-determined alerts from devices. For example, a port may go down resulting in a chain of availability alerts. A storage infrastructure uses redundant components to avoid a single point of failure. Failure of a component may cause an outage that affects application availability, or it may cause serious performance degradation even though accessibility is not compromised.</a:t>
            </a:r>
          </a:p>
          <a:p>
            <a:r>
              <a:rPr lang="en-US" altLang="zh-CN">
                <a:ea typeface="宋体" panose="02010600030101010101" pitchFamily="2" charset="-122"/>
              </a:rPr>
              <a:t>For example, an HBA failure can restrict the server to a few paths for access to data devices in a multipath environment, potentially resulting in degraded performance. In a single-path environment, an HBA failure results in complete accessibility loss between the server and the storage. </a:t>
            </a:r>
          </a:p>
          <a:p>
            <a:r>
              <a:rPr lang="en-US" altLang="zh-CN">
                <a:ea typeface="宋体" panose="02010600030101010101" pitchFamily="2" charset="-122"/>
              </a:rPr>
              <a:t>Continuously monitoring for expected accessibility of each component and reporting any deviations helps the administrator to identify failing components and plan corrective action to maintain SLA requirements.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721EAA9-D407-225A-6874-E18D6B2239DF}"/>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44006" name="Rectangle 6">
            <a:extLst>
              <a:ext uri="{FF2B5EF4-FFF2-40B4-BE49-F238E27FC236}">
                <a16:creationId xmlns:a16="http://schemas.microsoft.com/office/drawing/2014/main" id="{6936AC8A-FF1D-11AB-CE41-02F23E2CFC6C}"/>
              </a:ext>
            </a:extLst>
          </p:cNvPr>
          <p:cNvSpPr>
            <a:spLocks noRot="1" noChangeAspect="1" noChangeArrowheads="1" noTextEdit="1"/>
          </p:cNvSpPr>
          <p:nvPr>
            <p:ph type="sldImg"/>
          </p:nvPr>
        </p:nvSpPr>
        <p:spPr>
          <a:ln/>
        </p:spPr>
      </p:sp>
      <p:sp>
        <p:nvSpPr>
          <p:cNvPr id="2944007" name="Rectangle 7">
            <a:extLst>
              <a:ext uri="{FF2B5EF4-FFF2-40B4-BE49-F238E27FC236}">
                <a16:creationId xmlns:a16="http://schemas.microsoft.com/office/drawing/2014/main" id="{5095CBF0-1619-97E1-705F-3E2989462046}"/>
              </a:ext>
            </a:extLst>
          </p:cNvPr>
          <p:cNvSpPr>
            <a:spLocks noGrp="1" noChangeAspect="1" noChangeArrowheads="1"/>
          </p:cNvSpPr>
          <p:nvPr>
            <p:ph type="body" idx="1"/>
          </p:nvPr>
        </p:nvSpPr>
        <p:spPr/>
        <p:txBody>
          <a:bodyPr/>
          <a:lstStyle/>
          <a:p>
            <a:r>
              <a:rPr lang="en-US" altLang="zh-CN">
                <a:ea typeface="宋体" panose="02010600030101010101" pitchFamily="2" charset="-122"/>
              </a:rPr>
              <a:t>Capacity refers to the amount of storage infrastructure resources available. </a:t>
            </a:r>
          </a:p>
          <a:p>
            <a:r>
              <a:rPr lang="en-US" altLang="zh-CN">
                <a:ea typeface="宋体" panose="02010600030101010101" pitchFamily="2" charset="-122"/>
              </a:rPr>
              <a:t>Examples of capacity monitoring include </a:t>
            </a:r>
          </a:p>
          <a:p>
            <a:pPr>
              <a:buFontTx/>
              <a:buChar char="•"/>
            </a:pPr>
            <a:r>
              <a:rPr lang="en-US" altLang="zh-CN">
                <a:ea typeface="宋体" panose="02010600030101010101" pitchFamily="2" charset="-122"/>
              </a:rPr>
              <a:t>Examining the free space available on a file system or a RAID group</a:t>
            </a:r>
          </a:p>
          <a:p>
            <a:pPr>
              <a:buFontTx/>
              <a:buChar char="•"/>
            </a:pPr>
            <a:r>
              <a:rPr lang="en-US" altLang="zh-CN">
                <a:ea typeface="宋体" panose="02010600030101010101" pitchFamily="2" charset="-122"/>
              </a:rPr>
              <a:t>The mailbox quota allocated to users </a:t>
            </a:r>
          </a:p>
          <a:p>
            <a:pPr>
              <a:buFontTx/>
              <a:buChar char="•"/>
            </a:pPr>
            <a:r>
              <a:rPr lang="en-US" altLang="zh-CN">
                <a:ea typeface="宋体" panose="02010600030101010101" pitchFamily="2" charset="-122"/>
              </a:rPr>
              <a:t>The numbers of ports available on a switch. </a:t>
            </a:r>
          </a:p>
          <a:p>
            <a:r>
              <a:rPr lang="en-US" altLang="zh-CN">
                <a:ea typeface="宋体" panose="02010600030101010101" pitchFamily="2" charset="-122"/>
              </a:rPr>
              <a:t>Inadequate capacity may lead to degraded performance or affect accessibility or even application/service availability. Capacity monitoring ensures uninterrupted data availability and scalability by averting outages before they occur. For example, if a report indicates that 90 percent of the ports are utilized in a particular SAN fabric, a new switch should be added if more arrays and servers need to be installed on the same fabric. Capacity monitoring is preventive and predictive, usually leveraged with advanced analytical tools for trend analysis. These trends help to understand emerging challenges, and can provide an estimation of time needed to meet them. </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A2E6718-5D9A-F8A3-EFC1-E5AA9200DB32}"/>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46054" name="Rectangle 6">
            <a:extLst>
              <a:ext uri="{FF2B5EF4-FFF2-40B4-BE49-F238E27FC236}">
                <a16:creationId xmlns:a16="http://schemas.microsoft.com/office/drawing/2014/main" id="{DE1A1D0B-31AF-0AEA-D7E2-7576ABF3A74B}"/>
              </a:ext>
            </a:extLst>
          </p:cNvPr>
          <p:cNvSpPr>
            <a:spLocks noRot="1" noChangeAspect="1" noChangeArrowheads="1" noTextEdit="1"/>
          </p:cNvSpPr>
          <p:nvPr>
            <p:ph type="sldImg"/>
          </p:nvPr>
        </p:nvSpPr>
        <p:spPr>
          <a:ln/>
        </p:spPr>
      </p:sp>
      <p:sp>
        <p:nvSpPr>
          <p:cNvPr id="2946055" name="Rectangle 7">
            <a:extLst>
              <a:ext uri="{FF2B5EF4-FFF2-40B4-BE49-F238E27FC236}">
                <a16:creationId xmlns:a16="http://schemas.microsoft.com/office/drawing/2014/main" id="{212AA081-BBC1-0A55-95A6-FFA7AE1E0D05}"/>
              </a:ext>
            </a:extLst>
          </p:cNvPr>
          <p:cNvSpPr>
            <a:spLocks noGrp="1" noChangeAspect="1" noChangeArrowheads="1"/>
          </p:cNvSpPr>
          <p:nvPr>
            <p:ph type="body" idx="1"/>
          </p:nvPr>
        </p:nvSpPr>
        <p:spPr/>
        <p:txBody>
          <a:bodyPr/>
          <a:lstStyle/>
          <a:p>
            <a:r>
              <a:rPr lang="en-US" altLang="zh-CN">
                <a:ea typeface="宋体" panose="02010600030101010101" pitchFamily="2" charset="-122"/>
              </a:rPr>
              <a:t>Performance monitoring evaluates how efficiently different storage infrastructure components are performing and helps to identify bottlenecks. Performance monitoring usually measures and analyzes behavior in terms of response time or the ability to perform at a certain predefined level. It also deals with utilization of resources, which affects the way resources behave and respond. Performance measurement is a complex task that involves assessing various components on several interrelated parameters. The number of I/Os to disks, application response time, network utilization, and server CPU utilization are examples of performance monitoring.</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63673C9-1B97-7AED-32F6-FE217880CEFA}"/>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48102" name="Rectangle 6">
            <a:extLst>
              <a:ext uri="{FF2B5EF4-FFF2-40B4-BE49-F238E27FC236}">
                <a16:creationId xmlns:a16="http://schemas.microsoft.com/office/drawing/2014/main" id="{9BE40A74-12A0-B1D5-F319-088085F37008}"/>
              </a:ext>
            </a:extLst>
          </p:cNvPr>
          <p:cNvSpPr>
            <a:spLocks noRot="1" noChangeAspect="1" noChangeArrowheads="1" noTextEdit="1"/>
          </p:cNvSpPr>
          <p:nvPr>
            <p:ph type="sldImg"/>
          </p:nvPr>
        </p:nvSpPr>
        <p:spPr>
          <a:ln/>
        </p:spPr>
      </p:sp>
      <p:sp>
        <p:nvSpPr>
          <p:cNvPr id="2948103" name="Rectangle 7">
            <a:extLst>
              <a:ext uri="{FF2B5EF4-FFF2-40B4-BE49-F238E27FC236}">
                <a16:creationId xmlns:a16="http://schemas.microsoft.com/office/drawing/2014/main" id="{3EBD7F3F-0AB6-5D2A-1DCC-8AB3354C47C1}"/>
              </a:ext>
            </a:extLst>
          </p:cNvPr>
          <p:cNvSpPr>
            <a:spLocks noGrp="1" noChangeAspect="1" noChangeArrowheads="1"/>
          </p:cNvSpPr>
          <p:nvPr>
            <p:ph type="body" idx="1"/>
          </p:nvPr>
        </p:nvSpPr>
        <p:spPr/>
        <p:txBody>
          <a:bodyPr/>
          <a:lstStyle/>
          <a:p>
            <a:r>
              <a:rPr lang="en-US" altLang="zh-CN">
                <a:ea typeface="宋体" panose="02010600030101010101" pitchFamily="2" charset="-122"/>
              </a:rPr>
              <a:t>Monitoring a storage infrastructure for security</a:t>
            </a:r>
            <a:r>
              <a:rPr lang="en-US" altLang="zh-CN" i="1">
                <a:ea typeface="宋体" panose="02010600030101010101" pitchFamily="2" charset="-122"/>
              </a:rPr>
              <a:t> </a:t>
            </a:r>
            <a:r>
              <a:rPr lang="en-US" altLang="zh-CN">
                <a:ea typeface="宋体" panose="02010600030101010101" pitchFamily="2" charset="-122"/>
              </a:rPr>
              <a:t>helps to track and prevent unauthorized access and login failures, whether accidental or malicious. Security monitoring also helps to tracks unauthorized configuration changes of storage infrastructure elements. For example, security monitoring tracks and reports the initial zoning configuration performed and all subsequent changes. Physical security of a storage infrastructure is also continuously monitored using badge readers, biometric scans, or video cameras. </a:t>
            </a:r>
          </a:p>
          <a:p>
            <a:endParaRPr lang="en-US" altLang="zh-CN">
              <a:ea typeface="宋体" panose="02010600030101010101" pitchFamily="2" charset="-122"/>
            </a:endParaRPr>
          </a:p>
          <a:p>
            <a:endParaRPr lang="en-US" altLang="zh-CN">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BA48D35-B2A1-0274-12F5-FA51B684142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50150" name="Rectangle 6">
            <a:extLst>
              <a:ext uri="{FF2B5EF4-FFF2-40B4-BE49-F238E27FC236}">
                <a16:creationId xmlns:a16="http://schemas.microsoft.com/office/drawing/2014/main" id="{0FECC368-40C9-2A9F-2EA4-C1AC3873B38B}"/>
              </a:ext>
            </a:extLst>
          </p:cNvPr>
          <p:cNvSpPr>
            <a:spLocks noRot="1" noChangeAspect="1" noChangeArrowheads="1" noTextEdit="1"/>
          </p:cNvSpPr>
          <p:nvPr>
            <p:ph type="sldImg"/>
          </p:nvPr>
        </p:nvSpPr>
        <p:spPr>
          <a:ln/>
        </p:spPr>
      </p:sp>
      <p:sp>
        <p:nvSpPr>
          <p:cNvPr id="2950151" name="Rectangle 7">
            <a:extLst>
              <a:ext uri="{FF2B5EF4-FFF2-40B4-BE49-F238E27FC236}">
                <a16:creationId xmlns:a16="http://schemas.microsoft.com/office/drawing/2014/main" id="{00AD98A3-F0B1-F321-CA96-05B5BEE0E2E5}"/>
              </a:ext>
            </a:extLst>
          </p:cNvPr>
          <p:cNvSpPr>
            <a:spLocks noGrp="1" noChangeAspect="1" noChangeArrowheads="1"/>
          </p:cNvSpPr>
          <p:nvPr>
            <p:ph type="body" idx="1"/>
          </p:nvPr>
        </p:nvSpPr>
        <p:spPr/>
        <p:txBody>
          <a:bodyPr/>
          <a:lstStyle/>
          <a:p>
            <a:r>
              <a:rPr lang="en-US" altLang="zh-CN">
                <a:ea typeface="宋体" panose="02010600030101010101" pitchFamily="2" charset="-122"/>
              </a:rPr>
              <a:t>Mission-critical application hosts should be monitored continuously. The accessibility of a host depends on the status of the hardware components and software processes running on it. For example, an application crash due to host hardware failure can cause instant unavailability of the data to the user. Servers are used in a cluster to ensure high availability. In a server virtualization environment, multiple virtual machines share a pool of resources. These resources are dynamically reallocated, which ensures application accessibility and ease of management.</a:t>
            </a:r>
          </a:p>
          <a:p>
            <a:r>
              <a:rPr lang="en-US" altLang="zh-CN">
                <a:ea typeface="宋体" panose="02010600030101010101" pitchFamily="2" charset="-122"/>
              </a:rPr>
              <a:t>Hosts also need to be monitored for capacity. For example capacity monitoring helps in estimating the file system’s growth rate and predicting when it will reach 100 percent. Accordingly, the administrator can extend (manually or automatically) the file system’s space proactively to prevent a failure resulting from a file system being full. </a:t>
            </a:r>
          </a:p>
          <a:p>
            <a:r>
              <a:rPr lang="en-US" altLang="zh-CN">
                <a:ea typeface="宋体" panose="02010600030101010101" pitchFamily="2" charset="-122"/>
              </a:rPr>
              <a:t>Performance is another important aspect of host monitoring and depends on I/O profile, utilization of CPU and memory. For example, if a server running an application is experiencing 80 percent of CPU utilization continuously, this suggests that server may be running out of processing power, which can lead to degraded performance and slower response time. Administrators can take several actions to correct the problem, such as upgrading or adding more processors, shifting the workload to different servers, and restricting the number of simultaneous client access. In a virtualized environment, CPU and memory may be allocated dynamically from another physical server or from the same server. Memory utilization is measured by the amount of free memory available. Insufficient memory leads to excessive swapping and paging on the disk, which in turn affects response time to the applications.</a:t>
            </a:r>
          </a:p>
          <a:p>
            <a:r>
              <a:rPr lang="en-US" altLang="zh-CN">
                <a:ea typeface="宋体" panose="02010600030101010101" pitchFamily="2" charset="-122"/>
              </a:rPr>
              <a:t>Security monitoring on servers involves tracking of login failures and execution of unauthorized applications or software processes. Proactive measures against unauthorized access to the servers are based on the threat identified. For example, an administrator can block access to an unauthorized user if multiple login failures are logged.</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EAB5027-B325-A2C4-7476-A84023AEB8E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54246" name="Rectangle 6">
            <a:extLst>
              <a:ext uri="{FF2B5EF4-FFF2-40B4-BE49-F238E27FC236}">
                <a16:creationId xmlns:a16="http://schemas.microsoft.com/office/drawing/2014/main" id="{D97A59A0-9768-99A9-44C2-072C8957E6AB}"/>
              </a:ext>
            </a:extLst>
          </p:cNvPr>
          <p:cNvSpPr>
            <a:spLocks noRot="1" noChangeAspect="1" noChangeArrowheads="1" noTextEdit="1"/>
          </p:cNvSpPr>
          <p:nvPr>
            <p:ph type="sldImg"/>
          </p:nvPr>
        </p:nvSpPr>
        <p:spPr>
          <a:ln/>
        </p:spPr>
      </p:sp>
      <p:sp>
        <p:nvSpPr>
          <p:cNvPr id="2954247" name="Rectangle 7">
            <a:extLst>
              <a:ext uri="{FF2B5EF4-FFF2-40B4-BE49-F238E27FC236}">
                <a16:creationId xmlns:a16="http://schemas.microsoft.com/office/drawing/2014/main" id="{8EE082E4-BE69-0ABE-808B-EEF4BFC8D77E}"/>
              </a:ext>
            </a:extLst>
          </p:cNvPr>
          <p:cNvSpPr>
            <a:spLocks noGrp="1" noChangeAspect="1" noChangeArrowheads="1"/>
          </p:cNvSpPr>
          <p:nvPr>
            <p:ph type="body" idx="1"/>
          </p:nvPr>
        </p:nvSpPr>
        <p:spPr/>
        <p:txBody>
          <a:bodyPr/>
          <a:lstStyle/>
          <a:p>
            <a:r>
              <a:rPr lang="en-US" altLang="zh-CN">
                <a:ea typeface="宋体" panose="02010600030101010101" pitchFamily="2" charset="-122"/>
              </a:rPr>
              <a:t>Uninterrupted access to data over the storage network depends on accessibility of the physical and logical components in storage network. Physical components of a storage network include elements such as switches, ports, cables, GBICs, and power supplies. The logical components include constructs, such as zones and fabrics. Any failure in the physical or logical components may cause data unavailability. For example, errors in zoning such as specifying the wrong WWN of a port results in failure to access that port, which potentially prevents access from a host to its storage.</a:t>
            </a:r>
          </a:p>
          <a:p>
            <a:r>
              <a:rPr lang="en-US" altLang="zh-CN">
                <a:ea typeface="宋体" panose="02010600030101010101" pitchFamily="2" charset="-122"/>
              </a:rPr>
              <a:t>Capacity monitoring in a storage network involves monitoring the availability of ports on a switch, number of available ports in the entire fabric, utilization of ISLs, individual ports, and each interconnect device in the fabric. Capacity monitoring provides all required inputs for future planning and optimization of the fabric with additional interconnect devices.</a:t>
            </a:r>
          </a:p>
          <a:p>
            <a:r>
              <a:rPr lang="en-US" altLang="zh-CN">
                <a:ea typeface="宋体" panose="02010600030101010101" pitchFamily="2" charset="-122"/>
              </a:rPr>
              <a:t>Monitoring the performance of a storage network is useful in assessing individual component performance and helps to identify network bottlenecks. For example, monitoring port performance is done by measuring receive or transmit link utilization metrics, which indicate how busy the switch port is, based on expected maximum throughput. Heavily used ports can cause queuing delays on the server. For IP networks, monitoring performance includes monitoring network latency, packet loss, bandwidth utilization for I/O, network errors, and collisions.</a:t>
            </a:r>
          </a:p>
          <a:p>
            <a:r>
              <a:rPr lang="en-US" altLang="zh-CN">
                <a:ea typeface="宋体" panose="02010600030101010101" pitchFamily="2" charset="-122"/>
              </a:rPr>
              <a:t>Storage network security monitoring provides information for any unauthorized change to the configuration of the fabric—for example, changes to the zone policies that can affect data security. Login failures and unauthorized access to switches for performing administrative changes should be logged and monitored continuously.</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29D3079-13FB-AECE-944B-042EBA645A4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60390" name="Rectangle 6">
            <a:extLst>
              <a:ext uri="{FF2B5EF4-FFF2-40B4-BE49-F238E27FC236}">
                <a16:creationId xmlns:a16="http://schemas.microsoft.com/office/drawing/2014/main" id="{834FA47B-846D-13A7-4993-291B54DE1F61}"/>
              </a:ext>
            </a:extLst>
          </p:cNvPr>
          <p:cNvSpPr>
            <a:spLocks noRot="1" noChangeAspect="1" noChangeArrowheads="1" noTextEdit="1"/>
          </p:cNvSpPr>
          <p:nvPr>
            <p:ph type="sldImg"/>
          </p:nvPr>
        </p:nvSpPr>
        <p:spPr>
          <a:ln/>
        </p:spPr>
      </p:sp>
      <p:sp>
        <p:nvSpPr>
          <p:cNvPr id="2960391" name="Rectangle 7">
            <a:extLst>
              <a:ext uri="{FF2B5EF4-FFF2-40B4-BE49-F238E27FC236}">
                <a16:creationId xmlns:a16="http://schemas.microsoft.com/office/drawing/2014/main" id="{B5780268-483F-2B1C-D6BA-9262190039EC}"/>
              </a:ext>
            </a:extLst>
          </p:cNvPr>
          <p:cNvSpPr>
            <a:spLocks noGrp="1" noChangeAspect="1" noChangeArrowheads="1"/>
          </p:cNvSpPr>
          <p:nvPr>
            <p:ph type="body" idx="1"/>
          </p:nvPr>
        </p:nvSpPr>
        <p:spPr/>
        <p:txBody>
          <a:bodyPr/>
          <a:lstStyle/>
          <a:p>
            <a:r>
              <a:rPr lang="en-US" altLang="zh-CN">
                <a:ea typeface="宋体" panose="02010600030101010101" pitchFamily="2" charset="-122"/>
              </a:rPr>
              <a:t>The accessibility of the storage array should be monitored for its hardware components and various processes. Storage arrays configured with redundant components do not affect accessibility in the event of an individual component failure, but failure of any process can disrupt or compromise business continuity operations. For example, the failure of a replication task affects disaster recovery capabilities. Some storage arrays also provide the capability to send a message to the vendor’s support center in the event of hardware or process failures, referred to as a </a:t>
            </a:r>
            <a:r>
              <a:rPr lang="en-US" altLang="zh-CN" i="1">
                <a:ea typeface="宋体" panose="02010600030101010101" pitchFamily="2" charset="-122"/>
              </a:rPr>
              <a:t>call home</a:t>
            </a:r>
            <a:r>
              <a:rPr lang="en-US" altLang="zh-CN">
                <a:ea typeface="宋体" panose="02010600030101010101" pitchFamily="2" charset="-122"/>
              </a:rPr>
              <a:t>.</a:t>
            </a:r>
          </a:p>
          <a:p>
            <a:r>
              <a:rPr lang="en-US" altLang="zh-CN">
                <a:ea typeface="宋体" panose="02010600030101010101" pitchFamily="2" charset="-122"/>
              </a:rPr>
              <a:t>Capacity monitoring of a storage array enables the administrator to respond to storage needs as they occur. Information about fan-in or fan-out ratios and the availability of front-end ports is useful when a new server is given access to the storage array.</a:t>
            </a:r>
          </a:p>
          <a:p>
            <a:r>
              <a:rPr lang="en-US" altLang="zh-CN">
                <a:ea typeface="宋体" panose="02010600030101010101" pitchFamily="2" charset="-122"/>
              </a:rPr>
              <a:t>A storage array can be monitored by a number of performance metrics, such as utilization rates of the various storage array components, I/O response time, and cache utilization. A high utilization rate of storage array components may lead to performance degradation.</a:t>
            </a:r>
          </a:p>
          <a:p>
            <a:r>
              <a:rPr lang="en-US" altLang="zh-CN">
                <a:ea typeface="宋体" panose="02010600030101010101" pitchFamily="2" charset="-122"/>
              </a:rPr>
              <a:t>A storage array is usually a shared resource, which may be exposed to security breaches. Monitoring security helps to track unauthorized configuration of the storage array or corruption of data and ensures that only authorized users are allowed to access it.</a:t>
            </a:r>
          </a:p>
          <a:p>
            <a:endParaRPr lang="zh-CN" altLang="en-US">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A6B146E-8F2D-2CDA-F9DE-B7A37296A61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72678" name="Rectangle 6">
            <a:extLst>
              <a:ext uri="{FF2B5EF4-FFF2-40B4-BE49-F238E27FC236}">
                <a16:creationId xmlns:a16="http://schemas.microsoft.com/office/drawing/2014/main" id="{AA742A63-4BDD-DC50-A124-638863D4DB65}"/>
              </a:ext>
            </a:extLst>
          </p:cNvPr>
          <p:cNvSpPr>
            <a:spLocks noRot="1" noChangeAspect="1" noChangeArrowheads="1" noTextEdit="1"/>
          </p:cNvSpPr>
          <p:nvPr>
            <p:ph type="sldImg"/>
          </p:nvPr>
        </p:nvSpPr>
        <p:spPr>
          <a:ln/>
        </p:spPr>
      </p:sp>
      <p:sp>
        <p:nvSpPr>
          <p:cNvPr id="2972679" name="Rectangle 7">
            <a:extLst>
              <a:ext uri="{FF2B5EF4-FFF2-40B4-BE49-F238E27FC236}">
                <a16:creationId xmlns:a16="http://schemas.microsoft.com/office/drawing/2014/main" id="{266D7E85-5494-398C-12BB-8011473838A9}"/>
              </a:ext>
            </a:extLst>
          </p:cNvPr>
          <p:cNvSpPr>
            <a:spLocks noGrp="1" noChangeAspect="1" noChangeArrowheads="1"/>
          </p:cNvSpPr>
          <p:nvPr>
            <p:ph type="body" idx="1"/>
          </p:nvPr>
        </p:nvSpPr>
        <p:spPr/>
        <p:txBody>
          <a:bodyPr/>
          <a:lstStyle/>
          <a:p>
            <a:r>
              <a:rPr lang="en-US" altLang="zh-CN">
                <a:ea typeface="宋体" panose="02010600030101010101" pitchFamily="2" charset="-122"/>
              </a:rPr>
              <a:t>Failure of any component may affect the accessibility of one or more components due to their interconnections and dependencies, or it may lead to overall performance degradation. </a:t>
            </a:r>
          </a:p>
          <a:p>
            <a:r>
              <a:rPr lang="en-US" altLang="zh-CN">
                <a:ea typeface="宋体" panose="02010600030101010101" pitchFamily="2" charset="-122"/>
              </a:rPr>
              <a:t>Consider an implementation in a storage infrastructure with three servers: H1, H2, and H3. All the servers are configured with two HBAs, each connected to the storage array through two switches, SW1 and SW2, as shown in above figure. The three servers share two storage ports on the storage array. Path failover software has been installed on all three servers.</a:t>
            </a:r>
          </a:p>
          <a:p>
            <a:r>
              <a:rPr lang="en-US" altLang="zh-CN">
                <a:ea typeface="宋体" panose="02010600030101010101" pitchFamily="2" charset="-122"/>
              </a:rPr>
              <a:t>If one of the </a:t>
            </a:r>
            <a:r>
              <a:rPr lang="en-US" altLang="zh-CN" i="1">
                <a:ea typeface="宋体" panose="02010600030101010101" pitchFamily="2" charset="-122"/>
              </a:rPr>
              <a:t>storage array ports </a:t>
            </a:r>
            <a:r>
              <a:rPr lang="en-US" altLang="zh-CN">
                <a:ea typeface="宋体" panose="02010600030101010101" pitchFamily="2" charset="-122"/>
              </a:rPr>
              <a:t>fails, all the storage volumes that were accessed through the switch connected to that port may become unavailable, depending on the type of storage array. If the storage volume becomes unavailable, path failover software initiates a path failover. However, due to redundant ports, the servers continue to access data through another switch, SW2. The servers H1, H2, and H3 may experience degraded performance due to an increased load on the path through SW2.</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E075B14-1BB0-6582-4697-43E250FBFDB2}"/>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74726" name="Rectangle 6">
            <a:extLst>
              <a:ext uri="{FF2B5EF4-FFF2-40B4-BE49-F238E27FC236}">
                <a16:creationId xmlns:a16="http://schemas.microsoft.com/office/drawing/2014/main" id="{20154F41-5C4B-5215-E4F9-A621279884D5}"/>
              </a:ext>
            </a:extLst>
          </p:cNvPr>
          <p:cNvSpPr>
            <a:spLocks noRot="1" noChangeAspect="1" noChangeArrowheads="1" noTextEdit="1"/>
          </p:cNvSpPr>
          <p:nvPr>
            <p:ph type="sldImg"/>
          </p:nvPr>
        </p:nvSpPr>
        <p:spPr>
          <a:ln/>
        </p:spPr>
      </p:sp>
      <p:sp>
        <p:nvSpPr>
          <p:cNvPr id="2974727" name="Rectangle 7">
            <a:extLst>
              <a:ext uri="{FF2B5EF4-FFF2-40B4-BE49-F238E27FC236}">
                <a16:creationId xmlns:a16="http://schemas.microsoft.com/office/drawing/2014/main" id="{2DEDB109-5F06-8CC6-4CEF-C8D2D7F53265}"/>
              </a:ext>
            </a:extLst>
          </p:cNvPr>
          <p:cNvSpPr>
            <a:spLocks noGrp="1" noChangeAspect="1" noChangeArrowheads="1"/>
          </p:cNvSpPr>
          <p:nvPr>
            <p:ph type="body" idx="1"/>
          </p:nvPr>
        </p:nvSpPr>
        <p:spPr/>
        <p:txBody>
          <a:bodyPr/>
          <a:lstStyle/>
          <a:p>
            <a:r>
              <a:rPr lang="en-US" altLang="zh-CN">
                <a:ea typeface="宋体" panose="02010600030101010101" pitchFamily="2" charset="-122"/>
              </a:rPr>
              <a:t>In the same example, if a single HBA fails on server H1, the server experiences path failure as shown in figure. However, due to redundant HBAs, H1 can still access the storage device but it may experience degraded application response time (depends on I/O load).</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85B0898-A7DB-B466-1B39-749B34C5F36B}"/>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76774" name="Rectangle 6">
            <a:extLst>
              <a:ext uri="{FF2B5EF4-FFF2-40B4-BE49-F238E27FC236}">
                <a16:creationId xmlns:a16="http://schemas.microsoft.com/office/drawing/2014/main" id="{846645AE-4969-38C9-07CD-DFF572E29C8A}"/>
              </a:ext>
            </a:extLst>
          </p:cNvPr>
          <p:cNvSpPr>
            <a:spLocks noRot="1" noChangeAspect="1" noChangeArrowheads="1" noTextEdit="1"/>
          </p:cNvSpPr>
          <p:nvPr>
            <p:ph type="sldImg"/>
          </p:nvPr>
        </p:nvSpPr>
        <p:spPr>
          <a:ln/>
        </p:spPr>
      </p:sp>
      <p:sp>
        <p:nvSpPr>
          <p:cNvPr id="2976775" name="Rectangle 7">
            <a:extLst>
              <a:ext uri="{FF2B5EF4-FFF2-40B4-BE49-F238E27FC236}">
                <a16:creationId xmlns:a16="http://schemas.microsoft.com/office/drawing/2014/main" id="{DD3B12A0-80B0-7B07-1DC0-34FAB4639AC6}"/>
              </a:ext>
            </a:extLst>
          </p:cNvPr>
          <p:cNvSpPr>
            <a:spLocks noGrp="1" noChangeAspect="1" noChangeArrowheads="1"/>
          </p:cNvSpPr>
          <p:nvPr>
            <p:ph type="body" idx="1"/>
          </p:nvPr>
        </p:nvSpPr>
        <p:spPr/>
        <p:txBody>
          <a:bodyPr/>
          <a:lstStyle/>
          <a:p>
            <a:r>
              <a:rPr lang="en-US" altLang="zh-CN">
                <a:ea typeface="宋体" panose="02010600030101010101" pitchFamily="2" charset="-122"/>
              </a:rPr>
              <a:t>Consider a scenario in which a number of servers with two HBAs each are connected to the storage array through two switches, SW1 and SW2, as shown in figure. If SW1 fails, all the servers that were accessing the storage array through SW1 experience a path failure and data is redirected to SW2. The applications on all of the servers may experience degradation in response time</a:t>
            </a:r>
          </a:p>
          <a:p>
            <a:r>
              <a:rPr lang="en-US" altLang="zh-CN">
                <a:ea typeface="宋体" panose="02010600030101010101" pitchFamily="2" charset="-122"/>
              </a:rPr>
              <a:t>depending on I/O workload. In this case, the failure of a single component has affected multiple storage infrastructure components.</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D0E5CEB-31AE-B30C-EF41-AC2BBA0A4FFE}"/>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78822" name="Rectangle 6">
            <a:extLst>
              <a:ext uri="{FF2B5EF4-FFF2-40B4-BE49-F238E27FC236}">
                <a16:creationId xmlns:a16="http://schemas.microsoft.com/office/drawing/2014/main" id="{D21D8FFC-6A48-0F5F-36D0-63E95D4A2675}"/>
              </a:ext>
            </a:extLst>
          </p:cNvPr>
          <p:cNvSpPr>
            <a:spLocks noRot="1" noChangeAspect="1" noChangeArrowheads="1" noTextEdit="1"/>
          </p:cNvSpPr>
          <p:nvPr>
            <p:ph type="sldImg"/>
          </p:nvPr>
        </p:nvSpPr>
        <p:spPr>
          <a:ln/>
        </p:spPr>
      </p:sp>
      <p:sp>
        <p:nvSpPr>
          <p:cNvPr id="2978823" name="Rectangle 7">
            <a:extLst>
              <a:ext uri="{FF2B5EF4-FFF2-40B4-BE49-F238E27FC236}">
                <a16:creationId xmlns:a16="http://schemas.microsoft.com/office/drawing/2014/main" id="{FAD78F00-EE96-D630-7211-6C5BA224946B}"/>
              </a:ext>
            </a:extLst>
          </p:cNvPr>
          <p:cNvSpPr>
            <a:spLocks noGrp="1" noChangeAspect="1" noChangeArrowheads="1"/>
          </p:cNvSpPr>
          <p:nvPr>
            <p:ph type="body" idx="1"/>
          </p:nvPr>
        </p:nvSpPr>
        <p:spPr/>
        <p:txBody>
          <a:bodyPr/>
          <a:lstStyle/>
          <a:p>
            <a:r>
              <a:rPr lang="en-US" altLang="zh-CN">
                <a:ea typeface="宋体" panose="02010600030101010101" pitchFamily="2" charset="-122"/>
              </a:rPr>
              <a:t>This example illustrates the importance of monitoring the capacity of arrays.</a:t>
            </a:r>
          </a:p>
          <a:p>
            <a:r>
              <a:rPr lang="en-US" altLang="zh-CN">
                <a:ea typeface="宋体" panose="02010600030101010101" pitchFamily="2" charset="-122"/>
              </a:rPr>
              <a:t>In the scenario shown above each of the servers is allocated storage on the storage array. When a new server is deployed in this configuration, the applications on the new servers have to be given access to the storage devices from the array through switches SW1 and SW2. Monitoring the available capacity on the array helps to proactively decide whether the array can provide the required storage to the new server. Other considerations include the availability of ports on SW1 and SW2 to connect to the new server as well as the availability of storage ports to connect to the switches. Proactive monitoring also helps to identify the availability of an alternate fabric or an array to connect to the server.</a:t>
            </a:r>
          </a:p>
          <a:p>
            <a:endParaRPr lang="en-US" altLang="zh-CN">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5005435-E109-68E8-278F-364C08985CC9}"/>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80870" name="Rectangle 6">
            <a:extLst>
              <a:ext uri="{FF2B5EF4-FFF2-40B4-BE49-F238E27FC236}">
                <a16:creationId xmlns:a16="http://schemas.microsoft.com/office/drawing/2014/main" id="{031C1162-AA48-D333-7D87-BF3BE86C6561}"/>
              </a:ext>
            </a:extLst>
          </p:cNvPr>
          <p:cNvSpPr>
            <a:spLocks noRot="1" noChangeAspect="1" noChangeArrowheads="1" noTextEdit="1"/>
          </p:cNvSpPr>
          <p:nvPr>
            <p:ph type="sldImg"/>
          </p:nvPr>
        </p:nvSpPr>
        <p:spPr>
          <a:ln/>
        </p:spPr>
      </p:sp>
      <p:sp>
        <p:nvSpPr>
          <p:cNvPr id="2980871" name="Rectangle 7">
            <a:extLst>
              <a:ext uri="{FF2B5EF4-FFF2-40B4-BE49-F238E27FC236}">
                <a16:creationId xmlns:a16="http://schemas.microsoft.com/office/drawing/2014/main" id="{A2741EE9-4D44-713F-911E-986136FAE6CC}"/>
              </a:ext>
            </a:extLst>
          </p:cNvPr>
          <p:cNvSpPr>
            <a:spLocks noGrp="1" noChangeAspect="1" noChangeArrowheads="1"/>
          </p:cNvSpPr>
          <p:nvPr>
            <p:ph type="body" idx="1"/>
          </p:nvPr>
        </p:nvSpPr>
        <p:spPr/>
        <p:txBody>
          <a:bodyPr/>
          <a:lstStyle/>
          <a:p>
            <a:r>
              <a:rPr lang="en-US" altLang="zh-CN">
                <a:ea typeface="宋体" panose="02010600030101010101" pitchFamily="2" charset="-122"/>
              </a:rPr>
              <a:t>This example illustrates the importance of monitoring file system capacity on servers. If file system capacity monitoring is not implemented, as shown in figure, and the file system is full, the application most likely will not function properly. Monitoring can be configured to issue a message when thresholds are reached on file system capacity. For example, when the file system reaches 66 percent of its capacity a warning message is issued, and a critical message when the file system reaches 80 percent of its capacity. This enables the administrator to take action manually or automatically to extend the file system before the full condition is reached. Proactively monitoring the file system can prevent application outages caused by a lack of file system space. Applying trend analysis provides even more proactive help in dealing with such a scenario.</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F3C0C30-FF39-F5FD-9D57-A4D67D23FCE5}"/>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82918" name="Rectangle 6">
            <a:extLst>
              <a:ext uri="{FF2B5EF4-FFF2-40B4-BE49-F238E27FC236}">
                <a16:creationId xmlns:a16="http://schemas.microsoft.com/office/drawing/2014/main" id="{6F37A9E5-7AD8-164C-6F9B-3724FE838AB6}"/>
              </a:ext>
            </a:extLst>
          </p:cNvPr>
          <p:cNvSpPr>
            <a:spLocks noRot="1" noChangeAspect="1" noChangeArrowheads="1" noTextEdit="1"/>
          </p:cNvSpPr>
          <p:nvPr>
            <p:ph type="sldImg"/>
          </p:nvPr>
        </p:nvSpPr>
        <p:spPr>
          <a:ln/>
        </p:spPr>
      </p:sp>
      <p:sp>
        <p:nvSpPr>
          <p:cNvPr id="2982919" name="Rectangle 7">
            <a:extLst>
              <a:ext uri="{FF2B5EF4-FFF2-40B4-BE49-F238E27FC236}">
                <a16:creationId xmlns:a16="http://schemas.microsoft.com/office/drawing/2014/main" id="{B8597DEC-0AC2-E668-EA94-A6CD77CAA945}"/>
              </a:ext>
            </a:extLst>
          </p:cNvPr>
          <p:cNvSpPr>
            <a:spLocks noGrp="1" noChangeAspect="1" noChangeArrowheads="1"/>
          </p:cNvSpPr>
          <p:nvPr>
            <p:ph type="body" idx="1"/>
          </p:nvPr>
        </p:nvSpPr>
        <p:spPr/>
        <p:txBody>
          <a:bodyPr/>
          <a:lstStyle/>
          <a:p>
            <a:r>
              <a:rPr lang="en-US" altLang="zh-CN">
                <a:ea typeface="宋体" panose="02010600030101010101" pitchFamily="2" charset="-122"/>
              </a:rPr>
              <a:t>This example illustrates the importance of monitoring performance metrics on storage arrays.</a:t>
            </a:r>
          </a:p>
          <a:p>
            <a:r>
              <a:rPr lang="en-US" altLang="zh-CN">
                <a:ea typeface="宋体" panose="02010600030101010101" pitchFamily="2" charset="-122"/>
              </a:rPr>
              <a:t>In this example, servers H1, H2, and H3 (with two HBAs each) are connected to the storage array through switches SW1 and SW2. The three servers share the same storage ports on the storage array. A new server H4 running an application with high work load, has to be deployed to share the same storage ports as H1, H2, and H3. Monitoring array port utilization ensures that the new server does not adversely affect the performance of the other servers. In this example, utilization for the shared ports is shown by the solid and dotted lines in the line graph for the storage ports. Notice that the port represented by a solid line is close to 100 percent utilization. If the actual utilization of both ports prior to deploying the new server is closer to the dotted line, there is room to add the new server. Otherwise, deploying the new server will affect the performance of all servers.</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A62FF48-3B62-027E-8684-F6D2A09BD0E4}"/>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84966" name="Rectangle 6">
            <a:extLst>
              <a:ext uri="{FF2B5EF4-FFF2-40B4-BE49-F238E27FC236}">
                <a16:creationId xmlns:a16="http://schemas.microsoft.com/office/drawing/2014/main" id="{B0D104FE-ECBB-903F-EDBE-F31ECAD9B1F3}"/>
              </a:ext>
            </a:extLst>
          </p:cNvPr>
          <p:cNvSpPr>
            <a:spLocks noRot="1" noChangeAspect="1" noChangeArrowheads="1" noTextEdit="1"/>
          </p:cNvSpPr>
          <p:nvPr>
            <p:ph type="sldImg"/>
          </p:nvPr>
        </p:nvSpPr>
        <p:spPr>
          <a:ln/>
        </p:spPr>
      </p:sp>
      <p:sp>
        <p:nvSpPr>
          <p:cNvPr id="2984967" name="Rectangle 7">
            <a:extLst>
              <a:ext uri="{FF2B5EF4-FFF2-40B4-BE49-F238E27FC236}">
                <a16:creationId xmlns:a16="http://schemas.microsoft.com/office/drawing/2014/main" id="{9E15D948-366D-1D3B-A2FC-E18DE56D28DC}"/>
              </a:ext>
            </a:extLst>
          </p:cNvPr>
          <p:cNvSpPr>
            <a:spLocks noGrp="1" noChangeAspect="1" noChangeArrowheads="1"/>
          </p:cNvSpPr>
          <p:nvPr>
            <p:ph type="body" idx="1"/>
          </p:nvPr>
        </p:nvSpPr>
        <p:spPr/>
        <p:txBody>
          <a:bodyPr/>
          <a:lstStyle/>
          <a:p>
            <a:r>
              <a:rPr lang="en-US" altLang="zh-CN">
                <a:ea typeface="宋体" panose="02010600030101010101" pitchFamily="2" charset="-122"/>
              </a:rPr>
              <a:t>Most servers offer tools that enable interactive monitoring of server CPU usage. For example, Windows Task Manager displays CPU and memory usage, as shown in slide. These interactive tools are useful only when a few servers need to be managed. A storage infrastructure requires performance monitoring tools that are capable of monitoring many servers simultaneously. Although it is inefficient to monitor hundreds of servers continuously in real-time, this monitoring often uses polling servers at regular intervals. These monitoring tools must have the capability to send alerts whenever the CPU utilization exceeds a specified threshold.</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2733B80-C9C2-D36B-F3D6-29C2992B7A99}"/>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89062" name="Rectangle 6">
            <a:extLst>
              <a:ext uri="{FF2B5EF4-FFF2-40B4-BE49-F238E27FC236}">
                <a16:creationId xmlns:a16="http://schemas.microsoft.com/office/drawing/2014/main" id="{41BE8A87-7FA4-9D71-30C8-A3680390695F}"/>
              </a:ext>
            </a:extLst>
          </p:cNvPr>
          <p:cNvSpPr>
            <a:spLocks noRot="1" noChangeAspect="1" noChangeArrowheads="1" noTextEdit="1"/>
          </p:cNvSpPr>
          <p:nvPr>
            <p:ph type="sldImg"/>
          </p:nvPr>
        </p:nvSpPr>
        <p:spPr>
          <a:ln/>
        </p:spPr>
      </p:sp>
      <p:sp>
        <p:nvSpPr>
          <p:cNvPr id="2989063" name="Rectangle 7">
            <a:extLst>
              <a:ext uri="{FF2B5EF4-FFF2-40B4-BE49-F238E27FC236}">
                <a16:creationId xmlns:a16="http://schemas.microsoft.com/office/drawing/2014/main" id="{776664C7-0659-EB16-573E-1C7893E15EA6}"/>
              </a:ext>
            </a:extLst>
          </p:cNvPr>
          <p:cNvSpPr>
            <a:spLocks noGrp="1" noChangeAspect="1" noChangeArrowheads="1"/>
          </p:cNvSpPr>
          <p:nvPr>
            <p:ph type="body" idx="1"/>
          </p:nvPr>
        </p:nvSpPr>
        <p:spPr/>
        <p:txBody>
          <a:bodyPr/>
          <a:lstStyle/>
          <a:p>
            <a:r>
              <a:rPr lang="en-US" altLang="zh-CN">
                <a:ea typeface="宋体" panose="02010600030101010101" pitchFamily="2" charset="-122"/>
              </a:rPr>
              <a:t>The example shown here illustrates the importance of monitoring security breaches in a storage array. </a:t>
            </a:r>
          </a:p>
          <a:p>
            <a:r>
              <a:rPr lang="en-US" altLang="zh-CN">
                <a:ea typeface="宋体" panose="02010600030101010101" pitchFamily="2" charset="-122"/>
              </a:rPr>
              <a:t>In this example, the storage array is shared between two workgroups, WG1 and WG2. The data of WG1 should not be accessible by WG2. Likewise, WG2 should not be accessible by WG1. A user from WG1 may try to make a local replica of the data that belongs to WG2. Usually, available mechanisms prevent such an action. However, if this action is not monitored or recorded, it is difficult to track such a violation of security protocols. Conversely, if this action is monitored, a warning message can be sent to prompt a corrective action or at least enable discovery as part of regular auditing operations.</a:t>
            </a:r>
          </a:p>
          <a:p>
            <a:endParaRPr lang="en-US" altLang="zh-CN">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4DC119B-8D5B-4F1F-AB02-53F761B54650}"/>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2991110" name="Rectangle 6">
            <a:extLst>
              <a:ext uri="{FF2B5EF4-FFF2-40B4-BE49-F238E27FC236}">
                <a16:creationId xmlns:a16="http://schemas.microsoft.com/office/drawing/2014/main" id="{0501429B-673B-2EBB-22B5-23C7D0768F09}"/>
              </a:ext>
            </a:extLst>
          </p:cNvPr>
          <p:cNvSpPr>
            <a:spLocks noRot="1" noChangeAspect="1" noChangeArrowheads="1" noTextEdit="1"/>
          </p:cNvSpPr>
          <p:nvPr>
            <p:ph type="sldImg"/>
          </p:nvPr>
        </p:nvSpPr>
        <p:spPr>
          <a:ln/>
        </p:spPr>
      </p:sp>
      <p:sp>
        <p:nvSpPr>
          <p:cNvPr id="2991111" name="Rectangle 7">
            <a:extLst>
              <a:ext uri="{FF2B5EF4-FFF2-40B4-BE49-F238E27FC236}">
                <a16:creationId xmlns:a16="http://schemas.microsoft.com/office/drawing/2014/main" id="{41D8A3D3-E45F-33AF-070B-664295C68AFD}"/>
              </a:ext>
            </a:extLst>
          </p:cNvPr>
          <p:cNvSpPr>
            <a:spLocks noGrp="1" noChangeAspect="1" noChangeArrowheads="1"/>
          </p:cNvSpPr>
          <p:nvPr>
            <p:ph type="body" idx="1"/>
          </p:nvPr>
        </p:nvSpPr>
        <p:spPr/>
        <p:txBody>
          <a:bodyPr/>
          <a:lstStyle/>
          <a:p>
            <a:r>
              <a:rPr lang="en-US" altLang="zh-CN">
                <a:ea typeface="宋体" panose="02010600030101010101" pitchFamily="2" charset="-122"/>
              </a:rPr>
              <a:t>Alerting of events is an integral part of monitoring. There are conditions observed by monitoring, such as failure of power, disks, memory, or switches, which may impact the availability of services that requires immediate administrative attention. Other conditions, such as a file system reaching a capacity threshold or a soft media error, are considered warning signs, and may also require administrative attention.</a:t>
            </a:r>
          </a:p>
          <a:p>
            <a:r>
              <a:rPr lang="en-US" altLang="zh-CN">
                <a:ea typeface="宋体" panose="02010600030101010101" pitchFamily="2" charset="-122"/>
              </a:rPr>
              <a:t>Monitoring tools enables administrators to assign different severity levels for different conditions in the storage infrastructure. Whenever a condition with a particular severity level occurs, an alert is sent to the administrator or triggers a script, or opens an incident ticket to initiate a corrective action. Alert classifications can range from information alerts to fatal alerts. </a:t>
            </a:r>
          </a:p>
          <a:p>
            <a:pPr>
              <a:buFontTx/>
              <a:buChar char="•"/>
            </a:pPr>
            <a:r>
              <a:rPr lang="en-US" altLang="zh-CN" i="1">
                <a:ea typeface="宋体" panose="02010600030101010101" pitchFamily="2" charset="-122"/>
              </a:rPr>
              <a:t>Information alerts </a:t>
            </a:r>
            <a:r>
              <a:rPr lang="en-US" altLang="zh-CN">
                <a:ea typeface="宋体" panose="02010600030101010101" pitchFamily="2" charset="-122"/>
              </a:rPr>
              <a:t>provide useful information that does not require any intervention by the administrator. Creation of zone or LUN is an example of an information alert. </a:t>
            </a:r>
          </a:p>
          <a:p>
            <a:pPr>
              <a:buFontTx/>
              <a:buChar char="•"/>
            </a:pPr>
            <a:r>
              <a:rPr lang="en-US" altLang="zh-CN" i="1">
                <a:ea typeface="宋体" panose="02010600030101010101" pitchFamily="2" charset="-122"/>
              </a:rPr>
              <a:t>Warning alerts </a:t>
            </a:r>
            <a:r>
              <a:rPr lang="en-US" altLang="zh-CN">
                <a:ea typeface="宋体" panose="02010600030101010101" pitchFamily="2" charset="-122"/>
              </a:rPr>
              <a:t>require administrative attention so that the alerted condition is contained and does not affect accessibility. For example, when an alert indicates a soft media error on a disk that is approaching a predefined threshold value, the administrator can decide whether the disk needs to be replaced. </a:t>
            </a:r>
          </a:p>
          <a:p>
            <a:pPr>
              <a:buFontTx/>
              <a:buChar char="•"/>
            </a:pPr>
            <a:r>
              <a:rPr lang="en-US" altLang="zh-CN" i="1">
                <a:ea typeface="宋体" panose="02010600030101010101" pitchFamily="2" charset="-122"/>
              </a:rPr>
              <a:t>Fatal alerts </a:t>
            </a:r>
            <a:r>
              <a:rPr lang="en-US" altLang="zh-CN">
                <a:ea typeface="宋体" panose="02010600030101010101" pitchFamily="2" charset="-122"/>
              </a:rPr>
              <a:t>require immediate attention because the condition may affect overall performance or availability. For example, if a disk fails, the administrator must ensure that it is replaced quickly. </a:t>
            </a:r>
          </a:p>
          <a:p>
            <a:pPr>
              <a:buFontTx/>
              <a:buChar char="•"/>
            </a:pPr>
            <a:r>
              <a:rPr lang="en-US" altLang="zh-CN">
                <a:ea typeface="宋体" panose="02010600030101010101" pitchFamily="2" charset="-122"/>
              </a:rPr>
              <a:t>Alerts can be assigned a severity level based on the impact of the alerted condition. Continuous monitoring, in conjunction with automated alerting, enables administrators to respond to failures quickly and proactively. Alerting provides information to prioritize administrator’s response to events.</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5F793D2-F1E4-8B9B-F592-27BB7BDD7182}"/>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011590" name="Rectangle 6">
            <a:extLst>
              <a:ext uri="{FF2B5EF4-FFF2-40B4-BE49-F238E27FC236}">
                <a16:creationId xmlns:a16="http://schemas.microsoft.com/office/drawing/2014/main" id="{21C59B5E-ADCB-0198-B836-5961C4668976}"/>
              </a:ext>
            </a:extLst>
          </p:cNvPr>
          <p:cNvSpPr>
            <a:spLocks noRot="1" noChangeAspect="1" noChangeArrowheads="1" noTextEdit="1"/>
          </p:cNvSpPr>
          <p:nvPr>
            <p:ph type="sldImg"/>
          </p:nvPr>
        </p:nvSpPr>
        <p:spPr>
          <a:ln/>
        </p:spPr>
      </p:sp>
      <p:sp>
        <p:nvSpPr>
          <p:cNvPr id="3011591" name="Rectangle 7">
            <a:extLst>
              <a:ext uri="{FF2B5EF4-FFF2-40B4-BE49-F238E27FC236}">
                <a16:creationId xmlns:a16="http://schemas.microsoft.com/office/drawing/2014/main" id="{488DFFE9-0683-BD53-8B1B-77A558CBE772}"/>
              </a:ext>
            </a:extLst>
          </p:cNvPr>
          <p:cNvSpPr>
            <a:spLocks noGrp="1" noChangeAspect="1" noChangeArrowheads="1"/>
          </p:cNvSpPr>
          <p:nvPr>
            <p:ph type="body" idx="1"/>
          </p:nvPr>
        </p:nvSpPr>
        <p:spPr/>
        <p:txBody>
          <a:bodyPr/>
          <a:lstStyle/>
          <a:p>
            <a:r>
              <a:rPr lang="en-US" altLang="zh-CN">
                <a:ea typeface="宋体" panose="02010600030101010101" pitchFamily="2" charset="-122"/>
              </a:rPr>
              <a:t>These are the key points covered in the module. Please take a moment to review them.</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CDCF2F0-A1D6-8DE1-433E-9A3576C17842}"/>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36514" name="Rectangle 2">
            <a:extLst>
              <a:ext uri="{FF2B5EF4-FFF2-40B4-BE49-F238E27FC236}">
                <a16:creationId xmlns:a16="http://schemas.microsoft.com/office/drawing/2014/main" id="{69E6FA72-7D67-1F8C-C377-216C1D0156CC}"/>
              </a:ext>
            </a:extLst>
          </p:cNvPr>
          <p:cNvSpPr>
            <a:spLocks noRot="1" noChangeAspect="1" noChangeArrowheads="1" noTextEdit="1"/>
          </p:cNvSpPr>
          <p:nvPr>
            <p:ph type="sldImg"/>
          </p:nvPr>
        </p:nvSpPr>
        <p:spPr>
          <a:ln/>
        </p:spPr>
      </p:sp>
      <p:sp>
        <p:nvSpPr>
          <p:cNvPr id="3136515" name="Rectangle 3">
            <a:extLst>
              <a:ext uri="{FF2B5EF4-FFF2-40B4-BE49-F238E27FC236}">
                <a16:creationId xmlns:a16="http://schemas.microsoft.com/office/drawing/2014/main" id="{D8FB266B-A71E-C752-646C-B1E6DCD06FBB}"/>
              </a:ext>
            </a:extLst>
          </p:cNvPr>
          <p:cNvSpPr>
            <a:spLocks noGrp="1" noChangeAspect="1" noChangeArrowheads="1"/>
          </p:cNvSpPr>
          <p:nvPr>
            <p:ph type="body" idx="1"/>
          </p:nvPr>
        </p:nvSpPr>
        <p:spPr/>
        <p:txBody>
          <a:bodyPr/>
          <a:lstStyle/>
          <a:p>
            <a:r>
              <a:rPr lang="en-US" altLang="zh-CN">
                <a:ea typeface="宋体" panose="02010600030101010101" pitchFamily="2" charset="-122"/>
              </a:rPr>
              <a:t>The objectives for this lesson are shown here.  Please take a moment to review them.</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95CED11-65EC-CBE3-293A-086C099771A0}"/>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065858" name="Rectangle 2">
            <a:extLst>
              <a:ext uri="{FF2B5EF4-FFF2-40B4-BE49-F238E27FC236}">
                <a16:creationId xmlns:a16="http://schemas.microsoft.com/office/drawing/2014/main" id="{532BE1C9-E2B0-4DD4-E2D1-218C53D6381F}"/>
              </a:ext>
            </a:extLst>
          </p:cNvPr>
          <p:cNvSpPr>
            <a:spLocks noRot="1" noChangeAspect="1" noChangeArrowheads="1" noTextEdit="1"/>
          </p:cNvSpPr>
          <p:nvPr>
            <p:ph type="sldImg"/>
          </p:nvPr>
        </p:nvSpPr>
        <p:spPr>
          <a:ln/>
        </p:spPr>
      </p:sp>
      <p:sp>
        <p:nvSpPr>
          <p:cNvPr id="3065859" name="Rectangle 3">
            <a:extLst>
              <a:ext uri="{FF2B5EF4-FFF2-40B4-BE49-F238E27FC236}">
                <a16:creationId xmlns:a16="http://schemas.microsoft.com/office/drawing/2014/main" id="{AC759630-792D-1FBA-582B-3F8DC1E8EE1E}"/>
              </a:ext>
            </a:extLst>
          </p:cNvPr>
          <p:cNvSpPr>
            <a:spLocks noGrp="1" noChangeAspect="1" noChangeArrowheads="1"/>
          </p:cNvSpPr>
          <p:nvPr>
            <p:ph type="body" idx="1"/>
          </p:nvPr>
        </p:nvSpPr>
        <p:spPr/>
        <p:txBody>
          <a:bodyPr/>
          <a:lstStyle/>
          <a:p>
            <a:r>
              <a:rPr lang="en-US" altLang="zh-CN">
                <a:ea typeface="宋体" panose="02010600030101010101" pitchFamily="2" charset="-122"/>
              </a:rPr>
              <a:t>All the management tasks in a storage infrastructure can be broadly categorized into availability management, capacity management, performance management, security management, and reporting. </a:t>
            </a:r>
          </a:p>
          <a:p>
            <a:r>
              <a:rPr lang="en-US" altLang="zh-CN">
                <a:ea typeface="宋体" panose="02010600030101010101" pitchFamily="2" charset="-122"/>
              </a:rPr>
              <a:t>The major storage infrastructure components that should be managed are</a:t>
            </a:r>
          </a:p>
          <a:p>
            <a:pPr lvl="1"/>
            <a:r>
              <a:rPr lang="en-US" altLang="zh-CN">
                <a:ea typeface="宋体" panose="02010600030101010101" pitchFamily="2" charset="-122"/>
              </a:rPr>
              <a:t>Servers, databases and applications</a:t>
            </a:r>
          </a:p>
          <a:p>
            <a:pPr lvl="1"/>
            <a:r>
              <a:rPr lang="en-US" altLang="zh-CN">
                <a:ea typeface="宋体" panose="02010600030101010101" pitchFamily="2" charset="-122"/>
              </a:rPr>
              <a:t>Network  ((SAN) and IP Networks (switches, routers, bridges))</a:t>
            </a:r>
          </a:p>
          <a:p>
            <a:pPr lvl="1"/>
            <a:r>
              <a:rPr lang="en-US" altLang="zh-CN">
                <a:ea typeface="宋体" panose="02010600030101010101" pitchFamily="2" charset="-122"/>
              </a:rPr>
              <a:t>Storage Arrays</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17EE7AD-5C6B-828D-426D-14FD902EC7DB}"/>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067906" name="Rectangle 2">
            <a:extLst>
              <a:ext uri="{FF2B5EF4-FFF2-40B4-BE49-F238E27FC236}">
                <a16:creationId xmlns:a16="http://schemas.microsoft.com/office/drawing/2014/main" id="{C11DA2FD-A81A-C595-C2B9-99A4AD9D708A}"/>
              </a:ext>
            </a:extLst>
          </p:cNvPr>
          <p:cNvSpPr>
            <a:spLocks noRot="1" noChangeAspect="1" noChangeArrowheads="1" noTextEdit="1"/>
          </p:cNvSpPr>
          <p:nvPr>
            <p:ph type="sldImg"/>
          </p:nvPr>
        </p:nvSpPr>
        <p:spPr>
          <a:ln/>
        </p:spPr>
      </p:sp>
      <p:sp>
        <p:nvSpPr>
          <p:cNvPr id="3067907" name="Rectangle 3">
            <a:extLst>
              <a:ext uri="{FF2B5EF4-FFF2-40B4-BE49-F238E27FC236}">
                <a16:creationId xmlns:a16="http://schemas.microsoft.com/office/drawing/2014/main" id="{CC78F431-158D-77CF-73F2-87B08E3F5F85}"/>
              </a:ext>
            </a:extLst>
          </p:cNvPr>
          <p:cNvSpPr>
            <a:spLocks noGrp="1" noChangeAspect="1" noChangeArrowheads="1"/>
          </p:cNvSpPr>
          <p:nvPr>
            <p:ph type="body" idx="1"/>
          </p:nvPr>
        </p:nvSpPr>
        <p:spPr/>
        <p:txBody>
          <a:bodyPr/>
          <a:lstStyle/>
          <a:p>
            <a:r>
              <a:rPr lang="en-US" altLang="zh-CN">
                <a:ea typeface="宋体" panose="02010600030101010101" pitchFamily="2" charset="-122"/>
              </a:rPr>
              <a:t>The critical task in availability management is establishing a proper guideline for all configurations to ensure availability based on service levels. For example, when a server is deployed to support a critical business function, the highest availability standard is usually required. This is generally accomplished by </a:t>
            </a:r>
          </a:p>
          <a:p>
            <a:pPr>
              <a:buFontTx/>
              <a:buChar char="•"/>
            </a:pPr>
            <a:r>
              <a:rPr lang="en-US" altLang="zh-CN">
                <a:ea typeface="宋体" panose="02010600030101010101" pitchFamily="2" charset="-122"/>
              </a:rPr>
              <a:t>Deploying two or more HBAs, multipathing software with path failover capability, and server clustering. </a:t>
            </a:r>
          </a:p>
          <a:p>
            <a:pPr>
              <a:buFontTx/>
              <a:buChar char="•"/>
            </a:pPr>
            <a:r>
              <a:rPr lang="en-US" altLang="zh-CN">
                <a:ea typeface="宋体" panose="02010600030101010101" pitchFamily="2" charset="-122"/>
              </a:rPr>
              <a:t>Connecting the server to the storage array using at least two independent fabrics and switches that have built-in redundancy. </a:t>
            </a:r>
          </a:p>
          <a:p>
            <a:pPr>
              <a:buFontTx/>
              <a:buChar char="•"/>
            </a:pPr>
            <a:r>
              <a:rPr lang="en-US" altLang="zh-CN">
                <a:ea typeface="宋体" panose="02010600030101010101" pitchFamily="2" charset="-122"/>
              </a:rPr>
              <a:t>Storage devices with RAID protection are made available to the server using at least two front-end ports.</a:t>
            </a:r>
          </a:p>
          <a:p>
            <a:r>
              <a:rPr lang="en-US" altLang="zh-CN">
                <a:ea typeface="宋体" panose="02010600030101010101" pitchFamily="2" charset="-122"/>
              </a:rPr>
              <a:t>In addition, these storage arrays should have built-in redundancy for various components, support backup, and local and remote replication. Virtualization technologies have significantly improved the availability management task. With virtualization in place resources can be dynamically added or removed to maintain the availability</a:t>
            </a:r>
            <a:endParaRPr lang="en-US" altLang="zh-CN" sz="1100">
              <a:ea typeface="宋体" panose="02010600030101010101" pitchFamily="2" charset="-122"/>
            </a:endParaRPr>
          </a:p>
          <a:p>
            <a:endParaRPr lang="en-US" altLang="zh-CN" sz="110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6AB2D83-BA46-1A4E-73E1-52B39B5A8A95}"/>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51874" name="Rectangle 2">
            <a:extLst>
              <a:ext uri="{FF2B5EF4-FFF2-40B4-BE49-F238E27FC236}">
                <a16:creationId xmlns:a16="http://schemas.microsoft.com/office/drawing/2014/main" id="{2CA3B464-C9AD-2B2B-D576-9AA5DDC40D38}"/>
              </a:ext>
            </a:extLst>
          </p:cNvPr>
          <p:cNvSpPr>
            <a:spLocks noRot="1" noChangeAspect="1" noChangeArrowheads="1" noTextEdit="1"/>
          </p:cNvSpPr>
          <p:nvPr>
            <p:ph type="sldImg"/>
          </p:nvPr>
        </p:nvSpPr>
        <p:spPr>
          <a:ln/>
        </p:spPr>
      </p:sp>
      <p:sp>
        <p:nvSpPr>
          <p:cNvPr id="3151875" name="Rectangle 3">
            <a:extLst>
              <a:ext uri="{FF2B5EF4-FFF2-40B4-BE49-F238E27FC236}">
                <a16:creationId xmlns:a16="http://schemas.microsoft.com/office/drawing/2014/main" id="{1DE55DEC-7699-80BA-5123-F8E2DC49CD69}"/>
              </a:ext>
            </a:extLst>
          </p:cNvPr>
          <p:cNvSpPr>
            <a:spLocks noGrp="1" noChangeAspect="1" noChangeArrowheads="1"/>
          </p:cNvSpPr>
          <p:nvPr>
            <p:ph type="body" idx="1"/>
          </p:nvPr>
        </p:nvSpPr>
        <p:spPr/>
        <p:txBody>
          <a:bodyPr/>
          <a:lstStyle/>
          <a:p>
            <a:r>
              <a:rPr lang="en-US" altLang="zh-CN">
                <a:ea typeface="宋体" panose="02010600030101010101" pitchFamily="2" charset="-122"/>
              </a:rPr>
              <a:t>The goal of </a:t>
            </a:r>
            <a:r>
              <a:rPr lang="en-US" altLang="zh-CN" i="1">
                <a:ea typeface="宋体" panose="02010600030101010101" pitchFamily="2" charset="-122"/>
              </a:rPr>
              <a:t>capacity management </a:t>
            </a:r>
            <a:r>
              <a:rPr lang="en-US" altLang="zh-CN">
                <a:ea typeface="宋体" panose="02010600030101010101" pitchFamily="2" charset="-122"/>
              </a:rPr>
              <a:t>is to ensure adequate availability of resources for all services based on their service level requirements. Capacity management provides capacity analysis, comparing allocated storage to forecasted storage on a regular basis. It also provides trend analysis of actual utilization of allocated storage and rate of consumption, which must be rationalized against storage acquisition and deployment timetables. Storage provisioning is an example of capacity management. It involves activities such as device configuration and LUN masking on the storage array and zoning configuration on the SAN and HBA components. Capacity management also takes into account the future needs of resources, and setting up monitors and analytics to gather such information.</a:t>
            </a:r>
            <a:endParaRPr lang="en-US" altLang="zh-CN" sz="1100">
              <a:ea typeface="宋体" panose="02010600030101010101" pitchFamily="2" charset="-122"/>
            </a:endParaRPr>
          </a:p>
          <a:p>
            <a:endParaRPr lang="en-US" altLang="zh-CN">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EE5119B-E127-042F-D684-D9C0CCF91D25}"/>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069954" name="Rectangle 2">
            <a:extLst>
              <a:ext uri="{FF2B5EF4-FFF2-40B4-BE49-F238E27FC236}">
                <a16:creationId xmlns:a16="http://schemas.microsoft.com/office/drawing/2014/main" id="{C7417227-B655-5313-BBC1-9F896690BD00}"/>
              </a:ext>
            </a:extLst>
          </p:cNvPr>
          <p:cNvSpPr>
            <a:spLocks noRot="1" noChangeAspect="1" noChangeArrowheads="1" noTextEdit="1"/>
          </p:cNvSpPr>
          <p:nvPr>
            <p:ph type="sldImg"/>
          </p:nvPr>
        </p:nvSpPr>
        <p:spPr>
          <a:ln/>
        </p:spPr>
      </p:sp>
      <p:sp>
        <p:nvSpPr>
          <p:cNvPr id="3069955" name="Rectangle 3">
            <a:extLst>
              <a:ext uri="{FF2B5EF4-FFF2-40B4-BE49-F238E27FC236}">
                <a16:creationId xmlns:a16="http://schemas.microsoft.com/office/drawing/2014/main" id="{634EDBA8-270F-A86A-BA39-F990F5E002ED}"/>
              </a:ext>
            </a:extLst>
          </p:cNvPr>
          <p:cNvSpPr>
            <a:spLocks noGrp="1" noChangeAspect="1" noChangeArrowheads="1"/>
          </p:cNvSpPr>
          <p:nvPr>
            <p:ph type="body" idx="1"/>
          </p:nvPr>
        </p:nvSpPr>
        <p:spPr/>
        <p:txBody>
          <a:bodyPr/>
          <a:lstStyle/>
          <a:p>
            <a:r>
              <a:rPr lang="en-US" altLang="zh-CN" i="1">
                <a:ea typeface="宋体" panose="02010600030101010101" pitchFamily="2" charset="-122"/>
              </a:rPr>
              <a:t>Performance management </a:t>
            </a:r>
            <a:r>
              <a:rPr lang="en-US" altLang="zh-CN">
                <a:ea typeface="宋体" panose="02010600030101010101" pitchFamily="2" charset="-122"/>
              </a:rPr>
              <a:t>ensures the optimal operational efficiency of all components. Performance analysis is an important activity that helps to identify the performance of storage infrastructure components. This analysis provides the information — whether a component is meeting expected performance levels. Several performance management activities are initiated for the deployment of an application or server in the existing storage infrastructure. Every component must be validated for adequate performance capabilities as defined by the service levels. For example, to optimize expected performance levels, activities on the server such as the volume configuration, designing the database, application layout configuration of multiple HBAs, and intelligent multipathing software must be fine-tuned. The performance management tasks on a SAN include designing sufficient ISLs in a multi-switch fabric with adequate bandwidth to support the required performance levels. The storage array configuration tasks include selecting the appropriate RAID type and LUN layout, front-end and back-end ports, and LUN accessibility (LUN masking) while considering the end-to-end performance.</a:t>
            </a:r>
            <a:endParaRPr lang="en-US" altLang="zh-CN" sz="1100">
              <a:ea typeface="宋体" panose="02010600030101010101" pitchFamily="2" charset="-122"/>
            </a:endParaRPr>
          </a:p>
          <a:p>
            <a:endParaRPr lang="zh-CN" altLang="en-US" sz="110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74ED2D2-A897-6401-72A7-4A152F192C70}"/>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66210" name="Rectangle 2">
            <a:extLst>
              <a:ext uri="{FF2B5EF4-FFF2-40B4-BE49-F238E27FC236}">
                <a16:creationId xmlns:a16="http://schemas.microsoft.com/office/drawing/2014/main" id="{12DB5A8D-712D-987C-CB9A-D3E51AEDB93D}"/>
              </a:ext>
            </a:extLst>
          </p:cNvPr>
          <p:cNvSpPr>
            <a:spLocks noRot="1" noChangeAspect="1" noChangeArrowheads="1" noTextEdit="1"/>
          </p:cNvSpPr>
          <p:nvPr>
            <p:ph type="sldImg"/>
          </p:nvPr>
        </p:nvSpPr>
        <p:spPr>
          <a:ln/>
        </p:spPr>
      </p:sp>
      <p:sp>
        <p:nvSpPr>
          <p:cNvPr id="3166211" name="Rectangle 3">
            <a:extLst>
              <a:ext uri="{FF2B5EF4-FFF2-40B4-BE49-F238E27FC236}">
                <a16:creationId xmlns:a16="http://schemas.microsoft.com/office/drawing/2014/main" id="{0E8A3CE5-E040-9743-FD1E-207127AA0692}"/>
              </a:ext>
            </a:extLst>
          </p:cNvPr>
          <p:cNvSpPr>
            <a:spLocks noGrp="1" noChangeAspect="1" noChangeArrowheads="1"/>
          </p:cNvSpPr>
          <p:nvPr>
            <p:ph type="body" idx="1"/>
          </p:nvPr>
        </p:nvSpPr>
        <p:spPr/>
        <p:txBody>
          <a:bodyPr/>
          <a:lstStyle/>
          <a:p>
            <a:r>
              <a:rPr lang="en-US" altLang="zh-CN">
                <a:ea typeface="宋体" panose="02010600030101010101" pitchFamily="2" charset="-122"/>
              </a:rPr>
              <a:t>Security management prevents unauthorized access and configuration of storage infrastructure components. For example, while deploying an application or a server, the security management tasks include managing user accounts and access policies, that authorizes users to perform role-based activities. The security management tasks in the SAN environment include configuration of zoning to restrict an HBA’s unauthorized access to the specific storage array ports. LUN masking prevents data corruption on the storage array by restricting host access to a defined set of logical devices.</a:t>
            </a:r>
            <a:endParaRPr lang="en-US" altLang="zh-CN" sz="1100">
              <a:ea typeface="宋体" panose="02010600030101010101" pitchFamily="2" charset="-122"/>
            </a:endParaRPr>
          </a:p>
          <a:p>
            <a:endParaRPr lang="en-US" altLang="zh-CN" sz="1100">
              <a:ea typeface="宋体" panose="02010600030101010101" pitchFamily="2" charset="-122"/>
            </a:endParaRPr>
          </a:p>
          <a:p>
            <a:endParaRPr lang="zh-CN" altLang="en-US">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1A666E40-7394-C4AB-F380-04BA951E9470}"/>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072002" name="Rectangle 2">
            <a:extLst>
              <a:ext uri="{FF2B5EF4-FFF2-40B4-BE49-F238E27FC236}">
                <a16:creationId xmlns:a16="http://schemas.microsoft.com/office/drawing/2014/main" id="{D1E20F4C-028B-1F9F-EC5C-83AC847D4BA2}"/>
              </a:ext>
            </a:extLst>
          </p:cNvPr>
          <p:cNvSpPr>
            <a:spLocks noRot="1" noChangeAspect="1" noChangeArrowheads="1" noTextEdit="1"/>
          </p:cNvSpPr>
          <p:nvPr>
            <p:ph type="sldImg"/>
          </p:nvPr>
        </p:nvSpPr>
        <p:spPr>
          <a:ln/>
        </p:spPr>
      </p:sp>
      <p:sp>
        <p:nvSpPr>
          <p:cNvPr id="3072003" name="Rectangle 3">
            <a:extLst>
              <a:ext uri="{FF2B5EF4-FFF2-40B4-BE49-F238E27FC236}">
                <a16:creationId xmlns:a16="http://schemas.microsoft.com/office/drawing/2014/main" id="{9B1DF8B2-8814-1ABB-DBE8-553EB2A49776}"/>
              </a:ext>
            </a:extLst>
          </p:cNvPr>
          <p:cNvSpPr>
            <a:spLocks noGrp="1" noChangeAspect="1" noChangeArrowheads="1"/>
          </p:cNvSpPr>
          <p:nvPr>
            <p:ph type="body" idx="1"/>
          </p:nvPr>
        </p:nvSpPr>
        <p:spPr/>
        <p:txBody>
          <a:bodyPr/>
          <a:lstStyle/>
          <a:p>
            <a:r>
              <a:rPr lang="en-US" altLang="zh-CN">
                <a:ea typeface="宋体" panose="02010600030101010101" pitchFamily="2" charset="-122"/>
              </a:rPr>
              <a:t>It is difficult for businesses to keep track of the resources they have in their data centers, for example, the number of storage arrays, the array vendors, how the storage arrays are being used, and by which applications. Reporting on a storage infrastructure involves keeping track and gathering information from various components/processes. This information is compiled to generate reports for trend analysis, capacity planning, chargeback, performance, and to illustrate the basic configuration of storage infrastructure components. Capacity planning reports also contain current and historic information about utilization of storage, file system, database tablespace, and ports. Configuration or asset management reports include details about device allocation, local or remote replicas, and fabric configuration; and list all equipment, with details such as their value, purchase date, lease status, and maintenance records. Chargeback reports contain information about the allocation or utilization of storage infrastructure components by various departments or user groups. Performance reports provide details about the performance of various storage infrastructure components.</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71EF09F-A98C-B2CF-415B-F2088F3044E4}"/>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074050" name="Rectangle 2">
            <a:extLst>
              <a:ext uri="{FF2B5EF4-FFF2-40B4-BE49-F238E27FC236}">
                <a16:creationId xmlns:a16="http://schemas.microsoft.com/office/drawing/2014/main" id="{9CB99055-8758-0007-B140-9D8780D98D91}"/>
              </a:ext>
            </a:extLst>
          </p:cNvPr>
          <p:cNvSpPr>
            <a:spLocks noRot="1" noChangeAspect="1" noChangeArrowheads="1" noTextEdit="1"/>
          </p:cNvSpPr>
          <p:nvPr>
            <p:ph type="sldImg"/>
          </p:nvPr>
        </p:nvSpPr>
        <p:spPr>
          <a:ln/>
        </p:spPr>
      </p:sp>
      <p:sp>
        <p:nvSpPr>
          <p:cNvPr id="3074051" name="Rectangle 3">
            <a:extLst>
              <a:ext uri="{FF2B5EF4-FFF2-40B4-BE49-F238E27FC236}">
                <a16:creationId xmlns:a16="http://schemas.microsoft.com/office/drawing/2014/main" id="{96E29EA6-34F8-6857-8B5B-0FE17170F629}"/>
              </a:ext>
            </a:extLst>
          </p:cNvPr>
          <p:cNvSpPr>
            <a:spLocks noGrp="1" noChangeAspect="1" noChangeArrowheads="1"/>
          </p:cNvSpPr>
          <p:nvPr>
            <p:ph type="body" idx="1"/>
          </p:nvPr>
        </p:nvSpPr>
        <p:spPr/>
        <p:txBody>
          <a:bodyPr/>
          <a:lstStyle/>
          <a:p>
            <a:r>
              <a:rPr lang="en-US" altLang="zh-CN">
                <a:ea typeface="宋体" panose="02010600030101010101" pitchFamily="2" charset="-122"/>
              </a:rPr>
              <a:t>Consider a deployment of the new RDBMS server to the existing non-virtualized SAN environment. Following are the management activities carried out to allocate storage to new host.</a:t>
            </a:r>
          </a:p>
          <a:p>
            <a:r>
              <a:rPr lang="en-US" altLang="zh-CN" b="1">
                <a:ea typeface="宋体" panose="02010600030101010101" pitchFamily="2" charset="-122"/>
              </a:rPr>
              <a:t>Storage array management</a:t>
            </a:r>
            <a:r>
              <a:rPr lang="en-US" altLang="zh-CN">
                <a:ea typeface="宋体" panose="02010600030101010101" pitchFamily="2" charset="-122"/>
              </a:rPr>
              <a:t> </a:t>
            </a:r>
            <a:r>
              <a:rPr lang="en-US" altLang="zh-CN" b="1">
                <a:ea typeface="宋体" panose="02010600030101010101" pitchFamily="2" charset="-122"/>
              </a:rPr>
              <a:t>activities: </a:t>
            </a:r>
            <a:r>
              <a:rPr lang="en-US" altLang="zh-CN">
                <a:ea typeface="宋体" panose="02010600030101010101" pitchFamily="2" charset="-122"/>
              </a:rPr>
              <a:t>The administrator needs to configure new volumes on the array then assign those volumes to the array front-end ports. Administrator also need to configure LUN masking on the storage array by assigning new servers and volumes to the storage group. </a:t>
            </a:r>
          </a:p>
          <a:p>
            <a:r>
              <a:rPr lang="en-US" altLang="zh-CN" b="1">
                <a:ea typeface="宋体" panose="02010600030101010101" pitchFamily="2" charset="-122"/>
              </a:rPr>
              <a:t>Server management activities: </a:t>
            </a:r>
            <a:r>
              <a:rPr lang="en-US" altLang="zh-CN">
                <a:ea typeface="宋体" panose="02010600030101010101" pitchFamily="2" charset="-122"/>
              </a:rPr>
              <a:t>The installation and configuration of the HBA hardware (at least two to ensure redundancy) and driver has to be performed on the server before it can be physically connected to the SAN. Server reconfiguration may be required, depending on the operating system installed on the server, so it can recognize the new devices. Optional multipathing software can be installed on the server, which might require additional configuration. The volume management tasks on the host involve the creation of volume groups, logical volumes, and file systems. On the application side, whether it is a database or any other type of application, administrator tasks include installation of the database or the application on the logical volumes or file systems that were created</a:t>
            </a:r>
          </a:p>
          <a:p>
            <a:r>
              <a:rPr lang="en-US" altLang="zh-CN" b="1">
                <a:ea typeface="宋体" panose="02010600030101010101" pitchFamily="2" charset="-122"/>
              </a:rPr>
              <a:t>SAN management activities: </a:t>
            </a:r>
            <a:r>
              <a:rPr lang="en-US" altLang="zh-CN">
                <a:ea typeface="宋体" panose="02010600030101010101" pitchFamily="2" charset="-122"/>
              </a:rPr>
              <a:t>The administrator configures the fabric’s zoning policies for the new server’s HBA, allowing the host to access the storage array port via the specific HBA port. This operation should probably be done at two or more fabrics to ensure redundant paths between the hosts and the storage array. The switches should have free ports available for the new server, and the array port utilization is validated against the required I/O performance of the server if the port is shared between many servers.</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CE5B2D9-48C0-ED6D-7473-4DDB639FF9FC}"/>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086338" name="Rectangle 2">
            <a:extLst>
              <a:ext uri="{FF2B5EF4-FFF2-40B4-BE49-F238E27FC236}">
                <a16:creationId xmlns:a16="http://schemas.microsoft.com/office/drawing/2014/main" id="{A02383E2-DB10-C41B-0F53-56DAACA1D150}"/>
              </a:ext>
            </a:extLst>
          </p:cNvPr>
          <p:cNvSpPr>
            <a:spLocks noRot="1" noChangeAspect="1" noChangeArrowheads="1" noTextEdit="1"/>
          </p:cNvSpPr>
          <p:nvPr>
            <p:ph type="sldImg"/>
          </p:nvPr>
        </p:nvSpPr>
        <p:spPr>
          <a:ln/>
        </p:spPr>
      </p:sp>
      <p:sp>
        <p:nvSpPr>
          <p:cNvPr id="3086339" name="Rectangle 3">
            <a:extLst>
              <a:ext uri="{FF2B5EF4-FFF2-40B4-BE49-F238E27FC236}">
                <a16:creationId xmlns:a16="http://schemas.microsoft.com/office/drawing/2014/main" id="{D4979E23-F901-1425-EAFF-AA56FEC10DB4}"/>
              </a:ext>
            </a:extLst>
          </p:cNvPr>
          <p:cNvSpPr>
            <a:spLocks noGrp="1" noChangeAspect="1" noChangeArrowheads="1"/>
          </p:cNvSpPr>
          <p:nvPr>
            <p:ph type="body" idx="1"/>
          </p:nvPr>
        </p:nvSpPr>
        <p:spPr/>
        <p:txBody>
          <a:bodyPr/>
          <a:lstStyle/>
          <a:p>
            <a:r>
              <a:rPr lang="en-US" altLang="zh-CN">
                <a:ea typeface="宋体" panose="02010600030101010101" pitchFamily="2" charset="-122"/>
              </a:rPr>
              <a:t>To prevent a file system from running out of space, administrators need to perform tasks to offload data from the existing file system. This includes deleting unwanted files and offloading files to backup media that have not been accessed for a long time. Alternatively, an administrator can extend the file system to increase its size and avoid an application outage. The dynamic extension of file systems or a logical volume is dependent on the specific operating system or a logical volume manager (LVM) in use, and the volume management tasks detailed in the previous example may need to be commenced.</a:t>
            </a:r>
          </a:p>
          <a:p>
            <a:r>
              <a:rPr lang="en-US" altLang="zh-CN">
                <a:ea typeface="宋体" panose="02010600030101010101" pitchFamily="2" charset="-122"/>
              </a:rPr>
              <a:t>The steps and considerations for the extension of file systems are illustrated in this flow chart.  </a:t>
            </a:r>
          </a:p>
          <a:p>
            <a:r>
              <a:rPr lang="en-US" altLang="zh-CN">
                <a:ea typeface="宋体" panose="02010600030101010101" pitchFamily="2" charset="-122"/>
              </a:rPr>
              <a:t>While extending the file system also consider whether the volume is replicated or not. If the application uses remote or local replication for business continuity operations and a new device is added to the volume group, it must be ensured that the new device is replicated as well. The steps include:</a:t>
            </a:r>
          </a:p>
          <a:p>
            <a:pPr lvl="1"/>
            <a:r>
              <a:rPr lang="en-US" altLang="zh-CN">
                <a:ea typeface="宋体" panose="02010600030101010101" pitchFamily="2" charset="-122"/>
              </a:rPr>
              <a:t>Correlate the file system to the logical volume and volume group if an LVM is in use</a:t>
            </a:r>
          </a:p>
          <a:p>
            <a:pPr lvl="1"/>
            <a:r>
              <a:rPr lang="en-US" altLang="zh-CN">
                <a:ea typeface="宋体" panose="02010600030101010101" pitchFamily="2" charset="-122"/>
              </a:rPr>
              <a:t>If there is enough space in the volume group, extend the file system</a:t>
            </a:r>
          </a:p>
          <a:p>
            <a:pPr lvl="1"/>
            <a:r>
              <a:rPr lang="en-US" altLang="zh-CN">
                <a:ea typeface="宋体" panose="02010600030101010101" pitchFamily="2" charset="-122"/>
              </a:rPr>
              <a:t>If the volume group does not have space, does the server have access to other devices which can be used to extend the volume group, extend the volume group, or extend the file system</a:t>
            </a:r>
          </a:p>
          <a:p>
            <a:pPr lvl="1"/>
            <a:r>
              <a:rPr lang="en-US" altLang="zh-CN">
                <a:ea typeface="宋体" panose="02010600030101010101" pitchFamily="2" charset="-122"/>
              </a:rPr>
              <a:t>If the server does not have access to additional devices, allocate additional devices to the server. Many or all of the steps discussed in Scenario 1 have to be used to do this (configure new LUNs on array, LUN mask, reconfigure server to recognize new devices, extend volume group, extend file system)</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89BA159-3D75-8B2E-56C5-58FFDF6B8150}"/>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088386" name="Rectangle 2">
            <a:extLst>
              <a:ext uri="{FF2B5EF4-FFF2-40B4-BE49-F238E27FC236}">
                <a16:creationId xmlns:a16="http://schemas.microsoft.com/office/drawing/2014/main" id="{2F65D106-2D46-099C-8C10-10B61374CF04}"/>
              </a:ext>
            </a:extLst>
          </p:cNvPr>
          <p:cNvSpPr>
            <a:spLocks noRot="1" noChangeAspect="1" noChangeArrowheads="1" noTextEdit="1"/>
          </p:cNvSpPr>
          <p:nvPr>
            <p:ph type="sldImg"/>
          </p:nvPr>
        </p:nvSpPr>
        <p:spPr>
          <a:ln/>
        </p:spPr>
      </p:sp>
      <p:sp>
        <p:nvSpPr>
          <p:cNvPr id="3088387" name="Rectangle 3">
            <a:extLst>
              <a:ext uri="{FF2B5EF4-FFF2-40B4-BE49-F238E27FC236}">
                <a16:creationId xmlns:a16="http://schemas.microsoft.com/office/drawing/2014/main" id="{FEBA90CB-B047-8B69-9B90-FD16C2CDBCAF}"/>
              </a:ext>
            </a:extLst>
          </p:cNvPr>
          <p:cNvSpPr>
            <a:spLocks noGrp="1" noChangeAspect="1" noChangeArrowheads="1"/>
          </p:cNvSpPr>
          <p:nvPr>
            <p:ph type="body" idx="1"/>
          </p:nvPr>
        </p:nvSpPr>
        <p:spPr/>
        <p:txBody>
          <a:bodyPr/>
          <a:lstStyle/>
          <a:p>
            <a:r>
              <a:rPr lang="en-US" altLang="zh-CN">
                <a:ea typeface="宋体" panose="02010600030101010101" pitchFamily="2" charset="-122"/>
              </a:rPr>
              <a:t>This example explores the storage infrastructure management tasks necessary to create a specific report.</a:t>
            </a:r>
          </a:p>
          <a:p>
            <a:r>
              <a:rPr lang="en-US" altLang="zh-CN">
                <a:ea typeface="宋体" panose="02010600030101010101" pitchFamily="2" charset="-122"/>
              </a:rPr>
              <a:t>Figure shows a configuration deployed in a storage infrastructure. Three servers with two HBA each are connected to a storage array via two switches, SW1 and SW2. Individual departmental applications are running on each of the servers, and array replication technology is used to create local and remote replicas. The production volume is represented as A, local replica volume as B and the remote replica volume as C. A report documenting the exact amount of storage resources used by each application is created using a chargeback analysis for each department. If the unit for billing is based on the amount of raw storage (usable capacity plus protection provided) configured for an application used by a department, the exact amount of raw space configured must be reported for each application.</a:t>
            </a:r>
          </a:p>
          <a:p>
            <a:r>
              <a:rPr lang="en-US" altLang="zh-CN">
                <a:ea typeface="宋体" panose="02010600030101010101" pitchFamily="2" charset="-122"/>
              </a:rPr>
              <a:t>A sample report is shown at the bottom of Figure. The report shows the information for two applications, Payroll_1 and Engineering_1.</a:t>
            </a:r>
          </a:p>
          <a:p>
            <a:endParaRPr lang="en-US" altLang="zh-CN">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D0FEDCD-563C-DB19-C34D-C544923CE73A}"/>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090434" name="Rectangle 2">
            <a:extLst>
              <a:ext uri="{FF2B5EF4-FFF2-40B4-BE49-F238E27FC236}">
                <a16:creationId xmlns:a16="http://schemas.microsoft.com/office/drawing/2014/main" id="{27D54C8A-97D8-353B-6E18-7F375B6E8863}"/>
              </a:ext>
            </a:extLst>
          </p:cNvPr>
          <p:cNvSpPr>
            <a:spLocks noRot="1" noChangeAspect="1" noChangeArrowheads="1" noTextEdit="1"/>
          </p:cNvSpPr>
          <p:nvPr>
            <p:ph type="sldImg"/>
          </p:nvPr>
        </p:nvSpPr>
        <p:spPr>
          <a:ln/>
        </p:spPr>
      </p:sp>
      <p:sp>
        <p:nvSpPr>
          <p:cNvPr id="3090435" name="Rectangle 3">
            <a:extLst>
              <a:ext uri="{FF2B5EF4-FFF2-40B4-BE49-F238E27FC236}">
                <a16:creationId xmlns:a16="http://schemas.microsoft.com/office/drawing/2014/main" id="{75EE252B-B3FF-4516-E26A-DD6662FD1CE1}"/>
              </a:ext>
            </a:extLst>
          </p:cNvPr>
          <p:cNvSpPr>
            <a:spLocks noGrp="1" noChangeAspect="1" noChangeArrowheads="1"/>
          </p:cNvSpPr>
          <p:nvPr>
            <p:ph type="body" idx="1"/>
          </p:nvPr>
        </p:nvSpPr>
        <p:spPr/>
        <p:txBody>
          <a:bodyPr/>
          <a:lstStyle/>
          <a:p>
            <a:r>
              <a:rPr lang="en-US" altLang="zh-CN">
                <a:ea typeface="宋体" panose="02010600030101010101" pitchFamily="2" charset="-122"/>
              </a:rPr>
              <a:t>The first step to determine chargeback costs associated with an application is to correlate the application with the exact amount of raw storage configured for that application.</a:t>
            </a:r>
          </a:p>
          <a:p>
            <a:r>
              <a:rPr lang="en-US" altLang="zh-CN">
                <a:ea typeface="宋体" panose="02010600030101010101" pitchFamily="2" charset="-122"/>
              </a:rPr>
              <a:t>As shown here the Payroll_1 application storage space is traced from file systems to logical volumes to volume groups to the LUNs on the array. When the applications are being replicated, the storage space used for local replication and remote replication is also identified. In the example shown, the application is using “Source Vol 1 and Vol 2” (in Array 1). The replication volumes are “Local Replica Vol 1 and Vol 2” (in Array 1) and “Remote Replica Vol 1 and Vol 2” (in the Remote Array). As the application grows, more file systems and storage space may be used; therefore, configuration changes are inevitable. Before a new report is generated, a correlation of the application to the array LUNs should be done to ensure that the most current information is used.</a:t>
            </a:r>
          </a:p>
          <a:p>
            <a:endParaRPr lang="zh-CN" altLang="en-US">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B9349F7-5F6E-3AEF-66F8-A80A02FF119F}"/>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092482" name="Rectangle 2">
            <a:extLst>
              <a:ext uri="{FF2B5EF4-FFF2-40B4-BE49-F238E27FC236}">
                <a16:creationId xmlns:a16="http://schemas.microsoft.com/office/drawing/2014/main" id="{CE0D57FB-5464-CDCB-EBD4-5B34B5F4471B}"/>
              </a:ext>
            </a:extLst>
          </p:cNvPr>
          <p:cNvSpPr>
            <a:spLocks noRot="1" noChangeAspect="1" noChangeArrowheads="1" noTextEdit="1"/>
          </p:cNvSpPr>
          <p:nvPr>
            <p:ph type="sldImg"/>
          </p:nvPr>
        </p:nvSpPr>
        <p:spPr>
          <a:ln/>
        </p:spPr>
      </p:sp>
      <p:sp>
        <p:nvSpPr>
          <p:cNvPr id="3092483" name="Rectangle 3">
            <a:extLst>
              <a:ext uri="{FF2B5EF4-FFF2-40B4-BE49-F238E27FC236}">
                <a16:creationId xmlns:a16="http://schemas.microsoft.com/office/drawing/2014/main" id="{951E6538-3F6E-73A9-44A6-9B24513ADC9B}"/>
              </a:ext>
            </a:extLst>
          </p:cNvPr>
          <p:cNvSpPr>
            <a:spLocks noGrp="1" noChangeAspect="1" noChangeArrowheads="1"/>
          </p:cNvSpPr>
          <p:nvPr>
            <p:ph type="body" idx="1"/>
          </p:nvPr>
        </p:nvSpPr>
        <p:spPr/>
        <p:txBody>
          <a:bodyPr/>
          <a:lstStyle/>
          <a:p>
            <a:r>
              <a:rPr lang="en-US" altLang="zh-CN">
                <a:ea typeface="宋体" panose="02010600030101010101" pitchFamily="2" charset="-122"/>
              </a:rPr>
              <a:t>The amount of storage allocated to the application can be easily computed after the array devices are identified. In this example, if we assume that Source Vol 1 and Vol 2 are each 50 GB in size, the storage allocated to the application is 100 GB (50 + 50). The allocated storage for replication is 100 GB for local replication and 100 GB for remote replication. From the allocated storage, the raw storage configured for the application is determined based on the RAID protection that is used for various array devices. If the Payroll_1 application production volumes are RAID 1 protected, the raw space used by the production volumes is 200 GB. If we assume that the local replicas are on unprotected volumes and the remote replicas are protected with a RAID 5 configuration, the raw space used by local replicas is 100 GB, and 125 GB by the remote replicas. Therefore, the total raw capacity used by the Payroll_1 application is 425 GB. If provisioned capacity is equal to the consumed capacity, the total cost of storage will be $106.25 (assume cost per GB of storage is $0.25). This exercise must be repeated for each application in the enterprise to generate the required report.</a:t>
            </a:r>
          </a:p>
          <a:p>
            <a:r>
              <a:rPr lang="en-US" altLang="zh-CN">
                <a:ea typeface="宋体" panose="02010600030101010101" pitchFamily="2" charset="-122"/>
              </a:rPr>
              <a:t>Chargeback reports can be extended to include a pre-established cost for other resources, such as the number of switch ports, HBAs, and array ports in the configuration. Chargeback reports are used by data center administrators to ensure that storage consumers are well aware of the costs of the service levels they have requested.</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532B7B0-7B98-9F4D-E331-C126A39ABE14}"/>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23202" name="Rectangle 2">
            <a:extLst>
              <a:ext uri="{FF2B5EF4-FFF2-40B4-BE49-F238E27FC236}">
                <a16:creationId xmlns:a16="http://schemas.microsoft.com/office/drawing/2014/main" id="{224E8112-7E14-B958-737C-C60C234BAD47}"/>
              </a:ext>
            </a:extLst>
          </p:cNvPr>
          <p:cNvSpPr>
            <a:spLocks noRot="1" noChangeAspect="1" noChangeArrowheads="1" noTextEdit="1"/>
          </p:cNvSpPr>
          <p:nvPr>
            <p:ph type="sldImg"/>
          </p:nvPr>
        </p:nvSpPr>
        <p:spPr>
          <a:ln/>
        </p:spPr>
      </p:sp>
      <p:sp>
        <p:nvSpPr>
          <p:cNvPr id="3123203" name="Rectangle 3">
            <a:extLst>
              <a:ext uri="{FF2B5EF4-FFF2-40B4-BE49-F238E27FC236}">
                <a16:creationId xmlns:a16="http://schemas.microsoft.com/office/drawing/2014/main" id="{335E7548-EFF6-6FF7-8A40-3BA2112D1698}"/>
              </a:ext>
            </a:extLst>
          </p:cNvPr>
          <p:cNvSpPr>
            <a:spLocks noGrp="1" noChangeAspect="1" noChangeArrowheads="1"/>
          </p:cNvSpPr>
          <p:nvPr>
            <p:ph type="body" idx="1"/>
          </p:nvPr>
        </p:nvSpPr>
        <p:spPr/>
        <p:txBody>
          <a:bodyPr/>
          <a:lstStyle/>
          <a:p>
            <a:r>
              <a:rPr lang="en-US" altLang="zh-CN">
                <a:ea typeface="宋体" panose="02010600030101010101" pitchFamily="2" charset="-122"/>
              </a:rPr>
              <a:t>Monitoring and managing today’s complex storage infrastructure environment has become very challenging due to the number and variety of storage arrays, networks, servers, databases, and applications. </a:t>
            </a:r>
          </a:p>
          <a:p>
            <a:pPr>
              <a:buFontTx/>
              <a:buChar char="•"/>
            </a:pPr>
            <a:r>
              <a:rPr lang="en-US" altLang="zh-CN">
                <a:ea typeface="宋体" panose="02010600030101010101" pitchFamily="2" charset="-122"/>
              </a:rPr>
              <a:t>Variety of storage devices varying in capacity, performance, and protection methodologies</a:t>
            </a:r>
          </a:p>
          <a:p>
            <a:pPr>
              <a:buFontTx/>
              <a:buChar char="•"/>
            </a:pPr>
            <a:r>
              <a:rPr lang="en-US" altLang="zh-CN">
                <a:ea typeface="宋体" panose="02010600030101010101" pitchFamily="2" charset="-122"/>
              </a:rPr>
              <a:t>Storage infrastructures deploy both SAN and IP networks </a:t>
            </a:r>
          </a:p>
          <a:p>
            <a:pPr>
              <a:buFontTx/>
              <a:buChar char="•"/>
            </a:pPr>
            <a:r>
              <a:rPr lang="en-US" altLang="zh-CN">
                <a:ea typeface="宋体" panose="02010600030101010101" pitchFamily="2" charset="-122"/>
              </a:rPr>
              <a:t>Servers with different operating systems such as UNIX, LINUX, Windows, or mainframe</a:t>
            </a:r>
          </a:p>
          <a:p>
            <a:r>
              <a:rPr lang="en-US" altLang="zh-CN">
                <a:ea typeface="宋体" panose="02010600030101010101" pitchFamily="2" charset="-122"/>
              </a:rPr>
              <a:t>These products and services from multiple vendors may have interoperability issues which add complexity in managing storage infrastructure. All of these components are provided with vendor-specific tools to manage and monitor them. </a:t>
            </a:r>
          </a:p>
          <a:p>
            <a:r>
              <a:rPr lang="en-US" altLang="zh-CN">
                <a:ea typeface="宋体" panose="02010600030101010101" pitchFamily="2" charset="-122"/>
              </a:rPr>
              <a:t>However, in an environment where multiple tools are in use, it is difficult to understand the overall status of all the components and to be able to provide cross-component failure, impact, and behavior analysis. Ideally, monitoring tools should be able to correlate information from all components in one place. That way, analysis and actions are taken based on a holistic, end-to-end view of the environment and corrective measures can be taken proactively.</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7D21CA7-66A4-83F0-E10F-03F60187D2E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69282" name="Rectangle 2">
            <a:extLst>
              <a:ext uri="{FF2B5EF4-FFF2-40B4-BE49-F238E27FC236}">
                <a16:creationId xmlns:a16="http://schemas.microsoft.com/office/drawing/2014/main" id="{8F259087-5228-DDA1-3878-F0EFC92DA324}"/>
              </a:ext>
            </a:extLst>
          </p:cNvPr>
          <p:cNvSpPr>
            <a:spLocks noRot="1" noChangeAspect="1" noChangeArrowheads="1" noTextEdit="1"/>
          </p:cNvSpPr>
          <p:nvPr>
            <p:ph type="sldImg"/>
          </p:nvPr>
        </p:nvSpPr>
        <p:spPr>
          <a:ln/>
        </p:spPr>
      </p:sp>
      <p:sp>
        <p:nvSpPr>
          <p:cNvPr id="3169283" name="Rectangle 3">
            <a:extLst>
              <a:ext uri="{FF2B5EF4-FFF2-40B4-BE49-F238E27FC236}">
                <a16:creationId xmlns:a16="http://schemas.microsoft.com/office/drawing/2014/main" id="{EA41CC27-4488-DD2A-CD7B-04A9883CAA5E}"/>
              </a:ext>
            </a:extLst>
          </p:cNvPr>
          <p:cNvSpPr>
            <a:spLocks noGrp="1" noChangeAspect="1" noChangeArrowheads="1"/>
          </p:cNvSpPr>
          <p:nvPr>
            <p:ph type="body" idx="1"/>
          </p:nvPr>
        </p:nvSpPr>
        <p:spPr/>
        <p:txBody>
          <a:bodyPr/>
          <a:lstStyle/>
          <a:p>
            <a:r>
              <a:rPr lang="en-US" altLang="zh-CN">
                <a:ea typeface="宋体" panose="02010600030101010101" pitchFamily="2" charset="-122"/>
              </a:rPr>
              <a:t>SAN Administrators have often been faced with the dilemma of integrating multi-vendor hardware and software under a single management umbrella. It is relatively easy for administrators to monitor individual switches. But monitoring a set of switches together, and correlating data, is a more complex challenge. </a:t>
            </a:r>
          </a:p>
          <a:p>
            <a:r>
              <a:rPr lang="en-US" altLang="zh-CN">
                <a:ea typeface="宋体" panose="02010600030101010101" pitchFamily="2" charset="-122"/>
              </a:rPr>
              <a:t>Users and administrators want the flexibility to select the most suitable products for a particular application or set of applications and then easily integrate those products into their computing environments. Traditionally, this has not been possible for the reasons listed above.</a:t>
            </a:r>
          </a:p>
          <a:p>
            <a:r>
              <a:rPr lang="en-US" altLang="zh-CN">
                <a:ea typeface="宋体" panose="02010600030101010101" pitchFamily="2" charset="-122"/>
              </a:rPr>
              <a:t>Without standards, policy-based management is not possible across entire classes of devices. This poses a big dilemma for diverse environments. </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54995E6-2FB9-9BC8-BAE4-53BFE714371E}"/>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00674" name="Rectangle 2">
            <a:extLst>
              <a:ext uri="{FF2B5EF4-FFF2-40B4-BE49-F238E27FC236}">
                <a16:creationId xmlns:a16="http://schemas.microsoft.com/office/drawing/2014/main" id="{7F9487F2-A590-84D3-640C-3C895B6157A0}"/>
              </a:ext>
            </a:extLst>
          </p:cNvPr>
          <p:cNvSpPr>
            <a:spLocks noRot="1" noChangeAspect="1" noChangeArrowheads="1" noTextEdit="1"/>
          </p:cNvSpPr>
          <p:nvPr>
            <p:ph type="sldImg"/>
          </p:nvPr>
        </p:nvSpPr>
        <p:spPr>
          <a:ln/>
        </p:spPr>
      </p:sp>
      <p:sp>
        <p:nvSpPr>
          <p:cNvPr id="3100675" name="Rectangle 3">
            <a:extLst>
              <a:ext uri="{FF2B5EF4-FFF2-40B4-BE49-F238E27FC236}">
                <a16:creationId xmlns:a16="http://schemas.microsoft.com/office/drawing/2014/main" id="{8B11D9F5-498D-C08C-1E1D-09EA22FB4ECD}"/>
              </a:ext>
            </a:extLst>
          </p:cNvPr>
          <p:cNvSpPr>
            <a:spLocks noGrp="1" noChangeAspect="1" noChangeArrowheads="1"/>
          </p:cNvSpPr>
          <p:nvPr>
            <p:ph type="body" idx="1"/>
          </p:nvPr>
        </p:nvSpPr>
        <p:spPr/>
        <p:txBody>
          <a:bodyPr/>
          <a:lstStyle/>
          <a:p>
            <a:r>
              <a:rPr lang="en-US" altLang="zh-CN">
                <a:ea typeface="宋体" panose="02010600030101010101" pitchFamily="2" charset="-122"/>
              </a:rPr>
              <a:t>There is value in building a central monitoring and management system that can work in a multi-vendor storage environment and is able to create an end-to-end view that includes various technology stacks and different deployment configurations. The other benefit of end-to-end monitoring is the ability to correlate one component’s behavior to others. This will be helpful to debug or analyze a problem, where looking into each component individually might not be enough. </a:t>
            </a:r>
          </a:p>
          <a:p>
            <a:r>
              <a:rPr lang="en-US" altLang="zh-CN">
                <a:ea typeface="宋体" panose="02010600030101010101" pitchFamily="2" charset="-122"/>
              </a:rPr>
              <a:t>The infrastructure management system </a:t>
            </a:r>
          </a:p>
          <a:p>
            <a:pPr>
              <a:buFontTx/>
              <a:buChar char="•"/>
            </a:pPr>
            <a:r>
              <a:rPr lang="en-US" altLang="zh-CN">
                <a:ea typeface="宋体" panose="02010600030101010101" pitchFamily="2" charset="-122"/>
              </a:rPr>
              <a:t>Should be able to gather information from all of the components and manage them through a single-user interface</a:t>
            </a:r>
          </a:p>
          <a:p>
            <a:pPr>
              <a:buFontTx/>
              <a:buChar char="•"/>
            </a:pPr>
            <a:r>
              <a:rPr lang="en-US" altLang="zh-CN">
                <a:ea typeface="宋体" panose="02010600030101010101" pitchFamily="2" charset="-122"/>
              </a:rPr>
              <a:t>It should also be able to perform root cause analysis and indicate the impact of individual component failure on various business applications/processes. </a:t>
            </a:r>
          </a:p>
          <a:p>
            <a:pPr>
              <a:buFontTx/>
              <a:buChar char="•"/>
            </a:pPr>
            <a:r>
              <a:rPr lang="en-US" altLang="zh-CN">
                <a:ea typeface="宋体" panose="02010600030101010101" pitchFamily="2" charset="-122"/>
              </a:rPr>
              <a:t>It must provide a mechanism to notify administrators about various events using methods such as e‑mail and SNMP traps, and generate monitoring reports or run automated scripts for task automation. </a:t>
            </a:r>
          </a:p>
          <a:p>
            <a:pPr>
              <a:buFontTx/>
              <a:buChar char="•"/>
            </a:pPr>
            <a:r>
              <a:rPr lang="en-US" altLang="zh-CN">
                <a:ea typeface="宋体" panose="02010600030101010101" pitchFamily="2" charset="-122"/>
              </a:rPr>
              <a:t>The ideal solution must be based on industry standards, leveraging common APIs, data model terminology, and taxonomy. This enables the implementation of policy-based management across heterogeneous classes of devices, services, applications, storage infrastructure, and deployed topologies.</a:t>
            </a:r>
          </a:p>
          <a:p>
            <a:r>
              <a:rPr lang="en-US" altLang="zh-CN">
                <a:ea typeface="宋体" panose="02010600030101010101" pitchFamily="2" charset="-122"/>
              </a:rPr>
              <a:t>Without standards, a policy-based management is not possible across entire classes of devices. </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E11E2EB-0C4B-5A40-4893-EC4372215F58}"/>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25250" name="Rectangle 2">
            <a:extLst>
              <a:ext uri="{FF2B5EF4-FFF2-40B4-BE49-F238E27FC236}">
                <a16:creationId xmlns:a16="http://schemas.microsoft.com/office/drawing/2014/main" id="{507817EC-413D-1490-ED97-F71382692534}"/>
              </a:ext>
            </a:extLst>
          </p:cNvPr>
          <p:cNvSpPr>
            <a:spLocks noRot="1" noChangeAspect="1" noChangeArrowheads="1" noTextEdit="1"/>
          </p:cNvSpPr>
          <p:nvPr>
            <p:ph type="sldImg"/>
          </p:nvPr>
        </p:nvSpPr>
        <p:spPr>
          <a:ln/>
        </p:spPr>
      </p:sp>
      <p:sp>
        <p:nvSpPr>
          <p:cNvPr id="3125251" name="Rectangle 3">
            <a:extLst>
              <a:ext uri="{FF2B5EF4-FFF2-40B4-BE49-F238E27FC236}">
                <a16:creationId xmlns:a16="http://schemas.microsoft.com/office/drawing/2014/main" id="{C916FA30-0EA6-76AA-C4F5-96B5C1702062}"/>
              </a:ext>
            </a:extLst>
          </p:cNvPr>
          <p:cNvSpPr>
            <a:spLocks noGrp="1" noChangeAspect="1" noChangeArrowheads="1"/>
          </p:cNvSpPr>
          <p:nvPr>
            <p:ph type="body" idx="1"/>
          </p:nvPr>
        </p:nvSpPr>
        <p:spPr/>
        <p:txBody>
          <a:bodyPr/>
          <a:lstStyle/>
          <a:p>
            <a:r>
              <a:rPr lang="en-US" altLang="zh-CN" sz="1100">
                <a:ea typeface="宋体" panose="02010600030101010101" pitchFamily="2" charset="-122"/>
              </a:rPr>
              <a:t>The Storage Networking Industry Association (SNIA) has been engaged in an initiative to develop a common, open storage, and SAN management interface. The initiative is created to enable broad interoperability among heterogeneous storage vendor systems and better management solutions of these environments. This initiative is known as the Storage Management Initiative (SMI). </a:t>
            </a:r>
          </a:p>
          <a:p>
            <a:r>
              <a:rPr lang="en-US" altLang="zh-CN" sz="1100">
                <a:ea typeface="宋体" panose="02010600030101010101" pitchFamily="2" charset="-122"/>
              </a:rPr>
              <a:t>The SMI Specification, known as SMI-S, offers substantial benefits to users and vendors. SMI-S is based on Web-Based Enterprise Management (WBEM) technology and Common Information Model (CIM). It forms a normalized, abstracted model to which a storage infrastructure’s physical and logical components can be mapped, and can be used by management applications such as storage resource management, device management, and data management for standardized, effective, end-to-end control of storage resources. </a:t>
            </a:r>
          </a:p>
          <a:p>
            <a:r>
              <a:rPr lang="en-US" altLang="zh-CN" sz="1100">
                <a:ea typeface="宋体" panose="02010600030101010101" pitchFamily="2" charset="-122"/>
              </a:rPr>
              <a:t>Using SMI-S, the storage software developers have a single normalized and unified object model comprising the detailed document that contains information about managing the breadth of SAN components. Moreover, SMI-S eliminates the need for development of vendor-proprietary management interfaces, enabling vendors to focus on added value functions and offering solutions in a way that will support new devices as long as they adhere to the standard. The SMI-S-compliant products lead to easier, faster deployment, and accelerated adoption of policy-based storage management frameworks.</a:t>
            </a:r>
          </a:p>
          <a:p>
            <a:r>
              <a:rPr lang="en-US" altLang="zh-CN" sz="1100">
                <a:ea typeface="宋体" panose="02010600030101010101" pitchFamily="2" charset="-122"/>
              </a:rPr>
              <a:t>The CIM is a language and methodology for describing management elements. A CIM schema includes models for systems, applications, networks, and devices. This schema also enables applications from different vendors working on different platforms to describe the management data in a standard format so that it can be shared among a variety of management applications. WBEM is an initiative in the Distributed Management Task Force (DMTF). It is a set of technologies that enables interoperable management of an enterprise. </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11AA275-CF00-59F8-9FC6-7F2AC5F86DDB}"/>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12962" name="Rectangle 2">
            <a:extLst>
              <a:ext uri="{FF2B5EF4-FFF2-40B4-BE49-F238E27FC236}">
                <a16:creationId xmlns:a16="http://schemas.microsoft.com/office/drawing/2014/main" id="{D2EEF4BB-4C93-49E2-1F3E-84225E209FCD}"/>
              </a:ext>
            </a:extLst>
          </p:cNvPr>
          <p:cNvSpPr>
            <a:spLocks noRot="1" noChangeAspect="1" noChangeArrowheads="1" noTextEdit="1"/>
          </p:cNvSpPr>
          <p:nvPr>
            <p:ph type="sldImg"/>
          </p:nvPr>
        </p:nvSpPr>
        <p:spPr>
          <a:ln/>
        </p:spPr>
      </p:sp>
      <p:sp>
        <p:nvSpPr>
          <p:cNvPr id="3112963" name="Rectangle 3">
            <a:extLst>
              <a:ext uri="{FF2B5EF4-FFF2-40B4-BE49-F238E27FC236}">
                <a16:creationId xmlns:a16="http://schemas.microsoft.com/office/drawing/2014/main" id="{585FD437-7B2C-8FB0-A517-1325DD06F874}"/>
              </a:ext>
            </a:extLst>
          </p:cNvPr>
          <p:cNvSpPr>
            <a:spLocks noGrp="1" noChangeAspect="1" noChangeArrowheads="1"/>
          </p:cNvSpPr>
          <p:nvPr>
            <p:ph type="body" idx="1"/>
          </p:nvPr>
        </p:nvSpPr>
        <p:spPr/>
        <p:txBody>
          <a:bodyPr/>
          <a:lstStyle/>
          <a:p>
            <a:r>
              <a:rPr lang="en-US" altLang="zh-CN">
                <a:ea typeface="宋体" panose="02010600030101010101" pitchFamily="2" charset="-122"/>
              </a:rPr>
              <a:t>Enterprise management platforms (EMPs) are complex applications or suites of applications that provide an integrated solution for managing and monitoring an enterprise storage infrastructure. These applications proactively monitor many storage infrastructure components and are designed to alert users about any problems or the approach of a predefined threshold in monitored components.</a:t>
            </a:r>
          </a:p>
          <a:p>
            <a:r>
              <a:rPr lang="en-US" altLang="zh-CN">
                <a:ea typeface="宋体" panose="02010600030101010101" pitchFamily="2" charset="-122"/>
              </a:rPr>
              <a:t>These alerts are either shown on a console depicting the faulty component in a different color, or they can be configured to send the alert by e‑mail or other means. In addition to monitoring functionality, the EMPs can provide the necessary management functionality, which can be natively implemented by code embedded into the EMP or may involve launching the proprietary management utility supplied by the target component manufacturer. </a:t>
            </a:r>
          </a:p>
          <a:p>
            <a:r>
              <a:rPr lang="en-US" altLang="zh-CN">
                <a:ea typeface="宋体" panose="02010600030101010101" pitchFamily="2" charset="-122"/>
              </a:rPr>
              <a:t> Other functionality enables easy scheduling of operations that must be performed regularly, such as the provisioning of resources, configuration management, and fault investigation. These platforms also provide extensive analytical, remedial, and reporting capabilities to ease storage infrastructure management. EMC ControlCenter is an example of an EMP implementation.</a:t>
            </a:r>
          </a:p>
          <a:p>
            <a:endParaRPr lang="zh-CN" altLang="en-US">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0C2516F-337D-0A94-8802-4639564307EC}"/>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40610" name="Rectangle 2">
            <a:extLst>
              <a:ext uri="{FF2B5EF4-FFF2-40B4-BE49-F238E27FC236}">
                <a16:creationId xmlns:a16="http://schemas.microsoft.com/office/drawing/2014/main" id="{7A978450-EF10-FCFD-FF5B-8DA221A02F3A}"/>
              </a:ext>
            </a:extLst>
          </p:cNvPr>
          <p:cNvSpPr>
            <a:spLocks noRot="1" noChangeAspect="1" noChangeArrowheads="1" noTextEdit="1"/>
          </p:cNvSpPr>
          <p:nvPr>
            <p:ph type="sldImg"/>
          </p:nvPr>
        </p:nvSpPr>
        <p:spPr>
          <a:ln/>
        </p:spPr>
      </p:sp>
      <p:sp>
        <p:nvSpPr>
          <p:cNvPr id="3140611" name="Rectangle 3">
            <a:extLst>
              <a:ext uri="{FF2B5EF4-FFF2-40B4-BE49-F238E27FC236}">
                <a16:creationId xmlns:a16="http://schemas.microsoft.com/office/drawing/2014/main" id="{41CE9353-313A-74B0-F28B-F6457FC7EA2B}"/>
              </a:ext>
            </a:extLst>
          </p:cNvPr>
          <p:cNvSpPr>
            <a:spLocks noGrp="1" noChangeAspect="1" noChangeArrowheads="1"/>
          </p:cNvSpPr>
          <p:nvPr>
            <p:ph type="body" idx="1"/>
          </p:nvPr>
        </p:nvSpPr>
        <p:spPr/>
        <p:txBody>
          <a:bodyPr/>
          <a:lstStyle/>
          <a:p>
            <a:r>
              <a:rPr lang="en-US" altLang="zh-CN">
                <a:ea typeface="宋体" panose="02010600030101010101" pitchFamily="2" charset="-122"/>
              </a:rPr>
              <a:t>These are the key points covered in the module. Please take a moment to review them.</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C74058A-EA4F-FC9D-657C-6283B9E09A3D}"/>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45730" name="Rectangle 2">
            <a:extLst>
              <a:ext uri="{FF2B5EF4-FFF2-40B4-BE49-F238E27FC236}">
                <a16:creationId xmlns:a16="http://schemas.microsoft.com/office/drawing/2014/main" id="{90D333A6-D674-AD52-C69C-5329E9B65901}"/>
              </a:ext>
            </a:extLst>
          </p:cNvPr>
          <p:cNvSpPr>
            <a:spLocks noRot="1" noChangeAspect="1" noChangeArrowheads="1" noTextEdit="1"/>
          </p:cNvSpPr>
          <p:nvPr>
            <p:ph type="sldImg"/>
          </p:nvPr>
        </p:nvSpPr>
        <p:spPr>
          <a:ln/>
        </p:spPr>
      </p:sp>
      <p:sp>
        <p:nvSpPr>
          <p:cNvPr id="3145731" name="Rectangle 3">
            <a:extLst>
              <a:ext uri="{FF2B5EF4-FFF2-40B4-BE49-F238E27FC236}">
                <a16:creationId xmlns:a16="http://schemas.microsoft.com/office/drawing/2014/main" id="{F23B9A4D-6A4B-34CD-6A03-4E0019152E3E}"/>
              </a:ext>
            </a:extLst>
          </p:cNvPr>
          <p:cNvSpPr>
            <a:spLocks noGrp="1" noChangeAspect="1" noChangeArrowheads="1"/>
          </p:cNvSpPr>
          <p:nvPr>
            <p:ph type="body" idx="1"/>
          </p:nvPr>
        </p:nvSpPr>
        <p:spPr/>
        <p:txBody>
          <a:bodyPr/>
          <a:lstStyle/>
          <a:p>
            <a:r>
              <a:rPr lang="en-US" altLang="zh-CN">
                <a:ea typeface="宋体" panose="02010600030101010101" pitchFamily="2" charset="-122"/>
              </a:rPr>
              <a:t>These are the key points covered in this module. Please take a moment to review them.</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96B3C71-2429-204D-D490-198EEC084B37}"/>
              </a:ext>
            </a:extLst>
          </p:cNvPr>
          <p:cNvSpPr>
            <a:spLocks noGrp="1" noChangeArrowheads="1"/>
          </p:cNvSpPr>
          <p:nvPr>
            <p:ph type="hdr" sz="quarter"/>
          </p:nvPr>
        </p:nvSpPr>
        <p:spPr>
          <a:ln/>
        </p:spPr>
        <p:txBody>
          <a:bodyPr/>
          <a:lstStyle/>
          <a:p>
            <a:r>
              <a:rPr lang="zh-CN" altLang="en-US"/>
              <a:t>Copyright © 2009 EMC Corporation. Do not Copy - All Rights Reserved.</a:t>
            </a:r>
          </a:p>
        </p:txBody>
      </p:sp>
      <p:sp>
        <p:nvSpPr>
          <p:cNvPr id="3188738" name="Rectangle 2">
            <a:extLst>
              <a:ext uri="{FF2B5EF4-FFF2-40B4-BE49-F238E27FC236}">
                <a16:creationId xmlns:a16="http://schemas.microsoft.com/office/drawing/2014/main" id="{2912A0C2-008B-58BF-B119-216BE6F870AE}"/>
              </a:ext>
            </a:extLst>
          </p:cNvPr>
          <p:cNvSpPr>
            <a:spLocks noRot="1" noChangeAspect="1" noChangeArrowheads="1" noTextEdit="1"/>
          </p:cNvSpPr>
          <p:nvPr>
            <p:ph type="sldImg"/>
          </p:nvPr>
        </p:nvSpPr>
        <p:spPr>
          <a:ln/>
        </p:spPr>
      </p:sp>
      <p:sp>
        <p:nvSpPr>
          <p:cNvPr id="3188739" name="Rectangle 3">
            <a:extLst>
              <a:ext uri="{FF2B5EF4-FFF2-40B4-BE49-F238E27FC236}">
                <a16:creationId xmlns:a16="http://schemas.microsoft.com/office/drawing/2014/main" id="{1D20251A-5B77-4A73-D959-4619907B704C}"/>
              </a:ext>
            </a:extLst>
          </p:cNvPr>
          <p:cNvSpPr>
            <a:spLocks noGrp="1" noChangeAspect="1" noChangeArrowheads="1"/>
          </p:cNvSpPr>
          <p:nvPr>
            <p:ph type="body" idx="1"/>
          </p:nvPr>
        </p:nvSpPr>
        <p:spPr/>
        <p:txBody>
          <a:bodyPr/>
          <a:lstStyle/>
          <a:p>
            <a:endParaRPr lang="zh-CN" altLang="en-US">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Text Box 2">
            <a:extLst>
              <a:ext uri="{FF2B5EF4-FFF2-40B4-BE49-F238E27FC236}">
                <a16:creationId xmlns:a16="http://schemas.microsoft.com/office/drawing/2014/main" id="{34311FFA-79CA-82AF-0F45-29E8FE7BADE7}"/>
              </a:ext>
            </a:extLst>
          </p:cNvPr>
          <p:cNvSpPr txBox="1">
            <a:spLocks noChangeArrowheads="1"/>
          </p:cNvSpPr>
          <p:nvPr/>
        </p:nvSpPr>
        <p:spPr bwMode="gray">
          <a:xfrm>
            <a:off x="304800" y="6705600"/>
            <a:ext cx="2233613" cy="1524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gn="l">
              <a:spcBef>
                <a:spcPct val="0"/>
              </a:spcBef>
              <a:tabLst>
                <a:tab pos="9090025" algn="r"/>
              </a:tabLst>
              <a:defRPr>
                <a:solidFill>
                  <a:schemeClr val="tx1"/>
                </a:solidFill>
                <a:latin typeface="Arial" panose="020B0604020202020204" pitchFamily="34" charset="0"/>
                <a:cs typeface="Arial" panose="020B0604020202020204" pitchFamily="34" charset="0"/>
              </a:defRPr>
            </a:lvl1pPr>
            <a:lvl2pPr algn="l">
              <a:spcBef>
                <a:spcPct val="0"/>
              </a:spcBef>
              <a:tabLst>
                <a:tab pos="9090025" algn="r"/>
              </a:tabLst>
              <a:defRPr>
                <a:solidFill>
                  <a:schemeClr val="tx1"/>
                </a:solidFill>
                <a:latin typeface="Arial" panose="020B0604020202020204" pitchFamily="34" charset="0"/>
                <a:cs typeface="Arial" panose="020B0604020202020204" pitchFamily="34" charset="0"/>
              </a:defRPr>
            </a:lvl2pPr>
            <a:lvl3pPr algn="l">
              <a:spcBef>
                <a:spcPct val="0"/>
              </a:spcBef>
              <a:tabLst>
                <a:tab pos="9090025" algn="r"/>
              </a:tabLst>
              <a:defRPr>
                <a:solidFill>
                  <a:schemeClr val="tx1"/>
                </a:solidFill>
                <a:latin typeface="Arial" panose="020B0604020202020204" pitchFamily="34" charset="0"/>
                <a:cs typeface="Arial" panose="020B0604020202020204" pitchFamily="34" charset="0"/>
              </a:defRPr>
            </a:lvl3pPr>
            <a:lvl4pPr algn="l">
              <a:spcBef>
                <a:spcPct val="0"/>
              </a:spcBef>
              <a:tabLst>
                <a:tab pos="9090025" algn="r"/>
              </a:tabLst>
              <a:defRPr>
                <a:solidFill>
                  <a:schemeClr val="tx1"/>
                </a:solidFill>
                <a:latin typeface="Arial" panose="020B0604020202020204" pitchFamily="34" charset="0"/>
                <a:cs typeface="Arial" panose="020B0604020202020204" pitchFamily="34" charset="0"/>
              </a:defRPr>
            </a:lvl4pPr>
            <a:lvl5pPr algn="l">
              <a:spcBef>
                <a:spcPct val="0"/>
              </a:spcBef>
              <a:tabLst>
                <a:tab pos="9090025" algn="r"/>
              </a:tabLst>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tabLst>
                <a:tab pos="9090025" algn="r"/>
              </a:tabLs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tabLst>
                <a:tab pos="9090025" algn="r"/>
              </a:tabLs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tabLst>
                <a:tab pos="9090025" algn="r"/>
              </a:tabLs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tabLst>
                <a:tab pos="9090025" algn="r"/>
              </a:tabLst>
              <a:defRPr>
                <a:solidFill>
                  <a:schemeClr val="tx1"/>
                </a:solidFill>
                <a:latin typeface="Arial" panose="020B0604020202020204" pitchFamily="34" charset="0"/>
                <a:cs typeface="Arial" panose="020B0604020202020204" pitchFamily="34" charset="0"/>
              </a:defRPr>
            </a:lvl9pPr>
          </a:lstStyle>
          <a:p>
            <a:pPr>
              <a:buClrTx/>
              <a:buFontTx/>
              <a:buNone/>
            </a:pPr>
            <a:r>
              <a:rPr lang="en-US" altLang="zh-CN" sz="800">
                <a:ea typeface="宋体" panose="02010600030101010101" pitchFamily="2" charset="-122"/>
              </a:rPr>
              <a:t>© 2009 EMC Corporation. All rights reserved.</a:t>
            </a:r>
          </a:p>
        </p:txBody>
      </p:sp>
      <p:sp>
        <p:nvSpPr>
          <p:cNvPr id="5123" name="Rectangle 3">
            <a:extLst>
              <a:ext uri="{FF2B5EF4-FFF2-40B4-BE49-F238E27FC236}">
                <a16:creationId xmlns:a16="http://schemas.microsoft.com/office/drawing/2014/main" id="{2B1ED07D-5505-A068-93E2-C16F363D0B8C}"/>
              </a:ext>
            </a:extLst>
          </p:cNvPr>
          <p:cNvSpPr>
            <a:spLocks noGrp="1" noChangeArrowheads="1"/>
          </p:cNvSpPr>
          <p:nvPr>
            <p:ph type="ctrTitle"/>
          </p:nvPr>
        </p:nvSpPr>
        <p:spPr bwMode="gray">
          <a:xfrm>
            <a:off x="457200" y="757238"/>
            <a:ext cx="8178800" cy="914400"/>
          </a:xfrm>
          <a:effectLst>
            <a:outerShdw dist="35921" dir="2700000" algn="ctr" rotWithShape="0">
              <a:schemeClr val="tx1"/>
            </a:outerShdw>
          </a:effectLst>
          <a:extLst>
            <a:ext uri="{91240B29-F687-4F45-9708-019B960494DF}">
              <a14:hiddenLine xmlns:a14="http://schemas.microsoft.com/office/drawing/2010/main" w="9525">
                <a:solidFill>
                  <a:schemeClr val="tx1"/>
                </a:solidFill>
                <a:miter lim="800000"/>
                <a:headEnd/>
                <a:tailEnd/>
              </a14:hiddenLine>
            </a:ext>
          </a:extLst>
        </p:spPr>
        <p:txBody>
          <a:bodyPr anchor="b"/>
          <a:lstStyle>
            <a:lvl1pPr>
              <a:defRPr sz="3000" i="0">
                <a:solidFill>
                  <a:schemeClr val="bg1"/>
                </a:solidFill>
              </a:defRPr>
            </a:lvl1pPr>
          </a:lstStyle>
          <a:p>
            <a:pPr lvl="0"/>
            <a:r>
              <a:rPr lang="en-US" altLang="zh-CN" noProof="0"/>
              <a:t>Click to edit Master title style</a:t>
            </a:r>
          </a:p>
        </p:txBody>
      </p:sp>
      <p:sp>
        <p:nvSpPr>
          <p:cNvPr id="5124" name="Rectangle 4">
            <a:extLst>
              <a:ext uri="{FF2B5EF4-FFF2-40B4-BE49-F238E27FC236}">
                <a16:creationId xmlns:a16="http://schemas.microsoft.com/office/drawing/2014/main" id="{F93A4DA9-3511-E4BA-C841-54FB4BDD1ECF}"/>
              </a:ext>
            </a:extLst>
          </p:cNvPr>
          <p:cNvSpPr>
            <a:spLocks noGrp="1" noChangeArrowheads="1"/>
          </p:cNvSpPr>
          <p:nvPr>
            <p:ph type="subTitle" idx="1"/>
          </p:nvPr>
        </p:nvSpPr>
        <p:spPr bwMode="gray">
          <a:xfrm>
            <a:off x="457200" y="4570413"/>
            <a:ext cx="8323263" cy="381000"/>
          </a:xfrm>
          <a:extLst>
            <a:ext uri="{91240B29-F687-4F45-9708-019B960494DF}">
              <a14:hiddenLine xmlns:a14="http://schemas.microsoft.com/office/drawing/2010/main" w="9525">
                <a:solidFill>
                  <a:schemeClr val="tx1"/>
                </a:solidFill>
                <a:miter lim="800000"/>
                <a:headEnd/>
                <a:tailEnd/>
              </a14:hiddenLine>
            </a:ext>
          </a:extLst>
        </p:spPr>
        <p:txBody>
          <a:bodyPr bIns="47033"/>
          <a:lstStyle>
            <a:lvl1pPr marL="0" indent="0">
              <a:buFont typeface="Wingdings" panose="05000000000000000000" pitchFamily="2" charset="2"/>
              <a:buNone/>
              <a:defRPr sz="2200" b="1">
                <a:solidFill>
                  <a:srgbClr val="003580"/>
                </a:solidFill>
              </a:defRPr>
            </a:lvl1pPr>
          </a:lstStyle>
          <a:p>
            <a:pPr lvl="0"/>
            <a:r>
              <a:rPr lang="en-US" altLang="zh-CN" noProof="0"/>
              <a:t>Click to edit Master subtitle style</a:t>
            </a:r>
          </a:p>
        </p:txBody>
      </p:sp>
      <p:pic>
        <p:nvPicPr>
          <p:cNvPr id="5125" name="Picture 5">
            <a:extLst>
              <a:ext uri="{FF2B5EF4-FFF2-40B4-BE49-F238E27FC236}">
                <a16:creationId xmlns:a16="http://schemas.microsoft.com/office/drawing/2014/main" id="{D3FAA562-F6B4-BF62-E804-6C4AF9B518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3962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1F87E-4CFD-DB3E-4AF3-2895C41283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363E3C-D7A3-5454-195B-50E25C1560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3">
            <a:extLst>
              <a:ext uri="{FF2B5EF4-FFF2-40B4-BE49-F238E27FC236}">
                <a16:creationId xmlns:a16="http://schemas.microsoft.com/office/drawing/2014/main" id="{30E07D6C-D698-CE8E-3E84-B9D35CEEF684}"/>
              </a:ext>
            </a:extLst>
          </p:cNvPr>
          <p:cNvSpPr>
            <a:spLocks noGrp="1"/>
          </p:cNvSpPr>
          <p:nvPr>
            <p:ph type="ftr" sz="quarter" idx="10"/>
          </p:nvPr>
        </p:nvSpPr>
        <p:spPr/>
        <p:txBody>
          <a:bodyPr/>
          <a:lstStyle>
            <a:lvl1pPr>
              <a:defRPr/>
            </a:lvl1pPr>
          </a:lstStyle>
          <a:p>
            <a:r>
              <a:rPr lang="zh-CN" altLang="en-US"/>
              <a:t>Securing the Storage Infrastructure</a:t>
            </a:r>
            <a:endParaRPr lang="en-US" altLang="zh-CN"/>
          </a:p>
        </p:txBody>
      </p:sp>
      <p:sp>
        <p:nvSpPr>
          <p:cNvPr id="5" name="Slide Number Placeholder 4">
            <a:extLst>
              <a:ext uri="{FF2B5EF4-FFF2-40B4-BE49-F238E27FC236}">
                <a16:creationId xmlns:a16="http://schemas.microsoft.com/office/drawing/2014/main" id="{8AA49A01-FF8C-8CC9-120A-C72A2D7F102B}"/>
              </a:ext>
            </a:extLst>
          </p:cNvPr>
          <p:cNvSpPr>
            <a:spLocks noGrp="1"/>
          </p:cNvSpPr>
          <p:nvPr>
            <p:ph type="sldNum" sz="quarter" idx="11"/>
          </p:nvPr>
        </p:nvSpPr>
        <p:spPr/>
        <p:txBody>
          <a:bodyPr/>
          <a:lstStyle>
            <a:lvl1pPr>
              <a:defRPr/>
            </a:lvl1pPr>
          </a:lstStyle>
          <a:p>
            <a:r>
              <a:rPr lang="zh-CN" altLang="en-US"/>
              <a:t> </a:t>
            </a:r>
            <a:r>
              <a:rPr lang="en-US" altLang="zh-CN"/>
              <a:t>- </a:t>
            </a:r>
            <a:fld id="{BC64660F-56F5-4450-89DF-FEB5A595DE50}" type="slidenum">
              <a:rPr lang="en-US" altLang="zh-CN" sz="800"/>
              <a:pPr/>
              <a:t>‹#›</a:t>
            </a:fld>
            <a:endParaRPr lang="en-US" altLang="zh-CN" sz="800"/>
          </a:p>
        </p:txBody>
      </p:sp>
    </p:spTree>
    <p:extLst>
      <p:ext uri="{BB962C8B-B14F-4D97-AF65-F5344CB8AC3E}">
        <p14:creationId xmlns:p14="http://schemas.microsoft.com/office/powerpoint/2010/main" val="370314129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18365-C13C-FE64-8B8C-19D1D26BACED}"/>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4616919-08FE-0A80-936A-6786B5B71C9F}"/>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Footer Placeholder 3">
            <a:extLst>
              <a:ext uri="{FF2B5EF4-FFF2-40B4-BE49-F238E27FC236}">
                <a16:creationId xmlns:a16="http://schemas.microsoft.com/office/drawing/2014/main" id="{B2D8B392-2E9D-938C-970D-53A664B07EAC}"/>
              </a:ext>
            </a:extLst>
          </p:cNvPr>
          <p:cNvSpPr>
            <a:spLocks noGrp="1"/>
          </p:cNvSpPr>
          <p:nvPr>
            <p:ph type="ftr" sz="quarter" idx="10"/>
          </p:nvPr>
        </p:nvSpPr>
        <p:spPr/>
        <p:txBody>
          <a:bodyPr/>
          <a:lstStyle>
            <a:lvl1pPr>
              <a:defRPr/>
            </a:lvl1pPr>
          </a:lstStyle>
          <a:p>
            <a:r>
              <a:rPr lang="zh-CN" altLang="en-US"/>
              <a:t>Securing the Storage Infrastructure</a:t>
            </a:r>
            <a:endParaRPr lang="en-US" altLang="zh-CN"/>
          </a:p>
        </p:txBody>
      </p:sp>
      <p:sp>
        <p:nvSpPr>
          <p:cNvPr id="5" name="Slide Number Placeholder 4">
            <a:extLst>
              <a:ext uri="{FF2B5EF4-FFF2-40B4-BE49-F238E27FC236}">
                <a16:creationId xmlns:a16="http://schemas.microsoft.com/office/drawing/2014/main" id="{F32CA10A-9EC7-CE5D-3ABE-7824CCE419F2}"/>
              </a:ext>
            </a:extLst>
          </p:cNvPr>
          <p:cNvSpPr>
            <a:spLocks noGrp="1"/>
          </p:cNvSpPr>
          <p:nvPr>
            <p:ph type="sldNum" sz="quarter" idx="11"/>
          </p:nvPr>
        </p:nvSpPr>
        <p:spPr/>
        <p:txBody>
          <a:bodyPr/>
          <a:lstStyle>
            <a:lvl1pPr>
              <a:defRPr/>
            </a:lvl1pPr>
          </a:lstStyle>
          <a:p>
            <a:r>
              <a:rPr lang="zh-CN" altLang="en-US"/>
              <a:t> </a:t>
            </a:r>
            <a:r>
              <a:rPr lang="en-US" altLang="zh-CN"/>
              <a:t>- </a:t>
            </a:r>
            <a:fld id="{1E40887E-7F46-4DF5-86A1-BD097FFA8484}" type="slidenum">
              <a:rPr lang="en-US" altLang="zh-CN" sz="800"/>
              <a:pPr/>
              <a:t>‹#›</a:t>
            </a:fld>
            <a:endParaRPr lang="en-US" altLang="zh-CN" sz="800"/>
          </a:p>
        </p:txBody>
      </p:sp>
    </p:spTree>
    <p:extLst>
      <p:ext uri="{BB962C8B-B14F-4D97-AF65-F5344CB8AC3E}">
        <p14:creationId xmlns:p14="http://schemas.microsoft.com/office/powerpoint/2010/main" val="382916974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DB37F-7A79-80A3-6FC4-ADD8232E90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6BEBDB-F014-8808-3F80-DCA4A520BECD}"/>
              </a:ext>
            </a:extLst>
          </p:cNvPr>
          <p:cNvSpPr>
            <a:spLocks noGrp="1"/>
          </p:cNvSpPr>
          <p:nvPr>
            <p:ph sz="half" idx="1"/>
          </p:nvPr>
        </p:nvSpPr>
        <p:spPr>
          <a:xfrm>
            <a:off x="228600" y="1233488"/>
            <a:ext cx="4276725"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0636232-3B7D-7EF8-3642-4A77D692BED8}"/>
              </a:ext>
            </a:extLst>
          </p:cNvPr>
          <p:cNvSpPr>
            <a:spLocks noGrp="1"/>
          </p:cNvSpPr>
          <p:nvPr>
            <p:ph sz="half" idx="2"/>
          </p:nvPr>
        </p:nvSpPr>
        <p:spPr>
          <a:xfrm>
            <a:off x="4657725" y="1233488"/>
            <a:ext cx="4276725"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555CE9F5-5211-FC31-B036-7C0CB3696315}"/>
              </a:ext>
            </a:extLst>
          </p:cNvPr>
          <p:cNvSpPr>
            <a:spLocks noGrp="1"/>
          </p:cNvSpPr>
          <p:nvPr>
            <p:ph type="ftr" sz="quarter" idx="10"/>
          </p:nvPr>
        </p:nvSpPr>
        <p:spPr/>
        <p:txBody>
          <a:bodyPr/>
          <a:lstStyle>
            <a:lvl1pPr>
              <a:defRPr/>
            </a:lvl1pPr>
          </a:lstStyle>
          <a:p>
            <a:r>
              <a:rPr lang="zh-CN" altLang="en-US"/>
              <a:t>Securing the Storage Infrastructure</a:t>
            </a:r>
            <a:endParaRPr lang="en-US" altLang="zh-CN"/>
          </a:p>
        </p:txBody>
      </p:sp>
      <p:sp>
        <p:nvSpPr>
          <p:cNvPr id="6" name="Slide Number Placeholder 5">
            <a:extLst>
              <a:ext uri="{FF2B5EF4-FFF2-40B4-BE49-F238E27FC236}">
                <a16:creationId xmlns:a16="http://schemas.microsoft.com/office/drawing/2014/main" id="{6E3657B8-CEC0-591B-CBC2-18C45735642D}"/>
              </a:ext>
            </a:extLst>
          </p:cNvPr>
          <p:cNvSpPr>
            <a:spLocks noGrp="1"/>
          </p:cNvSpPr>
          <p:nvPr>
            <p:ph type="sldNum" sz="quarter" idx="11"/>
          </p:nvPr>
        </p:nvSpPr>
        <p:spPr/>
        <p:txBody>
          <a:bodyPr/>
          <a:lstStyle>
            <a:lvl1pPr>
              <a:defRPr/>
            </a:lvl1pPr>
          </a:lstStyle>
          <a:p>
            <a:r>
              <a:rPr lang="zh-CN" altLang="en-US"/>
              <a:t> </a:t>
            </a:r>
            <a:r>
              <a:rPr lang="en-US" altLang="zh-CN"/>
              <a:t>- </a:t>
            </a:r>
            <a:fld id="{7921AE94-B36D-4AA3-AB61-A1E946C2D22F}" type="slidenum">
              <a:rPr lang="en-US" altLang="zh-CN" sz="800"/>
              <a:pPr/>
              <a:t>‹#›</a:t>
            </a:fld>
            <a:endParaRPr lang="en-US" altLang="zh-CN" sz="800"/>
          </a:p>
        </p:txBody>
      </p:sp>
    </p:spTree>
    <p:extLst>
      <p:ext uri="{BB962C8B-B14F-4D97-AF65-F5344CB8AC3E}">
        <p14:creationId xmlns:p14="http://schemas.microsoft.com/office/powerpoint/2010/main" val="401685802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9F77-82BC-6682-E77C-CA97C1B1D44E}"/>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974902-7633-8CF7-BB76-BDCCBA9E1E9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0E210-6FE2-1DD3-0485-B88E6FF5EDE8}"/>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19A7004-0F63-9D2A-2DFA-3D035BAA0763}"/>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378879-24AF-9EB2-AEBB-7FB92E874120}"/>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6">
            <a:extLst>
              <a:ext uri="{FF2B5EF4-FFF2-40B4-BE49-F238E27FC236}">
                <a16:creationId xmlns:a16="http://schemas.microsoft.com/office/drawing/2014/main" id="{31CDE956-2C20-F1D3-C33F-D6EA1E79BEBA}"/>
              </a:ext>
            </a:extLst>
          </p:cNvPr>
          <p:cNvSpPr>
            <a:spLocks noGrp="1"/>
          </p:cNvSpPr>
          <p:nvPr>
            <p:ph type="ftr" sz="quarter" idx="10"/>
          </p:nvPr>
        </p:nvSpPr>
        <p:spPr/>
        <p:txBody>
          <a:bodyPr/>
          <a:lstStyle>
            <a:lvl1pPr>
              <a:defRPr/>
            </a:lvl1pPr>
          </a:lstStyle>
          <a:p>
            <a:r>
              <a:rPr lang="zh-CN" altLang="en-US"/>
              <a:t>Securing the Storage Infrastructure</a:t>
            </a:r>
            <a:endParaRPr lang="en-US" altLang="zh-CN"/>
          </a:p>
        </p:txBody>
      </p:sp>
      <p:sp>
        <p:nvSpPr>
          <p:cNvPr id="8" name="Slide Number Placeholder 7">
            <a:extLst>
              <a:ext uri="{FF2B5EF4-FFF2-40B4-BE49-F238E27FC236}">
                <a16:creationId xmlns:a16="http://schemas.microsoft.com/office/drawing/2014/main" id="{73647D18-BB09-168C-A8AD-03708B5BFF6A}"/>
              </a:ext>
            </a:extLst>
          </p:cNvPr>
          <p:cNvSpPr>
            <a:spLocks noGrp="1"/>
          </p:cNvSpPr>
          <p:nvPr>
            <p:ph type="sldNum" sz="quarter" idx="11"/>
          </p:nvPr>
        </p:nvSpPr>
        <p:spPr/>
        <p:txBody>
          <a:bodyPr/>
          <a:lstStyle>
            <a:lvl1pPr>
              <a:defRPr/>
            </a:lvl1pPr>
          </a:lstStyle>
          <a:p>
            <a:r>
              <a:rPr lang="zh-CN" altLang="en-US"/>
              <a:t> </a:t>
            </a:r>
            <a:r>
              <a:rPr lang="en-US" altLang="zh-CN"/>
              <a:t>- </a:t>
            </a:r>
            <a:fld id="{4787B46C-6DCD-4513-B7BD-F7E9BD8F9DDB}" type="slidenum">
              <a:rPr lang="en-US" altLang="zh-CN" sz="800"/>
              <a:pPr/>
              <a:t>‹#›</a:t>
            </a:fld>
            <a:endParaRPr lang="en-US" altLang="zh-CN" sz="800"/>
          </a:p>
        </p:txBody>
      </p:sp>
    </p:spTree>
    <p:extLst>
      <p:ext uri="{BB962C8B-B14F-4D97-AF65-F5344CB8AC3E}">
        <p14:creationId xmlns:p14="http://schemas.microsoft.com/office/powerpoint/2010/main" val="125288769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8C17A-2439-611E-A637-9B23EBE3FED3}"/>
              </a:ext>
            </a:extLst>
          </p:cNvPr>
          <p:cNvSpPr>
            <a:spLocks noGrp="1"/>
          </p:cNvSpPr>
          <p:nvPr>
            <p:ph type="title"/>
          </p:nvPr>
        </p:nvSpPr>
        <p:spPr/>
        <p:txBody>
          <a:bodyPr/>
          <a:lstStyle/>
          <a:p>
            <a:r>
              <a:rPr lang="en-US"/>
              <a:t>Click to edit Master title style</a:t>
            </a:r>
            <a:endParaRPr lang="en-IN"/>
          </a:p>
        </p:txBody>
      </p:sp>
      <p:sp>
        <p:nvSpPr>
          <p:cNvPr id="3" name="Footer Placeholder 2">
            <a:extLst>
              <a:ext uri="{FF2B5EF4-FFF2-40B4-BE49-F238E27FC236}">
                <a16:creationId xmlns:a16="http://schemas.microsoft.com/office/drawing/2014/main" id="{A04C10CA-C6BE-51CE-E5B7-D137A0895792}"/>
              </a:ext>
            </a:extLst>
          </p:cNvPr>
          <p:cNvSpPr>
            <a:spLocks noGrp="1"/>
          </p:cNvSpPr>
          <p:nvPr>
            <p:ph type="ftr" sz="quarter" idx="10"/>
          </p:nvPr>
        </p:nvSpPr>
        <p:spPr/>
        <p:txBody>
          <a:bodyPr/>
          <a:lstStyle>
            <a:lvl1pPr>
              <a:defRPr/>
            </a:lvl1pPr>
          </a:lstStyle>
          <a:p>
            <a:r>
              <a:rPr lang="zh-CN" altLang="en-US"/>
              <a:t>Securing the Storage Infrastructure</a:t>
            </a:r>
            <a:endParaRPr lang="en-US" altLang="zh-CN"/>
          </a:p>
        </p:txBody>
      </p:sp>
      <p:sp>
        <p:nvSpPr>
          <p:cNvPr id="4" name="Slide Number Placeholder 3">
            <a:extLst>
              <a:ext uri="{FF2B5EF4-FFF2-40B4-BE49-F238E27FC236}">
                <a16:creationId xmlns:a16="http://schemas.microsoft.com/office/drawing/2014/main" id="{39886FFC-917B-2237-60A3-52A873AAAAEE}"/>
              </a:ext>
            </a:extLst>
          </p:cNvPr>
          <p:cNvSpPr>
            <a:spLocks noGrp="1"/>
          </p:cNvSpPr>
          <p:nvPr>
            <p:ph type="sldNum" sz="quarter" idx="11"/>
          </p:nvPr>
        </p:nvSpPr>
        <p:spPr/>
        <p:txBody>
          <a:bodyPr/>
          <a:lstStyle>
            <a:lvl1pPr>
              <a:defRPr/>
            </a:lvl1pPr>
          </a:lstStyle>
          <a:p>
            <a:r>
              <a:rPr lang="zh-CN" altLang="en-US"/>
              <a:t> </a:t>
            </a:r>
            <a:r>
              <a:rPr lang="en-US" altLang="zh-CN"/>
              <a:t>- </a:t>
            </a:r>
            <a:fld id="{32B82A73-997F-4B5B-A68B-E995E5891545}" type="slidenum">
              <a:rPr lang="en-US" altLang="zh-CN" sz="800"/>
              <a:pPr/>
              <a:t>‹#›</a:t>
            </a:fld>
            <a:endParaRPr lang="en-US" altLang="zh-CN" sz="800"/>
          </a:p>
        </p:txBody>
      </p:sp>
    </p:spTree>
    <p:extLst>
      <p:ext uri="{BB962C8B-B14F-4D97-AF65-F5344CB8AC3E}">
        <p14:creationId xmlns:p14="http://schemas.microsoft.com/office/powerpoint/2010/main" val="162016433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42910E-68FB-ABBD-ED50-589896BFC264}"/>
              </a:ext>
            </a:extLst>
          </p:cNvPr>
          <p:cNvSpPr>
            <a:spLocks noGrp="1"/>
          </p:cNvSpPr>
          <p:nvPr>
            <p:ph type="ftr" sz="quarter" idx="10"/>
          </p:nvPr>
        </p:nvSpPr>
        <p:spPr/>
        <p:txBody>
          <a:bodyPr/>
          <a:lstStyle>
            <a:lvl1pPr>
              <a:defRPr/>
            </a:lvl1pPr>
          </a:lstStyle>
          <a:p>
            <a:r>
              <a:rPr lang="zh-CN" altLang="en-US"/>
              <a:t>Securing the Storage Infrastructure</a:t>
            </a:r>
            <a:endParaRPr lang="en-US" altLang="zh-CN"/>
          </a:p>
        </p:txBody>
      </p:sp>
      <p:sp>
        <p:nvSpPr>
          <p:cNvPr id="3" name="Slide Number Placeholder 2">
            <a:extLst>
              <a:ext uri="{FF2B5EF4-FFF2-40B4-BE49-F238E27FC236}">
                <a16:creationId xmlns:a16="http://schemas.microsoft.com/office/drawing/2014/main" id="{DA9F7A3C-9B3C-5629-AB4D-DDD7084B7FCA}"/>
              </a:ext>
            </a:extLst>
          </p:cNvPr>
          <p:cNvSpPr>
            <a:spLocks noGrp="1"/>
          </p:cNvSpPr>
          <p:nvPr>
            <p:ph type="sldNum" sz="quarter" idx="11"/>
          </p:nvPr>
        </p:nvSpPr>
        <p:spPr/>
        <p:txBody>
          <a:bodyPr/>
          <a:lstStyle>
            <a:lvl1pPr>
              <a:defRPr/>
            </a:lvl1pPr>
          </a:lstStyle>
          <a:p>
            <a:r>
              <a:rPr lang="zh-CN" altLang="en-US"/>
              <a:t> </a:t>
            </a:r>
            <a:r>
              <a:rPr lang="en-US" altLang="zh-CN"/>
              <a:t>- </a:t>
            </a:r>
            <a:fld id="{D9757D6A-5165-4739-BCB4-1D6709E4EFCB}" type="slidenum">
              <a:rPr lang="en-US" altLang="zh-CN" sz="800"/>
              <a:pPr/>
              <a:t>‹#›</a:t>
            </a:fld>
            <a:endParaRPr lang="en-US" altLang="zh-CN" sz="800"/>
          </a:p>
        </p:txBody>
      </p:sp>
    </p:spTree>
    <p:extLst>
      <p:ext uri="{BB962C8B-B14F-4D97-AF65-F5344CB8AC3E}">
        <p14:creationId xmlns:p14="http://schemas.microsoft.com/office/powerpoint/2010/main" val="317175056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72BD7-93CC-8808-11DF-4AA0EF7676D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3347B46-CB61-B057-C8BE-131C9C147A23}"/>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314649-E695-AF24-B49C-47212C6B348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A08D74C9-983A-B95F-1021-97BE4BA9673A}"/>
              </a:ext>
            </a:extLst>
          </p:cNvPr>
          <p:cNvSpPr>
            <a:spLocks noGrp="1"/>
          </p:cNvSpPr>
          <p:nvPr>
            <p:ph type="ftr" sz="quarter" idx="10"/>
          </p:nvPr>
        </p:nvSpPr>
        <p:spPr/>
        <p:txBody>
          <a:bodyPr/>
          <a:lstStyle>
            <a:lvl1pPr>
              <a:defRPr/>
            </a:lvl1pPr>
          </a:lstStyle>
          <a:p>
            <a:r>
              <a:rPr lang="zh-CN" altLang="en-US"/>
              <a:t>Securing the Storage Infrastructure</a:t>
            </a:r>
            <a:endParaRPr lang="en-US" altLang="zh-CN"/>
          </a:p>
        </p:txBody>
      </p:sp>
      <p:sp>
        <p:nvSpPr>
          <p:cNvPr id="6" name="Slide Number Placeholder 5">
            <a:extLst>
              <a:ext uri="{FF2B5EF4-FFF2-40B4-BE49-F238E27FC236}">
                <a16:creationId xmlns:a16="http://schemas.microsoft.com/office/drawing/2014/main" id="{204E862A-EDE9-2CD4-317A-7497485B776A}"/>
              </a:ext>
            </a:extLst>
          </p:cNvPr>
          <p:cNvSpPr>
            <a:spLocks noGrp="1"/>
          </p:cNvSpPr>
          <p:nvPr>
            <p:ph type="sldNum" sz="quarter" idx="11"/>
          </p:nvPr>
        </p:nvSpPr>
        <p:spPr/>
        <p:txBody>
          <a:bodyPr/>
          <a:lstStyle>
            <a:lvl1pPr>
              <a:defRPr/>
            </a:lvl1pPr>
          </a:lstStyle>
          <a:p>
            <a:r>
              <a:rPr lang="zh-CN" altLang="en-US"/>
              <a:t> </a:t>
            </a:r>
            <a:r>
              <a:rPr lang="en-US" altLang="zh-CN"/>
              <a:t>- </a:t>
            </a:r>
            <a:fld id="{A8963AEF-42A2-4B6C-ACE7-5FFC0B2BFB55}" type="slidenum">
              <a:rPr lang="en-US" altLang="zh-CN" sz="800"/>
              <a:pPr/>
              <a:t>‹#›</a:t>
            </a:fld>
            <a:endParaRPr lang="en-US" altLang="zh-CN" sz="800"/>
          </a:p>
        </p:txBody>
      </p:sp>
    </p:spTree>
    <p:extLst>
      <p:ext uri="{BB962C8B-B14F-4D97-AF65-F5344CB8AC3E}">
        <p14:creationId xmlns:p14="http://schemas.microsoft.com/office/powerpoint/2010/main" val="389387996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08263-4205-53EF-B2E0-C43F7FA84F94}"/>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CB439-F106-3D45-4F55-2021949F2D32}"/>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4DC63C-1B00-E748-A07C-A7E7361FA1B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a:extLst>
              <a:ext uri="{FF2B5EF4-FFF2-40B4-BE49-F238E27FC236}">
                <a16:creationId xmlns:a16="http://schemas.microsoft.com/office/drawing/2014/main" id="{5F99DA8A-04C0-CF49-65E6-81528E3C0B08}"/>
              </a:ext>
            </a:extLst>
          </p:cNvPr>
          <p:cNvSpPr>
            <a:spLocks noGrp="1"/>
          </p:cNvSpPr>
          <p:nvPr>
            <p:ph type="ftr" sz="quarter" idx="10"/>
          </p:nvPr>
        </p:nvSpPr>
        <p:spPr/>
        <p:txBody>
          <a:bodyPr/>
          <a:lstStyle>
            <a:lvl1pPr>
              <a:defRPr/>
            </a:lvl1pPr>
          </a:lstStyle>
          <a:p>
            <a:r>
              <a:rPr lang="zh-CN" altLang="en-US"/>
              <a:t>Securing the Storage Infrastructure</a:t>
            </a:r>
            <a:endParaRPr lang="en-US" altLang="zh-CN"/>
          </a:p>
        </p:txBody>
      </p:sp>
      <p:sp>
        <p:nvSpPr>
          <p:cNvPr id="6" name="Slide Number Placeholder 5">
            <a:extLst>
              <a:ext uri="{FF2B5EF4-FFF2-40B4-BE49-F238E27FC236}">
                <a16:creationId xmlns:a16="http://schemas.microsoft.com/office/drawing/2014/main" id="{E3186835-85F3-D2F2-A76A-B545DB57F3DC}"/>
              </a:ext>
            </a:extLst>
          </p:cNvPr>
          <p:cNvSpPr>
            <a:spLocks noGrp="1"/>
          </p:cNvSpPr>
          <p:nvPr>
            <p:ph type="sldNum" sz="quarter" idx="11"/>
          </p:nvPr>
        </p:nvSpPr>
        <p:spPr/>
        <p:txBody>
          <a:bodyPr/>
          <a:lstStyle>
            <a:lvl1pPr>
              <a:defRPr/>
            </a:lvl1pPr>
          </a:lstStyle>
          <a:p>
            <a:r>
              <a:rPr lang="zh-CN" altLang="en-US"/>
              <a:t> </a:t>
            </a:r>
            <a:r>
              <a:rPr lang="en-US" altLang="zh-CN"/>
              <a:t>- </a:t>
            </a:r>
            <a:fld id="{85BEA8FE-98E8-46ED-A03A-2B6ADD8803F8}" type="slidenum">
              <a:rPr lang="en-US" altLang="zh-CN" sz="800"/>
              <a:pPr/>
              <a:t>‹#›</a:t>
            </a:fld>
            <a:endParaRPr lang="en-US" altLang="zh-CN" sz="800"/>
          </a:p>
        </p:txBody>
      </p:sp>
    </p:spTree>
    <p:extLst>
      <p:ext uri="{BB962C8B-B14F-4D97-AF65-F5344CB8AC3E}">
        <p14:creationId xmlns:p14="http://schemas.microsoft.com/office/powerpoint/2010/main" val="417981274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2214F-3895-5CA5-9411-87D4ED96A6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290E6-ECEA-3D04-3648-61AE0311C4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3">
            <a:extLst>
              <a:ext uri="{FF2B5EF4-FFF2-40B4-BE49-F238E27FC236}">
                <a16:creationId xmlns:a16="http://schemas.microsoft.com/office/drawing/2014/main" id="{75C747CB-0AC8-201A-1F82-7D61EAC8EE7A}"/>
              </a:ext>
            </a:extLst>
          </p:cNvPr>
          <p:cNvSpPr>
            <a:spLocks noGrp="1"/>
          </p:cNvSpPr>
          <p:nvPr>
            <p:ph type="ftr" sz="quarter" idx="10"/>
          </p:nvPr>
        </p:nvSpPr>
        <p:spPr/>
        <p:txBody>
          <a:bodyPr/>
          <a:lstStyle>
            <a:lvl1pPr>
              <a:defRPr/>
            </a:lvl1pPr>
          </a:lstStyle>
          <a:p>
            <a:r>
              <a:rPr lang="zh-CN" altLang="en-US"/>
              <a:t>Securing the Storage Infrastructure</a:t>
            </a:r>
            <a:endParaRPr lang="en-US" altLang="zh-CN"/>
          </a:p>
        </p:txBody>
      </p:sp>
      <p:sp>
        <p:nvSpPr>
          <p:cNvPr id="5" name="Slide Number Placeholder 4">
            <a:extLst>
              <a:ext uri="{FF2B5EF4-FFF2-40B4-BE49-F238E27FC236}">
                <a16:creationId xmlns:a16="http://schemas.microsoft.com/office/drawing/2014/main" id="{34F4D3AF-D83C-494C-CC39-93080E84F589}"/>
              </a:ext>
            </a:extLst>
          </p:cNvPr>
          <p:cNvSpPr>
            <a:spLocks noGrp="1"/>
          </p:cNvSpPr>
          <p:nvPr>
            <p:ph type="sldNum" sz="quarter" idx="11"/>
          </p:nvPr>
        </p:nvSpPr>
        <p:spPr/>
        <p:txBody>
          <a:bodyPr/>
          <a:lstStyle>
            <a:lvl1pPr>
              <a:defRPr/>
            </a:lvl1pPr>
          </a:lstStyle>
          <a:p>
            <a:r>
              <a:rPr lang="zh-CN" altLang="en-US"/>
              <a:t> </a:t>
            </a:r>
            <a:r>
              <a:rPr lang="en-US" altLang="zh-CN"/>
              <a:t>- </a:t>
            </a:r>
            <a:fld id="{C454E006-11F9-4F52-9C1C-981D031506B8}" type="slidenum">
              <a:rPr lang="en-US" altLang="zh-CN" sz="800"/>
              <a:pPr/>
              <a:t>‹#›</a:t>
            </a:fld>
            <a:endParaRPr lang="en-US" altLang="zh-CN" sz="800"/>
          </a:p>
        </p:txBody>
      </p:sp>
    </p:spTree>
    <p:extLst>
      <p:ext uri="{BB962C8B-B14F-4D97-AF65-F5344CB8AC3E}">
        <p14:creationId xmlns:p14="http://schemas.microsoft.com/office/powerpoint/2010/main" val="416853586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94826C-6DA9-76EA-7A19-DA48650C948B}"/>
              </a:ext>
            </a:extLst>
          </p:cNvPr>
          <p:cNvSpPr>
            <a:spLocks noGrp="1"/>
          </p:cNvSpPr>
          <p:nvPr>
            <p:ph type="title" orient="vert"/>
          </p:nvPr>
        </p:nvSpPr>
        <p:spPr>
          <a:xfrm>
            <a:off x="6757988" y="584200"/>
            <a:ext cx="2176462" cy="5978525"/>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F8330E-74C3-1FEF-5BFD-0BE85DAA4FCE}"/>
              </a:ext>
            </a:extLst>
          </p:cNvPr>
          <p:cNvSpPr>
            <a:spLocks noGrp="1"/>
          </p:cNvSpPr>
          <p:nvPr>
            <p:ph type="body" orient="vert" idx="1"/>
          </p:nvPr>
        </p:nvSpPr>
        <p:spPr>
          <a:xfrm>
            <a:off x="225425" y="584200"/>
            <a:ext cx="6380163" cy="5978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3">
            <a:extLst>
              <a:ext uri="{FF2B5EF4-FFF2-40B4-BE49-F238E27FC236}">
                <a16:creationId xmlns:a16="http://schemas.microsoft.com/office/drawing/2014/main" id="{203D038B-431B-69DB-E255-1BAD3A7742E1}"/>
              </a:ext>
            </a:extLst>
          </p:cNvPr>
          <p:cNvSpPr>
            <a:spLocks noGrp="1"/>
          </p:cNvSpPr>
          <p:nvPr>
            <p:ph type="ftr" sz="quarter" idx="10"/>
          </p:nvPr>
        </p:nvSpPr>
        <p:spPr/>
        <p:txBody>
          <a:bodyPr/>
          <a:lstStyle>
            <a:lvl1pPr>
              <a:defRPr/>
            </a:lvl1pPr>
          </a:lstStyle>
          <a:p>
            <a:r>
              <a:rPr lang="zh-CN" altLang="en-US"/>
              <a:t>Securing the Storage Infrastructure</a:t>
            </a:r>
            <a:endParaRPr lang="en-US" altLang="zh-CN"/>
          </a:p>
        </p:txBody>
      </p:sp>
      <p:sp>
        <p:nvSpPr>
          <p:cNvPr id="5" name="Slide Number Placeholder 4">
            <a:extLst>
              <a:ext uri="{FF2B5EF4-FFF2-40B4-BE49-F238E27FC236}">
                <a16:creationId xmlns:a16="http://schemas.microsoft.com/office/drawing/2014/main" id="{F2F8691D-6B53-FAF2-7D8C-9F7DEC7F5323}"/>
              </a:ext>
            </a:extLst>
          </p:cNvPr>
          <p:cNvSpPr>
            <a:spLocks noGrp="1"/>
          </p:cNvSpPr>
          <p:nvPr>
            <p:ph type="sldNum" sz="quarter" idx="11"/>
          </p:nvPr>
        </p:nvSpPr>
        <p:spPr/>
        <p:txBody>
          <a:bodyPr/>
          <a:lstStyle>
            <a:lvl1pPr>
              <a:defRPr/>
            </a:lvl1pPr>
          </a:lstStyle>
          <a:p>
            <a:r>
              <a:rPr lang="zh-CN" altLang="en-US"/>
              <a:t> </a:t>
            </a:r>
            <a:r>
              <a:rPr lang="en-US" altLang="zh-CN"/>
              <a:t>- </a:t>
            </a:r>
            <a:fld id="{C971B560-0415-440E-A9C6-F6D2230ADCE1}" type="slidenum">
              <a:rPr lang="en-US" altLang="zh-CN" sz="800"/>
              <a:pPr/>
              <a:t>‹#›</a:t>
            </a:fld>
            <a:endParaRPr lang="en-US" altLang="zh-CN" sz="800"/>
          </a:p>
        </p:txBody>
      </p:sp>
    </p:spTree>
    <p:extLst>
      <p:ext uri="{BB962C8B-B14F-4D97-AF65-F5344CB8AC3E}">
        <p14:creationId xmlns:p14="http://schemas.microsoft.com/office/powerpoint/2010/main" val="331961034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3D4C0-66C4-A640-52DA-D876E928D9AB}"/>
              </a:ext>
            </a:extLst>
          </p:cNvPr>
          <p:cNvSpPr>
            <a:spLocks noGrp="1"/>
          </p:cNvSpPr>
          <p:nvPr>
            <p:ph type="title"/>
          </p:nvPr>
        </p:nvSpPr>
        <p:spPr>
          <a:xfrm>
            <a:off x="225425" y="584200"/>
            <a:ext cx="8705850" cy="457200"/>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09BFC1-AA32-C9D0-EB02-24CCD13A81C9}"/>
              </a:ext>
            </a:extLst>
          </p:cNvPr>
          <p:cNvSpPr>
            <a:spLocks noGrp="1"/>
          </p:cNvSpPr>
          <p:nvPr>
            <p:ph type="body" sz="half" idx="1"/>
          </p:nvPr>
        </p:nvSpPr>
        <p:spPr>
          <a:xfrm>
            <a:off x="228600" y="1233488"/>
            <a:ext cx="4276725"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3554C9C-CB72-92D1-DEE3-C5612A564022}"/>
              </a:ext>
            </a:extLst>
          </p:cNvPr>
          <p:cNvSpPr>
            <a:spLocks noGrp="1"/>
          </p:cNvSpPr>
          <p:nvPr>
            <p:ph sz="half" idx="2"/>
          </p:nvPr>
        </p:nvSpPr>
        <p:spPr>
          <a:xfrm>
            <a:off x="4657725" y="1233488"/>
            <a:ext cx="4276725" cy="5329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465437B1-BC92-4520-4D7D-B7BB54921A9D}"/>
              </a:ext>
            </a:extLst>
          </p:cNvPr>
          <p:cNvSpPr>
            <a:spLocks noGrp="1"/>
          </p:cNvSpPr>
          <p:nvPr>
            <p:ph type="ftr" sz="quarter" idx="10"/>
          </p:nvPr>
        </p:nvSpPr>
        <p:spPr>
          <a:xfrm>
            <a:off x="4772025" y="6661150"/>
            <a:ext cx="3840163" cy="228600"/>
          </a:xfrm>
        </p:spPr>
        <p:txBody>
          <a:bodyPr/>
          <a:lstStyle>
            <a:lvl1pPr>
              <a:defRPr/>
            </a:lvl1pPr>
          </a:lstStyle>
          <a:p>
            <a:r>
              <a:rPr lang="zh-CN" altLang="en-US"/>
              <a:t>Securing the Storage Infrastructure</a:t>
            </a:r>
            <a:endParaRPr lang="en-US" altLang="zh-CN"/>
          </a:p>
        </p:txBody>
      </p:sp>
      <p:sp>
        <p:nvSpPr>
          <p:cNvPr id="6" name="Slide Number Placeholder 5">
            <a:extLst>
              <a:ext uri="{FF2B5EF4-FFF2-40B4-BE49-F238E27FC236}">
                <a16:creationId xmlns:a16="http://schemas.microsoft.com/office/drawing/2014/main" id="{742B2755-D4AE-57E0-CF27-B51CF4CE388B}"/>
              </a:ext>
            </a:extLst>
          </p:cNvPr>
          <p:cNvSpPr>
            <a:spLocks noGrp="1"/>
          </p:cNvSpPr>
          <p:nvPr>
            <p:ph type="sldNum" sz="quarter" idx="11"/>
          </p:nvPr>
        </p:nvSpPr>
        <p:spPr>
          <a:xfrm>
            <a:off x="8469313" y="6646863"/>
            <a:ext cx="2135187" cy="228600"/>
          </a:xfrm>
        </p:spPr>
        <p:txBody>
          <a:bodyPr/>
          <a:lstStyle>
            <a:lvl1pPr>
              <a:defRPr/>
            </a:lvl1pPr>
          </a:lstStyle>
          <a:p>
            <a:r>
              <a:rPr lang="zh-CN" altLang="en-US"/>
              <a:t> </a:t>
            </a:r>
            <a:r>
              <a:rPr lang="en-US" altLang="zh-CN"/>
              <a:t>- </a:t>
            </a:r>
            <a:fld id="{A59B7B19-6479-47E0-8CC1-BE6222D1D294}" type="slidenum">
              <a:rPr lang="en-US" altLang="zh-CN" sz="800"/>
              <a:pPr/>
              <a:t>‹#›</a:t>
            </a:fld>
            <a:endParaRPr lang="en-US" altLang="zh-CN" sz="800"/>
          </a:p>
        </p:txBody>
      </p:sp>
    </p:spTree>
    <p:extLst>
      <p:ext uri="{BB962C8B-B14F-4D97-AF65-F5344CB8AC3E}">
        <p14:creationId xmlns:p14="http://schemas.microsoft.com/office/powerpoint/2010/main" val="20043574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43DB9-D7DF-6844-EEE0-3198739A8CD4}"/>
              </a:ext>
            </a:extLst>
          </p:cNvPr>
          <p:cNvSpPr>
            <a:spLocks noGrp="1"/>
          </p:cNvSpPr>
          <p:nvPr>
            <p:ph type="title"/>
          </p:nvPr>
        </p:nvSpPr>
        <p:spPr>
          <a:xfrm>
            <a:off x="225425" y="584200"/>
            <a:ext cx="8705850" cy="457200"/>
          </a:xfrm>
        </p:spPr>
        <p:txBody>
          <a:bodyPr/>
          <a:lstStyle/>
          <a:p>
            <a:r>
              <a:rPr lang="en-US"/>
              <a:t>Click to edit Master title style</a:t>
            </a:r>
            <a:endParaRPr lang="en-IN"/>
          </a:p>
        </p:txBody>
      </p:sp>
      <p:sp>
        <p:nvSpPr>
          <p:cNvPr id="3" name="Table Placeholder 2">
            <a:extLst>
              <a:ext uri="{FF2B5EF4-FFF2-40B4-BE49-F238E27FC236}">
                <a16:creationId xmlns:a16="http://schemas.microsoft.com/office/drawing/2014/main" id="{FB2F7901-D912-FBD2-9285-00544F4CB2A8}"/>
              </a:ext>
            </a:extLst>
          </p:cNvPr>
          <p:cNvSpPr>
            <a:spLocks noGrp="1"/>
          </p:cNvSpPr>
          <p:nvPr>
            <p:ph type="tbl" idx="1"/>
          </p:nvPr>
        </p:nvSpPr>
        <p:spPr>
          <a:xfrm>
            <a:off x="228600" y="1233488"/>
            <a:ext cx="8705850" cy="5329237"/>
          </a:xfrm>
        </p:spPr>
        <p:txBody>
          <a:bodyPr/>
          <a:lstStyle/>
          <a:p>
            <a:endParaRPr lang="en-IN"/>
          </a:p>
        </p:txBody>
      </p:sp>
      <p:sp>
        <p:nvSpPr>
          <p:cNvPr id="4" name="Footer Placeholder 3">
            <a:extLst>
              <a:ext uri="{FF2B5EF4-FFF2-40B4-BE49-F238E27FC236}">
                <a16:creationId xmlns:a16="http://schemas.microsoft.com/office/drawing/2014/main" id="{3352D71E-4542-4956-5562-703676B5C598}"/>
              </a:ext>
            </a:extLst>
          </p:cNvPr>
          <p:cNvSpPr>
            <a:spLocks noGrp="1"/>
          </p:cNvSpPr>
          <p:nvPr>
            <p:ph type="ftr" sz="quarter" idx="10"/>
          </p:nvPr>
        </p:nvSpPr>
        <p:spPr>
          <a:xfrm>
            <a:off x="4772025" y="6661150"/>
            <a:ext cx="3840163" cy="228600"/>
          </a:xfrm>
        </p:spPr>
        <p:txBody>
          <a:bodyPr/>
          <a:lstStyle>
            <a:lvl1pPr>
              <a:defRPr/>
            </a:lvl1pPr>
          </a:lstStyle>
          <a:p>
            <a:r>
              <a:rPr lang="zh-CN" altLang="en-US"/>
              <a:t>Securing the Storage Infrastructure</a:t>
            </a:r>
            <a:endParaRPr lang="en-US" altLang="zh-CN"/>
          </a:p>
        </p:txBody>
      </p:sp>
      <p:sp>
        <p:nvSpPr>
          <p:cNvPr id="5" name="Slide Number Placeholder 4">
            <a:extLst>
              <a:ext uri="{FF2B5EF4-FFF2-40B4-BE49-F238E27FC236}">
                <a16:creationId xmlns:a16="http://schemas.microsoft.com/office/drawing/2014/main" id="{2DB561FA-565C-E57F-15EC-8871F7C52BCA}"/>
              </a:ext>
            </a:extLst>
          </p:cNvPr>
          <p:cNvSpPr>
            <a:spLocks noGrp="1"/>
          </p:cNvSpPr>
          <p:nvPr>
            <p:ph type="sldNum" sz="quarter" idx="11"/>
          </p:nvPr>
        </p:nvSpPr>
        <p:spPr>
          <a:xfrm>
            <a:off x="8469313" y="6646863"/>
            <a:ext cx="2135187" cy="228600"/>
          </a:xfrm>
        </p:spPr>
        <p:txBody>
          <a:bodyPr/>
          <a:lstStyle>
            <a:lvl1pPr>
              <a:defRPr/>
            </a:lvl1pPr>
          </a:lstStyle>
          <a:p>
            <a:r>
              <a:rPr lang="zh-CN" altLang="en-US"/>
              <a:t> </a:t>
            </a:r>
            <a:r>
              <a:rPr lang="en-US" altLang="zh-CN"/>
              <a:t>- </a:t>
            </a:r>
            <a:fld id="{374095A2-4F71-4ED4-B7D5-691BA4B33816}" type="slidenum">
              <a:rPr lang="en-US" altLang="zh-CN" sz="800"/>
              <a:pPr/>
              <a:t>‹#›</a:t>
            </a:fld>
            <a:endParaRPr lang="en-US" altLang="zh-CN" sz="800"/>
          </a:p>
        </p:txBody>
      </p:sp>
    </p:spTree>
    <p:extLst>
      <p:ext uri="{BB962C8B-B14F-4D97-AF65-F5344CB8AC3E}">
        <p14:creationId xmlns:p14="http://schemas.microsoft.com/office/powerpoint/2010/main" val="142988643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DC1CD54-1B20-3487-5E1A-D744C0C16906}"/>
              </a:ext>
            </a:extLst>
          </p:cNvPr>
          <p:cNvSpPr>
            <a:spLocks noGrp="1" noChangeArrowheads="1"/>
          </p:cNvSpPr>
          <p:nvPr>
            <p:ph type="title"/>
          </p:nvPr>
        </p:nvSpPr>
        <p:spPr bwMode="auto">
          <a:xfrm>
            <a:off x="225425" y="584200"/>
            <a:ext cx="8705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ltLang="zh-CN"/>
              <a:t>Click to edit Master title style</a:t>
            </a:r>
          </a:p>
        </p:txBody>
      </p:sp>
      <p:sp>
        <p:nvSpPr>
          <p:cNvPr id="4099" name="Rectangle 3">
            <a:extLst>
              <a:ext uri="{FF2B5EF4-FFF2-40B4-BE49-F238E27FC236}">
                <a16:creationId xmlns:a16="http://schemas.microsoft.com/office/drawing/2014/main" id="{81DB2BFD-81AA-EBB5-C16F-E3E225FFE790}"/>
              </a:ext>
            </a:extLst>
          </p:cNvPr>
          <p:cNvSpPr>
            <a:spLocks noChangeArrowheads="1"/>
          </p:cNvSpPr>
          <p:nvPr/>
        </p:nvSpPr>
        <p:spPr bwMode="auto">
          <a:xfrm>
            <a:off x="4724400" y="5487988"/>
            <a:ext cx="1938338" cy="236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47033" anchor="b"/>
          <a:lstStyle>
            <a:lvl1pPr algn="l" defTabSz="941388">
              <a:spcBef>
                <a:spcPct val="0"/>
              </a:spcBef>
              <a:defRPr>
                <a:solidFill>
                  <a:schemeClr val="tx1"/>
                </a:solidFill>
                <a:latin typeface="Arial" panose="020B0604020202020204" pitchFamily="34" charset="0"/>
                <a:cs typeface="Arial" panose="020B0604020202020204" pitchFamily="34" charset="0"/>
              </a:defRPr>
            </a:lvl1pPr>
            <a:lvl2pPr marL="469900" algn="l" defTabSz="941388">
              <a:spcBef>
                <a:spcPct val="0"/>
              </a:spcBef>
              <a:defRPr>
                <a:solidFill>
                  <a:schemeClr val="tx1"/>
                </a:solidFill>
                <a:latin typeface="Arial" panose="020B0604020202020204" pitchFamily="34" charset="0"/>
                <a:cs typeface="Arial" panose="020B0604020202020204" pitchFamily="34" charset="0"/>
              </a:defRPr>
            </a:lvl2pPr>
            <a:lvl3pPr marL="941388" algn="l" defTabSz="941388">
              <a:spcBef>
                <a:spcPct val="0"/>
              </a:spcBef>
              <a:defRPr>
                <a:solidFill>
                  <a:schemeClr val="tx1"/>
                </a:solidFill>
                <a:latin typeface="Arial" panose="020B0604020202020204" pitchFamily="34" charset="0"/>
                <a:cs typeface="Arial" panose="020B0604020202020204" pitchFamily="34" charset="0"/>
              </a:defRPr>
            </a:lvl3pPr>
            <a:lvl4pPr marL="1412875" algn="l" defTabSz="941388">
              <a:spcBef>
                <a:spcPct val="0"/>
              </a:spcBef>
              <a:defRPr>
                <a:solidFill>
                  <a:schemeClr val="tx1"/>
                </a:solidFill>
                <a:latin typeface="Arial" panose="020B0604020202020204" pitchFamily="34" charset="0"/>
                <a:cs typeface="Arial" panose="020B0604020202020204" pitchFamily="34" charset="0"/>
              </a:defRPr>
            </a:lvl4pPr>
            <a:lvl5pPr marL="1881188" algn="l" defTabSz="941388">
              <a:spcBef>
                <a:spcPct val="0"/>
              </a:spcBef>
              <a:defRPr>
                <a:solidFill>
                  <a:schemeClr val="tx1"/>
                </a:solidFill>
                <a:latin typeface="Arial" panose="020B0604020202020204" pitchFamily="34" charset="0"/>
                <a:cs typeface="Arial" panose="020B0604020202020204" pitchFamily="34" charset="0"/>
              </a:defRPr>
            </a:lvl5pPr>
            <a:lvl6pPr marL="2338388"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795588"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252788"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709988"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0" hangingPunct="0">
              <a:buClrTx/>
              <a:buFontTx/>
              <a:buNone/>
            </a:pPr>
            <a:endParaRPr lang="zh-CN" altLang="en-US" sz="900">
              <a:ea typeface="宋体" panose="02010600030101010101" pitchFamily="2" charset="-122"/>
            </a:endParaRPr>
          </a:p>
        </p:txBody>
      </p:sp>
      <p:sp>
        <p:nvSpPr>
          <p:cNvPr id="4100" name="Rectangle 4">
            <a:extLst>
              <a:ext uri="{FF2B5EF4-FFF2-40B4-BE49-F238E27FC236}">
                <a16:creationId xmlns:a16="http://schemas.microsoft.com/office/drawing/2014/main" id="{1681E79A-40DC-4B0E-0572-46859CFD02F9}"/>
              </a:ext>
            </a:extLst>
          </p:cNvPr>
          <p:cNvSpPr>
            <a:spLocks noGrp="1" noChangeArrowheads="1"/>
          </p:cNvSpPr>
          <p:nvPr>
            <p:ph type="body" idx="1"/>
          </p:nvPr>
        </p:nvSpPr>
        <p:spPr bwMode="auto">
          <a:xfrm>
            <a:off x="228600" y="1233488"/>
            <a:ext cx="8705850" cy="532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ltLang="zh-CN"/>
              <a:t>Click to edit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4101" name="Text Box 5">
            <a:extLst>
              <a:ext uri="{FF2B5EF4-FFF2-40B4-BE49-F238E27FC236}">
                <a16:creationId xmlns:a16="http://schemas.microsoft.com/office/drawing/2014/main" id="{A9828997-FCE4-4F1D-DF02-5E9690D82E7E}"/>
              </a:ext>
            </a:extLst>
          </p:cNvPr>
          <p:cNvSpPr txBox="1">
            <a:spLocks noChangeArrowheads="1"/>
          </p:cNvSpPr>
          <p:nvPr/>
        </p:nvSpPr>
        <p:spPr bwMode="gray">
          <a:xfrm>
            <a:off x="304800" y="6705600"/>
            <a:ext cx="2233613" cy="1524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lgn="l">
              <a:spcBef>
                <a:spcPct val="0"/>
              </a:spcBef>
              <a:tabLst>
                <a:tab pos="9090025" algn="r"/>
              </a:tabLst>
              <a:defRPr>
                <a:solidFill>
                  <a:schemeClr val="tx1"/>
                </a:solidFill>
                <a:latin typeface="Arial" panose="020B0604020202020204" pitchFamily="34" charset="0"/>
                <a:cs typeface="Arial" panose="020B0604020202020204" pitchFamily="34" charset="0"/>
              </a:defRPr>
            </a:lvl1pPr>
            <a:lvl2pPr algn="l">
              <a:spcBef>
                <a:spcPct val="0"/>
              </a:spcBef>
              <a:tabLst>
                <a:tab pos="9090025" algn="r"/>
              </a:tabLst>
              <a:defRPr>
                <a:solidFill>
                  <a:schemeClr val="tx1"/>
                </a:solidFill>
                <a:latin typeface="Arial" panose="020B0604020202020204" pitchFamily="34" charset="0"/>
                <a:cs typeface="Arial" panose="020B0604020202020204" pitchFamily="34" charset="0"/>
              </a:defRPr>
            </a:lvl2pPr>
            <a:lvl3pPr algn="l">
              <a:spcBef>
                <a:spcPct val="0"/>
              </a:spcBef>
              <a:tabLst>
                <a:tab pos="9090025" algn="r"/>
              </a:tabLst>
              <a:defRPr>
                <a:solidFill>
                  <a:schemeClr val="tx1"/>
                </a:solidFill>
                <a:latin typeface="Arial" panose="020B0604020202020204" pitchFamily="34" charset="0"/>
                <a:cs typeface="Arial" panose="020B0604020202020204" pitchFamily="34" charset="0"/>
              </a:defRPr>
            </a:lvl3pPr>
            <a:lvl4pPr algn="l">
              <a:spcBef>
                <a:spcPct val="0"/>
              </a:spcBef>
              <a:tabLst>
                <a:tab pos="9090025" algn="r"/>
              </a:tabLst>
              <a:defRPr>
                <a:solidFill>
                  <a:schemeClr val="tx1"/>
                </a:solidFill>
                <a:latin typeface="Arial" panose="020B0604020202020204" pitchFamily="34" charset="0"/>
                <a:cs typeface="Arial" panose="020B0604020202020204" pitchFamily="34" charset="0"/>
              </a:defRPr>
            </a:lvl4pPr>
            <a:lvl5pPr algn="l">
              <a:spcBef>
                <a:spcPct val="0"/>
              </a:spcBef>
              <a:tabLst>
                <a:tab pos="9090025" algn="r"/>
              </a:tabLst>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tabLst>
                <a:tab pos="9090025" algn="r"/>
              </a:tabLs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tabLst>
                <a:tab pos="9090025" algn="r"/>
              </a:tabLs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tabLst>
                <a:tab pos="9090025" algn="r"/>
              </a:tabLs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tabLst>
                <a:tab pos="9090025" algn="r"/>
              </a:tabLst>
              <a:defRPr>
                <a:solidFill>
                  <a:schemeClr val="tx1"/>
                </a:solidFill>
                <a:latin typeface="Arial" panose="020B0604020202020204" pitchFamily="34" charset="0"/>
                <a:cs typeface="Arial" panose="020B0604020202020204" pitchFamily="34" charset="0"/>
              </a:defRPr>
            </a:lvl9pPr>
          </a:lstStyle>
          <a:p>
            <a:pPr>
              <a:buClrTx/>
              <a:buFontTx/>
              <a:buNone/>
            </a:pPr>
            <a:r>
              <a:rPr lang="en-US" altLang="zh-CN" sz="800">
                <a:ea typeface="宋体" panose="02010600030101010101" pitchFamily="2" charset="-122"/>
              </a:rPr>
              <a:t>© 2009 EMC Corporation. All rights reserved.</a:t>
            </a:r>
          </a:p>
        </p:txBody>
      </p:sp>
      <p:sp>
        <p:nvSpPr>
          <p:cNvPr id="4102" name="Rectangle 6">
            <a:extLst>
              <a:ext uri="{FF2B5EF4-FFF2-40B4-BE49-F238E27FC236}">
                <a16:creationId xmlns:a16="http://schemas.microsoft.com/office/drawing/2014/main" id="{724F4BB5-857C-04EF-3180-521144CA2477}"/>
              </a:ext>
            </a:extLst>
          </p:cNvPr>
          <p:cNvSpPr>
            <a:spLocks noGrp="1" noChangeArrowheads="1"/>
          </p:cNvSpPr>
          <p:nvPr>
            <p:ph type="ftr" sz="quarter" idx="3"/>
          </p:nvPr>
        </p:nvSpPr>
        <p:spPr bwMode="auto">
          <a:xfrm>
            <a:off x="4772025" y="6661150"/>
            <a:ext cx="3840163"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800">
                <a:solidFill>
                  <a:schemeClr val="tx1"/>
                </a:solidFill>
                <a:ea typeface="宋体" panose="02010600030101010101" pitchFamily="2" charset="-122"/>
              </a:defRPr>
            </a:lvl1pPr>
          </a:lstStyle>
          <a:p>
            <a:r>
              <a:rPr lang="zh-CN" altLang="en-US"/>
              <a:t>Securing the Storage Infrastructure</a:t>
            </a:r>
            <a:endParaRPr lang="en-US" altLang="zh-CN"/>
          </a:p>
        </p:txBody>
      </p:sp>
      <p:sp>
        <p:nvSpPr>
          <p:cNvPr id="4103" name="Rectangle 7">
            <a:extLst>
              <a:ext uri="{FF2B5EF4-FFF2-40B4-BE49-F238E27FC236}">
                <a16:creationId xmlns:a16="http://schemas.microsoft.com/office/drawing/2014/main" id="{F25C88E3-47FD-79EB-CC95-6C904E7B4CD9}"/>
              </a:ext>
            </a:extLst>
          </p:cNvPr>
          <p:cNvSpPr>
            <a:spLocks noGrp="1" noChangeArrowheads="1"/>
          </p:cNvSpPr>
          <p:nvPr>
            <p:ph type="sldNum" sz="quarter" idx="4"/>
          </p:nvPr>
        </p:nvSpPr>
        <p:spPr bwMode="auto">
          <a:xfrm>
            <a:off x="8469313" y="6646863"/>
            <a:ext cx="2135187"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spcBef>
                <a:spcPct val="0"/>
              </a:spcBef>
              <a:buClrTx/>
              <a:buFontTx/>
              <a:buNone/>
              <a:defRPr sz="900">
                <a:solidFill>
                  <a:schemeClr val="tx1"/>
                </a:solidFill>
                <a:ea typeface="宋体" panose="02010600030101010101" pitchFamily="2" charset="-122"/>
              </a:defRPr>
            </a:lvl1pPr>
          </a:lstStyle>
          <a:p>
            <a:r>
              <a:rPr lang="zh-CN" altLang="en-US"/>
              <a:t> </a:t>
            </a:r>
            <a:r>
              <a:rPr lang="en-US" altLang="zh-CN"/>
              <a:t>- </a:t>
            </a:r>
            <a:fld id="{E732F772-8B3D-43F0-83DA-D9C608E09E65}" type="slidenum">
              <a:rPr lang="en-US" altLang="zh-CN" sz="800"/>
              <a:pPr/>
              <a:t>‹#›</a:t>
            </a:fld>
            <a:endParaRPr lang="en-US" altLang="zh-CN" sz="800"/>
          </a:p>
        </p:txBody>
      </p:sp>
      <p:pic>
        <p:nvPicPr>
          <p:cNvPr id="4104" name="Picture 8">
            <a:extLst>
              <a:ext uri="{FF2B5EF4-FFF2-40B4-BE49-F238E27FC236}">
                <a16:creationId xmlns:a16="http://schemas.microsoft.com/office/drawing/2014/main" id="{8868B45B-DA7F-AAD2-64F1-F9F47C8A089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1588"/>
            <a:ext cx="9144000" cy="56197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ransition/>
  <p:hf hdr="0" dt="0"/>
  <p:txStyles>
    <p:titleStyle>
      <a:lvl1pPr algn="l" defTabSz="941388" rtl="0" fontAlgn="base">
        <a:spcBef>
          <a:spcPct val="0"/>
        </a:spcBef>
        <a:spcAft>
          <a:spcPct val="0"/>
        </a:spcAft>
        <a:defRPr sz="2800" b="1" i="1" kern="1200">
          <a:solidFill>
            <a:srgbClr val="003580"/>
          </a:solidFill>
          <a:latin typeface="+mj-lt"/>
          <a:ea typeface="+mj-ea"/>
          <a:cs typeface="+mj-cs"/>
        </a:defRPr>
      </a:lvl1pPr>
      <a:lvl2pPr algn="l" defTabSz="941388" rtl="0"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2pPr>
      <a:lvl3pPr algn="l" defTabSz="941388" rtl="0"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3pPr>
      <a:lvl4pPr algn="l" defTabSz="941388" rtl="0"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4pPr>
      <a:lvl5pPr algn="l" defTabSz="941388" rtl="0"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5pPr>
      <a:lvl6pPr marL="457200" algn="l" defTabSz="941388" rtl="0"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6pPr>
      <a:lvl7pPr marL="914400" algn="l" defTabSz="941388" rtl="0"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7pPr>
      <a:lvl8pPr marL="1371600" algn="l" defTabSz="941388" rtl="0"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8pPr>
      <a:lvl9pPr marL="1828800" algn="l" defTabSz="941388" rtl="0"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9pPr>
    </p:titleStyle>
    <p:bodyStyle>
      <a:lvl1pPr marL="234950" indent="-234950" algn="l" defTabSz="890588" rtl="0" eaLnBrk="0" fontAlgn="base" hangingPunct="0">
        <a:spcBef>
          <a:spcPct val="50000"/>
        </a:spcBef>
        <a:spcAft>
          <a:spcPct val="0"/>
        </a:spcAft>
        <a:buClr>
          <a:srgbClr val="003580"/>
        </a:buClr>
        <a:buFont typeface="Wingdings" panose="05000000000000000000" pitchFamily="2" charset="2"/>
        <a:buChar char=""/>
        <a:tabLst>
          <a:tab pos="6985000" algn="l"/>
          <a:tab pos="7185025" algn="l"/>
          <a:tab pos="7837488" algn="l"/>
        </a:tabLst>
        <a:defRPr sz="2600" kern="1200">
          <a:solidFill>
            <a:schemeClr val="tx2"/>
          </a:solidFill>
          <a:latin typeface="+mn-lt"/>
          <a:ea typeface="+mn-ea"/>
          <a:cs typeface="+mn-cs"/>
        </a:defRPr>
      </a:lvl1pPr>
      <a:lvl2pPr marL="568325" indent="-219075" algn="l" defTabSz="890588" rtl="0" eaLnBrk="0" fontAlgn="base" hangingPunct="0">
        <a:spcBef>
          <a:spcPct val="25000"/>
        </a:spcBef>
        <a:spcAft>
          <a:spcPct val="0"/>
        </a:spcAft>
        <a:buClr>
          <a:srgbClr val="003580"/>
        </a:buClr>
        <a:buFont typeface="Times New Roman" panose="02020603050405020304" pitchFamily="18" charset="0"/>
        <a:buChar char="–"/>
        <a:tabLst>
          <a:tab pos="6985000" algn="l"/>
          <a:tab pos="7185025" algn="l"/>
          <a:tab pos="7837488" algn="l"/>
        </a:tabLst>
        <a:defRPr sz="2100" kern="1200">
          <a:solidFill>
            <a:schemeClr val="tx2"/>
          </a:solidFill>
          <a:latin typeface="+mn-lt"/>
          <a:ea typeface="+mn-ea"/>
          <a:cs typeface="+mn-cs"/>
        </a:defRPr>
      </a:lvl2pPr>
      <a:lvl3pPr marL="908050" indent="-222250" algn="l" defTabSz="890588" rtl="0" eaLnBrk="0" fontAlgn="base" hangingPunct="0">
        <a:spcBef>
          <a:spcPct val="25000"/>
        </a:spcBef>
        <a:spcAft>
          <a:spcPct val="0"/>
        </a:spcAft>
        <a:buClr>
          <a:srgbClr val="003580"/>
        </a:buClr>
        <a:buFont typeface="Wingdings" panose="05000000000000000000" pitchFamily="2" charset="2"/>
        <a:buChar char="Ø"/>
        <a:tabLst>
          <a:tab pos="6985000" algn="l"/>
          <a:tab pos="7185025" algn="l"/>
          <a:tab pos="7837488" algn="l"/>
        </a:tabLst>
        <a:defRPr sz="1900" kern="1200">
          <a:solidFill>
            <a:schemeClr val="tx2"/>
          </a:solidFill>
          <a:latin typeface="+mn-lt"/>
          <a:ea typeface="+mn-ea"/>
          <a:cs typeface="+mn-cs"/>
        </a:defRPr>
      </a:lvl3pPr>
      <a:lvl4pPr marL="1257300" indent="-234950" algn="l" defTabSz="890588" rtl="0" eaLnBrk="0" fontAlgn="base" hangingPunct="0">
        <a:spcBef>
          <a:spcPct val="25000"/>
        </a:spcBef>
        <a:spcAft>
          <a:spcPct val="0"/>
        </a:spcAft>
        <a:buClr>
          <a:srgbClr val="003580"/>
        </a:buClr>
        <a:buFont typeface="Wingdings" panose="05000000000000000000" pitchFamily="2" charset="2"/>
        <a:buChar char="v"/>
        <a:tabLst>
          <a:tab pos="6985000" algn="l"/>
          <a:tab pos="7185025" algn="l"/>
          <a:tab pos="7837488" algn="l"/>
        </a:tabLst>
        <a:defRPr sz="1600" kern="1200">
          <a:solidFill>
            <a:schemeClr val="tx2"/>
          </a:solidFill>
          <a:latin typeface="+mn-lt"/>
          <a:ea typeface="+mn-ea"/>
          <a:cs typeface="+mn-cs"/>
        </a:defRPr>
      </a:lvl4pPr>
      <a:lvl5pPr marL="1606550" indent="-234950" algn="l" defTabSz="890588" rtl="0" eaLnBrk="0" fontAlgn="base" hangingPunct="0">
        <a:spcBef>
          <a:spcPct val="25000"/>
        </a:spcBef>
        <a:spcAft>
          <a:spcPct val="0"/>
        </a:spcAft>
        <a:buClr>
          <a:srgbClr val="003580"/>
        </a:buClr>
        <a:buFont typeface="Wingdings" panose="05000000000000000000" pitchFamily="2" charset="2"/>
        <a:buChar char="«"/>
        <a:tabLst>
          <a:tab pos="6985000" algn="l"/>
          <a:tab pos="7185025" algn="l"/>
          <a:tab pos="7837488" algn="l"/>
        </a:tabLst>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7.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8.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5.png"/><Relationship Id="rId7" Type="http://schemas.openxmlformats.org/officeDocument/2006/relationships/image" Target="../media/image21.png"/><Relationship Id="rId2" Type="http://schemas.openxmlformats.org/officeDocument/2006/relationships/notesSlide" Target="../notesSlides/notesSlide61.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2.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3.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4.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8.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17.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5.png"/><Relationship Id="rId2" Type="http://schemas.openxmlformats.org/officeDocument/2006/relationships/notesSlide" Target="../notesSlides/notesSlide76.xml"/><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19.png"/><Relationship Id="rId4" Type="http://schemas.openxmlformats.org/officeDocument/2006/relationships/image" Target="../media/image18.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81.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15.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594" y="995517"/>
            <a:ext cx="7202776" cy="1143000"/>
          </a:xfrm>
        </p:spPr>
        <p:txBody>
          <a:bodyPr/>
          <a:lstStyle/>
          <a:p>
            <a:pPr algn="ctr"/>
            <a:r>
              <a:rPr lang="en-US" b="1" dirty="0">
                <a:effectLst>
                  <a:outerShdw blurRad="38100" dist="38100" dir="2700000" algn="tl">
                    <a:srgbClr val="000000">
                      <a:alpha val="43137"/>
                    </a:srgbClr>
                  </a:outerShdw>
                </a:effectLst>
              </a:rPr>
              <a:t>Unit-V</a:t>
            </a:r>
            <a:endParaRPr lang="fa-IR"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40378" y="1905000"/>
            <a:ext cx="7828935" cy="2703871"/>
          </a:xfrm>
        </p:spPr>
        <p:txBody>
          <a:bodyPr>
            <a:normAutofit/>
          </a:bodyPr>
          <a:lstStyle/>
          <a:p>
            <a:pPr marL="0" indent="0" algn="just">
              <a:lnSpc>
                <a:spcPct val="200000"/>
              </a:lnSpc>
              <a:buNone/>
            </a:pPr>
            <a:r>
              <a:rPr lang="en-US" sz="1700" dirty="0">
                <a:latin typeface="Book Antiqua" panose="02040602050305030304" pitchFamily="18" charset="0"/>
              </a:rPr>
              <a:t>Securing the Storage Infrastructure, Managing the Storage Infrastructure: Storage Security Framework, Risk Triad, Storage Security Domains, Security Implementations in Storage Networking Monitoring the Storage Infrastructure, Storage Management Activities, Storage Infrastructure Management Challenges, Developing an Ideal Solution.</a:t>
            </a:r>
            <a:endParaRPr lang="en-US" sz="1700" b="1" dirty="0">
              <a:latin typeface="Book Antiqua" panose="02040602050305030304" pitchFamily="18" charset="0"/>
            </a:endParaRP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5137D0E-4A4F-4307-8994-C1891D747D59}" type="slidenum">
              <a:rPr lang="en-US" smtClean="0"/>
              <a:t>1</a:t>
            </a:fld>
            <a:endParaRPr lang="en-US"/>
          </a:p>
        </p:txBody>
      </p:sp>
    </p:spTree>
    <p:extLst>
      <p:ext uri="{BB962C8B-B14F-4D97-AF65-F5344CB8AC3E}">
        <p14:creationId xmlns:p14="http://schemas.microsoft.com/office/powerpoint/2010/main" val="4172200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BD337C8E-6326-49D2-F1C8-F16BD9C71F9F}"/>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2D18D727-4EF3-A426-7308-2C742F6D4C12}"/>
              </a:ext>
            </a:extLst>
          </p:cNvPr>
          <p:cNvSpPr>
            <a:spLocks noGrp="1"/>
          </p:cNvSpPr>
          <p:nvPr>
            <p:ph type="sldNum" sz="quarter" idx="11"/>
          </p:nvPr>
        </p:nvSpPr>
        <p:spPr/>
        <p:txBody>
          <a:bodyPr/>
          <a:lstStyle/>
          <a:p>
            <a:r>
              <a:rPr lang="zh-CN" altLang="en-US"/>
              <a:t> </a:t>
            </a:r>
            <a:r>
              <a:rPr lang="en-US" altLang="zh-CN"/>
              <a:t>- </a:t>
            </a:r>
            <a:fld id="{56DEA0C3-08DC-4B45-A83A-F2BA0842A780}" type="slidenum">
              <a:rPr lang="en-US" altLang="zh-CN" sz="800"/>
              <a:pPr/>
              <a:t>2</a:t>
            </a:fld>
            <a:endParaRPr lang="en-US" altLang="zh-CN" sz="800"/>
          </a:p>
        </p:txBody>
      </p:sp>
      <p:sp>
        <p:nvSpPr>
          <p:cNvPr id="8194" name="Rectangle 2">
            <a:extLst>
              <a:ext uri="{FF2B5EF4-FFF2-40B4-BE49-F238E27FC236}">
                <a16:creationId xmlns:a16="http://schemas.microsoft.com/office/drawing/2014/main" id="{7AD8AB33-A422-E9B3-83E0-AA90C9AFFFC9}"/>
              </a:ext>
            </a:extLst>
          </p:cNvPr>
          <p:cNvSpPr>
            <a:spLocks noGrp="1" noChangeArrowheads="1"/>
          </p:cNvSpPr>
          <p:nvPr>
            <p:ph type="title"/>
          </p:nvPr>
        </p:nvSpPr>
        <p:spPr/>
        <p:txBody>
          <a:bodyPr/>
          <a:lstStyle/>
          <a:p>
            <a:r>
              <a:rPr lang="en-US" altLang="zh-CN">
                <a:ea typeface="宋体" panose="02010600030101010101" pitchFamily="2" charset="-122"/>
              </a:rPr>
              <a:t>Securing the Storage Infrastructure</a:t>
            </a:r>
          </a:p>
        </p:txBody>
      </p:sp>
      <p:sp>
        <p:nvSpPr>
          <p:cNvPr id="8195" name="Rectangle 3">
            <a:extLst>
              <a:ext uri="{FF2B5EF4-FFF2-40B4-BE49-F238E27FC236}">
                <a16:creationId xmlns:a16="http://schemas.microsoft.com/office/drawing/2014/main" id="{A2145823-3466-CB90-FA0A-042A321A8605}"/>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Upon completion of this module, you will be able to:</a:t>
            </a:r>
          </a:p>
          <a:p>
            <a:r>
              <a:rPr lang="en-US" altLang="zh-CN">
                <a:ea typeface="宋体" panose="02010600030101010101" pitchFamily="2" charset="-122"/>
              </a:rPr>
              <a:t>Define storage security</a:t>
            </a:r>
          </a:p>
          <a:p>
            <a:r>
              <a:rPr lang="en-US" altLang="zh-CN">
                <a:ea typeface="宋体" panose="02010600030101010101" pitchFamily="2" charset="-122"/>
              </a:rPr>
              <a:t>Discuss storage security framework</a:t>
            </a:r>
          </a:p>
          <a:p>
            <a:r>
              <a:rPr lang="en-US" altLang="zh-CN">
                <a:ea typeface="宋体" panose="02010600030101010101" pitchFamily="2" charset="-122"/>
              </a:rPr>
              <a:t>Describe storage security domains</a:t>
            </a:r>
          </a:p>
          <a:p>
            <a:pPr lvl="1"/>
            <a:r>
              <a:rPr lang="en-US" altLang="zh-CN">
                <a:solidFill>
                  <a:schemeClr val="tx1"/>
                </a:solidFill>
                <a:ea typeface="宋体" panose="02010600030101010101" pitchFamily="2" charset="-122"/>
              </a:rPr>
              <a:t>Application, Management, Backup Recovery and Archive (BURA)</a:t>
            </a:r>
          </a:p>
          <a:p>
            <a:r>
              <a:rPr lang="en-US" altLang="zh-CN">
                <a:ea typeface="宋体" panose="02010600030101010101" pitchFamily="2" charset="-122"/>
              </a:rPr>
              <a:t>List the security threats in each domain and describe the controls that can be applied</a:t>
            </a:r>
          </a:p>
          <a:p>
            <a:r>
              <a:rPr lang="en-US" altLang="zh-CN">
                <a:ea typeface="宋体" panose="02010600030101010101" pitchFamily="2" charset="-122"/>
              </a:rPr>
              <a:t>Discuss the security implementations in SAN, NAS, and IP-SAN environments</a:t>
            </a:r>
          </a:p>
          <a:p>
            <a:endParaRPr lang="en-US" altLang="zh-CN">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5E5B5B25-C0F2-7114-4CFF-36E766F8D186}"/>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6C5EAA0F-3A5E-5692-C15D-891C40AD66EE}"/>
              </a:ext>
            </a:extLst>
          </p:cNvPr>
          <p:cNvSpPr>
            <a:spLocks noGrp="1"/>
          </p:cNvSpPr>
          <p:nvPr>
            <p:ph type="sldNum" sz="quarter" idx="11"/>
          </p:nvPr>
        </p:nvSpPr>
        <p:spPr/>
        <p:txBody>
          <a:bodyPr/>
          <a:lstStyle/>
          <a:p>
            <a:r>
              <a:rPr lang="zh-CN" altLang="en-US"/>
              <a:t> </a:t>
            </a:r>
            <a:r>
              <a:rPr lang="en-US" altLang="zh-CN"/>
              <a:t>- </a:t>
            </a:r>
            <a:fld id="{0762C2E8-EF45-4DB7-B22F-D8017A9EE7FC}" type="slidenum">
              <a:rPr lang="en-US" altLang="zh-CN" sz="800"/>
              <a:pPr/>
              <a:t>3</a:t>
            </a:fld>
            <a:endParaRPr lang="en-US" altLang="zh-CN" sz="800"/>
          </a:p>
        </p:txBody>
      </p:sp>
      <p:sp>
        <p:nvSpPr>
          <p:cNvPr id="11266" name="Rectangle 2">
            <a:extLst>
              <a:ext uri="{FF2B5EF4-FFF2-40B4-BE49-F238E27FC236}">
                <a16:creationId xmlns:a16="http://schemas.microsoft.com/office/drawing/2014/main" id="{15415BF6-60D6-33DA-FAB2-2D6F82CE09F3}"/>
              </a:ext>
            </a:extLst>
          </p:cNvPr>
          <p:cNvSpPr>
            <a:spLocks noGrp="1" noChangeArrowheads="1"/>
          </p:cNvSpPr>
          <p:nvPr>
            <p:ph type="title"/>
          </p:nvPr>
        </p:nvSpPr>
        <p:spPr/>
        <p:txBody>
          <a:bodyPr/>
          <a:lstStyle/>
          <a:p>
            <a:r>
              <a:rPr lang="en-US" altLang="zh-CN">
                <a:ea typeface="宋体" panose="02010600030101010101" pitchFamily="2" charset="-122"/>
              </a:rPr>
              <a:t>Lesson: Building Storage Security Framework</a:t>
            </a:r>
          </a:p>
        </p:txBody>
      </p:sp>
      <p:sp>
        <p:nvSpPr>
          <p:cNvPr id="11267" name="Rectangle 3">
            <a:extLst>
              <a:ext uri="{FF2B5EF4-FFF2-40B4-BE49-F238E27FC236}">
                <a16:creationId xmlns:a16="http://schemas.microsoft.com/office/drawing/2014/main" id="{33B67681-509F-30B3-7BEE-812F9BA6A7B9}"/>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Upon completion of this lesson, you will be able to:</a:t>
            </a:r>
          </a:p>
          <a:p>
            <a:r>
              <a:rPr lang="en-US" altLang="zh-CN">
                <a:ea typeface="宋体" panose="02010600030101010101" pitchFamily="2" charset="-122"/>
              </a:rPr>
              <a:t>Define storage security</a:t>
            </a:r>
          </a:p>
          <a:p>
            <a:r>
              <a:rPr lang="en-US" altLang="zh-CN">
                <a:ea typeface="宋体" panose="02010600030101010101" pitchFamily="2" charset="-122"/>
              </a:rPr>
              <a:t>Discuss the elements to build storage security framework</a:t>
            </a:r>
          </a:p>
          <a:p>
            <a:pPr lvl="1"/>
            <a:r>
              <a:rPr lang="en-US" altLang="zh-CN">
                <a:ea typeface="宋体" panose="02010600030101010101" pitchFamily="2" charset="-122"/>
              </a:rPr>
              <a:t>Security services</a:t>
            </a:r>
          </a:p>
          <a:p>
            <a:r>
              <a:rPr lang="en-US" altLang="zh-CN">
                <a:ea typeface="宋体" panose="02010600030101010101" pitchFamily="2" charset="-122"/>
              </a:rPr>
              <a:t>Define Risk triad</a:t>
            </a:r>
          </a:p>
        </p:txBody>
      </p:sp>
      <p:pic>
        <p:nvPicPr>
          <p:cNvPr id="11268" name="Picture 4">
            <a:extLst>
              <a:ext uri="{FF2B5EF4-FFF2-40B4-BE49-F238E27FC236}">
                <a16:creationId xmlns:a16="http://schemas.microsoft.com/office/drawing/2014/main" id="{149088FD-C8C9-E61F-B7C3-2359CEDE91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057900"/>
            <a:ext cx="8839200" cy="5667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F125637-3209-63EC-265C-E7A712F49E85}"/>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2C56BB93-F16B-2D12-9110-BA75A30A07A7}"/>
              </a:ext>
            </a:extLst>
          </p:cNvPr>
          <p:cNvSpPr>
            <a:spLocks noGrp="1"/>
          </p:cNvSpPr>
          <p:nvPr>
            <p:ph type="sldNum" sz="quarter" idx="11"/>
          </p:nvPr>
        </p:nvSpPr>
        <p:spPr/>
        <p:txBody>
          <a:bodyPr/>
          <a:lstStyle/>
          <a:p>
            <a:r>
              <a:rPr lang="zh-CN" altLang="en-US"/>
              <a:t> </a:t>
            </a:r>
            <a:r>
              <a:rPr lang="en-US" altLang="zh-CN"/>
              <a:t>- </a:t>
            </a:r>
            <a:fld id="{E7227C66-5683-474C-8EA6-0B746FE36B92}" type="slidenum">
              <a:rPr lang="en-US" altLang="zh-CN" sz="800"/>
              <a:pPr/>
              <a:t>4</a:t>
            </a:fld>
            <a:endParaRPr lang="en-US" altLang="zh-CN" sz="800"/>
          </a:p>
        </p:txBody>
      </p:sp>
      <p:sp>
        <p:nvSpPr>
          <p:cNvPr id="13314" name="Rectangle 2">
            <a:extLst>
              <a:ext uri="{FF2B5EF4-FFF2-40B4-BE49-F238E27FC236}">
                <a16:creationId xmlns:a16="http://schemas.microsoft.com/office/drawing/2014/main" id="{AFF667A6-E857-5889-0483-2096CBD0663D}"/>
              </a:ext>
            </a:extLst>
          </p:cNvPr>
          <p:cNvSpPr>
            <a:spLocks noGrp="1" noChangeArrowheads="1"/>
          </p:cNvSpPr>
          <p:nvPr>
            <p:ph type="title"/>
          </p:nvPr>
        </p:nvSpPr>
        <p:spPr/>
        <p:txBody>
          <a:bodyPr/>
          <a:lstStyle/>
          <a:p>
            <a:r>
              <a:rPr lang="en-US" altLang="zh-CN">
                <a:ea typeface="宋体" panose="02010600030101010101" pitchFamily="2" charset="-122"/>
              </a:rPr>
              <a:t>What is Storage Security?</a:t>
            </a:r>
          </a:p>
        </p:txBody>
      </p:sp>
      <p:sp>
        <p:nvSpPr>
          <p:cNvPr id="13315" name="Rectangle 3">
            <a:extLst>
              <a:ext uri="{FF2B5EF4-FFF2-40B4-BE49-F238E27FC236}">
                <a16:creationId xmlns:a16="http://schemas.microsoft.com/office/drawing/2014/main" id="{B81A2DFD-DB29-62F6-2872-095A87618117}"/>
              </a:ext>
            </a:extLst>
          </p:cNvPr>
          <p:cNvSpPr>
            <a:spLocks noGrp="1" noChangeArrowheads="1"/>
          </p:cNvSpPr>
          <p:nvPr>
            <p:ph type="body" idx="1"/>
          </p:nvPr>
        </p:nvSpPr>
        <p:spPr>
          <a:xfrm>
            <a:off x="228600" y="1233488"/>
            <a:ext cx="8705850" cy="5395912"/>
          </a:xfrm>
        </p:spPr>
        <p:txBody>
          <a:bodyPr/>
          <a:lstStyle/>
          <a:p>
            <a:r>
              <a:rPr lang="en-US" altLang="zh-CN">
                <a:ea typeface="宋体" panose="02010600030101010101" pitchFamily="2" charset="-122"/>
              </a:rPr>
              <a:t>Application of security principles and practices to storage networking (data storage + networking) technologies</a:t>
            </a:r>
          </a:p>
          <a:p>
            <a:r>
              <a:rPr lang="en-US" altLang="zh-CN">
                <a:ea typeface="宋体" panose="02010600030101010101" pitchFamily="2" charset="-122"/>
              </a:rPr>
              <a:t>Focus of storage security: secured access to information </a:t>
            </a:r>
          </a:p>
          <a:p>
            <a:r>
              <a:rPr lang="en-US" altLang="zh-CN">
                <a:ea typeface="宋体" panose="02010600030101010101" pitchFamily="2" charset="-122"/>
              </a:rPr>
              <a:t>Storage security begins with building a framework</a:t>
            </a:r>
          </a:p>
        </p:txBody>
      </p:sp>
      <p:sp>
        <p:nvSpPr>
          <p:cNvPr id="13317" name="_s2938897">
            <a:extLst>
              <a:ext uri="{FF2B5EF4-FFF2-40B4-BE49-F238E27FC236}">
                <a16:creationId xmlns:a16="http://schemas.microsoft.com/office/drawing/2014/main" id="{86C425BD-9531-1D9A-E4B0-80B27E62971D}"/>
              </a:ext>
            </a:extLst>
          </p:cNvPr>
          <p:cNvSpPr>
            <a:spLocks noChangeArrowheads="1" noTextEdit="1"/>
          </p:cNvSpPr>
          <p:nvPr/>
        </p:nvSpPr>
        <p:spPr bwMode="auto">
          <a:xfrm>
            <a:off x="5715000" y="3810000"/>
            <a:ext cx="3200400" cy="2819400"/>
          </a:xfrm>
          <a:prstGeom prst="ellipse">
            <a:avLst/>
          </a:prstGeom>
          <a:solidFill>
            <a:schemeClr val="accent2">
              <a:alpha val="50000"/>
            </a:schemeClr>
          </a:solidFill>
          <a:ln w="4670">
            <a:solidFill>
              <a:schemeClr val="accent2"/>
            </a:solidFill>
            <a:round/>
            <a:headEnd/>
            <a:tailEnd/>
          </a:ln>
        </p:spPr>
        <p:txBody>
          <a:bodyPr lIns="0" tIns="0" rIns="0" bIns="0" anchor="ctr"/>
          <a:lstStyle/>
          <a:p>
            <a:endParaRPr lang="en-IN"/>
          </a:p>
        </p:txBody>
      </p:sp>
      <p:grpSp>
        <p:nvGrpSpPr>
          <p:cNvPr id="13326" name="Group 14">
            <a:extLst>
              <a:ext uri="{FF2B5EF4-FFF2-40B4-BE49-F238E27FC236}">
                <a16:creationId xmlns:a16="http://schemas.microsoft.com/office/drawing/2014/main" id="{27F9BD7D-E7AD-21F6-AC1B-781A57515E09}"/>
              </a:ext>
            </a:extLst>
          </p:cNvPr>
          <p:cNvGrpSpPr>
            <a:grpSpLocks/>
          </p:cNvGrpSpPr>
          <p:nvPr/>
        </p:nvGrpSpPr>
        <p:grpSpPr bwMode="auto">
          <a:xfrm>
            <a:off x="5861050" y="4029075"/>
            <a:ext cx="2957513" cy="2106613"/>
            <a:chOff x="3692" y="2538"/>
            <a:chExt cx="1863" cy="1327"/>
          </a:xfrm>
        </p:grpSpPr>
        <p:sp>
          <p:nvSpPr>
            <p:cNvPr id="13318" name="_s2938898">
              <a:extLst>
                <a:ext uri="{FF2B5EF4-FFF2-40B4-BE49-F238E27FC236}">
                  <a16:creationId xmlns:a16="http://schemas.microsoft.com/office/drawing/2014/main" id="{2FD41D05-F935-CB85-FA2B-3B37C97924F1}"/>
                </a:ext>
              </a:extLst>
            </p:cNvPr>
            <p:cNvSpPr>
              <a:spLocks noChangeArrowheads="1"/>
            </p:cNvSpPr>
            <p:nvPr/>
          </p:nvSpPr>
          <p:spPr bwMode="auto">
            <a:xfrm>
              <a:off x="4466" y="2538"/>
              <a:ext cx="269"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zh-CN" altLang="en-US" sz="1800" b="1">
                  <a:solidFill>
                    <a:srgbClr val="003580"/>
                  </a:solidFill>
                  <a:ea typeface="宋体" panose="02010600030101010101" pitchFamily="2" charset="-122"/>
                </a:rPr>
                <a:t> </a:t>
              </a:r>
              <a:r>
                <a:rPr lang="en-US" altLang="zh-CN" sz="1800" b="1">
                  <a:solidFill>
                    <a:srgbClr val="003580"/>
                  </a:solidFill>
                  <a:ea typeface="宋体" panose="02010600030101010101" pitchFamily="2" charset="-122"/>
                </a:rPr>
                <a:t>Security</a:t>
              </a:r>
            </a:p>
          </p:txBody>
        </p:sp>
        <p:sp>
          <p:nvSpPr>
            <p:cNvPr id="13319" name="_s2938899">
              <a:extLst>
                <a:ext uri="{FF2B5EF4-FFF2-40B4-BE49-F238E27FC236}">
                  <a16:creationId xmlns:a16="http://schemas.microsoft.com/office/drawing/2014/main" id="{8997CE2D-76BF-833D-AB2A-19CBDE9140B6}"/>
                </a:ext>
              </a:extLst>
            </p:cNvPr>
            <p:cNvSpPr>
              <a:spLocks noChangeArrowheads="1" noTextEdit="1"/>
            </p:cNvSpPr>
            <p:nvPr/>
          </p:nvSpPr>
          <p:spPr bwMode="auto">
            <a:xfrm>
              <a:off x="4541" y="2821"/>
              <a:ext cx="1014" cy="1044"/>
            </a:xfrm>
            <a:prstGeom prst="ellipse">
              <a:avLst/>
            </a:prstGeom>
            <a:solidFill>
              <a:schemeClr val="hlink">
                <a:alpha val="50000"/>
              </a:schemeClr>
            </a:solidFill>
            <a:ln w="4670">
              <a:solidFill>
                <a:schemeClr val="hlink"/>
              </a:solidFill>
              <a:round/>
              <a:headEnd/>
              <a:tailEnd/>
            </a:ln>
          </p:spPr>
          <p:txBody>
            <a:bodyPr lIns="0" tIns="0" rIns="0" bIns="0" anchor="ctr"/>
            <a:lstStyle/>
            <a:p>
              <a:endParaRPr lang="en-IN"/>
            </a:p>
          </p:txBody>
        </p:sp>
        <p:sp>
          <p:nvSpPr>
            <p:cNvPr id="13320" name="_s2938900">
              <a:extLst>
                <a:ext uri="{FF2B5EF4-FFF2-40B4-BE49-F238E27FC236}">
                  <a16:creationId xmlns:a16="http://schemas.microsoft.com/office/drawing/2014/main" id="{9CB2CEF0-1A1C-3B3D-EA0B-5123330F5F6B}"/>
                </a:ext>
              </a:extLst>
            </p:cNvPr>
            <p:cNvSpPr>
              <a:spLocks noChangeArrowheads="1"/>
            </p:cNvSpPr>
            <p:nvPr/>
          </p:nvSpPr>
          <p:spPr bwMode="auto">
            <a:xfrm>
              <a:off x="5015" y="3218"/>
              <a:ext cx="27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003580"/>
                  </a:solidFill>
                  <a:ea typeface="宋体" panose="02010600030101010101" pitchFamily="2" charset="-122"/>
                </a:rPr>
                <a:t>Storage</a:t>
              </a:r>
            </a:p>
          </p:txBody>
        </p:sp>
        <p:sp>
          <p:nvSpPr>
            <p:cNvPr id="13321" name="_s2938901">
              <a:extLst>
                <a:ext uri="{FF2B5EF4-FFF2-40B4-BE49-F238E27FC236}">
                  <a16:creationId xmlns:a16="http://schemas.microsoft.com/office/drawing/2014/main" id="{5121CA88-2000-F43E-E9D6-6D8A071A61F7}"/>
                </a:ext>
              </a:extLst>
            </p:cNvPr>
            <p:cNvSpPr>
              <a:spLocks noChangeArrowheads="1" noTextEdit="1"/>
            </p:cNvSpPr>
            <p:nvPr/>
          </p:nvSpPr>
          <p:spPr bwMode="auto">
            <a:xfrm>
              <a:off x="3692" y="2821"/>
              <a:ext cx="1015" cy="1044"/>
            </a:xfrm>
            <a:prstGeom prst="ellipse">
              <a:avLst/>
            </a:prstGeom>
            <a:solidFill>
              <a:schemeClr val="folHlink">
                <a:alpha val="50000"/>
              </a:schemeClr>
            </a:solidFill>
            <a:ln w="4670">
              <a:solidFill>
                <a:schemeClr val="folHlink"/>
              </a:solidFill>
              <a:round/>
              <a:headEnd/>
              <a:tailEnd/>
            </a:ln>
          </p:spPr>
          <p:txBody>
            <a:bodyPr lIns="0" tIns="0" rIns="0" bIns="0" anchor="ctr"/>
            <a:lstStyle/>
            <a:p>
              <a:endParaRPr lang="en-IN"/>
            </a:p>
          </p:txBody>
        </p:sp>
        <p:sp>
          <p:nvSpPr>
            <p:cNvPr id="13322" name="_s2938902">
              <a:extLst>
                <a:ext uri="{FF2B5EF4-FFF2-40B4-BE49-F238E27FC236}">
                  <a16:creationId xmlns:a16="http://schemas.microsoft.com/office/drawing/2014/main" id="{C94E2CBE-A79A-AF09-05B3-3CFB9E62110A}"/>
                </a:ext>
              </a:extLst>
            </p:cNvPr>
            <p:cNvSpPr>
              <a:spLocks noChangeArrowheads="1"/>
            </p:cNvSpPr>
            <p:nvPr/>
          </p:nvSpPr>
          <p:spPr bwMode="auto">
            <a:xfrm>
              <a:off x="3984" y="3218"/>
              <a:ext cx="269"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003580"/>
                  </a:solidFill>
                  <a:ea typeface="宋体" panose="02010600030101010101" pitchFamily="2" charset="-122"/>
                </a:rPr>
                <a:t>Networking</a:t>
              </a:r>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1F95F133-FB8C-9564-927B-21E5C8EB53CA}"/>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4A0240A8-1932-33DD-F8F4-A0F12590315D}"/>
              </a:ext>
            </a:extLst>
          </p:cNvPr>
          <p:cNvSpPr>
            <a:spLocks noGrp="1"/>
          </p:cNvSpPr>
          <p:nvPr>
            <p:ph type="sldNum" sz="quarter" idx="11"/>
          </p:nvPr>
        </p:nvSpPr>
        <p:spPr/>
        <p:txBody>
          <a:bodyPr/>
          <a:lstStyle/>
          <a:p>
            <a:r>
              <a:rPr lang="zh-CN" altLang="en-US"/>
              <a:t> </a:t>
            </a:r>
            <a:r>
              <a:rPr lang="en-US" altLang="zh-CN"/>
              <a:t>- </a:t>
            </a:r>
            <a:fld id="{E0EB0D82-CEBB-4FB7-8997-E2891111BC34}" type="slidenum">
              <a:rPr lang="en-US" altLang="zh-CN" sz="800"/>
              <a:pPr/>
              <a:t>5</a:t>
            </a:fld>
            <a:endParaRPr lang="en-US" altLang="zh-CN" sz="800"/>
          </a:p>
        </p:txBody>
      </p:sp>
      <p:sp>
        <p:nvSpPr>
          <p:cNvPr id="25602" name="Rectangle 2">
            <a:extLst>
              <a:ext uri="{FF2B5EF4-FFF2-40B4-BE49-F238E27FC236}">
                <a16:creationId xmlns:a16="http://schemas.microsoft.com/office/drawing/2014/main" id="{08958BE2-5159-C2BC-4780-F16974EBEAE3}"/>
              </a:ext>
            </a:extLst>
          </p:cNvPr>
          <p:cNvSpPr>
            <a:spLocks noGrp="1" noChangeArrowheads="1"/>
          </p:cNvSpPr>
          <p:nvPr>
            <p:ph type="title"/>
          </p:nvPr>
        </p:nvSpPr>
        <p:spPr/>
        <p:txBody>
          <a:bodyPr/>
          <a:lstStyle/>
          <a:p>
            <a:r>
              <a:rPr lang="en-US" altLang="zh-CN">
                <a:latin typeface="Times-Roman" charset="0"/>
                <a:ea typeface="宋体" panose="02010600030101010101" pitchFamily="2" charset="-122"/>
              </a:rPr>
              <a:t>Storage Security Framework</a:t>
            </a:r>
          </a:p>
        </p:txBody>
      </p:sp>
      <p:sp>
        <p:nvSpPr>
          <p:cNvPr id="25603" name="Rectangle 3">
            <a:extLst>
              <a:ext uri="{FF2B5EF4-FFF2-40B4-BE49-F238E27FC236}">
                <a16:creationId xmlns:a16="http://schemas.microsoft.com/office/drawing/2014/main" id="{0CDD33DD-3E95-6BE1-24DD-6C6A65AEA302}"/>
              </a:ext>
            </a:extLst>
          </p:cNvPr>
          <p:cNvSpPr>
            <a:spLocks noGrp="1" noChangeArrowheads="1"/>
          </p:cNvSpPr>
          <p:nvPr>
            <p:ph type="body" idx="1"/>
          </p:nvPr>
        </p:nvSpPr>
        <p:spPr>
          <a:xfrm>
            <a:off x="228600" y="1233488"/>
            <a:ext cx="8705850" cy="5091112"/>
          </a:xfrm>
        </p:spPr>
        <p:txBody>
          <a:bodyPr/>
          <a:lstStyle/>
          <a:p>
            <a:r>
              <a:rPr lang="en-US" altLang="zh-CN">
                <a:ea typeface="宋体" panose="02010600030101010101" pitchFamily="2" charset="-122"/>
              </a:rPr>
              <a:t>A systematic way of defining security requirements</a:t>
            </a:r>
            <a:endParaRPr lang="en-US" altLang="zh-CN">
              <a:latin typeface="Times-Roman" charset="0"/>
              <a:ea typeface="宋体" panose="02010600030101010101" pitchFamily="2" charset="-122"/>
            </a:endParaRPr>
          </a:p>
          <a:p>
            <a:r>
              <a:rPr lang="en-US" altLang="zh-CN">
                <a:latin typeface="Times-Roman" charset="0"/>
                <a:ea typeface="宋体" panose="02010600030101010101" pitchFamily="2" charset="-122"/>
              </a:rPr>
              <a:t>Framework should incorporates: </a:t>
            </a:r>
          </a:p>
          <a:p>
            <a:pPr lvl="1"/>
            <a:r>
              <a:rPr lang="en-US" altLang="zh-CN">
                <a:latin typeface="Times-Roman" charset="0"/>
                <a:ea typeface="宋体" panose="02010600030101010101" pitchFamily="2" charset="-122"/>
              </a:rPr>
              <a:t>Anticipated security attacks</a:t>
            </a:r>
          </a:p>
          <a:p>
            <a:pPr lvl="2"/>
            <a:r>
              <a:rPr lang="en-US" altLang="zh-CN">
                <a:latin typeface="Times-Roman" charset="0"/>
                <a:ea typeface="宋体" panose="02010600030101010101" pitchFamily="2" charset="-122"/>
              </a:rPr>
              <a:t>Actions that compromise the security of information </a:t>
            </a:r>
          </a:p>
          <a:p>
            <a:pPr lvl="1"/>
            <a:r>
              <a:rPr lang="en-US" altLang="zh-CN">
                <a:latin typeface="Times-Roman" charset="0"/>
                <a:ea typeface="宋体" panose="02010600030101010101" pitchFamily="2" charset="-122"/>
              </a:rPr>
              <a:t>Security measures </a:t>
            </a:r>
          </a:p>
          <a:p>
            <a:pPr lvl="2"/>
            <a:r>
              <a:rPr lang="en-US" altLang="zh-CN">
                <a:latin typeface="Times-Roman" charset="0"/>
                <a:ea typeface="宋体" panose="02010600030101010101" pitchFamily="2" charset="-122"/>
              </a:rPr>
              <a:t>Control designed to protect from these security attacks </a:t>
            </a:r>
          </a:p>
          <a:p>
            <a:r>
              <a:rPr lang="en-US" altLang="zh-CN">
                <a:latin typeface="Times-Roman" charset="0"/>
                <a:ea typeface="宋体" panose="02010600030101010101" pitchFamily="2" charset="-122"/>
              </a:rPr>
              <a:t>Security framework must ensure:</a:t>
            </a:r>
          </a:p>
          <a:p>
            <a:pPr lvl="1"/>
            <a:r>
              <a:rPr lang="en-US" altLang="zh-CN">
                <a:latin typeface="Times-Roman" charset="0"/>
                <a:ea typeface="宋体" panose="02010600030101010101" pitchFamily="2" charset="-122"/>
              </a:rPr>
              <a:t>Confidentiality</a:t>
            </a:r>
          </a:p>
          <a:p>
            <a:pPr lvl="1"/>
            <a:r>
              <a:rPr lang="en-US" altLang="zh-CN">
                <a:latin typeface="Times-Roman" charset="0"/>
                <a:ea typeface="宋体" panose="02010600030101010101" pitchFamily="2" charset="-122"/>
              </a:rPr>
              <a:t>Integrity</a:t>
            </a:r>
          </a:p>
          <a:p>
            <a:pPr lvl="1"/>
            <a:r>
              <a:rPr lang="en-US" altLang="zh-CN">
                <a:latin typeface="Times-Roman" charset="0"/>
                <a:ea typeface="宋体" panose="02010600030101010101" pitchFamily="2" charset="-122"/>
              </a:rPr>
              <a:t>Availability</a:t>
            </a:r>
          </a:p>
          <a:p>
            <a:pPr lvl="1"/>
            <a:r>
              <a:rPr lang="en-US" altLang="zh-CN">
                <a:latin typeface="Times-Roman" charset="0"/>
                <a:ea typeface="宋体" panose="02010600030101010101" pitchFamily="2" charset="-122"/>
              </a:rPr>
              <a:t>Accountability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BEF749C-A835-E2F1-2DF9-25FED57B10C2}"/>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F1BEA05F-C14F-E6D6-97D2-6E5E5AEBD84F}"/>
              </a:ext>
            </a:extLst>
          </p:cNvPr>
          <p:cNvSpPr>
            <a:spLocks noGrp="1"/>
          </p:cNvSpPr>
          <p:nvPr>
            <p:ph type="sldNum" sz="quarter" idx="11"/>
          </p:nvPr>
        </p:nvSpPr>
        <p:spPr/>
        <p:txBody>
          <a:bodyPr/>
          <a:lstStyle/>
          <a:p>
            <a:r>
              <a:rPr lang="zh-CN" altLang="en-US"/>
              <a:t> </a:t>
            </a:r>
            <a:r>
              <a:rPr lang="en-US" altLang="zh-CN"/>
              <a:t>- </a:t>
            </a:r>
            <a:fld id="{DA76FB8F-7B01-4F65-9681-903866694A7A}" type="slidenum">
              <a:rPr lang="en-US" altLang="zh-CN" sz="800"/>
              <a:pPr/>
              <a:t>6</a:t>
            </a:fld>
            <a:endParaRPr lang="en-US" altLang="zh-CN" sz="800"/>
          </a:p>
        </p:txBody>
      </p:sp>
      <p:sp>
        <p:nvSpPr>
          <p:cNvPr id="29710" name="Rectangle 14">
            <a:extLst>
              <a:ext uri="{FF2B5EF4-FFF2-40B4-BE49-F238E27FC236}">
                <a16:creationId xmlns:a16="http://schemas.microsoft.com/office/drawing/2014/main" id="{73CCCCE3-5E7A-BCD6-BA77-BF1D7E517924}"/>
              </a:ext>
            </a:extLst>
          </p:cNvPr>
          <p:cNvSpPr>
            <a:spLocks noGrp="1" noChangeArrowheads="1"/>
          </p:cNvSpPr>
          <p:nvPr>
            <p:ph type="title"/>
          </p:nvPr>
        </p:nvSpPr>
        <p:spPr/>
        <p:txBody>
          <a:bodyPr/>
          <a:lstStyle/>
          <a:p>
            <a:r>
              <a:rPr lang="en-US" altLang="zh-CN">
                <a:ea typeface="宋体" panose="02010600030101010101" pitchFamily="2" charset="-122"/>
              </a:rPr>
              <a:t>Storage Security Framework: Attribute</a:t>
            </a:r>
          </a:p>
        </p:txBody>
      </p:sp>
      <p:sp>
        <p:nvSpPr>
          <p:cNvPr id="29719" name="Rectangle 23">
            <a:extLst>
              <a:ext uri="{FF2B5EF4-FFF2-40B4-BE49-F238E27FC236}">
                <a16:creationId xmlns:a16="http://schemas.microsoft.com/office/drawing/2014/main" id="{A05DA6E5-6AC3-CC03-01DA-42018457F341}"/>
              </a:ext>
            </a:extLst>
          </p:cNvPr>
          <p:cNvSpPr>
            <a:spLocks noGrp="1" noChangeArrowheads="1"/>
          </p:cNvSpPr>
          <p:nvPr>
            <p:ph type="body" idx="1"/>
          </p:nvPr>
        </p:nvSpPr>
        <p:spPr/>
        <p:txBody>
          <a:bodyPr/>
          <a:lstStyle/>
          <a:p>
            <a:r>
              <a:rPr lang="en-US" altLang="zh-CN">
                <a:ea typeface="宋体" panose="02010600030101010101" pitchFamily="2" charset="-122"/>
              </a:rPr>
              <a:t>Confidentiality</a:t>
            </a:r>
          </a:p>
          <a:p>
            <a:pPr lvl="1"/>
            <a:r>
              <a:rPr lang="en-US" altLang="zh-CN">
                <a:ea typeface="宋体" panose="02010600030101010101" pitchFamily="2" charset="-122"/>
              </a:rPr>
              <a:t>Provides the required secrecy of information</a:t>
            </a:r>
          </a:p>
          <a:p>
            <a:pPr lvl="1"/>
            <a:r>
              <a:rPr lang="en-US" altLang="zh-CN">
                <a:ea typeface="宋体" panose="02010600030101010101" pitchFamily="2" charset="-122"/>
              </a:rPr>
              <a:t>Ensures only authorized users have access to data</a:t>
            </a:r>
          </a:p>
          <a:p>
            <a:r>
              <a:rPr lang="en-US" altLang="zh-CN">
                <a:ea typeface="宋体" panose="02010600030101010101" pitchFamily="2" charset="-122"/>
              </a:rPr>
              <a:t>Integrity</a:t>
            </a:r>
          </a:p>
          <a:p>
            <a:pPr lvl="1"/>
            <a:r>
              <a:rPr lang="en-US" altLang="zh-CN">
                <a:ea typeface="宋体" panose="02010600030101010101" pitchFamily="2" charset="-122"/>
              </a:rPr>
              <a:t>Ensures that the information is unaltered</a:t>
            </a:r>
          </a:p>
          <a:p>
            <a:r>
              <a:rPr lang="en-US" altLang="zh-CN">
                <a:ea typeface="宋体" panose="02010600030101010101" pitchFamily="2" charset="-122"/>
              </a:rPr>
              <a:t>Availability</a:t>
            </a:r>
          </a:p>
          <a:p>
            <a:pPr lvl="1"/>
            <a:r>
              <a:rPr lang="en-US" altLang="zh-CN">
                <a:ea typeface="宋体" panose="02010600030101010101" pitchFamily="2" charset="-122"/>
              </a:rPr>
              <a:t>Ensures that authorized users have reliable and timely access to data</a:t>
            </a:r>
          </a:p>
          <a:p>
            <a:r>
              <a:rPr lang="en-US" altLang="zh-CN">
                <a:ea typeface="宋体" panose="02010600030101010101" pitchFamily="2" charset="-122"/>
              </a:rPr>
              <a:t>Accountability </a:t>
            </a:r>
          </a:p>
          <a:p>
            <a:pPr lvl="1"/>
            <a:r>
              <a:rPr lang="en-US" altLang="zh-CN">
                <a:ea typeface="宋体" panose="02010600030101010101" pitchFamily="2" charset="-122"/>
              </a:rPr>
              <a:t>Accounting for all events and operations that takes place in data center infrastructure that can be audited or traced later</a:t>
            </a:r>
          </a:p>
          <a:p>
            <a:pPr lvl="1"/>
            <a:r>
              <a:rPr lang="en-US" altLang="zh-CN">
                <a:ea typeface="宋体" panose="02010600030101010101" pitchFamily="2" charset="-122"/>
              </a:rPr>
              <a:t>Helps to uniquely identify the actor that performed an action</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19DAE33-56EA-D220-CC2A-213ED4279480}"/>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3E7E92CF-9330-2CD2-6D39-10F4A6796F9B}"/>
              </a:ext>
            </a:extLst>
          </p:cNvPr>
          <p:cNvSpPr>
            <a:spLocks noGrp="1"/>
          </p:cNvSpPr>
          <p:nvPr>
            <p:ph type="sldNum" sz="quarter" idx="11"/>
          </p:nvPr>
        </p:nvSpPr>
        <p:spPr/>
        <p:txBody>
          <a:bodyPr/>
          <a:lstStyle/>
          <a:p>
            <a:r>
              <a:rPr lang="zh-CN" altLang="en-US"/>
              <a:t> </a:t>
            </a:r>
            <a:r>
              <a:rPr lang="en-US" altLang="zh-CN"/>
              <a:t>- </a:t>
            </a:r>
            <a:fld id="{206F090A-7992-4794-A3C4-2B5561C95447}" type="slidenum">
              <a:rPr lang="en-US" altLang="zh-CN" sz="800"/>
              <a:pPr/>
              <a:t>7</a:t>
            </a:fld>
            <a:endParaRPr lang="en-US" altLang="zh-CN" sz="800"/>
          </a:p>
        </p:txBody>
      </p:sp>
      <p:sp>
        <p:nvSpPr>
          <p:cNvPr id="7216" name="Rectangle 48">
            <a:extLst>
              <a:ext uri="{FF2B5EF4-FFF2-40B4-BE49-F238E27FC236}">
                <a16:creationId xmlns:a16="http://schemas.microsoft.com/office/drawing/2014/main" id="{B196064E-43B2-CD45-F8C3-CF5DAF9EF325}"/>
              </a:ext>
            </a:extLst>
          </p:cNvPr>
          <p:cNvSpPr>
            <a:spLocks noChangeArrowheads="1"/>
          </p:cNvSpPr>
          <p:nvPr/>
        </p:nvSpPr>
        <p:spPr bwMode="auto">
          <a:xfrm>
            <a:off x="5638800" y="2047875"/>
            <a:ext cx="2743200" cy="2247900"/>
          </a:xfrm>
          <a:prstGeom prst="rect">
            <a:avLst/>
          </a:prstGeom>
          <a:solidFill>
            <a:schemeClr val="accent1">
              <a:alpha val="0"/>
            </a:schemeClr>
          </a:solidFill>
          <a:ln w="25400"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7170" name="Rectangle 2">
            <a:extLst>
              <a:ext uri="{FF2B5EF4-FFF2-40B4-BE49-F238E27FC236}">
                <a16:creationId xmlns:a16="http://schemas.microsoft.com/office/drawing/2014/main" id="{B691A55B-7B99-7C67-2D3C-070C7FEC565C}"/>
              </a:ext>
            </a:extLst>
          </p:cNvPr>
          <p:cNvSpPr>
            <a:spLocks noGrp="1" noChangeArrowheads="1"/>
          </p:cNvSpPr>
          <p:nvPr>
            <p:ph type="title"/>
          </p:nvPr>
        </p:nvSpPr>
        <p:spPr/>
        <p:txBody>
          <a:bodyPr/>
          <a:lstStyle/>
          <a:p>
            <a:r>
              <a:rPr lang="en-US" altLang="zh-CN">
                <a:ea typeface="宋体" panose="02010600030101010101" pitchFamily="2" charset="-122"/>
              </a:rPr>
              <a:t>Understanding Security Elements</a:t>
            </a:r>
          </a:p>
        </p:txBody>
      </p:sp>
      <p:sp>
        <p:nvSpPr>
          <p:cNvPr id="7177" name="AutoShape 9">
            <a:extLst>
              <a:ext uri="{FF2B5EF4-FFF2-40B4-BE49-F238E27FC236}">
                <a16:creationId xmlns:a16="http://schemas.microsoft.com/office/drawing/2014/main" id="{AF648C96-9F80-1E9B-21CF-35BF36C379DF}"/>
              </a:ext>
            </a:extLst>
          </p:cNvPr>
          <p:cNvSpPr>
            <a:spLocks noChangeArrowheads="1"/>
          </p:cNvSpPr>
          <p:nvPr/>
        </p:nvSpPr>
        <p:spPr bwMode="auto">
          <a:xfrm>
            <a:off x="6267450" y="2105025"/>
            <a:ext cx="1476375" cy="1808163"/>
          </a:xfrm>
          <a:prstGeom prst="triangle">
            <a:avLst>
              <a:gd name="adj" fmla="val 50000"/>
            </a:avLst>
          </a:prstGeom>
          <a:solidFill>
            <a:srgbClr val="FCEDC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lang="en-US" altLang="zh-CN" sz="1800" b="1">
                <a:solidFill>
                  <a:schemeClr val="tx1"/>
                </a:solidFill>
                <a:ea typeface="宋体" panose="02010600030101010101" pitchFamily="2" charset="-122"/>
              </a:rPr>
              <a:t>Risk</a:t>
            </a:r>
          </a:p>
        </p:txBody>
      </p:sp>
      <p:sp>
        <p:nvSpPr>
          <p:cNvPr id="7178" name="Text Box 10">
            <a:extLst>
              <a:ext uri="{FF2B5EF4-FFF2-40B4-BE49-F238E27FC236}">
                <a16:creationId xmlns:a16="http://schemas.microsoft.com/office/drawing/2014/main" id="{9629CD77-E67A-E9C4-6177-139F861F6B76}"/>
              </a:ext>
            </a:extLst>
          </p:cNvPr>
          <p:cNvSpPr txBox="1">
            <a:spLocks noChangeArrowheads="1"/>
          </p:cNvSpPr>
          <p:nvPr/>
        </p:nvSpPr>
        <p:spPr bwMode="auto">
          <a:xfrm>
            <a:off x="5730875" y="2633663"/>
            <a:ext cx="10096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ClrTx/>
              <a:buFontTx/>
              <a:buNone/>
            </a:pPr>
            <a:r>
              <a:rPr lang="en-US" altLang="zh-CN" sz="1800" b="1">
                <a:solidFill>
                  <a:schemeClr val="tx1"/>
                </a:solidFill>
                <a:ea typeface="宋体" panose="02010600030101010101" pitchFamily="2" charset="-122"/>
              </a:rPr>
              <a:t>Threats</a:t>
            </a:r>
          </a:p>
        </p:txBody>
      </p:sp>
      <p:sp>
        <p:nvSpPr>
          <p:cNvPr id="7179" name="Text Box 11">
            <a:extLst>
              <a:ext uri="{FF2B5EF4-FFF2-40B4-BE49-F238E27FC236}">
                <a16:creationId xmlns:a16="http://schemas.microsoft.com/office/drawing/2014/main" id="{FE4C72D2-F43B-DA58-E056-CB542F50F7BA}"/>
              </a:ext>
            </a:extLst>
          </p:cNvPr>
          <p:cNvSpPr txBox="1">
            <a:spLocks noChangeArrowheads="1"/>
          </p:cNvSpPr>
          <p:nvPr/>
        </p:nvSpPr>
        <p:spPr bwMode="auto">
          <a:xfrm>
            <a:off x="6132513" y="3914775"/>
            <a:ext cx="1746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ClrTx/>
              <a:buFontTx/>
              <a:buNone/>
            </a:pPr>
            <a:r>
              <a:rPr lang="en-US" altLang="zh-CN" sz="1800" b="1">
                <a:solidFill>
                  <a:schemeClr val="tx1"/>
                </a:solidFill>
                <a:ea typeface="宋体" panose="02010600030101010101" pitchFamily="2" charset="-122"/>
              </a:rPr>
              <a:t>Vulnerabilities</a:t>
            </a:r>
          </a:p>
        </p:txBody>
      </p:sp>
      <p:sp>
        <p:nvSpPr>
          <p:cNvPr id="7180" name="Text Box 12">
            <a:extLst>
              <a:ext uri="{FF2B5EF4-FFF2-40B4-BE49-F238E27FC236}">
                <a16:creationId xmlns:a16="http://schemas.microsoft.com/office/drawing/2014/main" id="{5FFE23BA-4B95-3883-1F00-D1A7B96077EB}"/>
              </a:ext>
            </a:extLst>
          </p:cNvPr>
          <p:cNvSpPr txBox="1">
            <a:spLocks noChangeArrowheads="1"/>
          </p:cNvSpPr>
          <p:nvPr/>
        </p:nvSpPr>
        <p:spPr bwMode="auto">
          <a:xfrm>
            <a:off x="7286625" y="2633663"/>
            <a:ext cx="933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ClrTx/>
              <a:buFontTx/>
              <a:buNone/>
            </a:pPr>
            <a:r>
              <a:rPr lang="en-US" altLang="zh-CN" sz="1800" b="1">
                <a:solidFill>
                  <a:schemeClr val="tx1"/>
                </a:solidFill>
                <a:ea typeface="宋体" panose="02010600030101010101" pitchFamily="2" charset="-122"/>
              </a:rPr>
              <a:t>Assets</a:t>
            </a:r>
          </a:p>
        </p:txBody>
      </p:sp>
      <p:sp>
        <p:nvSpPr>
          <p:cNvPr id="7181" name="Text Box 13">
            <a:extLst>
              <a:ext uri="{FF2B5EF4-FFF2-40B4-BE49-F238E27FC236}">
                <a16:creationId xmlns:a16="http://schemas.microsoft.com/office/drawing/2014/main" id="{EA020D56-E6F8-1A2B-3B03-61E59EDB0150}"/>
              </a:ext>
            </a:extLst>
          </p:cNvPr>
          <p:cNvSpPr txBox="1">
            <a:spLocks noChangeArrowheads="1"/>
          </p:cNvSpPr>
          <p:nvPr/>
        </p:nvSpPr>
        <p:spPr bwMode="auto">
          <a:xfrm>
            <a:off x="5605463" y="1752600"/>
            <a:ext cx="2671762"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alpha val="50000"/>
                    </a:schemeClr>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a:solidFill>
                  <a:srgbClr val="003580"/>
                </a:solidFill>
                <a:ea typeface="宋体" panose="02010600030101010101" pitchFamily="2" charset="-122"/>
              </a:rPr>
              <a:t>The Risk Triad</a:t>
            </a:r>
          </a:p>
        </p:txBody>
      </p:sp>
      <p:sp>
        <p:nvSpPr>
          <p:cNvPr id="7205" name="Text Box 37">
            <a:extLst>
              <a:ext uri="{FF2B5EF4-FFF2-40B4-BE49-F238E27FC236}">
                <a16:creationId xmlns:a16="http://schemas.microsoft.com/office/drawing/2014/main" id="{D78DC019-E8C1-5E7D-F7D8-5AE781093DE1}"/>
              </a:ext>
            </a:extLst>
          </p:cNvPr>
          <p:cNvSpPr txBox="1">
            <a:spLocks noChangeArrowheads="1"/>
          </p:cNvSpPr>
          <p:nvPr/>
        </p:nvSpPr>
        <p:spPr bwMode="auto">
          <a:xfrm rot="16200000">
            <a:off x="-769937" y="3878262"/>
            <a:ext cx="29718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Tx/>
              <a:buFontTx/>
              <a:buNone/>
            </a:pPr>
            <a:r>
              <a:rPr lang="en-US" altLang="zh-CN" sz="1000">
                <a:solidFill>
                  <a:schemeClr val="tx1"/>
                </a:solidFill>
                <a:ea typeface="宋体" panose="02010600030101010101" pitchFamily="2" charset="-122"/>
              </a:rPr>
              <a:t>Wish to abuse and/or may damage</a:t>
            </a:r>
          </a:p>
        </p:txBody>
      </p:sp>
      <p:sp>
        <p:nvSpPr>
          <p:cNvPr id="7186" name="Rectangle 18">
            <a:extLst>
              <a:ext uri="{FF2B5EF4-FFF2-40B4-BE49-F238E27FC236}">
                <a16:creationId xmlns:a16="http://schemas.microsoft.com/office/drawing/2014/main" id="{B362ABBC-4A64-AE7A-F0BC-F3801CF10E92}"/>
              </a:ext>
            </a:extLst>
          </p:cNvPr>
          <p:cNvSpPr>
            <a:spLocks noChangeArrowheads="1"/>
          </p:cNvSpPr>
          <p:nvPr/>
        </p:nvSpPr>
        <p:spPr bwMode="auto">
          <a:xfrm>
            <a:off x="1362075" y="2590800"/>
            <a:ext cx="1514475" cy="458788"/>
          </a:xfrm>
          <a:prstGeom prst="rect">
            <a:avLst/>
          </a:prstGeom>
          <a:solidFill>
            <a:srgbClr val="CC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lang="en-US" altLang="zh-CN" sz="1400">
                <a:solidFill>
                  <a:schemeClr val="tx1"/>
                </a:solidFill>
                <a:ea typeface="宋体" panose="02010600030101010101" pitchFamily="2" charset="-122"/>
              </a:rPr>
              <a:t>Threat Agent</a:t>
            </a:r>
          </a:p>
        </p:txBody>
      </p:sp>
      <p:sp>
        <p:nvSpPr>
          <p:cNvPr id="7187" name="Rectangle 19">
            <a:extLst>
              <a:ext uri="{FF2B5EF4-FFF2-40B4-BE49-F238E27FC236}">
                <a16:creationId xmlns:a16="http://schemas.microsoft.com/office/drawing/2014/main" id="{5AE3C94A-BBE0-224C-B85B-9E660CA4CD28}"/>
              </a:ext>
            </a:extLst>
          </p:cNvPr>
          <p:cNvSpPr>
            <a:spLocks noChangeArrowheads="1"/>
          </p:cNvSpPr>
          <p:nvPr/>
        </p:nvSpPr>
        <p:spPr bwMode="auto">
          <a:xfrm>
            <a:off x="1362075" y="3378200"/>
            <a:ext cx="1514475" cy="458788"/>
          </a:xfrm>
          <a:prstGeom prst="rect">
            <a:avLst/>
          </a:prstGeom>
          <a:solidFill>
            <a:srgbClr val="CC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lang="en-US" altLang="zh-CN" sz="1400">
                <a:solidFill>
                  <a:schemeClr val="tx1"/>
                </a:solidFill>
                <a:ea typeface="宋体" panose="02010600030101010101" pitchFamily="2" charset="-122"/>
              </a:rPr>
              <a:t>Threat</a:t>
            </a:r>
          </a:p>
        </p:txBody>
      </p:sp>
      <p:sp>
        <p:nvSpPr>
          <p:cNvPr id="7188" name="Rectangle 20">
            <a:extLst>
              <a:ext uri="{FF2B5EF4-FFF2-40B4-BE49-F238E27FC236}">
                <a16:creationId xmlns:a16="http://schemas.microsoft.com/office/drawing/2014/main" id="{D0B183F8-EA76-32B8-26FF-AA41254C1BCB}"/>
              </a:ext>
            </a:extLst>
          </p:cNvPr>
          <p:cNvSpPr>
            <a:spLocks noChangeArrowheads="1"/>
          </p:cNvSpPr>
          <p:nvPr/>
        </p:nvSpPr>
        <p:spPr bwMode="auto">
          <a:xfrm>
            <a:off x="1325563" y="4165600"/>
            <a:ext cx="1516062" cy="458788"/>
          </a:xfrm>
          <a:prstGeom prst="rect">
            <a:avLst/>
          </a:prstGeom>
          <a:solidFill>
            <a:srgbClr val="CC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lang="en-US" altLang="zh-CN" sz="1400">
                <a:solidFill>
                  <a:schemeClr val="tx1"/>
                </a:solidFill>
                <a:ea typeface="宋体" panose="02010600030101010101" pitchFamily="2" charset="-122"/>
              </a:rPr>
              <a:t>Vulnerabilities</a:t>
            </a:r>
          </a:p>
        </p:txBody>
      </p:sp>
      <p:sp>
        <p:nvSpPr>
          <p:cNvPr id="7189" name="Rectangle 21">
            <a:extLst>
              <a:ext uri="{FF2B5EF4-FFF2-40B4-BE49-F238E27FC236}">
                <a16:creationId xmlns:a16="http://schemas.microsoft.com/office/drawing/2014/main" id="{30E87319-8F14-4C36-E2AC-6540F8514AC9}"/>
              </a:ext>
            </a:extLst>
          </p:cNvPr>
          <p:cNvSpPr>
            <a:spLocks noChangeArrowheads="1"/>
          </p:cNvSpPr>
          <p:nvPr/>
        </p:nvSpPr>
        <p:spPr bwMode="auto">
          <a:xfrm>
            <a:off x="1279525" y="5789613"/>
            <a:ext cx="1516063" cy="458787"/>
          </a:xfrm>
          <a:prstGeom prst="rect">
            <a:avLst/>
          </a:prstGeom>
          <a:solidFill>
            <a:srgbClr val="CC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lang="en-US" altLang="zh-CN" sz="1400">
                <a:solidFill>
                  <a:schemeClr val="tx1"/>
                </a:solidFill>
                <a:ea typeface="宋体" panose="02010600030101010101" pitchFamily="2" charset="-122"/>
              </a:rPr>
              <a:t>Asset</a:t>
            </a:r>
          </a:p>
        </p:txBody>
      </p:sp>
      <p:sp>
        <p:nvSpPr>
          <p:cNvPr id="7190" name="Rectangle 22">
            <a:extLst>
              <a:ext uri="{FF2B5EF4-FFF2-40B4-BE49-F238E27FC236}">
                <a16:creationId xmlns:a16="http://schemas.microsoft.com/office/drawing/2014/main" id="{01C13272-D094-A1B4-B7BA-0795A6F6C568}"/>
              </a:ext>
            </a:extLst>
          </p:cNvPr>
          <p:cNvSpPr>
            <a:spLocks noChangeArrowheads="1"/>
          </p:cNvSpPr>
          <p:nvPr/>
        </p:nvSpPr>
        <p:spPr bwMode="auto">
          <a:xfrm>
            <a:off x="1325563" y="4976813"/>
            <a:ext cx="1516062" cy="460375"/>
          </a:xfrm>
          <a:prstGeom prst="rect">
            <a:avLst/>
          </a:prstGeom>
          <a:solidFill>
            <a:srgbClr val="CC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lang="en-US" altLang="zh-CN" sz="1400">
                <a:solidFill>
                  <a:schemeClr val="tx1"/>
                </a:solidFill>
                <a:ea typeface="宋体" panose="02010600030101010101" pitchFamily="2" charset="-122"/>
              </a:rPr>
              <a:t>Risk</a:t>
            </a:r>
          </a:p>
        </p:txBody>
      </p:sp>
      <p:sp>
        <p:nvSpPr>
          <p:cNvPr id="7191" name="Rectangle 23">
            <a:extLst>
              <a:ext uri="{FF2B5EF4-FFF2-40B4-BE49-F238E27FC236}">
                <a16:creationId xmlns:a16="http://schemas.microsoft.com/office/drawing/2014/main" id="{E5B55C16-AB1C-BED4-996F-CBDF4F8E2E54}"/>
              </a:ext>
            </a:extLst>
          </p:cNvPr>
          <p:cNvSpPr>
            <a:spLocks noChangeArrowheads="1"/>
          </p:cNvSpPr>
          <p:nvPr/>
        </p:nvSpPr>
        <p:spPr bwMode="auto">
          <a:xfrm>
            <a:off x="5589588" y="4953000"/>
            <a:ext cx="1516062" cy="458788"/>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lang="en-US" altLang="zh-CN" sz="1400">
                <a:solidFill>
                  <a:schemeClr val="tx1"/>
                </a:solidFill>
                <a:ea typeface="宋体" panose="02010600030101010101" pitchFamily="2" charset="-122"/>
              </a:rPr>
              <a:t>Owner</a:t>
            </a:r>
          </a:p>
        </p:txBody>
      </p:sp>
      <p:sp>
        <p:nvSpPr>
          <p:cNvPr id="7192" name="Line 24">
            <a:extLst>
              <a:ext uri="{FF2B5EF4-FFF2-40B4-BE49-F238E27FC236}">
                <a16:creationId xmlns:a16="http://schemas.microsoft.com/office/drawing/2014/main" id="{7EFAE93F-3828-0FF9-A0A1-9FE09C2492B4}"/>
              </a:ext>
            </a:extLst>
          </p:cNvPr>
          <p:cNvSpPr>
            <a:spLocks noChangeShapeType="1"/>
          </p:cNvSpPr>
          <p:nvPr/>
        </p:nvSpPr>
        <p:spPr bwMode="auto">
          <a:xfrm>
            <a:off x="2082800" y="3049588"/>
            <a:ext cx="0" cy="3286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193" name="Text Box 25">
            <a:extLst>
              <a:ext uri="{FF2B5EF4-FFF2-40B4-BE49-F238E27FC236}">
                <a16:creationId xmlns:a16="http://schemas.microsoft.com/office/drawing/2014/main" id="{9642D4F6-E7C2-9261-3230-C1F692C813C8}"/>
              </a:ext>
            </a:extLst>
          </p:cNvPr>
          <p:cNvSpPr txBox="1">
            <a:spLocks noChangeArrowheads="1"/>
          </p:cNvSpPr>
          <p:nvPr/>
        </p:nvSpPr>
        <p:spPr bwMode="auto">
          <a:xfrm>
            <a:off x="2011363" y="3049588"/>
            <a:ext cx="1443037"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Tx/>
              <a:buFontTx/>
              <a:buNone/>
            </a:pPr>
            <a:r>
              <a:rPr lang="en-US" altLang="zh-CN" sz="900">
                <a:solidFill>
                  <a:schemeClr val="tx1"/>
                </a:solidFill>
                <a:ea typeface="宋体" panose="02010600030101010101" pitchFamily="2" charset="-122"/>
              </a:rPr>
              <a:t>Give rise to </a:t>
            </a:r>
          </a:p>
        </p:txBody>
      </p:sp>
      <p:sp>
        <p:nvSpPr>
          <p:cNvPr id="7194" name="Text Box 26">
            <a:extLst>
              <a:ext uri="{FF2B5EF4-FFF2-40B4-BE49-F238E27FC236}">
                <a16:creationId xmlns:a16="http://schemas.microsoft.com/office/drawing/2014/main" id="{AA6BB766-A32D-99EB-259D-37AA1D6341DD}"/>
              </a:ext>
            </a:extLst>
          </p:cNvPr>
          <p:cNvSpPr txBox="1">
            <a:spLocks noChangeArrowheads="1"/>
          </p:cNvSpPr>
          <p:nvPr/>
        </p:nvSpPr>
        <p:spPr bwMode="auto">
          <a:xfrm>
            <a:off x="2011363" y="3903663"/>
            <a:ext cx="1227137"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Tx/>
              <a:buFontTx/>
              <a:buNone/>
            </a:pPr>
            <a:r>
              <a:rPr lang="en-US" altLang="zh-CN" sz="900">
                <a:solidFill>
                  <a:schemeClr val="tx1"/>
                </a:solidFill>
                <a:ea typeface="宋体" panose="02010600030101010101" pitchFamily="2" charset="-122"/>
              </a:rPr>
              <a:t>That exploit</a:t>
            </a:r>
          </a:p>
        </p:txBody>
      </p:sp>
      <p:sp>
        <p:nvSpPr>
          <p:cNvPr id="7195" name="Text Box 27">
            <a:extLst>
              <a:ext uri="{FF2B5EF4-FFF2-40B4-BE49-F238E27FC236}">
                <a16:creationId xmlns:a16="http://schemas.microsoft.com/office/drawing/2014/main" id="{C39C0124-5884-1083-7142-B5F8CD8D127D}"/>
              </a:ext>
            </a:extLst>
          </p:cNvPr>
          <p:cNvSpPr txBox="1">
            <a:spLocks noChangeArrowheads="1"/>
          </p:cNvSpPr>
          <p:nvPr/>
        </p:nvSpPr>
        <p:spPr bwMode="auto">
          <a:xfrm>
            <a:off x="2011363" y="4686300"/>
            <a:ext cx="1227137"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Tx/>
              <a:buFontTx/>
              <a:buNone/>
            </a:pPr>
            <a:r>
              <a:rPr lang="en-US" altLang="zh-CN" sz="900">
                <a:solidFill>
                  <a:schemeClr val="tx1"/>
                </a:solidFill>
                <a:ea typeface="宋体" panose="02010600030101010101" pitchFamily="2" charset="-122"/>
              </a:rPr>
              <a:t>Leading to</a:t>
            </a:r>
          </a:p>
        </p:txBody>
      </p:sp>
      <p:sp>
        <p:nvSpPr>
          <p:cNvPr id="7196" name="Text Box 28">
            <a:extLst>
              <a:ext uri="{FF2B5EF4-FFF2-40B4-BE49-F238E27FC236}">
                <a16:creationId xmlns:a16="http://schemas.microsoft.com/office/drawing/2014/main" id="{795C8F94-878B-0011-955F-2597CDA5D9E1}"/>
              </a:ext>
            </a:extLst>
          </p:cNvPr>
          <p:cNvSpPr txBox="1">
            <a:spLocks noChangeArrowheads="1"/>
          </p:cNvSpPr>
          <p:nvPr/>
        </p:nvSpPr>
        <p:spPr bwMode="auto">
          <a:xfrm>
            <a:off x="2011363" y="5476875"/>
            <a:ext cx="1227137"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Tx/>
              <a:buFontTx/>
              <a:buNone/>
            </a:pPr>
            <a:r>
              <a:rPr lang="en-US" altLang="zh-CN" sz="900">
                <a:solidFill>
                  <a:schemeClr val="tx1"/>
                </a:solidFill>
                <a:ea typeface="宋体" panose="02010600030101010101" pitchFamily="2" charset="-122"/>
              </a:rPr>
              <a:t>to</a:t>
            </a:r>
          </a:p>
        </p:txBody>
      </p:sp>
      <p:sp>
        <p:nvSpPr>
          <p:cNvPr id="7197" name="Rectangle 29">
            <a:extLst>
              <a:ext uri="{FF2B5EF4-FFF2-40B4-BE49-F238E27FC236}">
                <a16:creationId xmlns:a16="http://schemas.microsoft.com/office/drawing/2014/main" id="{209F46ED-36AA-5145-9554-6BA46D62E6EC}"/>
              </a:ext>
            </a:extLst>
          </p:cNvPr>
          <p:cNvSpPr>
            <a:spLocks noChangeArrowheads="1"/>
          </p:cNvSpPr>
          <p:nvPr/>
        </p:nvSpPr>
        <p:spPr bwMode="auto">
          <a:xfrm>
            <a:off x="3455988" y="4960938"/>
            <a:ext cx="1516062" cy="458787"/>
          </a:xfrm>
          <a:prstGeom prst="rect">
            <a:avLst/>
          </a:prstGeom>
          <a:solidFill>
            <a:srgbClr val="CC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0"/>
              </a:spcBef>
              <a:buClrTx/>
              <a:buFontTx/>
              <a:buNone/>
            </a:pPr>
            <a:r>
              <a:rPr lang="en-US" altLang="zh-CN" sz="1400">
                <a:solidFill>
                  <a:schemeClr val="tx1"/>
                </a:solidFill>
                <a:ea typeface="宋体" panose="02010600030101010101" pitchFamily="2" charset="-122"/>
              </a:rPr>
              <a:t>Countermeasure</a:t>
            </a:r>
          </a:p>
        </p:txBody>
      </p:sp>
      <p:sp>
        <p:nvSpPr>
          <p:cNvPr id="7198" name="Text Box 30">
            <a:extLst>
              <a:ext uri="{FF2B5EF4-FFF2-40B4-BE49-F238E27FC236}">
                <a16:creationId xmlns:a16="http://schemas.microsoft.com/office/drawing/2014/main" id="{46C4FC6D-4C87-2555-624B-00EB7829E0A9}"/>
              </a:ext>
            </a:extLst>
          </p:cNvPr>
          <p:cNvSpPr txBox="1">
            <a:spLocks noChangeArrowheads="1"/>
          </p:cNvSpPr>
          <p:nvPr/>
        </p:nvSpPr>
        <p:spPr bwMode="auto">
          <a:xfrm>
            <a:off x="4987925" y="4978400"/>
            <a:ext cx="65087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Tx/>
              <a:buFontTx/>
              <a:buNone/>
            </a:pPr>
            <a:r>
              <a:rPr lang="en-US" altLang="zh-CN" sz="900">
                <a:solidFill>
                  <a:schemeClr val="tx1"/>
                </a:solidFill>
                <a:ea typeface="宋体" panose="02010600030101010101" pitchFamily="2" charset="-122"/>
              </a:rPr>
              <a:t>impose</a:t>
            </a:r>
          </a:p>
        </p:txBody>
      </p:sp>
      <p:sp>
        <p:nvSpPr>
          <p:cNvPr id="7200" name="Text Box 32">
            <a:extLst>
              <a:ext uri="{FF2B5EF4-FFF2-40B4-BE49-F238E27FC236}">
                <a16:creationId xmlns:a16="http://schemas.microsoft.com/office/drawing/2014/main" id="{17F9FBD1-5824-2257-7EE0-F9D63D229A1D}"/>
              </a:ext>
            </a:extLst>
          </p:cNvPr>
          <p:cNvSpPr txBox="1">
            <a:spLocks noChangeArrowheads="1"/>
          </p:cNvSpPr>
          <p:nvPr/>
        </p:nvSpPr>
        <p:spPr bwMode="auto">
          <a:xfrm>
            <a:off x="2874963" y="4833938"/>
            <a:ext cx="6492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Tx/>
              <a:buFontTx/>
              <a:buNone/>
            </a:pPr>
            <a:r>
              <a:rPr lang="en-US" altLang="zh-CN" sz="900">
                <a:solidFill>
                  <a:schemeClr val="tx1"/>
                </a:solidFill>
                <a:ea typeface="宋体" panose="02010600030101010101" pitchFamily="2" charset="-122"/>
              </a:rPr>
              <a:t>to reduce</a:t>
            </a:r>
          </a:p>
        </p:txBody>
      </p:sp>
      <p:sp>
        <p:nvSpPr>
          <p:cNvPr id="7203" name="Text Box 35">
            <a:extLst>
              <a:ext uri="{FF2B5EF4-FFF2-40B4-BE49-F238E27FC236}">
                <a16:creationId xmlns:a16="http://schemas.microsoft.com/office/drawing/2014/main" id="{F1432F8C-D119-3887-EE40-AA552F646D1A}"/>
              </a:ext>
            </a:extLst>
          </p:cNvPr>
          <p:cNvSpPr txBox="1">
            <a:spLocks noChangeArrowheads="1"/>
          </p:cNvSpPr>
          <p:nvPr/>
        </p:nvSpPr>
        <p:spPr bwMode="auto">
          <a:xfrm>
            <a:off x="4537075" y="6002338"/>
            <a:ext cx="1154113"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buClrTx/>
              <a:buFontTx/>
              <a:buNone/>
            </a:pPr>
            <a:r>
              <a:rPr lang="en-US" altLang="zh-CN" sz="900">
                <a:solidFill>
                  <a:schemeClr val="tx1"/>
                </a:solidFill>
                <a:ea typeface="宋体" panose="02010600030101010101" pitchFamily="2" charset="-122"/>
              </a:rPr>
              <a:t>Value</a:t>
            </a:r>
          </a:p>
        </p:txBody>
      </p:sp>
      <p:sp>
        <p:nvSpPr>
          <p:cNvPr id="7204" name="Line 36">
            <a:extLst>
              <a:ext uri="{FF2B5EF4-FFF2-40B4-BE49-F238E27FC236}">
                <a16:creationId xmlns:a16="http://schemas.microsoft.com/office/drawing/2014/main" id="{125CC7B8-9CDD-C806-F227-8A2F0320F9BA}"/>
              </a:ext>
            </a:extLst>
          </p:cNvPr>
          <p:cNvSpPr>
            <a:spLocks noChangeShapeType="1"/>
          </p:cNvSpPr>
          <p:nvPr/>
        </p:nvSpPr>
        <p:spPr bwMode="auto">
          <a:xfrm flipH="1">
            <a:off x="847725" y="2787650"/>
            <a:ext cx="5048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06" name="Line 38">
            <a:extLst>
              <a:ext uri="{FF2B5EF4-FFF2-40B4-BE49-F238E27FC236}">
                <a16:creationId xmlns:a16="http://schemas.microsoft.com/office/drawing/2014/main" id="{87B2C598-943A-4EE5-2270-C7BC1611F98F}"/>
              </a:ext>
            </a:extLst>
          </p:cNvPr>
          <p:cNvSpPr>
            <a:spLocks noChangeShapeType="1"/>
          </p:cNvSpPr>
          <p:nvPr/>
        </p:nvSpPr>
        <p:spPr bwMode="auto">
          <a:xfrm>
            <a:off x="2082800" y="3836988"/>
            <a:ext cx="0" cy="3286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07" name="Line 39">
            <a:extLst>
              <a:ext uri="{FF2B5EF4-FFF2-40B4-BE49-F238E27FC236}">
                <a16:creationId xmlns:a16="http://schemas.microsoft.com/office/drawing/2014/main" id="{780D6E60-2715-F992-4643-1FD298F77A99}"/>
              </a:ext>
            </a:extLst>
          </p:cNvPr>
          <p:cNvSpPr>
            <a:spLocks noChangeShapeType="1"/>
          </p:cNvSpPr>
          <p:nvPr/>
        </p:nvSpPr>
        <p:spPr bwMode="auto">
          <a:xfrm>
            <a:off x="2082800" y="4624388"/>
            <a:ext cx="0" cy="3286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08" name="Line 40">
            <a:extLst>
              <a:ext uri="{FF2B5EF4-FFF2-40B4-BE49-F238E27FC236}">
                <a16:creationId xmlns:a16="http://schemas.microsoft.com/office/drawing/2014/main" id="{8144601F-5009-A9C2-42B1-668041765EDF}"/>
              </a:ext>
            </a:extLst>
          </p:cNvPr>
          <p:cNvSpPr>
            <a:spLocks noChangeShapeType="1"/>
          </p:cNvSpPr>
          <p:nvPr/>
        </p:nvSpPr>
        <p:spPr bwMode="auto">
          <a:xfrm>
            <a:off x="2046288" y="5437188"/>
            <a:ext cx="0" cy="3270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09" name="Line 41">
            <a:extLst>
              <a:ext uri="{FF2B5EF4-FFF2-40B4-BE49-F238E27FC236}">
                <a16:creationId xmlns:a16="http://schemas.microsoft.com/office/drawing/2014/main" id="{580850DD-41C3-5162-EF5F-41340C0C7AC5}"/>
              </a:ext>
            </a:extLst>
          </p:cNvPr>
          <p:cNvSpPr>
            <a:spLocks noChangeShapeType="1"/>
          </p:cNvSpPr>
          <p:nvPr/>
        </p:nvSpPr>
        <p:spPr bwMode="auto">
          <a:xfrm flipV="1">
            <a:off x="6324600" y="5411788"/>
            <a:ext cx="0" cy="590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10" name="Line 42">
            <a:extLst>
              <a:ext uri="{FF2B5EF4-FFF2-40B4-BE49-F238E27FC236}">
                <a16:creationId xmlns:a16="http://schemas.microsoft.com/office/drawing/2014/main" id="{32D01754-71FF-D00F-32CD-3A6C3F75BCF2}"/>
              </a:ext>
            </a:extLst>
          </p:cNvPr>
          <p:cNvSpPr>
            <a:spLocks noChangeShapeType="1"/>
          </p:cNvSpPr>
          <p:nvPr/>
        </p:nvSpPr>
        <p:spPr bwMode="auto">
          <a:xfrm>
            <a:off x="838200" y="2787650"/>
            <a:ext cx="0" cy="32146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11" name="Line 43">
            <a:extLst>
              <a:ext uri="{FF2B5EF4-FFF2-40B4-BE49-F238E27FC236}">
                <a16:creationId xmlns:a16="http://schemas.microsoft.com/office/drawing/2014/main" id="{812DCDBF-8643-C9BE-20CD-70941EF0EE95}"/>
              </a:ext>
            </a:extLst>
          </p:cNvPr>
          <p:cNvSpPr>
            <a:spLocks noChangeShapeType="1"/>
          </p:cNvSpPr>
          <p:nvPr/>
        </p:nvSpPr>
        <p:spPr bwMode="auto">
          <a:xfrm>
            <a:off x="847725" y="6002338"/>
            <a:ext cx="431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13" name="Line 45">
            <a:extLst>
              <a:ext uri="{FF2B5EF4-FFF2-40B4-BE49-F238E27FC236}">
                <a16:creationId xmlns:a16="http://schemas.microsoft.com/office/drawing/2014/main" id="{BDA5AD1B-2A58-AD55-3C95-82759E9BC85D}"/>
              </a:ext>
            </a:extLst>
          </p:cNvPr>
          <p:cNvSpPr>
            <a:spLocks noChangeShapeType="1"/>
          </p:cNvSpPr>
          <p:nvPr/>
        </p:nvSpPr>
        <p:spPr bwMode="auto">
          <a:xfrm flipH="1">
            <a:off x="2828925" y="51816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14" name="Line 46">
            <a:extLst>
              <a:ext uri="{FF2B5EF4-FFF2-40B4-BE49-F238E27FC236}">
                <a16:creationId xmlns:a16="http://schemas.microsoft.com/office/drawing/2014/main" id="{934ADE66-6040-506B-A3F7-13CBE65BEADD}"/>
              </a:ext>
            </a:extLst>
          </p:cNvPr>
          <p:cNvSpPr>
            <a:spLocks noChangeShapeType="1"/>
          </p:cNvSpPr>
          <p:nvPr/>
        </p:nvSpPr>
        <p:spPr bwMode="auto">
          <a:xfrm flipH="1">
            <a:off x="4962525" y="51816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15" name="Line 47">
            <a:extLst>
              <a:ext uri="{FF2B5EF4-FFF2-40B4-BE49-F238E27FC236}">
                <a16:creationId xmlns:a16="http://schemas.microsoft.com/office/drawing/2014/main" id="{BEC4C55E-3EC1-D282-0793-8ED32A9CB4DE}"/>
              </a:ext>
            </a:extLst>
          </p:cNvPr>
          <p:cNvSpPr>
            <a:spLocks noChangeShapeType="1"/>
          </p:cNvSpPr>
          <p:nvPr/>
        </p:nvSpPr>
        <p:spPr bwMode="auto">
          <a:xfrm flipH="1">
            <a:off x="2819400" y="6010275"/>
            <a:ext cx="3505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A967DCF-B107-C9A8-F83E-E5B0AC362928}"/>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227CDD81-7E00-586D-1FA5-0018B1C40701}"/>
              </a:ext>
            </a:extLst>
          </p:cNvPr>
          <p:cNvSpPr>
            <a:spLocks noGrp="1"/>
          </p:cNvSpPr>
          <p:nvPr>
            <p:ph type="sldNum" sz="quarter" idx="11"/>
          </p:nvPr>
        </p:nvSpPr>
        <p:spPr/>
        <p:txBody>
          <a:bodyPr/>
          <a:lstStyle/>
          <a:p>
            <a:r>
              <a:rPr lang="zh-CN" altLang="en-US"/>
              <a:t> </a:t>
            </a:r>
            <a:r>
              <a:rPr lang="en-US" altLang="zh-CN"/>
              <a:t>- </a:t>
            </a:r>
            <a:fld id="{8A39A391-C38E-4C42-B4D9-414DE6FA7C05}" type="slidenum">
              <a:rPr lang="en-US" altLang="zh-CN" sz="800"/>
              <a:pPr/>
              <a:t>8</a:t>
            </a:fld>
            <a:endParaRPr lang="en-US" altLang="zh-CN" sz="800"/>
          </a:p>
        </p:txBody>
      </p:sp>
      <p:sp>
        <p:nvSpPr>
          <p:cNvPr id="32770" name="Rectangle 2">
            <a:extLst>
              <a:ext uri="{FF2B5EF4-FFF2-40B4-BE49-F238E27FC236}">
                <a16:creationId xmlns:a16="http://schemas.microsoft.com/office/drawing/2014/main" id="{A5BC62D5-59D2-9637-772C-0B3A78B81F43}"/>
              </a:ext>
            </a:extLst>
          </p:cNvPr>
          <p:cNvSpPr>
            <a:spLocks noGrp="1" noChangeArrowheads="1"/>
          </p:cNvSpPr>
          <p:nvPr>
            <p:ph type="title"/>
          </p:nvPr>
        </p:nvSpPr>
        <p:spPr/>
        <p:txBody>
          <a:bodyPr/>
          <a:lstStyle/>
          <a:p>
            <a:r>
              <a:rPr lang="en-US" altLang="zh-CN">
                <a:ea typeface="宋体" panose="02010600030101010101" pitchFamily="2" charset="-122"/>
              </a:rPr>
              <a:t>Security Elements: Assets</a:t>
            </a:r>
          </a:p>
        </p:txBody>
      </p:sp>
      <p:sp>
        <p:nvSpPr>
          <p:cNvPr id="32771" name="Rectangle 3">
            <a:extLst>
              <a:ext uri="{FF2B5EF4-FFF2-40B4-BE49-F238E27FC236}">
                <a16:creationId xmlns:a16="http://schemas.microsoft.com/office/drawing/2014/main" id="{152AEC3C-DF6A-D079-2F93-77CDFC67ECFD}"/>
              </a:ext>
            </a:extLst>
          </p:cNvPr>
          <p:cNvSpPr>
            <a:spLocks noGrp="1" noChangeArrowheads="1"/>
          </p:cNvSpPr>
          <p:nvPr>
            <p:ph type="body" idx="1"/>
          </p:nvPr>
        </p:nvSpPr>
        <p:spPr/>
        <p:txBody>
          <a:bodyPr/>
          <a:lstStyle/>
          <a:p>
            <a:pPr marL="495300" indent="-495300"/>
            <a:r>
              <a:rPr lang="zh-CN" altLang="en-US">
                <a:ea typeface="宋体" panose="02010600030101010101" pitchFamily="2" charset="-122"/>
              </a:rPr>
              <a:t>“</a:t>
            </a:r>
            <a:r>
              <a:rPr lang="en-US" altLang="zh-CN">
                <a:ea typeface="宋体" panose="02010600030101010101" pitchFamily="2" charset="-122"/>
              </a:rPr>
              <a:t>Information” – The most important asset 	</a:t>
            </a:r>
          </a:p>
          <a:p>
            <a:pPr marL="495300" indent="-495300"/>
            <a:r>
              <a:rPr lang="en-US" altLang="zh-CN">
                <a:ea typeface="宋体" panose="02010600030101010101" pitchFamily="2" charset="-122"/>
              </a:rPr>
              <a:t>Other assets</a:t>
            </a:r>
          </a:p>
          <a:p>
            <a:pPr marL="749300" lvl="1" indent="-400050"/>
            <a:r>
              <a:rPr lang="en-US" altLang="zh-CN">
                <a:ea typeface="宋体" panose="02010600030101010101" pitchFamily="2" charset="-122"/>
              </a:rPr>
              <a:t>Hardware, software, and network infrastructure</a:t>
            </a:r>
          </a:p>
          <a:p>
            <a:pPr marL="495300" indent="-495300"/>
            <a:r>
              <a:rPr lang="en-US" altLang="zh-CN">
                <a:ea typeface="宋体" panose="02010600030101010101" pitchFamily="2" charset="-122"/>
              </a:rPr>
              <a:t>Protecting assets is the primary concern </a:t>
            </a:r>
          </a:p>
          <a:p>
            <a:pPr marL="495300" indent="-495300"/>
            <a:r>
              <a:rPr lang="en-US" altLang="zh-CN">
                <a:ea typeface="宋体" panose="02010600030101010101" pitchFamily="2" charset="-122"/>
              </a:rPr>
              <a:t>Security mechanism considerations:</a:t>
            </a:r>
          </a:p>
          <a:p>
            <a:pPr marL="749300" lvl="1" indent="-400050"/>
            <a:r>
              <a:rPr lang="en-US" altLang="zh-CN">
                <a:ea typeface="宋体" panose="02010600030101010101" pitchFamily="2" charset="-122"/>
              </a:rPr>
              <a:t>Must provide easy access to information assets for authorized users</a:t>
            </a:r>
          </a:p>
          <a:p>
            <a:pPr marL="749300" lvl="1" indent="-400050"/>
            <a:r>
              <a:rPr lang="en-US" altLang="zh-CN">
                <a:ea typeface="宋体" panose="02010600030101010101" pitchFamily="2" charset="-122"/>
              </a:rPr>
              <a:t>Make it very difficult for potential attackers to access and compromise the system </a:t>
            </a:r>
          </a:p>
          <a:p>
            <a:pPr marL="749300" lvl="1" indent="-400050"/>
            <a:r>
              <a:rPr lang="en-US" altLang="zh-CN">
                <a:ea typeface="宋体" panose="02010600030101010101" pitchFamily="2" charset="-122"/>
              </a:rPr>
              <a:t>Should only cost a small fraction of the value of protected asset</a:t>
            </a:r>
          </a:p>
          <a:p>
            <a:pPr marL="749300" lvl="1" indent="-400050"/>
            <a:r>
              <a:rPr lang="en-US" altLang="zh-CN">
                <a:ea typeface="宋体" panose="02010600030101010101" pitchFamily="2" charset="-122"/>
              </a:rPr>
              <a:t>Should cost a potential attacker more, in terms of money and time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BA6ACE40-3087-C185-8D27-F53F7BAF711F}"/>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5">
            <a:extLst>
              <a:ext uri="{FF2B5EF4-FFF2-40B4-BE49-F238E27FC236}">
                <a16:creationId xmlns:a16="http://schemas.microsoft.com/office/drawing/2014/main" id="{8CCBB72A-9615-1EF5-FE8A-D05E211FDB59}"/>
              </a:ext>
            </a:extLst>
          </p:cNvPr>
          <p:cNvSpPr>
            <a:spLocks noGrp="1"/>
          </p:cNvSpPr>
          <p:nvPr>
            <p:ph type="sldNum" sz="quarter" idx="11"/>
          </p:nvPr>
        </p:nvSpPr>
        <p:spPr/>
        <p:txBody>
          <a:bodyPr/>
          <a:lstStyle/>
          <a:p>
            <a:r>
              <a:rPr lang="zh-CN" altLang="en-US"/>
              <a:t> </a:t>
            </a:r>
            <a:r>
              <a:rPr lang="en-US" altLang="zh-CN"/>
              <a:t>- </a:t>
            </a:r>
            <a:fld id="{BB1EADF1-3042-4B2D-8A4B-786521D791E4}" type="slidenum">
              <a:rPr lang="en-US" altLang="zh-CN" sz="800"/>
              <a:pPr/>
              <a:t>9</a:t>
            </a:fld>
            <a:endParaRPr lang="en-US" altLang="zh-CN" sz="800"/>
          </a:p>
        </p:txBody>
      </p:sp>
      <p:sp>
        <p:nvSpPr>
          <p:cNvPr id="34818" name="Rectangle 2">
            <a:extLst>
              <a:ext uri="{FF2B5EF4-FFF2-40B4-BE49-F238E27FC236}">
                <a16:creationId xmlns:a16="http://schemas.microsoft.com/office/drawing/2014/main" id="{076253C8-5150-6AD5-4AA8-CC56295D801F}"/>
              </a:ext>
            </a:extLst>
          </p:cNvPr>
          <p:cNvSpPr>
            <a:spLocks noGrp="1" noChangeArrowheads="1"/>
          </p:cNvSpPr>
          <p:nvPr>
            <p:ph type="title"/>
          </p:nvPr>
        </p:nvSpPr>
        <p:spPr/>
        <p:txBody>
          <a:bodyPr/>
          <a:lstStyle/>
          <a:p>
            <a:r>
              <a:rPr lang="en-US" altLang="zh-CN">
                <a:ea typeface="宋体" panose="02010600030101010101" pitchFamily="2" charset="-122"/>
              </a:rPr>
              <a:t>Security Elements: Threats</a:t>
            </a:r>
          </a:p>
        </p:txBody>
      </p:sp>
      <p:sp>
        <p:nvSpPr>
          <p:cNvPr id="34819" name="Rectangle 3">
            <a:extLst>
              <a:ext uri="{FF2B5EF4-FFF2-40B4-BE49-F238E27FC236}">
                <a16:creationId xmlns:a16="http://schemas.microsoft.com/office/drawing/2014/main" id="{7CD4A32C-D050-2D27-9327-A8D67AEFFDDC}"/>
              </a:ext>
            </a:extLst>
          </p:cNvPr>
          <p:cNvSpPr>
            <a:spLocks noGrp="1" noChangeArrowheads="1"/>
          </p:cNvSpPr>
          <p:nvPr>
            <p:ph type="body" sz="half" idx="1"/>
          </p:nvPr>
        </p:nvSpPr>
        <p:spPr/>
        <p:txBody>
          <a:bodyPr/>
          <a:lstStyle/>
          <a:p>
            <a:r>
              <a:rPr lang="en-US" altLang="zh-CN" sz="2100">
                <a:ea typeface="宋体" panose="02010600030101010101" pitchFamily="2" charset="-122"/>
              </a:rPr>
              <a:t>Potential attacks that can be carried out on an IT infrastructure</a:t>
            </a:r>
          </a:p>
          <a:p>
            <a:pPr lvl="1"/>
            <a:r>
              <a:rPr lang="en-US" altLang="zh-CN" sz="1900" i="1">
                <a:ea typeface="宋体" panose="02010600030101010101" pitchFamily="2" charset="-122"/>
              </a:rPr>
              <a:t>Passive </a:t>
            </a:r>
            <a:r>
              <a:rPr lang="en-US" altLang="zh-CN" sz="1900">
                <a:ea typeface="宋体" panose="02010600030101010101" pitchFamily="2" charset="-122"/>
              </a:rPr>
              <a:t>attacks</a:t>
            </a:r>
          </a:p>
          <a:p>
            <a:pPr lvl="2"/>
            <a:r>
              <a:rPr lang="en-US" altLang="zh-CN" sz="1600">
                <a:ea typeface="宋体" panose="02010600030101010101" pitchFamily="2" charset="-122"/>
              </a:rPr>
              <a:t>Attempts to gain unauthorized access into the system</a:t>
            </a:r>
          </a:p>
          <a:p>
            <a:pPr lvl="2"/>
            <a:r>
              <a:rPr lang="en-US" altLang="zh-CN" sz="1600">
                <a:ea typeface="宋体" panose="02010600030101010101" pitchFamily="2" charset="-122"/>
              </a:rPr>
              <a:t>Threats to confidentiality of information</a:t>
            </a:r>
          </a:p>
          <a:p>
            <a:pPr lvl="1"/>
            <a:r>
              <a:rPr lang="en-US" altLang="zh-CN" sz="1900" i="1">
                <a:ea typeface="宋体" panose="02010600030101010101" pitchFamily="2" charset="-122"/>
              </a:rPr>
              <a:t>Active </a:t>
            </a:r>
            <a:r>
              <a:rPr lang="en-US" altLang="zh-CN" sz="1900">
                <a:ea typeface="宋体" panose="02010600030101010101" pitchFamily="2" charset="-122"/>
              </a:rPr>
              <a:t>attacks </a:t>
            </a:r>
          </a:p>
          <a:p>
            <a:pPr lvl="2"/>
            <a:r>
              <a:rPr lang="en-US" altLang="zh-CN" sz="1600">
                <a:ea typeface="宋体" panose="02010600030101010101" pitchFamily="2" charset="-122"/>
              </a:rPr>
              <a:t>Data modification, Denial of Service (DoS), and repudiation attacks </a:t>
            </a:r>
          </a:p>
          <a:p>
            <a:pPr lvl="2"/>
            <a:r>
              <a:rPr lang="en-US" altLang="zh-CN" sz="1600">
                <a:ea typeface="宋体" panose="02010600030101010101" pitchFamily="2" charset="-122"/>
              </a:rPr>
              <a:t>Threats to data integrity and availability</a:t>
            </a:r>
          </a:p>
          <a:p>
            <a:endParaRPr lang="en-US" altLang="zh-CN" sz="2100">
              <a:ea typeface="宋体" panose="02010600030101010101" pitchFamily="2" charset="-122"/>
            </a:endParaRPr>
          </a:p>
        </p:txBody>
      </p:sp>
      <p:graphicFrame>
        <p:nvGraphicFramePr>
          <p:cNvPr id="34868" name="Group 52">
            <a:extLst>
              <a:ext uri="{FF2B5EF4-FFF2-40B4-BE49-F238E27FC236}">
                <a16:creationId xmlns:a16="http://schemas.microsoft.com/office/drawing/2014/main" id="{1328995A-B7C7-A564-FD16-86A15AFCE7DF}"/>
              </a:ext>
            </a:extLst>
          </p:cNvPr>
          <p:cNvGraphicFramePr>
            <a:graphicFrameLocks noGrp="1"/>
          </p:cNvGraphicFramePr>
          <p:nvPr>
            <p:ph sz="half" idx="2"/>
          </p:nvPr>
        </p:nvGraphicFramePr>
        <p:xfrm>
          <a:off x="895350" y="4851400"/>
          <a:ext cx="7562850" cy="1762125"/>
        </p:xfrm>
        <a:graphic>
          <a:graphicData uri="http://schemas.openxmlformats.org/drawingml/2006/table">
            <a:tbl>
              <a:tblPr/>
              <a:tblGrid>
                <a:gridCol w="1512888">
                  <a:extLst>
                    <a:ext uri="{9D8B030D-6E8A-4147-A177-3AD203B41FA5}">
                      <a16:colId xmlns:a16="http://schemas.microsoft.com/office/drawing/2014/main" val="180360963"/>
                    </a:ext>
                  </a:extLst>
                </a:gridCol>
                <a:gridCol w="1512887">
                  <a:extLst>
                    <a:ext uri="{9D8B030D-6E8A-4147-A177-3AD203B41FA5}">
                      <a16:colId xmlns:a16="http://schemas.microsoft.com/office/drawing/2014/main" val="2054099682"/>
                    </a:ext>
                  </a:extLst>
                </a:gridCol>
                <a:gridCol w="1511300">
                  <a:extLst>
                    <a:ext uri="{9D8B030D-6E8A-4147-A177-3AD203B41FA5}">
                      <a16:colId xmlns:a16="http://schemas.microsoft.com/office/drawing/2014/main" val="3768918790"/>
                    </a:ext>
                  </a:extLst>
                </a:gridCol>
                <a:gridCol w="1512888">
                  <a:extLst>
                    <a:ext uri="{9D8B030D-6E8A-4147-A177-3AD203B41FA5}">
                      <a16:colId xmlns:a16="http://schemas.microsoft.com/office/drawing/2014/main" val="4110777459"/>
                    </a:ext>
                  </a:extLst>
                </a:gridCol>
                <a:gridCol w="1512887">
                  <a:extLst>
                    <a:ext uri="{9D8B030D-6E8A-4147-A177-3AD203B41FA5}">
                      <a16:colId xmlns:a16="http://schemas.microsoft.com/office/drawing/2014/main" val="4222594719"/>
                    </a:ext>
                  </a:extLst>
                </a:gridCol>
              </a:tblGrid>
              <a:tr h="352425">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en-US" altLang="zh-CN" sz="1400" b="1"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Attack </a:t>
                      </a:r>
                    </a:p>
                  </a:txBody>
                  <a:tcPr marL="0" marR="0" marT="0" marB="0" anchor="ctr" anchorCtr="1"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solidFill>
                      <a:srgbClr val="DEDEDE"/>
                    </a:solid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en-US" altLang="zh-CN" sz="1400" b="1"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Confidentiality</a:t>
                      </a: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solidFill>
                      <a:srgbClr val="DEDEDE"/>
                    </a:solid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en-US" altLang="zh-CN" sz="1400" b="1"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Integrity</a:t>
                      </a: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solidFill>
                      <a:srgbClr val="DEDEDE"/>
                    </a:solid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en-US" altLang="zh-CN" sz="1400" b="1"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Availability</a:t>
                      </a: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solidFill>
                      <a:srgbClr val="DEDEDE"/>
                    </a:solid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en-US" altLang="zh-CN" sz="1400" b="1"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Accountability</a:t>
                      </a:r>
                    </a:p>
                  </a:txBody>
                  <a:tcPr marL="0" marR="0" marT="0" marB="0" anchor="ctr" anchorCtr="1"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solidFill>
                      <a:srgbClr val="DEDEDE"/>
                    </a:solidFill>
                  </a:tcPr>
                </a:tc>
                <a:extLst>
                  <a:ext uri="{0D108BD9-81ED-4DB2-BD59-A6C34878D82A}">
                    <a16:rowId xmlns:a16="http://schemas.microsoft.com/office/drawing/2014/main" val="2196599766"/>
                  </a:ext>
                </a:extLst>
              </a:tr>
              <a:tr h="352425">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en-US" altLang="zh-CN"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Access</a:t>
                      </a:r>
                    </a:p>
                  </a:txBody>
                  <a:tcPr marL="0" marR="0" marT="0" marB="0" anchor="ctr" anchorCtr="1"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zh-CN" altLang="en-US" sz="18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t>
                      </a: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endParaRPr kumimoji="0" lang="zh-CN" altLang="en-US"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endParaRPr kumimoji="0" lang="zh-CN" altLang="en-US"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zh-CN" altLang="en-US" sz="18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t>
                      </a:r>
                    </a:p>
                  </a:txBody>
                  <a:tcPr marL="0" marR="0" marT="0" marB="0" anchor="ctr" anchorCtr="1"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2911573946"/>
                  </a:ext>
                </a:extLst>
              </a:tr>
              <a:tr h="352425">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en-US" altLang="zh-CN"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Modification</a:t>
                      </a:r>
                    </a:p>
                  </a:txBody>
                  <a:tcPr marL="0" marR="0" marT="0" marB="0" anchor="ctr" anchorCtr="1"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zh-CN" altLang="en-US" sz="18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t>
                      </a: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zh-CN" altLang="en-US" sz="18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t>
                      </a: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endParaRPr kumimoji="0" lang="zh-CN" altLang="en-US"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zh-CN" altLang="en-US" sz="18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t>
                      </a:r>
                    </a:p>
                  </a:txBody>
                  <a:tcPr marL="0" marR="0" marT="0" marB="0" anchor="ctr" anchorCtr="1"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3101307812"/>
                  </a:ext>
                </a:extLst>
              </a:tr>
              <a:tr h="352425">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en-US" altLang="zh-CN"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Denial of Service</a:t>
                      </a:r>
                    </a:p>
                  </a:txBody>
                  <a:tcPr marL="0" marR="0" marT="0" marB="0" anchor="ctr" anchorCtr="1"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endParaRPr kumimoji="0" lang="zh-CN" altLang="en-US"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endParaRPr kumimoji="0" lang="zh-CN" altLang="en-US"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zh-CN" altLang="en-US" sz="18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t>
                      </a: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endParaRPr kumimoji="0" lang="zh-CN" altLang="en-US"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nchorCtr="1"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790958974"/>
                  </a:ext>
                </a:extLst>
              </a:tr>
              <a:tr h="352425">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en-US" altLang="zh-CN"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Repudiation</a:t>
                      </a:r>
                    </a:p>
                  </a:txBody>
                  <a:tcPr marL="0" marR="0" marT="0" marB="0" anchor="ctr" anchorCtr="1"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endParaRPr kumimoji="0" lang="zh-CN" altLang="en-US"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zh-CN" altLang="en-US" sz="18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t>
                      </a: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endParaRPr kumimoji="0" lang="zh-CN" altLang="en-US" sz="14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endParaRPr>
                    </a:p>
                  </a:txBody>
                  <a:tcPr marL="0" marR="0" marT="0" marB="0" anchor="ctr" anchorCtr="1"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lgn="l" defTabSz="890588" eaLnBrk="0" hangingPunct="0">
                        <a:tabLst>
                          <a:tab pos="6985000" algn="l"/>
                          <a:tab pos="7185025" algn="l"/>
                          <a:tab pos="7837488" algn="l"/>
                        </a:tabLst>
                        <a:defRPr sz="2200">
                          <a:solidFill>
                            <a:schemeClr val="tx2"/>
                          </a:solidFill>
                          <a:latin typeface="Arial" panose="020B0604020202020204" pitchFamily="34" charset="0"/>
                          <a:cs typeface="Arial" panose="020B0604020202020204" pitchFamily="34" charset="0"/>
                        </a:defRPr>
                      </a:lvl1pPr>
                      <a:lvl2pPr marL="349250" algn="l" defTabSz="890588" eaLnBrk="0" hangingPunct="0">
                        <a:spcBef>
                          <a:spcPct val="25000"/>
                        </a:spcBef>
                        <a:buFont typeface="Times New Roman" panose="02020603050405020304" pitchFamily="18" charset="0"/>
                        <a:tabLst>
                          <a:tab pos="6985000" algn="l"/>
                          <a:tab pos="7185025" algn="l"/>
                          <a:tab pos="7837488" algn="l"/>
                        </a:tabLst>
                        <a:defRPr sz="1900">
                          <a:solidFill>
                            <a:schemeClr val="tx2"/>
                          </a:solidFill>
                          <a:latin typeface="Arial" panose="020B0604020202020204" pitchFamily="34" charset="0"/>
                          <a:cs typeface="Arial" panose="020B0604020202020204" pitchFamily="34" charset="0"/>
                        </a:defRPr>
                      </a:lvl2pPr>
                      <a:lvl3pPr marL="685800" algn="l" defTabSz="890588" eaLnBrk="0" hangingPunct="0">
                        <a:spcBef>
                          <a:spcPct val="25000"/>
                        </a:spcBef>
                        <a:tabLst>
                          <a:tab pos="6985000" algn="l"/>
                          <a:tab pos="7185025" algn="l"/>
                          <a:tab pos="7837488" algn="l"/>
                        </a:tabLst>
                        <a:defRPr sz="1700">
                          <a:solidFill>
                            <a:schemeClr val="tx2"/>
                          </a:solidFill>
                          <a:latin typeface="Arial" panose="020B0604020202020204" pitchFamily="34" charset="0"/>
                          <a:cs typeface="Arial" panose="020B0604020202020204" pitchFamily="34" charset="0"/>
                        </a:defRPr>
                      </a:lvl3pPr>
                      <a:lvl4pPr marL="1022350" algn="l" defTabSz="890588" eaLnBrk="0" hangingPunct="0">
                        <a:spcBef>
                          <a:spcPct val="25000"/>
                        </a:spcBef>
                        <a:tabLst>
                          <a:tab pos="6985000" algn="l"/>
                          <a:tab pos="7185025" algn="l"/>
                          <a:tab pos="7837488" algn="l"/>
                        </a:tabLst>
                        <a:defRPr sz="1400">
                          <a:solidFill>
                            <a:schemeClr val="tx2"/>
                          </a:solidFill>
                          <a:latin typeface="Arial" panose="020B0604020202020204" pitchFamily="34" charset="0"/>
                          <a:cs typeface="Arial" panose="020B0604020202020204" pitchFamily="34" charset="0"/>
                        </a:defRPr>
                      </a:lvl4pPr>
                      <a:lvl5pPr marL="1371600" algn="l" defTabSz="890588" eaLnBrk="0" hangingPunct="0">
                        <a:spcBef>
                          <a:spcPct val="25000"/>
                        </a:spcBef>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5pPr>
                      <a:lvl6pPr marL="18288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6pPr>
                      <a:lvl7pPr marL="22860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7pPr>
                      <a:lvl8pPr marL="27432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8pPr>
                      <a:lvl9pPr marL="3200400" defTabSz="890588" eaLnBrk="0" fontAlgn="base" hangingPunct="0">
                        <a:spcBef>
                          <a:spcPct val="25000"/>
                        </a:spcBef>
                        <a:spcAft>
                          <a:spcPct val="0"/>
                        </a:spcAft>
                        <a:buClr>
                          <a:srgbClr val="003580"/>
                        </a:buClr>
                        <a:buFont typeface="Wingdings" panose="05000000000000000000" pitchFamily="2" charset="2"/>
                        <a:tabLst>
                          <a:tab pos="6985000" algn="l"/>
                          <a:tab pos="7185025" algn="l"/>
                          <a:tab pos="7837488" algn="l"/>
                        </a:tabLst>
                        <a:defRPr sz="1200">
                          <a:solidFill>
                            <a:schemeClr val="tx2"/>
                          </a:solidFill>
                          <a:latin typeface="Arial" panose="020B0604020202020204" pitchFamily="34" charset="0"/>
                          <a:cs typeface="Arial" panose="020B0604020202020204" pitchFamily="34" charset="0"/>
                        </a:defRPr>
                      </a:lvl9pPr>
                    </a:lstStyle>
                    <a:p>
                      <a:pPr marL="0" marR="0" lvl="0" indent="0" algn="l" defTabSz="890588" rtl="0" eaLnBrk="0" fontAlgn="base" latinLnBrk="0" hangingPunct="0">
                        <a:lnSpc>
                          <a:spcPct val="100000"/>
                        </a:lnSpc>
                        <a:spcBef>
                          <a:spcPct val="50000"/>
                        </a:spcBef>
                        <a:spcAft>
                          <a:spcPct val="0"/>
                        </a:spcAft>
                        <a:buClr>
                          <a:srgbClr val="003580"/>
                        </a:buClr>
                        <a:buSzTx/>
                        <a:buFont typeface="Wingdings" panose="05000000000000000000" pitchFamily="2" charset="2"/>
                        <a:buNone/>
                        <a:tabLst>
                          <a:tab pos="6985000" algn="l"/>
                          <a:tab pos="7185025" algn="l"/>
                          <a:tab pos="7837488" algn="l"/>
                        </a:tabLst>
                      </a:pPr>
                      <a:r>
                        <a:rPr kumimoji="0" lang="zh-CN" altLang="en-US" sz="1800" b="0" i="0" u="none" strike="noStrike" cap="none" normalizeH="0" baseline="0">
                          <a:ln>
                            <a:noFill/>
                          </a:ln>
                          <a:solidFill>
                            <a:schemeClr val="tx2"/>
                          </a:solidFill>
                          <a:effectLst/>
                          <a:latin typeface="Arial" panose="020B0604020202020204" pitchFamily="34" charset="0"/>
                          <a:ea typeface="宋体" panose="02010600030101010101" pitchFamily="2" charset="-122"/>
                          <a:cs typeface="Arial" panose="020B0604020202020204" pitchFamily="34" charset="0"/>
                        </a:rPr>
                        <a:t>√</a:t>
                      </a:r>
                    </a:p>
                  </a:txBody>
                  <a:tcPr marL="0" marR="0" marT="0" marB="0" anchor="ctr" anchorCtr="1"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3915453124"/>
                  </a:ext>
                </a:extLst>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6B4850D6-BA5C-1D63-5E8B-087D6DFE8998}"/>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BFB3C4E9-E617-A86A-51B6-A82E9EC4D2BF}"/>
              </a:ext>
            </a:extLst>
          </p:cNvPr>
          <p:cNvSpPr>
            <a:spLocks noGrp="1"/>
          </p:cNvSpPr>
          <p:nvPr>
            <p:ph type="sldNum" sz="quarter" idx="11"/>
          </p:nvPr>
        </p:nvSpPr>
        <p:spPr/>
        <p:txBody>
          <a:bodyPr/>
          <a:lstStyle/>
          <a:p>
            <a:r>
              <a:rPr lang="zh-CN" altLang="en-US"/>
              <a:t> </a:t>
            </a:r>
            <a:r>
              <a:rPr lang="en-US" altLang="zh-CN"/>
              <a:t>- </a:t>
            </a:r>
            <a:fld id="{F563DAD4-1ACC-4D11-B928-142E9D9F1D9F}" type="slidenum">
              <a:rPr lang="en-US" altLang="zh-CN" sz="800"/>
              <a:pPr/>
              <a:t>10</a:t>
            </a:fld>
            <a:endParaRPr lang="en-US" altLang="zh-CN" sz="800"/>
          </a:p>
        </p:txBody>
      </p:sp>
      <p:sp>
        <p:nvSpPr>
          <p:cNvPr id="36866" name="Rectangle 2">
            <a:extLst>
              <a:ext uri="{FF2B5EF4-FFF2-40B4-BE49-F238E27FC236}">
                <a16:creationId xmlns:a16="http://schemas.microsoft.com/office/drawing/2014/main" id="{FE1CEE51-B607-787B-05FB-0F8B07FBC147}"/>
              </a:ext>
            </a:extLst>
          </p:cNvPr>
          <p:cNvSpPr>
            <a:spLocks noGrp="1" noChangeArrowheads="1"/>
          </p:cNvSpPr>
          <p:nvPr>
            <p:ph type="title"/>
          </p:nvPr>
        </p:nvSpPr>
        <p:spPr/>
        <p:txBody>
          <a:bodyPr/>
          <a:lstStyle/>
          <a:p>
            <a:r>
              <a:rPr lang="en-US" altLang="zh-CN">
                <a:ea typeface="宋体" panose="02010600030101010101" pitchFamily="2" charset="-122"/>
              </a:rPr>
              <a:t>Security Elements: Vulnerabilities</a:t>
            </a:r>
          </a:p>
        </p:txBody>
      </p:sp>
      <p:sp>
        <p:nvSpPr>
          <p:cNvPr id="36867" name="Rectangle 3">
            <a:extLst>
              <a:ext uri="{FF2B5EF4-FFF2-40B4-BE49-F238E27FC236}">
                <a16:creationId xmlns:a16="http://schemas.microsoft.com/office/drawing/2014/main" id="{1DC3CF56-11D0-BC7A-21AD-01DDF5DE205D}"/>
              </a:ext>
            </a:extLst>
          </p:cNvPr>
          <p:cNvSpPr>
            <a:spLocks noGrp="1" noChangeArrowheads="1"/>
          </p:cNvSpPr>
          <p:nvPr>
            <p:ph type="body" idx="1"/>
          </p:nvPr>
        </p:nvSpPr>
        <p:spPr/>
        <p:txBody>
          <a:bodyPr/>
          <a:lstStyle/>
          <a:p>
            <a:r>
              <a:rPr lang="en-US" altLang="zh-CN">
                <a:ea typeface="宋体" panose="02010600030101010101" pitchFamily="2" charset="-122"/>
              </a:rPr>
              <a:t>Vulnerabilities can occur anywhere in the system</a:t>
            </a:r>
          </a:p>
          <a:p>
            <a:pPr lvl="1"/>
            <a:r>
              <a:rPr lang="en-US" altLang="zh-CN">
                <a:ea typeface="宋体" panose="02010600030101010101" pitchFamily="2" charset="-122"/>
              </a:rPr>
              <a:t>An attacker can bypass controls implemented at a single point in the system</a:t>
            </a:r>
          </a:p>
          <a:p>
            <a:pPr lvl="1"/>
            <a:r>
              <a:rPr lang="en-US" altLang="zh-CN">
                <a:ea typeface="宋体" panose="02010600030101010101" pitchFamily="2" charset="-122"/>
              </a:rPr>
              <a:t>Requires “defense in depth”</a:t>
            </a:r>
          </a:p>
          <a:p>
            <a:r>
              <a:rPr lang="en-US" altLang="zh-CN">
                <a:ea typeface="宋体" panose="02010600030101010101" pitchFamily="2" charset="-122"/>
              </a:rPr>
              <a:t>Failure anywhere in the system can jeopardize the security of information assets</a:t>
            </a:r>
          </a:p>
          <a:p>
            <a:pPr lvl="1"/>
            <a:r>
              <a:rPr lang="en-US" altLang="zh-CN">
                <a:ea typeface="宋体" panose="02010600030101010101" pitchFamily="2" charset="-122"/>
              </a:rPr>
              <a:t>Loss of </a:t>
            </a:r>
            <a:r>
              <a:rPr lang="en-US" altLang="zh-CN" u="sng">
                <a:ea typeface="宋体" panose="02010600030101010101" pitchFamily="2" charset="-122"/>
              </a:rPr>
              <a:t>authentication</a:t>
            </a:r>
            <a:r>
              <a:rPr lang="en-US" altLang="zh-CN">
                <a:ea typeface="宋体" panose="02010600030101010101" pitchFamily="2" charset="-122"/>
              </a:rPr>
              <a:t> may jeopardize confidentiality</a:t>
            </a:r>
          </a:p>
          <a:p>
            <a:pPr lvl="1"/>
            <a:r>
              <a:rPr lang="en-US" altLang="zh-CN">
                <a:ea typeface="宋体" panose="02010600030101010101" pitchFamily="2" charset="-122"/>
              </a:rPr>
              <a:t>Loss of a </a:t>
            </a:r>
            <a:r>
              <a:rPr lang="en-US" altLang="zh-CN" u="sng">
                <a:ea typeface="宋体" panose="02010600030101010101" pitchFamily="2" charset="-122"/>
              </a:rPr>
              <a:t>device</a:t>
            </a:r>
            <a:r>
              <a:rPr lang="en-US" altLang="zh-CN">
                <a:ea typeface="宋体" panose="02010600030101010101" pitchFamily="2" charset="-122"/>
              </a:rPr>
              <a:t> jeopardizes availability</a:t>
            </a:r>
          </a:p>
          <a:p>
            <a:endParaRPr lang="en-US" altLang="zh-CN">
              <a:ea typeface="宋体" panose="02010600030101010101" pitchFamily="2" charset="-122"/>
            </a:endParaRPr>
          </a:p>
          <a:p>
            <a:pPr lvl="1"/>
            <a:endParaRPr lang="zh-CN" altLang="en-US">
              <a:ea typeface="宋体" panose="0201060003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CDAAAFC-A4D2-545A-3641-DCA462327AA6}"/>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9BE5E125-DABB-D77B-0E05-D2CBDEA1650A}"/>
              </a:ext>
            </a:extLst>
          </p:cNvPr>
          <p:cNvSpPr>
            <a:spLocks noGrp="1"/>
          </p:cNvSpPr>
          <p:nvPr>
            <p:ph type="sldNum" sz="quarter" idx="11"/>
          </p:nvPr>
        </p:nvSpPr>
        <p:spPr/>
        <p:txBody>
          <a:bodyPr/>
          <a:lstStyle/>
          <a:p>
            <a:r>
              <a:rPr lang="zh-CN" altLang="en-US"/>
              <a:t> </a:t>
            </a:r>
            <a:r>
              <a:rPr lang="en-US" altLang="zh-CN"/>
              <a:t>- </a:t>
            </a:r>
            <a:fld id="{98870DAC-12AB-424F-A0DB-DB37726D0684}" type="slidenum">
              <a:rPr lang="en-US" altLang="zh-CN" sz="800"/>
              <a:pPr/>
              <a:t>11</a:t>
            </a:fld>
            <a:endParaRPr lang="en-US" altLang="zh-CN" sz="800"/>
          </a:p>
        </p:txBody>
      </p:sp>
      <p:sp>
        <p:nvSpPr>
          <p:cNvPr id="38914" name="Rectangle 2">
            <a:extLst>
              <a:ext uri="{FF2B5EF4-FFF2-40B4-BE49-F238E27FC236}">
                <a16:creationId xmlns:a16="http://schemas.microsoft.com/office/drawing/2014/main" id="{6C9CDE6C-78A2-5EDC-E435-3A9E714D1E30}"/>
              </a:ext>
            </a:extLst>
          </p:cNvPr>
          <p:cNvSpPr>
            <a:spLocks noGrp="1" noChangeArrowheads="1"/>
          </p:cNvSpPr>
          <p:nvPr>
            <p:ph type="title"/>
          </p:nvPr>
        </p:nvSpPr>
        <p:spPr/>
        <p:txBody>
          <a:bodyPr/>
          <a:lstStyle/>
          <a:p>
            <a:r>
              <a:rPr lang="en-US" altLang="zh-CN">
                <a:ea typeface="宋体" panose="02010600030101010101" pitchFamily="2" charset="-122"/>
              </a:rPr>
              <a:t>Security Elements: Vulnerabilities (cont.)</a:t>
            </a:r>
          </a:p>
        </p:txBody>
      </p:sp>
      <p:sp>
        <p:nvSpPr>
          <p:cNvPr id="38915" name="Rectangle 3">
            <a:extLst>
              <a:ext uri="{FF2B5EF4-FFF2-40B4-BE49-F238E27FC236}">
                <a16:creationId xmlns:a16="http://schemas.microsoft.com/office/drawing/2014/main" id="{BB820F2F-8A40-B826-F0D8-55F4F282104A}"/>
              </a:ext>
            </a:extLst>
          </p:cNvPr>
          <p:cNvSpPr>
            <a:spLocks noGrp="1" noChangeArrowheads="1"/>
          </p:cNvSpPr>
          <p:nvPr>
            <p:ph type="body" idx="1"/>
          </p:nvPr>
        </p:nvSpPr>
        <p:spPr/>
        <p:txBody>
          <a:bodyPr/>
          <a:lstStyle/>
          <a:p>
            <a:pPr marL="495300" indent="-495300">
              <a:lnSpc>
                <a:spcPct val="90000"/>
              </a:lnSpc>
            </a:pPr>
            <a:r>
              <a:rPr lang="en-US" altLang="zh-CN">
                <a:ea typeface="宋体" panose="02010600030101010101" pitchFamily="2" charset="-122"/>
              </a:rPr>
              <a:t>Understanding Vulnerabilities </a:t>
            </a:r>
          </a:p>
          <a:p>
            <a:pPr marL="749300" lvl="1" indent="-400050">
              <a:lnSpc>
                <a:spcPct val="90000"/>
              </a:lnSpc>
            </a:pPr>
            <a:r>
              <a:rPr lang="en-US" altLang="zh-CN">
                <a:ea typeface="宋体" panose="02010600030101010101" pitchFamily="2" charset="-122"/>
              </a:rPr>
              <a:t>Attack surface</a:t>
            </a:r>
          </a:p>
          <a:p>
            <a:pPr marL="1047750" lvl="2" indent="-361950">
              <a:lnSpc>
                <a:spcPct val="90000"/>
              </a:lnSpc>
            </a:pPr>
            <a:r>
              <a:rPr lang="en-US" altLang="zh-CN">
                <a:ea typeface="宋体" panose="02010600030101010101" pitchFamily="2" charset="-122"/>
              </a:rPr>
              <a:t>Refers to various access points/interfaces that an attacker can use to launch an attack</a:t>
            </a:r>
          </a:p>
          <a:p>
            <a:pPr marL="749300" lvl="1" indent="-400050">
              <a:lnSpc>
                <a:spcPct val="90000"/>
              </a:lnSpc>
            </a:pPr>
            <a:r>
              <a:rPr lang="en-US" altLang="zh-CN">
                <a:ea typeface="宋体" panose="02010600030101010101" pitchFamily="2" charset="-122"/>
              </a:rPr>
              <a:t>Attack vectors</a:t>
            </a:r>
          </a:p>
          <a:p>
            <a:pPr marL="1047750" lvl="2" indent="-361950">
              <a:lnSpc>
                <a:spcPct val="90000"/>
              </a:lnSpc>
            </a:pPr>
            <a:r>
              <a:rPr lang="en-US" altLang="zh-CN">
                <a:ea typeface="宋体" panose="02010600030101010101" pitchFamily="2" charset="-122"/>
              </a:rPr>
              <a:t>Series of steps necessary to launch an attack</a:t>
            </a:r>
          </a:p>
          <a:p>
            <a:pPr marL="749300" lvl="1" indent="-400050">
              <a:lnSpc>
                <a:spcPct val="90000"/>
              </a:lnSpc>
            </a:pPr>
            <a:r>
              <a:rPr lang="en-US" altLang="zh-CN">
                <a:ea typeface="宋体" panose="02010600030101010101" pitchFamily="2" charset="-122"/>
              </a:rPr>
              <a:t>Work factor </a:t>
            </a:r>
          </a:p>
          <a:p>
            <a:pPr marL="1047750" lvl="2" indent="-361950">
              <a:lnSpc>
                <a:spcPct val="90000"/>
              </a:lnSpc>
            </a:pPr>
            <a:r>
              <a:rPr lang="en-US" altLang="zh-CN">
                <a:ea typeface="宋体" panose="02010600030101010101" pitchFamily="2" charset="-122"/>
              </a:rPr>
              <a:t>Amount of time and effort required to exploit an attack vector</a:t>
            </a:r>
          </a:p>
          <a:p>
            <a:pPr marL="495300" indent="-495300">
              <a:lnSpc>
                <a:spcPct val="90000"/>
              </a:lnSpc>
            </a:pPr>
            <a:r>
              <a:rPr lang="en-US" altLang="zh-CN">
                <a:ea typeface="宋体" panose="02010600030101010101" pitchFamily="2" charset="-122"/>
              </a:rPr>
              <a:t>Solution to protect critical assets:</a:t>
            </a:r>
            <a:endParaRPr lang="en-US" altLang="zh-CN" b="1">
              <a:ea typeface="宋体" panose="02010600030101010101" pitchFamily="2" charset="-122"/>
            </a:endParaRPr>
          </a:p>
          <a:p>
            <a:pPr marL="749300" lvl="1" indent="-400050">
              <a:lnSpc>
                <a:spcPct val="90000"/>
              </a:lnSpc>
            </a:pPr>
            <a:r>
              <a:rPr lang="en-US" altLang="zh-CN">
                <a:ea typeface="宋体" panose="02010600030101010101" pitchFamily="2" charset="-122"/>
              </a:rPr>
              <a:t>Minimize the attack surface</a:t>
            </a:r>
          </a:p>
          <a:p>
            <a:pPr marL="749300" lvl="1" indent="-400050">
              <a:lnSpc>
                <a:spcPct val="90000"/>
              </a:lnSpc>
            </a:pPr>
            <a:r>
              <a:rPr lang="en-US" altLang="zh-CN">
                <a:ea typeface="宋体" panose="02010600030101010101" pitchFamily="2" charset="-122"/>
              </a:rPr>
              <a:t>Maximize the work factor</a:t>
            </a:r>
          </a:p>
          <a:p>
            <a:pPr marL="749300" lvl="1" indent="-400050">
              <a:lnSpc>
                <a:spcPct val="90000"/>
              </a:lnSpc>
            </a:pPr>
            <a:r>
              <a:rPr lang="en-US" altLang="zh-CN">
                <a:ea typeface="宋体" panose="02010600030101010101" pitchFamily="2" charset="-122"/>
              </a:rPr>
              <a:t>Manage vulnerabilities</a:t>
            </a:r>
          </a:p>
          <a:p>
            <a:pPr marL="1047750" lvl="2" indent="-361950">
              <a:lnSpc>
                <a:spcPct val="90000"/>
              </a:lnSpc>
            </a:pPr>
            <a:r>
              <a:rPr lang="en-US" altLang="zh-CN">
                <a:ea typeface="宋体" panose="02010600030101010101" pitchFamily="2" charset="-122"/>
              </a:rPr>
              <a:t>Detect and remove the vulnerabilities, or </a:t>
            </a:r>
          </a:p>
          <a:p>
            <a:pPr marL="1047750" lvl="2" indent="-361950">
              <a:lnSpc>
                <a:spcPct val="90000"/>
              </a:lnSpc>
            </a:pPr>
            <a:r>
              <a:rPr lang="en-US" altLang="zh-CN">
                <a:ea typeface="宋体" panose="02010600030101010101" pitchFamily="2" charset="-122"/>
              </a:rPr>
              <a:t>Install countermeasures to lessen the impact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2A58307-6C21-0A15-85DA-5F74EAEFBEC7}"/>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4FD4ED67-3473-3559-2E66-C3351C4D1006}"/>
              </a:ext>
            </a:extLst>
          </p:cNvPr>
          <p:cNvSpPr>
            <a:spLocks noGrp="1"/>
          </p:cNvSpPr>
          <p:nvPr>
            <p:ph type="sldNum" sz="quarter" idx="11"/>
          </p:nvPr>
        </p:nvSpPr>
        <p:spPr/>
        <p:txBody>
          <a:bodyPr/>
          <a:lstStyle/>
          <a:p>
            <a:r>
              <a:rPr lang="zh-CN" altLang="en-US"/>
              <a:t> </a:t>
            </a:r>
            <a:r>
              <a:rPr lang="en-US" altLang="zh-CN"/>
              <a:t>- </a:t>
            </a:r>
            <a:fld id="{158B414B-2DBB-4735-A94D-14619350C30D}" type="slidenum">
              <a:rPr lang="en-US" altLang="zh-CN" sz="800"/>
              <a:pPr/>
              <a:t>12</a:t>
            </a:fld>
            <a:endParaRPr lang="en-US" altLang="zh-CN" sz="800"/>
          </a:p>
        </p:txBody>
      </p:sp>
      <p:sp>
        <p:nvSpPr>
          <p:cNvPr id="132098" name="Rectangle 2">
            <a:extLst>
              <a:ext uri="{FF2B5EF4-FFF2-40B4-BE49-F238E27FC236}">
                <a16:creationId xmlns:a16="http://schemas.microsoft.com/office/drawing/2014/main" id="{7A4D3093-CA56-700C-A619-118E263D40B7}"/>
              </a:ext>
            </a:extLst>
          </p:cNvPr>
          <p:cNvSpPr>
            <a:spLocks noGrp="1" noChangeArrowheads="1"/>
          </p:cNvSpPr>
          <p:nvPr>
            <p:ph type="title"/>
          </p:nvPr>
        </p:nvSpPr>
        <p:spPr/>
        <p:txBody>
          <a:bodyPr/>
          <a:lstStyle/>
          <a:p>
            <a:r>
              <a:rPr lang="en-US" altLang="zh-CN">
                <a:ea typeface="宋体" panose="02010600030101010101" pitchFamily="2" charset="-122"/>
              </a:rPr>
              <a:t>Countermeasures to Vulnerability </a:t>
            </a:r>
          </a:p>
        </p:txBody>
      </p:sp>
      <p:sp>
        <p:nvSpPr>
          <p:cNvPr id="132099" name="Rectangle 3">
            <a:extLst>
              <a:ext uri="{FF2B5EF4-FFF2-40B4-BE49-F238E27FC236}">
                <a16:creationId xmlns:a16="http://schemas.microsoft.com/office/drawing/2014/main" id="{9CE8F3AC-4FFD-B804-754B-6B7CA71100B8}"/>
              </a:ext>
            </a:extLst>
          </p:cNvPr>
          <p:cNvSpPr>
            <a:spLocks noGrp="1" noChangeArrowheads="1"/>
          </p:cNvSpPr>
          <p:nvPr>
            <p:ph type="body" idx="1"/>
          </p:nvPr>
        </p:nvSpPr>
        <p:spPr/>
        <p:txBody>
          <a:bodyPr/>
          <a:lstStyle/>
          <a:p>
            <a:r>
              <a:rPr lang="en-US" altLang="zh-CN">
                <a:ea typeface="宋体" panose="02010600030101010101" pitchFamily="2" charset="-122"/>
              </a:rPr>
              <a:t>Implement countermeasures (</a:t>
            </a:r>
            <a:r>
              <a:rPr lang="en-US" altLang="zh-CN" i="1">
                <a:ea typeface="宋体" panose="02010600030101010101" pitchFamily="2" charset="-122"/>
              </a:rPr>
              <a:t> </a:t>
            </a:r>
            <a:r>
              <a:rPr lang="en-US" altLang="zh-CN">
                <a:ea typeface="宋体" panose="02010600030101010101" pitchFamily="2" charset="-122"/>
              </a:rPr>
              <a:t>safeguards, or controls) in order to lessen the impact of  vulnerabilities</a:t>
            </a:r>
          </a:p>
          <a:p>
            <a:r>
              <a:rPr lang="en-US" altLang="zh-CN">
                <a:ea typeface="宋体" panose="02010600030101010101" pitchFamily="2" charset="-122"/>
              </a:rPr>
              <a:t>Controls are technical or non-technical</a:t>
            </a:r>
          </a:p>
          <a:p>
            <a:pPr lvl="1"/>
            <a:r>
              <a:rPr lang="en-US" altLang="zh-CN">
                <a:ea typeface="宋体" panose="02010600030101010101" pitchFamily="2" charset="-122"/>
              </a:rPr>
              <a:t>Technical</a:t>
            </a:r>
          </a:p>
          <a:p>
            <a:pPr lvl="2"/>
            <a:r>
              <a:rPr lang="en-US" altLang="zh-CN">
                <a:ea typeface="宋体" panose="02010600030101010101" pitchFamily="2" charset="-122"/>
              </a:rPr>
              <a:t>implemented in computer hardware, software, or firmware</a:t>
            </a:r>
          </a:p>
          <a:p>
            <a:pPr lvl="1"/>
            <a:r>
              <a:rPr lang="en-US" altLang="zh-CN">
                <a:ea typeface="宋体" panose="02010600030101010101" pitchFamily="2" charset="-122"/>
              </a:rPr>
              <a:t>Non-technical</a:t>
            </a:r>
          </a:p>
          <a:p>
            <a:pPr lvl="2"/>
            <a:r>
              <a:rPr lang="en-US" altLang="zh-CN">
                <a:ea typeface="宋体" panose="02010600030101010101" pitchFamily="2" charset="-122"/>
              </a:rPr>
              <a:t>Administrative (policies, standards)</a:t>
            </a:r>
          </a:p>
          <a:p>
            <a:pPr lvl="2"/>
            <a:r>
              <a:rPr lang="en-US" altLang="zh-CN">
                <a:ea typeface="宋体" panose="02010600030101010101" pitchFamily="2" charset="-122"/>
              </a:rPr>
              <a:t>Physical (guards, gates)</a:t>
            </a:r>
          </a:p>
          <a:p>
            <a:r>
              <a:rPr lang="en-US" altLang="zh-CN">
                <a:ea typeface="宋体" panose="02010600030101010101" pitchFamily="2" charset="-122"/>
              </a:rPr>
              <a:t>Controls provide different functions</a:t>
            </a:r>
          </a:p>
          <a:p>
            <a:pPr lvl="1"/>
            <a:r>
              <a:rPr lang="en-US" altLang="zh-CN">
                <a:ea typeface="宋体" panose="02010600030101010101" pitchFamily="2" charset="-122"/>
              </a:rPr>
              <a:t>Preventive</a:t>
            </a:r>
          </a:p>
          <a:p>
            <a:pPr lvl="1"/>
            <a:r>
              <a:rPr lang="en-US" altLang="zh-CN">
                <a:ea typeface="宋体" panose="02010600030101010101" pitchFamily="2" charset="-122"/>
              </a:rPr>
              <a:t>Corrective</a:t>
            </a:r>
          </a:p>
          <a:p>
            <a:pPr lvl="1"/>
            <a:r>
              <a:rPr lang="en-US" altLang="zh-CN">
                <a:ea typeface="宋体" panose="02010600030101010101" pitchFamily="2" charset="-122"/>
              </a:rPr>
              <a:t>Detective</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9B7122FA-E9CC-ED09-FFFF-68BC600A82A5}"/>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D85E9644-97F7-41A5-0005-5016FB30C1F1}"/>
              </a:ext>
            </a:extLst>
          </p:cNvPr>
          <p:cNvSpPr>
            <a:spLocks noGrp="1"/>
          </p:cNvSpPr>
          <p:nvPr>
            <p:ph type="sldNum" sz="quarter" idx="11"/>
          </p:nvPr>
        </p:nvSpPr>
        <p:spPr/>
        <p:txBody>
          <a:bodyPr/>
          <a:lstStyle/>
          <a:p>
            <a:r>
              <a:rPr lang="zh-CN" altLang="en-US"/>
              <a:t> </a:t>
            </a:r>
            <a:r>
              <a:rPr lang="en-US" altLang="zh-CN"/>
              <a:t>- </a:t>
            </a:r>
            <a:fld id="{C112D0CE-CF3C-4C8A-85BD-2B96DD5415A9}" type="slidenum">
              <a:rPr lang="en-US" altLang="zh-CN" sz="800"/>
              <a:pPr/>
              <a:t>13</a:t>
            </a:fld>
            <a:endParaRPr lang="en-US" altLang="zh-CN" sz="800"/>
          </a:p>
        </p:txBody>
      </p:sp>
      <p:sp>
        <p:nvSpPr>
          <p:cNvPr id="69634" name="Rectangle 2">
            <a:extLst>
              <a:ext uri="{FF2B5EF4-FFF2-40B4-BE49-F238E27FC236}">
                <a16:creationId xmlns:a16="http://schemas.microsoft.com/office/drawing/2014/main" id="{77FFD130-68D1-3BDD-C792-CF1228471779}"/>
              </a:ext>
            </a:extLst>
          </p:cNvPr>
          <p:cNvSpPr>
            <a:spLocks noGrp="1" noChangeArrowheads="1"/>
          </p:cNvSpPr>
          <p:nvPr>
            <p:ph type="title"/>
          </p:nvPr>
        </p:nvSpPr>
        <p:spPr/>
        <p:txBody>
          <a:bodyPr/>
          <a:lstStyle/>
          <a:p>
            <a:r>
              <a:rPr lang="en-US" altLang="zh-CN">
                <a:solidFill>
                  <a:schemeClr val="tx1"/>
                </a:solidFill>
                <a:ea typeface="宋体" panose="02010600030101010101" pitchFamily="2" charset="-122"/>
              </a:rPr>
              <a:t>Lesson Summary</a:t>
            </a:r>
          </a:p>
        </p:txBody>
      </p:sp>
      <p:sp>
        <p:nvSpPr>
          <p:cNvPr id="69635" name="Rectangle 3">
            <a:extLst>
              <a:ext uri="{FF2B5EF4-FFF2-40B4-BE49-F238E27FC236}">
                <a16:creationId xmlns:a16="http://schemas.microsoft.com/office/drawing/2014/main" id="{62608232-7D74-B31C-6029-4AD972069436}"/>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Key topics covered in this lesson:</a:t>
            </a:r>
          </a:p>
          <a:p>
            <a:r>
              <a:rPr lang="en-US" altLang="zh-CN">
                <a:ea typeface="宋体" panose="02010600030101010101" pitchFamily="2" charset="-122"/>
              </a:rPr>
              <a:t>Storage security</a:t>
            </a:r>
          </a:p>
          <a:p>
            <a:r>
              <a:rPr lang="en-US" altLang="zh-CN">
                <a:ea typeface="宋体" panose="02010600030101010101" pitchFamily="2" charset="-122"/>
              </a:rPr>
              <a:t>Storage security framework</a:t>
            </a:r>
          </a:p>
          <a:p>
            <a:pPr lvl="1"/>
            <a:r>
              <a:rPr lang="en-US" altLang="zh-CN">
                <a:ea typeface="宋体" panose="02010600030101010101" pitchFamily="2" charset="-122"/>
              </a:rPr>
              <a:t>Security attributes</a:t>
            </a:r>
          </a:p>
          <a:p>
            <a:r>
              <a:rPr lang="en-US" altLang="zh-CN">
                <a:ea typeface="宋体" panose="02010600030101010101" pitchFamily="2" charset="-122"/>
              </a:rPr>
              <a:t>Security elements</a:t>
            </a:r>
          </a:p>
          <a:p>
            <a:r>
              <a:rPr lang="en-US" altLang="zh-CN">
                <a:ea typeface="宋体" panose="02010600030101010101" pitchFamily="2" charset="-122"/>
              </a:rPr>
              <a:t>Security controls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ADCAAD1-CC43-EEF0-36B8-B9AF983BC694}"/>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6C3324D2-948A-3F46-8E80-F955270BE550}"/>
              </a:ext>
            </a:extLst>
          </p:cNvPr>
          <p:cNvSpPr>
            <a:spLocks noGrp="1"/>
          </p:cNvSpPr>
          <p:nvPr>
            <p:ph type="sldNum" sz="quarter" idx="11"/>
          </p:nvPr>
        </p:nvSpPr>
        <p:spPr/>
        <p:txBody>
          <a:bodyPr/>
          <a:lstStyle/>
          <a:p>
            <a:r>
              <a:rPr lang="zh-CN" altLang="en-US"/>
              <a:t> </a:t>
            </a:r>
            <a:r>
              <a:rPr lang="en-US" altLang="zh-CN"/>
              <a:t>- </a:t>
            </a:r>
            <a:fld id="{1A28DBCF-58CE-4527-81F5-BBE42BFFBFCD}" type="slidenum">
              <a:rPr lang="en-US" altLang="zh-CN" sz="800"/>
              <a:pPr/>
              <a:t>14</a:t>
            </a:fld>
            <a:endParaRPr lang="en-US" altLang="zh-CN" sz="800"/>
          </a:p>
        </p:txBody>
      </p:sp>
      <p:sp>
        <p:nvSpPr>
          <p:cNvPr id="43010" name="Rectangle 2">
            <a:extLst>
              <a:ext uri="{FF2B5EF4-FFF2-40B4-BE49-F238E27FC236}">
                <a16:creationId xmlns:a16="http://schemas.microsoft.com/office/drawing/2014/main" id="{526410E4-CE20-2C62-713B-AD0B36E4D6C6}"/>
              </a:ext>
            </a:extLst>
          </p:cNvPr>
          <p:cNvSpPr>
            <a:spLocks noGrp="1" noChangeArrowheads="1"/>
          </p:cNvSpPr>
          <p:nvPr>
            <p:ph type="title"/>
          </p:nvPr>
        </p:nvSpPr>
        <p:spPr/>
        <p:txBody>
          <a:bodyPr/>
          <a:lstStyle/>
          <a:p>
            <a:r>
              <a:rPr lang="en-US" altLang="zh-CN">
                <a:ea typeface="宋体" panose="02010600030101010101" pitchFamily="2" charset="-122"/>
              </a:rPr>
              <a:t>Lesson: Storage Security Domains</a:t>
            </a:r>
          </a:p>
        </p:txBody>
      </p:sp>
      <p:sp>
        <p:nvSpPr>
          <p:cNvPr id="43011" name="Rectangle 3">
            <a:extLst>
              <a:ext uri="{FF2B5EF4-FFF2-40B4-BE49-F238E27FC236}">
                <a16:creationId xmlns:a16="http://schemas.microsoft.com/office/drawing/2014/main" id="{42537462-1D28-65A5-2AC6-6263B2108375}"/>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Upon completion of this lesson, you will be able to:</a:t>
            </a:r>
          </a:p>
          <a:p>
            <a:r>
              <a:rPr lang="en-US" altLang="zh-CN">
                <a:ea typeface="宋体" panose="02010600030101010101" pitchFamily="2" charset="-122"/>
              </a:rPr>
              <a:t>Describe the three security domains</a:t>
            </a:r>
          </a:p>
          <a:p>
            <a:pPr lvl="1"/>
            <a:r>
              <a:rPr lang="en-US" altLang="zh-CN">
                <a:ea typeface="宋体" panose="02010600030101010101" pitchFamily="2" charset="-122"/>
              </a:rPr>
              <a:t>Application</a:t>
            </a:r>
          </a:p>
          <a:p>
            <a:pPr lvl="1"/>
            <a:r>
              <a:rPr lang="en-US" altLang="zh-CN">
                <a:ea typeface="宋体" panose="02010600030101010101" pitchFamily="2" charset="-122"/>
              </a:rPr>
              <a:t>Management</a:t>
            </a:r>
          </a:p>
          <a:p>
            <a:pPr lvl="1"/>
            <a:r>
              <a:rPr lang="en-US" altLang="zh-CN">
                <a:ea typeface="宋体" panose="02010600030101010101" pitchFamily="2" charset="-122"/>
              </a:rPr>
              <a:t>Backup &amp; Data Storage</a:t>
            </a:r>
          </a:p>
          <a:p>
            <a:r>
              <a:rPr lang="en-US" altLang="zh-CN">
                <a:ea typeface="宋体" panose="02010600030101010101" pitchFamily="2" charset="-122"/>
              </a:rPr>
              <a:t>List the security threats in each domain </a:t>
            </a:r>
          </a:p>
          <a:p>
            <a:r>
              <a:rPr lang="en-US" altLang="zh-CN">
                <a:ea typeface="宋体" panose="02010600030101010101" pitchFamily="2" charset="-122"/>
              </a:rPr>
              <a:t>Describe the controls that can be applied</a:t>
            </a:r>
          </a:p>
          <a:p>
            <a:endParaRPr lang="zh-CN" altLang="en-US">
              <a:ea typeface="宋体" panose="02010600030101010101" pitchFamily="2" charset="-122"/>
            </a:endParaRPr>
          </a:p>
        </p:txBody>
      </p:sp>
      <p:pic>
        <p:nvPicPr>
          <p:cNvPr id="43012" name="Picture 4">
            <a:extLst>
              <a:ext uri="{FF2B5EF4-FFF2-40B4-BE49-F238E27FC236}">
                <a16:creationId xmlns:a16="http://schemas.microsoft.com/office/drawing/2014/main" id="{92F4ED4E-97C5-5211-CF97-092411B6D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057900"/>
            <a:ext cx="8839200" cy="5667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947E35AE-1F04-A78F-ED99-E244CA128AED}"/>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CDF24AC8-3F8C-33F7-0657-013F527E5D02}"/>
              </a:ext>
            </a:extLst>
          </p:cNvPr>
          <p:cNvSpPr>
            <a:spLocks noGrp="1"/>
          </p:cNvSpPr>
          <p:nvPr>
            <p:ph type="sldNum" sz="quarter" idx="11"/>
          </p:nvPr>
        </p:nvSpPr>
        <p:spPr/>
        <p:txBody>
          <a:bodyPr/>
          <a:lstStyle/>
          <a:p>
            <a:r>
              <a:rPr lang="zh-CN" altLang="en-US"/>
              <a:t> </a:t>
            </a:r>
            <a:r>
              <a:rPr lang="en-US" altLang="zh-CN"/>
              <a:t>- </a:t>
            </a:r>
            <a:fld id="{6D99C0BD-5644-48F9-9F4A-099F587D0CB4}" type="slidenum">
              <a:rPr lang="en-US" altLang="zh-CN" sz="800"/>
              <a:pPr/>
              <a:t>15</a:t>
            </a:fld>
            <a:endParaRPr lang="en-US" altLang="zh-CN" sz="800"/>
          </a:p>
        </p:txBody>
      </p:sp>
      <p:sp>
        <p:nvSpPr>
          <p:cNvPr id="45058" name="Rectangle 2">
            <a:extLst>
              <a:ext uri="{FF2B5EF4-FFF2-40B4-BE49-F238E27FC236}">
                <a16:creationId xmlns:a16="http://schemas.microsoft.com/office/drawing/2014/main" id="{5FD85391-1F9E-C993-1031-94137883421F}"/>
              </a:ext>
            </a:extLst>
          </p:cNvPr>
          <p:cNvSpPr>
            <a:spLocks noGrp="1" noChangeArrowheads="1"/>
          </p:cNvSpPr>
          <p:nvPr>
            <p:ph type="title"/>
          </p:nvPr>
        </p:nvSpPr>
        <p:spPr>
          <a:xfrm>
            <a:off x="47625" y="584200"/>
            <a:ext cx="4498975" cy="457200"/>
          </a:xfrm>
        </p:spPr>
        <p:txBody>
          <a:bodyPr/>
          <a:lstStyle/>
          <a:p>
            <a:r>
              <a:rPr lang="en-US" altLang="zh-CN">
                <a:ea typeface="宋体" panose="02010600030101010101" pitchFamily="2" charset="-122"/>
              </a:rPr>
              <a:t>Storage Security Domains</a:t>
            </a:r>
          </a:p>
        </p:txBody>
      </p:sp>
      <p:sp>
        <p:nvSpPr>
          <p:cNvPr id="45061" name="Oval 5">
            <a:extLst>
              <a:ext uri="{FF2B5EF4-FFF2-40B4-BE49-F238E27FC236}">
                <a16:creationId xmlns:a16="http://schemas.microsoft.com/office/drawing/2014/main" id="{EFD4657E-9DAB-7603-F10B-F4B6467FEF99}"/>
              </a:ext>
            </a:extLst>
          </p:cNvPr>
          <p:cNvSpPr>
            <a:spLocks noChangeArrowheads="1"/>
          </p:cNvSpPr>
          <p:nvPr/>
        </p:nvSpPr>
        <p:spPr bwMode="auto">
          <a:xfrm>
            <a:off x="2971800" y="2286000"/>
            <a:ext cx="4648200" cy="3048000"/>
          </a:xfrm>
          <a:prstGeom prst="ellipse">
            <a:avLst/>
          </a:prstGeom>
          <a:solidFill>
            <a:srgbClr val="C7BD8A"/>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bIns="0" anchor="b"/>
          <a:lstStyle/>
          <a:p>
            <a:pPr>
              <a:spcBef>
                <a:spcPct val="0"/>
              </a:spcBef>
              <a:buClrTx/>
              <a:buFontTx/>
              <a:buNone/>
            </a:pPr>
            <a:endParaRPr lang="zh-CN" altLang="en-US" sz="2000">
              <a:solidFill>
                <a:schemeClr val="tx1"/>
              </a:solidFill>
              <a:ea typeface="宋体" panose="02010600030101010101" pitchFamily="2" charset="-122"/>
            </a:endParaRPr>
          </a:p>
        </p:txBody>
      </p:sp>
      <p:grpSp>
        <p:nvGrpSpPr>
          <p:cNvPr id="45080" name="Group 24">
            <a:extLst>
              <a:ext uri="{FF2B5EF4-FFF2-40B4-BE49-F238E27FC236}">
                <a16:creationId xmlns:a16="http://schemas.microsoft.com/office/drawing/2014/main" id="{78837C5A-7288-396A-A2A3-2078826CDCF4}"/>
              </a:ext>
            </a:extLst>
          </p:cNvPr>
          <p:cNvGrpSpPr>
            <a:grpSpLocks/>
          </p:cNvGrpSpPr>
          <p:nvPr/>
        </p:nvGrpSpPr>
        <p:grpSpPr bwMode="auto">
          <a:xfrm>
            <a:off x="5257800" y="2971800"/>
            <a:ext cx="3657600" cy="1828800"/>
            <a:chOff x="3312" y="1872"/>
            <a:chExt cx="2304" cy="1152"/>
          </a:xfrm>
        </p:grpSpPr>
        <p:sp>
          <p:nvSpPr>
            <p:cNvPr id="45062" name="Rectangle 6">
              <a:extLst>
                <a:ext uri="{FF2B5EF4-FFF2-40B4-BE49-F238E27FC236}">
                  <a16:creationId xmlns:a16="http://schemas.microsoft.com/office/drawing/2014/main" id="{3F852026-D57E-EB01-9256-981F29257287}"/>
                </a:ext>
              </a:extLst>
            </p:cNvPr>
            <p:cNvSpPr>
              <a:spLocks noChangeArrowheads="1"/>
            </p:cNvSpPr>
            <p:nvPr/>
          </p:nvSpPr>
          <p:spPr bwMode="auto">
            <a:xfrm>
              <a:off x="3312" y="1872"/>
              <a:ext cx="2304" cy="1152"/>
            </a:xfrm>
            <a:prstGeom prst="rect">
              <a:avLst/>
            </a:prstGeom>
            <a:solidFill>
              <a:srgbClr val="D6D991"/>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5069" name="Text Box 13">
              <a:extLst>
                <a:ext uri="{FF2B5EF4-FFF2-40B4-BE49-F238E27FC236}">
                  <a16:creationId xmlns:a16="http://schemas.microsoft.com/office/drawing/2014/main" id="{6DED0E86-AD11-F5E4-9F1C-EFD350C93E07}"/>
                </a:ext>
              </a:extLst>
            </p:cNvPr>
            <p:cNvSpPr txBox="1">
              <a:spLocks noChangeArrowheads="1"/>
            </p:cNvSpPr>
            <p:nvPr/>
          </p:nvSpPr>
          <p:spPr bwMode="auto">
            <a:xfrm>
              <a:off x="4752" y="2413"/>
              <a:ext cx="816" cy="384"/>
            </a:xfrm>
            <a:prstGeom prst="rect">
              <a:avLst/>
            </a:prstGeom>
            <a:solidFill>
              <a:schemeClr val="bg1"/>
            </a:solidFill>
            <a:ln w="2857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buClrTx/>
                <a:buFontTx/>
                <a:buNone/>
              </a:pPr>
              <a:r>
                <a:rPr lang="en-US" altLang="zh-CN" sz="1600" b="1">
                  <a:solidFill>
                    <a:schemeClr val="tx1"/>
                  </a:solidFill>
                  <a:ea typeface="宋体" panose="02010600030101010101" pitchFamily="2" charset="-122"/>
                </a:rPr>
                <a:t>Secondary</a:t>
              </a:r>
            </a:p>
            <a:p>
              <a:pPr>
                <a:spcBef>
                  <a:spcPct val="0"/>
                </a:spcBef>
                <a:buClrTx/>
                <a:buFontTx/>
                <a:buNone/>
              </a:pPr>
              <a:r>
                <a:rPr lang="en-US" altLang="zh-CN" sz="1600" b="1">
                  <a:solidFill>
                    <a:schemeClr val="tx1"/>
                  </a:solidFill>
                  <a:ea typeface="宋体" panose="02010600030101010101" pitchFamily="2" charset="-122"/>
                </a:rPr>
                <a:t>Storage</a:t>
              </a:r>
            </a:p>
          </p:txBody>
        </p:sp>
        <p:sp>
          <p:nvSpPr>
            <p:cNvPr id="45070" name="AutoShape 14">
              <a:extLst>
                <a:ext uri="{FF2B5EF4-FFF2-40B4-BE49-F238E27FC236}">
                  <a16:creationId xmlns:a16="http://schemas.microsoft.com/office/drawing/2014/main" id="{E561B46F-3FBA-5E6A-73F6-2D53E3D552EE}"/>
                </a:ext>
              </a:extLst>
            </p:cNvPr>
            <p:cNvSpPr>
              <a:spLocks noChangeArrowheads="1"/>
            </p:cNvSpPr>
            <p:nvPr/>
          </p:nvSpPr>
          <p:spPr bwMode="auto">
            <a:xfrm>
              <a:off x="3888" y="2400"/>
              <a:ext cx="813" cy="432"/>
            </a:xfrm>
            <a:prstGeom prst="leftRightArrow">
              <a:avLst>
                <a:gd name="adj1" fmla="val 50000"/>
                <a:gd name="adj2" fmla="val 37639"/>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5074" name="Text Box 18">
              <a:extLst>
                <a:ext uri="{FF2B5EF4-FFF2-40B4-BE49-F238E27FC236}">
                  <a16:creationId xmlns:a16="http://schemas.microsoft.com/office/drawing/2014/main" id="{466837CD-FFC1-ACA3-F04D-FD7C555C1A11}"/>
                </a:ext>
              </a:extLst>
            </p:cNvPr>
            <p:cNvSpPr txBox="1">
              <a:spLocks noChangeArrowheads="1"/>
            </p:cNvSpPr>
            <p:nvPr/>
          </p:nvSpPr>
          <p:spPr bwMode="auto">
            <a:xfrm>
              <a:off x="3913" y="1920"/>
              <a:ext cx="1628"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solidFill>
                    <a:schemeClr val="tx1"/>
                  </a:solidFill>
                  <a:ea typeface="宋体" panose="02010600030101010101" pitchFamily="2" charset="-122"/>
                </a:rPr>
                <a:t>Backup, </a:t>
              </a:r>
              <a:br>
                <a:rPr lang="en-US" altLang="zh-CN" sz="2000" b="1">
                  <a:solidFill>
                    <a:schemeClr val="tx1"/>
                  </a:solidFill>
                  <a:ea typeface="宋体" panose="02010600030101010101" pitchFamily="2" charset="-122"/>
                </a:rPr>
              </a:br>
              <a:r>
                <a:rPr lang="en-US" altLang="zh-CN" sz="2000" b="1">
                  <a:solidFill>
                    <a:schemeClr val="tx1"/>
                  </a:solidFill>
                  <a:ea typeface="宋体" panose="02010600030101010101" pitchFamily="2" charset="-122"/>
                </a:rPr>
                <a:t>Recovery &amp; Archive</a:t>
              </a:r>
            </a:p>
          </p:txBody>
        </p:sp>
      </p:grpSp>
      <p:grpSp>
        <p:nvGrpSpPr>
          <p:cNvPr id="45082" name="Group 26">
            <a:extLst>
              <a:ext uri="{FF2B5EF4-FFF2-40B4-BE49-F238E27FC236}">
                <a16:creationId xmlns:a16="http://schemas.microsoft.com/office/drawing/2014/main" id="{F6170B04-B700-22B6-BD9C-FB032672A554}"/>
              </a:ext>
            </a:extLst>
          </p:cNvPr>
          <p:cNvGrpSpPr>
            <a:grpSpLocks/>
          </p:cNvGrpSpPr>
          <p:nvPr/>
        </p:nvGrpSpPr>
        <p:grpSpPr bwMode="auto">
          <a:xfrm>
            <a:off x="152400" y="3124200"/>
            <a:ext cx="5867400" cy="1524000"/>
            <a:chOff x="96" y="1968"/>
            <a:chExt cx="3696" cy="960"/>
          </a:xfrm>
        </p:grpSpPr>
        <p:sp>
          <p:nvSpPr>
            <p:cNvPr id="45063" name="Rectangle 7">
              <a:extLst>
                <a:ext uri="{FF2B5EF4-FFF2-40B4-BE49-F238E27FC236}">
                  <a16:creationId xmlns:a16="http://schemas.microsoft.com/office/drawing/2014/main" id="{2E47C1D1-2775-BB09-4B89-639A7218BEF9}"/>
                </a:ext>
              </a:extLst>
            </p:cNvPr>
            <p:cNvSpPr>
              <a:spLocks noChangeArrowheads="1"/>
            </p:cNvSpPr>
            <p:nvPr/>
          </p:nvSpPr>
          <p:spPr bwMode="auto">
            <a:xfrm>
              <a:off x="96" y="1968"/>
              <a:ext cx="3696" cy="960"/>
            </a:xfrm>
            <a:prstGeom prst="rect">
              <a:avLst/>
            </a:prstGeom>
            <a:solidFill>
              <a:srgbClr val="F5D97F"/>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5065" name="AutoShape 9">
              <a:extLst>
                <a:ext uri="{FF2B5EF4-FFF2-40B4-BE49-F238E27FC236}">
                  <a16:creationId xmlns:a16="http://schemas.microsoft.com/office/drawing/2014/main" id="{F8AEDDBC-A2D5-75C3-684E-F0CE6860EF05}"/>
                </a:ext>
              </a:extLst>
            </p:cNvPr>
            <p:cNvSpPr>
              <a:spLocks noChangeArrowheads="1"/>
            </p:cNvSpPr>
            <p:nvPr/>
          </p:nvSpPr>
          <p:spPr bwMode="auto">
            <a:xfrm>
              <a:off x="1251" y="2244"/>
              <a:ext cx="525" cy="432"/>
            </a:xfrm>
            <a:prstGeom prst="rightArrow">
              <a:avLst>
                <a:gd name="adj1" fmla="val 53704"/>
                <a:gd name="adj2" fmla="val 44442"/>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5066" name="Text Box 10">
              <a:extLst>
                <a:ext uri="{FF2B5EF4-FFF2-40B4-BE49-F238E27FC236}">
                  <a16:creationId xmlns:a16="http://schemas.microsoft.com/office/drawing/2014/main" id="{A8BEF04B-13BD-4EAF-F07C-5F5EEC632A6B}"/>
                </a:ext>
              </a:extLst>
            </p:cNvPr>
            <p:cNvSpPr txBox="1">
              <a:spLocks noChangeArrowheads="1"/>
            </p:cNvSpPr>
            <p:nvPr/>
          </p:nvSpPr>
          <p:spPr bwMode="auto">
            <a:xfrm>
              <a:off x="144" y="2208"/>
              <a:ext cx="105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0"/>
                </a:spcBef>
                <a:buClrTx/>
                <a:buFontTx/>
                <a:buNone/>
              </a:pPr>
              <a:r>
                <a:rPr lang="en-US" altLang="zh-CN" sz="2000" b="1">
                  <a:solidFill>
                    <a:schemeClr val="tx1"/>
                  </a:solidFill>
                  <a:ea typeface="宋体" panose="02010600030101010101" pitchFamily="2" charset="-122"/>
                </a:rPr>
                <a:t>Application Access</a:t>
              </a:r>
            </a:p>
          </p:txBody>
        </p:sp>
      </p:grpSp>
      <p:sp>
        <p:nvSpPr>
          <p:cNvPr id="45077" name="Text Box 21">
            <a:extLst>
              <a:ext uri="{FF2B5EF4-FFF2-40B4-BE49-F238E27FC236}">
                <a16:creationId xmlns:a16="http://schemas.microsoft.com/office/drawing/2014/main" id="{B3D37B7A-280C-FA7B-625D-0AF5D2FF05B2}"/>
              </a:ext>
            </a:extLst>
          </p:cNvPr>
          <p:cNvSpPr txBox="1">
            <a:spLocks noChangeArrowheads="1"/>
          </p:cNvSpPr>
          <p:nvPr/>
        </p:nvSpPr>
        <p:spPr bwMode="auto">
          <a:xfrm>
            <a:off x="4038600" y="4784725"/>
            <a:ext cx="259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pPr>
            <a:r>
              <a:rPr lang="en-US" altLang="zh-CN" sz="2000" b="1">
                <a:solidFill>
                  <a:schemeClr val="tx1"/>
                </a:solidFill>
                <a:ea typeface="宋体" panose="02010600030101010101" pitchFamily="2" charset="-122"/>
              </a:rPr>
              <a:t>Data Storage</a:t>
            </a:r>
          </a:p>
        </p:txBody>
      </p:sp>
      <p:grpSp>
        <p:nvGrpSpPr>
          <p:cNvPr id="45081" name="Group 25">
            <a:extLst>
              <a:ext uri="{FF2B5EF4-FFF2-40B4-BE49-F238E27FC236}">
                <a16:creationId xmlns:a16="http://schemas.microsoft.com/office/drawing/2014/main" id="{DBE9F85B-1FD8-CFDB-11D6-C63E2E6566D3}"/>
              </a:ext>
            </a:extLst>
          </p:cNvPr>
          <p:cNvGrpSpPr>
            <a:grpSpLocks/>
          </p:cNvGrpSpPr>
          <p:nvPr/>
        </p:nvGrpSpPr>
        <p:grpSpPr bwMode="auto">
          <a:xfrm>
            <a:off x="4953000" y="3343275"/>
            <a:ext cx="914400" cy="847725"/>
            <a:chOff x="3120" y="2106"/>
            <a:chExt cx="576" cy="534"/>
          </a:xfrm>
        </p:grpSpPr>
        <p:sp>
          <p:nvSpPr>
            <p:cNvPr id="45071" name="AutoShape 15">
              <a:extLst>
                <a:ext uri="{FF2B5EF4-FFF2-40B4-BE49-F238E27FC236}">
                  <a16:creationId xmlns:a16="http://schemas.microsoft.com/office/drawing/2014/main" id="{39ABBEDA-7817-A52A-2CCE-8AC981453A55}"/>
                </a:ext>
              </a:extLst>
            </p:cNvPr>
            <p:cNvSpPr>
              <a:spLocks noChangeArrowheads="1"/>
            </p:cNvSpPr>
            <p:nvPr/>
          </p:nvSpPr>
          <p:spPr bwMode="auto">
            <a:xfrm>
              <a:off x="3120" y="2106"/>
              <a:ext cx="384" cy="342"/>
            </a:xfrm>
            <a:prstGeom prst="can">
              <a:avLst>
                <a:gd name="adj" fmla="val 25000"/>
              </a:avLst>
            </a:prstGeom>
            <a:solidFill>
              <a:srgbClr val="808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pPr>
              <a:endParaRPr lang="zh-CN" altLang="en-US" sz="1800" b="1">
                <a:solidFill>
                  <a:schemeClr val="tx1"/>
                </a:solidFill>
                <a:ea typeface="宋体" panose="02010600030101010101" pitchFamily="2" charset="-122"/>
              </a:endParaRPr>
            </a:p>
          </p:txBody>
        </p:sp>
        <p:sp>
          <p:nvSpPr>
            <p:cNvPr id="45072" name="AutoShape 16">
              <a:extLst>
                <a:ext uri="{FF2B5EF4-FFF2-40B4-BE49-F238E27FC236}">
                  <a16:creationId xmlns:a16="http://schemas.microsoft.com/office/drawing/2014/main" id="{90B254FA-1A44-533A-1BD1-2927D4AABBF7}"/>
                </a:ext>
              </a:extLst>
            </p:cNvPr>
            <p:cNvSpPr>
              <a:spLocks noChangeArrowheads="1"/>
            </p:cNvSpPr>
            <p:nvPr/>
          </p:nvSpPr>
          <p:spPr bwMode="auto">
            <a:xfrm>
              <a:off x="3216" y="2202"/>
              <a:ext cx="384" cy="342"/>
            </a:xfrm>
            <a:prstGeom prst="can">
              <a:avLst>
                <a:gd name="adj" fmla="val 25000"/>
              </a:avLst>
            </a:prstGeom>
            <a:solidFill>
              <a:srgbClr val="808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pPr>
              <a:endParaRPr lang="zh-CN" altLang="en-US" sz="1800" b="1">
                <a:solidFill>
                  <a:schemeClr val="tx1"/>
                </a:solidFill>
                <a:ea typeface="宋体" panose="02010600030101010101" pitchFamily="2" charset="-122"/>
              </a:endParaRPr>
            </a:p>
          </p:txBody>
        </p:sp>
        <p:sp>
          <p:nvSpPr>
            <p:cNvPr id="45073" name="AutoShape 17">
              <a:extLst>
                <a:ext uri="{FF2B5EF4-FFF2-40B4-BE49-F238E27FC236}">
                  <a16:creationId xmlns:a16="http://schemas.microsoft.com/office/drawing/2014/main" id="{D46D0AAD-C146-65FF-7C39-6FAA3B41AAB1}"/>
                </a:ext>
              </a:extLst>
            </p:cNvPr>
            <p:cNvSpPr>
              <a:spLocks noChangeArrowheads="1"/>
            </p:cNvSpPr>
            <p:nvPr/>
          </p:nvSpPr>
          <p:spPr bwMode="auto">
            <a:xfrm>
              <a:off x="3312" y="2298"/>
              <a:ext cx="384" cy="342"/>
            </a:xfrm>
            <a:prstGeom prst="can">
              <a:avLst>
                <a:gd name="adj" fmla="val 25000"/>
              </a:avLst>
            </a:prstGeom>
            <a:solidFill>
              <a:srgbClr val="80808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pPr>
              <a:endParaRPr lang="zh-CN" altLang="en-US" sz="1800" b="1">
                <a:solidFill>
                  <a:schemeClr val="tx1"/>
                </a:solidFill>
                <a:ea typeface="宋体" panose="02010600030101010101" pitchFamily="2" charset="-122"/>
              </a:endParaRPr>
            </a:p>
          </p:txBody>
        </p:sp>
      </p:grpSp>
      <p:pic>
        <p:nvPicPr>
          <p:cNvPr id="45075" name="Picture 19">
            <a:extLst>
              <a:ext uri="{FF2B5EF4-FFF2-40B4-BE49-F238E27FC236}">
                <a16:creationId xmlns:a16="http://schemas.microsoft.com/office/drawing/2014/main" id="{FEB51881-0F88-B2D1-8D71-DF499EB647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352800" y="3429000"/>
            <a:ext cx="1752600" cy="998538"/>
          </a:xfrm>
          <a:prstGeom prst="rect">
            <a:avLst/>
          </a:prstGeom>
          <a:noFill/>
          <a:extLst>
            <a:ext uri="{909E8E84-426E-40DD-AFC4-6F175D3DCCD1}">
              <a14:hiddenFill xmlns:a14="http://schemas.microsoft.com/office/drawing/2010/main">
                <a:solidFill>
                  <a:srgbClr val="FFFFFF"/>
                </a:solidFill>
              </a14:hiddenFill>
            </a:ext>
          </a:extLst>
        </p:spPr>
      </p:pic>
      <p:sp>
        <p:nvSpPr>
          <p:cNvPr id="45076" name="Text Box 20">
            <a:extLst>
              <a:ext uri="{FF2B5EF4-FFF2-40B4-BE49-F238E27FC236}">
                <a16:creationId xmlns:a16="http://schemas.microsoft.com/office/drawing/2014/main" id="{051470D1-2256-B595-9760-99A1D4B55F4C}"/>
              </a:ext>
            </a:extLst>
          </p:cNvPr>
          <p:cNvSpPr txBox="1">
            <a:spLocks noChangeArrowheads="1"/>
          </p:cNvSpPr>
          <p:nvPr/>
        </p:nvSpPr>
        <p:spPr bwMode="gray">
          <a:xfrm>
            <a:off x="3621088" y="3643313"/>
            <a:ext cx="12319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1600" b="1">
                <a:solidFill>
                  <a:schemeClr val="tx1"/>
                </a:solidFill>
                <a:ea typeface="宋体" panose="02010600030101010101" pitchFamily="2" charset="-122"/>
              </a:rPr>
              <a:t>STORAGE</a:t>
            </a:r>
            <a:br>
              <a:rPr lang="en-US" altLang="zh-CN" sz="1600" b="1">
                <a:solidFill>
                  <a:schemeClr val="tx1"/>
                </a:solidFill>
                <a:ea typeface="宋体" panose="02010600030101010101" pitchFamily="2" charset="-122"/>
              </a:rPr>
            </a:br>
            <a:r>
              <a:rPr lang="en-US" altLang="zh-CN" sz="1600" b="1">
                <a:solidFill>
                  <a:schemeClr val="tx1"/>
                </a:solidFill>
                <a:ea typeface="宋体" panose="02010600030101010101" pitchFamily="2" charset="-122"/>
              </a:rPr>
              <a:t>NETWORK</a:t>
            </a:r>
          </a:p>
        </p:txBody>
      </p:sp>
      <p:grpSp>
        <p:nvGrpSpPr>
          <p:cNvPr id="45078" name="Group 22">
            <a:extLst>
              <a:ext uri="{FF2B5EF4-FFF2-40B4-BE49-F238E27FC236}">
                <a16:creationId xmlns:a16="http://schemas.microsoft.com/office/drawing/2014/main" id="{7250581F-D9D7-BA71-EA70-8DFC3972066F}"/>
              </a:ext>
            </a:extLst>
          </p:cNvPr>
          <p:cNvGrpSpPr>
            <a:grpSpLocks/>
          </p:cNvGrpSpPr>
          <p:nvPr/>
        </p:nvGrpSpPr>
        <p:grpSpPr bwMode="auto">
          <a:xfrm>
            <a:off x="3733800" y="1524000"/>
            <a:ext cx="2819400" cy="1752600"/>
            <a:chOff x="2352" y="960"/>
            <a:chExt cx="1776" cy="1104"/>
          </a:xfrm>
        </p:grpSpPr>
        <p:sp>
          <p:nvSpPr>
            <p:cNvPr id="45064" name="Rectangle 8">
              <a:extLst>
                <a:ext uri="{FF2B5EF4-FFF2-40B4-BE49-F238E27FC236}">
                  <a16:creationId xmlns:a16="http://schemas.microsoft.com/office/drawing/2014/main" id="{6A1F2752-21C7-C98E-B2A8-A1DF89B9B928}"/>
                </a:ext>
              </a:extLst>
            </p:cNvPr>
            <p:cNvSpPr>
              <a:spLocks noChangeArrowheads="1"/>
            </p:cNvSpPr>
            <p:nvPr/>
          </p:nvSpPr>
          <p:spPr bwMode="auto">
            <a:xfrm>
              <a:off x="2352" y="960"/>
              <a:ext cx="1776" cy="1104"/>
            </a:xfrm>
            <a:prstGeom prst="rect">
              <a:avLst/>
            </a:prstGeom>
            <a:solidFill>
              <a:srgbClr val="F3AE5B"/>
            </a:solidFill>
            <a:ln w="9525">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5067" name="Text Box 11">
              <a:extLst>
                <a:ext uri="{FF2B5EF4-FFF2-40B4-BE49-F238E27FC236}">
                  <a16:creationId xmlns:a16="http://schemas.microsoft.com/office/drawing/2014/main" id="{64755FBB-A5F9-99F4-1341-5591C0EB75E6}"/>
                </a:ext>
              </a:extLst>
            </p:cNvPr>
            <p:cNvSpPr txBox="1">
              <a:spLocks noChangeArrowheads="1"/>
            </p:cNvSpPr>
            <p:nvPr/>
          </p:nvSpPr>
          <p:spPr bwMode="auto">
            <a:xfrm>
              <a:off x="2688" y="1008"/>
              <a:ext cx="109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FontTx/>
                <a:buNone/>
              </a:pPr>
              <a:r>
                <a:rPr lang="en-US" altLang="zh-CN" sz="2000" b="1">
                  <a:solidFill>
                    <a:schemeClr val="tx1"/>
                  </a:solidFill>
                  <a:ea typeface="宋体" panose="02010600030101010101" pitchFamily="2" charset="-122"/>
                </a:rPr>
                <a:t>Management</a:t>
              </a:r>
              <a:br>
                <a:rPr lang="en-US" altLang="zh-CN" sz="2000" b="1">
                  <a:solidFill>
                    <a:schemeClr val="tx1"/>
                  </a:solidFill>
                  <a:ea typeface="宋体" panose="02010600030101010101" pitchFamily="2" charset="-122"/>
                </a:rPr>
              </a:br>
              <a:r>
                <a:rPr lang="en-US" altLang="zh-CN" sz="2000" b="1">
                  <a:solidFill>
                    <a:schemeClr val="tx1"/>
                  </a:solidFill>
                  <a:ea typeface="宋体" panose="02010600030101010101" pitchFamily="2" charset="-122"/>
                </a:rPr>
                <a:t>Access</a:t>
              </a:r>
            </a:p>
          </p:txBody>
        </p:sp>
        <p:sp>
          <p:nvSpPr>
            <p:cNvPr id="45068" name="AutoShape 12">
              <a:extLst>
                <a:ext uri="{FF2B5EF4-FFF2-40B4-BE49-F238E27FC236}">
                  <a16:creationId xmlns:a16="http://schemas.microsoft.com/office/drawing/2014/main" id="{BFE6D00B-9D2A-7B18-2CCC-67BC2A74C2E0}"/>
                </a:ext>
              </a:extLst>
            </p:cNvPr>
            <p:cNvSpPr>
              <a:spLocks noChangeArrowheads="1"/>
            </p:cNvSpPr>
            <p:nvPr/>
          </p:nvSpPr>
          <p:spPr bwMode="auto">
            <a:xfrm rot="5400000">
              <a:off x="3045" y="1461"/>
              <a:ext cx="390" cy="432"/>
            </a:xfrm>
            <a:prstGeom prst="rightArrow">
              <a:avLst>
                <a:gd name="adj1" fmla="val 52778"/>
                <a:gd name="adj2" fmla="val 42824"/>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45083" name="Rectangle 27">
            <a:extLst>
              <a:ext uri="{FF2B5EF4-FFF2-40B4-BE49-F238E27FC236}">
                <a16:creationId xmlns:a16="http://schemas.microsoft.com/office/drawing/2014/main" id="{4EF53833-64BB-7CEA-F941-7972110BA59F}"/>
              </a:ext>
            </a:extLst>
          </p:cNvPr>
          <p:cNvSpPr>
            <a:spLocks noChangeArrowheads="1"/>
          </p:cNvSpPr>
          <p:nvPr/>
        </p:nvSpPr>
        <p:spPr bwMode="auto">
          <a:xfrm>
            <a:off x="4492625" y="609600"/>
            <a:ext cx="4498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gn="l" defTabSz="941388">
              <a:spcBef>
                <a:spcPct val="0"/>
              </a:spcBef>
              <a:defRPr sz="2800" b="1" i="1">
                <a:solidFill>
                  <a:srgbClr val="003580"/>
                </a:solidFill>
                <a:latin typeface="Arial" panose="020B0604020202020204" pitchFamily="34" charset="0"/>
                <a:cs typeface="Arial" panose="020B0604020202020204" pitchFamily="34" charset="0"/>
              </a:defRPr>
            </a:lvl1pPr>
            <a:lvl2pPr algn="l" defTabSz="941388">
              <a:spcBef>
                <a:spcPct val="0"/>
              </a:spcBef>
              <a:defRPr sz="2800" b="1" i="1">
                <a:solidFill>
                  <a:srgbClr val="003580"/>
                </a:solidFill>
                <a:latin typeface="Arial" panose="020B0604020202020204" pitchFamily="34" charset="0"/>
                <a:cs typeface="Arial" panose="020B0604020202020204" pitchFamily="34" charset="0"/>
              </a:defRPr>
            </a:lvl2pPr>
            <a:lvl3pPr algn="l" defTabSz="941388">
              <a:spcBef>
                <a:spcPct val="0"/>
              </a:spcBef>
              <a:defRPr sz="2800" b="1" i="1">
                <a:solidFill>
                  <a:srgbClr val="003580"/>
                </a:solidFill>
                <a:latin typeface="Arial" panose="020B0604020202020204" pitchFamily="34" charset="0"/>
                <a:cs typeface="Arial" panose="020B0604020202020204" pitchFamily="34" charset="0"/>
              </a:defRPr>
            </a:lvl3pPr>
            <a:lvl4pPr algn="l" defTabSz="941388">
              <a:spcBef>
                <a:spcPct val="0"/>
              </a:spcBef>
              <a:defRPr sz="2800" b="1" i="1">
                <a:solidFill>
                  <a:srgbClr val="003580"/>
                </a:solidFill>
                <a:latin typeface="Arial" panose="020B0604020202020204" pitchFamily="34" charset="0"/>
                <a:cs typeface="Arial" panose="020B0604020202020204" pitchFamily="34" charset="0"/>
              </a:defRPr>
            </a:lvl4pPr>
            <a:lvl5pPr algn="l" defTabSz="941388">
              <a:spcBef>
                <a:spcPct val="0"/>
              </a:spcBef>
              <a:defRPr sz="2800" b="1" i="1">
                <a:solidFill>
                  <a:srgbClr val="003580"/>
                </a:solidFill>
                <a:latin typeface="Arial" panose="020B0604020202020204" pitchFamily="34" charset="0"/>
                <a:cs typeface="Arial" panose="020B0604020202020204" pitchFamily="34" charset="0"/>
              </a:defRPr>
            </a:lvl5pPr>
            <a:lvl6pPr marL="457200" defTabSz="941388"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6pPr>
            <a:lvl7pPr marL="914400" defTabSz="941388"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7pPr>
            <a:lvl8pPr marL="1371600" defTabSz="941388"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8pPr>
            <a:lvl9pPr marL="1828800" defTabSz="941388" fontAlgn="base">
              <a:spcBef>
                <a:spcPct val="0"/>
              </a:spcBef>
              <a:spcAft>
                <a:spcPct val="0"/>
              </a:spcAft>
              <a:defRPr sz="2800" b="1" i="1">
                <a:solidFill>
                  <a:srgbClr val="003580"/>
                </a:solidFill>
                <a:latin typeface="Arial" panose="020B0604020202020204" pitchFamily="34" charset="0"/>
                <a:cs typeface="Arial" panose="020B0604020202020204" pitchFamily="34" charset="0"/>
              </a:defRPr>
            </a:lvl9pPr>
          </a:lstStyle>
          <a:p>
            <a:pPr>
              <a:buClrTx/>
              <a:buFontTx/>
              <a:buNone/>
            </a:pPr>
            <a:r>
              <a:rPr lang="en-US" altLang="zh-CN">
                <a:ea typeface="宋体" panose="02010600030101010101" pitchFamily="2" charset="-122"/>
              </a:rPr>
              <a:t>: Application Access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C457EDA1-A698-43B2-7F22-96EFA7706730}"/>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2146B207-076E-19DE-E824-2629D17FFCC0}"/>
              </a:ext>
            </a:extLst>
          </p:cNvPr>
          <p:cNvSpPr>
            <a:spLocks noGrp="1"/>
          </p:cNvSpPr>
          <p:nvPr>
            <p:ph type="sldNum" sz="quarter" idx="11"/>
          </p:nvPr>
        </p:nvSpPr>
        <p:spPr/>
        <p:txBody>
          <a:bodyPr/>
          <a:lstStyle/>
          <a:p>
            <a:r>
              <a:rPr lang="zh-CN" altLang="en-US"/>
              <a:t> </a:t>
            </a:r>
            <a:r>
              <a:rPr lang="en-US" altLang="zh-CN"/>
              <a:t>- </a:t>
            </a:r>
            <a:fld id="{4118328A-9738-4AD3-A0B2-5CAF74CBFDCD}" type="slidenum">
              <a:rPr lang="en-US" altLang="zh-CN" sz="800"/>
              <a:pPr/>
              <a:t>16</a:t>
            </a:fld>
            <a:endParaRPr lang="en-US" altLang="zh-CN" sz="800"/>
          </a:p>
        </p:txBody>
      </p:sp>
      <p:grpSp>
        <p:nvGrpSpPr>
          <p:cNvPr id="137509" name="Group 293">
            <a:extLst>
              <a:ext uri="{FF2B5EF4-FFF2-40B4-BE49-F238E27FC236}">
                <a16:creationId xmlns:a16="http://schemas.microsoft.com/office/drawing/2014/main" id="{361CA5B2-7A0F-CC32-C427-7113F1FF95C7}"/>
              </a:ext>
            </a:extLst>
          </p:cNvPr>
          <p:cNvGrpSpPr>
            <a:grpSpLocks/>
          </p:cNvGrpSpPr>
          <p:nvPr/>
        </p:nvGrpSpPr>
        <p:grpSpPr bwMode="auto">
          <a:xfrm>
            <a:off x="6985000" y="4416425"/>
            <a:ext cx="642938" cy="1352550"/>
            <a:chOff x="4299" y="2604"/>
            <a:chExt cx="405" cy="852"/>
          </a:xfrm>
        </p:grpSpPr>
        <p:sp>
          <p:nvSpPr>
            <p:cNvPr id="137279" name="Line 63">
              <a:extLst>
                <a:ext uri="{FF2B5EF4-FFF2-40B4-BE49-F238E27FC236}">
                  <a16:creationId xmlns:a16="http://schemas.microsoft.com/office/drawing/2014/main" id="{4F2A0398-3786-BB8B-E491-827238114DA2}"/>
                </a:ext>
              </a:extLst>
            </p:cNvPr>
            <p:cNvSpPr>
              <a:spLocks noChangeShapeType="1"/>
            </p:cNvSpPr>
            <p:nvPr/>
          </p:nvSpPr>
          <p:spPr bwMode="auto">
            <a:xfrm>
              <a:off x="4299" y="2604"/>
              <a:ext cx="0" cy="838"/>
            </a:xfrm>
            <a:prstGeom prst="line">
              <a:avLst/>
            </a:prstGeom>
            <a:noFill/>
            <a:ln w="25400" cap="rnd">
              <a:solidFill>
                <a:schemeClr val="tx1"/>
              </a:solidFill>
              <a:prstDash val="sysDot"/>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37280" name="Freeform 64">
              <a:extLst>
                <a:ext uri="{FF2B5EF4-FFF2-40B4-BE49-F238E27FC236}">
                  <a16:creationId xmlns:a16="http://schemas.microsoft.com/office/drawing/2014/main" id="{E7ACE8B2-F5F0-062F-0310-934CC6522E45}"/>
                </a:ext>
              </a:extLst>
            </p:cNvPr>
            <p:cNvSpPr>
              <a:spLocks/>
            </p:cNvSpPr>
            <p:nvPr/>
          </p:nvSpPr>
          <p:spPr bwMode="auto">
            <a:xfrm>
              <a:off x="4310" y="3453"/>
              <a:ext cx="394" cy="3"/>
            </a:xfrm>
            <a:custGeom>
              <a:avLst/>
              <a:gdLst>
                <a:gd name="T0" fmla="*/ 0 w 444"/>
                <a:gd name="T1" fmla="*/ 3 h 3"/>
                <a:gd name="T2" fmla="*/ 444 w 444"/>
                <a:gd name="T3" fmla="*/ 0 h 3"/>
              </a:gdLst>
              <a:ahLst/>
              <a:cxnLst>
                <a:cxn ang="0">
                  <a:pos x="T0" y="T1"/>
                </a:cxn>
                <a:cxn ang="0">
                  <a:pos x="T2" y="T3"/>
                </a:cxn>
              </a:cxnLst>
              <a:rect l="0" t="0" r="r" b="b"/>
              <a:pathLst>
                <a:path w="444" h="3">
                  <a:moveTo>
                    <a:pt x="0" y="3"/>
                  </a:moveTo>
                  <a:lnTo>
                    <a:pt x="444" y="0"/>
                  </a:lnTo>
                </a:path>
              </a:pathLst>
            </a:custGeom>
            <a:noFill/>
            <a:ln w="25400" cap="rnd" cmpd="sng">
              <a:solidFill>
                <a:schemeClr val="tx1"/>
              </a:solidFill>
              <a:prstDash val="sysDot"/>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37222" name="Rectangle 6">
            <a:extLst>
              <a:ext uri="{FF2B5EF4-FFF2-40B4-BE49-F238E27FC236}">
                <a16:creationId xmlns:a16="http://schemas.microsoft.com/office/drawing/2014/main" id="{8A0CFACC-13CC-811A-94F9-94C6A5E008F4}"/>
              </a:ext>
            </a:extLst>
          </p:cNvPr>
          <p:cNvSpPr>
            <a:spLocks noGrp="1" noChangeArrowheads="1"/>
          </p:cNvSpPr>
          <p:nvPr>
            <p:ph type="title"/>
          </p:nvPr>
        </p:nvSpPr>
        <p:spPr/>
        <p:txBody>
          <a:bodyPr/>
          <a:lstStyle/>
          <a:p>
            <a:r>
              <a:rPr lang="en-US" altLang="zh-CN">
                <a:ea typeface="宋体" panose="02010600030101010101" pitchFamily="2" charset="-122"/>
              </a:rPr>
              <a:t>Application Access Domain: Threats</a:t>
            </a:r>
          </a:p>
        </p:txBody>
      </p:sp>
      <p:sp>
        <p:nvSpPr>
          <p:cNvPr id="137283" name="Freeform 67">
            <a:extLst>
              <a:ext uri="{FF2B5EF4-FFF2-40B4-BE49-F238E27FC236}">
                <a16:creationId xmlns:a16="http://schemas.microsoft.com/office/drawing/2014/main" id="{9ACD1A6A-F03B-7327-DC75-C0072BEDAA9E}"/>
              </a:ext>
            </a:extLst>
          </p:cNvPr>
          <p:cNvSpPr>
            <a:spLocks/>
          </p:cNvSpPr>
          <p:nvPr/>
        </p:nvSpPr>
        <p:spPr bwMode="auto">
          <a:xfrm>
            <a:off x="5565775" y="4425950"/>
            <a:ext cx="1647825" cy="187325"/>
          </a:xfrm>
          <a:custGeom>
            <a:avLst/>
            <a:gdLst>
              <a:gd name="T0" fmla="*/ 0 w 3503"/>
              <a:gd name="T1" fmla="*/ 0 h 427"/>
              <a:gd name="T2" fmla="*/ 1 w 3503"/>
              <a:gd name="T3" fmla="*/ 24 h 427"/>
              <a:gd name="T4" fmla="*/ 7 w 3503"/>
              <a:gd name="T5" fmla="*/ 49 h 427"/>
              <a:gd name="T6" fmla="*/ 13 w 3503"/>
              <a:gd name="T7" fmla="*/ 72 h 427"/>
              <a:gd name="T8" fmla="*/ 24 w 3503"/>
              <a:gd name="T9" fmla="*/ 96 h 427"/>
              <a:gd name="T10" fmla="*/ 35 w 3503"/>
              <a:gd name="T11" fmla="*/ 116 h 427"/>
              <a:gd name="T12" fmla="*/ 48 w 3503"/>
              <a:gd name="T13" fmla="*/ 138 h 427"/>
              <a:gd name="T14" fmla="*/ 64 w 3503"/>
              <a:gd name="T15" fmla="*/ 158 h 427"/>
              <a:gd name="T16" fmla="*/ 83 w 3503"/>
              <a:gd name="T17" fmla="*/ 178 h 427"/>
              <a:gd name="T18" fmla="*/ 103 w 3503"/>
              <a:gd name="T19" fmla="*/ 196 h 427"/>
              <a:gd name="T20" fmla="*/ 126 w 3503"/>
              <a:gd name="T21" fmla="*/ 214 h 427"/>
              <a:gd name="T22" fmla="*/ 150 w 3503"/>
              <a:gd name="T23" fmla="*/ 229 h 427"/>
              <a:gd name="T24" fmla="*/ 175 w 3503"/>
              <a:gd name="T25" fmla="*/ 242 h 427"/>
              <a:gd name="T26" fmla="*/ 201 w 3503"/>
              <a:gd name="T27" fmla="*/ 250 h 427"/>
              <a:gd name="T28" fmla="*/ 228 w 3503"/>
              <a:gd name="T29" fmla="*/ 258 h 427"/>
              <a:gd name="T30" fmla="*/ 257 w 3503"/>
              <a:gd name="T31" fmla="*/ 261 h 427"/>
              <a:gd name="T32" fmla="*/ 287 w 3503"/>
              <a:gd name="T33" fmla="*/ 264 h 427"/>
              <a:gd name="T34" fmla="*/ 1589 w 3503"/>
              <a:gd name="T35" fmla="*/ 264 h 427"/>
              <a:gd name="T36" fmla="*/ 1752 w 3503"/>
              <a:gd name="T37" fmla="*/ 427 h 427"/>
              <a:gd name="T38" fmla="*/ 1914 w 3503"/>
              <a:gd name="T39" fmla="*/ 264 h 427"/>
              <a:gd name="T40" fmla="*/ 3143 w 3503"/>
              <a:gd name="T41" fmla="*/ 264 h 427"/>
              <a:gd name="T42" fmla="*/ 3215 w 3503"/>
              <a:gd name="T43" fmla="*/ 264 h 427"/>
              <a:gd name="T44" fmla="*/ 3217 w 3503"/>
              <a:gd name="T45" fmla="*/ 262 h 427"/>
              <a:gd name="T46" fmla="*/ 3221 w 3503"/>
              <a:gd name="T47" fmla="*/ 262 h 427"/>
              <a:gd name="T48" fmla="*/ 3228 w 3503"/>
              <a:gd name="T49" fmla="*/ 262 h 427"/>
              <a:gd name="T50" fmla="*/ 3243 w 3503"/>
              <a:gd name="T51" fmla="*/ 261 h 427"/>
              <a:gd name="T52" fmla="*/ 3271 w 3503"/>
              <a:gd name="T53" fmla="*/ 258 h 427"/>
              <a:gd name="T54" fmla="*/ 3298 w 3503"/>
              <a:gd name="T55" fmla="*/ 250 h 427"/>
              <a:gd name="T56" fmla="*/ 3324 w 3503"/>
              <a:gd name="T57" fmla="*/ 242 h 427"/>
              <a:gd name="T58" fmla="*/ 3348 w 3503"/>
              <a:gd name="T59" fmla="*/ 229 h 427"/>
              <a:gd name="T60" fmla="*/ 3372 w 3503"/>
              <a:gd name="T61" fmla="*/ 214 h 427"/>
              <a:gd name="T62" fmla="*/ 3383 w 3503"/>
              <a:gd name="T63" fmla="*/ 205 h 427"/>
              <a:gd name="T64" fmla="*/ 3395 w 3503"/>
              <a:gd name="T65" fmla="*/ 196 h 427"/>
              <a:gd name="T66" fmla="*/ 3406 w 3503"/>
              <a:gd name="T67" fmla="*/ 187 h 427"/>
              <a:gd name="T68" fmla="*/ 3418 w 3503"/>
              <a:gd name="T69" fmla="*/ 178 h 427"/>
              <a:gd name="T70" fmla="*/ 3418 w 3503"/>
              <a:gd name="T71" fmla="*/ 176 h 427"/>
              <a:gd name="T72" fmla="*/ 3419 w 3503"/>
              <a:gd name="T73" fmla="*/ 175 h 427"/>
              <a:gd name="T74" fmla="*/ 3421 w 3503"/>
              <a:gd name="T75" fmla="*/ 172 h 427"/>
              <a:gd name="T76" fmla="*/ 3426 w 3503"/>
              <a:gd name="T77" fmla="*/ 168 h 427"/>
              <a:gd name="T78" fmla="*/ 3436 w 3503"/>
              <a:gd name="T79" fmla="*/ 158 h 427"/>
              <a:gd name="T80" fmla="*/ 3443 w 3503"/>
              <a:gd name="T81" fmla="*/ 147 h 427"/>
              <a:gd name="T82" fmla="*/ 3451 w 3503"/>
              <a:gd name="T83" fmla="*/ 138 h 427"/>
              <a:gd name="T84" fmla="*/ 3465 w 3503"/>
              <a:gd name="T85" fmla="*/ 116 h 427"/>
              <a:gd name="T86" fmla="*/ 3477 w 3503"/>
              <a:gd name="T87" fmla="*/ 96 h 427"/>
              <a:gd name="T88" fmla="*/ 3485 w 3503"/>
              <a:gd name="T89" fmla="*/ 72 h 427"/>
              <a:gd name="T90" fmla="*/ 3489 w 3503"/>
              <a:gd name="T91" fmla="*/ 60 h 427"/>
              <a:gd name="T92" fmla="*/ 3493 w 3503"/>
              <a:gd name="T93" fmla="*/ 49 h 427"/>
              <a:gd name="T94" fmla="*/ 3496 w 3503"/>
              <a:gd name="T95" fmla="*/ 36 h 427"/>
              <a:gd name="T96" fmla="*/ 3499 w 3503"/>
              <a:gd name="T97" fmla="*/ 24 h 427"/>
              <a:gd name="T98" fmla="*/ 3503 w 3503"/>
              <a:gd name="T99" fmla="*/ 0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503" h="427">
                <a:moveTo>
                  <a:pt x="0" y="0"/>
                </a:moveTo>
                <a:lnTo>
                  <a:pt x="1" y="24"/>
                </a:lnTo>
                <a:lnTo>
                  <a:pt x="7" y="49"/>
                </a:lnTo>
                <a:lnTo>
                  <a:pt x="13" y="72"/>
                </a:lnTo>
                <a:lnTo>
                  <a:pt x="24" y="96"/>
                </a:lnTo>
                <a:lnTo>
                  <a:pt x="35" y="116"/>
                </a:lnTo>
                <a:lnTo>
                  <a:pt x="48" y="138"/>
                </a:lnTo>
                <a:lnTo>
                  <a:pt x="64" y="158"/>
                </a:lnTo>
                <a:lnTo>
                  <a:pt x="83" y="178"/>
                </a:lnTo>
                <a:lnTo>
                  <a:pt x="103" y="196"/>
                </a:lnTo>
                <a:lnTo>
                  <a:pt x="126" y="214"/>
                </a:lnTo>
                <a:lnTo>
                  <a:pt x="150" y="229"/>
                </a:lnTo>
                <a:lnTo>
                  <a:pt x="175" y="242"/>
                </a:lnTo>
                <a:lnTo>
                  <a:pt x="201" y="250"/>
                </a:lnTo>
                <a:lnTo>
                  <a:pt x="228" y="258"/>
                </a:lnTo>
                <a:lnTo>
                  <a:pt x="257" y="261"/>
                </a:lnTo>
                <a:lnTo>
                  <a:pt x="287" y="264"/>
                </a:lnTo>
                <a:lnTo>
                  <a:pt x="1589" y="264"/>
                </a:lnTo>
                <a:lnTo>
                  <a:pt x="1752" y="427"/>
                </a:lnTo>
                <a:lnTo>
                  <a:pt x="1914" y="264"/>
                </a:lnTo>
                <a:lnTo>
                  <a:pt x="3143" y="264"/>
                </a:lnTo>
                <a:lnTo>
                  <a:pt x="3215" y="264"/>
                </a:lnTo>
                <a:lnTo>
                  <a:pt x="3217" y="262"/>
                </a:lnTo>
                <a:lnTo>
                  <a:pt x="3221" y="262"/>
                </a:lnTo>
                <a:lnTo>
                  <a:pt x="3228" y="262"/>
                </a:lnTo>
                <a:lnTo>
                  <a:pt x="3243" y="261"/>
                </a:lnTo>
                <a:lnTo>
                  <a:pt x="3271" y="258"/>
                </a:lnTo>
                <a:lnTo>
                  <a:pt x="3298" y="250"/>
                </a:lnTo>
                <a:lnTo>
                  <a:pt x="3324" y="242"/>
                </a:lnTo>
                <a:lnTo>
                  <a:pt x="3348" y="229"/>
                </a:lnTo>
                <a:lnTo>
                  <a:pt x="3372" y="214"/>
                </a:lnTo>
                <a:lnTo>
                  <a:pt x="3383" y="205"/>
                </a:lnTo>
                <a:lnTo>
                  <a:pt x="3395" y="196"/>
                </a:lnTo>
                <a:lnTo>
                  <a:pt x="3406" y="187"/>
                </a:lnTo>
                <a:lnTo>
                  <a:pt x="3418" y="178"/>
                </a:lnTo>
                <a:lnTo>
                  <a:pt x="3418" y="176"/>
                </a:lnTo>
                <a:lnTo>
                  <a:pt x="3419" y="175"/>
                </a:lnTo>
                <a:lnTo>
                  <a:pt x="3421" y="172"/>
                </a:lnTo>
                <a:lnTo>
                  <a:pt x="3426" y="168"/>
                </a:lnTo>
                <a:lnTo>
                  <a:pt x="3436" y="158"/>
                </a:lnTo>
                <a:lnTo>
                  <a:pt x="3443" y="147"/>
                </a:lnTo>
                <a:lnTo>
                  <a:pt x="3451" y="138"/>
                </a:lnTo>
                <a:lnTo>
                  <a:pt x="3465" y="116"/>
                </a:lnTo>
                <a:lnTo>
                  <a:pt x="3477" y="96"/>
                </a:lnTo>
                <a:lnTo>
                  <a:pt x="3485" y="72"/>
                </a:lnTo>
                <a:lnTo>
                  <a:pt x="3489" y="60"/>
                </a:lnTo>
                <a:lnTo>
                  <a:pt x="3493" y="49"/>
                </a:lnTo>
                <a:lnTo>
                  <a:pt x="3496" y="36"/>
                </a:lnTo>
                <a:lnTo>
                  <a:pt x="3499" y="24"/>
                </a:lnTo>
                <a:lnTo>
                  <a:pt x="3503" y="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37284" name="Freeform 68">
            <a:extLst>
              <a:ext uri="{FF2B5EF4-FFF2-40B4-BE49-F238E27FC236}">
                <a16:creationId xmlns:a16="http://schemas.microsoft.com/office/drawing/2014/main" id="{0810B589-ACDD-CE4B-AB58-F9D5A635CD86}"/>
              </a:ext>
            </a:extLst>
          </p:cNvPr>
          <p:cNvSpPr>
            <a:spLocks/>
          </p:cNvSpPr>
          <p:nvPr/>
        </p:nvSpPr>
        <p:spPr bwMode="auto">
          <a:xfrm>
            <a:off x="5551488" y="2670175"/>
            <a:ext cx="1646237" cy="187325"/>
          </a:xfrm>
          <a:custGeom>
            <a:avLst/>
            <a:gdLst>
              <a:gd name="T0" fmla="*/ 0 w 3503"/>
              <a:gd name="T1" fmla="*/ 0 h 427"/>
              <a:gd name="T2" fmla="*/ 1 w 3503"/>
              <a:gd name="T3" fmla="*/ 24 h 427"/>
              <a:gd name="T4" fmla="*/ 7 w 3503"/>
              <a:gd name="T5" fmla="*/ 49 h 427"/>
              <a:gd name="T6" fmla="*/ 13 w 3503"/>
              <a:gd name="T7" fmla="*/ 72 h 427"/>
              <a:gd name="T8" fmla="*/ 24 w 3503"/>
              <a:gd name="T9" fmla="*/ 96 h 427"/>
              <a:gd name="T10" fmla="*/ 35 w 3503"/>
              <a:gd name="T11" fmla="*/ 116 h 427"/>
              <a:gd name="T12" fmla="*/ 48 w 3503"/>
              <a:gd name="T13" fmla="*/ 138 h 427"/>
              <a:gd name="T14" fmla="*/ 64 w 3503"/>
              <a:gd name="T15" fmla="*/ 158 h 427"/>
              <a:gd name="T16" fmla="*/ 83 w 3503"/>
              <a:gd name="T17" fmla="*/ 179 h 427"/>
              <a:gd name="T18" fmla="*/ 103 w 3503"/>
              <a:gd name="T19" fmla="*/ 197 h 427"/>
              <a:gd name="T20" fmla="*/ 126 w 3503"/>
              <a:gd name="T21" fmla="*/ 215 h 427"/>
              <a:gd name="T22" fmla="*/ 150 w 3503"/>
              <a:gd name="T23" fmla="*/ 229 h 427"/>
              <a:gd name="T24" fmla="*/ 175 w 3503"/>
              <a:gd name="T25" fmla="*/ 242 h 427"/>
              <a:gd name="T26" fmla="*/ 201 w 3503"/>
              <a:gd name="T27" fmla="*/ 251 h 427"/>
              <a:gd name="T28" fmla="*/ 228 w 3503"/>
              <a:gd name="T29" fmla="*/ 258 h 427"/>
              <a:gd name="T30" fmla="*/ 257 w 3503"/>
              <a:gd name="T31" fmla="*/ 261 h 427"/>
              <a:gd name="T32" fmla="*/ 287 w 3503"/>
              <a:gd name="T33" fmla="*/ 264 h 427"/>
              <a:gd name="T34" fmla="*/ 1589 w 3503"/>
              <a:gd name="T35" fmla="*/ 264 h 427"/>
              <a:gd name="T36" fmla="*/ 1752 w 3503"/>
              <a:gd name="T37" fmla="*/ 427 h 427"/>
              <a:gd name="T38" fmla="*/ 1914 w 3503"/>
              <a:gd name="T39" fmla="*/ 264 h 427"/>
              <a:gd name="T40" fmla="*/ 3215 w 3503"/>
              <a:gd name="T41" fmla="*/ 264 h 427"/>
              <a:gd name="T42" fmla="*/ 3217 w 3503"/>
              <a:gd name="T43" fmla="*/ 263 h 427"/>
              <a:gd name="T44" fmla="*/ 3221 w 3503"/>
              <a:gd name="T45" fmla="*/ 263 h 427"/>
              <a:gd name="T46" fmla="*/ 3228 w 3503"/>
              <a:gd name="T47" fmla="*/ 263 h 427"/>
              <a:gd name="T48" fmla="*/ 3243 w 3503"/>
              <a:gd name="T49" fmla="*/ 261 h 427"/>
              <a:gd name="T50" fmla="*/ 3271 w 3503"/>
              <a:gd name="T51" fmla="*/ 258 h 427"/>
              <a:gd name="T52" fmla="*/ 3298 w 3503"/>
              <a:gd name="T53" fmla="*/ 251 h 427"/>
              <a:gd name="T54" fmla="*/ 3324 w 3503"/>
              <a:gd name="T55" fmla="*/ 242 h 427"/>
              <a:gd name="T56" fmla="*/ 3348 w 3503"/>
              <a:gd name="T57" fmla="*/ 229 h 427"/>
              <a:gd name="T58" fmla="*/ 3372 w 3503"/>
              <a:gd name="T59" fmla="*/ 215 h 427"/>
              <a:gd name="T60" fmla="*/ 3383 w 3503"/>
              <a:gd name="T61" fmla="*/ 205 h 427"/>
              <a:gd name="T62" fmla="*/ 3395 w 3503"/>
              <a:gd name="T63" fmla="*/ 197 h 427"/>
              <a:gd name="T64" fmla="*/ 3406 w 3503"/>
              <a:gd name="T65" fmla="*/ 187 h 427"/>
              <a:gd name="T66" fmla="*/ 3418 w 3503"/>
              <a:gd name="T67" fmla="*/ 179 h 427"/>
              <a:gd name="T68" fmla="*/ 3418 w 3503"/>
              <a:gd name="T69" fmla="*/ 176 h 427"/>
              <a:gd name="T70" fmla="*/ 3419 w 3503"/>
              <a:gd name="T71" fmla="*/ 175 h 427"/>
              <a:gd name="T72" fmla="*/ 3421 w 3503"/>
              <a:gd name="T73" fmla="*/ 173 h 427"/>
              <a:gd name="T74" fmla="*/ 3426 w 3503"/>
              <a:gd name="T75" fmla="*/ 168 h 427"/>
              <a:gd name="T76" fmla="*/ 3436 w 3503"/>
              <a:gd name="T77" fmla="*/ 158 h 427"/>
              <a:gd name="T78" fmla="*/ 3443 w 3503"/>
              <a:gd name="T79" fmla="*/ 147 h 427"/>
              <a:gd name="T80" fmla="*/ 3451 w 3503"/>
              <a:gd name="T81" fmla="*/ 138 h 427"/>
              <a:gd name="T82" fmla="*/ 3465 w 3503"/>
              <a:gd name="T83" fmla="*/ 116 h 427"/>
              <a:gd name="T84" fmla="*/ 3477 w 3503"/>
              <a:gd name="T85" fmla="*/ 96 h 427"/>
              <a:gd name="T86" fmla="*/ 3485 w 3503"/>
              <a:gd name="T87" fmla="*/ 72 h 427"/>
              <a:gd name="T88" fmla="*/ 3489 w 3503"/>
              <a:gd name="T89" fmla="*/ 60 h 427"/>
              <a:gd name="T90" fmla="*/ 3493 w 3503"/>
              <a:gd name="T91" fmla="*/ 49 h 427"/>
              <a:gd name="T92" fmla="*/ 3496 w 3503"/>
              <a:gd name="T93" fmla="*/ 36 h 427"/>
              <a:gd name="T94" fmla="*/ 3499 w 3503"/>
              <a:gd name="T95" fmla="*/ 24 h 427"/>
              <a:gd name="T96" fmla="*/ 3503 w 3503"/>
              <a:gd name="T97" fmla="*/ 0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503" h="427">
                <a:moveTo>
                  <a:pt x="0" y="0"/>
                </a:moveTo>
                <a:lnTo>
                  <a:pt x="1" y="24"/>
                </a:lnTo>
                <a:lnTo>
                  <a:pt x="7" y="49"/>
                </a:lnTo>
                <a:lnTo>
                  <a:pt x="13" y="72"/>
                </a:lnTo>
                <a:lnTo>
                  <a:pt x="24" y="96"/>
                </a:lnTo>
                <a:lnTo>
                  <a:pt x="35" y="116"/>
                </a:lnTo>
                <a:lnTo>
                  <a:pt x="48" y="138"/>
                </a:lnTo>
                <a:lnTo>
                  <a:pt x="64" y="158"/>
                </a:lnTo>
                <a:lnTo>
                  <a:pt x="83" y="179"/>
                </a:lnTo>
                <a:lnTo>
                  <a:pt x="103" y="197"/>
                </a:lnTo>
                <a:lnTo>
                  <a:pt x="126" y="215"/>
                </a:lnTo>
                <a:lnTo>
                  <a:pt x="150" y="229"/>
                </a:lnTo>
                <a:lnTo>
                  <a:pt x="175" y="242"/>
                </a:lnTo>
                <a:lnTo>
                  <a:pt x="201" y="251"/>
                </a:lnTo>
                <a:lnTo>
                  <a:pt x="228" y="258"/>
                </a:lnTo>
                <a:lnTo>
                  <a:pt x="257" y="261"/>
                </a:lnTo>
                <a:lnTo>
                  <a:pt x="287" y="264"/>
                </a:lnTo>
                <a:lnTo>
                  <a:pt x="1589" y="264"/>
                </a:lnTo>
                <a:lnTo>
                  <a:pt x="1752" y="427"/>
                </a:lnTo>
                <a:lnTo>
                  <a:pt x="1914" y="264"/>
                </a:lnTo>
                <a:lnTo>
                  <a:pt x="3215" y="264"/>
                </a:lnTo>
                <a:lnTo>
                  <a:pt x="3217" y="263"/>
                </a:lnTo>
                <a:lnTo>
                  <a:pt x="3221" y="263"/>
                </a:lnTo>
                <a:lnTo>
                  <a:pt x="3228" y="263"/>
                </a:lnTo>
                <a:lnTo>
                  <a:pt x="3243" y="261"/>
                </a:lnTo>
                <a:lnTo>
                  <a:pt x="3271" y="258"/>
                </a:lnTo>
                <a:lnTo>
                  <a:pt x="3298" y="251"/>
                </a:lnTo>
                <a:lnTo>
                  <a:pt x="3324" y="242"/>
                </a:lnTo>
                <a:lnTo>
                  <a:pt x="3348" y="229"/>
                </a:lnTo>
                <a:lnTo>
                  <a:pt x="3372" y="215"/>
                </a:lnTo>
                <a:lnTo>
                  <a:pt x="3383" y="205"/>
                </a:lnTo>
                <a:lnTo>
                  <a:pt x="3395" y="197"/>
                </a:lnTo>
                <a:lnTo>
                  <a:pt x="3406" y="187"/>
                </a:lnTo>
                <a:lnTo>
                  <a:pt x="3418" y="179"/>
                </a:lnTo>
                <a:lnTo>
                  <a:pt x="3418" y="176"/>
                </a:lnTo>
                <a:lnTo>
                  <a:pt x="3419" y="175"/>
                </a:lnTo>
                <a:lnTo>
                  <a:pt x="3421" y="173"/>
                </a:lnTo>
                <a:lnTo>
                  <a:pt x="3426" y="168"/>
                </a:lnTo>
                <a:lnTo>
                  <a:pt x="3436" y="158"/>
                </a:lnTo>
                <a:lnTo>
                  <a:pt x="3443" y="147"/>
                </a:lnTo>
                <a:lnTo>
                  <a:pt x="3451" y="138"/>
                </a:lnTo>
                <a:lnTo>
                  <a:pt x="3465" y="116"/>
                </a:lnTo>
                <a:lnTo>
                  <a:pt x="3477" y="96"/>
                </a:lnTo>
                <a:lnTo>
                  <a:pt x="3485" y="72"/>
                </a:lnTo>
                <a:lnTo>
                  <a:pt x="3489" y="60"/>
                </a:lnTo>
                <a:lnTo>
                  <a:pt x="3493" y="49"/>
                </a:lnTo>
                <a:lnTo>
                  <a:pt x="3496" y="36"/>
                </a:lnTo>
                <a:lnTo>
                  <a:pt x="3499" y="24"/>
                </a:lnTo>
                <a:lnTo>
                  <a:pt x="3503" y="0"/>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37287" name="Rectangle 71">
            <a:extLst>
              <a:ext uri="{FF2B5EF4-FFF2-40B4-BE49-F238E27FC236}">
                <a16:creationId xmlns:a16="http://schemas.microsoft.com/office/drawing/2014/main" id="{523BBB8A-1797-5B40-D797-E43DD78F9F95}"/>
              </a:ext>
            </a:extLst>
          </p:cNvPr>
          <p:cNvSpPr>
            <a:spLocks noChangeArrowheads="1"/>
          </p:cNvSpPr>
          <p:nvPr/>
        </p:nvSpPr>
        <p:spPr bwMode="auto">
          <a:xfrm>
            <a:off x="2767013" y="2743200"/>
            <a:ext cx="4667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Host A</a:t>
            </a:r>
            <a:endParaRPr lang="en-US" altLang="zh-CN" sz="1600">
              <a:solidFill>
                <a:schemeClr val="tx1"/>
              </a:solidFill>
              <a:ea typeface="宋体" panose="02010600030101010101" pitchFamily="2" charset="-122"/>
            </a:endParaRPr>
          </a:p>
        </p:txBody>
      </p:sp>
      <p:sp>
        <p:nvSpPr>
          <p:cNvPr id="137288" name="Rectangle 72">
            <a:extLst>
              <a:ext uri="{FF2B5EF4-FFF2-40B4-BE49-F238E27FC236}">
                <a16:creationId xmlns:a16="http://schemas.microsoft.com/office/drawing/2014/main" id="{2C0D60D4-2461-DBD2-D0CC-4FC27E0AA08F}"/>
              </a:ext>
            </a:extLst>
          </p:cNvPr>
          <p:cNvSpPr>
            <a:spLocks noChangeArrowheads="1"/>
          </p:cNvSpPr>
          <p:nvPr/>
        </p:nvSpPr>
        <p:spPr bwMode="auto">
          <a:xfrm>
            <a:off x="2743200" y="3884613"/>
            <a:ext cx="4651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Host B</a:t>
            </a:r>
            <a:endParaRPr lang="en-US" altLang="zh-CN" sz="1600">
              <a:solidFill>
                <a:schemeClr val="tx1"/>
              </a:solidFill>
              <a:ea typeface="宋体" panose="02010600030101010101" pitchFamily="2" charset="-122"/>
            </a:endParaRPr>
          </a:p>
        </p:txBody>
      </p:sp>
      <p:grpSp>
        <p:nvGrpSpPr>
          <p:cNvPr id="137291" name="Group 75">
            <a:extLst>
              <a:ext uri="{FF2B5EF4-FFF2-40B4-BE49-F238E27FC236}">
                <a16:creationId xmlns:a16="http://schemas.microsoft.com/office/drawing/2014/main" id="{E9430488-3FF2-F528-486F-D59EA3C2F5E1}"/>
              </a:ext>
            </a:extLst>
          </p:cNvPr>
          <p:cNvGrpSpPr>
            <a:grpSpLocks/>
          </p:cNvGrpSpPr>
          <p:nvPr/>
        </p:nvGrpSpPr>
        <p:grpSpPr bwMode="auto">
          <a:xfrm>
            <a:off x="1143000" y="3719513"/>
            <a:ext cx="304800" cy="393700"/>
            <a:chOff x="329" y="1625"/>
            <a:chExt cx="216" cy="298"/>
          </a:xfrm>
        </p:grpSpPr>
        <p:sp>
          <p:nvSpPr>
            <p:cNvPr id="137292" name="Freeform 76">
              <a:extLst>
                <a:ext uri="{FF2B5EF4-FFF2-40B4-BE49-F238E27FC236}">
                  <a16:creationId xmlns:a16="http://schemas.microsoft.com/office/drawing/2014/main" id="{17230A86-A9E6-4B94-9AE0-31FB82A16050}"/>
                </a:ext>
              </a:extLst>
            </p:cNvPr>
            <p:cNvSpPr>
              <a:spLocks/>
            </p:cNvSpPr>
            <p:nvPr/>
          </p:nvSpPr>
          <p:spPr bwMode="auto">
            <a:xfrm>
              <a:off x="496" y="1741"/>
              <a:ext cx="49" cy="147"/>
            </a:xfrm>
            <a:custGeom>
              <a:avLst/>
              <a:gdLst>
                <a:gd name="T0" fmla="*/ 1 w 145"/>
                <a:gd name="T1" fmla="*/ 24 h 439"/>
                <a:gd name="T2" fmla="*/ 0 w 145"/>
                <a:gd name="T3" fmla="*/ 13 h 439"/>
                <a:gd name="T4" fmla="*/ 1 w 145"/>
                <a:gd name="T5" fmla="*/ 7 h 439"/>
                <a:gd name="T6" fmla="*/ 3 w 145"/>
                <a:gd name="T7" fmla="*/ 2 h 439"/>
                <a:gd name="T8" fmla="*/ 9 w 145"/>
                <a:gd name="T9" fmla="*/ 1 h 439"/>
                <a:gd name="T10" fmla="*/ 15 w 145"/>
                <a:gd name="T11" fmla="*/ 0 h 439"/>
                <a:gd name="T12" fmla="*/ 26 w 145"/>
                <a:gd name="T13" fmla="*/ 4 h 439"/>
                <a:gd name="T14" fmla="*/ 37 w 145"/>
                <a:gd name="T15" fmla="*/ 10 h 439"/>
                <a:gd name="T16" fmla="*/ 51 w 145"/>
                <a:gd name="T17" fmla="*/ 18 h 439"/>
                <a:gd name="T18" fmla="*/ 60 w 145"/>
                <a:gd name="T19" fmla="*/ 24 h 439"/>
                <a:gd name="T20" fmla="*/ 69 w 145"/>
                <a:gd name="T21" fmla="*/ 32 h 439"/>
                <a:gd name="T22" fmla="*/ 88 w 145"/>
                <a:gd name="T23" fmla="*/ 53 h 439"/>
                <a:gd name="T24" fmla="*/ 106 w 145"/>
                <a:gd name="T25" fmla="*/ 77 h 439"/>
                <a:gd name="T26" fmla="*/ 120 w 145"/>
                <a:gd name="T27" fmla="*/ 102 h 439"/>
                <a:gd name="T28" fmla="*/ 132 w 145"/>
                <a:gd name="T29" fmla="*/ 130 h 439"/>
                <a:gd name="T30" fmla="*/ 139 w 145"/>
                <a:gd name="T31" fmla="*/ 155 h 439"/>
                <a:gd name="T32" fmla="*/ 144 w 145"/>
                <a:gd name="T33" fmla="*/ 185 h 439"/>
                <a:gd name="T34" fmla="*/ 145 w 145"/>
                <a:gd name="T35" fmla="*/ 209 h 439"/>
                <a:gd name="T36" fmla="*/ 145 w 145"/>
                <a:gd name="T37" fmla="*/ 386 h 439"/>
                <a:gd name="T38" fmla="*/ 140 w 145"/>
                <a:gd name="T39" fmla="*/ 397 h 439"/>
                <a:gd name="T40" fmla="*/ 136 w 145"/>
                <a:gd name="T41" fmla="*/ 402 h 439"/>
                <a:gd name="T42" fmla="*/ 134 w 145"/>
                <a:gd name="T43" fmla="*/ 408 h 439"/>
                <a:gd name="T44" fmla="*/ 127 w 145"/>
                <a:gd name="T45" fmla="*/ 416 h 439"/>
                <a:gd name="T46" fmla="*/ 122 w 145"/>
                <a:gd name="T47" fmla="*/ 420 h 439"/>
                <a:gd name="T48" fmla="*/ 118 w 145"/>
                <a:gd name="T49" fmla="*/ 425 h 439"/>
                <a:gd name="T50" fmla="*/ 108 w 145"/>
                <a:gd name="T51" fmla="*/ 430 h 439"/>
                <a:gd name="T52" fmla="*/ 96 w 145"/>
                <a:gd name="T53" fmla="*/ 434 h 439"/>
                <a:gd name="T54" fmla="*/ 82 w 145"/>
                <a:gd name="T55" fmla="*/ 437 h 439"/>
                <a:gd name="T56" fmla="*/ 68 w 145"/>
                <a:gd name="T57" fmla="*/ 439 h 439"/>
                <a:gd name="T58" fmla="*/ 68 w 145"/>
                <a:gd name="T59" fmla="*/ 216 h 439"/>
                <a:gd name="T60" fmla="*/ 66 w 145"/>
                <a:gd name="T61" fmla="*/ 187 h 439"/>
                <a:gd name="T62" fmla="*/ 58 w 145"/>
                <a:gd name="T63" fmla="*/ 158 h 439"/>
                <a:gd name="T64" fmla="*/ 46 w 145"/>
                <a:gd name="T65" fmla="*/ 130 h 439"/>
                <a:gd name="T66" fmla="*/ 30 w 145"/>
                <a:gd name="T67" fmla="*/ 101 h 439"/>
                <a:gd name="T68" fmla="*/ 20 w 145"/>
                <a:gd name="T69" fmla="*/ 82 h 439"/>
                <a:gd name="T70" fmla="*/ 13 w 145"/>
                <a:gd name="T71" fmla="*/ 66 h 439"/>
                <a:gd name="T72" fmla="*/ 7 w 145"/>
                <a:gd name="T73" fmla="*/ 50 h 439"/>
                <a:gd name="T74" fmla="*/ 3 w 145"/>
                <a:gd name="T75" fmla="*/ 40 h 439"/>
                <a:gd name="T76" fmla="*/ 1 w 145"/>
                <a:gd name="T77" fmla="*/ 26 h 439"/>
                <a:gd name="T78" fmla="*/ 1 w 145"/>
                <a:gd name="T79" fmla="*/ 24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5" h="439">
                  <a:moveTo>
                    <a:pt x="1" y="24"/>
                  </a:moveTo>
                  <a:lnTo>
                    <a:pt x="0" y="13"/>
                  </a:lnTo>
                  <a:lnTo>
                    <a:pt x="1" y="7"/>
                  </a:lnTo>
                  <a:lnTo>
                    <a:pt x="3" y="2"/>
                  </a:lnTo>
                  <a:lnTo>
                    <a:pt x="9" y="1"/>
                  </a:lnTo>
                  <a:lnTo>
                    <a:pt x="15" y="0"/>
                  </a:lnTo>
                  <a:lnTo>
                    <a:pt x="26" y="4"/>
                  </a:lnTo>
                  <a:lnTo>
                    <a:pt x="37" y="10"/>
                  </a:lnTo>
                  <a:lnTo>
                    <a:pt x="51" y="18"/>
                  </a:lnTo>
                  <a:lnTo>
                    <a:pt x="60" y="24"/>
                  </a:lnTo>
                  <a:lnTo>
                    <a:pt x="69" y="32"/>
                  </a:lnTo>
                  <a:lnTo>
                    <a:pt x="88" y="53"/>
                  </a:lnTo>
                  <a:lnTo>
                    <a:pt x="106" y="77"/>
                  </a:lnTo>
                  <a:lnTo>
                    <a:pt x="120" y="102"/>
                  </a:lnTo>
                  <a:lnTo>
                    <a:pt x="132" y="130"/>
                  </a:lnTo>
                  <a:lnTo>
                    <a:pt x="139" y="155"/>
                  </a:lnTo>
                  <a:lnTo>
                    <a:pt x="144" y="185"/>
                  </a:lnTo>
                  <a:lnTo>
                    <a:pt x="145" y="209"/>
                  </a:lnTo>
                  <a:lnTo>
                    <a:pt x="145" y="386"/>
                  </a:lnTo>
                  <a:lnTo>
                    <a:pt x="140" y="397"/>
                  </a:lnTo>
                  <a:lnTo>
                    <a:pt x="136" y="402"/>
                  </a:lnTo>
                  <a:lnTo>
                    <a:pt x="134" y="408"/>
                  </a:lnTo>
                  <a:lnTo>
                    <a:pt x="127" y="416"/>
                  </a:lnTo>
                  <a:lnTo>
                    <a:pt x="122" y="420"/>
                  </a:lnTo>
                  <a:lnTo>
                    <a:pt x="118" y="425"/>
                  </a:lnTo>
                  <a:lnTo>
                    <a:pt x="108" y="430"/>
                  </a:lnTo>
                  <a:lnTo>
                    <a:pt x="96" y="434"/>
                  </a:lnTo>
                  <a:lnTo>
                    <a:pt x="82" y="437"/>
                  </a:lnTo>
                  <a:lnTo>
                    <a:pt x="68" y="439"/>
                  </a:lnTo>
                  <a:lnTo>
                    <a:pt x="68" y="216"/>
                  </a:lnTo>
                  <a:lnTo>
                    <a:pt x="66" y="187"/>
                  </a:lnTo>
                  <a:lnTo>
                    <a:pt x="58" y="158"/>
                  </a:lnTo>
                  <a:lnTo>
                    <a:pt x="46" y="130"/>
                  </a:lnTo>
                  <a:lnTo>
                    <a:pt x="30" y="101"/>
                  </a:lnTo>
                  <a:lnTo>
                    <a:pt x="20" y="82"/>
                  </a:lnTo>
                  <a:lnTo>
                    <a:pt x="13" y="66"/>
                  </a:lnTo>
                  <a:lnTo>
                    <a:pt x="7" y="50"/>
                  </a:lnTo>
                  <a:lnTo>
                    <a:pt x="3" y="40"/>
                  </a:lnTo>
                  <a:lnTo>
                    <a:pt x="1" y="26"/>
                  </a:lnTo>
                  <a:lnTo>
                    <a:pt x="1" y="24"/>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293" name="Freeform 77">
              <a:extLst>
                <a:ext uri="{FF2B5EF4-FFF2-40B4-BE49-F238E27FC236}">
                  <a16:creationId xmlns:a16="http://schemas.microsoft.com/office/drawing/2014/main" id="{43A8E452-AA24-CD31-7A25-C41C6960F38A}"/>
                </a:ext>
              </a:extLst>
            </p:cNvPr>
            <p:cNvSpPr>
              <a:spLocks/>
            </p:cNvSpPr>
            <p:nvPr/>
          </p:nvSpPr>
          <p:spPr bwMode="auto">
            <a:xfrm>
              <a:off x="371" y="1733"/>
              <a:ext cx="142" cy="37"/>
            </a:xfrm>
            <a:custGeom>
              <a:avLst/>
              <a:gdLst>
                <a:gd name="T0" fmla="*/ 413 w 427"/>
                <a:gd name="T1" fmla="*/ 36 h 111"/>
                <a:gd name="T2" fmla="*/ 391 w 427"/>
                <a:gd name="T3" fmla="*/ 26 h 111"/>
                <a:gd name="T4" fmla="*/ 379 w 427"/>
                <a:gd name="T5" fmla="*/ 28 h 111"/>
                <a:gd name="T6" fmla="*/ 376 w 427"/>
                <a:gd name="T7" fmla="*/ 39 h 111"/>
                <a:gd name="T8" fmla="*/ 343 w 427"/>
                <a:gd name="T9" fmla="*/ 70 h 111"/>
                <a:gd name="T10" fmla="*/ 322 w 427"/>
                <a:gd name="T11" fmla="*/ 80 h 111"/>
                <a:gd name="T12" fmla="*/ 311 w 427"/>
                <a:gd name="T13" fmla="*/ 87 h 111"/>
                <a:gd name="T14" fmla="*/ 296 w 427"/>
                <a:gd name="T15" fmla="*/ 91 h 111"/>
                <a:gd name="T16" fmla="*/ 276 w 427"/>
                <a:gd name="T17" fmla="*/ 99 h 111"/>
                <a:gd name="T18" fmla="*/ 241 w 427"/>
                <a:gd name="T19" fmla="*/ 109 h 111"/>
                <a:gd name="T20" fmla="*/ 212 w 427"/>
                <a:gd name="T21" fmla="*/ 110 h 111"/>
                <a:gd name="T22" fmla="*/ 205 w 427"/>
                <a:gd name="T23" fmla="*/ 110 h 111"/>
                <a:gd name="T24" fmla="*/ 185 w 427"/>
                <a:gd name="T25" fmla="*/ 111 h 111"/>
                <a:gd name="T26" fmla="*/ 146 w 427"/>
                <a:gd name="T27" fmla="*/ 109 h 111"/>
                <a:gd name="T28" fmla="*/ 89 w 427"/>
                <a:gd name="T29" fmla="*/ 98 h 111"/>
                <a:gd name="T30" fmla="*/ 89 w 427"/>
                <a:gd name="T31" fmla="*/ 91 h 111"/>
                <a:gd name="T32" fmla="*/ 90 w 427"/>
                <a:gd name="T33" fmla="*/ 90 h 111"/>
                <a:gd name="T34" fmla="*/ 83 w 427"/>
                <a:gd name="T35" fmla="*/ 72 h 111"/>
                <a:gd name="T36" fmla="*/ 66 w 427"/>
                <a:gd name="T37" fmla="*/ 57 h 111"/>
                <a:gd name="T38" fmla="*/ 37 w 427"/>
                <a:gd name="T39" fmla="*/ 45 h 111"/>
                <a:gd name="T40" fmla="*/ 0 w 427"/>
                <a:gd name="T41" fmla="*/ 38 h 111"/>
                <a:gd name="T42" fmla="*/ 47 w 427"/>
                <a:gd name="T43" fmla="*/ 14 h 111"/>
                <a:gd name="T44" fmla="*/ 76 w 427"/>
                <a:gd name="T45" fmla="*/ 21 h 111"/>
                <a:gd name="T46" fmla="*/ 124 w 427"/>
                <a:gd name="T47" fmla="*/ 49 h 111"/>
                <a:gd name="T48" fmla="*/ 176 w 427"/>
                <a:gd name="T49" fmla="*/ 61 h 111"/>
                <a:gd name="T50" fmla="*/ 196 w 427"/>
                <a:gd name="T51" fmla="*/ 61 h 111"/>
                <a:gd name="T52" fmla="*/ 199 w 427"/>
                <a:gd name="T53" fmla="*/ 61 h 111"/>
                <a:gd name="T54" fmla="*/ 214 w 427"/>
                <a:gd name="T55" fmla="*/ 61 h 111"/>
                <a:gd name="T56" fmla="*/ 251 w 427"/>
                <a:gd name="T57" fmla="*/ 54 h 111"/>
                <a:gd name="T58" fmla="*/ 259 w 427"/>
                <a:gd name="T59" fmla="*/ 50 h 111"/>
                <a:gd name="T60" fmla="*/ 276 w 427"/>
                <a:gd name="T61" fmla="*/ 43 h 111"/>
                <a:gd name="T62" fmla="*/ 284 w 427"/>
                <a:gd name="T63" fmla="*/ 39 h 111"/>
                <a:gd name="T64" fmla="*/ 317 w 427"/>
                <a:gd name="T65" fmla="*/ 18 h 111"/>
                <a:gd name="T66" fmla="*/ 338 w 427"/>
                <a:gd name="T67" fmla="*/ 0 h 111"/>
                <a:gd name="T68" fmla="*/ 362 w 427"/>
                <a:gd name="T69" fmla="*/ 7 h 111"/>
                <a:gd name="T70" fmla="*/ 406 w 427"/>
                <a:gd name="T71" fmla="*/ 28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7" h="111">
                  <a:moveTo>
                    <a:pt x="427" y="44"/>
                  </a:moveTo>
                  <a:lnTo>
                    <a:pt x="413" y="36"/>
                  </a:lnTo>
                  <a:lnTo>
                    <a:pt x="402" y="30"/>
                  </a:lnTo>
                  <a:lnTo>
                    <a:pt x="391" y="26"/>
                  </a:lnTo>
                  <a:lnTo>
                    <a:pt x="385" y="27"/>
                  </a:lnTo>
                  <a:lnTo>
                    <a:pt x="379" y="28"/>
                  </a:lnTo>
                  <a:lnTo>
                    <a:pt x="377" y="33"/>
                  </a:lnTo>
                  <a:lnTo>
                    <a:pt x="376" y="39"/>
                  </a:lnTo>
                  <a:lnTo>
                    <a:pt x="377" y="50"/>
                  </a:lnTo>
                  <a:lnTo>
                    <a:pt x="343" y="70"/>
                  </a:lnTo>
                  <a:lnTo>
                    <a:pt x="326" y="79"/>
                  </a:lnTo>
                  <a:lnTo>
                    <a:pt x="322" y="80"/>
                  </a:lnTo>
                  <a:lnTo>
                    <a:pt x="318" y="82"/>
                  </a:lnTo>
                  <a:lnTo>
                    <a:pt x="311" y="87"/>
                  </a:lnTo>
                  <a:lnTo>
                    <a:pt x="301" y="90"/>
                  </a:lnTo>
                  <a:lnTo>
                    <a:pt x="296" y="91"/>
                  </a:lnTo>
                  <a:lnTo>
                    <a:pt x="293" y="93"/>
                  </a:lnTo>
                  <a:lnTo>
                    <a:pt x="276" y="99"/>
                  </a:lnTo>
                  <a:lnTo>
                    <a:pt x="258" y="104"/>
                  </a:lnTo>
                  <a:lnTo>
                    <a:pt x="241" y="109"/>
                  </a:lnTo>
                  <a:lnTo>
                    <a:pt x="222" y="110"/>
                  </a:lnTo>
                  <a:lnTo>
                    <a:pt x="212" y="110"/>
                  </a:lnTo>
                  <a:lnTo>
                    <a:pt x="208" y="110"/>
                  </a:lnTo>
                  <a:lnTo>
                    <a:pt x="205" y="110"/>
                  </a:lnTo>
                  <a:lnTo>
                    <a:pt x="204" y="111"/>
                  </a:lnTo>
                  <a:lnTo>
                    <a:pt x="185" y="111"/>
                  </a:lnTo>
                  <a:lnTo>
                    <a:pt x="167" y="111"/>
                  </a:lnTo>
                  <a:lnTo>
                    <a:pt x="146" y="109"/>
                  </a:lnTo>
                  <a:lnTo>
                    <a:pt x="127" y="106"/>
                  </a:lnTo>
                  <a:lnTo>
                    <a:pt x="89" y="98"/>
                  </a:lnTo>
                  <a:lnTo>
                    <a:pt x="89" y="93"/>
                  </a:lnTo>
                  <a:lnTo>
                    <a:pt x="89" y="91"/>
                  </a:lnTo>
                  <a:lnTo>
                    <a:pt x="89" y="90"/>
                  </a:lnTo>
                  <a:lnTo>
                    <a:pt x="90" y="90"/>
                  </a:lnTo>
                  <a:lnTo>
                    <a:pt x="86" y="80"/>
                  </a:lnTo>
                  <a:lnTo>
                    <a:pt x="83" y="72"/>
                  </a:lnTo>
                  <a:lnTo>
                    <a:pt x="74" y="63"/>
                  </a:lnTo>
                  <a:lnTo>
                    <a:pt x="66" y="57"/>
                  </a:lnTo>
                  <a:lnTo>
                    <a:pt x="53" y="50"/>
                  </a:lnTo>
                  <a:lnTo>
                    <a:pt x="37" y="45"/>
                  </a:lnTo>
                  <a:lnTo>
                    <a:pt x="19" y="40"/>
                  </a:lnTo>
                  <a:lnTo>
                    <a:pt x="0" y="38"/>
                  </a:lnTo>
                  <a:lnTo>
                    <a:pt x="23" y="24"/>
                  </a:lnTo>
                  <a:lnTo>
                    <a:pt x="47" y="14"/>
                  </a:lnTo>
                  <a:lnTo>
                    <a:pt x="62" y="9"/>
                  </a:lnTo>
                  <a:lnTo>
                    <a:pt x="76" y="21"/>
                  </a:lnTo>
                  <a:lnTo>
                    <a:pt x="91" y="32"/>
                  </a:lnTo>
                  <a:lnTo>
                    <a:pt x="124" y="49"/>
                  </a:lnTo>
                  <a:lnTo>
                    <a:pt x="158" y="58"/>
                  </a:lnTo>
                  <a:lnTo>
                    <a:pt x="176" y="61"/>
                  </a:lnTo>
                  <a:lnTo>
                    <a:pt x="196" y="62"/>
                  </a:lnTo>
                  <a:lnTo>
                    <a:pt x="196" y="61"/>
                  </a:lnTo>
                  <a:lnTo>
                    <a:pt x="197" y="61"/>
                  </a:lnTo>
                  <a:lnTo>
                    <a:pt x="199" y="61"/>
                  </a:lnTo>
                  <a:lnTo>
                    <a:pt x="204" y="61"/>
                  </a:lnTo>
                  <a:lnTo>
                    <a:pt x="214" y="61"/>
                  </a:lnTo>
                  <a:lnTo>
                    <a:pt x="233" y="58"/>
                  </a:lnTo>
                  <a:lnTo>
                    <a:pt x="251" y="54"/>
                  </a:lnTo>
                  <a:lnTo>
                    <a:pt x="254" y="51"/>
                  </a:lnTo>
                  <a:lnTo>
                    <a:pt x="259" y="50"/>
                  </a:lnTo>
                  <a:lnTo>
                    <a:pt x="269" y="48"/>
                  </a:lnTo>
                  <a:lnTo>
                    <a:pt x="276" y="43"/>
                  </a:lnTo>
                  <a:lnTo>
                    <a:pt x="280" y="40"/>
                  </a:lnTo>
                  <a:lnTo>
                    <a:pt x="284" y="39"/>
                  </a:lnTo>
                  <a:lnTo>
                    <a:pt x="301" y="30"/>
                  </a:lnTo>
                  <a:lnTo>
                    <a:pt x="317" y="18"/>
                  </a:lnTo>
                  <a:lnTo>
                    <a:pt x="332" y="6"/>
                  </a:lnTo>
                  <a:lnTo>
                    <a:pt x="338" y="0"/>
                  </a:lnTo>
                  <a:lnTo>
                    <a:pt x="341" y="1"/>
                  </a:lnTo>
                  <a:lnTo>
                    <a:pt x="362" y="7"/>
                  </a:lnTo>
                  <a:lnTo>
                    <a:pt x="385" y="18"/>
                  </a:lnTo>
                  <a:lnTo>
                    <a:pt x="406" y="28"/>
                  </a:lnTo>
                  <a:lnTo>
                    <a:pt x="427" y="44"/>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294" name="Freeform 78">
              <a:extLst>
                <a:ext uri="{FF2B5EF4-FFF2-40B4-BE49-F238E27FC236}">
                  <a16:creationId xmlns:a16="http://schemas.microsoft.com/office/drawing/2014/main" id="{38A33080-9A41-E426-8751-55BB7E5614DD}"/>
                </a:ext>
              </a:extLst>
            </p:cNvPr>
            <p:cNvSpPr>
              <a:spLocks/>
            </p:cNvSpPr>
            <p:nvPr/>
          </p:nvSpPr>
          <p:spPr bwMode="auto">
            <a:xfrm>
              <a:off x="368" y="1749"/>
              <a:ext cx="151" cy="174"/>
            </a:xfrm>
            <a:custGeom>
              <a:avLst/>
              <a:gdLst>
                <a:gd name="T0" fmla="*/ 385 w 452"/>
                <a:gd name="T1" fmla="*/ 2 h 522"/>
                <a:gd name="T2" fmla="*/ 391 w 452"/>
                <a:gd name="T3" fmla="*/ 26 h 522"/>
                <a:gd name="T4" fmla="*/ 404 w 452"/>
                <a:gd name="T5" fmla="*/ 58 h 522"/>
                <a:gd name="T6" fmla="*/ 430 w 452"/>
                <a:gd name="T7" fmla="*/ 106 h 522"/>
                <a:gd name="T8" fmla="*/ 450 w 452"/>
                <a:gd name="T9" fmla="*/ 163 h 522"/>
                <a:gd name="T10" fmla="*/ 452 w 452"/>
                <a:gd name="T11" fmla="*/ 415 h 522"/>
                <a:gd name="T12" fmla="*/ 400 w 452"/>
                <a:gd name="T13" fmla="*/ 449 h 522"/>
                <a:gd name="T14" fmla="*/ 367 w 452"/>
                <a:gd name="T15" fmla="*/ 466 h 522"/>
                <a:gd name="T16" fmla="*/ 361 w 452"/>
                <a:gd name="T17" fmla="*/ 469 h 522"/>
                <a:gd name="T18" fmla="*/ 334 w 452"/>
                <a:gd name="T19" fmla="*/ 481 h 522"/>
                <a:gd name="T20" fmla="*/ 324 w 452"/>
                <a:gd name="T21" fmla="*/ 485 h 522"/>
                <a:gd name="T22" fmla="*/ 295 w 452"/>
                <a:gd name="T23" fmla="*/ 497 h 522"/>
                <a:gd name="T24" fmla="*/ 240 w 452"/>
                <a:gd name="T25" fmla="*/ 512 h 522"/>
                <a:gd name="T26" fmla="*/ 166 w 452"/>
                <a:gd name="T27" fmla="*/ 520 h 522"/>
                <a:gd name="T28" fmla="*/ 123 w 452"/>
                <a:gd name="T29" fmla="*/ 522 h 522"/>
                <a:gd name="T30" fmla="*/ 62 w 452"/>
                <a:gd name="T31" fmla="*/ 517 h 522"/>
                <a:gd name="T32" fmla="*/ 0 w 452"/>
                <a:gd name="T33" fmla="*/ 217 h 522"/>
                <a:gd name="T34" fmla="*/ 13 w 452"/>
                <a:gd name="T35" fmla="*/ 161 h 522"/>
                <a:gd name="T36" fmla="*/ 55 w 452"/>
                <a:gd name="T37" fmla="*/ 114 h 522"/>
                <a:gd name="T38" fmla="*/ 73 w 452"/>
                <a:gd name="T39" fmla="*/ 92 h 522"/>
                <a:gd name="T40" fmla="*/ 93 w 452"/>
                <a:gd name="T41" fmla="*/ 60 h 522"/>
                <a:gd name="T42" fmla="*/ 135 w 452"/>
                <a:gd name="T43" fmla="*/ 56 h 522"/>
                <a:gd name="T44" fmla="*/ 175 w 452"/>
                <a:gd name="T45" fmla="*/ 61 h 522"/>
                <a:gd name="T46" fmla="*/ 212 w 452"/>
                <a:gd name="T47" fmla="*/ 61 h 522"/>
                <a:gd name="T48" fmla="*/ 216 w 452"/>
                <a:gd name="T49" fmla="*/ 60 h 522"/>
                <a:gd name="T50" fmla="*/ 230 w 452"/>
                <a:gd name="T51" fmla="*/ 60 h 522"/>
                <a:gd name="T52" fmla="*/ 266 w 452"/>
                <a:gd name="T53" fmla="*/ 54 h 522"/>
                <a:gd name="T54" fmla="*/ 301 w 452"/>
                <a:gd name="T55" fmla="*/ 43 h 522"/>
                <a:gd name="T56" fmla="*/ 309 w 452"/>
                <a:gd name="T57" fmla="*/ 40 h 522"/>
                <a:gd name="T58" fmla="*/ 326 w 452"/>
                <a:gd name="T59" fmla="*/ 32 h 522"/>
                <a:gd name="T60" fmla="*/ 334 w 452"/>
                <a:gd name="T61" fmla="*/ 29 h 522"/>
                <a:gd name="T62" fmla="*/ 385 w 452"/>
                <a:gd name="T63" fmla="*/ 0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52" h="522">
                  <a:moveTo>
                    <a:pt x="385" y="0"/>
                  </a:moveTo>
                  <a:lnTo>
                    <a:pt x="385" y="2"/>
                  </a:lnTo>
                  <a:lnTo>
                    <a:pt x="387" y="16"/>
                  </a:lnTo>
                  <a:lnTo>
                    <a:pt x="391" y="26"/>
                  </a:lnTo>
                  <a:lnTo>
                    <a:pt x="397" y="42"/>
                  </a:lnTo>
                  <a:lnTo>
                    <a:pt x="404" y="58"/>
                  </a:lnTo>
                  <a:lnTo>
                    <a:pt x="414" y="77"/>
                  </a:lnTo>
                  <a:lnTo>
                    <a:pt x="430" y="106"/>
                  </a:lnTo>
                  <a:lnTo>
                    <a:pt x="442" y="134"/>
                  </a:lnTo>
                  <a:lnTo>
                    <a:pt x="450" y="163"/>
                  </a:lnTo>
                  <a:lnTo>
                    <a:pt x="452" y="192"/>
                  </a:lnTo>
                  <a:lnTo>
                    <a:pt x="452" y="415"/>
                  </a:lnTo>
                  <a:lnTo>
                    <a:pt x="426" y="432"/>
                  </a:lnTo>
                  <a:lnTo>
                    <a:pt x="400" y="449"/>
                  </a:lnTo>
                  <a:lnTo>
                    <a:pt x="374" y="463"/>
                  </a:lnTo>
                  <a:lnTo>
                    <a:pt x="367" y="466"/>
                  </a:lnTo>
                  <a:lnTo>
                    <a:pt x="363" y="467"/>
                  </a:lnTo>
                  <a:lnTo>
                    <a:pt x="361" y="469"/>
                  </a:lnTo>
                  <a:lnTo>
                    <a:pt x="349" y="476"/>
                  </a:lnTo>
                  <a:lnTo>
                    <a:pt x="334" y="481"/>
                  </a:lnTo>
                  <a:lnTo>
                    <a:pt x="327" y="484"/>
                  </a:lnTo>
                  <a:lnTo>
                    <a:pt x="324" y="485"/>
                  </a:lnTo>
                  <a:lnTo>
                    <a:pt x="321" y="487"/>
                  </a:lnTo>
                  <a:lnTo>
                    <a:pt x="295" y="497"/>
                  </a:lnTo>
                  <a:lnTo>
                    <a:pt x="266" y="505"/>
                  </a:lnTo>
                  <a:lnTo>
                    <a:pt x="240" y="512"/>
                  </a:lnTo>
                  <a:lnTo>
                    <a:pt x="182" y="520"/>
                  </a:lnTo>
                  <a:lnTo>
                    <a:pt x="166" y="520"/>
                  </a:lnTo>
                  <a:lnTo>
                    <a:pt x="152" y="521"/>
                  </a:lnTo>
                  <a:lnTo>
                    <a:pt x="123" y="522"/>
                  </a:lnTo>
                  <a:lnTo>
                    <a:pt x="92" y="520"/>
                  </a:lnTo>
                  <a:lnTo>
                    <a:pt x="62" y="517"/>
                  </a:lnTo>
                  <a:lnTo>
                    <a:pt x="0" y="508"/>
                  </a:lnTo>
                  <a:lnTo>
                    <a:pt x="0" y="217"/>
                  </a:lnTo>
                  <a:lnTo>
                    <a:pt x="2" y="187"/>
                  </a:lnTo>
                  <a:lnTo>
                    <a:pt x="13" y="161"/>
                  </a:lnTo>
                  <a:lnTo>
                    <a:pt x="30" y="136"/>
                  </a:lnTo>
                  <a:lnTo>
                    <a:pt x="55" y="114"/>
                  </a:lnTo>
                  <a:lnTo>
                    <a:pt x="64" y="102"/>
                  </a:lnTo>
                  <a:lnTo>
                    <a:pt x="73" y="92"/>
                  </a:lnTo>
                  <a:lnTo>
                    <a:pt x="87" y="74"/>
                  </a:lnTo>
                  <a:lnTo>
                    <a:pt x="93" y="60"/>
                  </a:lnTo>
                  <a:lnTo>
                    <a:pt x="97" y="48"/>
                  </a:lnTo>
                  <a:lnTo>
                    <a:pt x="135" y="56"/>
                  </a:lnTo>
                  <a:lnTo>
                    <a:pt x="154" y="59"/>
                  </a:lnTo>
                  <a:lnTo>
                    <a:pt x="175" y="61"/>
                  </a:lnTo>
                  <a:lnTo>
                    <a:pt x="193" y="61"/>
                  </a:lnTo>
                  <a:lnTo>
                    <a:pt x="212" y="61"/>
                  </a:lnTo>
                  <a:lnTo>
                    <a:pt x="213" y="60"/>
                  </a:lnTo>
                  <a:lnTo>
                    <a:pt x="216" y="60"/>
                  </a:lnTo>
                  <a:lnTo>
                    <a:pt x="220" y="60"/>
                  </a:lnTo>
                  <a:lnTo>
                    <a:pt x="230" y="60"/>
                  </a:lnTo>
                  <a:lnTo>
                    <a:pt x="249" y="59"/>
                  </a:lnTo>
                  <a:lnTo>
                    <a:pt x="266" y="54"/>
                  </a:lnTo>
                  <a:lnTo>
                    <a:pt x="284" y="49"/>
                  </a:lnTo>
                  <a:lnTo>
                    <a:pt x="301" y="43"/>
                  </a:lnTo>
                  <a:lnTo>
                    <a:pt x="304" y="41"/>
                  </a:lnTo>
                  <a:lnTo>
                    <a:pt x="309" y="40"/>
                  </a:lnTo>
                  <a:lnTo>
                    <a:pt x="319" y="37"/>
                  </a:lnTo>
                  <a:lnTo>
                    <a:pt x="326" y="32"/>
                  </a:lnTo>
                  <a:lnTo>
                    <a:pt x="330" y="30"/>
                  </a:lnTo>
                  <a:lnTo>
                    <a:pt x="334" y="29"/>
                  </a:lnTo>
                  <a:lnTo>
                    <a:pt x="351" y="20"/>
                  </a:lnTo>
                  <a:lnTo>
                    <a:pt x="385"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295" name="Freeform 79">
              <a:extLst>
                <a:ext uri="{FF2B5EF4-FFF2-40B4-BE49-F238E27FC236}">
                  <a16:creationId xmlns:a16="http://schemas.microsoft.com/office/drawing/2014/main" id="{9DDEE486-FB81-0D97-F85F-EB1817B36CF5}"/>
                </a:ext>
              </a:extLst>
            </p:cNvPr>
            <p:cNvSpPr>
              <a:spLocks/>
            </p:cNvSpPr>
            <p:nvPr/>
          </p:nvSpPr>
          <p:spPr bwMode="auto">
            <a:xfrm>
              <a:off x="372" y="1625"/>
              <a:ext cx="129" cy="128"/>
            </a:xfrm>
            <a:custGeom>
              <a:avLst/>
              <a:gdLst>
                <a:gd name="T0" fmla="*/ 336 w 385"/>
                <a:gd name="T1" fmla="*/ 321 h 385"/>
                <a:gd name="T2" fmla="*/ 334 w 385"/>
                <a:gd name="T3" fmla="*/ 323 h 385"/>
                <a:gd name="T4" fmla="*/ 313 w 385"/>
                <a:gd name="T5" fmla="*/ 341 h 385"/>
                <a:gd name="T6" fmla="*/ 280 w 385"/>
                <a:gd name="T7" fmla="*/ 362 h 385"/>
                <a:gd name="T8" fmla="*/ 272 w 385"/>
                <a:gd name="T9" fmla="*/ 366 h 385"/>
                <a:gd name="T10" fmla="*/ 255 w 385"/>
                <a:gd name="T11" fmla="*/ 373 h 385"/>
                <a:gd name="T12" fmla="*/ 247 w 385"/>
                <a:gd name="T13" fmla="*/ 377 h 385"/>
                <a:gd name="T14" fmla="*/ 210 w 385"/>
                <a:gd name="T15" fmla="*/ 384 h 385"/>
                <a:gd name="T16" fmla="*/ 195 w 385"/>
                <a:gd name="T17" fmla="*/ 384 h 385"/>
                <a:gd name="T18" fmla="*/ 192 w 385"/>
                <a:gd name="T19" fmla="*/ 384 h 385"/>
                <a:gd name="T20" fmla="*/ 172 w 385"/>
                <a:gd name="T21" fmla="*/ 384 h 385"/>
                <a:gd name="T22" fmla="*/ 120 w 385"/>
                <a:gd name="T23" fmla="*/ 372 h 385"/>
                <a:gd name="T24" fmla="*/ 72 w 385"/>
                <a:gd name="T25" fmla="*/ 344 h 385"/>
                <a:gd name="T26" fmla="*/ 56 w 385"/>
                <a:gd name="T27" fmla="*/ 329 h 385"/>
                <a:gd name="T28" fmla="*/ 37 w 385"/>
                <a:gd name="T29" fmla="*/ 307 h 385"/>
                <a:gd name="T30" fmla="*/ 18 w 385"/>
                <a:gd name="T31" fmla="*/ 277 h 385"/>
                <a:gd name="T32" fmla="*/ 6 w 385"/>
                <a:gd name="T33" fmla="*/ 245 h 385"/>
                <a:gd name="T34" fmla="*/ 0 w 385"/>
                <a:gd name="T35" fmla="*/ 210 h 385"/>
                <a:gd name="T36" fmla="*/ 2 w 385"/>
                <a:gd name="T37" fmla="*/ 153 h 385"/>
                <a:gd name="T38" fmla="*/ 13 w 385"/>
                <a:gd name="T39" fmla="*/ 117 h 385"/>
                <a:gd name="T40" fmla="*/ 42 w 385"/>
                <a:gd name="T41" fmla="*/ 69 h 385"/>
                <a:gd name="T42" fmla="*/ 69 w 385"/>
                <a:gd name="T43" fmla="*/ 42 h 385"/>
                <a:gd name="T44" fmla="*/ 117 w 385"/>
                <a:gd name="T45" fmla="*/ 13 h 385"/>
                <a:gd name="T46" fmla="*/ 192 w 385"/>
                <a:gd name="T47" fmla="*/ 0 h 385"/>
                <a:gd name="T48" fmla="*/ 229 w 385"/>
                <a:gd name="T49" fmla="*/ 2 h 385"/>
                <a:gd name="T50" fmla="*/ 265 w 385"/>
                <a:gd name="T51" fmla="*/ 13 h 385"/>
                <a:gd name="T52" fmla="*/ 297 w 385"/>
                <a:gd name="T53" fmla="*/ 31 h 385"/>
                <a:gd name="T54" fmla="*/ 328 w 385"/>
                <a:gd name="T55" fmla="*/ 56 h 385"/>
                <a:gd name="T56" fmla="*/ 352 w 385"/>
                <a:gd name="T57" fmla="*/ 85 h 385"/>
                <a:gd name="T58" fmla="*/ 370 w 385"/>
                <a:gd name="T59" fmla="*/ 117 h 385"/>
                <a:gd name="T60" fmla="*/ 381 w 385"/>
                <a:gd name="T61" fmla="*/ 153 h 385"/>
                <a:gd name="T62" fmla="*/ 385 w 385"/>
                <a:gd name="T63" fmla="*/ 193 h 385"/>
                <a:gd name="T64" fmla="*/ 382 w 385"/>
                <a:gd name="T65" fmla="*/ 215 h 385"/>
                <a:gd name="T66" fmla="*/ 379 w 385"/>
                <a:gd name="T67" fmla="*/ 237 h 385"/>
                <a:gd name="T68" fmla="*/ 375 w 385"/>
                <a:gd name="T69" fmla="*/ 245 h 385"/>
                <a:gd name="T70" fmla="*/ 375 w 385"/>
                <a:gd name="T71" fmla="*/ 248 h 385"/>
                <a:gd name="T72" fmla="*/ 373 w 385"/>
                <a:gd name="T73" fmla="*/ 255 h 385"/>
                <a:gd name="T74" fmla="*/ 372 w 385"/>
                <a:gd name="T75" fmla="*/ 257 h 385"/>
                <a:gd name="T76" fmla="*/ 369 w 385"/>
                <a:gd name="T77" fmla="*/ 266 h 385"/>
                <a:gd name="T78" fmla="*/ 348 w 385"/>
                <a:gd name="T79" fmla="*/ 307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5" h="385">
                  <a:moveTo>
                    <a:pt x="348" y="307"/>
                  </a:moveTo>
                  <a:lnTo>
                    <a:pt x="336" y="321"/>
                  </a:lnTo>
                  <a:lnTo>
                    <a:pt x="334" y="321"/>
                  </a:lnTo>
                  <a:lnTo>
                    <a:pt x="334" y="323"/>
                  </a:lnTo>
                  <a:lnTo>
                    <a:pt x="328" y="329"/>
                  </a:lnTo>
                  <a:lnTo>
                    <a:pt x="313" y="341"/>
                  </a:lnTo>
                  <a:lnTo>
                    <a:pt x="297" y="353"/>
                  </a:lnTo>
                  <a:lnTo>
                    <a:pt x="280" y="362"/>
                  </a:lnTo>
                  <a:lnTo>
                    <a:pt x="276" y="363"/>
                  </a:lnTo>
                  <a:lnTo>
                    <a:pt x="272" y="366"/>
                  </a:lnTo>
                  <a:lnTo>
                    <a:pt x="265" y="371"/>
                  </a:lnTo>
                  <a:lnTo>
                    <a:pt x="255" y="373"/>
                  </a:lnTo>
                  <a:lnTo>
                    <a:pt x="250" y="374"/>
                  </a:lnTo>
                  <a:lnTo>
                    <a:pt x="247" y="377"/>
                  </a:lnTo>
                  <a:lnTo>
                    <a:pt x="229" y="381"/>
                  </a:lnTo>
                  <a:lnTo>
                    <a:pt x="210" y="384"/>
                  </a:lnTo>
                  <a:lnTo>
                    <a:pt x="200" y="384"/>
                  </a:lnTo>
                  <a:lnTo>
                    <a:pt x="195" y="384"/>
                  </a:lnTo>
                  <a:lnTo>
                    <a:pt x="193" y="384"/>
                  </a:lnTo>
                  <a:lnTo>
                    <a:pt x="192" y="384"/>
                  </a:lnTo>
                  <a:lnTo>
                    <a:pt x="192" y="385"/>
                  </a:lnTo>
                  <a:lnTo>
                    <a:pt x="172" y="384"/>
                  </a:lnTo>
                  <a:lnTo>
                    <a:pt x="154" y="381"/>
                  </a:lnTo>
                  <a:lnTo>
                    <a:pt x="120" y="372"/>
                  </a:lnTo>
                  <a:lnTo>
                    <a:pt x="87" y="355"/>
                  </a:lnTo>
                  <a:lnTo>
                    <a:pt x="72" y="344"/>
                  </a:lnTo>
                  <a:lnTo>
                    <a:pt x="58" y="332"/>
                  </a:lnTo>
                  <a:lnTo>
                    <a:pt x="56" y="329"/>
                  </a:lnTo>
                  <a:lnTo>
                    <a:pt x="50" y="323"/>
                  </a:lnTo>
                  <a:lnTo>
                    <a:pt x="37" y="307"/>
                  </a:lnTo>
                  <a:lnTo>
                    <a:pt x="27" y="293"/>
                  </a:lnTo>
                  <a:lnTo>
                    <a:pt x="18" y="277"/>
                  </a:lnTo>
                  <a:lnTo>
                    <a:pt x="12" y="263"/>
                  </a:lnTo>
                  <a:lnTo>
                    <a:pt x="6" y="245"/>
                  </a:lnTo>
                  <a:lnTo>
                    <a:pt x="2" y="228"/>
                  </a:lnTo>
                  <a:lnTo>
                    <a:pt x="0" y="210"/>
                  </a:lnTo>
                  <a:lnTo>
                    <a:pt x="0" y="193"/>
                  </a:lnTo>
                  <a:lnTo>
                    <a:pt x="2" y="153"/>
                  </a:lnTo>
                  <a:lnTo>
                    <a:pt x="6" y="134"/>
                  </a:lnTo>
                  <a:lnTo>
                    <a:pt x="13" y="117"/>
                  </a:lnTo>
                  <a:lnTo>
                    <a:pt x="31" y="85"/>
                  </a:lnTo>
                  <a:lnTo>
                    <a:pt x="42" y="69"/>
                  </a:lnTo>
                  <a:lnTo>
                    <a:pt x="56" y="56"/>
                  </a:lnTo>
                  <a:lnTo>
                    <a:pt x="69" y="42"/>
                  </a:lnTo>
                  <a:lnTo>
                    <a:pt x="85" y="31"/>
                  </a:lnTo>
                  <a:lnTo>
                    <a:pt x="117" y="13"/>
                  </a:lnTo>
                  <a:lnTo>
                    <a:pt x="152" y="2"/>
                  </a:lnTo>
                  <a:lnTo>
                    <a:pt x="192" y="0"/>
                  </a:lnTo>
                  <a:lnTo>
                    <a:pt x="210" y="0"/>
                  </a:lnTo>
                  <a:lnTo>
                    <a:pt x="229" y="2"/>
                  </a:lnTo>
                  <a:lnTo>
                    <a:pt x="247" y="6"/>
                  </a:lnTo>
                  <a:lnTo>
                    <a:pt x="265" y="13"/>
                  </a:lnTo>
                  <a:lnTo>
                    <a:pt x="280" y="20"/>
                  </a:lnTo>
                  <a:lnTo>
                    <a:pt x="297" y="31"/>
                  </a:lnTo>
                  <a:lnTo>
                    <a:pt x="313" y="42"/>
                  </a:lnTo>
                  <a:lnTo>
                    <a:pt x="328" y="56"/>
                  </a:lnTo>
                  <a:lnTo>
                    <a:pt x="340" y="69"/>
                  </a:lnTo>
                  <a:lnTo>
                    <a:pt x="352" y="85"/>
                  </a:lnTo>
                  <a:lnTo>
                    <a:pt x="362" y="101"/>
                  </a:lnTo>
                  <a:lnTo>
                    <a:pt x="370" y="117"/>
                  </a:lnTo>
                  <a:lnTo>
                    <a:pt x="376" y="134"/>
                  </a:lnTo>
                  <a:lnTo>
                    <a:pt x="381" y="153"/>
                  </a:lnTo>
                  <a:lnTo>
                    <a:pt x="384" y="173"/>
                  </a:lnTo>
                  <a:lnTo>
                    <a:pt x="385" y="193"/>
                  </a:lnTo>
                  <a:lnTo>
                    <a:pt x="384" y="207"/>
                  </a:lnTo>
                  <a:lnTo>
                    <a:pt x="382" y="215"/>
                  </a:lnTo>
                  <a:lnTo>
                    <a:pt x="382" y="223"/>
                  </a:lnTo>
                  <a:lnTo>
                    <a:pt x="379" y="237"/>
                  </a:lnTo>
                  <a:lnTo>
                    <a:pt x="376" y="245"/>
                  </a:lnTo>
                  <a:lnTo>
                    <a:pt x="375" y="245"/>
                  </a:lnTo>
                  <a:lnTo>
                    <a:pt x="375" y="246"/>
                  </a:lnTo>
                  <a:lnTo>
                    <a:pt x="375" y="248"/>
                  </a:lnTo>
                  <a:lnTo>
                    <a:pt x="375" y="253"/>
                  </a:lnTo>
                  <a:lnTo>
                    <a:pt x="373" y="255"/>
                  </a:lnTo>
                  <a:lnTo>
                    <a:pt x="372" y="255"/>
                  </a:lnTo>
                  <a:lnTo>
                    <a:pt x="372" y="257"/>
                  </a:lnTo>
                  <a:lnTo>
                    <a:pt x="372" y="259"/>
                  </a:lnTo>
                  <a:lnTo>
                    <a:pt x="369" y="266"/>
                  </a:lnTo>
                  <a:lnTo>
                    <a:pt x="363" y="281"/>
                  </a:lnTo>
                  <a:lnTo>
                    <a:pt x="348" y="307"/>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296" name="Freeform 80">
              <a:extLst>
                <a:ext uri="{FF2B5EF4-FFF2-40B4-BE49-F238E27FC236}">
                  <a16:creationId xmlns:a16="http://schemas.microsoft.com/office/drawing/2014/main" id="{5EB61D53-3298-BFA8-2620-C2B7123DB448}"/>
                </a:ext>
              </a:extLst>
            </p:cNvPr>
            <p:cNvSpPr>
              <a:spLocks/>
            </p:cNvSpPr>
            <p:nvPr/>
          </p:nvSpPr>
          <p:spPr bwMode="auto">
            <a:xfrm>
              <a:off x="329" y="1745"/>
              <a:ext cx="72" cy="174"/>
            </a:xfrm>
            <a:custGeom>
              <a:avLst/>
              <a:gdLst>
                <a:gd name="T0" fmla="*/ 12 w 216"/>
                <a:gd name="T1" fmla="*/ 143 h 520"/>
                <a:gd name="T2" fmla="*/ 22 w 216"/>
                <a:gd name="T3" fmla="*/ 114 h 520"/>
                <a:gd name="T4" fmla="*/ 36 w 216"/>
                <a:gd name="T5" fmla="*/ 89 h 520"/>
                <a:gd name="T6" fmla="*/ 54 w 216"/>
                <a:gd name="T7" fmla="*/ 64 h 520"/>
                <a:gd name="T8" fmla="*/ 76 w 216"/>
                <a:gd name="T9" fmla="*/ 41 h 520"/>
                <a:gd name="T10" fmla="*/ 100 w 216"/>
                <a:gd name="T11" fmla="*/ 18 h 520"/>
                <a:gd name="T12" fmla="*/ 126 w 216"/>
                <a:gd name="T13" fmla="*/ 0 h 520"/>
                <a:gd name="T14" fmla="*/ 145 w 216"/>
                <a:gd name="T15" fmla="*/ 2 h 520"/>
                <a:gd name="T16" fmla="*/ 163 w 216"/>
                <a:gd name="T17" fmla="*/ 7 h 520"/>
                <a:gd name="T18" fmla="*/ 179 w 216"/>
                <a:gd name="T19" fmla="*/ 12 h 520"/>
                <a:gd name="T20" fmla="*/ 192 w 216"/>
                <a:gd name="T21" fmla="*/ 19 h 520"/>
                <a:gd name="T22" fmla="*/ 200 w 216"/>
                <a:gd name="T23" fmla="*/ 25 h 520"/>
                <a:gd name="T24" fmla="*/ 209 w 216"/>
                <a:gd name="T25" fmla="*/ 34 h 520"/>
                <a:gd name="T26" fmla="*/ 212 w 216"/>
                <a:gd name="T27" fmla="*/ 42 h 520"/>
                <a:gd name="T28" fmla="*/ 216 w 216"/>
                <a:gd name="T29" fmla="*/ 52 h 520"/>
                <a:gd name="T30" fmla="*/ 215 w 216"/>
                <a:gd name="T31" fmla="*/ 52 h 520"/>
                <a:gd name="T32" fmla="*/ 215 w 216"/>
                <a:gd name="T33" fmla="*/ 53 h 520"/>
                <a:gd name="T34" fmla="*/ 215 w 216"/>
                <a:gd name="T35" fmla="*/ 55 h 520"/>
                <a:gd name="T36" fmla="*/ 215 w 216"/>
                <a:gd name="T37" fmla="*/ 60 h 520"/>
                <a:gd name="T38" fmla="*/ 211 w 216"/>
                <a:gd name="T39" fmla="*/ 72 h 520"/>
                <a:gd name="T40" fmla="*/ 205 w 216"/>
                <a:gd name="T41" fmla="*/ 86 h 520"/>
                <a:gd name="T42" fmla="*/ 191 w 216"/>
                <a:gd name="T43" fmla="*/ 104 h 520"/>
                <a:gd name="T44" fmla="*/ 182 w 216"/>
                <a:gd name="T45" fmla="*/ 114 h 520"/>
                <a:gd name="T46" fmla="*/ 173 w 216"/>
                <a:gd name="T47" fmla="*/ 126 h 520"/>
                <a:gd name="T48" fmla="*/ 148 w 216"/>
                <a:gd name="T49" fmla="*/ 148 h 520"/>
                <a:gd name="T50" fmla="*/ 131 w 216"/>
                <a:gd name="T51" fmla="*/ 173 h 520"/>
                <a:gd name="T52" fmla="*/ 120 w 216"/>
                <a:gd name="T53" fmla="*/ 199 h 520"/>
                <a:gd name="T54" fmla="*/ 118 w 216"/>
                <a:gd name="T55" fmla="*/ 229 h 520"/>
                <a:gd name="T56" fmla="*/ 118 w 216"/>
                <a:gd name="T57" fmla="*/ 520 h 520"/>
                <a:gd name="T58" fmla="*/ 97 w 216"/>
                <a:gd name="T59" fmla="*/ 518 h 520"/>
                <a:gd name="T60" fmla="*/ 79 w 216"/>
                <a:gd name="T61" fmla="*/ 516 h 520"/>
                <a:gd name="T62" fmla="*/ 62 w 216"/>
                <a:gd name="T63" fmla="*/ 510 h 520"/>
                <a:gd name="T64" fmla="*/ 48 w 216"/>
                <a:gd name="T65" fmla="*/ 504 h 520"/>
                <a:gd name="T66" fmla="*/ 34 w 216"/>
                <a:gd name="T67" fmla="*/ 493 h 520"/>
                <a:gd name="T68" fmla="*/ 23 w 216"/>
                <a:gd name="T69" fmla="*/ 481 h 520"/>
                <a:gd name="T70" fmla="*/ 12 w 216"/>
                <a:gd name="T71" fmla="*/ 466 h 520"/>
                <a:gd name="T72" fmla="*/ 4 w 216"/>
                <a:gd name="T73" fmla="*/ 450 h 520"/>
                <a:gd name="T74" fmla="*/ 0 w 216"/>
                <a:gd name="T75" fmla="*/ 426 h 520"/>
                <a:gd name="T76" fmla="*/ 0 w 216"/>
                <a:gd name="T77" fmla="*/ 401 h 520"/>
                <a:gd name="T78" fmla="*/ 0 w 216"/>
                <a:gd name="T79" fmla="*/ 223 h 520"/>
                <a:gd name="T80" fmla="*/ 1 w 216"/>
                <a:gd name="T81" fmla="*/ 197 h 520"/>
                <a:gd name="T82" fmla="*/ 5 w 216"/>
                <a:gd name="T83" fmla="*/ 173 h 520"/>
                <a:gd name="T84" fmla="*/ 12 w 216"/>
                <a:gd name="T85" fmla="*/ 143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6" h="520">
                  <a:moveTo>
                    <a:pt x="12" y="143"/>
                  </a:moveTo>
                  <a:lnTo>
                    <a:pt x="22" y="114"/>
                  </a:lnTo>
                  <a:lnTo>
                    <a:pt x="36" y="89"/>
                  </a:lnTo>
                  <a:lnTo>
                    <a:pt x="54" y="64"/>
                  </a:lnTo>
                  <a:lnTo>
                    <a:pt x="76" y="41"/>
                  </a:lnTo>
                  <a:lnTo>
                    <a:pt x="100" y="18"/>
                  </a:lnTo>
                  <a:lnTo>
                    <a:pt x="126" y="0"/>
                  </a:lnTo>
                  <a:lnTo>
                    <a:pt x="145" y="2"/>
                  </a:lnTo>
                  <a:lnTo>
                    <a:pt x="163" y="7"/>
                  </a:lnTo>
                  <a:lnTo>
                    <a:pt x="179" y="12"/>
                  </a:lnTo>
                  <a:lnTo>
                    <a:pt x="192" y="19"/>
                  </a:lnTo>
                  <a:lnTo>
                    <a:pt x="200" y="25"/>
                  </a:lnTo>
                  <a:lnTo>
                    <a:pt x="209" y="34"/>
                  </a:lnTo>
                  <a:lnTo>
                    <a:pt x="212" y="42"/>
                  </a:lnTo>
                  <a:lnTo>
                    <a:pt x="216" y="52"/>
                  </a:lnTo>
                  <a:lnTo>
                    <a:pt x="215" y="52"/>
                  </a:lnTo>
                  <a:lnTo>
                    <a:pt x="215" y="53"/>
                  </a:lnTo>
                  <a:lnTo>
                    <a:pt x="215" y="55"/>
                  </a:lnTo>
                  <a:lnTo>
                    <a:pt x="215" y="60"/>
                  </a:lnTo>
                  <a:lnTo>
                    <a:pt x="211" y="72"/>
                  </a:lnTo>
                  <a:lnTo>
                    <a:pt x="205" y="86"/>
                  </a:lnTo>
                  <a:lnTo>
                    <a:pt x="191" y="104"/>
                  </a:lnTo>
                  <a:lnTo>
                    <a:pt x="182" y="114"/>
                  </a:lnTo>
                  <a:lnTo>
                    <a:pt x="173" y="126"/>
                  </a:lnTo>
                  <a:lnTo>
                    <a:pt x="148" y="148"/>
                  </a:lnTo>
                  <a:lnTo>
                    <a:pt x="131" y="173"/>
                  </a:lnTo>
                  <a:lnTo>
                    <a:pt x="120" y="199"/>
                  </a:lnTo>
                  <a:lnTo>
                    <a:pt x="118" y="229"/>
                  </a:lnTo>
                  <a:lnTo>
                    <a:pt x="118" y="520"/>
                  </a:lnTo>
                  <a:lnTo>
                    <a:pt x="97" y="518"/>
                  </a:lnTo>
                  <a:lnTo>
                    <a:pt x="79" y="516"/>
                  </a:lnTo>
                  <a:lnTo>
                    <a:pt x="62" y="510"/>
                  </a:lnTo>
                  <a:lnTo>
                    <a:pt x="48" y="504"/>
                  </a:lnTo>
                  <a:lnTo>
                    <a:pt x="34" y="493"/>
                  </a:lnTo>
                  <a:lnTo>
                    <a:pt x="23" y="481"/>
                  </a:lnTo>
                  <a:lnTo>
                    <a:pt x="12" y="466"/>
                  </a:lnTo>
                  <a:lnTo>
                    <a:pt x="4" y="450"/>
                  </a:lnTo>
                  <a:lnTo>
                    <a:pt x="0" y="426"/>
                  </a:lnTo>
                  <a:lnTo>
                    <a:pt x="0" y="401"/>
                  </a:lnTo>
                  <a:lnTo>
                    <a:pt x="0" y="223"/>
                  </a:lnTo>
                  <a:lnTo>
                    <a:pt x="1" y="197"/>
                  </a:lnTo>
                  <a:lnTo>
                    <a:pt x="5" y="173"/>
                  </a:lnTo>
                  <a:lnTo>
                    <a:pt x="12" y="14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297" name="Freeform 81">
              <a:extLst>
                <a:ext uri="{FF2B5EF4-FFF2-40B4-BE49-F238E27FC236}">
                  <a16:creationId xmlns:a16="http://schemas.microsoft.com/office/drawing/2014/main" id="{2E4CECD6-ADA3-F801-1738-0712C4EBAE7C}"/>
                </a:ext>
              </a:extLst>
            </p:cNvPr>
            <p:cNvSpPr>
              <a:spLocks/>
            </p:cNvSpPr>
            <p:nvPr/>
          </p:nvSpPr>
          <p:spPr bwMode="auto">
            <a:xfrm>
              <a:off x="372" y="1625"/>
              <a:ext cx="129" cy="111"/>
            </a:xfrm>
            <a:custGeom>
              <a:avLst/>
              <a:gdLst>
                <a:gd name="T0" fmla="*/ 58 w 385"/>
                <a:gd name="T1" fmla="*/ 332 h 332"/>
                <a:gd name="T2" fmla="*/ 56 w 385"/>
                <a:gd name="T3" fmla="*/ 329 h 332"/>
                <a:gd name="T4" fmla="*/ 50 w 385"/>
                <a:gd name="T5" fmla="*/ 323 h 332"/>
                <a:gd name="T6" fmla="*/ 37 w 385"/>
                <a:gd name="T7" fmla="*/ 307 h 332"/>
                <a:gd name="T8" fmla="*/ 27 w 385"/>
                <a:gd name="T9" fmla="*/ 293 h 332"/>
                <a:gd name="T10" fmla="*/ 18 w 385"/>
                <a:gd name="T11" fmla="*/ 277 h 332"/>
                <a:gd name="T12" fmla="*/ 12 w 385"/>
                <a:gd name="T13" fmla="*/ 263 h 332"/>
                <a:gd name="T14" fmla="*/ 6 w 385"/>
                <a:gd name="T15" fmla="*/ 245 h 332"/>
                <a:gd name="T16" fmla="*/ 2 w 385"/>
                <a:gd name="T17" fmla="*/ 228 h 332"/>
                <a:gd name="T18" fmla="*/ 0 w 385"/>
                <a:gd name="T19" fmla="*/ 210 h 332"/>
                <a:gd name="T20" fmla="*/ 0 w 385"/>
                <a:gd name="T21" fmla="*/ 193 h 332"/>
                <a:gd name="T22" fmla="*/ 2 w 385"/>
                <a:gd name="T23" fmla="*/ 153 h 332"/>
                <a:gd name="T24" fmla="*/ 6 w 385"/>
                <a:gd name="T25" fmla="*/ 134 h 332"/>
                <a:gd name="T26" fmla="*/ 13 w 385"/>
                <a:gd name="T27" fmla="*/ 117 h 332"/>
                <a:gd name="T28" fmla="*/ 31 w 385"/>
                <a:gd name="T29" fmla="*/ 85 h 332"/>
                <a:gd name="T30" fmla="*/ 42 w 385"/>
                <a:gd name="T31" fmla="*/ 69 h 332"/>
                <a:gd name="T32" fmla="*/ 56 w 385"/>
                <a:gd name="T33" fmla="*/ 56 h 332"/>
                <a:gd name="T34" fmla="*/ 69 w 385"/>
                <a:gd name="T35" fmla="*/ 42 h 332"/>
                <a:gd name="T36" fmla="*/ 85 w 385"/>
                <a:gd name="T37" fmla="*/ 31 h 332"/>
                <a:gd name="T38" fmla="*/ 117 w 385"/>
                <a:gd name="T39" fmla="*/ 13 h 332"/>
                <a:gd name="T40" fmla="*/ 152 w 385"/>
                <a:gd name="T41" fmla="*/ 2 h 332"/>
                <a:gd name="T42" fmla="*/ 192 w 385"/>
                <a:gd name="T43" fmla="*/ 0 h 332"/>
                <a:gd name="T44" fmla="*/ 210 w 385"/>
                <a:gd name="T45" fmla="*/ 0 h 332"/>
                <a:gd name="T46" fmla="*/ 229 w 385"/>
                <a:gd name="T47" fmla="*/ 2 h 332"/>
                <a:gd name="T48" fmla="*/ 247 w 385"/>
                <a:gd name="T49" fmla="*/ 6 h 332"/>
                <a:gd name="T50" fmla="*/ 265 w 385"/>
                <a:gd name="T51" fmla="*/ 13 h 332"/>
                <a:gd name="T52" fmla="*/ 280 w 385"/>
                <a:gd name="T53" fmla="*/ 20 h 332"/>
                <a:gd name="T54" fmla="*/ 297 w 385"/>
                <a:gd name="T55" fmla="*/ 31 h 332"/>
                <a:gd name="T56" fmla="*/ 313 w 385"/>
                <a:gd name="T57" fmla="*/ 42 h 332"/>
                <a:gd name="T58" fmla="*/ 328 w 385"/>
                <a:gd name="T59" fmla="*/ 56 h 332"/>
                <a:gd name="T60" fmla="*/ 340 w 385"/>
                <a:gd name="T61" fmla="*/ 69 h 332"/>
                <a:gd name="T62" fmla="*/ 352 w 385"/>
                <a:gd name="T63" fmla="*/ 85 h 332"/>
                <a:gd name="T64" fmla="*/ 362 w 385"/>
                <a:gd name="T65" fmla="*/ 101 h 332"/>
                <a:gd name="T66" fmla="*/ 370 w 385"/>
                <a:gd name="T67" fmla="*/ 117 h 332"/>
                <a:gd name="T68" fmla="*/ 376 w 385"/>
                <a:gd name="T69" fmla="*/ 134 h 332"/>
                <a:gd name="T70" fmla="*/ 381 w 385"/>
                <a:gd name="T71" fmla="*/ 153 h 332"/>
                <a:gd name="T72" fmla="*/ 384 w 385"/>
                <a:gd name="T73" fmla="*/ 173 h 332"/>
                <a:gd name="T74" fmla="*/ 385 w 385"/>
                <a:gd name="T75" fmla="*/ 193 h 332"/>
                <a:gd name="T76" fmla="*/ 384 w 385"/>
                <a:gd name="T77" fmla="*/ 207 h 332"/>
                <a:gd name="T78" fmla="*/ 382 w 385"/>
                <a:gd name="T79" fmla="*/ 215 h 332"/>
                <a:gd name="T80" fmla="*/ 382 w 385"/>
                <a:gd name="T81" fmla="*/ 223 h 332"/>
                <a:gd name="T82" fmla="*/ 379 w 385"/>
                <a:gd name="T83" fmla="*/ 237 h 332"/>
                <a:gd name="T84" fmla="*/ 376 w 385"/>
                <a:gd name="T85" fmla="*/ 245 h 332"/>
                <a:gd name="T86" fmla="*/ 375 w 385"/>
                <a:gd name="T87" fmla="*/ 245 h 332"/>
                <a:gd name="T88" fmla="*/ 375 w 385"/>
                <a:gd name="T89" fmla="*/ 246 h 332"/>
                <a:gd name="T90" fmla="*/ 375 w 385"/>
                <a:gd name="T91" fmla="*/ 248 h 332"/>
                <a:gd name="T92" fmla="*/ 375 w 385"/>
                <a:gd name="T93" fmla="*/ 253 h 332"/>
                <a:gd name="T94" fmla="*/ 373 w 385"/>
                <a:gd name="T95" fmla="*/ 255 h 332"/>
                <a:gd name="T96" fmla="*/ 372 w 385"/>
                <a:gd name="T97" fmla="*/ 255 h 332"/>
                <a:gd name="T98" fmla="*/ 372 w 385"/>
                <a:gd name="T99" fmla="*/ 257 h 332"/>
                <a:gd name="T100" fmla="*/ 372 w 385"/>
                <a:gd name="T101" fmla="*/ 259 h 332"/>
                <a:gd name="T102" fmla="*/ 369 w 385"/>
                <a:gd name="T103" fmla="*/ 266 h 332"/>
                <a:gd name="T104" fmla="*/ 363 w 385"/>
                <a:gd name="T105" fmla="*/ 281 h 332"/>
                <a:gd name="T106" fmla="*/ 348 w 385"/>
                <a:gd name="T107" fmla="*/ 307 h 332"/>
                <a:gd name="T108" fmla="*/ 336 w 385"/>
                <a:gd name="T109" fmla="*/ 321 h 332"/>
                <a:gd name="T110" fmla="*/ 334 w 385"/>
                <a:gd name="T111" fmla="*/ 321 h 332"/>
                <a:gd name="T112" fmla="*/ 334 w 385"/>
                <a:gd name="T113" fmla="*/ 323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85" h="332">
                  <a:moveTo>
                    <a:pt x="58" y="332"/>
                  </a:moveTo>
                  <a:lnTo>
                    <a:pt x="56" y="329"/>
                  </a:lnTo>
                  <a:lnTo>
                    <a:pt x="50" y="323"/>
                  </a:lnTo>
                  <a:lnTo>
                    <a:pt x="37" y="307"/>
                  </a:lnTo>
                  <a:lnTo>
                    <a:pt x="27" y="293"/>
                  </a:lnTo>
                  <a:lnTo>
                    <a:pt x="18" y="277"/>
                  </a:lnTo>
                  <a:lnTo>
                    <a:pt x="12" y="263"/>
                  </a:lnTo>
                  <a:lnTo>
                    <a:pt x="6" y="245"/>
                  </a:lnTo>
                  <a:lnTo>
                    <a:pt x="2" y="228"/>
                  </a:lnTo>
                  <a:lnTo>
                    <a:pt x="0" y="210"/>
                  </a:lnTo>
                  <a:lnTo>
                    <a:pt x="0" y="193"/>
                  </a:lnTo>
                  <a:lnTo>
                    <a:pt x="2" y="153"/>
                  </a:lnTo>
                  <a:lnTo>
                    <a:pt x="6" y="134"/>
                  </a:lnTo>
                  <a:lnTo>
                    <a:pt x="13" y="117"/>
                  </a:lnTo>
                  <a:lnTo>
                    <a:pt x="31" y="85"/>
                  </a:lnTo>
                  <a:lnTo>
                    <a:pt x="42" y="69"/>
                  </a:lnTo>
                  <a:lnTo>
                    <a:pt x="56" y="56"/>
                  </a:lnTo>
                  <a:lnTo>
                    <a:pt x="69" y="42"/>
                  </a:lnTo>
                  <a:lnTo>
                    <a:pt x="85" y="31"/>
                  </a:lnTo>
                  <a:lnTo>
                    <a:pt x="117" y="13"/>
                  </a:lnTo>
                  <a:lnTo>
                    <a:pt x="152" y="2"/>
                  </a:lnTo>
                  <a:lnTo>
                    <a:pt x="192" y="0"/>
                  </a:lnTo>
                  <a:lnTo>
                    <a:pt x="210" y="0"/>
                  </a:lnTo>
                  <a:lnTo>
                    <a:pt x="229" y="2"/>
                  </a:lnTo>
                  <a:lnTo>
                    <a:pt x="247" y="6"/>
                  </a:lnTo>
                  <a:lnTo>
                    <a:pt x="265" y="13"/>
                  </a:lnTo>
                  <a:lnTo>
                    <a:pt x="280" y="20"/>
                  </a:lnTo>
                  <a:lnTo>
                    <a:pt x="297" y="31"/>
                  </a:lnTo>
                  <a:lnTo>
                    <a:pt x="313" y="42"/>
                  </a:lnTo>
                  <a:lnTo>
                    <a:pt x="328" y="56"/>
                  </a:lnTo>
                  <a:lnTo>
                    <a:pt x="340" y="69"/>
                  </a:lnTo>
                  <a:lnTo>
                    <a:pt x="352" y="85"/>
                  </a:lnTo>
                  <a:lnTo>
                    <a:pt x="362" y="101"/>
                  </a:lnTo>
                  <a:lnTo>
                    <a:pt x="370" y="117"/>
                  </a:lnTo>
                  <a:lnTo>
                    <a:pt x="376" y="134"/>
                  </a:lnTo>
                  <a:lnTo>
                    <a:pt x="381" y="153"/>
                  </a:lnTo>
                  <a:lnTo>
                    <a:pt x="384" y="173"/>
                  </a:lnTo>
                  <a:lnTo>
                    <a:pt x="385" y="193"/>
                  </a:lnTo>
                  <a:lnTo>
                    <a:pt x="384" y="207"/>
                  </a:lnTo>
                  <a:lnTo>
                    <a:pt x="382" y="215"/>
                  </a:lnTo>
                  <a:lnTo>
                    <a:pt x="382" y="223"/>
                  </a:lnTo>
                  <a:lnTo>
                    <a:pt x="379" y="237"/>
                  </a:lnTo>
                  <a:lnTo>
                    <a:pt x="376" y="245"/>
                  </a:lnTo>
                  <a:lnTo>
                    <a:pt x="375" y="245"/>
                  </a:lnTo>
                  <a:lnTo>
                    <a:pt x="375" y="246"/>
                  </a:lnTo>
                  <a:lnTo>
                    <a:pt x="375" y="248"/>
                  </a:lnTo>
                  <a:lnTo>
                    <a:pt x="375" y="253"/>
                  </a:lnTo>
                  <a:lnTo>
                    <a:pt x="373" y="255"/>
                  </a:lnTo>
                  <a:lnTo>
                    <a:pt x="372" y="255"/>
                  </a:lnTo>
                  <a:lnTo>
                    <a:pt x="372" y="257"/>
                  </a:lnTo>
                  <a:lnTo>
                    <a:pt x="372" y="259"/>
                  </a:lnTo>
                  <a:lnTo>
                    <a:pt x="369" y="266"/>
                  </a:lnTo>
                  <a:lnTo>
                    <a:pt x="363" y="281"/>
                  </a:lnTo>
                  <a:lnTo>
                    <a:pt x="348" y="307"/>
                  </a:lnTo>
                  <a:lnTo>
                    <a:pt x="336" y="321"/>
                  </a:lnTo>
                  <a:lnTo>
                    <a:pt x="334" y="321"/>
                  </a:lnTo>
                  <a:lnTo>
                    <a:pt x="334" y="323"/>
                  </a:lnTo>
                </a:path>
              </a:pathLst>
            </a:custGeom>
            <a:solidFill>
              <a:srgbClr val="FFCC99"/>
            </a:solidFill>
            <a:ln w="19050">
              <a:solidFill>
                <a:srgbClr val="333333"/>
              </a:solidFill>
              <a:prstDash val="solid"/>
              <a:round/>
              <a:headEnd/>
              <a:tailEnd/>
            </a:ln>
          </p:spPr>
          <p:txBody>
            <a:bodyPr/>
            <a:lstStyle/>
            <a:p>
              <a:endParaRPr lang="en-IN"/>
            </a:p>
          </p:txBody>
        </p:sp>
        <p:sp>
          <p:nvSpPr>
            <p:cNvPr id="137298" name="Freeform 82">
              <a:extLst>
                <a:ext uri="{FF2B5EF4-FFF2-40B4-BE49-F238E27FC236}">
                  <a16:creationId xmlns:a16="http://schemas.microsoft.com/office/drawing/2014/main" id="{F75543B7-AA2A-36C7-9B05-1E99C45AE79D}"/>
                </a:ext>
              </a:extLst>
            </p:cNvPr>
            <p:cNvSpPr>
              <a:spLocks/>
            </p:cNvSpPr>
            <p:nvPr/>
          </p:nvSpPr>
          <p:spPr bwMode="auto">
            <a:xfrm>
              <a:off x="392" y="1728"/>
              <a:ext cx="92" cy="20"/>
            </a:xfrm>
            <a:custGeom>
              <a:avLst/>
              <a:gdLst>
                <a:gd name="T0" fmla="*/ 0 w 276"/>
                <a:gd name="T1" fmla="*/ 9 h 62"/>
                <a:gd name="T2" fmla="*/ 14 w 276"/>
                <a:gd name="T3" fmla="*/ 21 h 62"/>
                <a:gd name="T4" fmla="*/ 29 w 276"/>
                <a:gd name="T5" fmla="*/ 32 h 62"/>
                <a:gd name="T6" fmla="*/ 62 w 276"/>
                <a:gd name="T7" fmla="*/ 49 h 62"/>
                <a:gd name="T8" fmla="*/ 96 w 276"/>
                <a:gd name="T9" fmla="*/ 58 h 62"/>
                <a:gd name="T10" fmla="*/ 114 w 276"/>
                <a:gd name="T11" fmla="*/ 61 h 62"/>
                <a:gd name="T12" fmla="*/ 134 w 276"/>
                <a:gd name="T13" fmla="*/ 62 h 62"/>
                <a:gd name="T14" fmla="*/ 134 w 276"/>
                <a:gd name="T15" fmla="*/ 61 h 62"/>
                <a:gd name="T16" fmla="*/ 135 w 276"/>
                <a:gd name="T17" fmla="*/ 61 h 62"/>
                <a:gd name="T18" fmla="*/ 137 w 276"/>
                <a:gd name="T19" fmla="*/ 61 h 62"/>
                <a:gd name="T20" fmla="*/ 142 w 276"/>
                <a:gd name="T21" fmla="*/ 61 h 62"/>
                <a:gd name="T22" fmla="*/ 152 w 276"/>
                <a:gd name="T23" fmla="*/ 61 h 62"/>
                <a:gd name="T24" fmla="*/ 171 w 276"/>
                <a:gd name="T25" fmla="*/ 58 h 62"/>
                <a:gd name="T26" fmla="*/ 189 w 276"/>
                <a:gd name="T27" fmla="*/ 54 h 62"/>
                <a:gd name="T28" fmla="*/ 192 w 276"/>
                <a:gd name="T29" fmla="*/ 51 h 62"/>
                <a:gd name="T30" fmla="*/ 197 w 276"/>
                <a:gd name="T31" fmla="*/ 50 h 62"/>
                <a:gd name="T32" fmla="*/ 207 w 276"/>
                <a:gd name="T33" fmla="*/ 48 h 62"/>
                <a:gd name="T34" fmla="*/ 214 w 276"/>
                <a:gd name="T35" fmla="*/ 43 h 62"/>
                <a:gd name="T36" fmla="*/ 218 w 276"/>
                <a:gd name="T37" fmla="*/ 40 h 62"/>
                <a:gd name="T38" fmla="*/ 222 w 276"/>
                <a:gd name="T39" fmla="*/ 39 h 62"/>
                <a:gd name="T40" fmla="*/ 239 w 276"/>
                <a:gd name="T41" fmla="*/ 30 h 62"/>
                <a:gd name="T42" fmla="*/ 255 w 276"/>
                <a:gd name="T43" fmla="*/ 18 h 62"/>
                <a:gd name="T44" fmla="*/ 270 w 276"/>
                <a:gd name="T45" fmla="*/ 6 h 62"/>
                <a:gd name="T46" fmla="*/ 276 w 276"/>
                <a:gd name="T4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6" h="62">
                  <a:moveTo>
                    <a:pt x="0" y="9"/>
                  </a:moveTo>
                  <a:lnTo>
                    <a:pt x="14" y="21"/>
                  </a:lnTo>
                  <a:lnTo>
                    <a:pt x="29" y="32"/>
                  </a:lnTo>
                  <a:lnTo>
                    <a:pt x="62" y="49"/>
                  </a:lnTo>
                  <a:lnTo>
                    <a:pt x="96" y="58"/>
                  </a:lnTo>
                  <a:lnTo>
                    <a:pt x="114" y="61"/>
                  </a:lnTo>
                  <a:lnTo>
                    <a:pt x="134" y="62"/>
                  </a:lnTo>
                  <a:lnTo>
                    <a:pt x="134" y="61"/>
                  </a:lnTo>
                  <a:lnTo>
                    <a:pt x="135" y="61"/>
                  </a:lnTo>
                  <a:lnTo>
                    <a:pt x="137" y="61"/>
                  </a:lnTo>
                  <a:lnTo>
                    <a:pt x="142" y="61"/>
                  </a:lnTo>
                  <a:lnTo>
                    <a:pt x="152" y="61"/>
                  </a:lnTo>
                  <a:lnTo>
                    <a:pt x="171" y="58"/>
                  </a:lnTo>
                  <a:lnTo>
                    <a:pt x="189" y="54"/>
                  </a:lnTo>
                  <a:lnTo>
                    <a:pt x="192" y="51"/>
                  </a:lnTo>
                  <a:lnTo>
                    <a:pt x="197" y="50"/>
                  </a:lnTo>
                  <a:lnTo>
                    <a:pt x="207" y="48"/>
                  </a:lnTo>
                  <a:lnTo>
                    <a:pt x="214" y="43"/>
                  </a:lnTo>
                  <a:lnTo>
                    <a:pt x="218" y="40"/>
                  </a:lnTo>
                  <a:lnTo>
                    <a:pt x="222" y="39"/>
                  </a:lnTo>
                  <a:lnTo>
                    <a:pt x="239" y="30"/>
                  </a:lnTo>
                  <a:lnTo>
                    <a:pt x="255" y="18"/>
                  </a:lnTo>
                  <a:lnTo>
                    <a:pt x="270" y="6"/>
                  </a:lnTo>
                  <a:lnTo>
                    <a:pt x="276" y="0"/>
                  </a:lnTo>
                </a:path>
              </a:pathLst>
            </a:custGeom>
            <a:solidFill>
              <a:srgbClr val="FFCC99"/>
            </a:solidFill>
            <a:ln w="19050">
              <a:solidFill>
                <a:srgbClr val="333333"/>
              </a:solidFill>
              <a:prstDash val="solid"/>
              <a:round/>
              <a:headEnd/>
              <a:tailEnd/>
            </a:ln>
          </p:spPr>
          <p:txBody>
            <a:bodyPr/>
            <a:lstStyle/>
            <a:p>
              <a:endParaRPr lang="en-IN"/>
            </a:p>
          </p:txBody>
        </p:sp>
        <p:sp>
          <p:nvSpPr>
            <p:cNvPr id="137299" name="Line 83">
              <a:extLst>
                <a:ext uri="{FF2B5EF4-FFF2-40B4-BE49-F238E27FC236}">
                  <a16:creationId xmlns:a16="http://schemas.microsoft.com/office/drawing/2014/main" id="{1AFC502E-EC82-74CF-06A7-FA140AB632F9}"/>
                </a:ext>
              </a:extLst>
            </p:cNvPr>
            <p:cNvSpPr>
              <a:spLocks noChangeShapeType="1"/>
            </p:cNvSpPr>
            <p:nvPr/>
          </p:nvSpPr>
          <p:spPr bwMode="auto">
            <a:xfrm>
              <a:off x="519" y="1813"/>
              <a:ext cx="0" cy="75"/>
            </a:xfrm>
            <a:prstGeom prst="line">
              <a:avLst/>
            </a:prstGeom>
            <a:noFill/>
            <a:ln w="19050">
              <a:solidFill>
                <a:srgbClr val="333333"/>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7300" name="Freeform 84">
              <a:extLst>
                <a:ext uri="{FF2B5EF4-FFF2-40B4-BE49-F238E27FC236}">
                  <a16:creationId xmlns:a16="http://schemas.microsoft.com/office/drawing/2014/main" id="{3BA16D3E-6508-FC71-3AA5-9395F4A615CA}"/>
                </a:ext>
              </a:extLst>
            </p:cNvPr>
            <p:cNvSpPr>
              <a:spLocks/>
            </p:cNvSpPr>
            <p:nvPr/>
          </p:nvSpPr>
          <p:spPr bwMode="auto">
            <a:xfrm>
              <a:off x="329" y="1736"/>
              <a:ext cx="63" cy="183"/>
            </a:xfrm>
            <a:custGeom>
              <a:avLst/>
              <a:gdLst>
                <a:gd name="T0" fmla="*/ 118 w 188"/>
                <a:gd name="T1" fmla="*/ 549 h 549"/>
                <a:gd name="T2" fmla="*/ 97 w 188"/>
                <a:gd name="T3" fmla="*/ 547 h 549"/>
                <a:gd name="T4" fmla="*/ 79 w 188"/>
                <a:gd name="T5" fmla="*/ 545 h 549"/>
                <a:gd name="T6" fmla="*/ 62 w 188"/>
                <a:gd name="T7" fmla="*/ 539 h 549"/>
                <a:gd name="T8" fmla="*/ 48 w 188"/>
                <a:gd name="T9" fmla="*/ 533 h 549"/>
                <a:gd name="T10" fmla="*/ 34 w 188"/>
                <a:gd name="T11" fmla="*/ 522 h 549"/>
                <a:gd name="T12" fmla="*/ 23 w 188"/>
                <a:gd name="T13" fmla="*/ 510 h 549"/>
                <a:gd name="T14" fmla="*/ 12 w 188"/>
                <a:gd name="T15" fmla="*/ 495 h 549"/>
                <a:gd name="T16" fmla="*/ 4 w 188"/>
                <a:gd name="T17" fmla="*/ 479 h 549"/>
                <a:gd name="T18" fmla="*/ 0 w 188"/>
                <a:gd name="T19" fmla="*/ 455 h 549"/>
                <a:gd name="T20" fmla="*/ 0 w 188"/>
                <a:gd name="T21" fmla="*/ 430 h 549"/>
                <a:gd name="T22" fmla="*/ 0 w 188"/>
                <a:gd name="T23" fmla="*/ 252 h 549"/>
                <a:gd name="T24" fmla="*/ 1 w 188"/>
                <a:gd name="T25" fmla="*/ 226 h 549"/>
                <a:gd name="T26" fmla="*/ 5 w 188"/>
                <a:gd name="T27" fmla="*/ 202 h 549"/>
                <a:gd name="T28" fmla="*/ 12 w 188"/>
                <a:gd name="T29" fmla="*/ 172 h 549"/>
                <a:gd name="T30" fmla="*/ 22 w 188"/>
                <a:gd name="T31" fmla="*/ 143 h 549"/>
                <a:gd name="T32" fmla="*/ 36 w 188"/>
                <a:gd name="T33" fmla="*/ 118 h 549"/>
                <a:gd name="T34" fmla="*/ 54 w 188"/>
                <a:gd name="T35" fmla="*/ 93 h 549"/>
                <a:gd name="T36" fmla="*/ 76 w 188"/>
                <a:gd name="T37" fmla="*/ 70 h 549"/>
                <a:gd name="T38" fmla="*/ 100 w 188"/>
                <a:gd name="T39" fmla="*/ 47 h 549"/>
                <a:gd name="T40" fmla="*/ 126 w 188"/>
                <a:gd name="T41" fmla="*/ 29 h 549"/>
                <a:gd name="T42" fmla="*/ 149 w 188"/>
                <a:gd name="T43" fmla="*/ 15 h 549"/>
                <a:gd name="T44" fmla="*/ 173 w 188"/>
                <a:gd name="T45" fmla="*/ 5 h 549"/>
                <a:gd name="T46" fmla="*/ 188 w 188"/>
                <a:gd name="T4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8" h="549">
                  <a:moveTo>
                    <a:pt x="118" y="549"/>
                  </a:moveTo>
                  <a:lnTo>
                    <a:pt x="97" y="547"/>
                  </a:lnTo>
                  <a:lnTo>
                    <a:pt x="79" y="545"/>
                  </a:lnTo>
                  <a:lnTo>
                    <a:pt x="62" y="539"/>
                  </a:lnTo>
                  <a:lnTo>
                    <a:pt x="48" y="533"/>
                  </a:lnTo>
                  <a:lnTo>
                    <a:pt x="34" y="522"/>
                  </a:lnTo>
                  <a:lnTo>
                    <a:pt x="23" y="510"/>
                  </a:lnTo>
                  <a:lnTo>
                    <a:pt x="12" y="495"/>
                  </a:lnTo>
                  <a:lnTo>
                    <a:pt x="4" y="479"/>
                  </a:lnTo>
                  <a:lnTo>
                    <a:pt x="0" y="455"/>
                  </a:lnTo>
                  <a:lnTo>
                    <a:pt x="0" y="430"/>
                  </a:lnTo>
                  <a:lnTo>
                    <a:pt x="0" y="252"/>
                  </a:lnTo>
                  <a:lnTo>
                    <a:pt x="1" y="226"/>
                  </a:lnTo>
                  <a:lnTo>
                    <a:pt x="5" y="202"/>
                  </a:lnTo>
                  <a:lnTo>
                    <a:pt x="12" y="172"/>
                  </a:lnTo>
                  <a:lnTo>
                    <a:pt x="22" y="143"/>
                  </a:lnTo>
                  <a:lnTo>
                    <a:pt x="36" y="118"/>
                  </a:lnTo>
                  <a:lnTo>
                    <a:pt x="54" y="93"/>
                  </a:lnTo>
                  <a:lnTo>
                    <a:pt x="76" y="70"/>
                  </a:lnTo>
                  <a:lnTo>
                    <a:pt x="100" y="47"/>
                  </a:lnTo>
                  <a:lnTo>
                    <a:pt x="126" y="29"/>
                  </a:lnTo>
                  <a:lnTo>
                    <a:pt x="149" y="15"/>
                  </a:lnTo>
                  <a:lnTo>
                    <a:pt x="173" y="5"/>
                  </a:lnTo>
                  <a:lnTo>
                    <a:pt x="188" y="0"/>
                  </a:lnTo>
                </a:path>
              </a:pathLst>
            </a:custGeom>
            <a:solidFill>
              <a:srgbClr val="FFCC99"/>
            </a:solidFill>
            <a:ln w="19050">
              <a:solidFill>
                <a:srgbClr val="333333"/>
              </a:solidFill>
              <a:prstDash val="solid"/>
              <a:round/>
              <a:headEnd/>
              <a:tailEnd/>
            </a:ln>
          </p:spPr>
          <p:txBody>
            <a:bodyPr/>
            <a:lstStyle/>
            <a:p>
              <a:endParaRPr lang="en-IN"/>
            </a:p>
          </p:txBody>
        </p:sp>
        <p:sp>
          <p:nvSpPr>
            <p:cNvPr id="137301" name="Line 85">
              <a:extLst>
                <a:ext uri="{FF2B5EF4-FFF2-40B4-BE49-F238E27FC236}">
                  <a16:creationId xmlns:a16="http://schemas.microsoft.com/office/drawing/2014/main" id="{493F9C09-F8FF-9F0E-1401-634DDAC501BF}"/>
                </a:ext>
              </a:extLst>
            </p:cNvPr>
            <p:cNvSpPr>
              <a:spLocks noChangeShapeType="1"/>
            </p:cNvSpPr>
            <p:nvPr/>
          </p:nvSpPr>
          <p:spPr bwMode="auto">
            <a:xfrm flipV="1">
              <a:off x="368" y="1822"/>
              <a:ext cx="0" cy="97"/>
            </a:xfrm>
            <a:prstGeom prst="line">
              <a:avLst/>
            </a:prstGeom>
            <a:noFill/>
            <a:ln w="19050">
              <a:solidFill>
                <a:srgbClr val="333333"/>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7302" name="Freeform 86">
              <a:extLst>
                <a:ext uri="{FF2B5EF4-FFF2-40B4-BE49-F238E27FC236}">
                  <a16:creationId xmlns:a16="http://schemas.microsoft.com/office/drawing/2014/main" id="{08F90DF2-EE52-307A-426B-C8EDC60C1FC5}"/>
                </a:ext>
              </a:extLst>
            </p:cNvPr>
            <p:cNvSpPr>
              <a:spLocks/>
            </p:cNvSpPr>
            <p:nvPr/>
          </p:nvSpPr>
          <p:spPr bwMode="auto">
            <a:xfrm>
              <a:off x="368" y="1888"/>
              <a:ext cx="151" cy="35"/>
            </a:xfrm>
            <a:custGeom>
              <a:avLst/>
              <a:gdLst>
                <a:gd name="T0" fmla="*/ 452 w 452"/>
                <a:gd name="T1" fmla="*/ 0 h 107"/>
                <a:gd name="T2" fmla="*/ 426 w 452"/>
                <a:gd name="T3" fmla="*/ 17 h 107"/>
                <a:gd name="T4" fmla="*/ 400 w 452"/>
                <a:gd name="T5" fmla="*/ 34 h 107"/>
                <a:gd name="T6" fmla="*/ 374 w 452"/>
                <a:gd name="T7" fmla="*/ 48 h 107"/>
                <a:gd name="T8" fmla="*/ 367 w 452"/>
                <a:gd name="T9" fmla="*/ 51 h 107"/>
                <a:gd name="T10" fmla="*/ 363 w 452"/>
                <a:gd name="T11" fmla="*/ 52 h 107"/>
                <a:gd name="T12" fmla="*/ 361 w 452"/>
                <a:gd name="T13" fmla="*/ 54 h 107"/>
                <a:gd name="T14" fmla="*/ 349 w 452"/>
                <a:gd name="T15" fmla="*/ 61 h 107"/>
                <a:gd name="T16" fmla="*/ 334 w 452"/>
                <a:gd name="T17" fmla="*/ 66 h 107"/>
                <a:gd name="T18" fmla="*/ 327 w 452"/>
                <a:gd name="T19" fmla="*/ 69 h 107"/>
                <a:gd name="T20" fmla="*/ 324 w 452"/>
                <a:gd name="T21" fmla="*/ 70 h 107"/>
                <a:gd name="T22" fmla="*/ 321 w 452"/>
                <a:gd name="T23" fmla="*/ 72 h 107"/>
                <a:gd name="T24" fmla="*/ 295 w 452"/>
                <a:gd name="T25" fmla="*/ 82 h 107"/>
                <a:gd name="T26" fmla="*/ 266 w 452"/>
                <a:gd name="T27" fmla="*/ 90 h 107"/>
                <a:gd name="T28" fmla="*/ 240 w 452"/>
                <a:gd name="T29" fmla="*/ 97 h 107"/>
                <a:gd name="T30" fmla="*/ 182 w 452"/>
                <a:gd name="T31" fmla="*/ 105 h 107"/>
                <a:gd name="T32" fmla="*/ 166 w 452"/>
                <a:gd name="T33" fmla="*/ 105 h 107"/>
                <a:gd name="T34" fmla="*/ 152 w 452"/>
                <a:gd name="T35" fmla="*/ 106 h 107"/>
                <a:gd name="T36" fmla="*/ 123 w 452"/>
                <a:gd name="T37" fmla="*/ 107 h 107"/>
                <a:gd name="T38" fmla="*/ 92 w 452"/>
                <a:gd name="T39" fmla="*/ 105 h 107"/>
                <a:gd name="T40" fmla="*/ 62 w 452"/>
                <a:gd name="T41" fmla="*/ 102 h 107"/>
                <a:gd name="T42" fmla="*/ 0 w 452"/>
                <a:gd name="T43"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52" h="107">
                  <a:moveTo>
                    <a:pt x="452" y="0"/>
                  </a:moveTo>
                  <a:lnTo>
                    <a:pt x="426" y="17"/>
                  </a:lnTo>
                  <a:lnTo>
                    <a:pt x="400" y="34"/>
                  </a:lnTo>
                  <a:lnTo>
                    <a:pt x="374" y="48"/>
                  </a:lnTo>
                  <a:lnTo>
                    <a:pt x="367" y="51"/>
                  </a:lnTo>
                  <a:lnTo>
                    <a:pt x="363" y="52"/>
                  </a:lnTo>
                  <a:lnTo>
                    <a:pt x="361" y="54"/>
                  </a:lnTo>
                  <a:lnTo>
                    <a:pt x="349" y="61"/>
                  </a:lnTo>
                  <a:lnTo>
                    <a:pt x="334" y="66"/>
                  </a:lnTo>
                  <a:lnTo>
                    <a:pt x="327" y="69"/>
                  </a:lnTo>
                  <a:lnTo>
                    <a:pt x="324" y="70"/>
                  </a:lnTo>
                  <a:lnTo>
                    <a:pt x="321" y="72"/>
                  </a:lnTo>
                  <a:lnTo>
                    <a:pt x="295" y="82"/>
                  </a:lnTo>
                  <a:lnTo>
                    <a:pt x="266" y="90"/>
                  </a:lnTo>
                  <a:lnTo>
                    <a:pt x="240" y="97"/>
                  </a:lnTo>
                  <a:lnTo>
                    <a:pt x="182" y="105"/>
                  </a:lnTo>
                  <a:lnTo>
                    <a:pt x="166" y="105"/>
                  </a:lnTo>
                  <a:lnTo>
                    <a:pt x="152" y="106"/>
                  </a:lnTo>
                  <a:lnTo>
                    <a:pt x="123" y="107"/>
                  </a:lnTo>
                  <a:lnTo>
                    <a:pt x="92" y="105"/>
                  </a:lnTo>
                  <a:lnTo>
                    <a:pt x="62" y="102"/>
                  </a:lnTo>
                  <a:lnTo>
                    <a:pt x="0" y="93"/>
                  </a:lnTo>
                </a:path>
              </a:pathLst>
            </a:custGeom>
            <a:solidFill>
              <a:srgbClr val="FFCC99"/>
            </a:solidFill>
            <a:ln w="19050">
              <a:solidFill>
                <a:srgbClr val="333333"/>
              </a:solidFill>
              <a:prstDash val="solid"/>
              <a:round/>
              <a:headEnd/>
              <a:tailEnd/>
            </a:ln>
          </p:spPr>
          <p:txBody>
            <a:bodyPr/>
            <a:lstStyle/>
            <a:p>
              <a:endParaRPr lang="en-IN"/>
            </a:p>
          </p:txBody>
        </p:sp>
        <p:sp>
          <p:nvSpPr>
            <p:cNvPr id="137303" name="Freeform 87">
              <a:extLst>
                <a:ext uri="{FF2B5EF4-FFF2-40B4-BE49-F238E27FC236}">
                  <a16:creationId xmlns:a16="http://schemas.microsoft.com/office/drawing/2014/main" id="{2F935491-1AE1-991D-1390-C6F5DAE37737}"/>
                </a:ext>
              </a:extLst>
            </p:cNvPr>
            <p:cNvSpPr>
              <a:spLocks/>
            </p:cNvSpPr>
            <p:nvPr/>
          </p:nvSpPr>
          <p:spPr bwMode="auto">
            <a:xfrm>
              <a:off x="484" y="1733"/>
              <a:ext cx="61" cy="155"/>
            </a:xfrm>
            <a:custGeom>
              <a:avLst/>
              <a:gdLst>
                <a:gd name="T0" fmla="*/ 106 w 183"/>
                <a:gd name="T1" fmla="*/ 465 h 465"/>
                <a:gd name="T2" fmla="*/ 120 w 183"/>
                <a:gd name="T3" fmla="*/ 463 h 465"/>
                <a:gd name="T4" fmla="*/ 134 w 183"/>
                <a:gd name="T5" fmla="*/ 460 h 465"/>
                <a:gd name="T6" fmla="*/ 146 w 183"/>
                <a:gd name="T7" fmla="*/ 456 h 465"/>
                <a:gd name="T8" fmla="*/ 156 w 183"/>
                <a:gd name="T9" fmla="*/ 451 h 465"/>
                <a:gd name="T10" fmla="*/ 160 w 183"/>
                <a:gd name="T11" fmla="*/ 446 h 465"/>
                <a:gd name="T12" fmla="*/ 165 w 183"/>
                <a:gd name="T13" fmla="*/ 442 h 465"/>
                <a:gd name="T14" fmla="*/ 172 w 183"/>
                <a:gd name="T15" fmla="*/ 434 h 465"/>
                <a:gd name="T16" fmla="*/ 174 w 183"/>
                <a:gd name="T17" fmla="*/ 428 h 465"/>
                <a:gd name="T18" fmla="*/ 178 w 183"/>
                <a:gd name="T19" fmla="*/ 423 h 465"/>
                <a:gd name="T20" fmla="*/ 183 w 183"/>
                <a:gd name="T21" fmla="*/ 412 h 465"/>
                <a:gd name="T22" fmla="*/ 183 w 183"/>
                <a:gd name="T23" fmla="*/ 235 h 465"/>
                <a:gd name="T24" fmla="*/ 182 w 183"/>
                <a:gd name="T25" fmla="*/ 211 h 465"/>
                <a:gd name="T26" fmla="*/ 177 w 183"/>
                <a:gd name="T27" fmla="*/ 181 h 465"/>
                <a:gd name="T28" fmla="*/ 170 w 183"/>
                <a:gd name="T29" fmla="*/ 156 h 465"/>
                <a:gd name="T30" fmla="*/ 158 w 183"/>
                <a:gd name="T31" fmla="*/ 128 h 465"/>
                <a:gd name="T32" fmla="*/ 144 w 183"/>
                <a:gd name="T33" fmla="*/ 103 h 465"/>
                <a:gd name="T34" fmla="*/ 126 w 183"/>
                <a:gd name="T35" fmla="*/ 79 h 465"/>
                <a:gd name="T36" fmla="*/ 107 w 183"/>
                <a:gd name="T37" fmla="*/ 58 h 465"/>
                <a:gd name="T38" fmla="*/ 98 w 183"/>
                <a:gd name="T39" fmla="*/ 50 h 465"/>
                <a:gd name="T40" fmla="*/ 89 w 183"/>
                <a:gd name="T41" fmla="*/ 44 h 465"/>
                <a:gd name="T42" fmla="*/ 68 w 183"/>
                <a:gd name="T43" fmla="*/ 28 h 465"/>
                <a:gd name="T44" fmla="*/ 47 w 183"/>
                <a:gd name="T45" fmla="*/ 18 h 465"/>
                <a:gd name="T46" fmla="*/ 24 w 183"/>
                <a:gd name="T47" fmla="*/ 7 h 465"/>
                <a:gd name="T48" fmla="*/ 3 w 183"/>
                <a:gd name="T49" fmla="*/ 1 h 465"/>
                <a:gd name="T50" fmla="*/ 0 w 183"/>
                <a:gd name="T51" fmla="*/ 0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3" h="465">
                  <a:moveTo>
                    <a:pt x="106" y="465"/>
                  </a:moveTo>
                  <a:lnTo>
                    <a:pt x="120" y="463"/>
                  </a:lnTo>
                  <a:lnTo>
                    <a:pt x="134" y="460"/>
                  </a:lnTo>
                  <a:lnTo>
                    <a:pt x="146" y="456"/>
                  </a:lnTo>
                  <a:lnTo>
                    <a:pt x="156" y="451"/>
                  </a:lnTo>
                  <a:lnTo>
                    <a:pt x="160" y="446"/>
                  </a:lnTo>
                  <a:lnTo>
                    <a:pt x="165" y="442"/>
                  </a:lnTo>
                  <a:lnTo>
                    <a:pt x="172" y="434"/>
                  </a:lnTo>
                  <a:lnTo>
                    <a:pt x="174" y="428"/>
                  </a:lnTo>
                  <a:lnTo>
                    <a:pt x="178" y="423"/>
                  </a:lnTo>
                  <a:lnTo>
                    <a:pt x="183" y="412"/>
                  </a:lnTo>
                  <a:lnTo>
                    <a:pt x="183" y="235"/>
                  </a:lnTo>
                  <a:lnTo>
                    <a:pt x="182" y="211"/>
                  </a:lnTo>
                  <a:lnTo>
                    <a:pt x="177" y="181"/>
                  </a:lnTo>
                  <a:lnTo>
                    <a:pt x="170" y="156"/>
                  </a:lnTo>
                  <a:lnTo>
                    <a:pt x="158" y="128"/>
                  </a:lnTo>
                  <a:lnTo>
                    <a:pt x="144" y="103"/>
                  </a:lnTo>
                  <a:lnTo>
                    <a:pt x="126" y="79"/>
                  </a:lnTo>
                  <a:lnTo>
                    <a:pt x="107" y="58"/>
                  </a:lnTo>
                  <a:lnTo>
                    <a:pt x="98" y="50"/>
                  </a:lnTo>
                  <a:lnTo>
                    <a:pt x="89" y="44"/>
                  </a:lnTo>
                  <a:lnTo>
                    <a:pt x="68" y="28"/>
                  </a:lnTo>
                  <a:lnTo>
                    <a:pt x="47" y="18"/>
                  </a:lnTo>
                  <a:lnTo>
                    <a:pt x="24" y="7"/>
                  </a:lnTo>
                  <a:lnTo>
                    <a:pt x="3" y="1"/>
                  </a:lnTo>
                  <a:lnTo>
                    <a:pt x="0" y="0"/>
                  </a:lnTo>
                </a:path>
              </a:pathLst>
            </a:custGeom>
            <a:solidFill>
              <a:srgbClr val="FFCC99"/>
            </a:solidFill>
            <a:ln w="19050">
              <a:solidFill>
                <a:srgbClr val="333333"/>
              </a:solidFill>
              <a:prstDash val="solid"/>
              <a:round/>
              <a:headEnd/>
              <a:tailEnd/>
            </a:ln>
          </p:spPr>
          <p:txBody>
            <a:bodyPr/>
            <a:lstStyle/>
            <a:p>
              <a:endParaRPr lang="en-IN"/>
            </a:p>
          </p:txBody>
        </p:sp>
      </p:grpSp>
      <p:sp>
        <p:nvSpPr>
          <p:cNvPr id="137307" name="Freeform 91">
            <a:extLst>
              <a:ext uri="{FF2B5EF4-FFF2-40B4-BE49-F238E27FC236}">
                <a16:creationId xmlns:a16="http://schemas.microsoft.com/office/drawing/2014/main" id="{094B0B87-CB13-4621-3698-36DCEA65F244}"/>
              </a:ext>
            </a:extLst>
          </p:cNvPr>
          <p:cNvSpPr>
            <a:spLocks/>
          </p:cNvSpPr>
          <p:nvPr/>
        </p:nvSpPr>
        <p:spPr bwMode="auto">
          <a:xfrm>
            <a:off x="2111375" y="1593850"/>
            <a:ext cx="36513" cy="28575"/>
          </a:xfrm>
          <a:custGeom>
            <a:avLst/>
            <a:gdLst>
              <a:gd name="T0" fmla="*/ 69 w 78"/>
              <a:gd name="T1" fmla="*/ 0 h 61"/>
              <a:gd name="T2" fmla="*/ 63 w 78"/>
              <a:gd name="T3" fmla="*/ 6 h 61"/>
              <a:gd name="T4" fmla="*/ 24 w 78"/>
              <a:gd name="T5" fmla="*/ 38 h 61"/>
              <a:gd name="T6" fmla="*/ 23 w 78"/>
              <a:gd name="T7" fmla="*/ 38 h 61"/>
              <a:gd name="T8" fmla="*/ 23 w 78"/>
              <a:gd name="T9" fmla="*/ 39 h 61"/>
              <a:gd name="T10" fmla="*/ 21 w 78"/>
              <a:gd name="T11" fmla="*/ 38 h 61"/>
              <a:gd name="T12" fmla="*/ 19 w 78"/>
              <a:gd name="T13" fmla="*/ 36 h 61"/>
              <a:gd name="T14" fmla="*/ 19 w 78"/>
              <a:gd name="T15" fmla="*/ 33 h 61"/>
              <a:gd name="T16" fmla="*/ 21 w 78"/>
              <a:gd name="T17" fmla="*/ 32 h 61"/>
              <a:gd name="T18" fmla="*/ 21 w 78"/>
              <a:gd name="T19" fmla="*/ 31 h 61"/>
              <a:gd name="T20" fmla="*/ 27 w 78"/>
              <a:gd name="T21" fmla="*/ 24 h 61"/>
              <a:gd name="T22" fmla="*/ 29 w 78"/>
              <a:gd name="T23" fmla="*/ 21 h 61"/>
              <a:gd name="T24" fmla="*/ 27 w 78"/>
              <a:gd name="T25" fmla="*/ 19 h 61"/>
              <a:gd name="T26" fmla="*/ 17 w 78"/>
              <a:gd name="T27" fmla="*/ 13 h 61"/>
              <a:gd name="T28" fmla="*/ 13 w 78"/>
              <a:gd name="T29" fmla="*/ 12 h 61"/>
              <a:gd name="T30" fmla="*/ 10 w 78"/>
              <a:gd name="T31" fmla="*/ 10 h 61"/>
              <a:gd name="T32" fmla="*/ 6 w 78"/>
              <a:gd name="T33" fmla="*/ 10 h 61"/>
              <a:gd name="T34" fmla="*/ 4 w 78"/>
              <a:gd name="T35" fmla="*/ 13 h 61"/>
              <a:gd name="T36" fmla="*/ 3 w 78"/>
              <a:gd name="T37" fmla="*/ 14 h 61"/>
              <a:gd name="T38" fmla="*/ 1 w 78"/>
              <a:gd name="T39" fmla="*/ 16 h 61"/>
              <a:gd name="T40" fmla="*/ 0 w 78"/>
              <a:gd name="T41" fmla="*/ 20 h 61"/>
              <a:gd name="T42" fmla="*/ 3 w 78"/>
              <a:gd name="T43" fmla="*/ 31 h 61"/>
              <a:gd name="T44" fmla="*/ 7 w 78"/>
              <a:gd name="T45" fmla="*/ 40 h 61"/>
              <a:gd name="T46" fmla="*/ 13 w 78"/>
              <a:gd name="T47" fmla="*/ 46 h 61"/>
              <a:gd name="T48" fmla="*/ 19 w 78"/>
              <a:gd name="T49" fmla="*/ 54 h 61"/>
              <a:gd name="T50" fmla="*/ 22 w 78"/>
              <a:gd name="T51" fmla="*/ 55 h 61"/>
              <a:gd name="T52" fmla="*/ 29 w 78"/>
              <a:gd name="T53" fmla="*/ 58 h 61"/>
              <a:gd name="T54" fmla="*/ 39 w 78"/>
              <a:gd name="T55" fmla="*/ 61 h 61"/>
              <a:gd name="T56" fmla="*/ 42 w 78"/>
              <a:gd name="T57" fmla="*/ 60 h 61"/>
              <a:gd name="T58" fmla="*/ 46 w 78"/>
              <a:gd name="T59" fmla="*/ 58 h 61"/>
              <a:gd name="T60" fmla="*/ 46 w 78"/>
              <a:gd name="T61" fmla="*/ 57 h 61"/>
              <a:gd name="T62" fmla="*/ 47 w 78"/>
              <a:gd name="T63" fmla="*/ 56 h 61"/>
              <a:gd name="T64" fmla="*/ 48 w 78"/>
              <a:gd name="T65" fmla="*/ 54 h 61"/>
              <a:gd name="T66" fmla="*/ 48 w 78"/>
              <a:gd name="T67" fmla="*/ 49 h 61"/>
              <a:gd name="T68" fmla="*/ 47 w 78"/>
              <a:gd name="T69" fmla="*/ 42 h 61"/>
              <a:gd name="T70" fmla="*/ 43 w 78"/>
              <a:gd name="T71" fmla="*/ 34 h 61"/>
              <a:gd name="T72" fmla="*/ 75 w 78"/>
              <a:gd name="T73" fmla="*/ 9 h 61"/>
              <a:gd name="T74" fmla="*/ 78 w 78"/>
              <a:gd name="T75" fmla="*/ 8 h 61"/>
              <a:gd name="T76" fmla="*/ 69 w 78"/>
              <a:gd name="T7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8" h="61">
                <a:moveTo>
                  <a:pt x="69" y="0"/>
                </a:moveTo>
                <a:lnTo>
                  <a:pt x="63" y="6"/>
                </a:lnTo>
                <a:lnTo>
                  <a:pt x="24" y="38"/>
                </a:lnTo>
                <a:lnTo>
                  <a:pt x="23" y="38"/>
                </a:lnTo>
                <a:lnTo>
                  <a:pt x="23" y="39"/>
                </a:lnTo>
                <a:lnTo>
                  <a:pt x="21" y="38"/>
                </a:lnTo>
                <a:lnTo>
                  <a:pt x="19" y="36"/>
                </a:lnTo>
                <a:lnTo>
                  <a:pt x="19" y="33"/>
                </a:lnTo>
                <a:lnTo>
                  <a:pt x="21" y="32"/>
                </a:lnTo>
                <a:lnTo>
                  <a:pt x="21" y="31"/>
                </a:lnTo>
                <a:lnTo>
                  <a:pt x="27" y="24"/>
                </a:lnTo>
                <a:lnTo>
                  <a:pt x="29" y="21"/>
                </a:lnTo>
                <a:lnTo>
                  <a:pt x="27" y="19"/>
                </a:lnTo>
                <a:lnTo>
                  <a:pt x="17" y="13"/>
                </a:lnTo>
                <a:lnTo>
                  <a:pt x="13" y="12"/>
                </a:lnTo>
                <a:lnTo>
                  <a:pt x="10" y="10"/>
                </a:lnTo>
                <a:lnTo>
                  <a:pt x="6" y="10"/>
                </a:lnTo>
                <a:lnTo>
                  <a:pt x="4" y="13"/>
                </a:lnTo>
                <a:lnTo>
                  <a:pt x="3" y="14"/>
                </a:lnTo>
                <a:lnTo>
                  <a:pt x="1" y="16"/>
                </a:lnTo>
                <a:lnTo>
                  <a:pt x="0" y="20"/>
                </a:lnTo>
                <a:lnTo>
                  <a:pt x="3" y="31"/>
                </a:lnTo>
                <a:lnTo>
                  <a:pt x="7" y="40"/>
                </a:lnTo>
                <a:lnTo>
                  <a:pt x="13" y="46"/>
                </a:lnTo>
                <a:lnTo>
                  <a:pt x="19" y="54"/>
                </a:lnTo>
                <a:lnTo>
                  <a:pt x="22" y="55"/>
                </a:lnTo>
                <a:lnTo>
                  <a:pt x="29" y="58"/>
                </a:lnTo>
                <a:lnTo>
                  <a:pt x="39" y="61"/>
                </a:lnTo>
                <a:lnTo>
                  <a:pt x="42" y="60"/>
                </a:lnTo>
                <a:lnTo>
                  <a:pt x="46" y="58"/>
                </a:lnTo>
                <a:lnTo>
                  <a:pt x="46" y="57"/>
                </a:lnTo>
                <a:lnTo>
                  <a:pt x="47" y="56"/>
                </a:lnTo>
                <a:lnTo>
                  <a:pt x="48" y="54"/>
                </a:lnTo>
                <a:lnTo>
                  <a:pt x="48" y="49"/>
                </a:lnTo>
                <a:lnTo>
                  <a:pt x="47" y="42"/>
                </a:lnTo>
                <a:lnTo>
                  <a:pt x="43" y="34"/>
                </a:lnTo>
                <a:lnTo>
                  <a:pt x="75" y="9"/>
                </a:lnTo>
                <a:lnTo>
                  <a:pt x="78" y="8"/>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nvGrpSpPr>
          <p:cNvPr id="137505" name="Group 289">
            <a:extLst>
              <a:ext uri="{FF2B5EF4-FFF2-40B4-BE49-F238E27FC236}">
                <a16:creationId xmlns:a16="http://schemas.microsoft.com/office/drawing/2014/main" id="{86F8FBA3-7EDA-5319-6D5C-609340F09235}"/>
              </a:ext>
            </a:extLst>
          </p:cNvPr>
          <p:cNvGrpSpPr>
            <a:grpSpLocks/>
          </p:cNvGrpSpPr>
          <p:nvPr/>
        </p:nvGrpSpPr>
        <p:grpSpPr bwMode="auto">
          <a:xfrm>
            <a:off x="1944688" y="1511300"/>
            <a:ext cx="2487612" cy="671513"/>
            <a:chOff x="1124" y="774"/>
            <a:chExt cx="1567" cy="423"/>
          </a:xfrm>
        </p:grpSpPr>
        <p:sp>
          <p:nvSpPr>
            <p:cNvPr id="137285" name="Freeform 69">
              <a:extLst>
                <a:ext uri="{FF2B5EF4-FFF2-40B4-BE49-F238E27FC236}">
                  <a16:creationId xmlns:a16="http://schemas.microsoft.com/office/drawing/2014/main" id="{792C33C1-8A8A-7C4A-ACD5-A29D6A5556B9}"/>
                </a:ext>
              </a:extLst>
            </p:cNvPr>
            <p:cNvSpPr>
              <a:spLocks/>
            </p:cNvSpPr>
            <p:nvPr/>
          </p:nvSpPr>
          <p:spPr bwMode="auto">
            <a:xfrm>
              <a:off x="1124" y="774"/>
              <a:ext cx="1428" cy="202"/>
            </a:xfrm>
            <a:custGeom>
              <a:avLst/>
              <a:gdLst>
                <a:gd name="T0" fmla="*/ 4824 w 4824"/>
                <a:gd name="T1" fmla="*/ 216 h 730"/>
                <a:gd name="T2" fmla="*/ 4824 w 4824"/>
                <a:gd name="T3" fmla="*/ 586 h 730"/>
                <a:gd name="T4" fmla="*/ 4823 w 4824"/>
                <a:gd name="T5" fmla="*/ 602 h 730"/>
                <a:gd name="T6" fmla="*/ 4822 w 4824"/>
                <a:gd name="T7" fmla="*/ 619 h 730"/>
                <a:gd name="T8" fmla="*/ 4818 w 4824"/>
                <a:gd name="T9" fmla="*/ 634 h 730"/>
                <a:gd name="T10" fmla="*/ 4815 w 4824"/>
                <a:gd name="T11" fmla="*/ 648 h 730"/>
                <a:gd name="T12" fmla="*/ 4809 w 4824"/>
                <a:gd name="T13" fmla="*/ 660 h 730"/>
                <a:gd name="T14" fmla="*/ 4803 w 4824"/>
                <a:gd name="T15" fmla="*/ 672 h 730"/>
                <a:gd name="T16" fmla="*/ 4795 w 4824"/>
                <a:gd name="T17" fmla="*/ 683 h 730"/>
                <a:gd name="T18" fmla="*/ 4788 w 4824"/>
                <a:gd name="T19" fmla="*/ 694 h 730"/>
                <a:gd name="T20" fmla="*/ 4777 w 4824"/>
                <a:gd name="T21" fmla="*/ 701 h 730"/>
                <a:gd name="T22" fmla="*/ 4767 w 4824"/>
                <a:gd name="T23" fmla="*/ 708 h 730"/>
                <a:gd name="T24" fmla="*/ 4755 w 4824"/>
                <a:gd name="T25" fmla="*/ 714 h 730"/>
                <a:gd name="T26" fmla="*/ 4743 w 4824"/>
                <a:gd name="T27" fmla="*/ 720 h 730"/>
                <a:gd name="T28" fmla="*/ 4728 w 4824"/>
                <a:gd name="T29" fmla="*/ 724 h 730"/>
                <a:gd name="T30" fmla="*/ 4714 w 4824"/>
                <a:gd name="T31" fmla="*/ 727 h 730"/>
                <a:gd name="T32" fmla="*/ 4697 w 4824"/>
                <a:gd name="T33" fmla="*/ 728 h 730"/>
                <a:gd name="T34" fmla="*/ 4680 w 4824"/>
                <a:gd name="T35" fmla="*/ 730 h 730"/>
                <a:gd name="T36" fmla="*/ 144 w 4824"/>
                <a:gd name="T37" fmla="*/ 730 h 730"/>
                <a:gd name="T38" fmla="*/ 125 w 4824"/>
                <a:gd name="T39" fmla="*/ 728 h 730"/>
                <a:gd name="T40" fmla="*/ 108 w 4824"/>
                <a:gd name="T41" fmla="*/ 727 h 730"/>
                <a:gd name="T42" fmla="*/ 93 w 4824"/>
                <a:gd name="T43" fmla="*/ 724 h 730"/>
                <a:gd name="T44" fmla="*/ 79 w 4824"/>
                <a:gd name="T45" fmla="*/ 720 h 730"/>
                <a:gd name="T46" fmla="*/ 59 w 4824"/>
                <a:gd name="T47" fmla="*/ 712 h 730"/>
                <a:gd name="T48" fmla="*/ 43 w 4824"/>
                <a:gd name="T49" fmla="*/ 701 h 730"/>
                <a:gd name="T50" fmla="*/ 30 w 4824"/>
                <a:gd name="T51" fmla="*/ 688 h 730"/>
                <a:gd name="T52" fmla="*/ 19 w 4824"/>
                <a:gd name="T53" fmla="*/ 672 h 730"/>
                <a:gd name="T54" fmla="*/ 11 w 4824"/>
                <a:gd name="T55" fmla="*/ 654 h 730"/>
                <a:gd name="T56" fmla="*/ 5 w 4824"/>
                <a:gd name="T57" fmla="*/ 634 h 730"/>
                <a:gd name="T58" fmla="*/ 1 w 4824"/>
                <a:gd name="T59" fmla="*/ 611 h 730"/>
                <a:gd name="T60" fmla="*/ 0 w 4824"/>
                <a:gd name="T61" fmla="*/ 586 h 730"/>
                <a:gd name="T62" fmla="*/ 0 w 4824"/>
                <a:gd name="T63" fmla="*/ 144 h 730"/>
                <a:gd name="T64" fmla="*/ 1 w 4824"/>
                <a:gd name="T65" fmla="*/ 109 h 730"/>
                <a:gd name="T66" fmla="*/ 4 w 4824"/>
                <a:gd name="T67" fmla="*/ 94 h 730"/>
                <a:gd name="T68" fmla="*/ 9 w 4824"/>
                <a:gd name="T69" fmla="*/ 80 h 730"/>
                <a:gd name="T70" fmla="*/ 19 w 4824"/>
                <a:gd name="T71" fmla="*/ 55 h 730"/>
                <a:gd name="T72" fmla="*/ 27 w 4824"/>
                <a:gd name="T73" fmla="*/ 44 h 730"/>
                <a:gd name="T74" fmla="*/ 36 w 4824"/>
                <a:gd name="T75" fmla="*/ 36 h 730"/>
                <a:gd name="T76" fmla="*/ 45 w 4824"/>
                <a:gd name="T77" fmla="*/ 26 h 730"/>
                <a:gd name="T78" fmla="*/ 55 w 4824"/>
                <a:gd name="T79" fmla="*/ 19 h 730"/>
                <a:gd name="T80" fmla="*/ 81 w 4824"/>
                <a:gd name="T81" fmla="*/ 8 h 730"/>
                <a:gd name="T82" fmla="*/ 94 w 4824"/>
                <a:gd name="T83" fmla="*/ 4 h 730"/>
                <a:gd name="T84" fmla="*/ 109 w 4824"/>
                <a:gd name="T85" fmla="*/ 1 h 730"/>
                <a:gd name="T86" fmla="*/ 144 w 4824"/>
                <a:gd name="T87" fmla="*/ 0 h 730"/>
                <a:gd name="T88" fmla="*/ 4680 w 4824"/>
                <a:gd name="T89" fmla="*/ 0 h 730"/>
                <a:gd name="T90" fmla="*/ 4714 w 4824"/>
                <a:gd name="T91" fmla="*/ 1 h 730"/>
                <a:gd name="T92" fmla="*/ 4728 w 4824"/>
                <a:gd name="T93" fmla="*/ 4 h 730"/>
                <a:gd name="T94" fmla="*/ 4743 w 4824"/>
                <a:gd name="T95" fmla="*/ 8 h 730"/>
                <a:gd name="T96" fmla="*/ 4767 w 4824"/>
                <a:gd name="T97" fmla="*/ 19 h 730"/>
                <a:gd name="T98" fmla="*/ 4777 w 4824"/>
                <a:gd name="T99" fmla="*/ 26 h 730"/>
                <a:gd name="T100" fmla="*/ 4788 w 4824"/>
                <a:gd name="T101" fmla="*/ 36 h 730"/>
                <a:gd name="T102" fmla="*/ 4795 w 4824"/>
                <a:gd name="T103" fmla="*/ 44 h 730"/>
                <a:gd name="T104" fmla="*/ 4803 w 4824"/>
                <a:gd name="T105" fmla="*/ 55 h 730"/>
                <a:gd name="T106" fmla="*/ 4815 w 4824"/>
                <a:gd name="T107" fmla="*/ 80 h 730"/>
                <a:gd name="T108" fmla="*/ 4818 w 4824"/>
                <a:gd name="T109" fmla="*/ 94 h 730"/>
                <a:gd name="T110" fmla="*/ 4822 w 4824"/>
                <a:gd name="T111" fmla="*/ 109 h 730"/>
                <a:gd name="T112" fmla="*/ 4824 w 4824"/>
                <a:gd name="T113" fmla="*/ 144 h 730"/>
                <a:gd name="T114" fmla="*/ 4824 w 4824"/>
                <a:gd name="T115" fmla="*/ 192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824" h="730">
                  <a:moveTo>
                    <a:pt x="4824" y="216"/>
                  </a:moveTo>
                  <a:lnTo>
                    <a:pt x="4824" y="586"/>
                  </a:lnTo>
                  <a:lnTo>
                    <a:pt x="4823" y="602"/>
                  </a:lnTo>
                  <a:lnTo>
                    <a:pt x="4822" y="619"/>
                  </a:lnTo>
                  <a:lnTo>
                    <a:pt x="4818" y="634"/>
                  </a:lnTo>
                  <a:lnTo>
                    <a:pt x="4815" y="648"/>
                  </a:lnTo>
                  <a:lnTo>
                    <a:pt x="4809" y="660"/>
                  </a:lnTo>
                  <a:lnTo>
                    <a:pt x="4803" y="672"/>
                  </a:lnTo>
                  <a:lnTo>
                    <a:pt x="4795" y="683"/>
                  </a:lnTo>
                  <a:lnTo>
                    <a:pt x="4788" y="694"/>
                  </a:lnTo>
                  <a:lnTo>
                    <a:pt x="4777" y="701"/>
                  </a:lnTo>
                  <a:lnTo>
                    <a:pt x="4767" y="708"/>
                  </a:lnTo>
                  <a:lnTo>
                    <a:pt x="4755" y="714"/>
                  </a:lnTo>
                  <a:lnTo>
                    <a:pt x="4743" y="720"/>
                  </a:lnTo>
                  <a:lnTo>
                    <a:pt x="4728" y="724"/>
                  </a:lnTo>
                  <a:lnTo>
                    <a:pt x="4714" y="727"/>
                  </a:lnTo>
                  <a:lnTo>
                    <a:pt x="4697" y="728"/>
                  </a:lnTo>
                  <a:lnTo>
                    <a:pt x="4680" y="730"/>
                  </a:lnTo>
                  <a:lnTo>
                    <a:pt x="144" y="730"/>
                  </a:lnTo>
                  <a:lnTo>
                    <a:pt x="125" y="728"/>
                  </a:lnTo>
                  <a:lnTo>
                    <a:pt x="108" y="727"/>
                  </a:lnTo>
                  <a:lnTo>
                    <a:pt x="93" y="724"/>
                  </a:lnTo>
                  <a:lnTo>
                    <a:pt x="79" y="720"/>
                  </a:lnTo>
                  <a:lnTo>
                    <a:pt x="59" y="712"/>
                  </a:lnTo>
                  <a:lnTo>
                    <a:pt x="43" y="701"/>
                  </a:lnTo>
                  <a:lnTo>
                    <a:pt x="30" y="688"/>
                  </a:lnTo>
                  <a:lnTo>
                    <a:pt x="19" y="672"/>
                  </a:lnTo>
                  <a:lnTo>
                    <a:pt x="11" y="654"/>
                  </a:lnTo>
                  <a:lnTo>
                    <a:pt x="5" y="634"/>
                  </a:lnTo>
                  <a:lnTo>
                    <a:pt x="1" y="611"/>
                  </a:lnTo>
                  <a:lnTo>
                    <a:pt x="0" y="586"/>
                  </a:lnTo>
                  <a:lnTo>
                    <a:pt x="0" y="144"/>
                  </a:lnTo>
                  <a:lnTo>
                    <a:pt x="1" y="109"/>
                  </a:lnTo>
                  <a:lnTo>
                    <a:pt x="4" y="94"/>
                  </a:lnTo>
                  <a:lnTo>
                    <a:pt x="9" y="80"/>
                  </a:lnTo>
                  <a:lnTo>
                    <a:pt x="19" y="55"/>
                  </a:lnTo>
                  <a:lnTo>
                    <a:pt x="27" y="44"/>
                  </a:lnTo>
                  <a:lnTo>
                    <a:pt x="36" y="36"/>
                  </a:lnTo>
                  <a:lnTo>
                    <a:pt x="45" y="26"/>
                  </a:lnTo>
                  <a:lnTo>
                    <a:pt x="55" y="19"/>
                  </a:lnTo>
                  <a:lnTo>
                    <a:pt x="81" y="8"/>
                  </a:lnTo>
                  <a:lnTo>
                    <a:pt x="94" y="4"/>
                  </a:lnTo>
                  <a:lnTo>
                    <a:pt x="109" y="1"/>
                  </a:lnTo>
                  <a:lnTo>
                    <a:pt x="144" y="0"/>
                  </a:lnTo>
                  <a:lnTo>
                    <a:pt x="4680" y="0"/>
                  </a:lnTo>
                  <a:lnTo>
                    <a:pt x="4714" y="1"/>
                  </a:lnTo>
                  <a:lnTo>
                    <a:pt x="4728" y="4"/>
                  </a:lnTo>
                  <a:lnTo>
                    <a:pt x="4743" y="8"/>
                  </a:lnTo>
                  <a:lnTo>
                    <a:pt x="4767" y="19"/>
                  </a:lnTo>
                  <a:lnTo>
                    <a:pt x="4777" y="26"/>
                  </a:lnTo>
                  <a:lnTo>
                    <a:pt x="4788" y="36"/>
                  </a:lnTo>
                  <a:lnTo>
                    <a:pt x="4795" y="44"/>
                  </a:lnTo>
                  <a:lnTo>
                    <a:pt x="4803" y="55"/>
                  </a:lnTo>
                  <a:lnTo>
                    <a:pt x="4815" y="80"/>
                  </a:lnTo>
                  <a:lnTo>
                    <a:pt x="4818" y="94"/>
                  </a:lnTo>
                  <a:lnTo>
                    <a:pt x="4822" y="109"/>
                  </a:lnTo>
                  <a:lnTo>
                    <a:pt x="4824" y="144"/>
                  </a:lnTo>
                  <a:lnTo>
                    <a:pt x="4824" y="192"/>
                  </a:lnTo>
                </a:path>
              </a:pathLst>
            </a:custGeom>
            <a:solidFill>
              <a:srgbClr val="CCFFCC"/>
            </a:solidFill>
            <a:ln w="25400" cap="flat" cmpd="sng">
              <a:solidFill>
                <a:srgbClr val="33333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37304" name="Freeform 88">
              <a:extLst>
                <a:ext uri="{FF2B5EF4-FFF2-40B4-BE49-F238E27FC236}">
                  <a16:creationId xmlns:a16="http://schemas.microsoft.com/office/drawing/2014/main" id="{D7193795-28D2-7F62-DA42-B905B30E481E}"/>
                </a:ext>
              </a:extLst>
            </p:cNvPr>
            <p:cNvSpPr>
              <a:spLocks/>
            </p:cNvSpPr>
            <p:nvPr/>
          </p:nvSpPr>
          <p:spPr bwMode="auto">
            <a:xfrm>
              <a:off x="1167" y="832"/>
              <a:ext cx="74" cy="69"/>
            </a:xfrm>
            <a:custGeom>
              <a:avLst/>
              <a:gdLst>
                <a:gd name="T0" fmla="*/ 19 w 247"/>
                <a:gd name="T1" fmla="*/ 59 h 248"/>
                <a:gd name="T2" fmla="*/ 4 w 247"/>
                <a:gd name="T3" fmla="*/ 92 h 248"/>
                <a:gd name="T4" fmla="*/ 0 w 247"/>
                <a:gd name="T5" fmla="*/ 121 h 248"/>
                <a:gd name="T6" fmla="*/ 4 w 247"/>
                <a:gd name="T7" fmla="*/ 160 h 248"/>
                <a:gd name="T8" fmla="*/ 21 w 247"/>
                <a:gd name="T9" fmla="*/ 196 h 248"/>
                <a:gd name="T10" fmla="*/ 42 w 247"/>
                <a:gd name="T11" fmla="*/ 220 h 248"/>
                <a:gd name="T12" fmla="*/ 78 w 247"/>
                <a:gd name="T13" fmla="*/ 241 h 248"/>
                <a:gd name="T14" fmla="*/ 108 w 247"/>
                <a:gd name="T15" fmla="*/ 247 h 248"/>
                <a:gd name="T16" fmla="*/ 160 w 247"/>
                <a:gd name="T17" fmla="*/ 242 h 248"/>
                <a:gd name="T18" fmla="*/ 197 w 247"/>
                <a:gd name="T19" fmla="*/ 223 h 248"/>
                <a:gd name="T20" fmla="*/ 219 w 247"/>
                <a:gd name="T21" fmla="*/ 200 h 248"/>
                <a:gd name="T22" fmla="*/ 233 w 247"/>
                <a:gd name="T23" fmla="*/ 178 h 248"/>
                <a:gd name="T24" fmla="*/ 244 w 247"/>
                <a:gd name="T25" fmla="*/ 108 h 248"/>
                <a:gd name="T26" fmla="*/ 229 w 247"/>
                <a:gd name="T27" fmla="*/ 70 h 248"/>
                <a:gd name="T28" fmla="*/ 245 w 247"/>
                <a:gd name="T29" fmla="*/ 53 h 248"/>
                <a:gd name="T30" fmla="*/ 232 w 247"/>
                <a:gd name="T31" fmla="*/ 52 h 248"/>
                <a:gd name="T32" fmla="*/ 220 w 247"/>
                <a:gd name="T33" fmla="*/ 43 h 248"/>
                <a:gd name="T34" fmla="*/ 203 w 247"/>
                <a:gd name="T35" fmla="*/ 24 h 248"/>
                <a:gd name="T36" fmla="*/ 199 w 247"/>
                <a:gd name="T37" fmla="*/ 11 h 248"/>
                <a:gd name="T38" fmla="*/ 169 w 247"/>
                <a:gd name="T39" fmla="*/ 34 h 248"/>
                <a:gd name="T40" fmla="*/ 165 w 247"/>
                <a:gd name="T41" fmla="*/ 43 h 248"/>
                <a:gd name="T42" fmla="*/ 165 w 247"/>
                <a:gd name="T43" fmla="*/ 54 h 248"/>
                <a:gd name="T44" fmla="*/ 168 w 247"/>
                <a:gd name="T45" fmla="*/ 64 h 248"/>
                <a:gd name="T46" fmla="*/ 185 w 247"/>
                <a:gd name="T47" fmla="*/ 82 h 248"/>
                <a:gd name="T48" fmla="*/ 196 w 247"/>
                <a:gd name="T49" fmla="*/ 88 h 248"/>
                <a:gd name="T50" fmla="*/ 171 w 247"/>
                <a:gd name="T51" fmla="*/ 80 h 248"/>
                <a:gd name="T52" fmla="*/ 156 w 247"/>
                <a:gd name="T53" fmla="*/ 67 h 248"/>
                <a:gd name="T54" fmla="*/ 149 w 247"/>
                <a:gd name="T55" fmla="*/ 52 h 248"/>
                <a:gd name="T56" fmla="*/ 150 w 247"/>
                <a:gd name="T57" fmla="*/ 36 h 248"/>
                <a:gd name="T58" fmla="*/ 157 w 247"/>
                <a:gd name="T59" fmla="*/ 24 h 248"/>
                <a:gd name="T60" fmla="*/ 165 w 247"/>
                <a:gd name="T61" fmla="*/ 12 h 248"/>
                <a:gd name="T62" fmla="*/ 121 w 247"/>
                <a:gd name="T63" fmla="*/ 4 h 248"/>
                <a:gd name="T64" fmla="*/ 90 w 247"/>
                <a:gd name="T65" fmla="*/ 8 h 248"/>
                <a:gd name="T66" fmla="*/ 51 w 247"/>
                <a:gd name="T67" fmla="*/ 2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7" h="248">
                  <a:moveTo>
                    <a:pt x="36" y="38"/>
                  </a:moveTo>
                  <a:lnTo>
                    <a:pt x="19" y="59"/>
                  </a:lnTo>
                  <a:lnTo>
                    <a:pt x="11" y="74"/>
                  </a:lnTo>
                  <a:lnTo>
                    <a:pt x="4" y="92"/>
                  </a:lnTo>
                  <a:lnTo>
                    <a:pt x="1" y="102"/>
                  </a:lnTo>
                  <a:lnTo>
                    <a:pt x="0" y="121"/>
                  </a:lnTo>
                  <a:lnTo>
                    <a:pt x="0" y="140"/>
                  </a:lnTo>
                  <a:lnTo>
                    <a:pt x="4" y="160"/>
                  </a:lnTo>
                  <a:lnTo>
                    <a:pt x="11" y="179"/>
                  </a:lnTo>
                  <a:lnTo>
                    <a:pt x="21" y="196"/>
                  </a:lnTo>
                  <a:lnTo>
                    <a:pt x="34" y="211"/>
                  </a:lnTo>
                  <a:lnTo>
                    <a:pt x="42" y="220"/>
                  </a:lnTo>
                  <a:lnTo>
                    <a:pt x="57" y="230"/>
                  </a:lnTo>
                  <a:lnTo>
                    <a:pt x="78" y="241"/>
                  </a:lnTo>
                  <a:lnTo>
                    <a:pt x="95" y="246"/>
                  </a:lnTo>
                  <a:lnTo>
                    <a:pt x="108" y="247"/>
                  </a:lnTo>
                  <a:lnTo>
                    <a:pt x="125" y="248"/>
                  </a:lnTo>
                  <a:lnTo>
                    <a:pt x="160" y="242"/>
                  </a:lnTo>
                  <a:lnTo>
                    <a:pt x="177" y="236"/>
                  </a:lnTo>
                  <a:lnTo>
                    <a:pt x="197" y="223"/>
                  </a:lnTo>
                  <a:lnTo>
                    <a:pt x="207" y="215"/>
                  </a:lnTo>
                  <a:lnTo>
                    <a:pt x="219" y="200"/>
                  </a:lnTo>
                  <a:lnTo>
                    <a:pt x="225" y="193"/>
                  </a:lnTo>
                  <a:lnTo>
                    <a:pt x="233" y="178"/>
                  </a:lnTo>
                  <a:lnTo>
                    <a:pt x="244" y="143"/>
                  </a:lnTo>
                  <a:lnTo>
                    <a:pt x="244" y="108"/>
                  </a:lnTo>
                  <a:lnTo>
                    <a:pt x="235" y="82"/>
                  </a:lnTo>
                  <a:lnTo>
                    <a:pt x="229" y="70"/>
                  </a:lnTo>
                  <a:lnTo>
                    <a:pt x="247" y="52"/>
                  </a:lnTo>
                  <a:lnTo>
                    <a:pt x="245" y="53"/>
                  </a:lnTo>
                  <a:lnTo>
                    <a:pt x="240" y="53"/>
                  </a:lnTo>
                  <a:lnTo>
                    <a:pt x="232" y="52"/>
                  </a:lnTo>
                  <a:lnTo>
                    <a:pt x="223" y="47"/>
                  </a:lnTo>
                  <a:lnTo>
                    <a:pt x="220" y="43"/>
                  </a:lnTo>
                  <a:lnTo>
                    <a:pt x="210" y="34"/>
                  </a:lnTo>
                  <a:lnTo>
                    <a:pt x="203" y="24"/>
                  </a:lnTo>
                  <a:lnTo>
                    <a:pt x="199" y="14"/>
                  </a:lnTo>
                  <a:lnTo>
                    <a:pt x="199" y="11"/>
                  </a:lnTo>
                  <a:lnTo>
                    <a:pt x="199" y="0"/>
                  </a:lnTo>
                  <a:lnTo>
                    <a:pt x="169" y="34"/>
                  </a:lnTo>
                  <a:lnTo>
                    <a:pt x="167" y="38"/>
                  </a:lnTo>
                  <a:lnTo>
                    <a:pt x="165" y="43"/>
                  </a:lnTo>
                  <a:lnTo>
                    <a:pt x="165" y="49"/>
                  </a:lnTo>
                  <a:lnTo>
                    <a:pt x="165" y="54"/>
                  </a:lnTo>
                  <a:lnTo>
                    <a:pt x="166" y="59"/>
                  </a:lnTo>
                  <a:lnTo>
                    <a:pt x="168" y="64"/>
                  </a:lnTo>
                  <a:lnTo>
                    <a:pt x="174" y="72"/>
                  </a:lnTo>
                  <a:lnTo>
                    <a:pt x="185" y="82"/>
                  </a:lnTo>
                  <a:lnTo>
                    <a:pt x="195" y="88"/>
                  </a:lnTo>
                  <a:lnTo>
                    <a:pt x="196" y="88"/>
                  </a:lnTo>
                  <a:lnTo>
                    <a:pt x="174" y="82"/>
                  </a:lnTo>
                  <a:lnTo>
                    <a:pt x="171" y="80"/>
                  </a:lnTo>
                  <a:lnTo>
                    <a:pt x="162" y="74"/>
                  </a:lnTo>
                  <a:lnTo>
                    <a:pt x="156" y="67"/>
                  </a:lnTo>
                  <a:lnTo>
                    <a:pt x="151" y="59"/>
                  </a:lnTo>
                  <a:lnTo>
                    <a:pt x="149" y="52"/>
                  </a:lnTo>
                  <a:lnTo>
                    <a:pt x="149" y="43"/>
                  </a:lnTo>
                  <a:lnTo>
                    <a:pt x="150" y="36"/>
                  </a:lnTo>
                  <a:lnTo>
                    <a:pt x="154" y="30"/>
                  </a:lnTo>
                  <a:lnTo>
                    <a:pt x="157" y="24"/>
                  </a:lnTo>
                  <a:lnTo>
                    <a:pt x="169" y="13"/>
                  </a:lnTo>
                  <a:lnTo>
                    <a:pt x="165" y="12"/>
                  </a:lnTo>
                  <a:lnTo>
                    <a:pt x="148" y="6"/>
                  </a:lnTo>
                  <a:lnTo>
                    <a:pt x="121" y="4"/>
                  </a:lnTo>
                  <a:lnTo>
                    <a:pt x="103" y="6"/>
                  </a:lnTo>
                  <a:lnTo>
                    <a:pt x="90" y="8"/>
                  </a:lnTo>
                  <a:lnTo>
                    <a:pt x="66" y="17"/>
                  </a:lnTo>
                  <a:lnTo>
                    <a:pt x="51" y="26"/>
                  </a:lnTo>
                  <a:lnTo>
                    <a:pt x="36"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09" name="Rectangle 93">
              <a:extLst>
                <a:ext uri="{FF2B5EF4-FFF2-40B4-BE49-F238E27FC236}">
                  <a16:creationId xmlns:a16="http://schemas.microsoft.com/office/drawing/2014/main" id="{BCCF0367-6C6C-EF1B-4A73-CF37623A4042}"/>
                </a:ext>
              </a:extLst>
            </p:cNvPr>
            <p:cNvSpPr>
              <a:spLocks noChangeArrowheads="1"/>
            </p:cNvSpPr>
            <p:nvPr/>
          </p:nvSpPr>
          <p:spPr bwMode="auto">
            <a:xfrm>
              <a:off x="1309" y="822"/>
              <a:ext cx="109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Spoofing host/user identity</a:t>
              </a:r>
              <a:endParaRPr lang="en-US" altLang="zh-CN" sz="1600">
                <a:solidFill>
                  <a:schemeClr val="tx1"/>
                </a:solidFill>
                <a:ea typeface="宋体" panose="02010600030101010101" pitchFamily="2" charset="-122"/>
              </a:endParaRPr>
            </a:p>
          </p:txBody>
        </p:sp>
        <p:sp>
          <p:nvSpPr>
            <p:cNvPr id="137377" name="Freeform 161">
              <a:extLst>
                <a:ext uri="{FF2B5EF4-FFF2-40B4-BE49-F238E27FC236}">
                  <a16:creationId xmlns:a16="http://schemas.microsoft.com/office/drawing/2014/main" id="{ABA0279A-CC38-AF3A-4A1A-8EEFDB7A0698}"/>
                </a:ext>
              </a:extLst>
            </p:cNvPr>
            <p:cNvSpPr>
              <a:spLocks/>
            </p:cNvSpPr>
            <p:nvPr/>
          </p:nvSpPr>
          <p:spPr bwMode="auto">
            <a:xfrm>
              <a:off x="2533" y="1052"/>
              <a:ext cx="158" cy="145"/>
            </a:xfrm>
            <a:custGeom>
              <a:avLst/>
              <a:gdLst>
                <a:gd name="T0" fmla="*/ 269 w 533"/>
                <a:gd name="T1" fmla="*/ 164 h 524"/>
                <a:gd name="T2" fmla="*/ 160 w 533"/>
                <a:gd name="T3" fmla="*/ 0 h 524"/>
                <a:gd name="T4" fmla="*/ 4 w 533"/>
                <a:gd name="T5" fmla="*/ 0 h 524"/>
                <a:gd name="T6" fmla="*/ 186 w 533"/>
                <a:gd name="T7" fmla="*/ 260 h 524"/>
                <a:gd name="T8" fmla="*/ 0 w 533"/>
                <a:gd name="T9" fmla="*/ 524 h 524"/>
                <a:gd name="T10" fmla="*/ 149 w 533"/>
                <a:gd name="T11" fmla="*/ 524 h 524"/>
                <a:gd name="T12" fmla="*/ 264 w 533"/>
                <a:gd name="T13" fmla="*/ 352 h 524"/>
                <a:gd name="T14" fmla="*/ 377 w 533"/>
                <a:gd name="T15" fmla="*/ 524 h 524"/>
                <a:gd name="T16" fmla="*/ 533 w 533"/>
                <a:gd name="T17" fmla="*/ 524 h 524"/>
                <a:gd name="T18" fmla="*/ 347 w 533"/>
                <a:gd name="T19" fmla="*/ 255 h 524"/>
                <a:gd name="T20" fmla="*/ 531 w 533"/>
                <a:gd name="T21" fmla="*/ 0 h 524"/>
                <a:gd name="T22" fmla="*/ 381 w 533"/>
                <a:gd name="T23" fmla="*/ 0 h 524"/>
                <a:gd name="T24" fmla="*/ 269 w 533"/>
                <a:gd name="T25" fmla="*/ 164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3" h="524">
                  <a:moveTo>
                    <a:pt x="269" y="164"/>
                  </a:moveTo>
                  <a:lnTo>
                    <a:pt x="160" y="0"/>
                  </a:lnTo>
                  <a:lnTo>
                    <a:pt x="4" y="0"/>
                  </a:lnTo>
                  <a:lnTo>
                    <a:pt x="186" y="260"/>
                  </a:lnTo>
                  <a:lnTo>
                    <a:pt x="0" y="524"/>
                  </a:lnTo>
                  <a:lnTo>
                    <a:pt x="149" y="524"/>
                  </a:lnTo>
                  <a:lnTo>
                    <a:pt x="264" y="352"/>
                  </a:lnTo>
                  <a:lnTo>
                    <a:pt x="377" y="524"/>
                  </a:lnTo>
                  <a:lnTo>
                    <a:pt x="533" y="524"/>
                  </a:lnTo>
                  <a:lnTo>
                    <a:pt x="347" y="255"/>
                  </a:lnTo>
                  <a:lnTo>
                    <a:pt x="531" y="0"/>
                  </a:lnTo>
                  <a:lnTo>
                    <a:pt x="381" y="0"/>
                  </a:lnTo>
                  <a:lnTo>
                    <a:pt x="269" y="1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05" name="Freeform 89">
              <a:extLst>
                <a:ext uri="{FF2B5EF4-FFF2-40B4-BE49-F238E27FC236}">
                  <a16:creationId xmlns:a16="http://schemas.microsoft.com/office/drawing/2014/main" id="{0BDCF6C3-1914-2A52-664B-9AED463D5157}"/>
                </a:ext>
              </a:extLst>
            </p:cNvPr>
            <p:cNvSpPr>
              <a:spLocks/>
            </p:cNvSpPr>
            <p:nvPr/>
          </p:nvSpPr>
          <p:spPr bwMode="auto">
            <a:xfrm>
              <a:off x="1256" y="801"/>
              <a:ext cx="23" cy="22"/>
            </a:xfrm>
            <a:custGeom>
              <a:avLst/>
              <a:gdLst>
                <a:gd name="T0" fmla="*/ 66 w 78"/>
                <a:gd name="T1" fmla="*/ 0 h 78"/>
                <a:gd name="T2" fmla="*/ 64 w 78"/>
                <a:gd name="T3" fmla="*/ 3 h 78"/>
                <a:gd name="T4" fmla="*/ 2 w 78"/>
                <a:gd name="T5" fmla="*/ 64 h 78"/>
                <a:gd name="T6" fmla="*/ 1 w 78"/>
                <a:gd name="T7" fmla="*/ 66 h 78"/>
                <a:gd name="T8" fmla="*/ 0 w 78"/>
                <a:gd name="T9" fmla="*/ 69 h 78"/>
                <a:gd name="T10" fmla="*/ 1 w 78"/>
                <a:gd name="T11" fmla="*/ 74 h 78"/>
                <a:gd name="T12" fmla="*/ 2 w 78"/>
                <a:gd name="T13" fmla="*/ 76 h 78"/>
                <a:gd name="T14" fmla="*/ 5 w 78"/>
                <a:gd name="T15" fmla="*/ 77 h 78"/>
                <a:gd name="T16" fmla="*/ 6 w 78"/>
                <a:gd name="T17" fmla="*/ 77 h 78"/>
                <a:gd name="T18" fmla="*/ 10 w 78"/>
                <a:gd name="T19" fmla="*/ 78 h 78"/>
                <a:gd name="T20" fmla="*/ 11 w 78"/>
                <a:gd name="T21" fmla="*/ 78 h 78"/>
                <a:gd name="T22" fmla="*/ 13 w 78"/>
                <a:gd name="T23" fmla="*/ 77 h 78"/>
                <a:gd name="T24" fmla="*/ 16 w 78"/>
                <a:gd name="T25" fmla="*/ 75 h 78"/>
                <a:gd name="T26" fmla="*/ 76 w 78"/>
                <a:gd name="T27" fmla="*/ 16 h 78"/>
                <a:gd name="T28" fmla="*/ 77 w 78"/>
                <a:gd name="T29" fmla="*/ 12 h 78"/>
                <a:gd name="T30" fmla="*/ 78 w 78"/>
                <a:gd name="T31" fmla="*/ 9 h 78"/>
                <a:gd name="T32" fmla="*/ 77 w 78"/>
                <a:gd name="T33" fmla="*/ 5 h 78"/>
                <a:gd name="T34" fmla="*/ 76 w 78"/>
                <a:gd name="T35" fmla="*/ 3 h 78"/>
                <a:gd name="T36" fmla="*/ 73 w 78"/>
                <a:gd name="T37" fmla="*/ 0 h 78"/>
                <a:gd name="T38" fmla="*/ 71 w 78"/>
                <a:gd name="T39" fmla="*/ 0 h 78"/>
                <a:gd name="T40" fmla="*/ 67 w 78"/>
                <a:gd name="T41" fmla="*/ 0 h 78"/>
                <a:gd name="T42" fmla="*/ 66 w 78"/>
                <a:gd name="T43"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78">
                  <a:moveTo>
                    <a:pt x="66" y="0"/>
                  </a:moveTo>
                  <a:lnTo>
                    <a:pt x="64" y="3"/>
                  </a:lnTo>
                  <a:lnTo>
                    <a:pt x="2" y="64"/>
                  </a:lnTo>
                  <a:lnTo>
                    <a:pt x="1" y="66"/>
                  </a:lnTo>
                  <a:lnTo>
                    <a:pt x="0" y="69"/>
                  </a:lnTo>
                  <a:lnTo>
                    <a:pt x="1" y="74"/>
                  </a:lnTo>
                  <a:lnTo>
                    <a:pt x="2" y="76"/>
                  </a:lnTo>
                  <a:lnTo>
                    <a:pt x="5" y="77"/>
                  </a:lnTo>
                  <a:lnTo>
                    <a:pt x="6" y="77"/>
                  </a:lnTo>
                  <a:lnTo>
                    <a:pt x="10" y="78"/>
                  </a:lnTo>
                  <a:lnTo>
                    <a:pt x="11" y="78"/>
                  </a:lnTo>
                  <a:lnTo>
                    <a:pt x="13" y="77"/>
                  </a:lnTo>
                  <a:lnTo>
                    <a:pt x="16" y="75"/>
                  </a:lnTo>
                  <a:lnTo>
                    <a:pt x="76" y="16"/>
                  </a:lnTo>
                  <a:lnTo>
                    <a:pt x="77" y="12"/>
                  </a:lnTo>
                  <a:lnTo>
                    <a:pt x="78" y="9"/>
                  </a:lnTo>
                  <a:lnTo>
                    <a:pt x="77" y="5"/>
                  </a:lnTo>
                  <a:lnTo>
                    <a:pt x="76" y="3"/>
                  </a:lnTo>
                  <a:lnTo>
                    <a:pt x="73" y="0"/>
                  </a:lnTo>
                  <a:lnTo>
                    <a:pt x="71" y="0"/>
                  </a:lnTo>
                  <a:lnTo>
                    <a:pt x="67" y="0"/>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06" name="Freeform 90">
              <a:extLst>
                <a:ext uri="{FF2B5EF4-FFF2-40B4-BE49-F238E27FC236}">
                  <a16:creationId xmlns:a16="http://schemas.microsoft.com/office/drawing/2014/main" id="{F62F0566-D732-96A2-A965-F665FE694E7D}"/>
                </a:ext>
              </a:extLst>
            </p:cNvPr>
            <p:cNvSpPr>
              <a:spLocks/>
            </p:cNvSpPr>
            <p:nvPr/>
          </p:nvSpPr>
          <p:spPr bwMode="auto">
            <a:xfrm>
              <a:off x="1242" y="792"/>
              <a:ext cx="6" cy="28"/>
            </a:xfrm>
            <a:custGeom>
              <a:avLst/>
              <a:gdLst>
                <a:gd name="T0" fmla="*/ 8 w 18"/>
                <a:gd name="T1" fmla="*/ 0 h 102"/>
                <a:gd name="T2" fmla="*/ 5 w 18"/>
                <a:gd name="T3" fmla="*/ 0 h 102"/>
                <a:gd name="T4" fmla="*/ 3 w 18"/>
                <a:gd name="T5" fmla="*/ 2 h 102"/>
                <a:gd name="T6" fmla="*/ 0 w 18"/>
                <a:gd name="T7" fmla="*/ 7 h 102"/>
                <a:gd name="T8" fmla="*/ 0 w 18"/>
                <a:gd name="T9" fmla="*/ 93 h 102"/>
                <a:gd name="T10" fmla="*/ 0 w 18"/>
                <a:gd name="T11" fmla="*/ 97 h 102"/>
                <a:gd name="T12" fmla="*/ 2 w 18"/>
                <a:gd name="T13" fmla="*/ 98 h 102"/>
                <a:gd name="T14" fmla="*/ 3 w 18"/>
                <a:gd name="T15" fmla="*/ 99 h 102"/>
                <a:gd name="T16" fmla="*/ 5 w 18"/>
                <a:gd name="T17" fmla="*/ 102 h 102"/>
                <a:gd name="T18" fmla="*/ 9 w 18"/>
                <a:gd name="T19" fmla="*/ 102 h 102"/>
                <a:gd name="T20" fmla="*/ 14 w 18"/>
                <a:gd name="T21" fmla="*/ 101 h 102"/>
                <a:gd name="T22" fmla="*/ 16 w 18"/>
                <a:gd name="T23" fmla="*/ 98 h 102"/>
                <a:gd name="T24" fmla="*/ 18 w 18"/>
                <a:gd name="T25" fmla="*/ 93 h 102"/>
                <a:gd name="T26" fmla="*/ 17 w 18"/>
                <a:gd name="T27" fmla="*/ 8 h 102"/>
                <a:gd name="T28" fmla="*/ 16 w 18"/>
                <a:gd name="T29" fmla="*/ 5 h 102"/>
                <a:gd name="T30" fmla="*/ 15 w 18"/>
                <a:gd name="T31" fmla="*/ 2 h 102"/>
                <a:gd name="T32" fmla="*/ 12 w 18"/>
                <a:gd name="T33" fmla="*/ 0 h 102"/>
                <a:gd name="T34" fmla="*/ 8 w 18"/>
                <a:gd name="T3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102">
                  <a:moveTo>
                    <a:pt x="8" y="0"/>
                  </a:moveTo>
                  <a:lnTo>
                    <a:pt x="5" y="0"/>
                  </a:lnTo>
                  <a:lnTo>
                    <a:pt x="3" y="2"/>
                  </a:lnTo>
                  <a:lnTo>
                    <a:pt x="0" y="7"/>
                  </a:lnTo>
                  <a:lnTo>
                    <a:pt x="0" y="93"/>
                  </a:lnTo>
                  <a:lnTo>
                    <a:pt x="0" y="97"/>
                  </a:lnTo>
                  <a:lnTo>
                    <a:pt x="2" y="98"/>
                  </a:lnTo>
                  <a:lnTo>
                    <a:pt x="3" y="99"/>
                  </a:lnTo>
                  <a:lnTo>
                    <a:pt x="5" y="102"/>
                  </a:lnTo>
                  <a:lnTo>
                    <a:pt x="9" y="102"/>
                  </a:lnTo>
                  <a:lnTo>
                    <a:pt x="14" y="101"/>
                  </a:lnTo>
                  <a:lnTo>
                    <a:pt x="16" y="98"/>
                  </a:lnTo>
                  <a:lnTo>
                    <a:pt x="18" y="93"/>
                  </a:lnTo>
                  <a:lnTo>
                    <a:pt x="17" y="8"/>
                  </a:lnTo>
                  <a:lnTo>
                    <a:pt x="16" y="5"/>
                  </a:lnTo>
                  <a:lnTo>
                    <a:pt x="15" y="2"/>
                  </a:lnTo>
                  <a:lnTo>
                    <a:pt x="12" y="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08" name="Freeform 92">
              <a:extLst>
                <a:ext uri="{FF2B5EF4-FFF2-40B4-BE49-F238E27FC236}">
                  <a16:creationId xmlns:a16="http://schemas.microsoft.com/office/drawing/2014/main" id="{63E0C871-8D4A-1668-7B8B-C43C3FCF33B3}"/>
                </a:ext>
              </a:extLst>
            </p:cNvPr>
            <p:cNvSpPr>
              <a:spLocks/>
            </p:cNvSpPr>
            <p:nvPr/>
          </p:nvSpPr>
          <p:spPr bwMode="auto">
            <a:xfrm>
              <a:off x="1258" y="830"/>
              <a:ext cx="31" cy="5"/>
            </a:xfrm>
            <a:custGeom>
              <a:avLst/>
              <a:gdLst>
                <a:gd name="T0" fmla="*/ 0 w 102"/>
                <a:gd name="T1" fmla="*/ 9 h 18"/>
                <a:gd name="T2" fmla="*/ 0 w 102"/>
                <a:gd name="T3" fmla="*/ 11 h 18"/>
                <a:gd name="T4" fmla="*/ 3 w 102"/>
                <a:gd name="T5" fmla="*/ 14 h 18"/>
                <a:gd name="T6" fmla="*/ 3 w 102"/>
                <a:gd name="T7" fmla="*/ 15 h 18"/>
                <a:gd name="T8" fmla="*/ 5 w 102"/>
                <a:gd name="T9" fmla="*/ 18 h 18"/>
                <a:gd name="T10" fmla="*/ 8 w 102"/>
                <a:gd name="T11" fmla="*/ 18 h 18"/>
                <a:gd name="T12" fmla="*/ 96 w 102"/>
                <a:gd name="T13" fmla="*/ 18 h 18"/>
                <a:gd name="T14" fmla="*/ 96 w 102"/>
                <a:gd name="T15" fmla="*/ 17 h 18"/>
                <a:gd name="T16" fmla="*/ 100 w 102"/>
                <a:gd name="T17" fmla="*/ 15 h 18"/>
                <a:gd name="T18" fmla="*/ 102 w 102"/>
                <a:gd name="T19" fmla="*/ 13 h 18"/>
                <a:gd name="T20" fmla="*/ 102 w 102"/>
                <a:gd name="T21" fmla="*/ 8 h 18"/>
                <a:gd name="T22" fmla="*/ 102 w 102"/>
                <a:gd name="T23" fmla="*/ 7 h 18"/>
                <a:gd name="T24" fmla="*/ 100 w 102"/>
                <a:gd name="T25" fmla="*/ 1 h 18"/>
                <a:gd name="T26" fmla="*/ 95 w 102"/>
                <a:gd name="T27" fmla="*/ 0 h 18"/>
                <a:gd name="T28" fmla="*/ 8 w 102"/>
                <a:gd name="T29" fmla="*/ 1 h 18"/>
                <a:gd name="T30" fmla="*/ 5 w 102"/>
                <a:gd name="T31" fmla="*/ 1 h 18"/>
                <a:gd name="T32" fmla="*/ 3 w 102"/>
                <a:gd name="T33" fmla="*/ 2 h 18"/>
                <a:gd name="T34" fmla="*/ 3 w 102"/>
                <a:gd name="T35" fmla="*/ 5 h 18"/>
                <a:gd name="T36" fmla="*/ 2 w 102"/>
                <a:gd name="T37" fmla="*/ 6 h 18"/>
                <a:gd name="T38" fmla="*/ 0 w 102"/>
                <a:gd name="T39"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18">
                  <a:moveTo>
                    <a:pt x="0" y="9"/>
                  </a:moveTo>
                  <a:lnTo>
                    <a:pt x="0" y="11"/>
                  </a:lnTo>
                  <a:lnTo>
                    <a:pt x="3" y="14"/>
                  </a:lnTo>
                  <a:lnTo>
                    <a:pt x="3" y="15"/>
                  </a:lnTo>
                  <a:lnTo>
                    <a:pt x="5" y="18"/>
                  </a:lnTo>
                  <a:lnTo>
                    <a:pt x="8" y="18"/>
                  </a:lnTo>
                  <a:lnTo>
                    <a:pt x="96" y="18"/>
                  </a:lnTo>
                  <a:lnTo>
                    <a:pt x="96" y="17"/>
                  </a:lnTo>
                  <a:lnTo>
                    <a:pt x="100" y="15"/>
                  </a:lnTo>
                  <a:lnTo>
                    <a:pt x="102" y="13"/>
                  </a:lnTo>
                  <a:lnTo>
                    <a:pt x="102" y="8"/>
                  </a:lnTo>
                  <a:lnTo>
                    <a:pt x="102" y="7"/>
                  </a:lnTo>
                  <a:lnTo>
                    <a:pt x="100" y="1"/>
                  </a:lnTo>
                  <a:lnTo>
                    <a:pt x="95" y="0"/>
                  </a:lnTo>
                  <a:lnTo>
                    <a:pt x="8" y="1"/>
                  </a:lnTo>
                  <a:lnTo>
                    <a:pt x="5" y="1"/>
                  </a:lnTo>
                  <a:lnTo>
                    <a:pt x="3" y="2"/>
                  </a:lnTo>
                  <a:lnTo>
                    <a:pt x="3" y="5"/>
                  </a:lnTo>
                  <a:lnTo>
                    <a:pt x="2" y="6"/>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137508" name="Group 292">
            <a:extLst>
              <a:ext uri="{FF2B5EF4-FFF2-40B4-BE49-F238E27FC236}">
                <a16:creationId xmlns:a16="http://schemas.microsoft.com/office/drawing/2014/main" id="{B984D0AF-EB08-13E6-0D94-7C953052B1DC}"/>
              </a:ext>
            </a:extLst>
          </p:cNvPr>
          <p:cNvGrpSpPr>
            <a:grpSpLocks/>
          </p:cNvGrpSpPr>
          <p:nvPr/>
        </p:nvGrpSpPr>
        <p:grpSpPr bwMode="auto">
          <a:xfrm>
            <a:off x="2322513" y="4225925"/>
            <a:ext cx="1849437" cy="1946275"/>
            <a:chOff x="1362" y="2484"/>
            <a:chExt cx="1165" cy="1226"/>
          </a:xfrm>
        </p:grpSpPr>
        <p:sp>
          <p:nvSpPr>
            <p:cNvPr id="137286" name="Freeform 70">
              <a:extLst>
                <a:ext uri="{FF2B5EF4-FFF2-40B4-BE49-F238E27FC236}">
                  <a16:creationId xmlns:a16="http://schemas.microsoft.com/office/drawing/2014/main" id="{704C1AD5-7446-788C-C835-091FF13F001D}"/>
                </a:ext>
              </a:extLst>
            </p:cNvPr>
            <p:cNvSpPr>
              <a:spLocks/>
            </p:cNvSpPr>
            <p:nvPr/>
          </p:nvSpPr>
          <p:spPr bwMode="auto">
            <a:xfrm>
              <a:off x="1362" y="3268"/>
              <a:ext cx="966" cy="442"/>
            </a:xfrm>
            <a:custGeom>
              <a:avLst/>
              <a:gdLst>
                <a:gd name="T0" fmla="*/ 3264 w 3264"/>
                <a:gd name="T1" fmla="*/ 144 h 1593"/>
                <a:gd name="T2" fmla="*/ 3264 w 3264"/>
                <a:gd name="T3" fmla="*/ 1449 h 1593"/>
                <a:gd name="T4" fmla="*/ 3263 w 3264"/>
                <a:gd name="T5" fmla="*/ 1466 h 1593"/>
                <a:gd name="T6" fmla="*/ 3262 w 3264"/>
                <a:gd name="T7" fmla="*/ 1483 h 1593"/>
                <a:gd name="T8" fmla="*/ 3258 w 3264"/>
                <a:gd name="T9" fmla="*/ 1497 h 1593"/>
                <a:gd name="T10" fmla="*/ 3255 w 3264"/>
                <a:gd name="T11" fmla="*/ 1512 h 1593"/>
                <a:gd name="T12" fmla="*/ 3249 w 3264"/>
                <a:gd name="T13" fmla="*/ 1524 h 1593"/>
                <a:gd name="T14" fmla="*/ 3243 w 3264"/>
                <a:gd name="T15" fmla="*/ 1536 h 1593"/>
                <a:gd name="T16" fmla="*/ 3235 w 3264"/>
                <a:gd name="T17" fmla="*/ 1546 h 1593"/>
                <a:gd name="T18" fmla="*/ 3228 w 3264"/>
                <a:gd name="T19" fmla="*/ 1557 h 1593"/>
                <a:gd name="T20" fmla="*/ 3217 w 3264"/>
                <a:gd name="T21" fmla="*/ 1564 h 1593"/>
                <a:gd name="T22" fmla="*/ 3207 w 3264"/>
                <a:gd name="T23" fmla="*/ 1571 h 1593"/>
                <a:gd name="T24" fmla="*/ 3195 w 3264"/>
                <a:gd name="T25" fmla="*/ 1577 h 1593"/>
                <a:gd name="T26" fmla="*/ 3183 w 3264"/>
                <a:gd name="T27" fmla="*/ 1583 h 1593"/>
                <a:gd name="T28" fmla="*/ 3168 w 3264"/>
                <a:gd name="T29" fmla="*/ 1587 h 1593"/>
                <a:gd name="T30" fmla="*/ 3154 w 3264"/>
                <a:gd name="T31" fmla="*/ 1591 h 1593"/>
                <a:gd name="T32" fmla="*/ 3137 w 3264"/>
                <a:gd name="T33" fmla="*/ 1592 h 1593"/>
                <a:gd name="T34" fmla="*/ 3120 w 3264"/>
                <a:gd name="T35" fmla="*/ 1593 h 1593"/>
                <a:gd name="T36" fmla="*/ 144 w 3264"/>
                <a:gd name="T37" fmla="*/ 1593 h 1593"/>
                <a:gd name="T38" fmla="*/ 125 w 3264"/>
                <a:gd name="T39" fmla="*/ 1592 h 1593"/>
                <a:gd name="T40" fmla="*/ 108 w 3264"/>
                <a:gd name="T41" fmla="*/ 1591 h 1593"/>
                <a:gd name="T42" fmla="*/ 93 w 3264"/>
                <a:gd name="T43" fmla="*/ 1587 h 1593"/>
                <a:gd name="T44" fmla="*/ 79 w 3264"/>
                <a:gd name="T45" fmla="*/ 1583 h 1593"/>
                <a:gd name="T46" fmla="*/ 59 w 3264"/>
                <a:gd name="T47" fmla="*/ 1575 h 1593"/>
                <a:gd name="T48" fmla="*/ 43 w 3264"/>
                <a:gd name="T49" fmla="*/ 1564 h 1593"/>
                <a:gd name="T50" fmla="*/ 30 w 3264"/>
                <a:gd name="T51" fmla="*/ 1551 h 1593"/>
                <a:gd name="T52" fmla="*/ 19 w 3264"/>
                <a:gd name="T53" fmla="*/ 1536 h 1593"/>
                <a:gd name="T54" fmla="*/ 11 w 3264"/>
                <a:gd name="T55" fmla="*/ 1518 h 1593"/>
                <a:gd name="T56" fmla="*/ 5 w 3264"/>
                <a:gd name="T57" fmla="*/ 1497 h 1593"/>
                <a:gd name="T58" fmla="*/ 1 w 3264"/>
                <a:gd name="T59" fmla="*/ 1474 h 1593"/>
                <a:gd name="T60" fmla="*/ 0 w 3264"/>
                <a:gd name="T61" fmla="*/ 1449 h 1593"/>
                <a:gd name="T62" fmla="*/ 0 w 3264"/>
                <a:gd name="T63" fmla="*/ 144 h 1593"/>
                <a:gd name="T64" fmla="*/ 1 w 3264"/>
                <a:gd name="T65" fmla="*/ 109 h 1593"/>
                <a:gd name="T66" fmla="*/ 4 w 3264"/>
                <a:gd name="T67" fmla="*/ 93 h 1593"/>
                <a:gd name="T68" fmla="*/ 9 w 3264"/>
                <a:gd name="T69" fmla="*/ 80 h 1593"/>
                <a:gd name="T70" fmla="*/ 19 w 3264"/>
                <a:gd name="T71" fmla="*/ 55 h 1593"/>
                <a:gd name="T72" fmla="*/ 27 w 3264"/>
                <a:gd name="T73" fmla="*/ 44 h 1593"/>
                <a:gd name="T74" fmla="*/ 36 w 3264"/>
                <a:gd name="T75" fmla="*/ 36 h 1593"/>
                <a:gd name="T76" fmla="*/ 45 w 3264"/>
                <a:gd name="T77" fmla="*/ 26 h 1593"/>
                <a:gd name="T78" fmla="*/ 55 w 3264"/>
                <a:gd name="T79" fmla="*/ 19 h 1593"/>
                <a:gd name="T80" fmla="*/ 81 w 3264"/>
                <a:gd name="T81" fmla="*/ 8 h 1593"/>
                <a:gd name="T82" fmla="*/ 94 w 3264"/>
                <a:gd name="T83" fmla="*/ 3 h 1593"/>
                <a:gd name="T84" fmla="*/ 109 w 3264"/>
                <a:gd name="T85" fmla="*/ 1 h 1593"/>
                <a:gd name="T86" fmla="*/ 144 w 3264"/>
                <a:gd name="T87" fmla="*/ 0 h 1593"/>
                <a:gd name="T88" fmla="*/ 3120 w 3264"/>
                <a:gd name="T89" fmla="*/ 0 h 1593"/>
                <a:gd name="T90" fmla="*/ 3154 w 3264"/>
                <a:gd name="T91" fmla="*/ 1 h 1593"/>
                <a:gd name="T92" fmla="*/ 3168 w 3264"/>
                <a:gd name="T93" fmla="*/ 3 h 1593"/>
                <a:gd name="T94" fmla="*/ 3183 w 3264"/>
                <a:gd name="T95" fmla="*/ 8 h 1593"/>
                <a:gd name="T96" fmla="*/ 3207 w 3264"/>
                <a:gd name="T97" fmla="*/ 19 h 1593"/>
                <a:gd name="T98" fmla="*/ 3217 w 3264"/>
                <a:gd name="T99" fmla="*/ 26 h 1593"/>
                <a:gd name="T100" fmla="*/ 3228 w 3264"/>
                <a:gd name="T101" fmla="*/ 36 h 1593"/>
                <a:gd name="T102" fmla="*/ 3235 w 3264"/>
                <a:gd name="T103" fmla="*/ 44 h 1593"/>
                <a:gd name="T104" fmla="*/ 3243 w 3264"/>
                <a:gd name="T105" fmla="*/ 55 h 1593"/>
                <a:gd name="T106" fmla="*/ 3255 w 3264"/>
                <a:gd name="T107" fmla="*/ 80 h 1593"/>
                <a:gd name="T108" fmla="*/ 3258 w 3264"/>
                <a:gd name="T109" fmla="*/ 93 h 1593"/>
                <a:gd name="T110" fmla="*/ 3262 w 3264"/>
                <a:gd name="T111" fmla="*/ 109 h 1593"/>
                <a:gd name="T112" fmla="*/ 3264 w 3264"/>
                <a:gd name="T113" fmla="*/ 144 h 1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64" h="1593">
                  <a:moveTo>
                    <a:pt x="3264" y="144"/>
                  </a:moveTo>
                  <a:lnTo>
                    <a:pt x="3264" y="1449"/>
                  </a:lnTo>
                  <a:lnTo>
                    <a:pt x="3263" y="1466"/>
                  </a:lnTo>
                  <a:lnTo>
                    <a:pt x="3262" y="1483"/>
                  </a:lnTo>
                  <a:lnTo>
                    <a:pt x="3258" y="1497"/>
                  </a:lnTo>
                  <a:lnTo>
                    <a:pt x="3255" y="1512"/>
                  </a:lnTo>
                  <a:lnTo>
                    <a:pt x="3249" y="1524"/>
                  </a:lnTo>
                  <a:lnTo>
                    <a:pt x="3243" y="1536"/>
                  </a:lnTo>
                  <a:lnTo>
                    <a:pt x="3235" y="1546"/>
                  </a:lnTo>
                  <a:lnTo>
                    <a:pt x="3228" y="1557"/>
                  </a:lnTo>
                  <a:lnTo>
                    <a:pt x="3217" y="1564"/>
                  </a:lnTo>
                  <a:lnTo>
                    <a:pt x="3207" y="1571"/>
                  </a:lnTo>
                  <a:lnTo>
                    <a:pt x="3195" y="1577"/>
                  </a:lnTo>
                  <a:lnTo>
                    <a:pt x="3183" y="1583"/>
                  </a:lnTo>
                  <a:lnTo>
                    <a:pt x="3168" y="1587"/>
                  </a:lnTo>
                  <a:lnTo>
                    <a:pt x="3154" y="1591"/>
                  </a:lnTo>
                  <a:lnTo>
                    <a:pt x="3137" y="1592"/>
                  </a:lnTo>
                  <a:lnTo>
                    <a:pt x="3120" y="1593"/>
                  </a:lnTo>
                  <a:lnTo>
                    <a:pt x="144" y="1593"/>
                  </a:lnTo>
                  <a:lnTo>
                    <a:pt x="125" y="1592"/>
                  </a:lnTo>
                  <a:lnTo>
                    <a:pt x="108" y="1591"/>
                  </a:lnTo>
                  <a:lnTo>
                    <a:pt x="93" y="1587"/>
                  </a:lnTo>
                  <a:lnTo>
                    <a:pt x="79" y="1583"/>
                  </a:lnTo>
                  <a:lnTo>
                    <a:pt x="59" y="1575"/>
                  </a:lnTo>
                  <a:lnTo>
                    <a:pt x="43" y="1564"/>
                  </a:lnTo>
                  <a:lnTo>
                    <a:pt x="30" y="1551"/>
                  </a:lnTo>
                  <a:lnTo>
                    <a:pt x="19" y="1536"/>
                  </a:lnTo>
                  <a:lnTo>
                    <a:pt x="11" y="1518"/>
                  </a:lnTo>
                  <a:lnTo>
                    <a:pt x="5" y="1497"/>
                  </a:lnTo>
                  <a:lnTo>
                    <a:pt x="1" y="1474"/>
                  </a:lnTo>
                  <a:lnTo>
                    <a:pt x="0" y="1449"/>
                  </a:lnTo>
                  <a:lnTo>
                    <a:pt x="0" y="144"/>
                  </a:lnTo>
                  <a:lnTo>
                    <a:pt x="1" y="109"/>
                  </a:lnTo>
                  <a:lnTo>
                    <a:pt x="4" y="93"/>
                  </a:lnTo>
                  <a:lnTo>
                    <a:pt x="9" y="80"/>
                  </a:lnTo>
                  <a:lnTo>
                    <a:pt x="19" y="55"/>
                  </a:lnTo>
                  <a:lnTo>
                    <a:pt x="27" y="44"/>
                  </a:lnTo>
                  <a:lnTo>
                    <a:pt x="36" y="36"/>
                  </a:lnTo>
                  <a:lnTo>
                    <a:pt x="45" y="26"/>
                  </a:lnTo>
                  <a:lnTo>
                    <a:pt x="55" y="19"/>
                  </a:lnTo>
                  <a:lnTo>
                    <a:pt x="81" y="8"/>
                  </a:lnTo>
                  <a:lnTo>
                    <a:pt x="94" y="3"/>
                  </a:lnTo>
                  <a:lnTo>
                    <a:pt x="109" y="1"/>
                  </a:lnTo>
                  <a:lnTo>
                    <a:pt x="144" y="0"/>
                  </a:lnTo>
                  <a:lnTo>
                    <a:pt x="3120" y="0"/>
                  </a:lnTo>
                  <a:lnTo>
                    <a:pt x="3154" y="1"/>
                  </a:lnTo>
                  <a:lnTo>
                    <a:pt x="3168" y="3"/>
                  </a:lnTo>
                  <a:lnTo>
                    <a:pt x="3183" y="8"/>
                  </a:lnTo>
                  <a:lnTo>
                    <a:pt x="3207" y="19"/>
                  </a:lnTo>
                  <a:lnTo>
                    <a:pt x="3217" y="26"/>
                  </a:lnTo>
                  <a:lnTo>
                    <a:pt x="3228" y="36"/>
                  </a:lnTo>
                  <a:lnTo>
                    <a:pt x="3235" y="44"/>
                  </a:lnTo>
                  <a:lnTo>
                    <a:pt x="3243" y="55"/>
                  </a:lnTo>
                  <a:lnTo>
                    <a:pt x="3255" y="80"/>
                  </a:lnTo>
                  <a:lnTo>
                    <a:pt x="3258" y="93"/>
                  </a:lnTo>
                  <a:lnTo>
                    <a:pt x="3262" y="109"/>
                  </a:lnTo>
                  <a:lnTo>
                    <a:pt x="3264" y="144"/>
                  </a:lnTo>
                </a:path>
              </a:pathLst>
            </a:custGeom>
            <a:solidFill>
              <a:srgbClr val="CCFFCC"/>
            </a:solidFill>
            <a:ln w="25400" cap="flat" cmpd="sng">
              <a:solidFill>
                <a:srgbClr val="33333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37353" name="Rectangle 137">
              <a:extLst>
                <a:ext uri="{FF2B5EF4-FFF2-40B4-BE49-F238E27FC236}">
                  <a16:creationId xmlns:a16="http://schemas.microsoft.com/office/drawing/2014/main" id="{0BEE9AC3-6440-6F4F-4770-7A7821185ED3}"/>
                </a:ext>
              </a:extLst>
            </p:cNvPr>
            <p:cNvSpPr>
              <a:spLocks noChangeArrowheads="1"/>
            </p:cNvSpPr>
            <p:nvPr/>
          </p:nvSpPr>
          <p:spPr bwMode="auto">
            <a:xfrm>
              <a:off x="1547" y="3316"/>
              <a:ext cx="68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Spoofing identity</a:t>
              </a:r>
              <a:endParaRPr lang="en-US" altLang="zh-CN" sz="1600">
                <a:solidFill>
                  <a:schemeClr val="tx1"/>
                </a:solidFill>
                <a:ea typeface="宋体" panose="02010600030101010101" pitchFamily="2" charset="-122"/>
              </a:endParaRPr>
            </a:p>
          </p:txBody>
        </p:sp>
        <p:sp>
          <p:nvSpPr>
            <p:cNvPr id="137359" name="Rectangle 143">
              <a:extLst>
                <a:ext uri="{FF2B5EF4-FFF2-40B4-BE49-F238E27FC236}">
                  <a16:creationId xmlns:a16="http://schemas.microsoft.com/office/drawing/2014/main" id="{7284E613-1439-1561-72B7-3015C56EAB91}"/>
                </a:ext>
              </a:extLst>
            </p:cNvPr>
            <p:cNvSpPr>
              <a:spLocks noChangeArrowheads="1"/>
            </p:cNvSpPr>
            <p:nvPr/>
          </p:nvSpPr>
          <p:spPr bwMode="auto">
            <a:xfrm>
              <a:off x="1547" y="3452"/>
              <a:ext cx="50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Elevation of </a:t>
              </a:r>
              <a:endParaRPr lang="en-US" altLang="zh-CN" sz="1600">
                <a:solidFill>
                  <a:schemeClr val="tx1"/>
                </a:solidFill>
                <a:ea typeface="宋体" panose="02010600030101010101" pitchFamily="2" charset="-122"/>
              </a:endParaRPr>
            </a:p>
          </p:txBody>
        </p:sp>
        <p:sp>
          <p:nvSpPr>
            <p:cNvPr id="137360" name="Rectangle 144">
              <a:extLst>
                <a:ext uri="{FF2B5EF4-FFF2-40B4-BE49-F238E27FC236}">
                  <a16:creationId xmlns:a16="http://schemas.microsoft.com/office/drawing/2014/main" id="{26004AD6-3689-B4F0-071C-FB328F41AF8B}"/>
                </a:ext>
              </a:extLst>
            </p:cNvPr>
            <p:cNvSpPr>
              <a:spLocks noChangeArrowheads="1"/>
            </p:cNvSpPr>
            <p:nvPr/>
          </p:nvSpPr>
          <p:spPr bwMode="auto">
            <a:xfrm>
              <a:off x="1547" y="3562"/>
              <a:ext cx="34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privilege</a:t>
              </a:r>
              <a:endParaRPr lang="en-US" altLang="zh-CN" sz="1600">
                <a:solidFill>
                  <a:schemeClr val="tx1"/>
                </a:solidFill>
                <a:ea typeface="宋体" panose="02010600030101010101" pitchFamily="2" charset="-122"/>
              </a:endParaRPr>
            </a:p>
          </p:txBody>
        </p:sp>
        <p:sp>
          <p:nvSpPr>
            <p:cNvPr id="137367" name="Freeform 151">
              <a:extLst>
                <a:ext uri="{FF2B5EF4-FFF2-40B4-BE49-F238E27FC236}">
                  <a16:creationId xmlns:a16="http://schemas.microsoft.com/office/drawing/2014/main" id="{37F7B1E8-0F81-456E-C973-F79A5DB996CA}"/>
                </a:ext>
              </a:extLst>
            </p:cNvPr>
            <p:cNvSpPr>
              <a:spLocks/>
            </p:cNvSpPr>
            <p:nvPr/>
          </p:nvSpPr>
          <p:spPr bwMode="auto">
            <a:xfrm>
              <a:off x="2370" y="2484"/>
              <a:ext cx="157" cy="146"/>
            </a:xfrm>
            <a:custGeom>
              <a:avLst/>
              <a:gdLst>
                <a:gd name="T0" fmla="*/ 269 w 533"/>
                <a:gd name="T1" fmla="*/ 163 h 523"/>
                <a:gd name="T2" fmla="*/ 159 w 533"/>
                <a:gd name="T3" fmla="*/ 0 h 523"/>
                <a:gd name="T4" fmla="*/ 3 w 533"/>
                <a:gd name="T5" fmla="*/ 0 h 523"/>
                <a:gd name="T6" fmla="*/ 186 w 533"/>
                <a:gd name="T7" fmla="*/ 259 h 523"/>
                <a:gd name="T8" fmla="*/ 0 w 533"/>
                <a:gd name="T9" fmla="*/ 523 h 523"/>
                <a:gd name="T10" fmla="*/ 149 w 533"/>
                <a:gd name="T11" fmla="*/ 523 h 523"/>
                <a:gd name="T12" fmla="*/ 264 w 533"/>
                <a:gd name="T13" fmla="*/ 352 h 523"/>
                <a:gd name="T14" fmla="*/ 377 w 533"/>
                <a:gd name="T15" fmla="*/ 523 h 523"/>
                <a:gd name="T16" fmla="*/ 533 w 533"/>
                <a:gd name="T17" fmla="*/ 523 h 523"/>
                <a:gd name="T18" fmla="*/ 347 w 533"/>
                <a:gd name="T19" fmla="*/ 254 h 523"/>
                <a:gd name="T20" fmla="*/ 530 w 533"/>
                <a:gd name="T21" fmla="*/ 0 h 523"/>
                <a:gd name="T22" fmla="*/ 380 w 533"/>
                <a:gd name="T23" fmla="*/ 0 h 523"/>
                <a:gd name="T24" fmla="*/ 269 w 533"/>
                <a:gd name="T25" fmla="*/ 163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3" h="523">
                  <a:moveTo>
                    <a:pt x="269" y="163"/>
                  </a:moveTo>
                  <a:lnTo>
                    <a:pt x="159" y="0"/>
                  </a:lnTo>
                  <a:lnTo>
                    <a:pt x="3" y="0"/>
                  </a:lnTo>
                  <a:lnTo>
                    <a:pt x="186" y="259"/>
                  </a:lnTo>
                  <a:lnTo>
                    <a:pt x="0" y="523"/>
                  </a:lnTo>
                  <a:lnTo>
                    <a:pt x="149" y="523"/>
                  </a:lnTo>
                  <a:lnTo>
                    <a:pt x="264" y="352"/>
                  </a:lnTo>
                  <a:lnTo>
                    <a:pt x="377" y="523"/>
                  </a:lnTo>
                  <a:lnTo>
                    <a:pt x="533" y="523"/>
                  </a:lnTo>
                  <a:lnTo>
                    <a:pt x="347" y="254"/>
                  </a:lnTo>
                  <a:lnTo>
                    <a:pt x="530" y="0"/>
                  </a:lnTo>
                  <a:lnTo>
                    <a:pt x="380" y="0"/>
                  </a:lnTo>
                  <a:lnTo>
                    <a:pt x="269" y="1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nvGrpSpPr>
            <p:cNvPr id="137507" name="Group 291">
              <a:extLst>
                <a:ext uri="{FF2B5EF4-FFF2-40B4-BE49-F238E27FC236}">
                  <a16:creationId xmlns:a16="http://schemas.microsoft.com/office/drawing/2014/main" id="{B62DE016-CBBD-B604-D3B2-FEA4AA53235E}"/>
                </a:ext>
              </a:extLst>
            </p:cNvPr>
            <p:cNvGrpSpPr>
              <a:grpSpLocks/>
            </p:cNvGrpSpPr>
            <p:nvPr/>
          </p:nvGrpSpPr>
          <p:grpSpPr bwMode="auto">
            <a:xfrm>
              <a:off x="1405" y="3286"/>
              <a:ext cx="121" cy="109"/>
              <a:chOff x="1405" y="3286"/>
              <a:chExt cx="121" cy="109"/>
            </a:xfrm>
          </p:grpSpPr>
          <p:sp>
            <p:nvSpPr>
              <p:cNvPr id="137310" name="Freeform 94">
                <a:extLst>
                  <a:ext uri="{FF2B5EF4-FFF2-40B4-BE49-F238E27FC236}">
                    <a16:creationId xmlns:a16="http://schemas.microsoft.com/office/drawing/2014/main" id="{7A248A51-01FE-10C1-93E1-5FA6317F12AE}"/>
                  </a:ext>
                </a:extLst>
              </p:cNvPr>
              <p:cNvSpPr>
                <a:spLocks/>
              </p:cNvSpPr>
              <p:nvPr/>
            </p:nvSpPr>
            <p:spPr bwMode="auto">
              <a:xfrm>
                <a:off x="1405" y="3326"/>
                <a:ext cx="74" cy="69"/>
              </a:xfrm>
              <a:custGeom>
                <a:avLst/>
                <a:gdLst>
                  <a:gd name="T0" fmla="*/ 19 w 247"/>
                  <a:gd name="T1" fmla="*/ 58 h 248"/>
                  <a:gd name="T2" fmla="*/ 4 w 247"/>
                  <a:gd name="T3" fmla="*/ 92 h 248"/>
                  <a:gd name="T4" fmla="*/ 0 w 247"/>
                  <a:gd name="T5" fmla="*/ 121 h 248"/>
                  <a:gd name="T6" fmla="*/ 4 w 247"/>
                  <a:gd name="T7" fmla="*/ 159 h 248"/>
                  <a:gd name="T8" fmla="*/ 21 w 247"/>
                  <a:gd name="T9" fmla="*/ 195 h 248"/>
                  <a:gd name="T10" fmla="*/ 42 w 247"/>
                  <a:gd name="T11" fmla="*/ 219 h 248"/>
                  <a:gd name="T12" fmla="*/ 78 w 247"/>
                  <a:gd name="T13" fmla="*/ 241 h 248"/>
                  <a:gd name="T14" fmla="*/ 108 w 247"/>
                  <a:gd name="T15" fmla="*/ 247 h 248"/>
                  <a:gd name="T16" fmla="*/ 160 w 247"/>
                  <a:gd name="T17" fmla="*/ 242 h 248"/>
                  <a:gd name="T18" fmla="*/ 197 w 247"/>
                  <a:gd name="T19" fmla="*/ 223 h 248"/>
                  <a:gd name="T20" fmla="*/ 219 w 247"/>
                  <a:gd name="T21" fmla="*/ 200 h 248"/>
                  <a:gd name="T22" fmla="*/ 233 w 247"/>
                  <a:gd name="T23" fmla="*/ 177 h 248"/>
                  <a:gd name="T24" fmla="*/ 244 w 247"/>
                  <a:gd name="T25" fmla="*/ 108 h 248"/>
                  <a:gd name="T26" fmla="*/ 229 w 247"/>
                  <a:gd name="T27" fmla="*/ 69 h 248"/>
                  <a:gd name="T28" fmla="*/ 245 w 247"/>
                  <a:gd name="T29" fmla="*/ 52 h 248"/>
                  <a:gd name="T30" fmla="*/ 232 w 247"/>
                  <a:gd name="T31" fmla="*/ 51 h 248"/>
                  <a:gd name="T32" fmla="*/ 220 w 247"/>
                  <a:gd name="T33" fmla="*/ 43 h 248"/>
                  <a:gd name="T34" fmla="*/ 203 w 247"/>
                  <a:gd name="T35" fmla="*/ 24 h 248"/>
                  <a:gd name="T36" fmla="*/ 199 w 247"/>
                  <a:gd name="T37" fmla="*/ 10 h 248"/>
                  <a:gd name="T38" fmla="*/ 169 w 247"/>
                  <a:gd name="T39" fmla="*/ 33 h 248"/>
                  <a:gd name="T40" fmla="*/ 165 w 247"/>
                  <a:gd name="T41" fmla="*/ 43 h 248"/>
                  <a:gd name="T42" fmla="*/ 165 w 247"/>
                  <a:gd name="T43" fmla="*/ 54 h 248"/>
                  <a:gd name="T44" fmla="*/ 168 w 247"/>
                  <a:gd name="T45" fmla="*/ 63 h 248"/>
                  <a:gd name="T46" fmla="*/ 185 w 247"/>
                  <a:gd name="T47" fmla="*/ 81 h 248"/>
                  <a:gd name="T48" fmla="*/ 196 w 247"/>
                  <a:gd name="T49" fmla="*/ 87 h 248"/>
                  <a:gd name="T50" fmla="*/ 171 w 247"/>
                  <a:gd name="T51" fmla="*/ 80 h 248"/>
                  <a:gd name="T52" fmla="*/ 156 w 247"/>
                  <a:gd name="T53" fmla="*/ 67 h 248"/>
                  <a:gd name="T54" fmla="*/ 149 w 247"/>
                  <a:gd name="T55" fmla="*/ 51 h 248"/>
                  <a:gd name="T56" fmla="*/ 150 w 247"/>
                  <a:gd name="T57" fmla="*/ 36 h 248"/>
                  <a:gd name="T58" fmla="*/ 157 w 247"/>
                  <a:gd name="T59" fmla="*/ 24 h 248"/>
                  <a:gd name="T60" fmla="*/ 165 w 247"/>
                  <a:gd name="T61" fmla="*/ 12 h 248"/>
                  <a:gd name="T62" fmla="*/ 121 w 247"/>
                  <a:gd name="T63" fmla="*/ 3 h 248"/>
                  <a:gd name="T64" fmla="*/ 90 w 247"/>
                  <a:gd name="T65" fmla="*/ 8 h 248"/>
                  <a:gd name="T66" fmla="*/ 51 w 247"/>
                  <a:gd name="T67" fmla="*/ 2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7" h="248">
                    <a:moveTo>
                      <a:pt x="36" y="38"/>
                    </a:moveTo>
                    <a:lnTo>
                      <a:pt x="19" y="58"/>
                    </a:lnTo>
                    <a:lnTo>
                      <a:pt x="11" y="74"/>
                    </a:lnTo>
                    <a:lnTo>
                      <a:pt x="4" y="92"/>
                    </a:lnTo>
                    <a:lnTo>
                      <a:pt x="1" y="102"/>
                    </a:lnTo>
                    <a:lnTo>
                      <a:pt x="0" y="121"/>
                    </a:lnTo>
                    <a:lnTo>
                      <a:pt x="0" y="140"/>
                    </a:lnTo>
                    <a:lnTo>
                      <a:pt x="4" y="159"/>
                    </a:lnTo>
                    <a:lnTo>
                      <a:pt x="11" y="178"/>
                    </a:lnTo>
                    <a:lnTo>
                      <a:pt x="21" y="195"/>
                    </a:lnTo>
                    <a:lnTo>
                      <a:pt x="34" y="211"/>
                    </a:lnTo>
                    <a:lnTo>
                      <a:pt x="42" y="219"/>
                    </a:lnTo>
                    <a:lnTo>
                      <a:pt x="57" y="230"/>
                    </a:lnTo>
                    <a:lnTo>
                      <a:pt x="78" y="241"/>
                    </a:lnTo>
                    <a:lnTo>
                      <a:pt x="95" y="246"/>
                    </a:lnTo>
                    <a:lnTo>
                      <a:pt x="108" y="247"/>
                    </a:lnTo>
                    <a:lnTo>
                      <a:pt x="125" y="248"/>
                    </a:lnTo>
                    <a:lnTo>
                      <a:pt x="160" y="242"/>
                    </a:lnTo>
                    <a:lnTo>
                      <a:pt x="177" y="236"/>
                    </a:lnTo>
                    <a:lnTo>
                      <a:pt x="197" y="223"/>
                    </a:lnTo>
                    <a:lnTo>
                      <a:pt x="207" y="214"/>
                    </a:lnTo>
                    <a:lnTo>
                      <a:pt x="219" y="200"/>
                    </a:lnTo>
                    <a:lnTo>
                      <a:pt x="225" y="193"/>
                    </a:lnTo>
                    <a:lnTo>
                      <a:pt x="233" y="177"/>
                    </a:lnTo>
                    <a:lnTo>
                      <a:pt x="244" y="142"/>
                    </a:lnTo>
                    <a:lnTo>
                      <a:pt x="244" y="108"/>
                    </a:lnTo>
                    <a:lnTo>
                      <a:pt x="235" y="81"/>
                    </a:lnTo>
                    <a:lnTo>
                      <a:pt x="229" y="69"/>
                    </a:lnTo>
                    <a:lnTo>
                      <a:pt x="247" y="51"/>
                    </a:lnTo>
                    <a:lnTo>
                      <a:pt x="245" y="52"/>
                    </a:lnTo>
                    <a:lnTo>
                      <a:pt x="240" y="52"/>
                    </a:lnTo>
                    <a:lnTo>
                      <a:pt x="232" y="51"/>
                    </a:lnTo>
                    <a:lnTo>
                      <a:pt x="223" y="46"/>
                    </a:lnTo>
                    <a:lnTo>
                      <a:pt x="220" y="43"/>
                    </a:lnTo>
                    <a:lnTo>
                      <a:pt x="210" y="33"/>
                    </a:lnTo>
                    <a:lnTo>
                      <a:pt x="203" y="24"/>
                    </a:lnTo>
                    <a:lnTo>
                      <a:pt x="199" y="14"/>
                    </a:lnTo>
                    <a:lnTo>
                      <a:pt x="199" y="10"/>
                    </a:lnTo>
                    <a:lnTo>
                      <a:pt x="199" y="0"/>
                    </a:lnTo>
                    <a:lnTo>
                      <a:pt x="169" y="33"/>
                    </a:lnTo>
                    <a:lnTo>
                      <a:pt x="167" y="38"/>
                    </a:lnTo>
                    <a:lnTo>
                      <a:pt x="165" y="43"/>
                    </a:lnTo>
                    <a:lnTo>
                      <a:pt x="165" y="49"/>
                    </a:lnTo>
                    <a:lnTo>
                      <a:pt x="165" y="54"/>
                    </a:lnTo>
                    <a:lnTo>
                      <a:pt x="166" y="58"/>
                    </a:lnTo>
                    <a:lnTo>
                      <a:pt x="168" y="63"/>
                    </a:lnTo>
                    <a:lnTo>
                      <a:pt x="174" y="72"/>
                    </a:lnTo>
                    <a:lnTo>
                      <a:pt x="185" y="81"/>
                    </a:lnTo>
                    <a:lnTo>
                      <a:pt x="195" y="87"/>
                    </a:lnTo>
                    <a:lnTo>
                      <a:pt x="196" y="87"/>
                    </a:lnTo>
                    <a:lnTo>
                      <a:pt x="174" y="81"/>
                    </a:lnTo>
                    <a:lnTo>
                      <a:pt x="171" y="80"/>
                    </a:lnTo>
                    <a:lnTo>
                      <a:pt x="162" y="74"/>
                    </a:lnTo>
                    <a:lnTo>
                      <a:pt x="156" y="67"/>
                    </a:lnTo>
                    <a:lnTo>
                      <a:pt x="151" y="58"/>
                    </a:lnTo>
                    <a:lnTo>
                      <a:pt x="149" y="51"/>
                    </a:lnTo>
                    <a:lnTo>
                      <a:pt x="149" y="43"/>
                    </a:lnTo>
                    <a:lnTo>
                      <a:pt x="150" y="36"/>
                    </a:lnTo>
                    <a:lnTo>
                      <a:pt x="154" y="30"/>
                    </a:lnTo>
                    <a:lnTo>
                      <a:pt x="157" y="24"/>
                    </a:lnTo>
                    <a:lnTo>
                      <a:pt x="169" y="13"/>
                    </a:lnTo>
                    <a:lnTo>
                      <a:pt x="165" y="12"/>
                    </a:lnTo>
                    <a:lnTo>
                      <a:pt x="148" y="6"/>
                    </a:lnTo>
                    <a:lnTo>
                      <a:pt x="121" y="3"/>
                    </a:lnTo>
                    <a:lnTo>
                      <a:pt x="103" y="6"/>
                    </a:lnTo>
                    <a:lnTo>
                      <a:pt x="90" y="8"/>
                    </a:lnTo>
                    <a:lnTo>
                      <a:pt x="66" y="16"/>
                    </a:lnTo>
                    <a:lnTo>
                      <a:pt x="51" y="26"/>
                    </a:lnTo>
                    <a:lnTo>
                      <a:pt x="36"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11" name="Freeform 95">
                <a:extLst>
                  <a:ext uri="{FF2B5EF4-FFF2-40B4-BE49-F238E27FC236}">
                    <a16:creationId xmlns:a16="http://schemas.microsoft.com/office/drawing/2014/main" id="{C9D23499-2289-BD8F-627C-876B25F547E9}"/>
                  </a:ext>
                </a:extLst>
              </p:cNvPr>
              <p:cNvSpPr>
                <a:spLocks/>
              </p:cNvSpPr>
              <p:nvPr/>
            </p:nvSpPr>
            <p:spPr bwMode="auto">
              <a:xfrm>
                <a:off x="1494" y="3296"/>
                <a:ext cx="23" cy="21"/>
              </a:xfrm>
              <a:custGeom>
                <a:avLst/>
                <a:gdLst>
                  <a:gd name="T0" fmla="*/ 66 w 78"/>
                  <a:gd name="T1" fmla="*/ 0 h 78"/>
                  <a:gd name="T2" fmla="*/ 64 w 78"/>
                  <a:gd name="T3" fmla="*/ 2 h 78"/>
                  <a:gd name="T4" fmla="*/ 2 w 78"/>
                  <a:gd name="T5" fmla="*/ 64 h 78"/>
                  <a:gd name="T6" fmla="*/ 1 w 78"/>
                  <a:gd name="T7" fmla="*/ 66 h 78"/>
                  <a:gd name="T8" fmla="*/ 0 w 78"/>
                  <a:gd name="T9" fmla="*/ 68 h 78"/>
                  <a:gd name="T10" fmla="*/ 1 w 78"/>
                  <a:gd name="T11" fmla="*/ 73 h 78"/>
                  <a:gd name="T12" fmla="*/ 2 w 78"/>
                  <a:gd name="T13" fmla="*/ 76 h 78"/>
                  <a:gd name="T14" fmla="*/ 5 w 78"/>
                  <a:gd name="T15" fmla="*/ 77 h 78"/>
                  <a:gd name="T16" fmla="*/ 6 w 78"/>
                  <a:gd name="T17" fmla="*/ 77 h 78"/>
                  <a:gd name="T18" fmla="*/ 10 w 78"/>
                  <a:gd name="T19" fmla="*/ 78 h 78"/>
                  <a:gd name="T20" fmla="*/ 11 w 78"/>
                  <a:gd name="T21" fmla="*/ 78 h 78"/>
                  <a:gd name="T22" fmla="*/ 13 w 78"/>
                  <a:gd name="T23" fmla="*/ 77 h 78"/>
                  <a:gd name="T24" fmla="*/ 16 w 78"/>
                  <a:gd name="T25" fmla="*/ 74 h 78"/>
                  <a:gd name="T26" fmla="*/ 76 w 78"/>
                  <a:gd name="T27" fmla="*/ 16 h 78"/>
                  <a:gd name="T28" fmla="*/ 77 w 78"/>
                  <a:gd name="T29" fmla="*/ 12 h 78"/>
                  <a:gd name="T30" fmla="*/ 78 w 78"/>
                  <a:gd name="T31" fmla="*/ 8 h 78"/>
                  <a:gd name="T32" fmla="*/ 77 w 78"/>
                  <a:gd name="T33" fmla="*/ 5 h 78"/>
                  <a:gd name="T34" fmla="*/ 76 w 78"/>
                  <a:gd name="T35" fmla="*/ 2 h 78"/>
                  <a:gd name="T36" fmla="*/ 73 w 78"/>
                  <a:gd name="T37" fmla="*/ 0 h 78"/>
                  <a:gd name="T38" fmla="*/ 71 w 78"/>
                  <a:gd name="T39" fmla="*/ 0 h 78"/>
                  <a:gd name="T40" fmla="*/ 67 w 78"/>
                  <a:gd name="T41" fmla="*/ 0 h 78"/>
                  <a:gd name="T42" fmla="*/ 66 w 78"/>
                  <a:gd name="T43"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78">
                    <a:moveTo>
                      <a:pt x="66" y="0"/>
                    </a:moveTo>
                    <a:lnTo>
                      <a:pt x="64" y="2"/>
                    </a:lnTo>
                    <a:lnTo>
                      <a:pt x="2" y="64"/>
                    </a:lnTo>
                    <a:lnTo>
                      <a:pt x="1" y="66"/>
                    </a:lnTo>
                    <a:lnTo>
                      <a:pt x="0" y="68"/>
                    </a:lnTo>
                    <a:lnTo>
                      <a:pt x="1" y="73"/>
                    </a:lnTo>
                    <a:lnTo>
                      <a:pt x="2" y="76"/>
                    </a:lnTo>
                    <a:lnTo>
                      <a:pt x="5" y="77"/>
                    </a:lnTo>
                    <a:lnTo>
                      <a:pt x="6" y="77"/>
                    </a:lnTo>
                    <a:lnTo>
                      <a:pt x="10" y="78"/>
                    </a:lnTo>
                    <a:lnTo>
                      <a:pt x="11" y="78"/>
                    </a:lnTo>
                    <a:lnTo>
                      <a:pt x="13" y="77"/>
                    </a:lnTo>
                    <a:lnTo>
                      <a:pt x="16" y="74"/>
                    </a:lnTo>
                    <a:lnTo>
                      <a:pt x="76" y="16"/>
                    </a:lnTo>
                    <a:lnTo>
                      <a:pt x="77" y="12"/>
                    </a:lnTo>
                    <a:lnTo>
                      <a:pt x="78" y="8"/>
                    </a:lnTo>
                    <a:lnTo>
                      <a:pt x="77" y="5"/>
                    </a:lnTo>
                    <a:lnTo>
                      <a:pt x="76" y="2"/>
                    </a:lnTo>
                    <a:lnTo>
                      <a:pt x="73" y="0"/>
                    </a:lnTo>
                    <a:lnTo>
                      <a:pt x="71" y="0"/>
                    </a:lnTo>
                    <a:lnTo>
                      <a:pt x="67" y="0"/>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12" name="Freeform 96">
                <a:extLst>
                  <a:ext uri="{FF2B5EF4-FFF2-40B4-BE49-F238E27FC236}">
                    <a16:creationId xmlns:a16="http://schemas.microsoft.com/office/drawing/2014/main" id="{DF4B5A1B-527A-32AF-29FD-97F047F5B1F6}"/>
                  </a:ext>
                </a:extLst>
              </p:cNvPr>
              <p:cNvSpPr>
                <a:spLocks/>
              </p:cNvSpPr>
              <p:nvPr/>
            </p:nvSpPr>
            <p:spPr bwMode="auto">
              <a:xfrm>
                <a:off x="1480" y="3286"/>
                <a:ext cx="6" cy="28"/>
              </a:xfrm>
              <a:custGeom>
                <a:avLst/>
                <a:gdLst>
                  <a:gd name="T0" fmla="*/ 8 w 18"/>
                  <a:gd name="T1" fmla="*/ 0 h 102"/>
                  <a:gd name="T2" fmla="*/ 5 w 18"/>
                  <a:gd name="T3" fmla="*/ 0 h 102"/>
                  <a:gd name="T4" fmla="*/ 3 w 18"/>
                  <a:gd name="T5" fmla="*/ 3 h 102"/>
                  <a:gd name="T6" fmla="*/ 0 w 18"/>
                  <a:gd name="T7" fmla="*/ 8 h 102"/>
                  <a:gd name="T8" fmla="*/ 0 w 18"/>
                  <a:gd name="T9" fmla="*/ 94 h 102"/>
                  <a:gd name="T10" fmla="*/ 0 w 18"/>
                  <a:gd name="T11" fmla="*/ 98 h 102"/>
                  <a:gd name="T12" fmla="*/ 2 w 18"/>
                  <a:gd name="T13" fmla="*/ 99 h 102"/>
                  <a:gd name="T14" fmla="*/ 3 w 18"/>
                  <a:gd name="T15" fmla="*/ 100 h 102"/>
                  <a:gd name="T16" fmla="*/ 5 w 18"/>
                  <a:gd name="T17" fmla="*/ 102 h 102"/>
                  <a:gd name="T18" fmla="*/ 9 w 18"/>
                  <a:gd name="T19" fmla="*/ 102 h 102"/>
                  <a:gd name="T20" fmla="*/ 14 w 18"/>
                  <a:gd name="T21" fmla="*/ 101 h 102"/>
                  <a:gd name="T22" fmla="*/ 16 w 18"/>
                  <a:gd name="T23" fmla="*/ 99 h 102"/>
                  <a:gd name="T24" fmla="*/ 18 w 18"/>
                  <a:gd name="T25" fmla="*/ 94 h 102"/>
                  <a:gd name="T26" fmla="*/ 17 w 18"/>
                  <a:gd name="T27" fmla="*/ 9 h 102"/>
                  <a:gd name="T28" fmla="*/ 16 w 18"/>
                  <a:gd name="T29" fmla="*/ 5 h 102"/>
                  <a:gd name="T30" fmla="*/ 15 w 18"/>
                  <a:gd name="T31" fmla="*/ 3 h 102"/>
                  <a:gd name="T32" fmla="*/ 12 w 18"/>
                  <a:gd name="T33" fmla="*/ 0 h 102"/>
                  <a:gd name="T34" fmla="*/ 8 w 18"/>
                  <a:gd name="T3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102">
                    <a:moveTo>
                      <a:pt x="8" y="0"/>
                    </a:moveTo>
                    <a:lnTo>
                      <a:pt x="5" y="0"/>
                    </a:lnTo>
                    <a:lnTo>
                      <a:pt x="3" y="3"/>
                    </a:lnTo>
                    <a:lnTo>
                      <a:pt x="0" y="8"/>
                    </a:lnTo>
                    <a:lnTo>
                      <a:pt x="0" y="94"/>
                    </a:lnTo>
                    <a:lnTo>
                      <a:pt x="0" y="98"/>
                    </a:lnTo>
                    <a:lnTo>
                      <a:pt x="2" y="99"/>
                    </a:lnTo>
                    <a:lnTo>
                      <a:pt x="3" y="100"/>
                    </a:lnTo>
                    <a:lnTo>
                      <a:pt x="5" y="102"/>
                    </a:lnTo>
                    <a:lnTo>
                      <a:pt x="9" y="102"/>
                    </a:lnTo>
                    <a:lnTo>
                      <a:pt x="14" y="101"/>
                    </a:lnTo>
                    <a:lnTo>
                      <a:pt x="16" y="99"/>
                    </a:lnTo>
                    <a:lnTo>
                      <a:pt x="18" y="94"/>
                    </a:lnTo>
                    <a:lnTo>
                      <a:pt x="17" y="9"/>
                    </a:lnTo>
                    <a:lnTo>
                      <a:pt x="16" y="5"/>
                    </a:lnTo>
                    <a:lnTo>
                      <a:pt x="15" y="3"/>
                    </a:lnTo>
                    <a:lnTo>
                      <a:pt x="12" y="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13" name="Freeform 97">
                <a:extLst>
                  <a:ext uri="{FF2B5EF4-FFF2-40B4-BE49-F238E27FC236}">
                    <a16:creationId xmlns:a16="http://schemas.microsoft.com/office/drawing/2014/main" id="{6D733E1E-88A8-19F9-C2D3-471AD30F7CE2}"/>
                  </a:ext>
                </a:extLst>
              </p:cNvPr>
              <p:cNvSpPr>
                <a:spLocks/>
              </p:cNvSpPr>
              <p:nvPr/>
            </p:nvSpPr>
            <p:spPr bwMode="auto">
              <a:xfrm>
                <a:off x="1467" y="3321"/>
                <a:ext cx="23" cy="16"/>
              </a:xfrm>
              <a:custGeom>
                <a:avLst/>
                <a:gdLst>
                  <a:gd name="T0" fmla="*/ 69 w 78"/>
                  <a:gd name="T1" fmla="*/ 0 h 61"/>
                  <a:gd name="T2" fmla="*/ 63 w 78"/>
                  <a:gd name="T3" fmla="*/ 6 h 61"/>
                  <a:gd name="T4" fmla="*/ 24 w 78"/>
                  <a:gd name="T5" fmla="*/ 39 h 61"/>
                  <a:gd name="T6" fmla="*/ 23 w 78"/>
                  <a:gd name="T7" fmla="*/ 39 h 61"/>
                  <a:gd name="T8" fmla="*/ 23 w 78"/>
                  <a:gd name="T9" fmla="*/ 40 h 61"/>
                  <a:gd name="T10" fmla="*/ 21 w 78"/>
                  <a:gd name="T11" fmla="*/ 39 h 61"/>
                  <a:gd name="T12" fmla="*/ 19 w 78"/>
                  <a:gd name="T13" fmla="*/ 36 h 61"/>
                  <a:gd name="T14" fmla="*/ 19 w 78"/>
                  <a:gd name="T15" fmla="*/ 34 h 61"/>
                  <a:gd name="T16" fmla="*/ 21 w 78"/>
                  <a:gd name="T17" fmla="*/ 33 h 61"/>
                  <a:gd name="T18" fmla="*/ 21 w 78"/>
                  <a:gd name="T19" fmla="*/ 31 h 61"/>
                  <a:gd name="T20" fmla="*/ 27 w 78"/>
                  <a:gd name="T21" fmla="*/ 24 h 61"/>
                  <a:gd name="T22" fmla="*/ 29 w 78"/>
                  <a:gd name="T23" fmla="*/ 22 h 61"/>
                  <a:gd name="T24" fmla="*/ 27 w 78"/>
                  <a:gd name="T25" fmla="*/ 19 h 61"/>
                  <a:gd name="T26" fmla="*/ 17 w 78"/>
                  <a:gd name="T27" fmla="*/ 13 h 61"/>
                  <a:gd name="T28" fmla="*/ 13 w 78"/>
                  <a:gd name="T29" fmla="*/ 12 h 61"/>
                  <a:gd name="T30" fmla="*/ 10 w 78"/>
                  <a:gd name="T31" fmla="*/ 11 h 61"/>
                  <a:gd name="T32" fmla="*/ 6 w 78"/>
                  <a:gd name="T33" fmla="*/ 11 h 61"/>
                  <a:gd name="T34" fmla="*/ 4 w 78"/>
                  <a:gd name="T35" fmla="*/ 13 h 61"/>
                  <a:gd name="T36" fmla="*/ 3 w 78"/>
                  <a:gd name="T37" fmla="*/ 15 h 61"/>
                  <a:gd name="T38" fmla="*/ 1 w 78"/>
                  <a:gd name="T39" fmla="*/ 17 h 61"/>
                  <a:gd name="T40" fmla="*/ 0 w 78"/>
                  <a:gd name="T41" fmla="*/ 21 h 61"/>
                  <a:gd name="T42" fmla="*/ 3 w 78"/>
                  <a:gd name="T43" fmla="*/ 31 h 61"/>
                  <a:gd name="T44" fmla="*/ 7 w 78"/>
                  <a:gd name="T45" fmla="*/ 41 h 61"/>
                  <a:gd name="T46" fmla="*/ 13 w 78"/>
                  <a:gd name="T47" fmla="*/ 47 h 61"/>
                  <a:gd name="T48" fmla="*/ 19 w 78"/>
                  <a:gd name="T49" fmla="*/ 54 h 61"/>
                  <a:gd name="T50" fmla="*/ 22 w 78"/>
                  <a:gd name="T51" fmla="*/ 55 h 61"/>
                  <a:gd name="T52" fmla="*/ 29 w 78"/>
                  <a:gd name="T53" fmla="*/ 59 h 61"/>
                  <a:gd name="T54" fmla="*/ 39 w 78"/>
                  <a:gd name="T55" fmla="*/ 61 h 61"/>
                  <a:gd name="T56" fmla="*/ 42 w 78"/>
                  <a:gd name="T57" fmla="*/ 60 h 61"/>
                  <a:gd name="T58" fmla="*/ 46 w 78"/>
                  <a:gd name="T59" fmla="*/ 59 h 61"/>
                  <a:gd name="T60" fmla="*/ 46 w 78"/>
                  <a:gd name="T61" fmla="*/ 58 h 61"/>
                  <a:gd name="T62" fmla="*/ 47 w 78"/>
                  <a:gd name="T63" fmla="*/ 57 h 61"/>
                  <a:gd name="T64" fmla="*/ 48 w 78"/>
                  <a:gd name="T65" fmla="*/ 54 h 61"/>
                  <a:gd name="T66" fmla="*/ 48 w 78"/>
                  <a:gd name="T67" fmla="*/ 49 h 61"/>
                  <a:gd name="T68" fmla="*/ 47 w 78"/>
                  <a:gd name="T69" fmla="*/ 42 h 61"/>
                  <a:gd name="T70" fmla="*/ 43 w 78"/>
                  <a:gd name="T71" fmla="*/ 35 h 61"/>
                  <a:gd name="T72" fmla="*/ 75 w 78"/>
                  <a:gd name="T73" fmla="*/ 10 h 61"/>
                  <a:gd name="T74" fmla="*/ 78 w 78"/>
                  <a:gd name="T75" fmla="*/ 9 h 61"/>
                  <a:gd name="T76" fmla="*/ 69 w 78"/>
                  <a:gd name="T7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8" h="61">
                    <a:moveTo>
                      <a:pt x="69" y="0"/>
                    </a:moveTo>
                    <a:lnTo>
                      <a:pt x="63" y="6"/>
                    </a:lnTo>
                    <a:lnTo>
                      <a:pt x="24" y="39"/>
                    </a:lnTo>
                    <a:lnTo>
                      <a:pt x="23" y="39"/>
                    </a:lnTo>
                    <a:lnTo>
                      <a:pt x="23" y="40"/>
                    </a:lnTo>
                    <a:lnTo>
                      <a:pt x="21" y="39"/>
                    </a:lnTo>
                    <a:lnTo>
                      <a:pt x="19" y="36"/>
                    </a:lnTo>
                    <a:lnTo>
                      <a:pt x="19" y="34"/>
                    </a:lnTo>
                    <a:lnTo>
                      <a:pt x="21" y="33"/>
                    </a:lnTo>
                    <a:lnTo>
                      <a:pt x="21" y="31"/>
                    </a:lnTo>
                    <a:lnTo>
                      <a:pt x="27" y="24"/>
                    </a:lnTo>
                    <a:lnTo>
                      <a:pt x="29" y="22"/>
                    </a:lnTo>
                    <a:lnTo>
                      <a:pt x="27" y="19"/>
                    </a:lnTo>
                    <a:lnTo>
                      <a:pt x="17" y="13"/>
                    </a:lnTo>
                    <a:lnTo>
                      <a:pt x="13" y="12"/>
                    </a:lnTo>
                    <a:lnTo>
                      <a:pt x="10" y="11"/>
                    </a:lnTo>
                    <a:lnTo>
                      <a:pt x="6" y="11"/>
                    </a:lnTo>
                    <a:lnTo>
                      <a:pt x="4" y="13"/>
                    </a:lnTo>
                    <a:lnTo>
                      <a:pt x="3" y="15"/>
                    </a:lnTo>
                    <a:lnTo>
                      <a:pt x="1" y="17"/>
                    </a:lnTo>
                    <a:lnTo>
                      <a:pt x="0" y="21"/>
                    </a:lnTo>
                    <a:lnTo>
                      <a:pt x="3" y="31"/>
                    </a:lnTo>
                    <a:lnTo>
                      <a:pt x="7" y="41"/>
                    </a:lnTo>
                    <a:lnTo>
                      <a:pt x="13" y="47"/>
                    </a:lnTo>
                    <a:lnTo>
                      <a:pt x="19" y="54"/>
                    </a:lnTo>
                    <a:lnTo>
                      <a:pt x="22" y="55"/>
                    </a:lnTo>
                    <a:lnTo>
                      <a:pt x="29" y="59"/>
                    </a:lnTo>
                    <a:lnTo>
                      <a:pt x="39" y="61"/>
                    </a:lnTo>
                    <a:lnTo>
                      <a:pt x="42" y="60"/>
                    </a:lnTo>
                    <a:lnTo>
                      <a:pt x="46" y="59"/>
                    </a:lnTo>
                    <a:lnTo>
                      <a:pt x="46" y="58"/>
                    </a:lnTo>
                    <a:lnTo>
                      <a:pt x="47" y="57"/>
                    </a:lnTo>
                    <a:lnTo>
                      <a:pt x="48" y="54"/>
                    </a:lnTo>
                    <a:lnTo>
                      <a:pt x="48" y="49"/>
                    </a:lnTo>
                    <a:lnTo>
                      <a:pt x="47" y="42"/>
                    </a:lnTo>
                    <a:lnTo>
                      <a:pt x="43" y="35"/>
                    </a:lnTo>
                    <a:lnTo>
                      <a:pt x="75" y="10"/>
                    </a:lnTo>
                    <a:lnTo>
                      <a:pt x="78" y="9"/>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14" name="Freeform 98">
                <a:extLst>
                  <a:ext uri="{FF2B5EF4-FFF2-40B4-BE49-F238E27FC236}">
                    <a16:creationId xmlns:a16="http://schemas.microsoft.com/office/drawing/2014/main" id="{532513C5-82FF-61CC-0025-472928FF9454}"/>
                  </a:ext>
                </a:extLst>
              </p:cNvPr>
              <p:cNvSpPr>
                <a:spLocks/>
              </p:cNvSpPr>
              <p:nvPr/>
            </p:nvSpPr>
            <p:spPr bwMode="auto">
              <a:xfrm>
                <a:off x="1496" y="3324"/>
                <a:ext cx="30" cy="5"/>
              </a:xfrm>
              <a:custGeom>
                <a:avLst/>
                <a:gdLst>
                  <a:gd name="T0" fmla="*/ 0 w 102"/>
                  <a:gd name="T1" fmla="*/ 10 h 18"/>
                  <a:gd name="T2" fmla="*/ 0 w 102"/>
                  <a:gd name="T3" fmla="*/ 11 h 18"/>
                  <a:gd name="T4" fmla="*/ 3 w 102"/>
                  <a:gd name="T5" fmla="*/ 15 h 18"/>
                  <a:gd name="T6" fmla="*/ 3 w 102"/>
                  <a:gd name="T7" fmla="*/ 16 h 18"/>
                  <a:gd name="T8" fmla="*/ 5 w 102"/>
                  <a:gd name="T9" fmla="*/ 18 h 18"/>
                  <a:gd name="T10" fmla="*/ 8 w 102"/>
                  <a:gd name="T11" fmla="*/ 18 h 18"/>
                  <a:gd name="T12" fmla="*/ 96 w 102"/>
                  <a:gd name="T13" fmla="*/ 18 h 18"/>
                  <a:gd name="T14" fmla="*/ 96 w 102"/>
                  <a:gd name="T15" fmla="*/ 17 h 18"/>
                  <a:gd name="T16" fmla="*/ 100 w 102"/>
                  <a:gd name="T17" fmla="*/ 16 h 18"/>
                  <a:gd name="T18" fmla="*/ 102 w 102"/>
                  <a:gd name="T19" fmla="*/ 14 h 18"/>
                  <a:gd name="T20" fmla="*/ 102 w 102"/>
                  <a:gd name="T21" fmla="*/ 9 h 18"/>
                  <a:gd name="T22" fmla="*/ 102 w 102"/>
                  <a:gd name="T23" fmla="*/ 8 h 18"/>
                  <a:gd name="T24" fmla="*/ 100 w 102"/>
                  <a:gd name="T25" fmla="*/ 2 h 18"/>
                  <a:gd name="T26" fmla="*/ 95 w 102"/>
                  <a:gd name="T27" fmla="*/ 0 h 18"/>
                  <a:gd name="T28" fmla="*/ 8 w 102"/>
                  <a:gd name="T29" fmla="*/ 2 h 18"/>
                  <a:gd name="T30" fmla="*/ 5 w 102"/>
                  <a:gd name="T31" fmla="*/ 2 h 18"/>
                  <a:gd name="T32" fmla="*/ 3 w 102"/>
                  <a:gd name="T33" fmla="*/ 3 h 18"/>
                  <a:gd name="T34" fmla="*/ 3 w 102"/>
                  <a:gd name="T35" fmla="*/ 5 h 18"/>
                  <a:gd name="T36" fmla="*/ 2 w 102"/>
                  <a:gd name="T37" fmla="*/ 6 h 18"/>
                  <a:gd name="T38" fmla="*/ 0 w 102"/>
                  <a:gd name="T39"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18">
                    <a:moveTo>
                      <a:pt x="0" y="10"/>
                    </a:moveTo>
                    <a:lnTo>
                      <a:pt x="0" y="11"/>
                    </a:lnTo>
                    <a:lnTo>
                      <a:pt x="3" y="15"/>
                    </a:lnTo>
                    <a:lnTo>
                      <a:pt x="3" y="16"/>
                    </a:lnTo>
                    <a:lnTo>
                      <a:pt x="5" y="18"/>
                    </a:lnTo>
                    <a:lnTo>
                      <a:pt x="8" y="18"/>
                    </a:lnTo>
                    <a:lnTo>
                      <a:pt x="96" y="18"/>
                    </a:lnTo>
                    <a:lnTo>
                      <a:pt x="96" y="17"/>
                    </a:lnTo>
                    <a:lnTo>
                      <a:pt x="100" y="16"/>
                    </a:lnTo>
                    <a:lnTo>
                      <a:pt x="102" y="14"/>
                    </a:lnTo>
                    <a:lnTo>
                      <a:pt x="102" y="9"/>
                    </a:lnTo>
                    <a:lnTo>
                      <a:pt x="102" y="8"/>
                    </a:lnTo>
                    <a:lnTo>
                      <a:pt x="100" y="2"/>
                    </a:lnTo>
                    <a:lnTo>
                      <a:pt x="95" y="0"/>
                    </a:lnTo>
                    <a:lnTo>
                      <a:pt x="8" y="2"/>
                    </a:lnTo>
                    <a:lnTo>
                      <a:pt x="5" y="2"/>
                    </a:lnTo>
                    <a:lnTo>
                      <a:pt x="3" y="3"/>
                    </a:lnTo>
                    <a:lnTo>
                      <a:pt x="3" y="5"/>
                    </a:lnTo>
                    <a:lnTo>
                      <a:pt x="2" y="6"/>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137506" name="Group 290">
              <a:extLst>
                <a:ext uri="{FF2B5EF4-FFF2-40B4-BE49-F238E27FC236}">
                  <a16:creationId xmlns:a16="http://schemas.microsoft.com/office/drawing/2014/main" id="{B6CB2A6D-4402-C425-56E2-FEEA921C3B44}"/>
                </a:ext>
              </a:extLst>
            </p:cNvPr>
            <p:cNvGrpSpPr>
              <a:grpSpLocks/>
            </p:cNvGrpSpPr>
            <p:nvPr/>
          </p:nvGrpSpPr>
          <p:grpSpPr bwMode="auto">
            <a:xfrm>
              <a:off x="1405" y="3422"/>
              <a:ext cx="121" cy="109"/>
              <a:chOff x="1405" y="3422"/>
              <a:chExt cx="121" cy="109"/>
            </a:xfrm>
          </p:grpSpPr>
          <p:sp>
            <p:nvSpPr>
              <p:cNvPr id="137354" name="Freeform 138">
                <a:extLst>
                  <a:ext uri="{FF2B5EF4-FFF2-40B4-BE49-F238E27FC236}">
                    <a16:creationId xmlns:a16="http://schemas.microsoft.com/office/drawing/2014/main" id="{DF2ED0FE-EB40-E261-4B85-4C6B75E09898}"/>
                  </a:ext>
                </a:extLst>
              </p:cNvPr>
              <p:cNvSpPr>
                <a:spLocks/>
              </p:cNvSpPr>
              <p:nvPr/>
            </p:nvSpPr>
            <p:spPr bwMode="auto">
              <a:xfrm>
                <a:off x="1405" y="3462"/>
                <a:ext cx="74" cy="69"/>
              </a:xfrm>
              <a:custGeom>
                <a:avLst/>
                <a:gdLst>
                  <a:gd name="T0" fmla="*/ 19 w 247"/>
                  <a:gd name="T1" fmla="*/ 59 h 249"/>
                  <a:gd name="T2" fmla="*/ 4 w 247"/>
                  <a:gd name="T3" fmla="*/ 93 h 249"/>
                  <a:gd name="T4" fmla="*/ 0 w 247"/>
                  <a:gd name="T5" fmla="*/ 121 h 249"/>
                  <a:gd name="T6" fmla="*/ 4 w 247"/>
                  <a:gd name="T7" fmla="*/ 160 h 249"/>
                  <a:gd name="T8" fmla="*/ 21 w 247"/>
                  <a:gd name="T9" fmla="*/ 196 h 249"/>
                  <a:gd name="T10" fmla="*/ 42 w 247"/>
                  <a:gd name="T11" fmla="*/ 220 h 249"/>
                  <a:gd name="T12" fmla="*/ 78 w 247"/>
                  <a:gd name="T13" fmla="*/ 241 h 249"/>
                  <a:gd name="T14" fmla="*/ 108 w 247"/>
                  <a:gd name="T15" fmla="*/ 247 h 249"/>
                  <a:gd name="T16" fmla="*/ 160 w 247"/>
                  <a:gd name="T17" fmla="*/ 243 h 249"/>
                  <a:gd name="T18" fmla="*/ 197 w 247"/>
                  <a:gd name="T19" fmla="*/ 223 h 249"/>
                  <a:gd name="T20" fmla="*/ 219 w 247"/>
                  <a:gd name="T21" fmla="*/ 201 h 249"/>
                  <a:gd name="T22" fmla="*/ 233 w 247"/>
                  <a:gd name="T23" fmla="*/ 178 h 249"/>
                  <a:gd name="T24" fmla="*/ 244 w 247"/>
                  <a:gd name="T25" fmla="*/ 108 h 249"/>
                  <a:gd name="T26" fmla="*/ 229 w 247"/>
                  <a:gd name="T27" fmla="*/ 70 h 249"/>
                  <a:gd name="T28" fmla="*/ 245 w 247"/>
                  <a:gd name="T29" fmla="*/ 53 h 249"/>
                  <a:gd name="T30" fmla="*/ 232 w 247"/>
                  <a:gd name="T31" fmla="*/ 52 h 249"/>
                  <a:gd name="T32" fmla="*/ 220 w 247"/>
                  <a:gd name="T33" fmla="*/ 43 h 249"/>
                  <a:gd name="T34" fmla="*/ 203 w 247"/>
                  <a:gd name="T35" fmla="*/ 24 h 249"/>
                  <a:gd name="T36" fmla="*/ 199 w 247"/>
                  <a:gd name="T37" fmla="*/ 11 h 249"/>
                  <a:gd name="T38" fmla="*/ 169 w 247"/>
                  <a:gd name="T39" fmla="*/ 34 h 249"/>
                  <a:gd name="T40" fmla="*/ 165 w 247"/>
                  <a:gd name="T41" fmla="*/ 43 h 249"/>
                  <a:gd name="T42" fmla="*/ 165 w 247"/>
                  <a:gd name="T43" fmla="*/ 54 h 249"/>
                  <a:gd name="T44" fmla="*/ 168 w 247"/>
                  <a:gd name="T45" fmla="*/ 64 h 249"/>
                  <a:gd name="T46" fmla="*/ 185 w 247"/>
                  <a:gd name="T47" fmla="*/ 82 h 249"/>
                  <a:gd name="T48" fmla="*/ 196 w 247"/>
                  <a:gd name="T49" fmla="*/ 88 h 249"/>
                  <a:gd name="T50" fmla="*/ 171 w 247"/>
                  <a:gd name="T51" fmla="*/ 81 h 249"/>
                  <a:gd name="T52" fmla="*/ 156 w 247"/>
                  <a:gd name="T53" fmla="*/ 67 h 249"/>
                  <a:gd name="T54" fmla="*/ 149 w 247"/>
                  <a:gd name="T55" fmla="*/ 52 h 249"/>
                  <a:gd name="T56" fmla="*/ 150 w 247"/>
                  <a:gd name="T57" fmla="*/ 36 h 249"/>
                  <a:gd name="T58" fmla="*/ 157 w 247"/>
                  <a:gd name="T59" fmla="*/ 24 h 249"/>
                  <a:gd name="T60" fmla="*/ 165 w 247"/>
                  <a:gd name="T61" fmla="*/ 12 h 249"/>
                  <a:gd name="T62" fmla="*/ 121 w 247"/>
                  <a:gd name="T63" fmla="*/ 4 h 249"/>
                  <a:gd name="T64" fmla="*/ 90 w 247"/>
                  <a:gd name="T65" fmla="*/ 9 h 249"/>
                  <a:gd name="T66" fmla="*/ 51 w 247"/>
                  <a:gd name="T67" fmla="*/ 27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7" h="249">
                    <a:moveTo>
                      <a:pt x="36" y="39"/>
                    </a:moveTo>
                    <a:lnTo>
                      <a:pt x="19" y="59"/>
                    </a:lnTo>
                    <a:lnTo>
                      <a:pt x="11" y="75"/>
                    </a:lnTo>
                    <a:lnTo>
                      <a:pt x="4" y="93"/>
                    </a:lnTo>
                    <a:lnTo>
                      <a:pt x="1" y="102"/>
                    </a:lnTo>
                    <a:lnTo>
                      <a:pt x="0" y="121"/>
                    </a:lnTo>
                    <a:lnTo>
                      <a:pt x="0" y="141"/>
                    </a:lnTo>
                    <a:lnTo>
                      <a:pt x="4" y="160"/>
                    </a:lnTo>
                    <a:lnTo>
                      <a:pt x="11" y="179"/>
                    </a:lnTo>
                    <a:lnTo>
                      <a:pt x="21" y="196"/>
                    </a:lnTo>
                    <a:lnTo>
                      <a:pt x="34" y="211"/>
                    </a:lnTo>
                    <a:lnTo>
                      <a:pt x="42" y="220"/>
                    </a:lnTo>
                    <a:lnTo>
                      <a:pt x="57" y="231"/>
                    </a:lnTo>
                    <a:lnTo>
                      <a:pt x="78" y="241"/>
                    </a:lnTo>
                    <a:lnTo>
                      <a:pt x="95" y="246"/>
                    </a:lnTo>
                    <a:lnTo>
                      <a:pt x="108" y="247"/>
                    </a:lnTo>
                    <a:lnTo>
                      <a:pt x="125" y="249"/>
                    </a:lnTo>
                    <a:lnTo>
                      <a:pt x="160" y="243"/>
                    </a:lnTo>
                    <a:lnTo>
                      <a:pt x="177" y="237"/>
                    </a:lnTo>
                    <a:lnTo>
                      <a:pt x="197" y="223"/>
                    </a:lnTo>
                    <a:lnTo>
                      <a:pt x="207" y="215"/>
                    </a:lnTo>
                    <a:lnTo>
                      <a:pt x="219" y="201"/>
                    </a:lnTo>
                    <a:lnTo>
                      <a:pt x="225" y="193"/>
                    </a:lnTo>
                    <a:lnTo>
                      <a:pt x="233" y="178"/>
                    </a:lnTo>
                    <a:lnTo>
                      <a:pt x="244" y="143"/>
                    </a:lnTo>
                    <a:lnTo>
                      <a:pt x="244" y="108"/>
                    </a:lnTo>
                    <a:lnTo>
                      <a:pt x="235" y="82"/>
                    </a:lnTo>
                    <a:lnTo>
                      <a:pt x="229" y="70"/>
                    </a:lnTo>
                    <a:lnTo>
                      <a:pt x="247" y="52"/>
                    </a:lnTo>
                    <a:lnTo>
                      <a:pt x="245" y="53"/>
                    </a:lnTo>
                    <a:lnTo>
                      <a:pt x="240" y="53"/>
                    </a:lnTo>
                    <a:lnTo>
                      <a:pt x="232" y="52"/>
                    </a:lnTo>
                    <a:lnTo>
                      <a:pt x="223" y="47"/>
                    </a:lnTo>
                    <a:lnTo>
                      <a:pt x="220" y="43"/>
                    </a:lnTo>
                    <a:lnTo>
                      <a:pt x="210" y="34"/>
                    </a:lnTo>
                    <a:lnTo>
                      <a:pt x="203" y="24"/>
                    </a:lnTo>
                    <a:lnTo>
                      <a:pt x="199" y="15"/>
                    </a:lnTo>
                    <a:lnTo>
                      <a:pt x="199" y="11"/>
                    </a:lnTo>
                    <a:lnTo>
                      <a:pt x="199" y="0"/>
                    </a:lnTo>
                    <a:lnTo>
                      <a:pt x="169" y="34"/>
                    </a:lnTo>
                    <a:lnTo>
                      <a:pt x="167" y="39"/>
                    </a:lnTo>
                    <a:lnTo>
                      <a:pt x="165" y="43"/>
                    </a:lnTo>
                    <a:lnTo>
                      <a:pt x="165" y="49"/>
                    </a:lnTo>
                    <a:lnTo>
                      <a:pt x="165" y="54"/>
                    </a:lnTo>
                    <a:lnTo>
                      <a:pt x="166" y="59"/>
                    </a:lnTo>
                    <a:lnTo>
                      <a:pt x="168" y="64"/>
                    </a:lnTo>
                    <a:lnTo>
                      <a:pt x="174" y="72"/>
                    </a:lnTo>
                    <a:lnTo>
                      <a:pt x="185" y="82"/>
                    </a:lnTo>
                    <a:lnTo>
                      <a:pt x="195" y="88"/>
                    </a:lnTo>
                    <a:lnTo>
                      <a:pt x="196" y="88"/>
                    </a:lnTo>
                    <a:lnTo>
                      <a:pt x="174" y="82"/>
                    </a:lnTo>
                    <a:lnTo>
                      <a:pt x="171" y="81"/>
                    </a:lnTo>
                    <a:lnTo>
                      <a:pt x="162" y="75"/>
                    </a:lnTo>
                    <a:lnTo>
                      <a:pt x="156" y="67"/>
                    </a:lnTo>
                    <a:lnTo>
                      <a:pt x="151" y="59"/>
                    </a:lnTo>
                    <a:lnTo>
                      <a:pt x="149" y="52"/>
                    </a:lnTo>
                    <a:lnTo>
                      <a:pt x="149" y="43"/>
                    </a:lnTo>
                    <a:lnTo>
                      <a:pt x="150" y="36"/>
                    </a:lnTo>
                    <a:lnTo>
                      <a:pt x="154" y="30"/>
                    </a:lnTo>
                    <a:lnTo>
                      <a:pt x="157" y="24"/>
                    </a:lnTo>
                    <a:lnTo>
                      <a:pt x="169" y="13"/>
                    </a:lnTo>
                    <a:lnTo>
                      <a:pt x="165" y="12"/>
                    </a:lnTo>
                    <a:lnTo>
                      <a:pt x="148" y="6"/>
                    </a:lnTo>
                    <a:lnTo>
                      <a:pt x="121" y="4"/>
                    </a:lnTo>
                    <a:lnTo>
                      <a:pt x="103" y="6"/>
                    </a:lnTo>
                    <a:lnTo>
                      <a:pt x="90" y="9"/>
                    </a:lnTo>
                    <a:lnTo>
                      <a:pt x="66" y="17"/>
                    </a:lnTo>
                    <a:lnTo>
                      <a:pt x="51" y="27"/>
                    </a:lnTo>
                    <a:lnTo>
                      <a:pt x="36"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55" name="Freeform 139">
                <a:extLst>
                  <a:ext uri="{FF2B5EF4-FFF2-40B4-BE49-F238E27FC236}">
                    <a16:creationId xmlns:a16="http://schemas.microsoft.com/office/drawing/2014/main" id="{62AF8DB9-42B1-3104-36AB-02908059EC66}"/>
                  </a:ext>
                </a:extLst>
              </p:cNvPr>
              <p:cNvSpPr>
                <a:spLocks/>
              </p:cNvSpPr>
              <p:nvPr/>
            </p:nvSpPr>
            <p:spPr bwMode="auto">
              <a:xfrm>
                <a:off x="1494" y="3431"/>
                <a:ext cx="23" cy="22"/>
              </a:xfrm>
              <a:custGeom>
                <a:avLst/>
                <a:gdLst>
                  <a:gd name="T0" fmla="*/ 76 w 78"/>
                  <a:gd name="T1" fmla="*/ 15 h 78"/>
                  <a:gd name="T2" fmla="*/ 77 w 78"/>
                  <a:gd name="T3" fmla="*/ 12 h 78"/>
                  <a:gd name="T4" fmla="*/ 78 w 78"/>
                  <a:gd name="T5" fmla="*/ 8 h 78"/>
                  <a:gd name="T6" fmla="*/ 77 w 78"/>
                  <a:gd name="T7" fmla="*/ 4 h 78"/>
                  <a:gd name="T8" fmla="*/ 76 w 78"/>
                  <a:gd name="T9" fmla="*/ 2 h 78"/>
                  <a:gd name="T10" fmla="*/ 73 w 78"/>
                  <a:gd name="T11" fmla="*/ 0 h 78"/>
                  <a:gd name="T12" fmla="*/ 71 w 78"/>
                  <a:gd name="T13" fmla="*/ 0 h 78"/>
                  <a:gd name="T14" fmla="*/ 67 w 78"/>
                  <a:gd name="T15" fmla="*/ 0 h 78"/>
                  <a:gd name="T16" fmla="*/ 66 w 78"/>
                  <a:gd name="T17" fmla="*/ 0 h 78"/>
                  <a:gd name="T18" fmla="*/ 64 w 78"/>
                  <a:gd name="T19" fmla="*/ 2 h 78"/>
                  <a:gd name="T20" fmla="*/ 2 w 78"/>
                  <a:gd name="T21" fmla="*/ 63 h 78"/>
                  <a:gd name="T22" fmla="*/ 1 w 78"/>
                  <a:gd name="T23" fmla="*/ 66 h 78"/>
                  <a:gd name="T24" fmla="*/ 0 w 78"/>
                  <a:gd name="T25" fmla="*/ 68 h 78"/>
                  <a:gd name="T26" fmla="*/ 1 w 78"/>
                  <a:gd name="T27" fmla="*/ 73 h 78"/>
                  <a:gd name="T28" fmla="*/ 2 w 78"/>
                  <a:gd name="T29" fmla="*/ 75 h 78"/>
                  <a:gd name="T30" fmla="*/ 5 w 78"/>
                  <a:gd name="T31" fmla="*/ 76 h 78"/>
                  <a:gd name="T32" fmla="*/ 6 w 78"/>
                  <a:gd name="T33" fmla="*/ 76 h 78"/>
                  <a:gd name="T34" fmla="*/ 10 w 78"/>
                  <a:gd name="T35" fmla="*/ 78 h 78"/>
                  <a:gd name="T36" fmla="*/ 11 w 78"/>
                  <a:gd name="T37" fmla="*/ 78 h 78"/>
                  <a:gd name="T38" fmla="*/ 13 w 78"/>
                  <a:gd name="T39" fmla="*/ 76 h 78"/>
                  <a:gd name="T40" fmla="*/ 16 w 78"/>
                  <a:gd name="T41" fmla="*/ 74 h 78"/>
                  <a:gd name="T42" fmla="*/ 76 w 78"/>
                  <a:gd name="T43" fmla="*/ 1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78">
                    <a:moveTo>
                      <a:pt x="76" y="15"/>
                    </a:moveTo>
                    <a:lnTo>
                      <a:pt x="77" y="12"/>
                    </a:lnTo>
                    <a:lnTo>
                      <a:pt x="78" y="8"/>
                    </a:lnTo>
                    <a:lnTo>
                      <a:pt x="77" y="4"/>
                    </a:lnTo>
                    <a:lnTo>
                      <a:pt x="76" y="2"/>
                    </a:lnTo>
                    <a:lnTo>
                      <a:pt x="73" y="0"/>
                    </a:lnTo>
                    <a:lnTo>
                      <a:pt x="71" y="0"/>
                    </a:lnTo>
                    <a:lnTo>
                      <a:pt x="67" y="0"/>
                    </a:lnTo>
                    <a:lnTo>
                      <a:pt x="66" y="0"/>
                    </a:lnTo>
                    <a:lnTo>
                      <a:pt x="64" y="2"/>
                    </a:lnTo>
                    <a:lnTo>
                      <a:pt x="2" y="63"/>
                    </a:lnTo>
                    <a:lnTo>
                      <a:pt x="1" y="66"/>
                    </a:lnTo>
                    <a:lnTo>
                      <a:pt x="0" y="68"/>
                    </a:lnTo>
                    <a:lnTo>
                      <a:pt x="1" y="73"/>
                    </a:lnTo>
                    <a:lnTo>
                      <a:pt x="2" y="75"/>
                    </a:lnTo>
                    <a:lnTo>
                      <a:pt x="5" y="76"/>
                    </a:lnTo>
                    <a:lnTo>
                      <a:pt x="6" y="76"/>
                    </a:lnTo>
                    <a:lnTo>
                      <a:pt x="10" y="78"/>
                    </a:lnTo>
                    <a:lnTo>
                      <a:pt x="11" y="78"/>
                    </a:lnTo>
                    <a:lnTo>
                      <a:pt x="13" y="76"/>
                    </a:lnTo>
                    <a:lnTo>
                      <a:pt x="16" y="74"/>
                    </a:lnTo>
                    <a:lnTo>
                      <a:pt x="76"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56" name="Freeform 140">
                <a:extLst>
                  <a:ext uri="{FF2B5EF4-FFF2-40B4-BE49-F238E27FC236}">
                    <a16:creationId xmlns:a16="http://schemas.microsoft.com/office/drawing/2014/main" id="{D3759E19-5E2F-9B21-E380-40990D27851B}"/>
                  </a:ext>
                </a:extLst>
              </p:cNvPr>
              <p:cNvSpPr>
                <a:spLocks/>
              </p:cNvSpPr>
              <p:nvPr/>
            </p:nvSpPr>
            <p:spPr bwMode="auto">
              <a:xfrm>
                <a:off x="1480" y="3422"/>
                <a:ext cx="6" cy="28"/>
              </a:xfrm>
              <a:custGeom>
                <a:avLst/>
                <a:gdLst>
                  <a:gd name="T0" fmla="*/ 8 w 18"/>
                  <a:gd name="T1" fmla="*/ 0 h 102"/>
                  <a:gd name="T2" fmla="*/ 5 w 18"/>
                  <a:gd name="T3" fmla="*/ 0 h 102"/>
                  <a:gd name="T4" fmla="*/ 3 w 18"/>
                  <a:gd name="T5" fmla="*/ 2 h 102"/>
                  <a:gd name="T6" fmla="*/ 0 w 18"/>
                  <a:gd name="T7" fmla="*/ 7 h 102"/>
                  <a:gd name="T8" fmla="*/ 0 w 18"/>
                  <a:gd name="T9" fmla="*/ 94 h 102"/>
                  <a:gd name="T10" fmla="*/ 0 w 18"/>
                  <a:gd name="T11" fmla="*/ 97 h 102"/>
                  <a:gd name="T12" fmla="*/ 2 w 18"/>
                  <a:gd name="T13" fmla="*/ 98 h 102"/>
                  <a:gd name="T14" fmla="*/ 3 w 18"/>
                  <a:gd name="T15" fmla="*/ 100 h 102"/>
                  <a:gd name="T16" fmla="*/ 5 w 18"/>
                  <a:gd name="T17" fmla="*/ 102 h 102"/>
                  <a:gd name="T18" fmla="*/ 9 w 18"/>
                  <a:gd name="T19" fmla="*/ 102 h 102"/>
                  <a:gd name="T20" fmla="*/ 14 w 18"/>
                  <a:gd name="T21" fmla="*/ 101 h 102"/>
                  <a:gd name="T22" fmla="*/ 16 w 18"/>
                  <a:gd name="T23" fmla="*/ 98 h 102"/>
                  <a:gd name="T24" fmla="*/ 18 w 18"/>
                  <a:gd name="T25" fmla="*/ 94 h 102"/>
                  <a:gd name="T26" fmla="*/ 17 w 18"/>
                  <a:gd name="T27" fmla="*/ 8 h 102"/>
                  <a:gd name="T28" fmla="*/ 16 w 18"/>
                  <a:gd name="T29" fmla="*/ 5 h 102"/>
                  <a:gd name="T30" fmla="*/ 15 w 18"/>
                  <a:gd name="T31" fmla="*/ 2 h 102"/>
                  <a:gd name="T32" fmla="*/ 12 w 18"/>
                  <a:gd name="T33" fmla="*/ 0 h 102"/>
                  <a:gd name="T34" fmla="*/ 8 w 18"/>
                  <a:gd name="T3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102">
                    <a:moveTo>
                      <a:pt x="8" y="0"/>
                    </a:moveTo>
                    <a:lnTo>
                      <a:pt x="5" y="0"/>
                    </a:lnTo>
                    <a:lnTo>
                      <a:pt x="3" y="2"/>
                    </a:lnTo>
                    <a:lnTo>
                      <a:pt x="0" y="7"/>
                    </a:lnTo>
                    <a:lnTo>
                      <a:pt x="0" y="94"/>
                    </a:lnTo>
                    <a:lnTo>
                      <a:pt x="0" y="97"/>
                    </a:lnTo>
                    <a:lnTo>
                      <a:pt x="2" y="98"/>
                    </a:lnTo>
                    <a:lnTo>
                      <a:pt x="3" y="100"/>
                    </a:lnTo>
                    <a:lnTo>
                      <a:pt x="5" y="102"/>
                    </a:lnTo>
                    <a:lnTo>
                      <a:pt x="9" y="102"/>
                    </a:lnTo>
                    <a:lnTo>
                      <a:pt x="14" y="101"/>
                    </a:lnTo>
                    <a:lnTo>
                      <a:pt x="16" y="98"/>
                    </a:lnTo>
                    <a:lnTo>
                      <a:pt x="18" y="94"/>
                    </a:lnTo>
                    <a:lnTo>
                      <a:pt x="17" y="8"/>
                    </a:lnTo>
                    <a:lnTo>
                      <a:pt x="16" y="5"/>
                    </a:lnTo>
                    <a:lnTo>
                      <a:pt x="15" y="2"/>
                    </a:lnTo>
                    <a:lnTo>
                      <a:pt x="12" y="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57" name="Freeform 141">
                <a:extLst>
                  <a:ext uri="{FF2B5EF4-FFF2-40B4-BE49-F238E27FC236}">
                    <a16:creationId xmlns:a16="http://schemas.microsoft.com/office/drawing/2014/main" id="{C64047E7-95C2-113E-7513-C18DA63421C9}"/>
                  </a:ext>
                </a:extLst>
              </p:cNvPr>
              <p:cNvSpPr>
                <a:spLocks/>
              </p:cNvSpPr>
              <p:nvPr/>
            </p:nvSpPr>
            <p:spPr bwMode="auto">
              <a:xfrm>
                <a:off x="1467" y="3456"/>
                <a:ext cx="23" cy="18"/>
              </a:xfrm>
              <a:custGeom>
                <a:avLst/>
                <a:gdLst>
                  <a:gd name="T0" fmla="*/ 69 w 78"/>
                  <a:gd name="T1" fmla="*/ 0 h 61"/>
                  <a:gd name="T2" fmla="*/ 63 w 78"/>
                  <a:gd name="T3" fmla="*/ 6 h 61"/>
                  <a:gd name="T4" fmla="*/ 24 w 78"/>
                  <a:gd name="T5" fmla="*/ 38 h 61"/>
                  <a:gd name="T6" fmla="*/ 23 w 78"/>
                  <a:gd name="T7" fmla="*/ 38 h 61"/>
                  <a:gd name="T8" fmla="*/ 23 w 78"/>
                  <a:gd name="T9" fmla="*/ 39 h 61"/>
                  <a:gd name="T10" fmla="*/ 21 w 78"/>
                  <a:gd name="T11" fmla="*/ 38 h 61"/>
                  <a:gd name="T12" fmla="*/ 19 w 78"/>
                  <a:gd name="T13" fmla="*/ 36 h 61"/>
                  <a:gd name="T14" fmla="*/ 19 w 78"/>
                  <a:gd name="T15" fmla="*/ 33 h 61"/>
                  <a:gd name="T16" fmla="*/ 21 w 78"/>
                  <a:gd name="T17" fmla="*/ 32 h 61"/>
                  <a:gd name="T18" fmla="*/ 21 w 78"/>
                  <a:gd name="T19" fmla="*/ 31 h 61"/>
                  <a:gd name="T20" fmla="*/ 27 w 78"/>
                  <a:gd name="T21" fmla="*/ 24 h 61"/>
                  <a:gd name="T22" fmla="*/ 29 w 78"/>
                  <a:gd name="T23" fmla="*/ 21 h 61"/>
                  <a:gd name="T24" fmla="*/ 27 w 78"/>
                  <a:gd name="T25" fmla="*/ 19 h 61"/>
                  <a:gd name="T26" fmla="*/ 17 w 78"/>
                  <a:gd name="T27" fmla="*/ 13 h 61"/>
                  <a:gd name="T28" fmla="*/ 13 w 78"/>
                  <a:gd name="T29" fmla="*/ 12 h 61"/>
                  <a:gd name="T30" fmla="*/ 10 w 78"/>
                  <a:gd name="T31" fmla="*/ 11 h 61"/>
                  <a:gd name="T32" fmla="*/ 6 w 78"/>
                  <a:gd name="T33" fmla="*/ 11 h 61"/>
                  <a:gd name="T34" fmla="*/ 4 w 78"/>
                  <a:gd name="T35" fmla="*/ 13 h 61"/>
                  <a:gd name="T36" fmla="*/ 3 w 78"/>
                  <a:gd name="T37" fmla="*/ 14 h 61"/>
                  <a:gd name="T38" fmla="*/ 1 w 78"/>
                  <a:gd name="T39" fmla="*/ 17 h 61"/>
                  <a:gd name="T40" fmla="*/ 0 w 78"/>
                  <a:gd name="T41" fmla="*/ 20 h 61"/>
                  <a:gd name="T42" fmla="*/ 3 w 78"/>
                  <a:gd name="T43" fmla="*/ 31 h 61"/>
                  <a:gd name="T44" fmla="*/ 7 w 78"/>
                  <a:gd name="T45" fmla="*/ 41 h 61"/>
                  <a:gd name="T46" fmla="*/ 13 w 78"/>
                  <a:gd name="T47" fmla="*/ 47 h 61"/>
                  <a:gd name="T48" fmla="*/ 19 w 78"/>
                  <a:gd name="T49" fmla="*/ 54 h 61"/>
                  <a:gd name="T50" fmla="*/ 22 w 78"/>
                  <a:gd name="T51" fmla="*/ 55 h 61"/>
                  <a:gd name="T52" fmla="*/ 29 w 78"/>
                  <a:gd name="T53" fmla="*/ 59 h 61"/>
                  <a:gd name="T54" fmla="*/ 39 w 78"/>
                  <a:gd name="T55" fmla="*/ 61 h 61"/>
                  <a:gd name="T56" fmla="*/ 42 w 78"/>
                  <a:gd name="T57" fmla="*/ 60 h 61"/>
                  <a:gd name="T58" fmla="*/ 46 w 78"/>
                  <a:gd name="T59" fmla="*/ 59 h 61"/>
                  <a:gd name="T60" fmla="*/ 46 w 78"/>
                  <a:gd name="T61" fmla="*/ 57 h 61"/>
                  <a:gd name="T62" fmla="*/ 47 w 78"/>
                  <a:gd name="T63" fmla="*/ 56 h 61"/>
                  <a:gd name="T64" fmla="*/ 48 w 78"/>
                  <a:gd name="T65" fmla="*/ 54 h 61"/>
                  <a:gd name="T66" fmla="*/ 48 w 78"/>
                  <a:gd name="T67" fmla="*/ 49 h 61"/>
                  <a:gd name="T68" fmla="*/ 47 w 78"/>
                  <a:gd name="T69" fmla="*/ 42 h 61"/>
                  <a:gd name="T70" fmla="*/ 43 w 78"/>
                  <a:gd name="T71" fmla="*/ 35 h 61"/>
                  <a:gd name="T72" fmla="*/ 75 w 78"/>
                  <a:gd name="T73" fmla="*/ 9 h 61"/>
                  <a:gd name="T74" fmla="*/ 78 w 78"/>
                  <a:gd name="T75" fmla="*/ 8 h 61"/>
                  <a:gd name="T76" fmla="*/ 69 w 78"/>
                  <a:gd name="T7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8" h="61">
                    <a:moveTo>
                      <a:pt x="69" y="0"/>
                    </a:moveTo>
                    <a:lnTo>
                      <a:pt x="63" y="6"/>
                    </a:lnTo>
                    <a:lnTo>
                      <a:pt x="24" y="38"/>
                    </a:lnTo>
                    <a:lnTo>
                      <a:pt x="23" y="38"/>
                    </a:lnTo>
                    <a:lnTo>
                      <a:pt x="23" y="39"/>
                    </a:lnTo>
                    <a:lnTo>
                      <a:pt x="21" y="38"/>
                    </a:lnTo>
                    <a:lnTo>
                      <a:pt x="19" y="36"/>
                    </a:lnTo>
                    <a:lnTo>
                      <a:pt x="19" y="33"/>
                    </a:lnTo>
                    <a:lnTo>
                      <a:pt x="21" y="32"/>
                    </a:lnTo>
                    <a:lnTo>
                      <a:pt x="21" y="31"/>
                    </a:lnTo>
                    <a:lnTo>
                      <a:pt x="27" y="24"/>
                    </a:lnTo>
                    <a:lnTo>
                      <a:pt x="29" y="21"/>
                    </a:lnTo>
                    <a:lnTo>
                      <a:pt x="27" y="19"/>
                    </a:lnTo>
                    <a:lnTo>
                      <a:pt x="17" y="13"/>
                    </a:lnTo>
                    <a:lnTo>
                      <a:pt x="13" y="12"/>
                    </a:lnTo>
                    <a:lnTo>
                      <a:pt x="10" y="11"/>
                    </a:lnTo>
                    <a:lnTo>
                      <a:pt x="6" y="11"/>
                    </a:lnTo>
                    <a:lnTo>
                      <a:pt x="4" y="13"/>
                    </a:lnTo>
                    <a:lnTo>
                      <a:pt x="3" y="14"/>
                    </a:lnTo>
                    <a:lnTo>
                      <a:pt x="1" y="17"/>
                    </a:lnTo>
                    <a:lnTo>
                      <a:pt x="0" y="20"/>
                    </a:lnTo>
                    <a:lnTo>
                      <a:pt x="3" y="31"/>
                    </a:lnTo>
                    <a:lnTo>
                      <a:pt x="7" y="41"/>
                    </a:lnTo>
                    <a:lnTo>
                      <a:pt x="13" y="47"/>
                    </a:lnTo>
                    <a:lnTo>
                      <a:pt x="19" y="54"/>
                    </a:lnTo>
                    <a:lnTo>
                      <a:pt x="22" y="55"/>
                    </a:lnTo>
                    <a:lnTo>
                      <a:pt x="29" y="59"/>
                    </a:lnTo>
                    <a:lnTo>
                      <a:pt x="39" y="61"/>
                    </a:lnTo>
                    <a:lnTo>
                      <a:pt x="42" y="60"/>
                    </a:lnTo>
                    <a:lnTo>
                      <a:pt x="46" y="59"/>
                    </a:lnTo>
                    <a:lnTo>
                      <a:pt x="46" y="57"/>
                    </a:lnTo>
                    <a:lnTo>
                      <a:pt x="47" y="56"/>
                    </a:lnTo>
                    <a:lnTo>
                      <a:pt x="48" y="54"/>
                    </a:lnTo>
                    <a:lnTo>
                      <a:pt x="48" y="49"/>
                    </a:lnTo>
                    <a:lnTo>
                      <a:pt x="47" y="42"/>
                    </a:lnTo>
                    <a:lnTo>
                      <a:pt x="43" y="35"/>
                    </a:lnTo>
                    <a:lnTo>
                      <a:pt x="75" y="9"/>
                    </a:lnTo>
                    <a:lnTo>
                      <a:pt x="78" y="8"/>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58" name="Freeform 142">
                <a:extLst>
                  <a:ext uri="{FF2B5EF4-FFF2-40B4-BE49-F238E27FC236}">
                    <a16:creationId xmlns:a16="http://schemas.microsoft.com/office/drawing/2014/main" id="{E7A62DBA-B274-7262-4728-64AA75FAEB4B}"/>
                  </a:ext>
                </a:extLst>
              </p:cNvPr>
              <p:cNvSpPr>
                <a:spLocks/>
              </p:cNvSpPr>
              <p:nvPr/>
            </p:nvSpPr>
            <p:spPr bwMode="auto">
              <a:xfrm>
                <a:off x="1496" y="3460"/>
                <a:ext cx="30" cy="5"/>
              </a:xfrm>
              <a:custGeom>
                <a:avLst/>
                <a:gdLst>
                  <a:gd name="T0" fmla="*/ 0 w 102"/>
                  <a:gd name="T1" fmla="*/ 10 h 18"/>
                  <a:gd name="T2" fmla="*/ 0 w 102"/>
                  <a:gd name="T3" fmla="*/ 11 h 18"/>
                  <a:gd name="T4" fmla="*/ 3 w 102"/>
                  <a:gd name="T5" fmla="*/ 14 h 18"/>
                  <a:gd name="T6" fmla="*/ 3 w 102"/>
                  <a:gd name="T7" fmla="*/ 16 h 18"/>
                  <a:gd name="T8" fmla="*/ 5 w 102"/>
                  <a:gd name="T9" fmla="*/ 18 h 18"/>
                  <a:gd name="T10" fmla="*/ 8 w 102"/>
                  <a:gd name="T11" fmla="*/ 18 h 18"/>
                  <a:gd name="T12" fmla="*/ 96 w 102"/>
                  <a:gd name="T13" fmla="*/ 18 h 18"/>
                  <a:gd name="T14" fmla="*/ 96 w 102"/>
                  <a:gd name="T15" fmla="*/ 17 h 18"/>
                  <a:gd name="T16" fmla="*/ 100 w 102"/>
                  <a:gd name="T17" fmla="*/ 16 h 18"/>
                  <a:gd name="T18" fmla="*/ 102 w 102"/>
                  <a:gd name="T19" fmla="*/ 13 h 18"/>
                  <a:gd name="T20" fmla="*/ 102 w 102"/>
                  <a:gd name="T21" fmla="*/ 8 h 18"/>
                  <a:gd name="T22" fmla="*/ 102 w 102"/>
                  <a:gd name="T23" fmla="*/ 7 h 18"/>
                  <a:gd name="T24" fmla="*/ 100 w 102"/>
                  <a:gd name="T25" fmla="*/ 1 h 18"/>
                  <a:gd name="T26" fmla="*/ 95 w 102"/>
                  <a:gd name="T27" fmla="*/ 0 h 18"/>
                  <a:gd name="T28" fmla="*/ 8 w 102"/>
                  <a:gd name="T29" fmla="*/ 1 h 18"/>
                  <a:gd name="T30" fmla="*/ 5 w 102"/>
                  <a:gd name="T31" fmla="*/ 1 h 18"/>
                  <a:gd name="T32" fmla="*/ 3 w 102"/>
                  <a:gd name="T33" fmla="*/ 2 h 18"/>
                  <a:gd name="T34" fmla="*/ 3 w 102"/>
                  <a:gd name="T35" fmla="*/ 5 h 18"/>
                  <a:gd name="T36" fmla="*/ 2 w 102"/>
                  <a:gd name="T37" fmla="*/ 6 h 18"/>
                  <a:gd name="T38" fmla="*/ 0 w 102"/>
                  <a:gd name="T39"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18">
                    <a:moveTo>
                      <a:pt x="0" y="10"/>
                    </a:moveTo>
                    <a:lnTo>
                      <a:pt x="0" y="11"/>
                    </a:lnTo>
                    <a:lnTo>
                      <a:pt x="3" y="14"/>
                    </a:lnTo>
                    <a:lnTo>
                      <a:pt x="3" y="16"/>
                    </a:lnTo>
                    <a:lnTo>
                      <a:pt x="5" y="18"/>
                    </a:lnTo>
                    <a:lnTo>
                      <a:pt x="8" y="18"/>
                    </a:lnTo>
                    <a:lnTo>
                      <a:pt x="96" y="18"/>
                    </a:lnTo>
                    <a:lnTo>
                      <a:pt x="96" y="17"/>
                    </a:lnTo>
                    <a:lnTo>
                      <a:pt x="100" y="16"/>
                    </a:lnTo>
                    <a:lnTo>
                      <a:pt x="102" y="13"/>
                    </a:lnTo>
                    <a:lnTo>
                      <a:pt x="102" y="8"/>
                    </a:lnTo>
                    <a:lnTo>
                      <a:pt x="102" y="7"/>
                    </a:lnTo>
                    <a:lnTo>
                      <a:pt x="100" y="1"/>
                    </a:lnTo>
                    <a:lnTo>
                      <a:pt x="95" y="0"/>
                    </a:lnTo>
                    <a:lnTo>
                      <a:pt x="8" y="1"/>
                    </a:lnTo>
                    <a:lnTo>
                      <a:pt x="5" y="1"/>
                    </a:lnTo>
                    <a:lnTo>
                      <a:pt x="3" y="2"/>
                    </a:lnTo>
                    <a:lnTo>
                      <a:pt x="3" y="5"/>
                    </a:lnTo>
                    <a:lnTo>
                      <a:pt x="2" y="6"/>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sp>
        <p:nvSpPr>
          <p:cNvPr id="137361" name="Freeform 145">
            <a:extLst>
              <a:ext uri="{FF2B5EF4-FFF2-40B4-BE49-F238E27FC236}">
                <a16:creationId xmlns:a16="http://schemas.microsoft.com/office/drawing/2014/main" id="{4CD557EE-C9FA-0241-9BAB-F71AA6E177B2}"/>
              </a:ext>
            </a:extLst>
          </p:cNvPr>
          <p:cNvSpPr>
            <a:spLocks/>
          </p:cNvSpPr>
          <p:nvPr/>
        </p:nvSpPr>
        <p:spPr bwMode="auto">
          <a:xfrm>
            <a:off x="1387475" y="3076575"/>
            <a:ext cx="942975" cy="633413"/>
          </a:xfrm>
          <a:custGeom>
            <a:avLst/>
            <a:gdLst>
              <a:gd name="T0" fmla="*/ 1861 w 2007"/>
              <a:gd name="T1" fmla="*/ 456 h 1440"/>
              <a:gd name="T2" fmla="*/ 1803 w 2007"/>
              <a:gd name="T3" fmla="*/ 421 h 1440"/>
              <a:gd name="T4" fmla="*/ 1775 w 2007"/>
              <a:gd name="T5" fmla="*/ 248 h 1440"/>
              <a:gd name="T6" fmla="*/ 1702 w 2007"/>
              <a:gd name="T7" fmla="*/ 122 h 1440"/>
              <a:gd name="T8" fmla="*/ 1633 w 2007"/>
              <a:gd name="T9" fmla="*/ 66 h 1440"/>
              <a:gd name="T10" fmla="*/ 1555 w 2007"/>
              <a:gd name="T11" fmla="*/ 39 h 1440"/>
              <a:gd name="T12" fmla="*/ 1458 w 2007"/>
              <a:gd name="T13" fmla="*/ 49 h 1440"/>
              <a:gd name="T14" fmla="*/ 1378 w 2007"/>
              <a:gd name="T15" fmla="*/ 99 h 1440"/>
              <a:gd name="T16" fmla="*/ 1277 w 2007"/>
              <a:gd name="T17" fmla="*/ 71 h 1440"/>
              <a:gd name="T18" fmla="*/ 1123 w 2007"/>
              <a:gd name="T19" fmla="*/ 14 h 1440"/>
              <a:gd name="T20" fmla="*/ 1031 w 2007"/>
              <a:gd name="T21" fmla="*/ 1 h 1440"/>
              <a:gd name="T22" fmla="*/ 868 w 2007"/>
              <a:gd name="T23" fmla="*/ 13 h 1440"/>
              <a:gd name="T24" fmla="*/ 694 w 2007"/>
              <a:gd name="T25" fmla="*/ 91 h 1440"/>
              <a:gd name="T26" fmla="*/ 594 w 2007"/>
              <a:gd name="T27" fmla="*/ 69 h 1440"/>
              <a:gd name="T28" fmla="*/ 529 w 2007"/>
              <a:gd name="T29" fmla="*/ 43 h 1440"/>
              <a:gd name="T30" fmla="*/ 426 w 2007"/>
              <a:gd name="T31" fmla="*/ 44 h 1440"/>
              <a:gd name="T32" fmla="*/ 329 w 2007"/>
              <a:gd name="T33" fmla="*/ 99 h 1440"/>
              <a:gd name="T34" fmla="*/ 252 w 2007"/>
              <a:gd name="T35" fmla="*/ 207 h 1440"/>
              <a:gd name="T36" fmla="*/ 214 w 2007"/>
              <a:gd name="T37" fmla="*/ 342 h 1440"/>
              <a:gd name="T38" fmla="*/ 209 w 2007"/>
              <a:gd name="T39" fmla="*/ 425 h 1440"/>
              <a:gd name="T40" fmla="*/ 111 w 2007"/>
              <a:gd name="T41" fmla="*/ 480 h 1440"/>
              <a:gd name="T42" fmla="*/ 35 w 2007"/>
              <a:gd name="T43" fmla="*/ 572 h 1440"/>
              <a:gd name="T44" fmla="*/ 1 w 2007"/>
              <a:gd name="T45" fmla="*/ 687 h 1440"/>
              <a:gd name="T46" fmla="*/ 12 w 2007"/>
              <a:gd name="T47" fmla="*/ 810 h 1440"/>
              <a:gd name="T48" fmla="*/ 69 w 2007"/>
              <a:gd name="T49" fmla="*/ 915 h 1440"/>
              <a:gd name="T50" fmla="*/ 156 w 2007"/>
              <a:gd name="T51" fmla="*/ 989 h 1440"/>
              <a:gd name="T52" fmla="*/ 210 w 2007"/>
              <a:gd name="T53" fmla="*/ 1077 h 1440"/>
              <a:gd name="T54" fmla="*/ 239 w 2007"/>
              <a:gd name="T55" fmla="*/ 1218 h 1440"/>
              <a:gd name="T56" fmla="*/ 300 w 2007"/>
              <a:gd name="T57" fmla="*/ 1325 h 1440"/>
              <a:gd name="T58" fmla="*/ 384 w 2007"/>
              <a:gd name="T59" fmla="*/ 1397 h 1440"/>
              <a:gd name="T60" fmla="*/ 483 w 2007"/>
              <a:gd name="T61" fmla="*/ 1422 h 1440"/>
              <a:gd name="T62" fmla="*/ 508 w 2007"/>
              <a:gd name="T63" fmla="*/ 1419 h 1440"/>
              <a:gd name="T64" fmla="*/ 581 w 2007"/>
              <a:gd name="T65" fmla="*/ 1397 h 1440"/>
              <a:gd name="T66" fmla="*/ 645 w 2007"/>
              <a:gd name="T67" fmla="*/ 1345 h 1440"/>
              <a:gd name="T68" fmla="*/ 711 w 2007"/>
              <a:gd name="T69" fmla="*/ 1352 h 1440"/>
              <a:gd name="T70" fmla="*/ 869 w 2007"/>
              <a:gd name="T71" fmla="*/ 1422 h 1440"/>
              <a:gd name="T72" fmla="*/ 983 w 2007"/>
              <a:gd name="T73" fmla="*/ 1440 h 1440"/>
              <a:gd name="T74" fmla="*/ 1125 w 2007"/>
              <a:gd name="T75" fmla="*/ 1424 h 1440"/>
              <a:gd name="T76" fmla="*/ 1236 w 2007"/>
              <a:gd name="T77" fmla="*/ 1388 h 1440"/>
              <a:gd name="T78" fmla="*/ 1348 w 2007"/>
              <a:gd name="T79" fmla="*/ 1325 h 1440"/>
              <a:gd name="T80" fmla="*/ 1431 w 2007"/>
              <a:gd name="T81" fmla="*/ 1397 h 1440"/>
              <a:gd name="T82" fmla="*/ 1529 w 2007"/>
              <a:gd name="T83" fmla="*/ 1422 h 1440"/>
              <a:gd name="T84" fmla="*/ 1595 w 2007"/>
              <a:gd name="T85" fmla="*/ 1410 h 1440"/>
              <a:gd name="T86" fmla="*/ 1624 w 2007"/>
              <a:gd name="T87" fmla="*/ 1395 h 1440"/>
              <a:gd name="T88" fmla="*/ 1641 w 2007"/>
              <a:gd name="T89" fmla="*/ 1386 h 1440"/>
              <a:gd name="T90" fmla="*/ 1680 w 2007"/>
              <a:gd name="T91" fmla="*/ 1357 h 1440"/>
              <a:gd name="T92" fmla="*/ 1727 w 2007"/>
              <a:gd name="T93" fmla="*/ 1301 h 1440"/>
              <a:gd name="T94" fmla="*/ 1757 w 2007"/>
              <a:gd name="T95" fmla="*/ 1249 h 1440"/>
              <a:gd name="T96" fmla="*/ 1782 w 2007"/>
              <a:gd name="T97" fmla="*/ 1185 h 1440"/>
              <a:gd name="T98" fmla="*/ 1797 w 2007"/>
              <a:gd name="T99" fmla="*/ 1115 h 1440"/>
              <a:gd name="T100" fmla="*/ 1803 w 2007"/>
              <a:gd name="T101" fmla="*/ 1013 h 1440"/>
              <a:gd name="T102" fmla="*/ 1864 w 2007"/>
              <a:gd name="T103" fmla="*/ 979 h 1440"/>
              <a:gd name="T104" fmla="*/ 1915 w 2007"/>
              <a:gd name="T105" fmla="*/ 939 h 1440"/>
              <a:gd name="T106" fmla="*/ 1984 w 2007"/>
              <a:gd name="T107" fmla="*/ 839 h 1440"/>
              <a:gd name="T108" fmla="*/ 2004 w 2007"/>
              <a:gd name="T109" fmla="*/ 741 h 1440"/>
              <a:gd name="T110" fmla="*/ 2001 w 2007"/>
              <a:gd name="T111" fmla="*/ 657 h 1440"/>
              <a:gd name="T112" fmla="*/ 1955 w 2007"/>
              <a:gd name="T113" fmla="*/ 547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07" h="1440">
                <a:moveTo>
                  <a:pt x="1915" y="499"/>
                </a:moveTo>
                <a:lnTo>
                  <a:pt x="1889" y="475"/>
                </a:lnTo>
                <a:lnTo>
                  <a:pt x="1875" y="464"/>
                </a:lnTo>
                <a:lnTo>
                  <a:pt x="1861" y="456"/>
                </a:lnTo>
                <a:lnTo>
                  <a:pt x="1833" y="439"/>
                </a:lnTo>
                <a:lnTo>
                  <a:pt x="1817" y="432"/>
                </a:lnTo>
                <a:lnTo>
                  <a:pt x="1803" y="427"/>
                </a:lnTo>
                <a:lnTo>
                  <a:pt x="1803" y="421"/>
                </a:lnTo>
                <a:lnTo>
                  <a:pt x="1800" y="365"/>
                </a:lnTo>
                <a:lnTo>
                  <a:pt x="1791" y="303"/>
                </a:lnTo>
                <a:lnTo>
                  <a:pt x="1783" y="275"/>
                </a:lnTo>
                <a:lnTo>
                  <a:pt x="1775" y="248"/>
                </a:lnTo>
                <a:lnTo>
                  <a:pt x="1764" y="222"/>
                </a:lnTo>
                <a:lnTo>
                  <a:pt x="1752" y="197"/>
                </a:lnTo>
                <a:lnTo>
                  <a:pt x="1723" y="150"/>
                </a:lnTo>
                <a:lnTo>
                  <a:pt x="1702" y="122"/>
                </a:lnTo>
                <a:lnTo>
                  <a:pt x="1680" y="99"/>
                </a:lnTo>
                <a:lnTo>
                  <a:pt x="1656" y="80"/>
                </a:lnTo>
                <a:lnTo>
                  <a:pt x="1644" y="72"/>
                </a:lnTo>
                <a:lnTo>
                  <a:pt x="1633" y="66"/>
                </a:lnTo>
                <a:lnTo>
                  <a:pt x="1608" y="53"/>
                </a:lnTo>
                <a:lnTo>
                  <a:pt x="1583" y="44"/>
                </a:lnTo>
                <a:lnTo>
                  <a:pt x="1569" y="41"/>
                </a:lnTo>
                <a:lnTo>
                  <a:pt x="1555" y="39"/>
                </a:lnTo>
                <a:lnTo>
                  <a:pt x="1529" y="38"/>
                </a:lnTo>
                <a:lnTo>
                  <a:pt x="1504" y="39"/>
                </a:lnTo>
                <a:lnTo>
                  <a:pt x="1481" y="43"/>
                </a:lnTo>
                <a:lnTo>
                  <a:pt x="1458" y="49"/>
                </a:lnTo>
                <a:lnTo>
                  <a:pt x="1438" y="59"/>
                </a:lnTo>
                <a:lnTo>
                  <a:pt x="1416" y="69"/>
                </a:lnTo>
                <a:lnTo>
                  <a:pt x="1397" y="84"/>
                </a:lnTo>
                <a:lnTo>
                  <a:pt x="1378" y="99"/>
                </a:lnTo>
                <a:lnTo>
                  <a:pt x="1360" y="120"/>
                </a:lnTo>
                <a:lnTo>
                  <a:pt x="1338" y="105"/>
                </a:lnTo>
                <a:lnTo>
                  <a:pt x="1318" y="93"/>
                </a:lnTo>
                <a:lnTo>
                  <a:pt x="1277" y="71"/>
                </a:lnTo>
                <a:lnTo>
                  <a:pt x="1234" y="50"/>
                </a:lnTo>
                <a:lnTo>
                  <a:pt x="1192" y="35"/>
                </a:lnTo>
                <a:lnTo>
                  <a:pt x="1146" y="20"/>
                </a:lnTo>
                <a:lnTo>
                  <a:pt x="1123" y="14"/>
                </a:lnTo>
                <a:lnTo>
                  <a:pt x="1102" y="11"/>
                </a:lnTo>
                <a:lnTo>
                  <a:pt x="1078" y="6"/>
                </a:lnTo>
                <a:lnTo>
                  <a:pt x="1055" y="3"/>
                </a:lnTo>
                <a:lnTo>
                  <a:pt x="1031" y="1"/>
                </a:lnTo>
                <a:lnTo>
                  <a:pt x="1008" y="1"/>
                </a:lnTo>
                <a:lnTo>
                  <a:pt x="960" y="0"/>
                </a:lnTo>
                <a:lnTo>
                  <a:pt x="913" y="5"/>
                </a:lnTo>
                <a:lnTo>
                  <a:pt x="868" y="13"/>
                </a:lnTo>
                <a:lnTo>
                  <a:pt x="823" y="27"/>
                </a:lnTo>
                <a:lnTo>
                  <a:pt x="779" y="44"/>
                </a:lnTo>
                <a:lnTo>
                  <a:pt x="736" y="66"/>
                </a:lnTo>
                <a:lnTo>
                  <a:pt x="694" y="91"/>
                </a:lnTo>
                <a:lnTo>
                  <a:pt x="654" y="122"/>
                </a:lnTo>
                <a:lnTo>
                  <a:pt x="634" y="102"/>
                </a:lnTo>
                <a:lnTo>
                  <a:pt x="615" y="85"/>
                </a:lnTo>
                <a:lnTo>
                  <a:pt x="594" y="69"/>
                </a:lnTo>
                <a:lnTo>
                  <a:pt x="574" y="59"/>
                </a:lnTo>
                <a:lnTo>
                  <a:pt x="562" y="53"/>
                </a:lnTo>
                <a:lnTo>
                  <a:pt x="551" y="49"/>
                </a:lnTo>
                <a:lnTo>
                  <a:pt x="529" y="43"/>
                </a:lnTo>
                <a:lnTo>
                  <a:pt x="505" y="39"/>
                </a:lnTo>
                <a:lnTo>
                  <a:pt x="483" y="38"/>
                </a:lnTo>
                <a:lnTo>
                  <a:pt x="454" y="39"/>
                </a:lnTo>
                <a:lnTo>
                  <a:pt x="426" y="44"/>
                </a:lnTo>
                <a:lnTo>
                  <a:pt x="400" y="53"/>
                </a:lnTo>
                <a:lnTo>
                  <a:pt x="376" y="66"/>
                </a:lnTo>
                <a:lnTo>
                  <a:pt x="352" y="80"/>
                </a:lnTo>
                <a:lnTo>
                  <a:pt x="329" y="99"/>
                </a:lnTo>
                <a:lnTo>
                  <a:pt x="307" y="122"/>
                </a:lnTo>
                <a:lnTo>
                  <a:pt x="288" y="150"/>
                </a:lnTo>
                <a:lnTo>
                  <a:pt x="268" y="177"/>
                </a:lnTo>
                <a:lnTo>
                  <a:pt x="252" y="207"/>
                </a:lnTo>
                <a:lnTo>
                  <a:pt x="239" y="239"/>
                </a:lnTo>
                <a:lnTo>
                  <a:pt x="228" y="272"/>
                </a:lnTo>
                <a:lnTo>
                  <a:pt x="220" y="306"/>
                </a:lnTo>
                <a:lnTo>
                  <a:pt x="214" y="342"/>
                </a:lnTo>
                <a:lnTo>
                  <a:pt x="210" y="378"/>
                </a:lnTo>
                <a:lnTo>
                  <a:pt x="209" y="417"/>
                </a:lnTo>
                <a:lnTo>
                  <a:pt x="209" y="421"/>
                </a:lnTo>
                <a:lnTo>
                  <a:pt x="209" y="425"/>
                </a:lnTo>
                <a:lnTo>
                  <a:pt x="177" y="438"/>
                </a:lnTo>
                <a:lnTo>
                  <a:pt x="154" y="449"/>
                </a:lnTo>
                <a:lnTo>
                  <a:pt x="132" y="464"/>
                </a:lnTo>
                <a:lnTo>
                  <a:pt x="111" y="480"/>
                </a:lnTo>
                <a:lnTo>
                  <a:pt x="91" y="499"/>
                </a:lnTo>
                <a:lnTo>
                  <a:pt x="69" y="522"/>
                </a:lnTo>
                <a:lnTo>
                  <a:pt x="51" y="547"/>
                </a:lnTo>
                <a:lnTo>
                  <a:pt x="35" y="572"/>
                </a:lnTo>
                <a:lnTo>
                  <a:pt x="23" y="600"/>
                </a:lnTo>
                <a:lnTo>
                  <a:pt x="12" y="627"/>
                </a:lnTo>
                <a:lnTo>
                  <a:pt x="5" y="657"/>
                </a:lnTo>
                <a:lnTo>
                  <a:pt x="1" y="687"/>
                </a:lnTo>
                <a:lnTo>
                  <a:pt x="0" y="720"/>
                </a:lnTo>
                <a:lnTo>
                  <a:pt x="1" y="750"/>
                </a:lnTo>
                <a:lnTo>
                  <a:pt x="5" y="781"/>
                </a:lnTo>
                <a:lnTo>
                  <a:pt x="12" y="810"/>
                </a:lnTo>
                <a:lnTo>
                  <a:pt x="23" y="839"/>
                </a:lnTo>
                <a:lnTo>
                  <a:pt x="35" y="865"/>
                </a:lnTo>
                <a:lnTo>
                  <a:pt x="51" y="891"/>
                </a:lnTo>
                <a:lnTo>
                  <a:pt x="69" y="915"/>
                </a:lnTo>
                <a:lnTo>
                  <a:pt x="91" y="939"/>
                </a:lnTo>
                <a:lnTo>
                  <a:pt x="112" y="957"/>
                </a:lnTo>
                <a:lnTo>
                  <a:pt x="133" y="974"/>
                </a:lnTo>
                <a:lnTo>
                  <a:pt x="156" y="989"/>
                </a:lnTo>
                <a:lnTo>
                  <a:pt x="180" y="1002"/>
                </a:lnTo>
                <a:lnTo>
                  <a:pt x="209" y="1014"/>
                </a:lnTo>
                <a:lnTo>
                  <a:pt x="209" y="1039"/>
                </a:lnTo>
                <a:lnTo>
                  <a:pt x="210" y="1077"/>
                </a:lnTo>
                <a:lnTo>
                  <a:pt x="214" y="1115"/>
                </a:lnTo>
                <a:lnTo>
                  <a:pt x="220" y="1151"/>
                </a:lnTo>
                <a:lnTo>
                  <a:pt x="228" y="1185"/>
                </a:lnTo>
                <a:lnTo>
                  <a:pt x="239" y="1218"/>
                </a:lnTo>
                <a:lnTo>
                  <a:pt x="252" y="1249"/>
                </a:lnTo>
                <a:lnTo>
                  <a:pt x="268" y="1279"/>
                </a:lnTo>
                <a:lnTo>
                  <a:pt x="288" y="1309"/>
                </a:lnTo>
                <a:lnTo>
                  <a:pt x="300" y="1325"/>
                </a:lnTo>
                <a:lnTo>
                  <a:pt x="319" y="1346"/>
                </a:lnTo>
                <a:lnTo>
                  <a:pt x="340" y="1367"/>
                </a:lnTo>
                <a:lnTo>
                  <a:pt x="361" y="1382"/>
                </a:lnTo>
                <a:lnTo>
                  <a:pt x="384" y="1397"/>
                </a:lnTo>
                <a:lnTo>
                  <a:pt x="407" y="1406"/>
                </a:lnTo>
                <a:lnTo>
                  <a:pt x="431" y="1415"/>
                </a:lnTo>
                <a:lnTo>
                  <a:pt x="456" y="1419"/>
                </a:lnTo>
                <a:lnTo>
                  <a:pt x="483" y="1422"/>
                </a:lnTo>
                <a:lnTo>
                  <a:pt x="495" y="1421"/>
                </a:lnTo>
                <a:lnTo>
                  <a:pt x="497" y="1419"/>
                </a:lnTo>
                <a:lnTo>
                  <a:pt x="501" y="1419"/>
                </a:lnTo>
                <a:lnTo>
                  <a:pt x="508" y="1419"/>
                </a:lnTo>
                <a:lnTo>
                  <a:pt x="520" y="1417"/>
                </a:lnTo>
                <a:lnTo>
                  <a:pt x="533" y="1415"/>
                </a:lnTo>
                <a:lnTo>
                  <a:pt x="557" y="1406"/>
                </a:lnTo>
                <a:lnTo>
                  <a:pt x="581" y="1397"/>
                </a:lnTo>
                <a:lnTo>
                  <a:pt x="603" y="1382"/>
                </a:lnTo>
                <a:lnTo>
                  <a:pt x="624" y="1365"/>
                </a:lnTo>
                <a:lnTo>
                  <a:pt x="634" y="1355"/>
                </a:lnTo>
                <a:lnTo>
                  <a:pt x="645" y="1345"/>
                </a:lnTo>
                <a:lnTo>
                  <a:pt x="654" y="1334"/>
                </a:lnTo>
                <a:lnTo>
                  <a:pt x="659" y="1328"/>
                </a:lnTo>
                <a:lnTo>
                  <a:pt x="665" y="1323"/>
                </a:lnTo>
                <a:lnTo>
                  <a:pt x="711" y="1352"/>
                </a:lnTo>
                <a:lnTo>
                  <a:pt x="756" y="1377"/>
                </a:lnTo>
                <a:lnTo>
                  <a:pt x="802" y="1399"/>
                </a:lnTo>
                <a:lnTo>
                  <a:pt x="847" y="1416"/>
                </a:lnTo>
                <a:lnTo>
                  <a:pt x="869" y="1422"/>
                </a:lnTo>
                <a:lnTo>
                  <a:pt x="880" y="1424"/>
                </a:lnTo>
                <a:lnTo>
                  <a:pt x="892" y="1428"/>
                </a:lnTo>
                <a:lnTo>
                  <a:pt x="937" y="1436"/>
                </a:lnTo>
                <a:lnTo>
                  <a:pt x="983" y="1440"/>
                </a:lnTo>
                <a:lnTo>
                  <a:pt x="1029" y="1440"/>
                </a:lnTo>
                <a:lnTo>
                  <a:pt x="1072" y="1434"/>
                </a:lnTo>
                <a:lnTo>
                  <a:pt x="1115" y="1428"/>
                </a:lnTo>
                <a:lnTo>
                  <a:pt x="1125" y="1424"/>
                </a:lnTo>
                <a:lnTo>
                  <a:pt x="1135" y="1422"/>
                </a:lnTo>
                <a:lnTo>
                  <a:pt x="1157" y="1417"/>
                </a:lnTo>
                <a:lnTo>
                  <a:pt x="1198" y="1405"/>
                </a:lnTo>
                <a:lnTo>
                  <a:pt x="1236" y="1388"/>
                </a:lnTo>
                <a:lnTo>
                  <a:pt x="1275" y="1370"/>
                </a:lnTo>
                <a:lnTo>
                  <a:pt x="1293" y="1358"/>
                </a:lnTo>
                <a:lnTo>
                  <a:pt x="1312" y="1347"/>
                </a:lnTo>
                <a:lnTo>
                  <a:pt x="1348" y="1325"/>
                </a:lnTo>
                <a:lnTo>
                  <a:pt x="1367" y="1346"/>
                </a:lnTo>
                <a:lnTo>
                  <a:pt x="1387" y="1367"/>
                </a:lnTo>
                <a:lnTo>
                  <a:pt x="1408" y="1382"/>
                </a:lnTo>
                <a:lnTo>
                  <a:pt x="1431" y="1397"/>
                </a:lnTo>
                <a:lnTo>
                  <a:pt x="1453" y="1406"/>
                </a:lnTo>
                <a:lnTo>
                  <a:pt x="1477" y="1415"/>
                </a:lnTo>
                <a:lnTo>
                  <a:pt x="1503" y="1419"/>
                </a:lnTo>
                <a:lnTo>
                  <a:pt x="1529" y="1422"/>
                </a:lnTo>
                <a:lnTo>
                  <a:pt x="1555" y="1419"/>
                </a:lnTo>
                <a:lnTo>
                  <a:pt x="1569" y="1417"/>
                </a:lnTo>
                <a:lnTo>
                  <a:pt x="1583" y="1415"/>
                </a:lnTo>
                <a:lnTo>
                  <a:pt x="1595" y="1410"/>
                </a:lnTo>
                <a:lnTo>
                  <a:pt x="1608" y="1405"/>
                </a:lnTo>
                <a:lnTo>
                  <a:pt x="1620" y="1399"/>
                </a:lnTo>
                <a:lnTo>
                  <a:pt x="1623" y="1397"/>
                </a:lnTo>
                <a:lnTo>
                  <a:pt x="1624" y="1395"/>
                </a:lnTo>
                <a:lnTo>
                  <a:pt x="1626" y="1395"/>
                </a:lnTo>
                <a:lnTo>
                  <a:pt x="1633" y="1393"/>
                </a:lnTo>
                <a:lnTo>
                  <a:pt x="1638" y="1388"/>
                </a:lnTo>
                <a:lnTo>
                  <a:pt x="1641" y="1386"/>
                </a:lnTo>
                <a:lnTo>
                  <a:pt x="1642" y="1385"/>
                </a:lnTo>
                <a:lnTo>
                  <a:pt x="1644" y="1385"/>
                </a:lnTo>
                <a:lnTo>
                  <a:pt x="1656" y="1376"/>
                </a:lnTo>
                <a:lnTo>
                  <a:pt x="1680" y="1357"/>
                </a:lnTo>
                <a:lnTo>
                  <a:pt x="1702" y="1334"/>
                </a:lnTo>
                <a:lnTo>
                  <a:pt x="1723" y="1309"/>
                </a:lnTo>
                <a:lnTo>
                  <a:pt x="1725" y="1304"/>
                </a:lnTo>
                <a:lnTo>
                  <a:pt x="1727" y="1301"/>
                </a:lnTo>
                <a:lnTo>
                  <a:pt x="1732" y="1293"/>
                </a:lnTo>
                <a:lnTo>
                  <a:pt x="1741" y="1279"/>
                </a:lnTo>
                <a:lnTo>
                  <a:pt x="1749" y="1263"/>
                </a:lnTo>
                <a:lnTo>
                  <a:pt x="1757" y="1249"/>
                </a:lnTo>
                <a:lnTo>
                  <a:pt x="1770" y="1218"/>
                </a:lnTo>
                <a:lnTo>
                  <a:pt x="1776" y="1201"/>
                </a:lnTo>
                <a:lnTo>
                  <a:pt x="1779" y="1193"/>
                </a:lnTo>
                <a:lnTo>
                  <a:pt x="1782" y="1185"/>
                </a:lnTo>
                <a:lnTo>
                  <a:pt x="1783" y="1176"/>
                </a:lnTo>
                <a:lnTo>
                  <a:pt x="1786" y="1167"/>
                </a:lnTo>
                <a:lnTo>
                  <a:pt x="1791" y="1151"/>
                </a:lnTo>
                <a:lnTo>
                  <a:pt x="1797" y="1115"/>
                </a:lnTo>
                <a:lnTo>
                  <a:pt x="1798" y="1095"/>
                </a:lnTo>
                <a:lnTo>
                  <a:pt x="1800" y="1077"/>
                </a:lnTo>
                <a:lnTo>
                  <a:pt x="1803" y="1039"/>
                </a:lnTo>
                <a:lnTo>
                  <a:pt x="1803" y="1013"/>
                </a:lnTo>
                <a:lnTo>
                  <a:pt x="1817" y="1005"/>
                </a:lnTo>
                <a:lnTo>
                  <a:pt x="1833" y="998"/>
                </a:lnTo>
                <a:lnTo>
                  <a:pt x="1861" y="983"/>
                </a:lnTo>
                <a:lnTo>
                  <a:pt x="1864" y="979"/>
                </a:lnTo>
                <a:lnTo>
                  <a:pt x="1867" y="977"/>
                </a:lnTo>
                <a:lnTo>
                  <a:pt x="1875" y="972"/>
                </a:lnTo>
                <a:lnTo>
                  <a:pt x="1889" y="962"/>
                </a:lnTo>
                <a:lnTo>
                  <a:pt x="1915" y="939"/>
                </a:lnTo>
                <a:lnTo>
                  <a:pt x="1936" y="915"/>
                </a:lnTo>
                <a:lnTo>
                  <a:pt x="1955" y="891"/>
                </a:lnTo>
                <a:lnTo>
                  <a:pt x="1971" y="865"/>
                </a:lnTo>
                <a:lnTo>
                  <a:pt x="1984" y="839"/>
                </a:lnTo>
                <a:lnTo>
                  <a:pt x="1992" y="810"/>
                </a:lnTo>
                <a:lnTo>
                  <a:pt x="2001" y="781"/>
                </a:lnTo>
                <a:lnTo>
                  <a:pt x="2004" y="750"/>
                </a:lnTo>
                <a:lnTo>
                  <a:pt x="2004" y="741"/>
                </a:lnTo>
                <a:lnTo>
                  <a:pt x="2005" y="734"/>
                </a:lnTo>
                <a:lnTo>
                  <a:pt x="2007" y="720"/>
                </a:lnTo>
                <a:lnTo>
                  <a:pt x="2004" y="687"/>
                </a:lnTo>
                <a:lnTo>
                  <a:pt x="2001" y="657"/>
                </a:lnTo>
                <a:lnTo>
                  <a:pt x="1992" y="627"/>
                </a:lnTo>
                <a:lnTo>
                  <a:pt x="1984" y="600"/>
                </a:lnTo>
                <a:lnTo>
                  <a:pt x="1971" y="572"/>
                </a:lnTo>
                <a:lnTo>
                  <a:pt x="1955" y="547"/>
                </a:lnTo>
                <a:lnTo>
                  <a:pt x="1936" y="522"/>
                </a:lnTo>
                <a:lnTo>
                  <a:pt x="1915" y="4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62" name="Freeform 146">
            <a:extLst>
              <a:ext uri="{FF2B5EF4-FFF2-40B4-BE49-F238E27FC236}">
                <a16:creationId xmlns:a16="http://schemas.microsoft.com/office/drawing/2014/main" id="{DF296A4B-0179-E513-2FB1-6A5B68C529D2}"/>
              </a:ext>
            </a:extLst>
          </p:cNvPr>
          <p:cNvSpPr>
            <a:spLocks/>
          </p:cNvSpPr>
          <p:nvPr/>
        </p:nvSpPr>
        <p:spPr bwMode="auto">
          <a:xfrm>
            <a:off x="3856038" y="3076575"/>
            <a:ext cx="942975" cy="633413"/>
          </a:xfrm>
          <a:custGeom>
            <a:avLst/>
            <a:gdLst>
              <a:gd name="T0" fmla="*/ 1861 w 2007"/>
              <a:gd name="T1" fmla="*/ 456 h 1440"/>
              <a:gd name="T2" fmla="*/ 1803 w 2007"/>
              <a:gd name="T3" fmla="*/ 421 h 1440"/>
              <a:gd name="T4" fmla="*/ 1775 w 2007"/>
              <a:gd name="T5" fmla="*/ 248 h 1440"/>
              <a:gd name="T6" fmla="*/ 1702 w 2007"/>
              <a:gd name="T7" fmla="*/ 122 h 1440"/>
              <a:gd name="T8" fmla="*/ 1633 w 2007"/>
              <a:gd name="T9" fmla="*/ 66 h 1440"/>
              <a:gd name="T10" fmla="*/ 1555 w 2007"/>
              <a:gd name="T11" fmla="*/ 39 h 1440"/>
              <a:gd name="T12" fmla="*/ 1458 w 2007"/>
              <a:gd name="T13" fmla="*/ 49 h 1440"/>
              <a:gd name="T14" fmla="*/ 1378 w 2007"/>
              <a:gd name="T15" fmla="*/ 99 h 1440"/>
              <a:gd name="T16" fmla="*/ 1277 w 2007"/>
              <a:gd name="T17" fmla="*/ 71 h 1440"/>
              <a:gd name="T18" fmla="*/ 1123 w 2007"/>
              <a:gd name="T19" fmla="*/ 14 h 1440"/>
              <a:gd name="T20" fmla="*/ 1031 w 2007"/>
              <a:gd name="T21" fmla="*/ 1 h 1440"/>
              <a:gd name="T22" fmla="*/ 868 w 2007"/>
              <a:gd name="T23" fmla="*/ 13 h 1440"/>
              <a:gd name="T24" fmla="*/ 694 w 2007"/>
              <a:gd name="T25" fmla="*/ 91 h 1440"/>
              <a:gd name="T26" fmla="*/ 594 w 2007"/>
              <a:gd name="T27" fmla="*/ 69 h 1440"/>
              <a:gd name="T28" fmla="*/ 529 w 2007"/>
              <a:gd name="T29" fmla="*/ 43 h 1440"/>
              <a:gd name="T30" fmla="*/ 426 w 2007"/>
              <a:gd name="T31" fmla="*/ 44 h 1440"/>
              <a:gd name="T32" fmla="*/ 329 w 2007"/>
              <a:gd name="T33" fmla="*/ 99 h 1440"/>
              <a:gd name="T34" fmla="*/ 252 w 2007"/>
              <a:gd name="T35" fmla="*/ 207 h 1440"/>
              <a:gd name="T36" fmla="*/ 214 w 2007"/>
              <a:gd name="T37" fmla="*/ 342 h 1440"/>
              <a:gd name="T38" fmla="*/ 209 w 2007"/>
              <a:gd name="T39" fmla="*/ 425 h 1440"/>
              <a:gd name="T40" fmla="*/ 111 w 2007"/>
              <a:gd name="T41" fmla="*/ 480 h 1440"/>
              <a:gd name="T42" fmla="*/ 35 w 2007"/>
              <a:gd name="T43" fmla="*/ 572 h 1440"/>
              <a:gd name="T44" fmla="*/ 1 w 2007"/>
              <a:gd name="T45" fmla="*/ 687 h 1440"/>
              <a:gd name="T46" fmla="*/ 12 w 2007"/>
              <a:gd name="T47" fmla="*/ 810 h 1440"/>
              <a:gd name="T48" fmla="*/ 69 w 2007"/>
              <a:gd name="T49" fmla="*/ 915 h 1440"/>
              <a:gd name="T50" fmla="*/ 156 w 2007"/>
              <a:gd name="T51" fmla="*/ 989 h 1440"/>
              <a:gd name="T52" fmla="*/ 210 w 2007"/>
              <a:gd name="T53" fmla="*/ 1077 h 1440"/>
              <a:gd name="T54" fmla="*/ 239 w 2007"/>
              <a:gd name="T55" fmla="*/ 1218 h 1440"/>
              <a:gd name="T56" fmla="*/ 300 w 2007"/>
              <a:gd name="T57" fmla="*/ 1325 h 1440"/>
              <a:gd name="T58" fmla="*/ 384 w 2007"/>
              <a:gd name="T59" fmla="*/ 1397 h 1440"/>
              <a:gd name="T60" fmla="*/ 483 w 2007"/>
              <a:gd name="T61" fmla="*/ 1422 h 1440"/>
              <a:gd name="T62" fmla="*/ 508 w 2007"/>
              <a:gd name="T63" fmla="*/ 1419 h 1440"/>
              <a:gd name="T64" fmla="*/ 581 w 2007"/>
              <a:gd name="T65" fmla="*/ 1397 h 1440"/>
              <a:gd name="T66" fmla="*/ 645 w 2007"/>
              <a:gd name="T67" fmla="*/ 1345 h 1440"/>
              <a:gd name="T68" fmla="*/ 711 w 2007"/>
              <a:gd name="T69" fmla="*/ 1352 h 1440"/>
              <a:gd name="T70" fmla="*/ 869 w 2007"/>
              <a:gd name="T71" fmla="*/ 1422 h 1440"/>
              <a:gd name="T72" fmla="*/ 983 w 2007"/>
              <a:gd name="T73" fmla="*/ 1440 h 1440"/>
              <a:gd name="T74" fmla="*/ 1125 w 2007"/>
              <a:gd name="T75" fmla="*/ 1424 h 1440"/>
              <a:gd name="T76" fmla="*/ 1236 w 2007"/>
              <a:gd name="T77" fmla="*/ 1388 h 1440"/>
              <a:gd name="T78" fmla="*/ 1348 w 2007"/>
              <a:gd name="T79" fmla="*/ 1325 h 1440"/>
              <a:gd name="T80" fmla="*/ 1431 w 2007"/>
              <a:gd name="T81" fmla="*/ 1397 h 1440"/>
              <a:gd name="T82" fmla="*/ 1529 w 2007"/>
              <a:gd name="T83" fmla="*/ 1422 h 1440"/>
              <a:gd name="T84" fmla="*/ 1595 w 2007"/>
              <a:gd name="T85" fmla="*/ 1410 h 1440"/>
              <a:gd name="T86" fmla="*/ 1624 w 2007"/>
              <a:gd name="T87" fmla="*/ 1395 h 1440"/>
              <a:gd name="T88" fmla="*/ 1641 w 2007"/>
              <a:gd name="T89" fmla="*/ 1386 h 1440"/>
              <a:gd name="T90" fmla="*/ 1680 w 2007"/>
              <a:gd name="T91" fmla="*/ 1357 h 1440"/>
              <a:gd name="T92" fmla="*/ 1727 w 2007"/>
              <a:gd name="T93" fmla="*/ 1301 h 1440"/>
              <a:gd name="T94" fmla="*/ 1757 w 2007"/>
              <a:gd name="T95" fmla="*/ 1249 h 1440"/>
              <a:gd name="T96" fmla="*/ 1782 w 2007"/>
              <a:gd name="T97" fmla="*/ 1185 h 1440"/>
              <a:gd name="T98" fmla="*/ 1797 w 2007"/>
              <a:gd name="T99" fmla="*/ 1115 h 1440"/>
              <a:gd name="T100" fmla="*/ 1803 w 2007"/>
              <a:gd name="T101" fmla="*/ 1013 h 1440"/>
              <a:gd name="T102" fmla="*/ 1864 w 2007"/>
              <a:gd name="T103" fmla="*/ 979 h 1440"/>
              <a:gd name="T104" fmla="*/ 1915 w 2007"/>
              <a:gd name="T105" fmla="*/ 939 h 1440"/>
              <a:gd name="T106" fmla="*/ 1984 w 2007"/>
              <a:gd name="T107" fmla="*/ 839 h 1440"/>
              <a:gd name="T108" fmla="*/ 2004 w 2007"/>
              <a:gd name="T109" fmla="*/ 741 h 1440"/>
              <a:gd name="T110" fmla="*/ 2001 w 2007"/>
              <a:gd name="T111" fmla="*/ 657 h 1440"/>
              <a:gd name="T112" fmla="*/ 1955 w 2007"/>
              <a:gd name="T113" fmla="*/ 547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07" h="1440">
                <a:moveTo>
                  <a:pt x="1915" y="499"/>
                </a:moveTo>
                <a:lnTo>
                  <a:pt x="1889" y="475"/>
                </a:lnTo>
                <a:lnTo>
                  <a:pt x="1875" y="464"/>
                </a:lnTo>
                <a:lnTo>
                  <a:pt x="1861" y="456"/>
                </a:lnTo>
                <a:lnTo>
                  <a:pt x="1833" y="439"/>
                </a:lnTo>
                <a:lnTo>
                  <a:pt x="1817" y="432"/>
                </a:lnTo>
                <a:lnTo>
                  <a:pt x="1803" y="427"/>
                </a:lnTo>
                <a:lnTo>
                  <a:pt x="1803" y="421"/>
                </a:lnTo>
                <a:lnTo>
                  <a:pt x="1800" y="365"/>
                </a:lnTo>
                <a:lnTo>
                  <a:pt x="1791" y="303"/>
                </a:lnTo>
                <a:lnTo>
                  <a:pt x="1783" y="275"/>
                </a:lnTo>
                <a:lnTo>
                  <a:pt x="1775" y="248"/>
                </a:lnTo>
                <a:lnTo>
                  <a:pt x="1764" y="222"/>
                </a:lnTo>
                <a:lnTo>
                  <a:pt x="1752" y="197"/>
                </a:lnTo>
                <a:lnTo>
                  <a:pt x="1723" y="150"/>
                </a:lnTo>
                <a:lnTo>
                  <a:pt x="1702" y="122"/>
                </a:lnTo>
                <a:lnTo>
                  <a:pt x="1680" y="99"/>
                </a:lnTo>
                <a:lnTo>
                  <a:pt x="1656" y="80"/>
                </a:lnTo>
                <a:lnTo>
                  <a:pt x="1644" y="72"/>
                </a:lnTo>
                <a:lnTo>
                  <a:pt x="1633" y="66"/>
                </a:lnTo>
                <a:lnTo>
                  <a:pt x="1608" y="53"/>
                </a:lnTo>
                <a:lnTo>
                  <a:pt x="1583" y="44"/>
                </a:lnTo>
                <a:lnTo>
                  <a:pt x="1569" y="41"/>
                </a:lnTo>
                <a:lnTo>
                  <a:pt x="1555" y="39"/>
                </a:lnTo>
                <a:lnTo>
                  <a:pt x="1529" y="38"/>
                </a:lnTo>
                <a:lnTo>
                  <a:pt x="1504" y="39"/>
                </a:lnTo>
                <a:lnTo>
                  <a:pt x="1481" y="43"/>
                </a:lnTo>
                <a:lnTo>
                  <a:pt x="1458" y="49"/>
                </a:lnTo>
                <a:lnTo>
                  <a:pt x="1438" y="59"/>
                </a:lnTo>
                <a:lnTo>
                  <a:pt x="1416" y="69"/>
                </a:lnTo>
                <a:lnTo>
                  <a:pt x="1397" y="84"/>
                </a:lnTo>
                <a:lnTo>
                  <a:pt x="1378" y="99"/>
                </a:lnTo>
                <a:lnTo>
                  <a:pt x="1360" y="120"/>
                </a:lnTo>
                <a:lnTo>
                  <a:pt x="1338" y="105"/>
                </a:lnTo>
                <a:lnTo>
                  <a:pt x="1318" y="93"/>
                </a:lnTo>
                <a:lnTo>
                  <a:pt x="1277" y="71"/>
                </a:lnTo>
                <a:lnTo>
                  <a:pt x="1234" y="50"/>
                </a:lnTo>
                <a:lnTo>
                  <a:pt x="1192" y="35"/>
                </a:lnTo>
                <a:lnTo>
                  <a:pt x="1146" y="20"/>
                </a:lnTo>
                <a:lnTo>
                  <a:pt x="1123" y="14"/>
                </a:lnTo>
                <a:lnTo>
                  <a:pt x="1102" y="11"/>
                </a:lnTo>
                <a:lnTo>
                  <a:pt x="1078" y="6"/>
                </a:lnTo>
                <a:lnTo>
                  <a:pt x="1055" y="3"/>
                </a:lnTo>
                <a:lnTo>
                  <a:pt x="1031" y="1"/>
                </a:lnTo>
                <a:lnTo>
                  <a:pt x="1008" y="1"/>
                </a:lnTo>
                <a:lnTo>
                  <a:pt x="960" y="0"/>
                </a:lnTo>
                <a:lnTo>
                  <a:pt x="913" y="5"/>
                </a:lnTo>
                <a:lnTo>
                  <a:pt x="868" y="13"/>
                </a:lnTo>
                <a:lnTo>
                  <a:pt x="823" y="27"/>
                </a:lnTo>
                <a:lnTo>
                  <a:pt x="779" y="44"/>
                </a:lnTo>
                <a:lnTo>
                  <a:pt x="736" y="66"/>
                </a:lnTo>
                <a:lnTo>
                  <a:pt x="694" y="91"/>
                </a:lnTo>
                <a:lnTo>
                  <a:pt x="654" y="122"/>
                </a:lnTo>
                <a:lnTo>
                  <a:pt x="634" y="102"/>
                </a:lnTo>
                <a:lnTo>
                  <a:pt x="615" y="85"/>
                </a:lnTo>
                <a:lnTo>
                  <a:pt x="594" y="69"/>
                </a:lnTo>
                <a:lnTo>
                  <a:pt x="574" y="59"/>
                </a:lnTo>
                <a:lnTo>
                  <a:pt x="562" y="53"/>
                </a:lnTo>
                <a:lnTo>
                  <a:pt x="551" y="49"/>
                </a:lnTo>
                <a:lnTo>
                  <a:pt x="529" y="43"/>
                </a:lnTo>
                <a:lnTo>
                  <a:pt x="505" y="39"/>
                </a:lnTo>
                <a:lnTo>
                  <a:pt x="483" y="38"/>
                </a:lnTo>
                <a:lnTo>
                  <a:pt x="454" y="39"/>
                </a:lnTo>
                <a:lnTo>
                  <a:pt x="426" y="44"/>
                </a:lnTo>
                <a:lnTo>
                  <a:pt x="400" y="53"/>
                </a:lnTo>
                <a:lnTo>
                  <a:pt x="376" y="66"/>
                </a:lnTo>
                <a:lnTo>
                  <a:pt x="352" y="80"/>
                </a:lnTo>
                <a:lnTo>
                  <a:pt x="329" y="99"/>
                </a:lnTo>
                <a:lnTo>
                  <a:pt x="307" y="122"/>
                </a:lnTo>
                <a:lnTo>
                  <a:pt x="288" y="150"/>
                </a:lnTo>
                <a:lnTo>
                  <a:pt x="268" y="177"/>
                </a:lnTo>
                <a:lnTo>
                  <a:pt x="252" y="207"/>
                </a:lnTo>
                <a:lnTo>
                  <a:pt x="239" y="239"/>
                </a:lnTo>
                <a:lnTo>
                  <a:pt x="228" y="272"/>
                </a:lnTo>
                <a:lnTo>
                  <a:pt x="220" y="306"/>
                </a:lnTo>
                <a:lnTo>
                  <a:pt x="214" y="342"/>
                </a:lnTo>
                <a:lnTo>
                  <a:pt x="210" y="378"/>
                </a:lnTo>
                <a:lnTo>
                  <a:pt x="209" y="417"/>
                </a:lnTo>
                <a:lnTo>
                  <a:pt x="209" y="421"/>
                </a:lnTo>
                <a:lnTo>
                  <a:pt x="209" y="425"/>
                </a:lnTo>
                <a:lnTo>
                  <a:pt x="177" y="438"/>
                </a:lnTo>
                <a:lnTo>
                  <a:pt x="154" y="449"/>
                </a:lnTo>
                <a:lnTo>
                  <a:pt x="132" y="464"/>
                </a:lnTo>
                <a:lnTo>
                  <a:pt x="111" y="480"/>
                </a:lnTo>
                <a:lnTo>
                  <a:pt x="91" y="499"/>
                </a:lnTo>
                <a:lnTo>
                  <a:pt x="69" y="522"/>
                </a:lnTo>
                <a:lnTo>
                  <a:pt x="51" y="547"/>
                </a:lnTo>
                <a:lnTo>
                  <a:pt x="35" y="572"/>
                </a:lnTo>
                <a:lnTo>
                  <a:pt x="23" y="600"/>
                </a:lnTo>
                <a:lnTo>
                  <a:pt x="12" y="627"/>
                </a:lnTo>
                <a:lnTo>
                  <a:pt x="5" y="657"/>
                </a:lnTo>
                <a:lnTo>
                  <a:pt x="1" y="687"/>
                </a:lnTo>
                <a:lnTo>
                  <a:pt x="0" y="720"/>
                </a:lnTo>
                <a:lnTo>
                  <a:pt x="1" y="750"/>
                </a:lnTo>
                <a:lnTo>
                  <a:pt x="5" y="781"/>
                </a:lnTo>
                <a:lnTo>
                  <a:pt x="12" y="810"/>
                </a:lnTo>
                <a:lnTo>
                  <a:pt x="23" y="839"/>
                </a:lnTo>
                <a:lnTo>
                  <a:pt x="35" y="865"/>
                </a:lnTo>
                <a:lnTo>
                  <a:pt x="51" y="891"/>
                </a:lnTo>
                <a:lnTo>
                  <a:pt x="69" y="915"/>
                </a:lnTo>
                <a:lnTo>
                  <a:pt x="91" y="939"/>
                </a:lnTo>
                <a:lnTo>
                  <a:pt x="112" y="957"/>
                </a:lnTo>
                <a:lnTo>
                  <a:pt x="133" y="974"/>
                </a:lnTo>
                <a:lnTo>
                  <a:pt x="156" y="989"/>
                </a:lnTo>
                <a:lnTo>
                  <a:pt x="180" y="1002"/>
                </a:lnTo>
                <a:lnTo>
                  <a:pt x="209" y="1014"/>
                </a:lnTo>
                <a:lnTo>
                  <a:pt x="209" y="1039"/>
                </a:lnTo>
                <a:lnTo>
                  <a:pt x="210" y="1077"/>
                </a:lnTo>
                <a:lnTo>
                  <a:pt x="214" y="1115"/>
                </a:lnTo>
                <a:lnTo>
                  <a:pt x="220" y="1151"/>
                </a:lnTo>
                <a:lnTo>
                  <a:pt x="228" y="1185"/>
                </a:lnTo>
                <a:lnTo>
                  <a:pt x="239" y="1218"/>
                </a:lnTo>
                <a:lnTo>
                  <a:pt x="252" y="1249"/>
                </a:lnTo>
                <a:lnTo>
                  <a:pt x="268" y="1279"/>
                </a:lnTo>
                <a:lnTo>
                  <a:pt x="288" y="1309"/>
                </a:lnTo>
                <a:lnTo>
                  <a:pt x="300" y="1325"/>
                </a:lnTo>
                <a:lnTo>
                  <a:pt x="319" y="1346"/>
                </a:lnTo>
                <a:lnTo>
                  <a:pt x="340" y="1367"/>
                </a:lnTo>
                <a:lnTo>
                  <a:pt x="361" y="1382"/>
                </a:lnTo>
                <a:lnTo>
                  <a:pt x="384" y="1397"/>
                </a:lnTo>
                <a:lnTo>
                  <a:pt x="407" y="1406"/>
                </a:lnTo>
                <a:lnTo>
                  <a:pt x="431" y="1415"/>
                </a:lnTo>
                <a:lnTo>
                  <a:pt x="456" y="1419"/>
                </a:lnTo>
                <a:lnTo>
                  <a:pt x="483" y="1422"/>
                </a:lnTo>
                <a:lnTo>
                  <a:pt x="495" y="1421"/>
                </a:lnTo>
                <a:lnTo>
                  <a:pt x="497" y="1419"/>
                </a:lnTo>
                <a:lnTo>
                  <a:pt x="501" y="1419"/>
                </a:lnTo>
                <a:lnTo>
                  <a:pt x="508" y="1419"/>
                </a:lnTo>
                <a:lnTo>
                  <a:pt x="520" y="1417"/>
                </a:lnTo>
                <a:lnTo>
                  <a:pt x="533" y="1415"/>
                </a:lnTo>
                <a:lnTo>
                  <a:pt x="557" y="1406"/>
                </a:lnTo>
                <a:lnTo>
                  <a:pt x="581" y="1397"/>
                </a:lnTo>
                <a:lnTo>
                  <a:pt x="603" y="1382"/>
                </a:lnTo>
                <a:lnTo>
                  <a:pt x="624" y="1365"/>
                </a:lnTo>
                <a:lnTo>
                  <a:pt x="634" y="1355"/>
                </a:lnTo>
                <a:lnTo>
                  <a:pt x="645" y="1345"/>
                </a:lnTo>
                <a:lnTo>
                  <a:pt x="654" y="1334"/>
                </a:lnTo>
                <a:lnTo>
                  <a:pt x="659" y="1328"/>
                </a:lnTo>
                <a:lnTo>
                  <a:pt x="665" y="1323"/>
                </a:lnTo>
                <a:lnTo>
                  <a:pt x="711" y="1352"/>
                </a:lnTo>
                <a:lnTo>
                  <a:pt x="756" y="1377"/>
                </a:lnTo>
                <a:lnTo>
                  <a:pt x="802" y="1399"/>
                </a:lnTo>
                <a:lnTo>
                  <a:pt x="847" y="1416"/>
                </a:lnTo>
                <a:lnTo>
                  <a:pt x="869" y="1422"/>
                </a:lnTo>
                <a:lnTo>
                  <a:pt x="880" y="1424"/>
                </a:lnTo>
                <a:lnTo>
                  <a:pt x="892" y="1428"/>
                </a:lnTo>
                <a:lnTo>
                  <a:pt x="937" y="1436"/>
                </a:lnTo>
                <a:lnTo>
                  <a:pt x="983" y="1440"/>
                </a:lnTo>
                <a:lnTo>
                  <a:pt x="1029" y="1440"/>
                </a:lnTo>
                <a:lnTo>
                  <a:pt x="1072" y="1434"/>
                </a:lnTo>
                <a:lnTo>
                  <a:pt x="1115" y="1428"/>
                </a:lnTo>
                <a:lnTo>
                  <a:pt x="1125" y="1424"/>
                </a:lnTo>
                <a:lnTo>
                  <a:pt x="1135" y="1422"/>
                </a:lnTo>
                <a:lnTo>
                  <a:pt x="1157" y="1417"/>
                </a:lnTo>
                <a:lnTo>
                  <a:pt x="1198" y="1405"/>
                </a:lnTo>
                <a:lnTo>
                  <a:pt x="1236" y="1388"/>
                </a:lnTo>
                <a:lnTo>
                  <a:pt x="1275" y="1370"/>
                </a:lnTo>
                <a:lnTo>
                  <a:pt x="1293" y="1358"/>
                </a:lnTo>
                <a:lnTo>
                  <a:pt x="1312" y="1347"/>
                </a:lnTo>
                <a:lnTo>
                  <a:pt x="1348" y="1325"/>
                </a:lnTo>
                <a:lnTo>
                  <a:pt x="1367" y="1346"/>
                </a:lnTo>
                <a:lnTo>
                  <a:pt x="1387" y="1367"/>
                </a:lnTo>
                <a:lnTo>
                  <a:pt x="1408" y="1382"/>
                </a:lnTo>
                <a:lnTo>
                  <a:pt x="1431" y="1397"/>
                </a:lnTo>
                <a:lnTo>
                  <a:pt x="1453" y="1406"/>
                </a:lnTo>
                <a:lnTo>
                  <a:pt x="1477" y="1415"/>
                </a:lnTo>
                <a:lnTo>
                  <a:pt x="1503" y="1419"/>
                </a:lnTo>
                <a:lnTo>
                  <a:pt x="1529" y="1422"/>
                </a:lnTo>
                <a:lnTo>
                  <a:pt x="1555" y="1419"/>
                </a:lnTo>
                <a:lnTo>
                  <a:pt x="1569" y="1417"/>
                </a:lnTo>
                <a:lnTo>
                  <a:pt x="1583" y="1415"/>
                </a:lnTo>
                <a:lnTo>
                  <a:pt x="1595" y="1410"/>
                </a:lnTo>
                <a:lnTo>
                  <a:pt x="1608" y="1405"/>
                </a:lnTo>
                <a:lnTo>
                  <a:pt x="1620" y="1399"/>
                </a:lnTo>
                <a:lnTo>
                  <a:pt x="1623" y="1397"/>
                </a:lnTo>
                <a:lnTo>
                  <a:pt x="1624" y="1395"/>
                </a:lnTo>
                <a:lnTo>
                  <a:pt x="1626" y="1395"/>
                </a:lnTo>
                <a:lnTo>
                  <a:pt x="1633" y="1393"/>
                </a:lnTo>
                <a:lnTo>
                  <a:pt x="1638" y="1388"/>
                </a:lnTo>
                <a:lnTo>
                  <a:pt x="1641" y="1386"/>
                </a:lnTo>
                <a:lnTo>
                  <a:pt x="1642" y="1385"/>
                </a:lnTo>
                <a:lnTo>
                  <a:pt x="1644" y="1385"/>
                </a:lnTo>
                <a:lnTo>
                  <a:pt x="1656" y="1376"/>
                </a:lnTo>
                <a:lnTo>
                  <a:pt x="1680" y="1357"/>
                </a:lnTo>
                <a:lnTo>
                  <a:pt x="1702" y="1334"/>
                </a:lnTo>
                <a:lnTo>
                  <a:pt x="1723" y="1309"/>
                </a:lnTo>
                <a:lnTo>
                  <a:pt x="1725" y="1304"/>
                </a:lnTo>
                <a:lnTo>
                  <a:pt x="1727" y="1301"/>
                </a:lnTo>
                <a:lnTo>
                  <a:pt x="1732" y="1293"/>
                </a:lnTo>
                <a:lnTo>
                  <a:pt x="1741" y="1279"/>
                </a:lnTo>
                <a:lnTo>
                  <a:pt x="1749" y="1263"/>
                </a:lnTo>
                <a:lnTo>
                  <a:pt x="1757" y="1249"/>
                </a:lnTo>
                <a:lnTo>
                  <a:pt x="1770" y="1218"/>
                </a:lnTo>
                <a:lnTo>
                  <a:pt x="1776" y="1201"/>
                </a:lnTo>
                <a:lnTo>
                  <a:pt x="1779" y="1193"/>
                </a:lnTo>
                <a:lnTo>
                  <a:pt x="1782" y="1185"/>
                </a:lnTo>
                <a:lnTo>
                  <a:pt x="1783" y="1176"/>
                </a:lnTo>
                <a:lnTo>
                  <a:pt x="1786" y="1167"/>
                </a:lnTo>
                <a:lnTo>
                  <a:pt x="1791" y="1151"/>
                </a:lnTo>
                <a:lnTo>
                  <a:pt x="1797" y="1115"/>
                </a:lnTo>
                <a:lnTo>
                  <a:pt x="1798" y="1095"/>
                </a:lnTo>
                <a:lnTo>
                  <a:pt x="1800" y="1077"/>
                </a:lnTo>
                <a:lnTo>
                  <a:pt x="1803" y="1039"/>
                </a:lnTo>
                <a:lnTo>
                  <a:pt x="1803" y="1013"/>
                </a:lnTo>
                <a:lnTo>
                  <a:pt x="1817" y="1005"/>
                </a:lnTo>
                <a:lnTo>
                  <a:pt x="1833" y="998"/>
                </a:lnTo>
                <a:lnTo>
                  <a:pt x="1861" y="983"/>
                </a:lnTo>
                <a:lnTo>
                  <a:pt x="1864" y="979"/>
                </a:lnTo>
                <a:lnTo>
                  <a:pt x="1867" y="977"/>
                </a:lnTo>
                <a:lnTo>
                  <a:pt x="1875" y="972"/>
                </a:lnTo>
                <a:lnTo>
                  <a:pt x="1889" y="962"/>
                </a:lnTo>
                <a:lnTo>
                  <a:pt x="1915" y="939"/>
                </a:lnTo>
                <a:lnTo>
                  <a:pt x="1936" y="915"/>
                </a:lnTo>
                <a:lnTo>
                  <a:pt x="1955" y="891"/>
                </a:lnTo>
                <a:lnTo>
                  <a:pt x="1971" y="865"/>
                </a:lnTo>
                <a:lnTo>
                  <a:pt x="1984" y="839"/>
                </a:lnTo>
                <a:lnTo>
                  <a:pt x="1992" y="810"/>
                </a:lnTo>
                <a:lnTo>
                  <a:pt x="2001" y="781"/>
                </a:lnTo>
                <a:lnTo>
                  <a:pt x="2004" y="750"/>
                </a:lnTo>
                <a:lnTo>
                  <a:pt x="2004" y="741"/>
                </a:lnTo>
                <a:lnTo>
                  <a:pt x="2005" y="734"/>
                </a:lnTo>
                <a:lnTo>
                  <a:pt x="2007" y="720"/>
                </a:lnTo>
                <a:lnTo>
                  <a:pt x="2004" y="687"/>
                </a:lnTo>
                <a:lnTo>
                  <a:pt x="2001" y="657"/>
                </a:lnTo>
                <a:lnTo>
                  <a:pt x="1992" y="627"/>
                </a:lnTo>
                <a:lnTo>
                  <a:pt x="1984" y="600"/>
                </a:lnTo>
                <a:lnTo>
                  <a:pt x="1971" y="572"/>
                </a:lnTo>
                <a:lnTo>
                  <a:pt x="1955" y="547"/>
                </a:lnTo>
                <a:lnTo>
                  <a:pt x="1936" y="522"/>
                </a:lnTo>
                <a:lnTo>
                  <a:pt x="1915" y="4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63" name="Rectangle 147">
            <a:extLst>
              <a:ext uri="{FF2B5EF4-FFF2-40B4-BE49-F238E27FC236}">
                <a16:creationId xmlns:a16="http://schemas.microsoft.com/office/drawing/2014/main" id="{BA315D08-9842-DB44-37B4-84C8272141F9}"/>
              </a:ext>
            </a:extLst>
          </p:cNvPr>
          <p:cNvSpPr>
            <a:spLocks noChangeArrowheads="1"/>
          </p:cNvSpPr>
          <p:nvPr/>
        </p:nvSpPr>
        <p:spPr bwMode="auto">
          <a:xfrm>
            <a:off x="5519738" y="1574800"/>
            <a:ext cx="39211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Array</a:t>
            </a:r>
            <a:endParaRPr lang="en-US" altLang="zh-CN" sz="1600">
              <a:solidFill>
                <a:schemeClr val="tx1"/>
              </a:solidFill>
              <a:ea typeface="宋体" panose="02010600030101010101" pitchFamily="2" charset="-122"/>
            </a:endParaRPr>
          </a:p>
        </p:txBody>
      </p:sp>
      <p:sp>
        <p:nvSpPr>
          <p:cNvPr id="137364" name="Rectangle 148">
            <a:extLst>
              <a:ext uri="{FF2B5EF4-FFF2-40B4-BE49-F238E27FC236}">
                <a16:creationId xmlns:a16="http://schemas.microsoft.com/office/drawing/2014/main" id="{97DD15AE-BEDE-AD19-8403-9579D05D53FA}"/>
              </a:ext>
            </a:extLst>
          </p:cNvPr>
          <p:cNvSpPr>
            <a:spLocks noChangeArrowheads="1"/>
          </p:cNvSpPr>
          <p:nvPr/>
        </p:nvSpPr>
        <p:spPr bwMode="auto">
          <a:xfrm>
            <a:off x="6016625" y="2894013"/>
            <a:ext cx="6111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Volumes</a:t>
            </a:r>
            <a:endParaRPr lang="en-US" altLang="zh-CN" sz="1600">
              <a:solidFill>
                <a:schemeClr val="tx1"/>
              </a:solidFill>
              <a:ea typeface="宋体" panose="02010600030101010101" pitchFamily="2" charset="-122"/>
            </a:endParaRPr>
          </a:p>
        </p:txBody>
      </p:sp>
      <p:sp>
        <p:nvSpPr>
          <p:cNvPr id="137365" name="Rectangle 149">
            <a:extLst>
              <a:ext uri="{FF2B5EF4-FFF2-40B4-BE49-F238E27FC236}">
                <a16:creationId xmlns:a16="http://schemas.microsoft.com/office/drawing/2014/main" id="{4F319F41-B9CB-82C6-7A24-55A3741E37ED}"/>
              </a:ext>
            </a:extLst>
          </p:cNvPr>
          <p:cNvSpPr>
            <a:spLocks noChangeArrowheads="1"/>
          </p:cNvSpPr>
          <p:nvPr/>
        </p:nvSpPr>
        <p:spPr bwMode="auto">
          <a:xfrm>
            <a:off x="5519738" y="3338513"/>
            <a:ext cx="39211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Array</a:t>
            </a:r>
            <a:endParaRPr lang="en-US" altLang="zh-CN" sz="1600">
              <a:solidFill>
                <a:schemeClr val="tx1"/>
              </a:solidFill>
              <a:ea typeface="宋体" panose="02010600030101010101" pitchFamily="2" charset="-122"/>
            </a:endParaRPr>
          </a:p>
        </p:txBody>
      </p:sp>
      <p:sp>
        <p:nvSpPr>
          <p:cNvPr id="137366" name="Rectangle 150">
            <a:extLst>
              <a:ext uri="{FF2B5EF4-FFF2-40B4-BE49-F238E27FC236}">
                <a16:creationId xmlns:a16="http://schemas.microsoft.com/office/drawing/2014/main" id="{082B9996-75AE-5429-089A-E2DDD8AF0730}"/>
              </a:ext>
            </a:extLst>
          </p:cNvPr>
          <p:cNvSpPr>
            <a:spLocks noChangeArrowheads="1"/>
          </p:cNvSpPr>
          <p:nvPr/>
        </p:nvSpPr>
        <p:spPr bwMode="auto">
          <a:xfrm>
            <a:off x="6016625" y="4657725"/>
            <a:ext cx="6111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Volumes</a:t>
            </a:r>
            <a:endParaRPr lang="en-US" altLang="zh-CN" sz="1600">
              <a:solidFill>
                <a:schemeClr val="tx1"/>
              </a:solidFill>
              <a:ea typeface="宋体" panose="02010600030101010101" pitchFamily="2" charset="-122"/>
            </a:endParaRPr>
          </a:p>
        </p:txBody>
      </p:sp>
      <p:grpSp>
        <p:nvGrpSpPr>
          <p:cNvPr id="137510" name="Group 294">
            <a:extLst>
              <a:ext uri="{FF2B5EF4-FFF2-40B4-BE49-F238E27FC236}">
                <a16:creationId xmlns:a16="http://schemas.microsoft.com/office/drawing/2014/main" id="{382447E3-0FED-0A38-24F7-E6E41BB1CD3E}"/>
              </a:ext>
            </a:extLst>
          </p:cNvPr>
          <p:cNvGrpSpPr>
            <a:grpSpLocks/>
          </p:cNvGrpSpPr>
          <p:nvPr/>
        </p:nvGrpSpPr>
        <p:grpSpPr bwMode="auto">
          <a:xfrm>
            <a:off x="6443663" y="5046663"/>
            <a:ext cx="788987" cy="914400"/>
            <a:chOff x="3958" y="3001"/>
            <a:chExt cx="497" cy="576"/>
          </a:xfrm>
        </p:grpSpPr>
        <p:sp>
          <p:nvSpPr>
            <p:cNvPr id="137281" name="Freeform 65">
              <a:extLst>
                <a:ext uri="{FF2B5EF4-FFF2-40B4-BE49-F238E27FC236}">
                  <a16:creationId xmlns:a16="http://schemas.microsoft.com/office/drawing/2014/main" id="{484935A0-E99C-5FEE-B1B8-DD6193452267}"/>
                </a:ext>
              </a:extLst>
            </p:cNvPr>
            <p:cNvSpPr>
              <a:spLocks/>
            </p:cNvSpPr>
            <p:nvPr/>
          </p:nvSpPr>
          <p:spPr bwMode="auto">
            <a:xfrm>
              <a:off x="3958" y="3268"/>
              <a:ext cx="497" cy="309"/>
            </a:xfrm>
            <a:custGeom>
              <a:avLst/>
              <a:gdLst>
                <a:gd name="T0" fmla="*/ 1680 w 1680"/>
                <a:gd name="T1" fmla="*/ 969 h 1113"/>
                <a:gd name="T2" fmla="*/ 1679 w 1680"/>
                <a:gd name="T3" fmla="*/ 986 h 1113"/>
                <a:gd name="T4" fmla="*/ 1678 w 1680"/>
                <a:gd name="T5" fmla="*/ 1003 h 1113"/>
                <a:gd name="T6" fmla="*/ 1674 w 1680"/>
                <a:gd name="T7" fmla="*/ 1017 h 1113"/>
                <a:gd name="T8" fmla="*/ 1671 w 1680"/>
                <a:gd name="T9" fmla="*/ 1032 h 1113"/>
                <a:gd name="T10" fmla="*/ 1665 w 1680"/>
                <a:gd name="T11" fmla="*/ 1044 h 1113"/>
                <a:gd name="T12" fmla="*/ 1659 w 1680"/>
                <a:gd name="T13" fmla="*/ 1056 h 1113"/>
                <a:gd name="T14" fmla="*/ 1651 w 1680"/>
                <a:gd name="T15" fmla="*/ 1066 h 1113"/>
                <a:gd name="T16" fmla="*/ 1644 w 1680"/>
                <a:gd name="T17" fmla="*/ 1077 h 1113"/>
                <a:gd name="T18" fmla="*/ 1633 w 1680"/>
                <a:gd name="T19" fmla="*/ 1084 h 1113"/>
                <a:gd name="T20" fmla="*/ 1623 w 1680"/>
                <a:gd name="T21" fmla="*/ 1092 h 1113"/>
                <a:gd name="T22" fmla="*/ 1611 w 1680"/>
                <a:gd name="T23" fmla="*/ 1098 h 1113"/>
                <a:gd name="T24" fmla="*/ 1599 w 1680"/>
                <a:gd name="T25" fmla="*/ 1104 h 1113"/>
                <a:gd name="T26" fmla="*/ 1584 w 1680"/>
                <a:gd name="T27" fmla="*/ 1107 h 1113"/>
                <a:gd name="T28" fmla="*/ 1570 w 1680"/>
                <a:gd name="T29" fmla="*/ 1111 h 1113"/>
                <a:gd name="T30" fmla="*/ 1553 w 1680"/>
                <a:gd name="T31" fmla="*/ 1112 h 1113"/>
                <a:gd name="T32" fmla="*/ 1536 w 1680"/>
                <a:gd name="T33" fmla="*/ 1113 h 1113"/>
                <a:gd name="T34" fmla="*/ 144 w 1680"/>
                <a:gd name="T35" fmla="*/ 1113 h 1113"/>
                <a:gd name="T36" fmla="*/ 125 w 1680"/>
                <a:gd name="T37" fmla="*/ 1112 h 1113"/>
                <a:gd name="T38" fmla="*/ 108 w 1680"/>
                <a:gd name="T39" fmla="*/ 1111 h 1113"/>
                <a:gd name="T40" fmla="*/ 93 w 1680"/>
                <a:gd name="T41" fmla="*/ 1107 h 1113"/>
                <a:gd name="T42" fmla="*/ 79 w 1680"/>
                <a:gd name="T43" fmla="*/ 1104 h 1113"/>
                <a:gd name="T44" fmla="*/ 59 w 1680"/>
                <a:gd name="T45" fmla="*/ 1095 h 1113"/>
                <a:gd name="T46" fmla="*/ 43 w 1680"/>
                <a:gd name="T47" fmla="*/ 1084 h 1113"/>
                <a:gd name="T48" fmla="*/ 30 w 1680"/>
                <a:gd name="T49" fmla="*/ 1071 h 1113"/>
                <a:gd name="T50" fmla="*/ 19 w 1680"/>
                <a:gd name="T51" fmla="*/ 1056 h 1113"/>
                <a:gd name="T52" fmla="*/ 11 w 1680"/>
                <a:gd name="T53" fmla="*/ 1038 h 1113"/>
                <a:gd name="T54" fmla="*/ 5 w 1680"/>
                <a:gd name="T55" fmla="*/ 1017 h 1113"/>
                <a:gd name="T56" fmla="*/ 1 w 1680"/>
                <a:gd name="T57" fmla="*/ 994 h 1113"/>
                <a:gd name="T58" fmla="*/ 0 w 1680"/>
                <a:gd name="T59" fmla="*/ 969 h 1113"/>
                <a:gd name="T60" fmla="*/ 0 w 1680"/>
                <a:gd name="T61" fmla="*/ 144 h 1113"/>
                <a:gd name="T62" fmla="*/ 1 w 1680"/>
                <a:gd name="T63" fmla="*/ 109 h 1113"/>
                <a:gd name="T64" fmla="*/ 4 w 1680"/>
                <a:gd name="T65" fmla="*/ 93 h 1113"/>
                <a:gd name="T66" fmla="*/ 9 w 1680"/>
                <a:gd name="T67" fmla="*/ 80 h 1113"/>
                <a:gd name="T68" fmla="*/ 19 w 1680"/>
                <a:gd name="T69" fmla="*/ 55 h 1113"/>
                <a:gd name="T70" fmla="*/ 27 w 1680"/>
                <a:gd name="T71" fmla="*/ 44 h 1113"/>
                <a:gd name="T72" fmla="*/ 36 w 1680"/>
                <a:gd name="T73" fmla="*/ 36 h 1113"/>
                <a:gd name="T74" fmla="*/ 45 w 1680"/>
                <a:gd name="T75" fmla="*/ 26 h 1113"/>
                <a:gd name="T76" fmla="*/ 55 w 1680"/>
                <a:gd name="T77" fmla="*/ 19 h 1113"/>
                <a:gd name="T78" fmla="*/ 81 w 1680"/>
                <a:gd name="T79" fmla="*/ 8 h 1113"/>
                <a:gd name="T80" fmla="*/ 94 w 1680"/>
                <a:gd name="T81" fmla="*/ 3 h 1113"/>
                <a:gd name="T82" fmla="*/ 109 w 1680"/>
                <a:gd name="T83" fmla="*/ 1 h 1113"/>
                <a:gd name="T84" fmla="*/ 144 w 1680"/>
                <a:gd name="T85" fmla="*/ 0 h 1113"/>
                <a:gd name="T86" fmla="*/ 1175 w 1680"/>
                <a:gd name="T87" fmla="*/ 0 h 1113"/>
                <a:gd name="T88" fmla="*/ 1536 w 1680"/>
                <a:gd name="T89" fmla="*/ 0 h 1113"/>
                <a:gd name="T90" fmla="*/ 1569 w 1680"/>
                <a:gd name="T91" fmla="*/ 1 h 1113"/>
                <a:gd name="T92" fmla="*/ 1583 w 1680"/>
                <a:gd name="T93" fmla="*/ 3 h 1113"/>
                <a:gd name="T94" fmla="*/ 1597 w 1680"/>
                <a:gd name="T95" fmla="*/ 8 h 1113"/>
                <a:gd name="T96" fmla="*/ 1609 w 1680"/>
                <a:gd name="T97" fmla="*/ 12 h 1113"/>
                <a:gd name="T98" fmla="*/ 1621 w 1680"/>
                <a:gd name="T99" fmla="*/ 18 h 1113"/>
                <a:gd name="T100" fmla="*/ 1632 w 1680"/>
                <a:gd name="T101" fmla="*/ 25 h 1113"/>
                <a:gd name="T102" fmla="*/ 1643 w 1680"/>
                <a:gd name="T103" fmla="*/ 34 h 1113"/>
                <a:gd name="T104" fmla="*/ 1650 w 1680"/>
                <a:gd name="T105" fmla="*/ 43 h 1113"/>
                <a:gd name="T106" fmla="*/ 1657 w 1680"/>
                <a:gd name="T107" fmla="*/ 54 h 1113"/>
                <a:gd name="T108" fmla="*/ 1663 w 1680"/>
                <a:gd name="T109" fmla="*/ 64 h 1113"/>
                <a:gd name="T110" fmla="*/ 1669 w 1680"/>
                <a:gd name="T111" fmla="*/ 78 h 1113"/>
                <a:gd name="T112" fmla="*/ 1673 w 1680"/>
                <a:gd name="T113" fmla="*/ 91 h 1113"/>
                <a:gd name="T114" fmla="*/ 1677 w 1680"/>
                <a:gd name="T115" fmla="*/ 106 h 1113"/>
                <a:gd name="T116" fmla="*/ 1678 w 1680"/>
                <a:gd name="T117" fmla="*/ 122 h 1113"/>
                <a:gd name="T118" fmla="*/ 1680 w 1680"/>
                <a:gd name="T119" fmla="*/ 140 h 1113"/>
                <a:gd name="T120" fmla="*/ 1680 w 1680"/>
                <a:gd name="T121" fmla="*/ 966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80" h="1113">
                  <a:moveTo>
                    <a:pt x="1680" y="969"/>
                  </a:moveTo>
                  <a:lnTo>
                    <a:pt x="1679" y="986"/>
                  </a:lnTo>
                  <a:lnTo>
                    <a:pt x="1678" y="1003"/>
                  </a:lnTo>
                  <a:lnTo>
                    <a:pt x="1674" y="1017"/>
                  </a:lnTo>
                  <a:lnTo>
                    <a:pt x="1671" y="1032"/>
                  </a:lnTo>
                  <a:lnTo>
                    <a:pt x="1665" y="1044"/>
                  </a:lnTo>
                  <a:lnTo>
                    <a:pt x="1659" y="1056"/>
                  </a:lnTo>
                  <a:lnTo>
                    <a:pt x="1651" y="1066"/>
                  </a:lnTo>
                  <a:lnTo>
                    <a:pt x="1644" y="1077"/>
                  </a:lnTo>
                  <a:lnTo>
                    <a:pt x="1633" y="1084"/>
                  </a:lnTo>
                  <a:lnTo>
                    <a:pt x="1623" y="1092"/>
                  </a:lnTo>
                  <a:lnTo>
                    <a:pt x="1611" y="1098"/>
                  </a:lnTo>
                  <a:lnTo>
                    <a:pt x="1599" y="1104"/>
                  </a:lnTo>
                  <a:lnTo>
                    <a:pt x="1584" y="1107"/>
                  </a:lnTo>
                  <a:lnTo>
                    <a:pt x="1570" y="1111"/>
                  </a:lnTo>
                  <a:lnTo>
                    <a:pt x="1553" y="1112"/>
                  </a:lnTo>
                  <a:lnTo>
                    <a:pt x="1536" y="1113"/>
                  </a:lnTo>
                  <a:lnTo>
                    <a:pt x="144" y="1113"/>
                  </a:lnTo>
                  <a:lnTo>
                    <a:pt x="125" y="1112"/>
                  </a:lnTo>
                  <a:lnTo>
                    <a:pt x="108" y="1111"/>
                  </a:lnTo>
                  <a:lnTo>
                    <a:pt x="93" y="1107"/>
                  </a:lnTo>
                  <a:lnTo>
                    <a:pt x="79" y="1104"/>
                  </a:lnTo>
                  <a:lnTo>
                    <a:pt x="59" y="1095"/>
                  </a:lnTo>
                  <a:lnTo>
                    <a:pt x="43" y="1084"/>
                  </a:lnTo>
                  <a:lnTo>
                    <a:pt x="30" y="1071"/>
                  </a:lnTo>
                  <a:lnTo>
                    <a:pt x="19" y="1056"/>
                  </a:lnTo>
                  <a:lnTo>
                    <a:pt x="11" y="1038"/>
                  </a:lnTo>
                  <a:lnTo>
                    <a:pt x="5" y="1017"/>
                  </a:lnTo>
                  <a:lnTo>
                    <a:pt x="1" y="994"/>
                  </a:lnTo>
                  <a:lnTo>
                    <a:pt x="0" y="969"/>
                  </a:lnTo>
                  <a:lnTo>
                    <a:pt x="0" y="144"/>
                  </a:lnTo>
                  <a:lnTo>
                    <a:pt x="1" y="109"/>
                  </a:lnTo>
                  <a:lnTo>
                    <a:pt x="4" y="93"/>
                  </a:lnTo>
                  <a:lnTo>
                    <a:pt x="9" y="80"/>
                  </a:lnTo>
                  <a:lnTo>
                    <a:pt x="19" y="55"/>
                  </a:lnTo>
                  <a:lnTo>
                    <a:pt x="27" y="44"/>
                  </a:lnTo>
                  <a:lnTo>
                    <a:pt x="36" y="36"/>
                  </a:lnTo>
                  <a:lnTo>
                    <a:pt x="45" y="26"/>
                  </a:lnTo>
                  <a:lnTo>
                    <a:pt x="55" y="19"/>
                  </a:lnTo>
                  <a:lnTo>
                    <a:pt x="81" y="8"/>
                  </a:lnTo>
                  <a:lnTo>
                    <a:pt x="94" y="3"/>
                  </a:lnTo>
                  <a:lnTo>
                    <a:pt x="109" y="1"/>
                  </a:lnTo>
                  <a:lnTo>
                    <a:pt x="144" y="0"/>
                  </a:lnTo>
                  <a:lnTo>
                    <a:pt x="1175" y="0"/>
                  </a:lnTo>
                  <a:lnTo>
                    <a:pt x="1536" y="0"/>
                  </a:lnTo>
                  <a:lnTo>
                    <a:pt x="1569" y="1"/>
                  </a:lnTo>
                  <a:lnTo>
                    <a:pt x="1583" y="3"/>
                  </a:lnTo>
                  <a:lnTo>
                    <a:pt x="1597" y="8"/>
                  </a:lnTo>
                  <a:lnTo>
                    <a:pt x="1609" y="12"/>
                  </a:lnTo>
                  <a:lnTo>
                    <a:pt x="1621" y="18"/>
                  </a:lnTo>
                  <a:lnTo>
                    <a:pt x="1632" y="25"/>
                  </a:lnTo>
                  <a:lnTo>
                    <a:pt x="1643" y="34"/>
                  </a:lnTo>
                  <a:lnTo>
                    <a:pt x="1650" y="43"/>
                  </a:lnTo>
                  <a:lnTo>
                    <a:pt x="1657" y="54"/>
                  </a:lnTo>
                  <a:lnTo>
                    <a:pt x="1663" y="64"/>
                  </a:lnTo>
                  <a:lnTo>
                    <a:pt x="1669" y="78"/>
                  </a:lnTo>
                  <a:lnTo>
                    <a:pt x="1673" y="91"/>
                  </a:lnTo>
                  <a:lnTo>
                    <a:pt x="1677" y="106"/>
                  </a:lnTo>
                  <a:lnTo>
                    <a:pt x="1678" y="122"/>
                  </a:lnTo>
                  <a:lnTo>
                    <a:pt x="1680" y="140"/>
                  </a:lnTo>
                  <a:lnTo>
                    <a:pt x="1680" y="966"/>
                  </a:lnTo>
                </a:path>
              </a:pathLst>
            </a:custGeom>
            <a:solidFill>
              <a:srgbClr val="CCFFCC"/>
            </a:solidFill>
            <a:ln w="25400" cap="flat" cmpd="sng">
              <a:solidFill>
                <a:srgbClr val="33333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nvGrpSpPr>
            <p:cNvPr id="137368" name="Group 152">
              <a:extLst>
                <a:ext uri="{FF2B5EF4-FFF2-40B4-BE49-F238E27FC236}">
                  <a16:creationId xmlns:a16="http://schemas.microsoft.com/office/drawing/2014/main" id="{24682DFA-34AB-4334-8FE2-7F6306C35E62}"/>
                </a:ext>
              </a:extLst>
            </p:cNvPr>
            <p:cNvGrpSpPr>
              <a:grpSpLocks/>
            </p:cNvGrpSpPr>
            <p:nvPr/>
          </p:nvGrpSpPr>
          <p:grpSpPr bwMode="auto">
            <a:xfrm>
              <a:off x="3994" y="3286"/>
              <a:ext cx="377" cy="236"/>
              <a:chOff x="4089" y="3076"/>
              <a:chExt cx="424" cy="284"/>
            </a:xfrm>
          </p:grpSpPr>
          <p:sp>
            <p:nvSpPr>
              <p:cNvPr id="137369" name="Freeform 153">
                <a:extLst>
                  <a:ext uri="{FF2B5EF4-FFF2-40B4-BE49-F238E27FC236}">
                    <a16:creationId xmlns:a16="http://schemas.microsoft.com/office/drawing/2014/main" id="{DBBA8839-12AB-7670-B7C8-3BC6145C6B83}"/>
                  </a:ext>
                </a:extLst>
              </p:cNvPr>
              <p:cNvSpPr>
                <a:spLocks/>
              </p:cNvSpPr>
              <p:nvPr/>
            </p:nvSpPr>
            <p:spPr bwMode="auto">
              <a:xfrm>
                <a:off x="4089" y="3125"/>
                <a:ext cx="83" cy="83"/>
              </a:xfrm>
              <a:custGeom>
                <a:avLst/>
                <a:gdLst>
                  <a:gd name="T0" fmla="*/ 19 w 247"/>
                  <a:gd name="T1" fmla="*/ 58 h 248"/>
                  <a:gd name="T2" fmla="*/ 4 w 247"/>
                  <a:gd name="T3" fmla="*/ 92 h 248"/>
                  <a:gd name="T4" fmla="*/ 0 w 247"/>
                  <a:gd name="T5" fmla="*/ 121 h 248"/>
                  <a:gd name="T6" fmla="*/ 4 w 247"/>
                  <a:gd name="T7" fmla="*/ 159 h 248"/>
                  <a:gd name="T8" fmla="*/ 21 w 247"/>
                  <a:gd name="T9" fmla="*/ 195 h 248"/>
                  <a:gd name="T10" fmla="*/ 42 w 247"/>
                  <a:gd name="T11" fmla="*/ 219 h 248"/>
                  <a:gd name="T12" fmla="*/ 78 w 247"/>
                  <a:gd name="T13" fmla="*/ 241 h 248"/>
                  <a:gd name="T14" fmla="*/ 108 w 247"/>
                  <a:gd name="T15" fmla="*/ 247 h 248"/>
                  <a:gd name="T16" fmla="*/ 160 w 247"/>
                  <a:gd name="T17" fmla="*/ 242 h 248"/>
                  <a:gd name="T18" fmla="*/ 197 w 247"/>
                  <a:gd name="T19" fmla="*/ 223 h 248"/>
                  <a:gd name="T20" fmla="*/ 219 w 247"/>
                  <a:gd name="T21" fmla="*/ 200 h 248"/>
                  <a:gd name="T22" fmla="*/ 233 w 247"/>
                  <a:gd name="T23" fmla="*/ 177 h 248"/>
                  <a:gd name="T24" fmla="*/ 244 w 247"/>
                  <a:gd name="T25" fmla="*/ 108 h 248"/>
                  <a:gd name="T26" fmla="*/ 229 w 247"/>
                  <a:gd name="T27" fmla="*/ 69 h 248"/>
                  <a:gd name="T28" fmla="*/ 245 w 247"/>
                  <a:gd name="T29" fmla="*/ 52 h 248"/>
                  <a:gd name="T30" fmla="*/ 232 w 247"/>
                  <a:gd name="T31" fmla="*/ 51 h 248"/>
                  <a:gd name="T32" fmla="*/ 220 w 247"/>
                  <a:gd name="T33" fmla="*/ 43 h 248"/>
                  <a:gd name="T34" fmla="*/ 203 w 247"/>
                  <a:gd name="T35" fmla="*/ 24 h 248"/>
                  <a:gd name="T36" fmla="*/ 199 w 247"/>
                  <a:gd name="T37" fmla="*/ 10 h 248"/>
                  <a:gd name="T38" fmla="*/ 169 w 247"/>
                  <a:gd name="T39" fmla="*/ 33 h 248"/>
                  <a:gd name="T40" fmla="*/ 165 w 247"/>
                  <a:gd name="T41" fmla="*/ 43 h 248"/>
                  <a:gd name="T42" fmla="*/ 165 w 247"/>
                  <a:gd name="T43" fmla="*/ 54 h 248"/>
                  <a:gd name="T44" fmla="*/ 168 w 247"/>
                  <a:gd name="T45" fmla="*/ 63 h 248"/>
                  <a:gd name="T46" fmla="*/ 185 w 247"/>
                  <a:gd name="T47" fmla="*/ 81 h 248"/>
                  <a:gd name="T48" fmla="*/ 196 w 247"/>
                  <a:gd name="T49" fmla="*/ 87 h 248"/>
                  <a:gd name="T50" fmla="*/ 171 w 247"/>
                  <a:gd name="T51" fmla="*/ 80 h 248"/>
                  <a:gd name="T52" fmla="*/ 156 w 247"/>
                  <a:gd name="T53" fmla="*/ 67 h 248"/>
                  <a:gd name="T54" fmla="*/ 149 w 247"/>
                  <a:gd name="T55" fmla="*/ 51 h 248"/>
                  <a:gd name="T56" fmla="*/ 150 w 247"/>
                  <a:gd name="T57" fmla="*/ 36 h 248"/>
                  <a:gd name="T58" fmla="*/ 157 w 247"/>
                  <a:gd name="T59" fmla="*/ 24 h 248"/>
                  <a:gd name="T60" fmla="*/ 165 w 247"/>
                  <a:gd name="T61" fmla="*/ 12 h 248"/>
                  <a:gd name="T62" fmla="*/ 121 w 247"/>
                  <a:gd name="T63" fmla="*/ 3 h 248"/>
                  <a:gd name="T64" fmla="*/ 90 w 247"/>
                  <a:gd name="T65" fmla="*/ 8 h 248"/>
                  <a:gd name="T66" fmla="*/ 51 w 247"/>
                  <a:gd name="T67" fmla="*/ 2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7" h="248">
                    <a:moveTo>
                      <a:pt x="36" y="38"/>
                    </a:moveTo>
                    <a:lnTo>
                      <a:pt x="19" y="58"/>
                    </a:lnTo>
                    <a:lnTo>
                      <a:pt x="11" y="74"/>
                    </a:lnTo>
                    <a:lnTo>
                      <a:pt x="4" y="92"/>
                    </a:lnTo>
                    <a:lnTo>
                      <a:pt x="1" y="102"/>
                    </a:lnTo>
                    <a:lnTo>
                      <a:pt x="0" y="121"/>
                    </a:lnTo>
                    <a:lnTo>
                      <a:pt x="0" y="140"/>
                    </a:lnTo>
                    <a:lnTo>
                      <a:pt x="4" y="159"/>
                    </a:lnTo>
                    <a:lnTo>
                      <a:pt x="11" y="178"/>
                    </a:lnTo>
                    <a:lnTo>
                      <a:pt x="21" y="195"/>
                    </a:lnTo>
                    <a:lnTo>
                      <a:pt x="34" y="211"/>
                    </a:lnTo>
                    <a:lnTo>
                      <a:pt x="42" y="219"/>
                    </a:lnTo>
                    <a:lnTo>
                      <a:pt x="57" y="230"/>
                    </a:lnTo>
                    <a:lnTo>
                      <a:pt x="78" y="241"/>
                    </a:lnTo>
                    <a:lnTo>
                      <a:pt x="95" y="246"/>
                    </a:lnTo>
                    <a:lnTo>
                      <a:pt x="108" y="247"/>
                    </a:lnTo>
                    <a:lnTo>
                      <a:pt x="125" y="248"/>
                    </a:lnTo>
                    <a:lnTo>
                      <a:pt x="160" y="242"/>
                    </a:lnTo>
                    <a:lnTo>
                      <a:pt x="177" y="236"/>
                    </a:lnTo>
                    <a:lnTo>
                      <a:pt x="197" y="223"/>
                    </a:lnTo>
                    <a:lnTo>
                      <a:pt x="207" y="214"/>
                    </a:lnTo>
                    <a:lnTo>
                      <a:pt x="219" y="200"/>
                    </a:lnTo>
                    <a:lnTo>
                      <a:pt x="225" y="193"/>
                    </a:lnTo>
                    <a:lnTo>
                      <a:pt x="233" y="177"/>
                    </a:lnTo>
                    <a:lnTo>
                      <a:pt x="244" y="142"/>
                    </a:lnTo>
                    <a:lnTo>
                      <a:pt x="244" y="108"/>
                    </a:lnTo>
                    <a:lnTo>
                      <a:pt x="235" y="81"/>
                    </a:lnTo>
                    <a:lnTo>
                      <a:pt x="229" y="69"/>
                    </a:lnTo>
                    <a:lnTo>
                      <a:pt x="247" y="51"/>
                    </a:lnTo>
                    <a:lnTo>
                      <a:pt x="245" y="52"/>
                    </a:lnTo>
                    <a:lnTo>
                      <a:pt x="240" y="52"/>
                    </a:lnTo>
                    <a:lnTo>
                      <a:pt x="232" y="51"/>
                    </a:lnTo>
                    <a:lnTo>
                      <a:pt x="223" y="46"/>
                    </a:lnTo>
                    <a:lnTo>
                      <a:pt x="220" y="43"/>
                    </a:lnTo>
                    <a:lnTo>
                      <a:pt x="210" y="33"/>
                    </a:lnTo>
                    <a:lnTo>
                      <a:pt x="203" y="24"/>
                    </a:lnTo>
                    <a:lnTo>
                      <a:pt x="199" y="14"/>
                    </a:lnTo>
                    <a:lnTo>
                      <a:pt x="199" y="10"/>
                    </a:lnTo>
                    <a:lnTo>
                      <a:pt x="199" y="0"/>
                    </a:lnTo>
                    <a:lnTo>
                      <a:pt x="169" y="33"/>
                    </a:lnTo>
                    <a:lnTo>
                      <a:pt x="167" y="38"/>
                    </a:lnTo>
                    <a:lnTo>
                      <a:pt x="165" y="43"/>
                    </a:lnTo>
                    <a:lnTo>
                      <a:pt x="165" y="49"/>
                    </a:lnTo>
                    <a:lnTo>
                      <a:pt x="165" y="54"/>
                    </a:lnTo>
                    <a:lnTo>
                      <a:pt x="166" y="58"/>
                    </a:lnTo>
                    <a:lnTo>
                      <a:pt x="168" y="63"/>
                    </a:lnTo>
                    <a:lnTo>
                      <a:pt x="174" y="72"/>
                    </a:lnTo>
                    <a:lnTo>
                      <a:pt x="185" y="81"/>
                    </a:lnTo>
                    <a:lnTo>
                      <a:pt x="195" y="87"/>
                    </a:lnTo>
                    <a:lnTo>
                      <a:pt x="196" y="87"/>
                    </a:lnTo>
                    <a:lnTo>
                      <a:pt x="174" y="81"/>
                    </a:lnTo>
                    <a:lnTo>
                      <a:pt x="171" y="80"/>
                    </a:lnTo>
                    <a:lnTo>
                      <a:pt x="162" y="74"/>
                    </a:lnTo>
                    <a:lnTo>
                      <a:pt x="156" y="67"/>
                    </a:lnTo>
                    <a:lnTo>
                      <a:pt x="151" y="58"/>
                    </a:lnTo>
                    <a:lnTo>
                      <a:pt x="149" y="51"/>
                    </a:lnTo>
                    <a:lnTo>
                      <a:pt x="149" y="43"/>
                    </a:lnTo>
                    <a:lnTo>
                      <a:pt x="150" y="36"/>
                    </a:lnTo>
                    <a:lnTo>
                      <a:pt x="154" y="30"/>
                    </a:lnTo>
                    <a:lnTo>
                      <a:pt x="157" y="24"/>
                    </a:lnTo>
                    <a:lnTo>
                      <a:pt x="169" y="13"/>
                    </a:lnTo>
                    <a:lnTo>
                      <a:pt x="165" y="12"/>
                    </a:lnTo>
                    <a:lnTo>
                      <a:pt x="148" y="6"/>
                    </a:lnTo>
                    <a:lnTo>
                      <a:pt x="121" y="3"/>
                    </a:lnTo>
                    <a:lnTo>
                      <a:pt x="103" y="6"/>
                    </a:lnTo>
                    <a:lnTo>
                      <a:pt x="90" y="8"/>
                    </a:lnTo>
                    <a:lnTo>
                      <a:pt x="66" y="16"/>
                    </a:lnTo>
                    <a:lnTo>
                      <a:pt x="51" y="26"/>
                    </a:lnTo>
                    <a:lnTo>
                      <a:pt x="36"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70" name="Freeform 154">
                <a:extLst>
                  <a:ext uri="{FF2B5EF4-FFF2-40B4-BE49-F238E27FC236}">
                    <a16:creationId xmlns:a16="http://schemas.microsoft.com/office/drawing/2014/main" id="{A8129DB7-CD44-1131-DD9A-6A51A4340CB4}"/>
                  </a:ext>
                </a:extLst>
              </p:cNvPr>
              <p:cNvSpPr>
                <a:spLocks/>
              </p:cNvSpPr>
              <p:nvPr/>
            </p:nvSpPr>
            <p:spPr bwMode="auto">
              <a:xfrm>
                <a:off x="4189" y="3088"/>
                <a:ext cx="26" cy="26"/>
              </a:xfrm>
              <a:custGeom>
                <a:avLst/>
                <a:gdLst>
                  <a:gd name="T0" fmla="*/ 76 w 78"/>
                  <a:gd name="T1" fmla="*/ 16 h 78"/>
                  <a:gd name="T2" fmla="*/ 77 w 78"/>
                  <a:gd name="T3" fmla="*/ 12 h 78"/>
                  <a:gd name="T4" fmla="*/ 78 w 78"/>
                  <a:gd name="T5" fmla="*/ 8 h 78"/>
                  <a:gd name="T6" fmla="*/ 77 w 78"/>
                  <a:gd name="T7" fmla="*/ 5 h 78"/>
                  <a:gd name="T8" fmla="*/ 76 w 78"/>
                  <a:gd name="T9" fmla="*/ 2 h 78"/>
                  <a:gd name="T10" fmla="*/ 73 w 78"/>
                  <a:gd name="T11" fmla="*/ 0 h 78"/>
                  <a:gd name="T12" fmla="*/ 71 w 78"/>
                  <a:gd name="T13" fmla="*/ 0 h 78"/>
                  <a:gd name="T14" fmla="*/ 67 w 78"/>
                  <a:gd name="T15" fmla="*/ 0 h 78"/>
                  <a:gd name="T16" fmla="*/ 66 w 78"/>
                  <a:gd name="T17" fmla="*/ 0 h 78"/>
                  <a:gd name="T18" fmla="*/ 64 w 78"/>
                  <a:gd name="T19" fmla="*/ 2 h 78"/>
                  <a:gd name="T20" fmla="*/ 2 w 78"/>
                  <a:gd name="T21" fmla="*/ 64 h 78"/>
                  <a:gd name="T22" fmla="*/ 1 w 78"/>
                  <a:gd name="T23" fmla="*/ 66 h 78"/>
                  <a:gd name="T24" fmla="*/ 0 w 78"/>
                  <a:gd name="T25" fmla="*/ 68 h 78"/>
                  <a:gd name="T26" fmla="*/ 1 w 78"/>
                  <a:gd name="T27" fmla="*/ 73 h 78"/>
                  <a:gd name="T28" fmla="*/ 2 w 78"/>
                  <a:gd name="T29" fmla="*/ 76 h 78"/>
                  <a:gd name="T30" fmla="*/ 5 w 78"/>
                  <a:gd name="T31" fmla="*/ 77 h 78"/>
                  <a:gd name="T32" fmla="*/ 6 w 78"/>
                  <a:gd name="T33" fmla="*/ 77 h 78"/>
                  <a:gd name="T34" fmla="*/ 10 w 78"/>
                  <a:gd name="T35" fmla="*/ 78 h 78"/>
                  <a:gd name="T36" fmla="*/ 11 w 78"/>
                  <a:gd name="T37" fmla="*/ 78 h 78"/>
                  <a:gd name="T38" fmla="*/ 13 w 78"/>
                  <a:gd name="T39" fmla="*/ 77 h 78"/>
                  <a:gd name="T40" fmla="*/ 16 w 78"/>
                  <a:gd name="T41" fmla="*/ 74 h 78"/>
                  <a:gd name="T42" fmla="*/ 76 w 78"/>
                  <a:gd name="T43" fmla="*/ 1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78">
                    <a:moveTo>
                      <a:pt x="76" y="16"/>
                    </a:moveTo>
                    <a:lnTo>
                      <a:pt x="77" y="12"/>
                    </a:lnTo>
                    <a:lnTo>
                      <a:pt x="78" y="8"/>
                    </a:lnTo>
                    <a:lnTo>
                      <a:pt x="77" y="5"/>
                    </a:lnTo>
                    <a:lnTo>
                      <a:pt x="76" y="2"/>
                    </a:lnTo>
                    <a:lnTo>
                      <a:pt x="73" y="0"/>
                    </a:lnTo>
                    <a:lnTo>
                      <a:pt x="71" y="0"/>
                    </a:lnTo>
                    <a:lnTo>
                      <a:pt x="67" y="0"/>
                    </a:lnTo>
                    <a:lnTo>
                      <a:pt x="66" y="0"/>
                    </a:lnTo>
                    <a:lnTo>
                      <a:pt x="64" y="2"/>
                    </a:lnTo>
                    <a:lnTo>
                      <a:pt x="2" y="64"/>
                    </a:lnTo>
                    <a:lnTo>
                      <a:pt x="1" y="66"/>
                    </a:lnTo>
                    <a:lnTo>
                      <a:pt x="0" y="68"/>
                    </a:lnTo>
                    <a:lnTo>
                      <a:pt x="1" y="73"/>
                    </a:lnTo>
                    <a:lnTo>
                      <a:pt x="2" y="76"/>
                    </a:lnTo>
                    <a:lnTo>
                      <a:pt x="5" y="77"/>
                    </a:lnTo>
                    <a:lnTo>
                      <a:pt x="6" y="77"/>
                    </a:lnTo>
                    <a:lnTo>
                      <a:pt x="10" y="78"/>
                    </a:lnTo>
                    <a:lnTo>
                      <a:pt x="11" y="78"/>
                    </a:lnTo>
                    <a:lnTo>
                      <a:pt x="13" y="77"/>
                    </a:lnTo>
                    <a:lnTo>
                      <a:pt x="16" y="74"/>
                    </a:lnTo>
                    <a:lnTo>
                      <a:pt x="76"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71" name="Freeform 155">
                <a:extLst>
                  <a:ext uri="{FF2B5EF4-FFF2-40B4-BE49-F238E27FC236}">
                    <a16:creationId xmlns:a16="http://schemas.microsoft.com/office/drawing/2014/main" id="{C4BC9DF4-AEB0-C08E-2CDC-A2760E0D2EB7}"/>
                  </a:ext>
                </a:extLst>
              </p:cNvPr>
              <p:cNvSpPr>
                <a:spLocks/>
              </p:cNvSpPr>
              <p:nvPr/>
            </p:nvSpPr>
            <p:spPr bwMode="auto">
              <a:xfrm>
                <a:off x="4174" y="3076"/>
                <a:ext cx="6" cy="34"/>
              </a:xfrm>
              <a:custGeom>
                <a:avLst/>
                <a:gdLst>
                  <a:gd name="T0" fmla="*/ 8 w 18"/>
                  <a:gd name="T1" fmla="*/ 0 h 102"/>
                  <a:gd name="T2" fmla="*/ 5 w 18"/>
                  <a:gd name="T3" fmla="*/ 0 h 102"/>
                  <a:gd name="T4" fmla="*/ 3 w 18"/>
                  <a:gd name="T5" fmla="*/ 3 h 102"/>
                  <a:gd name="T6" fmla="*/ 0 w 18"/>
                  <a:gd name="T7" fmla="*/ 8 h 102"/>
                  <a:gd name="T8" fmla="*/ 0 w 18"/>
                  <a:gd name="T9" fmla="*/ 94 h 102"/>
                  <a:gd name="T10" fmla="*/ 0 w 18"/>
                  <a:gd name="T11" fmla="*/ 98 h 102"/>
                  <a:gd name="T12" fmla="*/ 2 w 18"/>
                  <a:gd name="T13" fmla="*/ 99 h 102"/>
                  <a:gd name="T14" fmla="*/ 3 w 18"/>
                  <a:gd name="T15" fmla="*/ 100 h 102"/>
                  <a:gd name="T16" fmla="*/ 5 w 18"/>
                  <a:gd name="T17" fmla="*/ 102 h 102"/>
                  <a:gd name="T18" fmla="*/ 9 w 18"/>
                  <a:gd name="T19" fmla="*/ 102 h 102"/>
                  <a:gd name="T20" fmla="*/ 14 w 18"/>
                  <a:gd name="T21" fmla="*/ 101 h 102"/>
                  <a:gd name="T22" fmla="*/ 16 w 18"/>
                  <a:gd name="T23" fmla="*/ 99 h 102"/>
                  <a:gd name="T24" fmla="*/ 18 w 18"/>
                  <a:gd name="T25" fmla="*/ 94 h 102"/>
                  <a:gd name="T26" fmla="*/ 17 w 18"/>
                  <a:gd name="T27" fmla="*/ 9 h 102"/>
                  <a:gd name="T28" fmla="*/ 16 w 18"/>
                  <a:gd name="T29" fmla="*/ 5 h 102"/>
                  <a:gd name="T30" fmla="*/ 15 w 18"/>
                  <a:gd name="T31" fmla="*/ 3 h 102"/>
                  <a:gd name="T32" fmla="*/ 12 w 18"/>
                  <a:gd name="T33" fmla="*/ 0 h 102"/>
                  <a:gd name="T34" fmla="*/ 8 w 18"/>
                  <a:gd name="T3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102">
                    <a:moveTo>
                      <a:pt x="8" y="0"/>
                    </a:moveTo>
                    <a:lnTo>
                      <a:pt x="5" y="0"/>
                    </a:lnTo>
                    <a:lnTo>
                      <a:pt x="3" y="3"/>
                    </a:lnTo>
                    <a:lnTo>
                      <a:pt x="0" y="8"/>
                    </a:lnTo>
                    <a:lnTo>
                      <a:pt x="0" y="94"/>
                    </a:lnTo>
                    <a:lnTo>
                      <a:pt x="0" y="98"/>
                    </a:lnTo>
                    <a:lnTo>
                      <a:pt x="2" y="99"/>
                    </a:lnTo>
                    <a:lnTo>
                      <a:pt x="3" y="100"/>
                    </a:lnTo>
                    <a:lnTo>
                      <a:pt x="5" y="102"/>
                    </a:lnTo>
                    <a:lnTo>
                      <a:pt x="9" y="102"/>
                    </a:lnTo>
                    <a:lnTo>
                      <a:pt x="14" y="101"/>
                    </a:lnTo>
                    <a:lnTo>
                      <a:pt x="16" y="99"/>
                    </a:lnTo>
                    <a:lnTo>
                      <a:pt x="18" y="94"/>
                    </a:lnTo>
                    <a:lnTo>
                      <a:pt x="17" y="9"/>
                    </a:lnTo>
                    <a:lnTo>
                      <a:pt x="16" y="5"/>
                    </a:lnTo>
                    <a:lnTo>
                      <a:pt x="15" y="3"/>
                    </a:lnTo>
                    <a:lnTo>
                      <a:pt x="12" y="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72" name="Freeform 156">
                <a:extLst>
                  <a:ext uri="{FF2B5EF4-FFF2-40B4-BE49-F238E27FC236}">
                    <a16:creationId xmlns:a16="http://schemas.microsoft.com/office/drawing/2014/main" id="{3B2010B1-942A-938B-9889-8171392257FD}"/>
                  </a:ext>
                </a:extLst>
              </p:cNvPr>
              <p:cNvSpPr>
                <a:spLocks/>
              </p:cNvSpPr>
              <p:nvPr/>
            </p:nvSpPr>
            <p:spPr bwMode="auto">
              <a:xfrm>
                <a:off x="4159" y="3118"/>
                <a:ext cx="26" cy="20"/>
              </a:xfrm>
              <a:custGeom>
                <a:avLst/>
                <a:gdLst>
                  <a:gd name="T0" fmla="*/ 69 w 78"/>
                  <a:gd name="T1" fmla="*/ 0 h 61"/>
                  <a:gd name="T2" fmla="*/ 63 w 78"/>
                  <a:gd name="T3" fmla="*/ 6 h 61"/>
                  <a:gd name="T4" fmla="*/ 24 w 78"/>
                  <a:gd name="T5" fmla="*/ 39 h 61"/>
                  <a:gd name="T6" fmla="*/ 23 w 78"/>
                  <a:gd name="T7" fmla="*/ 39 h 61"/>
                  <a:gd name="T8" fmla="*/ 23 w 78"/>
                  <a:gd name="T9" fmla="*/ 40 h 61"/>
                  <a:gd name="T10" fmla="*/ 21 w 78"/>
                  <a:gd name="T11" fmla="*/ 39 h 61"/>
                  <a:gd name="T12" fmla="*/ 19 w 78"/>
                  <a:gd name="T13" fmla="*/ 36 h 61"/>
                  <a:gd name="T14" fmla="*/ 19 w 78"/>
                  <a:gd name="T15" fmla="*/ 34 h 61"/>
                  <a:gd name="T16" fmla="*/ 21 w 78"/>
                  <a:gd name="T17" fmla="*/ 33 h 61"/>
                  <a:gd name="T18" fmla="*/ 21 w 78"/>
                  <a:gd name="T19" fmla="*/ 31 h 61"/>
                  <a:gd name="T20" fmla="*/ 27 w 78"/>
                  <a:gd name="T21" fmla="*/ 24 h 61"/>
                  <a:gd name="T22" fmla="*/ 29 w 78"/>
                  <a:gd name="T23" fmla="*/ 22 h 61"/>
                  <a:gd name="T24" fmla="*/ 27 w 78"/>
                  <a:gd name="T25" fmla="*/ 19 h 61"/>
                  <a:gd name="T26" fmla="*/ 17 w 78"/>
                  <a:gd name="T27" fmla="*/ 13 h 61"/>
                  <a:gd name="T28" fmla="*/ 13 w 78"/>
                  <a:gd name="T29" fmla="*/ 12 h 61"/>
                  <a:gd name="T30" fmla="*/ 10 w 78"/>
                  <a:gd name="T31" fmla="*/ 11 h 61"/>
                  <a:gd name="T32" fmla="*/ 6 w 78"/>
                  <a:gd name="T33" fmla="*/ 11 h 61"/>
                  <a:gd name="T34" fmla="*/ 4 w 78"/>
                  <a:gd name="T35" fmla="*/ 13 h 61"/>
                  <a:gd name="T36" fmla="*/ 3 w 78"/>
                  <a:gd name="T37" fmla="*/ 15 h 61"/>
                  <a:gd name="T38" fmla="*/ 1 w 78"/>
                  <a:gd name="T39" fmla="*/ 17 h 61"/>
                  <a:gd name="T40" fmla="*/ 0 w 78"/>
                  <a:gd name="T41" fmla="*/ 21 h 61"/>
                  <a:gd name="T42" fmla="*/ 3 w 78"/>
                  <a:gd name="T43" fmla="*/ 31 h 61"/>
                  <a:gd name="T44" fmla="*/ 7 w 78"/>
                  <a:gd name="T45" fmla="*/ 41 h 61"/>
                  <a:gd name="T46" fmla="*/ 13 w 78"/>
                  <a:gd name="T47" fmla="*/ 47 h 61"/>
                  <a:gd name="T48" fmla="*/ 19 w 78"/>
                  <a:gd name="T49" fmla="*/ 54 h 61"/>
                  <a:gd name="T50" fmla="*/ 22 w 78"/>
                  <a:gd name="T51" fmla="*/ 55 h 61"/>
                  <a:gd name="T52" fmla="*/ 29 w 78"/>
                  <a:gd name="T53" fmla="*/ 59 h 61"/>
                  <a:gd name="T54" fmla="*/ 39 w 78"/>
                  <a:gd name="T55" fmla="*/ 61 h 61"/>
                  <a:gd name="T56" fmla="*/ 42 w 78"/>
                  <a:gd name="T57" fmla="*/ 60 h 61"/>
                  <a:gd name="T58" fmla="*/ 46 w 78"/>
                  <a:gd name="T59" fmla="*/ 59 h 61"/>
                  <a:gd name="T60" fmla="*/ 46 w 78"/>
                  <a:gd name="T61" fmla="*/ 58 h 61"/>
                  <a:gd name="T62" fmla="*/ 47 w 78"/>
                  <a:gd name="T63" fmla="*/ 57 h 61"/>
                  <a:gd name="T64" fmla="*/ 48 w 78"/>
                  <a:gd name="T65" fmla="*/ 54 h 61"/>
                  <a:gd name="T66" fmla="*/ 48 w 78"/>
                  <a:gd name="T67" fmla="*/ 49 h 61"/>
                  <a:gd name="T68" fmla="*/ 47 w 78"/>
                  <a:gd name="T69" fmla="*/ 42 h 61"/>
                  <a:gd name="T70" fmla="*/ 43 w 78"/>
                  <a:gd name="T71" fmla="*/ 35 h 61"/>
                  <a:gd name="T72" fmla="*/ 75 w 78"/>
                  <a:gd name="T73" fmla="*/ 10 h 61"/>
                  <a:gd name="T74" fmla="*/ 78 w 78"/>
                  <a:gd name="T75" fmla="*/ 9 h 61"/>
                  <a:gd name="T76" fmla="*/ 69 w 78"/>
                  <a:gd name="T7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8" h="61">
                    <a:moveTo>
                      <a:pt x="69" y="0"/>
                    </a:moveTo>
                    <a:lnTo>
                      <a:pt x="63" y="6"/>
                    </a:lnTo>
                    <a:lnTo>
                      <a:pt x="24" y="39"/>
                    </a:lnTo>
                    <a:lnTo>
                      <a:pt x="23" y="39"/>
                    </a:lnTo>
                    <a:lnTo>
                      <a:pt x="23" y="40"/>
                    </a:lnTo>
                    <a:lnTo>
                      <a:pt x="21" y="39"/>
                    </a:lnTo>
                    <a:lnTo>
                      <a:pt x="19" y="36"/>
                    </a:lnTo>
                    <a:lnTo>
                      <a:pt x="19" y="34"/>
                    </a:lnTo>
                    <a:lnTo>
                      <a:pt x="21" y="33"/>
                    </a:lnTo>
                    <a:lnTo>
                      <a:pt x="21" y="31"/>
                    </a:lnTo>
                    <a:lnTo>
                      <a:pt x="27" y="24"/>
                    </a:lnTo>
                    <a:lnTo>
                      <a:pt x="29" y="22"/>
                    </a:lnTo>
                    <a:lnTo>
                      <a:pt x="27" y="19"/>
                    </a:lnTo>
                    <a:lnTo>
                      <a:pt x="17" y="13"/>
                    </a:lnTo>
                    <a:lnTo>
                      <a:pt x="13" y="12"/>
                    </a:lnTo>
                    <a:lnTo>
                      <a:pt x="10" y="11"/>
                    </a:lnTo>
                    <a:lnTo>
                      <a:pt x="6" y="11"/>
                    </a:lnTo>
                    <a:lnTo>
                      <a:pt x="4" y="13"/>
                    </a:lnTo>
                    <a:lnTo>
                      <a:pt x="3" y="15"/>
                    </a:lnTo>
                    <a:lnTo>
                      <a:pt x="1" y="17"/>
                    </a:lnTo>
                    <a:lnTo>
                      <a:pt x="0" y="21"/>
                    </a:lnTo>
                    <a:lnTo>
                      <a:pt x="3" y="31"/>
                    </a:lnTo>
                    <a:lnTo>
                      <a:pt x="7" y="41"/>
                    </a:lnTo>
                    <a:lnTo>
                      <a:pt x="13" y="47"/>
                    </a:lnTo>
                    <a:lnTo>
                      <a:pt x="19" y="54"/>
                    </a:lnTo>
                    <a:lnTo>
                      <a:pt x="22" y="55"/>
                    </a:lnTo>
                    <a:lnTo>
                      <a:pt x="29" y="59"/>
                    </a:lnTo>
                    <a:lnTo>
                      <a:pt x="39" y="61"/>
                    </a:lnTo>
                    <a:lnTo>
                      <a:pt x="42" y="60"/>
                    </a:lnTo>
                    <a:lnTo>
                      <a:pt x="46" y="59"/>
                    </a:lnTo>
                    <a:lnTo>
                      <a:pt x="46" y="58"/>
                    </a:lnTo>
                    <a:lnTo>
                      <a:pt x="47" y="57"/>
                    </a:lnTo>
                    <a:lnTo>
                      <a:pt x="48" y="54"/>
                    </a:lnTo>
                    <a:lnTo>
                      <a:pt x="48" y="49"/>
                    </a:lnTo>
                    <a:lnTo>
                      <a:pt x="47" y="42"/>
                    </a:lnTo>
                    <a:lnTo>
                      <a:pt x="43" y="35"/>
                    </a:lnTo>
                    <a:lnTo>
                      <a:pt x="75" y="10"/>
                    </a:lnTo>
                    <a:lnTo>
                      <a:pt x="78" y="9"/>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73" name="Freeform 157">
                <a:extLst>
                  <a:ext uri="{FF2B5EF4-FFF2-40B4-BE49-F238E27FC236}">
                    <a16:creationId xmlns:a16="http://schemas.microsoft.com/office/drawing/2014/main" id="{84890FDE-9B5B-0A14-6D84-85243E27A131}"/>
                  </a:ext>
                </a:extLst>
              </p:cNvPr>
              <p:cNvSpPr>
                <a:spLocks/>
              </p:cNvSpPr>
              <p:nvPr/>
            </p:nvSpPr>
            <p:spPr bwMode="auto">
              <a:xfrm>
                <a:off x="4192" y="3122"/>
                <a:ext cx="34" cy="6"/>
              </a:xfrm>
              <a:custGeom>
                <a:avLst/>
                <a:gdLst>
                  <a:gd name="T0" fmla="*/ 0 w 102"/>
                  <a:gd name="T1" fmla="*/ 10 h 18"/>
                  <a:gd name="T2" fmla="*/ 0 w 102"/>
                  <a:gd name="T3" fmla="*/ 11 h 18"/>
                  <a:gd name="T4" fmla="*/ 3 w 102"/>
                  <a:gd name="T5" fmla="*/ 15 h 18"/>
                  <a:gd name="T6" fmla="*/ 3 w 102"/>
                  <a:gd name="T7" fmla="*/ 16 h 18"/>
                  <a:gd name="T8" fmla="*/ 5 w 102"/>
                  <a:gd name="T9" fmla="*/ 18 h 18"/>
                  <a:gd name="T10" fmla="*/ 8 w 102"/>
                  <a:gd name="T11" fmla="*/ 18 h 18"/>
                  <a:gd name="T12" fmla="*/ 96 w 102"/>
                  <a:gd name="T13" fmla="*/ 18 h 18"/>
                  <a:gd name="T14" fmla="*/ 96 w 102"/>
                  <a:gd name="T15" fmla="*/ 17 h 18"/>
                  <a:gd name="T16" fmla="*/ 100 w 102"/>
                  <a:gd name="T17" fmla="*/ 16 h 18"/>
                  <a:gd name="T18" fmla="*/ 102 w 102"/>
                  <a:gd name="T19" fmla="*/ 14 h 18"/>
                  <a:gd name="T20" fmla="*/ 102 w 102"/>
                  <a:gd name="T21" fmla="*/ 9 h 18"/>
                  <a:gd name="T22" fmla="*/ 102 w 102"/>
                  <a:gd name="T23" fmla="*/ 8 h 18"/>
                  <a:gd name="T24" fmla="*/ 100 w 102"/>
                  <a:gd name="T25" fmla="*/ 2 h 18"/>
                  <a:gd name="T26" fmla="*/ 95 w 102"/>
                  <a:gd name="T27" fmla="*/ 0 h 18"/>
                  <a:gd name="T28" fmla="*/ 8 w 102"/>
                  <a:gd name="T29" fmla="*/ 2 h 18"/>
                  <a:gd name="T30" fmla="*/ 5 w 102"/>
                  <a:gd name="T31" fmla="*/ 2 h 18"/>
                  <a:gd name="T32" fmla="*/ 3 w 102"/>
                  <a:gd name="T33" fmla="*/ 3 h 18"/>
                  <a:gd name="T34" fmla="*/ 3 w 102"/>
                  <a:gd name="T35" fmla="*/ 5 h 18"/>
                  <a:gd name="T36" fmla="*/ 2 w 102"/>
                  <a:gd name="T37" fmla="*/ 6 h 18"/>
                  <a:gd name="T38" fmla="*/ 0 w 102"/>
                  <a:gd name="T39"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18">
                    <a:moveTo>
                      <a:pt x="0" y="10"/>
                    </a:moveTo>
                    <a:lnTo>
                      <a:pt x="0" y="11"/>
                    </a:lnTo>
                    <a:lnTo>
                      <a:pt x="3" y="15"/>
                    </a:lnTo>
                    <a:lnTo>
                      <a:pt x="3" y="16"/>
                    </a:lnTo>
                    <a:lnTo>
                      <a:pt x="5" y="18"/>
                    </a:lnTo>
                    <a:lnTo>
                      <a:pt x="8" y="18"/>
                    </a:lnTo>
                    <a:lnTo>
                      <a:pt x="96" y="18"/>
                    </a:lnTo>
                    <a:lnTo>
                      <a:pt x="96" y="17"/>
                    </a:lnTo>
                    <a:lnTo>
                      <a:pt x="100" y="16"/>
                    </a:lnTo>
                    <a:lnTo>
                      <a:pt x="102" y="14"/>
                    </a:lnTo>
                    <a:lnTo>
                      <a:pt x="102" y="9"/>
                    </a:lnTo>
                    <a:lnTo>
                      <a:pt x="102" y="8"/>
                    </a:lnTo>
                    <a:lnTo>
                      <a:pt x="100" y="2"/>
                    </a:lnTo>
                    <a:lnTo>
                      <a:pt x="95" y="0"/>
                    </a:lnTo>
                    <a:lnTo>
                      <a:pt x="8" y="2"/>
                    </a:lnTo>
                    <a:lnTo>
                      <a:pt x="5" y="2"/>
                    </a:lnTo>
                    <a:lnTo>
                      <a:pt x="3" y="3"/>
                    </a:lnTo>
                    <a:lnTo>
                      <a:pt x="3" y="5"/>
                    </a:lnTo>
                    <a:lnTo>
                      <a:pt x="2" y="6"/>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374" name="Rectangle 158">
                <a:extLst>
                  <a:ext uri="{FF2B5EF4-FFF2-40B4-BE49-F238E27FC236}">
                    <a16:creationId xmlns:a16="http://schemas.microsoft.com/office/drawing/2014/main" id="{5CA5BD67-7F14-79BB-9E3F-463E77771DE5}"/>
                  </a:ext>
                </a:extLst>
              </p:cNvPr>
              <p:cNvSpPr>
                <a:spLocks noChangeArrowheads="1"/>
              </p:cNvSpPr>
              <p:nvPr/>
            </p:nvSpPr>
            <p:spPr bwMode="auto">
              <a:xfrm>
                <a:off x="4249" y="3113"/>
                <a:ext cx="26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Media</a:t>
                </a:r>
                <a:endParaRPr lang="en-US" altLang="zh-CN" sz="1600">
                  <a:solidFill>
                    <a:schemeClr val="tx1"/>
                  </a:solidFill>
                  <a:ea typeface="宋体" panose="02010600030101010101" pitchFamily="2" charset="-122"/>
                </a:endParaRPr>
              </a:p>
            </p:txBody>
          </p:sp>
          <p:sp>
            <p:nvSpPr>
              <p:cNvPr id="137375" name="Rectangle 159">
                <a:extLst>
                  <a:ext uri="{FF2B5EF4-FFF2-40B4-BE49-F238E27FC236}">
                    <a16:creationId xmlns:a16="http://schemas.microsoft.com/office/drawing/2014/main" id="{41822D25-36FF-4A85-3946-911756988975}"/>
                  </a:ext>
                </a:extLst>
              </p:cNvPr>
              <p:cNvSpPr>
                <a:spLocks noChangeArrowheads="1"/>
              </p:cNvSpPr>
              <p:nvPr/>
            </p:nvSpPr>
            <p:spPr bwMode="auto">
              <a:xfrm>
                <a:off x="4249" y="3245"/>
                <a:ext cx="21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theft</a:t>
                </a:r>
                <a:endParaRPr lang="en-US" altLang="zh-CN" sz="1600">
                  <a:solidFill>
                    <a:schemeClr val="tx1"/>
                  </a:solidFill>
                  <a:ea typeface="宋体" panose="02010600030101010101" pitchFamily="2" charset="-122"/>
                </a:endParaRPr>
              </a:p>
            </p:txBody>
          </p:sp>
        </p:grpSp>
        <p:sp>
          <p:nvSpPr>
            <p:cNvPr id="137376" name="Freeform 160">
              <a:extLst>
                <a:ext uri="{FF2B5EF4-FFF2-40B4-BE49-F238E27FC236}">
                  <a16:creationId xmlns:a16="http://schemas.microsoft.com/office/drawing/2014/main" id="{2E7840C9-8920-7225-2153-B41FEEA30D38}"/>
                </a:ext>
              </a:extLst>
            </p:cNvPr>
            <p:cNvSpPr>
              <a:spLocks/>
            </p:cNvSpPr>
            <p:nvPr/>
          </p:nvSpPr>
          <p:spPr bwMode="auto">
            <a:xfrm>
              <a:off x="4216" y="3001"/>
              <a:ext cx="158" cy="145"/>
            </a:xfrm>
            <a:custGeom>
              <a:avLst/>
              <a:gdLst>
                <a:gd name="T0" fmla="*/ 269 w 533"/>
                <a:gd name="T1" fmla="*/ 163 h 523"/>
                <a:gd name="T2" fmla="*/ 160 w 533"/>
                <a:gd name="T3" fmla="*/ 0 h 523"/>
                <a:gd name="T4" fmla="*/ 4 w 533"/>
                <a:gd name="T5" fmla="*/ 0 h 523"/>
                <a:gd name="T6" fmla="*/ 186 w 533"/>
                <a:gd name="T7" fmla="*/ 259 h 523"/>
                <a:gd name="T8" fmla="*/ 0 w 533"/>
                <a:gd name="T9" fmla="*/ 523 h 523"/>
                <a:gd name="T10" fmla="*/ 149 w 533"/>
                <a:gd name="T11" fmla="*/ 523 h 523"/>
                <a:gd name="T12" fmla="*/ 264 w 533"/>
                <a:gd name="T13" fmla="*/ 352 h 523"/>
                <a:gd name="T14" fmla="*/ 377 w 533"/>
                <a:gd name="T15" fmla="*/ 523 h 523"/>
                <a:gd name="T16" fmla="*/ 533 w 533"/>
                <a:gd name="T17" fmla="*/ 523 h 523"/>
                <a:gd name="T18" fmla="*/ 347 w 533"/>
                <a:gd name="T19" fmla="*/ 254 h 523"/>
                <a:gd name="T20" fmla="*/ 531 w 533"/>
                <a:gd name="T21" fmla="*/ 0 h 523"/>
                <a:gd name="T22" fmla="*/ 381 w 533"/>
                <a:gd name="T23" fmla="*/ 0 h 523"/>
                <a:gd name="T24" fmla="*/ 269 w 533"/>
                <a:gd name="T25" fmla="*/ 163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3" h="523">
                  <a:moveTo>
                    <a:pt x="269" y="163"/>
                  </a:moveTo>
                  <a:lnTo>
                    <a:pt x="160" y="0"/>
                  </a:lnTo>
                  <a:lnTo>
                    <a:pt x="4" y="0"/>
                  </a:lnTo>
                  <a:lnTo>
                    <a:pt x="186" y="259"/>
                  </a:lnTo>
                  <a:lnTo>
                    <a:pt x="0" y="523"/>
                  </a:lnTo>
                  <a:lnTo>
                    <a:pt x="149" y="523"/>
                  </a:lnTo>
                  <a:lnTo>
                    <a:pt x="264" y="352"/>
                  </a:lnTo>
                  <a:lnTo>
                    <a:pt x="377" y="523"/>
                  </a:lnTo>
                  <a:lnTo>
                    <a:pt x="533" y="523"/>
                  </a:lnTo>
                  <a:lnTo>
                    <a:pt x="347" y="254"/>
                  </a:lnTo>
                  <a:lnTo>
                    <a:pt x="531" y="0"/>
                  </a:lnTo>
                  <a:lnTo>
                    <a:pt x="381" y="0"/>
                  </a:lnTo>
                  <a:lnTo>
                    <a:pt x="269" y="1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pic>
        <p:nvPicPr>
          <p:cNvPr id="137391" name="Picture 175">
            <a:extLst>
              <a:ext uri="{FF2B5EF4-FFF2-40B4-BE49-F238E27FC236}">
                <a16:creationId xmlns:a16="http://schemas.microsoft.com/office/drawing/2014/main" id="{0833C7DE-A4B6-4B0C-0206-D244964C68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3675" y="1835150"/>
            <a:ext cx="573088" cy="912813"/>
          </a:xfrm>
          <a:prstGeom prst="rect">
            <a:avLst/>
          </a:prstGeom>
          <a:noFill/>
          <a:extLst>
            <a:ext uri="{909E8E84-426E-40DD-AFC4-6F175D3DCCD1}">
              <a14:hiddenFill xmlns:a14="http://schemas.microsoft.com/office/drawing/2010/main">
                <a:solidFill>
                  <a:srgbClr val="FFFFFF"/>
                </a:solidFill>
              </a14:hiddenFill>
            </a:ext>
          </a:extLst>
        </p:spPr>
      </p:pic>
      <p:pic>
        <p:nvPicPr>
          <p:cNvPr id="137392" name="Picture 176">
            <a:extLst>
              <a:ext uri="{FF2B5EF4-FFF2-40B4-BE49-F238E27FC236}">
                <a16:creationId xmlns:a16="http://schemas.microsoft.com/office/drawing/2014/main" id="{355C318E-74F5-3631-8598-D3FBF9FE16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963863"/>
            <a:ext cx="573088" cy="912812"/>
          </a:xfrm>
          <a:prstGeom prst="rect">
            <a:avLst/>
          </a:prstGeom>
          <a:noFill/>
          <a:extLst>
            <a:ext uri="{909E8E84-426E-40DD-AFC4-6F175D3DCCD1}">
              <a14:hiddenFill xmlns:a14="http://schemas.microsoft.com/office/drawing/2010/main">
                <a:solidFill>
                  <a:srgbClr val="FFFFFF"/>
                </a:solidFill>
              </a14:hiddenFill>
            </a:ext>
          </a:extLst>
        </p:spPr>
      </p:pic>
      <p:grpSp>
        <p:nvGrpSpPr>
          <p:cNvPr id="137394" name="Group 178">
            <a:extLst>
              <a:ext uri="{FF2B5EF4-FFF2-40B4-BE49-F238E27FC236}">
                <a16:creationId xmlns:a16="http://schemas.microsoft.com/office/drawing/2014/main" id="{A93C981B-17C3-1DA4-00DE-CC54E9DFE390}"/>
              </a:ext>
            </a:extLst>
          </p:cNvPr>
          <p:cNvGrpSpPr>
            <a:grpSpLocks/>
          </p:cNvGrpSpPr>
          <p:nvPr/>
        </p:nvGrpSpPr>
        <p:grpSpPr bwMode="auto">
          <a:xfrm>
            <a:off x="1287463" y="3078163"/>
            <a:ext cx="1006475" cy="608012"/>
            <a:chOff x="390" y="1242"/>
            <a:chExt cx="714" cy="461"/>
          </a:xfrm>
        </p:grpSpPr>
        <p:sp>
          <p:nvSpPr>
            <p:cNvPr id="137395" name="Freeform 179">
              <a:extLst>
                <a:ext uri="{FF2B5EF4-FFF2-40B4-BE49-F238E27FC236}">
                  <a16:creationId xmlns:a16="http://schemas.microsoft.com/office/drawing/2014/main" id="{F0D70C80-F8B0-9547-B3F2-AFFA4D054B06}"/>
                </a:ext>
              </a:extLst>
            </p:cNvPr>
            <p:cNvSpPr>
              <a:spLocks/>
            </p:cNvSpPr>
            <p:nvPr/>
          </p:nvSpPr>
          <p:spPr bwMode="auto">
            <a:xfrm>
              <a:off x="390" y="1242"/>
              <a:ext cx="714" cy="461"/>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37396" name="Rectangle 180">
              <a:extLst>
                <a:ext uri="{FF2B5EF4-FFF2-40B4-BE49-F238E27FC236}">
                  <a16:creationId xmlns:a16="http://schemas.microsoft.com/office/drawing/2014/main" id="{AE9A9971-3D0E-D091-13A6-1297969656BC}"/>
                </a:ext>
              </a:extLst>
            </p:cNvPr>
            <p:cNvSpPr>
              <a:spLocks noChangeArrowheads="1"/>
            </p:cNvSpPr>
            <p:nvPr/>
          </p:nvSpPr>
          <p:spPr bwMode="auto">
            <a:xfrm>
              <a:off x="656" y="1424"/>
              <a:ext cx="18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LAN</a:t>
              </a:r>
              <a:endParaRPr lang="en-US" altLang="zh-CN" sz="1600">
                <a:solidFill>
                  <a:schemeClr val="tx1"/>
                </a:solidFill>
                <a:ea typeface="宋体" panose="02010600030101010101" pitchFamily="2" charset="-122"/>
              </a:endParaRPr>
            </a:p>
          </p:txBody>
        </p:sp>
      </p:grpSp>
      <p:cxnSp>
        <p:nvCxnSpPr>
          <p:cNvPr id="137397" name="AutoShape 181">
            <a:extLst>
              <a:ext uri="{FF2B5EF4-FFF2-40B4-BE49-F238E27FC236}">
                <a16:creationId xmlns:a16="http://schemas.microsoft.com/office/drawing/2014/main" id="{3021244A-1A75-265A-65DB-0173BF90904F}"/>
              </a:ext>
            </a:extLst>
          </p:cNvPr>
          <p:cNvCxnSpPr>
            <a:cxnSpLocks noChangeShapeType="1"/>
            <a:stCxn id="137395" idx="52"/>
            <a:endCxn id="137391" idx="1"/>
          </p:cNvCxnSpPr>
          <p:nvPr/>
        </p:nvCxnSpPr>
        <p:spPr bwMode="auto">
          <a:xfrm rot="16200000">
            <a:off x="1895475" y="2252663"/>
            <a:ext cx="798513" cy="877887"/>
          </a:xfrm>
          <a:prstGeom prst="bentConnector2">
            <a:avLst/>
          </a:prstGeom>
          <a:noFill/>
          <a:ln w="12700">
            <a:solidFill>
              <a:srgbClr val="0000CC"/>
            </a:solidFill>
            <a:miter lim="800000"/>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399" name="AutoShape 183">
            <a:extLst>
              <a:ext uri="{FF2B5EF4-FFF2-40B4-BE49-F238E27FC236}">
                <a16:creationId xmlns:a16="http://schemas.microsoft.com/office/drawing/2014/main" id="{2B1C4404-1C09-39D6-797E-62E7D77548DB}"/>
              </a:ext>
            </a:extLst>
          </p:cNvPr>
          <p:cNvCxnSpPr>
            <a:cxnSpLocks noChangeShapeType="1"/>
            <a:stCxn id="137395" idx="9"/>
            <a:endCxn id="137392" idx="1"/>
          </p:cNvCxnSpPr>
          <p:nvPr/>
        </p:nvCxnSpPr>
        <p:spPr bwMode="auto">
          <a:xfrm>
            <a:off x="2284413" y="3419475"/>
            <a:ext cx="458787" cy="1588"/>
          </a:xfrm>
          <a:prstGeom prst="straightConnector1">
            <a:avLst/>
          </a:prstGeom>
          <a:noFill/>
          <a:ln w="12700">
            <a:solidFill>
              <a:srgbClr val="0000CC"/>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400" name="Line 184">
            <a:extLst>
              <a:ext uri="{FF2B5EF4-FFF2-40B4-BE49-F238E27FC236}">
                <a16:creationId xmlns:a16="http://schemas.microsoft.com/office/drawing/2014/main" id="{2CBC8D0B-EDCD-76F8-1E87-A701522259B0}"/>
              </a:ext>
            </a:extLst>
          </p:cNvPr>
          <p:cNvSpPr>
            <a:spLocks noChangeShapeType="1"/>
          </p:cNvSpPr>
          <p:nvPr/>
        </p:nvSpPr>
        <p:spPr bwMode="auto">
          <a:xfrm>
            <a:off x="3308350" y="2071688"/>
            <a:ext cx="2097088" cy="0"/>
          </a:xfrm>
          <a:prstGeom prst="line">
            <a:avLst/>
          </a:prstGeom>
          <a:noFill/>
          <a:ln w="25400" cap="rnd">
            <a:solidFill>
              <a:schemeClr val="tx1"/>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cxnSp>
        <p:nvCxnSpPr>
          <p:cNvPr id="137401" name="AutoShape 185">
            <a:extLst>
              <a:ext uri="{FF2B5EF4-FFF2-40B4-BE49-F238E27FC236}">
                <a16:creationId xmlns:a16="http://schemas.microsoft.com/office/drawing/2014/main" id="{3030A063-5190-A086-3AAD-F6AAFF436406}"/>
              </a:ext>
            </a:extLst>
          </p:cNvPr>
          <p:cNvCxnSpPr>
            <a:cxnSpLocks noChangeShapeType="1"/>
            <a:stCxn id="137391" idx="3"/>
            <a:endCxn id="137457" idx="48"/>
          </p:cNvCxnSpPr>
          <p:nvPr/>
        </p:nvCxnSpPr>
        <p:spPr bwMode="auto">
          <a:xfrm>
            <a:off x="3306763" y="2292350"/>
            <a:ext cx="773112" cy="836613"/>
          </a:xfrm>
          <a:prstGeom prst="bentConnector2">
            <a:avLst/>
          </a:prstGeom>
          <a:noFill/>
          <a:ln w="38100">
            <a:solidFill>
              <a:srgbClr val="FF6600"/>
            </a:solidFill>
            <a:miter lim="800000"/>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402" name="AutoShape 186">
            <a:extLst>
              <a:ext uri="{FF2B5EF4-FFF2-40B4-BE49-F238E27FC236}">
                <a16:creationId xmlns:a16="http://schemas.microsoft.com/office/drawing/2014/main" id="{9746E308-BEF5-586C-8890-0D8461DD9FFE}"/>
              </a:ext>
            </a:extLst>
          </p:cNvPr>
          <p:cNvCxnSpPr>
            <a:cxnSpLocks noChangeShapeType="1"/>
            <a:stCxn id="137392" idx="3"/>
            <a:endCxn id="137457" idx="39"/>
          </p:cNvCxnSpPr>
          <p:nvPr/>
        </p:nvCxnSpPr>
        <p:spPr bwMode="auto">
          <a:xfrm>
            <a:off x="3316288" y="3421063"/>
            <a:ext cx="476250" cy="6350"/>
          </a:xfrm>
          <a:prstGeom prst="straightConnector1">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7502" name="Group 286">
            <a:extLst>
              <a:ext uri="{FF2B5EF4-FFF2-40B4-BE49-F238E27FC236}">
                <a16:creationId xmlns:a16="http://schemas.microsoft.com/office/drawing/2014/main" id="{B848B243-4C49-240D-52D0-84370B288E24}"/>
              </a:ext>
            </a:extLst>
          </p:cNvPr>
          <p:cNvGrpSpPr>
            <a:grpSpLocks/>
          </p:cNvGrpSpPr>
          <p:nvPr/>
        </p:nvGrpSpPr>
        <p:grpSpPr bwMode="auto">
          <a:xfrm>
            <a:off x="2438400" y="4176713"/>
            <a:ext cx="1044575" cy="1254125"/>
            <a:chOff x="1518" y="2453"/>
            <a:chExt cx="658" cy="790"/>
          </a:xfrm>
        </p:grpSpPr>
        <p:sp>
          <p:nvSpPr>
            <p:cNvPr id="137289" name="Rectangle 73">
              <a:extLst>
                <a:ext uri="{FF2B5EF4-FFF2-40B4-BE49-F238E27FC236}">
                  <a16:creationId xmlns:a16="http://schemas.microsoft.com/office/drawing/2014/main" id="{557A06B3-5412-93D7-6F06-2939F4D56261}"/>
                </a:ext>
              </a:extLst>
            </p:cNvPr>
            <p:cNvSpPr>
              <a:spLocks noChangeArrowheads="1"/>
            </p:cNvSpPr>
            <p:nvPr/>
          </p:nvSpPr>
          <p:spPr bwMode="auto">
            <a:xfrm>
              <a:off x="1518" y="3037"/>
              <a:ext cx="65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Unauthorized  </a:t>
              </a:r>
              <a:endParaRPr lang="en-US" altLang="zh-CN" sz="1600">
                <a:solidFill>
                  <a:schemeClr val="tx1"/>
                </a:solidFill>
                <a:ea typeface="宋体" panose="02010600030101010101" pitchFamily="2" charset="-122"/>
              </a:endParaRPr>
            </a:p>
          </p:txBody>
        </p:sp>
        <p:sp>
          <p:nvSpPr>
            <p:cNvPr id="137290" name="Rectangle 74">
              <a:extLst>
                <a:ext uri="{FF2B5EF4-FFF2-40B4-BE49-F238E27FC236}">
                  <a16:creationId xmlns:a16="http://schemas.microsoft.com/office/drawing/2014/main" id="{BF26CD6C-6259-7DB1-A4F3-716BA4B7B5EC}"/>
                </a:ext>
              </a:extLst>
            </p:cNvPr>
            <p:cNvSpPr>
              <a:spLocks noChangeArrowheads="1"/>
            </p:cNvSpPr>
            <p:nvPr/>
          </p:nvSpPr>
          <p:spPr bwMode="auto">
            <a:xfrm>
              <a:off x="1730" y="3147"/>
              <a:ext cx="23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Host </a:t>
              </a:r>
              <a:endParaRPr lang="en-US" altLang="zh-CN" sz="1600">
                <a:solidFill>
                  <a:schemeClr val="tx1"/>
                </a:solidFill>
                <a:ea typeface="宋体" panose="02010600030101010101" pitchFamily="2" charset="-122"/>
              </a:endParaRPr>
            </a:p>
          </p:txBody>
        </p:sp>
        <p:pic>
          <p:nvPicPr>
            <p:cNvPr id="137393" name="Picture 177">
              <a:extLst>
                <a:ext uri="{FF2B5EF4-FFF2-40B4-BE49-F238E27FC236}">
                  <a16:creationId xmlns:a16="http://schemas.microsoft.com/office/drawing/2014/main" id="{FDB3BA9F-4706-D781-8AFB-EDDD57E7FC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 y="2453"/>
              <a:ext cx="361" cy="575"/>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37398" name="AutoShape 182">
            <a:extLst>
              <a:ext uri="{FF2B5EF4-FFF2-40B4-BE49-F238E27FC236}">
                <a16:creationId xmlns:a16="http://schemas.microsoft.com/office/drawing/2014/main" id="{C9774622-21F6-3B6C-53FE-FCC49310ABE4}"/>
              </a:ext>
            </a:extLst>
          </p:cNvPr>
          <p:cNvCxnSpPr>
            <a:cxnSpLocks noChangeShapeType="1"/>
            <a:stCxn id="137395" idx="23"/>
            <a:endCxn id="137393" idx="1"/>
          </p:cNvCxnSpPr>
          <p:nvPr/>
        </p:nvCxnSpPr>
        <p:spPr bwMode="auto">
          <a:xfrm rot="16200000" flipH="1">
            <a:off x="1797844" y="3728244"/>
            <a:ext cx="957263" cy="854075"/>
          </a:xfrm>
          <a:prstGeom prst="bentConnector2">
            <a:avLst/>
          </a:prstGeom>
          <a:noFill/>
          <a:ln w="12700">
            <a:solidFill>
              <a:srgbClr val="0000CC"/>
            </a:solidFill>
            <a:miter lim="800000"/>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403" name="AutoShape 187">
            <a:extLst>
              <a:ext uri="{FF2B5EF4-FFF2-40B4-BE49-F238E27FC236}">
                <a16:creationId xmlns:a16="http://schemas.microsoft.com/office/drawing/2014/main" id="{AECE880E-239F-2EF6-D9E1-2E9344715083}"/>
              </a:ext>
            </a:extLst>
          </p:cNvPr>
          <p:cNvCxnSpPr>
            <a:cxnSpLocks noChangeShapeType="1"/>
            <a:stCxn id="137393" idx="3"/>
            <a:endCxn id="137457" idx="30"/>
          </p:cNvCxnSpPr>
          <p:nvPr/>
        </p:nvCxnSpPr>
        <p:spPr bwMode="auto">
          <a:xfrm flipV="1">
            <a:off x="3276600" y="3711575"/>
            <a:ext cx="766763" cy="922338"/>
          </a:xfrm>
          <a:prstGeom prst="bentConnector2">
            <a:avLst/>
          </a:prstGeom>
          <a:noFill/>
          <a:ln w="25400" cap="rnd">
            <a:solidFill>
              <a:schemeClr val="tx1"/>
            </a:solidFill>
            <a:prstDash val="sysDot"/>
            <a:miter lim="800000"/>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404" name="AutoShape 188">
            <a:extLst>
              <a:ext uri="{FF2B5EF4-FFF2-40B4-BE49-F238E27FC236}">
                <a16:creationId xmlns:a16="http://schemas.microsoft.com/office/drawing/2014/main" id="{DE92673E-8376-123E-E45D-CCCCF2A654F8}"/>
              </a:ext>
            </a:extLst>
          </p:cNvPr>
          <p:cNvCxnSpPr>
            <a:cxnSpLocks noChangeShapeType="1"/>
            <a:stCxn id="137457" idx="56"/>
            <a:endCxn id="137405" idx="1"/>
          </p:cNvCxnSpPr>
          <p:nvPr/>
        </p:nvCxnSpPr>
        <p:spPr bwMode="auto">
          <a:xfrm rot="16200000">
            <a:off x="4567238" y="2287588"/>
            <a:ext cx="819150" cy="831850"/>
          </a:xfrm>
          <a:prstGeom prst="bentConnector2">
            <a:avLst/>
          </a:prstGeom>
          <a:noFill/>
          <a:ln w="38100">
            <a:solidFill>
              <a:srgbClr val="FF6600"/>
            </a:solidFill>
            <a:miter lim="800000"/>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7405" name="AutoShape 189">
            <a:extLst>
              <a:ext uri="{FF2B5EF4-FFF2-40B4-BE49-F238E27FC236}">
                <a16:creationId xmlns:a16="http://schemas.microsoft.com/office/drawing/2014/main" id="{3260253F-06C9-4EB2-7014-A0B193AE3445}"/>
              </a:ext>
            </a:extLst>
          </p:cNvPr>
          <p:cNvSpPr>
            <a:spLocks noChangeArrowheads="1"/>
          </p:cNvSpPr>
          <p:nvPr/>
        </p:nvSpPr>
        <p:spPr bwMode="auto">
          <a:xfrm>
            <a:off x="5405438" y="1501775"/>
            <a:ext cx="1962150" cy="1584325"/>
          </a:xfrm>
          <a:prstGeom prst="roundRect">
            <a:avLst>
              <a:gd name="adj" fmla="val 16667"/>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37406" name="Group 190">
            <a:extLst>
              <a:ext uri="{FF2B5EF4-FFF2-40B4-BE49-F238E27FC236}">
                <a16:creationId xmlns:a16="http://schemas.microsoft.com/office/drawing/2014/main" id="{92CCFA54-58E8-66E1-BB8E-C52C67193D72}"/>
              </a:ext>
            </a:extLst>
          </p:cNvPr>
          <p:cNvGrpSpPr>
            <a:grpSpLocks/>
          </p:cNvGrpSpPr>
          <p:nvPr/>
        </p:nvGrpSpPr>
        <p:grpSpPr bwMode="auto">
          <a:xfrm>
            <a:off x="5473700" y="1881188"/>
            <a:ext cx="406400" cy="347662"/>
            <a:chOff x="4704" y="336"/>
            <a:chExt cx="288" cy="263"/>
          </a:xfrm>
        </p:grpSpPr>
        <p:pic>
          <p:nvPicPr>
            <p:cNvPr id="137407" name="Picture 191">
              <a:extLst>
                <a:ext uri="{FF2B5EF4-FFF2-40B4-BE49-F238E27FC236}">
                  <a16:creationId xmlns:a16="http://schemas.microsoft.com/office/drawing/2014/main" id="{562BE729-C82C-1418-CBCB-AC21BEB310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08" name="Rectangle 192">
              <a:extLst>
                <a:ext uri="{FF2B5EF4-FFF2-40B4-BE49-F238E27FC236}">
                  <a16:creationId xmlns:a16="http://schemas.microsoft.com/office/drawing/2014/main" id="{7230E1E5-9746-2953-F11B-E9685122E132}"/>
                </a:ext>
              </a:extLst>
            </p:cNvPr>
            <p:cNvSpPr>
              <a:spLocks noChangeArrowheads="1"/>
            </p:cNvSpPr>
            <p:nvPr/>
          </p:nvSpPr>
          <p:spPr bwMode="auto">
            <a:xfrm>
              <a:off x="4776" y="402"/>
              <a:ext cx="13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V2</a:t>
              </a:r>
              <a:endParaRPr lang="en-US" altLang="zh-CN" sz="1600">
                <a:solidFill>
                  <a:schemeClr val="tx1"/>
                </a:solidFill>
                <a:ea typeface="宋体" panose="02010600030101010101" pitchFamily="2" charset="-122"/>
              </a:endParaRPr>
            </a:p>
          </p:txBody>
        </p:sp>
      </p:grpSp>
      <p:grpSp>
        <p:nvGrpSpPr>
          <p:cNvPr id="137409" name="Group 193">
            <a:extLst>
              <a:ext uri="{FF2B5EF4-FFF2-40B4-BE49-F238E27FC236}">
                <a16:creationId xmlns:a16="http://schemas.microsoft.com/office/drawing/2014/main" id="{3CCD0584-5982-E10A-59A4-749FF23B363B}"/>
              </a:ext>
            </a:extLst>
          </p:cNvPr>
          <p:cNvGrpSpPr>
            <a:grpSpLocks/>
          </p:cNvGrpSpPr>
          <p:nvPr/>
        </p:nvGrpSpPr>
        <p:grpSpPr bwMode="auto">
          <a:xfrm>
            <a:off x="5940425" y="1881188"/>
            <a:ext cx="404813" cy="347662"/>
            <a:chOff x="4704" y="336"/>
            <a:chExt cx="288" cy="263"/>
          </a:xfrm>
        </p:grpSpPr>
        <p:pic>
          <p:nvPicPr>
            <p:cNvPr id="137410" name="Picture 194">
              <a:extLst>
                <a:ext uri="{FF2B5EF4-FFF2-40B4-BE49-F238E27FC236}">
                  <a16:creationId xmlns:a16="http://schemas.microsoft.com/office/drawing/2014/main" id="{257E5E97-F44F-7D2B-3DC9-824095374A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11" name="Rectangle 195">
              <a:extLst>
                <a:ext uri="{FF2B5EF4-FFF2-40B4-BE49-F238E27FC236}">
                  <a16:creationId xmlns:a16="http://schemas.microsoft.com/office/drawing/2014/main" id="{0E95DCBE-B288-7D4E-6A4A-A665446D530A}"/>
                </a:ext>
              </a:extLst>
            </p:cNvPr>
            <p:cNvSpPr>
              <a:spLocks noChangeArrowheads="1"/>
            </p:cNvSpPr>
            <p:nvPr/>
          </p:nvSpPr>
          <p:spPr bwMode="auto">
            <a:xfrm>
              <a:off x="4776" y="402"/>
              <a:ext cx="13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V2</a:t>
              </a:r>
              <a:endParaRPr lang="en-US" altLang="zh-CN" sz="1600">
                <a:solidFill>
                  <a:schemeClr val="tx1"/>
                </a:solidFill>
                <a:ea typeface="宋体" panose="02010600030101010101" pitchFamily="2" charset="-122"/>
              </a:endParaRPr>
            </a:p>
          </p:txBody>
        </p:sp>
      </p:grpSp>
      <p:grpSp>
        <p:nvGrpSpPr>
          <p:cNvPr id="137412" name="Group 196">
            <a:extLst>
              <a:ext uri="{FF2B5EF4-FFF2-40B4-BE49-F238E27FC236}">
                <a16:creationId xmlns:a16="http://schemas.microsoft.com/office/drawing/2014/main" id="{1F9147F9-538B-567A-F716-A8FBB4823266}"/>
              </a:ext>
            </a:extLst>
          </p:cNvPr>
          <p:cNvGrpSpPr>
            <a:grpSpLocks/>
          </p:cNvGrpSpPr>
          <p:nvPr/>
        </p:nvGrpSpPr>
        <p:grpSpPr bwMode="auto">
          <a:xfrm>
            <a:off x="6421438" y="1881188"/>
            <a:ext cx="404812" cy="347662"/>
            <a:chOff x="4704" y="336"/>
            <a:chExt cx="288" cy="263"/>
          </a:xfrm>
        </p:grpSpPr>
        <p:pic>
          <p:nvPicPr>
            <p:cNvPr id="137413" name="Picture 197">
              <a:extLst>
                <a:ext uri="{FF2B5EF4-FFF2-40B4-BE49-F238E27FC236}">
                  <a16:creationId xmlns:a16="http://schemas.microsoft.com/office/drawing/2014/main" id="{CBE6D94D-EC03-3195-553A-FB12E23B5B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14" name="Rectangle 198">
              <a:extLst>
                <a:ext uri="{FF2B5EF4-FFF2-40B4-BE49-F238E27FC236}">
                  <a16:creationId xmlns:a16="http://schemas.microsoft.com/office/drawing/2014/main" id="{36B912EA-A823-B878-2C4B-6681CE97AF33}"/>
                </a:ext>
              </a:extLst>
            </p:cNvPr>
            <p:cNvSpPr>
              <a:spLocks noChangeArrowheads="1"/>
            </p:cNvSpPr>
            <p:nvPr/>
          </p:nvSpPr>
          <p:spPr bwMode="auto">
            <a:xfrm>
              <a:off x="4776" y="402"/>
              <a:ext cx="13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V2</a:t>
              </a:r>
              <a:endParaRPr lang="en-US" altLang="zh-CN" sz="1600">
                <a:solidFill>
                  <a:schemeClr val="tx1"/>
                </a:solidFill>
                <a:ea typeface="宋体" panose="02010600030101010101" pitchFamily="2" charset="-122"/>
              </a:endParaRPr>
            </a:p>
          </p:txBody>
        </p:sp>
      </p:grpSp>
      <p:grpSp>
        <p:nvGrpSpPr>
          <p:cNvPr id="137415" name="Group 199">
            <a:extLst>
              <a:ext uri="{FF2B5EF4-FFF2-40B4-BE49-F238E27FC236}">
                <a16:creationId xmlns:a16="http://schemas.microsoft.com/office/drawing/2014/main" id="{6F95BFF1-8858-84BA-05D7-207390E61A95}"/>
              </a:ext>
            </a:extLst>
          </p:cNvPr>
          <p:cNvGrpSpPr>
            <a:grpSpLocks/>
          </p:cNvGrpSpPr>
          <p:nvPr/>
        </p:nvGrpSpPr>
        <p:grpSpPr bwMode="auto">
          <a:xfrm>
            <a:off x="6894513" y="1881188"/>
            <a:ext cx="406400" cy="347662"/>
            <a:chOff x="4704" y="336"/>
            <a:chExt cx="288" cy="263"/>
          </a:xfrm>
        </p:grpSpPr>
        <p:pic>
          <p:nvPicPr>
            <p:cNvPr id="137416" name="Picture 200">
              <a:extLst>
                <a:ext uri="{FF2B5EF4-FFF2-40B4-BE49-F238E27FC236}">
                  <a16:creationId xmlns:a16="http://schemas.microsoft.com/office/drawing/2014/main" id="{51E34AFC-7A0A-1E9F-D1CC-EF72423929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17" name="Rectangle 201">
              <a:extLst>
                <a:ext uri="{FF2B5EF4-FFF2-40B4-BE49-F238E27FC236}">
                  <a16:creationId xmlns:a16="http://schemas.microsoft.com/office/drawing/2014/main" id="{9ADB6148-E6EB-4C81-AA07-7BB6C88A40C3}"/>
                </a:ext>
              </a:extLst>
            </p:cNvPr>
            <p:cNvSpPr>
              <a:spLocks noChangeArrowheads="1"/>
            </p:cNvSpPr>
            <p:nvPr/>
          </p:nvSpPr>
          <p:spPr bwMode="auto">
            <a:xfrm>
              <a:off x="4776" y="402"/>
              <a:ext cx="13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V2</a:t>
              </a:r>
              <a:endParaRPr lang="en-US" altLang="zh-CN" sz="1600">
                <a:solidFill>
                  <a:schemeClr val="tx1"/>
                </a:solidFill>
                <a:ea typeface="宋体" panose="02010600030101010101" pitchFamily="2" charset="-122"/>
              </a:endParaRPr>
            </a:p>
          </p:txBody>
        </p:sp>
      </p:grpSp>
      <p:grpSp>
        <p:nvGrpSpPr>
          <p:cNvPr id="137418" name="Group 202">
            <a:extLst>
              <a:ext uri="{FF2B5EF4-FFF2-40B4-BE49-F238E27FC236}">
                <a16:creationId xmlns:a16="http://schemas.microsoft.com/office/drawing/2014/main" id="{C1E24235-64F4-061E-965E-E7BE779722A7}"/>
              </a:ext>
            </a:extLst>
          </p:cNvPr>
          <p:cNvGrpSpPr>
            <a:grpSpLocks/>
          </p:cNvGrpSpPr>
          <p:nvPr/>
        </p:nvGrpSpPr>
        <p:grpSpPr bwMode="auto">
          <a:xfrm>
            <a:off x="5473700" y="2295525"/>
            <a:ext cx="406400" cy="346075"/>
            <a:chOff x="4704" y="336"/>
            <a:chExt cx="288" cy="263"/>
          </a:xfrm>
        </p:grpSpPr>
        <p:pic>
          <p:nvPicPr>
            <p:cNvPr id="137419" name="Picture 203">
              <a:extLst>
                <a:ext uri="{FF2B5EF4-FFF2-40B4-BE49-F238E27FC236}">
                  <a16:creationId xmlns:a16="http://schemas.microsoft.com/office/drawing/2014/main" id="{2BD386E1-667F-7087-0D32-ACB1A613B4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20" name="Rectangle 204">
              <a:extLst>
                <a:ext uri="{FF2B5EF4-FFF2-40B4-BE49-F238E27FC236}">
                  <a16:creationId xmlns:a16="http://schemas.microsoft.com/office/drawing/2014/main" id="{905F82F5-9236-4D73-0FAC-798F310DED5F}"/>
                </a:ext>
              </a:extLst>
            </p:cNvPr>
            <p:cNvSpPr>
              <a:spLocks noChangeArrowheads="1"/>
            </p:cNvSpPr>
            <p:nvPr/>
          </p:nvSpPr>
          <p:spPr bwMode="auto">
            <a:xfrm>
              <a:off x="4776" y="402"/>
              <a:ext cx="13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V2</a:t>
              </a:r>
              <a:endParaRPr lang="en-US" altLang="zh-CN" sz="1600">
                <a:solidFill>
                  <a:schemeClr val="tx1"/>
                </a:solidFill>
                <a:ea typeface="宋体" panose="02010600030101010101" pitchFamily="2" charset="-122"/>
              </a:endParaRPr>
            </a:p>
          </p:txBody>
        </p:sp>
      </p:grpSp>
      <p:grpSp>
        <p:nvGrpSpPr>
          <p:cNvPr id="137421" name="Group 205">
            <a:extLst>
              <a:ext uri="{FF2B5EF4-FFF2-40B4-BE49-F238E27FC236}">
                <a16:creationId xmlns:a16="http://schemas.microsoft.com/office/drawing/2014/main" id="{510F7450-061F-52A5-587E-771D0713571B}"/>
              </a:ext>
            </a:extLst>
          </p:cNvPr>
          <p:cNvGrpSpPr>
            <a:grpSpLocks/>
          </p:cNvGrpSpPr>
          <p:nvPr/>
        </p:nvGrpSpPr>
        <p:grpSpPr bwMode="auto">
          <a:xfrm>
            <a:off x="5940425" y="2295525"/>
            <a:ext cx="404813" cy="346075"/>
            <a:chOff x="4704" y="336"/>
            <a:chExt cx="288" cy="263"/>
          </a:xfrm>
        </p:grpSpPr>
        <p:pic>
          <p:nvPicPr>
            <p:cNvPr id="137422" name="Picture 206">
              <a:extLst>
                <a:ext uri="{FF2B5EF4-FFF2-40B4-BE49-F238E27FC236}">
                  <a16:creationId xmlns:a16="http://schemas.microsoft.com/office/drawing/2014/main" id="{B5694972-DEC6-51E6-0EC7-B7DDCCEF02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23" name="Rectangle 207">
              <a:extLst>
                <a:ext uri="{FF2B5EF4-FFF2-40B4-BE49-F238E27FC236}">
                  <a16:creationId xmlns:a16="http://schemas.microsoft.com/office/drawing/2014/main" id="{658515F5-4F65-C931-12AA-56D911AA74F8}"/>
                </a:ext>
              </a:extLst>
            </p:cNvPr>
            <p:cNvSpPr>
              <a:spLocks noChangeArrowheads="1"/>
            </p:cNvSpPr>
            <p:nvPr/>
          </p:nvSpPr>
          <p:spPr bwMode="auto">
            <a:xfrm>
              <a:off x="4776" y="402"/>
              <a:ext cx="13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V2</a:t>
              </a:r>
              <a:endParaRPr lang="en-US" altLang="zh-CN" sz="1600">
                <a:solidFill>
                  <a:schemeClr val="tx1"/>
                </a:solidFill>
                <a:ea typeface="宋体" panose="02010600030101010101" pitchFamily="2" charset="-122"/>
              </a:endParaRPr>
            </a:p>
          </p:txBody>
        </p:sp>
      </p:grpSp>
      <p:grpSp>
        <p:nvGrpSpPr>
          <p:cNvPr id="137424" name="Group 208">
            <a:extLst>
              <a:ext uri="{FF2B5EF4-FFF2-40B4-BE49-F238E27FC236}">
                <a16:creationId xmlns:a16="http://schemas.microsoft.com/office/drawing/2014/main" id="{8E12AC25-3C85-38CA-55D1-59A38397848E}"/>
              </a:ext>
            </a:extLst>
          </p:cNvPr>
          <p:cNvGrpSpPr>
            <a:grpSpLocks/>
          </p:cNvGrpSpPr>
          <p:nvPr/>
        </p:nvGrpSpPr>
        <p:grpSpPr bwMode="auto">
          <a:xfrm>
            <a:off x="6421438" y="2295525"/>
            <a:ext cx="404812" cy="346075"/>
            <a:chOff x="4704" y="336"/>
            <a:chExt cx="288" cy="263"/>
          </a:xfrm>
        </p:grpSpPr>
        <p:pic>
          <p:nvPicPr>
            <p:cNvPr id="137425" name="Picture 209">
              <a:extLst>
                <a:ext uri="{FF2B5EF4-FFF2-40B4-BE49-F238E27FC236}">
                  <a16:creationId xmlns:a16="http://schemas.microsoft.com/office/drawing/2014/main" id="{BE3668E1-D052-E486-0DE8-EBE3602537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26" name="Rectangle 210">
              <a:extLst>
                <a:ext uri="{FF2B5EF4-FFF2-40B4-BE49-F238E27FC236}">
                  <a16:creationId xmlns:a16="http://schemas.microsoft.com/office/drawing/2014/main" id="{23ABD813-37E6-76B0-4BFA-1B885ABE5EA4}"/>
                </a:ext>
              </a:extLst>
            </p:cNvPr>
            <p:cNvSpPr>
              <a:spLocks noChangeArrowheads="1"/>
            </p:cNvSpPr>
            <p:nvPr/>
          </p:nvSpPr>
          <p:spPr bwMode="auto">
            <a:xfrm>
              <a:off x="4776" y="402"/>
              <a:ext cx="13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V2</a:t>
              </a:r>
              <a:endParaRPr lang="en-US" altLang="zh-CN" sz="1600">
                <a:solidFill>
                  <a:schemeClr val="tx1"/>
                </a:solidFill>
                <a:ea typeface="宋体" panose="02010600030101010101" pitchFamily="2" charset="-122"/>
              </a:endParaRPr>
            </a:p>
          </p:txBody>
        </p:sp>
      </p:grpSp>
      <p:grpSp>
        <p:nvGrpSpPr>
          <p:cNvPr id="137427" name="Group 211">
            <a:extLst>
              <a:ext uri="{FF2B5EF4-FFF2-40B4-BE49-F238E27FC236}">
                <a16:creationId xmlns:a16="http://schemas.microsoft.com/office/drawing/2014/main" id="{64667810-D85F-7405-A87E-AE70B5680799}"/>
              </a:ext>
            </a:extLst>
          </p:cNvPr>
          <p:cNvGrpSpPr>
            <a:grpSpLocks/>
          </p:cNvGrpSpPr>
          <p:nvPr/>
        </p:nvGrpSpPr>
        <p:grpSpPr bwMode="auto">
          <a:xfrm>
            <a:off x="6894513" y="2295525"/>
            <a:ext cx="406400" cy="346075"/>
            <a:chOff x="4704" y="336"/>
            <a:chExt cx="288" cy="263"/>
          </a:xfrm>
        </p:grpSpPr>
        <p:pic>
          <p:nvPicPr>
            <p:cNvPr id="137428" name="Picture 212">
              <a:extLst>
                <a:ext uri="{FF2B5EF4-FFF2-40B4-BE49-F238E27FC236}">
                  <a16:creationId xmlns:a16="http://schemas.microsoft.com/office/drawing/2014/main" id="{A28A8968-795A-704A-6B1C-9EA69AD0A1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29" name="Rectangle 213">
              <a:extLst>
                <a:ext uri="{FF2B5EF4-FFF2-40B4-BE49-F238E27FC236}">
                  <a16:creationId xmlns:a16="http://schemas.microsoft.com/office/drawing/2014/main" id="{DF537000-3FBF-4D8C-214B-ABDD26512276}"/>
                </a:ext>
              </a:extLst>
            </p:cNvPr>
            <p:cNvSpPr>
              <a:spLocks noChangeArrowheads="1"/>
            </p:cNvSpPr>
            <p:nvPr/>
          </p:nvSpPr>
          <p:spPr bwMode="auto">
            <a:xfrm>
              <a:off x="4776" y="402"/>
              <a:ext cx="13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V2</a:t>
              </a:r>
              <a:endParaRPr lang="en-US" altLang="zh-CN" sz="1600">
                <a:solidFill>
                  <a:schemeClr val="tx1"/>
                </a:solidFill>
                <a:ea typeface="宋体" panose="02010600030101010101" pitchFamily="2" charset="-122"/>
              </a:endParaRPr>
            </a:p>
          </p:txBody>
        </p:sp>
      </p:grpSp>
      <p:grpSp>
        <p:nvGrpSpPr>
          <p:cNvPr id="137430" name="Group 214">
            <a:extLst>
              <a:ext uri="{FF2B5EF4-FFF2-40B4-BE49-F238E27FC236}">
                <a16:creationId xmlns:a16="http://schemas.microsoft.com/office/drawing/2014/main" id="{FF00127D-7527-D422-3DD6-3D67E4D2F54B}"/>
              </a:ext>
            </a:extLst>
          </p:cNvPr>
          <p:cNvGrpSpPr>
            <a:grpSpLocks/>
          </p:cNvGrpSpPr>
          <p:nvPr/>
        </p:nvGrpSpPr>
        <p:grpSpPr bwMode="auto">
          <a:xfrm>
            <a:off x="5473700" y="3656013"/>
            <a:ext cx="406400" cy="347662"/>
            <a:chOff x="4704" y="336"/>
            <a:chExt cx="288" cy="263"/>
          </a:xfrm>
        </p:grpSpPr>
        <p:pic>
          <p:nvPicPr>
            <p:cNvPr id="137431" name="Picture 215">
              <a:extLst>
                <a:ext uri="{FF2B5EF4-FFF2-40B4-BE49-F238E27FC236}">
                  <a16:creationId xmlns:a16="http://schemas.microsoft.com/office/drawing/2014/main" id="{6C28A0E3-2979-7F53-71E1-B0CEF176B8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32" name="Rectangle 216">
              <a:extLst>
                <a:ext uri="{FF2B5EF4-FFF2-40B4-BE49-F238E27FC236}">
                  <a16:creationId xmlns:a16="http://schemas.microsoft.com/office/drawing/2014/main" id="{2DFCF4AA-5813-FFAC-87B2-A7F47F2A23D9}"/>
                </a:ext>
              </a:extLst>
            </p:cNvPr>
            <p:cNvSpPr>
              <a:spLocks noChangeArrowheads="1"/>
            </p:cNvSpPr>
            <p:nvPr/>
          </p:nvSpPr>
          <p:spPr bwMode="auto">
            <a:xfrm>
              <a:off x="4776" y="402"/>
              <a:ext cx="13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V1</a:t>
              </a:r>
              <a:endParaRPr lang="en-US" altLang="zh-CN" sz="1600">
                <a:solidFill>
                  <a:schemeClr val="tx1"/>
                </a:solidFill>
                <a:ea typeface="宋体" panose="02010600030101010101" pitchFamily="2" charset="-122"/>
              </a:endParaRPr>
            </a:p>
          </p:txBody>
        </p:sp>
      </p:grpSp>
      <p:grpSp>
        <p:nvGrpSpPr>
          <p:cNvPr id="137433" name="Group 217">
            <a:extLst>
              <a:ext uri="{FF2B5EF4-FFF2-40B4-BE49-F238E27FC236}">
                <a16:creationId xmlns:a16="http://schemas.microsoft.com/office/drawing/2014/main" id="{A95ECB19-7079-C238-7787-52B1859DEA3A}"/>
              </a:ext>
            </a:extLst>
          </p:cNvPr>
          <p:cNvGrpSpPr>
            <a:grpSpLocks/>
          </p:cNvGrpSpPr>
          <p:nvPr/>
        </p:nvGrpSpPr>
        <p:grpSpPr bwMode="auto">
          <a:xfrm>
            <a:off x="5940425" y="3656013"/>
            <a:ext cx="404813" cy="347662"/>
            <a:chOff x="4704" y="336"/>
            <a:chExt cx="288" cy="263"/>
          </a:xfrm>
        </p:grpSpPr>
        <p:pic>
          <p:nvPicPr>
            <p:cNvPr id="137434" name="Picture 218">
              <a:extLst>
                <a:ext uri="{FF2B5EF4-FFF2-40B4-BE49-F238E27FC236}">
                  <a16:creationId xmlns:a16="http://schemas.microsoft.com/office/drawing/2014/main" id="{74204573-9796-55D0-F6D8-27D84312CC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35" name="Rectangle 219">
              <a:extLst>
                <a:ext uri="{FF2B5EF4-FFF2-40B4-BE49-F238E27FC236}">
                  <a16:creationId xmlns:a16="http://schemas.microsoft.com/office/drawing/2014/main" id="{0FE92D3B-F138-1BA1-48CF-EA262254DE7D}"/>
                </a:ext>
              </a:extLst>
            </p:cNvPr>
            <p:cNvSpPr>
              <a:spLocks noChangeArrowheads="1"/>
            </p:cNvSpPr>
            <p:nvPr/>
          </p:nvSpPr>
          <p:spPr bwMode="auto">
            <a:xfrm>
              <a:off x="4776" y="402"/>
              <a:ext cx="13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V1</a:t>
              </a:r>
              <a:endParaRPr lang="en-US" altLang="zh-CN" sz="1600">
                <a:solidFill>
                  <a:schemeClr val="tx1"/>
                </a:solidFill>
                <a:ea typeface="宋体" panose="02010600030101010101" pitchFamily="2" charset="-122"/>
              </a:endParaRPr>
            </a:p>
          </p:txBody>
        </p:sp>
      </p:grpSp>
      <p:grpSp>
        <p:nvGrpSpPr>
          <p:cNvPr id="137436" name="Group 220">
            <a:extLst>
              <a:ext uri="{FF2B5EF4-FFF2-40B4-BE49-F238E27FC236}">
                <a16:creationId xmlns:a16="http://schemas.microsoft.com/office/drawing/2014/main" id="{EBDBF9D5-F6E8-1F82-50F7-BFF5F07CD352}"/>
              </a:ext>
            </a:extLst>
          </p:cNvPr>
          <p:cNvGrpSpPr>
            <a:grpSpLocks/>
          </p:cNvGrpSpPr>
          <p:nvPr/>
        </p:nvGrpSpPr>
        <p:grpSpPr bwMode="auto">
          <a:xfrm>
            <a:off x="6421438" y="3656013"/>
            <a:ext cx="404812" cy="347662"/>
            <a:chOff x="4704" y="336"/>
            <a:chExt cx="288" cy="263"/>
          </a:xfrm>
        </p:grpSpPr>
        <p:pic>
          <p:nvPicPr>
            <p:cNvPr id="137437" name="Picture 221">
              <a:extLst>
                <a:ext uri="{FF2B5EF4-FFF2-40B4-BE49-F238E27FC236}">
                  <a16:creationId xmlns:a16="http://schemas.microsoft.com/office/drawing/2014/main" id="{22C2C806-EC59-622E-BB95-13797980E5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38" name="Rectangle 222">
              <a:extLst>
                <a:ext uri="{FF2B5EF4-FFF2-40B4-BE49-F238E27FC236}">
                  <a16:creationId xmlns:a16="http://schemas.microsoft.com/office/drawing/2014/main" id="{C0B1818C-3048-39B7-A29D-029EF0136AAE}"/>
                </a:ext>
              </a:extLst>
            </p:cNvPr>
            <p:cNvSpPr>
              <a:spLocks noChangeArrowheads="1"/>
            </p:cNvSpPr>
            <p:nvPr/>
          </p:nvSpPr>
          <p:spPr bwMode="auto">
            <a:xfrm>
              <a:off x="4776" y="402"/>
              <a:ext cx="13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V1</a:t>
              </a:r>
              <a:endParaRPr lang="en-US" altLang="zh-CN" sz="1600">
                <a:solidFill>
                  <a:schemeClr val="tx1"/>
                </a:solidFill>
                <a:ea typeface="宋体" panose="02010600030101010101" pitchFamily="2" charset="-122"/>
              </a:endParaRPr>
            </a:p>
          </p:txBody>
        </p:sp>
      </p:grpSp>
      <p:grpSp>
        <p:nvGrpSpPr>
          <p:cNvPr id="137439" name="Group 223">
            <a:extLst>
              <a:ext uri="{FF2B5EF4-FFF2-40B4-BE49-F238E27FC236}">
                <a16:creationId xmlns:a16="http://schemas.microsoft.com/office/drawing/2014/main" id="{FA950538-B677-6650-872E-FEF2455DE7F7}"/>
              </a:ext>
            </a:extLst>
          </p:cNvPr>
          <p:cNvGrpSpPr>
            <a:grpSpLocks/>
          </p:cNvGrpSpPr>
          <p:nvPr/>
        </p:nvGrpSpPr>
        <p:grpSpPr bwMode="auto">
          <a:xfrm>
            <a:off x="6894513" y="3656013"/>
            <a:ext cx="406400" cy="347662"/>
            <a:chOff x="4704" y="336"/>
            <a:chExt cx="288" cy="263"/>
          </a:xfrm>
        </p:grpSpPr>
        <p:pic>
          <p:nvPicPr>
            <p:cNvPr id="137440" name="Picture 224">
              <a:extLst>
                <a:ext uri="{FF2B5EF4-FFF2-40B4-BE49-F238E27FC236}">
                  <a16:creationId xmlns:a16="http://schemas.microsoft.com/office/drawing/2014/main" id="{F6677810-D754-64D3-9DBA-302C59746E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41" name="Rectangle 225">
              <a:extLst>
                <a:ext uri="{FF2B5EF4-FFF2-40B4-BE49-F238E27FC236}">
                  <a16:creationId xmlns:a16="http://schemas.microsoft.com/office/drawing/2014/main" id="{41EE1D3B-BC14-92BF-84D4-A97CE8795001}"/>
                </a:ext>
              </a:extLst>
            </p:cNvPr>
            <p:cNvSpPr>
              <a:spLocks noChangeArrowheads="1"/>
            </p:cNvSpPr>
            <p:nvPr/>
          </p:nvSpPr>
          <p:spPr bwMode="auto">
            <a:xfrm>
              <a:off x="4776" y="402"/>
              <a:ext cx="13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V1</a:t>
              </a:r>
              <a:endParaRPr lang="en-US" altLang="zh-CN" sz="1600">
                <a:solidFill>
                  <a:schemeClr val="tx1"/>
                </a:solidFill>
                <a:ea typeface="宋体" panose="02010600030101010101" pitchFamily="2" charset="-122"/>
              </a:endParaRPr>
            </a:p>
          </p:txBody>
        </p:sp>
      </p:grpSp>
      <p:grpSp>
        <p:nvGrpSpPr>
          <p:cNvPr id="137442" name="Group 226">
            <a:extLst>
              <a:ext uri="{FF2B5EF4-FFF2-40B4-BE49-F238E27FC236}">
                <a16:creationId xmlns:a16="http://schemas.microsoft.com/office/drawing/2014/main" id="{71796228-33AB-602B-F419-38EC360B9A45}"/>
              </a:ext>
            </a:extLst>
          </p:cNvPr>
          <p:cNvGrpSpPr>
            <a:grpSpLocks/>
          </p:cNvGrpSpPr>
          <p:nvPr/>
        </p:nvGrpSpPr>
        <p:grpSpPr bwMode="auto">
          <a:xfrm>
            <a:off x="5473700" y="4068763"/>
            <a:ext cx="406400" cy="347662"/>
            <a:chOff x="4704" y="336"/>
            <a:chExt cx="288" cy="263"/>
          </a:xfrm>
        </p:grpSpPr>
        <p:pic>
          <p:nvPicPr>
            <p:cNvPr id="137443" name="Picture 227">
              <a:extLst>
                <a:ext uri="{FF2B5EF4-FFF2-40B4-BE49-F238E27FC236}">
                  <a16:creationId xmlns:a16="http://schemas.microsoft.com/office/drawing/2014/main" id="{BF536F1C-178E-B7B2-1B5B-3F974C7C56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44" name="Rectangle 228">
              <a:extLst>
                <a:ext uri="{FF2B5EF4-FFF2-40B4-BE49-F238E27FC236}">
                  <a16:creationId xmlns:a16="http://schemas.microsoft.com/office/drawing/2014/main" id="{D9DB67CD-09A3-96BD-1A25-B24D7E0F4FA9}"/>
                </a:ext>
              </a:extLst>
            </p:cNvPr>
            <p:cNvSpPr>
              <a:spLocks noChangeArrowheads="1"/>
            </p:cNvSpPr>
            <p:nvPr/>
          </p:nvSpPr>
          <p:spPr bwMode="auto">
            <a:xfrm>
              <a:off x="4776" y="402"/>
              <a:ext cx="13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V1</a:t>
              </a:r>
              <a:endParaRPr lang="en-US" altLang="zh-CN" sz="1600">
                <a:solidFill>
                  <a:schemeClr val="tx1"/>
                </a:solidFill>
                <a:ea typeface="宋体" panose="02010600030101010101" pitchFamily="2" charset="-122"/>
              </a:endParaRPr>
            </a:p>
          </p:txBody>
        </p:sp>
      </p:grpSp>
      <p:grpSp>
        <p:nvGrpSpPr>
          <p:cNvPr id="137445" name="Group 229">
            <a:extLst>
              <a:ext uri="{FF2B5EF4-FFF2-40B4-BE49-F238E27FC236}">
                <a16:creationId xmlns:a16="http://schemas.microsoft.com/office/drawing/2014/main" id="{09F63289-C275-09E8-95C4-2F4E84CC2328}"/>
              </a:ext>
            </a:extLst>
          </p:cNvPr>
          <p:cNvGrpSpPr>
            <a:grpSpLocks/>
          </p:cNvGrpSpPr>
          <p:nvPr/>
        </p:nvGrpSpPr>
        <p:grpSpPr bwMode="auto">
          <a:xfrm>
            <a:off x="5940425" y="4068763"/>
            <a:ext cx="404813" cy="347662"/>
            <a:chOff x="4704" y="336"/>
            <a:chExt cx="288" cy="263"/>
          </a:xfrm>
        </p:grpSpPr>
        <p:pic>
          <p:nvPicPr>
            <p:cNvPr id="137446" name="Picture 230">
              <a:extLst>
                <a:ext uri="{FF2B5EF4-FFF2-40B4-BE49-F238E27FC236}">
                  <a16:creationId xmlns:a16="http://schemas.microsoft.com/office/drawing/2014/main" id="{010346AB-BDE4-A6A1-3ED1-E8BC2D7E1B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47" name="Rectangle 231">
              <a:extLst>
                <a:ext uri="{FF2B5EF4-FFF2-40B4-BE49-F238E27FC236}">
                  <a16:creationId xmlns:a16="http://schemas.microsoft.com/office/drawing/2014/main" id="{9F12C8A4-3D8B-59CE-00D3-A01A681F02B3}"/>
                </a:ext>
              </a:extLst>
            </p:cNvPr>
            <p:cNvSpPr>
              <a:spLocks noChangeArrowheads="1"/>
            </p:cNvSpPr>
            <p:nvPr/>
          </p:nvSpPr>
          <p:spPr bwMode="auto">
            <a:xfrm>
              <a:off x="4776" y="402"/>
              <a:ext cx="13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V1</a:t>
              </a:r>
              <a:endParaRPr lang="en-US" altLang="zh-CN" sz="1600">
                <a:solidFill>
                  <a:schemeClr val="tx1"/>
                </a:solidFill>
                <a:ea typeface="宋体" panose="02010600030101010101" pitchFamily="2" charset="-122"/>
              </a:endParaRPr>
            </a:p>
          </p:txBody>
        </p:sp>
      </p:grpSp>
      <p:grpSp>
        <p:nvGrpSpPr>
          <p:cNvPr id="137448" name="Group 232">
            <a:extLst>
              <a:ext uri="{FF2B5EF4-FFF2-40B4-BE49-F238E27FC236}">
                <a16:creationId xmlns:a16="http://schemas.microsoft.com/office/drawing/2014/main" id="{AAB87091-EC88-E949-C42C-2EC78D77A452}"/>
              </a:ext>
            </a:extLst>
          </p:cNvPr>
          <p:cNvGrpSpPr>
            <a:grpSpLocks/>
          </p:cNvGrpSpPr>
          <p:nvPr/>
        </p:nvGrpSpPr>
        <p:grpSpPr bwMode="auto">
          <a:xfrm>
            <a:off x="6421438" y="4068763"/>
            <a:ext cx="404812" cy="347662"/>
            <a:chOff x="4704" y="336"/>
            <a:chExt cx="288" cy="263"/>
          </a:xfrm>
        </p:grpSpPr>
        <p:pic>
          <p:nvPicPr>
            <p:cNvPr id="137449" name="Picture 233">
              <a:extLst>
                <a:ext uri="{FF2B5EF4-FFF2-40B4-BE49-F238E27FC236}">
                  <a16:creationId xmlns:a16="http://schemas.microsoft.com/office/drawing/2014/main" id="{9B0B9AD8-A66D-FDD6-0054-9EA9BECAFE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50" name="Rectangle 234">
              <a:extLst>
                <a:ext uri="{FF2B5EF4-FFF2-40B4-BE49-F238E27FC236}">
                  <a16:creationId xmlns:a16="http://schemas.microsoft.com/office/drawing/2014/main" id="{0EDFB533-E734-D0C6-E28A-688AE4E423AB}"/>
                </a:ext>
              </a:extLst>
            </p:cNvPr>
            <p:cNvSpPr>
              <a:spLocks noChangeArrowheads="1"/>
            </p:cNvSpPr>
            <p:nvPr/>
          </p:nvSpPr>
          <p:spPr bwMode="auto">
            <a:xfrm>
              <a:off x="4776" y="402"/>
              <a:ext cx="13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V1</a:t>
              </a:r>
              <a:endParaRPr lang="en-US" altLang="zh-CN" sz="1600">
                <a:solidFill>
                  <a:schemeClr val="tx1"/>
                </a:solidFill>
                <a:ea typeface="宋体" panose="02010600030101010101" pitchFamily="2" charset="-122"/>
              </a:endParaRPr>
            </a:p>
          </p:txBody>
        </p:sp>
      </p:grpSp>
      <p:grpSp>
        <p:nvGrpSpPr>
          <p:cNvPr id="137451" name="Group 235">
            <a:extLst>
              <a:ext uri="{FF2B5EF4-FFF2-40B4-BE49-F238E27FC236}">
                <a16:creationId xmlns:a16="http://schemas.microsoft.com/office/drawing/2014/main" id="{024764C4-54CC-9E2C-47BD-C064BBDB347C}"/>
              </a:ext>
            </a:extLst>
          </p:cNvPr>
          <p:cNvGrpSpPr>
            <a:grpSpLocks/>
          </p:cNvGrpSpPr>
          <p:nvPr/>
        </p:nvGrpSpPr>
        <p:grpSpPr bwMode="auto">
          <a:xfrm>
            <a:off x="6894513" y="4068763"/>
            <a:ext cx="406400" cy="347662"/>
            <a:chOff x="4704" y="336"/>
            <a:chExt cx="288" cy="263"/>
          </a:xfrm>
        </p:grpSpPr>
        <p:pic>
          <p:nvPicPr>
            <p:cNvPr id="137452" name="Picture 236">
              <a:extLst>
                <a:ext uri="{FF2B5EF4-FFF2-40B4-BE49-F238E27FC236}">
                  <a16:creationId xmlns:a16="http://schemas.microsoft.com/office/drawing/2014/main" id="{90A8B28F-52A5-6EAE-12B2-F8E8691F41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4" y="336"/>
              <a:ext cx="288" cy="263"/>
            </a:xfrm>
            <a:prstGeom prst="rect">
              <a:avLst/>
            </a:prstGeom>
            <a:noFill/>
            <a:extLst>
              <a:ext uri="{909E8E84-426E-40DD-AFC4-6F175D3DCCD1}">
                <a14:hiddenFill xmlns:a14="http://schemas.microsoft.com/office/drawing/2010/main">
                  <a:solidFill>
                    <a:srgbClr val="FFFFFF"/>
                  </a:solidFill>
                </a14:hiddenFill>
              </a:ext>
            </a:extLst>
          </p:spPr>
        </p:pic>
        <p:sp>
          <p:nvSpPr>
            <p:cNvPr id="137453" name="Rectangle 237">
              <a:extLst>
                <a:ext uri="{FF2B5EF4-FFF2-40B4-BE49-F238E27FC236}">
                  <a16:creationId xmlns:a16="http://schemas.microsoft.com/office/drawing/2014/main" id="{8EE20D0A-1435-E9EB-5557-7E05563469B1}"/>
                </a:ext>
              </a:extLst>
            </p:cNvPr>
            <p:cNvSpPr>
              <a:spLocks noChangeArrowheads="1"/>
            </p:cNvSpPr>
            <p:nvPr/>
          </p:nvSpPr>
          <p:spPr bwMode="auto">
            <a:xfrm>
              <a:off x="4776" y="402"/>
              <a:ext cx="13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chemeClr val="tx1"/>
                  </a:solidFill>
                  <a:latin typeface="Verdana" panose="020B0604030504040204" pitchFamily="34" charset="0"/>
                  <a:ea typeface="宋体" panose="02010600030101010101" pitchFamily="2" charset="-122"/>
                </a:rPr>
                <a:t>V1</a:t>
              </a:r>
              <a:endParaRPr lang="en-US" altLang="zh-CN" sz="1600">
                <a:solidFill>
                  <a:schemeClr val="tx1"/>
                </a:solidFill>
                <a:ea typeface="宋体" panose="02010600030101010101" pitchFamily="2" charset="-122"/>
              </a:endParaRPr>
            </a:p>
          </p:txBody>
        </p:sp>
      </p:grpSp>
      <p:sp>
        <p:nvSpPr>
          <p:cNvPr id="137454" name="AutoShape 238">
            <a:extLst>
              <a:ext uri="{FF2B5EF4-FFF2-40B4-BE49-F238E27FC236}">
                <a16:creationId xmlns:a16="http://schemas.microsoft.com/office/drawing/2014/main" id="{9EAD3F87-7F01-8295-7EB1-E5BA7660AE54}"/>
              </a:ext>
            </a:extLst>
          </p:cNvPr>
          <p:cNvSpPr>
            <a:spLocks noChangeArrowheads="1"/>
          </p:cNvSpPr>
          <p:nvPr/>
        </p:nvSpPr>
        <p:spPr bwMode="auto">
          <a:xfrm>
            <a:off x="5405438" y="3276600"/>
            <a:ext cx="1962150" cy="1582738"/>
          </a:xfrm>
          <a:prstGeom prst="roundRect">
            <a:avLst>
              <a:gd name="adj" fmla="val 16667"/>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37455" name="AutoShape 239">
            <a:extLst>
              <a:ext uri="{FF2B5EF4-FFF2-40B4-BE49-F238E27FC236}">
                <a16:creationId xmlns:a16="http://schemas.microsoft.com/office/drawing/2014/main" id="{715FD2BD-70C0-F7C5-DE18-823B36C93890}"/>
              </a:ext>
            </a:extLst>
          </p:cNvPr>
          <p:cNvCxnSpPr>
            <a:cxnSpLocks noChangeShapeType="1"/>
            <a:stCxn id="137457" idx="19"/>
            <a:endCxn id="137454" idx="1"/>
          </p:cNvCxnSpPr>
          <p:nvPr/>
        </p:nvCxnSpPr>
        <p:spPr bwMode="auto">
          <a:xfrm rot="16200000" flipH="1">
            <a:off x="4790282" y="3466306"/>
            <a:ext cx="357188" cy="847725"/>
          </a:xfrm>
          <a:prstGeom prst="bentConnector2">
            <a:avLst/>
          </a:prstGeom>
          <a:noFill/>
          <a:ln w="38100">
            <a:solidFill>
              <a:srgbClr val="FF6600"/>
            </a:solidFill>
            <a:miter lim="800000"/>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7456" name="Group 240">
            <a:extLst>
              <a:ext uri="{FF2B5EF4-FFF2-40B4-BE49-F238E27FC236}">
                <a16:creationId xmlns:a16="http://schemas.microsoft.com/office/drawing/2014/main" id="{46525F2D-A931-389C-7804-7734412E874F}"/>
              </a:ext>
            </a:extLst>
          </p:cNvPr>
          <p:cNvGrpSpPr>
            <a:grpSpLocks/>
          </p:cNvGrpSpPr>
          <p:nvPr/>
        </p:nvGrpSpPr>
        <p:grpSpPr bwMode="auto">
          <a:xfrm>
            <a:off x="3790950" y="3111500"/>
            <a:ext cx="1006475" cy="608013"/>
            <a:chOff x="2310" y="1344"/>
            <a:chExt cx="714" cy="461"/>
          </a:xfrm>
        </p:grpSpPr>
        <p:sp>
          <p:nvSpPr>
            <p:cNvPr id="137457" name="Freeform 241">
              <a:extLst>
                <a:ext uri="{FF2B5EF4-FFF2-40B4-BE49-F238E27FC236}">
                  <a16:creationId xmlns:a16="http://schemas.microsoft.com/office/drawing/2014/main" id="{B527F646-FE54-8FA9-75CB-4EB7A2D9214C}"/>
                </a:ext>
              </a:extLst>
            </p:cNvPr>
            <p:cNvSpPr>
              <a:spLocks/>
            </p:cNvSpPr>
            <p:nvPr/>
          </p:nvSpPr>
          <p:spPr bwMode="auto">
            <a:xfrm>
              <a:off x="2310" y="1344"/>
              <a:ext cx="714" cy="461"/>
            </a:xfrm>
            <a:custGeom>
              <a:avLst/>
              <a:gdLst>
                <a:gd name="T0" fmla="*/ 1157 w 1423"/>
                <a:gd name="T1" fmla="*/ 5 h 917"/>
                <a:gd name="T2" fmla="*/ 1228 w 1423"/>
                <a:gd name="T3" fmla="*/ 34 h 917"/>
                <a:gd name="T4" fmla="*/ 1287 w 1423"/>
                <a:gd name="T5" fmla="*/ 80 h 917"/>
                <a:gd name="T6" fmla="*/ 1334 w 1423"/>
                <a:gd name="T7" fmla="*/ 157 h 917"/>
                <a:gd name="T8" fmla="*/ 1346 w 1423"/>
                <a:gd name="T9" fmla="*/ 214 h 917"/>
                <a:gd name="T10" fmla="*/ 1339 w 1423"/>
                <a:gd name="T11" fmla="*/ 269 h 917"/>
                <a:gd name="T12" fmla="*/ 1371 w 1423"/>
                <a:gd name="T13" fmla="*/ 328 h 917"/>
                <a:gd name="T14" fmla="*/ 1408 w 1423"/>
                <a:gd name="T15" fmla="*/ 388 h 917"/>
                <a:gd name="T16" fmla="*/ 1423 w 1423"/>
                <a:gd name="T17" fmla="*/ 452 h 917"/>
                <a:gd name="T18" fmla="*/ 1408 w 1423"/>
                <a:gd name="T19" fmla="*/ 515 h 917"/>
                <a:gd name="T20" fmla="*/ 1371 w 1423"/>
                <a:gd name="T21" fmla="*/ 580 h 917"/>
                <a:gd name="T22" fmla="*/ 1340 w 1423"/>
                <a:gd name="T23" fmla="*/ 640 h 917"/>
                <a:gd name="T24" fmla="*/ 1342 w 1423"/>
                <a:gd name="T25" fmla="*/ 719 h 917"/>
                <a:gd name="T26" fmla="*/ 1328 w 1423"/>
                <a:gd name="T27" fmla="*/ 769 h 917"/>
                <a:gd name="T28" fmla="*/ 1298 w 1423"/>
                <a:gd name="T29" fmla="*/ 815 h 917"/>
                <a:gd name="T30" fmla="*/ 1259 w 1423"/>
                <a:gd name="T31" fmla="*/ 853 h 917"/>
                <a:gd name="T32" fmla="*/ 1228 w 1423"/>
                <a:gd name="T33" fmla="*/ 876 h 917"/>
                <a:gd name="T34" fmla="*/ 1183 w 1423"/>
                <a:gd name="T35" fmla="*/ 894 h 917"/>
                <a:gd name="T36" fmla="*/ 1157 w 1423"/>
                <a:gd name="T37" fmla="*/ 902 h 917"/>
                <a:gd name="T38" fmla="*/ 1067 w 1423"/>
                <a:gd name="T39" fmla="*/ 904 h 917"/>
                <a:gd name="T40" fmla="*/ 1016 w 1423"/>
                <a:gd name="T41" fmla="*/ 882 h 917"/>
                <a:gd name="T42" fmla="*/ 971 w 1423"/>
                <a:gd name="T43" fmla="*/ 845 h 917"/>
                <a:gd name="T44" fmla="*/ 892 w 1423"/>
                <a:gd name="T45" fmla="*/ 866 h 917"/>
                <a:gd name="T46" fmla="*/ 794 w 1423"/>
                <a:gd name="T47" fmla="*/ 902 h 917"/>
                <a:gd name="T48" fmla="*/ 701 w 1423"/>
                <a:gd name="T49" fmla="*/ 917 h 917"/>
                <a:gd name="T50" fmla="*/ 609 w 1423"/>
                <a:gd name="T51" fmla="*/ 902 h 917"/>
                <a:gd name="T52" fmla="*/ 521 w 1423"/>
                <a:gd name="T53" fmla="*/ 866 h 917"/>
                <a:gd name="T54" fmla="*/ 458 w 1423"/>
                <a:gd name="T55" fmla="*/ 836 h 917"/>
                <a:gd name="T56" fmla="*/ 452 w 1423"/>
                <a:gd name="T57" fmla="*/ 845 h 917"/>
                <a:gd name="T58" fmla="*/ 408 w 1423"/>
                <a:gd name="T59" fmla="*/ 882 h 917"/>
                <a:gd name="T60" fmla="*/ 356 w 1423"/>
                <a:gd name="T61" fmla="*/ 904 h 917"/>
                <a:gd name="T62" fmla="*/ 302 w 1423"/>
                <a:gd name="T63" fmla="*/ 907 h 917"/>
                <a:gd name="T64" fmla="*/ 231 w 1423"/>
                <a:gd name="T65" fmla="*/ 892 h 917"/>
                <a:gd name="T66" fmla="*/ 177 w 1423"/>
                <a:gd name="T67" fmla="*/ 863 h 917"/>
                <a:gd name="T68" fmla="*/ 124 w 1423"/>
                <a:gd name="T69" fmla="*/ 812 h 917"/>
                <a:gd name="T70" fmla="*/ 84 w 1423"/>
                <a:gd name="T71" fmla="*/ 731 h 917"/>
                <a:gd name="T72" fmla="*/ 81 w 1423"/>
                <a:gd name="T73" fmla="*/ 659 h 917"/>
                <a:gd name="T74" fmla="*/ 51 w 1423"/>
                <a:gd name="T75" fmla="*/ 581 h 917"/>
                <a:gd name="T76" fmla="*/ 12 w 1423"/>
                <a:gd name="T77" fmla="*/ 518 h 917"/>
                <a:gd name="T78" fmla="*/ 2 w 1423"/>
                <a:gd name="T79" fmla="*/ 476 h 917"/>
                <a:gd name="T80" fmla="*/ 5 w 1423"/>
                <a:gd name="T81" fmla="*/ 414 h 917"/>
                <a:gd name="T82" fmla="*/ 35 w 1423"/>
                <a:gd name="T83" fmla="*/ 350 h 917"/>
                <a:gd name="T84" fmla="*/ 92 w 1423"/>
                <a:gd name="T85" fmla="*/ 288 h 917"/>
                <a:gd name="T86" fmla="*/ 78 w 1423"/>
                <a:gd name="T87" fmla="*/ 214 h 917"/>
                <a:gd name="T88" fmla="*/ 114 w 1423"/>
                <a:gd name="T89" fmla="*/ 108 h 917"/>
                <a:gd name="T90" fmla="*/ 179 w 1423"/>
                <a:gd name="T91" fmla="*/ 43 h 917"/>
                <a:gd name="T92" fmla="*/ 267 w 1423"/>
                <a:gd name="T93" fmla="*/ 5 h 917"/>
                <a:gd name="T94" fmla="*/ 356 w 1423"/>
                <a:gd name="T95" fmla="*/ 5 h 917"/>
                <a:gd name="T96" fmla="*/ 408 w 1423"/>
                <a:gd name="T97" fmla="*/ 26 h 917"/>
                <a:gd name="T98" fmla="*/ 452 w 1423"/>
                <a:gd name="T99" fmla="*/ 62 h 917"/>
                <a:gd name="T100" fmla="*/ 556 w 1423"/>
                <a:gd name="T101" fmla="*/ 35 h 917"/>
                <a:gd name="T102" fmla="*/ 650 w 1423"/>
                <a:gd name="T103" fmla="*/ 12 h 917"/>
                <a:gd name="T104" fmla="*/ 803 w 1423"/>
                <a:gd name="T105" fmla="*/ 18 h 917"/>
                <a:gd name="T106" fmla="*/ 897 w 1423"/>
                <a:gd name="T107" fmla="*/ 48 h 917"/>
                <a:gd name="T108" fmla="*/ 985 w 1423"/>
                <a:gd name="T109" fmla="*/ 49 h 917"/>
                <a:gd name="T110" fmla="*/ 1031 w 1423"/>
                <a:gd name="T111" fmla="*/ 17 h 917"/>
                <a:gd name="T112" fmla="*/ 1088 w 1423"/>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3" h="917">
                  <a:moveTo>
                    <a:pt x="1088" y="2"/>
                  </a:moveTo>
                  <a:lnTo>
                    <a:pt x="1121" y="0"/>
                  </a:lnTo>
                  <a:lnTo>
                    <a:pt x="1157" y="5"/>
                  </a:lnTo>
                  <a:lnTo>
                    <a:pt x="1174" y="8"/>
                  </a:lnTo>
                  <a:lnTo>
                    <a:pt x="1192" y="16"/>
                  </a:lnTo>
                  <a:lnTo>
                    <a:pt x="1228" y="34"/>
                  </a:lnTo>
                  <a:lnTo>
                    <a:pt x="1244" y="43"/>
                  </a:lnTo>
                  <a:lnTo>
                    <a:pt x="1259" y="55"/>
                  </a:lnTo>
                  <a:lnTo>
                    <a:pt x="1287" y="80"/>
                  </a:lnTo>
                  <a:lnTo>
                    <a:pt x="1309" y="108"/>
                  </a:lnTo>
                  <a:lnTo>
                    <a:pt x="1328" y="140"/>
                  </a:lnTo>
                  <a:lnTo>
                    <a:pt x="1334" y="157"/>
                  </a:lnTo>
                  <a:lnTo>
                    <a:pt x="1340" y="176"/>
                  </a:lnTo>
                  <a:lnTo>
                    <a:pt x="1343" y="194"/>
                  </a:lnTo>
                  <a:lnTo>
                    <a:pt x="1346" y="214"/>
                  </a:lnTo>
                  <a:lnTo>
                    <a:pt x="1345" y="230"/>
                  </a:lnTo>
                  <a:lnTo>
                    <a:pt x="1342" y="250"/>
                  </a:lnTo>
                  <a:lnTo>
                    <a:pt x="1339" y="269"/>
                  </a:lnTo>
                  <a:lnTo>
                    <a:pt x="1333" y="288"/>
                  </a:lnTo>
                  <a:lnTo>
                    <a:pt x="1353" y="307"/>
                  </a:lnTo>
                  <a:lnTo>
                    <a:pt x="1371" y="328"/>
                  </a:lnTo>
                  <a:lnTo>
                    <a:pt x="1387" y="347"/>
                  </a:lnTo>
                  <a:lnTo>
                    <a:pt x="1400" y="368"/>
                  </a:lnTo>
                  <a:lnTo>
                    <a:pt x="1408" y="388"/>
                  </a:lnTo>
                  <a:lnTo>
                    <a:pt x="1417" y="409"/>
                  </a:lnTo>
                  <a:lnTo>
                    <a:pt x="1420" y="431"/>
                  </a:lnTo>
                  <a:lnTo>
                    <a:pt x="1423" y="452"/>
                  </a:lnTo>
                  <a:lnTo>
                    <a:pt x="1420" y="472"/>
                  </a:lnTo>
                  <a:lnTo>
                    <a:pt x="1417" y="493"/>
                  </a:lnTo>
                  <a:lnTo>
                    <a:pt x="1408" y="515"/>
                  </a:lnTo>
                  <a:lnTo>
                    <a:pt x="1400" y="536"/>
                  </a:lnTo>
                  <a:lnTo>
                    <a:pt x="1387" y="558"/>
                  </a:lnTo>
                  <a:lnTo>
                    <a:pt x="1371" y="580"/>
                  </a:lnTo>
                  <a:lnTo>
                    <a:pt x="1353" y="601"/>
                  </a:lnTo>
                  <a:lnTo>
                    <a:pt x="1333" y="623"/>
                  </a:lnTo>
                  <a:lnTo>
                    <a:pt x="1340" y="640"/>
                  </a:lnTo>
                  <a:lnTo>
                    <a:pt x="1345" y="671"/>
                  </a:lnTo>
                  <a:lnTo>
                    <a:pt x="1345" y="704"/>
                  </a:lnTo>
                  <a:lnTo>
                    <a:pt x="1342" y="719"/>
                  </a:lnTo>
                  <a:lnTo>
                    <a:pt x="1339" y="736"/>
                  </a:lnTo>
                  <a:lnTo>
                    <a:pt x="1334" y="752"/>
                  </a:lnTo>
                  <a:lnTo>
                    <a:pt x="1328" y="769"/>
                  </a:lnTo>
                  <a:lnTo>
                    <a:pt x="1318" y="785"/>
                  </a:lnTo>
                  <a:lnTo>
                    <a:pt x="1309" y="800"/>
                  </a:lnTo>
                  <a:lnTo>
                    <a:pt x="1298" y="815"/>
                  </a:lnTo>
                  <a:lnTo>
                    <a:pt x="1287" y="829"/>
                  </a:lnTo>
                  <a:lnTo>
                    <a:pt x="1273" y="841"/>
                  </a:lnTo>
                  <a:lnTo>
                    <a:pt x="1259" y="853"/>
                  </a:lnTo>
                  <a:lnTo>
                    <a:pt x="1251" y="858"/>
                  </a:lnTo>
                  <a:lnTo>
                    <a:pt x="1244" y="864"/>
                  </a:lnTo>
                  <a:lnTo>
                    <a:pt x="1228" y="876"/>
                  </a:lnTo>
                  <a:lnTo>
                    <a:pt x="1209" y="884"/>
                  </a:lnTo>
                  <a:lnTo>
                    <a:pt x="1192" y="892"/>
                  </a:lnTo>
                  <a:lnTo>
                    <a:pt x="1183"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5" y="859"/>
                  </a:lnTo>
                  <a:lnTo>
                    <a:pt x="971" y="845"/>
                  </a:lnTo>
                  <a:lnTo>
                    <a:pt x="959" y="829"/>
                  </a:lnTo>
                  <a:lnTo>
                    <a:pt x="926" y="848"/>
                  </a:lnTo>
                  <a:lnTo>
                    <a:pt x="892" y="866"/>
                  </a:lnTo>
                  <a:lnTo>
                    <a:pt x="859" y="881"/>
                  </a:lnTo>
                  <a:lnTo>
                    <a:pt x="827" y="894"/>
                  </a:lnTo>
                  <a:lnTo>
                    <a:pt x="794" y="902"/>
                  </a:lnTo>
                  <a:lnTo>
                    <a:pt x="763"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8" y="836"/>
                  </a:lnTo>
                  <a:lnTo>
                    <a:pt x="455" y="838"/>
                  </a:lnTo>
                  <a:lnTo>
                    <a:pt x="454" y="840"/>
                  </a:lnTo>
                  <a:lnTo>
                    <a:pt x="452" y="845"/>
                  </a:lnTo>
                  <a:lnTo>
                    <a:pt x="438" y="859"/>
                  </a:lnTo>
                  <a:lnTo>
                    <a:pt x="423" y="871"/>
                  </a:lnTo>
                  <a:lnTo>
                    <a:pt x="408" y="882"/>
                  </a:lnTo>
                  <a:lnTo>
                    <a:pt x="392" y="890"/>
                  </a:lnTo>
                  <a:lnTo>
                    <a:pt x="375" y="898"/>
                  </a:lnTo>
                  <a:lnTo>
                    <a:pt x="356" y="904"/>
                  </a:lnTo>
                  <a:lnTo>
                    <a:pt x="346" y="905"/>
                  </a:lnTo>
                  <a:lnTo>
                    <a:pt x="338" y="907"/>
                  </a:lnTo>
                  <a:lnTo>
                    <a:pt x="302" y="907"/>
                  </a:lnTo>
                  <a:lnTo>
                    <a:pt x="267" y="902"/>
                  </a:lnTo>
                  <a:lnTo>
                    <a:pt x="248" y="898"/>
                  </a:lnTo>
                  <a:lnTo>
                    <a:pt x="231" y="892"/>
                  </a:lnTo>
                  <a:lnTo>
                    <a:pt x="214" y="884"/>
                  </a:lnTo>
                  <a:lnTo>
                    <a:pt x="197" y="876"/>
                  </a:lnTo>
                  <a:lnTo>
                    <a:pt x="177" y="863"/>
                  </a:lnTo>
                  <a:lnTo>
                    <a:pt x="160" y="850"/>
                  </a:lnTo>
                  <a:lnTo>
                    <a:pt x="140" y="832"/>
                  </a:lnTo>
                  <a:lnTo>
                    <a:pt x="124" y="812"/>
                  </a:lnTo>
                  <a:lnTo>
                    <a:pt x="108" y="791"/>
                  </a:lnTo>
                  <a:lnTo>
                    <a:pt x="98" y="769"/>
                  </a:lnTo>
                  <a:lnTo>
                    <a:pt x="84" y="731"/>
                  </a:lnTo>
                  <a:lnTo>
                    <a:pt x="78" y="695"/>
                  </a:lnTo>
                  <a:lnTo>
                    <a:pt x="77" y="676"/>
                  </a:lnTo>
                  <a:lnTo>
                    <a:pt x="81" y="659"/>
                  </a:lnTo>
                  <a:lnTo>
                    <a:pt x="92" y="623"/>
                  </a:lnTo>
                  <a:lnTo>
                    <a:pt x="69" y="601"/>
                  </a:lnTo>
                  <a:lnTo>
                    <a:pt x="51" y="581"/>
                  </a:lnTo>
                  <a:lnTo>
                    <a:pt x="35" y="559"/>
                  </a:lnTo>
                  <a:lnTo>
                    <a:pt x="23" y="540"/>
                  </a:lnTo>
                  <a:lnTo>
                    <a:pt x="12" y="518"/>
                  </a:lnTo>
                  <a:lnTo>
                    <a:pt x="8" y="508"/>
                  </a:lnTo>
                  <a:lnTo>
                    <a:pt x="5" y="498"/>
                  </a:lnTo>
                  <a:lnTo>
                    <a:pt x="2" y="476"/>
                  </a:lnTo>
                  <a:lnTo>
                    <a:pt x="0" y="457"/>
                  </a:lnTo>
                  <a:lnTo>
                    <a:pt x="2" y="436"/>
                  </a:lnTo>
                  <a:lnTo>
                    <a:pt x="5" y="414"/>
                  </a:lnTo>
                  <a:lnTo>
                    <a:pt x="12" y="392"/>
                  </a:lnTo>
                  <a:lnTo>
                    <a:pt x="23" y="372"/>
                  </a:lnTo>
                  <a:lnTo>
                    <a:pt x="35" y="350"/>
                  </a:lnTo>
                  <a:lnTo>
                    <a:pt x="51" y="329"/>
                  </a:lnTo>
                  <a:lnTo>
                    <a:pt x="69" y="307"/>
                  </a:lnTo>
                  <a:lnTo>
                    <a:pt x="92" y="288"/>
                  </a:lnTo>
                  <a:lnTo>
                    <a:pt x="81" y="250"/>
                  </a:lnTo>
                  <a:lnTo>
                    <a:pt x="77" y="230"/>
                  </a:lnTo>
                  <a:lnTo>
                    <a:pt x="78" y="214"/>
                  </a:lnTo>
                  <a:lnTo>
                    <a:pt x="84" y="176"/>
                  </a:lnTo>
                  <a:lnTo>
                    <a:pt x="98" y="140"/>
                  </a:lnTo>
                  <a:lnTo>
                    <a:pt x="114" y="108"/>
                  </a:lnTo>
                  <a:lnTo>
                    <a:pt x="137" y="80"/>
                  </a:lnTo>
                  <a:lnTo>
                    <a:pt x="164" y="55"/>
                  </a:lnTo>
                  <a:lnTo>
                    <a:pt x="179" y="43"/>
                  </a:lnTo>
                  <a:lnTo>
                    <a:pt x="197" y="34"/>
                  </a:lnTo>
                  <a:lnTo>
                    <a:pt x="231" y="16"/>
                  </a:lnTo>
                  <a:lnTo>
                    <a:pt x="267" y="5"/>
                  </a:lnTo>
                  <a:lnTo>
                    <a:pt x="302" y="0"/>
                  </a:lnTo>
                  <a:lnTo>
                    <a:pt x="338" y="2"/>
                  </a:lnTo>
                  <a:lnTo>
                    <a:pt x="356" y="5"/>
                  </a:lnTo>
                  <a:lnTo>
                    <a:pt x="375" y="11"/>
                  </a:lnTo>
                  <a:lnTo>
                    <a:pt x="392" y="17"/>
                  </a:lnTo>
                  <a:lnTo>
                    <a:pt x="408" y="26"/>
                  </a:lnTo>
                  <a:lnTo>
                    <a:pt x="423" y="36"/>
                  </a:lnTo>
                  <a:lnTo>
                    <a:pt x="438" y="49"/>
                  </a:lnTo>
                  <a:lnTo>
                    <a:pt x="452" y="62"/>
                  </a:lnTo>
                  <a:lnTo>
                    <a:pt x="465" y="80"/>
                  </a:lnTo>
                  <a:lnTo>
                    <a:pt x="525" y="48"/>
                  </a:lnTo>
                  <a:lnTo>
                    <a:pt x="556" y="35"/>
                  </a:lnTo>
                  <a:lnTo>
                    <a:pt x="587" y="26"/>
                  </a:lnTo>
                  <a:lnTo>
                    <a:pt x="618" y="18"/>
                  </a:lnTo>
                  <a:lnTo>
                    <a:pt x="650" y="12"/>
                  </a:lnTo>
                  <a:lnTo>
                    <a:pt x="712" y="8"/>
                  </a:lnTo>
                  <a:lnTo>
                    <a:pt x="772" y="12"/>
                  </a:lnTo>
                  <a:lnTo>
                    <a:pt x="803" y="18"/>
                  </a:lnTo>
                  <a:lnTo>
                    <a:pt x="835" y="26"/>
                  </a:lnTo>
                  <a:lnTo>
                    <a:pt x="866" y="35"/>
                  </a:lnTo>
                  <a:lnTo>
                    <a:pt x="897" y="48"/>
                  </a:lnTo>
                  <a:lnTo>
                    <a:pt x="959" y="80"/>
                  </a:lnTo>
                  <a:lnTo>
                    <a:pt x="971" y="62"/>
                  </a:lnTo>
                  <a:lnTo>
                    <a:pt x="985" y="49"/>
                  </a:lnTo>
                  <a:lnTo>
                    <a:pt x="999" y="36"/>
                  </a:lnTo>
                  <a:lnTo>
                    <a:pt x="1016" y="26"/>
                  </a:lnTo>
                  <a:lnTo>
                    <a:pt x="1031" y="17"/>
                  </a:lnTo>
                  <a:lnTo>
                    <a:pt x="1049" y="11"/>
                  </a:lnTo>
                  <a:lnTo>
                    <a:pt x="1067" y="5"/>
                  </a:lnTo>
                  <a:lnTo>
                    <a:pt x="1088" y="2"/>
                  </a:lnTo>
                </a:path>
              </a:pathLst>
            </a:custGeom>
            <a:gradFill rotWithShape="1">
              <a:gsLst>
                <a:gs pos="0">
                  <a:srgbClr val="E28700"/>
                </a:gs>
                <a:gs pos="50000">
                  <a:srgbClr val="FF9900">
                    <a:alpha val="59000"/>
                  </a:srgbClr>
                </a:gs>
                <a:gs pos="100000">
                  <a:srgbClr val="E28700"/>
                </a:gs>
              </a:gsLst>
              <a:lin ang="5400000" scaled="1"/>
            </a:gradFill>
            <a:ln w="12700">
              <a:solidFill>
                <a:srgbClr val="993300"/>
              </a:solidFill>
              <a:prstDash val="solid"/>
              <a:round/>
              <a:headEnd/>
              <a:tailEnd/>
            </a:ln>
          </p:spPr>
          <p:txBody>
            <a:bodyPr/>
            <a:lstStyle/>
            <a:p>
              <a:endParaRPr lang="en-IN"/>
            </a:p>
          </p:txBody>
        </p:sp>
        <p:sp>
          <p:nvSpPr>
            <p:cNvPr id="137458" name="Rectangle 242">
              <a:extLst>
                <a:ext uri="{FF2B5EF4-FFF2-40B4-BE49-F238E27FC236}">
                  <a16:creationId xmlns:a16="http://schemas.microsoft.com/office/drawing/2014/main" id="{F08F1AC5-37C3-002A-8F1D-FA3A040D31C6}"/>
                </a:ext>
              </a:extLst>
            </p:cNvPr>
            <p:cNvSpPr>
              <a:spLocks noChangeArrowheads="1"/>
            </p:cNvSpPr>
            <p:nvPr/>
          </p:nvSpPr>
          <p:spPr bwMode="auto">
            <a:xfrm>
              <a:off x="2480" y="1513"/>
              <a:ext cx="33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FC SAN</a:t>
              </a:r>
              <a:endParaRPr lang="en-US" altLang="zh-CN" sz="1600">
                <a:solidFill>
                  <a:schemeClr val="tx1"/>
                </a:solidFill>
                <a:ea typeface="宋体" panose="02010600030101010101" pitchFamily="2" charset="-122"/>
              </a:endParaRPr>
            </a:p>
          </p:txBody>
        </p:sp>
      </p:grpSp>
      <p:grpSp>
        <p:nvGrpSpPr>
          <p:cNvPr id="137460" name="Group 244">
            <a:extLst>
              <a:ext uri="{FF2B5EF4-FFF2-40B4-BE49-F238E27FC236}">
                <a16:creationId xmlns:a16="http://schemas.microsoft.com/office/drawing/2014/main" id="{E8D361B8-B30A-BBDA-8D30-833ECC151765}"/>
              </a:ext>
            </a:extLst>
          </p:cNvPr>
          <p:cNvGrpSpPr>
            <a:grpSpLocks/>
          </p:cNvGrpSpPr>
          <p:nvPr/>
        </p:nvGrpSpPr>
        <p:grpSpPr bwMode="auto">
          <a:xfrm>
            <a:off x="7627938" y="5349875"/>
            <a:ext cx="738187" cy="738188"/>
            <a:chOff x="3442" y="3713"/>
            <a:chExt cx="465" cy="465"/>
          </a:xfrm>
        </p:grpSpPr>
        <p:sp>
          <p:nvSpPr>
            <p:cNvPr id="137461" name="Freeform 245">
              <a:extLst>
                <a:ext uri="{FF2B5EF4-FFF2-40B4-BE49-F238E27FC236}">
                  <a16:creationId xmlns:a16="http://schemas.microsoft.com/office/drawing/2014/main" id="{4B2A595B-91A0-E7A1-4AB4-085C353E1B10}"/>
                </a:ext>
              </a:extLst>
            </p:cNvPr>
            <p:cNvSpPr>
              <a:spLocks/>
            </p:cNvSpPr>
            <p:nvPr/>
          </p:nvSpPr>
          <p:spPr bwMode="auto">
            <a:xfrm>
              <a:off x="3807" y="3849"/>
              <a:ext cx="100" cy="101"/>
            </a:xfrm>
            <a:custGeom>
              <a:avLst/>
              <a:gdLst>
                <a:gd name="T0" fmla="*/ 299 w 299"/>
                <a:gd name="T1" fmla="*/ 271 h 304"/>
                <a:gd name="T2" fmla="*/ 295 w 299"/>
                <a:gd name="T3" fmla="*/ 215 h 304"/>
                <a:gd name="T4" fmla="*/ 289 w 299"/>
                <a:gd name="T5" fmla="*/ 164 h 304"/>
                <a:gd name="T6" fmla="*/ 277 w 299"/>
                <a:gd name="T7" fmla="*/ 109 h 304"/>
                <a:gd name="T8" fmla="*/ 262 w 299"/>
                <a:gd name="T9" fmla="*/ 57 h 304"/>
                <a:gd name="T10" fmla="*/ 258 w 299"/>
                <a:gd name="T11" fmla="*/ 46 h 304"/>
                <a:gd name="T12" fmla="*/ 241 w 299"/>
                <a:gd name="T13" fmla="*/ 6 h 304"/>
                <a:gd name="T14" fmla="*/ 234 w 299"/>
                <a:gd name="T15" fmla="*/ 2 h 304"/>
                <a:gd name="T16" fmla="*/ 233 w 299"/>
                <a:gd name="T17" fmla="*/ 2 h 304"/>
                <a:gd name="T18" fmla="*/ 228 w 299"/>
                <a:gd name="T19" fmla="*/ 0 h 304"/>
                <a:gd name="T20" fmla="*/ 102 w 299"/>
                <a:gd name="T21" fmla="*/ 80 h 304"/>
                <a:gd name="T22" fmla="*/ 103 w 299"/>
                <a:gd name="T23" fmla="*/ 84 h 304"/>
                <a:gd name="T24" fmla="*/ 191 w 299"/>
                <a:gd name="T25" fmla="*/ 165 h 304"/>
                <a:gd name="T26" fmla="*/ 28 w 299"/>
                <a:gd name="T27" fmla="*/ 142 h 304"/>
                <a:gd name="T28" fmla="*/ 19 w 299"/>
                <a:gd name="T29" fmla="*/ 148 h 304"/>
                <a:gd name="T30" fmla="*/ 0 w 299"/>
                <a:gd name="T31" fmla="*/ 165 h 304"/>
                <a:gd name="T32" fmla="*/ 238 w 299"/>
                <a:gd name="T33" fmla="*/ 303 h 304"/>
                <a:gd name="T34" fmla="*/ 242 w 299"/>
                <a:gd name="T35" fmla="*/ 304 h 304"/>
                <a:gd name="T36" fmla="*/ 299 w 299"/>
                <a:gd name="T37" fmla="*/ 271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9" h="304">
                  <a:moveTo>
                    <a:pt x="299" y="271"/>
                  </a:moveTo>
                  <a:lnTo>
                    <a:pt x="295" y="215"/>
                  </a:lnTo>
                  <a:lnTo>
                    <a:pt x="289" y="164"/>
                  </a:lnTo>
                  <a:lnTo>
                    <a:pt x="277" y="109"/>
                  </a:lnTo>
                  <a:lnTo>
                    <a:pt x="262" y="57"/>
                  </a:lnTo>
                  <a:lnTo>
                    <a:pt x="258" y="46"/>
                  </a:lnTo>
                  <a:lnTo>
                    <a:pt x="241" y="6"/>
                  </a:lnTo>
                  <a:lnTo>
                    <a:pt x="234" y="2"/>
                  </a:lnTo>
                  <a:lnTo>
                    <a:pt x="233" y="2"/>
                  </a:lnTo>
                  <a:lnTo>
                    <a:pt x="228" y="0"/>
                  </a:lnTo>
                  <a:lnTo>
                    <a:pt x="102" y="80"/>
                  </a:lnTo>
                  <a:lnTo>
                    <a:pt x="103" y="84"/>
                  </a:lnTo>
                  <a:lnTo>
                    <a:pt x="191" y="165"/>
                  </a:lnTo>
                  <a:lnTo>
                    <a:pt x="28" y="142"/>
                  </a:lnTo>
                  <a:lnTo>
                    <a:pt x="19" y="148"/>
                  </a:lnTo>
                  <a:lnTo>
                    <a:pt x="0" y="165"/>
                  </a:lnTo>
                  <a:lnTo>
                    <a:pt x="238" y="303"/>
                  </a:lnTo>
                  <a:lnTo>
                    <a:pt x="242" y="304"/>
                  </a:lnTo>
                  <a:lnTo>
                    <a:pt x="299" y="27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62" name="Freeform 246">
              <a:extLst>
                <a:ext uri="{FF2B5EF4-FFF2-40B4-BE49-F238E27FC236}">
                  <a16:creationId xmlns:a16="http://schemas.microsoft.com/office/drawing/2014/main" id="{2D561891-C6E7-DB2F-41D2-98BF0D76A545}"/>
                </a:ext>
              </a:extLst>
            </p:cNvPr>
            <p:cNvSpPr>
              <a:spLocks/>
            </p:cNvSpPr>
            <p:nvPr/>
          </p:nvSpPr>
          <p:spPr bwMode="auto">
            <a:xfrm>
              <a:off x="3888" y="3939"/>
              <a:ext cx="19" cy="39"/>
            </a:xfrm>
            <a:custGeom>
              <a:avLst/>
              <a:gdLst>
                <a:gd name="T0" fmla="*/ 57 w 57"/>
                <a:gd name="T1" fmla="*/ 19 h 115"/>
                <a:gd name="T2" fmla="*/ 57 w 57"/>
                <a:gd name="T3" fmla="*/ 0 h 115"/>
                <a:gd name="T4" fmla="*/ 0 w 57"/>
                <a:gd name="T5" fmla="*/ 33 h 115"/>
                <a:gd name="T6" fmla="*/ 22 w 57"/>
                <a:gd name="T7" fmla="*/ 46 h 115"/>
                <a:gd name="T8" fmla="*/ 51 w 57"/>
                <a:gd name="T9" fmla="*/ 115 h 115"/>
                <a:gd name="T10" fmla="*/ 56 w 57"/>
                <a:gd name="T11" fmla="*/ 73 h 115"/>
                <a:gd name="T12" fmla="*/ 56 w 57"/>
                <a:gd name="T13" fmla="*/ 45 h 115"/>
                <a:gd name="T14" fmla="*/ 57 w 57"/>
                <a:gd name="T15" fmla="*/ 19 h 1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115">
                  <a:moveTo>
                    <a:pt x="57" y="19"/>
                  </a:moveTo>
                  <a:lnTo>
                    <a:pt x="57" y="0"/>
                  </a:lnTo>
                  <a:lnTo>
                    <a:pt x="0" y="33"/>
                  </a:lnTo>
                  <a:lnTo>
                    <a:pt x="22" y="46"/>
                  </a:lnTo>
                  <a:lnTo>
                    <a:pt x="51" y="115"/>
                  </a:lnTo>
                  <a:lnTo>
                    <a:pt x="56" y="73"/>
                  </a:lnTo>
                  <a:lnTo>
                    <a:pt x="56" y="45"/>
                  </a:lnTo>
                  <a:lnTo>
                    <a:pt x="57" y="19"/>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63" name="Freeform 247">
              <a:extLst>
                <a:ext uri="{FF2B5EF4-FFF2-40B4-BE49-F238E27FC236}">
                  <a16:creationId xmlns:a16="http://schemas.microsoft.com/office/drawing/2014/main" id="{1AF733DA-9269-7606-A424-FA04D702F306}"/>
                </a:ext>
              </a:extLst>
            </p:cNvPr>
            <p:cNvSpPr>
              <a:spLocks/>
            </p:cNvSpPr>
            <p:nvPr/>
          </p:nvSpPr>
          <p:spPr bwMode="auto">
            <a:xfrm>
              <a:off x="3851" y="3950"/>
              <a:ext cx="54" cy="55"/>
            </a:xfrm>
            <a:custGeom>
              <a:avLst/>
              <a:gdLst>
                <a:gd name="T0" fmla="*/ 154 w 163"/>
                <a:gd name="T1" fmla="*/ 134 h 166"/>
                <a:gd name="T2" fmla="*/ 158 w 163"/>
                <a:gd name="T3" fmla="*/ 108 h 166"/>
                <a:gd name="T4" fmla="*/ 163 w 163"/>
                <a:gd name="T5" fmla="*/ 83 h 166"/>
                <a:gd name="T6" fmla="*/ 134 w 163"/>
                <a:gd name="T7" fmla="*/ 14 h 166"/>
                <a:gd name="T8" fmla="*/ 112 w 163"/>
                <a:gd name="T9" fmla="*/ 1 h 166"/>
                <a:gd name="T10" fmla="*/ 108 w 163"/>
                <a:gd name="T11" fmla="*/ 0 h 166"/>
                <a:gd name="T12" fmla="*/ 88 w 163"/>
                <a:gd name="T13" fmla="*/ 13 h 166"/>
                <a:gd name="T14" fmla="*/ 3 w 163"/>
                <a:gd name="T15" fmla="*/ 77 h 166"/>
                <a:gd name="T16" fmla="*/ 0 w 163"/>
                <a:gd name="T17" fmla="*/ 78 h 166"/>
                <a:gd name="T18" fmla="*/ 1 w 163"/>
                <a:gd name="T19" fmla="*/ 80 h 166"/>
                <a:gd name="T20" fmla="*/ 147 w 163"/>
                <a:gd name="T21" fmla="*/ 166 h 166"/>
                <a:gd name="T22" fmla="*/ 154 w 163"/>
                <a:gd name="T23" fmla="*/ 13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3" h="166">
                  <a:moveTo>
                    <a:pt x="154" y="134"/>
                  </a:moveTo>
                  <a:lnTo>
                    <a:pt x="158" y="108"/>
                  </a:lnTo>
                  <a:lnTo>
                    <a:pt x="163" y="83"/>
                  </a:lnTo>
                  <a:lnTo>
                    <a:pt x="134" y="14"/>
                  </a:lnTo>
                  <a:lnTo>
                    <a:pt x="112" y="1"/>
                  </a:lnTo>
                  <a:lnTo>
                    <a:pt x="108" y="0"/>
                  </a:lnTo>
                  <a:lnTo>
                    <a:pt x="88" y="13"/>
                  </a:lnTo>
                  <a:lnTo>
                    <a:pt x="3" y="77"/>
                  </a:lnTo>
                  <a:lnTo>
                    <a:pt x="0" y="78"/>
                  </a:lnTo>
                  <a:lnTo>
                    <a:pt x="1" y="80"/>
                  </a:lnTo>
                  <a:lnTo>
                    <a:pt x="147" y="166"/>
                  </a:lnTo>
                  <a:lnTo>
                    <a:pt x="154" y="134"/>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64" name="Freeform 248">
              <a:extLst>
                <a:ext uri="{FF2B5EF4-FFF2-40B4-BE49-F238E27FC236}">
                  <a16:creationId xmlns:a16="http://schemas.microsoft.com/office/drawing/2014/main" id="{38FC8C5C-0E77-3BA4-2C32-87B127B4435A}"/>
                </a:ext>
              </a:extLst>
            </p:cNvPr>
            <p:cNvSpPr>
              <a:spLocks/>
            </p:cNvSpPr>
            <p:nvPr/>
          </p:nvSpPr>
          <p:spPr bwMode="auto">
            <a:xfrm>
              <a:off x="3875" y="4005"/>
              <a:ext cx="25" cy="30"/>
            </a:xfrm>
            <a:custGeom>
              <a:avLst/>
              <a:gdLst>
                <a:gd name="T0" fmla="*/ 74 w 74"/>
                <a:gd name="T1" fmla="*/ 0 h 88"/>
                <a:gd name="T2" fmla="*/ 43 w 74"/>
                <a:gd name="T3" fmla="*/ 21 h 88"/>
                <a:gd name="T4" fmla="*/ 0 w 74"/>
                <a:gd name="T5" fmla="*/ 54 h 88"/>
                <a:gd name="T6" fmla="*/ 45 w 74"/>
                <a:gd name="T7" fmla="*/ 88 h 88"/>
                <a:gd name="T8" fmla="*/ 56 w 74"/>
                <a:gd name="T9" fmla="*/ 61 h 88"/>
                <a:gd name="T10" fmla="*/ 65 w 74"/>
                <a:gd name="T11" fmla="*/ 30 h 88"/>
                <a:gd name="T12" fmla="*/ 74 w 74"/>
                <a:gd name="T13" fmla="*/ 0 h 88"/>
              </a:gdLst>
              <a:ahLst/>
              <a:cxnLst>
                <a:cxn ang="0">
                  <a:pos x="T0" y="T1"/>
                </a:cxn>
                <a:cxn ang="0">
                  <a:pos x="T2" y="T3"/>
                </a:cxn>
                <a:cxn ang="0">
                  <a:pos x="T4" y="T5"/>
                </a:cxn>
                <a:cxn ang="0">
                  <a:pos x="T6" y="T7"/>
                </a:cxn>
                <a:cxn ang="0">
                  <a:pos x="T8" y="T9"/>
                </a:cxn>
                <a:cxn ang="0">
                  <a:pos x="T10" y="T11"/>
                </a:cxn>
                <a:cxn ang="0">
                  <a:pos x="T12" y="T13"/>
                </a:cxn>
              </a:cxnLst>
              <a:rect l="0" t="0" r="r" b="b"/>
              <a:pathLst>
                <a:path w="74" h="88">
                  <a:moveTo>
                    <a:pt x="74" y="0"/>
                  </a:moveTo>
                  <a:lnTo>
                    <a:pt x="43" y="21"/>
                  </a:lnTo>
                  <a:lnTo>
                    <a:pt x="0" y="54"/>
                  </a:lnTo>
                  <a:lnTo>
                    <a:pt x="45" y="88"/>
                  </a:lnTo>
                  <a:lnTo>
                    <a:pt x="56" y="61"/>
                  </a:lnTo>
                  <a:lnTo>
                    <a:pt x="65" y="30"/>
                  </a:lnTo>
                  <a:lnTo>
                    <a:pt x="7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65" name="Freeform 249">
              <a:extLst>
                <a:ext uri="{FF2B5EF4-FFF2-40B4-BE49-F238E27FC236}">
                  <a16:creationId xmlns:a16="http://schemas.microsoft.com/office/drawing/2014/main" id="{57B4D460-24AE-999C-B29E-78F837B4AACD}"/>
                </a:ext>
              </a:extLst>
            </p:cNvPr>
            <p:cNvSpPr>
              <a:spLocks/>
            </p:cNvSpPr>
            <p:nvPr/>
          </p:nvSpPr>
          <p:spPr bwMode="auto">
            <a:xfrm>
              <a:off x="3784" y="4023"/>
              <a:ext cx="106" cy="112"/>
            </a:xfrm>
            <a:custGeom>
              <a:avLst/>
              <a:gdLst>
                <a:gd name="T0" fmla="*/ 317 w 319"/>
                <a:gd name="T1" fmla="*/ 39 h 336"/>
                <a:gd name="T2" fmla="*/ 319 w 319"/>
                <a:gd name="T3" fmla="*/ 34 h 336"/>
                <a:gd name="T4" fmla="*/ 274 w 319"/>
                <a:gd name="T5" fmla="*/ 0 h 336"/>
                <a:gd name="T6" fmla="*/ 203 w 319"/>
                <a:gd name="T7" fmla="*/ 56 h 336"/>
                <a:gd name="T8" fmla="*/ 147 w 319"/>
                <a:gd name="T9" fmla="*/ 102 h 336"/>
                <a:gd name="T10" fmla="*/ 95 w 319"/>
                <a:gd name="T11" fmla="*/ 150 h 336"/>
                <a:gd name="T12" fmla="*/ 46 w 319"/>
                <a:gd name="T13" fmla="*/ 198 h 336"/>
                <a:gd name="T14" fmla="*/ 0 w 319"/>
                <a:gd name="T15" fmla="*/ 246 h 336"/>
                <a:gd name="T16" fmla="*/ 3 w 319"/>
                <a:gd name="T17" fmla="*/ 249 h 336"/>
                <a:gd name="T18" fmla="*/ 41 w 319"/>
                <a:gd name="T19" fmla="*/ 289 h 336"/>
                <a:gd name="T20" fmla="*/ 60 w 319"/>
                <a:gd name="T21" fmla="*/ 312 h 336"/>
                <a:gd name="T22" fmla="*/ 78 w 319"/>
                <a:gd name="T23" fmla="*/ 336 h 336"/>
                <a:gd name="T24" fmla="*/ 100 w 319"/>
                <a:gd name="T25" fmla="*/ 318 h 336"/>
                <a:gd name="T26" fmla="*/ 111 w 319"/>
                <a:gd name="T27" fmla="*/ 308 h 336"/>
                <a:gd name="T28" fmla="*/ 123 w 319"/>
                <a:gd name="T29" fmla="*/ 300 h 336"/>
                <a:gd name="T30" fmla="*/ 166 w 319"/>
                <a:gd name="T31" fmla="*/ 260 h 336"/>
                <a:gd name="T32" fmla="*/ 203 w 319"/>
                <a:gd name="T33" fmla="*/ 219 h 336"/>
                <a:gd name="T34" fmla="*/ 220 w 319"/>
                <a:gd name="T35" fmla="*/ 198 h 336"/>
                <a:gd name="T36" fmla="*/ 237 w 319"/>
                <a:gd name="T37" fmla="*/ 177 h 336"/>
                <a:gd name="T38" fmla="*/ 251 w 319"/>
                <a:gd name="T39" fmla="*/ 154 h 336"/>
                <a:gd name="T40" fmla="*/ 267 w 319"/>
                <a:gd name="T41" fmla="*/ 133 h 336"/>
                <a:gd name="T42" fmla="*/ 294 w 319"/>
                <a:gd name="T43" fmla="*/ 87 h 336"/>
                <a:gd name="T44" fmla="*/ 317 w 319"/>
                <a:gd name="T45" fmla="*/ 39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9" h="336">
                  <a:moveTo>
                    <a:pt x="317" y="39"/>
                  </a:moveTo>
                  <a:lnTo>
                    <a:pt x="319" y="34"/>
                  </a:lnTo>
                  <a:lnTo>
                    <a:pt x="274" y="0"/>
                  </a:lnTo>
                  <a:lnTo>
                    <a:pt x="203" y="56"/>
                  </a:lnTo>
                  <a:lnTo>
                    <a:pt x="147" y="102"/>
                  </a:lnTo>
                  <a:lnTo>
                    <a:pt x="95" y="150"/>
                  </a:lnTo>
                  <a:lnTo>
                    <a:pt x="46" y="198"/>
                  </a:lnTo>
                  <a:lnTo>
                    <a:pt x="0" y="246"/>
                  </a:lnTo>
                  <a:lnTo>
                    <a:pt x="3" y="249"/>
                  </a:lnTo>
                  <a:lnTo>
                    <a:pt x="41" y="289"/>
                  </a:lnTo>
                  <a:lnTo>
                    <a:pt x="60" y="312"/>
                  </a:lnTo>
                  <a:lnTo>
                    <a:pt x="78" y="336"/>
                  </a:lnTo>
                  <a:lnTo>
                    <a:pt x="100" y="318"/>
                  </a:lnTo>
                  <a:lnTo>
                    <a:pt x="111" y="308"/>
                  </a:lnTo>
                  <a:lnTo>
                    <a:pt x="123" y="300"/>
                  </a:lnTo>
                  <a:lnTo>
                    <a:pt x="166" y="260"/>
                  </a:lnTo>
                  <a:lnTo>
                    <a:pt x="203" y="219"/>
                  </a:lnTo>
                  <a:lnTo>
                    <a:pt x="220" y="198"/>
                  </a:lnTo>
                  <a:lnTo>
                    <a:pt x="237" y="177"/>
                  </a:lnTo>
                  <a:lnTo>
                    <a:pt x="251" y="154"/>
                  </a:lnTo>
                  <a:lnTo>
                    <a:pt x="267" y="133"/>
                  </a:lnTo>
                  <a:lnTo>
                    <a:pt x="294" y="87"/>
                  </a:lnTo>
                  <a:lnTo>
                    <a:pt x="317" y="39"/>
                  </a:lnTo>
                  <a:close/>
                </a:path>
              </a:pathLst>
            </a:custGeom>
            <a:solidFill>
              <a:srgbClr val="99CC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37466" name="Freeform 250">
              <a:extLst>
                <a:ext uri="{FF2B5EF4-FFF2-40B4-BE49-F238E27FC236}">
                  <a16:creationId xmlns:a16="http://schemas.microsoft.com/office/drawing/2014/main" id="{60920F70-786E-0118-080D-FB2F31994FAA}"/>
                </a:ext>
              </a:extLst>
            </p:cNvPr>
            <p:cNvSpPr>
              <a:spLocks/>
            </p:cNvSpPr>
            <p:nvPr/>
          </p:nvSpPr>
          <p:spPr bwMode="auto">
            <a:xfrm>
              <a:off x="3832" y="3976"/>
              <a:ext cx="68" cy="47"/>
            </a:xfrm>
            <a:custGeom>
              <a:avLst/>
              <a:gdLst>
                <a:gd name="T0" fmla="*/ 172 w 203"/>
                <a:gd name="T1" fmla="*/ 109 h 142"/>
                <a:gd name="T2" fmla="*/ 203 w 203"/>
                <a:gd name="T3" fmla="*/ 88 h 142"/>
                <a:gd name="T4" fmla="*/ 57 w 203"/>
                <a:gd name="T5" fmla="*/ 2 h 142"/>
                <a:gd name="T6" fmla="*/ 56 w 203"/>
                <a:gd name="T7" fmla="*/ 0 h 142"/>
                <a:gd name="T8" fmla="*/ 0 w 203"/>
                <a:gd name="T9" fmla="*/ 46 h 142"/>
                <a:gd name="T10" fmla="*/ 129 w 203"/>
                <a:gd name="T11" fmla="*/ 142 h 142"/>
                <a:gd name="T12" fmla="*/ 172 w 203"/>
                <a:gd name="T13" fmla="*/ 109 h 142"/>
              </a:gdLst>
              <a:ahLst/>
              <a:cxnLst>
                <a:cxn ang="0">
                  <a:pos x="T0" y="T1"/>
                </a:cxn>
                <a:cxn ang="0">
                  <a:pos x="T2" y="T3"/>
                </a:cxn>
                <a:cxn ang="0">
                  <a:pos x="T4" y="T5"/>
                </a:cxn>
                <a:cxn ang="0">
                  <a:pos x="T6" y="T7"/>
                </a:cxn>
                <a:cxn ang="0">
                  <a:pos x="T8" y="T9"/>
                </a:cxn>
                <a:cxn ang="0">
                  <a:pos x="T10" y="T11"/>
                </a:cxn>
                <a:cxn ang="0">
                  <a:pos x="T12" y="T13"/>
                </a:cxn>
              </a:cxnLst>
              <a:rect l="0" t="0" r="r" b="b"/>
              <a:pathLst>
                <a:path w="203" h="142">
                  <a:moveTo>
                    <a:pt x="172" y="109"/>
                  </a:moveTo>
                  <a:lnTo>
                    <a:pt x="203" y="88"/>
                  </a:lnTo>
                  <a:lnTo>
                    <a:pt x="57" y="2"/>
                  </a:lnTo>
                  <a:lnTo>
                    <a:pt x="56" y="0"/>
                  </a:lnTo>
                  <a:lnTo>
                    <a:pt x="0" y="46"/>
                  </a:lnTo>
                  <a:lnTo>
                    <a:pt x="129" y="142"/>
                  </a:lnTo>
                  <a:lnTo>
                    <a:pt x="172" y="109"/>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67" name="Freeform 251">
              <a:extLst>
                <a:ext uri="{FF2B5EF4-FFF2-40B4-BE49-F238E27FC236}">
                  <a16:creationId xmlns:a16="http://schemas.microsoft.com/office/drawing/2014/main" id="{F4EAA2B9-2047-B11C-128F-E3DD80AD138F}"/>
                </a:ext>
              </a:extLst>
            </p:cNvPr>
            <p:cNvSpPr>
              <a:spLocks noEditPoints="1"/>
            </p:cNvSpPr>
            <p:nvPr/>
          </p:nvSpPr>
          <p:spPr bwMode="auto">
            <a:xfrm>
              <a:off x="3514" y="3762"/>
              <a:ext cx="229" cy="281"/>
            </a:xfrm>
            <a:custGeom>
              <a:avLst/>
              <a:gdLst>
                <a:gd name="T0" fmla="*/ 0 w 686"/>
                <a:gd name="T1" fmla="*/ 124 h 843"/>
                <a:gd name="T2" fmla="*/ 47 w 686"/>
                <a:gd name="T3" fmla="*/ 240 h 843"/>
                <a:gd name="T4" fmla="*/ 0 w 686"/>
                <a:gd name="T5" fmla="*/ 396 h 843"/>
                <a:gd name="T6" fmla="*/ 47 w 686"/>
                <a:gd name="T7" fmla="*/ 715 h 843"/>
                <a:gd name="T8" fmla="*/ 288 w 686"/>
                <a:gd name="T9" fmla="*/ 731 h 843"/>
                <a:gd name="T10" fmla="*/ 358 w 686"/>
                <a:gd name="T11" fmla="*/ 843 h 843"/>
                <a:gd name="T12" fmla="*/ 372 w 686"/>
                <a:gd name="T13" fmla="*/ 781 h 843"/>
                <a:gd name="T14" fmla="*/ 345 w 686"/>
                <a:gd name="T15" fmla="*/ 707 h 843"/>
                <a:gd name="T16" fmla="*/ 347 w 686"/>
                <a:gd name="T17" fmla="*/ 696 h 843"/>
                <a:gd name="T18" fmla="*/ 351 w 686"/>
                <a:gd name="T19" fmla="*/ 687 h 843"/>
                <a:gd name="T20" fmla="*/ 310 w 686"/>
                <a:gd name="T21" fmla="*/ 678 h 843"/>
                <a:gd name="T22" fmla="*/ 110 w 686"/>
                <a:gd name="T23" fmla="*/ 664 h 843"/>
                <a:gd name="T24" fmla="*/ 84 w 686"/>
                <a:gd name="T25" fmla="*/ 449 h 843"/>
                <a:gd name="T26" fmla="*/ 72 w 686"/>
                <a:gd name="T27" fmla="*/ 449 h 843"/>
                <a:gd name="T28" fmla="*/ 72 w 686"/>
                <a:gd name="T29" fmla="*/ 402 h 843"/>
                <a:gd name="T30" fmla="*/ 72 w 686"/>
                <a:gd name="T31" fmla="*/ 352 h 843"/>
                <a:gd name="T32" fmla="*/ 72 w 686"/>
                <a:gd name="T33" fmla="*/ 326 h 843"/>
                <a:gd name="T34" fmla="*/ 82 w 686"/>
                <a:gd name="T35" fmla="*/ 226 h 843"/>
                <a:gd name="T36" fmla="*/ 78 w 686"/>
                <a:gd name="T37" fmla="*/ 226 h 843"/>
                <a:gd name="T38" fmla="*/ 60 w 686"/>
                <a:gd name="T39" fmla="*/ 167 h 843"/>
                <a:gd name="T40" fmla="*/ 136 w 686"/>
                <a:gd name="T41" fmla="*/ 95 h 843"/>
                <a:gd name="T42" fmla="*/ 432 w 686"/>
                <a:gd name="T43" fmla="*/ 65 h 843"/>
                <a:gd name="T44" fmla="*/ 576 w 686"/>
                <a:gd name="T45" fmla="*/ 195 h 843"/>
                <a:gd name="T46" fmla="*/ 557 w 686"/>
                <a:gd name="T47" fmla="*/ 237 h 843"/>
                <a:gd name="T48" fmla="*/ 556 w 686"/>
                <a:gd name="T49" fmla="*/ 242 h 843"/>
                <a:gd name="T50" fmla="*/ 615 w 686"/>
                <a:gd name="T51" fmla="*/ 224 h 843"/>
                <a:gd name="T52" fmla="*/ 611 w 686"/>
                <a:gd name="T53" fmla="*/ 274 h 843"/>
                <a:gd name="T54" fmla="*/ 548 w 686"/>
                <a:gd name="T55" fmla="*/ 258 h 843"/>
                <a:gd name="T56" fmla="*/ 546 w 686"/>
                <a:gd name="T57" fmla="*/ 262 h 843"/>
                <a:gd name="T58" fmla="*/ 588 w 686"/>
                <a:gd name="T59" fmla="*/ 320 h 843"/>
                <a:gd name="T60" fmla="*/ 537 w 686"/>
                <a:gd name="T61" fmla="*/ 320 h 843"/>
                <a:gd name="T62" fmla="*/ 537 w 686"/>
                <a:gd name="T63" fmla="*/ 284 h 843"/>
                <a:gd name="T64" fmla="*/ 518 w 686"/>
                <a:gd name="T65" fmla="*/ 326 h 843"/>
                <a:gd name="T66" fmla="*/ 496 w 686"/>
                <a:gd name="T67" fmla="*/ 375 h 843"/>
                <a:gd name="T68" fmla="*/ 497 w 686"/>
                <a:gd name="T69" fmla="*/ 381 h 843"/>
                <a:gd name="T70" fmla="*/ 496 w 686"/>
                <a:gd name="T71" fmla="*/ 378 h 843"/>
                <a:gd name="T72" fmla="*/ 491 w 686"/>
                <a:gd name="T73" fmla="*/ 433 h 843"/>
                <a:gd name="T74" fmla="*/ 552 w 686"/>
                <a:gd name="T75" fmla="*/ 418 h 843"/>
                <a:gd name="T76" fmla="*/ 558 w 686"/>
                <a:gd name="T77" fmla="*/ 418 h 843"/>
                <a:gd name="T78" fmla="*/ 572 w 686"/>
                <a:gd name="T79" fmla="*/ 414 h 843"/>
                <a:gd name="T80" fmla="*/ 592 w 686"/>
                <a:gd name="T81" fmla="*/ 396 h 843"/>
                <a:gd name="T82" fmla="*/ 616 w 686"/>
                <a:gd name="T83" fmla="*/ 381 h 843"/>
                <a:gd name="T84" fmla="*/ 639 w 686"/>
                <a:gd name="T85" fmla="*/ 296 h 843"/>
                <a:gd name="T86" fmla="*/ 686 w 686"/>
                <a:gd name="T87" fmla="*/ 178 h 843"/>
                <a:gd name="T88" fmla="*/ 492 w 686"/>
                <a:gd name="T89" fmla="*/ 0 h 843"/>
                <a:gd name="T90" fmla="*/ 172 w 686"/>
                <a:gd name="T91" fmla="*/ 6 h 843"/>
                <a:gd name="T92" fmla="*/ 0 w 686"/>
                <a:gd name="T93" fmla="*/ 124 h 843"/>
                <a:gd name="T94" fmla="*/ 351 w 686"/>
                <a:gd name="T95" fmla="*/ 804 h 843"/>
                <a:gd name="T96" fmla="*/ 353 w 686"/>
                <a:gd name="T97" fmla="*/ 805 h 843"/>
                <a:gd name="T98" fmla="*/ 353 w 686"/>
                <a:gd name="T99" fmla="*/ 809 h 843"/>
                <a:gd name="T100" fmla="*/ 351 w 686"/>
                <a:gd name="T101" fmla="*/ 804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86" h="843">
                  <a:moveTo>
                    <a:pt x="0" y="124"/>
                  </a:moveTo>
                  <a:lnTo>
                    <a:pt x="47" y="240"/>
                  </a:lnTo>
                  <a:lnTo>
                    <a:pt x="0" y="396"/>
                  </a:lnTo>
                  <a:lnTo>
                    <a:pt x="47" y="715"/>
                  </a:lnTo>
                  <a:lnTo>
                    <a:pt x="288" y="731"/>
                  </a:lnTo>
                  <a:lnTo>
                    <a:pt x="358" y="843"/>
                  </a:lnTo>
                  <a:lnTo>
                    <a:pt x="372" y="781"/>
                  </a:lnTo>
                  <a:lnTo>
                    <a:pt x="345" y="707"/>
                  </a:lnTo>
                  <a:lnTo>
                    <a:pt x="347" y="696"/>
                  </a:lnTo>
                  <a:lnTo>
                    <a:pt x="351" y="687"/>
                  </a:lnTo>
                  <a:lnTo>
                    <a:pt x="310" y="678"/>
                  </a:lnTo>
                  <a:lnTo>
                    <a:pt x="110" y="664"/>
                  </a:lnTo>
                  <a:lnTo>
                    <a:pt x="84" y="449"/>
                  </a:lnTo>
                  <a:lnTo>
                    <a:pt x="72" y="449"/>
                  </a:lnTo>
                  <a:lnTo>
                    <a:pt x="72" y="402"/>
                  </a:lnTo>
                  <a:lnTo>
                    <a:pt x="72" y="352"/>
                  </a:lnTo>
                  <a:lnTo>
                    <a:pt x="72" y="326"/>
                  </a:lnTo>
                  <a:lnTo>
                    <a:pt x="82" y="226"/>
                  </a:lnTo>
                  <a:lnTo>
                    <a:pt x="78" y="226"/>
                  </a:lnTo>
                  <a:lnTo>
                    <a:pt x="60" y="167"/>
                  </a:lnTo>
                  <a:lnTo>
                    <a:pt x="136" y="95"/>
                  </a:lnTo>
                  <a:lnTo>
                    <a:pt x="432" y="65"/>
                  </a:lnTo>
                  <a:lnTo>
                    <a:pt x="576" y="195"/>
                  </a:lnTo>
                  <a:lnTo>
                    <a:pt x="557" y="237"/>
                  </a:lnTo>
                  <a:lnTo>
                    <a:pt x="556" y="242"/>
                  </a:lnTo>
                  <a:lnTo>
                    <a:pt x="615" y="224"/>
                  </a:lnTo>
                  <a:lnTo>
                    <a:pt x="611" y="274"/>
                  </a:lnTo>
                  <a:lnTo>
                    <a:pt x="548" y="258"/>
                  </a:lnTo>
                  <a:lnTo>
                    <a:pt x="546" y="262"/>
                  </a:lnTo>
                  <a:lnTo>
                    <a:pt x="588" y="320"/>
                  </a:lnTo>
                  <a:lnTo>
                    <a:pt x="537" y="320"/>
                  </a:lnTo>
                  <a:lnTo>
                    <a:pt x="537" y="284"/>
                  </a:lnTo>
                  <a:lnTo>
                    <a:pt x="518" y="326"/>
                  </a:lnTo>
                  <a:lnTo>
                    <a:pt x="496" y="375"/>
                  </a:lnTo>
                  <a:lnTo>
                    <a:pt x="497" y="381"/>
                  </a:lnTo>
                  <a:lnTo>
                    <a:pt x="496" y="378"/>
                  </a:lnTo>
                  <a:lnTo>
                    <a:pt x="491" y="433"/>
                  </a:lnTo>
                  <a:lnTo>
                    <a:pt x="552" y="418"/>
                  </a:lnTo>
                  <a:lnTo>
                    <a:pt x="558" y="418"/>
                  </a:lnTo>
                  <a:lnTo>
                    <a:pt x="572" y="414"/>
                  </a:lnTo>
                  <a:lnTo>
                    <a:pt x="592" y="396"/>
                  </a:lnTo>
                  <a:lnTo>
                    <a:pt x="616" y="381"/>
                  </a:lnTo>
                  <a:lnTo>
                    <a:pt x="639" y="296"/>
                  </a:lnTo>
                  <a:lnTo>
                    <a:pt x="686" y="178"/>
                  </a:lnTo>
                  <a:lnTo>
                    <a:pt x="492" y="0"/>
                  </a:lnTo>
                  <a:lnTo>
                    <a:pt x="172" y="6"/>
                  </a:lnTo>
                  <a:lnTo>
                    <a:pt x="0" y="124"/>
                  </a:lnTo>
                  <a:close/>
                  <a:moveTo>
                    <a:pt x="351" y="804"/>
                  </a:moveTo>
                  <a:lnTo>
                    <a:pt x="353" y="805"/>
                  </a:lnTo>
                  <a:lnTo>
                    <a:pt x="353" y="809"/>
                  </a:lnTo>
                  <a:lnTo>
                    <a:pt x="351" y="804"/>
                  </a:lnTo>
                  <a:close/>
                </a:path>
              </a:pathLst>
            </a:custGeom>
            <a:solidFill>
              <a:srgbClr val="E8E8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68" name="Freeform 252">
              <a:extLst>
                <a:ext uri="{FF2B5EF4-FFF2-40B4-BE49-F238E27FC236}">
                  <a16:creationId xmlns:a16="http://schemas.microsoft.com/office/drawing/2014/main" id="{B31D0099-A1A6-6C76-4B16-DF391F089447}"/>
                </a:ext>
              </a:extLst>
            </p:cNvPr>
            <p:cNvSpPr>
              <a:spLocks/>
            </p:cNvSpPr>
            <p:nvPr/>
          </p:nvSpPr>
          <p:spPr bwMode="auto">
            <a:xfrm>
              <a:off x="3631" y="4030"/>
              <a:ext cx="1" cy="2"/>
            </a:xfrm>
            <a:custGeom>
              <a:avLst/>
              <a:gdLst>
                <a:gd name="T0" fmla="*/ 2 w 2"/>
                <a:gd name="T1" fmla="*/ 1 h 5"/>
                <a:gd name="T2" fmla="*/ 0 w 2"/>
                <a:gd name="T3" fmla="*/ 0 h 5"/>
                <a:gd name="T4" fmla="*/ 2 w 2"/>
                <a:gd name="T5" fmla="*/ 5 h 5"/>
                <a:gd name="T6" fmla="*/ 2 w 2"/>
                <a:gd name="T7" fmla="*/ 1 h 5"/>
              </a:gdLst>
              <a:ahLst/>
              <a:cxnLst>
                <a:cxn ang="0">
                  <a:pos x="T0" y="T1"/>
                </a:cxn>
                <a:cxn ang="0">
                  <a:pos x="T2" y="T3"/>
                </a:cxn>
                <a:cxn ang="0">
                  <a:pos x="T4" y="T5"/>
                </a:cxn>
                <a:cxn ang="0">
                  <a:pos x="T6" y="T7"/>
                </a:cxn>
              </a:cxnLst>
              <a:rect l="0" t="0" r="r" b="b"/>
              <a:pathLst>
                <a:path w="2" h="5">
                  <a:moveTo>
                    <a:pt x="2" y="1"/>
                  </a:moveTo>
                  <a:lnTo>
                    <a:pt x="0" y="0"/>
                  </a:lnTo>
                  <a:lnTo>
                    <a:pt x="2" y="5"/>
                  </a:lnTo>
                  <a:lnTo>
                    <a:pt x="2" y="1"/>
                  </a:lnTo>
                  <a:close/>
                </a:path>
              </a:pathLst>
            </a:custGeom>
            <a:solidFill>
              <a:srgbClr val="FFD14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69" name="Freeform 253">
              <a:extLst>
                <a:ext uri="{FF2B5EF4-FFF2-40B4-BE49-F238E27FC236}">
                  <a16:creationId xmlns:a16="http://schemas.microsoft.com/office/drawing/2014/main" id="{59E67A43-DB40-F5BC-08F5-F59AECAA2A83}"/>
                </a:ext>
              </a:extLst>
            </p:cNvPr>
            <p:cNvSpPr>
              <a:spLocks/>
            </p:cNvSpPr>
            <p:nvPr/>
          </p:nvSpPr>
          <p:spPr bwMode="auto">
            <a:xfrm>
              <a:off x="3442" y="3713"/>
              <a:ext cx="437" cy="454"/>
            </a:xfrm>
            <a:custGeom>
              <a:avLst/>
              <a:gdLst>
                <a:gd name="T0" fmla="*/ 216 w 1311"/>
                <a:gd name="T1" fmla="*/ 271 h 1362"/>
                <a:gd name="T2" fmla="*/ 708 w 1311"/>
                <a:gd name="T3" fmla="*/ 147 h 1362"/>
                <a:gd name="T4" fmla="*/ 855 w 1311"/>
                <a:gd name="T5" fmla="*/ 443 h 1362"/>
                <a:gd name="T6" fmla="*/ 863 w 1311"/>
                <a:gd name="T7" fmla="*/ 507 h 1362"/>
                <a:gd name="T8" fmla="*/ 916 w 1311"/>
                <a:gd name="T9" fmla="*/ 477 h 1362"/>
                <a:gd name="T10" fmla="*/ 1073 w 1311"/>
                <a:gd name="T11" fmla="*/ 351 h 1362"/>
                <a:gd name="T12" fmla="*/ 1122 w 1311"/>
                <a:gd name="T13" fmla="*/ 339 h 1362"/>
                <a:gd name="T14" fmla="*/ 1221 w 1311"/>
                <a:gd name="T15" fmla="*/ 337 h 1362"/>
                <a:gd name="T16" fmla="*/ 1305 w 1311"/>
                <a:gd name="T17" fmla="*/ 359 h 1362"/>
                <a:gd name="T18" fmla="*/ 1284 w 1311"/>
                <a:gd name="T19" fmla="*/ 319 h 1362"/>
                <a:gd name="T20" fmla="*/ 1224 w 1311"/>
                <a:gd name="T21" fmla="*/ 240 h 1362"/>
                <a:gd name="T22" fmla="*/ 1163 w 1311"/>
                <a:gd name="T23" fmla="*/ 177 h 1362"/>
                <a:gd name="T24" fmla="*/ 1109 w 1311"/>
                <a:gd name="T25" fmla="*/ 133 h 1362"/>
                <a:gd name="T26" fmla="*/ 1053 w 1311"/>
                <a:gd name="T27" fmla="*/ 95 h 1362"/>
                <a:gd name="T28" fmla="*/ 994 w 1311"/>
                <a:gd name="T29" fmla="*/ 62 h 1362"/>
                <a:gd name="T30" fmla="*/ 933 w 1311"/>
                <a:gd name="T31" fmla="*/ 37 h 1362"/>
                <a:gd name="T32" fmla="*/ 868 w 1311"/>
                <a:gd name="T33" fmla="*/ 18 h 1362"/>
                <a:gd name="T34" fmla="*/ 801 w 1311"/>
                <a:gd name="T35" fmla="*/ 6 h 1362"/>
                <a:gd name="T36" fmla="*/ 732 w 1311"/>
                <a:gd name="T37" fmla="*/ 0 h 1362"/>
                <a:gd name="T38" fmla="*/ 660 w 1311"/>
                <a:gd name="T39" fmla="*/ 0 h 1362"/>
                <a:gd name="T40" fmla="*/ 557 w 1311"/>
                <a:gd name="T41" fmla="*/ 12 h 1362"/>
                <a:gd name="T42" fmla="*/ 459 w 1311"/>
                <a:gd name="T43" fmla="*/ 37 h 1362"/>
                <a:gd name="T44" fmla="*/ 368 w 1311"/>
                <a:gd name="T45" fmla="*/ 78 h 1362"/>
                <a:gd name="T46" fmla="*/ 282 w 1311"/>
                <a:gd name="T47" fmla="*/ 133 h 1362"/>
                <a:gd name="T48" fmla="*/ 204 w 1311"/>
                <a:gd name="T49" fmla="*/ 204 h 1362"/>
                <a:gd name="T50" fmla="*/ 134 w 1311"/>
                <a:gd name="T51" fmla="*/ 282 h 1362"/>
                <a:gd name="T52" fmla="*/ 78 w 1311"/>
                <a:gd name="T53" fmla="*/ 367 h 1362"/>
                <a:gd name="T54" fmla="*/ 38 w 1311"/>
                <a:gd name="T55" fmla="*/ 458 h 1362"/>
                <a:gd name="T56" fmla="*/ 12 w 1311"/>
                <a:gd name="T57" fmla="*/ 557 h 1362"/>
                <a:gd name="T58" fmla="*/ 0 w 1311"/>
                <a:gd name="T59" fmla="*/ 660 h 1362"/>
                <a:gd name="T60" fmla="*/ 0 w 1311"/>
                <a:gd name="T61" fmla="*/ 732 h 1362"/>
                <a:gd name="T62" fmla="*/ 6 w 1311"/>
                <a:gd name="T63" fmla="*/ 800 h 1362"/>
                <a:gd name="T64" fmla="*/ 18 w 1311"/>
                <a:gd name="T65" fmla="*/ 867 h 1362"/>
                <a:gd name="T66" fmla="*/ 38 w 1311"/>
                <a:gd name="T67" fmla="*/ 932 h 1362"/>
                <a:gd name="T68" fmla="*/ 63 w 1311"/>
                <a:gd name="T69" fmla="*/ 993 h 1362"/>
                <a:gd name="T70" fmla="*/ 95 w 1311"/>
                <a:gd name="T71" fmla="*/ 1052 h 1362"/>
                <a:gd name="T72" fmla="*/ 134 w 1311"/>
                <a:gd name="T73" fmla="*/ 1108 h 1362"/>
                <a:gd name="T74" fmla="*/ 178 w 1311"/>
                <a:gd name="T75" fmla="*/ 1162 h 1362"/>
                <a:gd name="T76" fmla="*/ 234 w 1311"/>
                <a:gd name="T77" fmla="*/ 1218 h 1362"/>
                <a:gd name="T78" fmla="*/ 299 w 1311"/>
                <a:gd name="T79" fmla="*/ 1270 h 1362"/>
                <a:gd name="T80" fmla="*/ 369 w 1311"/>
                <a:gd name="T81" fmla="*/ 1314 h 1362"/>
                <a:gd name="T82" fmla="*/ 442 w 1311"/>
                <a:gd name="T83" fmla="*/ 1347 h 1362"/>
                <a:gd name="T84" fmla="*/ 497 w 1311"/>
                <a:gd name="T85" fmla="*/ 1294 h 1362"/>
                <a:gd name="T86" fmla="*/ 537 w 1311"/>
                <a:gd name="T87" fmla="*/ 1136 h 1362"/>
                <a:gd name="T88" fmla="*/ 574 w 1311"/>
                <a:gd name="T89" fmla="*/ 990 h 1362"/>
                <a:gd name="T90" fmla="*/ 263 w 1311"/>
                <a:gd name="T91" fmla="*/ 862 h 1362"/>
                <a:gd name="T92" fmla="*/ 263 w 1311"/>
                <a:gd name="T93" fmla="*/ 387 h 1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11" h="1362">
                  <a:moveTo>
                    <a:pt x="263" y="387"/>
                  </a:moveTo>
                  <a:lnTo>
                    <a:pt x="216" y="271"/>
                  </a:lnTo>
                  <a:lnTo>
                    <a:pt x="388" y="153"/>
                  </a:lnTo>
                  <a:lnTo>
                    <a:pt x="708" y="147"/>
                  </a:lnTo>
                  <a:lnTo>
                    <a:pt x="902" y="325"/>
                  </a:lnTo>
                  <a:lnTo>
                    <a:pt x="855" y="443"/>
                  </a:lnTo>
                  <a:lnTo>
                    <a:pt x="832" y="528"/>
                  </a:lnTo>
                  <a:lnTo>
                    <a:pt x="863" y="507"/>
                  </a:lnTo>
                  <a:lnTo>
                    <a:pt x="900" y="492"/>
                  </a:lnTo>
                  <a:lnTo>
                    <a:pt x="916" y="477"/>
                  </a:lnTo>
                  <a:lnTo>
                    <a:pt x="1025" y="372"/>
                  </a:lnTo>
                  <a:lnTo>
                    <a:pt x="1073" y="351"/>
                  </a:lnTo>
                  <a:lnTo>
                    <a:pt x="1097" y="343"/>
                  </a:lnTo>
                  <a:lnTo>
                    <a:pt x="1122" y="339"/>
                  </a:lnTo>
                  <a:lnTo>
                    <a:pt x="1170" y="333"/>
                  </a:lnTo>
                  <a:lnTo>
                    <a:pt x="1221" y="337"/>
                  </a:lnTo>
                  <a:lnTo>
                    <a:pt x="1262" y="344"/>
                  </a:lnTo>
                  <a:lnTo>
                    <a:pt x="1305" y="359"/>
                  </a:lnTo>
                  <a:lnTo>
                    <a:pt x="1311" y="361"/>
                  </a:lnTo>
                  <a:lnTo>
                    <a:pt x="1284" y="319"/>
                  </a:lnTo>
                  <a:lnTo>
                    <a:pt x="1257" y="279"/>
                  </a:lnTo>
                  <a:lnTo>
                    <a:pt x="1224" y="240"/>
                  </a:lnTo>
                  <a:lnTo>
                    <a:pt x="1191" y="204"/>
                  </a:lnTo>
                  <a:lnTo>
                    <a:pt x="1163" y="177"/>
                  </a:lnTo>
                  <a:lnTo>
                    <a:pt x="1137" y="155"/>
                  </a:lnTo>
                  <a:lnTo>
                    <a:pt x="1109" y="133"/>
                  </a:lnTo>
                  <a:lnTo>
                    <a:pt x="1083" y="114"/>
                  </a:lnTo>
                  <a:lnTo>
                    <a:pt x="1053" y="95"/>
                  </a:lnTo>
                  <a:lnTo>
                    <a:pt x="1024" y="78"/>
                  </a:lnTo>
                  <a:lnTo>
                    <a:pt x="994" y="62"/>
                  </a:lnTo>
                  <a:lnTo>
                    <a:pt x="965" y="50"/>
                  </a:lnTo>
                  <a:lnTo>
                    <a:pt x="933" y="37"/>
                  </a:lnTo>
                  <a:lnTo>
                    <a:pt x="902" y="27"/>
                  </a:lnTo>
                  <a:lnTo>
                    <a:pt x="868" y="18"/>
                  </a:lnTo>
                  <a:lnTo>
                    <a:pt x="836" y="12"/>
                  </a:lnTo>
                  <a:lnTo>
                    <a:pt x="801" y="6"/>
                  </a:lnTo>
                  <a:lnTo>
                    <a:pt x="767" y="2"/>
                  </a:lnTo>
                  <a:lnTo>
                    <a:pt x="732" y="0"/>
                  </a:lnTo>
                  <a:lnTo>
                    <a:pt x="698" y="0"/>
                  </a:lnTo>
                  <a:lnTo>
                    <a:pt x="660" y="0"/>
                  </a:lnTo>
                  <a:lnTo>
                    <a:pt x="626" y="2"/>
                  </a:lnTo>
                  <a:lnTo>
                    <a:pt x="557" y="12"/>
                  </a:lnTo>
                  <a:lnTo>
                    <a:pt x="491" y="27"/>
                  </a:lnTo>
                  <a:lnTo>
                    <a:pt x="459" y="37"/>
                  </a:lnTo>
                  <a:lnTo>
                    <a:pt x="429" y="50"/>
                  </a:lnTo>
                  <a:lnTo>
                    <a:pt x="368" y="78"/>
                  </a:lnTo>
                  <a:lnTo>
                    <a:pt x="311" y="114"/>
                  </a:lnTo>
                  <a:lnTo>
                    <a:pt x="282" y="133"/>
                  </a:lnTo>
                  <a:lnTo>
                    <a:pt x="256" y="155"/>
                  </a:lnTo>
                  <a:lnTo>
                    <a:pt x="204" y="204"/>
                  </a:lnTo>
                  <a:lnTo>
                    <a:pt x="155" y="255"/>
                  </a:lnTo>
                  <a:lnTo>
                    <a:pt x="134" y="282"/>
                  </a:lnTo>
                  <a:lnTo>
                    <a:pt x="114" y="311"/>
                  </a:lnTo>
                  <a:lnTo>
                    <a:pt x="78" y="367"/>
                  </a:lnTo>
                  <a:lnTo>
                    <a:pt x="51" y="428"/>
                  </a:lnTo>
                  <a:lnTo>
                    <a:pt x="38" y="458"/>
                  </a:lnTo>
                  <a:lnTo>
                    <a:pt x="28" y="491"/>
                  </a:lnTo>
                  <a:lnTo>
                    <a:pt x="12" y="557"/>
                  </a:lnTo>
                  <a:lnTo>
                    <a:pt x="3" y="625"/>
                  </a:lnTo>
                  <a:lnTo>
                    <a:pt x="0" y="660"/>
                  </a:lnTo>
                  <a:lnTo>
                    <a:pt x="0" y="697"/>
                  </a:lnTo>
                  <a:lnTo>
                    <a:pt x="0" y="732"/>
                  </a:lnTo>
                  <a:lnTo>
                    <a:pt x="3" y="766"/>
                  </a:lnTo>
                  <a:lnTo>
                    <a:pt x="6" y="800"/>
                  </a:lnTo>
                  <a:lnTo>
                    <a:pt x="12" y="835"/>
                  </a:lnTo>
                  <a:lnTo>
                    <a:pt x="18" y="867"/>
                  </a:lnTo>
                  <a:lnTo>
                    <a:pt x="28" y="901"/>
                  </a:lnTo>
                  <a:lnTo>
                    <a:pt x="38" y="932"/>
                  </a:lnTo>
                  <a:lnTo>
                    <a:pt x="51" y="964"/>
                  </a:lnTo>
                  <a:lnTo>
                    <a:pt x="63" y="993"/>
                  </a:lnTo>
                  <a:lnTo>
                    <a:pt x="78" y="1023"/>
                  </a:lnTo>
                  <a:lnTo>
                    <a:pt x="95" y="1052"/>
                  </a:lnTo>
                  <a:lnTo>
                    <a:pt x="114" y="1082"/>
                  </a:lnTo>
                  <a:lnTo>
                    <a:pt x="134" y="1108"/>
                  </a:lnTo>
                  <a:lnTo>
                    <a:pt x="155" y="1136"/>
                  </a:lnTo>
                  <a:lnTo>
                    <a:pt x="178" y="1162"/>
                  </a:lnTo>
                  <a:lnTo>
                    <a:pt x="204" y="1190"/>
                  </a:lnTo>
                  <a:lnTo>
                    <a:pt x="234" y="1218"/>
                  </a:lnTo>
                  <a:lnTo>
                    <a:pt x="267" y="1245"/>
                  </a:lnTo>
                  <a:lnTo>
                    <a:pt x="299" y="1270"/>
                  </a:lnTo>
                  <a:lnTo>
                    <a:pt x="334" y="1293"/>
                  </a:lnTo>
                  <a:lnTo>
                    <a:pt x="369" y="1314"/>
                  </a:lnTo>
                  <a:lnTo>
                    <a:pt x="405" y="1332"/>
                  </a:lnTo>
                  <a:lnTo>
                    <a:pt x="442" y="1347"/>
                  </a:lnTo>
                  <a:lnTo>
                    <a:pt x="480" y="1362"/>
                  </a:lnTo>
                  <a:lnTo>
                    <a:pt x="497" y="1294"/>
                  </a:lnTo>
                  <a:lnTo>
                    <a:pt x="526" y="1178"/>
                  </a:lnTo>
                  <a:lnTo>
                    <a:pt x="537" y="1136"/>
                  </a:lnTo>
                  <a:lnTo>
                    <a:pt x="572" y="998"/>
                  </a:lnTo>
                  <a:lnTo>
                    <a:pt x="574" y="990"/>
                  </a:lnTo>
                  <a:lnTo>
                    <a:pt x="504" y="878"/>
                  </a:lnTo>
                  <a:lnTo>
                    <a:pt x="263" y="862"/>
                  </a:lnTo>
                  <a:lnTo>
                    <a:pt x="216" y="543"/>
                  </a:lnTo>
                  <a:lnTo>
                    <a:pt x="263" y="387"/>
                  </a:lnTo>
                  <a:close/>
                </a:path>
              </a:pathLst>
            </a:custGeom>
            <a:solidFill>
              <a:srgbClr val="99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70" name="Freeform 254">
              <a:extLst>
                <a:ext uri="{FF2B5EF4-FFF2-40B4-BE49-F238E27FC236}">
                  <a16:creationId xmlns:a16="http://schemas.microsoft.com/office/drawing/2014/main" id="{2746851A-DBEB-3D81-AA36-B8FD188F6BF8}"/>
                </a:ext>
              </a:extLst>
            </p:cNvPr>
            <p:cNvSpPr>
              <a:spLocks/>
            </p:cNvSpPr>
            <p:nvPr/>
          </p:nvSpPr>
          <p:spPr bwMode="auto">
            <a:xfrm>
              <a:off x="3534" y="3784"/>
              <a:ext cx="172" cy="65"/>
            </a:xfrm>
            <a:custGeom>
              <a:avLst/>
              <a:gdLst>
                <a:gd name="T0" fmla="*/ 18 w 516"/>
                <a:gd name="T1" fmla="*/ 161 h 195"/>
                <a:gd name="T2" fmla="*/ 22 w 516"/>
                <a:gd name="T3" fmla="*/ 161 h 195"/>
                <a:gd name="T4" fmla="*/ 23 w 516"/>
                <a:gd name="T5" fmla="*/ 161 h 195"/>
                <a:gd name="T6" fmla="*/ 159 w 516"/>
                <a:gd name="T7" fmla="*/ 143 h 195"/>
                <a:gd name="T8" fmla="*/ 191 w 516"/>
                <a:gd name="T9" fmla="*/ 193 h 195"/>
                <a:gd name="T10" fmla="*/ 192 w 516"/>
                <a:gd name="T11" fmla="*/ 195 h 195"/>
                <a:gd name="T12" fmla="*/ 197 w 516"/>
                <a:gd name="T13" fmla="*/ 195 h 195"/>
                <a:gd name="T14" fmla="*/ 497 w 516"/>
                <a:gd name="T15" fmla="*/ 172 h 195"/>
                <a:gd name="T16" fmla="*/ 516 w 516"/>
                <a:gd name="T17" fmla="*/ 130 h 195"/>
                <a:gd name="T18" fmla="*/ 372 w 516"/>
                <a:gd name="T19" fmla="*/ 0 h 195"/>
                <a:gd name="T20" fmla="*/ 76 w 516"/>
                <a:gd name="T21" fmla="*/ 30 h 195"/>
                <a:gd name="T22" fmla="*/ 0 w 516"/>
                <a:gd name="T23" fmla="*/ 102 h 195"/>
                <a:gd name="T24" fmla="*/ 18 w 516"/>
                <a:gd name="T25" fmla="*/ 161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6" h="195">
                  <a:moveTo>
                    <a:pt x="18" y="161"/>
                  </a:moveTo>
                  <a:lnTo>
                    <a:pt x="22" y="161"/>
                  </a:lnTo>
                  <a:lnTo>
                    <a:pt x="23" y="161"/>
                  </a:lnTo>
                  <a:lnTo>
                    <a:pt x="159" y="143"/>
                  </a:lnTo>
                  <a:lnTo>
                    <a:pt x="191" y="193"/>
                  </a:lnTo>
                  <a:lnTo>
                    <a:pt x="192" y="195"/>
                  </a:lnTo>
                  <a:lnTo>
                    <a:pt x="197" y="195"/>
                  </a:lnTo>
                  <a:lnTo>
                    <a:pt x="497" y="172"/>
                  </a:lnTo>
                  <a:lnTo>
                    <a:pt x="516" y="130"/>
                  </a:lnTo>
                  <a:lnTo>
                    <a:pt x="372" y="0"/>
                  </a:lnTo>
                  <a:lnTo>
                    <a:pt x="76" y="30"/>
                  </a:lnTo>
                  <a:lnTo>
                    <a:pt x="0" y="102"/>
                  </a:lnTo>
                  <a:lnTo>
                    <a:pt x="18" y="161"/>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71" name="Freeform 255">
              <a:extLst>
                <a:ext uri="{FF2B5EF4-FFF2-40B4-BE49-F238E27FC236}">
                  <a16:creationId xmlns:a16="http://schemas.microsoft.com/office/drawing/2014/main" id="{6B543C3B-2BCE-652C-20F1-6B5A6D324277}"/>
                </a:ext>
              </a:extLst>
            </p:cNvPr>
            <p:cNvSpPr>
              <a:spLocks/>
            </p:cNvSpPr>
            <p:nvPr/>
          </p:nvSpPr>
          <p:spPr bwMode="auto">
            <a:xfrm>
              <a:off x="3538" y="3832"/>
              <a:ext cx="60" cy="39"/>
            </a:xfrm>
            <a:custGeom>
              <a:avLst/>
              <a:gdLst>
                <a:gd name="T0" fmla="*/ 11 w 179"/>
                <a:gd name="T1" fmla="*/ 18 h 118"/>
                <a:gd name="T2" fmla="*/ 10 w 179"/>
                <a:gd name="T3" fmla="*/ 18 h 118"/>
                <a:gd name="T4" fmla="*/ 0 w 179"/>
                <a:gd name="T5" fmla="*/ 118 h 118"/>
                <a:gd name="T6" fmla="*/ 179 w 179"/>
                <a:gd name="T7" fmla="*/ 50 h 118"/>
                <a:gd name="T8" fmla="*/ 147 w 179"/>
                <a:gd name="T9" fmla="*/ 0 h 118"/>
                <a:gd name="T10" fmla="*/ 11 w 179"/>
                <a:gd name="T11" fmla="*/ 18 h 118"/>
              </a:gdLst>
              <a:ahLst/>
              <a:cxnLst>
                <a:cxn ang="0">
                  <a:pos x="T0" y="T1"/>
                </a:cxn>
                <a:cxn ang="0">
                  <a:pos x="T2" y="T3"/>
                </a:cxn>
                <a:cxn ang="0">
                  <a:pos x="T4" y="T5"/>
                </a:cxn>
                <a:cxn ang="0">
                  <a:pos x="T6" y="T7"/>
                </a:cxn>
                <a:cxn ang="0">
                  <a:pos x="T8" y="T9"/>
                </a:cxn>
                <a:cxn ang="0">
                  <a:pos x="T10" y="T11"/>
                </a:cxn>
              </a:cxnLst>
              <a:rect l="0" t="0" r="r" b="b"/>
              <a:pathLst>
                <a:path w="179" h="118">
                  <a:moveTo>
                    <a:pt x="11" y="18"/>
                  </a:moveTo>
                  <a:lnTo>
                    <a:pt x="10" y="18"/>
                  </a:lnTo>
                  <a:lnTo>
                    <a:pt x="0" y="118"/>
                  </a:lnTo>
                  <a:lnTo>
                    <a:pt x="179" y="50"/>
                  </a:lnTo>
                  <a:lnTo>
                    <a:pt x="147" y="0"/>
                  </a:lnTo>
                  <a:lnTo>
                    <a:pt x="11" y="18"/>
                  </a:lnTo>
                  <a:close/>
                </a:path>
              </a:pathLst>
            </a:custGeom>
            <a:solidFill>
              <a:srgbClr val="FFCC9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37472" name="Freeform 256">
              <a:extLst>
                <a:ext uri="{FF2B5EF4-FFF2-40B4-BE49-F238E27FC236}">
                  <a16:creationId xmlns:a16="http://schemas.microsoft.com/office/drawing/2014/main" id="{F283EB53-E94B-439B-C91C-F7307AF8C802}"/>
                </a:ext>
              </a:extLst>
            </p:cNvPr>
            <p:cNvSpPr>
              <a:spLocks/>
            </p:cNvSpPr>
            <p:nvPr/>
          </p:nvSpPr>
          <p:spPr bwMode="auto">
            <a:xfrm>
              <a:off x="3538" y="3848"/>
              <a:ext cx="63" cy="64"/>
            </a:xfrm>
            <a:custGeom>
              <a:avLst/>
              <a:gdLst>
                <a:gd name="T0" fmla="*/ 0 w 189"/>
                <a:gd name="T1" fmla="*/ 68 h 191"/>
                <a:gd name="T2" fmla="*/ 0 w 189"/>
                <a:gd name="T3" fmla="*/ 94 h 191"/>
                <a:gd name="T4" fmla="*/ 93 w 189"/>
                <a:gd name="T5" fmla="*/ 94 h 191"/>
                <a:gd name="T6" fmla="*/ 0 w 189"/>
                <a:gd name="T7" fmla="*/ 144 h 191"/>
                <a:gd name="T8" fmla="*/ 0 w 189"/>
                <a:gd name="T9" fmla="*/ 191 h 191"/>
                <a:gd name="T10" fmla="*/ 12 w 189"/>
                <a:gd name="T11" fmla="*/ 191 h 191"/>
                <a:gd name="T12" fmla="*/ 27 w 189"/>
                <a:gd name="T13" fmla="*/ 189 h 191"/>
                <a:gd name="T14" fmla="*/ 42 w 189"/>
                <a:gd name="T15" fmla="*/ 186 h 191"/>
                <a:gd name="T16" fmla="*/ 57 w 189"/>
                <a:gd name="T17" fmla="*/ 181 h 191"/>
                <a:gd name="T18" fmla="*/ 71 w 189"/>
                <a:gd name="T19" fmla="*/ 177 h 191"/>
                <a:gd name="T20" fmla="*/ 83 w 189"/>
                <a:gd name="T21" fmla="*/ 169 h 191"/>
                <a:gd name="T22" fmla="*/ 96 w 189"/>
                <a:gd name="T23" fmla="*/ 162 h 191"/>
                <a:gd name="T24" fmla="*/ 108 w 189"/>
                <a:gd name="T25" fmla="*/ 154 h 191"/>
                <a:gd name="T26" fmla="*/ 120 w 189"/>
                <a:gd name="T27" fmla="*/ 144 h 191"/>
                <a:gd name="T28" fmla="*/ 130 w 189"/>
                <a:gd name="T29" fmla="*/ 132 h 191"/>
                <a:gd name="T30" fmla="*/ 141 w 189"/>
                <a:gd name="T31" fmla="*/ 120 h 191"/>
                <a:gd name="T32" fmla="*/ 149 w 189"/>
                <a:gd name="T33" fmla="*/ 106 h 191"/>
                <a:gd name="T34" fmla="*/ 159 w 189"/>
                <a:gd name="T35" fmla="*/ 92 h 191"/>
                <a:gd name="T36" fmla="*/ 166 w 189"/>
                <a:gd name="T37" fmla="*/ 75 h 191"/>
                <a:gd name="T38" fmla="*/ 174 w 189"/>
                <a:gd name="T39" fmla="*/ 58 h 191"/>
                <a:gd name="T40" fmla="*/ 177 w 189"/>
                <a:gd name="T41" fmla="*/ 48 h 191"/>
                <a:gd name="T42" fmla="*/ 178 w 189"/>
                <a:gd name="T43" fmla="*/ 44 h 191"/>
                <a:gd name="T44" fmla="*/ 180 w 189"/>
                <a:gd name="T45" fmla="*/ 40 h 191"/>
                <a:gd name="T46" fmla="*/ 188 w 189"/>
                <a:gd name="T47" fmla="*/ 22 h 191"/>
                <a:gd name="T48" fmla="*/ 188 w 189"/>
                <a:gd name="T49" fmla="*/ 21 h 191"/>
                <a:gd name="T50" fmla="*/ 189 w 189"/>
                <a:gd name="T51" fmla="*/ 17 h 191"/>
                <a:gd name="T52" fmla="*/ 180 w 189"/>
                <a:gd name="T53" fmla="*/ 2 h 191"/>
                <a:gd name="T54" fmla="*/ 179 w 189"/>
                <a:gd name="T55" fmla="*/ 0 h 191"/>
                <a:gd name="T56" fmla="*/ 0 w 189"/>
                <a:gd name="T57" fmla="*/ 68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91">
                  <a:moveTo>
                    <a:pt x="0" y="68"/>
                  </a:moveTo>
                  <a:lnTo>
                    <a:pt x="0" y="94"/>
                  </a:lnTo>
                  <a:lnTo>
                    <a:pt x="93" y="94"/>
                  </a:lnTo>
                  <a:lnTo>
                    <a:pt x="0" y="144"/>
                  </a:lnTo>
                  <a:lnTo>
                    <a:pt x="0" y="191"/>
                  </a:lnTo>
                  <a:lnTo>
                    <a:pt x="12" y="191"/>
                  </a:lnTo>
                  <a:lnTo>
                    <a:pt x="27" y="189"/>
                  </a:lnTo>
                  <a:lnTo>
                    <a:pt x="42" y="186"/>
                  </a:lnTo>
                  <a:lnTo>
                    <a:pt x="57" y="181"/>
                  </a:lnTo>
                  <a:lnTo>
                    <a:pt x="71" y="177"/>
                  </a:lnTo>
                  <a:lnTo>
                    <a:pt x="83" y="169"/>
                  </a:lnTo>
                  <a:lnTo>
                    <a:pt x="96" y="162"/>
                  </a:lnTo>
                  <a:lnTo>
                    <a:pt x="108" y="154"/>
                  </a:lnTo>
                  <a:lnTo>
                    <a:pt x="120" y="144"/>
                  </a:lnTo>
                  <a:lnTo>
                    <a:pt x="130" y="132"/>
                  </a:lnTo>
                  <a:lnTo>
                    <a:pt x="141" y="120"/>
                  </a:lnTo>
                  <a:lnTo>
                    <a:pt x="149" y="106"/>
                  </a:lnTo>
                  <a:lnTo>
                    <a:pt x="159" y="92"/>
                  </a:lnTo>
                  <a:lnTo>
                    <a:pt x="166" y="75"/>
                  </a:lnTo>
                  <a:lnTo>
                    <a:pt x="174" y="58"/>
                  </a:lnTo>
                  <a:lnTo>
                    <a:pt x="177" y="48"/>
                  </a:lnTo>
                  <a:lnTo>
                    <a:pt x="178" y="44"/>
                  </a:lnTo>
                  <a:lnTo>
                    <a:pt x="180" y="40"/>
                  </a:lnTo>
                  <a:lnTo>
                    <a:pt x="188" y="22"/>
                  </a:lnTo>
                  <a:lnTo>
                    <a:pt x="188" y="21"/>
                  </a:lnTo>
                  <a:lnTo>
                    <a:pt x="189" y="17"/>
                  </a:lnTo>
                  <a:lnTo>
                    <a:pt x="180" y="2"/>
                  </a:lnTo>
                  <a:lnTo>
                    <a:pt x="179" y="0"/>
                  </a:lnTo>
                  <a:lnTo>
                    <a:pt x="0"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73" name="Freeform 257">
              <a:extLst>
                <a:ext uri="{FF2B5EF4-FFF2-40B4-BE49-F238E27FC236}">
                  <a16:creationId xmlns:a16="http://schemas.microsoft.com/office/drawing/2014/main" id="{9C62F82E-B382-22F7-284E-8DCA19C14092}"/>
                </a:ext>
              </a:extLst>
            </p:cNvPr>
            <p:cNvSpPr>
              <a:spLocks/>
            </p:cNvSpPr>
            <p:nvPr/>
          </p:nvSpPr>
          <p:spPr bwMode="auto">
            <a:xfrm>
              <a:off x="3538" y="3880"/>
              <a:ext cx="31" cy="16"/>
            </a:xfrm>
            <a:custGeom>
              <a:avLst/>
              <a:gdLst>
                <a:gd name="T0" fmla="*/ 0 w 93"/>
                <a:gd name="T1" fmla="*/ 0 h 50"/>
                <a:gd name="T2" fmla="*/ 0 w 93"/>
                <a:gd name="T3" fmla="*/ 50 h 50"/>
                <a:gd name="T4" fmla="*/ 93 w 93"/>
                <a:gd name="T5" fmla="*/ 0 h 50"/>
                <a:gd name="T6" fmla="*/ 0 w 93"/>
                <a:gd name="T7" fmla="*/ 0 h 50"/>
              </a:gdLst>
              <a:ahLst/>
              <a:cxnLst>
                <a:cxn ang="0">
                  <a:pos x="T0" y="T1"/>
                </a:cxn>
                <a:cxn ang="0">
                  <a:pos x="T2" y="T3"/>
                </a:cxn>
                <a:cxn ang="0">
                  <a:pos x="T4" y="T5"/>
                </a:cxn>
                <a:cxn ang="0">
                  <a:pos x="T6" y="T7"/>
                </a:cxn>
              </a:cxnLst>
              <a:rect l="0" t="0" r="r" b="b"/>
              <a:pathLst>
                <a:path w="93" h="50">
                  <a:moveTo>
                    <a:pt x="0" y="0"/>
                  </a:moveTo>
                  <a:lnTo>
                    <a:pt x="0" y="50"/>
                  </a:lnTo>
                  <a:lnTo>
                    <a:pt x="9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74" name="Freeform 258">
              <a:extLst>
                <a:ext uri="{FF2B5EF4-FFF2-40B4-BE49-F238E27FC236}">
                  <a16:creationId xmlns:a16="http://schemas.microsoft.com/office/drawing/2014/main" id="{2C172569-E5D7-87D5-BE46-92671622FB6C}"/>
                </a:ext>
              </a:extLst>
            </p:cNvPr>
            <p:cNvSpPr>
              <a:spLocks/>
            </p:cNvSpPr>
            <p:nvPr/>
          </p:nvSpPr>
          <p:spPr bwMode="auto">
            <a:xfrm>
              <a:off x="3600" y="3841"/>
              <a:ext cx="100" cy="10"/>
            </a:xfrm>
            <a:custGeom>
              <a:avLst/>
              <a:gdLst>
                <a:gd name="T0" fmla="*/ 289 w 300"/>
                <a:gd name="T1" fmla="*/ 25 h 29"/>
                <a:gd name="T2" fmla="*/ 291 w 300"/>
                <a:gd name="T3" fmla="*/ 21 h 29"/>
                <a:gd name="T4" fmla="*/ 299 w 300"/>
                <a:gd name="T5" fmla="*/ 5 h 29"/>
                <a:gd name="T6" fmla="*/ 300 w 300"/>
                <a:gd name="T7" fmla="*/ 0 h 29"/>
                <a:gd name="T8" fmla="*/ 0 w 300"/>
                <a:gd name="T9" fmla="*/ 23 h 29"/>
                <a:gd name="T10" fmla="*/ 288 w 300"/>
                <a:gd name="T11" fmla="*/ 29 h 29"/>
                <a:gd name="T12" fmla="*/ 289 w 300"/>
                <a:gd name="T13" fmla="*/ 25 h 29"/>
              </a:gdLst>
              <a:ahLst/>
              <a:cxnLst>
                <a:cxn ang="0">
                  <a:pos x="T0" y="T1"/>
                </a:cxn>
                <a:cxn ang="0">
                  <a:pos x="T2" y="T3"/>
                </a:cxn>
                <a:cxn ang="0">
                  <a:pos x="T4" y="T5"/>
                </a:cxn>
                <a:cxn ang="0">
                  <a:pos x="T6" y="T7"/>
                </a:cxn>
                <a:cxn ang="0">
                  <a:pos x="T8" y="T9"/>
                </a:cxn>
                <a:cxn ang="0">
                  <a:pos x="T10" y="T11"/>
                </a:cxn>
                <a:cxn ang="0">
                  <a:pos x="T12" y="T13"/>
                </a:cxn>
              </a:cxnLst>
              <a:rect l="0" t="0" r="r" b="b"/>
              <a:pathLst>
                <a:path w="300" h="29">
                  <a:moveTo>
                    <a:pt x="289" y="25"/>
                  </a:moveTo>
                  <a:lnTo>
                    <a:pt x="291" y="21"/>
                  </a:lnTo>
                  <a:lnTo>
                    <a:pt x="299" y="5"/>
                  </a:lnTo>
                  <a:lnTo>
                    <a:pt x="300" y="0"/>
                  </a:lnTo>
                  <a:lnTo>
                    <a:pt x="0" y="23"/>
                  </a:lnTo>
                  <a:lnTo>
                    <a:pt x="288" y="29"/>
                  </a:lnTo>
                  <a:lnTo>
                    <a:pt x="289" y="25"/>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75" name="Freeform 259">
              <a:extLst>
                <a:ext uri="{FF2B5EF4-FFF2-40B4-BE49-F238E27FC236}">
                  <a16:creationId xmlns:a16="http://schemas.microsoft.com/office/drawing/2014/main" id="{B82CA255-3437-152F-16D8-40AC8354469A}"/>
                </a:ext>
              </a:extLst>
            </p:cNvPr>
            <p:cNvSpPr>
              <a:spLocks/>
            </p:cNvSpPr>
            <p:nvPr/>
          </p:nvSpPr>
          <p:spPr bwMode="auto">
            <a:xfrm>
              <a:off x="3697" y="3837"/>
              <a:ext cx="22" cy="17"/>
            </a:xfrm>
            <a:custGeom>
              <a:avLst/>
              <a:gdLst>
                <a:gd name="T0" fmla="*/ 67 w 67"/>
                <a:gd name="T1" fmla="*/ 0 h 50"/>
                <a:gd name="T2" fmla="*/ 8 w 67"/>
                <a:gd name="T3" fmla="*/ 18 h 50"/>
                <a:gd name="T4" fmla="*/ 0 w 67"/>
                <a:gd name="T5" fmla="*/ 34 h 50"/>
                <a:gd name="T6" fmla="*/ 63 w 67"/>
                <a:gd name="T7" fmla="*/ 50 h 50"/>
                <a:gd name="T8" fmla="*/ 67 w 67"/>
                <a:gd name="T9" fmla="*/ 0 h 50"/>
              </a:gdLst>
              <a:ahLst/>
              <a:cxnLst>
                <a:cxn ang="0">
                  <a:pos x="T0" y="T1"/>
                </a:cxn>
                <a:cxn ang="0">
                  <a:pos x="T2" y="T3"/>
                </a:cxn>
                <a:cxn ang="0">
                  <a:pos x="T4" y="T5"/>
                </a:cxn>
                <a:cxn ang="0">
                  <a:pos x="T6" y="T7"/>
                </a:cxn>
                <a:cxn ang="0">
                  <a:pos x="T8" y="T9"/>
                </a:cxn>
              </a:cxnLst>
              <a:rect l="0" t="0" r="r" b="b"/>
              <a:pathLst>
                <a:path w="67" h="50">
                  <a:moveTo>
                    <a:pt x="67" y="0"/>
                  </a:moveTo>
                  <a:lnTo>
                    <a:pt x="8" y="18"/>
                  </a:lnTo>
                  <a:lnTo>
                    <a:pt x="0" y="34"/>
                  </a:lnTo>
                  <a:lnTo>
                    <a:pt x="63" y="50"/>
                  </a:lnTo>
                  <a:lnTo>
                    <a:pt x="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76" name="Freeform 260">
              <a:extLst>
                <a:ext uri="{FF2B5EF4-FFF2-40B4-BE49-F238E27FC236}">
                  <a16:creationId xmlns:a16="http://schemas.microsoft.com/office/drawing/2014/main" id="{6973592D-AB0E-7A0D-8116-3761520FE8BE}"/>
                </a:ext>
              </a:extLst>
            </p:cNvPr>
            <p:cNvSpPr>
              <a:spLocks/>
            </p:cNvSpPr>
            <p:nvPr/>
          </p:nvSpPr>
          <p:spPr bwMode="auto">
            <a:xfrm>
              <a:off x="3598" y="3849"/>
              <a:ext cx="112" cy="22"/>
            </a:xfrm>
            <a:custGeom>
              <a:avLst/>
              <a:gdLst>
                <a:gd name="T0" fmla="*/ 294 w 336"/>
                <a:gd name="T1" fmla="*/ 2 h 66"/>
                <a:gd name="T2" fmla="*/ 293 w 336"/>
                <a:gd name="T3" fmla="*/ 6 h 66"/>
                <a:gd name="T4" fmla="*/ 5 w 336"/>
                <a:gd name="T5" fmla="*/ 0 h 66"/>
                <a:gd name="T6" fmla="*/ 0 w 336"/>
                <a:gd name="T7" fmla="*/ 0 h 66"/>
                <a:gd name="T8" fmla="*/ 224 w 336"/>
                <a:gd name="T9" fmla="*/ 56 h 66"/>
                <a:gd name="T10" fmla="*/ 266 w 336"/>
                <a:gd name="T11" fmla="*/ 66 h 66"/>
                <a:gd name="T12" fmla="*/ 285 w 336"/>
                <a:gd name="T13" fmla="*/ 24 h 66"/>
                <a:gd name="T14" fmla="*/ 285 w 336"/>
                <a:gd name="T15" fmla="*/ 60 h 66"/>
                <a:gd name="T16" fmla="*/ 336 w 336"/>
                <a:gd name="T17" fmla="*/ 60 h 66"/>
                <a:gd name="T18" fmla="*/ 294 w 336"/>
                <a:gd name="T19" fmla="*/ 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66">
                  <a:moveTo>
                    <a:pt x="294" y="2"/>
                  </a:moveTo>
                  <a:lnTo>
                    <a:pt x="293" y="6"/>
                  </a:lnTo>
                  <a:lnTo>
                    <a:pt x="5" y="0"/>
                  </a:lnTo>
                  <a:lnTo>
                    <a:pt x="0" y="0"/>
                  </a:lnTo>
                  <a:lnTo>
                    <a:pt x="224" y="56"/>
                  </a:lnTo>
                  <a:lnTo>
                    <a:pt x="266" y="66"/>
                  </a:lnTo>
                  <a:lnTo>
                    <a:pt x="285" y="24"/>
                  </a:lnTo>
                  <a:lnTo>
                    <a:pt x="285" y="60"/>
                  </a:lnTo>
                  <a:lnTo>
                    <a:pt x="336" y="60"/>
                  </a:lnTo>
                  <a:lnTo>
                    <a:pt x="29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77" name="Freeform 261">
              <a:extLst>
                <a:ext uri="{FF2B5EF4-FFF2-40B4-BE49-F238E27FC236}">
                  <a16:creationId xmlns:a16="http://schemas.microsoft.com/office/drawing/2014/main" id="{4015223E-096B-46ED-4097-0577DB76450F}"/>
                </a:ext>
              </a:extLst>
            </p:cNvPr>
            <p:cNvSpPr>
              <a:spLocks/>
            </p:cNvSpPr>
            <p:nvPr/>
          </p:nvSpPr>
          <p:spPr bwMode="auto">
            <a:xfrm>
              <a:off x="3542" y="3854"/>
              <a:ext cx="120" cy="137"/>
            </a:xfrm>
            <a:custGeom>
              <a:avLst/>
              <a:gdLst>
                <a:gd name="T0" fmla="*/ 177 w 359"/>
                <a:gd name="T1" fmla="*/ 0 h 412"/>
                <a:gd name="T2" fmla="*/ 176 w 359"/>
                <a:gd name="T3" fmla="*/ 4 h 412"/>
                <a:gd name="T4" fmla="*/ 176 w 359"/>
                <a:gd name="T5" fmla="*/ 5 h 412"/>
                <a:gd name="T6" fmla="*/ 168 w 359"/>
                <a:gd name="T7" fmla="*/ 23 h 412"/>
                <a:gd name="T8" fmla="*/ 166 w 359"/>
                <a:gd name="T9" fmla="*/ 27 h 412"/>
                <a:gd name="T10" fmla="*/ 165 w 359"/>
                <a:gd name="T11" fmla="*/ 31 h 412"/>
                <a:gd name="T12" fmla="*/ 162 w 359"/>
                <a:gd name="T13" fmla="*/ 41 h 412"/>
                <a:gd name="T14" fmla="*/ 154 w 359"/>
                <a:gd name="T15" fmla="*/ 58 h 412"/>
                <a:gd name="T16" fmla="*/ 147 w 359"/>
                <a:gd name="T17" fmla="*/ 75 h 412"/>
                <a:gd name="T18" fmla="*/ 137 w 359"/>
                <a:gd name="T19" fmla="*/ 89 h 412"/>
                <a:gd name="T20" fmla="*/ 129 w 359"/>
                <a:gd name="T21" fmla="*/ 103 h 412"/>
                <a:gd name="T22" fmla="*/ 118 w 359"/>
                <a:gd name="T23" fmla="*/ 115 h 412"/>
                <a:gd name="T24" fmla="*/ 108 w 359"/>
                <a:gd name="T25" fmla="*/ 127 h 412"/>
                <a:gd name="T26" fmla="*/ 96 w 359"/>
                <a:gd name="T27" fmla="*/ 137 h 412"/>
                <a:gd name="T28" fmla="*/ 84 w 359"/>
                <a:gd name="T29" fmla="*/ 145 h 412"/>
                <a:gd name="T30" fmla="*/ 71 w 359"/>
                <a:gd name="T31" fmla="*/ 152 h 412"/>
                <a:gd name="T32" fmla="*/ 59 w 359"/>
                <a:gd name="T33" fmla="*/ 160 h 412"/>
                <a:gd name="T34" fmla="*/ 45 w 359"/>
                <a:gd name="T35" fmla="*/ 164 h 412"/>
                <a:gd name="T36" fmla="*/ 30 w 359"/>
                <a:gd name="T37" fmla="*/ 169 h 412"/>
                <a:gd name="T38" fmla="*/ 15 w 359"/>
                <a:gd name="T39" fmla="*/ 172 h 412"/>
                <a:gd name="T40" fmla="*/ 0 w 359"/>
                <a:gd name="T41" fmla="*/ 174 h 412"/>
                <a:gd name="T42" fmla="*/ 26 w 359"/>
                <a:gd name="T43" fmla="*/ 389 h 412"/>
                <a:gd name="T44" fmla="*/ 226 w 359"/>
                <a:gd name="T45" fmla="*/ 403 h 412"/>
                <a:gd name="T46" fmla="*/ 267 w 359"/>
                <a:gd name="T47" fmla="*/ 412 h 412"/>
                <a:gd name="T48" fmla="*/ 285 w 359"/>
                <a:gd name="T49" fmla="*/ 360 h 412"/>
                <a:gd name="T50" fmla="*/ 304 w 359"/>
                <a:gd name="T51" fmla="*/ 313 h 412"/>
                <a:gd name="T52" fmla="*/ 315 w 359"/>
                <a:gd name="T53" fmla="*/ 289 h 412"/>
                <a:gd name="T54" fmla="*/ 342 w 359"/>
                <a:gd name="T55" fmla="*/ 235 h 412"/>
                <a:gd name="T56" fmla="*/ 354 w 359"/>
                <a:gd name="T57" fmla="*/ 214 h 412"/>
                <a:gd name="T58" fmla="*/ 359 w 359"/>
                <a:gd name="T59" fmla="*/ 205 h 412"/>
                <a:gd name="T60" fmla="*/ 304 w 359"/>
                <a:gd name="T61" fmla="*/ 216 h 412"/>
                <a:gd name="T62" fmla="*/ 273 w 359"/>
                <a:gd name="T63" fmla="*/ 162 h 412"/>
                <a:gd name="T64" fmla="*/ 303 w 359"/>
                <a:gd name="T65" fmla="*/ 115 h 412"/>
                <a:gd name="T66" fmla="*/ 293 w 359"/>
                <a:gd name="T67" fmla="*/ 54 h 412"/>
                <a:gd name="T68" fmla="*/ 255 w 359"/>
                <a:gd name="T69" fmla="*/ 29 h 412"/>
                <a:gd name="T70" fmla="*/ 203 w 359"/>
                <a:gd name="T71" fmla="*/ 131 h 412"/>
                <a:gd name="T72" fmla="*/ 171 w 359"/>
                <a:gd name="T73" fmla="*/ 127 h 412"/>
                <a:gd name="T74" fmla="*/ 177 w 359"/>
                <a:gd name="T75" fmla="*/ 4 h 412"/>
                <a:gd name="T76" fmla="*/ 177 w 359"/>
                <a:gd name="T77" fmla="*/ 1 h 412"/>
                <a:gd name="T78" fmla="*/ 177 w 359"/>
                <a:gd name="T79"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9" h="412">
                  <a:moveTo>
                    <a:pt x="177" y="0"/>
                  </a:moveTo>
                  <a:lnTo>
                    <a:pt x="176" y="4"/>
                  </a:lnTo>
                  <a:lnTo>
                    <a:pt x="176" y="5"/>
                  </a:lnTo>
                  <a:lnTo>
                    <a:pt x="168" y="23"/>
                  </a:lnTo>
                  <a:lnTo>
                    <a:pt x="166" y="27"/>
                  </a:lnTo>
                  <a:lnTo>
                    <a:pt x="165" y="31"/>
                  </a:lnTo>
                  <a:lnTo>
                    <a:pt x="162" y="41"/>
                  </a:lnTo>
                  <a:lnTo>
                    <a:pt x="154" y="58"/>
                  </a:lnTo>
                  <a:lnTo>
                    <a:pt x="147" y="75"/>
                  </a:lnTo>
                  <a:lnTo>
                    <a:pt x="137" y="89"/>
                  </a:lnTo>
                  <a:lnTo>
                    <a:pt x="129" y="103"/>
                  </a:lnTo>
                  <a:lnTo>
                    <a:pt x="118" y="115"/>
                  </a:lnTo>
                  <a:lnTo>
                    <a:pt x="108" y="127"/>
                  </a:lnTo>
                  <a:lnTo>
                    <a:pt x="96" y="137"/>
                  </a:lnTo>
                  <a:lnTo>
                    <a:pt x="84" y="145"/>
                  </a:lnTo>
                  <a:lnTo>
                    <a:pt x="71" y="152"/>
                  </a:lnTo>
                  <a:lnTo>
                    <a:pt x="59" y="160"/>
                  </a:lnTo>
                  <a:lnTo>
                    <a:pt x="45" y="164"/>
                  </a:lnTo>
                  <a:lnTo>
                    <a:pt x="30" y="169"/>
                  </a:lnTo>
                  <a:lnTo>
                    <a:pt x="15" y="172"/>
                  </a:lnTo>
                  <a:lnTo>
                    <a:pt x="0" y="174"/>
                  </a:lnTo>
                  <a:lnTo>
                    <a:pt x="26" y="389"/>
                  </a:lnTo>
                  <a:lnTo>
                    <a:pt x="226" y="403"/>
                  </a:lnTo>
                  <a:lnTo>
                    <a:pt x="267" y="412"/>
                  </a:lnTo>
                  <a:lnTo>
                    <a:pt x="285" y="360"/>
                  </a:lnTo>
                  <a:lnTo>
                    <a:pt x="304" y="313"/>
                  </a:lnTo>
                  <a:lnTo>
                    <a:pt x="315" y="289"/>
                  </a:lnTo>
                  <a:lnTo>
                    <a:pt x="342" y="235"/>
                  </a:lnTo>
                  <a:lnTo>
                    <a:pt x="354" y="214"/>
                  </a:lnTo>
                  <a:lnTo>
                    <a:pt x="359" y="205"/>
                  </a:lnTo>
                  <a:lnTo>
                    <a:pt x="304" y="216"/>
                  </a:lnTo>
                  <a:lnTo>
                    <a:pt x="273" y="162"/>
                  </a:lnTo>
                  <a:lnTo>
                    <a:pt x="303" y="115"/>
                  </a:lnTo>
                  <a:lnTo>
                    <a:pt x="293" y="54"/>
                  </a:lnTo>
                  <a:lnTo>
                    <a:pt x="255" y="29"/>
                  </a:lnTo>
                  <a:lnTo>
                    <a:pt x="203" y="131"/>
                  </a:lnTo>
                  <a:lnTo>
                    <a:pt x="171" y="127"/>
                  </a:lnTo>
                  <a:lnTo>
                    <a:pt x="177" y="4"/>
                  </a:lnTo>
                  <a:lnTo>
                    <a:pt x="177" y="1"/>
                  </a:lnTo>
                  <a:lnTo>
                    <a:pt x="177"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78" name="Freeform 262">
              <a:extLst>
                <a:ext uri="{FF2B5EF4-FFF2-40B4-BE49-F238E27FC236}">
                  <a16:creationId xmlns:a16="http://schemas.microsoft.com/office/drawing/2014/main" id="{887F8D14-258D-4F9E-55A4-F5AFE23DB86D}"/>
                </a:ext>
              </a:extLst>
            </p:cNvPr>
            <p:cNvSpPr>
              <a:spLocks/>
            </p:cNvSpPr>
            <p:nvPr/>
          </p:nvSpPr>
          <p:spPr bwMode="auto">
            <a:xfrm>
              <a:off x="3598" y="3849"/>
              <a:ext cx="75" cy="19"/>
            </a:xfrm>
            <a:custGeom>
              <a:avLst/>
              <a:gdLst>
                <a:gd name="T0" fmla="*/ 0 w 224"/>
                <a:gd name="T1" fmla="*/ 0 h 56"/>
                <a:gd name="T2" fmla="*/ 9 w 224"/>
                <a:gd name="T3" fmla="*/ 15 h 56"/>
                <a:gd name="T4" fmla="*/ 9 w 224"/>
                <a:gd name="T5" fmla="*/ 16 h 56"/>
                <a:gd name="T6" fmla="*/ 9 w 224"/>
                <a:gd name="T7" fmla="*/ 19 h 56"/>
                <a:gd name="T8" fmla="*/ 224 w 224"/>
                <a:gd name="T9" fmla="*/ 56 h 56"/>
                <a:gd name="T10" fmla="*/ 0 w 224"/>
                <a:gd name="T11" fmla="*/ 0 h 56"/>
              </a:gdLst>
              <a:ahLst/>
              <a:cxnLst>
                <a:cxn ang="0">
                  <a:pos x="T0" y="T1"/>
                </a:cxn>
                <a:cxn ang="0">
                  <a:pos x="T2" y="T3"/>
                </a:cxn>
                <a:cxn ang="0">
                  <a:pos x="T4" y="T5"/>
                </a:cxn>
                <a:cxn ang="0">
                  <a:pos x="T6" y="T7"/>
                </a:cxn>
                <a:cxn ang="0">
                  <a:pos x="T8" y="T9"/>
                </a:cxn>
                <a:cxn ang="0">
                  <a:pos x="T10" y="T11"/>
                </a:cxn>
              </a:cxnLst>
              <a:rect l="0" t="0" r="r" b="b"/>
              <a:pathLst>
                <a:path w="224" h="56">
                  <a:moveTo>
                    <a:pt x="0" y="0"/>
                  </a:moveTo>
                  <a:lnTo>
                    <a:pt x="9" y="15"/>
                  </a:lnTo>
                  <a:lnTo>
                    <a:pt x="9" y="16"/>
                  </a:lnTo>
                  <a:lnTo>
                    <a:pt x="9" y="19"/>
                  </a:lnTo>
                  <a:lnTo>
                    <a:pt x="224" y="56"/>
                  </a:lnTo>
                  <a:lnTo>
                    <a:pt x="0"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79" name="Freeform 263">
              <a:extLst>
                <a:ext uri="{FF2B5EF4-FFF2-40B4-BE49-F238E27FC236}">
                  <a16:creationId xmlns:a16="http://schemas.microsoft.com/office/drawing/2014/main" id="{25136886-8AA7-C598-722E-EC7827154B1D}"/>
                </a:ext>
              </a:extLst>
            </p:cNvPr>
            <p:cNvSpPr>
              <a:spLocks/>
            </p:cNvSpPr>
            <p:nvPr/>
          </p:nvSpPr>
          <p:spPr bwMode="auto">
            <a:xfrm>
              <a:off x="3599" y="3855"/>
              <a:ext cx="88" cy="71"/>
            </a:xfrm>
            <a:custGeom>
              <a:avLst/>
              <a:gdLst>
                <a:gd name="T0" fmla="*/ 102 w 263"/>
                <a:gd name="T1" fmla="*/ 158 h 212"/>
                <a:gd name="T2" fmla="*/ 133 w 263"/>
                <a:gd name="T3" fmla="*/ 212 h 212"/>
                <a:gd name="T4" fmla="*/ 188 w 263"/>
                <a:gd name="T5" fmla="*/ 201 h 212"/>
                <a:gd name="T6" fmla="*/ 205 w 263"/>
                <a:gd name="T7" fmla="*/ 171 h 212"/>
                <a:gd name="T8" fmla="*/ 207 w 263"/>
                <a:gd name="T9" fmla="*/ 169 h 212"/>
                <a:gd name="T10" fmla="*/ 207 w 263"/>
                <a:gd name="T11" fmla="*/ 165 h 212"/>
                <a:gd name="T12" fmla="*/ 205 w 263"/>
                <a:gd name="T13" fmla="*/ 164 h 212"/>
                <a:gd name="T14" fmla="*/ 209 w 263"/>
                <a:gd name="T15" fmla="*/ 159 h 212"/>
                <a:gd name="T16" fmla="*/ 236 w 263"/>
                <a:gd name="T17" fmla="*/ 154 h 212"/>
                <a:gd name="T18" fmla="*/ 241 w 263"/>
                <a:gd name="T19" fmla="*/ 99 h 212"/>
                <a:gd name="T20" fmla="*/ 242 w 263"/>
                <a:gd name="T21" fmla="*/ 102 h 212"/>
                <a:gd name="T22" fmla="*/ 241 w 263"/>
                <a:gd name="T23" fmla="*/ 96 h 212"/>
                <a:gd name="T24" fmla="*/ 263 w 263"/>
                <a:gd name="T25" fmla="*/ 47 h 212"/>
                <a:gd name="T26" fmla="*/ 221 w 263"/>
                <a:gd name="T27" fmla="*/ 37 h 212"/>
                <a:gd name="T28" fmla="*/ 6 w 263"/>
                <a:gd name="T29" fmla="*/ 0 h 212"/>
                <a:gd name="T30" fmla="*/ 0 w 263"/>
                <a:gd name="T31" fmla="*/ 123 h 212"/>
                <a:gd name="T32" fmla="*/ 32 w 263"/>
                <a:gd name="T33" fmla="*/ 127 h 212"/>
                <a:gd name="T34" fmla="*/ 84 w 263"/>
                <a:gd name="T35" fmla="*/ 25 h 212"/>
                <a:gd name="T36" fmla="*/ 122 w 263"/>
                <a:gd name="T37" fmla="*/ 50 h 212"/>
                <a:gd name="T38" fmla="*/ 132 w 263"/>
                <a:gd name="T39" fmla="*/ 111 h 212"/>
                <a:gd name="T40" fmla="*/ 102 w 263"/>
                <a:gd name="T41" fmla="*/ 158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3" h="212">
                  <a:moveTo>
                    <a:pt x="102" y="158"/>
                  </a:moveTo>
                  <a:lnTo>
                    <a:pt x="133" y="212"/>
                  </a:lnTo>
                  <a:lnTo>
                    <a:pt x="188" y="201"/>
                  </a:lnTo>
                  <a:lnTo>
                    <a:pt x="205" y="171"/>
                  </a:lnTo>
                  <a:lnTo>
                    <a:pt x="207" y="169"/>
                  </a:lnTo>
                  <a:lnTo>
                    <a:pt x="207" y="165"/>
                  </a:lnTo>
                  <a:lnTo>
                    <a:pt x="205" y="164"/>
                  </a:lnTo>
                  <a:lnTo>
                    <a:pt x="209" y="159"/>
                  </a:lnTo>
                  <a:lnTo>
                    <a:pt x="236" y="154"/>
                  </a:lnTo>
                  <a:lnTo>
                    <a:pt x="241" y="99"/>
                  </a:lnTo>
                  <a:lnTo>
                    <a:pt x="242" y="102"/>
                  </a:lnTo>
                  <a:lnTo>
                    <a:pt x="241" y="96"/>
                  </a:lnTo>
                  <a:lnTo>
                    <a:pt x="263" y="47"/>
                  </a:lnTo>
                  <a:lnTo>
                    <a:pt x="221" y="37"/>
                  </a:lnTo>
                  <a:lnTo>
                    <a:pt x="6" y="0"/>
                  </a:lnTo>
                  <a:lnTo>
                    <a:pt x="0" y="123"/>
                  </a:lnTo>
                  <a:lnTo>
                    <a:pt x="32" y="127"/>
                  </a:lnTo>
                  <a:lnTo>
                    <a:pt x="84" y="25"/>
                  </a:lnTo>
                  <a:lnTo>
                    <a:pt x="122" y="50"/>
                  </a:lnTo>
                  <a:lnTo>
                    <a:pt x="132" y="111"/>
                  </a:lnTo>
                  <a:lnTo>
                    <a:pt x="102" y="158"/>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80" name="Freeform 264">
              <a:extLst>
                <a:ext uri="{FF2B5EF4-FFF2-40B4-BE49-F238E27FC236}">
                  <a16:creationId xmlns:a16="http://schemas.microsoft.com/office/drawing/2014/main" id="{9122DDFC-6C4E-8B60-509B-8D5DA34BE6B0}"/>
                </a:ext>
              </a:extLst>
            </p:cNvPr>
            <p:cNvSpPr>
              <a:spLocks/>
            </p:cNvSpPr>
            <p:nvPr/>
          </p:nvSpPr>
          <p:spPr bwMode="auto">
            <a:xfrm>
              <a:off x="3629" y="3900"/>
              <a:ext cx="76" cy="123"/>
            </a:xfrm>
            <a:custGeom>
              <a:avLst/>
              <a:gdLst>
                <a:gd name="T0" fmla="*/ 227 w 227"/>
                <a:gd name="T1" fmla="*/ 0 h 367"/>
                <a:gd name="T2" fmla="*/ 213 w 227"/>
                <a:gd name="T3" fmla="*/ 4 h 367"/>
                <a:gd name="T4" fmla="*/ 212 w 227"/>
                <a:gd name="T5" fmla="*/ 6 h 367"/>
                <a:gd name="T6" fmla="*/ 207 w 227"/>
                <a:gd name="T7" fmla="*/ 4 h 367"/>
                <a:gd name="T8" fmla="*/ 146 w 227"/>
                <a:gd name="T9" fmla="*/ 19 h 367"/>
                <a:gd name="T10" fmla="*/ 119 w 227"/>
                <a:gd name="T11" fmla="*/ 24 h 367"/>
                <a:gd name="T12" fmla="*/ 115 w 227"/>
                <a:gd name="T13" fmla="*/ 29 h 367"/>
                <a:gd name="T14" fmla="*/ 117 w 227"/>
                <a:gd name="T15" fmla="*/ 30 h 367"/>
                <a:gd name="T16" fmla="*/ 117 w 227"/>
                <a:gd name="T17" fmla="*/ 34 h 367"/>
                <a:gd name="T18" fmla="*/ 115 w 227"/>
                <a:gd name="T19" fmla="*/ 36 h 367"/>
                <a:gd name="T20" fmla="*/ 98 w 227"/>
                <a:gd name="T21" fmla="*/ 66 h 367"/>
                <a:gd name="T22" fmla="*/ 93 w 227"/>
                <a:gd name="T23" fmla="*/ 75 h 367"/>
                <a:gd name="T24" fmla="*/ 81 w 227"/>
                <a:gd name="T25" fmla="*/ 96 h 367"/>
                <a:gd name="T26" fmla="*/ 54 w 227"/>
                <a:gd name="T27" fmla="*/ 150 h 367"/>
                <a:gd name="T28" fmla="*/ 43 w 227"/>
                <a:gd name="T29" fmla="*/ 174 h 367"/>
                <a:gd name="T30" fmla="*/ 24 w 227"/>
                <a:gd name="T31" fmla="*/ 221 h 367"/>
                <a:gd name="T32" fmla="*/ 6 w 227"/>
                <a:gd name="T33" fmla="*/ 273 h 367"/>
                <a:gd name="T34" fmla="*/ 2 w 227"/>
                <a:gd name="T35" fmla="*/ 282 h 367"/>
                <a:gd name="T36" fmla="*/ 0 w 227"/>
                <a:gd name="T37" fmla="*/ 293 h 367"/>
                <a:gd name="T38" fmla="*/ 27 w 227"/>
                <a:gd name="T39" fmla="*/ 367 h 367"/>
                <a:gd name="T40" fmla="*/ 30 w 227"/>
                <a:gd name="T41" fmla="*/ 354 h 367"/>
                <a:gd name="T42" fmla="*/ 29 w 227"/>
                <a:gd name="T43" fmla="*/ 353 h 367"/>
                <a:gd name="T44" fmla="*/ 33 w 227"/>
                <a:gd name="T45" fmla="*/ 307 h 367"/>
                <a:gd name="T46" fmla="*/ 50 w 227"/>
                <a:gd name="T47" fmla="*/ 241 h 367"/>
                <a:gd name="T48" fmla="*/ 44 w 227"/>
                <a:gd name="T49" fmla="*/ 241 h 367"/>
                <a:gd name="T50" fmla="*/ 59 w 227"/>
                <a:gd name="T51" fmla="*/ 205 h 367"/>
                <a:gd name="T52" fmla="*/ 78 w 227"/>
                <a:gd name="T53" fmla="*/ 172 h 367"/>
                <a:gd name="T54" fmla="*/ 99 w 227"/>
                <a:gd name="T55" fmla="*/ 138 h 367"/>
                <a:gd name="T56" fmla="*/ 125 w 227"/>
                <a:gd name="T57" fmla="*/ 105 h 367"/>
                <a:gd name="T58" fmla="*/ 146 w 227"/>
                <a:gd name="T59" fmla="*/ 78 h 367"/>
                <a:gd name="T60" fmla="*/ 197 w 227"/>
                <a:gd name="T61" fmla="*/ 29 h 367"/>
                <a:gd name="T62" fmla="*/ 227 w 227"/>
                <a:gd name="T63"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7" h="367">
                  <a:moveTo>
                    <a:pt x="227" y="0"/>
                  </a:moveTo>
                  <a:lnTo>
                    <a:pt x="213" y="4"/>
                  </a:lnTo>
                  <a:lnTo>
                    <a:pt x="212" y="6"/>
                  </a:lnTo>
                  <a:lnTo>
                    <a:pt x="207" y="4"/>
                  </a:lnTo>
                  <a:lnTo>
                    <a:pt x="146" y="19"/>
                  </a:lnTo>
                  <a:lnTo>
                    <a:pt x="119" y="24"/>
                  </a:lnTo>
                  <a:lnTo>
                    <a:pt x="115" y="29"/>
                  </a:lnTo>
                  <a:lnTo>
                    <a:pt x="117" y="30"/>
                  </a:lnTo>
                  <a:lnTo>
                    <a:pt x="117" y="34"/>
                  </a:lnTo>
                  <a:lnTo>
                    <a:pt x="115" y="36"/>
                  </a:lnTo>
                  <a:lnTo>
                    <a:pt x="98" y="66"/>
                  </a:lnTo>
                  <a:lnTo>
                    <a:pt x="93" y="75"/>
                  </a:lnTo>
                  <a:lnTo>
                    <a:pt x="81" y="96"/>
                  </a:lnTo>
                  <a:lnTo>
                    <a:pt x="54" y="150"/>
                  </a:lnTo>
                  <a:lnTo>
                    <a:pt x="43" y="174"/>
                  </a:lnTo>
                  <a:lnTo>
                    <a:pt x="24" y="221"/>
                  </a:lnTo>
                  <a:lnTo>
                    <a:pt x="6" y="273"/>
                  </a:lnTo>
                  <a:lnTo>
                    <a:pt x="2" y="282"/>
                  </a:lnTo>
                  <a:lnTo>
                    <a:pt x="0" y="293"/>
                  </a:lnTo>
                  <a:lnTo>
                    <a:pt x="27" y="367"/>
                  </a:lnTo>
                  <a:lnTo>
                    <a:pt x="30" y="354"/>
                  </a:lnTo>
                  <a:lnTo>
                    <a:pt x="29" y="353"/>
                  </a:lnTo>
                  <a:lnTo>
                    <a:pt x="33" y="307"/>
                  </a:lnTo>
                  <a:lnTo>
                    <a:pt x="50" y="241"/>
                  </a:lnTo>
                  <a:lnTo>
                    <a:pt x="44" y="241"/>
                  </a:lnTo>
                  <a:lnTo>
                    <a:pt x="59" y="205"/>
                  </a:lnTo>
                  <a:lnTo>
                    <a:pt x="78" y="172"/>
                  </a:lnTo>
                  <a:lnTo>
                    <a:pt x="99" y="138"/>
                  </a:lnTo>
                  <a:lnTo>
                    <a:pt x="125" y="105"/>
                  </a:lnTo>
                  <a:lnTo>
                    <a:pt x="146" y="78"/>
                  </a:lnTo>
                  <a:lnTo>
                    <a:pt x="197" y="29"/>
                  </a:lnTo>
                  <a:lnTo>
                    <a:pt x="22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81" name="Freeform 265">
              <a:extLst>
                <a:ext uri="{FF2B5EF4-FFF2-40B4-BE49-F238E27FC236}">
                  <a16:creationId xmlns:a16="http://schemas.microsoft.com/office/drawing/2014/main" id="{0D1C0DA6-D688-1DC0-B7FE-58E4576654A4}"/>
                </a:ext>
              </a:extLst>
            </p:cNvPr>
            <p:cNvSpPr>
              <a:spLocks/>
            </p:cNvSpPr>
            <p:nvPr/>
          </p:nvSpPr>
          <p:spPr bwMode="auto">
            <a:xfrm>
              <a:off x="3698" y="3902"/>
              <a:ext cx="2" cy="0"/>
            </a:xfrm>
            <a:custGeom>
              <a:avLst/>
              <a:gdLst>
                <a:gd name="T0" fmla="*/ 6 w 6"/>
                <a:gd name="T1" fmla="*/ 0 h 2"/>
                <a:gd name="T2" fmla="*/ 0 w 6"/>
                <a:gd name="T3" fmla="*/ 0 h 2"/>
                <a:gd name="T4" fmla="*/ 5 w 6"/>
                <a:gd name="T5" fmla="*/ 2 h 2"/>
                <a:gd name="T6" fmla="*/ 6 w 6"/>
                <a:gd name="T7" fmla="*/ 0 h 2"/>
              </a:gdLst>
              <a:ahLst/>
              <a:cxnLst>
                <a:cxn ang="0">
                  <a:pos x="T0" y="T1"/>
                </a:cxn>
                <a:cxn ang="0">
                  <a:pos x="T2" y="T3"/>
                </a:cxn>
                <a:cxn ang="0">
                  <a:pos x="T4" y="T5"/>
                </a:cxn>
                <a:cxn ang="0">
                  <a:pos x="T6" y="T7"/>
                </a:cxn>
              </a:cxnLst>
              <a:rect l="0" t="0" r="r" b="b"/>
              <a:pathLst>
                <a:path w="6" h="2">
                  <a:moveTo>
                    <a:pt x="6" y="0"/>
                  </a:moveTo>
                  <a:lnTo>
                    <a:pt x="0" y="0"/>
                  </a:lnTo>
                  <a:lnTo>
                    <a:pt x="5" y="2"/>
                  </a:lnTo>
                  <a:lnTo>
                    <a:pt x="6" y="0"/>
                  </a:lnTo>
                  <a:close/>
                </a:path>
              </a:pathLst>
            </a:custGeom>
            <a:solidFill>
              <a:srgbClr val="FFD14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82" name="Freeform 266">
              <a:extLst>
                <a:ext uri="{FF2B5EF4-FFF2-40B4-BE49-F238E27FC236}">
                  <a16:creationId xmlns:a16="http://schemas.microsoft.com/office/drawing/2014/main" id="{9A5FFE12-E72E-E695-6BEE-E4D8937FD147}"/>
                </a:ext>
              </a:extLst>
            </p:cNvPr>
            <p:cNvSpPr>
              <a:spLocks noEditPoints="1"/>
            </p:cNvSpPr>
            <p:nvPr/>
          </p:nvSpPr>
          <p:spPr bwMode="auto">
            <a:xfrm>
              <a:off x="3633" y="3877"/>
              <a:ext cx="109" cy="169"/>
            </a:xfrm>
            <a:custGeom>
              <a:avLst/>
              <a:gdLst>
                <a:gd name="T0" fmla="*/ 260 w 328"/>
                <a:gd name="T1" fmla="*/ 36 h 506"/>
                <a:gd name="T2" fmla="*/ 236 w 328"/>
                <a:gd name="T3" fmla="*/ 51 h 506"/>
                <a:gd name="T4" fmla="*/ 216 w 328"/>
                <a:gd name="T5" fmla="*/ 69 h 506"/>
                <a:gd name="T6" fmla="*/ 186 w 328"/>
                <a:gd name="T7" fmla="*/ 98 h 506"/>
                <a:gd name="T8" fmla="*/ 135 w 328"/>
                <a:gd name="T9" fmla="*/ 147 h 506"/>
                <a:gd name="T10" fmla="*/ 114 w 328"/>
                <a:gd name="T11" fmla="*/ 174 h 506"/>
                <a:gd name="T12" fmla="*/ 88 w 328"/>
                <a:gd name="T13" fmla="*/ 207 h 506"/>
                <a:gd name="T14" fmla="*/ 67 w 328"/>
                <a:gd name="T15" fmla="*/ 241 h 506"/>
                <a:gd name="T16" fmla="*/ 48 w 328"/>
                <a:gd name="T17" fmla="*/ 274 h 506"/>
                <a:gd name="T18" fmla="*/ 33 w 328"/>
                <a:gd name="T19" fmla="*/ 310 h 506"/>
                <a:gd name="T20" fmla="*/ 39 w 328"/>
                <a:gd name="T21" fmla="*/ 310 h 506"/>
                <a:gd name="T22" fmla="*/ 22 w 328"/>
                <a:gd name="T23" fmla="*/ 376 h 506"/>
                <a:gd name="T24" fmla="*/ 18 w 328"/>
                <a:gd name="T25" fmla="*/ 422 h 506"/>
                <a:gd name="T26" fmla="*/ 19 w 328"/>
                <a:gd name="T27" fmla="*/ 423 h 506"/>
                <a:gd name="T28" fmla="*/ 16 w 328"/>
                <a:gd name="T29" fmla="*/ 436 h 506"/>
                <a:gd name="T30" fmla="*/ 2 w 328"/>
                <a:gd name="T31" fmla="*/ 498 h 506"/>
                <a:gd name="T32" fmla="*/ 0 w 328"/>
                <a:gd name="T33" fmla="*/ 506 h 506"/>
                <a:gd name="T34" fmla="*/ 4 w 328"/>
                <a:gd name="T35" fmla="*/ 500 h 506"/>
                <a:gd name="T36" fmla="*/ 48 w 328"/>
                <a:gd name="T37" fmla="*/ 430 h 506"/>
                <a:gd name="T38" fmla="*/ 68 w 328"/>
                <a:gd name="T39" fmla="*/ 394 h 506"/>
                <a:gd name="T40" fmla="*/ 87 w 328"/>
                <a:gd name="T41" fmla="*/ 360 h 506"/>
                <a:gd name="T42" fmla="*/ 88 w 328"/>
                <a:gd name="T43" fmla="*/ 357 h 506"/>
                <a:gd name="T44" fmla="*/ 108 w 328"/>
                <a:gd name="T45" fmla="*/ 313 h 506"/>
                <a:gd name="T46" fmla="*/ 126 w 328"/>
                <a:gd name="T47" fmla="*/ 270 h 506"/>
                <a:gd name="T48" fmla="*/ 139 w 328"/>
                <a:gd name="T49" fmla="*/ 242 h 506"/>
                <a:gd name="T50" fmla="*/ 159 w 328"/>
                <a:gd name="T51" fmla="*/ 200 h 506"/>
                <a:gd name="T52" fmla="*/ 186 w 328"/>
                <a:gd name="T53" fmla="*/ 160 h 506"/>
                <a:gd name="T54" fmla="*/ 225 w 328"/>
                <a:gd name="T55" fmla="*/ 104 h 506"/>
                <a:gd name="T56" fmla="*/ 274 w 328"/>
                <a:gd name="T57" fmla="*/ 53 h 506"/>
                <a:gd name="T58" fmla="*/ 283 w 328"/>
                <a:gd name="T59" fmla="*/ 42 h 506"/>
                <a:gd name="T60" fmla="*/ 294 w 328"/>
                <a:gd name="T61" fmla="*/ 33 h 506"/>
                <a:gd name="T62" fmla="*/ 328 w 328"/>
                <a:gd name="T63" fmla="*/ 0 h 506"/>
                <a:gd name="T64" fmla="*/ 291 w 328"/>
                <a:gd name="T65" fmla="*/ 15 h 506"/>
                <a:gd name="T66" fmla="*/ 260 w 328"/>
                <a:gd name="T67" fmla="*/ 36 h 506"/>
                <a:gd name="T68" fmla="*/ 267 w 328"/>
                <a:gd name="T69" fmla="*/ 57 h 506"/>
                <a:gd name="T70" fmla="*/ 268 w 328"/>
                <a:gd name="T71" fmla="*/ 57 h 506"/>
                <a:gd name="T72" fmla="*/ 236 w 328"/>
                <a:gd name="T73" fmla="*/ 88 h 506"/>
                <a:gd name="T74" fmla="*/ 267 w 328"/>
                <a:gd name="T75" fmla="*/ 57 h 506"/>
                <a:gd name="T76" fmla="*/ 116 w 328"/>
                <a:gd name="T77" fmla="*/ 201 h 506"/>
                <a:gd name="T78" fmla="*/ 140 w 328"/>
                <a:gd name="T79" fmla="*/ 163 h 506"/>
                <a:gd name="T80" fmla="*/ 116 w 328"/>
                <a:gd name="T81" fmla="*/ 201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506">
                  <a:moveTo>
                    <a:pt x="260" y="36"/>
                  </a:moveTo>
                  <a:lnTo>
                    <a:pt x="236" y="51"/>
                  </a:lnTo>
                  <a:lnTo>
                    <a:pt x="216" y="69"/>
                  </a:lnTo>
                  <a:lnTo>
                    <a:pt x="186" y="98"/>
                  </a:lnTo>
                  <a:lnTo>
                    <a:pt x="135" y="147"/>
                  </a:lnTo>
                  <a:lnTo>
                    <a:pt x="114" y="174"/>
                  </a:lnTo>
                  <a:lnTo>
                    <a:pt x="88" y="207"/>
                  </a:lnTo>
                  <a:lnTo>
                    <a:pt x="67" y="241"/>
                  </a:lnTo>
                  <a:lnTo>
                    <a:pt x="48" y="274"/>
                  </a:lnTo>
                  <a:lnTo>
                    <a:pt x="33" y="310"/>
                  </a:lnTo>
                  <a:lnTo>
                    <a:pt x="39" y="310"/>
                  </a:lnTo>
                  <a:lnTo>
                    <a:pt x="22" y="376"/>
                  </a:lnTo>
                  <a:lnTo>
                    <a:pt x="18" y="422"/>
                  </a:lnTo>
                  <a:lnTo>
                    <a:pt x="19" y="423"/>
                  </a:lnTo>
                  <a:lnTo>
                    <a:pt x="16" y="436"/>
                  </a:lnTo>
                  <a:lnTo>
                    <a:pt x="2" y="498"/>
                  </a:lnTo>
                  <a:lnTo>
                    <a:pt x="0" y="506"/>
                  </a:lnTo>
                  <a:lnTo>
                    <a:pt x="4" y="500"/>
                  </a:lnTo>
                  <a:lnTo>
                    <a:pt x="48" y="430"/>
                  </a:lnTo>
                  <a:lnTo>
                    <a:pt x="68" y="394"/>
                  </a:lnTo>
                  <a:lnTo>
                    <a:pt x="87" y="360"/>
                  </a:lnTo>
                  <a:lnTo>
                    <a:pt x="88" y="357"/>
                  </a:lnTo>
                  <a:lnTo>
                    <a:pt x="108" y="313"/>
                  </a:lnTo>
                  <a:lnTo>
                    <a:pt x="126" y="270"/>
                  </a:lnTo>
                  <a:lnTo>
                    <a:pt x="139" y="242"/>
                  </a:lnTo>
                  <a:lnTo>
                    <a:pt x="159" y="200"/>
                  </a:lnTo>
                  <a:lnTo>
                    <a:pt x="186" y="160"/>
                  </a:lnTo>
                  <a:lnTo>
                    <a:pt x="225" y="104"/>
                  </a:lnTo>
                  <a:lnTo>
                    <a:pt x="274" y="53"/>
                  </a:lnTo>
                  <a:lnTo>
                    <a:pt x="283" y="42"/>
                  </a:lnTo>
                  <a:lnTo>
                    <a:pt x="294" y="33"/>
                  </a:lnTo>
                  <a:lnTo>
                    <a:pt x="328" y="0"/>
                  </a:lnTo>
                  <a:lnTo>
                    <a:pt x="291" y="15"/>
                  </a:lnTo>
                  <a:lnTo>
                    <a:pt x="260" y="36"/>
                  </a:lnTo>
                  <a:close/>
                  <a:moveTo>
                    <a:pt x="267" y="57"/>
                  </a:moveTo>
                  <a:lnTo>
                    <a:pt x="268" y="57"/>
                  </a:lnTo>
                  <a:lnTo>
                    <a:pt x="236" y="88"/>
                  </a:lnTo>
                  <a:lnTo>
                    <a:pt x="267" y="57"/>
                  </a:lnTo>
                  <a:close/>
                  <a:moveTo>
                    <a:pt x="116" y="201"/>
                  </a:moveTo>
                  <a:lnTo>
                    <a:pt x="140" y="163"/>
                  </a:lnTo>
                  <a:lnTo>
                    <a:pt x="116" y="201"/>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83" name="Freeform 267">
              <a:extLst>
                <a:ext uri="{FF2B5EF4-FFF2-40B4-BE49-F238E27FC236}">
                  <a16:creationId xmlns:a16="http://schemas.microsoft.com/office/drawing/2014/main" id="{FCD6FDD8-6136-9692-27C9-64ADB76A7B19}"/>
                </a:ext>
              </a:extLst>
            </p:cNvPr>
            <p:cNvSpPr>
              <a:spLocks/>
            </p:cNvSpPr>
            <p:nvPr/>
          </p:nvSpPr>
          <p:spPr bwMode="auto">
            <a:xfrm>
              <a:off x="3671" y="3932"/>
              <a:ext cx="8" cy="12"/>
            </a:xfrm>
            <a:custGeom>
              <a:avLst/>
              <a:gdLst>
                <a:gd name="T0" fmla="*/ 0 w 24"/>
                <a:gd name="T1" fmla="*/ 38 h 38"/>
                <a:gd name="T2" fmla="*/ 24 w 24"/>
                <a:gd name="T3" fmla="*/ 0 h 38"/>
                <a:gd name="T4" fmla="*/ 0 w 24"/>
                <a:gd name="T5" fmla="*/ 38 h 38"/>
              </a:gdLst>
              <a:ahLst/>
              <a:cxnLst>
                <a:cxn ang="0">
                  <a:pos x="T0" y="T1"/>
                </a:cxn>
                <a:cxn ang="0">
                  <a:pos x="T2" y="T3"/>
                </a:cxn>
                <a:cxn ang="0">
                  <a:pos x="T4" y="T5"/>
                </a:cxn>
              </a:cxnLst>
              <a:rect l="0" t="0" r="r" b="b"/>
              <a:pathLst>
                <a:path w="24" h="38">
                  <a:moveTo>
                    <a:pt x="0" y="38"/>
                  </a:moveTo>
                  <a:lnTo>
                    <a:pt x="24" y="0"/>
                  </a:lnTo>
                  <a:lnTo>
                    <a:pt x="0" y="38"/>
                  </a:lnTo>
                  <a:close/>
                </a:path>
              </a:pathLst>
            </a:custGeom>
            <a:solidFill>
              <a:srgbClr val="CC6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84" name="Freeform 268">
              <a:extLst>
                <a:ext uri="{FF2B5EF4-FFF2-40B4-BE49-F238E27FC236}">
                  <a16:creationId xmlns:a16="http://schemas.microsoft.com/office/drawing/2014/main" id="{C58F6176-47C8-C558-7607-24D0DA9D234A}"/>
                </a:ext>
              </a:extLst>
            </p:cNvPr>
            <p:cNvSpPr>
              <a:spLocks/>
            </p:cNvSpPr>
            <p:nvPr/>
          </p:nvSpPr>
          <p:spPr bwMode="auto">
            <a:xfrm>
              <a:off x="3621" y="3824"/>
              <a:ext cx="228" cy="268"/>
            </a:xfrm>
            <a:custGeom>
              <a:avLst/>
              <a:gdLst>
                <a:gd name="T0" fmla="*/ 221 w 684"/>
                <a:gd name="T1" fmla="*/ 319 h 803"/>
                <a:gd name="T2" fmla="*/ 194 w 684"/>
                <a:gd name="T3" fmla="*/ 359 h 803"/>
                <a:gd name="T4" fmla="*/ 174 w 684"/>
                <a:gd name="T5" fmla="*/ 401 h 803"/>
                <a:gd name="T6" fmla="*/ 161 w 684"/>
                <a:gd name="T7" fmla="*/ 429 h 803"/>
                <a:gd name="T8" fmla="*/ 143 w 684"/>
                <a:gd name="T9" fmla="*/ 472 h 803"/>
                <a:gd name="T10" fmla="*/ 123 w 684"/>
                <a:gd name="T11" fmla="*/ 516 h 803"/>
                <a:gd name="T12" fmla="*/ 122 w 684"/>
                <a:gd name="T13" fmla="*/ 519 h 803"/>
                <a:gd name="T14" fmla="*/ 103 w 684"/>
                <a:gd name="T15" fmla="*/ 553 h 803"/>
                <a:gd name="T16" fmla="*/ 83 w 684"/>
                <a:gd name="T17" fmla="*/ 589 h 803"/>
                <a:gd name="T18" fmla="*/ 39 w 684"/>
                <a:gd name="T19" fmla="*/ 659 h 803"/>
                <a:gd name="T20" fmla="*/ 35 w 684"/>
                <a:gd name="T21" fmla="*/ 665 h 803"/>
                <a:gd name="T22" fmla="*/ 0 w 684"/>
                <a:gd name="T23" fmla="*/ 803 h 803"/>
                <a:gd name="T24" fmla="*/ 29 w 684"/>
                <a:gd name="T25" fmla="*/ 778 h 803"/>
                <a:gd name="T26" fmla="*/ 57 w 684"/>
                <a:gd name="T27" fmla="*/ 756 h 803"/>
                <a:gd name="T28" fmla="*/ 84 w 684"/>
                <a:gd name="T29" fmla="*/ 737 h 803"/>
                <a:gd name="T30" fmla="*/ 97 w 684"/>
                <a:gd name="T31" fmla="*/ 729 h 803"/>
                <a:gd name="T32" fmla="*/ 111 w 684"/>
                <a:gd name="T33" fmla="*/ 723 h 803"/>
                <a:gd name="T34" fmla="*/ 117 w 684"/>
                <a:gd name="T35" fmla="*/ 718 h 803"/>
                <a:gd name="T36" fmla="*/ 169 w 684"/>
                <a:gd name="T37" fmla="*/ 597 h 803"/>
                <a:gd name="T38" fmla="*/ 227 w 684"/>
                <a:gd name="T39" fmla="*/ 474 h 803"/>
                <a:gd name="T40" fmla="*/ 255 w 684"/>
                <a:gd name="T41" fmla="*/ 417 h 803"/>
                <a:gd name="T42" fmla="*/ 272 w 684"/>
                <a:gd name="T43" fmla="*/ 388 h 803"/>
                <a:gd name="T44" fmla="*/ 291 w 684"/>
                <a:gd name="T45" fmla="*/ 360 h 803"/>
                <a:gd name="T46" fmla="*/ 333 w 684"/>
                <a:gd name="T47" fmla="*/ 303 h 803"/>
                <a:gd name="T48" fmla="*/ 383 w 684"/>
                <a:gd name="T49" fmla="*/ 247 h 803"/>
                <a:gd name="T50" fmla="*/ 426 w 684"/>
                <a:gd name="T51" fmla="*/ 201 h 803"/>
                <a:gd name="T52" fmla="*/ 474 w 684"/>
                <a:gd name="T53" fmla="*/ 155 h 803"/>
                <a:gd name="T54" fmla="*/ 524 w 684"/>
                <a:gd name="T55" fmla="*/ 111 h 803"/>
                <a:gd name="T56" fmla="*/ 579 w 684"/>
                <a:gd name="T57" fmla="*/ 69 h 803"/>
                <a:gd name="T58" fmla="*/ 613 w 684"/>
                <a:gd name="T59" fmla="*/ 44 h 803"/>
                <a:gd name="T60" fmla="*/ 623 w 684"/>
                <a:gd name="T61" fmla="*/ 42 h 803"/>
                <a:gd name="T62" fmla="*/ 623 w 684"/>
                <a:gd name="T63" fmla="*/ 38 h 803"/>
                <a:gd name="T64" fmla="*/ 647 w 684"/>
                <a:gd name="T65" fmla="*/ 22 h 803"/>
                <a:gd name="T66" fmla="*/ 672 w 684"/>
                <a:gd name="T67" fmla="*/ 9 h 803"/>
                <a:gd name="T68" fmla="*/ 684 w 684"/>
                <a:gd name="T69" fmla="*/ 4 h 803"/>
                <a:gd name="T70" fmla="*/ 633 w 684"/>
                <a:gd name="T71" fmla="*/ 0 h 803"/>
                <a:gd name="T72" fmla="*/ 585 w 684"/>
                <a:gd name="T73" fmla="*/ 6 h 803"/>
                <a:gd name="T74" fmla="*/ 560 w 684"/>
                <a:gd name="T75" fmla="*/ 10 h 803"/>
                <a:gd name="T76" fmla="*/ 536 w 684"/>
                <a:gd name="T77" fmla="*/ 18 h 803"/>
                <a:gd name="T78" fmla="*/ 488 w 684"/>
                <a:gd name="T79" fmla="*/ 39 h 803"/>
                <a:gd name="T80" fmla="*/ 379 w 684"/>
                <a:gd name="T81" fmla="*/ 144 h 803"/>
                <a:gd name="T82" fmla="*/ 363 w 684"/>
                <a:gd name="T83" fmla="*/ 159 h 803"/>
                <a:gd name="T84" fmla="*/ 309 w 684"/>
                <a:gd name="T85" fmla="*/ 212 h 803"/>
                <a:gd name="T86" fmla="*/ 260 w 684"/>
                <a:gd name="T87" fmla="*/ 263 h 803"/>
                <a:gd name="T88" fmla="*/ 221 w 684"/>
                <a:gd name="T89" fmla="*/ 319 h 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84" h="803">
                  <a:moveTo>
                    <a:pt x="221" y="319"/>
                  </a:moveTo>
                  <a:lnTo>
                    <a:pt x="194" y="359"/>
                  </a:lnTo>
                  <a:lnTo>
                    <a:pt x="174" y="401"/>
                  </a:lnTo>
                  <a:lnTo>
                    <a:pt x="161" y="429"/>
                  </a:lnTo>
                  <a:lnTo>
                    <a:pt x="143" y="472"/>
                  </a:lnTo>
                  <a:lnTo>
                    <a:pt x="123" y="516"/>
                  </a:lnTo>
                  <a:lnTo>
                    <a:pt x="122" y="519"/>
                  </a:lnTo>
                  <a:lnTo>
                    <a:pt x="103" y="553"/>
                  </a:lnTo>
                  <a:lnTo>
                    <a:pt x="83" y="589"/>
                  </a:lnTo>
                  <a:lnTo>
                    <a:pt x="39" y="659"/>
                  </a:lnTo>
                  <a:lnTo>
                    <a:pt x="35" y="665"/>
                  </a:lnTo>
                  <a:lnTo>
                    <a:pt x="0" y="803"/>
                  </a:lnTo>
                  <a:lnTo>
                    <a:pt x="29" y="778"/>
                  </a:lnTo>
                  <a:lnTo>
                    <a:pt x="57" y="756"/>
                  </a:lnTo>
                  <a:lnTo>
                    <a:pt x="84" y="737"/>
                  </a:lnTo>
                  <a:lnTo>
                    <a:pt x="97" y="729"/>
                  </a:lnTo>
                  <a:lnTo>
                    <a:pt x="111" y="723"/>
                  </a:lnTo>
                  <a:lnTo>
                    <a:pt x="117" y="718"/>
                  </a:lnTo>
                  <a:lnTo>
                    <a:pt x="169" y="597"/>
                  </a:lnTo>
                  <a:lnTo>
                    <a:pt x="227" y="474"/>
                  </a:lnTo>
                  <a:lnTo>
                    <a:pt x="255" y="417"/>
                  </a:lnTo>
                  <a:lnTo>
                    <a:pt x="272" y="388"/>
                  </a:lnTo>
                  <a:lnTo>
                    <a:pt x="291" y="360"/>
                  </a:lnTo>
                  <a:lnTo>
                    <a:pt x="333" y="303"/>
                  </a:lnTo>
                  <a:lnTo>
                    <a:pt x="383" y="247"/>
                  </a:lnTo>
                  <a:lnTo>
                    <a:pt x="426" y="201"/>
                  </a:lnTo>
                  <a:lnTo>
                    <a:pt x="474" y="155"/>
                  </a:lnTo>
                  <a:lnTo>
                    <a:pt x="524" y="111"/>
                  </a:lnTo>
                  <a:lnTo>
                    <a:pt x="579" y="69"/>
                  </a:lnTo>
                  <a:lnTo>
                    <a:pt x="613" y="44"/>
                  </a:lnTo>
                  <a:lnTo>
                    <a:pt x="623" y="42"/>
                  </a:lnTo>
                  <a:lnTo>
                    <a:pt x="623" y="38"/>
                  </a:lnTo>
                  <a:lnTo>
                    <a:pt x="647" y="22"/>
                  </a:lnTo>
                  <a:lnTo>
                    <a:pt x="672" y="9"/>
                  </a:lnTo>
                  <a:lnTo>
                    <a:pt x="684" y="4"/>
                  </a:lnTo>
                  <a:lnTo>
                    <a:pt x="633" y="0"/>
                  </a:lnTo>
                  <a:lnTo>
                    <a:pt x="585" y="6"/>
                  </a:lnTo>
                  <a:lnTo>
                    <a:pt x="560" y="10"/>
                  </a:lnTo>
                  <a:lnTo>
                    <a:pt x="536" y="18"/>
                  </a:lnTo>
                  <a:lnTo>
                    <a:pt x="488" y="39"/>
                  </a:lnTo>
                  <a:lnTo>
                    <a:pt x="379" y="144"/>
                  </a:lnTo>
                  <a:lnTo>
                    <a:pt x="363" y="159"/>
                  </a:lnTo>
                  <a:lnTo>
                    <a:pt x="309" y="212"/>
                  </a:lnTo>
                  <a:lnTo>
                    <a:pt x="260" y="263"/>
                  </a:lnTo>
                  <a:lnTo>
                    <a:pt x="221" y="319"/>
                  </a:lnTo>
                  <a:close/>
                </a:path>
              </a:pathLst>
            </a:custGeom>
            <a:solidFill>
              <a:srgbClr val="99CC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37485" name="Freeform 269">
              <a:extLst>
                <a:ext uri="{FF2B5EF4-FFF2-40B4-BE49-F238E27FC236}">
                  <a16:creationId xmlns:a16="http://schemas.microsoft.com/office/drawing/2014/main" id="{BD7A4E0C-AB9B-9483-FE0C-EB581324D41D}"/>
                </a:ext>
              </a:extLst>
            </p:cNvPr>
            <p:cNvSpPr>
              <a:spLocks/>
            </p:cNvSpPr>
            <p:nvPr/>
          </p:nvSpPr>
          <p:spPr bwMode="auto">
            <a:xfrm>
              <a:off x="3797" y="3838"/>
              <a:ext cx="86" cy="38"/>
            </a:xfrm>
            <a:custGeom>
              <a:avLst/>
              <a:gdLst>
                <a:gd name="T0" fmla="*/ 84 w 258"/>
                <a:gd name="T1" fmla="*/ 3 h 113"/>
                <a:gd name="T2" fmla="*/ 50 w 258"/>
                <a:gd name="T3" fmla="*/ 28 h 113"/>
                <a:gd name="T4" fmla="*/ 0 w 258"/>
                <a:gd name="T5" fmla="*/ 99 h 113"/>
                <a:gd name="T6" fmla="*/ 116 w 258"/>
                <a:gd name="T7" fmla="*/ 101 h 113"/>
                <a:gd name="T8" fmla="*/ 132 w 258"/>
                <a:gd name="T9" fmla="*/ 113 h 113"/>
                <a:gd name="T10" fmla="*/ 258 w 258"/>
                <a:gd name="T11" fmla="*/ 33 h 113"/>
                <a:gd name="T12" fmla="*/ 227 w 258"/>
                <a:gd name="T13" fmla="*/ 19 h 113"/>
                <a:gd name="T14" fmla="*/ 197 w 258"/>
                <a:gd name="T15" fmla="*/ 11 h 113"/>
                <a:gd name="T16" fmla="*/ 170 w 258"/>
                <a:gd name="T17" fmla="*/ 5 h 113"/>
                <a:gd name="T18" fmla="*/ 145 w 258"/>
                <a:gd name="T19" fmla="*/ 1 h 113"/>
                <a:gd name="T20" fmla="*/ 119 w 258"/>
                <a:gd name="T21" fmla="*/ 0 h 113"/>
                <a:gd name="T22" fmla="*/ 94 w 258"/>
                <a:gd name="T23" fmla="*/ 1 h 113"/>
                <a:gd name="T24" fmla="*/ 84 w 258"/>
                <a:gd name="T25" fmla="*/ 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8" h="113">
                  <a:moveTo>
                    <a:pt x="84" y="3"/>
                  </a:moveTo>
                  <a:lnTo>
                    <a:pt x="50" y="28"/>
                  </a:lnTo>
                  <a:lnTo>
                    <a:pt x="0" y="99"/>
                  </a:lnTo>
                  <a:lnTo>
                    <a:pt x="116" y="101"/>
                  </a:lnTo>
                  <a:lnTo>
                    <a:pt x="132" y="113"/>
                  </a:lnTo>
                  <a:lnTo>
                    <a:pt x="258" y="33"/>
                  </a:lnTo>
                  <a:lnTo>
                    <a:pt x="227" y="19"/>
                  </a:lnTo>
                  <a:lnTo>
                    <a:pt x="197" y="11"/>
                  </a:lnTo>
                  <a:lnTo>
                    <a:pt x="170" y="5"/>
                  </a:lnTo>
                  <a:lnTo>
                    <a:pt x="145" y="1"/>
                  </a:lnTo>
                  <a:lnTo>
                    <a:pt x="119" y="0"/>
                  </a:lnTo>
                  <a:lnTo>
                    <a:pt x="94" y="1"/>
                  </a:lnTo>
                  <a:lnTo>
                    <a:pt x="84" y="3"/>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86" name="Freeform 270">
              <a:extLst>
                <a:ext uri="{FF2B5EF4-FFF2-40B4-BE49-F238E27FC236}">
                  <a16:creationId xmlns:a16="http://schemas.microsoft.com/office/drawing/2014/main" id="{4D5FF28E-3C45-4228-E6B8-B8D85743630B}"/>
                </a:ext>
              </a:extLst>
            </p:cNvPr>
            <p:cNvSpPr>
              <a:spLocks/>
            </p:cNvSpPr>
            <p:nvPr/>
          </p:nvSpPr>
          <p:spPr bwMode="auto">
            <a:xfrm>
              <a:off x="3829" y="3826"/>
              <a:ext cx="58" cy="24"/>
            </a:xfrm>
            <a:custGeom>
              <a:avLst/>
              <a:gdLst>
                <a:gd name="T0" fmla="*/ 0 w 174"/>
                <a:gd name="T1" fmla="*/ 34 h 72"/>
                <a:gd name="T2" fmla="*/ 0 w 174"/>
                <a:gd name="T3" fmla="*/ 38 h 72"/>
                <a:gd name="T4" fmla="*/ 25 w 174"/>
                <a:gd name="T5" fmla="*/ 37 h 72"/>
                <a:gd name="T6" fmla="*/ 51 w 174"/>
                <a:gd name="T7" fmla="*/ 38 h 72"/>
                <a:gd name="T8" fmla="*/ 76 w 174"/>
                <a:gd name="T9" fmla="*/ 42 h 72"/>
                <a:gd name="T10" fmla="*/ 103 w 174"/>
                <a:gd name="T11" fmla="*/ 48 h 72"/>
                <a:gd name="T12" fmla="*/ 133 w 174"/>
                <a:gd name="T13" fmla="*/ 56 h 72"/>
                <a:gd name="T14" fmla="*/ 164 w 174"/>
                <a:gd name="T15" fmla="*/ 70 h 72"/>
                <a:gd name="T16" fmla="*/ 169 w 174"/>
                <a:gd name="T17" fmla="*/ 72 h 72"/>
                <a:gd name="T18" fmla="*/ 174 w 174"/>
                <a:gd name="T19" fmla="*/ 68 h 72"/>
                <a:gd name="T20" fmla="*/ 151 w 174"/>
                <a:gd name="T21" fmla="*/ 24 h 72"/>
                <a:gd name="T22" fmla="*/ 145 w 174"/>
                <a:gd name="T23" fmla="*/ 22 h 72"/>
                <a:gd name="T24" fmla="*/ 102 w 174"/>
                <a:gd name="T25" fmla="*/ 7 h 72"/>
                <a:gd name="T26" fmla="*/ 61 w 174"/>
                <a:gd name="T27" fmla="*/ 0 h 72"/>
                <a:gd name="T28" fmla="*/ 49 w 174"/>
                <a:gd name="T29" fmla="*/ 5 h 72"/>
                <a:gd name="T30" fmla="*/ 24 w 174"/>
                <a:gd name="T31" fmla="*/ 18 h 72"/>
                <a:gd name="T32" fmla="*/ 0 w 174"/>
                <a:gd name="T33"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4" h="72">
                  <a:moveTo>
                    <a:pt x="0" y="34"/>
                  </a:moveTo>
                  <a:lnTo>
                    <a:pt x="0" y="38"/>
                  </a:lnTo>
                  <a:lnTo>
                    <a:pt x="25" y="37"/>
                  </a:lnTo>
                  <a:lnTo>
                    <a:pt x="51" y="38"/>
                  </a:lnTo>
                  <a:lnTo>
                    <a:pt x="76" y="42"/>
                  </a:lnTo>
                  <a:lnTo>
                    <a:pt x="103" y="48"/>
                  </a:lnTo>
                  <a:lnTo>
                    <a:pt x="133" y="56"/>
                  </a:lnTo>
                  <a:lnTo>
                    <a:pt x="164" y="70"/>
                  </a:lnTo>
                  <a:lnTo>
                    <a:pt x="169" y="72"/>
                  </a:lnTo>
                  <a:lnTo>
                    <a:pt x="174" y="68"/>
                  </a:lnTo>
                  <a:lnTo>
                    <a:pt x="151" y="24"/>
                  </a:lnTo>
                  <a:lnTo>
                    <a:pt x="145" y="22"/>
                  </a:lnTo>
                  <a:lnTo>
                    <a:pt x="102" y="7"/>
                  </a:lnTo>
                  <a:lnTo>
                    <a:pt x="61" y="0"/>
                  </a:lnTo>
                  <a:lnTo>
                    <a:pt x="49" y="5"/>
                  </a:lnTo>
                  <a:lnTo>
                    <a:pt x="24" y="18"/>
                  </a:lnTo>
                  <a:lnTo>
                    <a:pt x="0" y="34"/>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87" name="Freeform 271">
              <a:extLst>
                <a:ext uri="{FF2B5EF4-FFF2-40B4-BE49-F238E27FC236}">
                  <a16:creationId xmlns:a16="http://schemas.microsoft.com/office/drawing/2014/main" id="{35ACE2B1-62DC-8946-79A2-D25BBEF1F61B}"/>
                </a:ext>
              </a:extLst>
            </p:cNvPr>
            <p:cNvSpPr>
              <a:spLocks/>
            </p:cNvSpPr>
            <p:nvPr/>
          </p:nvSpPr>
          <p:spPr bwMode="auto">
            <a:xfrm>
              <a:off x="3699" y="3904"/>
              <a:ext cx="188" cy="174"/>
            </a:xfrm>
            <a:custGeom>
              <a:avLst/>
              <a:gdLst>
                <a:gd name="T0" fmla="*/ 268 w 564"/>
                <a:gd name="T1" fmla="*/ 50 h 521"/>
                <a:gd name="T2" fmla="*/ 261 w 564"/>
                <a:gd name="T3" fmla="*/ 58 h 521"/>
                <a:gd name="T4" fmla="*/ 222 w 564"/>
                <a:gd name="T5" fmla="*/ 96 h 521"/>
                <a:gd name="T6" fmla="*/ 186 w 564"/>
                <a:gd name="T7" fmla="*/ 137 h 521"/>
                <a:gd name="T8" fmla="*/ 153 w 564"/>
                <a:gd name="T9" fmla="*/ 179 h 521"/>
                <a:gd name="T10" fmla="*/ 124 w 564"/>
                <a:gd name="T11" fmla="*/ 223 h 521"/>
                <a:gd name="T12" fmla="*/ 91 w 564"/>
                <a:gd name="T13" fmla="*/ 274 h 521"/>
                <a:gd name="T14" fmla="*/ 60 w 564"/>
                <a:gd name="T15" fmla="*/ 329 h 521"/>
                <a:gd name="T16" fmla="*/ 28 w 564"/>
                <a:gd name="T17" fmla="*/ 388 h 521"/>
                <a:gd name="T18" fmla="*/ 0 w 564"/>
                <a:gd name="T19" fmla="*/ 451 h 521"/>
                <a:gd name="T20" fmla="*/ 22 w 564"/>
                <a:gd name="T21" fmla="*/ 455 h 521"/>
                <a:gd name="T22" fmla="*/ 54 w 564"/>
                <a:gd name="T23" fmla="*/ 464 h 521"/>
                <a:gd name="T24" fmla="*/ 86 w 564"/>
                <a:gd name="T25" fmla="*/ 480 h 521"/>
                <a:gd name="T26" fmla="*/ 118 w 564"/>
                <a:gd name="T27" fmla="*/ 498 h 521"/>
                <a:gd name="T28" fmla="*/ 153 w 564"/>
                <a:gd name="T29" fmla="*/ 521 h 521"/>
                <a:gd name="T30" fmla="*/ 192 w 564"/>
                <a:gd name="T31" fmla="*/ 468 h 521"/>
                <a:gd name="T32" fmla="*/ 213 w 564"/>
                <a:gd name="T33" fmla="*/ 442 h 521"/>
                <a:gd name="T34" fmla="*/ 237 w 564"/>
                <a:gd name="T35" fmla="*/ 416 h 521"/>
                <a:gd name="T36" fmla="*/ 286 w 564"/>
                <a:gd name="T37" fmla="*/ 364 h 521"/>
                <a:gd name="T38" fmla="*/ 342 w 564"/>
                <a:gd name="T39" fmla="*/ 311 h 521"/>
                <a:gd name="T40" fmla="*/ 400 w 564"/>
                <a:gd name="T41" fmla="*/ 262 h 521"/>
                <a:gd name="T42" fmla="*/ 386 w 564"/>
                <a:gd name="T43" fmla="*/ 251 h 521"/>
                <a:gd name="T44" fmla="*/ 427 w 564"/>
                <a:gd name="T45" fmla="*/ 202 h 521"/>
                <a:gd name="T46" fmla="*/ 456 w 564"/>
                <a:gd name="T47" fmla="*/ 216 h 521"/>
                <a:gd name="T48" fmla="*/ 459 w 564"/>
                <a:gd name="T49" fmla="*/ 215 h 521"/>
                <a:gd name="T50" fmla="*/ 544 w 564"/>
                <a:gd name="T51" fmla="*/ 151 h 521"/>
                <a:gd name="T52" fmla="*/ 564 w 564"/>
                <a:gd name="T53" fmla="*/ 138 h 521"/>
                <a:gd name="T54" fmla="*/ 326 w 564"/>
                <a:gd name="T55" fmla="*/ 0 h 521"/>
                <a:gd name="T56" fmla="*/ 309 w 564"/>
                <a:gd name="T57" fmla="*/ 13 h 521"/>
                <a:gd name="T58" fmla="*/ 268 w 564"/>
                <a:gd name="T59" fmla="*/ 5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64" h="521">
                  <a:moveTo>
                    <a:pt x="268" y="50"/>
                  </a:moveTo>
                  <a:lnTo>
                    <a:pt x="261" y="58"/>
                  </a:lnTo>
                  <a:lnTo>
                    <a:pt x="222" y="96"/>
                  </a:lnTo>
                  <a:lnTo>
                    <a:pt x="186" y="137"/>
                  </a:lnTo>
                  <a:lnTo>
                    <a:pt x="153" y="179"/>
                  </a:lnTo>
                  <a:lnTo>
                    <a:pt x="124" y="223"/>
                  </a:lnTo>
                  <a:lnTo>
                    <a:pt x="91" y="274"/>
                  </a:lnTo>
                  <a:lnTo>
                    <a:pt x="60" y="329"/>
                  </a:lnTo>
                  <a:lnTo>
                    <a:pt x="28" y="388"/>
                  </a:lnTo>
                  <a:lnTo>
                    <a:pt x="0" y="451"/>
                  </a:lnTo>
                  <a:lnTo>
                    <a:pt x="22" y="455"/>
                  </a:lnTo>
                  <a:lnTo>
                    <a:pt x="54" y="464"/>
                  </a:lnTo>
                  <a:lnTo>
                    <a:pt x="86" y="480"/>
                  </a:lnTo>
                  <a:lnTo>
                    <a:pt x="118" y="498"/>
                  </a:lnTo>
                  <a:lnTo>
                    <a:pt x="153" y="521"/>
                  </a:lnTo>
                  <a:lnTo>
                    <a:pt x="192" y="468"/>
                  </a:lnTo>
                  <a:lnTo>
                    <a:pt x="213" y="442"/>
                  </a:lnTo>
                  <a:lnTo>
                    <a:pt x="237" y="416"/>
                  </a:lnTo>
                  <a:lnTo>
                    <a:pt x="286" y="364"/>
                  </a:lnTo>
                  <a:lnTo>
                    <a:pt x="342" y="311"/>
                  </a:lnTo>
                  <a:lnTo>
                    <a:pt x="400" y="262"/>
                  </a:lnTo>
                  <a:lnTo>
                    <a:pt x="386" y="251"/>
                  </a:lnTo>
                  <a:lnTo>
                    <a:pt x="427" y="202"/>
                  </a:lnTo>
                  <a:lnTo>
                    <a:pt x="456" y="216"/>
                  </a:lnTo>
                  <a:lnTo>
                    <a:pt x="459" y="215"/>
                  </a:lnTo>
                  <a:lnTo>
                    <a:pt x="544" y="151"/>
                  </a:lnTo>
                  <a:lnTo>
                    <a:pt x="564" y="138"/>
                  </a:lnTo>
                  <a:lnTo>
                    <a:pt x="326" y="0"/>
                  </a:lnTo>
                  <a:lnTo>
                    <a:pt x="309" y="13"/>
                  </a:lnTo>
                  <a:lnTo>
                    <a:pt x="268" y="50"/>
                  </a:lnTo>
                  <a:close/>
                </a:path>
              </a:pathLst>
            </a:custGeom>
            <a:solidFill>
              <a:srgbClr val="99CC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37488" name="Freeform 272">
              <a:extLst>
                <a:ext uri="{FF2B5EF4-FFF2-40B4-BE49-F238E27FC236}">
                  <a16:creationId xmlns:a16="http://schemas.microsoft.com/office/drawing/2014/main" id="{0A41126C-225A-6928-BA92-90A06AFE4F95}"/>
                </a:ext>
              </a:extLst>
            </p:cNvPr>
            <p:cNvSpPr>
              <a:spLocks/>
            </p:cNvSpPr>
            <p:nvPr/>
          </p:nvSpPr>
          <p:spPr bwMode="auto">
            <a:xfrm>
              <a:off x="3617" y="3847"/>
              <a:ext cx="258" cy="311"/>
            </a:xfrm>
            <a:custGeom>
              <a:avLst/>
              <a:gdLst>
                <a:gd name="T0" fmla="*/ 512 w 773"/>
                <a:gd name="T1" fmla="*/ 220 h 932"/>
                <a:gd name="T2" fmla="*/ 570 w 773"/>
                <a:gd name="T3" fmla="*/ 170 h 932"/>
                <a:gd name="T4" fmla="*/ 590 w 773"/>
                <a:gd name="T5" fmla="*/ 147 h 932"/>
                <a:gd name="T6" fmla="*/ 617 w 773"/>
                <a:gd name="T7" fmla="*/ 133 h 932"/>
                <a:gd name="T8" fmla="*/ 636 w 773"/>
                <a:gd name="T9" fmla="*/ 119 h 932"/>
                <a:gd name="T10" fmla="*/ 673 w 773"/>
                <a:gd name="T11" fmla="*/ 89 h 932"/>
                <a:gd name="T12" fmla="*/ 656 w 773"/>
                <a:gd name="T13" fmla="*/ 73 h 932"/>
                <a:gd name="T14" fmla="*/ 590 w 773"/>
                <a:gd name="T15" fmla="*/ 0 h 932"/>
                <a:gd name="T16" fmla="*/ 485 w 773"/>
                <a:gd name="T17" fmla="*/ 86 h 932"/>
                <a:gd name="T18" fmla="*/ 394 w 773"/>
                <a:gd name="T19" fmla="*/ 178 h 932"/>
                <a:gd name="T20" fmla="*/ 302 w 773"/>
                <a:gd name="T21" fmla="*/ 291 h 932"/>
                <a:gd name="T22" fmla="*/ 266 w 773"/>
                <a:gd name="T23" fmla="*/ 348 h 932"/>
                <a:gd name="T24" fmla="*/ 180 w 773"/>
                <a:gd name="T25" fmla="*/ 528 h 932"/>
                <a:gd name="T26" fmla="*/ 122 w 773"/>
                <a:gd name="T27" fmla="*/ 654 h 932"/>
                <a:gd name="T28" fmla="*/ 95 w 773"/>
                <a:gd name="T29" fmla="*/ 668 h 932"/>
                <a:gd name="T30" fmla="*/ 40 w 773"/>
                <a:gd name="T31" fmla="*/ 709 h 932"/>
                <a:gd name="T32" fmla="*/ 0 w 773"/>
                <a:gd name="T33" fmla="*/ 776 h 932"/>
                <a:gd name="T34" fmla="*/ 83 w 773"/>
                <a:gd name="T35" fmla="*/ 750 h 932"/>
                <a:gd name="T36" fmla="*/ 168 w 773"/>
                <a:gd name="T37" fmla="*/ 748 h 932"/>
                <a:gd name="T38" fmla="*/ 230 w 773"/>
                <a:gd name="T39" fmla="*/ 763 h 932"/>
                <a:gd name="T40" fmla="*/ 314 w 773"/>
                <a:gd name="T41" fmla="*/ 805 h 932"/>
                <a:gd name="T42" fmla="*/ 404 w 773"/>
                <a:gd name="T43" fmla="*/ 876 h 932"/>
                <a:gd name="T44" fmla="*/ 436 w 773"/>
                <a:gd name="T45" fmla="*/ 904 h 932"/>
                <a:gd name="T46" fmla="*/ 500 w 773"/>
                <a:gd name="T47" fmla="*/ 912 h 932"/>
                <a:gd name="T48" fmla="*/ 529 w 773"/>
                <a:gd name="T49" fmla="*/ 894 h 932"/>
                <a:gd name="T50" fmla="*/ 548 w 773"/>
                <a:gd name="T51" fmla="*/ 882 h 932"/>
                <a:gd name="T52" fmla="*/ 577 w 773"/>
                <a:gd name="T53" fmla="*/ 864 h 932"/>
                <a:gd name="T54" fmla="*/ 540 w 773"/>
                <a:gd name="T55" fmla="*/ 817 h 932"/>
                <a:gd name="T56" fmla="*/ 498 w 773"/>
                <a:gd name="T57" fmla="*/ 775 h 932"/>
                <a:gd name="T58" fmla="*/ 545 w 773"/>
                <a:gd name="T59" fmla="*/ 726 h 932"/>
                <a:gd name="T60" fmla="*/ 646 w 773"/>
                <a:gd name="T61" fmla="*/ 630 h 932"/>
                <a:gd name="T62" fmla="*/ 773 w 773"/>
                <a:gd name="T63" fmla="*/ 528 h 932"/>
                <a:gd name="T64" fmla="*/ 586 w 773"/>
                <a:gd name="T65" fmla="*/ 481 h 932"/>
                <a:gd name="T66" fmla="*/ 481 w 773"/>
                <a:gd name="T67" fmla="*/ 586 h 932"/>
                <a:gd name="T68" fmla="*/ 436 w 773"/>
                <a:gd name="T69" fmla="*/ 638 h 932"/>
                <a:gd name="T70" fmla="*/ 362 w 773"/>
                <a:gd name="T71" fmla="*/ 668 h 932"/>
                <a:gd name="T72" fmla="*/ 298 w 773"/>
                <a:gd name="T73" fmla="*/ 634 h 932"/>
                <a:gd name="T74" fmla="*/ 244 w 773"/>
                <a:gd name="T75" fmla="*/ 621 h 932"/>
                <a:gd name="T76" fmla="*/ 304 w 773"/>
                <a:gd name="T77" fmla="*/ 499 h 932"/>
                <a:gd name="T78" fmla="*/ 368 w 773"/>
                <a:gd name="T79" fmla="*/ 393 h 932"/>
                <a:gd name="T80" fmla="*/ 430 w 773"/>
                <a:gd name="T81" fmla="*/ 307 h 932"/>
                <a:gd name="T82" fmla="*/ 505 w 773"/>
                <a:gd name="T83" fmla="*/ 228 h 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73" h="932">
                  <a:moveTo>
                    <a:pt x="505" y="228"/>
                  </a:moveTo>
                  <a:lnTo>
                    <a:pt x="512" y="220"/>
                  </a:lnTo>
                  <a:lnTo>
                    <a:pt x="553" y="183"/>
                  </a:lnTo>
                  <a:lnTo>
                    <a:pt x="570" y="170"/>
                  </a:lnTo>
                  <a:lnTo>
                    <a:pt x="509" y="134"/>
                  </a:lnTo>
                  <a:lnTo>
                    <a:pt x="590" y="147"/>
                  </a:lnTo>
                  <a:lnTo>
                    <a:pt x="598" y="147"/>
                  </a:lnTo>
                  <a:lnTo>
                    <a:pt x="617" y="133"/>
                  </a:lnTo>
                  <a:lnTo>
                    <a:pt x="625" y="125"/>
                  </a:lnTo>
                  <a:lnTo>
                    <a:pt x="636" y="119"/>
                  </a:lnTo>
                  <a:lnTo>
                    <a:pt x="652" y="104"/>
                  </a:lnTo>
                  <a:lnTo>
                    <a:pt x="673" y="89"/>
                  </a:lnTo>
                  <a:lnTo>
                    <a:pt x="672" y="85"/>
                  </a:lnTo>
                  <a:lnTo>
                    <a:pt x="656" y="73"/>
                  </a:lnTo>
                  <a:lnTo>
                    <a:pt x="540" y="71"/>
                  </a:lnTo>
                  <a:lnTo>
                    <a:pt x="590" y="0"/>
                  </a:lnTo>
                  <a:lnTo>
                    <a:pt x="535" y="42"/>
                  </a:lnTo>
                  <a:lnTo>
                    <a:pt x="485" y="86"/>
                  </a:lnTo>
                  <a:lnTo>
                    <a:pt x="437" y="132"/>
                  </a:lnTo>
                  <a:lnTo>
                    <a:pt x="394" y="178"/>
                  </a:lnTo>
                  <a:lnTo>
                    <a:pt x="344" y="234"/>
                  </a:lnTo>
                  <a:lnTo>
                    <a:pt x="302" y="291"/>
                  </a:lnTo>
                  <a:lnTo>
                    <a:pt x="283" y="319"/>
                  </a:lnTo>
                  <a:lnTo>
                    <a:pt x="266" y="348"/>
                  </a:lnTo>
                  <a:lnTo>
                    <a:pt x="238" y="405"/>
                  </a:lnTo>
                  <a:lnTo>
                    <a:pt x="180" y="528"/>
                  </a:lnTo>
                  <a:lnTo>
                    <a:pt x="128" y="649"/>
                  </a:lnTo>
                  <a:lnTo>
                    <a:pt x="122" y="654"/>
                  </a:lnTo>
                  <a:lnTo>
                    <a:pt x="108" y="660"/>
                  </a:lnTo>
                  <a:lnTo>
                    <a:pt x="95" y="668"/>
                  </a:lnTo>
                  <a:lnTo>
                    <a:pt x="68" y="687"/>
                  </a:lnTo>
                  <a:lnTo>
                    <a:pt x="40" y="709"/>
                  </a:lnTo>
                  <a:lnTo>
                    <a:pt x="11" y="734"/>
                  </a:lnTo>
                  <a:lnTo>
                    <a:pt x="0" y="776"/>
                  </a:lnTo>
                  <a:lnTo>
                    <a:pt x="41" y="759"/>
                  </a:lnTo>
                  <a:lnTo>
                    <a:pt x="83" y="750"/>
                  </a:lnTo>
                  <a:lnTo>
                    <a:pt x="125" y="745"/>
                  </a:lnTo>
                  <a:lnTo>
                    <a:pt x="168" y="748"/>
                  </a:lnTo>
                  <a:lnTo>
                    <a:pt x="198" y="753"/>
                  </a:lnTo>
                  <a:lnTo>
                    <a:pt x="230" y="763"/>
                  </a:lnTo>
                  <a:lnTo>
                    <a:pt x="271" y="780"/>
                  </a:lnTo>
                  <a:lnTo>
                    <a:pt x="314" y="805"/>
                  </a:lnTo>
                  <a:lnTo>
                    <a:pt x="358" y="836"/>
                  </a:lnTo>
                  <a:lnTo>
                    <a:pt x="404" y="876"/>
                  </a:lnTo>
                  <a:lnTo>
                    <a:pt x="409" y="880"/>
                  </a:lnTo>
                  <a:lnTo>
                    <a:pt x="436" y="904"/>
                  </a:lnTo>
                  <a:lnTo>
                    <a:pt x="462" y="932"/>
                  </a:lnTo>
                  <a:lnTo>
                    <a:pt x="500" y="912"/>
                  </a:lnTo>
                  <a:lnTo>
                    <a:pt x="520" y="900"/>
                  </a:lnTo>
                  <a:lnTo>
                    <a:pt x="529" y="894"/>
                  </a:lnTo>
                  <a:lnTo>
                    <a:pt x="540" y="889"/>
                  </a:lnTo>
                  <a:lnTo>
                    <a:pt x="548" y="882"/>
                  </a:lnTo>
                  <a:lnTo>
                    <a:pt x="558" y="876"/>
                  </a:lnTo>
                  <a:lnTo>
                    <a:pt x="577" y="864"/>
                  </a:lnTo>
                  <a:lnTo>
                    <a:pt x="559" y="840"/>
                  </a:lnTo>
                  <a:lnTo>
                    <a:pt x="540" y="817"/>
                  </a:lnTo>
                  <a:lnTo>
                    <a:pt x="502" y="777"/>
                  </a:lnTo>
                  <a:lnTo>
                    <a:pt x="498" y="775"/>
                  </a:lnTo>
                  <a:lnTo>
                    <a:pt x="499" y="774"/>
                  </a:lnTo>
                  <a:lnTo>
                    <a:pt x="545" y="726"/>
                  </a:lnTo>
                  <a:lnTo>
                    <a:pt x="594" y="678"/>
                  </a:lnTo>
                  <a:lnTo>
                    <a:pt x="646" y="630"/>
                  </a:lnTo>
                  <a:lnTo>
                    <a:pt x="702" y="584"/>
                  </a:lnTo>
                  <a:lnTo>
                    <a:pt x="773" y="528"/>
                  </a:lnTo>
                  <a:lnTo>
                    <a:pt x="644" y="432"/>
                  </a:lnTo>
                  <a:lnTo>
                    <a:pt x="586" y="481"/>
                  </a:lnTo>
                  <a:lnTo>
                    <a:pt x="530" y="534"/>
                  </a:lnTo>
                  <a:lnTo>
                    <a:pt x="481" y="586"/>
                  </a:lnTo>
                  <a:lnTo>
                    <a:pt x="457" y="612"/>
                  </a:lnTo>
                  <a:lnTo>
                    <a:pt x="436" y="638"/>
                  </a:lnTo>
                  <a:lnTo>
                    <a:pt x="397" y="691"/>
                  </a:lnTo>
                  <a:lnTo>
                    <a:pt x="362" y="668"/>
                  </a:lnTo>
                  <a:lnTo>
                    <a:pt x="330" y="650"/>
                  </a:lnTo>
                  <a:lnTo>
                    <a:pt x="298" y="634"/>
                  </a:lnTo>
                  <a:lnTo>
                    <a:pt x="266" y="625"/>
                  </a:lnTo>
                  <a:lnTo>
                    <a:pt x="244" y="621"/>
                  </a:lnTo>
                  <a:lnTo>
                    <a:pt x="272" y="558"/>
                  </a:lnTo>
                  <a:lnTo>
                    <a:pt x="304" y="499"/>
                  </a:lnTo>
                  <a:lnTo>
                    <a:pt x="335" y="444"/>
                  </a:lnTo>
                  <a:lnTo>
                    <a:pt x="368" y="393"/>
                  </a:lnTo>
                  <a:lnTo>
                    <a:pt x="397" y="349"/>
                  </a:lnTo>
                  <a:lnTo>
                    <a:pt x="430" y="307"/>
                  </a:lnTo>
                  <a:lnTo>
                    <a:pt x="466" y="266"/>
                  </a:lnTo>
                  <a:lnTo>
                    <a:pt x="505" y="22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89" name="Freeform 273">
              <a:extLst>
                <a:ext uri="{FF2B5EF4-FFF2-40B4-BE49-F238E27FC236}">
                  <a16:creationId xmlns:a16="http://schemas.microsoft.com/office/drawing/2014/main" id="{806BD1F9-DF6B-61BA-80D3-FD75C21C31B9}"/>
                </a:ext>
              </a:extLst>
            </p:cNvPr>
            <p:cNvSpPr>
              <a:spLocks/>
            </p:cNvSpPr>
            <p:nvPr/>
          </p:nvSpPr>
          <p:spPr bwMode="auto">
            <a:xfrm>
              <a:off x="3787" y="3892"/>
              <a:ext cx="27" cy="12"/>
            </a:xfrm>
            <a:custGeom>
              <a:avLst/>
              <a:gdLst>
                <a:gd name="T0" fmla="*/ 0 w 81"/>
                <a:gd name="T1" fmla="*/ 0 h 36"/>
                <a:gd name="T2" fmla="*/ 61 w 81"/>
                <a:gd name="T3" fmla="*/ 36 h 36"/>
                <a:gd name="T4" fmla="*/ 80 w 81"/>
                <a:gd name="T5" fmla="*/ 19 h 36"/>
                <a:gd name="T6" fmla="*/ 81 w 81"/>
                <a:gd name="T7" fmla="*/ 13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61" y="36"/>
                  </a:lnTo>
                  <a:lnTo>
                    <a:pt x="80" y="19"/>
                  </a:lnTo>
                  <a:lnTo>
                    <a:pt x="81" y="13"/>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90" name="Freeform 274">
              <a:extLst>
                <a:ext uri="{FF2B5EF4-FFF2-40B4-BE49-F238E27FC236}">
                  <a16:creationId xmlns:a16="http://schemas.microsoft.com/office/drawing/2014/main" id="{4AB653CF-41E2-51CD-1E60-04E303A7838C}"/>
                </a:ext>
              </a:extLst>
            </p:cNvPr>
            <p:cNvSpPr>
              <a:spLocks/>
            </p:cNvSpPr>
            <p:nvPr/>
          </p:nvSpPr>
          <p:spPr bwMode="auto">
            <a:xfrm>
              <a:off x="3817" y="3877"/>
              <a:ext cx="54" cy="27"/>
            </a:xfrm>
            <a:custGeom>
              <a:avLst/>
              <a:gdLst>
                <a:gd name="T0" fmla="*/ 75 w 163"/>
                <a:gd name="T1" fmla="*/ 0 h 81"/>
                <a:gd name="T2" fmla="*/ 54 w 163"/>
                <a:gd name="T3" fmla="*/ 15 h 81"/>
                <a:gd name="T4" fmla="*/ 38 w 163"/>
                <a:gd name="T5" fmla="*/ 30 h 81"/>
                <a:gd name="T6" fmla="*/ 27 w 163"/>
                <a:gd name="T7" fmla="*/ 36 h 81"/>
                <a:gd name="T8" fmla="*/ 19 w 163"/>
                <a:gd name="T9" fmla="*/ 44 h 81"/>
                <a:gd name="T10" fmla="*/ 0 w 163"/>
                <a:gd name="T11" fmla="*/ 58 h 81"/>
                <a:gd name="T12" fmla="*/ 163 w 163"/>
                <a:gd name="T13" fmla="*/ 81 h 81"/>
                <a:gd name="T14" fmla="*/ 75 w 163"/>
                <a:gd name="T15" fmla="*/ 0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3" h="81">
                  <a:moveTo>
                    <a:pt x="75" y="0"/>
                  </a:moveTo>
                  <a:lnTo>
                    <a:pt x="54" y="15"/>
                  </a:lnTo>
                  <a:lnTo>
                    <a:pt x="38" y="30"/>
                  </a:lnTo>
                  <a:lnTo>
                    <a:pt x="27" y="36"/>
                  </a:lnTo>
                  <a:lnTo>
                    <a:pt x="19" y="44"/>
                  </a:lnTo>
                  <a:lnTo>
                    <a:pt x="0" y="58"/>
                  </a:lnTo>
                  <a:lnTo>
                    <a:pt x="163" y="81"/>
                  </a:lnTo>
                  <a:lnTo>
                    <a:pt x="75"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91" name="Freeform 275">
              <a:extLst>
                <a:ext uri="{FF2B5EF4-FFF2-40B4-BE49-F238E27FC236}">
                  <a16:creationId xmlns:a16="http://schemas.microsoft.com/office/drawing/2014/main" id="{284E75BC-F167-7EAB-ABD5-C8AF8B67BBF1}"/>
                </a:ext>
              </a:extLst>
            </p:cNvPr>
            <p:cNvSpPr>
              <a:spLocks/>
            </p:cNvSpPr>
            <p:nvPr/>
          </p:nvSpPr>
          <p:spPr bwMode="auto">
            <a:xfrm>
              <a:off x="3814" y="3896"/>
              <a:ext cx="3" cy="2"/>
            </a:xfrm>
            <a:custGeom>
              <a:avLst/>
              <a:gdLst>
                <a:gd name="T0" fmla="*/ 1 w 9"/>
                <a:gd name="T1" fmla="*/ 0 h 6"/>
                <a:gd name="T2" fmla="*/ 0 w 9"/>
                <a:gd name="T3" fmla="*/ 6 h 6"/>
                <a:gd name="T4" fmla="*/ 9 w 9"/>
                <a:gd name="T5" fmla="*/ 0 h 6"/>
                <a:gd name="T6" fmla="*/ 1 w 9"/>
                <a:gd name="T7" fmla="*/ 0 h 6"/>
              </a:gdLst>
              <a:ahLst/>
              <a:cxnLst>
                <a:cxn ang="0">
                  <a:pos x="T0" y="T1"/>
                </a:cxn>
                <a:cxn ang="0">
                  <a:pos x="T2" y="T3"/>
                </a:cxn>
                <a:cxn ang="0">
                  <a:pos x="T4" y="T5"/>
                </a:cxn>
                <a:cxn ang="0">
                  <a:pos x="T6" y="T7"/>
                </a:cxn>
              </a:cxnLst>
              <a:rect l="0" t="0" r="r" b="b"/>
              <a:pathLst>
                <a:path w="9" h="6">
                  <a:moveTo>
                    <a:pt x="1" y="0"/>
                  </a:moveTo>
                  <a:lnTo>
                    <a:pt x="0" y="6"/>
                  </a:lnTo>
                  <a:lnTo>
                    <a:pt x="9" y="0"/>
                  </a:lnTo>
                  <a:lnTo>
                    <a:pt x="1"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92" name="Freeform 276">
              <a:extLst>
                <a:ext uri="{FF2B5EF4-FFF2-40B4-BE49-F238E27FC236}">
                  <a16:creationId xmlns:a16="http://schemas.microsoft.com/office/drawing/2014/main" id="{EA1C98A6-FF6D-1A3D-1D4E-FF4D72718864}"/>
                </a:ext>
              </a:extLst>
            </p:cNvPr>
            <p:cNvSpPr>
              <a:spLocks/>
            </p:cNvSpPr>
            <p:nvPr/>
          </p:nvSpPr>
          <p:spPr bwMode="auto">
            <a:xfrm>
              <a:off x="3827" y="3971"/>
              <a:ext cx="24" cy="20"/>
            </a:xfrm>
            <a:custGeom>
              <a:avLst/>
              <a:gdLst>
                <a:gd name="T0" fmla="*/ 0 w 70"/>
                <a:gd name="T1" fmla="*/ 49 h 60"/>
                <a:gd name="T2" fmla="*/ 14 w 70"/>
                <a:gd name="T3" fmla="*/ 60 h 60"/>
                <a:gd name="T4" fmla="*/ 70 w 70"/>
                <a:gd name="T5" fmla="*/ 14 h 60"/>
                <a:gd name="T6" fmla="*/ 41 w 70"/>
                <a:gd name="T7" fmla="*/ 0 h 60"/>
                <a:gd name="T8" fmla="*/ 0 w 70"/>
                <a:gd name="T9" fmla="*/ 49 h 60"/>
              </a:gdLst>
              <a:ahLst/>
              <a:cxnLst>
                <a:cxn ang="0">
                  <a:pos x="T0" y="T1"/>
                </a:cxn>
                <a:cxn ang="0">
                  <a:pos x="T2" y="T3"/>
                </a:cxn>
                <a:cxn ang="0">
                  <a:pos x="T4" y="T5"/>
                </a:cxn>
                <a:cxn ang="0">
                  <a:pos x="T6" y="T7"/>
                </a:cxn>
                <a:cxn ang="0">
                  <a:pos x="T8" y="T9"/>
                </a:cxn>
              </a:cxnLst>
              <a:rect l="0" t="0" r="r" b="b"/>
              <a:pathLst>
                <a:path w="70" h="60">
                  <a:moveTo>
                    <a:pt x="0" y="49"/>
                  </a:moveTo>
                  <a:lnTo>
                    <a:pt x="14" y="60"/>
                  </a:lnTo>
                  <a:lnTo>
                    <a:pt x="70" y="14"/>
                  </a:lnTo>
                  <a:lnTo>
                    <a:pt x="41" y="0"/>
                  </a:lnTo>
                  <a:lnTo>
                    <a:pt x="0" y="49"/>
                  </a:lnTo>
                  <a:close/>
                </a:path>
              </a:pathLst>
            </a:custGeom>
            <a:solidFill>
              <a:srgbClr val="FBFB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93" name="Freeform 277">
              <a:extLst>
                <a:ext uri="{FF2B5EF4-FFF2-40B4-BE49-F238E27FC236}">
                  <a16:creationId xmlns:a16="http://schemas.microsoft.com/office/drawing/2014/main" id="{5E9CA01D-5661-558D-CD2E-6D6E114F8E16}"/>
                </a:ext>
              </a:extLst>
            </p:cNvPr>
            <p:cNvSpPr>
              <a:spLocks/>
            </p:cNvSpPr>
            <p:nvPr/>
          </p:nvSpPr>
          <p:spPr bwMode="auto">
            <a:xfrm>
              <a:off x="3608" y="4096"/>
              <a:ext cx="163" cy="82"/>
            </a:xfrm>
            <a:custGeom>
              <a:avLst/>
              <a:gdLst>
                <a:gd name="T0" fmla="*/ 438 w 491"/>
                <a:gd name="T1" fmla="*/ 135 h 247"/>
                <a:gd name="T2" fmla="*/ 433 w 491"/>
                <a:gd name="T3" fmla="*/ 131 h 247"/>
                <a:gd name="T4" fmla="*/ 387 w 491"/>
                <a:gd name="T5" fmla="*/ 91 h 247"/>
                <a:gd name="T6" fmla="*/ 343 w 491"/>
                <a:gd name="T7" fmla="*/ 60 h 247"/>
                <a:gd name="T8" fmla="*/ 300 w 491"/>
                <a:gd name="T9" fmla="*/ 35 h 247"/>
                <a:gd name="T10" fmla="*/ 259 w 491"/>
                <a:gd name="T11" fmla="*/ 18 h 247"/>
                <a:gd name="T12" fmla="*/ 227 w 491"/>
                <a:gd name="T13" fmla="*/ 8 h 247"/>
                <a:gd name="T14" fmla="*/ 197 w 491"/>
                <a:gd name="T15" fmla="*/ 3 h 247"/>
                <a:gd name="T16" fmla="*/ 154 w 491"/>
                <a:gd name="T17" fmla="*/ 0 h 247"/>
                <a:gd name="T18" fmla="*/ 112 w 491"/>
                <a:gd name="T19" fmla="*/ 5 h 247"/>
                <a:gd name="T20" fmla="*/ 70 w 491"/>
                <a:gd name="T21" fmla="*/ 14 h 247"/>
                <a:gd name="T22" fmla="*/ 29 w 491"/>
                <a:gd name="T23" fmla="*/ 31 h 247"/>
                <a:gd name="T24" fmla="*/ 0 w 491"/>
                <a:gd name="T25" fmla="*/ 147 h 247"/>
                <a:gd name="T26" fmla="*/ 54 w 491"/>
                <a:gd name="T27" fmla="*/ 195 h 247"/>
                <a:gd name="T28" fmla="*/ 112 w 491"/>
                <a:gd name="T29" fmla="*/ 242 h 247"/>
                <a:gd name="T30" fmla="*/ 155 w 491"/>
                <a:gd name="T31" fmla="*/ 246 h 247"/>
                <a:gd name="T32" fmla="*/ 201 w 491"/>
                <a:gd name="T33" fmla="*/ 247 h 247"/>
                <a:gd name="T34" fmla="*/ 237 w 491"/>
                <a:gd name="T35" fmla="*/ 246 h 247"/>
                <a:gd name="T36" fmla="*/ 273 w 491"/>
                <a:gd name="T37" fmla="*/ 243 h 247"/>
                <a:gd name="T38" fmla="*/ 307 w 491"/>
                <a:gd name="T39" fmla="*/ 239 h 247"/>
                <a:gd name="T40" fmla="*/ 343 w 491"/>
                <a:gd name="T41" fmla="*/ 234 h 247"/>
                <a:gd name="T42" fmla="*/ 363 w 491"/>
                <a:gd name="T43" fmla="*/ 230 h 247"/>
                <a:gd name="T44" fmla="*/ 366 w 491"/>
                <a:gd name="T45" fmla="*/ 228 h 247"/>
                <a:gd name="T46" fmla="*/ 371 w 491"/>
                <a:gd name="T47" fmla="*/ 227 h 247"/>
                <a:gd name="T48" fmla="*/ 381 w 491"/>
                <a:gd name="T49" fmla="*/ 224 h 247"/>
                <a:gd name="T50" fmla="*/ 400 w 491"/>
                <a:gd name="T51" fmla="*/ 219 h 247"/>
                <a:gd name="T52" fmla="*/ 438 w 491"/>
                <a:gd name="T53" fmla="*/ 207 h 247"/>
                <a:gd name="T54" fmla="*/ 491 w 491"/>
                <a:gd name="T55" fmla="*/ 187 h 247"/>
                <a:gd name="T56" fmla="*/ 465 w 491"/>
                <a:gd name="T57" fmla="*/ 159 h 247"/>
                <a:gd name="T58" fmla="*/ 438 w 491"/>
                <a:gd name="T59" fmla="*/ 13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91" h="247">
                  <a:moveTo>
                    <a:pt x="438" y="135"/>
                  </a:moveTo>
                  <a:lnTo>
                    <a:pt x="433" y="131"/>
                  </a:lnTo>
                  <a:lnTo>
                    <a:pt x="387" y="91"/>
                  </a:lnTo>
                  <a:lnTo>
                    <a:pt x="343" y="60"/>
                  </a:lnTo>
                  <a:lnTo>
                    <a:pt x="300" y="35"/>
                  </a:lnTo>
                  <a:lnTo>
                    <a:pt x="259" y="18"/>
                  </a:lnTo>
                  <a:lnTo>
                    <a:pt x="227" y="8"/>
                  </a:lnTo>
                  <a:lnTo>
                    <a:pt x="197" y="3"/>
                  </a:lnTo>
                  <a:lnTo>
                    <a:pt x="154" y="0"/>
                  </a:lnTo>
                  <a:lnTo>
                    <a:pt x="112" y="5"/>
                  </a:lnTo>
                  <a:lnTo>
                    <a:pt x="70" y="14"/>
                  </a:lnTo>
                  <a:lnTo>
                    <a:pt x="29" y="31"/>
                  </a:lnTo>
                  <a:lnTo>
                    <a:pt x="0" y="147"/>
                  </a:lnTo>
                  <a:lnTo>
                    <a:pt x="54" y="195"/>
                  </a:lnTo>
                  <a:lnTo>
                    <a:pt x="112" y="242"/>
                  </a:lnTo>
                  <a:lnTo>
                    <a:pt x="155" y="246"/>
                  </a:lnTo>
                  <a:lnTo>
                    <a:pt x="201" y="247"/>
                  </a:lnTo>
                  <a:lnTo>
                    <a:pt x="237" y="246"/>
                  </a:lnTo>
                  <a:lnTo>
                    <a:pt x="273" y="243"/>
                  </a:lnTo>
                  <a:lnTo>
                    <a:pt x="307" y="239"/>
                  </a:lnTo>
                  <a:lnTo>
                    <a:pt x="343" y="234"/>
                  </a:lnTo>
                  <a:lnTo>
                    <a:pt x="363" y="230"/>
                  </a:lnTo>
                  <a:lnTo>
                    <a:pt x="366" y="228"/>
                  </a:lnTo>
                  <a:lnTo>
                    <a:pt x="371" y="227"/>
                  </a:lnTo>
                  <a:lnTo>
                    <a:pt x="381" y="224"/>
                  </a:lnTo>
                  <a:lnTo>
                    <a:pt x="400" y="219"/>
                  </a:lnTo>
                  <a:lnTo>
                    <a:pt x="438" y="207"/>
                  </a:lnTo>
                  <a:lnTo>
                    <a:pt x="491" y="187"/>
                  </a:lnTo>
                  <a:lnTo>
                    <a:pt x="465" y="159"/>
                  </a:lnTo>
                  <a:lnTo>
                    <a:pt x="438" y="135"/>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94" name="Freeform 278">
              <a:extLst>
                <a:ext uri="{FF2B5EF4-FFF2-40B4-BE49-F238E27FC236}">
                  <a16:creationId xmlns:a16="http://schemas.microsoft.com/office/drawing/2014/main" id="{0A0B49CD-6896-D0D0-4475-E087AA1D43C3}"/>
                </a:ext>
              </a:extLst>
            </p:cNvPr>
            <p:cNvSpPr>
              <a:spLocks/>
            </p:cNvSpPr>
            <p:nvPr/>
          </p:nvSpPr>
          <p:spPr bwMode="auto">
            <a:xfrm>
              <a:off x="3783" y="4105"/>
              <a:ext cx="2" cy="1"/>
            </a:xfrm>
            <a:custGeom>
              <a:avLst/>
              <a:gdLst>
                <a:gd name="T0" fmla="*/ 4 w 4"/>
                <a:gd name="T1" fmla="*/ 3 h 3"/>
                <a:gd name="T2" fmla="*/ 1 w 4"/>
                <a:gd name="T3" fmla="*/ 0 h 3"/>
                <a:gd name="T4" fmla="*/ 0 w 4"/>
                <a:gd name="T5" fmla="*/ 1 h 3"/>
                <a:gd name="T6" fmla="*/ 4 w 4"/>
                <a:gd name="T7" fmla="*/ 3 h 3"/>
              </a:gdLst>
              <a:ahLst/>
              <a:cxnLst>
                <a:cxn ang="0">
                  <a:pos x="T0" y="T1"/>
                </a:cxn>
                <a:cxn ang="0">
                  <a:pos x="T2" y="T3"/>
                </a:cxn>
                <a:cxn ang="0">
                  <a:pos x="T4" y="T5"/>
                </a:cxn>
                <a:cxn ang="0">
                  <a:pos x="T6" y="T7"/>
                </a:cxn>
              </a:cxnLst>
              <a:rect l="0" t="0" r="r" b="b"/>
              <a:pathLst>
                <a:path w="4" h="3">
                  <a:moveTo>
                    <a:pt x="4" y="3"/>
                  </a:moveTo>
                  <a:lnTo>
                    <a:pt x="1" y="0"/>
                  </a:lnTo>
                  <a:lnTo>
                    <a:pt x="0" y="1"/>
                  </a:lnTo>
                  <a:lnTo>
                    <a:pt x="4" y="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95" name="Freeform 279">
              <a:extLst>
                <a:ext uri="{FF2B5EF4-FFF2-40B4-BE49-F238E27FC236}">
                  <a16:creationId xmlns:a16="http://schemas.microsoft.com/office/drawing/2014/main" id="{C18B744F-E332-2DE8-F54C-682327121748}"/>
                </a:ext>
              </a:extLst>
            </p:cNvPr>
            <p:cNvSpPr>
              <a:spLocks/>
            </p:cNvSpPr>
            <p:nvPr/>
          </p:nvSpPr>
          <p:spPr bwMode="auto">
            <a:xfrm>
              <a:off x="3602" y="4145"/>
              <a:ext cx="43" cy="31"/>
            </a:xfrm>
            <a:custGeom>
              <a:avLst/>
              <a:gdLst>
                <a:gd name="T0" fmla="*/ 0 w 129"/>
                <a:gd name="T1" fmla="*/ 68 h 95"/>
                <a:gd name="T2" fmla="*/ 17 w 129"/>
                <a:gd name="T3" fmla="*/ 72 h 95"/>
                <a:gd name="T4" fmla="*/ 71 w 129"/>
                <a:gd name="T5" fmla="*/ 86 h 95"/>
                <a:gd name="T6" fmla="*/ 99 w 129"/>
                <a:gd name="T7" fmla="*/ 90 h 95"/>
                <a:gd name="T8" fmla="*/ 129 w 129"/>
                <a:gd name="T9" fmla="*/ 95 h 95"/>
                <a:gd name="T10" fmla="*/ 71 w 129"/>
                <a:gd name="T11" fmla="*/ 48 h 95"/>
                <a:gd name="T12" fmla="*/ 17 w 129"/>
                <a:gd name="T13" fmla="*/ 0 h 95"/>
                <a:gd name="T14" fmla="*/ 0 w 129"/>
                <a:gd name="T15" fmla="*/ 68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9" h="95">
                  <a:moveTo>
                    <a:pt x="0" y="68"/>
                  </a:moveTo>
                  <a:lnTo>
                    <a:pt x="17" y="72"/>
                  </a:lnTo>
                  <a:lnTo>
                    <a:pt x="71" y="86"/>
                  </a:lnTo>
                  <a:lnTo>
                    <a:pt x="99" y="90"/>
                  </a:lnTo>
                  <a:lnTo>
                    <a:pt x="129" y="95"/>
                  </a:lnTo>
                  <a:lnTo>
                    <a:pt x="71" y="48"/>
                  </a:lnTo>
                  <a:lnTo>
                    <a:pt x="17" y="0"/>
                  </a:lnTo>
                  <a:lnTo>
                    <a:pt x="0"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7496" name="Line 280">
              <a:extLst>
                <a:ext uri="{FF2B5EF4-FFF2-40B4-BE49-F238E27FC236}">
                  <a16:creationId xmlns:a16="http://schemas.microsoft.com/office/drawing/2014/main" id="{1DF2C210-87FF-E659-715D-ED949C0F328F}"/>
                </a:ext>
              </a:extLst>
            </p:cNvPr>
            <p:cNvSpPr>
              <a:spLocks noChangeShapeType="1"/>
            </p:cNvSpPr>
            <p:nvPr/>
          </p:nvSpPr>
          <p:spPr bwMode="auto">
            <a:xfrm flipV="1">
              <a:off x="3786" y="3921"/>
              <a:ext cx="2" cy="2"/>
            </a:xfrm>
            <a:prstGeom prst="line">
              <a:avLst/>
            </a:prstGeom>
            <a:noFill/>
            <a:ln w="0">
              <a:solidFill>
                <a:srgbClr val="BEBD9A"/>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37497" name="Freeform 281">
              <a:extLst>
                <a:ext uri="{FF2B5EF4-FFF2-40B4-BE49-F238E27FC236}">
                  <a16:creationId xmlns:a16="http://schemas.microsoft.com/office/drawing/2014/main" id="{D3F9C219-CA60-3670-1DA6-049E584C0152}"/>
                </a:ext>
              </a:extLst>
            </p:cNvPr>
            <p:cNvSpPr>
              <a:spLocks/>
            </p:cNvSpPr>
            <p:nvPr/>
          </p:nvSpPr>
          <p:spPr bwMode="auto">
            <a:xfrm>
              <a:off x="3442" y="3713"/>
              <a:ext cx="465" cy="465"/>
            </a:xfrm>
            <a:custGeom>
              <a:avLst/>
              <a:gdLst>
                <a:gd name="T0" fmla="*/ 1380 w 1395"/>
                <a:gd name="T1" fmla="*/ 844 h 1394"/>
                <a:gd name="T2" fmla="*/ 1389 w 1395"/>
                <a:gd name="T3" fmla="*/ 793 h 1394"/>
                <a:gd name="T4" fmla="*/ 1394 w 1395"/>
                <a:gd name="T5" fmla="*/ 723 h 1394"/>
                <a:gd name="T6" fmla="*/ 1395 w 1395"/>
                <a:gd name="T7" fmla="*/ 678 h 1394"/>
                <a:gd name="T8" fmla="*/ 1385 w 1395"/>
                <a:gd name="T9" fmla="*/ 571 h 1394"/>
                <a:gd name="T10" fmla="*/ 1358 w 1395"/>
                <a:gd name="T11" fmla="*/ 464 h 1394"/>
                <a:gd name="T12" fmla="*/ 1337 w 1395"/>
                <a:gd name="T13" fmla="*/ 413 h 1394"/>
                <a:gd name="T14" fmla="*/ 1311 w 1395"/>
                <a:gd name="T15" fmla="*/ 361 h 1394"/>
                <a:gd name="T16" fmla="*/ 1257 w 1395"/>
                <a:gd name="T17" fmla="*/ 279 h 1394"/>
                <a:gd name="T18" fmla="*/ 1191 w 1395"/>
                <a:gd name="T19" fmla="*/ 204 h 1394"/>
                <a:gd name="T20" fmla="*/ 1137 w 1395"/>
                <a:gd name="T21" fmla="*/ 155 h 1394"/>
                <a:gd name="T22" fmla="*/ 1083 w 1395"/>
                <a:gd name="T23" fmla="*/ 114 h 1394"/>
                <a:gd name="T24" fmla="*/ 1024 w 1395"/>
                <a:gd name="T25" fmla="*/ 78 h 1394"/>
                <a:gd name="T26" fmla="*/ 965 w 1395"/>
                <a:gd name="T27" fmla="*/ 50 h 1394"/>
                <a:gd name="T28" fmla="*/ 902 w 1395"/>
                <a:gd name="T29" fmla="*/ 27 h 1394"/>
                <a:gd name="T30" fmla="*/ 836 w 1395"/>
                <a:gd name="T31" fmla="*/ 12 h 1394"/>
                <a:gd name="T32" fmla="*/ 767 w 1395"/>
                <a:gd name="T33" fmla="*/ 2 h 1394"/>
                <a:gd name="T34" fmla="*/ 698 w 1395"/>
                <a:gd name="T35" fmla="*/ 0 h 1394"/>
                <a:gd name="T36" fmla="*/ 626 w 1395"/>
                <a:gd name="T37" fmla="*/ 2 h 1394"/>
                <a:gd name="T38" fmla="*/ 491 w 1395"/>
                <a:gd name="T39" fmla="*/ 27 h 1394"/>
                <a:gd name="T40" fmla="*/ 429 w 1395"/>
                <a:gd name="T41" fmla="*/ 50 h 1394"/>
                <a:gd name="T42" fmla="*/ 311 w 1395"/>
                <a:gd name="T43" fmla="*/ 114 h 1394"/>
                <a:gd name="T44" fmla="*/ 256 w 1395"/>
                <a:gd name="T45" fmla="*/ 155 h 1394"/>
                <a:gd name="T46" fmla="*/ 155 w 1395"/>
                <a:gd name="T47" fmla="*/ 255 h 1394"/>
                <a:gd name="T48" fmla="*/ 114 w 1395"/>
                <a:gd name="T49" fmla="*/ 311 h 1394"/>
                <a:gd name="T50" fmla="*/ 51 w 1395"/>
                <a:gd name="T51" fmla="*/ 428 h 1394"/>
                <a:gd name="T52" fmla="*/ 28 w 1395"/>
                <a:gd name="T53" fmla="*/ 491 h 1394"/>
                <a:gd name="T54" fmla="*/ 3 w 1395"/>
                <a:gd name="T55" fmla="*/ 625 h 1394"/>
                <a:gd name="T56" fmla="*/ 0 w 1395"/>
                <a:gd name="T57" fmla="*/ 697 h 1394"/>
                <a:gd name="T58" fmla="*/ 3 w 1395"/>
                <a:gd name="T59" fmla="*/ 766 h 1394"/>
                <a:gd name="T60" fmla="*/ 12 w 1395"/>
                <a:gd name="T61" fmla="*/ 835 h 1394"/>
                <a:gd name="T62" fmla="*/ 28 w 1395"/>
                <a:gd name="T63" fmla="*/ 901 h 1394"/>
                <a:gd name="T64" fmla="*/ 51 w 1395"/>
                <a:gd name="T65" fmla="*/ 964 h 1394"/>
                <a:gd name="T66" fmla="*/ 78 w 1395"/>
                <a:gd name="T67" fmla="*/ 1023 h 1394"/>
                <a:gd name="T68" fmla="*/ 114 w 1395"/>
                <a:gd name="T69" fmla="*/ 1082 h 1394"/>
                <a:gd name="T70" fmla="*/ 155 w 1395"/>
                <a:gd name="T71" fmla="*/ 1136 h 1394"/>
                <a:gd name="T72" fmla="*/ 204 w 1395"/>
                <a:gd name="T73" fmla="*/ 1190 h 1394"/>
                <a:gd name="T74" fmla="*/ 267 w 1395"/>
                <a:gd name="T75" fmla="*/ 1245 h 1394"/>
                <a:gd name="T76" fmla="*/ 334 w 1395"/>
                <a:gd name="T77" fmla="*/ 1293 h 1394"/>
                <a:gd name="T78" fmla="*/ 405 w 1395"/>
                <a:gd name="T79" fmla="*/ 1332 h 1394"/>
                <a:gd name="T80" fmla="*/ 480 w 1395"/>
                <a:gd name="T81" fmla="*/ 1362 h 1394"/>
                <a:gd name="T82" fmla="*/ 551 w 1395"/>
                <a:gd name="T83" fmla="*/ 1380 h 1394"/>
                <a:gd name="T84" fmla="*/ 609 w 1395"/>
                <a:gd name="T85" fmla="*/ 1389 h 1394"/>
                <a:gd name="T86" fmla="*/ 698 w 1395"/>
                <a:gd name="T87" fmla="*/ 1394 h 1394"/>
                <a:gd name="T88" fmla="*/ 770 w 1395"/>
                <a:gd name="T89" fmla="*/ 1390 h 1394"/>
                <a:gd name="T90" fmla="*/ 840 w 1395"/>
                <a:gd name="T91" fmla="*/ 1381 h 1394"/>
                <a:gd name="T92" fmla="*/ 863 w 1395"/>
                <a:gd name="T93" fmla="*/ 1375 h 1394"/>
                <a:gd name="T94" fmla="*/ 878 w 1395"/>
                <a:gd name="T95" fmla="*/ 1371 h 1394"/>
                <a:gd name="T96" fmla="*/ 935 w 1395"/>
                <a:gd name="T97" fmla="*/ 1354 h 1394"/>
                <a:gd name="T98" fmla="*/ 1026 w 1395"/>
                <a:gd name="T99" fmla="*/ 1314 h 1394"/>
                <a:gd name="T100" fmla="*/ 1055 w 1395"/>
                <a:gd name="T101" fmla="*/ 1296 h 1394"/>
                <a:gd name="T102" fmla="*/ 1074 w 1395"/>
                <a:gd name="T103" fmla="*/ 1284 h 1394"/>
                <a:gd name="T104" fmla="*/ 1103 w 1395"/>
                <a:gd name="T105" fmla="*/ 1266 h 1394"/>
                <a:gd name="T106" fmla="*/ 1136 w 1395"/>
                <a:gd name="T107" fmla="*/ 1238 h 1394"/>
                <a:gd name="T108" fmla="*/ 1191 w 1395"/>
                <a:gd name="T109" fmla="*/ 1190 h 1394"/>
                <a:gd name="T110" fmla="*/ 1245 w 1395"/>
                <a:gd name="T111" fmla="*/ 1128 h 1394"/>
                <a:gd name="T112" fmla="*/ 1276 w 1395"/>
                <a:gd name="T113" fmla="*/ 1084 h 1394"/>
                <a:gd name="T114" fmla="*/ 1319 w 1395"/>
                <a:gd name="T115" fmla="*/ 1017 h 1394"/>
                <a:gd name="T116" fmla="*/ 1344 w 1395"/>
                <a:gd name="T117" fmla="*/ 964 h 1394"/>
                <a:gd name="T118" fmla="*/ 1364 w 1395"/>
                <a:gd name="T119" fmla="*/ 906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95" h="1394">
                  <a:moveTo>
                    <a:pt x="1373" y="876"/>
                  </a:moveTo>
                  <a:lnTo>
                    <a:pt x="1380" y="844"/>
                  </a:lnTo>
                  <a:lnTo>
                    <a:pt x="1384" y="818"/>
                  </a:lnTo>
                  <a:lnTo>
                    <a:pt x="1389" y="793"/>
                  </a:lnTo>
                  <a:lnTo>
                    <a:pt x="1394" y="751"/>
                  </a:lnTo>
                  <a:lnTo>
                    <a:pt x="1394" y="723"/>
                  </a:lnTo>
                  <a:lnTo>
                    <a:pt x="1395" y="697"/>
                  </a:lnTo>
                  <a:lnTo>
                    <a:pt x="1395" y="678"/>
                  </a:lnTo>
                  <a:lnTo>
                    <a:pt x="1391" y="622"/>
                  </a:lnTo>
                  <a:lnTo>
                    <a:pt x="1385" y="571"/>
                  </a:lnTo>
                  <a:lnTo>
                    <a:pt x="1373" y="516"/>
                  </a:lnTo>
                  <a:lnTo>
                    <a:pt x="1358" y="464"/>
                  </a:lnTo>
                  <a:lnTo>
                    <a:pt x="1354" y="453"/>
                  </a:lnTo>
                  <a:lnTo>
                    <a:pt x="1337" y="413"/>
                  </a:lnTo>
                  <a:lnTo>
                    <a:pt x="1334" y="405"/>
                  </a:lnTo>
                  <a:lnTo>
                    <a:pt x="1311" y="361"/>
                  </a:lnTo>
                  <a:lnTo>
                    <a:pt x="1284" y="319"/>
                  </a:lnTo>
                  <a:lnTo>
                    <a:pt x="1257" y="279"/>
                  </a:lnTo>
                  <a:lnTo>
                    <a:pt x="1224" y="240"/>
                  </a:lnTo>
                  <a:lnTo>
                    <a:pt x="1191" y="204"/>
                  </a:lnTo>
                  <a:lnTo>
                    <a:pt x="1163" y="177"/>
                  </a:lnTo>
                  <a:lnTo>
                    <a:pt x="1137" y="155"/>
                  </a:lnTo>
                  <a:lnTo>
                    <a:pt x="1109" y="133"/>
                  </a:lnTo>
                  <a:lnTo>
                    <a:pt x="1083" y="114"/>
                  </a:lnTo>
                  <a:lnTo>
                    <a:pt x="1053" y="95"/>
                  </a:lnTo>
                  <a:lnTo>
                    <a:pt x="1024" y="78"/>
                  </a:lnTo>
                  <a:lnTo>
                    <a:pt x="994" y="62"/>
                  </a:lnTo>
                  <a:lnTo>
                    <a:pt x="965" y="50"/>
                  </a:lnTo>
                  <a:lnTo>
                    <a:pt x="933" y="37"/>
                  </a:lnTo>
                  <a:lnTo>
                    <a:pt x="902" y="27"/>
                  </a:lnTo>
                  <a:lnTo>
                    <a:pt x="868" y="18"/>
                  </a:lnTo>
                  <a:lnTo>
                    <a:pt x="836" y="12"/>
                  </a:lnTo>
                  <a:lnTo>
                    <a:pt x="801" y="6"/>
                  </a:lnTo>
                  <a:lnTo>
                    <a:pt x="767" y="2"/>
                  </a:lnTo>
                  <a:lnTo>
                    <a:pt x="732" y="0"/>
                  </a:lnTo>
                  <a:lnTo>
                    <a:pt x="698" y="0"/>
                  </a:lnTo>
                  <a:lnTo>
                    <a:pt x="660" y="0"/>
                  </a:lnTo>
                  <a:lnTo>
                    <a:pt x="626" y="2"/>
                  </a:lnTo>
                  <a:lnTo>
                    <a:pt x="557" y="12"/>
                  </a:lnTo>
                  <a:lnTo>
                    <a:pt x="491" y="27"/>
                  </a:lnTo>
                  <a:lnTo>
                    <a:pt x="459" y="37"/>
                  </a:lnTo>
                  <a:lnTo>
                    <a:pt x="429" y="50"/>
                  </a:lnTo>
                  <a:lnTo>
                    <a:pt x="368" y="78"/>
                  </a:lnTo>
                  <a:lnTo>
                    <a:pt x="311" y="114"/>
                  </a:lnTo>
                  <a:lnTo>
                    <a:pt x="282" y="133"/>
                  </a:lnTo>
                  <a:lnTo>
                    <a:pt x="256" y="155"/>
                  </a:lnTo>
                  <a:lnTo>
                    <a:pt x="204" y="204"/>
                  </a:lnTo>
                  <a:lnTo>
                    <a:pt x="155" y="255"/>
                  </a:lnTo>
                  <a:lnTo>
                    <a:pt x="134" y="282"/>
                  </a:lnTo>
                  <a:lnTo>
                    <a:pt x="114" y="311"/>
                  </a:lnTo>
                  <a:lnTo>
                    <a:pt x="78" y="367"/>
                  </a:lnTo>
                  <a:lnTo>
                    <a:pt x="51" y="428"/>
                  </a:lnTo>
                  <a:lnTo>
                    <a:pt x="38" y="458"/>
                  </a:lnTo>
                  <a:lnTo>
                    <a:pt x="28" y="491"/>
                  </a:lnTo>
                  <a:lnTo>
                    <a:pt x="12" y="557"/>
                  </a:lnTo>
                  <a:lnTo>
                    <a:pt x="3" y="625"/>
                  </a:lnTo>
                  <a:lnTo>
                    <a:pt x="0" y="660"/>
                  </a:lnTo>
                  <a:lnTo>
                    <a:pt x="0" y="697"/>
                  </a:lnTo>
                  <a:lnTo>
                    <a:pt x="0" y="732"/>
                  </a:lnTo>
                  <a:lnTo>
                    <a:pt x="3" y="766"/>
                  </a:lnTo>
                  <a:lnTo>
                    <a:pt x="6" y="800"/>
                  </a:lnTo>
                  <a:lnTo>
                    <a:pt x="12" y="835"/>
                  </a:lnTo>
                  <a:lnTo>
                    <a:pt x="18" y="867"/>
                  </a:lnTo>
                  <a:lnTo>
                    <a:pt x="28" y="901"/>
                  </a:lnTo>
                  <a:lnTo>
                    <a:pt x="38" y="932"/>
                  </a:lnTo>
                  <a:lnTo>
                    <a:pt x="51" y="964"/>
                  </a:lnTo>
                  <a:lnTo>
                    <a:pt x="63" y="993"/>
                  </a:lnTo>
                  <a:lnTo>
                    <a:pt x="78" y="1023"/>
                  </a:lnTo>
                  <a:lnTo>
                    <a:pt x="95" y="1052"/>
                  </a:lnTo>
                  <a:lnTo>
                    <a:pt x="114" y="1082"/>
                  </a:lnTo>
                  <a:lnTo>
                    <a:pt x="134" y="1108"/>
                  </a:lnTo>
                  <a:lnTo>
                    <a:pt x="155" y="1136"/>
                  </a:lnTo>
                  <a:lnTo>
                    <a:pt x="178" y="1162"/>
                  </a:lnTo>
                  <a:lnTo>
                    <a:pt x="204" y="1190"/>
                  </a:lnTo>
                  <a:lnTo>
                    <a:pt x="234" y="1218"/>
                  </a:lnTo>
                  <a:lnTo>
                    <a:pt x="267" y="1245"/>
                  </a:lnTo>
                  <a:lnTo>
                    <a:pt x="299" y="1270"/>
                  </a:lnTo>
                  <a:lnTo>
                    <a:pt x="334" y="1293"/>
                  </a:lnTo>
                  <a:lnTo>
                    <a:pt x="369" y="1314"/>
                  </a:lnTo>
                  <a:lnTo>
                    <a:pt x="405" y="1332"/>
                  </a:lnTo>
                  <a:lnTo>
                    <a:pt x="442" y="1347"/>
                  </a:lnTo>
                  <a:lnTo>
                    <a:pt x="480" y="1362"/>
                  </a:lnTo>
                  <a:lnTo>
                    <a:pt x="497" y="1366"/>
                  </a:lnTo>
                  <a:lnTo>
                    <a:pt x="551" y="1380"/>
                  </a:lnTo>
                  <a:lnTo>
                    <a:pt x="579" y="1384"/>
                  </a:lnTo>
                  <a:lnTo>
                    <a:pt x="609" y="1389"/>
                  </a:lnTo>
                  <a:lnTo>
                    <a:pt x="652" y="1393"/>
                  </a:lnTo>
                  <a:lnTo>
                    <a:pt x="698" y="1394"/>
                  </a:lnTo>
                  <a:lnTo>
                    <a:pt x="734" y="1393"/>
                  </a:lnTo>
                  <a:lnTo>
                    <a:pt x="770" y="1390"/>
                  </a:lnTo>
                  <a:lnTo>
                    <a:pt x="804" y="1386"/>
                  </a:lnTo>
                  <a:lnTo>
                    <a:pt x="840" y="1381"/>
                  </a:lnTo>
                  <a:lnTo>
                    <a:pt x="860" y="1377"/>
                  </a:lnTo>
                  <a:lnTo>
                    <a:pt x="863" y="1375"/>
                  </a:lnTo>
                  <a:lnTo>
                    <a:pt x="868" y="1374"/>
                  </a:lnTo>
                  <a:lnTo>
                    <a:pt x="878" y="1371"/>
                  </a:lnTo>
                  <a:lnTo>
                    <a:pt x="897" y="1366"/>
                  </a:lnTo>
                  <a:lnTo>
                    <a:pt x="935" y="1354"/>
                  </a:lnTo>
                  <a:lnTo>
                    <a:pt x="988" y="1334"/>
                  </a:lnTo>
                  <a:lnTo>
                    <a:pt x="1026" y="1314"/>
                  </a:lnTo>
                  <a:lnTo>
                    <a:pt x="1046" y="1302"/>
                  </a:lnTo>
                  <a:lnTo>
                    <a:pt x="1055" y="1296"/>
                  </a:lnTo>
                  <a:lnTo>
                    <a:pt x="1066" y="1291"/>
                  </a:lnTo>
                  <a:lnTo>
                    <a:pt x="1074" y="1284"/>
                  </a:lnTo>
                  <a:lnTo>
                    <a:pt x="1084" y="1278"/>
                  </a:lnTo>
                  <a:lnTo>
                    <a:pt x="1103" y="1266"/>
                  </a:lnTo>
                  <a:lnTo>
                    <a:pt x="1125" y="1248"/>
                  </a:lnTo>
                  <a:lnTo>
                    <a:pt x="1136" y="1238"/>
                  </a:lnTo>
                  <a:lnTo>
                    <a:pt x="1148" y="1230"/>
                  </a:lnTo>
                  <a:lnTo>
                    <a:pt x="1191" y="1190"/>
                  </a:lnTo>
                  <a:lnTo>
                    <a:pt x="1228" y="1149"/>
                  </a:lnTo>
                  <a:lnTo>
                    <a:pt x="1245" y="1128"/>
                  </a:lnTo>
                  <a:lnTo>
                    <a:pt x="1262" y="1107"/>
                  </a:lnTo>
                  <a:lnTo>
                    <a:pt x="1276" y="1084"/>
                  </a:lnTo>
                  <a:lnTo>
                    <a:pt x="1292" y="1063"/>
                  </a:lnTo>
                  <a:lnTo>
                    <a:pt x="1319" y="1017"/>
                  </a:lnTo>
                  <a:lnTo>
                    <a:pt x="1342" y="969"/>
                  </a:lnTo>
                  <a:lnTo>
                    <a:pt x="1344" y="964"/>
                  </a:lnTo>
                  <a:lnTo>
                    <a:pt x="1355" y="937"/>
                  </a:lnTo>
                  <a:lnTo>
                    <a:pt x="1364" y="906"/>
                  </a:lnTo>
                  <a:lnTo>
                    <a:pt x="1373" y="876"/>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7400"/>
                                        </p:tgtEl>
                                        <p:attrNameLst>
                                          <p:attrName>style.visibility</p:attrName>
                                        </p:attrNameLst>
                                      </p:cBhvr>
                                      <p:to>
                                        <p:strVal val="visible"/>
                                      </p:to>
                                    </p:set>
                                    <p:animEffect transition="in" filter="wipe(left)">
                                      <p:cBhvr>
                                        <p:cTn id="7" dur="1000"/>
                                        <p:tgtEl>
                                          <p:spTgt spid="137400"/>
                                        </p:tgtEl>
                                      </p:cBhvr>
                                    </p:animEffect>
                                  </p:childTnLst>
                                </p:cTn>
                              </p:par>
                            </p:childTnLst>
                          </p:cTn>
                        </p:par>
                        <p:par>
                          <p:cTn id="8" fill="hold" nodeType="afterGroup">
                            <p:stCondLst>
                              <p:cond delay="1000"/>
                            </p:stCondLst>
                            <p:childTnLst>
                              <p:par>
                                <p:cTn id="9" presetID="1" presetClass="entr" presetSubtype="0" fill="hold" nodeType="afterEffect">
                                  <p:stCondLst>
                                    <p:cond delay="0"/>
                                  </p:stCondLst>
                                  <p:childTnLst>
                                    <p:set>
                                      <p:cBhvr>
                                        <p:cTn id="10" dur="1" fill="hold">
                                          <p:stCondLst>
                                            <p:cond delay="0"/>
                                          </p:stCondLst>
                                        </p:cTn>
                                        <p:tgtEl>
                                          <p:spTgt spid="13750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37502"/>
                                        </p:tgtEl>
                                        <p:attrNameLst>
                                          <p:attrName>style.visibility</p:attrName>
                                        </p:attrNameLst>
                                      </p:cBhvr>
                                      <p:to>
                                        <p:strVal val="visible"/>
                                      </p:to>
                                    </p:set>
                                    <p:animEffect transition="in" filter="fade">
                                      <p:cBhvr>
                                        <p:cTn id="15" dur="2000"/>
                                        <p:tgtEl>
                                          <p:spTgt spid="137502"/>
                                        </p:tgtEl>
                                      </p:cBhvr>
                                    </p:animEffect>
                                  </p:childTnLst>
                                </p:cTn>
                              </p:par>
                            </p:childTnLst>
                          </p:cTn>
                        </p:par>
                        <p:par>
                          <p:cTn id="16" fill="hold" nodeType="afterGroup">
                            <p:stCondLst>
                              <p:cond delay="2000"/>
                            </p:stCondLst>
                            <p:childTnLst>
                              <p:par>
                                <p:cTn id="17" presetID="22" presetClass="entr" presetSubtype="1" fill="hold" nodeType="afterEffect">
                                  <p:stCondLst>
                                    <p:cond delay="0"/>
                                  </p:stCondLst>
                                  <p:childTnLst>
                                    <p:set>
                                      <p:cBhvr>
                                        <p:cTn id="18" dur="1" fill="hold">
                                          <p:stCondLst>
                                            <p:cond delay="0"/>
                                          </p:stCondLst>
                                        </p:cTn>
                                        <p:tgtEl>
                                          <p:spTgt spid="137398"/>
                                        </p:tgtEl>
                                        <p:attrNameLst>
                                          <p:attrName>style.visibility</p:attrName>
                                        </p:attrNameLst>
                                      </p:cBhvr>
                                      <p:to>
                                        <p:strVal val="visible"/>
                                      </p:to>
                                    </p:set>
                                    <p:animEffect transition="in" filter="wipe(up)">
                                      <p:cBhvr>
                                        <p:cTn id="19" dur="1000"/>
                                        <p:tgtEl>
                                          <p:spTgt spid="137398"/>
                                        </p:tgtEl>
                                      </p:cBhvr>
                                    </p:animEffect>
                                  </p:childTnLst>
                                </p:cTn>
                              </p:par>
                            </p:childTnLst>
                          </p:cTn>
                        </p:par>
                        <p:par>
                          <p:cTn id="20" fill="hold" nodeType="afterGroup">
                            <p:stCondLst>
                              <p:cond delay="3000"/>
                            </p:stCondLst>
                            <p:childTnLst>
                              <p:par>
                                <p:cTn id="21" presetID="22" presetClass="entr" presetSubtype="4" fill="hold" nodeType="afterEffect">
                                  <p:stCondLst>
                                    <p:cond delay="0"/>
                                  </p:stCondLst>
                                  <p:childTnLst>
                                    <p:set>
                                      <p:cBhvr>
                                        <p:cTn id="22" dur="1" fill="hold">
                                          <p:stCondLst>
                                            <p:cond delay="0"/>
                                          </p:stCondLst>
                                        </p:cTn>
                                        <p:tgtEl>
                                          <p:spTgt spid="137403"/>
                                        </p:tgtEl>
                                        <p:attrNameLst>
                                          <p:attrName>style.visibility</p:attrName>
                                        </p:attrNameLst>
                                      </p:cBhvr>
                                      <p:to>
                                        <p:strVal val="visible"/>
                                      </p:to>
                                    </p:set>
                                    <p:animEffect transition="in" filter="wipe(down)">
                                      <p:cBhvr>
                                        <p:cTn id="23" dur="1000"/>
                                        <p:tgtEl>
                                          <p:spTgt spid="137403"/>
                                        </p:tgtEl>
                                      </p:cBhvr>
                                    </p:animEffect>
                                  </p:childTnLst>
                                </p:cTn>
                              </p:par>
                            </p:childTnLst>
                          </p:cTn>
                        </p:par>
                        <p:par>
                          <p:cTn id="24" fill="hold" nodeType="afterGroup">
                            <p:stCondLst>
                              <p:cond delay="4000"/>
                            </p:stCondLst>
                            <p:childTnLst>
                              <p:par>
                                <p:cTn id="25" presetID="1" presetClass="entr" presetSubtype="0" fill="hold" nodeType="afterEffect">
                                  <p:stCondLst>
                                    <p:cond delay="1000"/>
                                  </p:stCondLst>
                                  <p:childTnLst>
                                    <p:set>
                                      <p:cBhvr>
                                        <p:cTn id="26" dur="1" fill="hold">
                                          <p:stCondLst>
                                            <p:cond delay="0"/>
                                          </p:stCondLst>
                                        </p:cTn>
                                        <p:tgtEl>
                                          <p:spTgt spid="13750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137460"/>
                                        </p:tgtEl>
                                        <p:attrNameLst>
                                          <p:attrName>style.visibility</p:attrName>
                                        </p:attrNameLst>
                                      </p:cBhvr>
                                      <p:to>
                                        <p:strVal val="visible"/>
                                      </p:to>
                                    </p:set>
                                    <p:animEffect transition="in" filter="fade">
                                      <p:cBhvr>
                                        <p:cTn id="31" dur="2000"/>
                                        <p:tgtEl>
                                          <p:spTgt spid="137460"/>
                                        </p:tgtEl>
                                      </p:cBhvr>
                                    </p:animEffect>
                                  </p:childTnLst>
                                </p:cTn>
                              </p:par>
                            </p:childTnLst>
                          </p:cTn>
                        </p:par>
                        <p:par>
                          <p:cTn id="32" fill="hold" nodeType="afterGroup">
                            <p:stCondLst>
                              <p:cond delay="2000"/>
                            </p:stCondLst>
                            <p:childTnLst>
                              <p:par>
                                <p:cTn id="33" presetID="22" presetClass="entr" presetSubtype="1" fill="hold" nodeType="afterEffect">
                                  <p:stCondLst>
                                    <p:cond delay="0"/>
                                  </p:stCondLst>
                                  <p:childTnLst>
                                    <p:set>
                                      <p:cBhvr>
                                        <p:cTn id="34" dur="1" fill="hold">
                                          <p:stCondLst>
                                            <p:cond delay="0"/>
                                          </p:stCondLst>
                                        </p:cTn>
                                        <p:tgtEl>
                                          <p:spTgt spid="137509"/>
                                        </p:tgtEl>
                                        <p:attrNameLst>
                                          <p:attrName>style.visibility</p:attrName>
                                        </p:attrNameLst>
                                      </p:cBhvr>
                                      <p:to>
                                        <p:strVal val="visible"/>
                                      </p:to>
                                    </p:set>
                                    <p:animEffect transition="in" filter="wipe(up)">
                                      <p:cBhvr>
                                        <p:cTn id="35" dur="1000"/>
                                        <p:tgtEl>
                                          <p:spTgt spid="137509"/>
                                        </p:tgtEl>
                                      </p:cBhvr>
                                    </p:animEffect>
                                  </p:childTnLst>
                                </p:cTn>
                              </p:par>
                            </p:childTnLst>
                          </p:cTn>
                        </p:par>
                        <p:par>
                          <p:cTn id="36" fill="hold" nodeType="afterGroup">
                            <p:stCondLst>
                              <p:cond delay="3000"/>
                            </p:stCondLst>
                            <p:childTnLst>
                              <p:par>
                                <p:cTn id="37" presetID="1" presetClass="entr" presetSubtype="0" fill="hold" nodeType="afterEffect">
                                  <p:stCondLst>
                                    <p:cond delay="1000"/>
                                  </p:stCondLst>
                                  <p:childTnLst>
                                    <p:set>
                                      <p:cBhvr>
                                        <p:cTn id="38" dur="1" fill="hold">
                                          <p:stCondLst>
                                            <p:cond delay="0"/>
                                          </p:stCondLst>
                                        </p:cTn>
                                        <p:tgtEl>
                                          <p:spTgt spid="137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1D7745E4-4A4C-C837-1831-0FD6A4EDDBE7}"/>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E62875AC-9B82-F246-C41C-7B37B7200F42}"/>
              </a:ext>
            </a:extLst>
          </p:cNvPr>
          <p:cNvSpPr>
            <a:spLocks noGrp="1"/>
          </p:cNvSpPr>
          <p:nvPr>
            <p:ph type="sldNum" sz="quarter" idx="11"/>
          </p:nvPr>
        </p:nvSpPr>
        <p:spPr/>
        <p:txBody>
          <a:bodyPr/>
          <a:lstStyle/>
          <a:p>
            <a:r>
              <a:rPr lang="zh-CN" altLang="en-US"/>
              <a:t> </a:t>
            </a:r>
            <a:r>
              <a:rPr lang="en-US" altLang="zh-CN"/>
              <a:t>- </a:t>
            </a:r>
            <a:fld id="{6B355C24-19EE-455C-8AD9-0EF619E83F2E}" type="slidenum">
              <a:rPr lang="en-US" altLang="zh-CN" sz="800"/>
              <a:pPr/>
              <a:t>17</a:t>
            </a:fld>
            <a:endParaRPr lang="en-US" altLang="zh-CN" sz="800"/>
          </a:p>
        </p:txBody>
      </p:sp>
      <p:sp>
        <p:nvSpPr>
          <p:cNvPr id="48130" name="Rectangle 2">
            <a:extLst>
              <a:ext uri="{FF2B5EF4-FFF2-40B4-BE49-F238E27FC236}">
                <a16:creationId xmlns:a16="http://schemas.microsoft.com/office/drawing/2014/main" id="{91D91056-E5A9-28EF-7F87-87D11F5B1837}"/>
              </a:ext>
            </a:extLst>
          </p:cNvPr>
          <p:cNvSpPr>
            <a:spLocks noGrp="1" noChangeArrowheads="1"/>
          </p:cNvSpPr>
          <p:nvPr>
            <p:ph type="title"/>
          </p:nvPr>
        </p:nvSpPr>
        <p:spPr/>
        <p:txBody>
          <a:bodyPr/>
          <a:lstStyle/>
          <a:p>
            <a:r>
              <a:rPr lang="en-US" altLang="zh-CN">
                <a:ea typeface="宋体" panose="02010600030101010101" pitchFamily="2" charset="-122"/>
              </a:rPr>
              <a:t>Securing the Application Access Domain</a:t>
            </a:r>
          </a:p>
        </p:txBody>
      </p:sp>
      <p:sp>
        <p:nvSpPr>
          <p:cNvPr id="48138" name="AutoShape 10">
            <a:extLst>
              <a:ext uri="{FF2B5EF4-FFF2-40B4-BE49-F238E27FC236}">
                <a16:creationId xmlns:a16="http://schemas.microsoft.com/office/drawing/2014/main" id="{6239B240-1BF6-286D-B42E-9C0A14230FF1}"/>
              </a:ext>
            </a:extLst>
          </p:cNvPr>
          <p:cNvSpPr>
            <a:spLocks noChangeArrowheads="1"/>
          </p:cNvSpPr>
          <p:nvPr/>
        </p:nvSpPr>
        <p:spPr bwMode="gray">
          <a:xfrm>
            <a:off x="152400" y="1981200"/>
            <a:ext cx="1447800" cy="1066800"/>
          </a:xfrm>
          <a:prstGeom prst="homePlate">
            <a:avLst>
              <a:gd name="adj" fmla="val 33929"/>
            </a:avLst>
          </a:prstGeom>
          <a:gradFill rotWithShape="1">
            <a:gsLst>
              <a:gs pos="0">
                <a:schemeClr val="accent2"/>
              </a:gs>
              <a:gs pos="100000">
                <a:schemeClr val="accent2">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0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Threats </a:t>
            </a:r>
          </a:p>
        </p:txBody>
      </p:sp>
      <p:sp>
        <p:nvSpPr>
          <p:cNvPr id="48139" name="AutoShape 11">
            <a:extLst>
              <a:ext uri="{FF2B5EF4-FFF2-40B4-BE49-F238E27FC236}">
                <a16:creationId xmlns:a16="http://schemas.microsoft.com/office/drawing/2014/main" id="{889292C3-D48B-8EAF-D2A1-9412FC2942A7}"/>
              </a:ext>
            </a:extLst>
          </p:cNvPr>
          <p:cNvSpPr>
            <a:spLocks noChangeArrowheads="1"/>
          </p:cNvSpPr>
          <p:nvPr/>
        </p:nvSpPr>
        <p:spPr bwMode="gray">
          <a:xfrm>
            <a:off x="152400" y="3657600"/>
            <a:ext cx="1447800" cy="1219200"/>
          </a:xfrm>
          <a:prstGeom prst="homePlate">
            <a:avLst>
              <a:gd name="adj" fmla="val 29688"/>
            </a:avLst>
          </a:prstGeom>
          <a:gradFill rotWithShape="1">
            <a:gsLst>
              <a:gs pos="0">
                <a:schemeClr val="hlink"/>
              </a:gs>
              <a:gs pos="100000">
                <a:schemeClr val="hlink">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0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Available Controls</a:t>
            </a:r>
          </a:p>
        </p:txBody>
      </p:sp>
      <p:sp>
        <p:nvSpPr>
          <p:cNvPr id="48140" name="AutoShape 12">
            <a:extLst>
              <a:ext uri="{FF2B5EF4-FFF2-40B4-BE49-F238E27FC236}">
                <a16:creationId xmlns:a16="http://schemas.microsoft.com/office/drawing/2014/main" id="{79D65B71-6BE8-35FB-A0CA-98B7A551B35E}"/>
              </a:ext>
            </a:extLst>
          </p:cNvPr>
          <p:cNvSpPr>
            <a:spLocks noChangeArrowheads="1"/>
          </p:cNvSpPr>
          <p:nvPr/>
        </p:nvSpPr>
        <p:spPr bwMode="gray">
          <a:xfrm>
            <a:off x="152400" y="5334000"/>
            <a:ext cx="1447800" cy="1219200"/>
          </a:xfrm>
          <a:prstGeom prst="homePlate">
            <a:avLst>
              <a:gd name="adj" fmla="val 29688"/>
            </a:avLst>
          </a:prstGeom>
          <a:gradFill rotWithShape="1">
            <a:gsLst>
              <a:gs pos="0">
                <a:schemeClr val="folHlink"/>
              </a:gs>
              <a:gs pos="100000">
                <a:schemeClr val="folHlink">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0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Examples</a:t>
            </a:r>
          </a:p>
        </p:txBody>
      </p:sp>
      <p:grpSp>
        <p:nvGrpSpPr>
          <p:cNvPr id="48152" name="Group 24">
            <a:extLst>
              <a:ext uri="{FF2B5EF4-FFF2-40B4-BE49-F238E27FC236}">
                <a16:creationId xmlns:a16="http://schemas.microsoft.com/office/drawing/2014/main" id="{4B8CAE55-0729-3EC1-5C6F-BC1CAC75F4E9}"/>
              </a:ext>
            </a:extLst>
          </p:cNvPr>
          <p:cNvGrpSpPr>
            <a:grpSpLocks/>
          </p:cNvGrpSpPr>
          <p:nvPr/>
        </p:nvGrpSpPr>
        <p:grpSpPr bwMode="auto">
          <a:xfrm>
            <a:off x="1663700" y="1612900"/>
            <a:ext cx="3289300" cy="4976813"/>
            <a:chOff x="1048" y="1016"/>
            <a:chExt cx="2072" cy="3135"/>
          </a:xfrm>
        </p:grpSpPr>
        <p:sp>
          <p:nvSpPr>
            <p:cNvPr id="48141" name="Text Box 13">
              <a:extLst>
                <a:ext uri="{FF2B5EF4-FFF2-40B4-BE49-F238E27FC236}">
                  <a16:creationId xmlns:a16="http://schemas.microsoft.com/office/drawing/2014/main" id="{66EF16FC-0535-504B-6351-A97E66B8E9BB}"/>
                </a:ext>
              </a:extLst>
            </p:cNvPr>
            <p:cNvSpPr txBox="1">
              <a:spLocks noChangeArrowheads="1"/>
            </p:cNvSpPr>
            <p:nvPr/>
          </p:nvSpPr>
          <p:spPr bwMode="auto">
            <a:xfrm>
              <a:off x="1058" y="1188"/>
              <a:ext cx="2062" cy="1008"/>
            </a:xfrm>
            <a:prstGeom prst="rect">
              <a:avLst/>
            </a:prstGeom>
            <a:solidFill>
              <a:srgbClr val="F8B20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406400" indent="-406400" algn="l">
                <a:spcBef>
                  <a:spcPct val="0"/>
                </a:spcBef>
                <a:defRPr>
                  <a:solidFill>
                    <a:schemeClr val="tx1"/>
                  </a:solidFill>
                  <a:latin typeface="Arial" panose="020B0604020202020204" pitchFamily="34" charset="0"/>
                  <a:cs typeface="Arial" panose="020B0604020202020204" pitchFamily="34" charset="0"/>
                </a:defRPr>
              </a:lvl1pPr>
              <a:lvl2pPr marL="1028700" algn="l">
                <a:spcBef>
                  <a:spcPct val="0"/>
                </a:spcBef>
                <a:defRPr>
                  <a:solidFill>
                    <a:schemeClr val="tx1"/>
                  </a:solidFill>
                  <a:latin typeface="Arial" panose="020B0604020202020204" pitchFamily="34" charset="0"/>
                  <a:cs typeface="Arial" panose="020B0604020202020204" pitchFamily="34" charset="0"/>
                </a:defRPr>
              </a:lvl2pPr>
              <a:lvl3pPr marL="1143000"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Spoofing User Identity (Integrity, Confidentiality)</a:t>
              </a:r>
            </a:p>
            <a:p>
              <a:pPr>
                <a:spcAft>
                  <a:spcPct val="40000"/>
                </a:spcAft>
                <a:buClrTx/>
                <a:buFont typeface="Wingdings" panose="05000000000000000000" pitchFamily="2" charset="2"/>
                <a:buChar char="ü"/>
              </a:pPr>
              <a:r>
                <a:rPr lang="en-US" altLang="zh-CN" sz="1600" b="1">
                  <a:ea typeface="宋体" panose="02010600030101010101" pitchFamily="2" charset="-122"/>
                </a:rPr>
                <a:t>Elevation of User privilege (Integrity, Confidentiality)</a:t>
              </a:r>
            </a:p>
          </p:txBody>
        </p:sp>
        <p:sp>
          <p:nvSpPr>
            <p:cNvPr id="48142" name="Text Box 14">
              <a:extLst>
                <a:ext uri="{FF2B5EF4-FFF2-40B4-BE49-F238E27FC236}">
                  <a16:creationId xmlns:a16="http://schemas.microsoft.com/office/drawing/2014/main" id="{EE08F578-946C-7524-D4E3-0B75D65B4569}"/>
                </a:ext>
              </a:extLst>
            </p:cNvPr>
            <p:cNvSpPr txBox="1">
              <a:spLocks noChangeArrowheads="1"/>
            </p:cNvSpPr>
            <p:nvPr/>
          </p:nvSpPr>
          <p:spPr bwMode="auto">
            <a:xfrm>
              <a:off x="1048" y="2112"/>
              <a:ext cx="2072" cy="1200"/>
            </a:xfrm>
            <a:prstGeom prst="rect">
              <a:avLst/>
            </a:prstGeom>
            <a:solidFill>
              <a:srgbClr val="9AD9E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User Authentication (Technical)</a:t>
              </a:r>
            </a:p>
            <a:p>
              <a:pPr>
                <a:spcAft>
                  <a:spcPct val="40000"/>
                </a:spcAft>
                <a:buClrTx/>
                <a:buFont typeface="Wingdings" panose="05000000000000000000" pitchFamily="2" charset="2"/>
                <a:buChar char="ü"/>
              </a:pPr>
              <a:r>
                <a:rPr lang="en-US" altLang="zh-CN" sz="1600" b="1">
                  <a:ea typeface="宋体" panose="02010600030101010101" pitchFamily="2" charset="-122"/>
                </a:rPr>
                <a:t>User Authorization (Technical, Administrative)</a:t>
              </a:r>
            </a:p>
          </p:txBody>
        </p:sp>
        <p:sp>
          <p:nvSpPr>
            <p:cNvPr id="48143" name="Text Box 15">
              <a:extLst>
                <a:ext uri="{FF2B5EF4-FFF2-40B4-BE49-F238E27FC236}">
                  <a16:creationId xmlns:a16="http://schemas.microsoft.com/office/drawing/2014/main" id="{DE4DD517-2B12-594B-ABE8-03EFE6FFA990}"/>
                </a:ext>
              </a:extLst>
            </p:cNvPr>
            <p:cNvSpPr txBox="1">
              <a:spLocks noChangeArrowheads="1"/>
            </p:cNvSpPr>
            <p:nvPr/>
          </p:nvSpPr>
          <p:spPr bwMode="auto">
            <a:xfrm>
              <a:off x="1048" y="3312"/>
              <a:ext cx="2072" cy="839"/>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Strong authentication</a:t>
              </a:r>
            </a:p>
            <a:p>
              <a:pPr>
                <a:spcAft>
                  <a:spcPct val="40000"/>
                </a:spcAft>
                <a:buClrTx/>
                <a:buFont typeface="Wingdings" panose="05000000000000000000" pitchFamily="2" charset="2"/>
                <a:buChar char="ü"/>
              </a:pPr>
              <a:r>
                <a:rPr lang="en-US" altLang="zh-CN" sz="1600" b="1">
                  <a:ea typeface="宋体" panose="02010600030101010101" pitchFamily="2" charset="-122"/>
                </a:rPr>
                <a:t>NAS: Access Control Lists</a:t>
              </a:r>
            </a:p>
          </p:txBody>
        </p:sp>
        <p:sp>
          <p:nvSpPr>
            <p:cNvPr id="48148" name="Text Box 20">
              <a:extLst>
                <a:ext uri="{FF2B5EF4-FFF2-40B4-BE49-F238E27FC236}">
                  <a16:creationId xmlns:a16="http://schemas.microsoft.com/office/drawing/2014/main" id="{4EC6EA21-A57E-6E82-3A81-81576E51F36B}"/>
                </a:ext>
              </a:extLst>
            </p:cNvPr>
            <p:cNvSpPr txBox="1">
              <a:spLocks noChangeArrowheads="1"/>
            </p:cNvSpPr>
            <p:nvPr/>
          </p:nvSpPr>
          <p:spPr bwMode="auto">
            <a:xfrm>
              <a:off x="1086" y="1016"/>
              <a:ext cx="196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i="1">
                  <a:solidFill>
                    <a:schemeClr val="tx2"/>
                  </a:solidFill>
                  <a:ea typeface="宋体" panose="02010600030101010101" pitchFamily="2" charset="-122"/>
                </a:rPr>
                <a:t>Controlling User Access to Data</a:t>
              </a:r>
            </a:p>
          </p:txBody>
        </p:sp>
      </p:grpSp>
      <p:grpSp>
        <p:nvGrpSpPr>
          <p:cNvPr id="48151" name="Group 23">
            <a:extLst>
              <a:ext uri="{FF2B5EF4-FFF2-40B4-BE49-F238E27FC236}">
                <a16:creationId xmlns:a16="http://schemas.microsoft.com/office/drawing/2014/main" id="{7BCC1D07-6E2E-7A9B-5AE4-3F71C9F4DAB3}"/>
              </a:ext>
            </a:extLst>
          </p:cNvPr>
          <p:cNvGrpSpPr>
            <a:grpSpLocks/>
          </p:cNvGrpSpPr>
          <p:nvPr/>
        </p:nvGrpSpPr>
        <p:grpSpPr bwMode="auto">
          <a:xfrm>
            <a:off x="5181600" y="1600200"/>
            <a:ext cx="3657600" cy="4959350"/>
            <a:chOff x="3312" y="1008"/>
            <a:chExt cx="2208" cy="3124"/>
          </a:xfrm>
        </p:grpSpPr>
        <p:sp>
          <p:nvSpPr>
            <p:cNvPr id="48144" name="Text Box 16">
              <a:extLst>
                <a:ext uri="{FF2B5EF4-FFF2-40B4-BE49-F238E27FC236}">
                  <a16:creationId xmlns:a16="http://schemas.microsoft.com/office/drawing/2014/main" id="{B66237DB-403E-28EF-8F53-FA005C64B1E5}"/>
                </a:ext>
              </a:extLst>
            </p:cNvPr>
            <p:cNvSpPr txBox="1">
              <a:spLocks noChangeArrowheads="1"/>
            </p:cNvSpPr>
            <p:nvPr/>
          </p:nvSpPr>
          <p:spPr bwMode="auto">
            <a:xfrm>
              <a:off x="3312" y="1185"/>
              <a:ext cx="2208" cy="950"/>
            </a:xfrm>
            <a:prstGeom prst="rect">
              <a:avLst/>
            </a:prstGeom>
            <a:solidFill>
              <a:srgbClr val="F8B20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Spoofing Host Identity (Integrity, Confidentiality)</a:t>
              </a:r>
            </a:p>
            <a:p>
              <a:pPr>
                <a:spcAft>
                  <a:spcPct val="40000"/>
                </a:spcAft>
                <a:buClrTx/>
                <a:buFont typeface="Wingdings" panose="05000000000000000000" pitchFamily="2" charset="2"/>
                <a:buChar char="ü"/>
              </a:pPr>
              <a:r>
                <a:rPr lang="en-US" altLang="zh-CN" sz="1600" b="1">
                  <a:ea typeface="宋体" panose="02010600030101010101" pitchFamily="2" charset="-122"/>
                </a:rPr>
                <a:t>Elevation of Host privilege (Integrity, Confidentiality)</a:t>
              </a:r>
            </a:p>
          </p:txBody>
        </p:sp>
        <p:sp>
          <p:nvSpPr>
            <p:cNvPr id="48145" name="Text Box 17">
              <a:extLst>
                <a:ext uri="{FF2B5EF4-FFF2-40B4-BE49-F238E27FC236}">
                  <a16:creationId xmlns:a16="http://schemas.microsoft.com/office/drawing/2014/main" id="{FFBECF9E-FC3C-88CE-19F1-B83639D9A24C}"/>
                </a:ext>
              </a:extLst>
            </p:cNvPr>
            <p:cNvSpPr txBox="1">
              <a:spLocks noChangeArrowheads="1"/>
            </p:cNvSpPr>
            <p:nvPr/>
          </p:nvSpPr>
          <p:spPr bwMode="auto">
            <a:xfrm>
              <a:off x="3312" y="2089"/>
              <a:ext cx="2208" cy="1266"/>
            </a:xfrm>
            <a:prstGeom prst="rect">
              <a:avLst/>
            </a:prstGeom>
            <a:solidFill>
              <a:srgbClr val="9AD9E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Host and storage authentication (Technical)</a:t>
              </a:r>
            </a:p>
            <a:p>
              <a:pPr>
                <a:spcAft>
                  <a:spcPct val="40000"/>
                </a:spcAft>
                <a:buClrTx/>
                <a:buFont typeface="Wingdings" panose="05000000000000000000" pitchFamily="2" charset="2"/>
                <a:buChar char="ü"/>
              </a:pPr>
              <a:r>
                <a:rPr lang="en-US" altLang="zh-CN" sz="1600" b="1">
                  <a:ea typeface="宋体" panose="02010600030101010101" pitchFamily="2" charset="-122"/>
                </a:rPr>
                <a:t>Access control to storage objects (Technical, Administrative)</a:t>
              </a:r>
            </a:p>
            <a:p>
              <a:pPr>
                <a:spcAft>
                  <a:spcPct val="40000"/>
                </a:spcAft>
                <a:buClrTx/>
                <a:buFont typeface="Wingdings" panose="05000000000000000000" pitchFamily="2" charset="2"/>
                <a:buChar char="ü"/>
              </a:pPr>
              <a:r>
                <a:rPr lang="en-US" altLang="zh-CN" sz="1600" b="1">
                  <a:ea typeface="宋体" panose="02010600030101010101" pitchFamily="2" charset="-122"/>
                </a:rPr>
                <a:t>Storage Access Monitoring (Technical)</a:t>
              </a:r>
            </a:p>
          </p:txBody>
        </p:sp>
        <p:sp>
          <p:nvSpPr>
            <p:cNvPr id="48146" name="Text Box 18">
              <a:extLst>
                <a:ext uri="{FF2B5EF4-FFF2-40B4-BE49-F238E27FC236}">
                  <a16:creationId xmlns:a16="http://schemas.microsoft.com/office/drawing/2014/main" id="{4824FBA2-7E10-91F7-4B1D-CAFD980E7B88}"/>
                </a:ext>
              </a:extLst>
            </p:cNvPr>
            <p:cNvSpPr txBox="1">
              <a:spLocks noChangeArrowheads="1"/>
            </p:cNvSpPr>
            <p:nvPr/>
          </p:nvSpPr>
          <p:spPr bwMode="auto">
            <a:xfrm>
              <a:off x="3312" y="3328"/>
              <a:ext cx="2208" cy="80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iSCSI Storage: Authentication with DH-CHAP</a:t>
              </a:r>
            </a:p>
            <a:p>
              <a:pPr>
                <a:spcAft>
                  <a:spcPct val="40000"/>
                </a:spcAft>
                <a:buClrTx/>
                <a:buFont typeface="Wingdings" panose="05000000000000000000" pitchFamily="2" charset="2"/>
                <a:buChar char="ü"/>
              </a:pPr>
              <a:r>
                <a:rPr lang="en-US" altLang="zh-CN" sz="1600" b="1">
                  <a:ea typeface="宋体" panose="02010600030101010101" pitchFamily="2" charset="-122"/>
                </a:rPr>
                <a:t>SAN Switches: Zoning</a:t>
              </a:r>
            </a:p>
            <a:p>
              <a:pPr>
                <a:spcAft>
                  <a:spcPct val="40000"/>
                </a:spcAft>
                <a:buClrTx/>
                <a:buFont typeface="Wingdings" panose="05000000000000000000" pitchFamily="2" charset="2"/>
                <a:buChar char="ü"/>
              </a:pPr>
              <a:r>
                <a:rPr lang="en-US" altLang="zh-CN" sz="1600" b="1">
                  <a:ea typeface="宋体" panose="02010600030101010101" pitchFamily="2" charset="-122"/>
                </a:rPr>
                <a:t>Array: LUN Masking </a:t>
              </a:r>
            </a:p>
          </p:txBody>
        </p:sp>
        <p:sp>
          <p:nvSpPr>
            <p:cNvPr id="48149" name="Text Box 21">
              <a:extLst>
                <a:ext uri="{FF2B5EF4-FFF2-40B4-BE49-F238E27FC236}">
                  <a16:creationId xmlns:a16="http://schemas.microsoft.com/office/drawing/2014/main" id="{88C15FFE-30CF-16EA-EEA4-54A49F803D90}"/>
                </a:ext>
              </a:extLst>
            </p:cNvPr>
            <p:cNvSpPr txBox="1">
              <a:spLocks noChangeArrowheads="1"/>
            </p:cNvSpPr>
            <p:nvPr/>
          </p:nvSpPr>
          <p:spPr bwMode="auto">
            <a:xfrm>
              <a:off x="3456" y="1008"/>
              <a:ext cx="196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i="1">
                  <a:solidFill>
                    <a:schemeClr val="tx2"/>
                  </a:solidFill>
                  <a:ea typeface="宋体" panose="02010600030101010101" pitchFamily="2" charset="-122"/>
                </a:rPr>
                <a:t>Controlling Host Access to Data</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1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E331908C-F88D-DE67-6F3D-8712F5D375E7}"/>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A31D9CF8-2518-1A5B-8166-3194120CC250}"/>
              </a:ext>
            </a:extLst>
          </p:cNvPr>
          <p:cNvSpPr>
            <a:spLocks noGrp="1"/>
          </p:cNvSpPr>
          <p:nvPr>
            <p:ph type="sldNum" sz="quarter" idx="11"/>
          </p:nvPr>
        </p:nvSpPr>
        <p:spPr/>
        <p:txBody>
          <a:bodyPr/>
          <a:lstStyle/>
          <a:p>
            <a:r>
              <a:rPr lang="zh-CN" altLang="en-US"/>
              <a:t> </a:t>
            </a:r>
            <a:r>
              <a:rPr lang="en-US" altLang="zh-CN"/>
              <a:t>- </a:t>
            </a:r>
            <a:fld id="{C6461FDA-B1E1-4B84-801B-872C05A22ABE}" type="slidenum">
              <a:rPr lang="en-US" altLang="zh-CN" sz="800"/>
              <a:pPr/>
              <a:t>18</a:t>
            </a:fld>
            <a:endParaRPr lang="en-US" altLang="zh-CN" sz="800"/>
          </a:p>
        </p:txBody>
      </p:sp>
      <p:sp>
        <p:nvSpPr>
          <p:cNvPr id="49154" name="Rectangle 2">
            <a:extLst>
              <a:ext uri="{FF2B5EF4-FFF2-40B4-BE49-F238E27FC236}">
                <a16:creationId xmlns:a16="http://schemas.microsoft.com/office/drawing/2014/main" id="{B67C603B-0272-B826-800B-153FC27574CC}"/>
              </a:ext>
            </a:extLst>
          </p:cNvPr>
          <p:cNvSpPr>
            <a:spLocks noGrp="1" noChangeArrowheads="1"/>
          </p:cNvSpPr>
          <p:nvPr>
            <p:ph type="title"/>
          </p:nvPr>
        </p:nvSpPr>
        <p:spPr/>
        <p:txBody>
          <a:bodyPr/>
          <a:lstStyle/>
          <a:p>
            <a:r>
              <a:rPr lang="en-US" altLang="zh-CN">
                <a:ea typeface="宋体" panose="02010600030101010101" pitchFamily="2" charset="-122"/>
              </a:rPr>
              <a:t>Securing the Application Access Domain</a:t>
            </a:r>
          </a:p>
        </p:txBody>
      </p:sp>
      <p:sp>
        <p:nvSpPr>
          <p:cNvPr id="49156" name="AutoShape 4">
            <a:extLst>
              <a:ext uri="{FF2B5EF4-FFF2-40B4-BE49-F238E27FC236}">
                <a16:creationId xmlns:a16="http://schemas.microsoft.com/office/drawing/2014/main" id="{E1AC9D44-FA1F-9223-C5D9-B33815A89812}"/>
              </a:ext>
            </a:extLst>
          </p:cNvPr>
          <p:cNvSpPr>
            <a:spLocks noChangeArrowheads="1"/>
          </p:cNvSpPr>
          <p:nvPr/>
        </p:nvSpPr>
        <p:spPr bwMode="gray">
          <a:xfrm>
            <a:off x="323850" y="1905000"/>
            <a:ext cx="1428750" cy="1143000"/>
          </a:xfrm>
          <a:prstGeom prst="homePlate">
            <a:avLst>
              <a:gd name="adj" fmla="val 31250"/>
            </a:avLst>
          </a:prstGeom>
          <a:gradFill rotWithShape="1">
            <a:gsLst>
              <a:gs pos="0">
                <a:schemeClr val="accent2"/>
              </a:gs>
              <a:gs pos="100000">
                <a:schemeClr val="accent2">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0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Threats </a:t>
            </a:r>
          </a:p>
        </p:txBody>
      </p:sp>
      <p:sp>
        <p:nvSpPr>
          <p:cNvPr id="49157" name="AutoShape 5">
            <a:extLst>
              <a:ext uri="{FF2B5EF4-FFF2-40B4-BE49-F238E27FC236}">
                <a16:creationId xmlns:a16="http://schemas.microsoft.com/office/drawing/2014/main" id="{9BBA6C39-BDF1-BD26-8DA1-65DECBF8896E}"/>
              </a:ext>
            </a:extLst>
          </p:cNvPr>
          <p:cNvSpPr>
            <a:spLocks noChangeArrowheads="1"/>
          </p:cNvSpPr>
          <p:nvPr/>
        </p:nvSpPr>
        <p:spPr bwMode="gray">
          <a:xfrm>
            <a:off x="304800" y="3352800"/>
            <a:ext cx="1447800" cy="1219200"/>
          </a:xfrm>
          <a:prstGeom prst="homePlate">
            <a:avLst>
              <a:gd name="adj" fmla="val 29688"/>
            </a:avLst>
          </a:prstGeom>
          <a:gradFill rotWithShape="1">
            <a:gsLst>
              <a:gs pos="0">
                <a:schemeClr val="hlink"/>
              </a:gs>
              <a:gs pos="100000">
                <a:schemeClr val="hlink">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0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Available Controls</a:t>
            </a:r>
          </a:p>
        </p:txBody>
      </p:sp>
      <p:sp>
        <p:nvSpPr>
          <p:cNvPr id="49158" name="AutoShape 6">
            <a:extLst>
              <a:ext uri="{FF2B5EF4-FFF2-40B4-BE49-F238E27FC236}">
                <a16:creationId xmlns:a16="http://schemas.microsoft.com/office/drawing/2014/main" id="{E96B5A61-40B9-3229-93AF-FE8681DBDE52}"/>
              </a:ext>
            </a:extLst>
          </p:cNvPr>
          <p:cNvSpPr>
            <a:spLocks noChangeArrowheads="1"/>
          </p:cNvSpPr>
          <p:nvPr/>
        </p:nvSpPr>
        <p:spPr bwMode="gray">
          <a:xfrm>
            <a:off x="304800" y="4876800"/>
            <a:ext cx="1447800" cy="1143000"/>
          </a:xfrm>
          <a:prstGeom prst="homePlate">
            <a:avLst>
              <a:gd name="adj" fmla="val 31667"/>
            </a:avLst>
          </a:prstGeom>
          <a:gradFill rotWithShape="1">
            <a:gsLst>
              <a:gs pos="0">
                <a:schemeClr val="folHlink"/>
              </a:gs>
              <a:gs pos="100000">
                <a:schemeClr val="folHlink">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0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Examples</a:t>
            </a:r>
          </a:p>
        </p:txBody>
      </p:sp>
      <p:grpSp>
        <p:nvGrpSpPr>
          <p:cNvPr id="49179" name="Group 27">
            <a:extLst>
              <a:ext uri="{FF2B5EF4-FFF2-40B4-BE49-F238E27FC236}">
                <a16:creationId xmlns:a16="http://schemas.microsoft.com/office/drawing/2014/main" id="{01B67C5C-FC56-1198-FEF7-5F65CBB38B13}"/>
              </a:ext>
            </a:extLst>
          </p:cNvPr>
          <p:cNvGrpSpPr>
            <a:grpSpLocks/>
          </p:cNvGrpSpPr>
          <p:nvPr/>
        </p:nvGrpSpPr>
        <p:grpSpPr bwMode="auto">
          <a:xfrm>
            <a:off x="1885950" y="1524000"/>
            <a:ext cx="7105650" cy="4687888"/>
            <a:chOff x="1152" y="1118"/>
            <a:chExt cx="4476" cy="2953"/>
          </a:xfrm>
        </p:grpSpPr>
        <p:sp>
          <p:nvSpPr>
            <p:cNvPr id="49172" name="Text Box 20">
              <a:extLst>
                <a:ext uri="{FF2B5EF4-FFF2-40B4-BE49-F238E27FC236}">
                  <a16:creationId xmlns:a16="http://schemas.microsoft.com/office/drawing/2014/main" id="{DD80941D-7D6F-EC08-1E69-D4F5467AA1A7}"/>
                </a:ext>
              </a:extLst>
            </p:cNvPr>
            <p:cNvSpPr txBox="1">
              <a:spLocks noChangeArrowheads="1"/>
            </p:cNvSpPr>
            <p:nvPr/>
          </p:nvSpPr>
          <p:spPr bwMode="auto">
            <a:xfrm>
              <a:off x="3504" y="1291"/>
              <a:ext cx="2064" cy="1174"/>
            </a:xfrm>
            <a:prstGeom prst="rect">
              <a:avLst/>
            </a:prstGeom>
            <a:solidFill>
              <a:srgbClr val="F8B20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endParaRPr lang="zh-CN" altLang="en-US" sz="1600" b="1">
                <a:ea typeface="宋体" panose="02010600030101010101" pitchFamily="2" charset="-122"/>
              </a:endParaRPr>
            </a:p>
            <a:p>
              <a:pPr>
                <a:spcAft>
                  <a:spcPct val="40000"/>
                </a:spcAft>
                <a:buClrTx/>
                <a:buFont typeface="Wingdings" panose="05000000000000000000" pitchFamily="2" charset="2"/>
                <a:buChar char="ü"/>
              </a:pPr>
              <a:r>
                <a:rPr lang="en-US" altLang="zh-CN" sz="1600" b="1">
                  <a:ea typeface="宋体" panose="02010600030101010101" pitchFamily="2" charset="-122"/>
                </a:rPr>
                <a:t>Tampering with data at rest (Integrity)</a:t>
              </a:r>
            </a:p>
            <a:p>
              <a:pPr>
                <a:spcAft>
                  <a:spcPct val="40000"/>
                </a:spcAft>
                <a:buClrTx/>
                <a:buFont typeface="Wingdings" panose="05000000000000000000" pitchFamily="2" charset="2"/>
                <a:buChar char="ü"/>
              </a:pPr>
              <a:r>
                <a:rPr lang="en-US" altLang="zh-CN" sz="1600" b="1">
                  <a:ea typeface="宋体" panose="02010600030101010101" pitchFamily="2" charset="-122"/>
                </a:rPr>
                <a:t>Media theft (Availability, Confidentiality)</a:t>
              </a:r>
            </a:p>
            <a:p>
              <a:pPr>
                <a:spcAft>
                  <a:spcPct val="40000"/>
                </a:spcAft>
                <a:buClrTx/>
              </a:pPr>
              <a:endParaRPr lang="zh-CN" altLang="en-US" sz="1600" b="1">
                <a:ea typeface="宋体" panose="02010600030101010101" pitchFamily="2" charset="-122"/>
              </a:endParaRPr>
            </a:p>
          </p:txBody>
        </p:sp>
        <p:sp>
          <p:nvSpPr>
            <p:cNvPr id="49173" name="Text Box 21">
              <a:extLst>
                <a:ext uri="{FF2B5EF4-FFF2-40B4-BE49-F238E27FC236}">
                  <a16:creationId xmlns:a16="http://schemas.microsoft.com/office/drawing/2014/main" id="{F460DCEE-0B28-A752-ED0B-8785988037FE}"/>
                </a:ext>
              </a:extLst>
            </p:cNvPr>
            <p:cNvSpPr txBox="1">
              <a:spLocks noChangeArrowheads="1"/>
            </p:cNvSpPr>
            <p:nvPr/>
          </p:nvSpPr>
          <p:spPr bwMode="auto">
            <a:xfrm>
              <a:off x="3504" y="2290"/>
              <a:ext cx="2064" cy="804"/>
            </a:xfrm>
            <a:prstGeom prst="rect">
              <a:avLst/>
            </a:prstGeom>
            <a:solidFill>
              <a:srgbClr val="9AD9E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Encryption of data at rest (Technical)</a:t>
              </a:r>
            </a:p>
            <a:p>
              <a:pPr>
                <a:spcAft>
                  <a:spcPct val="40000"/>
                </a:spcAft>
                <a:buClrTx/>
                <a:buFont typeface="Wingdings" panose="05000000000000000000" pitchFamily="2" charset="2"/>
                <a:buChar char="ü"/>
              </a:pPr>
              <a:r>
                <a:rPr lang="en-US" altLang="zh-CN" sz="1600" b="1">
                  <a:ea typeface="宋体" panose="02010600030101010101" pitchFamily="2" charset="-122"/>
                </a:rPr>
                <a:t>Data integrity (Technical)</a:t>
              </a:r>
            </a:p>
            <a:p>
              <a:pPr>
                <a:spcAft>
                  <a:spcPct val="40000"/>
                </a:spcAft>
                <a:buClrTx/>
                <a:buFont typeface="Wingdings" panose="05000000000000000000" pitchFamily="2" charset="2"/>
                <a:buChar char="ü"/>
              </a:pPr>
              <a:r>
                <a:rPr lang="en-US" altLang="zh-CN" sz="1600" b="1">
                  <a:ea typeface="宋体" panose="02010600030101010101" pitchFamily="2" charset="-122"/>
                </a:rPr>
                <a:t>Data erasure (Technical)</a:t>
              </a:r>
            </a:p>
          </p:txBody>
        </p:sp>
        <p:sp>
          <p:nvSpPr>
            <p:cNvPr id="49174" name="Text Box 22">
              <a:extLst>
                <a:ext uri="{FF2B5EF4-FFF2-40B4-BE49-F238E27FC236}">
                  <a16:creationId xmlns:a16="http://schemas.microsoft.com/office/drawing/2014/main" id="{24B5969A-3271-9FB9-0EFD-EAB083F42D07}"/>
                </a:ext>
              </a:extLst>
            </p:cNvPr>
            <p:cNvSpPr txBox="1">
              <a:spLocks noChangeArrowheads="1"/>
            </p:cNvSpPr>
            <p:nvPr/>
          </p:nvSpPr>
          <p:spPr bwMode="auto">
            <a:xfrm>
              <a:off x="3504" y="3051"/>
              <a:ext cx="2064" cy="102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zh-CN" altLang="en-US" sz="1600" b="1">
                  <a:ea typeface="宋体" panose="02010600030101010101" pitchFamily="2" charset="-122"/>
                </a:rPr>
                <a:t> </a:t>
              </a:r>
              <a:r>
                <a:rPr lang="en-US" altLang="zh-CN" sz="1600" b="1">
                  <a:ea typeface="宋体" panose="02010600030101010101" pitchFamily="2" charset="-122"/>
                </a:rPr>
                <a:t>Storage Encryption Service</a:t>
              </a:r>
            </a:p>
            <a:p>
              <a:pPr>
                <a:spcAft>
                  <a:spcPct val="40000"/>
                </a:spcAft>
                <a:buClrTx/>
                <a:buFont typeface="Wingdings" panose="05000000000000000000" pitchFamily="2" charset="2"/>
                <a:buChar char="ü"/>
              </a:pPr>
              <a:r>
                <a:rPr lang="en-US" altLang="zh-CN" sz="1600" b="1">
                  <a:ea typeface="宋体" panose="02010600030101010101" pitchFamily="2" charset="-122"/>
                </a:rPr>
                <a:t>NAS: Antivirus and File extension control</a:t>
              </a:r>
            </a:p>
            <a:p>
              <a:pPr>
                <a:spcAft>
                  <a:spcPct val="40000"/>
                </a:spcAft>
                <a:buClrTx/>
                <a:buFont typeface="Wingdings" panose="05000000000000000000" pitchFamily="2" charset="2"/>
                <a:buChar char="ü"/>
              </a:pPr>
              <a:r>
                <a:rPr lang="en-US" altLang="zh-CN" sz="1600" b="1">
                  <a:ea typeface="宋体" panose="02010600030101010101" pitchFamily="2" charset="-122"/>
                </a:rPr>
                <a:t>CAS: Content Address</a:t>
              </a:r>
            </a:p>
            <a:p>
              <a:pPr>
                <a:spcAft>
                  <a:spcPct val="40000"/>
                </a:spcAft>
                <a:buClrTx/>
                <a:buFont typeface="Wingdings" panose="05000000000000000000" pitchFamily="2" charset="2"/>
                <a:buChar char="ü"/>
              </a:pPr>
              <a:r>
                <a:rPr lang="en-US" altLang="zh-CN" sz="1600" b="1">
                  <a:ea typeface="宋体" panose="02010600030101010101" pitchFamily="2" charset="-122"/>
                </a:rPr>
                <a:t>Data Erasure Services</a:t>
              </a:r>
            </a:p>
          </p:txBody>
        </p:sp>
        <p:grpSp>
          <p:nvGrpSpPr>
            <p:cNvPr id="49178" name="Group 26">
              <a:extLst>
                <a:ext uri="{FF2B5EF4-FFF2-40B4-BE49-F238E27FC236}">
                  <a16:creationId xmlns:a16="http://schemas.microsoft.com/office/drawing/2014/main" id="{DBD036B8-A246-F53B-032F-3C4C9EAB4821}"/>
                </a:ext>
              </a:extLst>
            </p:cNvPr>
            <p:cNvGrpSpPr>
              <a:grpSpLocks/>
            </p:cNvGrpSpPr>
            <p:nvPr/>
          </p:nvGrpSpPr>
          <p:grpSpPr bwMode="auto">
            <a:xfrm>
              <a:off x="1152" y="1122"/>
              <a:ext cx="2208" cy="2946"/>
              <a:chOff x="1152" y="1122"/>
              <a:chExt cx="2208" cy="2946"/>
            </a:xfrm>
          </p:grpSpPr>
          <p:sp>
            <p:nvSpPr>
              <p:cNvPr id="49159" name="Text Box 7">
                <a:extLst>
                  <a:ext uri="{FF2B5EF4-FFF2-40B4-BE49-F238E27FC236}">
                    <a16:creationId xmlns:a16="http://schemas.microsoft.com/office/drawing/2014/main" id="{2B7AEAB3-7261-144E-BBAC-70353600631B}"/>
                  </a:ext>
                </a:extLst>
              </p:cNvPr>
              <p:cNvSpPr txBox="1">
                <a:spLocks noChangeArrowheads="1"/>
              </p:cNvSpPr>
              <p:nvPr/>
            </p:nvSpPr>
            <p:spPr bwMode="auto">
              <a:xfrm>
                <a:off x="1152" y="1296"/>
                <a:ext cx="2208" cy="1116"/>
              </a:xfrm>
              <a:prstGeom prst="rect">
                <a:avLst/>
              </a:prstGeom>
              <a:solidFill>
                <a:srgbClr val="F8B20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406400" indent="-406400" algn="l">
                  <a:spcBef>
                    <a:spcPct val="0"/>
                  </a:spcBef>
                  <a:defRPr>
                    <a:solidFill>
                      <a:schemeClr val="tx1"/>
                    </a:solidFill>
                    <a:latin typeface="Arial" panose="020B0604020202020204" pitchFamily="34" charset="0"/>
                    <a:cs typeface="Arial" panose="020B0604020202020204" pitchFamily="34" charset="0"/>
                  </a:defRPr>
                </a:lvl1pPr>
                <a:lvl2pPr marL="1028700" algn="l">
                  <a:spcBef>
                    <a:spcPct val="0"/>
                  </a:spcBef>
                  <a:defRPr>
                    <a:solidFill>
                      <a:schemeClr val="tx1"/>
                    </a:solidFill>
                    <a:latin typeface="Arial" panose="020B0604020202020204" pitchFamily="34" charset="0"/>
                    <a:cs typeface="Arial" panose="020B0604020202020204" pitchFamily="34" charset="0"/>
                  </a:defRPr>
                </a:lvl2pPr>
                <a:lvl3pPr marL="1143000"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Tampering with data in flight (Integrity)</a:t>
                </a:r>
              </a:p>
              <a:p>
                <a:pPr>
                  <a:spcAft>
                    <a:spcPct val="40000"/>
                  </a:spcAft>
                  <a:buClrTx/>
                  <a:buFont typeface="Wingdings" panose="05000000000000000000" pitchFamily="2" charset="2"/>
                  <a:buChar char="ü"/>
                </a:pPr>
                <a:r>
                  <a:rPr lang="en-US" altLang="zh-CN" sz="1600" b="1">
                    <a:ea typeface="宋体" panose="02010600030101010101" pitchFamily="2" charset="-122"/>
                  </a:rPr>
                  <a:t>Denial of service (Availability)</a:t>
                </a:r>
              </a:p>
              <a:p>
                <a:pPr>
                  <a:spcAft>
                    <a:spcPct val="40000"/>
                  </a:spcAft>
                  <a:buClrTx/>
                  <a:buFont typeface="Wingdings" panose="05000000000000000000" pitchFamily="2" charset="2"/>
                  <a:buChar char="ü"/>
                </a:pPr>
                <a:r>
                  <a:rPr lang="en-US" altLang="zh-CN" sz="1600" b="1">
                    <a:ea typeface="宋体" panose="02010600030101010101" pitchFamily="2" charset="-122"/>
                  </a:rPr>
                  <a:t>Network snooping (Confidentiality)</a:t>
                </a:r>
              </a:p>
            </p:txBody>
          </p:sp>
          <p:sp>
            <p:nvSpPr>
              <p:cNvPr id="49161" name="Text Box 9">
                <a:extLst>
                  <a:ext uri="{FF2B5EF4-FFF2-40B4-BE49-F238E27FC236}">
                    <a16:creationId xmlns:a16="http://schemas.microsoft.com/office/drawing/2014/main" id="{18C42291-CFA1-2414-3DAF-94487657E161}"/>
                  </a:ext>
                </a:extLst>
              </p:cNvPr>
              <p:cNvSpPr txBox="1">
                <a:spLocks noChangeArrowheads="1"/>
              </p:cNvSpPr>
              <p:nvPr/>
            </p:nvSpPr>
            <p:spPr bwMode="auto">
              <a:xfrm>
                <a:off x="1152" y="3024"/>
                <a:ext cx="2208" cy="1044"/>
              </a:xfrm>
              <a:prstGeom prst="rect">
                <a:avLst/>
              </a:prstGeom>
              <a:solidFill>
                <a:srgbClr val="FF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IP Storage: IPSec </a:t>
                </a:r>
              </a:p>
              <a:p>
                <a:pPr>
                  <a:spcAft>
                    <a:spcPct val="40000"/>
                  </a:spcAft>
                  <a:buClrTx/>
                  <a:buFont typeface="Wingdings" panose="05000000000000000000" pitchFamily="2" charset="2"/>
                  <a:buChar char="ü"/>
                </a:pPr>
                <a:r>
                  <a:rPr lang="en-US" altLang="zh-CN" sz="1600" b="1">
                    <a:ea typeface="宋体" panose="02010600030101010101" pitchFamily="2" charset="-122"/>
                  </a:rPr>
                  <a:t>Fibre Channel: FC-SP (FC Security Protocol)</a:t>
                </a:r>
              </a:p>
              <a:p>
                <a:pPr>
                  <a:spcAft>
                    <a:spcPct val="40000"/>
                  </a:spcAft>
                  <a:buClrTx/>
                  <a:buFont typeface="Wingdings" panose="05000000000000000000" pitchFamily="2" charset="2"/>
                  <a:buChar char="ü"/>
                </a:pPr>
                <a:r>
                  <a:rPr lang="en-US" altLang="zh-CN" sz="1600" b="1">
                    <a:ea typeface="宋体" panose="02010600030101010101" pitchFamily="2" charset="-122"/>
                  </a:rPr>
                  <a:t>Controlling physical access to Data Center</a:t>
                </a:r>
              </a:p>
            </p:txBody>
          </p:sp>
          <p:sp>
            <p:nvSpPr>
              <p:cNvPr id="49160" name="Text Box 8">
                <a:extLst>
                  <a:ext uri="{FF2B5EF4-FFF2-40B4-BE49-F238E27FC236}">
                    <a16:creationId xmlns:a16="http://schemas.microsoft.com/office/drawing/2014/main" id="{2E69077D-040B-270C-06E8-7B9E9243D31D}"/>
                  </a:ext>
                </a:extLst>
              </p:cNvPr>
              <p:cNvSpPr txBox="1">
                <a:spLocks noChangeArrowheads="1"/>
              </p:cNvSpPr>
              <p:nvPr/>
            </p:nvSpPr>
            <p:spPr bwMode="auto">
              <a:xfrm>
                <a:off x="1152" y="2306"/>
                <a:ext cx="2208" cy="742"/>
              </a:xfrm>
              <a:prstGeom prst="rect">
                <a:avLst/>
              </a:prstGeom>
              <a:solidFill>
                <a:srgbClr val="9AD9E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Infrastructure integrity (Technical)</a:t>
                </a:r>
              </a:p>
              <a:p>
                <a:pPr>
                  <a:spcAft>
                    <a:spcPct val="40000"/>
                  </a:spcAft>
                  <a:buClrTx/>
                  <a:buFont typeface="Wingdings" panose="05000000000000000000" pitchFamily="2" charset="2"/>
                  <a:buChar char="ü"/>
                </a:pPr>
                <a:r>
                  <a:rPr lang="en-US" altLang="zh-CN" sz="1600" b="1">
                    <a:ea typeface="宋体" panose="02010600030101010101" pitchFamily="2" charset="-122"/>
                  </a:rPr>
                  <a:t>Storage network encryption (Technical)</a:t>
                </a:r>
              </a:p>
            </p:txBody>
          </p:sp>
          <p:sp>
            <p:nvSpPr>
              <p:cNvPr id="49176" name="Text Box 24">
                <a:extLst>
                  <a:ext uri="{FF2B5EF4-FFF2-40B4-BE49-F238E27FC236}">
                    <a16:creationId xmlns:a16="http://schemas.microsoft.com/office/drawing/2014/main" id="{302E536E-5AC5-E6C8-3A0F-708657C65084}"/>
                  </a:ext>
                </a:extLst>
              </p:cNvPr>
              <p:cNvSpPr txBox="1">
                <a:spLocks noChangeArrowheads="1"/>
              </p:cNvSpPr>
              <p:nvPr/>
            </p:nvSpPr>
            <p:spPr bwMode="auto">
              <a:xfrm>
                <a:off x="1152" y="1122"/>
                <a:ext cx="220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i="1">
                    <a:solidFill>
                      <a:srgbClr val="003580"/>
                    </a:solidFill>
                    <a:ea typeface="宋体" panose="02010600030101010101" pitchFamily="2" charset="-122"/>
                  </a:rPr>
                  <a:t>Protecting Storage Infrastructure</a:t>
                </a:r>
              </a:p>
            </p:txBody>
          </p:sp>
        </p:grpSp>
        <p:sp>
          <p:nvSpPr>
            <p:cNvPr id="49177" name="Text Box 25">
              <a:extLst>
                <a:ext uri="{FF2B5EF4-FFF2-40B4-BE49-F238E27FC236}">
                  <a16:creationId xmlns:a16="http://schemas.microsoft.com/office/drawing/2014/main" id="{E243C274-6A54-E78A-A053-D19FFF342EFE}"/>
                </a:ext>
              </a:extLst>
            </p:cNvPr>
            <p:cNvSpPr txBox="1">
              <a:spLocks noChangeArrowheads="1"/>
            </p:cNvSpPr>
            <p:nvPr/>
          </p:nvSpPr>
          <p:spPr bwMode="auto">
            <a:xfrm>
              <a:off x="3420" y="1118"/>
              <a:ext cx="220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i="1">
                  <a:solidFill>
                    <a:srgbClr val="003580"/>
                  </a:solidFill>
                  <a:ea typeface="宋体" panose="02010600030101010101" pitchFamily="2" charset="-122"/>
                </a:rPr>
                <a:t>Protecting Data at rest (Encryption)</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1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9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536324D1-E672-B0D2-F3EE-F0AD050D1514}"/>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BF3D455B-C08D-180C-87BF-CF3F5C805762}"/>
              </a:ext>
            </a:extLst>
          </p:cNvPr>
          <p:cNvSpPr>
            <a:spLocks noGrp="1"/>
          </p:cNvSpPr>
          <p:nvPr>
            <p:ph type="sldNum" sz="quarter" idx="11"/>
          </p:nvPr>
        </p:nvSpPr>
        <p:spPr/>
        <p:txBody>
          <a:bodyPr/>
          <a:lstStyle/>
          <a:p>
            <a:r>
              <a:rPr lang="zh-CN" altLang="en-US"/>
              <a:t> </a:t>
            </a:r>
            <a:r>
              <a:rPr lang="en-US" altLang="zh-CN"/>
              <a:t>- </a:t>
            </a:r>
            <a:fld id="{841FF369-22FC-4347-862F-9C041880A69A}" type="slidenum">
              <a:rPr lang="en-US" altLang="zh-CN" sz="800"/>
              <a:pPr/>
              <a:t>19</a:t>
            </a:fld>
            <a:endParaRPr lang="en-US" altLang="zh-CN" sz="800"/>
          </a:p>
        </p:txBody>
      </p:sp>
      <p:sp>
        <p:nvSpPr>
          <p:cNvPr id="51317" name="Freeform 117">
            <a:extLst>
              <a:ext uri="{FF2B5EF4-FFF2-40B4-BE49-F238E27FC236}">
                <a16:creationId xmlns:a16="http://schemas.microsoft.com/office/drawing/2014/main" id="{098E437C-9D22-46DD-F514-ECE13B9FF7A3}"/>
              </a:ext>
            </a:extLst>
          </p:cNvPr>
          <p:cNvSpPr>
            <a:spLocks/>
          </p:cNvSpPr>
          <p:nvPr/>
        </p:nvSpPr>
        <p:spPr bwMode="auto">
          <a:xfrm>
            <a:off x="1933575" y="3165475"/>
            <a:ext cx="952500" cy="465138"/>
          </a:xfrm>
          <a:custGeom>
            <a:avLst/>
            <a:gdLst>
              <a:gd name="T0" fmla="*/ 1076 w 2399"/>
              <a:gd name="T1" fmla="*/ 3 h 1172"/>
              <a:gd name="T2" fmla="*/ 845 w 2399"/>
              <a:gd name="T3" fmla="*/ 23 h 1172"/>
              <a:gd name="T4" fmla="*/ 583 w 2399"/>
              <a:gd name="T5" fmla="*/ 79 h 1172"/>
              <a:gd name="T6" fmla="*/ 440 w 2399"/>
              <a:gd name="T7" fmla="*/ 130 h 1172"/>
              <a:gd name="T8" fmla="*/ 268 w 2399"/>
              <a:gd name="T9" fmla="*/ 214 h 1172"/>
              <a:gd name="T10" fmla="*/ 165 w 2399"/>
              <a:gd name="T11" fmla="*/ 284 h 1172"/>
              <a:gd name="T12" fmla="*/ 88 w 2399"/>
              <a:gd name="T13" fmla="*/ 360 h 1172"/>
              <a:gd name="T14" fmla="*/ 34 w 2399"/>
              <a:gd name="T15" fmla="*/ 440 h 1172"/>
              <a:gd name="T16" fmla="*/ 5 w 2399"/>
              <a:gd name="T17" fmla="*/ 525 h 1172"/>
              <a:gd name="T18" fmla="*/ 1 w 2399"/>
              <a:gd name="T19" fmla="*/ 614 h 1172"/>
              <a:gd name="T20" fmla="*/ 16 w 2399"/>
              <a:gd name="T21" fmla="*/ 686 h 1172"/>
              <a:gd name="T22" fmla="*/ 49 w 2399"/>
              <a:gd name="T23" fmla="*/ 757 h 1172"/>
              <a:gd name="T24" fmla="*/ 110 w 2399"/>
              <a:gd name="T25" fmla="*/ 834 h 1172"/>
              <a:gd name="T26" fmla="*/ 197 w 2399"/>
              <a:gd name="T27" fmla="*/ 909 h 1172"/>
              <a:gd name="T28" fmla="*/ 308 w 2399"/>
              <a:gd name="T29" fmla="*/ 977 h 1172"/>
              <a:gd name="T30" fmla="*/ 486 w 2399"/>
              <a:gd name="T31" fmla="*/ 1057 h 1172"/>
              <a:gd name="T32" fmla="*/ 633 w 2399"/>
              <a:gd name="T33" fmla="*/ 1102 h 1172"/>
              <a:gd name="T34" fmla="*/ 900 w 2399"/>
              <a:gd name="T35" fmla="*/ 1154 h 1172"/>
              <a:gd name="T36" fmla="*/ 1136 w 2399"/>
              <a:gd name="T37" fmla="*/ 1171 h 1172"/>
              <a:gd name="T38" fmla="*/ 1214 w 2399"/>
              <a:gd name="T39" fmla="*/ 1171 h 1172"/>
              <a:gd name="T40" fmla="*/ 1321 w 2399"/>
              <a:gd name="T41" fmla="*/ 1168 h 1172"/>
              <a:gd name="T42" fmla="*/ 1363 w 2399"/>
              <a:gd name="T43" fmla="*/ 1164 h 1172"/>
              <a:gd name="T44" fmla="*/ 1451 w 2399"/>
              <a:gd name="T45" fmla="*/ 1158 h 1172"/>
              <a:gd name="T46" fmla="*/ 1494 w 2399"/>
              <a:gd name="T47" fmla="*/ 1154 h 1172"/>
              <a:gd name="T48" fmla="*/ 1659 w 2399"/>
              <a:gd name="T49" fmla="*/ 1128 h 1172"/>
              <a:gd name="T50" fmla="*/ 1811 w 2399"/>
              <a:gd name="T51" fmla="*/ 1088 h 1172"/>
              <a:gd name="T52" fmla="*/ 1884 w 2399"/>
              <a:gd name="T53" fmla="*/ 1065 h 1172"/>
              <a:gd name="T54" fmla="*/ 1978 w 2399"/>
              <a:gd name="T55" fmla="*/ 1029 h 1172"/>
              <a:gd name="T56" fmla="*/ 2047 w 2399"/>
              <a:gd name="T57" fmla="*/ 1001 h 1172"/>
              <a:gd name="T58" fmla="*/ 2097 w 2399"/>
              <a:gd name="T59" fmla="*/ 971 h 1172"/>
              <a:gd name="T60" fmla="*/ 2165 w 2399"/>
              <a:gd name="T61" fmla="*/ 932 h 1172"/>
              <a:gd name="T62" fmla="*/ 2260 w 2399"/>
              <a:gd name="T63" fmla="*/ 860 h 1172"/>
              <a:gd name="T64" fmla="*/ 2310 w 2399"/>
              <a:gd name="T65" fmla="*/ 810 h 1172"/>
              <a:gd name="T66" fmla="*/ 2329 w 2399"/>
              <a:gd name="T67" fmla="*/ 783 h 1172"/>
              <a:gd name="T68" fmla="*/ 2364 w 2399"/>
              <a:gd name="T69" fmla="*/ 721 h 1172"/>
              <a:gd name="T70" fmla="*/ 2376 w 2399"/>
              <a:gd name="T71" fmla="*/ 701 h 1172"/>
              <a:gd name="T72" fmla="*/ 2392 w 2399"/>
              <a:gd name="T73" fmla="*/ 643 h 1172"/>
              <a:gd name="T74" fmla="*/ 2399 w 2399"/>
              <a:gd name="T75" fmla="*/ 585 h 1172"/>
              <a:gd name="T76" fmla="*/ 2385 w 2399"/>
              <a:gd name="T77" fmla="*/ 496 h 1172"/>
              <a:gd name="T78" fmla="*/ 2347 w 2399"/>
              <a:gd name="T79" fmla="*/ 413 h 1172"/>
              <a:gd name="T80" fmla="*/ 2285 w 2399"/>
              <a:gd name="T81" fmla="*/ 334 h 1172"/>
              <a:gd name="T82" fmla="*/ 2200 w 2399"/>
              <a:gd name="T83" fmla="*/ 260 h 1172"/>
              <a:gd name="T84" fmla="*/ 2088 w 2399"/>
              <a:gd name="T85" fmla="*/ 192 h 1172"/>
              <a:gd name="T86" fmla="*/ 1956 w 2399"/>
              <a:gd name="T87" fmla="*/ 130 h 1172"/>
              <a:gd name="T88" fmla="*/ 1811 w 2399"/>
              <a:gd name="T89" fmla="*/ 79 h 1172"/>
              <a:gd name="T90" fmla="*/ 1659 w 2399"/>
              <a:gd name="T91" fmla="*/ 43 h 1172"/>
              <a:gd name="T92" fmla="*/ 1494 w 2399"/>
              <a:gd name="T93" fmla="*/ 15 h 1172"/>
              <a:gd name="T94" fmla="*/ 1321 w 2399"/>
              <a:gd name="T95" fmla="*/ 3 h 1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99" h="1172">
                <a:moveTo>
                  <a:pt x="1199" y="0"/>
                </a:moveTo>
                <a:lnTo>
                  <a:pt x="1136" y="0"/>
                </a:lnTo>
                <a:lnTo>
                  <a:pt x="1076" y="3"/>
                </a:lnTo>
                <a:lnTo>
                  <a:pt x="958" y="10"/>
                </a:lnTo>
                <a:lnTo>
                  <a:pt x="900" y="15"/>
                </a:lnTo>
                <a:lnTo>
                  <a:pt x="845" y="23"/>
                </a:lnTo>
                <a:lnTo>
                  <a:pt x="738" y="43"/>
                </a:lnTo>
                <a:lnTo>
                  <a:pt x="633" y="66"/>
                </a:lnTo>
                <a:lnTo>
                  <a:pt x="583" y="79"/>
                </a:lnTo>
                <a:lnTo>
                  <a:pt x="535" y="95"/>
                </a:lnTo>
                <a:lnTo>
                  <a:pt x="486" y="111"/>
                </a:lnTo>
                <a:lnTo>
                  <a:pt x="440" y="130"/>
                </a:lnTo>
                <a:lnTo>
                  <a:pt x="351" y="171"/>
                </a:lnTo>
                <a:lnTo>
                  <a:pt x="308" y="192"/>
                </a:lnTo>
                <a:lnTo>
                  <a:pt x="268" y="214"/>
                </a:lnTo>
                <a:lnTo>
                  <a:pt x="231" y="237"/>
                </a:lnTo>
                <a:lnTo>
                  <a:pt x="197" y="260"/>
                </a:lnTo>
                <a:lnTo>
                  <a:pt x="165" y="284"/>
                </a:lnTo>
                <a:lnTo>
                  <a:pt x="137" y="308"/>
                </a:lnTo>
                <a:lnTo>
                  <a:pt x="110" y="334"/>
                </a:lnTo>
                <a:lnTo>
                  <a:pt x="88" y="360"/>
                </a:lnTo>
                <a:lnTo>
                  <a:pt x="66" y="386"/>
                </a:lnTo>
                <a:lnTo>
                  <a:pt x="49" y="413"/>
                </a:lnTo>
                <a:lnTo>
                  <a:pt x="34" y="440"/>
                </a:lnTo>
                <a:lnTo>
                  <a:pt x="22" y="468"/>
                </a:lnTo>
                <a:lnTo>
                  <a:pt x="12" y="496"/>
                </a:lnTo>
                <a:lnTo>
                  <a:pt x="5" y="525"/>
                </a:lnTo>
                <a:lnTo>
                  <a:pt x="1" y="554"/>
                </a:lnTo>
                <a:lnTo>
                  <a:pt x="0" y="585"/>
                </a:lnTo>
                <a:lnTo>
                  <a:pt x="1" y="614"/>
                </a:lnTo>
                <a:lnTo>
                  <a:pt x="5" y="643"/>
                </a:lnTo>
                <a:lnTo>
                  <a:pt x="12" y="672"/>
                </a:lnTo>
                <a:lnTo>
                  <a:pt x="16" y="686"/>
                </a:lnTo>
                <a:lnTo>
                  <a:pt x="22" y="701"/>
                </a:lnTo>
                <a:lnTo>
                  <a:pt x="34" y="729"/>
                </a:lnTo>
                <a:lnTo>
                  <a:pt x="49" y="757"/>
                </a:lnTo>
                <a:lnTo>
                  <a:pt x="66" y="783"/>
                </a:lnTo>
                <a:lnTo>
                  <a:pt x="88" y="810"/>
                </a:lnTo>
                <a:lnTo>
                  <a:pt x="110" y="834"/>
                </a:lnTo>
                <a:lnTo>
                  <a:pt x="137" y="860"/>
                </a:lnTo>
                <a:lnTo>
                  <a:pt x="165" y="883"/>
                </a:lnTo>
                <a:lnTo>
                  <a:pt x="197" y="909"/>
                </a:lnTo>
                <a:lnTo>
                  <a:pt x="231" y="932"/>
                </a:lnTo>
                <a:lnTo>
                  <a:pt x="268" y="955"/>
                </a:lnTo>
                <a:lnTo>
                  <a:pt x="308" y="977"/>
                </a:lnTo>
                <a:lnTo>
                  <a:pt x="351" y="1001"/>
                </a:lnTo>
                <a:lnTo>
                  <a:pt x="440" y="1039"/>
                </a:lnTo>
                <a:lnTo>
                  <a:pt x="486" y="1057"/>
                </a:lnTo>
                <a:lnTo>
                  <a:pt x="535" y="1074"/>
                </a:lnTo>
                <a:lnTo>
                  <a:pt x="583" y="1088"/>
                </a:lnTo>
                <a:lnTo>
                  <a:pt x="633" y="1102"/>
                </a:lnTo>
                <a:lnTo>
                  <a:pt x="738" y="1128"/>
                </a:lnTo>
                <a:lnTo>
                  <a:pt x="845" y="1146"/>
                </a:lnTo>
                <a:lnTo>
                  <a:pt x="900" y="1154"/>
                </a:lnTo>
                <a:lnTo>
                  <a:pt x="958" y="1161"/>
                </a:lnTo>
                <a:lnTo>
                  <a:pt x="1076" y="1168"/>
                </a:lnTo>
                <a:lnTo>
                  <a:pt x="1136" y="1171"/>
                </a:lnTo>
                <a:lnTo>
                  <a:pt x="1199" y="1172"/>
                </a:lnTo>
                <a:lnTo>
                  <a:pt x="1206" y="1171"/>
                </a:lnTo>
                <a:lnTo>
                  <a:pt x="1214" y="1171"/>
                </a:lnTo>
                <a:lnTo>
                  <a:pt x="1229" y="1171"/>
                </a:lnTo>
                <a:lnTo>
                  <a:pt x="1260" y="1171"/>
                </a:lnTo>
                <a:lnTo>
                  <a:pt x="1321" y="1168"/>
                </a:lnTo>
                <a:lnTo>
                  <a:pt x="1349" y="1166"/>
                </a:lnTo>
                <a:lnTo>
                  <a:pt x="1356" y="1164"/>
                </a:lnTo>
                <a:lnTo>
                  <a:pt x="1363" y="1164"/>
                </a:lnTo>
                <a:lnTo>
                  <a:pt x="1379" y="1164"/>
                </a:lnTo>
                <a:lnTo>
                  <a:pt x="1438" y="1161"/>
                </a:lnTo>
                <a:lnTo>
                  <a:pt x="1451" y="1158"/>
                </a:lnTo>
                <a:lnTo>
                  <a:pt x="1457" y="1157"/>
                </a:lnTo>
                <a:lnTo>
                  <a:pt x="1465" y="1157"/>
                </a:lnTo>
                <a:lnTo>
                  <a:pt x="1494" y="1154"/>
                </a:lnTo>
                <a:lnTo>
                  <a:pt x="1550" y="1146"/>
                </a:lnTo>
                <a:lnTo>
                  <a:pt x="1604" y="1137"/>
                </a:lnTo>
                <a:lnTo>
                  <a:pt x="1659" y="1128"/>
                </a:lnTo>
                <a:lnTo>
                  <a:pt x="1710" y="1115"/>
                </a:lnTo>
                <a:lnTo>
                  <a:pt x="1762" y="1102"/>
                </a:lnTo>
                <a:lnTo>
                  <a:pt x="1811" y="1088"/>
                </a:lnTo>
                <a:lnTo>
                  <a:pt x="1835" y="1081"/>
                </a:lnTo>
                <a:lnTo>
                  <a:pt x="1861" y="1074"/>
                </a:lnTo>
                <a:lnTo>
                  <a:pt x="1884" y="1065"/>
                </a:lnTo>
                <a:lnTo>
                  <a:pt x="1909" y="1057"/>
                </a:lnTo>
                <a:lnTo>
                  <a:pt x="1956" y="1039"/>
                </a:lnTo>
                <a:lnTo>
                  <a:pt x="1978" y="1029"/>
                </a:lnTo>
                <a:lnTo>
                  <a:pt x="2002" y="1020"/>
                </a:lnTo>
                <a:lnTo>
                  <a:pt x="2024" y="1010"/>
                </a:lnTo>
                <a:lnTo>
                  <a:pt x="2047" y="1001"/>
                </a:lnTo>
                <a:lnTo>
                  <a:pt x="2088" y="977"/>
                </a:lnTo>
                <a:lnTo>
                  <a:pt x="2092" y="974"/>
                </a:lnTo>
                <a:lnTo>
                  <a:pt x="2097" y="971"/>
                </a:lnTo>
                <a:lnTo>
                  <a:pt x="2107" y="966"/>
                </a:lnTo>
                <a:lnTo>
                  <a:pt x="2128" y="955"/>
                </a:lnTo>
                <a:lnTo>
                  <a:pt x="2165" y="932"/>
                </a:lnTo>
                <a:lnTo>
                  <a:pt x="2200" y="909"/>
                </a:lnTo>
                <a:lnTo>
                  <a:pt x="2230" y="883"/>
                </a:lnTo>
                <a:lnTo>
                  <a:pt x="2260" y="860"/>
                </a:lnTo>
                <a:lnTo>
                  <a:pt x="2285" y="834"/>
                </a:lnTo>
                <a:lnTo>
                  <a:pt x="2297" y="821"/>
                </a:lnTo>
                <a:lnTo>
                  <a:pt x="2310" y="810"/>
                </a:lnTo>
                <a:lnTo>
                  <a:pt x="2314" y="802"/>
                </a:lnTo>
                <a:lnTo>
                  <a:pt x="2319" y="796"/>
                </a:lnTo>
                <a:lnTo>
                  <a:pt x="2329" y="783"/>
                </a:lnTo>
                <a:lnTo>
                  <a:pt x="2347" y="757"/>
                </a:lnTo>
                <a:lnTo>
                  <a:pt x="2361" y="729"/>
                </a:lnTo>
                <a:lnTo>
                  <a:pt x="2364" y="721"/>
                </a:lnTo>
                <a:lnTo>
                  <a:pt x="2365" y="717"/>
                </a:lnTo>
                <a:lnTo>
                  <a:pt x="2368" y="714"/>
                </a:lnTo>
                <a:lnTo>
                  <a:pt x="2376" y="701"/>
                </a:lnTo>
                <a:lnTo>
                  <a:pt x="2380" y="686"/>
                </a:lnTo>
                <a:lnTo>
                  <a:pt x="2385" y="672"/>
                </a:lnTo>
                <a:lnTo>
                  <a:pt x="2392" y="643"/>
                </a:lnTo>
                <a:lnTo>
                  <a:pt x="2394" y="628"/>
                </a:lnTo>
                <a:lnTo>
                  <a:pt x="2396" y="614"/>
                </a:lnTo>
                <a:lnTo>
                  <a:pt x="2399" y="585"/>
                </a:lnTo>
                <a:lnTo>
                  <a:pt x="2396" y="554"/>
                </a:lnTo>
                <a:lnTo>
                  <a:pt x="2392" y="525"/>
                </a:lnTo>
                <a:lnTo>
                  <a:pt x="2385" y="496"/>
                </a:lnTo>
                <a:lnTo>
                  <a:pt x="2376" y="468"/>
                </a:lnTo>
                <a:lnTo>
                  <a:pt x="2361" y="440"/>
                </a:lnTo>
                <a:lnTo>
                  <a:pt x="2347" y="413"/>
                </a:lnTo>
                <a:lnTo>
                  <a:pt x="2329" y="386"/>
                </a:lnTo>
                <a:lnTo>
                  <a:pt x="2310" y="360"/>
                </a:lnTo>
                <a:lnTo>
                  <a:pt x="2285" y="334"/>
                </a:lnTo>
                <a:lnTo>
                  <a:pt x="2260" y="308"/>
                </a:lnTo>
                <a:lnTo>
                  <a:pt x="2230" y="284"/>
                </a:lnTo>
                <a:lnTo>
                  <a:pt x="2200" y="260"/>
                </a:lnTo>
                <a:lnTo>
                  <a:pt x="2165" y="237"/>
                </a:lnTo>
                <a:lnTo>
                  <a:pt x="2128" y="214"/>
                </a:lnTo>
                <a:lnTo>
                  <a:pt x="2088" y="192"/>
                </a:lnTo>
                <a:lnTo>
                  <a:pt x="2047" y="171"/>
                </a:lnTo>
                <a:lnTo>
                  <a:pt x="2002" y="150"/>
                </a:lnTo>
                <a:lnTo>
                  <a:pt x="1956" y="130"/>
                </a:lnTo>
                <a:lnTo>
                  <a:pt x="1909" y="111"/>
                </a:lnTo>
                <a:lnTo>
                  <a:pt x="1861" y="95"/>
                </a:lnTo>
                <a:lnTo>
                  <a:pt x="1811" y="79"/>
                </a:lnTo>
                <a:lnTo>
                  <a:pt x="1762" y="66"/>
                </a:lnTo>
                <a:lnTo>
                  <a:pt x="1710" y="53"/>
                </a:lnTo>
                <a:lnTo>
                  <a:pt x="1659" y="43"/>
                </a:lnTo>
                <a:lnTo>
                  <a:pt x="1604" y="31"/>
                </a:lnTo>
                <a:lnTo>
                  <a:pt x="1550" y="23"/>
                </a:lnTo>
                <a:lnTo>
                  <a:pt x="1494" y="15"/>
                </a:lnTo>
                <a:lnTo>
                  <a:pt x="1438" y="10"/>
                </a:lnTo>
                <a:lnTo>
                  <a:pt x="1379" y="5"/>
                </a:lnTo>
                <a:lnTo>
                  <a:pt x="1321" y="3"/>
                </a:lnTo>
                <a:lnTo>
                  <a:pt x="1260" y="0"/>
                </a:lnTo>
                <a:lnTo>
                  <a:pt x="1199" y="0"/>
                </a:lnTo>
              </a:path>
            </a:pathLst>
          </a:custGeom>
          <a:solidFill>
            <a:srgbClr val="CCFFCC"/>
          </a:solidFill>
          <a:ln w="25400" cap="flat" cmpd="sng">
            <a:solidFill>
              <a:srgbClr val="33333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51337" name="Freeform 137">
            <a:extLst>
              <a:ext uri="{FF2B5EF4-FFF2-40B4-BE49-F238E27FC236}">
                <a16:creationId xmlns:a16="http://schemas.microsoft.com/office/drawing/2014/main" id="{CD47CB3C-CDCA-3207-AF96-62B5EF18AAB3}"/>
              </a:ext>
            </a:extLst>
          </p:cNvPr>
          <p:cNvSpPr>
            <a:spLocks/>
          </p:cNvSpPr>
          <p:nvPr/>
        </p:nvSpPr>
        <p:spPr bwMode="auto">
          <a:xfrm>
            <a:off x="3219450" y="1741488"/>
            <a:ext cx="1181100" cy="669925"/>
          </a:xfrm>
          <a:custGeom>
            <a:avLst/>
            <a:gdLst>
              <a:gd name="T0" fmla="*/ 2426 w 2975"/>
              <a:gd name="T1" fmla="*/ 190 h 1687"/>
              <a:gd name="T2" fmla="*/ 2248 w 2975"/>
              <a:gd name="T3" fmla="*/ 116 h 1687"/>
              <a:gd name="T4" fmla="*/ 2058 w 2975"/>
              <a:gd name="T5" fmla="*/ 62 h 1687"/>
              <a:gd name="T6" fmla="*/ 1853 w 2975"/>
              <a:gd name="T7" fmla="*/ 23 h 1687"/>
              <a:gd name="T8" fmla="*/ 1636 w 2975"/>
              <a:gd name="T9" fmla="*/ 4 h 1687"/>
              <a:gd name="T10" fmla="*/ 1409 w 2975"/>
              <a:gd name="T11" fmla="*/ 0 h 1687"/>
              <a:gd name="T12" fmla="*/ 1189 w 2975"/>
              <a:gd name="T13" fmla="*/ 15 h 1687"/>
              <a:gd name="T14" fmla="*/ 981 w 2975"/>
              <a:gd name="T15" fmla="*/ 46 h 1687"/>
              <a:gd name="T16" fmla="*/ 787 w 2975"/>
              <a:gd name="T17" fmla="*/ 97 h 1687"/>
              <a:gd name="T18" fmla="*/ 603 w 2975"/>
              <a:gd name="T19" fmla="*/ 162 h 1687"/>
              <a:gd name="T20" fmla="*/ 436 w 2975"/>
              <a:gd name="T21" fmla="*/ 248 h 1687"/>
              <a:gd name="T22" fmla="*/ 286 w 2975"/>
              <a:gd name="T23" fmla="*/ 342 h 1687"/>
              <a:gd name="T24" fmla="*/ 169 w 2975"/>
              <a:gd name="T25" fmla="*/ 445 h 1687"/>
              <a:gd name="T26" fmla="*/ 82 w 2975"/>
              <a:gd name="T27" fmla="*/ 556 h 1687"/>
              <a:gd name="T28" fmla="*/ 27 w 2975"/>
              <a:gd name="T29" fmla="*/ 674 h 1687"/>
              <a:gd name="T30" fmla="*/ 1 w 2975"/>
              <a:gd name="T31" fmla="*/ 799 h 1687"/>
              <a:gd name="T32" fmla="*/ 2 w 2975"/>
              <a:gd name="T33" fmla="*/ 905 h 1687"/>
              <a:gd name="T34" fmla="*/ 27 w 2975"/>
              <a:gd name="T35" fmla="*/ 1010 h 1687"/>
              <a:gd name="T36" fmla="*/ 82 w 2975"/>
              <a:gd name="T37" fmla="*/ 1127 h 1687"/>
              <a:gd name="T38" fmla="*/ 169 w 2975"/>
              <a:gd name="T39" fmla="*/ 1238 h 1687"/>
              <a:gd name="T40" fmla="*/ 286 w 2975"/>
              <a:gd name="T41" fmla="*/ 1341 h 1687"/>
              <a:gd name="T42" fmla="*/ 382 w 2975"/>
              <a:gd name="T43" fmla="*/ 1407 h 1687"/>
              <a:gd name="T44" fmla="*/ 490 w 2975"/>
              <a:gd name="T45" fmla="*/ 1469 h 1687"/>
              <a:gd name="T46" fmla="*/ 664 w 2975"/>
              <a:gd name="T47" fmla="*/ 1547 h 1687"/>
              <a:gd name="T48" fmla="*/ 850 w 2975"/>
              <a:gd name="T49" fmla="*/ 1608 h 1687"/>
              <a:gd name="T50" fmla="*/ 1050 w 2975"/>
              <a:gd name="T51" fmla="*/ 1652 h 1687"/>
              <a:gd name="T52" fmla="*/ 1260 w 2975"/>
              <a:gd name="T53" fmla="*/ 1678 h 1687"/>
              <a:gd name="T54" fmla="*/ 1487 w 2975"/>
              <a:gd name="T55" fmla="*/ 1687 h 1687"/>
              <a:gd name="T56" fmla="*/ 1710 w 2975"/>
              <a:gd name="T57" fmla="*/ 1678 h 1687"/>
              <a:gd name="T58" fmla="*/ 1853 w 2975"/>
              <a:gd name="T59" fmla="*/ 1662 h 1687"/>
              <a:gd name="T60" fmla="*/ 2058 w 2975"/>
              <a:gd name="T61" fmla="*/ 1625 h 1687"/>
              <a:gd name="T62" fmla="*/ 2248 w 2975"/>
              <a:gd name="T63" fmla="*/ 1569 h 1687"/>
              <a:gd name="T64" fmla="*/ 2345 w 2975"/>
              <a:gd name="T65" fmla="*/ 1531 h 1687"/>
              <a:gd name="T66" fmla="*/ 2426 w 2975"/>
              <a:gd name="T67" fmla="*/ 1497 h 1687"/>
              <a:gd name="T68" fmla="*/ 2565 w 2975"/>
              <a:gd name="T69" fmla="*/ 1422 h 1687"/>
              <a:gd name="T70" fmla="*/ 2602 w 2975"/>
              <a:gd name="T71" fmla="*/ 1398 h 1687"/>
              <a:gd name="T72" fmla="*/ 2685 w 2975"/>
              <a:gd name="T73" fmla="*/ 1341 h 1687"/>
              <a:gd name="T74" fmla="*/ 2729 w 2975"/>
              <a:gd name="T75" fmla="*/ 1309 h 1687"/>
              <a:gd name="T76" fmla="*/ 2804 w 2975"/>
              <a:gd name="T77" fmla="*/ 1238 h 1687"/>
              <a:gd name="T78" fmla="*/ 2890 w 2975"/>
              <a:gd name="T79" fmla="*/ 1127 h 1687"/>
              <a:gd name="T80" fmla="*/ 2925 w 2975"/>
              <a:gd name="T81" fmla="*/ 1057 h 1687"/>
              <a:gd name="T82" fmla="*/ 2958 w 2975"/>
              <a:gd name="T83" fmla="*/ 968 h 1687"/>
              <a:gd name="T84" fmla="*/ 2973 w 2975"/>
              <a:gd name="T85" fmla="*/ 885 h 1687"/>
              <a:gd name="T86" fmla="*/ 2967 w 2975"/>
              <a:gd name="T87" fmla="*/ 757 h 1687"/>
              <a:gd name="T88" fmla="*/ 2930 w 2975"/>
              <a:gd name="T89" fmla="*/ 633 h 1687"/>
              <a:gd name="T90" fmla="*/ 2866 w 2975"/>
              <a:gd name="T91" fmla="*/ 518 h 1687"/>
              <a:gd name="T92" fmla="*/ 2768 w 2975"/>
              <a:gd name="T93" fmla="*/ 409 h 1687"/>
              <a:gd name="T94" fmla="*/ 2640 w 2975"/>
              <a:gd name="T95" fmla="*/ 309 h 1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975" h="1687">
                <a:moveTo>
                  <a:pt x="2539" y="248"/>
                </a:moveTo>
                <a:lnTo>
                  <a:pt x="2482" y="217"/>
                </a:lnTo>
                <a:lnTo>
                  <a:pt x="2426" y="190"/>
                </a:lnTo>
                <a:lnTo>
                  <a:pt x="2368" y="162"/>
                </a:lnTo>
                <a:lnTo>
                  <a:pt x="2310" y="139"/>
                </a:lnTo>
                <a:lnTo>
                  <a:pt x="2248" y="116"/>
                </a:lnTo>
                <a:lnTo>
                  <a:pt x="2186" y="97"/>
                </a:lnTo>
                <a:lnTo>
                  <a:pt x="2123" y="77"/>
                </a:lnTo>
                <a:lnTo>
                  <a:pt x="2058" y="62"/>
                </a:lnTo>
                <a:lnTo>
                  <a:pt x="1991" y="46"/>
                </a:lnTo>
                <a:lnTo>
                  <a:pt x="1923" y="35"/>
                </a:lnTo>
                <a:lnTo>
                  <a:pt x="1853" y="23"/>
                </a:lnTo>
                <a:lnTo>
                  <a:pt x="1783" y="15"/>
                </a:lnTo>
                <a:lnTo>
                  <a:pt x="1710" y="8"/>
                </a:lnTo>
                <a:lnTo>
                  <a:pt x="1636" y="4"/>
                </a:lnTo>
                <a:lnTo>
                  <a:pt x="1562" y="0"/>
                </a:lnTo>
                <a:lnTo>
                  <a:pt x="1487" y="0"/>
                </a:lnTo>
                <a:lnTo>
                  <a:pt x="1409" y="0"/>
                </a:lnTo>
                <a:lnTo>
                  <a:pt x="1335" y="4"/>
                </a:lnTo>
                <a:lnTo>
                  <a:pt x="1260" y="8"/>
                </a:lnTo>
                <a:lnTo>
                  <a:pt x="1189" y="15"/>
                </a:lnTo>
                <a:lnTo>
                  <a:pt x="1118" y="23"/>
                </a:lnTo>
                <a:lnTo>
                  <a:pt x="1050" y="35"/>
                </a:lnTo>
                <a:lnTo>
                  <a:pt x="981" y="46"/>
                </a:lnTo>
                <a:lnTo>
                  <a:pt x="916" y="62"/>
                </a:lnTo>
                <a:lnTo>
                  <a:pt x="850" y="77"/>
                </a:lnTo>
                <a:lnTo>
                  <a:pt x="787" y="97"/>
                </a:lnTo>
                <a:lnTo>
                  <a:pt x="723" y="116"/>
                </a:lnTo>
                <a:lnTo>
                  <a:pt x="664" y="139"/>
                </a:lnTo>
                <a:lnTo>
                  <a:pt x="603" y="162"/>
                </a:lnTo>
                <a:lnTo>
                  <a:pt x="547" y="190"/>
                </a:lnTo>
                <a:lnTo>
                  <a:pt x="490" y="217"/>
                </a:lnTo>
                <a:lnTo>
                  <a:pt x="436" y="248"/>
                </a:lnTo>
                <a:lnTo>
                  <a:pt x="382" y="277"/>
                </a:lnTo>
                <a:lnTo>
                  <a:pt x="333" y="309"/>
                </a:lnTo>
                <a:lnTo>
                  <a:pt x="286" y="342"/>
                </a:lnTo>
                <a:lnTo>
                  <a:pt x="244" y="375"/>
                </a:lnTo>
                <a:lnTo>
                  <a:pt x="204" y="409"/>
                </a:lnTo>
                <a:lnTo>
                  <a:pt x="169" y="445"/>
                </a:lnTo>
                <a:lnTo>
                  <a:pt x="137" y="481"/>
                </a:lnTo>
                <a:lnTo>
                  <a:pt x="108" y="518"/>
                </a:lnTo>
                <a:lnTo>
                  <a:pt x="82" y="556"/>
                </a:lnTo>
                <a:lnTo>
                  <a:pt x="60" y="594"/>
                </a:lnTo>
                <a:lnTo>
                  <a:pt x="41" y="633"/>
                </a:lnTo>
                <a:lnTo>
                  <a:pt x="27" y="674"/>
                </a:lnTo>
                <a:lnTo>
                  <a:pt x="14" y="714"/>
                </a:lnTo>
                <a:lnTo>
                  <a:pt x="6" y="757"/>
                </a:lnTo>
                <a:lnTo>
                  <a:pt x="1" y="799"/>
                </a:lnTo>
                <a:lnTo>
                  <a:pt x="0" y="843"/>
                </a:lnTo>
                <a:lnTo>
                  <a:pt x="1" y="885"/>
                </a:lnTo>
                <a:lnTo>
                  <a:pt x="2" y="905"/>
                </a:lnTo>
                <a:lnTo>
                  <a:pt x="6" y="927"/>
                </a:lnTo>
                <a:lnTo>
                  <a:pt x="14" y="968"/>
                </a:lnTo>
                <a:lnTo>
                  <a:pt x="27" y="1010"/>
                </a:lnTo>
                <a:lnTo>
                  <a:pt x="41" y="1048"/>
                </a:lnTo>
                <a:lnTo>
                  <a:pt x="60" y="1088"/>
                </a:lnTo>
                <a:lnTo>
                  <a:pt x="82" y="1127"/>
                </a:lnTo>
                <a:lnTo>
                  <a:pt x="108" y="1166"/>
                </a:lnTo>
                <a:lnTo>
                  <a:pt x="137" y="1202"/>
                </a:lnTo>
                <a:lnTo>
                  <a:pt x="169" y="1238"/>
                </a:lnTo>
                <a:lnTo>
                  <a:pt x="204" y="1273"/>
                </a:lnTo>
                <a:lnTo>
                  <a:pt x="244" y="1309"/>
                </a:lnTo>
                <a:lnTo>
                  <a:pt x="286" y="1341"/>
                </a:lnTo>
                <a:lnTo>
                  <a:pt x="333" y="1375"/>
                </a:lnTo>
                <a:lnTo>
                  <a:pt x="356" y="1390"/>
                </a:lnTo>
                <a:lnTo>
                  <a:pt x="382" y="1407"/>
                </a:lnTo>
                <a:lnTo>
                  <a:pt x="407" y="1422"/>
                </a:lnTo>
                <a:lnTo>
                  <a:pt x="436" y="1439"/>
                </a:lnTo>
                <a:lnTo>
                  <a:pt x="490" y="1469"/>
                </a:lnTo>
                <a:lnTo>
                  <a:pt x="547" y="1497"/>
                </a:lnTo>
                <a:lnTo>
                  <a:pt x="603" y="1523"/>
                </a:lnTo>
                <a:lnTo>
                  <a:pt x="664" y="1547"/>
                </a:lnTo>
                <a:lnTo>
                  <a:pt x="723" y="1569"/>
                </a:lnTo>
                <a:lnTo>
                  <a:pt x="787" y="1590"/>
                </a:lnTo>
                <a:lnTo>
                  <a:pt x="850" y="1608"/>
                </a:lnTo>
                <a:lnTo>
                  <a:pt x="916" y="1625"/>
                </a:lnTo>
                <a:lnTo>
                  <a:pt x="981" y="1639"/>
                </a:lnTo>
                <a:lnTo>
                  <a:pt x="1050" y="1652"/>
                </a:lnTo>
                <a:lnTo>
                  <a:pt x="1118" y="1662"/>
                </a:lnTo>
                <a:lnTo>
                  <a:pt x="1189" y="1671"/>
                </a:lnTo>
                <a:lnTo>
                  <a:pt x="1260" y="1678"/>
                </a:lnTo>
                <a:lnTo>
                  <a:pt x="1335" y="1683"/>
                </a:lnTo>
                <a:lnTo>
                  <a:pt x="1409" y="1685"/>
                </a:lnTo>
                <a:lnTo>
                  <a:pt x="1487" y="1687"/>
                </a:lnTo>
                <a:lnTo>
                  <a:pt x="1562" y="1685"/>
                </a:lnTo>
                <a:lnTo>
                  <a:pt x="1636" y="1683"/>
                </a:lnTo>
                <a:lnTo>
                  <a:pt x="1710" y="1678"/>
                </a:lnTo>
                <a:lnTo>
                  <a:pt x="1746" y="1674"/>
                </a:lnTo>
                <a:lnTo>
                  <a:pt x="1783" y="1671"/>
                </a:lnTo>
                <a:lnTo>
                  <a:pt x="1853" y="1662"/>
                </a:lnTo>
                <a:lnTo>
                  <a:pt x="1923" y="1652"/>
                </a:lnTo>
                <a:lnTo>
                  <a:pt x="1991" y="1639"/>
                </a:lnTo>
                <a:lnTo>
                  <a:pt x="2058" y="1625"/>
                </a:lnTo>
                <a:lnTo>
                  <a:pt x="2123" y="1608"/>
                </a:lnTo>
                <a:lnTo>
                  <a:pt x="2186" y="1590"/>
                </a:lnTo>
                <a:lnTo>
                  <a:pt x="2248" y="1569"/>
                </a:lnTo>
                <a:lnTo>
                  <a:pt x="2310" y="1547"/>
                </a:lnTo>
                <a:lnTo>
                  <a:pt x="2338" y="1534"/>
                </a:lnTo>
                <a:lnTo>
                  <a:pt x="2345" y="1531"/>
                </a:lnTo>
                <a:lnTo>
                  <a:pt x="2352" y="1528"/>
                </a:lnTo>
                <a:lnTo>
                  <a:pt x="2368" y="1523"/>
                </a:lnTo>
                <a:lnTo>
                  <a:pt x="2426" y="1497"/>
                </a:lnTo>
                <a:lnTo>
                  <a:pt x="2482" y="1469"/>
                </a:lnTo>
                <a:lnTo>
                  <a:pt x="2539" y="1439"/>
                </a:lnTo>
                <a:lnTo>
                  <a:pt x="2565" y="1422"/>
                </a:lnTo>
                <a:lnTo>
                  <a:pt x="2591" y="1407"/>
                </a:lnTo>
                <a:lnTo>
                  <a:pt x="2596" y="1402"/>
                </a:lnTo>
                <a:lnTo>
                  <a:pt x="2602" y="1398"/>
                </a:lnTo>
                <a:lnTo>
                  <a:pt x="2615" y="1390"/>
                </a:lnTo>
                <a:lnTo>
                  <a:pt x="2640" y="1375"/>
                </a:lnTo>
                <a:lnTo>
                  <a:pt x="2685" y="1341"/>
                </a:lnTo>
                <a:lnTo>
                  <a:pt x="2695" y="1332"/>
                </a:lnTo>
                <a:lnTo>
                  <a:pt x="2707" y="1324"/>
                </a:lnTo>
                <a:lnTo>
                  <a:pt x="2729" y="1309"/>
                </a:lnTo>
                <a:lnTo>
                  <a:pt x="2768" y="1273"/>
                </a:lnTo>
                <a:lnTo>
                  <a:pt x="2786" y="1255"/>
                </a:lnTo>
                <a:lnTo>
                  <a:pt x="2804" y="1238"/>
                </a:lnTo>
                <a:lnTo>
                  <a:pt x="2836" y="1202"/>
                </a:lnTo>
                <a:lnTo>
                  <a:pt x="2866" y="1166"/>
                </a:lnTo>
                <a:lnTo>
                  <a:pt x="2890" y="1127"/>
                </a:lnTo>
                <a:lnTo>
                  <a:pt x="2912" y="1088"/>
                </a:lnTo>
                <a:lnTo>
                  <a:pt x="2921" y="1068"/>
                </a:lnTo>
                <a:lnTo>
                  <a:pt x="2925" y="1057"/>
                </a:lnTo>
                <a:lnTo>
                  <a:pt x="2930" y="1048"/>
                </a:lnTo>
                <a:lnTo>
                  <a:pt x="2947" y="1010"/>
                </a:lnTo>
                <a:lnTo>
                  <a:pt x="2958" y="968"/>
                </a:lnTo>
                <a:lnTo>
                  <a:pt x="2967" y="927"/>
                </a:lnTo>
                <a:lnTo>
                  <a:pt x="2970" y="905"/>
                </a:lnTo>
                <a:lnTo>
                  <a:pt x="2973" y="885"/>
                </a:lnTo>
                <a:lnTo>
                  <a:pt x="2975" y="843"/>
                </a:lnTo>
                <a:lnTo>
                  <a:pt x="2973" y="799"/>
                </a:lnTo>
                <a:lnTo>
                  <a:pt x="2967" y="757"/>
                </a:lnTo>
                <a:lnTo>
                  <a:pt x="2958" y="714"/>
                </a:lnTo>
                <a:lnTo>
                  <a:pt x="2947" y="674"/>
                </a:lnTo>
                <a:lnTo>
                  <a:pt x="2930" y="633"/>
                </a:lnTo>
                <a:lnTo>
                  <a:pt x="2912" y="594"/>
                </a:lnTo>
                <a:lnTo>
                  <a:pt x="2890" y="556"/>
                </a:lnTo>
                <a:lnTo>
                  <a:pt x="2866" y="518"/>
                </a:lnTo>
                <a:lnTo>
                  <a:pt x="2836" y="481"/>
                </a:lnTo>
                <a:lnTo>
                  <a:pt x="2804" y="445"/>
                </a:lnTo>
                <a:lnTo>
                  <a:pt x="2768" y="409"/>
                </a:lnTo>
                <a:lnTo>
                  <a:pt x="2729" y="375"/>
                </a:lnTo>
                <a:lnTo>
                  <a:pt x="2685" y="342"/>
                </a:lnTo>
                <a:lnTo>
                  <a:pt x="2640" y="309"/>
                </a:lnTo>
                <a:lnTo>
                  <a:pt x="2591" y="277"/>
                </a:lnTo>
                <a:lnTo>
                  <a:pt x="2539" y="248"/>
                </a:lnTo>
                <a:close/>
              </a:path>
            </a:pathLst>
          </a:custGeom>
          <a:solidFill>
            <a:srgbClr val="CCFFCC"/>
          </a:solidFill>
          <a:ln w="25400" cap="flat" cmpd="sng">
            <a:solidFill>
              <a:srgbClr val="33333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51202" name="Rectangle 2">
            <a:extLst>
              <a:ext uri="{FF2B5EF4-FFF2-40B4-BE49-F238E27FC236}">
                <a16:creationId xmlns:a16="http://schemas.microsoft.com/office/drawing/2014/main" id="{9D18C8E3-F145-E67A-62A2-F5EB9B9C7FAE}"/>
              </a:ext>
            </a:extLst>
          </p:cNvPr>
          <p:cNvSpPr>
            <a:spLocks noGrp="1" noChangeArrowheads="1"/>
          </p:cNvSpPr>
          <p:nvPr>
            <p:ph type="title"/>
          </p:nvPr>
        </p:nvSpPr>
        <p:spPr/>
        <p:txBody>
          <a:bodyPr/>
          <a:lstStyle/>
          <a:p>
            <a:r>
              <a:rPr lang="en-US" altLang="zh-CN">
                <a:ea typeface="宋体" panose="02010600030101010101" pitchFamily="2" charset="-122"/>
              </a:rPr>
              <a:t>Management Access Domain: Threats</a:t>
            </a:r>
          </a:p>
        </p:txBody>
      </p:sp>
      <p:sp>
        <p:nvSpPr>
          <p:cNvPr id="51310" name="Freeform 110">
            <a:extLst>
              <a:ext uri="{FF2B5EF4-FFF2-40B4-BE49-F238E27FC236}">
                <a16:creationId xmlns:a16="http://schemas.microsoft.com/office/drawing/2014/main" id="{1DEA6D8F-4E3D-FDD8-0D9C-AB9C9B3DC8B8}"/>
              </a:ext>
            </a:extLst>
          </p:cNvPr>
          <p:cNvSpPr>
            <a:spLocks/>
          </p:cNvSpPr>
          <p:nvPr/>
        </p:nvSpPr>
        <p:spPr bwMode="auto">
          <a:xfrm>
            <a:off x="914400" y="3960813"/>
            <a:ext cx="6934200" cy="2516187"/>
          </a:xfrm>
          <a:custGeom>
            <a:avLst/>
            <a:gdLst>
              <a:gd name="T0" fmla="*/ 13745 w 13746"/>
              <a:gd name="T1" fmla="*/ 454 h 6342"/>
              <a:gd name="T2" fmla="*/ 13741 w 13746"/>
              <a:gd name="T3" fmla="*/ 370 h 6342"/>
              <a:gd name="T4" fmla="*/ 13735 w 13746"/>
              <a:gd name="T5" fmla="*/ 319 h 6342"/>
              <a:gd name="T6" fmla="*/ 13728 w 13746"/>
              <a:gd name="T7" fmla="*/ 272 h 6342"/>
              <a:gd name="T8" fmla="*/ 13706 w 13746"/>
              <a:gd name="T9" fmla="*/ 189 h 6342"/>
              <a:gd name="T10" fmla="*/ 13692 w 13746"/>
              <a:gd name="T11" fmla="*/ 153 h 6342"/>
              <a:gd name="T12" fmla="*/ 13678 w 13746"/>
              <a:gd name="T13" fmla="*/ 122 h 6342"/>
              <a:gd name="T14" fmla="*/ 13638 w 13746"/>
              <a:gd name="T15" fmla="*/ 67 h 6342"/>
              <a:gd name="T16" fmla="*/ 13616 w 13746"/>
              <a:gd name="T17" fmla="*/ 47 h 6342"/>
              <a:gd name="T18" fmla="*/ 13564 w 13746"/>
              <a:gd name="T19" fmla="*/ 16 h 6342"/>
              <a:gd name="T20" fmla="*/ 13521 w 13746"/>
              <a:gd name="T21" fmla="*/ 3 h 6342"/>
              <a:gd name="T22" fmla="*/ 13474 w 13746"/>
              <a:gd name="T23" fmla="*/ 0 h 6342"/>
              <a:gd name="T24" fmla="*/ 237 w 13746"/>
              <a:gd name="T25" fmla="*/ 2 h 6342"/>
              <a:gd name="T26" fmla="*/ 178 w 13746"/>
              <a:gd name="T27" fmla="*/ 16 h 6342"/>
              <a:gd name="T28" fmla="*/ 126 w 13746"/>
              <a:gd name="T29" fmla="*/ 47 h 6342"/>
              <a:gd name="T30" fmla="*/ 84 w 13746"/>
              <a:gd name="T31" fmla="*/ 92 h 6342"/>
              <a:gd name="T32" fmla="*/ 50 w 13746"/>
              <a:gd name="T33" fmla="*/ 153 h 6342"/>
              <a:gd name="T34" fmla="*/ 26 w 13746"/>
              <a:gd name="T35" fmla="*/ 229 h 6342"/>
              <a:gd name="T36" fmla="*/ 7 w 13746"/>
              <a:gd name="T37" fmla="*/ 319 h 6342"/>
              <a:gd name="T38" fmla="*/ 0 w 13746"/>
              <a:gd name="T39" fmla="*/ 426 h 6342"/>
              <a:gd name="T40" fmla="*/ 1 w 13746"/>
              <a:gd name="T41" fmla="*/ 5858 h 6342"/>
              <a:gd name="T42" fmla="*/ 4 w 13746"/>
              <a:gd name="T43" fmla="*/ 5971 h 6342"/>
              <a:gd name="T44" fmla="*/ 16 w 13746"/>
              <a:gd name="T45" fmla="*/ 6069 h 6342"/>
              <a:gd name="T46" fmla="*/ 37 w 13746"/>
              <a:gd name="T47" fmla="*/ 6151 h 6342"/>
              <a:gd name="T48" fmla="*/ 67 w 13746"/>
              <a:gd name="T49" fmla="*/ 6221 h 6342"/>
              <a:gd name="T50" fmla="*/ 104 w 13746"/>
              <a:gd name="T51" fmla="*/ 6272 h 6342"/>
              <a:gd name="T52" fmla="*/ 152 w 13746"/>
              <a:gd name="T53" fmla="*/ 6311 h 6342"/>
              <a:gd name="T54" fmla="*/ 207 w 13746"/>
              <a:gd name="T55" fmla="*/ 6334 h 6342"/>
              <a:gd name="T56" fmla="*/ 272 w 13746"/>
              <a:gd name="T57" fmla="*/ 6342 h 6342"/>
              <a:gd name="T58" fmla="*/ 13490 w 13746"/>
              <a:gd name="T59" fmla="*/ 6341 h 6342"/>
              <a:gd name="T60" fmla="*/ 13506 w 13746"/>
              <a:gd name="T61" fmla="*/ 6339 h 6342"/>
              <a:gd name="T62" fmla="*/ 13536 w 13746"/>
              <a:gd name="T63" fmla="*/ 6334 h 6342"/>
              <a:gd name="T64" fmla="*/ 13577 w 13746"/>
              <a:gd name="T65" fmla="*/ 6317 h 6342"/>
              <a:gd name="T66" fmla="*/ 13584 w 13746"/>
              <a:gd name="T67" fmla="*/ 6314 h 6342"/>
              <a:gd name="T68" fmla="*/ 13597 w 13746"/>
              <a:gd name="T69" fmla="*/ 6306 h 6342"/>
              <a:gd name="T70" fmla="*/ 13603 w 13746"/>
              <a:gd name="T71" fmla="*/ 6302 h 6342"/>
              <a:gd name="T72" fmla="*/ 13626 w 13746"/>
              <a:gd name="T73" fmla="*/ 6283 h 6342"/>
              <a:gd name="T74" fmla="*/ 13659 w 13746"/>
              <a:gd name="T75" fmla="*/ 6248 h 6342"/>
              <a:gd name="T76" fmla="*/ 13668 w 13746"/>
              <a:gd name="T77" fmla="*/ 6234 h 6342"/>
              <a:gd name="T78" fmla="*/ 13681 w 13746"/>
              <a:gd name="T79" fmla="*/ 6212 h 6342"/>
              <a:gd name="T80" fmla="*/ 13692 w 13746"/>
              <a:gd name="T81" fmla="*/ 6187 h 6342"/>
              <a:gd name="T82" fmla="*/ 13706 w 13746"/>
              <a:gd name="T83" fmla="*/ 6151 h 6342"/>
              <a:gd name="T84" fmla="*/ 13714 w 13746"/>
              <a:gd name="T85" fmla="*/ 6120 h 6342"/>
              <a:gd name="T86" fmla="*/ 13718 w 13746"/>
              <a:gd name="T87" fmla="*/ 6111 h 6342"/>
              <a:gd name="T88" fmla="*/ 13731 w 13746"/>
              <a:gd name="T89" fmla="*/ 6044 h 6342"/>
              <a:gd name="T90" fmla="*/ 13737 w 13746"/>
              <a:gd name="T91" fmla="*/ 5995 h 6342"/>
              <a:gd name="T92" fmla="*/ 13741 w 13746"/>
              <a:gd name="T93" fmla="*/ 5971 h 6342"/>
              <a:gd name="T94" fmla="*/ 13745 w 13746"/>
              <a:gd name="T95" fmla="*/ 5915 h 6342"/>
              <a:gd name="T96" fmla="*/ 13746 w 13746"/>
              <a:gd name="T97" fmla="*/ 5858 h 6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746" h="6342">
                <a:moveTo>
                  <a:pt x="13746" y="485"/>
                </a:moveTo>
                <a:lnTo>
                  <a:pt x="13745" y="454"/>
                </a:lnTo>
                <a:lnTo>
                  <a:pt x="13745" y="426"/>
                </a:lnTo>
                <a:lnTo>
                  <a:pt x="13741" y="370"/>
                </a:lnTo>
                <a:lnTo>
                  <a:pt x="13737" y="343"/>
                </a:lnTo>
                <a:lnTo>
                  <a:pt x="13735" y="319"/>
                </a:lnTo>
                <a:lnTo>
                  <a:pt x="13731" y="294"/>
                </a:lnTo>
                <a:lnTo>
                  <a:pt x="13728" y="272"/>
                </a:lnTo>
                <a:lnTo>
                  <a:pt x="13718" y="229"/>
                </a:lnTo>
                <a:lnTo>
                  <a:pt x="13706" y="189"/>
                </a:lnTo>
                <a:lnTo>
                  <a:pt x="13699" y="169"/>
                </a:lnTo>
                <a:lnTo>
                  <a:pt x="13692" y="153"/>
                </a:lnTo>
                <a:lnTo>
                  <a:pt x="13684" y="136"/>
                </a:lnTo>
                <a:lnTo>
                  <a:pt x="13678" y="122"/>
                </a:lnTo>
                <a:lnTo>
                  <a:pt x="13659" y="92"/>
                </a:lnTo>
                <a:lnTo>
                  <a:pt x="13638" y="67"/>
                </a:lnTo>
                <a:lnTo>
                  <a:pt x="13626" y="56"/>
                </a:lnTo>
                <a:lnTo>
                  <a:pt x="13616" y="47"/>
                </a:lnTo>
                <a:lnTo>
                  <a:pt x="13592" y="30"/>
                </a:lnTo>
                <a:lnTo>
                  <a:pt x="13564" y="16"/>
                </a:lnTo>
                <a:lnTo>
                  <a:pt x="13536" y="7"/>
                </a:lnTo>
                <a:lnTo>
                  <a:pt x="13521" y="3"/>
                </a:lnTo>
                <a:lnTo>
                  <a:pt x="13506" y="2"/>
                </a:lnTo>
                <a:lnTo>
                  <a:pt x="13474" y="0"/>
                </a:lnTo>
                <a:lnTo>
                  <a:pt x="272" y="0"/>
                </a:lnTo>
                <a:lnTo>
                  <a:pt x="237" y="2"/>
                </a:lnTo>
                <a:lnTo>
                  <a:pt x="207" y="7"/>
                </a:lnTo>
                <a:lnTo>
                  <a:pt x="178" y="16"/>
                </a:lnTo>
                <a:lnTo>
                  <a:pt x="152" y="30"/>
                </a:lnTo>
                <a:lnTo>
                  <a:pt x="126" y="47"/>
                </a:lnTo>
                <a:lnTo>
                  <a:pt x="104" y="67"/>
                </a:lnTo>
                <a:lnTo>
                  <a:pt x="84" y="92"/>
                </a:lnTo>
                <a:lnTo>
                  <a:pt x="67" y="122"/>
                </a:lnTo>
                <a:lnTo>
                  <a:pt x="50" y="153"/>
                </a:lnTo>
                <a:lnTo>
                  <a:pt x="37" y="189"/>
                </a:lnTo>
                <a:lnTo>
                  <a:pt x="26" y="229"/>
                </a:lnTo>
                <a:lnTo>
                  <a:pt x="16" y="272"/>
                </a:lnTo>
                <a:lnTo>
                  <a:pt x="7" y="319"/>
                </a:lnTo>
                <a:lnTo>
                  <a:pt x="4" y="370"/>
                </a:lnTo>
                <a:lnTo>
                  <a:pt x="0" y="426"/>
                </a:lnTo>
                <a:lnTo>
                  <a:pt x="1" y="485"/>
                </a:lnTo>
                <a:lnTo>
                  <a:pt x="1" y="5858"/>
                </a:lnTo>
                <a:lnTo>
                  <a:pt x="0" y="5915"/>
                </a:lnTo>
                <a:lnTo>
                  <a:pt x="4" y="5971"/>
                </a:lnTo>
                <a:lnTo>
                  <a:pt x="7" y="6021"/>
                </a:lnTo>
                <a:lnTo>
                  <a:pt x="16" y="6069"/>
                </a:lnTo>
                <a:lnTo>
                  <a:pt x="26" y="6111"/>
                </a:lnTo>
                <a:lnTo>
                  <a:pt x="37" y="6151"/>
                </a:lnTo>
                <a:lnTo>
                  <a:pt x="50" y="6187"/>
                </a:lnTo>
                <a:lnTo>
                  <a:pt x="67" y="6221"/>
                </a:lnTo>
                <a:lnTo>
                  <a:pt x="84" y="6248"/>
                </a:lnTo>
                <a:lnTo>
                  <a:pt x="104" y="6272"/>
                </a:lnTo>
                <a:lnTo>
                  <a:pt x="126" y="6293"/>
                </a:lnTo>
                <a:lnTo>
                  <a:pt x="152" y="6311"/>
                </a:lnTo>
                <a:lnTo>
                  <a:pt x="178" y="6324"/>
                </a:lnTo>
                <a:lnTo>
                  <a:pt x="207" y="6334"/>
                </a:lnTo>
                <a:lnTo>
                  <a:pt x="237" y="6339"/>
                </a:lnTo>
                <a:lnTo>
                  <a:pt x="272" y="6342"/>
                </a:lnTo>
                <a:lnTo>
                  <a:pt x="13474" y="6342"/>
                </a:lnTo>
                <a:lnTo>
                  <a:pt x="13490" y="6341"/>
                </a:lnTo>
                <a:lnTo>
                  <a:pt x="13497" y="6339"/>
                </a:lnTo>
                <a:lnTo>
                  <a:pt x="13506" y="6339"/>
                </a:lnTo>
                <a:lnTo>
                  <a:pt x="13521" y="6337"/>
                </a:lnTo>
                <a:lnTo>
                  <a:pt x="13536" y="6334"/>
                </a:lnTo>
                <a:lnTo>
                  <a:pt x="13564" y="6324"/>
                </a:lnTo>
                <a:lnTo>
                  <a:pt x="13577" y="6317"/>
                </a:lnTo>
                <a:lnTo>
                  <a:pt x="13580" y="6315"/>
                </a:lnTo>
                <a:lnTo>
                  <a:pt x="13584" y="6314"/>
                </a:lnTo>
                <a:lnTo>
                  <a:pt x="13592" y="6311"/>
                </a:lnTo>
                <a:lnTo>
                  <a:pt x="13597" y="6306"/>
                </a:lnTo>
                <a:lnTo>
                  <a:pt x="13599" y="6303"/>
                </a:lnTo>
                <a:lnTo>
                  <a:pt x="13603" y="6302"/>
                </a:lnTo>
                <a:lnTo>
                  <a:pt x="13616" y="6293"/>
                </a:lnTo>
                <a:lnTo>
                  <a:pt x="13626" y="6283"/>
                </a:lnTo>
                <a:lnTo>
                  <a:pt x="13638" y="6272"/>
                </a:lnTo>
                <a:lnTo>
                  <a:pt x="13659" y="6248"/>
                </a:lnTo>
                <a:lnTo>
                  <a:pt x="13662" y="6240"/>
                </a:lnTo>
                <a:lnTo>
                  <a:pt x="13668" y="6234"/>
                </a:lnTo>
                <a:lnTo>
                  <a:pt x="13678" y="6221"/>
                </a:lnTo>
                <a:lnTo>
                  <a:pt x="13681" y="6212"/>
                </a:lnTo>
                <a:lnTo>
                  <a:pt x="13684" y="6204"/>
                </a:lnTo>
                <a:lnTo>
                  <a:pt x="13692" y="6187"/>
                </a:lnTo>
                <a:lnTo>
                  <a:pt x="13699" y="6169"/>
                </a:lnTo>
                <a:lnTo>
                  <a:pt x="13706" y="6151"/>
                </a:lnTo>
                <a:lnTo>
                  <a:pt x="13711" y="6131"/>
                </a:lnTo>
                <a:lnTo>
                  <a:pt x="13714" y="6120"/>
                </a:lnTo>
                <a:lnTo>
                  <a:pt x="13715" y="6115"/>
                </a:lnTo>
                <a:lnTo>
                  <a:pt x="13718" y="6111"/>
                </a:lnTo>
                <a:lnTo>
                  <a:pt x="13728" y="6069"/>
                </a:lnTo>
                <a:lnTo>
                  <a:pt x="13731" y="6044"/>
                </a:lnTo>
                <a:lnTo>
                  <a:pt x="13735" y="6021"/>
                </a:lnTo>
                <a:lnTo>
                  <a:pt x="13737" y="5995"/>
                </a:lnTo>
                <a:lnTo>
                  <a:pt x="13739" y="5982"/>
                </a:lnTo>
                <a:lnTo>
                  <a:pt x="13741" y="5971"/>
                </a:lnTo>
                <a:lnTo>
                  <a:pt x="13742" y="5942"/>
                </a:lnTo>
                <a:lnTo>
                  <a:pt x="13745" y="5915"/>
                </a:lnTo>
                <a:lnTo>
                  <a:pt x="13745" y="5887"/>
                </a:lnTo>
                <a:lnTo>
                  <a:pt x="13746" y="5858"/>
                </a:lnTo>
                <a:lnTo>
                  <a:pt x="13746" y="485"/>
                </a:lnTo>
                <a:close/>
              </a:path>
            </a:pathLst>
          </a:custGeom>
          <a:solidFill>
            <a:srgbClr val="FFCC99"/>
          </a:solidFill>
          <a:ln w="25400">
            <a:solidFill>
              <a:srgbClr val="993300"/>
            </a:solidFill>
            <a:round/>
            <a:headEnd/>
            <a:tailEnd/>
          </a:ln>
        </p:spPr>
        <p:txBody>
          <a:bodyPr/>
          <a:lstStyle/>
          <a:p>
            <a:endParaRPr lang="en-IN"/>
          </a:p>
        </p:txBody>
      </p:sp>
      <p:sp>
        <p:nvSpPr>
          <p:cNvPr id="51311" name="Line 111">
            <a:extLst>
              <a:ext uri="{FF2B5EF4-FFF2-40B4-BE49-F238E27FC236}">
                <a16:creationId xmlns:a16="http://schemas.microsoft.com/office/drawing/2014/main" id="{5E7C73AA-494A-B9E2-84DB-5A6BA2DBAFE2}"/>
              </a:ext>
            </a:extLst>
          </p:cNvPr>
          <p:cNvSpPr>
            <a:spLocks noChangeShapeType="1"/>
          </p:cNvSpPr>
          <p:nvPr/>
        </p:nvSpPr>
        <p:spPr bwMode="auto">
          <a:xfrm flipH="1">
            <a:off x="3121025" y="3392488"/>
            <a:ext cx="1797050" cy="0"/>
          </a:xfrm>
          <a:prstGeom prst="line">
            <a:avLst/>
          </a:prstGeom>
          <a:noFill/>
          <a:ln w="12700">
            <a:solidFill>
              <a:srgbClr val="0000CC"/>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51312" name="Line 112">
            <a:extLst>
              <a:ext uri="{FF2B5EF4-FFF2-40B4-BE49-F238E27FC236}">
                <a16:creationId xmlns:a16="http://schemas.microsoft.com/office/drawing/2014/main" id="{1F33BDBC-BCD6-3BE3-A654-CB1D63BDDA11}"/>
              </a:ext>
            </a:extLst>
          </p:cNvPr>
          <p:cNvSpPr>
            <a:spLocks noChangeShapeType="1"/>
          </p:cNvSpPr>
          <p:nvPr/>
        </p:nvSpPr>
        <p:spPr bwMode="auto">
          <a:xfrm flipH="1" flipV="1">
            <a:off x="2971800" y="3733800"/>
            <a:ext cx="0" cy="989013"/>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51313" name="Freeform 113">
            <a:extLst>
              <a:ext uri="{FF2B5EF4-FFF2-40B4-BE49-F238E27FC236}">
                <a16:creationId xmlns:a16="http://schemas.microsoft.com/office/drawing/2014/main" id="{944CC406-E7AB-1FCA-16FB-2706CD852EF5}"/>
              </a:ext>
            </a:extLst>
          </p:cNvPr>
          <p:cNvSpPr>
            <a:spLocks/>
          </p:cNvSpPr>
          <p:nvPr/>
        </p:nvSpPr>
        <p:spPr bwMode="auto">
          <a:xfrm>
            <a:off x="4529138" y="3684588"/>
            <a:ext cx="0" cy="544512"/>
          </a:xfrm>
          <a:custGeom>
            <a:avLst/>
            <a:gdLst>
              <a:gd name="T0" fmla="*/ 0 h 1372"/>
              <a:gd name="T1" fmla="*/ 536 h 1372"/>
              <a:gd name="T2" fmla="*/ 1372 h 1372"/>
            </a:gdLst>
            <a:ahLst/>
            <a:cxnLst>
              <a:cxn ang="0">
                <a:pos x="0" y="T0"/>
              </a:cxn>
              <a:cxn ang="0">
                <a:pos x="0" y="T1"/>
              </a:cxn>
              <a:cxn ang="0">
                <a:pos x="0" y="T2"/>
              </a:cxn>
            </a:cxnLst>
            <a:rect l="0" t="0" r="r" b="b"/>
            <a:pathLst>
              <a:path h="1372">
                <a:moveTo>
                  <a:pt x="0" y="0"/>
                </a:moveTo>
                <a:lnTo>
                  <a:pt x="0" y="536"/>
                </a:lnTo>
                <a:lnTo>
                  <a:pt x="0" y="1372"/>
                </a:lnTo>
              </a:path>
            </a:pathLst>
          </a:custGeom>
          <a:noFill/>
          <a:ln w="12700" cap="flat" cmpd="sng">
            <a:solidFill>
              <a:srgbClr val="0000CC"/>
            </a:solidFill>
            <a:prstDash val="solid"/>
            <a:round/>
            <a:headEnd type="none" w="med" len="me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51314" name="Freeform 114">
            <a:extLst>
              <a:ext uri="{FF2B5EF4-FFF2-40B4-BE49-F238E27FC236}">
                <a16:creationId xmlns:a16="http://schemas.microsoft.com/office/drawing/2014/main" id="{A1530F8B-A9FA-A30F-6AD3-DDEA67E2746C}"/>
              </a:ext>
            </a:extLst>
          </p:cNvPr>
          <p:cNvSpPr>
            <a:spLocks/>
          </p:cNvSpPr>
          <p:nvPr/>
        </p:nvSpPr>
        <p:spPr bwMode="auto">
          <a:xfrm>
            <a:off x="4814888" y="3651250"/>
            <a:ext cx="1433512" cy="842963"/>
          </a:xfrm>
          <a:custGeom>
            <a:avLst/>
            <a:gdLst>
              <a:gd name="T0" fmla="*/ 2876 w 2876"/>
              <a:gd name="T1" fmla="*/ 2424 h 2424"/>
              <a:gd name="T2" fmla="*/ 1201 w 2876"/>
              <a:gd name="T3" fmla="*/ 1012 h 2424"/>
              <a:gd name="T4" fmla="*/ 0 w 2876"/>
              <a:gd name="T5" fmla="*/ 0 h 2424"/>
            </a:gdLst>
            <a:ahLst/>
            <a:cxnLst>
              <a:cxn ang="0">
                <a:pos x="T0" y="T1"/>
              </a:cxn>
              <a:cxn ang="0">
                <a:pos x="T2" y="T3"/>
              </a:cxn>
              <a:cxn ang="0">
                <a:pos x="T4" y="T5"/>
              </a:cxn>
            </a:cxnLst>
            <a:rect l="0" t="0" r="r" b="b"/>
            <a:pathLst>
              <a:path w="2876" h="2424">
                <a:moveTo>
                  <a:pt x="2876" y="2424"/>
                </a:moveTo>
                <a:lnTo>
                  <a:pt x="1201" y="1012"/>
                </a:lnTo>
                <a:lnTo>
                  <a:pt x="0" y="0"/>
                </a:lnTo>
              </a:path>
            </a:pathLst>
          </a:custGeom>
          <a:noFill/>
          <a:ln w="12700" cap="flat" cmpd="sng">
            <a:solidFill>
              <a:srgbClr val="0000CC"/>
            </a:solidFill>
            <a:prstDash val="solid"/>
            <a:round/>
            <a:headEnd type="none" w="med" len="me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51315" name="Line 115">
            <a:extLst>
              <a:ext uri="{FF2B5EF4-FFF2-40B4-BE49-F238E27FC236}">
                <a16:creationId xmlns:a16="http://schemas.microsoft.com/office/drawing/2014/main" id="{84A0BF2E-EBCB-B98E-FE4F-08A6E155D6A1}"/>
              </a:ext>
            </a:extLst>
          </p:cNvPr>
          <p:cNvSpPr>
            <a:spLocks noChangeShapeType="1"/>
          </p:cNvSpPr>
          <p:nvPr/>
        </p:nvSpPr>
        <p:spPr bwMode="auto">
          <a:xfrm>
            <a:off x="4495800" y="2455863"/>
            <a:ext cx="0" cy="666750"/>
          </a:xfrm>
          <a:prstGeom prst="line">
            <a:avLst/>
          </a:prstGeom>
          <a:noFill/>
          <a:ln w="12700">
            <a:solidFill>
              <a:srgbClr val="0000CC"/>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51316" name="Freeform 116">
            <a:extLst>
              <a:ext uri="{FF2B5EF4-FFF2-40B4-BE49-F238E27FC236}">
                <a16:creationId xmlns:a16="http://schemas.microsoft.com/office/drawing/2014/main" id="{C3BC517A-E1FD-CBC2-C118-4FA72953224D}"/>
              </a:ext>
            </a:extLst>
          </p:cNvPr>
          <p:cNvSpPr>
            <a:spLocks/>
          </p:cNvSpPr>
          <p:nvPr/>
        </p:nvSpPr>
        <p:spPr bwMode="auto">
          <a:xfrm>
            <a:off x="3192463" y="3617913"/>
            <a:ext cx="20637" cy="20637"/>
          </a:xfrm>
          <a:custGeom>
            <a:avLst/>
            <a:gdLst>
              <a:gd name="T0" fmla="*/ 51 w 51"/>
              <a:gd name="T1" fmla="*/ 26 h 51"/>
              <a:gd name="T2" fmla="*/ 50 w 51"/>
              <a:gd name="T3" fmla="*/ 26 h 51"/>
              <a:gd name="T4" fmla="*/ 50 w 51"/>
              <a:gd name="T5" fmla="*/ 27 h 51"/>
              <a:gd name="T6" fmla="*/ 50 w 51"/>
              <a:gd name="T7" fmla="*/ 30 h 51"/>
              <a:gd name="T8" fmla="*/ 49 w 51"/>
              <a:gd name="T9" fmla="*/ 35 h 51"/>
              <a:gd name="T10" fmla="*/ 46 w 51"/>
              <a:gd name="T11" fmla="*/ 39 h 51"/>
              <a:gd name="T12" fmla="*/ 44 w 51"/>
              <a:gd name="T13" fmla="*/ 44 h 51"/>
              <a:gd name="T14" fmla="*/ 38 w 51"/>
              <a:gd name="T15" fmla="*/ 46 h 51"/>
              <a:gd name="T16" fmla="*/ 34 w 51"/>
              <a:gd name="T17" fmla="*/ 49 h 51"/>
              <a:gd name="T18" fmla="*/ 29 w 51"/>
              <a:gd name="T19" fmla="*/ 50 h 51"/>
              <a:gd name="T20" fmla="*/ 27 w 51"/>
              <a:gd name="T21" fmla="*/ 50 h 51"/>
              <a:gd name="T22" fmla="*/ 25 w 51"/>
              <a:gd name="T23" fmla="*/ 50 h 51"/>
              <a:gd name="T24" fmla="*/ 25 w 51"/>
              <a:gd name="T25" fmla="*/ 51 h 51"/>
              <a:gd name="T26" fmla="*/ 15 w 51"/>
              <a:gd name="T27" fmla="*/ 49 h 51"/>
              <a:gd name="T28" fmla="*/ 7 w 51"/>
              <a:gd name="T29" fmla="*/ 44 h 51"/>
              <a:gd name="T30" fmla="*/ 1 w 51"/>
              <a:gd name="T31" fmla="*/ 35 h 51"/>
              <a:gd name="T32" fmla="*/ 0 w 51"/>
              <a:gd name="T33" fmla="*/ 26 h 51"/>
              <a:gd name="T34" fmla="*/ 1 w 51"/>
              <a:gd name="T35" fmla="*/ 15 h 51"/>
              <a:gd name="T36" fmla="*/ 7 w 51"/>
              <a:gd name="T37" fmla="*/ 8 h 51"/>
              <a:gd name="T38" fmla="*/ 15 w 51"/>
              <a:gd name="T39" fmla="*/ 1 h 51"/>
              <a:gd name="T40" fmla="*/ 25 w 51"/>
              <a:gd name="T41" fmla="*/ 0 h 51"/>
              <a:gd name="T42" fmla="*/ 34 w 51"/>
              <a:gd name="T43" fmla="*/ 1 h 51"/>
              <a:gd name="T44" fmla="*/ 44 w 51"/>
              <a:gd name="T45" fmla="*/ 8 h 51"/>
              <a:gd name="T46" fmla="*/ 49 w 51"/>
              <a:gd name="T47" fmla="*/ 15 h 51"/>
              <a:gd name="T48" fmla="*/ 51 w 51"/>
              <a:gd name="T49" fmla="*/ 2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1" h="51">
                <a:moveTo>
                  <a:pt x="51" y="26"/>
                </a:moveTo>
                <a:lnTo>
                  <a:pt x="50" y="26"/>
                </a:lnTo>
                <a:lnTo>
                  <a:pt x="50" y="27"/>
                </a:lnTo>
                <a:lnTo>
                  <a:pt x="50" y="30"/>
                </a:lnTo>
                <a:lnTo>
                  <a:pt x="49" y="35"/>
                </a:lnTo>
                <a:lnTo>
                  <a:pt x="46" y="39"/>
                </a:lnTo>
                <a:lnTo>
                  <a:pt x="44" y="44"/>
                </a:lnTo>
                <a:lnTo>
                  <a:pt x="38" y="46"/>
                </a:lnTo>
                <a:lnTo>
                  <a:pt x="34" y="49"/>
                </a:lnTo>
                <a:lnTo>
                  <a:pt x="29" y="50"/>
                </a:lnTo>
                <a:lnTo>
                  <a:pt x="27" y="50"/>
                </a:lnTo>
                <a:lnTo>
                  <a:pt x="25" y="50"/>
                </a:lnTo>
                <a:lnTo>
                  <a:pt x="25" y="51"/>
                </a:lnTo>
                <a:lnTo>
                  <a:pt x="15" y="49"/>
                </a:lnTo>
                <a:lnTo>
                  <a:pt x="7" y="44"/>
                </a:lnTo>
                <a:lnTo>
                  <a:pt x="1" y="35"/>
                </a:lnTo>
                <a:lnTo>
                  <a:pt x="0" y="26"/>
                </a:lnTo>
                <a:lnTo>
                  <a:pt x="1" y="15"/>
                </a:lnTo>
                <a:lnTo>
                  <a:pt x="7" y="8"/>
                </a:lnTo>
                <a:lnTo>
                  <a:pt x="15" y="1"/>
                </a:lnTo>
                <a:lnTo>
                  <a:pt x="25" y="0"/>
                </a:lnTo>
                <a:lnTo>
                  <a:pt x="34" y="1"/>
                </a:lnTo>
                <a:lnTo>
                  <a:pt x="44" y="8"/>
                </a:lnTo>
                <a:lnTo>
                  <a:pt x="49" y="15"/>
                </a:lnTo>
                <a:lnTo>
                  <a:pt x="51"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18" name="Freeform 118">
            <a:extLst>
              <a:ext uri="{FF2B5EF4-FFF2-40B4-BE49-F238E27FC236}">
                <a16:creationId xmlns:a16="http://schemas.microsoft.com/office/drawing/2014/main" id="{5650D909-53A0-2780-B623-3BFB5A02BDB0}"/>
              </a:ext>
            </a:extLst>
          </p:cNvPr>
          <p:cNvSpPr>
            <a:spLocks/>
          </p:cNvSpPr>
          <p:nvPr/>
        </p:nvSpPr>
        <p:spPr bwMode="auto">
          <a:xfrm>
            <a:off x="4078288" y="3079750"/>
            <a:ext cx="855662" cy="614363"/>
          </a:xfrm>
          <a:custGeom>
            <a:avLst/>
            <a:gdLst>
              <a:gd name="T0" fmla="*/ 2000 w 2157"/>
              <a:gd name="T1" fmla="*/ 490 h 1547"/>
              <a:gd name="T2" fmla="*/ 1937 w 2157"/>
              <a:gd name="T3" fmla="*/ 452 h 1547"/>
              <a:gd name="T4" fmla="*/ 1908 w 2157"/>
              <a:gd name="T5" fmla="*/ 267 h 1547"/>
              <a:gd name="T6" fmla="*/ 1829 w 2157"/>
              <a:gd name="T7" fmla="*/ 131 h 1547"/>
              <a:gd name="T8" fmla="*/ 1755 w 2157"/>
              <a:gd name="T9" fmla="*/ 71 h 1547"/>
              <a:gd name="T10" fmla="*/ 1672 w 2157"/>
              <a:gd name="T11" fmla="*/ 42 h 1547"/>
              <a:gd name="T12" fmla="*/ 1567 w 2157"/>
              <a:gd name="T13" fmla="*/ 53 h 1547"/>
              <a:gd name="T14" fmla="*/ 1481 w 2157"/>
              <a:gd name="T15" fmla="*/ 107 h 1547"/>
              <a:gd name="T16" fmla="*/ 1372 w 2157"/>
              <a:gd name="T17" fmla="*/ 76 h 1547"/>
              <a:gd name="T18" fmla="*/ 1207 w 2157"/>
              <a:gd name="T19" fmla="*/ 15 h 1547"/>
              <a:gd name="T20" fmla="*/ 1108 w 2157"/>
              <a:gd name="T21" fmla="*/ 1 h 1547"/>
              <a:gd name="T22" fmla="*/ 933 w 2157"/>
              <a:gd name="T23" fmla="*/ 14 h 1547"/>
              <a:gd name="T24" fmla="*/ 746 w 2157"/>
              <a:gd name="T25" fmla="*/ 98 h 1547"/>
              <a:gd name="T26" fmla="*/ 639 w 2157"/>
              <a:gd name="T27" fmla="*/ 74 h 1547"/>
              <a:gd name="T28" fmla="*/ 569 w 2157"/>
              <a:gd name="T29" fmla="*/ 46 h 1547"/>
              <a:gd name="T30" fmla="*/ 458 w 2157"/>
              <a:gd name="T31" fmla="*/ 47 h 1547"/>
              <a:gd name="T32" fmla="*/ 354 w 2157"/>
              <a:gd name="T33" fmla="*/ 107 h 1547"/>
              <a:gd name="T34" fmla="*/ 271 w 2157"/>
              <a:gd name="T35" fmla="*/ 223 h 1547"/>
              <a:gd name="T36" fmla="*/ 230 w 2157"/>
              <a:gd name="T37" fmla="*/ 367 h 1547"/>
              <a:gd name="T38" fmla="*/ 225 w 2157"/>
              <a:gd name="T39" fmla="*/ 456 h 1547"/>
              <a:gd name="T40" fmla="*/ 119 w 2157"/>
              <a:gd name="T41" fmla="*/ 515 h 1547"/>
              <a:gd name="T42" fmla="*/ 38 w 2157"/>
              <a:gd name="T43" fmla="*/ 615 h 1547"/>
              <a:gd name="T44" fmla="*/ 1 w 2157"/>
              <a:gd name="T45" fmla="*/ 739 h 1547"/>
              <a:gd name="T46" fmla="*/ 13 w 2157"/>
              <a:gd name="T47" fmla="*/ 870 h 1547"/>
              <a:gd name="T48" fmla="*/ 74 w 2157"/>
              <a:gd name="T49" fmla="*/ 984 h 1547"/>
              <a:gd name="T50" fmla="*/ 168 w 2157"/>
              <a:gd name="T51" fmla="*/ 1062 h 1547"/>
              <a:gd name="T52" fmla="*/ 226 w 2157"/>
              <a:gd name="T53" fmla="*/ 1158 h 1547"/>
              <a:gd name="T54" fmla="*/ 257 w 2157"/>
              <a:gd name="T55" fmla="*/ 1308 h 1547"/>
              <a:gd name="T56" fmla="*/ 323 w 2157"/>
              <a:gd name="T57" fmla="*/ 1423 h 1547"/>
              <a:gd name="T58" fmla="*/ 413 w 2157"/>
              <a:gd name="T59" fmla="*/ 1501 h 1547"/>
              <a:gd name="T60" fmla="*/ 519 w 2157"/>
              <a:gd name="T61" fmla="*/ 1528 h 1547"/>
              <a:gd name="T62" fmla="*/ 546 w 2157"/>
              <a:gd name="T63" fmla="*/ 1525 h 1547"/>
              <a:gd name="T64" fmla="*/ 624 w 2157"/>
              <a:gd name="T65" fmla="*/ 1501 h 1547"/>
              <a:gd name="T66" fmla="*/ 693 w 2157"/>
              <a:gd name="T67" fmla="*/ 1445 h 1547"/>
              <a:gd name="T68" fmla="*/ 764 w 2157"/>
              <a:gd name="T69" fmla="*/ 1453 h 1547"/>
              <a:gd name="T70" fmla="*/ 934 w 2157"/>
              <a:gd name="T71" fmla="*/ 1528 h 1547"/>
              <a:gd name="T72" fmla="*/ 1056 w 2157"/>
              <a:gd name="T73" fmla="*/ 1547 h 1547"/>
              <a:gd name="T74" fmla="*/ 1209 w 2157"/>
              <a:gd name="T75" fmla="*/ 1530 h 1547"/>
              <a:gd name="T76" fmla="*/ 1329 w 2157"/>
              <a:gd name="T77" fmla="*/ 1492 h 1547"/>
              <a:gd name="T78" fmla="*/ 1449 w 2157"/>
              <a:gd name="T79" fmla="*/ 1423 h 1547"/>
              <a:gd name="T80" fmla="*/ 1537 w 2157"/>
              <a:gd name="T81" fmla="*/ 1501 h 1547"/>
              <a:gd name="T82" fmla="*/ 1643 w 2157"/>
              <a:gd name="T83" fmla="*/ 1528 h 1547"/>
              <a:gd name="T84" fmla="*/ 1714 w 2157"/>
              <a:gd name="T85" fmla="*/ 1515 h 1547"/>
              <a:gd name="T86" fmla="*/ 1745 w 2157"/>
              <a:gd name="T87" fmla="*/ 1499 h 1547"/>
              <a:gd name="T88" fmla="*/ 1763 w 2157"/>
              <a:gd name="T89" fmla="*/ 1489 h 1547"/>
              <a:gd name="T90" fmla="*/ 1806 w 2157"/>
              <a:gd name="T91" fmla="*/ 1458 h 1547"/>
              <a:gd name="T92" fmla="*/ 1856 w 2157"/>
              <a:gd name="T93" fmla="*/ 1397 h 1547"/>
              <a:gd name="T94" fmla="*/ 1888 w 2157"/>
              <a:gd name="T95" fmla="*/ 1342 h 1547"/>
              <a:gd name="T96" fmla="*/ 1915 w 2157"/>
              <a:gd name="T97" fmla="*/ 1274 h 1547"/>
              <a:gd name="T98" fmla="*/ 1931 w 2157"/>
              <a:gd name="T99" fmla="*/ 1198 h 1547"/>
              <a:gd name="T100" fmla="*/ 1937 w 2157"/>
              <a:gd name="T101" fmla="*/ 1088 h 1547"/>
              <a:gd name="T102" fmla="*/ 2003 w 2157"/>
              <a:gd name="T103" fmla="*/ 1052 h 1547"/>
              <a:gd name="T104" fmla="*/ 2059 w 2157"/>
              <a:gd name="T105" fmla="*/ 1009 h 1547"/>
              <a:gd name="T106" fmla="*/ 2132 w 2157"/>
              <a:gd name="T107" fmla="*/ 901 h 1547"/>
              <a:gd name="T108" fmla="*/ 2154 w 2157"/>
              <a:gd name="T109" fmla="*/ 797 h 1547"/>
              <a:gd name="T110" fmla="*/ 2150 w 2157"/>
              <a:gd name="T111" fmla="*/ 706 h 1547"/>
              <a:gd name="T112" fmla="*/ 2101 w 2157"/>
              <a:gd name="T113" fmla="*/ 588 h 1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57" h="1547">
                <a:moveTo>
                  <a:pt x="2059" y="536"/>
                </a:moveTo>
                <a:lnTo>
                  <a:pt x="2030" y="510"/>
                </a:lnTo>
                <a:lnTo>
                  <a:pt x="2015" y="499"/>
                </a:lnTo>
                <a:lnTo>
                  <a:pt x="2000" y="490"/>
                </a:lnTo>
                <a:lnTo>
                  <a:pt x="1970" y="472"/>
                </a:lnTo>
                <a:lnTo>
                  <a:pt x="1953" y="464"/>
                </a:lnTo>
                <a:lnTo>
                  <a:pt x="1937" y="459"/>
                </a:lnTo>
                <a:lnTo>
                  <a:pt x="1937" y="452"/>
                </a:lnTo>
                <a:lnTo>
                  <a:pt x="1935" y="392"/>
                </a:lnTo>
                <a:lnTo>
                  <a:pt x="1924" y="326"/>
                </a:lnTo>
                <a:lnTo>
                  <a:pt x="1917" y="295"/>
                </a:lnTo>
                <a:lnTo>
                  <a:pt x="1908" y="267"/>
                </a:lnTo>
                <a:lnTo>
                  <a:pt x="1896" y="238"/>
                </a:lnTo>
                <a:lnTo>
                  <a:pt x="1883" y="211"/>
                </a:lnTo>
                <a:lnTo>
                  <a:pt x="1852" y="161"/>
                </a:lnTo>
                <a:lnTo>
                  <a:pt x="1829" y="131"/>
                </a:lnTo>
                <a:lnTo>
                  <a:pt x="1806" y="107"/>
                </a:lnTo>
                <a:lnTo>
                  <a:pt x="1780" y="86"/>
                </a:lnTo>
                <a:lnTo>
                  <a:pt x="1767" y="77"/>
                </a:lnTo>
                <a:lnTo>
                  <a:pt x="1755" y="71"/>
                </a:lnTo>
                <a:lnTo>
                  <a:pt x="1728" y="56"/>
                </a:lnTo>
                <a:lnTo>
                  <a:pt x="1701" y="47"/>
                </a:lnTo>
                <a:lnTo>
                  <a:pt x="1686" y="43"/>
                </a:lnTo>
                <a:lnTo>
                  <a:pt x="1672" y="42"/>
                </a:lnTo>
                <a:lnTo>
                  <a:pt x="1643" y="41"/>
                </a:lnTo>
                <a:lnTo>
                  <a:pt x="1616" y="42"/>
                </a:lnTo>
                <a:lnTo>
                  <a:pt x="1592" y="46"/>
                </a:lnTo>
                <a:lnTo>
                  <a:pt x="1567" y="53"/>
                </a:lnTo>
                <a:lnTo>
                  <a:pt x="1545" y="63"/>
                </a:lnTo>
                <a:lnTo>
                  <a:pt x="1522" y="74"/>
                </a:lnTo>
                <a:lnTo>
                  <a:pt x="1501" y="90"/>
                </a:lnTo>
                <a:lnTo>
                  <a:pt x="1481" y="107"/>
                </a:lnTo>
                <a:lnTo>
                  <a:pt x="1461" y="129"/>
                </a:lnTo>
                <a:lnTo>
                  <a:pt x="1438" y="113"/>
                </a:lnTo>
                <a:lnTo>
                  <a:pt x="1416" y="100"/>
                </a:lnTo>
                <a:lnTo>
                  <a:pt x="1372" y="76"/>
                </a:lnTo>
                <a:lnTo>
                  <a:pt x="1326" y="54"/>
                </a:lnTo>
                <a:lnTo>
                  <a:pt x="1281" y="37"/>
                </a:lnTo>
                <a:lnTo>
                  <a:pt x="1232" y="22"/>
                </a:lnTo>
                <a:lnTo>
                  <a:pt x="1207" y="15"/>
                </a:lnTo>
                <a:lnTo>
                  <a:pt x="1184" y="11"/>
                </a:lnTo>
                <a:lnTo>
                  <a:pt x="1158" y="6"/>
                </a:lnTo>
                <a:lnTo>
                  <a:pt x="1134" y="4"/>
                </a:lnTo>
                <a:lnTo>
                  <a:pt x="1108" y="1"/>
                </a:lnTo>
                <a:lnTo>
                  <a:pt x="1084" y="1"/>
                </a:lnTo>
                <a:lnTo>
                  <a:pt x="1032" y="0"/>
                </a:lnTo>
                <a:lnTo>
                  <a:pt x="982" y="5"/>
                </a:lnTo>
                <a:lnTo>
                  <a:pt x="933" y="14"/>
                </a:lnTo>
                <a:lnTo>
                  <a:pt x="885" y="29"/>
                </a:lnTo>
                <a:lnTo>
                  <a:pt x="837" y="47"/>
                </a:lnTo>
                <a:lnTo>
                  <a:pt x="791" y="71"/>
                </a:lnTo>
                <a:lnTo>
                  <a:pt x="746" y="98"/>
                </a:lnTo>
                <a:lnTo>
                  <a:pt x="703" y="131"/>
                </a:lnTo>
                <a:lnTo>
                  <a:pt x="681" y="109"/>
                </a:lnTo>
                <a:lnTo>
                  <a:pt x="661" y="91"/>
                </a:lnTo>
                <a:lnTo>
                  <a:pt x="639" y="74"/>
                </a:lnTo>
                <a:lnTo>
                  <a:pt x="617" y="63"/>
                </a:lnTo>
                <a:lnTo>
                  <a:pt x="604" y="56"/>
                </a:lnTo>
                <a:lnTo>
                  <a:pt x="592" y="53"/>
                </a:lnTo>
                <a:lnTo>
                  <a:pt x="569" y="46"/>
                </a:lnTo>
                <a:lnTo>
                  <a:pt x="543" y="42"/>
                </a:lnTo>
                <a:lnTo>
                  <a:pt x="519" y="41"/>
                </a:lnTo>
                <a:lnTo>
                  <a:pt x="488" y="42"/>
                </a:lnTo>
                <a:lnTo>
                  <a:pt x="458" y="47"/>
                </a:lnTo>
                <a:lnTo>
                  <a:pt x="430" y="56"/>
                </a:lnTo>
                <a:lnTo>
                  <a:pt x="404" y="71"/>
                </a:lnTo>
                <a:lnTo>
                  <a:pt x="378" y="86"/>
                </a:lnTo>
                <a:lnTo>
                  <a:pt x="354" y="107"/>
                </a:lnTo>
                <a:lnTo>
                  <a:pt x="330" y="131"/>
                </a:lnTo>
                <a:lnTo>
                  <a:pt x="310" y="161"/>
                </a:lnTo>
                <a:lnTo>
                  <a:pt x="288" y="190"/>
                </a:lnTo>
                <a:lnTo>
                  <a:pt x="271" y="223"/>
                </a:lnTo>
                <a:lnTo>
                  <a:pt x="257" y="256"/>
                </a:lnTo>
                <a:lnTo>
                  <a:pt x="245" y="292"/>
                </a:lnTo>
                <a:lnTo>
                  <a:pt x="236" y="328"/>
                </a:lnTo>
                <a:lnTo>
                  <a:pt x="230" y="367"/>
                </a:lnTo>
                <a:lnTo>
                  <a:pt x="226" y="406"/>
                </a:lnTo>
                <a:lnTo>
                  <a:pt x="225" y="448"/>
                </a:lnTo>
                <a:lnTo>
                  <a:pt x="225" y="452"/>
                </a:lnTo>
                <a:lnTo>
                  <a:pt x="225" y="456"/>
                </a:lnTo>
                <a:lnTo>
                  <a:pt x="190" y="470"/>
                </a:lnTo>
                <a:lnTo>
                  <a:pt x="165" y="482"/>
                </a:lnTo>
                <a:lnTo>
                  <a:pt x="142" y="499"/>
                </a:lnTo>
                <a:lnTo>
                  <a:pt x="119" y="515"/>
                </a:lnTo>
                <a:lnTo>
                  <a:pt x="98" y="536"/>
                </a:lnTo>
                <a:lnTo>
                  <a:pt x="74" y="561"/>
                </a:lnTo>
                <a:lnTo>
                  <a:pt x="54" y="588"/>
                </a:lnTo>
                <a:lnTo>
                  <a:pt x="38" y="615"/>
                </a:lnTo>
                <a:lnTo>
                  <a:pt x="25" y="644"/>
                </a:lnTo>
                <a:lnTo>
                  <a:pt x="13" y="674"/>
                </a:lnTo>
                <a:lnTo>
                  <a:pt x="5" y="706"/>
                </a:lnTo>
                <a:lnTo>
                  <a:pt x="1" y="739"/>
                </a:lnTo>
                <a:lnTo>
                  <a:pt x="0" y="773"/>
                </a:lnTo>
                <a:lnTo>
                  <a:pt x="1" y="806"/>
                </a:lnTo>
                <a:lnTo>
                  <a:pt x="5" y="839"/>
                </a:lnTo>
                <a:lnTo>
                  <a:pt x="13" y="870"/>
                </a:lnTo>
                <a:lnTo>
                  <a:pt x="25" y="901"/>
                </a:lnTo>
                <a:lnTo>
                  <a:pt x="38" y="929"/>
                </a:lnTo>
                <a:lnTo>
                  <a:pt x="54" y="958"/>
                </a:lnTo>
                <a:lnTo>
                  <a:pt x="74" y="984"/>
                </a:lnTo>
                <a:lnTo>
                  <a:pt x="98" y="1009"/>
                </a:lnTo>
                <a:lnTo>
                  <a:pt x="120" y="1029"/>
                </a:lnTo>
                <a:lnTo>
                  <a:pt x="143" y="1047"/>
                </a:lnTo>
                <a:lnTo>
                  <a:pt x="168" y="1062"/>
                </a:lnTo>
                <a:lnTo>
                  <a:pt x="194" y="1076"/>
                </a:lnTo>
                <a:lnTo>
                  <a:pt x="225" y="1089"/>
                </a:lnTo>
                <a:lnTo>
                  <a:pt x="225" y="1116"/>
                </a:lnTo>
                <a:lnTo>
                  <a:pt x="226" y="1158"/>
                </a:lnTo>
                <a:lnTo>
                  <a:pt x="230" y="1198"/>
                </a:lnTo>
                <a:lnTo>
                  <a:pt x="236" y="1236"/>
                </a:lnTo>
                <a:lnTo>
                  <a:pt x="245" y="1274"/>
                </a:lnTo>
                <a:lnTo>
                  <a:pt x="257" y="1308"/>
                </a:lnTo>
                <a:lnTo>
                  <a:pt x="271" y="1342"/>
                </a:lnTo>
                <a:lnTo>
                  <a:pt x="288" y="1374"/>
                </a:lnTo>
                <a:lnTo>
                  <a:pt x="310" y="1406"/>
                </a:lnTo>
                <a:lnTo>
                  <a:pt x="323" y="1423"/>
                </a:lnTo>
                <a:lnTo>
                  <a:pt x="343" y="1446"/>
                </a:lnTo>
                <a:lnTo>
                  <a:pt x="365" y="1468"/>
                </a:lnTo>
                <a:lnTo>
                  <a:pt x="388" y="1485"/>
                </a:lnTo>
                <a:lnTo>
                  <a:pt x="413" y="1501"/>
                </a:lnTo>
                <a:lnTo>
                  <a:pt x="437" y="1511"/>
                </a:lnTo>
                <a:lnTo>
                  <a:pt x="463" y="1520"/>
                </a:lnTo>
                <a:lnTo>
                  <a:pt x="490" y="1525"/>
                </a:lnTo>
                <a:lnTo>
                  <a:pt x="519" y="1528"/>
                </a:lnTo>
                <a:lnTo>
                  <a:pt x="532" y="1526"/>
                </a:lnTo>
                <a:lnTo>
                  <a:pt x="534" y="1525"/>
                </a:lnTo>
                <a:lnTo>
                  <a:pt x="538" y="1525"/>
                </a:lnTo>
                <a:lnTo>
                  <a:pt x="546" y="1525"/>
                </a:lnTo>
                <a:lnTo>
                  <a:pt x="559" y="1523"/>
                </a:lnTo>
                <a:lnTo>
                  <a:pt x="573" y="1520"/>
                </a:lnTo>
                <a:lnTo>
                  <a:pt x="599" y="1511"/>
                </a:lnTo>
                <a:lnTo>
                  <a:pt x="624" y="1501"/>
                </a:lnTo>
                <a:lnTo>
                  <a:pt x="648" y="1485"/>
                </a:lnTo>
                <a:lnTo>
                  <a:pt x="671" y="1467"/>
                </a:lnTo>
                <a:lnTo>
                  <a:pt x="681" y="1455"/>
                </a:lnTo>
                <a:lnTo>
                  <a:pt x="693" y="1445"/>
                </a:lnTo>
                <a:lnTo>
                  <a:pt x="703" y="1434"/>
                </a:lnTo>
                <a:lnTo>
                  <a:pt x="708" y="1427"/>
                </a:lnTo>
                <a:lnTo>
                  <a:pt x="715" y="1422"/>
                </a:lnTo>
                <a:lnTo>
                  <a:pt x="764" y="1453"/>
                </a:lnTo>
                <a:lnTo>
                  <a:pt x="813" y="1480"/>
                </a:lnTo>
                <a:lnTo>
                  <a:pt x="862" y="1503"/>
                </a:lnTo>
                <a:lnTo>
                  <a:pt x="911" y="1521"/>
                </a:lnTo>
                <a:lnTo>
                  <a:pt x="934" y="1528"/>
                </a:lnTo>
                <a:lnTo>
                  <a:pt x="946" y="1530"/>
                </a:lnTo>
                <a:lnTo>
                  <a:pt x="958" y="1534"/>
                </a:lnTo>
                <a:lnTo>
                  <a:pt x="1007" y="1543"/>
                </a:lnTo>
                <a:lnTo>
                  <a:pt x="1056" y="1547"/>
                </a:lnTo>
                <a:lnTo>
                  <a:pt x="1105" y="1547"/>
                </a:lnTo>
                <a:lnTo>
                  <a:pt x="1152" y="1541"/>
                </a:lnTo>
                <a:lnTo>
                  <a:pt x="1198" y="1534"/>
                </a:lnTo>
                <a:lnTo>
                  <a:pt x="1209" y="1530"/>
                </a:lnTo>
                <a:lnTo>
                  <a:pt x="1220" y="1528"/>
                </a:lnTo>
                <a:lnTo>
                  <a:pt x="1243" y="1523"/>
                </a:lnTo>
                <a:lnTo>
                  <a:pt x="1287" y="1510"/>
                </a:lnTo>
                <a:lnTo>
                  <a:pt x="1329" y="1492"/>
                </a:lnTo>
                <a:lnTo>
                  <a:pt x="1370" y="1472"/>
                </a:lnTo>
                <a:lnTo>
                  <a:pt x="1389" y="1459"/>
                </a:lnTo>
                <a:lnTo>
                  <a:pt x="1410" y="1448"/>
                </a:lnTo>
                <a:lnTo>
                  <a:pt x="1449" y="1423"/>
                </a:lnTo>
                <a:lnTo>
                  <a:pt x="1469" y="1446"/>
                </a:lnTo>
                <a:lnTo>
                  <a:pt x="1491" y="1468"/>
                </a:lnTo>
                <a:lnTo>
                  <a:pt x="1513" y="1485"/>
                </a:lnTo>
                <a:lnTo>
                  <a:pt x="1537" y="1501"/>
                </a:lnTo>
                <a:lnTo>
                  <a:pt x="1562" y="1511"/>
                </a:lnTo>
                <a:lnTo>
                  <a:pt x="1588" y="1520"/>
                </a:lnTo>
                <a:lnTo>
                  <a:pt x="1615" y="1525"/>
                </a:lnTo>
                <a:lnTo>
                  <a:pt x="1643" y="1528"/>
                </a:lnTo>
                <a:lnTo>
                  <a:pt x="1672" y="1525"/>
                </a:lnTo>
                <a:lnTo>
                  <a:pt x="1686" y="1523"/>
                </a:lnTo>
                <a:lnTo>
                  <a:pt x="1701" y="1520"/>
                </a:lnTo>
                <a:lnTo>
                  <a:pt x="1714" y="1515"/>
                </a:lnTo>
                <a:lnTo>
                  <a:pt x="1728" y="1510"/>
                </a:lnTo>
                <a:lnTo>
                  <a:pt x="1741" y="1503"/>
                </a:lnTo>
                <a:lnTo>
                  <a:pt x="1744" y="1501"/>
                </a:lnTo>
                <a:lnTo>
                  <a:pt x="1745" y="1499"/>
                </a:lnTo>
                <a:lnTo>
                  <a:pt x="1748" y="1499"/>
                </a:lnTo>
                <a:lnTo>
                  <a:pt x="1755" y="1497"/>
                </a:lnTo>
                <a:lnTo>
                  <a:pt x="1761" y="1492"/>
                </a:lnTo>
                <a:lnTo>
                  <a:pt x="1763" y="1489"/>
                </a:lnTo>
                <a:lnTo>
                  <a:pt x="1764" y="1488"/>
                </a:lnTo>
                <a:lnTo>
                  <a:pt x="1767" y="1488"/>
                </a:lnTo>
                <a:lnTo>
                  <a:pt x="1780" y="1479"/>
                </a:lnTo>
                <a:lnTo>
                  <a:pt x="1806" y="1458"/>
                </a:lnTo>
                <a:lnTo>
                  <a:pt x="1829" y="1434"/>
                </a:lnTo>
                <a:lnTo>
                  <a:pt x="1852" y="1406"/>
                </a:lnTo>
                <a:lnTo>
                  <a:pt x="1853" y="1401"/>
                </a:lnTo>
                <a:lnTo>
                  <a:pt x="1856" y="1397"/>
                </a:lnTo>
                <a:lnTo>
                  <a:pt x="1861" y="1390"/>
                </a:lnTo>
                <a:lnTo>
                  <a:pt x="1872" y="1374"/>
                </a:lnTo>
                <a:lnTo>
                  <a:pt x="1879" y="1357"/>
                </a:lnTo>
                <a:lnTo>
                  <a:pt x="1888" y="1342"/>
                </a:lnTo>
                <a:lnTo>
                  <a:pt x="1902" y="1308"/>
                </a:lnTo>
                <a:lnTo>
                  <a:pt x="1909" y="1290"/>
                </a:lnTo>
                <a:lnTo>
                  <a:pt x="1911" y="1281"/>
                </a:lnTo>
                <a:lnTo>
                  <a:pt x="1915" y="1274"/>
                </a:lnTo>
                <a:lnTo>
                  <a:pt x="1917" y="1263"/>
                </a:lnTo>
                <a:lnTo>
                  <a:pt x="1919" y="1254"/>
                </a:lnTo>
                <a:lnTo>
                  <a:pt x="1924" y="1236"/>
                </a:lnTo>
                <a:lnTo>
                  <a:pt x="1931" y="1198"/>
                </a:lnTo>
                <a:lnTo>
                  <a:pt x="1932" y="1177"/>
                </a:lnTo>
                <a:lnTo>
                  <a:pt x="1935" y="1158"/>
                </a:lnTo>
                <a:lnTo>
                  <a:pt x="1937" y="1116"/>
                </a:lnTo>
                <a:lnTo>
                  <a:pt x="1937" y="1088"/>
                </a:lnTo>
                <a:lnTo>
                  <a:pt x="1953" y="1080"/>
                </a:lnTo>
                <a:lnTo>
                  <a:pt x="1970" y="1072"/>
                </a:lnTo>
                <a:lnTo>
                  <a:pt x="2000" y="1056"/>
                </a:lnTo>
                <a:lnTo>
                  <a:pt x="2003" y="1052"/>
                </a:lnTo>
                <a:lnTo>
                  <a:pt x="2007" y="1049"/>
                </a:lnTo>
                <a:lnTo>
                  <a:pt x="2015" y="1044"/>
                </a:lnTo>
                <a:lnTo>
                  <a:pt x="2030" y="1034"/>
                </a:lnTo>
                <a:lnTo>
                  <a:pt x="2059" y="1009"/>
                </a:lnTo>
                <a:lnTo>
                  <a:pt x="2080" y="984"/>
                </a:lnTo>
                <a:lnTo>
                  <a:pt x="2101" y="958"/>
                </a:lnTo>
                <a:lnTo>
                  <a:pt x="2118" y="929"/>
                </a:lnTo>
                <a:lnTo>
                  <a:pt x="2132" y="901"/>
                </a:lnTo>
                <a:lnTo>
                  <a:pt x="2141" y="870"/>
                </a:lnTo>
                <a:lnTo>
                  <a:pt x="2150" y="839"/>
                </a:lnTo>
                <a:lnTo>
                  <a:pt x="2154" y="806"/>
                </a:lnTo>
                <a:lnTo>
                  <a:pt x="2154" y="797"/>
                </a:lnTo>
                <a:lnTo>
                  <a:pt x="2155" y="789"/>
                </a:lnTo>
                <a:lnTo>
                  <a:pt x="2157" y="773"/>
                </a:lnTo>
                <a:lnTo>
                  <a:pt x="2154" y="739"/>
                </a:lnTo>
                <a:lnTo>
                  <a:pt x="2150" y="706"/>
                </a:lnTo>
                <a:lnTo>
                  <a:pt x="2141" y="674"/>
                </a:lnTo>
                <a:lnTo>
                  <a:pt x="2132" y="644"/>
                </a:lnTo>
                <a:lnTo>
                  <a:pt x="2118" y="615"/>
                </a:lnTo>
                <a:lnTo>
                  <a:pt x="2101" y="588"/>
                </a:lnTo>
                <a:lnTo>
                  <a:pt x="2080" y="561"/>
                </a:lnTo>
                <a:lnTo>
                  <a:pt x="2059" y="53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34" name="Rectangle 134">
            <a:extLst>
              <a:ext uri="{FF2B5EF4-FFF2-40B4-BE49-F238E27FC236}">
                <a16:creationId xmlns:a16="http://schemas.microsoft.com/office/drawing/2014/main" id="{6197B800-AD2D-E90A-B97D-1F717EA3CC31}"/>
              </a:ext>
            </a:extLst>
          </p:cNvPr>
          <p:cNvSpPr>
            <a:spLocks noChangeArrowheads="1"/>
          </p:cNvSpPr>
          <p:nvPr/>
        </p:nvSpPr>
        <p:spPr bwMode="auto">
          <a:xfrm>
            <a:off x="4648200" y="2589213"/>
            <a:ext cx="5080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Host B </a:t>
            </a:r>
            <a:endParaRPr lang="en-US" altLang="zh-CN" sz="1800">
              <a:solidFill>
                <a:schemeClr val="tx1"/>
              </a:solidFill>
              <a:ea typeface="宋体" panose="02010600030101010101" pitchFamily="2" charset="-122"/>
            </a:endParaRPr>
          </a:p>
        </p:txBody>
      </p:sp>
      <p:sp>
        <p:nvSpPr>
          <p:cNvPr id="51338" name="Rectangle 138">
            <a:extLst>
              <a:ext uri="{FF2B5EF4-FFF2-40B4-BE49-F238E27FC236}">
                <a16:creationId xmlns:a16="http://schemas.microsoft.com/office/drawing/2014/main" id="{4733A513-5AB6-D58C-41F1-0A0764247A72}"/>
              </a:ext>
            </a:extLst>
          </p:cNvPr>
          <p:cNvSpPr>
            <a:spLocks noChangeArrowheads="1"/>
          </p:cNvSpPr>
          <p:nvPr/>
        </p:nvSpPr>
        <p:spPr bwMode="auto">
          <a:xfrm>
            <a:off x="3519488" y="1825625"/>
            <a:ext cx="5556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Storage</a:t>
            </a:r>
            <a:endParaRPr lang="en-US" altLang="zh-CN" sz="1800">
              <a:solidFill>
                <a:schemeClr val="tx1"/>
              </a:solidFill>
              <a:ea typeface="宋体" panose="02010600030101010101" pitchFamily="2" charset="-122"/>
            </a:endParaRPr>
          </a:p>
        </p:txBody>
      </p:sp>
      <p:sp>
        <p:nvSpPr>
          <p:cNvPr id="51339" name="Rectangle 139">
            <a:extLst>
              <a:ext uri="{FF2B5EF4-FFF2-40B4-BE49-F238E27FC236}">
                <a16:creationId xmlns:a16="http://schemas.microsoft.com/office/drawing/2014/main" id="{1DD4A5FB-AE0D-A9BF-3BCB-397507905D6C}"/>
              </a:ext>
            </a:extLst>
          </p:cNvPr>
          <p:cNvSpPr>
            <a:spLocks noChangeArrowheads="1"/>
          </p:cNvSpPr>
          <p:nvPr/>
        </p:nvSpPr>
        <p:spPr bwMode="auto">
          <a:xfrm>
            <a:off x="3344863" y="1993900"/>
            <a:ext cx="9191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Management</a:t>
            </a:r>
            <a:endParaRPr lang="en-US" altLang="zh-CN" sz="1800">
              <a:solidFill>
                <a:schemeClr val="tx1"/>
              </a:solidFill>
              <a:ea typeface="宋体" panose="02010600030101010101" pitchFamily="2" charset="-122"/>
            </a:endParaRPr>
          </a:p>
        </p:txBody>
      </p:sp>
      <p:sp>
        <p:nvSpPr>
          <p:cNvPr id="51340" name="Rectangle 140">
            <a:extLst>
              <a:ext uri="{FF2B5EF4-FFF2-40B4-BE49-F238E27FC236}">
                <a16:creationId xmlns:a16="http://schemas.microsoft.com/office/drawing/2014/main" id="{1485E395-3538-4384-A6ED-F58956B3CB52}"/>
              </a:ext>
            </a:extLst>
          </p:cNvPr>
          <p:cNvSpPr>
            <a:spLocks noChangeArrowheads="1"/>
          </p:cNvSpPr>
          <p:nvPr/>
        </p:nvSpPr>
        <p:spPr bwMode="auto">
          <a:xfrm>
            <a:off x="3490913" y="2163763"/>
            <a:ext cx="6175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Platform</a:t>
            </a:r>
            <a:endParaRPr lang="en-US" altLang="zh-CN" sz="1800">
              <a:solidFill>
                <a:schemeClr val="tx1"/>
              </a:solidFill>
              <a:ea typeface="宋体" panose="02010600030101010101" pitchFamily="2" charset="-122"/>
            </a:endParaRPr>
          </a:p>
        </p:txBody>
      </p:sp>
      <p:sp>
        <p:nvSpPr>
          <p:cNvPr id="51341" name="Rectangle 141">
            <a:extLst>
              <a:ext uri="{FF2B5EF4-FFF2-40B4-BE49-F238E27FC236}">
                <a16:creationId xmlns:a16="http://schemas.microsoft.com/office/drawing/2014/main" id="{5CCEC3A6-F341-4D73-D969-3965AFAF694F}"/>
              </a:ext>
            </a:extLst>
          </p:cNvPr>
          <p:cNvSpPr>
            <a:spLocks noChangeArrowheads="1"/>
          </p:cNvSpPr>
          <p:nvPr/>
        </p:nvSpPr>
        <p:spPr bwMode="auto">
          <a:xfrm>
            <a:off x="2667000" y="2741613"/>
            <a:ext cx="5095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Host A </a:t>
            </a:r>
            <a:endParaRPr lang="en-US" altLang="zh-CN" sz="1800">
              <a:solidFill>
                <a:schemeClr val="tx1"/>
              </a:solidFill>
              <a:ea typeface="宋体" panose="02010600030101010101" pitchFamily="2" charset="-122"/>
            </a:endParaRPr>
          </a:p>
        </p:txBody>
      </p:sp>
      <p:grpSp>
        <p:nvGrpSpPr>
          <p:cNvPr id="51413" name="Group 213">
            <a:extLst>
              <a:ext uri="{FF2B5EF4-FFF2-40B4-BE49-F238E27FC236}">
                <a16:creationId xmlns:a16="http://schemas.microsoft.com/office/drawing/2014/main" id="{7AEDBFEC-E39A-A75E-F26B-9F931A9DB19D}"/>
              </a:ext>
            </a:extLst>
          </p:cNvPr>
          <p:cNvGrpSpPr>
            <a:grpSpLocks/>
          </p:cNvGrpSpPr>
          <p:nvPr/>
        </p:nvGrpSpPr>
        <p:grpSpPr bwMode="auto">
          <a:xfrm>
            <a:off x="1612900" y="3217863"/>
            <a:ext cx="276225" cy="382587"/>
            <a:chOff x="632" y="2100"/>
            <a:chExt cx="174" cy="241"/>
          </a:xfrm>
        </p:grpSpPr>
        <p:sp>
          <p:nvSpPr>
            <p:cNvPr id="51343" name="Freeform 143">
              <a:extLst>
                <a:ext uri="{FF2B5EF4-FFF2-40B4-BE49-F238E27FC236}">
                  <a16:creationId xmlns:a16="http://schemas.microsoft.com/office/drawing/2014/main" id="{61814CB6-776A-801F-4E30-8BFAE004C352}"/>
                </a:ext>
              </a:extLst>
            </p:cNvPr>
            <p:cNvSpPr>
              <a:spLocks/>
            </p:cNvSpPr>
            <p:nvPr/>
          </p:nvSpPr>
          <p:spPr bwMode="auto">
            <a:xfrm>
              <a:off x="767" y="2194"/>
              <a:ext cx="39" cy="118"/>
            </a:xfrm>
            <a:custGeom>
              <a:avLst/>
              <a:gdLst>
                <a:gd name="T0" fmla="*/ 55 w 156"/>
                <a:gd name="T1" fmla="*/ 20 h 472"/>
                <a:gd name="T2" fmla="*/ 64 w 156"/>
                <a:gd name="T3" fmla="*/ 26 h 472"/>
                <a:gd name="T4" fmla="*/ 75 w 156"/>
                <a:gd name="T5" fmla="*/ 35 h 472"/>
                <a:gd name="T6" fmla="*/ 95 w 156"/>
                <a:gd name="T7" fmla="*/ 57 h 472"/>
                <a:gd name="T8" fmla="*/ 115 w 156"/>
                <a:gd name="T9" fmla="*/ 83 h 472"/>
                <a:gd name="T10" fmla="*/ 129 w 156"/>
                <a:gd name="T11" fmla="*/ 110 h 472"/>
                <a:gd name="T12" fmla="*/ 142 w 156"/>
                <a:gd name="T13" fmla="*/ 140 h 472"/>
                <a:gd name="T14" fmla="*/ 149 w 156"/>
                <a:gd name="T15" fmla="*/ 167 h 472"/>
                <a:gd name="T16" fmla="*/ 155 w 156"/>
                <a:gd name="T17" fmla="*/ 199 h 472"/>
                <a:gd name="T18" fmla="*/ 156 w 156"/>
                <a:gd name="T19" fmla="*/ 225 h 472"/>
                <a:gd name="T20" fmla="*/ 156 w 156"/>
                <a:gd name="T21" fmla="*/ 416 h 472"/>
                <a:gd name="T22" fmla="*/ 151 w 156"/>
                <a:gd name="T23" fmla="*/ 427 h 472"/>
                <a:gd name="T24" fmla="*/ 147 w 156"/>
                <a:gd name="T25" fmla="*/ 432 h 472"/>
                <a:gd name="T26" fmla="*/ 144 w 156"/>
                <a:gd name="T27" fmla="*/ 439 h 472"/>
                <a:gd name="T28" fmla="*/ 137 w 156"/>
                <a:gd name="T29" fmla="*/ 448 h 472"/>
                <a:gd name="T30" fmla="*/ 131 w 156"/>
                <a:gd name="T31" fmla="*/ 452 h 472"/>
                <a:gd name="T32" fmla="*/ 127 w 156"/>
                <a:gd name="T33" fmla="*/ 457 h 472"/>
                <a:gd name="T34" fmla="*/ 116 w 156"/>
                <a:gd name="T35" fmla="*/ 462 h 472"/>
                <a:gd name="T36" fmla="*/ 103 w 156"/>
                <a:gd name="T37" fmla="*/ 467 h 472"/>
                <a:gd name="T38" fmla="*/ 89 w 156"/>
                <a:gd name="T39" fmla="*/ 470 h 472"/>
                <a:gd name="T40" fmla="*/ 73 w 156"/>
                <a:gd name="T41" fmla="*/ 472 h 472"/>
                <a:gd name="T42" fmla="*/ 73 w 156"/>
                <a:gd name="T43" fmla="*/ 232 h 472"/>
                <a:gd name="T44" fmla="*/ 71 w 156"/>
                <a:gd name="T45" fmla="*/ 201 h 472"/>
                <a:gd name="T46" fmla="*/ 63 w 156"/>
                <a:gd name="T47" fmla="*/ 171 h 472"/>
                <a:gd name="T48" fmla="*/ 50 w 156"/>
                <a:gd name="T49" fmla="*/ 140 h 472"/>
                <a:gd name="T50" fmla="*/ 32 w 156"/>
                <a:gd name="T51" fmla="*/ 109 h 472"/>
                <a:gd name="T52" fmla="*/ 22 w 156"/>
                <a:gd name="T53" fmla="*/ 88 h 472"/>
                <a:gd name="T54" fmla="*/ 14 w 156"/>
                <a:gd name="T55" fmla="*/ 71 h 472"/>
                <a:gd name="T56" fmla="*/ 8 w 156"/>
                <a:gd name="T57" fmla="*/ 54 h 472"/>
                <a:gd name="T58" fmla="*/ 4 w 156"/>
                <a:gd name="T59" fmla="*/ 43 h 472"/>
                <a:gd name="T60" fmla="*/ 1 w 156"/>
                <a:gd name="T61" fmla="*/ 29 h 472"/>
                <a:gd name="T62" fmla="*/ 1 w 156"/>
                <a:gd name="T63" fmla="*/ 26 h 472"/>
                <a:gd name="T64" fmla="*/ 0 w 156"/>
                <a:gd name="T65" fmla="*/ 15 h 472"/>
                <a:gd name="T66" fmla="*/ 1 w 156"/>
                <a:gd name="T67" fmla="*/ 8 h 472"/>
                <a:gd name="T68" fmla="*/ 4 w 156"/>
                <a:gd name="T69" fmla="*/ 3 h 472"/>
                <a:gd name="T70" fmla="*/ 10 w 156"/>
                <a:gd name="T71" fmla="*/ 2 h 472"/>
                <a:gd name="T72" fmla="*/ 17 w 156"/>
                <a:gd name="T73" fmla="*/ 0 h 472"/>
                <a:gd name="T74" fmla="*/ 28 w 156"/>
                <a:gd name="T75" fmla="*/ 4 h 472"/>
                <a:gd name="T76" fmla="*/ 40 w 156"/>
                <a:gd name="T77" fmla="*/ 11 h 472"/>
                <a:gd name="T78" fmla="*/ 55 w 156"/>
                <a:gd name="T79" fmla="*/ 20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6" h="472">
                  <a:moveTo>
                    <a:pt x="55" y="20"/>
                  </a:moveTo>
                  <a:lnTo>
                    <a:pt x="64" y="26"/>
                  </a:lnTo>
                  <a:lnTo>
                    <a:pt x="75" y="35"/>
                  </a:lnTo>
                  <a:lnTo>
                    <a:pt x="95" y="57"/>
                  </a:lnTo>
                  <a:lnTo>
                    <a:pt x="115" y="83"/>
                  </a:lnTo>
                  <a:lnTo>
                    <a:pt x="129" y="110"/>
                  </a:lnTo>
                  <a:lnTo>
                    <a:pt x="142" y="140"/>
                  </a:lnTo>
                  <a:lnTo>
                    <a:pt x="149" y="167"/>
                  </a:lnTo>
                  <a:lnTo>
                    <a:pt x="155" y="199"/>
                  </a:lnTo>
                  <a:lnTo>
                    <a:pt x="156" y="225"/>
                  </a:lnTo>
                  <a:lnTo>
                    <a:pt x="156" y="416"/>
                  </a:lnTo>
                  <a:lnTo>
                    <a:pt x="151" y="427"/>
                  </a:lnTo>
                  <a:lnTo>
                    <a:pt x="147" y="432"/>
                  </a:lnTo>
                  <a:lnTo>
                    <a:pt x="144" y="439"/>
                  </a:lnTo>
                  <a:lnTo>
                    <a:pt x="137" y="448"/>
                  </a:lnTo>
                  <a:lnTo>
                    <a:pt x="131" y="452"/>
                  </a:lnTo>
                  <a:lnTo>
                    <a:pt x="127" y="457"/>
                  </a:lnTo>
                  <a:lnTo>
                    <a:pt x="116" y="462"/>
                  </a:lnTo>
                  <a:lnTo>
                    <a:pt x="103" y="467"/>
                  </a:lnTo>
                  <a:lnTo>
                    <a:pt x="89" y="470"/>
                  </a:lnTo>
                  <a:lnTo>
                    <a:pt x="73" y="472"/>
                  </a:lnTo>
                  <a:lnTo>
                    <a:pt x="73" y="232"/>
                  </a:lnTo>
                  <a:lnTo>
                    <a:pt x="71" y="201"/>
                  </a:lnTo>
                  <a:lnTo>
                    <a:pt x="63" y="171"/>
                  </a:lnTo>
                  <a:lnTo>
                    <a:pt x="50" y="140"/>
                  </a:lnTo>
                  <a:lnTo>
                    <a:pt x="32" y="109"/>
                  </a:lnTo>
                  <a:lnTo>
                    <a:pt x="22" y="88"/>
                  </a:lnTo>
                  <a:lnTo>
                    <a:pt x="14" y="71"/>
                  </a:lnTo>
                  <a:lnTo>
                    <a:pt x="8" y="54"/>
                  </a:lnTo>
                  <a:lnTo>
                    <a:pt x="4" y="43"/>
                  </a:lnTo>
                  <a:lnTo>
                    <a:pt x="1" y="29"/>
                  </a:lnTo>
                  <a:lnTo>
                    <a:pt x="1" y="26"/>
                  </a:lnTo>
                  <a:lnTo>
                    <a:pt x="0" y="15"/>
                  </a:lnTo>
                  <a:lnTo>
                    <a:pt x="1" y="8"/>
                  </a:lnTo>
                  <a:lnTo>
                    <a:pt x="4" y="3"/>
                  </a:lnTo>
                  <a:lnTo>
                    <a:pt x="10" y="2"/>
                  </a:lnTo>
                  <a:lnTo>
                    <a:pt x="17" y="0"/>
                  </a:lnTo>
                  <a:lnTo>
                    <a:pt x="28" y="4"/>
                  </a:lnTo>
                  <a:lnTo>
                    <a:pt x="40" y="11"/>
                  </a:lnTo>
                  <a:lnTo>
                    <a:pt x="55" y="2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44" name="Freeform 144">
              <a:extLst>
                <a:ext uri="{FF2B5EF4-FFF2-40B4-BE49-F238E27FC236}">
                  <a16:creationId xmlns:a16="http://schemas.microsoft.com/office/drawing/2014/main" id="{BF85731A-44E3-A0E6-D5C3-67CF18954559}"/>
                </a:ext>
              </a:extLst>
            </p:cNvPr>
            <p:cNvSpPr>
              <a:spLocks/>
            </p:cNvSpPr>
            <p:nvPr/>
          </p:nvSpPr>
          <p:spPr bwMode="auto">
            <a:xfrm>
              <a:off x="666" y="2187"/>
              <a:ext cx="115" cy="30"/>
            </a:xfrm>
            <a:custGeom>
              <a:avLst/>
              <a:gdLst>
                <a:gd name="T0" fmla="*/ 444 w 459"/>
                <a:gd name="T1" fmla="*/ 39 h 120"/>
                <a:gd name="T2" fmla="*/ 421 w 459"/>
                <a:gd name="T3" fmla="*/ 28 h 120"/>
                <a:gd name="T4" fmla="*/ 408 w 459"/>
                <a:gd name="T5" fmla="*/ 31 h 120"/>
                <a:gd name="T6" fmla="*/ 404 w 459"/>
                <a:gd name="T7" fmla="*/ 43 h 120"/>
                <a:gd name="T8" fmla="*/ 369 w 459"/>
                <a:gd name="T9" fmla="*/ 76 h 120"/>
                <a:gd name="T10" fmla="*/ 346 w 459"/>
                <a:gd name="T11" fmla="*/ 86 h 120"/>
                <a:gd name="T12" fmla="*/ 334 w 459"/>
                <a:gd name="T13" fmla="*/ 94 h 120"/>
                <a:gd name="T14" fmla="*/ 319 w 459"/>
                <a:gd name="T15" fmla="*/ 98 h 120"/>
                <a:gd name="T16" fmla="*/ 297 w 459"/>
                <a:gd name="T17" fmla="*/ 107 h 120"/>
                <a:gd name="T18" fmla="*/ 259 w 459"/>
                <a:gd name="T19" fmla="*/ 117 h 120"/>
                <a:gd name="T20" fmla="*/ 228 w 459"/>
                <a:gd name="T21" fmla="*/ 119 h 120"/>
                <a:gd name="T22" fmla="*/ 221 w 459"/>
                <a:gd name="T23" fmla="*/ 119 h 120"/>
                <a:gd name="T24" fmla="*/ 199 w 459"/>
                <a:gd name="T25" fmla="*/ 120 h 120"/>
                <a:gd name="T26" fmla="*/ 157 w 459"/>
                <a:gd name="T27" fmla="*/ 117 h 120"/>
                <a:gd name="T28" fmla="*/ 96 w 459"/>
                <a:gd name="T29" fmla="*/ 106 h 120"/>
                <a:gd name="T30" fmla="*/ 96 w 459"/>
                <a:gd name="T31" fmla="*/ 98 h 120"/>
                <a:gd name="T32" fmla="*/ 97 w 459"/>
                <a:gd name="T33" fmla="*/ 97 h 120"/>
                <a:gd name="T34" fmla="*/ 89 w 459"/>
                <a:gd name="T35" fmla="*/ 77 h 120"/>
                <a:gd name="T36" fmla="*/ 71 w 459"/>
                <a:gd name="T37" fmla="*/ 62 h 120"/>
                <a:gd name="T38" fmla="*/ 40 w 459"/>
                <a:gd name="T39" fmla="*/ 49 h 120"/>
                <a:gd name="T40" fmla="*/ 0 w 459"/>
                <a:gd name="T41" fmla="*/ 41 h 120"/>
                <a:gd name="T42" fmla="*/ 50 w 459"/>
                <a:gd name="T43" fmla="*/ 15 h 120"/>
                <a:gd name="T44" fmla="*/ 81 w 459"/>
                <a:gd name="T45" fmla="*/ 23 h 120"/>
                <a:gd name="T46" fmla="*/ 133 w 459"/>
                <a:gd name="T47" fmla="*/ 53 h 120"/>
                <a:gd name="T48" fmla="*/ 190 w 459"/>
                <a:gd name="T49" fmla="*/ 66 h 120"/>
                <a:gd name="T50" fmla="*/ 210 w 459"/>
                <a:gd name="T51" fmla="*/ 66 h 120"/>
                <a:gd name="T52" fmla="*/ 214 w 459"/>
                <a:gd name="T53" fmla="*/ 66 h 120"/>
                <a:gd name="T54" fmla="*/ 230 w 459"/>
                <a:gd name="T55" fmla="*/ 66 h 120"/>
                <a:gd name="T56" fmla="*/ 270 w 459"/>
                <a:gd name="T57" fmla="*/ 58 h 120"/>
                <a:gd name="T58" fmla="*/ 279 w 459"/>
                <a:gd name="T59" fmla="*/ 54 h 120"/>
                <a:gd name="T60" fmla="*/ 297 w 459"/>
                <a:gd name="T61" fmla="*/ 46 h 120"/>
                <a:gd name="T62" fmla="*/ 306 w 459"/>
                <a:gd name="T63" fmla="*/ 43 h 120"/>
                <a:gd name="T64" fmla="*/ 341 w 459"/>
                <a:gd name="T65" fmla="*/ 19 h 120"/>
                <a:gd name="T66" fmla="*/ 364 w 459"/>
                <a:gd name="T67" fmla="*/ 0 h 120"/>
                <a:gd name="T68" fmla="*/ 390 w 459"/>
                <a:gd name="T69" fmla="*/ 8 h 120"/>
                <a:gd name="T70" fmla="*/ 436 w 459"/>
                <a:gd name="T71" fmla="*/ 3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59" h="120">
                  <a:moveTo>
                    <a:pt x="459" y="48"/>
                  </a:moveTo>
                  <a:lnTo>
                    <a:pt x="444" y="39"/>
                  </a:lnTo>
                  <a:lnTo>
                    <a:pt x="432" y="32"/>
                  </a:lnTo>
                  <a:lnTo>
                    <a:pt x="421" y="28"/>
                  </a:lnTo>
                  <a:lnTo>
                    <a:pt x="414" y="30"/>
                  </a:lnTo>
                  <a:lnTo>
                    <a:pt x="408" y="31"/>
                  </a:lnTo>
                  <a:lnTo>
                    <a:pt x="405" y="36"/>
                  </a:lnTo>
                  <a:lnTo>
                    <a:pt x="404" y="43"/>
                  </a:lnTo>
                  <a:lnTo>
                    <a:pt x="405" y="54"/>
                  </a:lnTo>
                  <a:lnTo>
                    <a:pt x="369" y="76"/>
                  </a:lnTo>
                  <a:lnTo>
                    <a:pt x="351" y="85"/>
                  </a:lnTo>
                  <a:lnTo>
                    <a:pt x="346" y="86"/>
                  </a:lnTo>
                  <a:lnTo>
                    <a:pt x="342" y="89"/>
                  </a:lnTo>
                  <a:lnTo>
                    <a:pt x="334" y="94"/>
                  </a:lnTo>
                  <a:lnTo>
                    <a:pt x="324" y="97"/>
                  </a:lnTo>
                  <a:lnTo>
                    <a:pt x="319" y="98"/>
                  </a:lnTo>
                  <a:lnTo>
                    <a:pt x="315" y="101"/>
                  </a:lnTo>
                  <a:lnTo>
                    <a:pt x="297" y="107"/>
                  </a:lnTo>
                  <a:lnTo>
                    <a:pt x="277" y="112"/>
                  </a:lnTo>
                  <a:lnTo>
                    <a:pt x="259" y="117"/>
                  </a:lnTo>
                  <a:lnTo>
                    <a:pt x="239" y="119"/>
                  </a:lnTo>
                  <a:lnTo>
                    <a:pt x="228" y="119"/>
                  </a:lnTo>
                  <a:lnTo>
                    <a:pt x="223" y="119"/>
                  </a:lnTo>
                  <a:lnTo>
                    <a:pt x="221" y="119"/>
                  </a:lnTo>
                  <a:lnTo>
                    <a:pt x="219" y="120"/>
                  </a:lnTo>
                  <a:lnTo>
                    <a:pt x="199" y="120"/>
                  </a:lnTo>
                  <a:lnTo>
                    <a:pt x="179" y="120"/>
                  </a:lnTo>
                  <a:lnTo>
                    <a:pt x="157" y="117"/>
                  </a:lnTo>
                  <a:lnTo>
                    <a:pt x="137" y="115"/>
                  </a:lnTo>
                  <a:lnTo>
                    <a:pt x="96" y="106"/>
                  </a:lnTo>
                  <a:lnTo>
                    <a:pt x="96" y="101"/>
                  </a:lnTo>
                  <a:lnTo>
                    <a:pt x="96" y="98"/>
                  </a:lnTo>
                  <a:lnTo>
                    <a:pt x="96" y="97"/>
                  </a:lnTo>
                  <a:lnTo>
                    <a:pt x="97" y="97"/>
                  </a:lnTo>
                  <a:lnTo>
                    <a:pt x="93" y="86"/>
                  </a:lnTo>
                  <a:lnTo>
                    <a:pt x="89" y="77"/>
                  </a:lnTo>
                  <a:lnTo>
                    <a:pt x="80" y="68"/>
                  </a:lnTo>
                  <a:lnTo>
                    <a:pt x="71" y="62"/>
                  </a:lnTo>
                  <a:lnTo>
                    <a:pt x="57" y="54"/>
                  </a:lnTo>
                  <a:lnTo>
                    <a:pt x="40" y="49"/>
                  </a:lnTo>
                  <a:lnTo>
                    <a:pt x="21" y="44"/>
                  </a:lnTo>
                  <a:lnTo>
                    <a:pt x="0" y="41"/>
                  </a:lnTo>
                  <a:lnTo>
                    <a:pt x="25" y="26"/>
                  </a:lnTo>
                  <a:lnTo>
                    <a:pt x="50" y="15"/>
                  </a:lnTo>
                  <a:lnTo>
                    <a:pt x="67" y="10"/>
                  </a:lnTo>
                  <a:lnTo>
                    <a:pt x="81" y="23"/>
                  </a:lnTo>
                  <a:lnTo>
                    <a:pt x="98" y="35"/>
                  </a:lnTo>
                  <a:lnTo>
                    <a:pt x="133" y="53"/>
                  </a:lnTo>
                  <a:lnTo>
                    <a:pt x="170" y="63"/>
                  </a:lnTo>
                  <a:lnTo>
                    <a:pt x="190" y="66"/>
                  </a:lnTo>
                  <a:lnTo>
                    <a:pt x="210" y="67"/>
                  </a:lnTo>
                  <a:lnTo>
                    <a:pt x="210" y="66"/>
                  </a:lnTo>
                  <a:lnTo>
                    <a:pt x="212" y="66"/>
                  </a:lnTo>
                  <a:lnTo>
                    <a:pt x="214" y="66"/>
                  </a:lnTo>
                  <a:lnTo>
                    <a:pt x="219" y="66"/>
                  </a:lnTo>
                  <a:lnTo>
                    <a:pt x="230" y="66"/>
                  </a:lnTo>
                  <a:lnTo>
                    <a:pt x="250" y="63"/>
                  </a:lnTo>
                  <a:lnTo>
                    <a:pt x="270" y="58"/>
                  </a:lnTo>
                  <a:lnTo>
                    <a:pt x="274" y="55"/>
                  </a:lnTo>
                  <a:lnTo>
                    <a:pt x="279" y="54"/>
                  </a:lnTo>
                  <a:lnTo>
                    <a:pt x="289" y="52"/>
                  </a:lnTo>
                  <a:lnTo>
                    <a:pt x="297" y="46"/>
                  </a:lnTo>
                  <a:lnTo>
                    <a:pt x="301" y="44"/>
                  </a:lnTo>
                  <a:lnTo>
                    <a:pt x="306" y="43"/>
                  </a:lnTo>
                  <a:lnTo>
                    <a:pt x="324" y="32"/>
                  </a:lnTo>
                  <a:lnTo>
                    <a:pt x="341" y="19"/>
                  </a:lnTo>
                  <a:lnTo>
                    <a:pt x="357" y="6"/>
                  </a:lnTo>
                  <a:lnTo>
                    <a:pt x="364" y="0"/>
                  </a:lnTo>
                  <a:lnTo>
                    <a:pt x="366" y="1"/>
                  </a:lnTo>
                  <a:lnTo>
                    <a:pt x="390" y="8"/>
                  </a:lnTo>
                  <a:lnTo>
                    <a:pt x="414" y="19"/>
                  </a:lnTo>
                  <a:lnTo>
                    <a:pt x="436" y="31"/>
                  </a:lnTo>
                  <a:lnTo>
                    <a:pt x="459" y="4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45" name="Freeform 145">
              <a:extLst>
                <a:ext uri="{FF2B5EF4-FFF2-40B4-BE49-F238E27FC236}">
                  <a16:creationId xmlns:a16="http://schemas.microsoft.com/office/drawing/2014/main" id="{7C25F7E8-24CD-C592-34AB-45F2E6B48A0C}"/>
                </a:ext>
              </a:extLst>
            </p:cNvPr>
            <p:cNvSpPr>
              <a:spLocks/>
            </p:cNvSpPr>
            <p:nvPr/>
          </p:nvSpPr>
          <p:spPr bwMode="auto">
            <a:xfrm>
              <a:off x="664" y="2201"/>
              <a:ext cx="122" cy="140"/>
            </a:xfrm>
            <a:custGeom>
              <a:avLst/>
              <a:gdLst>
                <a:gd name="T0" fmla="*/ 414 w 486"/>
                <a:gd name="T1" fmla="*/ 3 h 561"/>
                <a:gd name="T2" fmla="*/ 421 w 486"/>
                <a:gd name="T3" fmla="*/ 28 h 561"/>
                <a:gd name="T4" fmla="*/ 435 w 486"/>
                <a:gd name="T5" fmla="*/ 62 h 561"/>
                <a:gd name="T6" fmla="*/ 463 w 486"/>
                <a:gd name="T7" fmla="*/ 114 h 561"/>
                <a:gd name="T8" fmla="*/ 484 w 486"/>
                <a:gd name="T9" fmla="*/ 175 h 561"/>
                <a:gd name="T10" fmla="*/ 486 w 486"/>
                <a:gd name="T11" fmla="*/ 446 h 561"/>
                <a:gd name="T12" fmla="*/ 431 w 486"/>
                <a:gd name="T13" fmla="*/ 482 h 561"/>
                <a:gd name="T14" fmla="*/ 395 w 486"/>
                <a:gd name="T15" fmla="*/ 500 h 561"/>
                <a:gd name="T16" fmla="*/ 388 w 486"/>
                <a:gd name="T17" fmla="*/ 504 h 561"/>
                <a:gd name="T18" fmla="*/ 360 w 486"/>
                <a:gd name="T19" fmla="*/ 517 h 561"/>
                <a:gd name="T20" fmla="*/ 348 w 486"/>
                <a:gd name="T21" fmla="*/ 521 h 561"/>
                <a:gd name="T22" fmla="*/ 317 w 486"/>
                <a:gd name="T23" fmla="*/ 534 h 561"/>
                <a:gd name="T24" fmla="*/ 258 w 486"/>
                <a:gd name="T25" fmla="*/ 551 h 561"/>
                <a:gd name="T26" fmla="*/ 179 w 486"/>
                <a:gd name="T27" fmla="*/ 558 h 561"/>
                <a:gd name="T28" fmla="*/ 133 w 486"/>
                <a:gd name="T29" fmla="*/ 561 h 561"/>
                <a:gd name="T30" fmla="*/ 67 w 486"/>
                <a:gd name="T31" fmla="*/ 556 h 561"/>
                <a:gd name="T32" fmla="*/ 0 w 486"/>
                <a:gd name="T33" fmla="*/ 234 h 561"/>
                <a:gd name="T34" fmla="*/ 14 w 486"/>
                <a:gd name="T35" fmla="*/ 173 h 561"/>
                <a:gd name="T36" fmla="*/ 59 w 486"/>
                <a:gd name="T37" fmla="*/ 123 h 561"/>
                <a:gd name="T38" fmla="*/ 79 w 486"/>
                <a:gd name="T39" fmla="*/ 99 h 561"/>
                <a:gd name="T40" fmla="*/ 101 w 486"/>
                <a:gd name="T41" fmla="*/ 65 h 561"/>
                <a:gd name="T42" fmla="*/ 146 w 486"/>
                <a:gd name="T43" fmla="*/ 61 h 561"/>
                <a:gd name="T44" fmla="*/ 188 w 486"/>
                <a:gd name="T45" fmla="*/ 66 h 561"/>
                <a:gd name="T46" fmla="*/ 228 w 486"/>
                <a:gd name="T47" fmla="*/ 66 h 561"/>
                <a:gd name="T48" fmla="*/ 232 w 486"/>
                <a:gd name="T49" fmla="*/ 65 h 561"/>
                <a:gd name="T50" fmla="*/ 248 w 486"/>
                <a:gd name="T51" fmla="*/ 65 h 561"/>
                <a:gd name="T52" fmla="*/ 286 w 486"/>
                <a:gd name="T53" fmla="*/ 58 h 561"/>
                <a:gd name="T54" fmla="*/ 324 w 486"/>
                <a:gd name="T55" fmla="*/ 47 h 561"/>
                <a:gd name="T56" fmla="*/ 333 w 486"/>
                <a:gd name="T57" fmla="*/ 43 h 561"/>
                <a:gd name="T58" fmla="*/ 351 w 486"/>
                <a:gd name="T59" fmla="*/ 35 h 561"/>
                <a:gd name="T60" fmla="*/ 360 w 486"/>
                <a:gd name="T61" fmla="*/ 31 h 561"/>
                <a:gd name="T62" fmla="*/ 414 w 486"/>
                <a:gd name="T63" fmla="*/ 0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86" h="561">
                  <a:moveTo>
                    <a:pt x="414" y="0"/>
                  </a:moveTo>
                  <a:lnTo>
                    <a:pt x="414" y="3"/>
                  </a:lnTo>
                  <a:lnTo>
                    <a:pt x="417" y="17"/>
                  </a:lnTo>
                  <a:lnTo>
                    <a:pt x="421" y="28"/>
                  </a:lnTo>
                  <a:lnTo>
                    <a:pt x="427" y="45"/>
                  </a:lnTo>
                  <a:lnTo>
                    <a:pt x="435" y="62"/>
                  </a:lnTo>
                  <a:lnTo>
                    <a:pt x="445" y="83"/>
                  </a:lnTo>
                  <a:lnTo>
                    <a:pt x="463" y="114"/>
                  </a:lnTo>
                  <a:lnTo>
                    <a:pt x="476" y="145"/>
                  </a:lnTo>
                  <a:lnTo>
                    <a:pt x="484" y="175"/>
                  </a:lnTo>
                  <a:lnTo>
                    <a:pt x="486" y="206"/>
                  </a:lnTo>
                  <a:lnTo>
                    <a:pt x="486" y="446"/>
                  </a:lnTo>
                  <a:lnTo>
                    <a:pt x="458" y="464"/>
                  </a:lnTo>
                  <a:lnTo>
                    <a:pt x="431" y="482"/>
                  </a:lnTo>
                  <a:lnTo>
                    <a:pt x="402" y="498"/>
                  </a:lnTo>
                  <a:lnTo>
                    <a:pt x="395" y="500"/>
                  </a:lnTo>
                  <a:lnTo>
                    <a:pt x="391" y="502"/>
                  </a:lnTo>
                  <a:lnTo>
                    <a:pt x="388" y="504"/>
                  </a:lnTo>
                  <a:lnTo>
                    <a:pt x="375" y="512"/>
                  </a:lnTo>
                  <a:lnTo>
                    <a:pt x="360" y="517"/>
                  </a:lnTo>
                  <a:lnTo>
                    <a:pt x="352" y="520"/>
                  </a:lnTo>
                  <a:lnTo>
                    <a:pt x="348" y="521"/>
                  </a:lnTo>
                  <a:lnTo>
                    <a:pt x="346" y="524"/>
                  </a:lnTo>
                  <a:lnTo>
                    <a:pt x="317" y="534"/>
                  </a:lnTo>
                  <a:lnTo>
                    <a:pt x="286" y="543"/>
                  </a:lnTo>
                  <a:lnTo>
                    <a:pt x="258" y="551"/>
                  </a:lnTo>
                  <a:lnTo>
                    <a:pt x="196" y="558"/>
                  </a:lnTo>
                  <a:lnTo>
                    <a:pt x="179" y="558"/>
                  </a:lnTo>
                  <a:lnTo>
                    <a:pt x="164" y="560"/>
                  </a:lnTo>
                  <a:lnTo>
                    <a:pt x="133" y="561"/>
                  </a:lnTo>
                  <a:lnTo>
                    <a:pt x="99" y="558"/>
                  </a:lnTo>
                  <a:lnTo>
                    <a:pt x="67" y="556"/>
                  </a:lnTo>
                  <a:lnTo>
                    <a:pt x="0" y="546"/>
                  </a:lnTo>
                  <a:lnTo>
                    <a:pt x="0" y="234"/>
                  </a:lnTo>
                  <a:lnTo>
                    <a:pt x="3" y="201"/>
                  </a:lnTo>
                  <a:lnTo>
                    <a:pt x="14" y="173"/>
                  </a:lnTo>
                  <a:lnTo>
                    <a:pt x="32" y="146"/>
                  </a:lnTo>
                  <a:lnTo>
                    <a:pt x="59" y="123"/>
                  </a:lnTo>
                  <a:lnTo>
                    <a:pt x="70" y="110"/>
                  </a:lnTo>
                  <a:lnTo>
                    <a:pt x="79" y="99"/>
                  </a:lnTo>
                  <a:lnTo>
                    <a:pt x="94" y="80"/>
                  </a:lnTo>
                  <a:lnTo>
                    <a:pt x="101" y="65"/>
                  </a:lnTo>
                  <a:lnTo>
                    <a:pt x="105" y="52"/>
                  </a:lnTo>
                  <a:lnTo>
                    <a:pt x="146" y="61"/>
                  </a:lnTo>
                  <a:lnTo>
                    <a:pt x="166" y="63"/>
                  </a:lnTo>
                  <a:lnTo>
                    <a:pt x="188" y="66"/>
                  </a:lnTo>
                  <a:lnTo>
                    <a:pt x="208" y="66"/>
                  </a:lnTo>
                  <a:lnTo>
                    <a:pt x="228" y="66"/>
                  </a:lnTo>
                  <a:lnTo>
                    <a:pt x="230" y="65"/>
                  </a:lnTo>
                  <a:lnTo>
                    <a:pt x="232" y="65"/>
                  </a:lnTo>
                  <a:lnTo>
                    <a:pt x="237" y="65"/>
                  </a:lnTo>
                  <a:lnTo>
                    <a:pt x="248" y="65"/>
                  </a:lnTo>
                  <a:lnTo>
                    <a:pt x="268" y="63"/>
                  </a:lnTo>
                  <a:lnTo>
                    <a:pt x="286" y="58"/>
                  </a:lnTo>
                  <a:lnTo>
                    <a:pt x="306" y="53"/>
                  </a:lnTo>
                  <a:lnTo>
                    <a:pt x="324" y="47"/>
                  </a:lnTo>
                  <a:lnTo>
                    <a:pt x="328" y="44"/>
                  </a:lnTo>
                  <a:lnTo>
                    <a:pt x="333" y="43"/>
                  </a:lnTo>
                  <a:lnTo>
                    <a:pt x="343" y="40"/>
                  </a:lnTo>
                  <a:lnTo>
                    <a:pt x="351" y="35"/>
                  </a:lnTo>
                  <a:lnTo>
                    <a:pt x="355" y="32"/>
                  </a:lnTo>
                  <a:lnTo>
                    <a:pt x="360" y="31"/>
                  </a:lnTo>
                  <a:lnTo>
                    <a:pt x="378" y="22"/>
                  </a:lnTo>
                  <a:lnTo>
                    <a:pt x="414"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46" name="Freeform 146">
              <a:extLst>
                <a:ext uri="{FF2B5EF4-FFF2-40B4-BE49-F238E27FC236}">
                  <a16:creationId xmlns:a16="http://schemas.microsoft.com/office/drawing/2014/main" id="{5900ED53-FBE8-760F-D430-2BC60E746CC8}"/>
                </a:ext>
              </a:extLst>
            </p:cNvPr>
            <p:cNvSpPr>
              <a:spLocks/>
            </p:cNvSpPr>
            <p:nvPr/>
          </p:nvSpPr>
          <p:spPr bwMode="auto">
            <a:xfrm>
              <a:off x="667" y="2100"/>
              <a:ext cx="104" cy="104"/>
            </a:xfrm>
            <a:custGeom>
              <a:avLst/>
              <a:gdLst>
                <a:gd name="T0" fmla="*/ 361 w 414"/>
                <a:gd name="T1" fmla="*/ 346 h 414"/>
                <a:gd name="T2" fmla="*/ 360 w 414"/>
                <a:gd name="T3" fmla="*/ 347 h 414"/>
                <a:gd name="T4" fmla="*/ 337 w 414"/>
                <a:gd name="T5" fmla="*/ 366 h 414"/>
                <a:gd name="T6" fmla="*/ 302 w 414"/>
                <a:gd name="T7" fmla="*/ 390 h 414"/>
                <a:gd name="T8" fmla="*/ 293 w 414"/>
                <a:gd name="T9" fmla="*/ 393 h 414"/>
                <a:gd name="T10" fmla="*/ 275 w 414"/>
                <a:gd name="T11" fmla="*/ 401 h 414"/>
                <a:gd name="T12" fmla="*/ 266 w 414"/>
                <a:gd name="T13" fmla="*/ 405 h 414"/>
                <a:gd name="T14" fmla="*/ 226 w 414"/>
                <a:gd name="T15" fmla="*/ 413 h 414"/>
                <a:gd name="T16" fmla="*/ 210 w 414"/>
                <a:gd name="T17" fmla="*/ 413 h 414"/>
                <a:gd name="T18" fmla="*/ 206 w 414"/>
                <a:gd name="T19" fmla="*/ 413 h 414"/>
                <a:gd name="T20" fmla="*/ 186 w 414"/>
                <a:gd name="T21" fmla="*/ 413 h 414"/>
                <a:gd name="T22" fmla="*/ 129 w 414"/>
                <a:gd name="T23" fmla="*/ 400 h 414"/>
                <a:gd name="T24" fmla="*/ 77 w 414"/>
                <a:gd name="T25" fmla="*/ 370 h 414"/>
                <a:gd name="T26" fmla="*/ 61 w 414"/>
                <a:gd name="T27" fmla="*/ 353 h 414"/>
                <a:gd name="T28" fmla="*/ 40 w 414"/>
                <a:gd name="T29" fmla="*/ 330 h 414"/>
                <a:gd name="T30" fmla="*/ 19 w 414"/>
                <a:gd name="T31" fmla="*/ 298 h 414"/>
                <a:gd name="T32" fmla="*/ 6 w 414"/>
                <a:gd name="T33" fmla="*/ 263 h 414"/>
                <a:gd name="T34" fmla="*/ 0 w 414"/>
                <a:gd name="T35" fmla="*/ 226 h 414"/>
                <a:gd name="T36" fmla="*/ 3 w 414"/>
                <a:gd name="T37" fmla="*/ 165 h 414"/>
                <a:gd name="T38" fmla="*/ 14 w 414"/>
                <a:gd name="T39" fmla="*/ 126 h 414"/>
                <a:gd name="T40" fmla="*/ 45 w 414"/>
                <a:gd name="T41" fmla="*/ 75 h 414"/>
                <a:gd name="T42" fmla="*/ 75 w 414"/>
                <a:gd name="T43" fmla="*/ 45 h 414"/>
                <a:gd name="T44" fmla="*/ 126 w 414"/>
                <a:gd name="T45" fmla="*/ 14 h 414"/>
                <a:gd name="T46" fmla="*/ 206 w 414"/>
                <a:gd name="T47" fmla="*/ 0 h 414"/>
                <a:gd name="T48" fmla="*/ 246 w 414"/>
                <a:gd name="T49" fmla="*/ 3 h 414"/>
                <a:gd name="T50" fmla="*/ 285 w 414"/>
                <a:gd name="T51" fmla="*/ 14 h 414"/>
                <a:gd name="T52" fmla="*/ 320 w 414"/>
                <a:gd name="T53" fmla="*/ 34 h 414"/>
                <a:gd name="T54" fmla="*/ 353 w 414"/>
                <a:gd name="T55" fmla="*/ 61 h 414"/>
                <a:gd name="T56" fmla="*/ 379 w 414"/>
                <a:gd name="T57" fmla="*/ 92 h 414"/>
                <a:gd name="T58" fmla="*/ 399 w 414"/>
                <a:gd name="T59" fmla="*/ 126 h 414"/>
                <a:gd name="T60" fmla="*/ 410 w 414"/>
                <a:gd name="T61" fmla="*/ 165 h 414"/>
                <a:gd name="T62" fmla="*/ 414 w 414"/>
                <a:gd name="T63" fmla="*/ 208 h 414"/>
                <a:gd name="T64" fmla="*/ 411 w 414"/>
                <a:gd name="T65" fmla="*/ 231 h 414"/>
                <a:gd name="T66" fmla="*/ 408 w 414"/>
                <a:gd name="T67" fmla="*/ 255 h 414"/>
                <a:gd name="T68" fmla="*/ 404 w 414"/>
                <a:gd name="T69" fmla="*/ 263 h 414"/>
                <a:gd name="T70" fmla="*/ 404 w 414"/>
                <a:gd name="T71" fmla="*/ 267 h 414"/>
                <a:gd name="T72" fmla="*/ 401 w 414"/>
                <a:gd name="T73" fmla="*/ 275 h 414"/>
                <a:gd name="T74" fmla="*/ 400 w 414"/>
                <a:gd name="T75" fmla="*/ 276 h 414"/>
                <a:gd name="T76" fmla="*/ 397 w 414"/>
                <a:gd name="T77" fmla="*/ 286 h 414"/>
                <a:gd name="T78" fmla="*/ 374 w 414"/>
                <a:gd name="T79" fmla="*/ 330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14" h="414">
                  <a:moveTo>
                    <a:pt x="374" y="330"/>
                  </a:moveTo>
                  <a:lnTo>
                    <a:pt x="361" y="346"/>
                  </a:lnTo>
                  <a:lnTo>
                    <a:pt x="360" y="346"/>
                  </a:lnTo>
                  <a:lnTo>
                    <a:pt x="360" y="347"/>
                  </a:lnTo>
                  <a:lnTo>
                    <a:pt x="353" y="353"/>
                  </a:lnTo>
                  <a:lnTo>
                    <a:pt x="337" y="366"/>
                  </a:lnTo>
                  <a:lnTo>
                    <a:pt x="320" y="379"/>
                  </a:lnTo>
                  <a:lnTo>
                    <a:pt x="302" y="390"/>
                  </a:lnTo>
                  <a:lnTo>
                    <a:pt x="297" y="391"/>
                  </a:lnTo>
                  <a:lnTo>
                    <a:pt x="293" y="393"/>
                  </a:lnTo>
                  <a:lnTo>
                    <a:pt x="285" y="399"/>
                  </a:lnTo>
                  <a:lnTo>
                    <a:pt x="275" y="401"/>
                  </a:lnTo>
                  <a:lnTo>
                    <a:pt x="270" y="402"/>
                  </a:lnTo>
                  <a:lnTo>
                    <a:pt x="266" y="405"/>
                  </a:lnTo>
                  <a:lnTo>
                    <a:pt x="246" y="410"/>
                  </a:lnTo>
                  <a:lnTo>
                    <a:pt x="226" y="413"/>
                  </a:lnTo>
                  <a:lnTo>
                    <a:pt x="215" y="413"/>
                  </a:lnTo>
                  <a:lnTo>
                    <a:pt x="210" y="413"/>
                  </a:lnTo>
                  <a:lnTo>
                    <a:pt x="208" y="413"/>
                  </a:lnTo>
                  <a:lnTo>
                    <a:pt x="206" y="413"/>
                  </a:lnTo>
                  <a:lnTo>
                    <a:pt x="206" y="414"/>
                  </a:lnTo>
                  <a:lnTo>
                    <a:pt x="186" y="413"/>
                  </a:lnTo>
                  <a:lnTo>
                    <a:pt x="166" y="410"/>
                  </a:lnTo>
                  <a:lnTo>
                    <a:pt x="129" y="400"/>
                  </a:lnTo>
                  <a:lnTo>
                    <a:pt x="94" y="382"/>
                  </a:lnTo>
                  <a:lnTo>
                    <a:pt x="77" y="370"/>
                  </a:lnTo>
                  <a:lnTo>
                    <a:pt x="63" y="357"/>
                  </a:lnTo>
                  <a:lnTo>
                    <a:pt x="61" y="353"/>
                  </a:lnTo>
                  <a:lnTo>
                    <a:pt x="54" y="347"/>
                  </a:lnTo>
                  <a:lnTo>
                    <a:pt x="40" y="330"/>
                  </a:lnTo>
                  <a:lnTo>
                    <a:pt x="30" y="315"/>
                  </a:lnTo>
                  <a:lnTo>
                    <a:pt x="19" y="298"/>
                  </a:lnTo>
                  <a:lnTo>
                    <a:pt x="13" y="282"/>
                  </a:lnTo>
                  <a:lnTo>
                    <a:pt x="6" y="263"/>
                  </a:lnTo>
                  <a:lnTo>
                    <a:pt x="3" y="245"/>
                  </a:lnTo>
                  <a:lnTo>
                    <a:pt x="0" y="226"/>
                  </a:lnTo>
                  <a:lnTo>
                    <a:pt x="0" y="208"/>
                  </a:lnTo>
                  <a:lnTo>
                    <a:pt x="3" y="165"/>
                  </a:lnTo>
                  <a:lnTo>
                    <a:pt x="6" y="145"/>
                  </a:lnTo>
                  <a:lnTo>
                    <a:pt x="14" y="126"/>
                  </a:lnTo>
                  <a:lnTo>
                    <a:pt x="34" y="92"/>
                  </a:lnTo>
                  <a:lnTo>
                    <a:pt x="45" y="75"/>
                  </a:lnTo>
                  <a:lnTo>
                    <a:pt x="61" y="61"/>
                  </a:lnTo>
                  <a:lnTo>
                    <a:pt x="75" y="45"/>
                  </a:lnTo>
                  <a:lnTo>
                    <a:pt x="92" y="34"/>
                  </a:lnTo>
                  <a:lnTo>
                    <a:pt x="126" y="14"/>
                  </a:lnTo>
                  <a:lnTo>
                    <a:pt x="164" y="3"/>
                  </a:lnTo>
                  <a:lnTo>
                    <a:pt x="206" y="0"/>
                  </a:lnTo>
                  <a:lnTo>
                    <a:pt x="226" y="0"/>
                  </a:lnTo>
                  <a:lnTo>
                    <a:pt x="246" y="3"/>
                  </a:lnTo>
                  <a:lnTo>
                    <a:pt x="266" y="7"/>
                  </a:lnTo>
                  <a:lnTo>
                    <a:pt x="285" y="14"/>
                  </a:lnTo>
                  <a:lnTo>
                    <a:pt x="302" y="22"/>
                  </a:lnTo>
                  <a:lnTo>
                    <a:pt x="320" y="34"/>
                  </a:lnTo>
                  <a:lnTo>
                    <a:pt x="337" y="45"/>
                  </a:lnTo>
                  <a:lnTo>
                    <a:pt x="353" y="61"/>
                  </a:lnTo>
                  <a:lnTo>
                    <a:pt x="366" y="75"/>
                  </a:lnTo>
                  <a:lnTo>
                    <a:pt x="379" y="92"/>
                  </a:lnTo>
                  <a:lnTo>
                    <a:pt x="389" y="108"/>
                  </a:lnTo>
                  <a:lnTo>
                    <a:pt x="399" y="126"/>
                  </a:lnTo>
                  <a:lnTo>
                    <a:pt x="405" y="145"/>
                  </a:lnTo>
                  <a:lnTo>
                    <a:pt x="410" y="165"/>
                  </a:lnTo>
                  <a:lnTo>
                    <a:pt x="413" y="186"/>
                  </a:lnTo>
                  <a:lnTo>
                    <a:pt x="414" y="208"/>
                  </a:lnTo>
                  <a:lnTo>
                    <a:pt x="413" y="223"/>
                  </a:lnTo>
                  <a:lnTo>
                    <a:pt x="411" y="231"/>
                  </a:lnTo>
                  <a:lnTo>
                    <a:pt x="411" y="240"/>
                  </a:lnTo>
                  <a:lnTo>
                    <a:pt x="408" y="255"/>
                  </a:lnTo>
                  <a:lnTo>
                    <a:pt x="405" y="263"/>
                  </a:lnTo>
                  <a:lnTo>
                    <a:pt x="404" y="263"/>
                  </a:lnTo>
                  <a:lnTo>
                    <a:pt x="404" y="264"/>
                  </a:lnTo>
                  <a:lnTo>
                    <a:pt x="404" y="267"/>
                  </a:lnTo>
                  <a:lnTo>
                    <a:pt x="404" y="272"/>
                  </a:lnTo>
                  <a:lnTo>
                    <a:pt x="401" y="275"/>
                  </a:lnTo>
                  <a:lnTo>
                    <a:pt x="400" y="275"/>
                  </a:lnTo>
                  <a:lnTo>
                    <a:pt x="400" y="276"/>
                  </a:lnTo>
                  <a:lnTo>
                    <a:pt x="400" y="279"/>
                  </a:lnTo>
                  <a:lnTo>
                    <a:pt x="397" y="286"/>
                  </a:lnTo>
                  <a:lnTo>
                    <a:pt x="391" y="302"/>
                  </a:lnTo>
                  <a:lnTo>
                    <a:pt x="374" y="33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47" name="Freeform 147">
              <a:extLst>
                <a:ext uri="{FF2B5EF4-FFF2-40B4-BE49-F238E27FC236}">
                  <a16:creationId xmlns:a16="http://schemas.microsoft.com/office/drawing/2014/main" id="{07033489-1C3B-6E99-EB31-838E1046E497}"/>
                </a:ext>
              </a:extLst>
            </p:cNvPr>
            <p:cNvSpPr>
              <a:spLocks/>
            </p:cNvSpPr>
            <p:nvPr/>
          </p:nvSpPr>
          <p:spPr bwMode="auto">
            <a:xfrm>
              <a:off x="632" y="2197"/>
              <a:ext cx="58" cy="140"/>
            </a:xfrm>
            <a:custGeom>
              <a:avLst/>
              <a:gdLst>
                <a:gd name="T0" fmla="*/ 13 w 232"/>
                <a:gd name="T1" fmla="*/ 154 h 559"/>
                <a:gd name="T2" fmla="*/ 23 w 232"/>
                <a:gd name="T3" fmla="*/ 123 h 559"/>
                <a:gd name="T4" fmla="*/ 38 w 232"/>
                <a:gd name="T5" fmla="*/ 96 h 559"/>
                <a:gd name="T6" fmla="*/ 58 w 232"/>
                <a:gd name="T7" fmla="*/ 69 h 559"/>
                <a:gd name="T8" fmla="*/ 81 w 232"/>
                <a:gd name="T9" fmla="*/ 44 h 559"/>
                <a:gd name="T10" fmla="*/ 107 w 232"/>
                <a:gd name="T11" fmla="*/ 20 h 559"/>
                <a:gd name="T12" fmla="*/ 135 w 232"/>
                <a:gd name="T13" fmla="*/ 0 h 559"/>
                <a:gd name="T14" fmla="*/ 156 w 232"/>
                <a:gd name="T15" fmla="*/ 3 h 559"/>
                <a:gd name="T16" fmla="*/ 175 w 232"/>
                <a:gd name="T17" fmla="*/ 8 h 559"/>
                <a:gd name="T18" fmla="*/ 192 w 232"/>
                <a:gd name="T19" fmla="*/ 13 h 559"/>
                <a:gd name="T20" fmla="*/ 206 w 232"/>
                <a:gd name="T21" fmla="*/ 21 h 559"/>
                <a:gd name="T22" fmla="*/ 215 w 232"/>
                <a:gd name="T23" fmla="*/ 27 h 559"/>
                <a:gd name="T24" fmla="*/ 224 w 232"/>
                <a:gd name="T25" fmla="*/ 36 h 559"/>
                <a:gd name="T26" fmla="*/ 228 w 232"/>
                <a:gd name="T27" fmla="*/ 45 h 559"/>
                <a:gd name="T28" fmla="*/ 232 w 232"/>
                <a:gd name="T29" fmla="*/ 56 h 559"/>
                <a:gd name="T30" fmla="*/ 231 w 232"/>
                <a:gd name="T31" fmla="*/ 56 h 559"/>
                <a:gd name="T32" fmla="*/ 231 w 232"/>
                <a:gd name="T33" fmla="*/ 57 h 559"/>
                <a:gd name="T34" fmla="*/ 231 w 232"/>
                <a:gd name="T35" fmla="*/ 60 h 559"/>
                <a:gd name="T36" fmla="*/ 231 w 232"/>
                <a:gd name="T37" fmla="*/ 65 h 559"/>
                <a:gd name="T38" fmla="*/ 227 w 232"/>
                <a:gd name="T39" fmla="*/ 78 h 559"/>
                <a:gd name="T40" fmla="*/ 220 w 232"/>
                <a:gd name="T41" fmla="*/ 93 h 559"/>
                <a:gd name="T42" fmla="*/ 205 w 232"/>
                <a:gd name="T43" fmla="*/ 112 h 559"/>
                <a:gd name="T44" fmla="*/ 196 w 232"/>
                <a:gd name="T45" fmla="*/ 123 h 559"/>
                <a:gd name="T46" fmla="*/ 185 w 232"/>
                <a:gd name="T47" fmla="*/ 136 h 559"/>
                <a:gd name="T48" fmla="*/ 158 w 232"/>
                <a:gd name="T49" fmla="*/ 159 h 559"/>
                <a:gd name="T50" fmla="*/ 140 w 232"/>
                <a:gd name="T51" fmla="*/ 186 h 559"/>
                <a:gd name="T52" fmla="*/ 129 w 232"/>
                <a:gd name="T53" fmla="*/ 214 h 559"/>
                <a:gd name="T54" fmla="*/ 126 w 232"/>
                <a:gd name="T55" fmla="*/ 247 h 559"/>
                <a:gd name="T56" fmla="*/ 126 w 232"/>
                <a:gd name="T57" fmla="*/ 559 h 559"/>
                <a:gd name="T58" fmla="*/ 104 w 232"/>
                <a:gd name="T59" fmla="*/ 557 h 559"/>
                <a:gd name="T60" fmla="*/ 85 w 232"/>
                <a:gd name="T61" fmla="*/ 555 h 559"/>
                <a:gd name="T62" fmla="*/ 67 w 232"/>
                <a:gd name="T63" fmla="*/ 548 h 559"/>
                <a:gd name="T64" fmla="*/ 51 w 232"/>
                <a:gd name="T65" fmla="*/ 542 h 559"/>
                <a:gd name="T66" fmla="*/ 36 w 232"/>
                <a:gd name="T67" fmla="*/ 530 h 559"/>
                <a:gd name="T68" fmla="*/ 24 w 232"/>
                <a:gd name="T69" fmla="*/ 517 h 559"/>
                <a:gd name="T70" fmla="*/ 13 w 232"/>
                <a:gd name="T71" fmla="*/ 501 h 559"/>
                <a:gd name="T72" fmla="*/ 4 w 232"/>
                <a:gd name="T73" fmla="*/ 484 h 559"/>
                <a:gd name="T74" fmla="*/ 0 w 232"/>
                <a:gd name="T75" fmla="*/ 458 h 559"/>
                <a:gd name="T76" fmla="*/ 0 w 232"/>
                <a:gd name="T77" fmla="*/ 431 h 559"/>
                <a:gd name="T78" fmla="*/ 0 w 232"/>
                <a:gd name="T79" fmla="*/ 240 h 559"/>
                <a:gd name="T80" fmla="*/ 1 w 232"/>
                <a:gd name="T81" fmla="*/ 212 h 559"/>
                <a:gd name="T82" fmla="*/ 5 w 232"/>
                <a:gd name="T83" fmla="*/ 186 h 559"/>
                <a:gd name="T84" fmla="*/ 13 w 232"/>
                <a:gd name="T85" fmla="*/ 154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2" h="559">
                  <a:moveTo>
                    <a:pt x="13" y="154"/>
                  </a:moveTo>
                  <a:lnTo>
                    <a:pt x="23" y="123"/>
                  </a:lnTo>
                  <a:lnTo>
                    <a:pt x="38" y="96"/>
                  </a:lnTo>
                  <a:lnTo>
                    <a:pt x="58" y="69"/>
                  </a:lnTo>
                  <a:lnTo>
                    <a:pt x="81" y="44"/>
                  </a:lnTo>
                  <a:lnTo>
                    <a:pt x="107" y="20"/>
                  </a:lnTo>
                  <a:lnTo>
                    <a:pt x="135" y="0"/>
                  </a:lnTo>
                  <a:lnTo>
                    <a:pt x="156" y="3"/>
                  </a:lnTo>
                  <a:lnTo>
                    <a:pt x="175" y="8"/>
                  </a:lnTo>
                  <a:lnTo>
                    <a:pt x="192" y="13"/>
                  </a:lnTo>
                  <a:lnTo>
                    <a:pt x="206" y="21"/>
                  </a:lnTo>
                  <a:lnTo>
                    <a:pt x="215" y="27"/>
                  </a:lnTo>
                  <a:lnTo>
                    <a:pt x="224" y="36"/>
                  </a:lnTo>
                  <a:lnTo>
                    <a:pt x="228" y="45"/>
                  </a:lnTo>
                  <a:lnTo>
                    <a:pt x="232" y="56"/>
                  </a:lnTo>
                  <a:lnTo>
                    <a:pt x="231" y="56"/>
                  </a:lnTo>
                  <a:lnTo>
                    <a:pt x="231" y="57"/>
                  </a:lnTo>
                  <a:lnTo>
                    <a:pt x="231" y="60"/>
                  </a:lnTo>
                  <a:lnTo>
                    <a:pt x="231" y="65"/>
                  </a:lnTo>
                  <a:lnTo>
                    <a:pt x="227" y="78"/>
                  </a:lnTo>
                  <a:lnTo>
                    <a:pt x="220" y="93"/>
                  </a:lnTo>
                  <a:lnTo>
                    <a:pt x="205" y="112"/>
                  </a:lnTo>
                  <a:lnTo>
                    <a:pt x="196" y="123"/>
                  </a:lnTo>
                  <a:lnTo>
                    <a:pt x="185" y="136"/>
                  </a:lnTo>
                  <a:lnTo>
                    <a:pt x="158" y="159"/>
                  </a:lnTo>
                  <a:lnTo>
                    <a:pt x="140" y="186"/>
                  </a:lnTo>
                  <a:lnTo>
                    <a:pt x="129" y="214"/>
                  </a:lnTo>
                  <a:lnTo>
                    <a:pt x="126" y="247"/>
                  </a:lnTo>
                  <a:lnTo>
                    <a:pt x="126" y="559"/>
                  </a:lnTo>
                  <a:lnTo>
                    <a:pt x="104" y="557"/>
                  </a:lnTo>
                  <a:lnTo>
                    <a:pt x="85" y="555"/>
                  </a:lnTo>
                  <a:lnTo>
                    <a:pt x="67" y="548"/>
                  </a:lnTo>
                  <a:lnTo>
                    <a:pt x="51" y="542"/>
                  </a:lnTo>
                  <a:lnTo>
                    <a:pt x="36" y="530"/>
                  </a:lnTo>
                  <a:lnTo>
                    <a:pt x="24" y="517"/>
                  </a:lnTo>
                  <a:lnTo>
                    <a:pt x="13" y="501"/>
                  </a:lnTo>
                  <a:lnTo>
                    <a:pt x="4" y="484"/>
                  </a:lnTo>
                  <a:lnTo>
                    <a:pt x="0" y="458"/>
                  </a:lnTo>
                  <a:lnTo>
                    <a:pt x="0" y="431"/>
                  </a:lnTo>
                  <a:lnTo>
                    <a:pt x="0" y="240"/>
                  </a:lnTo>
                  <a:lnTo>
                    <a:pt x="1" y="212"/>
                  </a:lnTo>
                  <a:lnTo>
                    <a:pt x="5" y="186"/>
                  </a:lnTo>
                  <a:lnTo>
                    <a:pt x="13" y="154"/>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48" name="Freeform 148">
              <a:extLst>
                <a:ext uri="{FF2B5EF4-FFF2-40B4-BE49-F238E27FC236}">
                  <a16:creationId xmlns:a16="http://schemas.microsoft.com/office/drawing/2014/main" id="{E9294653-43B2-C973-1F30-0E4D9382D637}"/>
                </a:ext>
              </a:extLst>
            </p:cNvPr>
            <p:cNvSpPr>
              <a:spLocks/>
            </p:cNvSpPr>
            <p:nvPr/>
          </p:nvSpPr>
          <p:spPr bwMode="auto">
            <a:xfrm>
              <a:off x="667" y="2100"/>
              <a:ext cx="104" cy="90"/>
            </a:xfrm>
            <a:custGeom>
              <a:avLst/>
              <a:gdLst>
                <a:gd name="T0" fmla="*/ 63 w 414"/>
                <a:gd name="T1" fmla="*/ 357 h 357"/>
                <a:gd name="T2" fmla="*/ 61 w 414"/>
                <a:gd name="T3" fmla="*/ 353 h 357"/>
                <a:gd name="T4" fmla="*/ 54 w 414"/>
                <a:gd name="T5" fmla="*/ 347 h 357"/>
                <a:gd name="T6" fmla="*/ 40 w 414"/>
                <a:gd name="T7" fmla="*/ 330 h 357"/>
                <a:gd name="T8" fmla="*/ 30 w 414"/>
                <a:gd name="T9" fmla="*/ 315 h 357"/>
                <a:gd name="T10" fmla="*/ 19 w 414"/>
                <a:gd name="T11" fmla="*/ 298 h 357"/>
                <a:gd name="T12" fmla="*/ 13 w 414"/>
                <a:gd name="T13" fmla="*/ 282 h 357"/>
                <a:gd name="T14" fmla="*/ 6 w 414"/>
                <a:gd name="T15" fmla="*/ 263 h 357"/>
                <a:gd name="T16" fmla="*/ 3 w 414"/>
                <a:gd name="T17" fmla="*/ 245 h 357"/>
                <a:gd name="T18" fmla="*/ 0 w 414"/>
                <a:gd name="T19" fmla="*/ 226 h 357"/>
                <a:gd name="T20" fmla="*/ 0 w 414"/>
                <a:gd name="T21" fmla="*/ 208 h 357"/>
                <a:gd name="T22" fmla="*/ 3 w 414"/>
                <a:gd name="T23" fmla="*/ 165 h 357"/>
                <a:gd name="T24" fmla="*/ 6 w 414"/>
                <a:gd name="T25" fmla="*/ 145 h 357"/>
                <a:gd name="T26" fmla="*/ 14 w 414"/>
                <a:gd name="T27" fmla="*/ 126 h 357"/>
                <a:gd name="T28" fmla="*/ 34 w 414"/>
                <a:gd name="T29" fmla="*/ 92 h 357"/>
                <a:gd name="T30" fmla="*/ 45 w 414"/>
                <a:gd name="T31" fmla="*/ 75 h 357"/>
                <a:gd name="T32" fmla="*/ 61 w 414"/>
                <a:gd name="T33" fmla="*/ 61 h 357"/>
                <a:gd name="T34" fmla="*/ 75 w 414"/>
                <a:gd name="T35" fmla="*/ 45 h 357"/>
                <a:gd name="T36" fmla="*/ 92 w 414"/>
                <a:gd name="T37" fmla="*/ 34 h 357"/>
                <a:gd name="T38" fmla="*/ 126 w 414"/>
                <a:gd name="T39" fmla="*/ 14 h 357"/>
                <a:gd name="T40" fmla="*/ 164 w 414"/>
                <a:gd name="T41" fmla="*/ 3 h 357"/>
                <a:gd name="T42" fmla="*/ 206 w 414"/>
                <a:gd name="T43" fmla="*/ 0 h 357"/>
                <a:gd name="T44" fmla="*/ 226 w 414"/>
                <a:gd name="T45" fmla="*/ 0 h 357"/>
                <a:gd name="T46" fmla="*/ 246 w 414"/>
                <a:gd name="T47" fmla="*/ 3 h 357"/>
                <a:gd name="T48" fmla="*/ 266 w 414"/>
                <a:gd name="T49" fmla="*/ 7 h 357"/>
                <a:gd name="T50" fmla="*/ 285 w 414"/>
                <a:gd name="T51" fmla="*/ 14 h 357"/>
                <a:gd name="T52" fmla="*/ 302 w 414"/>
                <a:gd name="T53" fmla="*/ 22 h 357"/>
                <a:gd name="T54" fmla="*/ 320 w 414"/>
                <a:gd name="T55" fmla="*/ 34 h 357"/>
                <a:gd name="T56" fmla="*/ 337 w 414"/>
                <a:gd name="T57" fmla="*/ 45 h 357"/>
                <a:gd name="T58" fmla="*/ 353 w 414"/>
                <a:gd name="T59" fmla="*/ 61 h 357"/>
                <a:gd name="T60" fmla="*/ 366 w 414"/>
                <a:gd name="T61" fmla="*/ 75 h 357"/>
                <a:gd name="T62" fmla="*/ 379 w 414"/>
                <a:gd name="T63" fmla="*/ 92 h 357"/>
                <a:gd name="T64" fmla="*/ 389 w 414"/>
                <a:gd name="T65" fmla="*/ 108 h 357"/>
                <a:gd name="T66" fmla="*/ 399 w 414"/>
                <a:gd name="T67" fmla="*/ 126 h 357"/>
                <a:gd name="T68" fmla="*/ 405 w 414"/>
                <a:gd name="T69" fmla="*/ 145 h 357"/>
                <a:gd name="T70" fmla="*/ 410 w 414"/>
                <a:gd name="T71" fmla="*/ 165 h 357"/>
                <a:gd name="T72" fmla="*/ 413 w 414"/>
                <a:gd name="T73" fmla="*/ 186 h 357"/>
                <a:gd name="T74" fmla="*/ 414 w 414"/>
                <a:gd name="T75" fmla="*/ 208 h 357"/>
                <a:gd name="T76" fmla="*/ 413 w 414"/>
                <a:gd name="T77" fmla="*/ 223 h 357"/>
                <a:gd name="T78" fmla="*/ 411 w 414"/>
                <a:gd name="T79" fmla="*/ 231 h 357"/>
                <a:gd name="T80" fmla="*/ 411 w 414"/>
                <a:gd name="T81" fmla="*/ 240 h 357"/>
                <a:gd name="T82" fmla="*/ 408 w 414"/>
                <a:gd name="T83" fmla="*/ 255 h 357"/>
                <a:gd name="T84" fmla="*/ 405 w 414"/>
                <a:gd name="T85" fmla="*/ 263 h 357"/>
                <a:gd name="T86" fmla="*/ 404 w 414"/>
                <a:gd name="T87" fmla="*/ 263 h 357"/>
                <a:gd name="T88" fmla="*/ 404 w 414"/>
                <a:gd name="T89" fmla="*/ 264 h 357"/>
                <a:gd name="T90" fmla="*/ 404 w 414"/>
                <a:gd name="T91" fmla="*/ 267 h 357"/>
                <a:gd name="T92" fmla="*/ 404 w 414"/>
                <a:gd name="T93" fmla="*/ 272 h 357"/>
                <a:gd name="T94" fmla="*/ 401 w 414"/>
                <a:gd name="T95" fmla="*/ 275 h 357"/>
                <a:gd name="T96" fmla="*/ 400 w 414"/>
                <a:gd name="T97" fmla="*/ 275 h 357"/>
                <a:gd name="T98" fmla="*/ 400 w 414"/>
                <a:gd name="T99" fmla="*/ 276 h 357"/>
                <a:gd name="T100" fmla="*/ 400 w 414"/>
                <a:gd name="T101" fmla="*/ 279 h 357"/>
                <a:gd name="T102" fmla="*/ 397 w 414"/>
                <a:gd name="T103" fmla="*/ 286 h 357"/>
                <a:gd name="T104" fmla="*/ 391 w 414"/>
                <a:gd name="T105" fmla="*/ 302 h 357"/>
                <a:gd name="T106" fmla="*/ 374 w 414"/>
                <a:gd name="T107" fmla="*/ 330 h 357"/>
                <a:gd name="T108" fmla="*/ 361 w 414"/>
                <a:gd name="T109" fmla="*/ 346 h 357"/>
                <a:gd name="T110" fmla="*/ 360 w 414"/>
                <a:gd name="T111" fmla="*/ 346 h 357"/>
                <a:gd name="T112" fmla="*/ 360 w 414"/>
                <a:gd name="T113" fmla="*/ 347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14" h="357">
                  <a:moveTo>
                    <a:pt x="63" y="357"/>
                  </a:moveTo>
                  <a:lnTo>
                    <a:pt x="61" y="353"/>
                  </a:lnTo>
                  <a:lnTo>
                    <a:pt x="54" y="347"/>
                  </a:lnTo>
                  <a:lnTo>
                    <a:pt x="40" y="330"/>
                  </a:lnTo>
                  <a:lnTo>
                    <a:pt x="30" y="315"/>
                  </a:lnTo>
                  <a:lnTo>
                    <a:pt x="19" y="298"/>
                  </a:lnTo>
                  <a:lnTo>
                    <a:pt x="13" y="282"/>
                  </a:lnTo>
                  <a:lnTo>
                    <a:pt x="6" y="263"/>
                  </a:lnTo>
                  <a:lnTo>
                    <a:pt x="3" y="245"/>
                  </a:lnTo>
                  <a:lnTo>
                    <a:pt x="0" y="226"/>
                  </a:lnTo>
                  <a:lnTo>
                    <a:pt x="0" y="208"/>
                  </a:lnTo>
                  <a:lnTo>
                    <a:pt x="3" y="165"/>
                  </a:lnTo>
                  <a:lnTo>
                    <a:pt x="6" y="145"/>
                  </a:lnTo>
                  <a:lnTo>
                    <a:pt x="14" y="126"/>
                  </a:lnTo>
                  <a:lnTo>
                    <a:pt x="34" y="92"/>
                  </a:lnTo>
                  <a:lnTo>
                    <a:pt x="45" y="75"/>
                  </a:lnTo>
                  <a:lnTo>
                    <a:pt x="61" y="61"/>
                  </a:lnTo>
                  <a:lnTo>
                    <a:pt x="75" y="45"/>
                  </a:lnTo>
                  <a:lnTo>
                    <a:pt x="92" y="34"/>
                  </a:lnTo>
                  <a:lnTo>
                    <a:pt x="126" y="14"/>
                  </a:lnTo>
                  <a:lnTo>
                    <a:pt x="164" y="3"/>
                  </a:lnTo>
                  <a:lnTo>
                    <a:pt x="206" y="0"/>
                  </a:lnTo>
                  <a:lnTo>
                    <a:pt x="226" y="0"/>
                  </a:lnTo>
                  <a:lnTo>
                    <a:pt x="246" y="3"/>
                  </a:lnTo>
                  <a:lnTo>
                    <a:pt x="266" y="7"/>
                  </a:lnTo>
                  <a:lnTo>
                    <a:pt x="285" y="14"/>
                  </a:lnTo>
                  <a:lnTo>
                    <a:pt x="302" y="22"/>
                  </a:lnTo>
                  <a:lnTo>
                    <a:pt x="320" y="34"/>
                  </a:lnTo>
                  <a:lnTo>
                    <a:pt x="337" y="45"/>
                  </a:lnTo>
                  <a:lnTo>
                    <a:pt x="353" y="61"/>
                  </a:lnTo>
                  <a:lnTo>
                    <a:pt x="366" y="75"/>
                  </a:lnTo>
                  <a:lnTo>
                    <a:pt x="379" y="92"/>
                  </a:lnTo>
                  <a:lnTo>
                    <a:pt x="389" y="108"/>
                  </a:lnTo>
                  <a:lnTo>
                    <a:pt x="399" y="126"/>
                  </a:lnTo>
                  <a:lnTo>
                    <a:pt x="405" y="145"/>
                  </a:lnTo>
                  <a:lnTo>
                    <a:pt x="410" y="165"/>
                  </a:lnTo>
                  <a:lnTo>
                    <a:pt x="413" y="186"/>
                  </a:lnTo>
                  <a:lnTo>
                    <a:pt x="414" y="208"/>
                  </a:lnTo>
                  <a:lnTo>
                    <a:pt x="413" y="223"/>
                  </a:lnTo>
                  <a:lnTo>
                    <a:pt x="411" y="231"/>
                  </a:lnTo>
                  <a:lnTo>
                    <a:pt x="411" y="240"/>
                  </a:lnTo>
                  <a:lnTo>
                    <a:pt x="408" y="255"/>
                  </a:lnTo>
                  <a:lnTo>
                    <a:pt x="405" y="263"/>
                  </a:lnTo>
                  <a:lnTo>
                    <a:pt x="404" y="263"/>
                  </a:lnTo>
                  <a:lnTo>
                    <a:pt x="404" y="264"/>
                  </a:lnTo>
                  <a:lnTo>
                    <a:pt x="404" y="267"/>
                  </a:lnTo>
                  <a:lnTo>
                    <a:pt x="404" y="272"/>
                  </a:lnTo>
                  <a:lnTo>
                    <a:pt x="401" y="275"/>
                  </a:lnTo>
                  <a:lnTo>
                    <a:pt x="400" y="275"/>
                  </a:lnTo>
                  <a:lnTo>
                    <a:pt x="400" y="276"/>
                  </a:lnTo>
                  <a:lnTo>
                    <a:pt x="400" y="279"/>
                  </a:lnTo>
                  <a:lnTo>
                    <a:pt x="397" y="286"/>
                  </a:lnTo>
                  <a:lnTo>
                    <a:pt x="391" y="302"/>
                  </a:lnTo>
                  <a:lnTo>
                    <a:pt x="374" y="330"/>
                  </a:lnTo>
                  <a:lnTo>
                    <a:pt x="361" y="346"/>
                  </a:lnTo>
                  <a:lnTo>
                    <a:pt x="360" y="346"/>
                  </a:lnTo>
                  <a:lnTo>
                    <a:pt x="360" y="347"/>
                  </a:lnTo>
                </a:path>
              </a:pathLst>
            </a:custGeom>
            <a:solidFill>
              <a:srgbClr val="FFCC99"/>
            </a:solidFill>
            <a:ln w="15875">
              <a:solidFill>
                <a:srgbClr val="333333"/>
              </a:solidFill>
              <a:prstDash val="solid"/>
              <a:round/>
              <a:headEnd/>
              <a:tailEnd/>
            </a:ln>
          </p:spPr>
          <p:txBody>
            <a:bodyPr/>
            <a:lstStyle/>
            <a:p>
              <a:endParaRPr lang="en-IN"/>
            </a:p>
          </p:txBody>
        </p:sp>
        <p:sp>
          <p:nvSpPr>
            <p:cNvPr id="51349" name="Freeform 149">
              <a:extLst>
                <a:ext uri="{FF2B5EF4-FFF2-40B4-BE49-F238E27FC236}">
                  <a16:creationId xmlns:a16="http://schemas.microsoft.com/office/drawing/2014/main" id="{7D74EC7B-61A5-5E28-DBCA-8B65ED7D2D2C}"/>
                </a:ext>
              </a:extLst>
            </p:cNvPr>
            <p:cNvSpPr>
              <a:spLocks/>
            </p:cNvSpPr>
            <p:nvPr/>
          </p:nvSpPr>
          <p:spPr bwMode="auto">
            <a:xfrm>
              <a:off x="683" y="2187"/>
              <a:ext cx="74" cy="17"/>
            </a:xfrm>
            <a:custGeom>
              <a:avLst/>
              <a:gdLst>
                <a:gd name="T0" fmla="*/ 297 w 297"/>
                <a:gd name="T1" fmla="*/ 0 h 67"/>
                <a:gd name="T2" fmla="*/ 290 w 297"/>
                <a:gd name="T3" fmla="*/ 6 h 67"/>
                <a:gd name="T4" fmla="*/ 274 w 297"/>
                <a:gd name="T5" fmla="*/ 19 h 67"/>
                <a:gd name="T6" fmla="*/ 257 w 297"/>
                <a:gd name="T7" fmla="*/ 32 h 67"/>
                <a:gd name="T8" fmla="*/ 239 w 297"/>
                <a:gd name="T9" fmla="*/ 43 h 67"/>
                <a:gd name="T10" fmla="*/ 234 w 297"/>
                <a:gd name="T11" fmla="*/ 44 h 67"/>
                <a:gd name="T12" fmla="*/ 230 w 297"/>
                <a:gd name="T13" fmla="*/ 46 h 67"/>
                <a:gd name="T14" fmla="*/ 222 w 297"/>
                <a:gd name="T15" fmla="*/ 52 h 67"/>
                <a:gd name="T16" fmla="*/ 212 w 297"/>
                <a:gd name="T17" fmla="*/ 54 h 67"/>
                <a:gd name="T18" fmla="*/ 207 w 297"/>
                <a:gd name="T19" fmla="*/ 55 h 67"/>
                <a:gd name="T20" fmla="*/ 203 w 297"/>
                <a:gd name="T21" fmla="*/ 58 h 67"/>
                <a:gd name="T22" fmla="*/ 183 w 297"/>
                <a:gd name="T23" fmla="*/ 63 h 67"/>
                <a:gd name="T24" fmla="*/ 163 w 297"/>
                <a:gd name="T25" fmla="*/ 66 h 67"/>
                <a:gd name="T26" fmla="*/ 152 w 297"/>
                <a:gd name="T27" fmla="*/ 66 h 67"/>
                <a:gd name="T28" fmla="*/ 147 w 297"/>
                <a:gd name="T29" fmla="*/ 66 h 67"/>
                <a:gd name="T30" fmla="*/ 145 w 297"/>
                <a:gd name="T31" fmla="*/ 66 h 67"/>
                <a:gd name="T32" fmla="*/ 143 w 297"/>
                <a:gd name="T33" fmla="*/ 66 h 67"/>
                <a:gd name="T34" fmla="*/ 143 w 297"/>
                <a:gd name="T35" fmla="*/ 67 h 67"/>
                <a:gd name="T36" fmla="*/ 123 w 297"/>
                <a:gd name="T37" fmla="*/ 66 h 67"/>
                <a:gd name="T38" fmla="*/ 103 w 297"/>
                <a:gd name="T39" fmla="*/ 63 h 67"/>
                <a:gd name="T40" fmla="*/ 66 w 297"/>
                <a:gd name="T41" fmla="*/ 53 h 67"/>
                <a:gd name="T42" fmla="*/ 31 w 297"/>
                <a:gd name="T43" fmla="*/ 35 h 67"/>
                <a:gd name="T44" fmla="*/ 14 w 297"/>
                <a:gd name="T45" fmla="*/ 23 h 67"/>
                <a:gd name="T46" fmla="*/ 0 w 297"/>
                <a:gd name="T47" fmla="*/ 1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7" h="67">
                  <a:moveTo>
                    <a:pt x="297" y="0"/>
                  </a:moveTo>
                  <a:lnTo>
                    <a:pt x="290" y="6"/>
                  </a:lnTo>
                  <a:lnTo>
                    <a:pt x="274" y="19"/>
                  </a:lnTo>
                  <a:lnTo>
                    <a:pt x="257" y="32"/>
                  </a:lnTo>
                  <a:lnTo>
                    <a:pt x="239" y="43"/>
                  </a:lnTo>
                  <a:lnTo>
                    <a:pt x="234" y="44"/>
                  </a:lnTo>
                  <a:lnTo>
                    <a:pt x="230" y="46"/>
                  </a:lnTo>
                  <a:lnTo>
                    <a:pt x="222" y="52"/>
                  </a:lnTo>
                  <a:lnTo>
                    <a:pt x="212" y="54"/>
                  </a:lnTo>
                  <a:lnTo>
                    <a:pt x="207" y="55"/>
                  </a:lnTo>
                  <a:lnTo>
                    <a:pt x="203" y="58"/>
                  </a:lnTo>
                  <a:lnTo>
                    <a:pt x="183" y="63"/>
                  </a:lnTo>
                  <a:lnTo>
                    <a:pt x="163" y="66"/>
                  </a:lnTo>
                  <a:lnTo>
                    <a:pt x="152" y="66"/>
                  </a:lnTo>
                  <a:lnTo>
                    <a:pt x="147" y="66"/>
                  </a:lnTo>
                  <a:lnTo>
                    <a:pt x="145" y="66"/>
                  </a:lnTo>
                  <a:lnTo>
                    <a:pt x="143" y="66"/>
                  </a:lnTo>
                  <a:lnTo>
                    <a:pt x="143" y="67"/>
                  </a:lnTo>
                  <a:lnTo>
                    <a:pt x="123" y="66"/>
                  </a:lnTo>
                  <a:lnTo>
                    <a:pt x="103" y="63"/>
                  </a:lnTo>
                  <a:lnTo>
                    <a:pt x="66" y="53"/>
                  </a:lnTo>
                  <a:lnTo>
                    <a:pt x="31" y="35"/>
                  </a:lnTo>
                  <a:lnTo>
                    <a:pt x="14" y="23"/>
                  </a:lnTo>
                  <a:lnTo>
                    <a:pt x="0" y="10"/>
                  </a:lnTo>
                </a:path>
              </a:pathLst>
            </a:custGeom>
            <a:solidFill>
              <a:srgbClr val="FFCC99"/>
            </a:solidFill>
            <a:ln w="15875">
              <a:solidFill>
                <a:srgbClr val="333333"/>
              </a:solidFill>
              <a:prstDash val="solid"/>
              <a:round/>
              <a:headEnd/>
              <a:tailEnd/>
            </a:ln>
          </p:spPr>
          <p:txBody>
            <a:bodyPr/>
            <a:lstStyle/>
            <a:p>
              <a:endParaRPr lang="en-IN"/>
            </a:p>
          </p:txBody>
        </p:sp>
        <p:sp>
          <p:nvSpPr>
            <p:cNvPr id="51350" name="Line 150">
              <a:extLst>
                <a:ext uri="{FF2B5EF4-FFF2-40B4-BE49-F238E27FC236}">
                  <a16:creationId xmlns:a16="http://schemas.microsoft.com/office/drawing/2014/main" id="{7F0E29C0-EDEC-3B9A-388F-3E828A6E1BD5}"/>
                </a:ext>
              </a:extLst>
            </p:cNvPr>
            <p:cNvSpPr>
              <a:spLocks noChangeShapeType="1"/>
            </p:cNvSpPr>
            <p:nvPr/>
          </p:nvSpPr>
          <p:spPr bwMode="auto">
            <a:xfrm>
              <a:off x="786" y="2252"/>
              <a:ext cx="0" cy="60"/>
            </a:xfrm>
            <a:prstGeom prst="line">
              <a:avLst/>
            </a:prstGeom>
            <a:noFill/>
            <a:ln w="15875">
              <a:solidFill>
                <a:srgbClr val="333333"/>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351" name="Freeform 151">
              <a:extLst>
                <a:ext uri="{FF2B5EF4-FFF2-40B4-BE49-F238E27FC236}">
                  <a16:creationId xmlns:a16="http://schemas.microsoft.com/office/drawing/2014/main" id="{E3278392-8D1D-E5F9-3A8A-3FCED8F0E724}"/>
                </a:ext>
              </a:extLst>
            </p:cNvPr>
            <p:cNvSpPr>
              <a:spLocks/>
            </p:cNvSpPr>
            <p:nvPr/>
          </p:nvSpPr>
          <p:spPr bwMode="auto">
            <a:xfrm>
              <a:off x="632" y="2190"/>
              <a:ext cx="51" cy="147"/>
            </a:xfrm>
            <a:custGeom>
              <a:avLst/>
              <a:gdLst>
                <a:gd name="T0" fmla="*/ 126 w 202"/>
                <a:gd name="T1" fmla="*/ 590 h 590"/>
                <a:gd name="T2" fmla="*/ 104 w 202"/>
                <a:gd name="T3" fmla="*/ 588 h 590"/>
                <a:gd name="T4" fmla="*/ 85 w 202"/>
                <a:gd name="T5" fmla="*/ 586 h 590"/>
                <a:gd name="T6" fmla="*/ 67 w 202"/>
                <a:gd name="T7" fmla="*/ 579 h 590"/>
                <a:gd name="T8" fmla="*/ 51 w 202"/>
                <a:gd name="T9" fmla="*/ 573 h 590"/>
                <a:gd name="T10" fmla="*/ 36 w 202"/>
                <a:gd name="T11" fmla="*/ 561 h 590"/>
                <a:gd name="T12" fmla="*/ 24 w 202"/>
                <a:gd name="T13" fmla="*/ 548 h 590"/>
                <a:gd name="T14" fmla="*/ 13 w 202"/>
                <a:gd name="T15" fmla="*/ 532 h 590"/>
                <a:gd name="T16" fmla="*/ 4 w 202"/>
                <a:gd name="T17" fmla="*/ 515 h 590"/>
                <a:gd name="T18" fmla="*/ 0 w 202"/>
                <a:gd name="T19" fmla="*/ 489 h 590"/>
                <a:gd name="T20" fmla="*/ 0 w 202"/>
                <a:gd name="T21" fmla="*/ 462 h 590"/>
                <a:gd name="T22" fmla="*/ 0 w 202"/>
                <a:gd name="T23" fmla="*/ 271 h 590"/>
                <a:gd name="T24" fmla="*/ 1 w 202"/>
                <a:gd name="T25" fmla="*/ 243 h 590"/>
                <a:gd name="T26" fmla="*/ 5 w 202"/>
                <a:gd name="T27" fmla="*/ 217 h 590"/>
                <a:gd name="T28" fmla="*/ 13 w 202"/>
                <a:gd name="T29" fmla="*/ 185 h 590"/>
                <a:gd name="T30" fmla="*/ 23 w 202"/>
                <a:gd name="T31" fmla="*/ 154 h 590"/>
                <a:gd name="T32" fmla="*/ 38 w 202"/>
                <a:gd name="T33" fmla="*/ 127 h 590"/>
                <a:gd name="T34" fmla="*/ 58 w 202"/>
                <a:gd name="T35" fmla="*/ 100 h 590"/>
                <a:gd name="T36" fmla="*/ 81 w 202"/>
                <a:gd name="T37" fmla="*/ 75 h 590"/>
                <a:gd name="T38" fmla="*/ 107 w 202"/>
                <a:gd name="T39" fmla="*/ 51 h 590"/>
                <a:gd name="T40" fmla="*/ 135 w 202"/>
                <a:gd name="T41" fmla="*/ 31 h 590"/>
                <a:gd name="T42" fmla="*/ 160 w 202"/>
                <a:gd name="T43" fmla="*/ 16 h 590"/>
                <a:gd name="T44" fmla="*/ 185 w 202"/>
                <a:gd name="T45" fmla="*/ 5 h 590"/>
                <a:gd name="T46" fmla="*/ 202 w 202"/>
                <a:gd name="T47" fmla="*/ 0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2" h="590">
                  <a:moveTo>
                    <a:pt x="126" y="590"/>
                  </a:moveTo>
                  <a:lnTo>
                    <a:pt x="104" y="588"/>
                  </a:lnTo>
                  <a:lnTo>
                    <a:pt x="85" y="586"/>
                  </a:lnTo>
                  <a:lnTo>
                    <a:pt x="67" y="579"/>
                  </a:lnTo>
                  <a:lnTo>
                    <a:pt x="51" y="573"/>
                  </a:lnTo>
                  <a:lnTo>
                    <a:pt x="36" y="561"/>
                  </a:lnTo>
                  <a:lnTo>
                    <a:pt x="24" y="548"/>
                  </a:lnTo>
                  <a:lnTo>
                    <a:pt x="13" y="532"/>
                  </a:lnTo>
                  <a:lnTo>
                    <a:pt x="4" y="515"/>
                  </a:lnTo>
                  <a:lnTo>
                    <a:pt x="0" y="489"/>
                  </a:lnTo>
                  <a:lnTo>
                    <a:pt x="0" y="462"/>
                  </a:lnTo>
                  <a:lnTo>
                    <a:pt x="0" y="271"/>
                  </a:lnTo>
                  <a:lnTo>
                    <a:pt x="1" y="243"/>
                  </a:lnTo>
                  <a:lnTo>
                    <a:pt x="5" y="217"/>
                  </a:lnTo>
                  <a:lnTo>
                    <a:pt x="13" y="185"/>
                  </a:lnTo>
                  <a:lnTo>
                    <a:pt x="23" y="154"/>
                  </a:lnTo>
                  <a:lnTo>
                    <a:pt x="38" y="127"/>
                  </a:lnTo>
                  <a:lnTo>
                    <a:pt x="58" y="100"/>
                  </a:lnTo>
                  <a:lnTo>
                    <a:pt x="81" y="75"/>
                  </a:lnTo>
                  <a:lnTo>
                    <a:pt x="107" y="51"/>
                  </a:lnTo>
                  <a:lnTo>
                    <a:pt x="135" y="31"/>
                  </a:lnTo>
                  <a:lnTo>
                    <a:pt x="160" y="16"/>
                  </a:lnTo>
                  <a:lnTo>
                    <a:pt x="185" y="5"/>
                  </a:lnTo>
                  <a:lnTo>
                    <a:pt x="202" y="0"/>
                  </a:lnTo>
                </a:path>
              </a:pathLst>
            </a:custGeom>
            <a:solidFill>
              <a:srgbClr val="FFCC99"/>
            </a:solidFill>
            <a:ln w="15875">
              <a:solidFill>
                <a:srgbClr val="333333"/>
              </a:solidFill>
              <a:prstDash val="solid"/>
              <a:round/>
              <a:headEnd/>
              <a:tailEnd/>
            </a:ln>
          </p:spPr>
          <p:txBody>
            <a:bodyPr/>
            <a:lstStyle/>
            <a:p>
              <a:endParaRPr lang="en-IN"/>
            </a:p>
          </p:txBody>
        </p:sp>
        <p:sp>
          <p:nvSpPr>
            <p:cNvPr id="51352" name="Line 152">
              <a:extLst>
                <a:ext uri="{FF2B5EF4-FFF2-40B4-BE49-F238E27FC236}">
                  <a16:creationId xmlns:a16="http://schemas.microsoft.com/office/drawing/2014/main" id="{EE71B5E7-31D9-12BE-42C8-661291615384}"/>
                </a:ext>
              </a:extLst>
            </p:cNvPr>
            <p:cNvSpPr>
              <a:spLocks noChangeShapeType="1"/>
            </p:cNvSpPr>
            <p:nvPr/>
          </p:nvSpPr>
          <p:spPr bwMode="auto">
            <a:xfrm flipV="1">
              <a:off x="664" y="2259"/>
              <a:ext cx="0" cy="78"/>
            </a:xfrm>
            <a:prstGeom prst="line">
              <a:avLst/>
            </a:prstGeom>
            <a:noFill/>
            <a:ln w="15875">
              <a:solidFill>
                <a:srgbClr val="333333"/>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1353" name="Freeform 153">
              <a:extLst>
                <a:ext uri="{FF2B5EF4-FFF2-40B4-BE49-F238E27FC236}">
                  <a16:creationId xmlns:a16="http://schemas.microsoft.com/office/drawing/2014/main" id="{5C80D95B-9744-C6A7-8287-C54BBB6954F8}"/>
                </a:ext>
              </a:extLst>
            </p:cNvPr>
            <p:cNvSpPr>
              <a:spLocks/>
            </p:cNvSpPr>
            <p:nvPr/>
          </p:nvSpPr>
          <p:spPr bwMode="auto">
            <a:xfrm>
              <a:off x="664" y="2312"/>
              <a:ext cx="122" cy="29"/>
            </a:xfrm>
            <a:custGeom>
              <a:avLst/>
              <a:gdLst>
                <a:gd name="T0" fmla="*/ 486 w 486"/>
                <a:gd name="T1" fmla="*/ 0 h 115"/>
                <a:gd name="T2" fmla="*/ 458 w 486"/>
                <a:gd name="T3" fmla="*/ 18 h 115"/>
                <a:gd name="T4" fmla="*/ 431 w 486"/>
                <a:gd name="T5" fmla="*/ 36 h 115"/>
                <a:gd name="T6" fmla="*/ 402 w 486"/>
                <a:gd name="T7" fmla="*/ 52 h 115"/>
                <a:gd name="T8" fmla="*/ 395 w 486"/>
                <a:gd name="T9" fmla="*/ 54 h 115"/>
                <a:gd name="T10" fmla="*/ 391 w 486"/>
                <a:gd name="T11" fmla="*/ 56 h 115"/>
                <a:gd name="T12" fmla="*/ 388 w 486"/>
                <a:gd name="T13" fmla="*/ 58 h 115"/>
                <a:gd name="T14" fmla="*/ 375 w 486"/>
                <a:gd name="T15" fmla="*/ 66 h 115"/>
                <a:gd name="T16" fmla="*/ 360 w 486"/>
                <a:gd name="T17" fmla="*/ 71 h 115"/>
                <a:gd name="T18" fmla="*/ 352 w 486"/>
                <a:gd name="T19" fmla="*/ 74 h 115"/>
                <a:gd name="T20" fmla="*/ 348 w 486"/>
                <a:gd name="T21" fmla="*/ 75 h 115"/>
                <a:gd name="T22" fmla="*/ 346 w 486"/>
                <a:gd name="T23" fmla="*/ 78 h 115"/>
                <a:gd name="T24" fmla="*/ 317 w 486"/>
                <a:gd name="T25" fmla="*/ 88 h 115"/>
                <a:gd name="T26" fmla="*/ 286 w 486"/>
                <a:gd name="T27" fmla="*/ 97 h 115"/>
                <a:gd name="T28" fmla="*/ 258 w 486"/>
                <a:gd name="T29" fmla="*/ 105 h 115"/>
                <a:gd name="T30" fmla="*/ 196 w 486"/>
                <a:gd name="T31" fmla="*/ 112 h 115"/>
                <a:gd name="T32" fmla="*/ 179 w 486"/>
                <a:gd name="T33" fmla="*/ 112 h 115"/>
                <a:gd name="T34" fmla="*/ 164 w 486"/>
                <a:gd name="T35" fmla="*/ 114 h 115"/>
                <a:gd name="T36" fmla="*/ 133 w 486"/>
                <a:gd name="T37" fmla="*/ 115 h 115"/>
                <a:gd name="T38" fmla="*/ 99 w 486"/>
                <a:gd name="T39" fmla="*/ 112 h 115"/>
                <a:gd name="T40" fmla="*/ 67 w 486"/>
                <a:gd name="T41" fmla="*/ 110 h 115"/>
                <a:gd name="T42" fmla="*/ 0 w 486"/>
                <a:gd name="T43" fmla="*/ 10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6" h="115">
                  <a:moveTo>
                    <a:pt x="486" y="0"/>
                  </a:moveTo>
                  <a:lnTo>
                    <a:pt x="458" y="18"/>
                  </a:lnTo>
                  <a:lnTo>
                    <a:pt x="431" y="36"/>
                  </a:lnTo>
                  <a:lnTo>
                    <a:pt x="402" y="52"/>
                  </a:lnTo>
                  <a:lnTo>
                    <a:pt x="395" y="54"/>
                  </a:lnTo>
                  <a:lnTo>
                    <a:pt x="391" y="56"/>
                  </a:lnTo>
                  <a:lnTo>
                    <a:pt x="388" y="58"/>
                  </a:lnTo>
                  <a:lnTo>
                    <a:pt x="375" y="66"/>
                  </a:lnTo>
                  <a:lnTo>
                    <a:pt x="360" y="71"/>
                  </a:lnTo>
                  <a:lnTo>
                    <a:pt x="352" y="74"/>
                  </a:lnTo>
                  <a:lnTo>
                    <a:pt x="348" y="75"/>
                  </a:lnTo>
                  <a:lnTo>
                    <a:pt x="346" y="78"/>
                  </a:lnTo>
                  <a:lnTo>
                    <a:pt x="317" y="88"/>
                  </a:lnTo>
                  <a:lnTo>
                    <a:pt x="286" y="97"/>
                  </a:lnTo>
                  <a:lnTo>
                    <a:pt x="258" y="105"/>
                  </a:lnTo>
                  <a:lnTo>
                    <a:pt x="196" y="112"/>
                  </a:lnTo>
                  <a:lnTo>
                    <a:pt x="179" y="112"/>
                  </a:lnTo>
                  <a:lnTo>
                    <a:pt x="164" y="114"/>
                  </a:lnTo>
                  <a:lnTo>
                    <a:pt x="133" y="115"/>
                  </a:lnTo>
                  <a:lnTo>
                    <a:pt x="99" y="112"/>
                  </a:lnTo>
                  <a:lnTo>
                    <a:pt x="67" y="110"/>
                  </a:lnTo>
                  <a:lnTo>
                    <a:pt x="0" y="100"/>
                  </a:lnTo>
                </a:path>
              </a:pathLst>
            </a:custGeom>
            <a:solidFill>
              <a:srgbClr val="FFCC99"/>
            </a:solidFill>
            <a:ln w="15875">
              <a:solidFill>
                <a:srgbClr val="333333"/>
              </a:solidFill>
              <a:prstDash val="solid"/>
              <a:round/>
              <a:headEnd/>
              <a:tailEnd/>
            </a:ln>
          </p:spPr>
          <p:txBody>
            <a:bodyPr/>
            <a:lstStyle/>
            <a:p>
              <a:endParaRPr lang="en-IN"/>
            </a:p>
          </p:txBody>
        </p:sp>
        <p:sp>
          <p:nvSpPr>
            <p:cNvPr id="51354" name="Freeform 154">
              <a:extLst>
                <a:ext uri="{FF2B5EF4-FFF2-40B4-BE49-F238E27FC236}">
                  <a16:creationId xmlns:a16="http://schemas.microsoft.com/office/drawing/2014/main" id="{A7629753-1280-141C-9C32-DB30D6C6919E}"/>
                </a:ext>
              </a:extLst>
            </p:cNvPr>
            <p:cNvSpPr>
              <a:spLocks/>
            </p:cNvSpPr>
            <p:nvPr/>
          </p:nvSpPr>
          <p:spPr bwMode="auto">
            <a:xfrm>
              <a:off x="757" y="2187"/>
              <a:ext cx="49" cy="125"/>
            </a:xfrm>
            <a:custGeom>
              <a:avLst/>
              <a:gdLst>
                <a:gd name="T0" fmla="*/ 113 w 196"/>
                <a:gd name="T1" fmla="*/ 500 h 500"/>
                <a:gd name="T2" fmla="*/ 129 w 196"/>
                <a:gd name="T3" fmla="*/ 498 h 500"/>
                <a:gd name="T4" fmla="*/ 143 w 196"/>
                <a:gd name="T5" fmla="*/ 495 h 500"/>
                <a:gd name="T6" fmla="*/ 156 w 196"/>
                <a:gd name="T7" fmla="*/ 490 h 500"/>
                <a:gd name="T8" fmla="*/ 167 w 196"/>
                <a:gd name="T9" fmla="*/ 485 h 500"/>
                <a:gd name="T10" fmla="*/ 171 w 196"/>
                <a:gd name="T11" fmla="*/ 480 h 500"/>
                <a:gd name="T12" fmla="*/ 177 w 196"/>
                <a:gd name="T13" fmla="*/ 476 h 500"/>
                <a:gd name="T14" fmla="*/ 184 w 196"/>
                <a:gd name="T15" fmla="*/ 467 h 500"/>
                <a:gd name="T16" fmla="*/ 187 w 196"/>
                <a:gd name="T17" fmla="*/ 460 h 500"/>
                <a:gd name="T18" fmla="*/ 191 w 196"/>
                <a:gd name="T19" fmla="*/ 455 h 500"/>
                <a:gd name="T20" fmla="*/ 196 w 196"/>
                <a:gd name="T21" fmla="*/ 444 h 500"/>
                <a:gd name="T22" fmla="*/ 196 w 196"/>
                <a:gd name="T23" fmla="*/ 253 h 500"/>
                <a:gd name="T24" fmla="*/ 195 w 196"/>
                <a:gd name="T25" fmla="*/ 227 h 500"/>
                <a:gd name="T26" fmla="*/ 189 w 196"/>
                <a:gd name="T27" fmla="*/ 195 h 500"/>
                <a:gd name="T28" fmla="*/ 182 w 196"/>
                <a:gd name="T29" fmla="*/ 168 h 500"/>
                <a:gd name="T30" fmla="*/ 169 w 196"/>
                <a:gd name="T31" fmla="*/ 138 h 500"/>
                <a:gd name="T32" fmla="*/ 155 w 196"/>
                <a:gd name="T33" fmla="*/ 111 h 500"/>
                <a:gd name="T34" fmla="*/ 135 w 196"/>
                <a:gd name="T35" fmla="*/ 85 h 500"/>
                <a:gd name="T36" fmla="*/ 115 w 196"/>
                <a:gd name="T37" fmla="*/ 63 h 500"/>
                <a:gd name="T38" fmla="*/ 104 w 196"/>
                <a:gd name="T39" fmla="*/ 54 h 500"/>
                <a:gd name="T40" fmla="*/ 95 w 196"/>
                <a:gd name="T41" fmla="*/ 48 h 500"/>
                <a:gd name="T42" fmla="*/ 72 w 196"/>
                <a:gd name="T43" fmla="*/ 31 h 500"/>
                <a:gd name="T44" fmla="*/ 50 w 196"/>
                <a:gd name="T45" fmla="*/ 19 h 500"/>
                <a:gd name="T46" fmla="*/ 26 w 196"/>
                <a:gd name="T47" fmla="*/ 8 h 500"/>
                <a:gd name="T48" fmla="*/ 2 w 196"/>
                <a:gd name="T49" fmla="*/ 1 h 500"/>
                <a:gd name="T50" fmla="*/ 0 w 196"/>
                <a:gd name="T51" fmla="*/ 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6" h="500">
                  <a:moveTo>
                    <a:pt x="113" y="500"/>
                  </a:moveTo>
                  <a:lnTo>
                    <a:pt x="129" y="498"/>
                  </a:lnTo>
                  <a:lnTo>
                    <a:pt x="143" y="495"/>
                  </a:lnTo>
                  <a:lnTo>
                    <a:pt x="156" y="490"/>
                  </a:lnTo>
                  <a:lnTo>
                    <a:pt x="167" y="485"/>
                  </a:lnTo>
                  <a:lnTo>
                    <a:pt x="171" y="480"/>
                  </a:lnTo>
                  <a:lnTo>
                    <a:pt x="177" y="476"/>
                  </a:lnTo>
                  <a:lnTo>
                    <a:pt x="184" y="467"/>
                  </a:lnTo>
                  <a:lnTo>
                    <a:pt x="187" y="460"/>
                  </a:lnTo>
                  <a:lnTo>
                    <a:pt x="191" y="455"/>
                  </a:lnTo>
                  <a:lnTo>
                    <a:pt x="196" y="444"/>
                  </a:lnTo>
                  <a:lnTo>
                    <a:pt x="196" y="253"/>
                  </a:lnTo>
                  <a:lnTo>
                    <a:pt x="195" y="227"/>
                  </a:lnTo>
                  <a:lnTo>
                    <a:pt x="189" y="195"/>
                  </a:lnTo>
                  <a:lnTo>
                    <a:pt x="182" y="168"/>
                  </a:lnTo>
                  <a:lnTo>
                    <a:pt x="169" y="138"/>
                  </a:lnTo>
                  <a:lnTo>
                    <a:pt x="155" y="111"/>
                  </a:lnTo>
                  <a:lnTo>
                    <a:pt x="135" y="85"/>
                  </a:lnTo>
                  <a:lnTo>
                    <a:pt x="115" y="63"/>
                  </a:lnTo>
                  <a:lnTo>
                    <a:pt x="104" y="54"/>
                  </a:lnTo>
                  <a:lnTo>
                    <a:pt x="95" y="48"/>
                  </a:lnTo>
                  <a:lnTo>
                    <a:pt x="72" y="31"/>
                  </a:lnTo>
                  <a:lnTo>
                    <a:pt x="50" y="19"/>
                  </a:lnTo>
                  <a:lnTo>
                    <a:pt x="26" y="8"/>
                  </a:lnTo>
                  <a:lnTo>
                    <a:pt x="2" y="1"/>
                  </a:lnTo>
                  <a:lnTo>
                    <a:pt x="0" y="0"/>
                  </a:lnTo>
                </a:path>
              </a:pathLst>
            </a:custGeom>
            <a:solidFill>
              <a:srgbClr val="FFCC99"/>
            </a:solidFill>
            <a:ln w="15875">
              <a:solidFill>
                <a:srgbClr val="333333"/>
              </a:solidFill>
              <a:prstDash val="solid"/>
              <a:round/>
              <a:headEnd/>
              <a:tailEnd/>
            </a:ln>
          </p:spPr>
          <p:txBody>
            <a:bodyPr/>
            <a:lstStyle/>
            <a:p>
              <a:endParaRPr lang="en-IN"/>
            </a:p>
          </p:txBody>
        </p:sp>
      </p:grpSp>
      <p:sp>
        <p:nvSpPr>
          <p:cNvPr id="51355" name="Rectangle 155">
            <a:extLst>
              <a:ext uri="{FF2B5EF4-FFF2-40B4-BE49-F238E27FC236}">
                <a16:creationId xmlns:a16="http://schemas.microsoft.com/office/drawing/2014/main" id="{1771FF16-BE79-1CDB-C220-B4ECA00E851A}"/>
              </a:ext>
            </a:extLst>
          </p:cNvPr>
          <p:cNvSpPr>
            <a:spLocks noChangeArrowheads="1"/>
          </p:cNvSpPr>
          <p:nvPr/>
        </p:nvSpPr>
        <p:spPr bwMode="auto">
          <a:xfrm>
            <a:off x="2128838" y="3238500"/>
            <a:ext cx="5588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Console</a:t>
            </a:r>
            <a:endParaRPr lang="en-US" altLang="zh-CN" sz="1800">
              <a:solidFill>
                <a:schemeClr val="tx1"/>
              </a:solidFill>
              <a:ea typeface="宋体" panose="02010600030101010101" pitchFamily="2" charset="-122"/>
            </a:endParaRPr>
          </a:p>
        </p:txBody>
      </p:sp>
      <p:sp>
        <p:nvSpPr>
          <p:cNvPr id="51356" name="Rectangle 156">
            <a:extLst>
              <a:ext uri="{FF2B5EF4-FFF2-40B4-BE49-F238E27FC236}">
                <a16:creationId xmlns:a16="http://schemas.microsoft.com/office/drawing/2014/main" id="{1CDB70B9-4E7C-2178-85DD-0F90B3B12EB6}"/>
              </a:ext>
            </a:extLst>
          </p:cNvPr>
          <p:cNvSpPr>
            <a:spLocks noChangeArrowheads="1"/>
          </p:cNvSpPr>
          <p:nvPr/>
        </p:nvSpPr>
        <p:spPr bwMode="auto">
          <a:xfrm>
            <a:off x="2189163" y="3406775"/>
            <a:ext cx="4365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or CLI</a:t>
            </a:r>
            <a:endParaRPr lang="en-US" altLang="zh-CN" sz="1800">
              <a:solidFill>
                <a:schemeClr val="tx1"/>
              </a:solidFill>
              <a:ea typeface="宋体" panose="02010600030101010101" pitchFamily="2" charset="-122"/>
            </a:endParaRPr>
          </a:p>
        </p:txBody>
      </p:sp>
      <p:grpSp>
        <p:nvGrpSpPr>
          <p:cNvPr id="51458" name="Group 258">
            <a:extLst>
              <a:ext uri="{FF2B5EF4-FFF2-40B4-BE49-F238E27FC236}">
                <a16:creationId xmlns:a16="http://schemas.microsoft.com/office/drawing/2014/main" id="{ACFC87BB-9855-3017-7EDB-6AF6BE479992}"/>
              </a:ext>
            </a:extLst>
          </p:cNvPr>
          <p:cNvGrpSpPr>
            <a:grpSpLocks/>
          </p:cNvGrpSpPr>
          <p:nvPr/>
        </p:nvGrpSpPr>
        <p:grpSpPr bwMode="auto">
          <a:xfrm>
            <a:off x="1149350" y="2187575"/>
            <a:ext cx="3827463" cy="1811338"/>
            <a:chOff x="724" y="1378"/>
            <a:chExt cx="2411" cy="1141"/>
          </a:xfrm>
        </p:grpSpPr>
        <p:grpSp>
          <p:nvGrpSpPr>
            <p:cNvPr id="51454" name="Group 254">
              <a:extLst>
                <a:ext uri="{FF2B5EF4-FFF2-40B4-BE49-F238E27FC236}">
                  <a16:creationId xmlns:a16="http://schemas.microsoft.com/office/drawing/2014/main" id="{68C60947-6F6B-2757-FB77-B94575E440E0}"/>
                </a:ext>
              </a:extLst>
            </p:cNvPr>
            <p:cNvGrpSpPr>
              <a:grpSpLocks/>
            </p:cNvGrpSpPr>
            <p:nvPr/>
          </p:nvGrpSpPr>
          <p:grpSpPr bwMode="auto">
            <a:xfrm>
              <a:off x="724" y="1378"/>
              <a:ext cx="1244" cy="325"/>
              <a:chOff x="1566" y="720"/>
              <a:chExt cx="1244" cy="325"/>
            </a:xfrm>
          </p:grpSpPr>
          <p:sp>
            <p:nvSpPr>
              <p:cNvPr id="51321" name="Freeform 121">
                <a:extLst>
                  <a:ext uri="{FF2B5EF4-FFF2-40B4-BE49-F238E27FC236}">
                    <a16:creationId xmlns:a16="http://schemas.microsoft.com/office/drawing/2014/main" id="{E1E8565E-0E8F-0253-21E8-C5320E0A8270}"/>
                  </a:ext>
                </a:extLst>
              </p:cNvPr>
              <p:cNvSpPr>
                <a:spLocks/>
              </p:cNvSpPr>
              <p:nvPr/>
            </p:nvSpPr>
            <p:spPr bwMode="auto">
              <a:xfrm>
                <a:off x="1566" y="720"/>
                <a:ext cx="1244" cy="325"/>
              </a:xfrm>
              <a:custGeom>
                <a:avLst/>
                <a:gdLst>
                  <a:gd name="T0" fmla="*/ 4978 w 4978"/>
                  <a:gd name="T1" fmla="*/ 155 h 1300"/>
                  <a:gd name="T2" fmla="*/ 4978 w 4978"/>
                  <a:gd name="T3" fmla="*/ 1145 h 1300"/>
                  <a:gd name="T4" fmla="*/ 4977 w 4978"/>
                  <a:gd name="T5" fmla="*/ 1163 h 1300"/>
                  <a:gd name="T6" fmla="*/ 4976 w 4978"/>
                  <a:gd name="T7" fmla="*/ 1181 h 1300"/>
                  <a:gd name="T8" fmla="*/ 4972 w 4978"/>
                  <a:gd name="T9" fmla="*/ 1196 h 1300"/>
                  <a:gd name="T10" fmla="*/ 4968 w 4978"/>
                  <a:gd name="T11" fmla="*/ 1212 h 1300"/>
                  <a:gd name="T12" fmla="*/ 4962 w 4978"/>
                  <a:gd name="T13" fmla="*/ 1225 h 1300"/>
                  <a:gd name="T14" fmla="*/ 4955 w 4978"/>
                  <a:gd name="T15" fmla="*/ 1238 h 1300"/>
                  <a:gd name="T16" fmla="*/ 4947 w 4978"/>
                  <a:gd name="T17" fmla="*/ 1249 h 1300"/>
                  <a:gd name="T18" fmla="*/ 4940 w 4978"/>
                  <a:gd name="T19" fmla="*/ 1261 h 1300"/>
                  <a:gd name="T20" fmla="*/ 4928 w 4978"/>
                  <a:gd name="T21" fmla="*/ 1269 h 1300"/>
                  <a:gd name="T22" fmla="*/ 4917 w 4978"/>
                  <a:gd name="T23" fmla="*/ 1276 h 1300"/>
                  <a:gd name="T24" fmla="*/ 4904 w 4978"/>
                  <a:gd name="T25" fmla="*/ 1283 h 1300"/>
                  <a:gd name="T26" fmla="*/ 4891 w 4978"/>
                  <a:gd name="T27" fmla="*/ 1289 h 1300"/>
                  <a:gd name="T28" fmla="*/ 4875 w 4978"/>
                  <a:gd name="T29" fmla="*/ 1293 h 1300"/>
                  <a:gd name="T30" fmla="*/ 4860 w 4978"/>
                  <a:gd name="T31" fmla="*/ 1297 h 1300"/>
                  <a:gd name="T32" fmla="*/ 4842 w 4978"/>
                  <a:gd name="T33" fmla="*/ 1298 h 1300"/>
                  <a:gd name="T34" fmla="*/ 4824 w 4978"/>
                  <a:gd name="T35" fmla="*/ 1300 h 1300"/>
                  <a:gd name="T36" fmla="*/ 155 w 4978"/>
                  <a:gd name="T37" fmla="*/ 1300 h 1300"/>
                  <a:gd name="T38" fmla="*/ 134 w 4978"/>
                  <a:gd name="T39" fmla="*/ 1298 h 1300"/>
                  <a:gd name="T40" fmla="*/ 116 w 4978"/>
                  <a:gd name="T41" fmla="*/ 1297 h 1300"/>
                  <a:gd name="T42" fmla="*/ 100 w 4978"/>
                  <a:gd name="T43" fmla="*/ 1293 h 1300"/>
                  <a:gd name="T44" fmla="*/ 85 w 4978"/>
                  <a:gd name="T45" fmla="*/ 1289 h 1300"/>
                  <a:gd name="T46" fmla="*/ 64 w 4978"/>
                  <a:gd name="T47" fmla="*/ 1280 h 1300"/>
                  <a:gd name="T48" fmla="*/ 47 w 4978"/>
                  <a:gd name="T49" fmla="*/ 1269 h 1300"/>
                  <a:gd name="T50" fmla="*/ 33 w 4978"/>
                  <a:gd name="T51" fmla="*/ 1254 h 1300"/>
                  <a:gd name="T52" fmla="*/ 21 w 4978"/>
                  <a:gd name="T53" fmla="*/ 1238 h 1300"/>
                  <a:gd name="T54" fmla="*/ 12 w 4978"/>
                  <a:gd name="T55" fmla="*/ 1218 h 1300"/>
                  <a:gd name="T56" fmla="*/ 5 w 4978"/>
                  <a:gd name="T57" fmla="*/ 1196 h 1300"/>
                  <a:gd name="T58" fmla="*/ 2 w 4978"/>
                  <a:gd name="T59" fmla="*/ 1172 h 1300"/>
                  <a:gd name="T60" fmla="*/ 0 w 4978"/>
                  <a:gd name="T61" fmla="*/ 1145 h 1300"/>
                  <a:gd name="T62" fmla="*/ 0 w 4978"/>
                  <a:gd name="T63" fmla="*/ 155 h 1300"/>
                  <a:gd name="T64" fmla="*/ 2 w 4978"/>
                  <a:gd name="T65" fmla="*/ 117 h 1300"/>
                  <a:gd name="T66" fmla="*/ 4 w 4978"/>
                  <a:gd name="T67" fmla="*/ 100 h 1300"/>
                  <a:gd name="T68" fmla="*/ 9 w 4978"/>
                  <a:gd name="T69" fmla="*/ 86 h 1300"/>
                  <a:gd name="T70" fmla="*/ 21 w 4978"/>
                  <a:gd name="T71" fmla="*/ 59 h 1300"/>
                  <a:gd name="T72" fmla="*/ 29 w 4978"/>
                  <a:gd name="T73" fmla="*/ 48 h 1300"/>
                  <a:gd name="T74" fmla="*/ 39 w 4978"/>
                  <a:gd name="T75" fmla="*/ 38 h 1300"/>
                  <a:gd name="T76" fmla="*/ 48 w 4978"/>
                  <a:gd name="T77" fmla="*/ 28 h 1300"/>
                  <a:gd name="T78" fmla="*/ 60 w 4978"/>
                  <a:gd name="T79" fmla="*/ 20 h 1300"/>
                  <a:gd name="T80" fmla="*/ 87 w 4978"/>
                  <a:gd name="T81" fmla="*/ 9 h 1300"/>
                  <a:gd name="T82" fmla="*/ 101 w 4978"/>
                  <a:gd name="T83" fmla="*/ 4 h 1300"/>
                  <a:gd name="T84" fmla="*/ 118 w 4978"/>
                  <a:gd name="T85" fmla="*/ 1 h 1300"/>
                  <a:gd name="T86" fmla="*/ 155 w 4978"/>
                  <a:gd name="T87" fmla="*/ 0 h 1300"/>
                  <a:gd name="T88" fmla="*/ 4824 w 4978"/>
                  <a:gd name="T89" fmla="*/ 0 h 1300"/>
                  <a:gd name="T90" fmla="*/ 4860 w 4978"/>
                  <a:gd name="T91" fmla="*/ 1 h 1300"/>
                  <a:gd name="T92" fmla="*/ 4875 w 4978"/>
                  <a:gd name="T93" fmla="*/ 4 h 1300"/>
                  <a:gd name="T94" fmla="*/ 4891 w 4978"/>
                  <a:gd name="T95" fmla="*/ 9 h 1300"/>
                  <a:gd name="T96" fmla="*/ 4917 w 4978"/>
                  <a:gd name="T97" fmla="*/ 20 h 1300"/>
                  <a:gd name="T98" fmla="*/ 4928 w 4978"/>
                  <a:gd name="T99" fmla="*/ 28 h 1300"/>
                  <a:gd name="T100" fmla="*/ 4940 w 4978"/>
                  <a:gd name="T101" fmla="*/ 38 h 1300"/>
                  <a:gd name="T102" fmla="*/ 4947 w 4978"/>
                  <a:gd name="T103" fmla="*/ 48 h 1300"/>
                  <a:gd name="T104" fmla="*/ 4955 w 4978"/>
                  <a:gd name="T105" fmla="*/ 59 h 1300"/>
                  <a:gd name="T106" fmla="*/ 4968 w 4978"/>
                  <a:gd name="T107" fmla="*/ 86 h 1300"/>
                  <a:gd name="T108" fmla="*/ 4972 w 4978"/>
                  <a:gd name="T109" fmla="*/ 100 h 1300"/>
                  <a:gd name="T110" fmla="*/ 4976 w 4978"/>
                  <a:gd name="T111" fmla="*/ 117 h 1300"/>
                  <a:gd name="T112" fmla="*/ 4978 w 4978"/>
                  <a:gd name="T113" fmla="*/ 155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78" h="1300">
                    <a:moveTo>
                      <a:pt x="4978" y="155"/>
                    </a:moveTo>
                    <a:lnTo>
                      <a:pt x="4978" y="1145"/>
                    </a:lnTo>
                    <a:lnTo>
                      <a:pt x="4977" y="1163"/>
                    </a:lnTo>
                    <a:lnTo>
                      <a:pt x="4976" y="1181"/>
                    </a:lnTo>
                    <a:lnTo>
                      <a:pt x="4972" y="1196"/>
                    </a:lnTo>
                    <a:lnTo>
                      <a:pt x="4968" y="1212"/>
                    </a:lnTo>
                    <a:lnTo>
                      <a:pt x="4962" y="1225"/>
                    </a:lnTo>
                    <a:lnTo>
                      <a:pt x="4955" y="1238"/>
                    </a:lnTo>
                    <a:lnTo>
                      <a:pt x="4947" y="1249"/>
                    </a:lnTo>
                    <a:lnTo>
                      <a:pt x="4940" y="1261"/>
                    </a:lnTo>
                    <a:lnTo>
                      <a:pt x="4928" y="1269"/>
                    </a:lnTo>
                    <a:lnTo>
                      <a:pt x="4917" y="1276"/>
                    </a:lnTo>
                    <a:lnTo>
                      <a:pt x="4904" y="1283"/>
                    </a:lnTo>
                    <a:lnTo>
                      <a:pt x="4891" y="1289"/>
                    </a:lnTo>
                    <a:lnTo>
                      <a:pt x="4875" y="1293"/>
                    </a:lnTo>
                    <a:lnTo>
                      <a:pt x="4860" y="1297"/>
                    </a:lnTo>
                    <a:lnTo>
                      <a:pt x="4842" y="1298"/>
                    </a:lnTo>
                    <a:lnTo>
                      <a:pt x="4824" y="1300"/>
                    </a:lnTo>
                    <a:lnTo>
                      <a:pt x="155" y="1300"/>
                    </a:lnTo>
                    <a:lnTo>
                      <a:pt x="134" y="1298"/>
                    </a:lnTo>
                    <a:lnTo>
                      <a:pt x="116" y="1297"/>
                    </a:lnTo>
                    <a:lnTo>
                      <a:pt x="100" y="1293"/>
                    </a:lnTo>
                    <a:lnTo>
                      <a:pt x="85" y="1289"/>
                    </a:lnTo>
                    <a:lnTo>
                      <a:pt x="64" y="1280"/>
                    </a:lnTo>
                    <a:lnTo>
                      <a:pt x="47" y="1269"/>
                    </a:lnTo>
                    <a:lnTo>
                      <a:pt x="33" y="1254"/>
                    </a:lnTo>
                    <a:lnTo>
                      <a:pt x="21" y="1238"/>
                    </a:lnTo>
                    <a:lnTo>
                      <a:pt x="12" y="1218"/>
                    </a:lnTo>
                    <a:lnTo>
                      <a:pt x="5" y="1196"/>
                    </a:lnTo>
                    <a:lnTo>
                      <a:pt x="2" y="1172"/>
                    </a:lnTo>
                    <a:lnTo>
                      <a:pt x="0" y="1145"/>
                    </a:lnTo>
                    <a:lnTo>
                      <a:pt x="0" y="155"/>
                    </a:lnTo>
                    <a:lnTo>
                      <a:pt x="2" y="117"/>
                    </a:lnTo>
                    <a:lnTo>
                      <a:pt x="4" y="100"/>
                    </a:lnTo>
                    <a:lnTo>
                      <a:pt x="9" y="86"/>
                    </a:lnTo>
                    <a:lnTo>
                      <a:pt x="21" y="59"/>
                    </a:lnTo>
                    <a:lnTo>
                      <a:pt x="29" y="48"/>
                    </a:lnTo>
                    <a:lnTo>
                      <a:pt x="39" y="38"/>
                    </a:lnTo>
                    <a:lnTo>
                      <a:pt x="48" y="28"/>
                    </a:lnTo>
                    <a:lnTo>
                      <a:pt x="60" y="20"/>
                    </a:lnTo>
                    <a:lnTo>
                      <a:pt x="87" y="9"/>
                    </a:lnTo>
                    <a:lnTo>
                      <a:pt x="101" y="4"/>
                    </a:lnTo>
                    <a:lnTo>
                      <a:pt x="118" y="1"/>
                    </a:lnTo>
                    <a:lnTo>
                      <a:pt x="155" y="0"/>
                    </a:lnTo>
                    <a:lnTo>
                      <a:pt x="4824" y="0"/>
                    </a:lnTo>
                    <a:lnTo>
                      <a:pt x="4860" y="1"/>
                    </a:lnTo>
                    <a:lnTo>
                      <a:pt x="4875" y="4"/>
                    </a:lnTo>
                    <a:lnTo>
                      <a:pt x="4891" y="9"/>
                    </a:lnTo>
                    <a:lnTo>
                      <a:pt x="4917" y="20"/>
                    </a:lnTo>
                    <a:lnTo>
                      <a:pt x="4928" y="28"/>
                    </a:lnTo>
                    <a:lnTo>
                      <a:pt x="4940" y="38"/>
                    </a:lnTo>
                    <a:lnTo>
                      <a:pt x="4947" y="48"/>
                    </a:lnTo>
                    <a:lnTo>
                      <a:pt x="4955" y="59"/>
                    </a:lnTo>
                    <a:lnTo>
                      <a:pt x="4968" y="86"/>
                    </a:lnTo>
                    <a:lnTo>
                      <a:pt x="4972" y="100"/>
                    </a:lnTo>
                    <a:lnTo>
                      <a:pt x="4976" y="117"/>
                    </a:lnTo>
                    <a:lnTo>
                      <a:pt x="4978" y="155"/>
                    </a:lnTo>
                  </a:path>
                </a:pathLst>
              </a:custGeom>
              <a:solidFill>
                <a:srgbClr val="CCFFCC"/>
              </a:solidFill>
              <a:ln w="25400" cap="flat" cmpd="sng">
                <a:solidFill>
                  <a:srgbClr val="33333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nvGrpSpPr>
              <p:cNvPr id="51453" name="Group 253">
                <a:extLst>
                  <a:ext uri="{FF2B5EF4-FFF2-40B4-BE49-F238E27FC236}">
                    <a16:creationId xmlns:a16="http://schemas.microsoft.com/office/drawing/2014/main" id="{778716FC-08BE-5220-685A-FCE022C39460}"/>
                  </a:ext>
                </a:extLst>
              </p:cNvPr>
              <p:cNvGrpSpPr>
                <a:grpSpLocks/>
              </p:cNvGrpSpPr>
              <p:nvPr/>
            </p:nvGrpSpPr>
            <p:grpSpPr bwMode="auto">
              <a:xfrm>
                <a:off x="1605" y="738"/>
                <a:ext cx="109" cy="106"/>
                <a:chOff x="1605" y="738"/>
                <a:chExt cx="109" cy="106"/>
              </a:xfrm>
            </p:grpSpPr>
            <p:sp>
              <p:nvSpPr>
                <p:cNvPr id="51322" name="Freeform 122">
                  <a:extLst>
                    <a:ext uri="{FF2B5EF4-FFF2-40B4-BE49-F238E27FC236}">
                      <a16:creationId xmlns:a16="http://schemas.microsoft.com/office/drawing/2014/main" id="{FDDD4164-6E4B-BA0C-5E4F-F59DF0570DCC}"/>
                    </a:ext>
                  </a:extLst>
                </p:cNvPr>
                <p:cNvSpPr>
                  <a:spLocks/>
                </p:cNvSpPr>
                <p:nvPr/>
              </p:nvSpPr>
              <p:spPr bwMode="auto">
                <a:xfrm>
                  <a:off x="1605" y="777"/>
                  <a:ext cx="66" cy="67"/>
                </a:xfrm>
                <a:custGeom>
                  <a:avLst/>
                  <a:gdLst>
                    <a:gd name="T0" fmla="*/ 21 w 266"/>
                    <a:gd name="T1" fmla="*/ 64 h 267"/>
                    <a:gd name="T2" fmla="*/ 4 w 266"/>
                    <a:gd name="T3" fmla="*/ 100 h 267"/>
                    <a:gd name="T4" fmla="*/ 0 w 266"/>
                    <a:gd name="T5" fmla="*/ 131 h 267"/>
                    <a:gd name="T6" fmla="*/ 4 w 266"/>
                    <a:gd name="T7" fmla="*/ 172 h 267"/>
                    <a:gd name="T8" fmla="*/ 22 w 266"/>
                    <a:gd name="T9" fmla="*/ 211 h 267"/>
                    <a:gd name="T10" fmla="*/ 45 w 266"/>
                    <a:gd name="T11" fmla="*/ 236 h 267"/>
                    <a:gd name="T12" fmla="*/ 84 w 266"/>
                    <a:gd name="T13" fmla="*/ 260 h 267"/>
                    <a:gd name="T14" fmla="*/ 116 w 266"/>
                    <a:gd name="T15" fmla="*/ 266 h 267"/>
                    <a:gd name="T16" fmla="*/ 172 w 266"/>
                    <a:gd name="T17" fmla="*/ 261 h 267"/>
                    <a:gd name="T18" fmla="*/ 212 w 266"/>
                    <a:gd name="T19" fmla="*/ 240 h 267"/>
                    <a:gd name="T20" fmla="*/ 235 w 266"/>
                    <a:gd name="T21" fmla="*/ 216 h 267"/>
                    <a:gd name="T22" fmla="*/ 250 w 266"/>
                    <a:gd name="T23" fmla="*/ 191 h 267"/>
                    <a:gd name="T24" fmla="*/ 262 w 266"/>
                    <a:gd name="T25" fmla="*/ 117 h 267"/>
                    <a:gd name="T26" fmla="*/ 246 w 266"/>
                    <a:gd name="T27" fmla="*/ 75 h 267"/>
                    <a:gd name="T28" fmla="*/ 263 w 266"/>
                    <a:gd name="T29" fmla="*/ 57 h 267"/>
                    <a:gd name="T30" fmla="*/ 249 w 266"/>
                    <a:gd name="T31" fmla="*/ 56 h 267"/>
                    <a:gd name="T32" fmla="*/ 236 w 266"/>
                    <a:gd name="T33" fmla="*/ 47 h 267"/>
                    <a:gd name="T34" fmla="*/ 218 w 266"/>
                    <a:gd name="T35" fmla="*/ 26 h 267"/>
                    <a:gd name="T36" fmla="*/ 214 w 266"/>
                    <a:gd name="T37" fmla="*/ 12 h 267"/>
                    <a:gd name="T38" fmla="*/ 182 w 266"/>
                    <a:gd name="T39" fmla="*/ 37 h 267"/>
                    <a:gd name="T40" fmla="*/ 177 w 266"/>
                    <a:gd name="T41" fmla="*/ 47 h 267"/>
                    <a:gd name="T42" fmla="*/ 177 w 266"/>
                    <a:gd name="T43" fmla="*/ 58 h 267"/>
                    <a:gd name="T44" fmla="*/ 181 w 266"/>
                    <a:gd name="T45" fmla="*/ 69 h 267"/>
                    <a:gd name="T46" fmla="*/ 199 w 266"/>
                    <a:gd name="T47" fmla="*/ 88 h 267"/>
                    <a:gd name="T48" fmla="*/ 210 w 266"/>
                    <a:gd name="T49" fmla="*/ 95 h 267"/>
                    <a:gd name="T50" fmla="*/ 183 w 266"/>
                    <a:gd name="T51" fmla="*/ 87 h 267"/>
                    <a:gd name="T52" fmla="*/ 168 w 266"/>
                    <a:gd name="T53" fmla="*/ 73 h 267"/>
                    <a:gd name="T54" fmla="*/ 160 w 266"/>
                    <a:gd name="T55" fmla="*/ 56 h 267"/>
                    <a:gd name="T56" fmla="*/ 161 w 266"/>
                    <a:gd name="T57" fmla="*/ 39 h 267"/>
                    <a:gd name="T58" fmla="*/ 169 w 266"/>
                    <a:gd name="T59" fmla="*/ 26 h 267"/>
                    <a:gd name="T60" fmla="*/ 177 w 266"/>
                    <a:gd name="T61" fmla="*/ 13 h 267"/>
                    <a:gd name="T62" fmla="*/ 130 w 266"/>
                    <a:gd name="T63" fmla="*/ 4 h 267"/>
                    <a:gd name="T64" fmla="*/ 97 w 266"/>
                    <a:gd name="T65" fmla="*/ 9 h 267"/>
                    <a:gd name="T66" fmla="*/ 54 w 266"/>
                    <a:gd name="T67" fmla="*/ 29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6" h="267">
                      <a:moveTo>
                        <a:pt x="39" y="42"/>
                      </a:moveTo>
                      <a:lnTo>
                        <a:pt x="21" y="64"/>
                      </a:lnTo>
                      <a:lnTo>
                        <a:pt x="12" y="80"/>
                      </a:lnTo>
                      <a:lnTo>
                        <a:pt x="4" y="100"/>
                      </a:lnTo>
                      <a:lnTo>
                        <a:pt x="1" y="110"/>
                      </a:lnTo>
                      <a:lnTo>
                        <a:pt x="0" y="131"/>
                      </a:lnTo>
                      <a:lnTo>
                        <a:pt x="0" y="151"/>
                      </a:lnTo>
                      <a:lnTo>
                        <a:pt x="4" y="172"/>
                      </a:lnTo>
                      <a:lnTo>
                        <a:pt x="12" y="193"/>
                      </a:lnTo>
                      <a:lnTo>
                        <a:pt x="22" y="211"/>
                      </a:lnTo>
                      <a:lnTo>
                        <a:pt x="36" y="227"/>
                      </a:lnTo>
                      <a:lnTo>
                        <a:pt x="45" y="236"/>
                      </a:lnTo>
                      <a:lnTo>
                        <a:pt x="61" y="248"/>
                      </a:lnTo>
                      <a:lnTo>
                        <a:pt x="84" y="260"/>
                      </a:lnTo>
                      <a:lnTo>
                        <a:pt x="102" y="265"/>
                      </a:lnTo>
                      <a:lnTo>
                        <a:pt x="116" y="266"/>
                      </a:lnTo>
                      <a:lnTo>
                        <a:pt x="134" y="267"/>
                      </a:lnTo>
                      <a:lnTo>
                        <a:pt x="172" y="261"/>
                      </a:lnTo>
                      <a:lnTo>
                        <a:pt x="190" y="254"/>
                      </a:lnTo>
                      <a:lnTo>
                        <a:pt x="212" y="240"/>
                      </a:lnTo>
                      <a:lnTo>
                        <a:pt x="222" y="231"/>
                      </a:lnTo>
                      <a:lnTo>
                        <a:pt x="235" y="216"/>
                      </a:lnTo>
                      <a:lnTo>
                        <a:pt x="241" y="208"/>
                      </a:lnTo>
                      <a:lnTo>
                        <a:pt x="250" y="191"/>
                      </a:lnTo>
                      <a:lnTo>
                        <a:pt x="262" y="154"/>
                      </a:lnTo>
                      <a:lnTo>
                        <a:pt x="262" y="117"/>
                      </a:lnTo>
                      <a:lnTo>
                        <a:pt x="253" y="88"/>
                      </a:lnTo>
                      <a:lnTo>
                        <a:pt x="246" y="75"/>
                      </a:lnTo>
                      <a:lnTo>
                        <a:pt x="266" y="56"/>
                      </a:lnTo>
                      <a:lnTo>
                        <a:pt x="263" y="57"/>
                      </a:lnTo>
                      <a:lnTo>
                        <a:pt x="258" y="57"/>
                      </a:lnTo>
                      <a:lnTo>
                        <a:pt x="249" y="56"/>
                      </a:lnTo>
                      <a:lnTo>
                        <a:pt x="240" y="51"/>
                      </a:lnTo>
                      <a:lnTo>
                        <a:pt x="236" y="47"/>
                      </a:lnTo>
                      <a:lnTo>
                        <a:pt x="226" y="37"/>
                      </a:lnTo>
                      <a:lnTo>
                        <a:pt x="218" y="26"/>
                      </a:lnTo>
                      <a:lnTo>
                        <a:pt x="214" y="16"/>
                      </a:lnTo>
                      <a:lnTo>
                        <a:pt x="214" y="12"/>
                      </a:lnTo>
                      <a:lnTo>
                        <a:pt x="214" y="0"/>
                      </a:lnTo>
                      <a:lnTo>
                        <a:pt x="182" y="37"/>
                      </a:lnTo>
                      <a:lnTo>
                        <a:pt x="179" y="42"/>
                      </a:lnTo>
                      <a:lnTo>
                        <a:pt x="177" y="47"/>
                      </a:lnTo>
                      <a:lnTo>
                        <a:pt x="177" y="53"/>
                      </a:lnTo>
                      <a:lnTo>
                        <a:pt x="177" y="58"/>
                      </a:lnTo>
                      <a:lnTo>
                        <a:pt x="178" y="64"/>
                      </a:lnTo>
                      <a:lnTo>
                        <a:pt x="181" y="69"/>
                      </a:lnTo>
                      <a:lnTo>
                        <a:pt x="187" y="78"/>
                      </a:lnTo>
                      <a:lnTo>
                        <a:pt x="199" y="88"/>
                      </a:lnTo>
                      <a:lnTo>
                        <a:pt x="209" y="95"/>
                      </a:lnTo>
                      <a:lnTo>
                        <a:pt x="210" y="95"/>
                      </a:lnTo>
                      <a:lnTo>
                        <a:pt x="187" y="88"/>
                      </a:lnTo>
                      <a:lnTo>
                        <a:pt x="183" y="87"/>
                      </a:lnTo>
                      <a:lnTo>
                        <a:pt x="174" y="80"/>
                      </a:lnTo>
                      <a:lnTo>
                        <a:pt x="168" y="73"/>
                      </a:lnTo>
                      <a:lnTo>
                        <a:pt x="163" y="64"/>
                      </a:lnTo>
                      <a:lnTo>
                        <a:pt x="160" y="56"/>
                      </a:lnTo>
                      <a:lnTo>
                        <a:pt x="160" y="47"/>
                      </a:lnTo>
                      <a:lnTo>
                        <a:pt x="161" y="39"/>
                      </a:lnTo>
                      <a:lnTo>
                        <a:pt x="165" y="33"/>
                      </a:lnTo>
                      <a:lnTo>
                        <a:pt x="169" y="26"/>
                      </a:lnTo>
                      <a:lnTo>
                        <a:pt x="182" y="15"/>
                      </a:lnTo>
                      <a:lnTo>
                        <a:pt x="177" y="13"/>
                      </a:lnTo>
                      <a:lnTo>
                        <a:pt x="159" y="7"/>
                      </a:lnTo>
                      <a:lnTo>
                        <a:pt x="130" y="4"/>
                      </a:lnTo>
                      <a:lnTo>
                        <a:pt x="111" y="7"/>
                      </a:lnTo>
                      <a:lnTo>
                        <a:pt x="97" y="9"/>
                      </a:lnTo>
                      <a:lnTo>
                        <a:pt x="71" y="19"/>
                      </a:lnTo>
                      <a:lnTo>
                        <a:pt x="54" y="29"/>
                      </a:lnTo>
                      <a:lnTo>
                        <a:pt x="39"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23" name="Freeform 123">
                  <a:extLst>
                    <a:ext uri="{FF2B5EF4-FFF2-40B4-BE49-F238E27FC236}">
                      <a16:creationId xmlns:a16="http://schemas.microsoft.com/office/drawing/2014/main" id="{337BB258-21A0-3703-B735-3415FCC95B2C}"/>
                    </a:ext>
                  </a:extLst>
                </p:cNvPr>
                <p:cNvSpPr>
                  <a:spLocks/>
                </p:cNvSpPr>
                <p:nvPr/>
              </p:nvSpPr>
              <p:spPr bwMode="auto">
                <a:xfrm>
                  <a:off x="1685" y="747"/>
                  <a:ext cx="21" cy="21"/>
                </a:xfrm>
                <a:custGeom>
                  <a:avLst/>
                  <a:gdLst>
                    <a:gd name="T0" fmla="*/ 81 w 84"/>
                    <a:gd name="T1" fmla="*/ 16 h 83"/>
                    <a:gd name="T2" fmla="*/ 83 w 84"/>
                    <a:gd name="T3" fmla="*/ 12 h 83"/>
                    <a:gd name="T4" fmla="*/ 84 w 84"/>
                    <a:gd name="T5" fmla="*/ 9 h 83"/>
                    <a:gd name="T6" fmla="*/ 83 w 84"/>
                    <a:gd name="T7" fmla="*/ 5 h 83"/>
                    <a:gd name="T8" fmla="*/ 81 w 84"/>
                    <a:gd name="T9" fmla="*/ 2 h 83"/>
                    <a:gd name="T10" fmla="*/ 79 w 84"/>
                    <a:gd name="T11" fmla="*/ 0 h 83"/>
                    <a:gd name="T12" fmla="*/ 76 w 84"/>
                    <a:gd name="T13" fmla="*/ 0 h 83"/>
                    <a:gd name="T14" fmla="*/ 72 w 84"/>
                    <a:gd name="T15" fmla="*/ 0 h 83"/>
                    <a:gd name="T16" fmla="*/ 71 w 84"/>
                    <a:gd name="T17" fmla="*/ 0 h 83"/>
                    <a:gd name="T18" fmla="*/ 69 w 84"/>
                    <a:gd name="T19" fmla="*/ 2 h 83"/>
                    <a:gd name="T20" fmla="*/ 3 w 84"/>
                    <a:gd name="T21" fmla="*/ 68 h 83"/>
                    <a:gd name="T22" fmla="*/ 2 w 84"/>
                    <a:gd name="T23" fmla="*/ 70 h 83"/>
                    <a:gd name="T24" fmla="*/ 0 w 84"/>
                    <a:gd name="T25" fmla="*/ 73 h 83"/>
                    <a:gd name="T26" fmla="*/ 2 w 84"/>
                    <a:gd name="T27" fmla="*/ 78 h 83"/>
                    <a:gd name="T28" fmla="*/ 3 w 84"/>
                    <a:gd name="T29" fmla="*/ 81 h 83"/>
                    <a:gd name="T30" fmla="*/ 5 w 84"/>
                    <a:gd name="T31" fmla="*/ 82 h 83"/>
                    <a:gd name="T32" fmla="*/ 7 w 84"/>
                    <a:gd name="T33" fmla="*/ 82 h 83"/>
                    <a:gd name="T34" fmla="*/ 11 w 84"/>
                    <a:gd name="T35" fmla="*/ 83 h 83"/>
                    <a:gd name="T36" fmla="*/ 12 w 84"/>
                    <a:gd name="T37" fmla="*/ 83 h 83"/>
                    <a:gd name="T38" fmla="*/ 14 w 84"/>
                    <a:gd name="T39" fmla="*/ 82 h 83"/>
                    <a:gd name="T40" fmla="*/ 17 w 84"/>
                    <a:gd name="T41" fmla="*/ 79 h 83"/>
                    <a:gd name="T42" fmla="*/ 81 w 84"/>
                    <a:gd name="T43" fmla="*/ 1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4" h="83">
                      <a:moveTo>
                        <a:pt x="81" y="16"/>
                      </a:moveTo>
                      <a:lnTo>
                        <a:pt x="83" y="12"/>
                      </a:lnTo>
                      <a:lnTo>
                        <a:pt x="84" y="9"/>
                      </a:lnTo>
                      <a:lnTo>
                        <a:pt x="83" y="5"/>
                      </a:lnTo>
                      <a:lnTo>
                        <a:pt x="81" y="2"/>
                      </a:lnTo>
                      <a:lnTo>
                        <a:pt x="79" y="0"/>
                      </a:lnTo>
                      <a:lnTo>
                        <a:pt x="76" y="0"/>
                      </a:lnTo>
                      <a:lnTo>
                        <a:pt x="72" y="0"/>
                      </a:lnTo>
                      <a:lnTo>
                        <a:pt x="71" y="0"/>
                      </a:lnTo>
                      <a:lnTo>
                        <a:pt x="69" y="2"/>
                      </a:lnTo>
                      <a:lnTo>
                        <a:pt x="3" y="68"/>
                      </a:lnTo>
                      <a:lnTo>
                        <a:pt x="2" y="70"/>
                      </a:lnTo>
                      <a:lnTo>
                        <a:pt x="0" y="73"/>
                      </a:lnTo>
                      <a:lnTo>
                        <a:pt x="2" y="78"/>
                      </a:lnTo>
                      <a:lnTo>
                        <a:pt x="3" y="81"/>
                      </a:lnTo>
                      <a:lnTo>
                        <a:pt x="5" y="82"/>
                      </a:lnTo>
                      <a:lnTo>
                        <a:pt x="7" y="82"/>
                      </a:lnTo>
                      <a:lnTo>
                        <a:pt x="11" y="83"/>
                      </a:lnTo>
                      <a:lnTo>
                        <a:pt x="12" y="83"/>
                      </a:lnTo>
                      <a:lnTo>
                        <a:pt x="14" y="82"/>
                      </a:lnTo>
                      <a:lnTo>
                        <a:pt x="17" y="79"/>
                      </a:lnTo>
                      <a:lnTo>
                        <a:pt x="81"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24" name="Freeform 124">
                  <a:extLst>
                    <a:ext uri="{FF2B5EF4-FFF2-40B4-BE49-F238E27FC236}">
                      <a16:creationId xmlns:a16="http://schemas.microsoft.com/office/drawing/2014/main" id="{66781098-0BE5-B5E5-61DE-6CA96FC11C3D}"/>
                    </a:ext>
                  </a:extLst>
                </p:cNvPr>
                <p:cNvSpPr>
                  <a:spLocks/>
                </p:cNvSpPr>
                <p:nvPr/>
              </p:nvSpPr>
              <p:spPr bwMode="auto">
                <a:xfrm>
                  <a:off x="1673" y="738"/>
                  <a:ext cx="4" cy="27"/>
                </a:xfrm>
                <a:custGeom>
                  <a:avLst/>
                  <a:gdLst>
                    <a:gd name="T0" fmla="*/ 8 w 20"/>
                    <a:gd name="T1" fmla="*/ 0 h 110"/>
                    <a:gd name="T2" fmla="*/ 5 w 20"/>
                    <a:gd name="T3" fmla="*/ 0 h 110"/>
                    <a:gd name="T4" fmla="*/ 3 w 20"/>
                    <a:gd name="T5" fmla="*/ 3 h 110"/>
                    <a:gd name="T6" fmla="*/ 0 w 20"/>
                    <a:gd name="T7" fmla="*/ 8 h 110"/>
                    <a:gd name="T8" fmla="*/ 0 w 20"/>
                    <a:gd name="T9" fmla="*/ 101 h 110"/>
                    <a:gd name="T10" fmla="*/ 0 w 20"/>
                    <a:gd name="T11" fmla="*/ 105 h 110"/>
                    <a:gd name="T12" fmla="*/ 1 w 20"/>
                    <a:gd name="T13" fmla="*/ 106 h 110"/>
                    <a:gd name="T14" fmla="*/ 3 w 20"/>
                    <a:gd name="T15" fmla="*/ 107 h 110"/>
                    <a:gd name="T16" fmla="*/ 5 w 20"/>
                    <a:gd name="T17" fmla="*/ 110 h 110"/>
                    <a:gd name="T18" fmla="*/ 9 w 20"/>
                    <a:gd name="T19" fmla="*/ 110 h 110"/>
                    <a:gd name="T20" fmla="*/ 14 w 20"/>
                    <a:gd name="T21" fmla="*/ 109 h 110"/>
                    <a:gd name="T22" fmla="*/ 17 w 20"/>
                    <a:gd name="T23" fmla="*/ 106 h 110"/>
                    <a:gd name="T24" fmla="*/ 20 w 20"/>
                    <a:gd name="T25" fmla="*/ 101 h 110"/>
                    <a:gd name="T26" fmla="*/ 18 w 20"/>
                    <a:gd name="T27" fmla="*/ 9 h 110"/>
                    <a:gd name="T28" fmla="*/ 17 w 20"/>
                    <a:gd name="T29" fmla="*/ 6 h 110"/>
                    <a:gd name="T30" fmla="*/ 16 w 20"/>
                    <a:gd name="T31" fmla="*/ 3 h 110"/>
                    <a:gd name="T32" fmla="*/ 13 w 20"/>
                    <a:gd name="T33" fmla="*/ 0 h 110"/>
                    <a:gd name="T34" fmla="*/ 8 w 20"/>
                    <a:gd name="T35"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110">
                      <a:moveTo>
                        <a:pt x="8" y="0"/>
                      </a:moveTo>
                      <a:lnTo>
                        <a:pt x="5" y="0"/>
                      </a:lnTo>
                      <a:lnTo>
                        <a:pt x="3" y="3"/>
                      </a:lnTo>
                      <a:lnTo>
                        <a:pt x="0" y="8"/>
                      </a:lnTo>
                      <a:lnTo>
                        <a:pt x="0" y="101"/>
                      </a:lnTo>
                      <a:lnTo>
                        <a:pt x="0" y="105"/>
                      </a:lnTo>
                      <a:lnTo>
                        <a:pt x="1" y="106"/>
                      </a:lnTo>
                      <a:lnTo>
                        <a:pt x="3" y="107"/>
                      </a:lnTo>
                      <a:lnTo>
                        <a:pt x="5" y="110"/>
                      </a:lnTo>
                      <a:lnTo>
                        <a:pt x="9" y="110"/>
                      </a:lnTo>
                      <a:lnTo>
                        <a:pt x="14" y="109"/>
                      </a:lnTo>
                      <a:lnTo>
                        <a:pt x="17" y="106"/>
                      </a:lnTo>
                      <a:lnTo>
                        <a:pt x="20" y="101"/>
                      </a:lnTo>
                      <a:lnTo>
                        <a:pt x="18" y="9"/>
                      </a:lnTo>
                      <a:lnTo>
                        <a:pt x="17" y="6"/>
                      </a:lnTo>
                      <a:lnTo>
                        <a:pt x="16" y="3"/>
                      </a:lnTo>
                      <a:lnTo>
                        <a:pt x="13" y="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25" name="Freeform 125">
                  <a:extLst>
                    <a:ext uri="{FF2B5EF4-FFF2-40B4-BE49-F238E27FC236}">
                      <a16:creationId xmlns:a16="http://schemas.microsoft.com/office/drawing/2014/main" id="{28D92F9E-9B0B-4AAC-1A8E-38F65879F2A8}"/>
                    </a:ext>
                  </a:extLst>
                </p:cNvPr>
                <p:cNvSpPr>
                  <a:spLocks/>
                </p:cNvSpPr>
                <p:nvPr/>
              </p:nvSpPr>
              <p:spPr bwMode="auto">
                <a:xfrm>
                  <a:off x="1661" y="771"/>
                  <a:ext cx="21" cy="17"/>
                </a:xfrm>
                <a:custGeom>
                  <a:avLst/>
                  <a:gdLst>
                    <a:gd name="T0" fmla="*/ 73 w 84"/>
                    <a:gd name="T1" fmla="*/ 0 h 65"/>
                    <a:gd name="T2" fmla="*/ 67 w 84"/>
                    <a:gd name="T3" fmla="*/ 6 h 65"/>
                    <a:gd name="T4" fmla="*/ 26 w 84"/>
                    <a:gd name="T5" fmla="*/ 41 h 65"/>
                    <a:gd name="T6" fmla="*/ 24 w 84"/>
                    <a:gd name="T7" fmla="*/ 41 h 65"/>
                    <a:gd name="T8" fmla="*/ 24 w 84"/>
                    <a:gd name="T9" fmla="*/ 42 h 65"/>
                    <a:gd name="T10" fmla="*/ 22 w 84"/>
                    <a:gd name="T11" fmla="*/ 41 h 65"/>
                    <a:gd name="T12" fmla="*/ 20 w 84"/>
                    <a:gd name="T13" fmla="*/ 38 h 65"/>
                    <a:gd name="T14" fmla="*/ 20 w 84"/>
                    <a:gd name="T15" fmla="*/ 36 h 65"/>
                    <a:gd name="T16" fmla="*/ 22 w 84"/>
                    <a:gd name="T17" fmla="*/ 34 h 65"/>
                    <a:gd name="T18" fmla="*/ 22 w 84"/>
                    <a:gd name="T19" fmla="*/ 33 h 65"/>
                    <a:gd name="T20" fmla="*/ 28 w 84"/>
                    <a:gd name="T21" fmla="*/ 25 h 65"/>
                    <a:gd name="T22" fmla="*/ 31 w 84"/>
                    <a:gd name="T23" fmla="*/ 23 h 65"/>
                    <a:gd name="T24" fmla="*/ 28 w 84"/>
                    <a:gd name="T25" fmla="*/ 20 h 65"/>
                    <a:gd name="T26" fmla="*/ 18 w 84"/>
                    <a:gd name="T27" fmla="*/ 14 h 65"/>
                    <a:gd name="T28" fmla="*/ 14 w 84"/>
                    <a:gd name="T29" fmla="*/ 12 h 65"/>
                    <a:gd name="T30" fmla="*/ 10 w 84"/>
                    <a:gd name="T31" fmla="*/ 11 h 65"/>
                    <a:gd name="T32" fmla="*/ 6 w 84"/>
                    <a:gd name="T33" fmla="*/ 11 h 65"/>
                    <a:gd name="T34" fmla="*/ 4 w 84"/>
                    <a:gd name="T35" fmla="*/ 14 h 65"/>
                    <a:gd name="T36" fmla="*/ 2 w 84"/>
                    <a:gd name="T37" fmla="*/ 15 h 65"/>
                    <a:gd name="T38" fmla="*/ 1 w 84"/>
                    <a:gd name="T39" fmla="*/ 18 h 65"/>
                    <a:gd name="T40" fmla="*/ 0 w 84"/>
                    <a:gd name="T41" fmla="*/ 21 h 65"/>
                    <a:gd name="T42" fmla="*/ 2 w 84"/>
                    <a:gd name="T43" fmla="*/ 33 h 65"/>
                    <a:gd name="T44" fmla="*/ 8 w 84"/>
                    <a:gd name="T45" fmla="*/ 43 h 65"/>
                    <a:gd name="T46" fmla="*/ 14 w 84"/>
                    <a:gd name="T47" fmla="*/ 50 h 65"/>
                    <a:gd name="T48" fmla="*/ 20 w 84"/>
                    <a:gd name="T49" fmla="*/ 58 h 65"/>
                    <a:gd name="T50" fmla="*/ 23 w 84"/>
                    <a:gd name="T51" fmla="*/ 59 h 65"/>
                    <a:gd name="T52" fmla="*/ 31 w 84"/>
                    <a:gd name="T53" fmla="*/ 63 h 65"/>
                    <a:gd name="T54" fmla="*/ 41 w 84"/>
                    <a:gd name="T55" fmla="*/ 65 h 65"/>
                    <a:gd name="T56" fmla="*/ 45 w 84"/>
                    <a:gd name="T57" fmla="*/ 64 h 65"/>
                    <a:gd name="T58" fmla="*/ 49 w 84"/>
                    <a:gd name="T59" fmla="*/ 63 h 65"/>
                    <a:gd name="T60" fmla="*/ 49 w 84"/>
                    <a:gd name="T61" fmla="*/ 61 h 65"/>
                    <a:gd name="T62" fmla="*/ 50 w 84"/>
                    <a:gd name="T63" fmla="*/ 60 h 65"/>
                    <a:gd name="T64" fmla="*/ 51 w 84"/>
                    <a:gd name="T65" fmla="*/ 58 h 65"/>
                    <a:gd name="T66" fmla="*/ 51 w 84"/>
                    <a:gd name="T67" fmla="*/ 52 h 65"/>
                    <a:gd name="T68" fmla="*/ 50 w 84"/>
                    <a:gd name="T69" fmla="*/ 45 h 65"/>
                    <a:gd name="T70" fmla="*/ 46 w 84"/>
                    <a:gd name="T71" fmla="*/ 37 h 65"/>
                    <a:gd name="T72" fmla="*/ 80 w 84"/>
                    <a:gd name="T73" fmla="*/ 10 h 65"/>
                    <a:gd name="T74" fmla="*/ 84 w 84"/>
                    <a:gd name="T75" fmla="*/ 9 h 65"/>
                    <a:gd name="T76" fmla="*/ 73 w 84"/>
                    <a:gd name="T77"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4" h="65">
                      <a:moveTo>
                        <a:pt x="73" y="0"/>
                      </a:moveTo>
                      <a:lnTo>
                        <a:pt x="67" y="6"/>
                      </a:lnTo>
                      <a:lnTo>
                        <a:pt x="26" y="41"/>
                      </a:lnTo>
                      <a:lnTo>
                        <a:pt x="24" y="41"/>
                      </a:lnTo>
                      <a:lnTo>
                        <a:pt x="24" y="42"/>
                      </a:lnTo>
                      <a:lnTo>
                        <a:pt x="22" y="41"/>
                      </a:lnTo>
                      <a:lnTo>
                        <a:pt x="20" y="38"/>
                      </a:lnTo>
                      <a:lnTo>
                        <a:pt x="20" y="36"/>
                      </a:lnTo>
                      <a:lnTo>
                        <a:pt x="22" y="34"/>
                      </a:lnTo>
                      <a:lnTo>
                        <a:pt x="22" y="33"/>
                      </a:lnTo>
                      <a:lnTo>
                        <a:pt x="28" y="25"/>
                      </a:lnTo>
                      <a:lnTo>
                        <a:pt x="31" y="23"/>
                      </a:lnTo>
                      <a:lnTo>
                        <a:pt x="28" y="20"/>
                      </a:lnTo>
                      <a:lnTo>
                        <a:pt x="18" y="14"/>
                      </a:lnTo>
                      <a:lnTo>
                        <a:pt x="14" y="12"/>
                      </a:lnTo>
                      <a:lnTo>
                        <a:pt x="10" y="11"/>
                      </a:lnTo>
                      <a:lnTo>
                        <a:pt x="6" y="11"/>
                      </a:lnTo>
                      <a:lnTo>
                        <a:pt x="4" y="14"/>
                      </a:lnTo>
                      <a:lnTo>
                        <a:pt x="2" y="15"/>
                      </a:lnTo>
                      <a:lnTo>
                        <a:pt x="1" y="18"/>
                      </a:lnTo>
                      <a:lnTo>
                        <a:pt x="0" y="21"/>
                      </a:lnTo>
                      <a:lnTo>
                        <a:pt x="2" y="33"/>
                      </a:lnTo>
                      <a:lnTo>
                        <a:pt x="8" y="43"/>
                      </a:lnTo>
                      <a:lnTo>
                        <a:pt x="14" y="50"/>
                      </a:lnTo>
                      <a:lnTo>
                        <a:pt x="20" y="58"/>
                      </a:lnTo>
                      <a:lnTo>
                        <a:pt x="23" y="59"/>
                      </a:lnTo>
                      <a:lnTo>
                        <a:pt x="31" y="63"/>
                      </a:lnTo>
                      <a:lnTo>
                        <a:pt x="41" y="65"/>
                      </a:lnTo>
                      <a:lnTo>
                        <a:pt x="45" y="64"/>
                      </a:lnTo>
                      <a:lnTo>
                        <a:pt x="49" y="63"/>
                      </a:lnTo>
                      <a:lnTo>
                        <a:pt x="49" y="61"/>
                      </a:lnTo>
                      <a:lnTo>
                        <a:pt x="50" y="60"/>
                      </a:lnTo>
                      <a:lnTo>
                        <a:pt x="51" y="58"/>
                      </a:lnTo>
                      <a:lnTo>
                        <a:pt x="51" y="52"/>
                      </a:lnTo>
                      <a:lnTo>
                        <a:pt x="50" y="45"/>
                      </a:lnTo>
                      <a:lnTo>
                        <a:pt x="46" y="37"/>
                      </a:lnTo>
                      <a:lnTo>
                        <a:pt x="80" y="10"/>
                      </a:lnTo>
                      <a:lnTo>
                        <a:pt x="84" y="9"/>
                      </a:lnTo>
                      <a:lnTo>
                        <a:pt x="7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26" name="Freeform 126">
                  <a:extLst>
                    <a:ext uri="{FF2B5EF4-FFF2-40B4-BE49-F238E27FC236}">
                      <a16:creationId xmlns:a16="http://schemas.microsoft.com/office/drawing/2014/main" id="{8E2B1978-84EC-3F56-7F41-35DA37311170}"/>
                    </a:ext>
                  </a:extLst>
                </p:cNvPr>
                <p:cNvSpPr>
                  <a:spLocks/>
                </p:cNvSpPr>
                <p:nvPr/>
              </p:nvSpPr>
              <p:spPr bwMode="auto">
                <a:xfrm>
                  <a:off x="1687" y="775"/>
                  <a:ext cx="27" cy="5"/>
                </a:xfrm>
                <a:custGeom>
                  <a:avLst/>
                  <a:gdLst>
                    <a:gd name="T0" fmla="*/ 0 w 110"/>
                    <a:gd name="T1" fmla="*/ 10 h 19"/>
                    <a:gd name="T2" fmla="*/ 0 w 110"/>
                    <a:gd name="T3" fmla="*/ 11 h 19"/>
                    <a:gd name="T4" fmla="*/ 3 w 110"/>
                    <a:gd name="T5" fmla="*/ 15 h 19"/>
                    <a:gd name="T6" fmla="*/ 3 w 110"/>
                    <a:gd name="T7" fmla="*/ 16 h 19"/>
                    <a:gd name="T8" fmla="*/ 5 w 110"/>
                    <a:gd name="T9" fmla="*/ 19 h 19"/>
                    <a:gd name="T10" fmla="*/ 8 w 110"/>
                    <a:gd name="T11" fmla="*/ 19 h 19"/>
                    <a:gd name="T12" fmla="*/ 103 w 110"/>
                    <a:gd name="T13" fmla="*/ 19 h 19"/>
                    <a:gd name="T14" fmla="*/ 103 w 110"/>
                    <a:gd name="T15" fmla="*/ 18 h 19"/>
                    <a:gd name="T16" fmla="*/ 107 w 110"/>
                    <a:gd name="T17" fmla="*/ 16 h 19"/>
                    <a:gd name="T18" fmla="*/ 110 w 110"/>
                    <a:gd name="T19" fmla="*/ 14 h 19"/>
                    <a:gd name="T20" fmla="*/ 110 w 110"/>
                    <a:gd name="T21" fmla="*/ 9 h 19"/>
                    <a:gd name="T22" fmla="*/ 110 w 110"/>
                    <a:gd name="T23" fmla="*/ 7 h 19"/>
                    <a:gd name="T24" fmla="*/ 107 w 110"/>
                    <a:gd name="T25" fmla="*/ 1 h 19"/>
                    <a:gd name="T26" fmla="*/ 102 w 110"/>
                    <a:gd name="T27" fmla="*/ 0 h 19"/>
                    <a:gd name="T28" fmla="*/ 8 w 110"/>
                    <a:gd name="T29" fmla="*/ 1 h 19"/>
                    <a:gd name="T30" fmla="*/ 5 w 110"/>
                    <a:gd name="T31" fmla="*/ 1 h 19"/>
                    <a:gd name="T32" fmla="*/ 3 w 110"/>
                    <a:gd name="T33" fmla="*/ 2 h 19"/>
                    <a:gd name="T34" fmla="*/ 3 w 110"/>
                    <a:gd name="T35" fmla="*/ 5 h 19"/>
                    <a:gd name="T36" fmla="*/ 2 w 110"/>
                    <a:gd name="T37" fmla="*/ 6 h 19"/>
                    <a:gd name="T38" fmla="*/ 0 w 110"/>
                    <a:gd name="T39" fmla="*/ 1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 h="19">
                      <a:moveTo>
                        <a:pt x="0" y="10"/>
                      </a:moveTo>
                      <a:lnTo>
                        <a:pt x="0" y="11"/>
                      </a:lnTo>
                      <a:lnTo>
                        <a:pt x="3" y="15"/>
                      </a:lnTo>
                      <a:lnTo>
                        <a:pt x="3" y="16"/>
                      </a:lnTo>
                      <a:lnTo>
                        <a:pt x="5" y="19"/>
                      </a:lnTo>
                      <a:lnTo>
                        <a:pt x="8" y="19"/>
                      </a:lnTo>
                      <a:lnTo>
                        <a:pt x="103" y="19"/>
                      </a:lnTo>
                      <a:lnTo>
                        <a:pt x="103" y="18"/>
                      </a:lnTo>
                      <a:lnTo>
                        <a:pt x="107" y="16"/>
                      </a:lnTo>
                      <a:lnTo>
                        <a:pt x="110" y="14"/>
                      </a:lnTo>
                      <a:lnTo>
                        <a:pt x="110" y="9"/>
                      </a:lnTo>
                      <a:lnTo>
                        <a:pt x="110" y="7"/>
                      </a:lnTo>
                      <a:lnTo>
                        <a:pt x="107" y="1"/>
                      </a:lnTo>
                      <a:lnTo>
                        <a:pt x="102" y="0"/>
                      </a:lnTo>
                      <a:lnTo>
                        <a:pt x="8" y="1"/>
                      </a:lnTo>
                      <a:lnTo>
                        <a:pt x="5" y="1"/>
                      </a:lnTo>
                      <a:lnTo>
                        <a:pt x="3" y="2"/>
                      </a:lnTo>
                      <a:lnTo>
                        <a:pt x="3" y="5"/>
                      </a:lnTo>
                      <a:lnTo>
                        <a:pt x="2" y="6"/>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51327" name="Rectangle 127">
                <a:extLst>
                  <a:ext uri="{FF2B5EF4-FFF2-40B4-BE49-F238E27FC236}">
                    <a16:creationId xmlns:a16="http://schemas.microsoft.com/office/drawing/2014/main" id="{1CD5916E-CF17-FD76-411F-8F9AF21BB2AE}"/>
                  </a:ext>
                </a:extLst>
              </p:cNvPr>
              <p:cNvSpPr>
                <a:spLocks noChangeArrowheads="1"/>
              </p:cNvSpPr>
              <p:nvPr/>
            </p:nvSpPr>
            <p:spPr bwMode="auto">
              <a:xfrm>
                <a:off x="1733" y="767"/>
                <a:ext cx="88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Spoofing user identity</a:t>
                </a:r>
                <a:endParaRPr lang="en-US" altLang="zh-CN" sz="1800">
                  <a:solidFill>
                    <a:schemeClr val="tx1"/>
                  </a:solidFill>
                  <a:ea typeface="宋体" panose="02010600030101010101" pitchFamily="2" charset="-122"/>
                </a:endParaRPr>
              </a:p>
            </p:txBody>
          </p:sp>
          <p:grpSp>
            <p:nvGrpSpPr>
              <p:cNvPr id="51452" name="Group 252">
                <a:extLst>
                  <a:ext uri="{FF2B5EF4-FFF2-40B4-BE49-F238E27FC236}">
                    <a16:creationId xmlns:a16="http://schemas.microsoft.com/office/drawing/2014/main" id="{9141CFE2-29F8-1CF4-A83E-C7F55F9E7162}"/>
                  </a:ext>
                </a:extLst>
              </p:cNvPr>
              <p:cNvGrpSpPr>
                <a:grpSpLocks/>
              </p:cNvGrpSpPr>
              <p:nvPr/>
            </p:nvGrpSpPr>
            <p:grpSpPr bwMode="auto">
              <a:xfrm>
                <a:off x="1605" y="869"/>
                <a:ext cx="109" cy="106"/>
                <a:chOff x="1605" y="869"/>
                <a:chExt cx="109" cy="106"/>
              </a:xfrm>
            </p:grpSpPr>
            <p:sp>
              <p:nvSpPr>
                <p:cNvPr id="51328" name="Freeform 128">
                  <a:extLst>
                    <a:ext uri="{FF2B5EF4-FFF2-40B4-BE49-F238E27FC236}">
                      <a16:creationId xmlns:a16="http://schemas.microsoft.com/office/drawing/2014/main" id="{3F480856-AA2F-B833-51A6-A5F8C3AED934}"/>
                    </a:ext>
                  </a:extLst>
                </p:cNvPr>
                <p:cNvSpPr>
                  <a:spLocks/>
                </p:cNvSpPr>
                <p:nvPr/>
              </p:nvSpPr>
              <p:spPr bwMode="auto">
                <a:xfrm>
                  <a:off x="1605" y="908"/>
                  <a:ext cx="66" cy="67"/>
                </a:xfrm>
                <a:custGeom>
                  <a:avLst/>
                  <a:gdLst>
                    <a:gd name="T0" fmla="*/ 21 w 266"/>
                    <a:gd name="T1" fmla="*/ 63 h 266"/>
                    <a:gd name="T2" fmla="*/ 4 w 266"/>
                    <a:gd name="T3" fmla="*/ 99 h 266"/>
                    <a:gd name="T4" fmla="*/ 0 w 266"/>
                    <a:gd name="T5" fmla="*/ 130 h 266"/>
                    <a:gd name="T6" fmla="*/ 4 w 266"/>
                    <a:gd name="T7" fmla="*/ 171 h 266"/>
                    <a:gd name="T8" fmla="*/ 22 w 266"/>
                    <a:gd name="T9" fmla="*/ 210 h 266"/>
                    <a:gd name="T10" fmla="*/ 45 w 266"/>
                    <a:gd name="T11" fmla="*/ 236 h 266"/>
                    <a:gd name="T12" fmla="*/ 84 w 266"/>
                    <a:gd name="T13" fmla="*/ 259 h 266"/>
                    <a:gd name="T14" fmla="*/ 116 w 266"/>
                    <a:gd name="T15" fmla="*/ 265 h 266"/>
                    <a:gd name="T16" fmla="*/ 172 w 266"/>
                    <a:gd name="T17" fmla="*/ 260 h 266"/>
                    <a:gd name="T18" fmla="*/ 212 w 266"/>
                    <a:gd name="T19" fmla="*/ 239 h 266"/>
                    <a:gd name="T20" fmla="*/ 235 w 266"/>
                    <a:gd name="T21" fmla="*/ 215 h 266"/>
                    <a:gd name="T22" fmla="*/ 250 w 266"/>
                    <a:gd name="T23" fmla="*/ 190 h 266"/>
                    <a:gd name="T24" fmla="*/ 262 w 266"/>
                    <a:gd name="T25" fmla="*/ 116 h 266"/>
                    <a:gd name="T26" fmla="*/ 246 w 266"/>
                    <a:gd name="T27" fmla="*/ 74 h 266"/>
                    <a:gd name="T28" fmla="*/ 263 w 266"/>
                    <a:gd name="T29" fmla="*/ 56 h 266"/>
                    <a:gd name="T30" fmla="*/ 249 w 266"/>
                    <a:gd name="T31" fmla="*/ 55 h 266"/>
                    <a:gd name="T32" fmla="*/ 236 w 266"/>
                    <a:gd name="T33" fmla="*/ 46 h 266"/>
                    <a:gd name="T34" fmla="*/ 218 w 266"/>
                    <a:gd name="T35" fmla="*/ 25 h 266"/>
                    <a:gd name="T36" fmla="*/ 214 w 266"/>
                    <a:gd name="T37" fmla="*/ 11 h 266"/>
                    <a:gd name="T38" fmla="*/ 182 w 266"/>
                    <a:gd name="T39" fmla="*/ 36 h 266"/>
                    <a:gd name="T40" fmla="*/ 177 w 266"/>
                    <a:gd name="T41" fmla="*/ 46 h 266"/>
                    <a:gd name="T42" fmla="*/ 177 w 266"/>
                    <a:gd name="T43" fmla="*/ 58 h 266"/>
                    <a:gd name="T44" fmla="*/ 181 w 266"/>
                    <a:gd name="T45" fmla="*/ 68 h 266"/>
                    <a:gd name="T46" fmla="*/ 199 w 266"/>
                    <a:gd name="T47" fmla="*/ 87 h 266"/>
                    <a:gd name="T48" fmla="*/ 210 w 266"/>
                    <a:gd name="T49" fmla="*/ 94 h 266"/>
                    <a:gd name="T50" fmla="*/ 183 w 266"/>
                    <a:gd name="T51" fmla="*/ 86 h 266"/>
                    <a:gd name="T52" fmla="*/ 168 w 266"/>
                    <a:gd name="T53" fmla="*/ 72 h 266"/>
                    <a:gd name="T54" fmla="*/ 160 w 266"/>
                    <a:gd name="T55" fmla="*/ 55 h 266"/>
                    <a:gd name="T56" fmla="*/ 161 w 266"/>
                    <a:gd name="T57" fmla="*/ 38 h 266"/>
                    <a:gd name="T58" fmla="*/ 169 w 266"/>
                    <a:gd name="T59" fmla="*/ 25 h 266"/>
                    <a:gd name="T60" fmla="*/ 177 w 266"/>
                    <a:gd name="T61" fmla="*/ 12 h 266"/>
                    <a:gd name="T62" fmla="*/ 130 w 266"/>
                    <a:gd name="T63" fmla="*/ 3 h 266"/>
                    <a:gd name="T64" fmla="*/ 97 w 266"/>
                    <a:gd name="T65" fmla="*/ 9 h 266"/>
                    <a:gd name="T66" fmla="*/ 54 w 266"/>
                    <a:gd name="T67" fmla="*/ 2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6" h="266">
                      <a:moveTo>
                        <a:pt x="39" y="41"/>
                      </a:moveTo>
                      <a:lnTo>
                        <a:pt x="21" y="63"/>
                      </a:lnTo>
                      <a:lnTo>
                        <a:pt x="12" y="80"/>
                      </a:lnTo>
                      <a:lnTo>
                        <a:pt x="4" y="99"/>
                      </a:lnTo>
                      <a:lnTo>
                        <a:pt x="1" y="109"/>
                      </a:lnTo>
                      <a:lnTo>
                        <a:pt x="0" y="130"/>
                      </a:lnTo>
                      <a:lnTo>
                        <a:pt x="0" y="150"/>
                      </a:lnTo>
                      <a:lnTo>
                        <a:pt x="4" y="171"/>
                      </a:lnTo>
                      <a:lnTo>
                        <a:pt x="12" y="192"/>
                      </a:lnTo>
                      <a:lnTo>
                        <a:pt x="22" y="210"/>
                      </a:lnTo>
                      <a:lnTo>
                        <a:pt x="36" y="227"/>
                      </a:lnTo>
                      <a:lnTo>
                        <a:pt x="45" y="236"/>
                      </a:lnTo>
                      <a:lnTo>
                        <a:pt x="61" y="247"/>
                      </a:lnTo>
                      <a:lnTo>
                        <a:pt x="84" y="259"/>
                      </a:lnTo>
                      <a:lnTo>
                        <a:pt x="102" y="264"/>
                      </a:lnTo>
                      <a:lnTo>
                        <a:pt x="116" y="265"/>
                      </a:lnTo>
                      <a:lnTo>
                        <a:pt x="134" y="266"/>
                      </a:lnTo>
                      <a:lnTo>
                        <a:pt x="172" y="260"/>
                      </a:lnTo>
                      <a:lnTo>
                        <a:pt x="190" y="254"/>
                      </a:lnTo>
                      <a:lnTo>
                        <a:pt x="212" y="239"/>
                      </a:lnTo>
                      <a:lnTo>
                        <a:pt x="222" y="230"/>
                      </a:lnTo>
                      <a:lnTo>
                        <a:pt x="235" y="215"/>
                      </a:lnTo>
                      <a:lnTo>
                        <a:pt x="241" y="207"/>
                      </a:lnTo>
                      <a:lnTo>
                        <a:pt x="250" y="190"/>
                      </a:lnTo>
                      <a:lnTo>
                        <a:pt x="262" y="153"/>
                      </a:lnTo>
                      <a:lnTo>
                        <a:pt x="262" y="116"/>
                      </a:lnTo>
                      <a:lnTo>
                        <a:pt x="253" y="87"/>
                      </a:lnTo>
                      <a:lnTo>
                        <a:pt x="246" y="74"/>
                      </a:lnTo>
                      <a:lnTo>
                        <a:pt x="266" y="55"/>
                      </a:lnTo>
                      <a:lnTo>
                        <a:pt x="263" y="56"/>
                      </a:lnTo>
                      <a:lnTo>
                        <a:pt x="258" y="56"/>
                      </a:lnTo>
                      <a:lnTo>
                        <a:pt x="249" y="55"/>
                      </a:lnTo>
                      <a:lnTo>
                        <a:pt x="240" y="50"/>
                      </a:lnTo>
                      <a:lnTo>
                        <a:pt x="236" y="46"/>
                      </a:lnTo>
                      <a:lnTo>
                        <a:pt x="226" y="36"/>
                      </a:lnTo>
                      <a:lnTo>
                        <a:pt x="218" y="25"/>
                      </a:lnTo>
                      <a:lnTo>
                        <a:pt x="214" y="15"/>
                      </a:lnTo>
                      <a:lnTo>
                        <a:pt x="214" y="11"/>
                      </a:lnTo>
                      <a:lnTo>
                        <a:pt x="214" y="0"/>
                      </a:lnTo>
                      <a:lnTo>
                        <a:pt x="182" y="36"/>
                      </a:lnTo>
                      <a:lnTo>
                        <a:pt x="179" y="41"/>
                      </a:lnTo>
                      <a:lnTo>
                        <a:pt x="177" y="46"/>
                      </a:lnTo>
                      <a:lnTo>
                        <a:pt x="177" y="52"/>
                      </a:lnTo>
                      <a:lnTo>
                        <a:pt x="177" y="58"/>
                      </a:lnTo>
                      <a:lnTo>
                        <a:pt x="178" y="63"/>
                      </a:lnTo>
                      <a:lnTo>
                        <a:pt x="181" y="68"/>
                      </a:lnTo>
                      <a:lnTo>
                        <a:pt x="187" y="77"/>
                      </a:lnTo>
                      <a:lnTo>
                        <a:pt x="199" y="87"/>
                      </a:lnTo>
                      <a:lnTo>
                        <a:pt x="209" y="94"/>
                      </a:lnTo>
                      <a:lnTo>
                        <a:pt x="210" y="94"/>
                      </a:lnTo>
                      <a:lnTo>
                        <a:pt x="187" y="87"/>
                      </a:lnTo>
                      <a:lnTo>
                        <a:pt x="183" y="86"/>
                      </a:lnTo>
                      <a:lnTo>
                        <a:pt x="174" y="80"/>
                      </a:lnTo>
                      <a:lnTo>
                        <a:pt x="168" y="72"/>
                      </a:lnTo>
                      <a:lnTo>
                        <a:pt x="163" y="63"/>
                      </a:lnTo>
                      <a:lnTo>
                        <a:pt x="160" y="55"/>
                      </a:lnTo>
                      <a:lnTo>
                        <a:pt x="160" y="46"/>
                      </a:lnTo>
                      <a:lnTo>
                        <a:pt x="161" y="38"/>
                      </a:lnTo>
                      <a:lnTo>
                        <a:pt x="165" y="32"/>
                      </a:lnTo>
                      <a:lnTo>
                        <a:pt x="169" y="25"/>
                      </a:lnTo>
                      <a:lnTo>
                        <a:pt x="182" y="14"/>
                      </a:lnTo>
                      <a:lnTo>
                        <a:pt x="177" y="12"/>
                      </a:lnTo>
                      <a:lnTo>
                        <a:pt x="159" y="6"/>
                      </a:lnTo>
                      <a:lnTo>
                        <a:pt x="130" y="3"/>
                      </a:lnTo>
                      <a:lnTo>
                        <a:pt x="111" y="6"/>
                      </a:lnTo>
                      <a:lnTo>
                        <a:pt x="97" y="9"/>
                      </a:lnTo>
                      <a:lnTo>
                        <a:pt x="71" y="18"/>
                      </a:lnTo>
                      <a:lnTo>
                        <a:pt x="54" y="28"/>
                      </a:lnTo>
                      <a:lnTo>
                        <a:pt x="39"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29" name="Freeform 129">
                  <a:extLst>
                    <a:ext uri="{FF2B5EF4-FFF2-40B4-BE49-F238E27FC236}">
                      <a16:creationId xmlns:a16="http://schemas.microsoft.com/office/drawing/2014/main" id="{94512F6A-C80A-3AF5-F6B7-5F029EB3DD59}"/>
                    </a:ext>
                  </a:extLst>
                </p:cNvPr>
                <p:cNvSpPr>
                  <a:spLocks/>
                </p:cNvSpPr>
                <p:nvPr/>
              </p:nvSpPr>
              <p:spPr bwMode="auto">
                <a:xfrm>
                  <a:off x="1685" y="878"/>
                  <a:ext cx="21" cy="21"/>
                </a:xfrm>
                <a:custGeom>
                  <a:avLst/>
                  <a:gdLst>
                    <a:gd name="T0" fmla="*/ 71 w 84"/>
                    <a:gd name="T1" fmla="*/ 0 h 83"/>
                    <a:gd name="T2" fmla="*/ 69 w 84"/>
                    <a:gd name="T3" fmla="*/ 2 h 83"/>
                    <a:gd name="T4" fmla="*/ 3 w 84"/>
                    <a:gd name="T5" fmla="*/ 68 h 83"/>
                    <a:gd name="T6" fmla="*/ 2 w 84"/>
                    <a:gd name="T7" fmla="*/ 71 h 83"/>
                    <a:gd name="T8" fmla="*/ 0 w 84"/>
                    <a:gd name="T9" fmla="*/ 73 h 83"/>
                    <a:gd name="T10" fmla="*/ 2 w 84"/>
                    <a:gd name="T11" fmla="*/ 78 h 83"/>
                    <a:gd name="T12" fmla="*/ 3 w 84"/>
                    <a:gd name="T13" fmla="*/ 81 h 83"/>
                    <a:gd name="T14" fmla="*/ 5 w 84"/>
                    <a:gd name="T15" fmla="*/ 82 h 83"/>
                    <a:gd name="T16" fmla="*/ 7 w 84"/>
                    <a:gd name="T17" fmla="*/ 82 h 83"/>
                    <a:gd name="T18" fmla="*/ 11 w 84"/>
                    <a:gd name="T19" fmla="*/ 83 h 83"/>
                    <a:gd name="T20" fmla="*/ 12 w 84"/>
                    <a:gd name="T21" fmla="*/ 83 h 83"/>
                    <a:gd name="T22" fmla="*/ 14 w 84"/>
                    <a:gd name="T23" fmla="*/ 82 h 83"/>
                    <a:gd name="T24" fmla="*/ 17 w 84"/>
                    <a:gd name="T25" fmla="*/ 80 h 83"/>
                    <a:gd name="T26" fmla="*/ 81 w 84"/>
                    <a:gd name="T27" fmla="*/ 16 h 83"/>
                    <a:gd name="T28" fmla="*/ 83 w 84"/>
                    <a:gd name="T29" fmla="*/ 13 h 83"/>
                    <a:gd name="T30" fmla="*/ 84 w 84"/>
                    <a:gd name="T31" fmla="*/ 9 h 83"/>
                    <a:gd name="T32" fmla="*/ 83 w 84"/>
                    <a:gd name="T33" fmla="*/ 5 h 83"/>
                    <a:gd name="T34" fmla="*/ 81 w 84"/>
                    <a:gd name="T35" fmla="*/ 2 h 83"/>
                    <a:gd name="T36" fmla="*/ 79 w 84"/>
                    <a:gd name="T37" fmla="*/ 0 h 83"/>
                    <a:gd name="T38" fmla="*/ 76 w 84"/>
                    <a:gd name="T39" fmla="*/ 0 h 83"/>
                    <a:gd name="T40" fmla="*/ 72 w 84"/>
                    <a:gd name="T41" fmla="*/ 0 h 83"/>
                    <a:gd name="T42" fmla="*/ 71 w 84"/>
                    <a:gd name="T43"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4" h="83">
                      <a:moveTo>
                        <a:pt x="71" y="0"/>
                      </a:moveTo>
                      <a:lnTo>
                        <a:pt x="69" y="2"/>
                      </a:lnTo>
                      <a:lnTo>
                        <a:pt x="3" y="68"/>
                      </a:lnTo>
                      <a:lnTo>
                        <a:pt x="2" y="71"/>
                      </a:lnTo>
                      <a:lnTo>
                        <a:pt x="0" y="73"/>
                      </a:lnTo>
                      <a:lnTo>
                        <a:pt x="2" y="78"/>
                      </a:lnTo>
                      <a:lnTo>
                        <a:pt x="3" y="81"/>
                      </a:lnTo>
                      <a:lnTo>
                        <a:pt x="5" y="82"/>
                      </a:lnTo>
                      <a:lnTo>
                        <a:pt x="7" y="82"/>
                      </a:lnTo>
                      <a:lnTo>
                        <a:pt x="11" y="83"/>
                      </a:lnTo>
                      <a:lnTo>
                        <a:pt x="12" y="83"/>
                      </a:lnTo>
                      <a:lnTo>
                        <a:pt x="14" y="82"/>
                      </a:lnTo>
                      <a:lnTo>
                        <a:pt x="17" y="80"/>
                      </a:lnTo>
                      <a:lnTo>
                        <a:pt x="81" y="16"/>
                      </a:lnTo>
                      <a:lnTo>
                        <a:pt x="83" y="13"/>
                      </a:lnTo>
                      <a:lnTo>
                        <a:pt x="84" y="9"/>
                      </a:lnTo>
                      <a:lnTo>
                        <a:pt x="83" y="5"/>
                      </a:lnTo>
                      <a:lnTo>
                        <a:pt x="81" y="2"/>
                      </a:lnTo>
                      <a:lnTo>
                        <a:pt x="79" y="0"/>
                      </a:lnTo>
                      <a:lnTo>
                        <a:pt x="76" y="0"/>
                      </a:lnTo>
                      <a:lnTo>
                        <a:pt x="72" y="0"/>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30" name="Freeform 130">
                  <a:extLst>
                    <a:ext uri="{FF2B5EF4-FFF2-40B4-BE49-F238E27FC236}">
                      <a16:creationId xmlns:a16="http://schemas.microsoft.com/office/drawing/2014/main" id="{F4E75CA9-7A1E-607E-2E10-70D3CD94E425}"/>
                    </a:ext>
                  </a:extLst>
                </p:cNvPr>
                <p:cNvSpPr>
                  <a:spLocks/>
                </p:cNvSpPr>
                <p:nvPr/>
              </p:nvSpPr>
              <p:spPr bwMode="auto">
                <a:xfrm>
                  <a:off x="1673" y="869"/>
                  <a:ext cx="4" cy="28"/>
                </a:xfrm>
                <a:custGeom>
                  <a:avLst/>
                  <a:gdLst>
                    <a:gd name="T0" fmla="*/ 8 w 20"/>
                    <a:gd name="T1" fmla="*/ 0 h 109"/>
                    <a:gd name="T2" fmla="*/ 5 w 20"/>
                    <a:gd name="T3" fmla="*/ 0 h 109"/>
                    <a:gd name="T4" fmla="*/ 3 w 20"/>
                    <a:gd name="T5" fmla="*/ 2 h 109"/>
                    <a:gd name="T6" fmla="*/ 0 w 20"/>
                    <a:gd name="T7" fmla="*/ 7 h 109"/>
                    <a:gd name="T8" fmla="*/ 0 w 20"/>
                    <a:gd name="T9" fmla="*/ 100 h 109"/>
                    <a:gd name="T10" fmla="*/ 0 w 20"/>
                    <a:gd name="T11" fmla="*/ 104 h 109"/>
                    <a:gd name="T12" fmla="*/ 1 w 20"/>
                    <a:gd name="T13" fmla="*/ 105 h 109"/>
                    <a:gd name="T14" fmla="*/ 3 w 20"/>
                    <a:gd name="T15" fmla="*/ 107 h 109"/>
                    <a:gd name="T16" fmla="*/ 5 w 20"/>
                    <a:gd name="T17" fmla="*/ 109 h 109"/>
                    <a:gd name="T18" fmla="*/ 9 w 20"/>
                    <a:gd name="T19" fmla="*/ 109 h 109"/>
                    <a:gd name="T20" fmla="*/ 14 w 20"/>
                    <a:gd name="T21" fmla="*/ 108 h 109"/>
                    <a:gd name="T22" fmla="*/ 17 w 20"/>
                    <a:gd name="T23" fmla="*/ 105 h 109"/>
                    <a:gd name="T24" fmla="*/ 20 w 20"/>
                    <a:gd name="T25" fmla="*/ 100 h 109"/>
                    <a:gd name="T26" fmla="*/ 18 w 20"/>
                    <a:gd name="T27" fmla="*/ 9 h 109"/>
                    <a:gd name="T28" fmla="*/ 17 w 20"/>
                    <a:gd name="T29" fmla="*/ 5 h 109"/>
                    <a:gd name="T30" fmla="*/ 16 w 20"/>
                    <a:gd name="T31" fmla="*/ 2 h 109"/>
                    <a:gd name="T32" fmla="*/ 13 w 20"/>
                    <a:gd name="T33" fmla="*/ 0 h 109"/>
                    <a:gd name="T34" fmla="*/ 8 w 20"/>
                    <a:gd name="T3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109">
                      <a:moveTo>
                        <a:pt x="8" y="0"/>
                      </a:moveTo>
                      <a:lnTo>
                        <a:pt x="5" y="0"/>
                      </a:lnTo>
                      <a:lnTo>
                        <a:pt x="3" y="2"/>
                      </a:lnTo>
                      <a:lnTo>
                        <a:pt x="0" y="7"/>
                      </a:lnTo>
                      <a:lnTo>
                        <a:pt x="0" y="100"/>
                      </a:lnTo>
                      <a:lnTo>
                        <a:pt x="0" y="104"/>
                      </a:lnTo>
                      <a:lnTo>
                        <a:pt x="1" y="105"/>
                      </a:lnTo>
                      <a:lnTo>
                        <a:pt x="3" y="107"/>
                      </a:lnTo>
                      <a:lnTo>
                        <a:pt x="5" y="109"/>
                      </a:lnTo>
                      <a:lnTo>
                        <a:pt x="9" y="109"/>
                      </a:lnTo>
                      <a:lnTo>
                        <a:pt x="14" y="108"/>
                      </a:lnTo>
                      <a:lnTo>
                        <a:pt x="17" y="105"/>
                      </a:lnTo>
                      <a:lnTo>
                        <a:pt x="20" y="100"/>
                      </a:lnTo>
                      <a:lnTo>
                        <a:pt x="18" y="9"/>
                      </a:lnTo>
                      <a:lnTo>
                        <a:pt x="17" y="5"/>
                      </a:lnTo>
                      <a:lnTo>
                        <a:pt x="16" y="2"/>
                      </a:lnTo>
                      <a:lnTo>
                        <a:pt x="13" y="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31" name="Freeform 131">
                  <a:extLst>
                    <a:ext uri="{FF2B5EF4-FFF2-40B4-BE49-F238E27FC236}">
                      <a16:creationId xmlns:a16="http://schemas.microsoft.com/office/drawing/2014/main" id="{37716705-9B14-18FF-7331-B4DBBF00FB52}"/>
                    </a:ext>
                  </a:extLst>
                </p:cNvPr>
                <p:cNvSpPr>
                  <a:spLocks/>
                </p:cNvSpPr>
                <p:nvPr/>
              </p:nvSpPr>
              <p:spPr bwMode="auto">
                <a:xfrm>
                  <a:off x="1661" y="903"/>
                  <a:ext cx="21" cy="16"/>
                </a:xfrm>
                <a:custGeom>
                  <a:avLst/>
                  <a:gdLst>
                    <a:gd name="T0" fmla="*/ 73 w 84"/>
                    <a:gd name="T1" fmla="*/ 0 h 65"/>
                    <a:gd name="T2" fmla="*/ 67 w 84"/>
                    <a:gd name="T3" fmla="*/ 6 h 65"/>
                    <a:gd name="T4" fmla="*/ 26 w 84"/>
                    <a:gd name="T5" fmla="*/ 41 h 65"/>
                    <a:gd name="T6" fmla="*/ 24 w 84"/>
                    <a:gd name="T7" fmla="*/ 41 h 65"/>
                    <a:gd name="T8" fmla="*/ 24 w 84"/>
                    <a:gd name="T9" fmla="*/ 42 h 65"/>
                    <a:gd name="T10" fmla="*/ 22 w 84"/>
                    <a:gd name="T11" fmla="*/ 41 h 65"/>
                    <a:gd name="T12" fmla="*/ 20 w 84"/>
                    <a:gd name="T13" fmla="*/ 38 h 65"/>
                    <a:gd name="T14" fmla="*/ 20 w 84"/>
                    <a:gd name="T15" fmla="*/ 36 h 65"/>
                    <a:gd name="T16" fmla="*/ 22 w 84"/>
                    <a:gd name="T17" fmla="*/ 34 h 65"/>
                    <a:gd name="T18" fmla="*/ 22 w 84"/>
                    <a:gd name="T19" fmla="*/ 33 h 65"/>
                    <a:gd name="T20" fmla="*/ 28 w 84"/>
                    <a:gd name="T21" fmla="*/ 25 h 65"/>
                    <a:gd name="T22" fmla="*/ 31 w 84"/>
                    <a:gd name="T23" fmla="*/ 23 h 65"/>
                    <a:gd name="T24" fmla="*/ 28 w 84"/>
                    <a:gd name="T25" fmla="*/ 20 h 65"/>
                    <a:gd name="T26" fmla="*/ 18 w 84"/>
                    <a:gd name="T27" fmla="*/ 14 h 65"/>
                    <a:gd name="T28" fmla="*/ 14 w 84"/>
                    <a:gd name="T29" fmla="*/ 13 h 65"/>
                    <a:gd name="T30" fmla="*/ 10 w 84"/>
                    <a:gd name="T31" fmla="*/ 11 h 65"/>
                    <a:gd name="T32" fmla="*/ 6 w 84"/>
                    <a:gd name="T33" fmla="*/ 11 h 65"/>
                    <a:gd name="T34" fmla="*/ 4 w 84"/>
                    <a:gd name="T35" fmla="*/ 14 h 65"/>
                    <a:gd name="T36" fmla="*/ 2 w 84"/>
                    <a:gd name="T37" fmla="*/ 15 h 65"/>
                    <a:gd name="T38" fmla="*/ 1 w 84"/>
                    <a:gd name="T39" fmla="*/ 18 h 65"/>
                    <a:gd name="T40" fmla="*/ 0 w 84"/>
                    <a:gd name="T41" fmla="*/ 22 h 65"/>
                    <a:gd name="T42" fmla="*/ 2 w 84"/>
                    <a:gd name="T43" fmla="*/ 33 h 65"/>
                    <a:gd name="T44" fmla="*/ 8 w 84"/>
                    <a:gd name="T45" fmla="*/ 43 h 65"/>
                    <a:gd name="T46" fmla="*/ 14 w 84"/>
                    <a:gd name="T47" fmla="*/ 50 h 65"/>
                    <a:gd name="T48" fmla="*/ 20 w 84"/>
                    <a:gd name="T49" fmla="*/ 58 h 65"/>
                    <a:gd name="T50" fmla="*/ 23 w 84"/>
                    <a:gd name="T51" fmla="*/ 59 h 65"/>
                    <a:gd name="T52" fmla="*/ 31 w 84"/>
                    <a:gd name="T53" fmla="*/ 63 h 65"/>
                    <a:gd name="T54" fmla="*/ 41 w 84"/>
                    <a:gd name="T55" fmla="*/ 65 h 65"/>
                    <a:gd name="T56" fmla="*/ 45 w 84"/>
                    <a:gd name="T57" fmla="*/ 64 h 65"/>
                    <a:gd name="T58" fmla="*/ 49 w 84"/>
                    <a:gd name="T59" fmla="*/ 63 h 65"/>
                    <a:gd name="T60" fmla="*/ 49 w 84"/>
                    <a:gd name="T61" fmla="*/ 62 h 65"/>
                    <a:gd name="T62" fmla="*/ 50 w 84"/>
                    <a:gd name="T63" fmla="*/ 60 h 65"/>
                    <a:gd name="T64" fmla="*/ 51 w 84"/>
                    <a:gd name="T65" fmla="*/ 58 h 65"/>
                    <a:gd name="T66" fmla="*/ 51 w 84"/>
                    <a:gd name="T67" fmla="*/ 53 h 65"/>
                    <a:gd name="T68" fmla="*/ 50 w 84"/>
                    <a:gd name="T69" fmla="*/ 45 h 65"/>
                    <a:gd name="T70" fmla="*/ 46 w 84"/>
                    <a:gd name="T71" fmla="*/ 37 h 65"/>
                    <a:gd name="T72" fmla="*/ 80 w 84"/>
                    <a:gd name="T73" fmla="*/ 10 h 65"/>
                    <a:gd name="T74" fmla="*/ 84 w 84"/>
                    <a:gd name="T75" fmla="*/ 9 h 65"/>
                    <a:gd name="T76" fmla="*/ 73 w 84"/>
                    <a:gd name="T77"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4" h="65">
                      <a:moveTo>
                        <a:pt x="73" y="0"/>
                      </a:moveTo>
                      <a:lnTo>
                        <a:pt x="67" y="6"/>
                      </a:lnTo>
                      <a:lnTo>
                        <a:pt x="26" y="41"/>
                      </a:lnTo>
                      <a:lnTo>
                        <a:pt x="24" y="41"/>
                      </a:lnTo>
                      <a:lnTo>
                        <a:pt x="24" y="42"/>
                      </a:lnTo>
                      <a:lnTo>
                        <a:pt x="22" y="41"/>
                      </a:lnTo>
                      <a:lnTo>
                        <a:pt x="20" y="38"/>
                      </a:lnTo>
                      <a:lnTo>
                        <a:pt x="20" y="36"/>
                      </a:lnTo>
                      <a:lnTo>
                        <a:pt x="22" y="34"/>
                      </a:lnTo>
                      <a:lnTo>
                        <a:pt x="22" y="33"/>
                      </a:lnTo>
                      <a:lnTo>
                        <a:pt x="28" y="25"/>
                      </a:lnTo>
                      <a:lnTo>
                        <a:pt x="31" y="23"/>
                      </a:lnTo>
                      <a:lnTo>
                        <a:pt x="28" y="20"/>
                      </a:lnTo>
                      <a:lnTo>
                        <a:pt x="18" y="14"/>
                      </a:lnTo>
                      <a:lnTo>
                        <a:pt x="14" y="13"/>
                      </a:lnTo>
                      <a:lnTo>
                        <a:pt x="10" y="11"/>
                      </a:lnTo>
                      <a:lnTo>
                        <a:pt x="6" y="11"/>
                      </a:lnTo>
                      <a:lnTo>
                        <a:pt x="4" y="14"/>
                      </a:lnTo>
                      <a:lnTo>
                        <a:pt x="2" y="15"/>
                      </a:lnTo>
                      <a:lnTo>
                        <a:pt x="1" y="18"/>
                      </a:lnTo>
                      <a:lnTo>
                        <a:pt x="0" y="22"/>
                      </a:lnTo>
                      <a:lnTo>
                        <a:pt x="2" y="33"/>
                      </a:lnTo>
                      <a:lnTo>
                        <a:pt x="8" y="43"/>
                      </a:lnTo>
                      <a:lnTo>
                        <a:pt x="14" y="50"/>
                      </a:lnTo>
                      <a:lnTo>
                        <a:pt x="20" y="58"/>
                      </a:lnTo>
                      <a:lnTo>
                        <a:pt x="23" y="59"/>
                      </a:lnTo>
                      <a:lnTo>
                        <a:pt x="31" y="63"/>
                      </a:lnTo>
                      <a:lnTo>
                        <a:pt x="41" y="65"/>
                      </a:lnTo>
                      <a:lnTo>
                        <a:pt x="45" y="64"/>
                      </a:lnTo>
                      <a:lnTo>
                        <a:pt x="49" y="63"/>
                      </a:lnTo>
                      <a:lnTo>
                        <a:pt x="49" y="62"/>
                      </a:lnTo>
                      <a:lnTo>
                        <a:pt x="50" y="60"/>
                      </a:lnTo>
                      <a:lnTo>
                        <a:pt x="51" y="58"/>
                      </a:lnTo>
                      <a:lnTo>
                        <a:pt x="51" y="53"/>
                      </a:lnTo>
                      <a:lnTo>
                        <a:pt x="50" y="45"/>
                      </a:lnTo>
                      <a:lnTo>
                        <a:pt x="46" y="37"/>
                      </a:lnTo>
                      <a:lnTo>
                        <a:pt x="80" y="10"/>
                      </a:lnTo>
                      <a:lnTo>
                        <a:pt x="84" y="9"/>
                      </a:lnTo>
                      <a:lnTo>
                        <a:pt x="7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32" name="Freeform 132">
                  <a:extLst>
                    <a:ext uri="{FF2B5EF4-FFF2-40B4-BE49-F238E27FC236}">
                      <a16:creationId xmlns:a16="http://schemas.microsoft.com/office/drawing/2014/main" id="{86B0CFFB-803E-B4B1-BD02-D02A5A67D16E}"/>
                    </a:ext>
                  </a:extLst>
                </p:cNvPr>
                <p:cNvSpPr>
                  <a:spLocks/>
                </p:cNvSpPr>
                <p:nvPr/>
              </p:nvSpPr>
              <p:spPr bwMode="auto">
                <a:xfrm>
                  <a:off x="1687" y="906"/>
                  <a:ext cx="27" cy="5"/>
                </a:xfrm>
                <a:custGeom>
                  <a:avLst/>
                  <a:gdLst>
                    <a:gd name="T0" fmla="*/ 0 w 110"/>
                    <a:gd name="T1" fmla="*/ 10 h 19"/>
                    <a:gd name="T2" fmla="*/ 0 w 110"/>
                    <a:gd name="T3" fmla="*/ 11 h 19"/>
                    <a:gd name="T4" fmla="*/ 3 w 110"/>
                    <a:gd name="T5" fmla="*/ 15 h 19"/>
                    <a:gd name="T6" fmla="*/ 3 w 110"/>
                    <a:gd name="T7" fmla="*/ 17 h 19"/>
                    <a:gd name="T8" fmla="*/ 5 w 110"/>
                    <a:gd name="T9" fmla="*/ 19 h 19"/>
                    <a:gd name="T10" fmla="*/ 8 w 110"/>
                    <a:gd name="T11" fmla="*/ 19 h 19"/>
                    <a:gd name="T12" fmla="*/ 103 w 110"/>
                    <a:gd name="T13" fmla="*/ 19 h 19"/>
                    <a:gd name="T14" fmla="*/ 103 w 110"/>
                    <a:gd name="T15" fmla="*/ 18 h 19"/>
                    <a:gd name="T16" fmla="*/ 107 w 110"/>
                    <a:gd name="T17" fmla="*/ 17 h 19"/>
                    <a:gd name="T18" fmla="*/ 110 w 110"/>
                    <a:gd name="T19" fmla="*/ 14 h 19"/>
                    <a:gd name="T20" fmla="*/ 110 w 110"/>
                    <a:gd name="T21" fmla="*/ 9 h 19"/>
                    <a:gd name="T22" fmla="*/ 110 w 110"/>
                    <a:gd name="T23" fmla="*/ 8 h 19"/>
                    <a:gd name="T24" fmla="*/ 107 w 110"/>
                    <a:gd name="T25" fmla="*/ 1 h 19"/>
                    <a:gd name="T26" fmla="*/ 102 w 110"/>
                    <a:gd name="T27" fmla="*/ 0 h 19"/>
                    <a:gd name="T28" fmla="*/ 8 w 110"/>
                    <a:gd name="T29" fmla="*/ 1 h 19"/>
                    <a:gd name="T30" fmla="*/ 5 w 110"/>
                    <a:gd name="T31" fmla="*/ 1 h 19"/>
                    <a:gd name="T32" fmla="*/ 3 w 110"/>
                    <a:gd name="T33" fmla="*/ 2 h 19"/>
                    <a:gd name="T34" fmla="*/ 3 w 110"/>
                    <a:gd name="T35" fmla="*/ 5 h 19"/>
                    <a:gd name="T36" fmla="*/ 2 w 110"/>
                    <a:gd name="T37" fmla="*/ 6 h 19"/>
                    <a:gd name="T38" fmla="*/ 0 w 110"/>
                    <a:gd name="T39" fmla="*/ 1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 h="19">
                      <a:moveTo>
                        <a:pt x="0" y="10"/>
                      </a:moveTo>
                      <a:lnTo>
                        <a:pt x="0" y="11"/>
                      </a:lnTo>
                      <a:lnTo>
                        <a:pt x="3" y="15"/>
                      </a:lnTo>
                      <a:lnTo>
                        <a:pt x="3" y="17"/>
                      </a:lnTo>
                      <a:lnTo>
                        <a:pt x="5" y="19"/>
                      </a:lnTo>
                      <a:lnTo>
                        <a:pt x="8" y="19"/>
                      </a:lnTo>
                      <a:lnTo>
                        <a:pt x="103" y="19"/>
                      </a:lnTo>
                      <a:lnTo>
                        <a:pt x="103" y="18"/>
                      </a:lnTo>
                      <a:lnTo>
                        <a:pt x="107" y="17"/>
                      </a:lnTo>
                      <a:lnTo>
                        <a:pt x="110" y="14"/>
                      </a:lnTo>
                      <a:lnTo>
                        <a:pt x="110" y="9"/>
                      </a:lnTo>
                      <a:lnTo>
                        <a:pt x="110" y="8"/>
                      </a:lnTo>
                      <a:lnTo>
                        <a:pt x="107" y="1"/>
                      </a:lnTo>
                      <a:lnTo>
                        <a:pt x="102" y="0"/>
                      </a:lnTo>
                      <a:lnTo>
                        <a:pt x="8" y="1"/>
                      </a:lnTo>
                      <a:lnTo>
                        <a:pt x="5" y="1"/>
                      </a:lnTo>
                      <a:lnTo>
                        <a:pt x="3" y="2"/>
                      </a:lnTo>
                      <a:lnTo>
                        <a:pt x="3" y="5"/>
                      </a:lnTo>
                      <a:lnTo>
                        <a:pt x="2" y="6"/>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51333" name="Rectangle 133">
                <a:extLst>
                  <a:ext uri="{FF2B5EF4-FFF2-40B4-BE49-F238E27FC236}">
                    <a16:creationId xmlns:a16="http://schemas.microsoft.com/office/drawing/2014/main" id="{2537AB6F-8BA3-E3F4-A4C8-37C4A3307C7B}"/>
                  </a:ext>
                </a:extLst>
              </p:cNvPr>
              <p:cNvSpPr>
                <a:spLocks noChangeArrowheads="1"/>
              </p:cNvSpPr>
              <p:nvPr/>
            </p:nvSpPr>
            <p:spPr bwMode="auto">
              <a:xfrm>
                <a:off x="1733" y="898"/>
                <a:ext cx="104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Elevation of user privilege</a:t>
                </a:r>
                <a:endParaRPr lang="en-US" altLang="zh-CN" sz="1800">
                  <a:solidFill>
                    <a:schemeClr val="tx1"/>
                  </a:solidFill>
                  <a:ea typeface="宋体" panose="02010600030101010101" pitchFamily="2" charset="-122"/>
                </a:endParaRPr>
              </a:p>
            </p:txBody>
          </p:sp>
        </p:grpSp>
        <p:sp>
          <p:nvSpPr>
            <p:cNvPr id="51360" name="Freeform 160">
              <a:extLst>
                <a:ext uri="{FF2B5EF4-FFF2-40B4-BE49-F238E27FC236}">
                  <a16:creationId xmlns:a16="http://schemas.microsoft.com/office/drawing/2014/main" id="{28E8E189-4480-0597-36AD-C5F7151EAD11}"/>
                </a:ext>
              </a:extLst>
            </p:cNvPr>
            <p:cNvSpPr>
              <a:spLocks/>
            </p:cNvSpPr>
            <p:nvPr/>
          </p:nvSpPr>
          <p:spPr bwMode="auto">
            <a:xfrm>
              <a:off x="2992" y="2379"/>
              <a:ext cx="143" cy="140"/>
            </a:xfrm>
            <a:custGeom>
              <a:avLst/>
              <a:gdLst>
                <a:gd name="T0" fmla="*/ 289 w 572"/>
                <a:gd name="T1" fmla="*/ 175 h 562"/>
                <a:gd name="T2" fmla="*/ 171 w 572"/>
                <a:gd name="T3" fmla="*/ 0 h 562"/>
                <a:gd name="T4" fmla="*/ 4 w 572"/>
                <a:gd name="T5" fmla="*/ 0 h 562"/>
                <a:gd name="T6" fmla="*/ 200 w 572"/>
                <a:gd name="T7" fmla="*/ 278 h 562"/>
                <a:gd name="T8" fmla="*/ 0 w 572"/>
                <a:gd name="T9" fmla="*/ 562 h 562"/>
                <a:gd name="T10" fmla="*/ 160 w 572"/>
                <a:gd name="T11" fmla="*/ 562 h 562"/>
                <a:gd name="T12" fmla="*/ 284 w 572"/>
                <a:gd name="T13" fmla="*/ 378 h 562"/>
                <a:gd name="T14" fmla="*/ 405 w 572"/>
                <a:gd name="T15" fmla="*/ 562 h 562"/>
                <a:gd name="T16" fmla="*/ 572 w 572"/>
                <a:gd name="T17" fmla="*/ 562 h 562"/>
                <a:gd name="T18" fmla="*/ 373 w 572"/>
                <a:gd name="T19" fmla="*/ 273 h 562"/>
                <a:gd name="T20" fmla="*/ 570 w 572"/>
                <a:gd name="T21" fmla="*/ 0 h 562"/>
                <a:gd name="T22" fmla="*/ 409 w 572"/>
                <a:gd name="T23" fmla="*/ 0 h 562"/>
                <a:gd name="T24" fmla="*/ 289 w 572"/>
                <a:gd name="T25" fmla="*/ 175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2" h="562">
                  <a:moveTo>
                    <a:pt x="289" y="175"/>
                  </a:moveTo>
                  <a:lnTo>
                    <a:pt x="171" y="0"/>
                  </a:lnTo>
                  <a:lnTo>
                    <a:pt x="4" y="0"/>
                  </a:lnTo>
                  <a:lnTo>
                    <a:pt x="200" y="278"/>
                  </a:lnTo>
                  <a:lnTo>
                    <a:pt x="0" y="562"/>
                  </a:lnTo>
                  <a:lnTo>
                    <a:pt x="160" y="562"/>
                  </a:lnTo>
                  <a:lnTo>
                    <a:pt x="284" y="378"/>
                  </a:lnTo>
                  <a:lnTo>
                    <a:pt x="405" y="562"/>
                  </a:lnTo>
                  <a:lnTo>
                    <a:pt x="572" y="562"/>
                  </a:lnTo>
                  <a:lnTo>
                    <a:pt x="373" y="273"/>
                  </a:lnTo>
                  <a:lnTo>
                    <a:pt x="570" y="0"/>
                  </a:lnTo>
                  <a:lnTo>
                    <a:pt x="409" y="0"/>
                  </a:lnTo>
                  <a:lnTo>
                    <a:pt x="289" y="1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51361" name="Rectangle 161">
            <a:extLst>
              <a:ext uri="{FF2B5EF4-FFF2-40B4-BE49-F238E27FC236}">
                <a16:creationId xmlns:a16="http://schemas.microsoft.com/office/drawing/2014/main" id="{AE031B1C-FE84-EDFF-3874-BE585E5AF2DE}"/>
              </a:ext>
            </a:extLst>
          </p:cNvPr>
          <p:cNvSpPr>
            <a:spLocks noChangeArrowheads="1"/>
          </p:cNvSpPr>
          <p:nvPr/>
        </p:nvSpPr>
        <p:spPr bwMode="auto">
          <a:xfrm>
            <a:off x="3027363" y="5103813"/>
            <a:ext cx="69691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FC Switch</a:t>
            </a:r>
            <a:endParaRPr lang="en-US" altLang="zh-CN" sz="1800">
              <a:solidFill>
                <a:schemeClr val="tx1"/>
              </a:solidFill>
              <a:ea typeface="宋体" panose="02010600030101010101" pitchFamily="2" charset="-122"/>
            </a:endParaRPr>
          </a:p>
        </p:txBody>
      </p:sp>
      <p:sp>
        <p:nvSpPr>
          <p:cNvPr id="51362" name="Rectangle 162">
            <a:extLst>
              <a:ext uri="{FF2B5EF4-FFF2-40B4-BE49-F238E27FC236}">
                <a16:creationId xmlns:a16="http://schemas.microsoft.com/office/drawing/2014/main" id="{7E445788-30AE-9CC5-50DC-334DE7A1470A}"/>
              </a:ext>
            </a:extLst>
          </p:cNvPr>
          <p:cNvSpPr>
            <a:spLocks noChangeArrowheads="1"/>
          </p:cNvSpPr>
          <p:nvPr/>
        </p:nvSpPr>
        <p:spPr bwMode="auto">
          <a:xfrm>
            <a:off x="1066800" y="5484813"/>
            <a:ext cx="11445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Production Host</a:t>
            </a:r>
            <a:endParaRPr lang="en-US" altLang="zh-CN" sz="1800">
              <a:solidFill>
                <a:schemeClr val="tx1"/>
              </a:solidFill>
              <a:ea typeface="宋体" panose="02010600030101010101" pitchFamily="2" charset="-122"/>
            </a:endParaRPr>
          </a:p>
        </p:txBody>
      </p:sp>
      <p:sp>
        <p:nvSpPr>
          <p:cNvPr id="51363" name="Freeform 163">
            <a:extLst>
              <a:ext uri="{FF2B5EF4-FFF2-40B4-BE49-F238E27FC236}">
                <a16:creationId xmlns:a16="http://schemas.microsoft.com/office/drawing/2014/main" id="{60851386-D5D1-A44A-A962-9A67DD2BE060}"/>
              </a:ext>
            </a:extLst>
          </p:cNvPr>
          <p:cNvSpPr>
            <a:spLocks/>
          </p:cNvSpPr>
          <p:nvPr/>
        </p:nvSpPr>
        <p:spPr bwMode="auto">
          <a:xfrm>
            <a:off x="5334000" y="4710113"/>
            <a:ext cx="850900" cy="165100"/>
          </a:xfrm>
          <a:custGeom>
            <a:avLst/>
            <a:gdLst>
              <a:gd name="T0" fmla="*/ 2683 w 2683"/>
              <a:gd name="T1" fmla="*/ 529 h 529"/>
              <a:gd name="T2" fmla="*/ 619 w 2683"/>
              <a:gd name="T3" fmla="*/ 529 h 529"/>
              <a:gd name="T4" fmla="*/ 1961 w 2683"/>
              <a:gd name="T5" fmla="*/ 0 h 529"/>
              <a:gd name="T6" fmla="*/ 0 w 2683"/>
              <a:gd name="T7" fmla="*/ 0 h 529"/>
            </a:gdLst>
            <a:ahLst/>
            <a:cxnLst>
              <a:cxn ang="0">
                <a:pos x="T0" y="T1"/>
              </a:cxn>
              <a:cxn ang="0">
                <a:pos x="T2" y="T3"/>
              </a:cxn>
              <a:cxn ang="0">
                <a:pos x="T4" y="T5"/>
              </a:cxn>
              <a:cxn ang="0">
                <a:pos x="T6" y="T7"/>
              </a:cxn>
            </a:cxnLst>
            <a:rect l="0" t="0" r="r" b="b"/>
            <a:pathLst>
              <a:path w="2683" h="529">
                <a:moveTo>
                  <a:pt x="2683" y="529"/>
                </a:moveTo>
                <a:lnTo>
                  <a:pt x="619" y="529"/>
                </a:lnTo>
                <a:lnTo>
                  <a:pt x="1961" y="0"/>
                </a:lnTo>
                <a:lnTo>
                  <a:pt x="0" y="0"/>
                </a:lnTo>
              </a:path>
            </a:pathLst>
          </a:custGeom>
          <a:noFill/>
          <a:ln w="12700" cap="flat" cmpd="sng">
            <a:solidFill>
              <a:srgbClr val="0000CC"/>
            </a:solidFill>
            <a:prstDash val="solid"/>
            <a:round/>
            <a:headEnd type="none" w="med" len="med"/>
            <a:tailEnd type="none" w="lg"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51364" name="Line 164">
            <a:extLst>
              <a:ext uri="{FF2B5EF4-FFF2-40B4-BE49-F238E27FC236}">
                <a16:creationId xmlns:a16="http://schemas.microsoft.com/office/drawing/2014/main" id="{E464036E-DEA0-B7C7-1AC2-11580E42C733}"/>
              </a:ext>
            </a:extLst>
          </p:cNvPr>
          <p:cNvSpPr>
            <a:spLocks noChangeShapeType="1"/>
          </p:cNvSpPr>
          <p:nvPr/>
        </p:nvSpPr>
        <p:spPr bwMode="auto">
          <a:xfrm>
            <a:off x="3352800" y="4799013"/>
            <a:ext cx="774700" cy="0"/>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nvGrpSpPr>
          <p:cNvPr id="51457" name="Group 257">
            <a:extLst>
              <a:ext uri="{FF2B5EF4-FFF2-40B4-BE49-F238E27FC236}">
                <a16:creationId xmlns:a16="http://schemas.microsoft.com/office/drawing/2014/main" id="{FDCD168D-AACF-32A8-01C4-EAF707B2F47A}"/>
              </a:ext>
            </a:extLst>
          </p:cNvPr>
          <p:cNvGrpSpPr>
            <a:grpSpLocks/>
          </p:cNvGrpSpPr>
          <p:nvPr/>
        </p:nvGrpSpPr>
        <p:grpSpPr bwMode="auto">
          <a:xfrm>
            <a:off x="5756275" y="2560638"/>
            <a:ext cx="1831975" cy="904875"/>
            <a:chOff x="3626" y="1613"/>
            <a:chExt cx="1154" cy="570"/>
          </a:xfrm>
        </p:grpSpPr>
        <p:sp>
          <p:nvSpPr>
            <p:cNvPr id="51367" name="Freeform 167">
              <a:extLst>
                <a:ext uri="{FF2B5EF4-FFF2-40B4-BE49-F238E27FC236}">
                  <a16:creationId xmlns:a16="http://schemas.microsoft.com/office/drawing/2014/main" id="{9E2A5CA1-485D-AC7C-A1AD-A23334533EA6}"/>
                </a:ext>
              </a:extLst>
            </p:cNvPr>
            <p:cNvSpPr>
              <a:spLocks/>
            </p:cNvSpPr>
            <p:nvPr/>
          </p:nvSpPr>
          <p:spPr bwMode="auto">
            <a:xfrm>
              <a:off x="3696" y="1613"/>
              <a:ext cx="1084" cy="190"/>
            </a:xfrm>
            <a:custGeom>
              <a:avLst/>
              <a:gdLst>
                <a:gd name="T0" fmla="*/ 4333 w 4333"/>
                <a:gd name="T1" fmla="*/ 47 h 759"/>
                <a:gd name="T2" fmla="*/ 4333 w 4333"/>
                <a:gd name="T3" fmla="*/ 713 h 759"/>
                <a:gd name="T4" fmla="*/ 4332 w 4333"/>
                <a:gd name="T5" fmla="*/ 713 h 759"/>
                <a:gd name="T6" fmla="*/ 4332 w 4333"/>
                <a:gd name="T7" fmla="*/ 715 h 759"/>
                <a:gd name="T8" fmla="*/ 4332 w 4333"/>
                <a:gd name="T9" fmla="*/ 717 h 759"/>
                <a:gd name="T10" fmla="*/ 4331 w 4333"/>
                <a:gd name="T11" fmla="*/ 723 h 759"/>
                <a:gd name="T12" fmla="*/ 4328 w 4333"/>
                <a:gd name="T13" fmla="*/ 724 h 759"/>
                <a:gd name="T14" fmla="*/ 4327 w 4333"/>
                <a:gd name="T15" fmla="*/ 726 h 759"/>
                <a:gd name="T16" fmla="*/ 4323 w 4333"/>
                <a:gd name="T17" fmla="*/ 732 h 759"/>
                <a:gd name="T18" fmla="*/ 4310 w 4333"/>
                <a:gd name="T19" fmla="*/ 739 h 759"/>
                <a:gd name="T20" fmla="*/ 4295 w 4333"/>
                <a:gd name="T21" fmla="*/ 747 h 759"/>
                <a:gd name="T22" fmla="*/ 4288 w 4333"/>
                <a:gd name="T23" fmla="*/ 747 h 759"/>
                <a:gd name="T24" fmla="*/ 4283 w 4333"/>
                <a:gd name="T25" fmla="*/ 748 h 759"/>
                <a:gd name="T26" fmla="*/ 4272 w 4333"/>
                <a:gd name="T27" fmla="*/ 751 h 759"/>
                <a:gd name="T28" fmla="*/ 4259 w 4333"/>
                <a:gd name="T29" fmla="*/ 752 h 759"/>
                <a:gd name="T30" fmla="*/ 4246 w 4333"/>
                <a:gd name="T31" fmla="*/ 755 h 759"/>
                <a:gd name="T32" fmla="*/ 4215 w 4333"/>
                <a:gd name="T33" fmla="*/ 757 h 759"/>
                <a:gd name="T34" fmla="*/ 4197 w 4333"/>
                <a:gd name="T35" fmla="*/ 757 h 759"/>
                <a:gd name="T36" fmla="*/ 4179 w 4333"/>
                <a:gd name="T37" fmla="*/ 759 h 759"/>
                <a:gd name="T38" fmla="*/ 155 w 4333"/>
                <a:gd name="T39" fmla="*/ 759 h 759"/>
                <a:gd name="T40" fmla="*/ 134 w 4333"/>
                <a:gd name="T41" fmla="*/ 757 h 759"/>
                <a:gd name="T42" fmla="*/ 116 w 4333"/>
                <a:gd name="T43" fmla="*/ 757 h 759"/>
                <a:gd name="T44" fmla="*/ 100 w 4333"/>
                <a:gd name="T45" fmla="*/ 756 h 759"/>
                <a:gd name="T46" fmla="*/ 85 w 4333"/>
                <a:gd name="T47" fmla="*/ 756 h 759"/>
                <a:gd name="T48" fmla="*/ 63 w 4333"/>
                <a:gd name="T49" fmla="*/ 752 h 759"/>
                <a:gd name="T50" fmla="*/ 47 w 4333"/>
                <a:gd name="T51" fmla="*/ 750 h 759"/>
                <a:gd name="T52" fmla="*/ 32 w 4333"/>
                <a:gd name="T53" fmla="*/ 744 h 759"/>
                <a:gd name="T54" fmla="*/ 21 w 4333"/>
                <a:gd name="T55" fmla="*/ 741 h 759"/>
                <a:gd name="T56" fmla="*/ 12 w 4333"/>
                <a:gd name="T57" fmla="*/ 734 h 759"/>
                <a:gd name="T58" fmla="*/ 5 w 4333"/>
                <a:gd name="T59" fmla="*/ 728 h 759"/>
                <a:gd name="T60" fmla="*/ 1 w 4333"/>
                <a:gd name="T61" fmla="*/ 720 h 759"/>
                <a:gd name="T62" fmla="*/ 0 w 4333"/>
                <a:gd name="T63" fmla="*/ 713 h 759"/>
                <a:gd name="T64" fmla="*/ 0 w 4333"/>
                <a:gd name="T65" fmla="*/ 47 h 759"/>
                <a:gd name="T66" fmla="*/ 1 w 4333"/>
                <a:gd name="T67" fmla="*/ 35 h 759"/>
                <a:gd name="T68" fmla="*/ 9 w 4333"/>
                <a:gd name="T69" fmla="*/ 26 h 759"/>
                <a:gd name="T70" fmla="*/ 21 w 4333"/>
                <a:gd name="T71" fmla="*/ 17 h 759"/>
                <a:gd name="T72" fmla="*/ 39 w 4333"/>
                <a:gd name="T73" fmla="*/ 12 h 759"/>
                <a:gd name="T74" fmla="*/ 60 w 4333"/>
                <a:gd name="T75" fmla="*/ 6 h 759"/>
                <a:gd name="T76" fmla="*/ 87 w 4333"/>
                <a:gd name="T77" fmla="*/ 3 h 759"/>
                <a:gd name="T78" fmla="*/ 118 w 4333"/>
                <a:gd name="T79" fmla="*/ 0 h 759"/>
                <a:gd name="T80" fmla="*/ 155 w 4333"/>
                <a:gd name="T81" fmla="*/ 0 h 759"/>
                <a:gd name="T82" fmla="*/ 4179 w 4333"/>
                <a:gd name="T83" fmla="*/ 0 h 759"/>
                <a:gd name="T84" fmla="*/ 4215 w 4333"/>
                <a:gd name="T85" fmla="*/ 0 h 759"/>
                <a:gd name="T86" fmla="*/ 4246 w 4333"/>
                <a:gd name="T87" fmla="*/ 3 h 759"/>
                <a:gd name="T88" fmla="*/ 4272 w 4333"/>
                <a:gd name="T89" fmla="*/ 6 h 759"/>
                <a:gd name="T90" fmla="*/ 4295 w 4333"/>
                <a:gd name="T91" fmla="*/ 12 h 759"/>
                <a:gd name="T92" fmla="*/ 4310 w 4333"/>
                <a:gd name="T93" fmla="*/ 17 h 759"/>
                <a:gd name="T94" fmla="*/ 4323 w 4333"/>
                <a:gd name="T95" fmla="*/ 26 h 759"/>
                <a:gd name="T96" fmla="*/ 4331 w 4333"/>
                <a:gd name="T97" fmla="*/ 35 h 759"/>
                <a:gd name="T98" fmla="*/ 4333 w 4333"/>
                <a:gd name="T99" fmla="*/ 47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333" h="759">
                  <a:moveTo>
                    <a:pt x="4333" y="47"/>
                  </a:moveTo>
                  <a:lnTo>
                    <a:pt x="4333" y="713"/>
                  </a:lnTo>
                  <a:lnTo>
                    <a:pt x="4332" y="713"/>
                  </a:lnTo>
                  <a:lnTo>
                    <a:pt x="4332" y="715"/>
                  </a:lnTo>
                  <a:lnTo>
                    <a:pt x="4332" y="717"/>
                  </a:lnTo>
                  <a:lnTo>
                    <a:pt x="4331" y="723"/>
                  </a:lnTo>
                  <a:lnTo>
                    <a:pt x="4328" y="724"/>
                  </a:lnTo>
                  <a:lnTo>
                    <a:pt x="4327" y="726"/>
                  </a:lnTo>
                  <a:lnTo>
                    <a:pt x="4323" y="732"/>
                  </a:lnTo>
                  <a:lnTo>
                    <a:pt x="4310" y="739"/>
                  </a:lnTo>
                  <a:lnTo>
                    <a:pt x="4295" y="747"/>
                  </a:lnTo>
                  <a:lnTo>
                    <a:pt x="4288" y="747"/>
                  </a:lnTo>
                  <a:lnTo>
                    <a:pt x="4283" y="748"/>
                  </a:lnTo>
                  <a:lnTo>
                    <a:pt x="4272" y="751"/>
                  </a:lnTo>
                  <a:lnTo>
                    <a:pt x="4259" y="752"/>
                  </a:lnTo>
                  <a:lnTo>
                    <a:pt x="4246" y="755"/>
                  </a:lnTo>
                  <a:lnTo>
                    <a:pt x="4215" y="757"/>
                  </a:lnTo>
                  <a:lnTo>
                    <a:pt x="4197" y="757"/>
                  </a:lnTo>
                  <a:lnTo>
                    <a:pt x="4179" y="759"/>
                  </a:lnTo>
                  <a:lnTo>
                    <a:pt x="155" y="759"/>
                  </a:lnTo>
                  <a:lnTo>
                    <a:pt x="134" y="757"/>
                  </a:lnTo>
                  <a:lnTo>
                    <a:pt x="116" y="757"/>
                  </a:lnTo>
                  <a:lnTo>
                    <a:pt x="100" y="756"/>
                  </a:lnTo>
                  <a:lnTo>
                    <a:pt x="85" y="756"/>
                  </a:lnTo>
                  <a:lnTo>
                    <a:pt x="63" y="752"/>
                  </a:lnTo>
                  <a:lnTo>
                    <a:pt x="47" y="750"/>
                  </a:lnTo>
                  <a:lnTo>
                    <a:pt x="32" y="744"/>
                  </a:lnTo>
                  <a:lnTo>
                    <a:pt x="21" y="741"/>
                  </a:lnTo>
                  <a:lnTo>
                    <a:pt x="12" y="734"/>
                  </a:lnTo>
                  <a:lnTo>
                    <a:pt x="5" y="728"/>
                  </a:lnTo>
                  <a:lnTo>
                    <a:pt x="1" y="720"/>
                  </a:lnTo>
                  <a:lnTo>
                    <a:pt x="0" y="713"/>
                  </a:lnTo>
                  <a:lnTo>
                    <a:pt x="0" y="47"/>
                  </a:lnTo>
                  <a:lnTo>
                    <a:pt x="1" y="35"/>
                  </a:lnTo>
                  <a:lnTo>
                    <a:pt x="9" y="26"/>
                  </a:lnTo>
                  <a:lnTo>
                    <a:pt x="21" y="17"/>
                  </a:lnTo>
                  <a:lnTo>
                    <a:pt x="39" y="12"/>
                  </a:lnTo>
                  <a:lnTo>
                    <a:pt x="60" y="6"/>
                  </a:lnTo>
                  <a:lnTo>
                    <a:pt x="87" y="3"/>
                  </a:lnTo>
                  <a:lnTo>
                    <a:pt x="118" y="0"/>
                  </a:lnTo>
                  <a:lnTo>
                    <a:pt x="155" y="0"/>
                  </a:lnTo>
                  <a:lnTo>
                    <a:pt x="4179" y="0"/>
                  </a:lnTo>
                  <a:lnTo>
                    <a:pt x="4215" y="0"/>
                  </a:lnTo>
                  <a:lnTo>
                    <a:pt x="4246" y="3"/>
                  </a:lnTo>
                  <a:lnTo>
                    <a:pt x="4272" y="6"/>
                  </a:lnTo>
                  <a:lnTo>
                    <a:pt x="4295" y="12"/>
                  </a:lnTo>
                  <a:lnTo>
                    <a:pt x="4310" y="17"/>
                  </a:lnTo>
                  <a:lnTo>
                    <a:pt x="4323" y="26"/>
                  </a:lnTo>
                  <a:lnTo>
                    <a:pt x="4331" y="35"/>
                  </a:lnTo>
                  <a:lnTo>
                    <a:pt x="4333" y="47"/>
                  </a:lnTo>
                </a:path>
              </a:pathLst>
            </a:custGeom>
            <a:solidFill>
              <a:srgbClr val="CCFFCC"/>
            </a:solidFill>
            <a:ln w="25400" cap="flat" cmpd="sng">
              <a:solidFill>
                <a:srgbClr val="33333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51359" name="Freeform 159">
              <a:extLst>
                <a:ext uri="{FF2B5EF4-FFF2-40B4-BE49-F238E27FC236}">
                  <a16:creationId xmlns:a16="http://schemas.microsoft.com/office/drawing/2014/main" id="{1CB9D24E-34F6-132F-94FE-B13681958F98}"/>
                </a:ext>
              </a:extLst>
            </p:cNvPr>
            <p:cNvSpPr>
              <a:spLocks/>
            </p:cNvSpPr>
            <p:nvPr/>
          </p:nvSpPr>
          <p:spPr bwMode="auto">
            <a:xfrm>
              <a:off x="3626" y="2042"/>
              <a:ext cx="143" cy="141"/>
            </a:xfrm>
            <a:custGeom>
              <a:avLst/>
              <a:gdLst>
                <a:gd name="T0" fmla="*/ 289 w 573"/>
                <a:gd name="T1" fmla="*/ 175 h 562"/>
                <a:gd name="T2" fmla="*/ 172 w 573"/>
                <a:gd name="T3" fmla="*/ 0 h 562"/>
                <a:gd name="T4" fmla="*/ 4 w 573"/>
                <a:gd name="T5" fmla="*/ 0 h 562"/>
                <a:gd name="T6" fmla="*/ 200 w 573"/>
                <a:gd name="T7" fmla="*/ 278 h 562"/>
                <a:gd name="T8" fmla="*/ 0 w 573"/>
                <a:gd name="T9" fmla="*/ 562 h 562"/>
                <a:gd name="T10" fmla="*/ 160 w 573"/>
                <a:gd name="T11" fmla="*/ 562 h 562"/>
                <a:gd name="T12" fmla="*/ 284 w 573"/>
                <a:gd name="T13" fmla="*/ 377 h 562"/>
                <a:gd name="T14" fmla="*/ 405 w 573"/>
                <a:gd name="T15" fmla="*/ 562 h 562"/>
                <a:gd name="T16" fmla="*/ 573 w 573"/>
                <a:gd name="T17" fmla="*/ 562 h 562"/>
                <a:gd name="T18" fmla="*/ 373 w 573"/>
                <a:gd name="T19" fmla="*/ 273 h 562"/>
                <a:gd name="T20" fmla="*/ 570 w 573"/>
                <a:gd name="T21" fmla="*/ 0 h 562"/>
                <a:gd name="T22" fmla="*/ 409 w 573"/>
                <a:gd name="T23" fmla="*/ 0 h 562"/>
                <a:gd name="T24" fmla="*/ 289 w 573"/>
                <a:gd name="T25" fmla="*/ 175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3" h="562">
                  <a:moveTo>
                    <a:pt x="289" y="175"/>
                  </a:moveTo>
                  <a:lnTo>
                    <a:pt x="172" y="0"/>
                  </a:lnTo>
                  <a:lnTo>
                    <a:pt x="4" y="0"/>
                  </a:lnTo>
                  <a:lnTo>
                    <a:pt x="200" y="278"/>
                  </a:lnTo>
                  <a:lnTo>
                    <a:pt x="0" y="562"/>
                  </a:lnTo>
                  <a:lnTo>
                    <a:pt x="160" y="562"/>
                  </a:lnTo>
                  <a:lnTo>
                    <a:pt x="284" y="377"/>
                  </a:lnTo>
                  <a:lnTo>
                    <a:pt x="405" y="562"/>
                  </a:lnTo>
                  <a:lnTo>
                    <a:pt x="573" y="562"/>
                  </a:lnTo>
                  <a:lnTo>
                    <a:pt x="373" y="273"/>
                  </a:lnTo>
                  <a:lnTo>
                    <a:pt x="570" y="0"/>
                  </a:lnTo>
                  <a:lnTo>
                    <a:pt x="409" y="0"/>
                  </a:lnTo>
                  <a:lnTo>
                    <a:pt x="289" y="1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nvGrpSpPr>
            <p:cNvPr id="51456" name="Group 256">
              <a:extLst>
                <a:ext uri="{FF2B5EF4-FFF2-40B4-BE49-F238E27FC236}">
                  <a16:creationId xmlns:a16="http://schemas.microsoft.com/office/drawing/2014/main" id="{6DDCC04F-1B36-2F30-1937-FA2615133E91}"/>
                </a:ext>
              </a:extLst>
            </p:cNvPr>
            <p:cNvGrpSpPr>
              <a:grpSpLocks/>
            </p:cNvGrpSpPr>
            <p:nvPr/>
          </p:nvGrpSpPr>
          <p:grpSpPr bwMode="auto">
            <a:xfrm>
              <a:off x="3735" y="1631"/>
              <a:ext cx="110" cy="105"/>
              <a:chOff x="3735" y="1631"/>
              <a:chExt cx="110" cy="105"/>
            </a:xfrm>
          </p:grpSpPr>
          <p:sp>
            <p:nvSpPr>
              <p:cNvPr id="51368" name="Freeform 168">
                <a:extLst>
                  <a:ext uri="{FF2B5EF4-FFF2-40B4-BE49-F238E27FC236}">
                    <a16:creationId xmlns:a16="http://schemas.microsoft.com/office/drawing/2014/main" id="{EE88C998-8B77-2AFD-C70A-64987F4B5383}"/>
                  </a:ext>
                </a:extLst>
              </p:cNvPr>
              <p:cNvSpPr>
                <a:spLocks/>
              </p:cNvSpPr>
              <p:nvPr/>
            </p:nvSpPr>
            <p:spPr bwMode="auto">
              <a:xfrm>
                <a:off x="3735" y="1670"/>
                <a:ext cx="66" cy="66"/>
              </a:xfrm>
              <a:custGeom>
                <a:avLst/>
                <a:gdLst>
                  <a:gd name="T0" fmla="*/ 21 w 266"/>
                  <a:gd name="T1" fmla="*/ 63 h 267"/>
                  <a:gd name="T2" fmla="*/ 4 w 266"/>
                  <a:gd name="T3" fmla="*/ 99 h 267"/>
                  <a:gd name="T4" fmla="*/ 0 w 266"/>
                  <a:gd name="T5" fmla="*/ 130 h 267"/>
                  <a:gd name="T6" fmla="*/ 4 w 266"/>
                  <a:gd name="T7" fmla="*/ 172 h 267"/>
                  <a:gd name="T8" fmla="*/ 22 w 266"/>
                  <a:gd name="T9" fmla="*/ 210 h 267"/>
                  <a:gd name="T10" fmla="*/ 45 w 266"/>
                  <a:gd name="T11" fmla="*/ 236 h 267"/>
                  <a:gd name="T12" fmla="*/ 84 w 266"/>
                  <a:gd name="T13" fmla="*/ 259 h 267"/>
                  <a:gd name="T14" fmla="*/ 116 w 266"/>
                  <a:gd name="T15" fmla="*/ 266 h 267"/>
                  <a:gd name="T16" fmla="*/ 171 w 266"/>
                  <a:gd name="T17" fmla="*/ 261 h 267"/>
                  <a:gd name="T18" fmla="*/ 211 w 266"/>
                  <a:gd name="T19" fmla="*/ 240 h 267"/>
                  <a:gd name="T20" fmla="*/ 235 w 266"/>
                  <a:gd name="T21" fmla="*/ 215 h 267"/>
                  <a:gd name="T22" fmla="*/ 250 w 266"/>
                  <a:gd name="T23" fmla="*/ 191 h 267"/>
                  <a:gd name="T24" fmla="*/ 262 w 266"/>
                  <a:gd name="T25" fmla="*/ 116 h 267"/>
                  <a:gd name="T26" fmla="*/ 246 w 266"/>
                  <a:gd name="T27" fmla="*/ 75 h 267"/>
                  <a:gd name="T28" fmla="*/ 263 w 266"/>
                  <a:gd name="T29" fmla="*/ 57 h 267"/>
                  <a:gd name="T30" fmla="*/ 249 w 266"/>
                  <a:gd name="T31" fmla="*/ 56 h 267"/>
                  <a:gd name="T32" fmla="*/ 236 w 266"/>
                  <a:gd name="T33" fmla="*/ 46 h 267"/>
                  <a:gd name="T34" fmla="*/ 218 w 266"/>
                  <a:gd name="T35" fmla="*/ 26 h 267"/>
                  <a:gd name="T36" fmla="*/ 214 w 266"/>
                  <a:gd name="T37" fmla="*/ 12 h 267"/>
                  <a:gd name="T38" fmla="*/ 182 w 266"/>
                  <a:gd name="T39" fmla="*/ 36 h 267"/>
                  <a:gd name="T40" fmla="*/ 177 w 266"/>
                  <a:gd name="T41" fmla="*/ 46 h 267"/>
                  <a:gd name="T42" fmla="*/ 177 w 266"/>
                  <a:gd name="T43" fmla="*/ 58 h 267"/>
                  <a:gd name="T44" fmla="*/ 181 w 266"/>
                  <a:gd name="T45" fmla="*/ 68 h 267"/>
                  <a:gd name="T46" fmla="*/ 199 w 266"/>
                  <a:gd name="T47" fmla="*/ 88 h 267"/>
                  <a:gd name="T48" fmla="*/ 210 w 266"/>
                  <a:gd name="T49" fmla="*/ 94 h 267"/>
                  <a:gd name="T50" fmla="*/ 183 w 266"/>
                  <a:gd name="T51" fmla="*/ 86 h 267"/>
                  <a:gd name="T52" fmla="*/ 168 w 266"/>
                  <a:gd name="T53" fmla="*/ 72 h 267"/>
                  <a:gd name="T54" fmla="*/ 160 w 266"/>
                  <a:gd name="T55" fmla="*/ 56 h 267"/>
                  <a:gd name="T56" fmla="*/ 161 w 266"/>
                  <a:gd name="T57" fmla="*/ 39 h 267"/>
                  <a:gd name="T58" fmla="*/ 169 w 266"/>
                  <a:gd name="T59" fmla="*/ 26 h 267"/>
                  <a:gd name="T60" fmla="*/ 177 w 266"/>
                  <a:gd name="T61" fmla="*/ 13 h 267"/>
                  <a:gd name="T62" fmla="*/ 130 w 266"/>
                  <a:gd name="T63" fmla="*/ 4 h 267"/>
                  <a:gd name="T64" fmla="*/ 97 w 266"/>
                  <a:gd name="T65" fmla="*/ 9 h 267"/>
                  <a:gd name="T66" fmla="*/ 54 w 266"/>
                  <a:gd name="T67" fmla="*/ 28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6" h="267">
                    <a:moveTo>
                      <a:pt x="39" y="41"/>
                    </a:moveTo>
                    <a:lnTo>
                      <a:pt x="21" y="63"/>
                    </a:lnTo>
                    <a:lnTo>
                      <a:pt x="12" y="80"/>
                    </a:lnTo>
                    <a:lnTo>
                      <a:pt x="4" y="99"/>
                    </a:lnTo>
                    <a:lnTo>
                      <a:pt x="1" y="110"/>
                    </a:lnTo>
                    <a:lnTo>
                      <a:pt x="0" y="130"/>
                    </a:lnTo>
                    <a:lnTo>
                      <a:pt x="0" y="151"/>
                    </a:lnTo>
                    <a:lnTo>
                      <a:pt x="4" y="172"/>
                    </a:lnTo>
                    <a:lnTo>
                      <a:pt x="12" y="192"/>
                    </a:lnTo>
                    <a:lnTo>
                      <a:pt x="22" y="210"/>
                    </a:lnTo>
                    <a:lnTo>
                      <a:pt x="36" y="227"/>
                    </a:lnTo>
                    <a:lnTo>
                      <a:pt x="45" y="236"/>
                    </a:lnTo>
                    <a:lnTo>
                      <a:pt x="61" y="248"/>
                    </a:lnTo>
                    <a:lnTo>
                      <a:pt x="84" y="259"/>
                    </a:lnTo>
                    <a:lnTo>
                      <a:pt x="102" y="264"/>
                    </a:lnTo>
                    <a:lnTo>
                      <a:pt x="116" y="266"/>
                    </a:lnTo>
                    <a:lnTo>
                      <a:pt x="134" y="267"/>
                    </a:lnTo>
                    <a:lnTo>
                      <a:pt x="171" y="261"/>
                    </a:lnTo>
                    <a:lnTo>
                      <a:pt x="190" y="254"/>
                    </a:lnTo>
                    <a:lnTo>
                      <a:pt x="211" y="240"/>
                    </a:lnTo>
                    <a:lnTo>
                      <a:pt x="222" y="231"/>
                    </a:lnTo>
                    <a:lnTo>
                      <a:pt x="235" y="215"/>
                    </a:lnTo>
                    <a:lnTo>
                      <a:pt x="241" y="208"/>
                    </a:lnTo>
                    <a:lnTo>
                      <a:pt x="250" y="191"/>
                    </a:lnTo>
                    <a:lnTo>
                      <a:pt x="262" y="154"/>
                    </a:lnTo>
                    <a:lnTo>
                      <a:pt x="262" y="116"/>
                    </a:lnTo>
                    <a:lnTo>
                      <a:pt x="253" y="88"/>
                    </a:lnTo>
                    <a:lnTo>
                      <a:pt x="246" y="75"/>
                    </a:lnTo>
                    <a:lnTo>
                      <a:pt x="266" y="56"/>
                    </a:lnTo>
                    <a:lnTo>
                      <a:pt x="263" y="57"/>
                    </a:lnTo>
                    <a:lnTo>
                      <a:pt x="258" y="57"/>
                    </a:lnTo>
                    <a:lnTo>
                      <a:pt x="249" y="56"/>
                    </a:lnTo>
                    <a:lnTo>
                      <a:pt x="240" y="50"/>
                    </a:lnTo>
                    <a:lnTo>
                      <a:pt x="236" y="46"/>
                    </a:lnTo>
                    <a:lnTo>
                      <a:pt x="226" y="36"/>
                    </a:lnTo>
                    <a:lnTo>
                      <a:pt x="218" y="26"/>
                    </a:lnTo>
                    <a:lnTo>
                      <a:pt x="214" y="16"/>
                    </a:lnTo>
                    <a:lnTo>
                      <a:pt x="214" y="12"/>
                    </a:lnTo>
                    <a:lnTo>
                      <a:pt x="214" y="0"/>
                    </a:lnTo>
                    <a:lnTo>
                      <a:pt x="182" y="36"/>
                    </a:lnTo>
                    <a:lnTo>
                      <a:pt x="179" y="41"/>
                    </a:lnTo>
                    <a:lnTo>
                      <a:pt x="177" y="46"/>
                    </a:lnTo>
                    <a:lnTo>
                      <a:pt x="177" y="53"/>
                    </a:lnTo>
                    <a:lnTo>
                      <a:pt x="177" y="58"/>
                    </a:lnTo>
                    <a:lnTo>
                      <a:pt x="178" y="63"/>
                    </a:lnTo>
                    <a:lnTo>
                      <a:pt x="181" y="68"/>
                    </a:lnTo>
                    <a:lnTo>
                      <a:pt x="187" y="77"/>
                    </a:lnTo>
                    <a:lnTo>
                      <a:pt x="199" y="88"/>
                    </a:lnTo>
                    <a:lnTo>
                      <a:pt x="209" y="94"/>
                    </a:lnTo>
                    <a:lnTo>
                      <a:pt x="210" y="94"/>
                    </a:lnTo>
                    <a:lnTo>
                      <a:pt x="187" y="88"/>
                    </a:lnTo>
                    <a:lnTo>
                      <a:pt x="183" y="86"/>
                    </a:lnTo>
                    <a:lnTo>
                      <a:pt x="174" y="80"/>
                    </a:lnTo>
                    <a:lnTo>
                      <a:pt x="168" y="72"/>
                    </a:lnTo>
                    <a:lnTo>
                      <a:pt x="162" y="63"/>
                    </a:lnTo>
                    <a:lnTo>
                      <a:pt x="160" y="56"/>
                    </a:lnTo>
                    <a:lnTo>
                      <a:pt x="160" y="46"/>
                    </a:lnTo>
                    <a:lnTo>
                      <a:pt x="161" y="39"/>
                    </a:lnTo>
                    <a:lnTo>
                      <a:pt x="165" y="32"/>
                    </a:lnTo>
                    <a:lnTo>
                      <a:pt x="169" y="26"/>
                    </a:lnTo>
                    <a:lnTo>
                      <a:pt x="182" y="14"/>
                    </a:lnTo>
                    <a:lnTo>
                      <a:pt x="177" y="13"/>
                    </a:lnTo>
                    <a:lnTo>
                      <a:pt x="159" y="7"/>
                    </a:lnTo>
                    <a:lnTo>
                      <a:pt x="130" y="4"/>
                    </a:lnTo>
                    <a:lnTo>
                      <a:pt x="111" y="7"/>
                    </a:lnTo>
                    <a:lnTo>
                      <a:pt x="97" y="9"/>
                    </a:lnTo>
                    <a:lnTo>
                      <a:pt x="71" y="18"/>
                    </a:lnTo>
                    <a:lnTo>
                      <a:pt x="54" y="28"/>
                    </a:lnTo>
                    <a:lnTo>
                      <a:pt x="39"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69" name="Freeform 169">
                <a:extLst>
                  <a:ext uri="{FF2B5EF4-FFF2-40B4-BE49-F238E27FC236}">
                    <a16:creationId xmlns:a16="http://schemas.microsoft.com/office/drawing/2014/main" id="{42801351-413C-DB31-063D-4D960A6A3F64}"/>
                  </a:ext>
                </a:extLst>
              </p:cNvPr>
              <p:cNvSpPr>
                <a:spLocks/>
              </p:cNvSpPr>
              <p:nvPr/>
            </p:nvSpPr>
            <p:spPr bwMode="auto">
              <a:xfrm>
                <a:off x="3815" y="1640"/>
                <a:ext cx="21" cy="21"/>
              </a:xfrm>
              <a:custGeom>
                <a:avLst/>
                <a:gdLst>
                  <a:gd name="T0" fmla="*/ 71 w 84"/>
                  <a:gd name="T1" fmla="*/ 0 h 84"/>
                  <a:gd name="T2" fmla="*/ 68 w 84"/>
                  <a:gd name="T3" fmla="*/ 3 h 84"/>
                  <a:gd name="T4" fmla="*/ 3 w 84"/>
                  <a:gd name="T5" fmla="*/ 68 h 84"/>
                  <a:gd name="T6" fmla="*/ 1 w 84"/>
                  <a:gd name="T7" fmla="*/ 71 h 84"/>
                  <a:gd name="T8" fmla="*/ 0 w 84"/>
                  <a:gd name="T9" fmla="*/ 74 h 84"/>
                  <a:gd name="T10" fmla="*/ 1 w 84"/>
                  <a:gd name="T11" fmla="*/ 79 h 84"/>
                  <a:gd name="T12" fmla="*/ 3 w 84"/>
                  <a:gd name="T13" fmla="*/ 81 h 84"/>
                  <a:gd name="T14" fmla="*/ 5 w 84"/>
                  <a:gd name="T15" fmla="*/ 83 h 84"/>
                  <a:gd name="T16" fmla="*/ 7 w 84"/>
                  <a:gd name="T17" fmla="*/ 83 h 84"/>
                  <a:gd name="T18" fmla="*/ 10 w 84"/>
                  <a:gd name="T19" fmla="*/ 84 h 84"/>
                  <a:gd name="T20" fmla="*/ 12 w 84"/>
                  <a:gd name="T21" fmla="*/ 84 h 84"/>
                  <a:gd name="T22" fmla="*/ 14 w 84"/>
                  <a:gd name="T23" fmla="*/ 83 h 84"/>
                  <a:gd name="T24" fmla="*/ 17 w 84"/>
                  <a:gd name="T25" fmla="*/ 80 h 84"/>
                  <a:gd name="T26" fmla="*/ 81 w 84"/>
                  <a:gd name="T27" fmla="*/ 17 h 84"/>
                  <a:gd name="T28" fmla="*/ 83 w 84"/>
                  <a:gd name="T29" fmla="*/ 13 h 84"/>
                  <a:gd name="T30" fmla="*/ 84 w 84"/>
                  <a:gd name="T31" fmla="*/ 9 h 84"/>
                  <a:gd name="T32" fmla="*/ 83 w 84"/>
                  <a:gd name="T33" fmla="*/ 5 h 84"/>
                  <a:gd name="T34" fmla="*/ 81 w 84"/>
                  <a:gd name="T35" fmla="*/ 3 h 84"/>
                  <a:gd name="T36" fmla="*/ 79 w 84"/>
                  <a:gd name="T37" fmla="*/ 0 h 84"/>
                  <a:gd name="T38" fmla="*/ 76 w 84"/>
                  <a:gd name="T39" fmla="*/ 0 h 84"/>
                  <a:gd name="T40" fmla="*/ 72 w 84"/>
                  <a:gd name="T41" fmla="*/ 0 h 84"/>
                  <a:gd name="T42" fmla="*/ 71 w 84"/>
                  <a:gd name="T43"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4" h="84">
                    <a:moveTo>
                      <a:pt x="71" y="0"/>
                    </a:moveTo>
                    <a:lnTo>
                      <a:pt x="68" y="3"/>
                    </a:lnTo>
                    <a:lnTo>
                      <a:pt x="3" y="68"/>
                    </a:lnTo>
                    <a:lnTo>
                      <a:pt x="1" y="71"/>
                    </a:lnTo>
                    <a:lnTo>
                      <a:pt x="0" y="74"/>
                    </a:lnTo>
                    <a:lnTo>
                      <a:pt x="1" y="79"/>
                    </a:lnTo>
                    <a:lnTo>
                      <a:pt x="3" y="81"/>
                    </a:lnTo>
                    <a:lnTo>
                      <a:pt x="5" y="83"/>
                    </a:lnTo>
                    <a:lnTo>
                      <a:pt x="7" y="83"/>
                    </a:lnTo>
                    <a:lnTo>
                      <a:pt x="10" y="84"/>
                    </a:lnTo>
                    <a:lnTo>
                      <a:pt x="12" y="84"/>
                    </a:lnTo>
                    <a:lnTo>
                      <a:pt x="14" y="83"/>
                    </a:lnTo>
                    <a:lnTo>
                      <a:pt x="17" y="80"/>
                    </a:lnTo>
                    <a:lnTo>
                      <a:pt x="81" y="17"/>
                    </a:lnTo>
                    <a:lnTo>
                      <a:pt x="83" y="13"/>
                    </a:lnTo>
                    <a:lnTo>
                      <a:pt x="84" y="9"/>
                    </a:lnTo>
                    <a:lnTo>
                      <a:pt x="83" y="5"/>
                    </a:lnTo>
                    <a:lnTo>
                      <a:pt x="81" y="3"/>
                    </a:lnTo>
                    <a:lnTo>
                      <a:pt x="79" y="0"/>
                    </a:lnTo>
                    <a:lnTo>
                      <a:pt x="76" y="0"/>
                    </a:lnTo>
                    <a:lnTo>
                      <a:pt x="72" y="0"/>
                    </a:lnTo>
                    <a:lnTo>
                      <a:pt x="7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70" name="Freeform 170">
                <a:extLst>
                  <a:ext uri="{FF2B5EF4-FFF2-40B4-BE49-F238E27FC236}">
                    <a16:creationId xmlns:a16="http://schemas.microsoft.com/office/drawing/2014/main" id="{4ED4C7F2-13F2-712B-9A2B-602A75E59D25}"/>
                  </a:ext>
                </a:extLst>
              </p:cNvPr>
              <p:cNvSpPr>
                <a:spLocks/>
              </p:cNvSpPr>
              <p:nvPr/>
            </p:nvSpPr>
            <p:spPr bwMode="auto">
              <a:xfrm>
                <a:off x="3803" y="1631"/>
                <a:ext cx="5" cy="27"/>
              </a:xfrm>
              <a:custGeom>
                <a:avLst/>
                <a:gdLst>
                  <a:gd name="T0" fmla="*/ 8 w 19"/>
                  <a:gd name="T1" fmla="*/ 0 h 110"/>
                  <a:gd name="T2" fmla="*/ 5 w 19"/>
                  <a:gd name="T3" fmla="*/ 0 h 110"/>
                  <a:gd name="T4" fmla="*/ 3 w 19"/>
                  <a:gd name="T5" fmla="*/ 3 h 110"/>
                  <a:gd name="T6" fmla="*/ 0 w 19"/>
                  <a:gd name="T7" fmla="*/ 8 h 110"/>
                  <a:gd name="T8" fmla="*/ 0 w 19"/>
                  <a:gd name="T9" fmla="*/ 101 h 110"/>
                  <a:gd name="T10" fmla="*/ 0 w 19"/>
                  <a:gd name="T11" fmla="*/ 104 h 110"/>
                  <a:gd name="T12" fmla="*/ 1 w 19"/>
                  <a:gd name="T13" fmla="*/ 106 h 110"/>
                  <a:gd name="T14" fmla="*/ 3 w 19"/>
                  <a:gd name="T15" fmla="*/ 107 h 110"/>
                  <a:gd name="T16" fmla="*/ 5 w 19"/>
                  <a:gd name="T17" fmla="*/ 110 h 110"/>
                  <a:gd name="T18" fmla="*/ 9 w 19"/>
                  <a:gd name="T19" fmla="*/ 110 h 110"/>
                  <a:gd name="T20" fmla="*/ 14 w 19"/>
                  <a:gd name="T21" fmla="*/ 108 h 110"/>
                  <a:gd name="T22" fmla="*/ 17 w 19"/>
                  <a:gd name="T23" fmla="*/ 106 h 110"/>
                  <a:gd name="T24" fmla="*/ 19 w 19"/>
                  <a:gd name="T25" fmla="*/ 101 h 110"/>
                  <a:gd name="T26" fmla="*/ 18 w 19"/>
                  <a:gd name="T27" fmla="*/ 9 h 110"/>
                  <a:gd name="T28" fmla="*/ 17 w 19"/>
                  <a:gd name="T29" fmla="*/ 5 h 110"/>
                  <a:gd name="T30" fmla="*/ 16 w 19"/>
                  <a:gd name="T31" fmla="*/ 3 h 110"/>
                  <a:gd name="T32" fmla="*/ 13 w 19"/>
                  <a:gd name="T33" fmla="*/ 0 h 110"/>
                  <a:gd name="T34" fmla="*/ 8 w 19"/>
                  <a:gd name="T35"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 h="110">
                    <a:moveTo>
                      <a:pt x="8" y="0"/>
                    </a:moveTo>
                    <a:lnTo>
                      <a:pt x="5" y="0"/>
                    </a:lnTo>
                    <a:lnTo>
                      <a:pt x="3" y="3"/>
                    </a:lnTo>
                    <a:lnTo>
                      <a:pt x="0" y="8"/>
                    </a:lnTo>
                    <a:lnTo>
                      <a:pt x="0" y="101"/>
                    </a:lnTo>
                    <a:lnTo>
                      <a:pt x="0" y="104"/>
                    </a:lnTo>
                    <a:lnTo>
                      <a:pt x="1" y="106"/>
                    </a:lnTo>
                    <a:lnTo>
                      <a:pt x="3" y="107"/>
                    </a:lnTo>
                    <a:lnTo>
                      <a:pt x="5" y="110"/>
                    </a:lnTo>
                    <a:lnTo>
                      <a:pt x="9" y="110"/>
                    </a:lnTo>
                    <a:lnTo>
                      <a:pt x="14" y="108"/>
                    </a:lnTo>
                    <a:lnTo>
                      <a:pt x="17" y="106"/>
                    </a:lnTo>
                    <a:lnTo>
                      <a:pt x="19" y="101"/>
                    </a:lnTo>
                    <a:lnTo>
                      <a:pt x="18" y="9"/>
                    </a:lnTo>
                    <a:lnTo>
                      <a:pt x="17" y="5"/>
                    </a:lnTo>
                    <a:lnTo>
                      <a:pt x="16" y="3"/>
                    </a:lnTo>
                    <a:lnTo>
                      <a:pt x="13" y="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71" name="Freeform 171">
                <a:extLst>
                  <a:ext uri="{FF2B5EF4-FFF2-40B4-BE49-F238E27FC236}">
                    <a16:creationId xmlns:a16="http://schemas.microsoft.com/office/drawing/2014/main" id="{4032072A-04A2-F825-B411-D29CE41F65C7}"/>
                  </a:ext>
                </a:extLst>
              </p:cNvPr>
              <p:cNvSpPr>
                <a:spLocks/>
              </p:cNvSpPr>
              <p:nvPr/>
            </p:nvSpPr>
            <p:spPr bwMode="auto">
              <a:xfrm>
                <a:off x="3791" y="1664"/>
                <a:ext cx="21" cy="17"/>
              </a:xfrm>
              <a:custGeom>
                <a:avLst/>
                <a:gdLst>
                  <a:gd name="T0" fmla="*/ 73 w 83"/>
                  <a:gd name="T1" fmla="*/ 0 h 66"/>
                  <a:gd name="T2" fmla="*/ 67 w 83"/>
                  <a:gd name="T3" fmla="*/ 7 h 66"/>
                  <a:gd name="T4" fmla="*/ 25 w 83"/>
                  <a:gd name="T5" fmla="*/ 41 h 66"/>
                  <a:gd name="T6" fmla="*/ 24 w 83"/>
                  <a:gd name="T7" fmla="*/ 41 h 66"/>
                  <a:gd name="T8" fmla="*/ 24 w 83"/>
                  <a:gd name="T9" fmla="*/ 43 h 66"/>
                  <a:gd name="T10" fmla="*/ 22 w 83"/>
                  <a:gd name="T11" fmla="*/ 41 h 66"/>
                  <a:gd name="T12" fmla="*/ 20 w 83"/>
                  <a:gd name="T13" fmla="*/ 39 h 66"/>
                  <a:gd name="T14" fmla="*/ 20 w 83"/>
                  <a:gd name="T15" fmla="*/ 36 h 66"/>
                  <a:gd name="T16" fmla="*/ 22 w 83"/>
                  <a:gd name="T17" fmla="*/ 35 h 66"/>
                  <a:gd name="T18" fmla="*/ 22 w 83"/>
                  <a:gd name="T19" fmla="*/ 34 h 66"/>
                  <a:gd name="T20" fmla="*/ 28 w 83"/>
                  <a:gd name="T21" fmla="*/ 26 h 66"/>
                  <a:gd name="T22" fmla="*/ 31 w 83"/>
                  <a:gd name="T23" fmla="*/ 23 h 66"/>
                  <a:gd name="T24" fmla="*/ 28 w 83"/>
                  <a:gd name="T25" fmla="*/ 21 h 66"/>
                  <a:gd name="T26" fmla="*/ 18 w 83"/>
                  <a:gd name="T27" fmla="*/ 14 h 66"/>
                  <a:gd name="T28" fmla="*/ 14 w 83"/>
                  <a:gd name="T29" fmla="*/ 13 h 66"/>
                  <a:gd name="T30" fmla="*/ 10 w 83"/>
                  <a:gd name="T31" fmla="*/ 12 h 66"/>
                  <a:gd name="T32" fmla="*/ 6 w 83"/>
                  <a:gd name="T33" fmla="*/ 12 h 66"/>
                  <a:gd name="T34" fmla="*/ 4 w 83"/>
                  <a:gd name="T35" fmla="*/ 14 h 66"/>
                  <a:gd name="T36" fmla="*/ 2 w 83"/>
                  <a:gd name="T37" fmla="*/ 16 h 66"/>
                  <a:gd name="T38" fmla="*/ 1 w 83"/>
                  <a:gd name="T39" fmla="*/ 18 h 66"/>
                  <a:gd name="T40" fmla="*/ 0 w 83"/>
                  <a:gd name="T41" fmla="*/ 22 h 66"/>
                  <a:gd name="T42" fmla="*/ 2 w 83"/>
                  <a:gd name="T43" fmla="*/ 34 h 66"/>
                  <a:gd name="T44" fmla="*/ 7 w 83"/>
                  <a:gd name="T45" fmla="*/ 44 h 66"/>
                  <a:gd name="T46" fmla="*/ 14 w 83"/>
                  <a:gd name="T47" fmla="*/ 50 h 66"/>
                  <a:gd name="T48" fmla="*/ 20 w 83"/>
                  <a:gd name="T49" fmla="*/ 58 h 66"/>
                  <a:gd name="T50" fmla="*/ 23 w 83"/>
                  <a:gd name="T51" fmla="*/ 59 h 66"/>
                  <a:gd name="T52" fmla="*/ 31 w 83"/>
                  <a:gd name="T53" fmla="*/ 63 h 66"/>
                  <a:gd name="T54" fmla="*/ 41 w 83"/>
                  <a:gd name="T55" fmla="*/ 66 h 66"/>
                  <a:gd name="T56" fmla="*/ 45 w 83"/>
                  <a:gd name="T57" fmla="*/ 65 h 66"/>
                  <a:gd name="T58" fmla="*/ 49 w 83"/>
                  <a:gd name="T59" fmla="*/ 63 h 66"/>
                  <a:gd name="T60" fmla="*/ 49 w 83"/>
                  <a:gd name="T61" fmla="*/ 62 h 66"/>
                  <a:gd name="T62" fmla="*/ 50 w 83"/>
                  <a:gd name="T63" fmla="*/ 61 h 66"/>
                  <a:gd name="T64" fmla="*/ 51 w 83"/>
                  <a:gd name="T65" fmla="*/ 58 h 66"/>
                  <a:gd name="T66" fmla="*/ 51 w 83"/>
                  <a:gd name="T67" fmla="*/ 53 h 66"/>
                  <a:gd name="T68" fmla="*/ 50 w 83"/>
                  <a:gd name="T69" fmla="*/ 45 h 66"/>
                  <a:gd name="T70" fmla="*/ 46 w 83"/>
                  <a:gd name="T71" fmla="*/ 38 h 66"/>
                  <a:gd name="T72" fmla="*/ 80 w 83"/>
                  <a:gd name="T73" fmla="*/ 10 h 66"/>
                  <a:gd name="T74" fmla="*/ 83 w 83"/>
                  <a:gd name="T75" fmla="*/ 9 h 66"/>
                  <a:gd name="T76" fmla="*/ 73 w 83"/>
                  <a:gd name="T77"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3" h="66">
                    <a:moveTo>
                      <a:pt x="73" y="0"/>
                    </a:moveTo>
                    <a:lnTo>
                      <a:pt x="67" y="7"/>
                    </a:lnTo>
                    <a:lnTo>
                      <a:pt x="25" y="41"/>
                    </a:lnTo>
                    <a:lnTo>
                      <a:pt x="24" y="41"/>
                    </a:lnTo>
                    <a:lnTo>
                      <a:pt x="24" y="43"/>
                    </a:lnTo>
                    <a:lnTo>
                      <a:pt x="22" y="41"/>
                    </a:lnTo>
                    <a:lnTo>
                      <a:pt x="20" y="39"/>
                    </a:lnTo>
                    <a:lnTo>
                      <a:pt x="20" y="36"/>
                    </a:lnTo>
                    <a:lnTo>
                      <a:pt x="22" y="35"/>
                    </a:lnTo>
                    <a:lnTo>
                      <a:pt x="22" y="34"/>
                    </a:lnTo>
                    <a:lnTo>
                      <a:pt x="28" y="26"/>
                    </a:lnTo>
                    <a:lnTo>
                      <a:pt x="31" y="23"/>
                    </a:lnTo>
                    <a:lnTo>
                      <a:pt x="28" y="21"/>
                    </a:lnTo>
                    <a:lnTo>
                      <a:pt x="18" y="14"/>
                    </a:lnTo>
                    <a:lnTo>
                      <a:pt x="14" y="13"/>
                    </a:lnTo>
                    <a:lnTo>
                      <a:pt x="10" y="12"/>
                    </a:lnTo>
                    <a:lnTo>
                      <a:pt x="6" y="12"/>
                    </a:lnTo>
                    <a:lnTo>
                      <a:pt x="4" y="14"/>
                    </a:lnTo>
                    <a:lnTo>
                      <a:pt x="2" y="16"/>
                    </a:lnTo>
                    <a:lnTo>
                      <a:pt x="1" y="18"/>
                    </a:lnTo>
                    <a:lnTo>
                      <a:pt x="0" y="22"/>
                    </a:lnTo>
                    <a:lnTo>
                      <a:pt x="2" y="34"/>
                    </a:lnTo>
                    <a:lnTo>
                      <a:pt x="7" y="44"/>
                    </a:lnTo>
                    <a:lnTo>
                      <a:pt x="14" y="50"/>
                    </a:lnTo>
                    <a:lnTo>
                      <a:pt x="20" y="58"/>
                    </a:lnTo>
                    <a:lnTo>
                      <a:pt x="23" y="59"/>
                    </a:lnTo>
                    <a:lnTo>
                      <a:pt x="31" y="63"/>
                    </a:lnTo>
                    <a:lnTo>
                      <a:pt x="41" y="66"/>
                    </a:lnTo>
                    <a:lnTo>
                      <a:pt x="45" y="65"/>
                    </a:lnTo>
                    <a:lnTo>
                      <a:pt x="49" y="63"/>
                    </a:lnTo>
                    <a:lnTo>
                      <a:pt x="49" y="62"/>
                    </a:lnTo>
                    <a:lnTo>
                      <a:pt x="50" y="61"/>
                    </a:lnTo>
                    <a:lnTo>
                      <a:pt x="51" y="58"/>
                    </a:lnTo>
                    <a:lnTo>
                      <a:pt x="51" y="53"/>
                    </a:lnTo>
                    <a:lnTo>
                      <a:pt x="50" y="45"/>
                    </a:lnTo>
                    <a:lnTo>
                      <a:pt x="46" y="38"/>
                    </a:lnTo>
                    <a:lnTo>
                      <a:pt x="80" y="10"/>
                    </a:lnTo>
                    <a:lnTo>
                      <a:pt x="83" y="9"/>
                    </a:lnTo>
                    <a:lnTo>
                      <a:pt x="7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72" name="Freeform 172">
                <a:extLst>
                  <a:ext uri="{FF2B5EF4-FFF2-40B4-BE49-F238E27FC236}">
                    <a16:creationId xmlns:a16="http://schemas.microsoft.com/office/drawing/2014/main" id="{E1D9442E-5CC5-E33B-2525-2C646E08DC0A}"/>
                  </a:ext>
                </a:extLst>
              </p:cNvPr>
              <p:cNvSpPr>
                <a:spLocks/>
              </p:cNvSpPr>
              <p:nvPr/>
            </p:nvSpPr>
            <p:spPr bwMode="auto">
              <a:xfrm>
                <a:off x="3818" y="1668"/>
                <a:ext cx="27" cy="5"/>
              </a:xfrm>
              <a:custGeom>
                <a:avLst/>
                <a:gdLst>
                  <a:gd name="T0" fmla="*/ 0 w 110"/>
                  <a:gd name="T1" fmla="*/ 11 h 20"/>
                  <a:gd name="T2" fmla="*/ 0 w 110"/>
                  <a:gd name="T3" fmla="*/ 12 h 20"/>
                  <a:gd name="T4" fmla="*/ 3 w 110"/>
                  <a:gd name="T5" fmla="*/ 16 h 20"/>
                  <a:gd name="T6" fmla="*/ 3 w 110"/>
                  <a:gd name="T7" fmla="*/ 17 h 20"/>
                  <a:gd name="T8" fmla="*/ 5 w 110"/>
                  <a:gd name="T9" fmla="*/ 20 h 20"/>
                  <a:gd name="T10" fmla="*/ 8 w 110"/>
                  <a:gd name="T11" fmla="*/ 20 h 20"/>
                  <a:gd name="T12" fmla="*/ 103 w 110"/>
                  <a:gd name="T13" fmla="*/ 20 h 20"/>
                  <a:gd name="T14" fmla="*/ 103 w 110"/>
                  <a:gd name="T15" fmla="*/ 18 h 20"/>
                  <a:gd name="T16" fmla="*/ 107 w 110"/>
                  <a:gd name="T17" fmla="*/ 17 h 20"/>
                  <a:gd name="T18" fmla="*/ 110 w 110"/>
                  <a:gd name="T19" fmla="*/ 15 h 20"/>
                  <a:gd name="T20" fmla="*/ 110 w 110"/>
                  <a:gd name="T21" fmla="*/ 9 h 20"/>
                  <a:gd name="T22" fmla="*/ 110 w 110"/>
                  <a:gd name="T23" fmla="*/ 8 h 20"/>
                  <a:gd name="T24" fmla="*/ 107 w 110"/>
                  <a:gd name="T25" fmla="*/ 2 h 20"/>
                  <a:gd name="T26" fmla="*/ 102 w 110"/>
                  <a:gd name="T27" fmla="*/ 0 h 20"/>
                  <a:gd name="T28" fmla="*/ 8 w 110"/>
                  <a:gd name="T29" fmla="*/ 2 h 20"/>
                  <a:gd name="T30" fmla="*/ 5 w 110"/>
                  <a:gd name="T31" fmla="*/ 2 h 20"/>
                  <a:gd name="T32" fmla="*/ 3 w 110"/>
                  <a:gd name="T33" fmla="*/ 3 h 20"/>
                  <a:gd name="T34" fmla="*/ 3 w 110"/>
                  <a:gd name="T35" fmla="*/ 5 h 20"/>
                  <a:gd name="T36" fmla="*/ 1 w 110"/>
                  <a:gd name="T37" fmla="*/ 7 h 20"/>
                  <a:gd name="T38" fmla="*/ 0 w 110"/>
                  <a:gd name="T39" fmla="*/ 1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 h="20">
                    <a:moveTo>
                      <a:pt x="0" y="11"/>
                    </a:moveTo>
                    <a:lnTo>
                      <a:pt x="0" y="12"/>
                    </a:lnTo>
                    <a:lnTo>
                      <a:pt x="3" y="16"/>
                    </a:lnTo>
                    <a:lnTo>
                      <a:pt x="3" y="17"/>
                    </a:lnTo>
                    <a:lnTo>
                      <a:pt x="5" y="20"/>
                    </a:lnTo>
                    <a:lnTo>
                      <a:pt x="8" y="20"/>
                    </a:lnTo>
                    <a:lnTo>
                      <a:pt x="103" y="20"/>
                    </a:lnTo>
                    <a:lnTo>
                      <a:pt x="103" y="18"/>
                    </a:lnTo>
                    <a:lnTo>
                      <a:pt x="107" y="17"/>
                    </a:lnTo>
                    <a:lnTo>
                      <a:pt x="110" y="15"/>
                    </a:lnTo>
                    <a:lnTo>
                      <a:pt x="110" y="9"/>
                    </a:lnTo>
                    <a:lnTo>
                      <a:pt x="110" y="8"/>
                    </a:lnTo>
                    <a:lnTo>
                      <a:pt x="107" y="2"/>
                    </a:lnTo>
                    <a:lnTo>
                      <a:pt x="102" y="0"/>
                    </a:lnTo>
                    <a:lnTo>
                      <a:pt x="8" y="2"/>
                    </a:lnTo>
                    <a:lnTo>
                      <a:pt x="5" y="2"/>
                    </a:lnTo>
                    <a:lnTo>
                      <a:pt x="3" y="3"/>
                    </a:lnTo>
                    <a:lnTo>
                      <a:pt x="3" y="5"/>
                    </a:lnTo>
                    <a:lnTo>
                      <a:pt x="1" y="7"/>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51373" name="Rectangle 173">
              <a:extLst>
                <a:ext uri="{FF2B5EF4-FFF2-40B4-BE49-F238E27FC236}">
                  <a16:creationId xmlns:a16="http://schemas.microsoft.com/office/drawing/2014/main" id="{072B8E38-DA3D-BB60-C308-C22813861A3F}"/>
                </a:ext>
              </a:extLst>
            </p:cNvPr>
            <p:cNvSpPr>
              <a:spLocks noChangeArrowheads="1"/>
            </p:cNvSpPr>
            <p:nvPr/>
          </p:nvSpPr>
          <p:spPr bwMode="auto">
            <a:xfrm>
              <a:off x="3864" y="1660"/>
              <a:ext cx="8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a:solidFill>
                    <a:srgbClr val="000000"/>
                  </a:solidFill>
                  <a:latin typeface="Verdana" panose="020B0604030504040204" pitchFamily="34" charset="0"/>
                  <a:ea typeface="宋体" panose="02010600030101010101" pitchFamily="2" charset="-122"/>
                </a:rPr>
                <a:t>Spoofing host identity</a:t>
              </a:r>
              <a:endParaRPr lang="en-US" altLang="zh-CN" sz="1800">
                <a:solidFill>
                  <a:schemeClr val="tx1"/>
                </a:solidFill>
                <a:ea typeface="宋体" panose="02010600030101010101" pitchFamily="2" charset="-122"/>
              </a:endParaRPr>
            </a:p>
          </p:txBody>
        </p:sp>
      </p:grpSp>
      <p:sp>
        <p:nvSpPr>
          <p:cNvPr id="51376" name="Freeform 176">
            <a:extLst>
              <a:ext uri="{FF2B5EF4-FFF2-40B4-BE49-F238E27FC236}">
                <a16:creationId xmlns:a16="http://schemas.microsoft.com/office/drawing/2014/main" id="{78A7C282-2573-DC74-795C-4F482A465BA1}"/>
              </a:ext>
            </a:extLst>
          </p:cNvPr>
          <p:cNvSpPr>
            <a:spLocks/>
          </p:cNvSpPr>
          <p:nvPr/>
        </p:nvSpPr>
        <p:spPr bwMode="auto">
          <a:xfrm>
            <a:off x="7991475" y="6399213"/>
            <a:ext cx="68263" cy="42862"/>
          </a:xfrm>
          <a:custGeom>
            <a:avLst/>
            <a:gdLst>
              <a:gd name="T0" fmla="*/ 173 w 173"/>
              <a:gd name="T1" fmla="*/ 106 h 106"/>
              <a:gd name="T2" fmla="*/ 107 w 173"/>
              <a:gd name="T3" fmla="*/ 98 h 106"/>
              <a:gd name="T4" fmla="*/ 98 w 173"/>
              <a:gd name="T5" fmla="*/ 96 h 106"/>
              <a:gd name="T6" fmla="*/ 78 w 173"/>
              <a:gd name="T7" fmla="*/ 88 h 106"/>
              <a:gd name="T8" fmla="*/ 61 w 173"/>
              <a:gd name="T9" fmla="*/ 80 h 106"/>
              <a:gd name="T10" fmla="*/ 45 w 173"/>
              <a:gd name="T11" fmla="*/ 70 h 106"/>
              <a:gd name="T12" fmla="*/ 34 w 173"/>
              <a:gd name="T13" fmla="*/ 60 h 106"/>
              <a:gd name="T14" fmla="*/ 21 w 173"/>
              <a:gd name="T15" fmla="*/ 47 h 106"/>
              <a:gd name="T16" fmla="*/ 12 w 173"/>
              <a:gd name="T17" fmla="*/ 33 h 106"/>
              <a:gd name="T18" fmla="*/ 4 w 173"/>
              <a:gd name="T19" fmla="*/ 17 h 106"/>
              <a:gd name="T20" fmla="*/ 0 w 173"/>
              <a:gd name="T21" fmla="*/ 0 h 106"/>
              <a:gd name="T22" fmla="*/ 3 w 173"/>
              <a:gd name="T23" fmla="*/ 17 h 106"/>
              <a:gd name="T24" fmla="*/ 9 w 173"/>
              <a:gd name="T25" fmla="*/ 33 h 106"/>
              <a:gd name="T26" fmla="*/ 16 w 173"/>
              <a:gd name="T27" fmla="*/ 47 h 106"/>
              <a:gd name="T28" fmla="*/ 26 w 173"/>
              <a:gd name="T29" fmla="*/ 60 h 106"/>
              <a:gd name="T30" fmla="*/ 36 w 173"/>
              <a:gd name="T31" fmla="*/ 70 h 106"/>
              <a:gd name="T32" fmla="*/ 49 w 173"/>
              <a:gd name="T33" fmla="*/ 80 h 106"/>
              <a:gd name="T34" fmla="*/ 64 w 173"/>
              <a:gd name="T35" fmla="*/ 88 h 106"/>
              <a:gd name="T36" fmla="*/ 80 w 173"/>
              <a:gd name="T37" fmla="*/ 96 h 106"/>
              <a:gd name="T38" fmla="*/ 94 w 173"/>
              <a:gd name="T39" fmla="*/ 100 h 106"/>
              <a:gd name="T40" fmla="*/ 111 w 173"/>
              <a:gd name="T41" fmla="*/ 104 h 106"/>
              <a:gd name="T42" fmla="*/ 129 w 173"/>
              <a:gd name="T43" fmla="*/ 105 h 106"/>
              <a:gd name="T44" fmla="*/ 150 w 173"/>
              <a:gd name="T45" fmla="*/ 106 h 106"/>
              <a:gd name="T46" fmla="*/ 173 w 173"/>
              <a:gd name="T47"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106">
                <a:moveTo>
                  <a:pt x="173" y="106"/>
                </a:moveTo>
                <a:lnTo>
                  <a:pt x="107" y="98"/>
                </a:lnTo>
                <a:lnTo>
                  <a:pt x="98" y="96"/>
                </a:lnTo>
                <a:lnTo>
                  <a:pt x="78" y="88"/>
                </a:lnTo>
                <a:lnTo>
                  <a:pt x="61" y="80"/>
                </a:lnTo>
                <a:lnTo>
                  <a:pt x="45" y="70"/>
                </a:lnTo>
                <a:lnTo>
                  <a:pt x="34" y="60"/>
                </a:lnTo>
                <a:lnTo>
                  <a:pt x="21" y="47"/>
                </a:lnTo>
                <a:lnTo>
                  <a:pt x="12" y="33"/>
                </a:lnTo>
                <a:lnTo>
                  <a:pt x="4" y="17"/>
                </a:lnTo>
                <a:lnTo>
                  <a:pt x="0" y="0"/>
                </a:lnTo>
                <a:lnTo>
                  <a:pt x="3" y="17"/>
                </a:lnTo>
                <a:lnTo>
                  <a:pt x="9" y="33"/>
                </a:lnTo>
                <a:lnTo>
                  <a:pt x="16" y="47"/>
                </a:lnTo>
                <a:lnTo>
                  <a:pt x="26" y="60"/>
                </a:lnTo>
                <a:lnTo>
                  <a:pt x="36" y="70"/>
                </a:lnTo>
                <a:lnTo>
                  <a:pt x="49" y="80"/>
                </a:lnTo>
                <a:lnTo>
                  <a:pt x="64" y="88"/>
                </a:lnTo>
                <a:lnTo>
                  <a:pt x="80" y="96"/>
                </a:lnTo>
                <a:lnTo>
                  <a:pt x="94" y="100"/>
                </a:lnTo>
                <a:lnTo>
                  <a:pt x="111" y="104"/>
                </a:lnTo>
                <a:lnTo>
                  <a:pt x="129" y="105"/>
                </a:lnTo>
                <a:lnTo>
                  <a:pt x="150" y="106"/>
                </a:lnTo>
                <a:lnTo>
                  <a:pt x="173" y="106"/>
                </a:lnTo>
                <a:close/>
              </a:path>
            </a:pathLst>
          </a:custGeom>
          <a:solidFill>
            <a:srgbClr val="EFEFE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1387" name="Rectangle 187">
            <a:extLst>
              <a:ext uri="{FF2B5EF4-FFF2-40B4-BE49-F238E27FC236}">
                <a16:creationId xmlns:a16="http://schemas.microsoft.com/office/drawing/2014/main" id="{2EEFCBFD-112C-98B0-D573-BC46F8769A6C}"/>
              </a:ext>
            </a:extLst>
          </p:cNvPr>
          <p:cNvSpPr>
            <a:spLocks noChangeArrowheads="1"/>
          </p:cNvSpPr>
          <p:nvPr/>
        </p:nvSpPr>
        <p:spPr bwMode="auto">
          <a:xfrm>
            <a:off x="4164013" y="5772150"/>
            <a:ext cx="7762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Production</a:t>
            </a:r>
            <a:endParaRPr lang="en-US" altLang="zh-CN" sz="1800">
              <a:solidFill>
                <a:schemeClr val="tx1"/>
              </a:solidFill>
              <a:ea typeface="宋体" panose="02010600030101010101" pitchFamily="2" charset="-122"/>
            </a:endParaRPr>
          </a:p>
        </p:txBody>
      </p:sp>
      <p:sp>
        <p:nvSpPr>
          <p:cNvPr id="51388" name="Rectangle 188">
            <a:extLst>
              <a:ext uri="{FF2B5EF4-FFF2-40B4-BE49-F238E27FC236}">
                <a16:creationId xmlns:a16="http://schemas.microsoft.com/office/drawing/2014/main" id="{48CF48AB-F3BF-AC15-68AF-137A19086EDA}"/>
              </a:ext>
            </a:extLst>
          </p:cNvPr>
          <p:cNvSpPr>
            <a:spLocks noChangeArrowheads="1"/>
          </p:cNvSpPr>
          <p:nvPr/>
        </p:nvSpPr>
        <p:spPr bwMode="auto">
          <a:xfrm>
            <a:off x="4060825" y="5942013"/>
            <a:ext cx="11318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Storage Array A</a:t>
            </a:r>
            <a:endParaRPr lang="en-US" altLang="zh-CN" sz="1800">
              <a:solidFill>
                <a:schemeClr val="tx1"/>
              </a:solidFill>
              <a:ea typeface="宋体" panose="02010600030101010101" pitchFamily="2" charset="-122"/>
            </a:endParaRPr>
          </a:p>
        </p:txBody>
      </p:sp>
      <p:sp>
        <p:nvSpPr>
          <p:cNvPr id="51389" name="Rectangle 189">
            <a:extLst>
              <a:ext uri="{FF2B5EF4-FFF2-40B4-BE49-F238E27FC236}">
                <a16:creationId xmlns:a16="http://schemas.microsoft.com/office/drawing/2014/main" id="{1F39E669-16BD-7D2F-0753-9B6A79C935BB}"/>
              </a:ext>
            </a:extLst>
          </p:cNvPr>
          <p:cNvSpPr>
            <a:spLocks noChangeArrowheads="1"/>
          </p:cNvSpPr>
          <p:nvPr/>
        </p:nvSpPr>
        <p:spPr bwMode="auto">
          <a:xfrm>
            <a:off x="6046788" y="5848350"/>
            <a:ext cx="5476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Remote</a:t>
            </a:r>
            <a:endParaRPr lang="en-US" altLang="zh-CN" sz="1800">
              <a:solidFill>
                <a:schemeClr val="tx1"/>
              </a:solidFill>
              <a:ea typeface="宋体" panose="02010600030101010101" pitchFamily="2" charset="-122"/>
            </a:endParaRPr>
          </a:p>
        </p:txBody>
      </p:sp>
      <p:sp>
        <p:nvSpPr>
          <p:cNvPr id="51390" name="Rectangle 190">
            <a:extLst>
              <a:ext uri="{FF2B5EF4-FFF2-40B4-BE49-F238E27FC236}">
                <a16:creationId xmlns:a16="http://schemas.microsoft.com/office/drawing/2014/main" id="{2BEF83EB-BEB2-DB34-241B-6A5C4C8BD68F}"/>
              </a:ext>
            </a:extLst>
          </p:cNvPr>
          <p:cNvSpPr>
            <a:spLocks noChangeArrowheads="1"/>
          </p:cNvSpPr>
          <p:nvPr/>
        </p:nvSpPr>
        <p:spPr bwMode="auto">
          <a:xfrm>
            <a:off x="5830888" y="6018213"/>
            <a:ext cx="11303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Storage Array B</a:t>
            </a:r>
            <a:endParaRPr lang="en-US" altLang="zh-CN" sz="1800">
              <a:solidFill>
                <a:schemeClr val="tx1"/>
              </a:solidFill>
              <a:ea typeface="宋体" panose="02010600030101010101" pitchFamily="2" charset="-122"/>
            </a:endParaRPr>
          </a:p>
        </p:txBody>
      </p:sp>
      <p:sp>
        <p:nvSpPr>
          <p:cNvPr id="51391" name="Rectangle 191">
            <a:extLst>
              <a:ext uri="{FF2B5EF4-FFF2-40B4-BE49-F238E27FC236}">
                <a16:creationId xmlns:a16="http://schemas.microsoft.com/office/drawing/2014/main" id="{269D9ADD-1056-2513-F830-E7715BCCBC2A}"/>
              </a:ext>
            </a:extLst>
          </p:cNvPr>
          <p:cNvSpPr>
            <a:spLocks noChangeArrowheads="1"/>
          </p:cNvSpPr>
          <p:nvPr/>
        </p:nvSpPr>
        <p:spPr bwMode="auto">
          <a:xfrm>
            <a:off x="3757613" y="6216650"/>
            <a:ext cx="1616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Storage Infrastructure</a:t>
            </a:r>
            <a:endParaRPr lang="en-US" altLang="zh-CN" sz="1800">
              <a:solidFill>
                <a:schemeClr val="tx1"/>
              </a:solidFill>
              <a:ea typeface="宋体" panose="02010600030101010101" pitchFamily="2" charset="-122"/>
            </a:endParaRPr>
          </a:p>
        </p:txBody>
      </p:sp>
      <p:pic>
        <p:nvPicPr>
          <p:cNvPr id="51392" name="Picture 192">
            <a:extLst>
              <a:ext uri="{FF2B5EF4-FFF2-40B4-BE49-F238E27FC236}">
                <a16:creationId xmlns:a16="http://schemas.microsoft.com/office/drawing/2014/main" id="{F1B13A39-CF4A-E3FA-A1B7-B465F36DF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7675" y="1598613"/>
            <a:ext cx="557213" cy="946150"/>
          </a:xfrm>
          <a:prstGeom prst="rect">
            <a:avLst/>
          </a:prstGeom>
          <a:noFill/>
          <a:extLst>
            <a:ext uri="{909E8E84-426E-40DD-AFC4-6F175D3DCCD1}">
              <a14:hiddenFill xmlns:a14="http://schemas.microsoft.com/office/drawing/2010/main">
                <a:solidFill>
                  <a:srgbClr val="FFFFFF"/>
                </a:solidFill>
              </a14:hiddenFill>
            </a:ext>
          </a:extLst>
        </p:spPr>
      </p:pic>
      <p:sp>
        <p:nvSpPr>
          <p:cNvPr id="51393" name="AutoShape 193">
            <a:extLst>
              <a:ext uri="{FF2B5EF4-FFF2-40B4-BE49-F238E27FC236}">
                <a16:creationId xmlns:a16="http://schemas.microsoft.com/office/drawing/2014/main" id="{3838B7D1-CFC5-0028-78BB-4F80B9FC9890}"/>
              </a:ext>
            </a:extLst>
          </p:cNvPr>
          <p:cNvSpPr>
            <a:spLocks noChangeArrowheads="1"/>
          </p:cNvSpPr>
          <p:nvPr/>
        </p:nvSpPr>
        <p:spPr bwMode="auto">
          <a:xfrm>
            <a:off x="1163638" y="4084638"/>
            <a:ext cx="990600" cy="1371600"/>
          </a:xfrm>
          <a:prstGeom prst="roundRect">
            <a:avLst>
              <a:gd name="adj" fmla="val 16667"/>
            </a:avLst>
          </a:prstGeom>
          <a:solidFill>
            <a:srgbClr val="99CCFF"/>
          </a:solidFill>
          <a:ln w="25400">
            <a:solidFill>
              <a:schemeClr val="accent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51394" name="Group 194">
            <a:extLst>
              <a:ext uri="{FF2B5EF4-FFF2-40B4-BE49-F238E27FC236}">
                <a16:creationId xmlns:a16="http://schemas.microsoft.com/office/drawing/2014/main" id="{CF1EFE03-897E-67B5-EF9F-B1C34A3D3E6B}"/>
              </a:ext>
            </a:extLst>
          </p:cNvPr>
          <p:cNvGrpSpPr>
            <a:grpSpLocks/>
          </p:cNvGrpSpPr>
          <p:nvPr/>
        </p:nvGrpSpPr>
        <p:grpSpPr bwMode="auto">
          <a:xfrm>
            <a:off x="1277938" y="4252913"/>
            <a:ext cx="762000" cy="1069975"/>
            <a:chOff x="705" y="2716"/>
            <a:chExt cx="543" cy="788"/>
          </a:xfrm>
        </p:grpSpPr>
        <p:pic>
          <p:nvPicPr>
            <p:cNvPr id="51395" name="Picture 195">
              <a:extLst>
                <a:ext uri="{FF2B5EF4-FFF2-40B4-BE49-F238E27FC236}">
                  <a16:creationId xmlns:a16="http://schemas.microsoft.com/office/drawing/2014/main" id="{57B480A5-2B7E-B62E-D3C0-20237507A2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 y="2716"/>
              <a:ext cx="351" cy="596"/>
            </a:xfrm>
            <a:prstGeom prst="rect">
              <a:avLst/>
            </a:prstGeom>
            <a:noFill/>
            <a:extLst>
              <a:ext uri="{909E8E84-426E-40DD-AFC4-6F175D3DCCD1}">
                <a14:hiddenFill xmlns:a14="http://schemas.microsoft.com/office/drawing/2010/main">
                  <a:solidFill>
                    <a:srgbClr val="FFFFFF"/>
                  </a:solidFill>
                </a14:hiddenFill>
              </a:ext>
            </a:extLst>
          </p:spPr>
        </p:pic>
        <p:pic>
          <p:nvPicPr>
            <p:cNvPr id="51396" name="Picture 196">
              <a:extLst>
                <a:ext uri="{FF2B5EF4-FFF2-40B4-BE49-F238E27FC236}">
                  <a16:creationId xmlns:a16="http://schemas.microsoft.com/office/drawing/2014/main" id="{0F0A7CB8-A65A-5998-1ADA-D2BFAED73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 y="2812"/>
              <a:ext cx="351" cy="596"/>
            </a:xfrm>
            <a:prstGeom prst="rect">
              <a:avLst/>
            </a:prstGeom>
            <a:noFill/>
            <a:extLst>
              <a:ext uri="{909E8E84-426E-40DD-AFC4-6F175D3DCCD1}">
                <a14:hiddenFill xmlns:a14="http://schemas.microsoft.com/office/drawing/2010/main">
                  <a:solidFill>
                    <a:srgbClr val="FFFFFF"/>
                  </a:solidFill>
                </a14:hiddenFill>
              </a:ext>
            </a:extLst>
          </p:spPr>
        </p:pic>
        <p:pic>
          <p:nvPicPr>
            <p:cNvPr id="51397" name="Picture 197">
              <a:extLst>
                <a:ext uri="{FF2B5EF4-FFF2-40B4-BE49-F238E27FC236}">
                  <a16:creationId xmlns:a16="http://schemas.microsoft.com/office/drawing/2014/main" id="{67F0E91D-2237-B02B-71DA-4996B9C72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 y="2908"/>
              <a:ext cx="351" cy="59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1398" name="AutoShape 198">
            <a:extLst>
              <a:ext uri="{FF2B5EF4-FFF2-40B4-BE49-F238E27FC236}">
                <a16:creationId xmlns:a16="http://schemas.microsoft.com/office/drawing/2014/main" id="{625ACE72-C176-C94A-E10E-68471EBC3868}"/>
              </a:ext>
            </a:extLst>
          </p:cNvPr>
          <p:cNvCxnSpPr>
            <a:cxnSpLocks noChangeShapeType="1"/>
            <a:stCxn id="51393" idx="3"/>
            <a:endCxn id="51400" idx="1"/>
          </p:cNvCxnSpPr>
          <p:nvPr/>
        </p:nvCxnSpPr>
        <p:spPr bwMode="auto">
          <a:xfrm>
            <a:off x="2166938" y="4770438"/>
            <a:ext cx="347662" cy="0"/>
          </a:xfrm>
          <a:prstGeom prst="straightConnector1">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1399" name="Group 199">
            <a:extLst>
              <a:ext uri="{FF2B5EF4-FFF2-40B4-BE49-F238E27FC236}">
                <a16:creationId xmlns:a16="http://schemas.microsoft.com/office/drawing/2014/main" id="{488DD0D2-924F-3C62-BE65-84FBC551D20C}"/>
              </a:ext>
            </a:extLst>
          </p:cNvPr>
          <p:cNvGrpSpPr>
            <a:grpSpLocks/>
          </p:cNvGrpSpPr>
          <p:nvPr/>
        </p:nvGrpSpPr>
        <p:grpSpPr bwMode="auto">
          <a:xfrm>
            <a:off x="2514600" y="4618038"/>
            <a:ext cx="838200" cy="304800"/>
            <a:chOff x="1440" y="2112"/>
            <a:chExt cx="768" cy="288"/>
          </a:xfrm>
        </p:grpSpPr>
        <p:sp>
          <p:nvSpPr>
            <p:cNvPr id="51400" name="AutoShape 200">
              <a:extLst>
                <a:ext uri="{FF2B5EF4-FFF2-40B4-BE49-F238E27FC236}">
                  <a16:creationId xmlns:a16="http://schemas.microsoft.com/office/drawing/2014/main" id="{15C725FE-4867-0724-0650-4C9BE0B5B7C4}"/>
                </a:ext>
              </a:extLst>
            </p:cNvPr>
            <p:cNvSpPr>
              <a:spLocks noChangeArrowheads="1"/>
            </p:cNvSpPr>
            <p:nvPr/>
          </p:nvSpPr>
          <p:spPr bwMode="auto">
            <a:xfrm>
              <a:off x="1440" y="2112"/>
              <a:ext cx="768" cy="288"/>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51401" name="Freeform 201">
              <a:extLst>
                <a:ext uri="{FF2B5EF4-FFF2-40B4-BE49-F238E27FC236}">
                  <a16:creationId xmlns:a16="http://schemas.microsoft.com/office/drawing/2014/main" id="{82C7193E-08E7-BDC5-82C7-9429FC4A8BCC}"/>
                </a:ext>
              </a:extLst>
            </p:cNvPr>
            <p:cNvSpPr>
              <a:spLocks/>
            </p:cNvSpPr>
            <p:nvPr/>
          </p:nvSpPr>
          <p:spPr bwMode="auto">
            <a:xfrm>
              <a:off x="1536" y="2179"/>
              <a:ext cx="294"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402" name="Freeform 202">
              <a:extLst>
                <a:ext uri="{FF2B5EF4-FFF2-40B4-BE49-F238E27FC236}">
                  <a16:creationId xmlns:a16="http://schemas.microsoft.com/office/drawing/2014/main" id="{64C2535F-66EC-DD35-44AF-EBFDE938E9B9}"/>
                </a:ext>
              </a:extLst>
            </p:cNvPr>
            <p:cNvSpPr>
              <a:spLocks/>
            </p:cNvSpPr>
            <p:nvPr/>
          </p:nvSpPr>
          <p:spPr bwMode="auto">
            <a:xfrm>
              <a:off x="1536" y="2280"/>
              <a:ext cx="294"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403" name="Freeform 203">
              <a:extLst>
                <a:ext uri="{FF2B5EF4-FFF2-40B4-BE49-F238E27FC236}">
                  <a16:creationId xmlns:a16="http://schemas.microsoft.com/office/drawing/2014/main" id="{5CC78BF0-7DD7-C6ED-3CBB-527546F7B855}"/>
                </a:ext>
              </a:extLst>
            </p:cNvPr>
            <p:cNvSpPr>
              <a:spLocks/>
            </p:cNvSpPr>
            <p:nvPr/>
          </p:nvSpPr>
          <p:spPr bwMode="auto">
            <a:xfrm flipH="1">
              <a:off x="1829" y="2232"/>
              <a:ext cx="294"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404" name="Freeform 204">
              <a:extLst>
                <a:ext uri="{FF2B5EF4-FFF2-40B4-BE49-F238E27FC236}">
                  <a16:creationId xmlns:a16="http://schemas.microsoft.com/office/drawing/2014/main" id="{D67D5C36-D641-BB1A-EA08-F4521069CFC9}"/>
                </a:ext>
              </a:extLst>
            </p:cNvPr>
            <p:cNvSpPr>
              <a:spLocks/>
            </p:cNvSpPr>
            <p:nvPr/>
          </p:nvSpPr>
          <p:spPr bwMode="auto">
            <a:xfrm flipH="1">
              <a:off x="1829" y="2333"/>
              <a:ext cx="294"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pic>
        <p:nvPicPr>
          <p:cNvPr id="51405" name="Picture 205">
            <a:extLst>
              <a:ext uri="{FF2B5EF4-FFF2-40B4-BE49-F238E27FC236}">
                <a16:creationId xmlns:a16="http://schemas.microsoft.com/office/drawing/2014/main" id="{F670E576-A7D9-47E3-3841-2D454318B6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4113213"/>
            <a:ext cx="1274763" cy="1676400"/>
          </a:xfrm>
          <a:prstGeom prst="rect">
            <a:avLst/>
          </a:prstGeom>
          <a:noFill/>
          <a:extLst>
            <a:ext uri="{909E8E84-426E-40DD-AFC4-6F175D3DCCD1}">
              <a14:hiddenFill xmlns:a14="http://schemas.microsoft.com/office/drawing/2010/main">
                <a:solidFill>
                  <a:srgbClr val="FFFFFF"/>
                </a:solidFill>
              </a14:hiddenFill>
            </a:ext>
          </a:extLst>
        </p:spPr>
      </p:pic>
      <p:pic>
        <p:nvPicPr>
          <p:cNvPr id="51406" name="Picture 206">
            <a:extLst>
              <a:ext uri="{FF2B5EF4-FFF2-40B4-BE49-F238E27FC236}">
                <a16:creationId xmlns:a16="http://schemas.microsoft.com/office/drawing/2014/main" id="{E834D323-4CD3-7575-B7F0-7176342121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200" y="4113213"/>
            <a:ext cx="1274763" cy="1676400"/>
          </a:xfrm>
          <a:prstGeom prst="rect">
            <a:avLst/>
          </a:prstGeom>
          <a:noFill/>
          <a:extLst>
            <a:ext uri="{909E8E84-426E-40DD-AFC4-6F175D3DCCD1}">
              <a14:hiddenFill xmlns:a14="http://schemas.microsoft.com/office/drawing/2010/main">
                <a:solidFill>
                  <a:srgbClr val="FFFFFF"/>
                </a:solidFill>
              </a14:hiddenFill>
            </a:ext>
          </a:extLst>
        </p:spPr>
      </p:pic>
      <p:grpSp>
        <p:nvGrpSpPr>
          <p:cNvPr id="51455" name="Group 255">
            <a:extLst>
              <a:ext uri="{FF2B5EF4-FFF2-40B4-BE49-F238E27FC236}">
                <a16:creationId xmlns:a16="http://schemas.microsoft.com/office/drawing/2014/main" id="{4C9986C6-4E56-9277-FB9E-17DB48934FA7}"/>
              </a:ext>
            </a:extLst>
          </p:cNvPr>
          <p:cNvGrpSpPr>
            <a:grpSpLocks/>
          </p:cNvGrpSpPr>
          <p:nvPr/>
        </p:nvGrpSpPr>
        <p:grpSpPr bwMode="auto">
          <a:xfrm>
            <a:off x="6400800" y="2894013"/>
            <a:ext cx="1641475" cy="946150"/>
            <a:chOff x="4032" y="1823"/>
            <a:chExt cx="1034" cy="596"/>
          </a:xfrm>
        </p:grpSpPr>
        <p:sp>
          <p:nvSpPr>
            <p:cNvPr id="51357" name="Rectangle 157">
              <a:extLst>
                <a:ext uri="{FF2B5EF4-FFF2-40B4-BE49-F238E27FC236}">
                  <a16:creationId xmlns:a16="http://schemas.microsoft.com/office/drawing/2014/main" id="{D9FD04EC-83E5-64F0-0993-949ED4942197}"/>
                </a:ext>
              </a:extLst>
            </p:cNvPr>
            <p:cNvSpPr>
              <a:spLocks noChangeArrowheads="1"/>
            </p:cNvSpPr>
            <p:nvPr/>
          </p:nvSpPr>
          <p:spPr bwMode="auto">
            <a:xfrm>
              <a:off x="4408" y="2179"/>
              <a:ext cx="65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Unauthorized  </a:t>
              </a:r>
              <a:endParaRPr lang="en-US" altLang="zh-CN" sz="1800">
                <a:solidFill>
                  <a:schemeClr val="tx1"/>
                </a:solidFill>
                <a:ea typeface="宋体" panose="02010600030101010101" pitchFamily="2" charset="-122"/>
              </a:endParaRPr>
            </a:p>
          </p:txBody>
        </p:sp>
        <p:sp>
          <p:nvSpPr>
            <p:cNvPr id="51358" name="Rectangle 158">
              <a:extLst>
                <a:ext uri="{FF2B5EF4-FFF2-40B4-BE49-F238E27FC236}">
                  <a16:creationId xmlns:a16="http://schemas.microsoft.com/office/drawing/2014/main" id="{FF25348F-6FAF-7D77-934F-39128DB40432}"/>
                </a:ext>
              </a:extLst>
            </p:cNvPr>
            <p:cNvSpPr>
              <a:spLocks noChangeArrowheads="1"/>
            </p:cNvSpPr>
            <p:nvPr/>
          </p:nvSpPr>
          <p:spPr bwMode="auto">
            <a:xfrm>
              <a:off x="4601" y="2285"/>
              <a:ext cx="23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Host </a:t>
              </a:r>
              <a:endParaRPr lang="en-US" altLang="zh-CN" sz="1800">
                <a:solidFill>
                  <a:schemeClr val="tx1"/>
                </a:solidFill>
                <a:ea typeface="宋体" panose="02010600030101010101" pitchFamily="2" charset="-122"/>
              </a:endParaRPr>
            </a:p>
          </p:txBody>
        </p:sp>
        <p:pic>
          <p:nvPicPr>
            <p:cNvPr id="51407" name="Picture 207">
              <a:extLst>
                <a:ext uri="{FF2B5EF4-FFF2-40B4-BE49-F238E27FC236}">
                  <a16:creationId xmlns:a16="http://schemas.microsoft.com/office/drawing/2014/main" id="{2F5ECF27-D936-C268-2D81-AC4003EC8D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 y="1823"/>
              <a:ext cx="351" cy="596"/>
            </a:xfrm>
            <a:prstGeom prst="rect">
              <a:avLst/>
            </a:prstGeom>
            <a:noFill/>
            <a:extLst>
              <a:ext uri="{909E8E84-426E-40DD-AFC4-6F175D3DCCD1}">
                <a14:hiddenFill xmlns:a14="http://schemas.microsoft.com/office/drawing/2010/main">
                  <a:solidFill>
                    <a:srgbClr val="FFFFFF"/>
                  </a:solidFill>
                </a14:hiddenFill>
              </a:ext>
            </a:extLst>
          </p:spPr>
        </p:pic>
      </p:grpSp>
      <p:sp>
        <p:nvSpPr>
          <p:cNvPr id="51408" name="Freeform 208">
            <a:extLst>
              <a:ext uri="{FF2B5EF4-FFF2-40B4-BE49-F238E27FC236}">
                <a16:creationId xmlns:a16="http://schemas.microsoft.com/office/drawing/2014/main" id="{53570D05-57CE-E1E0-0143-99673FA54906}"/>
              </a:ext>
            </a:extLst>
          </p:cNvPr>
          <p:cNvSpPr>
            <a:spLocks/>
          </p:cNvSpPr>
          <p:nvPr/>
        </p:nvSpPr>
        <p:spPr bwMode="auto">
          <a:xfrm>
            <a:off x="4048125" y="3095625"/>
            <a:ext cx="904875" cy="585788"/>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51409" name="Rectangle 209">
            <a:extLst>
              <a:ext uri="{FF2B5EF4-FFF2-40B4-BE49-F238E27FC236}">
                <a16:creationId xmlns:a16="http://schemas.microsoft.com/office/drawing/2014/main" id="{E2117A5C-7A72-772C-5149-B7F6EE9D6858}"/>
              </a:ext>
            </a:extLst>
          </p:cNvPr>
          <p:cNvSpPr>
            <a:spLocks noChangeArrowheads="1"/>
          </p:cNvSpPr>
          <p:nvPr/>
        </p:nvSpPr>
        <p:spPr bwMode="auto">
          <a:xfrm>
            <a:off x="4384675" y="3335338"/>
            <a:ext cx="3032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a:solidFill>
                  <a:srgbClr val="000000"/>
                </a:solidFill>
                <a:latin typeface="Verdana" panose="020B0604030504040204" pitchFamily="34" charset="0"/>
                <a:ea typeface="宋体" panose="02010600030101010101" pitchFamily="2" charset="-122"/>
              </a:rPr>
              <a:t>LAN</a:t>
            </a:r>
            <a:endParaRPr lang="en-US" altLang="zh-CN" sz="1800">
              <a:solidFill>
                <a:schemeClr val="tx1"/>
              </a:solidFill>
              <a:ea typeface="宋体" panose="02010600030101010101" pitchFamily="2" charset="-122"/>
            </a:endParaRPr>
          </a:p>
        </p:txBody>
      </p:sp>
      <p:sp>
        <p:nvSpPr>
          <p:cNvPr id="51410" name="Line 210">
            <a:extLst>
              <a:ext uri="{FF2B5EF4-FFF2-40B4-BE49-F238E27FC236}">
                <a16:creationId xmlns:a16="http://schemas.microsoft.com/office/drawing/2014/main" id="{A317FE56-3A6E-2122-B0CC-E844F4103DEB}"/>
              </a:ext>
            </a:extLst>
          </p:cNvPr>
          <p:cNvSpPr>
            <a:spLocks noChangeShapeType="1"/>
          </p:cNvSpPr>
          <p:nvPr/>
        </p:nvSpPr>
        <p:spPr bwMode="auto">
          <a:xfrm flipH="1">
            <a:off x="4953000" y="3351213"/>
            <a:ext cx="1447800" cy="0"/>
          </a:xfrm>
          <a:prstGeom prst="line">
            <a:avLst/>
          </a:prstGeom>
          <a:noFill/>
          <a:ln w="25400" cap="rnd">
            <a:solidFill>
              <a:schemeClr val="tx1"/>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1411" name="Line 211">
            <a:extLst>
              <a:ext uri="{FF2B5EF4-FFF2-40B4-BE49-F238E27FC236}">
                <a16:creationId xmlns:a16="http://schemas.microsoft.com/office/drawing/2014/main" id="{59F7C46D-5EF4-A95C-7717-6E2A0655E1C8}"/>
              </a:ext>
            </a:extLst>
          </p:cNvPr>
          <p:cNvSpPr>
            <a:spLocks noChangeShapeType="1"/>
          </p:cNvSpPr>
          <p:nvPr/>
        </p:nvSpPr>
        <p:spPr bwMode="auto">
          <a:xfrm>
            <a:off x="3200400" y="3503613"/>
            <a:ext cx="2971800" cy="685800"/>
          </a:xfrm>
          <a:prstGeom prst="line">
            <a:avLst/>
          </a:prstGeom>
          <a:noFill/>
          <a:ln w="25400" cap="rnd">
            <a:solidFill>
              <a:schemeClr val="tx1"/>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51412" name="Picture 212">
            <a:extLst>
              <a:ext uri="{FF2B5EF4-FFF2-40B4-BE49-F238E27FC236}">
                <a16:creationId xmlns:a16="http://schemas.microsoft.com/office/drawing/2014/main" id="{D7CE9341-EA3C-E316-47D2-A6DFF05C50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3988" y="2874963"/>
            <a:ext cx="557212" cy="946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1455"/>
                                        </p:tgtEl>
                                        <p:attrNameLst>
                                          <p:attrName>style.visibility</p:attrName>
                                        </p:attrNameLst>
                                      </p:cBhvr>
                                      <p:to>
                                        <p:strVal val="visible"/>
                                      </p:to>
                                    </p:set>
                                    <p:animEffect transition="in" filter="fade">
                                      <p:cBhvr>
                                        <p:cTn id="7" dur="2000"/>
                                        <p:tgtEl>
                                          <p:spTgt spid="51455"/>
                                        </p:tgtEl>
                                      </p:cBhvr>
                                    </p:animEffect>
                                  </p:childTnLst>
                                </p:cTn>
                              </p:par>
                            </p:childTnLst>
                          </p:cTn>
                        </p:par>
                        <p:par>
                          <p:cTn id="8" fill="hold" nodeType="afterGroup">
                            <p:stCondLst>
                              <p:cond delay="2000"/>
                            </p:stCondLst>
                            <p:childTnLst>
                              <p:par>
                                <p:cTn id="9" presetID="22" presetClass="entr" presetSubtype="2" fill="hold" nodeType="afterEffect">
                                  <p:stCondLst>
                                    <p:cond delay="0"/>
                                  </p:stCondLst>
                                  <p:childTnLst>
                                    <p:set>
                                      <p:cBhvr>
                                        <p:cTn id="10" dur="1" fill="hold">
                                          <p:stCondLst>
                                            <p:cond delay="0"/>
                                          </p:stCondLst>
                                        </p:cTn>
                                        <p:tgtEl>
                                          <p:spTgt spid="51410"/>
                                        </p:tgtEl>
                                        <p:attrNameLst>
                                          <p:attrName>style.visibility</p:attrName>
                                        </p:attrNameLst>
                                      </p:cBhvr>
                                      <p:to>
                                        <p:strVal val="visible"/>
                                      </p:to>
                                    </p:set>
                                    <p:animEffect transition="in" filter="wipe(right)">
                                      <p:cBhvr>
                                        <p:cTn id="11" dur="1000"/>
                                        <p:tgtEl>
                                          <p:spTgt spid="51410"/>
                                        </p:tgtEl>
                                      </p:cBhvr>
                                    </p:animEffect>
                                  </p:childTnLst>
                                </p:cTn>
                              </p:par>
                            </p:childTnLst>
                          </p:cTn>
                        </p:par>
                        <p:par>
                          <p:cTn id="12" fill="hold" nodeType="afterGroup">
                            <p:stCondLst>
                              <p:cond delay="3000"/>
                            </p:stCondLst>
                            <p:childTnLst>
                              <p:par>
                                <p:cTn id="13" presetID="1" presetClass="entr" presetSubtype="0" fill="hold" nodeType="afterEffect">
                                  <p:stCondLst>
                                    <p:cond delay="1000"/>
                                  </p:stCondLst>
                                  <p:childTnLst>
                                    <p:set>
                                      <p:cBhvr>
                                        <p:cTn id="14" dur="1" fill="hold">
                                          <p:stCondLst>
                                            <p:cond delay="0"/>
                                          </p:stCondLst>
                                        </p:cTn>
                                        <p:tgtEl>
                                          <p:spTgt spid="5145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51411"/>
                                        </p:tgtEl>
                                        <p:attrNameLst>
                                          <p:attrName>style.visibility</p:attrName>
                                        </p:attrNameLst>
                                      </p:cBhvr>
                                      <p:to>
                                        <p:strVal val="visible"/>
                                      </p:to>
                                    </p:set>
                                    <p:animEffect transition="in" filter="wipe(left)">
                                      <p:cBhvr>
                                        <p:cTn id="19" dur="1000"/>
                                        <p:tgtEl>
                                          <p:spTgt spid="51411"/>
                                        </p:tgtEl>
                                      </p:cBhvr>
                                    </p:animEffect>
                                  </p:childTnLst>
                                </p:cTn>
                              </p:par>
                            </p:childTnLst>
                          </p:cTn>
                        </p:par>
                        <p:par>
                          <p:cTn id="20" fill="hold" nodeType="afterGroup">
                            <p:stCondLst>
                              <p:cond delay="1000"/>
                            </p:stCondLst>
                            <p:childTnLst>
                              <p:par>
                                <p:cTn id="21" presetID="1" presetClass="entr" presetSubtype="0" fill="hold" nodeType="afterEffect">
                                  <p:stCondLst>
                                    <p:cond delay="1000"/>
                                  </p:stCondLst>
                                  <p:childTnLst>
                                    <p:set>
                                      <p:cBhvr>
                                        <p:cTn id="22" dur="1" fill="hold">
                                          <p:stCondLst>
                                            <p:cond delay="0"/>
                                          </p:stCondLst>
                                        </p:cTn>
                                        <p:tgtEl>
                                          <p:spTgt spid="51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E997A77B-5920-75F8-F1E5-5A1666531BFA}"/>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629870C8-E31E-E7DB-EAE3-A86371796B34}"/>
              </a:ext>
            </a:extLst>
          </p:cNvPr>
          <p:cNvSpPr>
            <a:spLocks noGrp="1"/>
          </p:cNvSpPr>
          <p:nvPr>
            <p:ph type="sldNum" sz="quarter" idx="11"/>
          </p:nvPr>
        </p:nvSpPr>
        <p:spPr/>
        <p:txBody>
          <a:bodyPr/>
          <a:lstStyle/>
          <a:p>
            <a:r>
              <a:rPr lang="zh-CN" altLang="en-US"/>
              <a:t> </a:t>
            </a:r>
            <a:r>
              <a:rPr lang="en-US" altLang="zh-CN"/>
              <a:t>- </a:t>
            </a:r>
            <a:fld id="{19B3032F-F706-4280-9763-9FA8AFE152E1}" type="slidenum">
              <a:rPr lang="en-US" altLang="zh-CN" sz="800"/>
              <a:pPr/>
              <a:t>20</a:t>
            </a:fld>
            <a:endParaRPr lang="en-US" altLang="zh-CN" sz="800"/>
          </a:p>
        </p:txBody>
      </p:sp>
      <p:sp>
        <p:nvSpPr>
          <p:cNvPr id="52226" name="Rectangle 2">
            <a:extLst>
              <a:ext uri="{FF2B5EF4-FFF2-40B4-BE49-F238E27FC236}">
                <a16:creationId xmlns:a16="http://schemas.microsoft.com/office/drawing/2014/main" id="{656D75E5-1ABA-3366-B622-5651AB606510}"/>
              </a:ext>
            </a:extLst>
          </p:cNvPr>
          <p:cNvSpPr>
            <a:spLocks noGrp="1" noChangeArrowheads="1"/>
          </p:cNvSpPr>
          <p:nvPr>
            <p:ph type="title"/>
          </p:nvPr>
        </p:nvSpPr>
        <p:spPr/>
        <p:txBody>
          <a:bodyPr/>
          <a:lstStyle/>
          <a:p>
            <a:r>
              <a:rPr lang="en-US" altLang="zh-CN">
                <a:ea typeface="宋体" panose="02010600030101010101" pitchFamily="2" charset="-122"/>
              </a:rPr>
              <a:t>Securing the Management Access Domain</a:t>
            </a:r>
          </a:p>
        </p:txBody>
      </p:sp>
      <p:sp>
        <p:nvSpPr>
          <p:cNvPr id="52228" name="AutoShape 4">
            <a:extLst>
              <a:ext uri="{FF2B5EF4-FFF2-40B4-BE49-F238E27FC236}">
                <a16:creationId xmlns:a16="http://schemas.microsoft.com/office/drawing/2014/main" id="{95F85EDF-1257-F715-A18C-92BCE0A2E252}"/>
              </a:ext>
            </a:extLst>
          </p:cNvPr>
          <p:cNvSpPr>
            <a:spLocks noChangeArrowheads="1"/>
          </p:cNvSpPr>
          <p:nvPr/>
        </p:nvSpPr>
        <p:spPr bwMode="gray">
          <a:xfrm>
            <a:off x="228600" y="1871663"/>
            <a:ext cx="1371600" cy="1219200"/>
          </a:xfrm>
          <a:prstGeom prst="homePlate">
            <a:avLst>
              <a:gd name="adj" fmla="val 28125"/>
            </a:avLst>
          </a:prstGeom>
          <a:gradFill rotWithShape="1">
            <a:gsLst>
              <a:gs pos="0">
                <a:schemeClr val="accent2"/>
              </a:gs>
              <a:gs pos="100000">
                <a:schemeClr val="accent2">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4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Threats</a:t>
            </a:r>
          </a:p>
        </p:txBody>
      </p:sp>
      <p:sp>
        <p:nvSpPr>
          <p:cNvPr id="52229" name="AutoShape 5">
            <a:extLst>
              <a:ext uri="{FF2B5EF4-FFF2-40B4-BE49-F238E27FC236}">
                <a16:creationId xmlns:a16="http://schemas.microsoft.com/office/drawing/2014/main" id="{6959A2D3-0856-440D-624E-90DF3A326111}"/>
              </a:ext>
            </a:extLst>
          </p:cNvPr>
          <p:cNvSpPr>
            <a:spLocks noChangeArrowheads="1"/>
          </p:cNvSpPr>
          <p:nvPr/>
        </p:nvSpPr>
        <p:spPr bwMode="gray">
          <a:xfrm>
            <a:off x="228600" y="3481388"/>
            <a:ext cx="1524000" cy="1219200"/>
          </a:xfrm>
          <a:prstGeom prst="homePlate">
            <a:avLst>
              <a:gd name="adj" fmla="val 28125"/>
            </a:avLst>
          </a:prstGeom>
          <a:gradFill rotWithShape="1">
            <a:gsLst>
              <a:gs pos="0">
                <a:schemeClr val="hlink"/>
              </a:gs>
              <a:gs pos="100000">
                <a:schemeClr val="hlink">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400" dirty="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Available Controls</a:t>
            </a:r>
          </a:p>
        </p:txBody>
      </p:sp>
      <p:sp>
        <p:nvSpPr>
          <p:cNvPr id="52230" name="AutoShape 6">
            <a:extLst>
              <a:ext uri="{FF2B5EF4-FFF2-40B4-BE49-F238E27FC236}">
                <a16:creationId xmlns:a16="http://schemas.microsoft.com/office/drawing/2014/main" id="{C89FA074-22E0-ED9C-0961-3618609F6FF2}"/>
              </a:ext>
            </a:extLst>
          </p:cNvPr>
          <p:cNvSpPr>
            <a:spLocks noChangeArrowheads="1"/>
          </p:cNvSpPr>
          <p:nvPr/>
        </p:nvSpPr>
        <p:spPr bwMode="gray">
          <a:xfrm>
            <a:off x="228600" y="5105400"/>
            <a:ext cx="1524000" cy="1219200"/>
          </a:xfrm>
          <a:prstGeom prst="homePlate">
            <a:avLst>
              <a:gd name="adj" fmla="val 31250"/>
            </a:avLst>
          </a:prstGeom>
          <a:gradFill rotWithShape="1">
            <a:gsLst>
              <a:gs pos="0">
                <a:schemeClr val="folHlink"/>
              </a:gs>
              <a:gs pos="100000">
                <a:schemeClr val="folHlink">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4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Examples</a:t>
            </a:r>
          </a:p>
        </p:txBody>
      </p:sp>
      <p:grpSp>
        <p:nvGrpSpPr>
          <p:cNvPr id="52254" name="Group 30">
            <a:extLst>
              <a:ext uri="{FF2B5EF4-FFF2-40B4-BE49-F238E27FC236}">
                <a16:creationId xmlns:a16="http://schemas.microsoft.com/office/drawing/2014/main" id="{4E180DFF-F3F7-9083-1435-F336A7D5BBF0}"/>
              </a:ext>
            </a:extLst>
          </p:cNvPr>
          <p:cNvGrpSpPr>
            <a:grpSpLocks/>
          </p:cNvGrpSpPr>
          <p:nvPr/>
        </p:nvGrpSpPr>
        <p:grpSpPr bwMode="auto">
          <a:xfrm>
            <a:off x="1828800" y="1355725"/>
            <a:ext cx="3429000" cy="5240338"/>
            <a:chOff x="1152" y="854"/>
            <a:chExt cx="2160" cy="3301"/>
          </a:xfrm>
        </p:grpSpPr>
        <p:sp>
          <p:nvSpPr>
            <p:cNvPr id="52231" name="Text Box 7">
              <a:extLst>
                <a:ext uri="{FF2B5EF4-FFF2-40B4-BE49-F238E27FC236}">
                  <a16:creationId xmlns:a16="http://schemas.microsoft.com/office/drawing/2014/main" id="{50485220-6446-DEAF-13CC-212189B4521D}"/>
                </a:ext>
              </a:extLst>
            </p:cNvPr>
            <p:cNvSpPr txBox="1">
              <a:spLocks noChangeArrowheads="1"/>
            </p:cNvSpPr>
            <p:nvPr/>
          </p:nvSpPr>
          <p:spPr bwMode="auto">
            <a:xfrm>
              <a:off x="1248" y="1053"/>
              <a:ext cx="1920" cy="1050"/>
            </a:xfrm>
            <a:prstGeom prst="rect">
              <a:avLst/>
            </a:prstGeom>
            <a:solidFill>
              <a:srgbClr val="F8B20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Spoofing User / Administrator identity (Integrity)</a:t>
              </a:r>
            </a:p>
            <a:p>
              <a:pPr>
                <a:spcAft>
                  <a:spcPct val="40000"/>
                </a:spcAft>
                <a:buClrTx/>
                <a:buFont typeface="Wingdings" panose="05000000000000000000" pitchFamily="2" charset="2"/>
                <a:buChar char="ü"/>
              </a:pPr>
              <a:r>
                <a:rPr lang="en-US" altLang="zh-CN" sz="1600" b="1">
                  <a:ea typeface="宋体" panose="02010600030101010101" pitchFamily="2" charset="-122"/>
                </a:rPr>
                <a:t>Elevation of User / Administrator privilege (Integrity)</a:t>
              </a:r>
            </a:p>
          </p:txBody>
        </p:sp>
        <p:sp>
          <p:nvSpPr>
            <p:cNvPr id="52232" name="Text Box 8">
              <a:extLst>
                <a:ext uri="{FF2B5EF4-FFF2-40B4-BE49-F238E27FC236}">
                  <a16:creationId xmlns:a16="http://schemas.microsoft.com/office/drawing/2014/main" id="{CD90EFB6-7327-2A39-61AC-373738868533}"/>
                </a:ext>
              </a:extLst>
            </p:cNvPr>
            <p:cNvSpPr txBox="1">
              <a:spLocks noChangeArrowheads="1"/>
            </p:cNvSpPr>
            <p:nvPr/>
          </p:nvSpPr>
          <p:spPr bwMode="auto">
            <a:xfrm>
              <a:off x="1248" y="2107"/>
              <a:ext cx="1920" cy="804"/>
            </a:xfrm>
            <a:prstGeom prst="rect">
              <a:avLst/>
            </a:prstGeom>
            <a:solidFill>
              <a:srgbClr val="9AD9E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User Authentication</a:t>
              </a:r>
            </a:p>
            <a:p>
              <a:pPr>
                <a:spcAft>
                  <a:spcPct val="40000"/>
                </a:spcAft>
                <a:buClrTx/>
                <a:buFont typeface="Wingdings" panose="05000000000000000000" pitchFamily="2" charset="2"/>
                <a:buChar char="ü"/>
              </a:pPr>
              <a:r>
                <a:rPr lang="en-US" altLang="zh-CN" sz="1600" b="1">
                  <a:ea typeface="宋体" panose="02010600030101010101" pitchFamily="2" charset="-122"/>
                </a:rPr>
                <a:t>User Authorization</a:t>
              </a:r>
            </a:p>
            <a:p>
              <a:pPr>
                <a:spcAft>
                  <a:spcPct val="40000"/>
                </a:spcAft>
                <a:buClrTx/>
                <a:buFont typeface="Wingdings" panose="05000000000000000000" pitchFamily="2" charset="2"/>
                <a:buChar char="ü"/>
              </a:pPr>
              <a:r>
                <a:rPr lang="en-US" altLang="zh-CN" sz="1600" b="1">
                  <a:ea typeface="宋体" panose="02010600030101010101" pitchFamily="2" charset="-122"/>
                </a:rPr>
                <a:t>Audit (Administrative, Technical)</a:t>
              </a:r>
            </a:p>
          </p:txBody>
        </p:sp>
        <p:sp>
          <p:nvSpPr>
            <p:cNvPr id="52233" name="Text Box 9">
              <a:extLst>
                <a:ext uri="{FF2B5EF4-FFF2-40B4-BE49-F238E27FC236}">
                  <a16:creationId xmlns:a16="http://schemas.microsoft.com/office/drawing/2014/main" id="{D30CC984-C854-C357-6DD1-FB335073D3A9}"/>
                </a:ext>
              </a:extLst>
            </p:cNvPr>
            <p:cNvSpPr txBox="1">
              <a:spLocks noChangeArrowheads="1"/>
            </p:cNvSpPr>
            <p:nvPr/>
          </p:nvSpPr>
          <p:spPr bwMode="auto">
            <a:xfrm>
              <a:off x="1248" y="2889"/>
              <a:ext cx="1920" cy="1266"/>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Authentication: Two factor authentication, Certificate Management </a:t>
              </a:r>
            </a:p>
            <a:p>
              <a:pPr>
                <a:spcAft>
                  <a:spcPct val="40000"/>
                </a:spcAft>
                <a:buClrTx/>
                <a:buFont typeface="Wingdings" panose="05000000000000000000" pitchFamily="2" charset="2"/>
                <a:buChar char="ü"/>
              </a:pPr>
              <a:r>
                <a:rPr lang="en-US" altLang="zh-CN" sz="1600" b="1">
                  <a:ea typeface="宋体" panose="02010600030101010101" pitchFamily="2" charset="-122"/>
                </a:rPr>
                <a:t>Authorization: Role Based Access Control (RBAC)</a:t>
              </a:r>
            </a:p>
            <a:p>
              <a:pPr>
                <a:spcAft>
                  <a:spcPct val="40000"/>
                </a:spcAft>
                <a:buClrTx/>
                <a:buFont typeface="Wingdings" panose="05000000000000000000" pitchFamily="2" charset="2"/>
                <a:buChar char="ü"/>
              </a:pPr>
              <a:r>
                <a:rPr lang="en-US" altLang="zh-CN" sz="1600" b="1">
                  <a:ea typeface="宋体" panose="02010600030101010101" pitchFamily="2" charset="-122"/>
                </a:rPr>
                <a:t>Security Information Event Management</a:t>
              </a:r>
            </a:p>
          </p:txBody>
        </p:sp>
        <p:sp>
          <p:nvSpPr>
            <p:cNvPr id="52252" name="Text Box 28">
              <a:extLst>
                <a:ext uri="{FF2B5EF4-FFF2-40B4-BE49-F238E27FC236}">
                  <a16:creationId xmlns:a16="http://schemas.microsoft.com/office/drawing/2014/main" id="{2EF0E2F4-5C91-7643-72E9-4E3BA426D0A3}"/>
                </a:ext>
              </a:extLst>
            </p:cNvPr>
            <p:cNvSpPr txBox="1">
              <a:spLocks noChangeArrowheads="1"/>
            </p:cNvSpPr>
            <p:nvPr/>
          </p:nvSpPr>
          <p:spPr bwMode="auto">
            <a:xfrm>
              <a:off x="1152" y="854"/>
              <a:ext cx="216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Controlling Administrative Access</a:t>
              </a:r>
            </a:p>
          </p:txBody>
        </p:sp>
      </p:grpSp>
      <p:grpSp>
        <p:nvGrpSpPr>
          <p:cNvPr id="52255" name="Group 31">
            <a:extLst>
              <a:ext uri="{FF2B5EF4-FFF2-40B4-BE49-F238E27FC236}">
                <a16:creationId xmlns:a16="http://schemas.microsoft.com/office/drawing/2014/main" id="{6B0324F3-864F-96AB-B8A4-B9B1A7468B7D}"/>
              </a:ext>
            </a:extLst>
          </p:cNvPr>
          <p:cNvGrpSpPr>
            <a:grpSpLocks/>
          </p:cNvGrpSpPr>
          <p:nvPr/>
        </p:nvGrpSpPr>
        <p:grpSpPr bwMode="auto">
          <a:xfrm>
            <a:off x="5257800" y="1352550"/>
            <a:ext cx="3429000" cy="5276850"/>
            <a:chOff x="3312" y="852"/>
            <a:chExt cx="2160" cy="3324"/>
          </a:xfrm>
        </p:grpSpPr>
        <p:sp>
          <p:nvSpPr>
            <p:cNvPr id="52240" name="Text Box 16">
              <a:extLst>
                <a:ext uri="{FF2B5EF4-FFF2-40B4-BE49-F238E27FC236}">
                  <a16:creationId xmlns:a16="http://schemas.microsoft.com/office/drawing/2014/main" id="{F1591147-1310-3723-EECD-E64417F5D865}"/>
                </a:ext>
              </a:extLst>
            </p:cNvPr>
            <p:cNvSpPr txBox="1">
              <a:spLocks noChangeArrowheads="1"/>
            </p:cNvSpPr>
            <p:nvPr/>
          </p:nvSpPr>
          <p:spPr bwMode="auto">
            <a:xfrm>
              <a:off x="3408" y="2848"/>
              <a:ext cx="2016" cy="1328"/>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SSH or SSL over HTTP</a:t>
              </a:r>
            </a:p>
            <a:p>
              <a:pPr>
                <a:spcAft>
                  <a:spcPct val="40000"/>
                </a:spcAft>
                <a:buClrTx/>
                <a:buFont typeface="Wingdings" panose="05000000000000000000" pitchFamily="2" charset="2"/>
                <a:buChar char="ü"/>
              </a:pPr>
              <a:r>
                <a:rPr lang="en-US" altLang="zh-CN" sz="1600" b="1">
                  <a:ea typeface="宋体" panose="02010600030101010101" pitchFamily="2" charset="-122"/>
                </a:rPr>
                <a:t>Encrypted links between arrays and hosts</a:t>
              </a:r>
            </a:p>
            <a:p>
              <a:pPr>
                <a:spcAft>
                  <a:spcPct val="40000"/>
                </a:spcAft>
                <a:buClrTx/>
                <a:buFont typeface="Wingdings" panose="05000000000000000000" pitchFamily="2" charset="2"/>
                <a:buChar char="ü"/>
              </a:pPr>
              <a:r>
                <a:rPr lang="en-US" altLang="zh-CN" sz="1600" b="1">
                  <a:ea typeface="宋体" panose="02010600030101010101" pitchFamily="2" charset="-122"/>
                </a:rPr>
                <a:t>Private management network</a:t>
              </a:r>
            </a:p>
            <a:p>
              <a:pPr>
                <a:spcAft>
                  <a:spcPct val="40000"/>
                </a:spcAft>
                <a:buClrTx/>
                <a:buFont typeface="Wingdings" panose="05000000000000000000" pitchFamily="2" charset="2"/>
                <a:buChar char="ü"/>
              </a:pPr>
              <a:r>
                <a:rPr lang="en-US" altLang="zh-CN" sz="1600" b="1">
                  <a:ea typeface="宋体" panose="02010600030101010101" pitchFamily="2" charset="-122"/>
                </a:rPr>
                <a:t>Disable unnecessary network services</a:t>
              </a:r>
            </a:p>
          </p:txBody>
        </p:sp>
        <p:sp>
          <p:nvSpPr>
            <p:cNvPr id="52241" name="Text Box 17">
              <a:extLst>
                <a:ext uri="{FF2B5EF4-FFF2-40B4-BE49-F238E27FC236}">
                  <a16:creationId xmlns:a16="http://schemas.microsoft.com/office/drawing/2014/main" id="{566D3785-1438-6A69-4796-6FFD12D56AB9}"/>
                </a:ext>
              </a:extLst>
            </p:cNvPr>
            <p:cNvSpPr txBox="1">
              <a:spLocks noChangeArrowheads="1"/>
            </p:cNvSpPr>
            <p:nvPr/>
          </p:nvSpPr>
          <p:spPr bwMode="auto">
            <a:xfrm>
              <a:off x="3408" y="1052"/>
              <a:ext cx="2016" cy="1112"/>
            </a:xfrm>
            <a:prstGeom prst="rect">
              <a:avLst/>
            </a:prstGeom>
            <a:solidFill>
              <a:srgbClr val="F8B20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Tempering with data (Integrity)</a:t>
              </a:r>
            </a:p>
            <a:p>
              <a:pPr>
                <a:spcAft>
                  <a:spcPct val="40000"/>
                </a:spcAft>
                <a:buClrTx/>
                <a:buFont typeface="Wingdings" panose="05000000000000000000" pitchFamily="2" charset="2"/>
                <a:buChar char="ü"/>
              </a:pPr>
              <a:r>
                <a:rPr lang="en-US" altLang="zh-CN" sz="1600" b="1">
                  <a:ea typeface="宋体" panose="02010600030101010101" pitchFamily="2" charset="-122"/>
                </a:rPr>
                <a:t>Denial of service (Availability)</a:t>
              </a:r>
            </a:p>
            <a:p>
              <a:pPr>
                <a:spcAft>
                  <a:spcPct val="40000"/>
                </a:spcAft>
                <a:buClrTx/>
                <a:buFont typeface="Wingdings" panose="05000000000000000000" pitchFamily="2" charset="2"/>
                <a:buChar char="ü"/>
              </a:pPr>
              <a:r>
                <a:rPr lang="en-US" altLang="zh-CN" sz="1600" b="1">
                  <a:ea typeface="宋体" panose="02010600030101010101" pitchFamily="2" charset="-122"/>
                </a:rPr>
                <a:t>Network snooping (confidentiality)</a:t>
              </a:r>
            </a:p>
          </p:txBody>
        </p:sp>
        <p:sp>
          <p:nvSpPr>
            <p:cNvPr id="52239" name="Text Box 15">
              <a:extLst>
                <a:ext uri="{FF2B5EF4-FFF2-40B4-BE49-F238E27FC236}">
                  <a16:creationId xmlns:a16="http://schemas.microsoft.com/office/drawing/2014/main" id="{8F7CE6DB-0975-D880-F894-B8A29A8D5F3D}"/>
                </a:ext>
              </a:extLst>
            </p:cNvPr>
            <p:cNvSpPr txBox="1">
              <a:spLocks noChangeArrowheads="1"/>
            </p:cNvSpPr>
            <p:nvPr/>
          </p:nvSpPr>
          <p:spPr bwMode="auto">
            <a:xfrm>
              <a:off x="3408" y="2135"/>
              <a:ext cx="2016" cy="742"/>
            </a:xfrm>
            <a:prstGeom prst="rect">
              <a:avLst/>
            </a:prstGeom>
            <a:solidFill>
              <a:srgbClr val="9AD9E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1600" b="1">
                  <a:ea typeface="宋体" panose="02010600030101010101" pitchFamily="2" charset="-122"/>
                </a:rPr>
                <a:t>Mgmt network encryption (Technical)</a:t>
              </a:r>
            </a:p>
            <a:p>
              <a:pPr>
                <a:spcAft>
                  <a:spcPct val="40000"/>
                </a:spcAft>
                <a:buClrTx/>
                <a:buFont typeface="Wingdings" panose="05000000000000000000" pitchFamily="2" charset="2"/>
                <a:buChar char="ü"/>
              </a:pPr>
              <a:r>
                <a:rPr lang="en-US" altLang="zh-CN" sz="1600" b="1">
                  <a:ea typeface="宋体" panose="02010600030101010101" pitchFamily="2" charset="-122"/>
                </a:rPr>
                <a:t>Mgmt access control (Administrative, Technical)</a:t>
              </a:r>
            </a:p>
          </p:txBody>
        </p:sp>
        <p:sp>
          <p:nvSpPr>
            <p:cNvPr id="52253" name="Text Box 29">
              <a:extLst>
                <a:ext uri="{FF2B5EF4-FFF2-40B4-BE49-F238E27FC236}">
                  <a16:creationId xmlns:a16="http://schemas.microsoft.com/office/drawing/2014/main" id="{6F2C18AC-760F-5078-2009-848110E4D3F5}"/>
                </a:ext>
              </a:extLst>
            </p:cNvPr>
            <p:cNvSpPr txBox="1">
              <a:spLocks noChangeArrowheads="1"/>
            </p:cNvSpPr>
            <p:nvPr/>
          </p:nvSpPr>
          <p:spPr bwMode="auto">
            <a:xfrm>
              <a:off x="3312" y="852"/>
              <a:ext cx="216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Protecting Mgmt Infrastructure</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6DBE6515-52F3-8900-488B-75E5E7FBDAD6}"/>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4AFED409-01D0-FD91-48AD-D92799DCC12C}"/>
              </a:ext>
            </a:extLst>
          </p:cNvPr>
          <p:cNvSpPr>
            <a:spLocks noGrp="1"/>
          </p:cNvSpPr>
          <p:nvPr>
            <p:ph type="sldNum" sz="quarter" idx="11"/>
          </p:nvPr>
        </p:nvSpPr>
        <p:spPr/>
        <p:txBody>
          <a:bodyPr/>
          <a:lstStyle/>
          <a:p>
            <a:r>
              <a:rPr lang="zh-CN" altLang="en-US"/>
              <a:t> </a:t>
            </a:r>
            <a:r>
              <a:rPr lang="en-US" altLang="zh-CN"/>
              <a:t>- </a:t>
            </a:r>
            <a:fld id="{26CD50C8-1260-440C-8005-E13ADB75D2A4}" type="slidenum">
              <a:rPr lang="en-US" altLang="zh-CN" sz="800"/>
              <a:pPr/>
              <a:t>21</a:t>
            </a:fld>
            <a:endParaRPr lang="en-US" altLang="zh-CN" sz="800"/>
          </a:p>
        </p:txBody>
      </p:sp>
      <p:sp>
        <p:nvSpPr>
          <p:cNvPr id="54274" name="Rectangle 2">
            <a:extLst>
              <a:ext uri="{FF2B5EF4-FFF2-40B4-BE49-F238E27FC236}">
                <a16:creationId xmlns:a16="http://schemas.microsoft.com/office/drawing/2014/main" id="{AFD63824-090F-1C04-F057-F8F724622468}"/>
              </a:ext>
            </a:extLst>
          </p:cNvPr>
          <p:cNvSpPr>
            <a:spLocks noGrp="1" noChangeArrowheads="1"/>
          </p:cNvSpPr>
          <p:nvPr>
            <p:ph type="title"/>
          </p:nvPr>
        </p:nvSpPr>
        <p:spPr/>
        <p:txBody>
          <a:bodyPr/>
          <a:lstStyle/>
          <a:p>
            <a:r>
              <a:rPr lang="en-US" altLang="zh-CN">
                <a:ea typeface="宋体" panose="02010600030101010101" pitchFamily="2" charset="-122"/>
              </a:rPr>
              <a:t>BURA Domain: Threats</a:t>
            </a:r>
          </a:p>
        </p:txBody>
      </p:sp>
      <p:sp>
        <p:nvSpPr>
          <p:cNvPr id="54278" name="Line 6">
            <a:extLst>
              <a:ext uri="{FF2B5EF4-FFF2-40B4-BE49-F238E27FC236}">
                <a16:creationId xmlns:a16="http://schemas.microsoft.com/office/drawing/2014/main" id="{B385BEC4-D23C-0792-AF48-3162317B9AA2}"/>
              </a:ext>
            </a:extLst>
          </p:cNvPr>
          <p:cNvSpPr>
            <a:spLocks noChangeShapeType="1"/>
          </p:cNvSpPr>
          <p:nvPr/>
        </p:nvSpPr>
        <p:spPr bwMode="auto">
          <a:xfrm>
            <a:off x="4429125" y="2586038"/>
            <a:ext cx="0" cy="990600"/>
          </a:xfrm>
          <a:prstGeom prst="line">
            <a:avLst/>
          </a:prstGeom>
          <a:noFill/>
          <a:ln w="25400" cap="rnd">
            <a:solidFill>
              <a:schemeClr val="tx1"/>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54404" name="Group 132">
            <a:extLst>
              <a:ext uri="{FF2B5EF4-FFF2-40B4-BE49-F238E27FC236}">
                <a16:creationId xmlns:a16="http://schemas.microsoft.com/office/drawing/2014/main" id="{76C38DC4-A26B-59F5-791F-FB710BD988DF}"/>
              </a:ext>
            </a:extLst>
          </p:cNvPr>
          <p:cNvGrpSpPr>
            <a:grpSpLocks/>
          </p:cNvGrpSpPr>
          <p:nvPr/>
        </p:nvGrpSpPr>
        <p:grpSpPr bwMode="auto">
          <a:xfrm>
            <a:off x="3048000" y="5329238"/>
            <a:ext cx="2409825" cy="995362"/>
            <a:chOff x="1920" y="3357"/>
            <a:chExt cx="1518" cy="627"/>
          </a:xfrm>
        </p:grpSpPr>
        <p:sp>
          <p:nvSpPr>
            <p:cNvPr id="54360" name="Line 88">
              <a:extLst>
                <a:ext uri="{FF2B5EF4-FFF2-40B4-BE49-F238E27FC236}">
                  <a16:creationId xmlns:a16="http://schemas.microsoft.com/office/drawing/2014/main" id="{D7798AAA-F485-E09D-6195-A68489EEB51A}"/>
                </a:ext>
              </a:extLst>
            </p:cNvPr>
            <p:cNvSpPr>
              <a:spLocks noChangeShapeType="1"/>
            </p:cNvSpPr>
            <p:nvPr/>
          </p:nvSpPr>
          <p:spPr bwMode="auto">
            <a:xfrm flipV="1">
              <a:off x="1920" y="3981"/>
              <a:ext cx="1518" cy="3"/>
            </a:xfrm>
            <a:prstGeom prst="line">
              <a:avLst/>
            </a:prstGeom>
            <a:noFill/>
            <a:ln w="25400" cap="rnd">
              <a:solidFill>
                <a:schemeClr val="tx1"/>
              </a:solidFill>
              <a:prstDash val="sysDot"/>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4280" name="Line 8">
              <a:extLst>
                <a:ext uri="{FF2B5EF4-FFF2-40B4-BE49-F238E27FC236}">
                  <a16:creationId xmlns:a16="http://schemas.microsoft.com/office/drawing/2014/main" id="{275FCF74-B770-8308-97BF-E778D09815CB}"/>
                </a:ext>
              </a:extLst>
            </p:cNvPr>
            <p:cNvSpPr>
              <a:spLocks noChangeShapeType="1"/>
            </p:cNvSpPr>
            <p:nvPr/>
          </p:nvSpPr>
          <p:spPr bwMode="auto">
            <a:xfrm>
              <a:off x="1920" y="3357"/>
              <a:ext cx="0" cy="624"/>
            </a:xfrm>
            <a:prstGeom prst="line">
              <a:avLst/>
            </a:prstGeom>
            <a:noFill/>
            <a:ln w="25400" cap="rnd">
              <a:solidFill>
                <a:schemeClr val="tx1"/>
              </a:solidFill>
              <a:prstDash val="sysDot"/>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54282" name="Line 10">
            <a:extLst>
              <a:ext uri="{FF2B5EF4-FFF2-40B4-BE49-F238E27FC236}">
                <a16:creationId xmlns:a16="http://schemas.microsoft.com/office/drawing/2014/main" id="{7BE8DDDE-58ED-C4C7-6548-94F08DE05F02}"/>
              </a:ext>
            </a:extLst>
          </p:cNvPr>
          <p:cNvSpPr>
            <a:spLocks noChangeShapeType="1"/>
          </p:cNvSpPr>
          <p:nvPr/>
        </p:nvSpPr>
        <p:spPr bwMode="auto">
          <a:xfrm flipV="1">
            <a:off x="3067050" y="4025900"/>
            <a:ext cx="0" cy="457200"/>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54283" name="Line 11">
            <a:extLst>
              <a:ext uri="{FF2B5EF4-FFF2-40B4-BE49-F238E27FC236}">
                <a16:creationId xmlns:a16="http://schemas.microsoft.com/office/drawing/2014/main" id="{C27D37A5-A111-BDE5-412B-2472B4CBFC65}"/>
              </a:ext>
            </a:extLst>
          </p:cNvPr>
          <p:cNvSpPr>
            <a:spLocks noChangeShapeType="1"/>
          </p:cNvSpPr>
          <p:nvPr/>
        </p:nvSpPr>
        <p:spPr bwMode="auto">
          <a:xfrm flipH="1">
            <a:off x="2576513" y="4025900"/>
            <a:ext cx="490537" cy="0"/>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nvGrpSpPr>
          <p:cNvPr id="54407" name="Group 135">
            <a:extLst>
              <a:ext uri="{FF2B5EF4-FFF2-40B4-BE49-F238E27FC236}">
                <a16:creationId xmlns:a16="http://schemas.microsoft.com/office/drawing/2014/main" id="{5ED9D80E-9FBF-359E-3752-333729AFA577}"/>
              </a:ext>
            </a:extLst>
          </p:cNvPr>
          <p:cNvGrpSpPr>
            <a:grpSpLocks/>
          </p:cNvGrpSpPr>
          <p:nvPr/>
        </p:nvGrpSpPr>
        <p:grpSpPr bwMode="auto">
          <a:xfrm>
            <a:off x="2911475" y="5773738"/>
            <a:ext cx="1870075" cy="825500"/>
            <a:chOff x="1834" y="3637"/>
            <a:chExt cx="1178" cy="520"/>
          </a:xfrm>
        </p:grpSpPr>
        <p:sp>
          <p:nvSpPr>
            <p:cNvPr id="54287" name="Freeform 15">
              <a:extLst>
                <a:ext uri="{FF2B5EF4-FFF2-40B4-BE49-F238E27FC236}">
                  <a16:creationId xmlns:a16="http://schemas.microsoft.com/office/drawing/2014/main" id="{AACE0513-845E-BB51-B021-FC1B34243B0E}"/>
                </a:ext>
              </a:extLst>
            </p:cNvPr>
            <p:cNvSpPr>
              <a:spLocks/>
            </p:cNvSpPr>
            <p:nvPr/>
          </p:nvSpPr>
          <p:spPr bwMode="auto">
            <a:xfrm>
              <a:off x="2452" y="3786"/>
              <a:ext cx="560" cy="371"/>
            </a:xfrm>
            <a:custGeom>
              <a:avLst/>
              <a:gdLst>
                <a:gd name="T0" fmla="*/ 1680 w 1680"/>
                <a:gd name="T1" fmla="*/ 970 h 1114"/>
                <a:gd name="T2" fmla="*/ 1680 w 1680"/>
                <a:gd name="T3" fmla="*/ 966 h 1114"/>
                <a:gd name="T4" fmla="*/ 1680 w 1680"/>
                <a:gd name="T5" fmla="*/ 569 h 1114"/>
                <a:gd name="T6" fmla="*/ 1680 w 1680"/>
                <a:gd name="T7" fmla="*/ 141 h 1114"/>
                <a:gd name="T8" fmla="*/ 1678 w 1680"/>
                <a:gd name="T9" fmla="*/ 123 h 1114"/>
                <a:gd name="T10" fmla="*/ 1677 w 1680"/>
                <a:gd name="T11" fmla="*/ 107 h 1114"/>
                <a:gd name="T12" fmla="*/ 1673 w 1680"/>
                <a:gd name="T13" fmla="*/ 91 h 1114"/>
                <a:gd name="T14" fmla="*/ 1670 w 1680"/>
                <a:gd name="T15" fmla="*/ 78 h 1114"/>
                <a:gd name="T16" fmla="*/ 1664 w 1680"/>
                <a:gd name="T17" fmla="*/ 65 h 1114"/>
                <a:gd name="T18" fmla="*/ 1658 w 1680"/>
                <a:gd name="T19" fmla="*/ 54 h 1114"/>
                <a:gd name="T20" fmla="*/ 1650 w 1680"/>
                <a:gd name="T21" fmla="*/ 43 h 1114"/>
                <a:gd name="T22" fmla="*/ 1643 w 1680"/>
                <a:gd name="T23" fmla="*/ 35 h 1114"/>
                <a:gd name="T24" fmla="*/ 1632 w 1680"/>
                <a:gd name="T25" fmla="*/ 25 h 1114"/>
                <a:gd name="T26" fmla="*/ 1622 w 1680"/>
                <a:gd name="T27" fmla="*/ 18 h 1114"/>
                <a:gd name="T28" fmla="*/ 1610 w 1680"/>
                <a:gd name="T29" fmla="*/ 12 h 1114"/>
                <a:gd name="T30" fmla="*/ 1598 w 1680"/>
                <a:gd name="T31" fmla="*/ 9 h 1114"/>
                <a:gd name="T32" fmla="*/ 1583 w 1680"/>
                <a:gd name="T33" fmla="*/ 4 h 1114"/>
                <a:gd name="T34" fmla="*/ 1569 w 1680"/>
                <a:gd name="T35" fmla="*/ 1 h 1114"/>
                <a:gd name="T36" fmla="*/ 1536 w 1680"/>
                <a:gd name="T37" fmla="*/ 0 h 1114"/>
                <a:gd name="T38" fmla="*/ 144 w 1680"/>
                <a:gd name="T39" fmla="*/ 0 h 1114"/>
                <a:gd name="T40" fmla="*/ 109 w 1680"/>
                <a:gd name="T41" fmla="*/ 1 h 1114"/>
                <a:gd name="T42" fmla="*/ 94 w 1680"/>
                <a:gd name="T43" fmla="*/ 4 h 1114"/>
                <a:gd name="T44" fmla="*/ 81 w 1680"/>
                <a:gd name="T45" fmla="*/ 9 h 1114"/>
                <a:gd name="T46" fmla="*/ 55 w 1680"/>
                <a:gd name="T47" fmla="*/ 19 h 1114"/>
                <a:gd name="T48" fmla="*/ 45 w 1680"/>
                <a:gd name="T49" fmla="*/ 27 h 1114"/>
                <a:gd name="T50" fmla="*/ 36 w 1680"/>
                <a:gd name="T51" fmla="*/ 36 h 1114"/>
                <a:gd name="T52" fmla="*/ 27 w 1680"/>
                <a:gd name="T53" fmla="*/ 45 h 1114"/>
                <a:gd name="T54" fmla="*/ 19 w 1680"/>
                <a:gd name="T55" fmla="*/ 55 h 1114"/>
                <a:gd name="T56" fmla="*/ 9 w 1680"/>
                <a:gd name="T57" fmla="*/ 81 h 1114"/>
                <a:gd name="T58" fmla="*/ 4 w 1680"/>
                <a:gd name="T59" fmla="*/ 94 h 1114"/>
                <a:gd name="T60" fmla="*/ 1 w 1680"/>
                <a:gd name="T61" fmla="*/ 109 h 1114"/>
                <a:gd name="T62" fmla="*/ 0 w 1680"/>
                <a:gd name="T63" fmla="*/ 144 h 1114"/>
                <a:gd name="T64" fmla="*/ 0 w 1680"/>
                <a:gd name="T65" fmla="*/ 970 h 1114"/>
                <a:gd name="T66" fmla="*/ 1 w 1680"/>
                <a:gd name="T67" fmla="*/ 995 h 1114"/>
                <a:gd name="T68" fmla="*/ 5 w 1680"/>
                <a:gd name="T69" fmla="*/ 1018 h 1114"/>
                <a:gd name="T70" fmla="*/ 11 w 1680"/>
                <a:gd name="T71" fmla="*/ 1038 h 1114"/>
                <a:gd name="T72" fmla="*/ 19 w 1680"/>
                <a:gd name="T73" fmla="*/ 1056 h 1114"/>
                <a:gd name="T74" fmla="*/ 30 w 1680"/>
                <a:gd name="T75" fmla="*/ 1072 h 1114"/>
                <a:gd name="T76" fmla="*/ 43 w 1680"/>
                <a:gd name="T77" fmla="*/ 1085 h 1114"/>
                <a:gd name="T78" fmla="*/ 59 w 1680"/>
                <a:gd name="T79" fmla="*/ 1096 h 1114"/>
                <a:gd name="T80" fmla="*/ 79 w 1680"/>
                <a:gd name="T81" fmla="*/ 1104 h 1114"/>
                <a:gd name="T82" fmla="*/ 93 w 1680"/>
                <a:gd name="T83" fmla="*/ 1108 h 1114"/>
                <a:gd name="T84" fmla="*/ 108 w 1680"/>
                <a:gd name="T85" fmla="*/ 1111 h 1114"/>
                <a:gd name="T86" fmla="*/ 125 w 1680"/>
                <a:gd name="T87" fmla="*/ 1112 h 1114"/>
                <a:gd name="T88" fmla="*/ 144 w 1680"/>
                <a:gd name="T89" fmla="*/ 1114 h 1114"/>
                <a:gd name="T90" fmla="*/ 1536 w 1680"/>
                <a:gd name="T91" fmla="*/ 1114 h 1114"/>
                <a:gd name="T92" fmla="*/ 1553 w 1680"/>
                <a:gd name="T93" fmla="*/ 1112 h 1114"/>
                <a:gd name="T94" fmla="*/ 1570 w 1680"/>
                <a:gd name="T95" fmla="*/ 1111 h 1114"/>
                <a:gd name="T96" fmla="*/ 1584 w 1680"/>
                <a:gd name="T97" fmla="*/ 1108 h 1114"/>
                <a:gd name="T98" fmla="*/ 1599 w 1680"/>
                <a:gd name="T99" fmla="*/ 1104 h 1114"/>
                <a:gd name="T100" fmla="*/ 1611 w 1680"/>
                <a:gd name="T101" fmla="*/ 1098 h 1114"/>
                <a:gd name="T102" fmla="*/ 1623 w 1680"/>
                <a:gd name="T103" fmla="*/ 1092 h 1114"/>
                <a:gd name="T104" fmla="*/ 1634 w 1680"/>
                <a:gd name="T105" fmla="*/ 1085 h 1114"/>
                <a:gd name="T106" fmla="*/ 1644 w 1680"/>
                <a:gd name="T107" fmla="*/ 1078 h 1114"/>
                <a:gd name="T108" fmla="*/ 1652 w 1680"/>
                <a:gd name="T109" fmla="*/ 1067 h 1114"/>
                <a:gd name="T110" fmla="*/ 1659 w 1680"/>
                <a:gd name="T111" fmla="*/ 1056 h 1114"/>
                <a:gd name="T112" fmla="*/ 1665 w 1680"/>
                <a:gd name="T113" fmla="*/ 1044 h 1114"/>
                <a:gd name="T114" fmla="*/ 1671 w 1680"/>
                <a:gd name="T115" fmla="*/ 1032 h 1114"/>
                <a:gd name="T116" fmla="*/ 1674 w 1680"/>
                <a:gd name="T117" fmla="*/ 1018 h 1114"/>
                <a:gd name="T118" fmla="*/ 1678 w 1680"/>
                <a:gd name="T119" fmla="*/ 1003 h 1114"/>
                <a:gd name="T120" fmla="*/ 1679 w 1680"/>
                <a:gd name="T121" fmla="*/ 986 h 1114"/>
                <a:gd name="T122" fmla="*/ 1680 w 1680"/>
                <a:gd name="T123" fmla="*/ 970 h 1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80" h="1114">
                  <a:moveTo>
                    <a:pt x="1680" y="970"/>
                  </a:moveTo>
                  <a:lnTo>
                    <a:pt x="1680" y="966"/>
                  </a:lnTo>
                  <a:lnTo>
                    <a:pt x="1680" y="569"/>
                  </a:lnTo>
                  <a:lnTo>
                    <a:pt x="1680" y="141"/>
                  </a:lnTo>
                  <a:lnTo>
                    <a:pt x="1678" y="123"/>
                  </a:lnTo>
                  <a:lnTo>
                    <a:pt x="1677" y="107"/>
                  </a:lnTo>
                  <a:lnTo>
                    <a:pt x="1673" y="91"/>
                  </a:lnTo>
                  <a:lnTo>
                    <a:pt x="1670" y="78"/>
                  </a:lnTo>
                  <a:lnTo>
                    <a:pt x="1664" y="65"/>
                  </a:lnTo>
                  <a:lnTo>
                    <a:pt x="1658" y="54"/>
                  </a:lnTo>
                  <a:lnTo>
                    <a:pt x="1650" y="43"/>
                  </a:lnTo>
                  <a:lnTo>
                    <a:pt x="1643" y="35"/>
                  </a:lnTo>
                  <a:lnTo>
                    <a:pt x="1632" y="25"/>
                  </a:lnTo>
                  <a:lnTo>
                    <a:pt x="1622" y="18"/>
                  </a:lnTo>
                  <a:lnTo>
                    <a:pt x="1610" y="12"/>
                  </a:lnTo>
                  <a:lnTo>
                    <a:pt x="1598" y="9"/>
                  </a:lnTo>
                  <a:lnTo>
                    <a:pt x="1583" y="4"/>
                  </a:lnTo>
                  <a:lnTo>
                    <a:pt x="1569" y="1"/>
                  </a:lnTo>
                  <a:lnTo>
                    <a:pt x="1536" y="0"/>
                  </a:lnTo>
                  <a:lnTo>
                    <a:pt x="144" y="0"/>
                  </a:lnTo>
                  <a:lnTo>
                    <a:pt x="109" y="1"/>
                  </a:lnTo>
                  <a:lnTo>
                    <a:pt x="94" y="4"/>
                  </a:lnTo>
                  <a:lnTo>
                    <a:pt x="81" y="9"/>
                  </a:lnTo>
                  <a:lnTo>
                    <a:pt x="55" y="19"/>
                  </a:lnTo>
                  <a:lnTo>
                    <a:pt x="45" y="27"/>
                  </a:lnTo>
                  <a:lnTo>
                    <a:pt x="36" y="36"/>
                  </a:lnTo>
                  <a:lnTo>
                    <a:pt x="27" y="45"/>
                  </a:lnTo>
                  <a:lnTo>
                    <a:pt x="19" y="55"/>
                  </a:lnTo>
                  <a:lnTo>
                    <a:pt x="9" y="81"/>
                  </a:lnTo>
                  <a:lnTo>
                    <a:pt x="4" y="94"/>
                  </a:lnTo>
                  <a:lnTo>
                    <a:pt x="1" y="109"/>
                  </a:lnTo>
                  <a:lnTo>
                    <a:pt x="0" y="144"/>
                  </a:lnTo>
                  <a:lnTo>
                    <a:pt x="0" y="970"/>
                  </a:lnTo>
                  <a:lnTo>
                    <a:pt x="1" y="995"/>
                  </a:lnTo>
                  <a:lnTo>
                    <a:pt x="5" y="1018"/>
                  </a:lnTo>
                  <a:lnTo>
                    <a:pt x="11" y="1038"/>
                  </a:lnTo>
                  <a:lnTo>
                    <a:pt x="19" y="1056"/>
                  </a:lnTo>
                  <a:lnTo>
                    <a:pt x="30" y="1072"/>
                  </a:lnTo>
                  <a:lnTo>
                    <a:pt x="43" y="1085"/>
                  </a:lnTo>
                  <a:lnTo>
                    <a:pt x="59" y="1096"/>
                  </a:lnTo>
                  <a:lnTo>
                    <a:pt x="79" y="1104"/>
                  </a:lnTo>
                  <a:lnTo>
                    <a:pt x="93" y="1108"/>
                  </a:lnTo>
                  <a:lnTo>
                    <a:pt x="108" y="1111"/>
                  </a:lnTo>
                  <a:lnTo>
                    <a:pt x="125" y="1112"/>
                  </a:lnTo>
                  <a:lnTo>
                    <a:pt x="144" y="1114"/>
                  </a:lnTo>
                  <a:lnTo>
                    <a:pt x="1536" y="1114"/>
                  </a:lnTo>
                  <a:lnTo>
                    <a:pt x="1553" y="1112"/>
                  </a:lnTo>
                  <a:lnTo>
                    <a:pt x="1570" y="1111"/>
                  </a:lnTo>
                  <a:lnTo>
                    <a:pt x="1584" y="1108"/>
                  </a:lnTo>
                  <a:lnTo>
                    <a:pt x="1599" y="1104"/>
                  </a:lnTo>
                  <a:lnTo>
                    <a:pt x="1611" y="1098"/>
                  </a:lnTo>
                  <a:lnTo>
                    <a:pt x="1623" y="1092"/>
                  </a:lnTo>
                  <a:lnTo>
                    <a:pt x="1634" y="1085"/>
                  </a:lnTo>
                  <a:lnTo>
                    <a:pt x="1644" y="1078"/>
                  </a:lnTo>
                  <a:lnTo>
                    <a:pt x="1652" y="1067"/>
                  </a:lnTo>
                  <a:lnTo>
                    <a:pt x="1659" y="1056"/>
                  </a:lnTo>
                  <a:lnTo>
                    <a:pt x="1665" y="1044"/>
                  </a:lnTo>
                  <a:lnTo>
                    <a:pt x="1671" y="1032"/>
                  </a:lnTo>
                  <a:lnTo>
                    <a:pt x="1674" y="1018"/>
                  </a:lnTo>
                  <a:lnTo>
                    <a:pt x="1678" y="1003"/>
                  </a:lnTo>
                  <a:lnTo>
                    <a:pt x="1679" y="986"/>
                  </a:lnTo>
                  <a:lnTo>
                    <a:pt x="1680" y="970"/>
                  </a:lnTo>
                  <a:close/>
                </a:path>
              </a:pathLst>
            </a:custGeom>
            <a:solidFill>
              <a:srgbClr val="CCFFCC"/>
            </a:solidFill>
            <a:ln w="25400" cap="flat" cmpd="sng">
              <a:solidFill>
                <a:srgbClr val="33333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nvGrpSpPr>
            <p:cNvPr id="54406" name="Group 134">
              <a:extLst>
                <a:ext uri="{FF2B5EF4-FFF2-40B4-BE49-F238E27FC236}">
                  <a16:creationId xmlns:a16="http://schemas.microsoft.com/office/drawing/2014/main" id="{69B5816D-8B1D-9533-42FA-4FF4C527E807}"/>
                </a:ext>
              </a:extLst>
            </p:cNvPr>
            <p:cNvGrpSpPr>
              <a:grpSpLocks/>
            </p:cNvGrpSpPr>
            <p:nvPr/>
          </p:nvGrpSpPr>
          <p:grpSpPr bwMode="auto">
            <a:xfrm>
              <a:off x="1834" y="3637"/>
              <a:ext cx="186" cy="175"/>
              <a:chOff x="1834" y="3637"/>
              <a:chExt cx="186" cy="175"/>
            </a:xfrm>
          </p:grpSpPr>
          <p:sp>
            <p:nvSpPr>
              <p:cNvPr id="54284" name="Freeform 12">
                <a:extLst>
                  <a:ext uri="{FF2B5EF4-FFF2-40B4-BE49-F238E27FC236}">
                    <a16:creationId xmlns:a16="http://schemas.microsoft.com/office/drawing/2014/main" id="{FC40C234-B784-E124-EFEE-344BCE806459}"/>
                  </a:ext>
                </a:extLst>
              </p:cNvPr>
              <p:cNvSpPr>
                <a:spLocks/>
              </p:cNvSpPr>
              <p:nvPr/>
            </p:nvSpPr>
            <p:spPr bwMode="auto">
              <a:xfrm>
                <a:off x="1834" y="3637"/>
                <a:ext cx="178" cy="175"/>
              </a:xfrm>
              <a:custGeom>
                <a:avLst/>
                <a:gdLst>
                  <a:gd name="T0" fmla="*/ 269 w 533"/>
                  <a:gd name="T1" fmla="*/ 163 h 523"/>
                  <a:gd name="T2" fmla="*/ 160 w 533"/>
                  <a:gd name="T3" fmla="*/ 0 h 523"/>
                  <a:gd name="T4" fmla="*/ 4 w 533"/>
                  <a:gd name="T5" fmla="*/ 0 h 523"/>
                  <a:gd name="T6" fmla="*/ 186 w 533"/>
                  <a:gd name="T7" fmla="*/ 259 h 523"/>
                  <a:gd name="T8" fmla="*/ 0 w 533"/>
                  <a:gd name="T9" fmla="*/ 523 h 523"/>
                  <a:gd name="T10" fmla="*/ 149 w 533"/>
                  <a:gd name="T11" fmla="*/ 523 h 523"/>
                  <a:gd name="T12" fmla="*/ 264 w 533"/>
                  <a:gd name="T13" fmla="*/ 351 h 523"/>
                  <a:gd name="T14" fmla="*/ 377 w 533"/>
                  <a:gd name="T15" fmla="*/ 523 h 523"/>
                  <a:gd name="T16" fmla="*/ 533 w 533"/>
                  <a:gd name="T17" fmla="*/ 523 h 523"/>
                  <a:gd name="T18" fmla="*/ 347 w 533"/>
                  <a:gd name="T19" fmla="*/ 254 h 523"/>
                  <a:gd name="T20" fmla="*/ 531 w 533"/>
                  <a:gd name="T21" fmla="*/ 0 h 523"/>
                  <a:gd name="T22" fmla="*/ 381 w 533"/>
                  <a:gd name="T23" fmla="*/ 0 h 523"/>
                  <a:gd name="T24" fmla="*/ 269 w 533"/>
                  <a:gd name="T25" fmla="*/ 163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3" h="523">
                    <a:moveTo>
                      <a:pt x="269" y="163"/>
                    </a:moveTo>
                    <a:lnTo>
                      <a:pt x="160" y="0"/>
                    </a:lnTo>
                    <a:lnTo>
                      <a:pt x="4" y="0"/>
                    </a:lnTo>
                    <a:lnTo>
                      <a:pt x="186" y="259"/>
                    </a:lnTo>
                    <a:lnTo>
                      <a:pt x="0" y="523"/>
                    </a:lnTo>
                    <a:lnTo>
                      <a:pt x="149" y="523"/>
                    </a:lnTo>
                    <a:lnTo>
                      <a:pt x="264" y="351"/>
                    </a:lnTo>
                    <a:lnTo>
                      <a:pt x="377" y="523"/>
                    </a:lnTo>
                    <a:lnTo>
                      <a:pt x="533" y="523"/>
                    </a:lnTo>
                    <a:lnTo>
                      <a:pt x="347" y="254"/>
                    </a:lnTo>
                    <a:lnTo>
                      <a:pt x="531" y="0"/>
                    </a:lnTo>
                    <a:lnTo>
                      <a:pt x="381" y="0"/>
                    </a:lnTo>
                    <a:lnTo>
                      <a:pt x="269" y="1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285" name="Freeform 13">
                <a:extLst>
                  <a:ext uri="{FF2B5EF4-FFF2-40B4-BE49-F238E27FC236}">
                    <a16:creationId xmlns:a16="http://schemas.microsoft.com/office/drawing/2014/main" id="{4AFCF093-8DE6-5993-E5E5-05C53C87E250}"/>
                  </a:ext>
                </a:extLst>
              </p:cNvPr>
              <p:cNvSpPr>
                <a:spLocks/>
              </p:cNvSpPr>
              <p:nvPr/>
            </p:nvSpPr>
            <p:spPr bwMode="auto">
              <a:xfrm>
                <a:off x="1842" y="3637"/>
                <a:ext cx="178" cy="175"/>
              </a:xfrm>
              <a:custGeom>
                <a:avLst/>
                <a:gdLst>
                  <a:gd name="T0" fmla="*/ 531 w 533"/>
                  <a:gd name="T1" fmla="*/ 0 h 523"/>
                  <a:gd name="T2" fmla="*/ 381 w 533"/>
                  <a:gd name="T3" fmla="*/ 0 h 523"/>
                  <a:gd name="T4" fmla="*/ 269 w 533"/>
                  <a:gd name="T5" fmla="*/ 163 h 523"/>
                  <a:gd name="T6" fmla="*/ 160 w 533"/>
                  <a:gd name="T7" fmla="*/ 0 h 523"/>
                  <a:gd name="T8" fmla="*/ 4 w 533"/>
                  <a:gd name="T9" fmla="*/ 0 h 523"/>
                  <a:gd name="T10" fmla="*/ 186 w 533"/>
                  <a:gd name="T11" fmla="*/ 259 h 523"/>
                  <a:gd name="T12" fmla="*/ 0 w 533"/>
                  <a:gd name="T13" fmla="*/ 523 h 523"/>
                  <a:gd name="T14" fmla="*/ 149 w 533"/>
                  <a:gd name="T15" fmla="*/ 523 h 523"/>
                  <a:gd name="T16" fmla="*/ 264 w 533"/>
                  <a:gd name="T17" fmla="*/ 351 h 523"/>
                  <a:gd name="T18" fmla="*/ 377 w 533"/>
                  <a:gd name="T19" fmla="*/ 523 h 523"/>
                  <a:gd name="T20" fmla="*/ 533 w 533"/>
                  <a:gd name="T21" fmla="*/ 523 h 523"/>
                  <a:gd name="T22" fmla="*/ 347 w 533"/>
                  <a:gd name="T23" fmla="*/ 254 h 523"/>
                  <a:gd name="T24" fmla="*/ 531 w 533"/>
                  <a:gd name="T25"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3" h="523">
                    <a:moveTo>
                      <a:pt x="531" y="0"/>
                    </a:moveTo>
                    <a:lnTo>
                      <a:pt x="381" y="0"/>
                    </a:lnTo>
                    <a:lnTo>
                      <a:pt x="269" y="163"/>
                    </a:lnTo>
                    <a:lnTo>
                      <a:pt x="160" y="0"/>
                    </a:lnTo>
                    <a:lnTo>
                      <a:pt x="4" y="0"/>
                    </a:lnTo>
                    <a:lnTo>
                      <a:pt x="186" y="259"/>
                    </a:lnTo>
                    <a:lnTo>
                      <a:pt x="0" y="523"/>
                    </a:lnTo>
                    <a:lnTo>
                      <a:pt x="149" y="523"/>
                    </a:lnTo>
                    <a:lnTo>
                      <a:pt x="264" y="351"/>
                    </a:lnTo>
                    <a:lnTo>
                      <a:pt x="377" y="523"/>
                    </a:lnTo>
                    <a:lnTo>
                      <a:pt x="533" y="523"/>
                    </a:lnTo>
                    <a:lnTo>
                      <a:pt x="347" y="254"/>
                    </a:lnTo>
                    <a:lnTo>
                      <a:pt x="531" y="0"/>
                    </a:lnTo>
                  </a:path>
                </a:pathLst>
              </a:custGeom>
              <a:noFill/>
              <a:ln w="2540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grpSp>
          <p:nvGrpSpPr>
            <p:cNvPr id="54403" name="Group 131">
              <a:extLst>
                <a:ext uri="{FF2B5EF4-FFF2-40B4-BE49-F238E27FC236}">
                  <a16:creationId xmlns:a16="http://schemas.microsoft.com/office/drawing/2014/main" id="{0BBB3888-861C-15DE-8133-BF2165902F9C}"/>
                </a:ext>
              </a:extLst>
            </p:cNvPr>
            <p:cNvGrpSpPr>
              <a:grpSpLocks/>
            </p:cNvGrpSpPr>
            <p:nvPr/>
          </p:nvGrpSpPr>
          <p:grpSpPr bwMode="auto">
            <a:xfrm>
              <a:off x="2500" y="3808"/>
              <a:ext cx="136" cy="131"/>
              <a:chOff x="2492" y="3808"/>
              <a:chExt cx="136" cy="131"/>
            </a:xfrm>
          </p:grpSpPr>
          <p:sp>
            <p:nvSpPr>
              <p:cNvPr id="54289" name="Freeform 17">
                <a:extLst>
                  <a:ext uri="{FF2B5EF4-FFF2-40B4-BE49-F238E27FC236}">
                    <a16:creationId xmlns:a16="http://schemas.microsoft.com/office/drawing/2014/main" id="{9A6D4671-0692-1338-D64F-D516FEAE088B}"/>
                  </a:ext>
                </a:extLst>
              </p:cNvPr>
              <p:cNvSpPr>
                <a:spLocks/>
              </p:cNvSpPr>
              <p:nvPr/>
            </p:nvSpPr>
            <p:spPr bwMode="auto">
              <a:xfrm>
                <a:off x="2492" y="3856"/>
                <a:ext cx="82" cy="83"/>
              </a:xfrm>
              <a:custGeom>
                <a:avLst/>
                <a:gdLst>
                  <a:gd name="T0" fmla="*/ 19 w 247"/>
                  <a:gd name="T1" fmla="*/ 59 h 248"/>
                  <a:gd name="T2" fmla="*/ 4 w 247"/>
                  <a:gd name="T3" fmla="*/ 93 h 248"/>
                  <a:gd name="T4" fmla="*/ 0 w 247"/>
                  <a:gd name="T5" fmla="*/ 121 h 248"/>
                  <a:gd name="T6" fmla="*/ 4 w 247"/>
                  <a:gd name="T7" fmla="*/ 160 h 248"/>
                  <a:gd name="T8" fmla="*/ 21 w 247"/>
                  <a:gd name="T9" fmla="*/ 196 h 248"/>
                  <a:gd name="T10" fmla="*/ 42 w 247"/>
                  <a:gd name="T11" fmla="*/ 220 h 248"/>
                  <a:gd name="T12" fmla="*/ 78 w 247"/>
                  <a:gd name="T13" fmla="*/ 241 h 248"/>
                  <a:gd name="T14" fmla="*/ 108 w 247"/>
                  <a:gd name="T15" fmla="*/ 247 h 248"/>
                  <a:gd name="T16" fmla="*/ 160 w 247"/>
                  <a:gd name="T17" fmla="*/ 242 h 248"/>
                  <a:gd name="T18" fmla="*/ 197 w 247"/>
                  <a:gd name="T19" fmla="*/ 223 h 248"/>
                  <a:gd name="T20" fmla="*/ 219 w 247"/>
                  <a:gd name="T21" fmla="*/ 201 h 248"/>
                  <a:gd name="T22" fmla="*/ 233 w 247"/>
                  <a:gd name="T23" fmla="*/ 178 h 248"/>
                  <a:gd name="T24" fmla="*/ 244 w 247"/>
                  <a:gd name="T25" fmla="*/ 108 h 248"/>
                  <a:gd name="T26" fmla="*/ 229 w 247"/>
                  <a:gd name="T27" fmla="*/ 70 h 248"/>
                  <a:gd name="T28" fmla="*/ 245 w 247"/>
                  <a:gd name="T29" fmla="*/ 53 h 248"/>
                  <a:gd name="T30" fmla="*/ 232 w 247"/>
                  <a:gd name="T31" fmla="*/ 52 h 248"/>
                  <a:gd name="T32" fmla="*/ 220 w 247"/>
                  <a:gd name="T33" fmla="*/ 43 h 248"/>
                  <a:gd name="T34" fmla="*/ 203 w 247"/>
                  <a:gd name="T35" fmla="*/ 24 h 248"/>
                  <a:gd name="T36" fmla="*/ 199 w 247"/>
                  <a:gd name="T37" fmla="*/ 11 h 248"/>
                  <a:gd name="T38" fmla="*/ 169 w 247"/>
                  <a:gd name="T39" fmla="*/ 34 h 248"/>
                  <a:gd name="T40" fmla="*/ 165 w 247"/>
                  <a:gd name="T41" fmla="*/ 43 h 248"/>
                  <a:gd name="T42" fmla="*/ 165 w 247"/>
                  <a:gd name="T43" fmla="*/ 54 h 248"/>
                  <a:gd name="T44" fmla="*/ 168 w 247"/>
                  <a:gd name="T45" fmla="*/ 64 h 248"/>
                  <a:gd name="T46" fmla="*/ 185 w 247"/>
                  <a:gd name="T47" fmla="*/ 82 h 248"/>
                  <a:gd name="T48" fmla="*/ 196 w 247"/>
                  <a:gd name="T49" fmla="*/ 88 h 248"/>
                  <a:gd name="T50" fmla="*/ 171 w 247"/>
                  <a:gd name="T51" fmla="*/ 81 h 248"/>
                  <a:gd name="T52" fmla="*/ 156 w 247"/>
                  <a:gd name="T53" fmla="*/ 67 h 248"/>
                  <a:gd name="T54" fmla="*/ 149 w 247"/>
                  <a:gd name="T55" fmla="*/ 52 h 248"/>
                  <a:gd name="T56" fmla="*/ 150 w 247"/>
                  <a:gd name="T57" fmla="*/ 36 h 248"/>
                  <a:gd name="T58" fmla="*/ 157 w 247"/>
                  <a:gd name="T59" fmla="*/ 24 h 248"/>
                  <a:gd name="T60" fmla="*/ 165 w 247"/>
                  <a:gd name="T61" fmla="*/ 12 h 248"/>
                  <a:gd name="T62" fmla="*/ 121 w 247"/>
                  <a:gd name="T63" fmla="*/ 4 h 248"/>
                  <a:gd name="T64" fmla="*/ 90 w 247"/>
                  <a:gd name="T65" fmla="*/ 9 h 248"/>
                  <a:gd name="T66" fmla="*/ 51 w 247"/>
                  <a:gd name="T67" fmla="*/ 27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7" h="248">
                    <a:moveTo>
                      <a:pt x="36" y="39"/>
                    </a:moveTo>
                    <a:lnTo>
                      <a:pt x="19" y="59"/>
                    </a:lnTo>
                    <a:lnTo>
                      <a:pt x="11" y="75"/>
                    </a:lnTo>
                    <a:lnTo>
                      <a:pt x="4" y="93"/>
                    </a:lnTo>
                    <a:lnTo>
                      <a:pt x="1" y="102"/>
                    </a:lnTo>
                    <a:lnTo>
                      <a:pt x="0" y="121"/>
                    </a:lnTo>
                    <a:lnTo>
                      <a:pt x="0" y="141"/>
                    </a:lnTo>
                    <a:lnTo>
                      <a:pt x="4" y="160"/>
                    </a:lnTo>
                    <a:lnTo>
                      <a:pt x="11" y="179"/>
                    </a:lnTo>
                    <a:lnTo>
                      <a:pt x="21" y="196"/>
                    </a:lnTo>
                    <a:lnTo>
                      <a:pt x="34" y="211"/>
                    </a:lnTo>
                    <a:lnTo>
                      <a:pt x="42" y="220"/>
                    </a:lnTo>
                    <a:lnTo>
                      <a:pt x="57" y="231"/>
                    </a:lnTo>
                    <a:lnTo>
                      <a:pt x="78" y="241"/>
                    </a:lnTo>
                    <a:lnTo>
                      <a:pt x="95" y="246"/>
                    </a:lnTo>
                    <a:lnTo>
                      <a:pt x="108" y="247"/>
                    </a:lnTo>
                    <a:lnTo>
                      <a:pt x="125" y="248"/>
                    </a:lnTo>
                    <a:lnTo>
                      <a:pt x="160" y="242"/>
                    </a:lnTo>
                    <a:lnTo>
                      <a:pt x="177" y="236"/>
                    </a:lnTo>
                    <a:lnTo>
                      <a:pt x="197" y="223"/>
                    </a:lnTo>
                    <a:lnTo>
                      <a:pt x="207" y="215"/>
                    </a:lnTo>
                    <a:lnTo>
                      <a:pt x="219" y="201"/>
                    </a:lnTo>
                    <a:lnTo>
                      <a:pt x="225" y="193"/>
                    </a:lnTo>
                    <a:lnTo>
                      <a:pt x="233" y="178"/>
                    </a:lnTo>
                    <a:lnTo>
                      <a:pt x="244" y="143"/>
                    </a:lnTo>
                    <a:lnTo>
                      <a:pt x="244" y="108"/>
                    </a:lnTo>
                    <a:lnTo>
                      <a:pt x="235" y="82"/>
                    </a:lnTo>
                    <a:lnTo>
                      <a:pt x="229" y="70"/>
                    </a:lnTo>
                    <a:lnTo>
                      <a:pt x="247" y="52"/>
                    </a:lnTo>
                    <a:lnTo>
                      <a:pt x="245" y="53"/>
                    </a:lnTo>
                    <a:lnTo>
                      <a:pt x="240" y="53"/>
                    </a:lnTo>
                    <a:lnTo>
                      <a:pt x="232" y="52"/>
                    </a:lnTo>
                    <a:lnTo>
                      <a:pt x="223" y="47"/>
                    </a:lnTo>
                    <a:lnTo>
                      <a:pt x="220" y="43"/>
                    </a:lnTo>
                    <a:lnTo>
                      <a:pt x="210" y="34"/>
                    </a:lnTo>
                    <a:lnTo>
                      <a:pt x="203" y="24"/>
                    </a:lnTo>
                    <a:lnTo>
                      <a:pt x="199" y="15"/>
                    </a:lnTo>
                    <a:lnTo>
                      <a:pt x="199" y="11"/>
                    </a:lnTo>
                    <a:lnTo>
                      <a:pt x="199" y="0"/>
                    </a:lnTo>
                    <a:lnTo>
                      <a:pt x="169" y="34"/>
                    </a:lnTo>
                    <a:lnTo>
                      <a:pt x="167" y="39"/>
                    </a:lnTo>
                    <a:lnTo>
                      <a:pt x="165" y="43"/>
                    </a:lnTo>
                    <a:lnTo>
                      <a:pt x="165" y="49"/>
                    </a:lnTo>
                    <a:lnTo>
                      <a:pt x="165" y="54"/>
                    </a:lnTo>
                    <a:lnTo>
                      <a:pt x="166" y="59"/>
                    </a:lnTo>
                    <a:lnTo>
                      <a:pt x="168" y="64"/>
                    </a:lnTo>
                    <a:lnTo>
                      <a:pt x="174" y="72"/>
                    </a:lnTo>
                    <a:lnTo>
                      <a:pt x="185" y="82"/>
                    </a:lnTo>
                    <a:lnTo>
                      <a:pt x="195" y="88"/>
                    </a:lnTo>
                    <a:lnTo>
                      <a:pt x="196" y="88"/>
                    </a:lnTo>
                    <a:lnTo>
                      <a:pt x="174" y="82"/>
                    </a:lnTo>
                    <a:lnTo>
                      <a:pt x="171" y="81"/>
                    </a:lnTo>
                    <a:lnTo>
                      <a:pt x="162" y="75"/>
                    </a:lnTo>
                    <a:lnTo>
                      <a:pt x="156" y="67"/>
                    </a:lnTo>
                    <a:lnTo>
                      <a:pt x="151" y="59"/>
                    </a:lnTo>
                    <a:lnTo>
                      <a:pt x="149" y="52"/>
                    </a:lnTo>
                    <a:lnTo>
                      <a:pt x="149" y="43"/>
                    </a:lnTo>
                    <a:lnTo>
                      <a:pt x="150" y="36"/>
                    </a:lnTo>
                    <a:lnTo>
                      <a:pt x="154" y="30"/>
                    </a:lnTo>
                    <a:lnTo>
                      <a:pt x="157" y="24"/>
                    </a:lnTo>
                    <a:lnTo>
                      <a:pt x="169" y="13"/>
                    </a:lnTo>
                    <a:lnTo>
                      <a:pt x="165" y="12"/>
                    </a:lnTo>
                    <a:lnTo>
                      <a:pt x="148" y="6"/>
                    </a:lnTo>
                    <a:lnTo>
                      <a:pt x="121" y="4"/>
                    </a:lnTo>
                    <a:lnTo>
                      <a:pt x="103" y="6"/>
                    </a:lnTo>
                    <a:lnTo>
                      <a:pt x="90" y="9"/>
                    </a:lnTo>
                    <a:lnTo>
                      <a:pt x="66" y="17"/>
                    </a:lnTo>
                    <a:lnTo>
                      <a:pt x="51" y="27"/>
                    </a:lnTo>
                    <a:lnTo>
                      <a:pt x="36"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290" name="Freeform 18">
                <a:extLst>
                  <a:ext uri="{FF2B5EF4-FFF2-40B4-BE49-F238E27FC236}">
                    <a16:creationId xmlns:a16="http://schemas.microsoft.com/office/drawing/2014/main" id="{8235EAF6-9A10-176C-BF69-38A46FF43FE5}"/>
                  </a:ext>
                </a:extLst>
              </p:cNvPr>
              <p:cNvSpPr>
                <a:spLocks/>
              </p:cNvSpPr>
              <p:nvPr/>
            </p:nvSpPr>
            <p:spPr bwMode="auto">
              <a:xfrm>
                <a:off x="2592" y="3819"/>
                <a:ext cx="26" cy="26"/>
              </a:xfrm>
              <a:custGeom>
                <a:avLst/>
                <a:gdLst>
                  <a:gd name="T0" fmla="*/ 66 w 78"/>
                  <a:gd name="T1" fmla="*/ 0 h 78"/>
                  <a:gd name="T2" fmla="*/ 64 w 78"/>
                  <a:gd name="T3" fmla="*/ 2 h 78"/>
                  <a:gd name="T4" fmla="*/ 2 w 78"/>
                  <a:gd name="T5" fmla="*/ 63 h 78"/>
                  <a:gd name="T6" fmla="*/ 1 w 78"/>
                  <a:gd name="T7" fmla="*/ 66 h 78"/>
                  <a:gd name="T8" fmla="*/ 0 w 78"/>
                  <a:gd name="T9" fmla="*/ 68 h 78"/>
                  <a:gd name="T10" fmla="*/ 1 w 78"/>
                  <a:gd name="T11" fmla="*/ 73 h 78"/>
                  <a:gd name="T12" fmla="*/ 2 w 78"/>
                  <a:gd name="T13" fmla="*/ 75 h 78"/>
                  <a:gd name="T14" fmla="*/ 5 w 78"/>
                  <a:gd name="T15" fmla="*/ 76 h 78"/>
                  <a:gd name="T16" fmla="*/ 6 w 78"/>
                  <a:gd name="T17" fmla="*/ 76 h 78"/>
                  <a:gd name="T18" fmla="*/ 10 w 78"/>
                  <a:gd name="T19" fmla="*/ 78 h 78"/>
                  <a:gd name="T20" fmla="*/ 11 w 78"/>
                  <a:gd name="T21" fmla="*/ 78 h 78"/>
                  <a:gd name="T22" fmla="*/ 13 w 78"/>
                  <a:gd name="T23" fmla="*/ 76 h 78"/>
                  <a:gd name="T24" fmla="*/ 16 w 78"/>
                  <a:gd name="T25" fmla="*/ 74 h 78"/>
                  <a:gd name="T26" fmla="*/ 76 w 78"/>
                  <a:gd name="T27" fmla="*/ 15 h 78"/>
                  <a:gd name="T28" fmla="*/ 77 w 78"/>
                  <a:gd name="T29" fmla="*/ 12 h 78"/>
                  <a:gd name="T30" fmla="*/ 78 w 78"/>
                  <a:gd name="T31" fmla="*/ 8 h 78"/>
                  <a:gd name="T32" fmla="*/ 77 w 78"/>
                  <a:gd name="T33" fmla="*/ 4 h 78"/>
                  <a:gd name="T34" fmla="*/ 76 w 78"/>
                  <a:gd name="T35" fmla="*/ 2 h 78"/>
                  <a:gd name="T36" fmla="*/ 73 w 78"/>
                  <a:gd name="T37" fmla="*/ 0 h 78"/>
                  <a:gd name="T38" fmla="*/ 71 w 78"/>
                  <a:gd name="T39" fmla="*/ 0 h 78"/>
                  <a:gd name="T40" fmla="*/ 67 w 78"/>
                  <a:gd name="T41" fmla="*/ 0 h 78"/>
                  <a:gd name="T42" fmla="*/ 66 w 78"/>
                  <a:gd name="T43"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78">
                    <a:moveTo>
                      <a:pt x="66" y="0"/>
                    </a:moveTo>
                    <a:lnTo>
                      <a:pt x="64" y="2"/>
                    </a:lnTo>
                    <a:lnTo>
                      <a:pt x="2" y="63"/>
                    </a:lnTo>
                    <a:lnTo>
                      <a:pt x="1" y="66"/>
                    </a:lnTo>
                    <a:lnTo>
                      <a:pt x="0" y="68"/>
                    </a:lnTo>
                    <a:lnTo>
                      <a:pt x="1" y="73"/>
                    </a:lnTo>
                    <a:lnTo>
                      <a:pt x="2" y="75"/>
                    </a:lnTo>
                    <a:lnTo>
                      <a:pt x="5" y="76"/>
                    </a:lnTo>
                    <a:lnTo>
                      <a:pt x="6" y="76"/>
                    </a:lnTo>
                    <a:lnTo>
                      <a:pt x="10" y="78"/>
                    </a:lnTo>
                    <a:lnTo>
                      <a:pt x="11" y="78"/>
                    </a:lnTo>
                    <a:lnTo>
                      <a:pt x="13" y="76"/>
                    </a:lnTo>
                    <a:lnTo>
                      <a:pt x="16" y="74"/>
                    </a:lnTo>
                    <a:lnTo>
                      <a:pt x="76" y="15"/>
                    </a:lnTo>
                    <a:lnTo>
                      <a:pt x="77" y="12"/>
                    </a:lnTo>
                    <a:lnTo>
                      <a:pt x="78" y="8"/>
                    </a:lnTo>
                    <a:lnTo>
                      <a:pt x="77" y="4"/>
                    </a:lnTo>
                    <a:lnTo>
                      <a:pt x="76" y="2"/>
                    </a:lnTo>
                    <a:lnTo>
                      <a:pt x="73" y="0"/>
                    </a:lnTo>
                    <a:lnTo>
                      <a:pt x="71" y="0"/>
                    </a:lnTo>
                    <a:lnTo>
                      <a:pt x="67" y="0"/>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291" name="Freeform 19">
                <a:extLst>
                  <a:ext uri="{FF2B5EF4-FFF2-40B4-BE49-F238E27FC236}">
                    <a16:creationId xmlns:a16="http://schemas.microsoft.com/office/drawing/2014/main" id="{51C34646-A689-0A4E-C510-A99214A426D9}"/>
                  </a:ext>
                </a:extLst>
              </p:cNvPr>
              <p:cNvSpPr>
                <a:spLocks/>
              </p:cNvSpPr>
              <p:nvPr/>
            </p:nvSpPr>
            <p:spPr bwMode="auto">
              <a:xfrm>
                <a:off x="2576" y="3808"/>
                <a:ext cx="6" cy="34"/>
              </a:xfrm>
              <a:custGeom>
                <a:avLst/>
                <a:gdLst>
                  <a:gd name="T0" fmla="*/ 8 w 18"/>
                  <a:gd name="T1" fmla="*/ 0 h 102"/>
                  <a:gd name="T2" fmla="*/ 5 w 18"/>
                  <a:gd name="T3" fmla="*/ 0 h 102"/>
                  <a:gd name="T4" fmla="*/ 3 w 18"/>
                  <a:gd name="T5" fmla="*/ 2 h 102"/>
                  <a:gd name="T6" fmla="*/ 0 w 18"/>
                  <a:gd name="T7" fmla="*/ 7 h 102"/>
                  <a:gd name="T8" fmla="*/ 0 w 18"/>
                  <a:gd name="T9" fmla="*/ 94 h 102"/>
                  <a:gd name="T10" fmla="*/ 0 w 18"/>
                  <a:gd name="T11" fmla="*/ 97 h 102"/>
                  <a:gd name="T12" fmla="*/ 2 w 18"/>
                  <a:gd name="T13" fmla="*/ 98 h 102"/>
                  <a:gd name="T14" fmla="*/ 3 w 18"/>
                  <a:gd name="T15" fmla="*/ 100 h 102"/>
                  <a:gd name="T16" fmla="*/ 5 w 18"/>
                  <a:gd name="T17" fmla="*/ 102 h 102"/>
                  <a:gd name="T18" fmla="*/ 9 w 18"/>
                  <a:gd name="T19" fmla="*/ 102 h 102"/>
                  <a:gd name="T20" fmla="*/ 14 w 18"/>
                  <a:gd name="T21" fmla="*/ 101 h 102"/>
                  <a:gd name="T22" fmla="*/ 16 w 18"/>
                  <a:gd name="T23" fmla="*/ 98 h 102"/>
                  <a:gd name="T24" fmla="*/ 18 w 18"/>
                  <a:gd name="T25" fmla="*/ 94 h 102"/>
                  <a:gd name="T26" fmla="*/ 17 w 18"/>
                  <a:gd name="T27" fmla="*/ 8 h 102"/>
                  <a:gd name="T28" fmla="*/ 16 w 18"/>
                  <a:gd name="T29" fmla="*/ 5 h 102"/>
                  <a:gd name="T30" fmla="*/ 15 w 18"/>
                  <a:gd name="T31" fmla="*/ 2 h 102"/>
                  <a:gd name="T32" fmla="*/ 12 w 18"/>
                  <a:gd name="T33" fmla="*/ 0 h 102"/>
                  <a:gd name="T34" fmla="*/ 8 w 18"/>
                  <a:gd name="T3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102">
                    <a:moveTo>
                      <a:pt x="8" y="0"/>
                    </a:moveTo>
                    <a:lnTo>
                      <a:pt x="5" y="0"/>
                    </a:lnTo>
                    <a:lnTo>
                      <a:pt x="3" y="2"/>
                    </a:lnTo>
                    <a:lnTo>
                      <a:pt x="0" y="7"/>
                    </a:lnTo>
                    <a:lnTo>
                      <a:pt x="0" y="94"/>
                    </a:lnTo>
                    <a:lnTo>
                      <a:pt x="0" y="97"/>
                    </a:lnTo>
                    <a:lnTo>
                      <a:pt x="2" y="98"/>
                    </a:lnTo>
                    <a:lnTo>
                      <a:pt x="3" y="100"/>
                    </a:lnTo>
                    <a:lnTo>
                      <a:pt x="5" y="102"/>
                    </a:lnTo>
                    <a:lnTo>
                      <a:pt x="9" y="102"/>
                    </a:lnTo>
                    <a:lnTo>
                      <a:pt x="14" y="101"/>
                    </a:lnTo>
                    <a:lnTo>
                      <a:pt x="16" y="98"/>
                    </a:lnTo>
                    <a:lnTo>
                      <a:pt x="18" y="94"/>
                    </a:lnTo>
                    <a:lnTo>
                      <a:pt x="17" y="8"/>
                    </a:lnTo>
                    <a:lnTo>
                      <a:pt x="16" y="5"/>
                    </a:lnTo>
                    <a:lnTo>
                      <a:pt x="15" y="2"/>
                    </a:lnTo>
                    <a:lnTo>
                      <a:pt x="12" y="0"/>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292" name="Freeform 20">
                <a:extLst>
                  <a:ext uri="{FF2B5EF4-FFF2-40B4-BE49-F238E27FC236}">
                    <a16:creationId xmlns:a16="http://schemas.microsoft.com/office/drawing/2014/main" id="{1C3A4C90-7700-CD5C-2BE4-C0B342D0BB1C}"/>
                  </a:ext>
                </a:extLst>
              </p:cNvPr>
              <p:cNvSpPr>
                <a:spLocks/>
              </p:cNvSpPr>
              <p:nvPr/>
            </p:nvSpPr>
            <p:spPr bwMode="auto">
              <a:xfrm>
                <a:off x="2562" y="3849"/>
                <a:ext cx="26" cy="21"/>
              </a:xfrm>
              <a:custGeom>
                <a:avLst/>
                <a:gdLst>
                  <a:gd name="T0" fmla="*/ 69 w 78"/>
                  <a:gd name="T1" fmla="*/ 0 h 61"/>
                  <a:gd name="T2" fmla="*/ 63 w 78"/>
                  <a:gd name="T3" fmla="*/ 6 h 61"/>
                  <a:gd name="T4" fmla="*/ 24 w 78"/>
                  <a:gd name="T5" fmla="*/ 38 h 61"/>
                  <a:gd name="T6" fmla="*/ 23 w 78"/>
                  <a:gd name="T7" fmla="*/ 38 h 61"/>
                  <a:gd name="T8" fmla="*/ 23 w 78"/>
                  <a:gd name="T9" fmla="*/ 39 h 61"/>
                  <a:gd name="T10" fmla="*/ 21 w 78"/>
                  <a:gd name="T11" fmla="*/ 38 h 61"/>
                  <a:gd name="T12" fmla="*/ 19 w 78"/>
                  <a:gd name="T13" fmla="*/ 36 h 61"/>
                  <a:gd name="T14" fmla="*/ 19 w 78"/>
                  <a:gd name="T15" fmla="*/ 33 h 61"/>
                  <a:gd name="T16" fmla="*/ 21 w 78"/>
                  <a:gd name="T17" fmla="*/ 32 h 61"/>
                  <a:gd name="T18" fmla="*/ 21 w 78"/>
                  <a:gd name="T19" fmla="*/ 31 h 61"/>
                  <a:gd name="T20" fmla="*/ 27 w 78"/>
                  <a:gd name="T21" fmla="*/ 24 h 61"/>
                  <a:gd name="T22" fmla="*/ 29 w 78"/>
                  <a:gd name="T23" fmla="*/ 21 h 61"/>
                  <a:gd name="T24" fmla="*/ 27 w 78"/>
                  <a:gd name="T25" fmla="*/ 19 h 61"/>
                  <a:gd name="T26" fmla="*/ 17 w 78"/>
                  <a:gd name="T27" fmla="*/ 13 h 61"/>
                  <a:gd name="T28" fmla="*/ 13 w 78"/>
                  <a:gd name="T29" fmla="*/ 12 h 61"/>
                  <a:gd name="T30" fmla="*/ 10 w 78"/>
                  <a:gd name="T31" fmla="*/ 11 h 61"/>
                  <a:gd name="T32" fmla="*/ 6 w 78"/>
                  <a:gd name="T33" fmla="*/ 11 h 61"/>
                  <a:gd name="T34" fmla="*/ 4 w 78"/>
                  <a:gd name="T35" fmla="*/ 13 h 61"/>
                  <a:gd name="T36" fmla="*/ 3 w 78"/>
                  <a:gd name="T37" fmla="*/ 14 h 61"/>
                  <a:gd name="T38" fmla="*/ 1 w 78"/>
                  <a:gd name="T39" fmla="*/ 17 h 61"/>
                  <a:gd name="T40" fmla="*/ 0 w 78"/>
                  <a:gd name="T41" fmla="*/ 20 h 61"/>
                  <a:gd name="T42" fmla="*/ 3 w 78"/>
                  <a:gd name="T43" fmla="*/ 31 h 61"/>
                  <a:gd name="T44" fmla="*/ 7 w 78"/>
                  <a:gd name="T45" fmla="*/ 41 h 61"/>
                  <a:gd name="T46" fmla="*/ 13 w 78"/>
                  <a:gd name="T47" fmla="*/ 47 h 61"/>
                  <a:gd name="T48" fmla="*/ 19 w 78"/>
                  <a:gd name="T49" fmla="*/ 54 h 61"/>
                  <a:gd name="T50" fmla="*/ 22 w 78"/>
                  <a:gd name="T51" fmla="*/ 55 h 61"/>
                  <a:gd name="T52" fmla="*/ 29 w 78"/>
                  <a:gd name="T53" fmla="*/ 59 h 61"/>
                  <a:gd name="T54" fmla="*/ 39 w 78"/>
                  <a:gd name="T55" fmla="*/ 61 h 61"/>
                  <a:gd name="T56" fmla="*/ 42 w 78"/>
                  <a:gd name="T57" fmla="*/ 60 h 61"/>
                  <a:gd name="T58" fmla="*/ 46 w 78"/>
                  <a:gd name="T59" fmla="*/ 59 h 61"/>
                  <a:gd name="T60" fmla="*/ 46 w 78"/>
                  <a:gd name="T61" fmla="*/ 57 h 61"/>
                  <a:gd name="T62" fmla="*/ 47 w 78"/>
                  <a:gd name="T63" fmla="*/ 56 h 61"/>
                  <a:gd name="T64" fmla="*/ 48 w 78"/>
                  <a:gd name="T65" fmla="*/ 54 h 61"/>
                  <a:gd name="T66" fmla="*/ 48 w 78"/>
                  <a:gd name="T67" fmla="*/ 49 h 61"/>
                  <a:gd name="T68" fmla="*/ 47 w 78"/>
                  <a:gd name="T69" fmla="*/ 42 h 61"/>
                  <a:gd name="T70" fmla="*/ 43 w 78"/>
                  <a:gd name="T71" fmla="*/ 35 h 61"/>
                  <a:gd name="T72" fmla="*/ 75 w 78"/>
                  <a:gd name="T73" fmla="*/ 9 h 61"/>
                  <a:gd name="T74" fmla="*/ 78 w 78"/>
                  <a:gd name="T75" fmla="*/ 8 h 61"/>
                  <a:gd name="T76" fmla="*/ 69 w 78"/>
                  <a:gd name="T7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8" h="61">
                    <a:moveTo>
                      <a:pt x="69" y="0"/>
                    </a:moveTo>
                    <a:lnTo>
                      <a:pt x="63" y="6"/>
                    </a:lnTo>
                    <a:lnTo>
                      <a:pt x="24" y="38"/>
                    </a:lnTo>
                    <a:lnTo>
                      <a:pt x="23" y="38"/>
                    </a:lnTo>
                    <a:lnTo>
                      <a:pt x="23" y="39"/>
                    </a:lnTo>
                    <a:lnTo>
                      <a:pt x="21" y="38"/>
                    </a:lnTo>
                    <a:lnTo>
                      <a:pt x="19" y="36"/>
                    </a:lnTo>
                    <a:lnTo>
                      <a:pt x="19" y="33"/>
                    </a:lnTo>
                    <a:lnTo>
                      <a:pt x="21" y="32"/>
                    </a:lnTo>
                    <a:lnTo>
                      <a:pt x="21" y="31"/>
                    </a:lnTo>
                    <a:lnTo>
                      <a:pt x="27" y="24"/>
                    </a:lnTo>
                    <a:lnTo>
                      <a:pt x="29" y="21"/>
                    </a:lnTo>
                    <a:lnTo>
                      <a:pt x="27" y="19"/>
                    </a:lnTo>
                    <a:lnTo>
                      <a:pt x="17" y="13"/>
                    </a:lnTo>
                    <a:lnTo>
                      <a:pt x="13" y="12"/>
                    </a:lnTo>
                    <a:lnTo>
                      <a:pt x="10" y="11"/>
                    </a:lnTo>
                    <a:lnTo>
                      <a:pt x="6" y="11"/>
                    </a:lnTo>
                    <a:lnTo>
                      <a:pt x="4" y="13"/>
                    </a:lnTo>
                    <a:lnTo>
                      <a:pt x="3" y="14"/>
                    </a:lnTo>
                    <a:lnTo>
                      <a:pt x="1" y="17"/>
                    </a:lnTo>
                    <a:lnTo>
                      <a:pt x="0" y="20"/>
                    </a:lnTo>
                    <a:lnTo>
                      <a:pt x="3" y="31"/>
                    </a:lnTo>
                    <a:lnTo>
                      <a:pt x="7" y="41"/>
                    </a:lnTo>
                    <a:lnTo>
                      <a:pt x="13" y="47"/>
                    </a:lnTo>
                    <a:lnTo>
                      <a:pt x="19" y="54"/>
                    </a:lnTo>
                    <a:lnTo>
                      <a:pt x="22" y="55"/>
                    </a:lnTo>
                    <a:lnTo>
                      <a:pt x="29" y="59"/>
                    </a:lnTo>
                    <a:lnTo>
                      <a:pt x="39" y="61"/>
                    </a:lnTo>
                    <a:lnTo>
                      <a:pt x="42" y="60"/>
                    </a:lnTo>
                    <a:lnTo>
                      <a:pt x="46" y="59"/>
                    </a:lnTo>
                    <a:lnTo>
                      <a:pt x="46" y="57"/>
                    </a:lnTo>
                    <a:lnTo>
                      <a:pt x="47" y="56"/>
                    </a:lnTo>
                    <a:lnTo>
                      <a:pt x="48" y="54"/>
                    </a:lnTo>
                    <a:lnTo>
                      <a:pt x="48" y="49"/>
                    </a:lnTo>
                    <a:lnTo>
                      <a:pt x="47" y="42"/>
                    </a:lnTo>
                    <a:lnTo>
                      <a:pt x="43" y="35"/>
                    </a:lnTo>
                    <a:lnTo>
                      <a:pt x="75" y="9"/>
                    </a:lnTo>
                    <a:lnTo>
                      <a:pt x="78" y="8"/>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293" name="Freeform 21">
                <a:extLst>
                  <a:ext uri="{FF2B5EF4-FFF2-40B4-BE49-F238E27FC236}">
                    <a16:creationId xmlns:a16="http://schemas.microsoft.com/office/drawing/2014/main" id="{C867458B-60AB-BE26-B3AF-B4861404A030}"/>
                  </a:ext>
                </a:extLst>
              </p:cNvPr>
              <p:cNvSpPr>
                <a:spLocks/>
              </p:cNvSpPr>
              <p:nvPr/>
            </p:nvSpPr>
            <p:spPr bwMode="auto">
              <a:xfrm>
                <a:off x="2594" y="3854"/>
                <a:ext cx="34" cy="6"/>
              </a:xfrm>
              <a:custGeom>
                <a:avLst/>
                <a:gdLst>
                  <a:gd name="T0" fmla="*/ 0 w 102"/>
                  <a:gd name="T1" fmla="*/ 10 h 18"/>
                  <a:gd name="T2" fmla="*/ 0 w 102"/>
                  <a:gd name="T3" fmla="*/ 11 h 18"/>
                  <a:gd name="T4" fmla="*/ 3 w 102"/>
                  <a:gd name="T5" fmla="*/ 14 h 18"/>
                  <a:gd name="T6" fmla="*/ 3 w 102"/>
                  <a:gd name="T7" fmla="*/ 16 h 18"/>
                  <a:gd name="T8" fmla="*/ 5 w 102"/>
                  <a:gd name="T9" fmla="*/ 18 h 18"/>
                  <a:gd name="T10" fmla="*/ 8 w 102"/>
                  <a:gd name="T11" fmla="*/ 18 h 18"/>
                  <a:gd name="T12" fmla="*/ 96 w 102"/>
                  <a:gd name="T13" fmla="*/ 18 h 18"/>
                  <a:gd name="T14" fmla="*/ 96 w 102"/>
                  <a:gd name="T15" fmla="*/ 17 h 18"/>
                  <a:gd name="T16" fmla="*/ 100 w 102"/>
                  <a:gd name="T17" fmla="*/ 16 h 18"/>
                  <a:gd name="T18" fmla="*/ 102 w 102"/>
                  <a:gd name="T19" fmla="*/ 13 h 18"/>
                  <a:gd name="T20" fmla="*/ 102 w 102"/>
                  <a:gd name="T21" fmla="*/ 8 h 18"/>
                  <a:gd name="T22" fmla="*/ 102 w 102"/>
                  <a:gd name="T23" fmla="*/ 7 h 18"/>
                  <a:gd name="T24" fmla="*/ 100 w 102"/>
                  <a:gd name="T25" fmla="*/ 1 h 18"/>
                  <a:gd name="T26" fmla="*/ 95 w 102"/>
                  <a:gd name="T27" fmla="*/ 0 h 18"/>
                  <a:gd name="T28" fmla="*/ 8 w 102"/>
                  <a:gd name="T29" fmla="*/ 1 h 18"/>
                  <a:gd name="T30" fmla="*/ 5 w 102"/>
                  <a:gd name="T31" fmla="*/ 1 h 18"/>
                  <a:gd name="T32" fmla="*/ 3 w 102"/>
                  <a:gd name="T33" fmla="*/ 2 h 18"/>
                  <a:gd name="T34" fmla="*/ 3 w 102"/>
                  <a:gd name="T35" fmla="*/ 5 h 18"/>
                  <a:gd name="T36" fmla="*/ 2 w 102"/>
                  <a:gd name="T37" fmla="*/ 6 h 18"/>
                  <a:gd name="T38" fmla="*/ 0 w 102"/>
                  <a:gd name="T39" fmla="*/ 1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18">
                    <a:moveTo>
                      <a:pt x="0" y="10"/>
                    </a:moveTo>
                    <a:lnTo>
                      <a:pt x="0" y="11"/>
                    </a:lnTo>
                    <a:lnTo>
                      <a:pt x="3" y="14"/>
                    </a:lnTo>
                    <a:lnTo>
                      <a:pt x="3" y="16"/>
                    </a:lnTo>
                    <a:lnTo>
                      <a:pt x="5" y="18"/>
                    </a:lnTo>
                    <a:lnTo>
                      <a:pt x="8" y="18"/>
                    </a:lnTo>
                    <a:lnTo>
                      <a:pt x="96" y="18"/>
                    </a:lnTo>
                    <a:lnTo>
                      <a:pt x="96" y="17"/>
                    </a:lnTo>
                    <a:lnTo>
                      <a:pt x="100" y="16"/>
                    </a:lnTo>
                    <a:lnTo>
                      <a:pt x="102" y="13"/>
                    </a:lnTo>
                    <a:lnTo>
                      <a:pt x="102" y="8"/>
                    </a:lnTo>
                    <a:lnTo>
                      <a:pt x="102" y="7"/>
                    </a:lnTo>
                    <a:lnTo>
                      <a:pt x="100" y="1"/>
                    </a:lnTo>
                    <a:lnTo>
                      <a:pt x="95" y="0"/>
                    </a:lnTo>
                    <a:lnTo>
                      <a:pt x="8" y="1"/>
                    </a:lnTo>
                    <a:lnTo>
                      <a:pt x="5" y="1"/>
                    </a:lnTo>
                    <a:lnTo>
                      <a:pt x="3" y="2"/>
                    </a:lnTo>
                    <a:lnTo>
                      <a:pt x="3" y="5"/>
                    </a:lnTo>
                    <a:lnTo>
                      <a:pt x="2" y="6"/>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54294" name="Rectangle 22">
              <a:extLst>
                <a:ext uri="{FF2B5EF4-FFF2-40B4-BE49-F238E27FC236}">
                  <a16:creationId xmlns:a16="http://schemas.microsoft.com/office/drawing/2014/main" id="{1FABAD2D-6990-4B34-95CA-8A7E90289E6D}"/>
                </a:ext>
              </a:extLst>
            </p:cNvPr>
            <p:cNvSpPr>
              <a:spLocks noChangeArrowheads="1"/>
            </p:cNvSpPr>
            <p:nvPr/>
          </p:nvSpPr>
          <p:spPr bwMode="auto">
            <a:xfrm>
              <a:off x="2660" y="3844"/>
              <a:ext cx="28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a:solidFill>
                    <a:srgbClr val="000000"/>
                  </a:solidFill>
                  <a:latin typeface="Verdana" panose="020B0604030504040204" pitchFamily="34" charset="0"/>
                  <a:ea typeface="宋体" panose="02010600030101010101" pitchFamily="2" charset="-122"/>
                </a:rPr>
                <a:t>Media</a:t>
              </a:r>
              <a:endParaRPr lang="en-US" altLang="zh-CN" sz="1800">
                <a:solidFill>
                  <a:schemeClr val="tx1"/>
                </a:solidFill>
                <a:ea typeface="宋体" panose="02010600030101010101" pitchFamily="2" charset="-122"/>
              </a:endParaRPr>
            </a:p>
          </p:txBody>
        </p:sp>
        <p:sp>
          <p:nvSpPr>
            <p:cNvPr id="54295" name="Rectangle 23">
              <a:extLst>
                <a:ext uri="{FF2B5EF4-FFF2-40B4-BE49-F238E27FC236}">
                  <a16:creationId xmlns:a16="http://schemas.microsoft.com/office/drawing/2014/main" id="{A17E9F1C-C6E7-CE97-7856-F26DA41174EF}"/>
                </a:ext>
              </a:extLst>
            </p:cNvPr>
            <p:cNvSpPr>
              <a:spLocks noChangeArrowheads="1"/>
            </p:cNvSpPr>
            <p:nvPr/>
          </p:nvSpPr>
          <p:spPr bwMode="auto">
            <a:xfrm>
              <a:off x="2660" y="3976"/>
              <a:ext cx="22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a:solidFill>
                    <a:srgbClr val="000000"/>
                  </a:solidFill>
                  <a:latin typeface="Verdana" panose="020B0604030504040204" pitchFamily="34" charset="0"/>
                  <a:ea typeface="宋体" panose="02010600030101010101" pitchFamily="2" charset="-122"/>
                </a:rPr>
                <a:t>theft</a:t>
              </a:r>
              <a:endParaRPr lang="en-US" altLang="zh-CN" sz="1800">
                <a:solidFill>
                  <a:schemeClr val="tx1"/>
                </a:solidFill>
                <a:ea typeface="宋体" panose="02010600030101010101" pitchFamily="2" charset="-122"/>
              </a:endParaRPr>
            </a:p>
          </p:txBody>
        </p:sp>
      </p:grpSp>
      <p:grpSp>
        <p:nvGrpSpPr>
          <p:cNvPr id="54362" name="Group 90">
            <a:extLst>
              <a:ext uri="{FF2B5EF4-FFF2-40B4-BE49-F238E27FC236}">
                <a16:creationId xmlns:a16="http://schemas.microsoft.com/office/drawing/2014/main" id="{FDFF0721-D527-24C8-9880-A71D82627EED}"/>
              </a:ext>
            </a:extLst>
          </p:cNvPr>
          <p:cNvGrpSpPr>
            <a:grpSpLocks/>
          </p:cNvGrpSpPr>
          <p:nvPr/>
        </p:nvGrpSpPr>
        <p:grpSpPr bwMode="auto">
          <a:xfrm>
            <a:off x="5464175" y="5894388"/>
            <a:ext cx="738188" cy="738187"/>
            <a:chOff x="3442" y="3713"/>
            <a:chExt cx="465" cy="465"/>
          </a:xfrm>
        </p:grpSpPr>
        <p:sp>
          <p:nvSpPr>
            <p:cNvPr id="54298" name="Freeform 26">
              <a:extLst>
                <a:ext uri="{FF2B5EF4-FFF2-40B4-BE49-F238E27FC236}">
                  <a16:creationId xmlns:a16="http://schemas.microsoft.com/office/drawing/2014/main" id="{C8B30BF8-451F-6637-AC56-C7B8DE6E2A04}"/>
                </a:ext>
              </a:extLst>
            </p:cNvPr>
            <p:cNvSpPr>
              <a:spLocks/>
            </p:cNvSpPr>
            <p:nvPr/>
          </p:nvSpPr>
          <p:spPr bwMode="auto">
            <a:xfrm>
              <a:off x="3807" y="3849"/>
              <a:ext cx="100" cy="101"/>
            </a:xfrm>
            <a:custGeom>
              <a:avLst/>
              <a:gdLst>
                <a:gd name="T0" fmla="*/ 299 w 299"/>
                <a:gd name="T1" fmla="*/ 271 h 304"/>
                <a:gd name="T2" fmla="*/ 295 w 299"/>
                <a:gd name="T3" fmla="*/ 215 h 304"/>
                <a:gd name="T4" fmla="*/ 289 w 299"/>
                <a:gd name="T5" fmla="*/ 164 h 304"/>
                <a:gd name="T6" fmla="*/ 277 w 299"/>
                <a:gd name="T7" fmla="*/ 109 h 304"/>
                <a:gd name="T8" fmla="*/ 262 w 299"/>
                <a:gd name="T9" fmla="*/ 57 h 304"/>
                <a:gd name="T10" fmla="*/ 258 w 299"/>
                <a:gd name="T11" fmla="*/ 46 h 304"/>
                <a:gd name="T12" fmla="*/ 241 w 299"/>
                <a:gd name="T13" fmla="*/ 6 h 304"/>
                <a:gd name="T14" fmla="*/ 234 w 299"/>
                <a:gd name="T15" fmla="*/ 2 h 304"/>
                <a:gd name="T16" fmla="*/ 233 w 299"/>
                <a:gd name="T17" fmla="*/ 2 h 304"/>
                <a:gd name="T18" fmla="*/ 228 w 299"/>
                <a:gd name="T19" fmla="*/ 0 h 304"/>
                <a:gd name="T20" fmla="*/ 102 w 299"/>
                <a:gd name="T21" fmla="*/ 80 h 304"/>
                <a:gd name="T22" fmla="*/ 103 w 299"/>
                <a:gd name="T23" fmla="*/ 84 h 304"/>
                <a:gd name="T24" fmla="*/ 191 w 299"/>
                <a:gd name="T25" fmla="*/ 165 h 304"/>
                <a:gd name="T26" fmla="*/ 28 w 299"/>
                <a:gd name="T27" fmla="*/ 142 h 304"/>
                <a:gd name="T28" fmla="*/ 19 w 299"/>
                <a:gd name="T29" fmla="*/ 148 h 304"/>
                <a:gd name="T30" fmla="*/ 0 w 299"/>
                <a:gd name="T31" fmla="*/ 165 h 304"/>
                <a:gd name="T32" fmla="*/ 238 w 299"/>
                <a:gd name="T33" fmla="*/ 303 h 304"/>
                <a:gd name="T34" fmla="*/ 242 w 299"/>
                <a:gd name="T35" fmla="*/ 304 h 304"/>
                <a:gd name="T36" fmla="*/ 299 w 299"/>
                <a:gd name="T37" fmla="*/ 271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9" h="304">
                  <a:moveTo>
                    <a:pt x="299" y="271"/>
                  </a:moveTo>
                  <a:lnTo>
                    <a:pt x="295" y="215"/>
                  </a:lnTo>
                  <a:lnTo>
                    <a:pt x="289" y="164"/>
                  </a:lnTo>
                  <a:lnTo>
                    <a:pt x="277" y="109"/>
                  </a:lnTo>
                  <a:lnTo>
                    <a:pt x="262" y="57"/>
                  </a:lnTo>
                  <a:lnTo>
                    <a:pt x="258" y="46"/>
                  </a:lnTo>
                  <a:lnTo>
                    <a:pt x="241" y="6"/>
                  </a:lnTo>
                  <a:lnTo>
                    <a:pt x="234" y="2"/>
                  </a:lnTo>
                  <a:lnTo>
                    <a:pt x="233" y="2"/>
                  </a:lnTo>
                  <a:lnTo>
                    <a:pt x="228" y="0"/>
                  </a:lnTo>
                  <a:lnTo>
                    <a:pt x="102" y="80"/>
                  </a:lnTo>
                  <a:lnTo>
                    <a:pt x="103" y="84"/>
                  </a:lnTo>
                  <a:lnTo>
                    <a:pt x="191" y="165"/>
                  </a:lnTo>
                  <a:lnTo>
                    <a:pt x="28" y="142"/>
                  </a:lnTo>
                  <a:lnTo>
                    <a:pt x="19" y="148"/>
                  </a:lnTo>
                  <a:lnTo>
                    <a:pt x="0" y="165"/>
                  </a:lnTo>
                  <a:lnTo>
                    <a:pt x="238" y="303"/>
                  </a:lnTo>
                  <a:lnTo>
                    <a:pt x="242" y="304"/>
                  </a:lnTo>
                  <a:lnTo>
                    <a:pt x="299" y="27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299" name="Freeform 27">
              <a:extLst>
                <a:ext uri="{FF2B5EF4-FFF2-40B4-BE49-F238E27FC236}">
                  <a16:creationId xmlns:a16="http://schemas.microsoft.com/office/drawing/2014/main" id="{FE0059EF-3464-348D-5EB0-E5E488581C6C}"/>
                </a:ext>
              </a:extLst>
            </p:cNvPr>
            <p:cNvSpPr>
              <a:spLocks/>
            </p:cNvSpPr>
            <p:nvPr/>
          </p:nvSpPr>
          <p:spPr bwMode="auto">
            <a:xfrm>
              <a:off x="3888" y="3939"/>
              <a:ext cx="19" cy="39"/>
            </a:xfrm>
            <a:custGeom>
              <a:avLst/>
              <a:gdLst>
                <a:gd name="T0" fmla="*/ 57 w 57"/>
                <a:gd name="T1" fmla="*/ 19 h 115"/>
                <a:gd name="T2" fmla="*/ 57 w 57"/>
                <a:gd name="T3" fmla="*/ 0 h 115"/>
                <a:gd name="T4" fmla="*/ 0 w 57"/>
                <a:gd name="T5" fmla="*/ 33 h 115"/>
                <a:gd name="T6" fmla="*/ 22 w 57"/>
                <a:gd name="T7" fmla="*/ 46 h 115"/>
                <a:gd name="T8" fmla="*/ 51 w 57"/>
                <a:gd name="T9" fmla="*/ 115 h 115"/>
                <a:gd name="T10" fmla="*/ 56 w 57"/>
                <a:gd name="T11" fmla="*/ 73 h 115"/>
                <a:gd name="T12" fmla="*/ 56 w 57"/>
                <a:gd name="T13" fmla="*/ 45 h 115"/>
                <a:gd name="T14" fmla="*/ 57 w 57"/>
                <a:gd name="T15" fmla="*/ 19 h 1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115">
                  <a:moveTo>
                    <a:pt x="57" y="19"/>
                  </a:moveTo>
                  <a:lnTo>
                    <a:pt x="57" y="0"/>
                  </a:lnTo>
                  <a:lnTo>
                    <a:pt x="0" y="33"/>
                  </a:lnTo>
                  <a:lnTo>
                    <a:pt x="22" y="46"/>
                  </a:lnTo>
                  <a:lnTo>
                    <a:pt x="51" y="115"/>
                  </a:lnTo>
                  <a:lnTo>
                    <a:pt x="56" y="73"/>
                  </a:lnTo>
                  <a:lnTo>
                    <a:pt x="56" y="45"/>
                  </a:lnTo>
                  <a:lnTo>
                    <a:pt x="57" y="19"/>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00" name="Freeform 28">
              <a:extLst>
                <a:ext uri="{FF2B5EF4-FFF2-40B4-BE49-F238E27FC236}">
                  <a16:creationId xmlns:a16="http://schemas.microsoft.com/office/drawing/2014/main" id="{1669FFA7-A86A-00F4-BB76-E228646DB986}"/>
                </a:ext>
              </a:extLst>
            </p:cNvPr>
            <p:cNvSpPr>
              <a:spLocks/>
            </p:cNvSpPr>
            <p:nvPr/>
          </p:nvSpPr>
          <p:spPr bwMode="auto">
            <a:xfrm>
              <a:off x="3851" y="3950"/>
              <a:ext cx="54" cy="55"/>
            </a:xfrm>
            <a:custGeom>
              <a:avLst/>
              <a:gdLst>
                <a:gd name="T0" fmla="*/ 154 w 163"/>
                <a:gd name="T1" fmla="*/ 134 h 166"/>
                <a:gd name="T2" fmla="*/ 158 w 163"/>
                <a:gd name="T3" fmla="*/ 108 h 166"/>
                <a:gd name="T4" fmla="*/ 163 w 163"/>
                <a:gd name="T5" fmla="*/ 83 h 166"/>
                <a:gd name="T6" fmla="*/ 134 w 163"/>
                <a:gd name="T7" fmla="*/ 14 h 166"/>
                <a:gd name="T8" fmla="*/ 112 w 163"/>
                <a:gd name="T9" fmla="*/ 1 h 166"/>
                <a:gd name="T10" fmla="*/ 108 w 163"/>
                <a:gd name="T11" fmla="*/ 0 h 166"/>
                <a:gd name="T12" fmla="*/ 88 w 163"/>
                <a:gd name="T13" fmla="*/ 13 h 166"/>
                <a:gd name="T14" fmla="*/ 3 w 163"/>
                <a:gd name="T15" fmla="*/ 77 h 166"/>
                <a:gd name="T16" fmla="*/ 0 w 163"/>
                <a:gd name="T17" fmla="*/ 78 h 166"/>
                <a:gd name="T18" fmla="*/ 1 w 163"/>
                <a:gd name="T19" fmla="*/ 80 h 166"/>
                <a:gd name="T20" fmla="*/ 147 w 163"/>
                <a:gd name="T21" fmla="*/ 166 h 166"/>
                <a:gd name="T22" fmla="*/ 154 w 163"/>
                <a:gd name="T23" fmla="*/ 13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3" h="166">
                  <a:moveTo>
                    <a:pt x="154" y="134"/>
                  </a:moveTo>
                  <a:lnTo>
                    <a:pt x="158" y="108"/>
                  </a:lnTo>
                  <a:lnTo>
                    <a:pt x="163" y="83"/>
                  </a:lnTo>
                  <a:lnTo>
                    <a:pt x="134" y="14"/>
                  </a:lnTo>
                  <a:lnTo>
                    <a:pt x="112" y="1"/>
                  </a:lnTo>
                  <a:lnTo>
                    <a:pt x="108" y="0"/>
                  </a:lnTo>
                  <a:lnTo>
                    <a:pt x="88" y="13"/>
                  </a:lnTo>
                  <a:lnTo>
                    <a:pt x="3" y="77"/>
                  </a:lnTo>
                  <a:lnTo>
                    <a:pt x="0" y="78"/>
                  </a:lnTo>
                  <a:lnTo>
                    <a:pt x="1" y="80"/>
                  </a:lnTo>
                  <a:lnTo>
                    <a:pt x="147" y="166"/>
                  </a:lnTo>
                  <a:lnTo>
                    <a:pt x="154" y="134"/>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01" name="Freeform 29">
              <a:extLst>
                <a:ext uri="{FF2B5EF4-FFF2-40B4-BE49-F238E27FC236}">
                  <a16:creationId xmlns:a16="http://schemas.microsoft.com/office/drawing/2014/main" id="{204AFC4A-6946-15B1-C96C-A311109FD154}"/>
                </a:ext>
              </a:extLst>
            </p:cNvPr>
            <p:cNvSpPr>
              <a:spLocks/>
            </p:cNvSpPr>
            <p:nvPr/>
          </p:nvSpPr>
          <p:spPr bwMode="auto">
            <a:xfrm>
              <a:off x="3875" y="4005"/>
              <a:ext cx="25" cy="30"/>
            </a:xfrm>
            <a:custGeom>
              <a:avLst/>
              <a:gdLst>
                <a:gd name="T0" fmla="*/ 74 w 74"/>
                <a:gd name="T1" fmla="*/ 0 h 88"/>
                <a:gd name="T2" fmla="*/ 43 w 74"/>
                <a:gd name="T3" fmla="*/ 21 h 88"/>
                <a:gd name="T4" fmla="*/ 0 w 74"/>
                <a:gd name="T5" fmla="*/ 54 h 88"/>
                <a:gd name="T6" fmla="*/ 45 w 74"/>
                <a:gd name="T7" fmla="*/ 88 h 88"/>
                <a:gd name="T8" fmla="*/ 56 w 74"/>
                <a:gd name="T9" fmla="*/ 61 h 88"/>
                <a:gd name="T10" fmla="*/ 65 w 74"/>
                <a:gd name="T11" fmla="*/ 30 h 88"/>
                <a:gd name="T12" fmla="*/ 74 w 74"/>
                <a:gd name="T13" fmla="*/ 0 h 88"/>
              </a:gdLst>
              <a:ahLst/>
              <a:cxnLst>
                <a:cxn ang="0">
                  <a:pos x="T0" y="T1"/>
                </a:cxn>
                <a:cxn ang="0">
                  <a:pos x="T2" y="T3"/>
                </a:cxn>
                <a:cxn ang="0">
                  <a:pos x="T4" y="T5"/>
                </a:cxn>
                <a:cxn ang="0">
                  <a:pos x="T6" y="T7"/>
                </a:cxn>
                <a:cxn ang="0">
                  <a:pos x="T8" y="T9"/>
                </a:cxn>
                <a:cxn ang="0">
                  <a:pos x="T10" y="T11"/>
                </a:cxn>
                <a:cxn ang="0">
                  <a:pos x="T12" y="T13"/>
                </a:cxn>
              </a:cxnLst>
              <a:rect l="0" t="0" r="r" b="b"/>
              <a:pathLst>
                <a:path w="74" h="88">
                  <a:moveTo>
                    <a:pt x="74" y="0"/>
                  </a:moveTo>
                  <a:lnTo>
                    <a:pt x="43" y="21"/>
                  </a:lnTo>
                  <a:lnTo>
                    <a:pt x="0" y="54"/>
                  </a:lnTo>
                  <a:lnTo>
                    <a:pt x="45" y="88"/>
                  </a:lnTo>
                  <a:lnTo>
                    <a:pt x="56" y="61"/>
                  </a:lnTo>
                  <a:lnTo>
                    <a:pt x="65" y="30"/>
                  </a:lnTo>
                  <a:lnTo>
                    <a:pt x="7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02" name="Freeform 30">
              <a:extLst>
                <a:ext uri="{FF2B5EF4-FFF2-40B4-BE49-F238E27FC236}">
                  <a16:creationId xmlns:a16="http://schemas.microsoft.com/office/drawing/2014/main" id="{5339A603-F2F7-6C25-B36A-811F27BEE5D8}"/>
                </a:ext>
              </a:extLst>
            </p:cNvPr>
            <p:cNvSpPr>
              <a:spLocks/>
            </p:cNvSpPr>
            <p:nvPr/>
          </p:nvSpPr>
          <p:spPr bwMode="auto">
            <a:xfrm>
              <a:off x="3784" y="4023"/>
              <a:ext cx="106" cy="112"/>
            </a:xfrm>
            <a:custGeom>
              <a:avLst/>
              <a:gdLst>
                <a:gd name="T0" fmla="*/ 317 w 319"/>
                <a:gd name="T1" fmla="*/ 39 h 336"/>
                <a:gd name="T2" fmla="*/ 319 w 319"/>
                <a:gd name="T3" fmla="*/ 34 h 336"/>
                <a:gd name="T4" fmla="*/ 274 w 319"/>
                <a:gd name="T5" fmla="*/ 0 h 336"/>
                <a:gd name="T6" fmla="*/ 203 w 319"/>
                <a:gd name="T7" fmla="*/ 56 h 336"/>
                <a:gd name="T8" fmla="*/ 147 w 319"/>
                <a:gd name="T9" fmla="*/ 102 h 336"/>
                <a:gd name="T10" fmla="*/ 95 w 319"/>
                <a:gd name="T11" fmla="*/ 150 h 336"/>
                <a:gd name="T12" fmla="*/ 46 w 319"/>
                <a:gd name="T13" fmla="*/ 198 h 336"/>
                <a:gd name="T14" fmla="*/ 0 w 319"/>
                <a:gd name="T15" fmla="*/ 246 h 336"/>
                <a:gd name="T16" fmla="*/ 3 w 319"/>
                <a:gd name="T17" fmla="*/ 249 h 336"/>
                <a:gd name="T18" fmla="*/ 41 w 319"/>
                <a:gd name="T19" fmla="*/ 289 h 336"/>
                <a:gd name="T20" fmla="*/ 60 w 319"/>
                <a:gd name="T21" fmla="*/ 312 h 336"/>
                <a:gd name="T22" fmla="*/ 78 w 319"/>
                <a:gd name="T23" fmla="*/ 336 h 336"/>
                <a:gd name="T24" fmla="*/ 100 w 319"/>
                <a:gd name="T25" fmla="*/ 318 h 336"/>
                <a:gd name="T26" fmla="*/ 111 w 319"/>
                <a:gd name="T27" fmla="*/ 308 h 336"/>
                <a:gd name="T28" fmla="*/ 123 w 319"/>
                <a:gd name="T29" fmla="*/ 300 h 336"/>
                <a:gd name="T30" fmla="*/ 166 w 319"/>
                <a:gd name="T31" fmla="*/ 260 h 336"/>
                <a:gd name="T32" fmla="*/ 203 w 319"/>
                <a:gd name="T33" fmla="*/ 219 h 336"/>
                <a:gd name="T34" fmla="*/ 220 w 319"/>
                <a:gd name="T35" fmla="*/ 198 h 336"/>
                <a:gd name="T36" fmla="*/ 237 w 319"/>
                <a:gd name="T37" fmla="*/ 177 h 336"/>
                <a:gd name="T38" fmla="*/ 251 w 319"/>
                <a:gd name="T39" fmla="*/ 154 h 336"/>
                <a:gd name="T40" fmla="*/ 267 w 319"/>
                <a:gd name="T41" fmla="*/ 133 h 336"/>
                <a:gd name="T42" fmla="*/ 294 w 319"/>
                <a:gd name="T43" fmla="*/ 87 h 336"/>
                <a:gd name="T44" fmla="*/ 317 w 319"/>
                <a:gd name="T45" fmla="*/ 39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9" h="336">
                  <a:moveTo>
                    <a:pt x="317" y="39"/>
                  </a:moveTo>
                  <a:lnTo>
                    <a:pt x="319" y="34"/>
                  </a:lnTo>
                  <a:lnTo>
                    <a:pt x="274" y="0"/>
                  </a:lnTo>
                  <a:lnTo>
                    <a:pt x="203" y="56"/>
                  </a:lnTo>
                  <a:lnTo>
                    <a:pt x="147" y="102"/>
                  </a:lnTo>
                  <a:lnTo>
                    <a:pt x="95" y="150"/>
                  </a:lnTo>
                  <a:lnTo>
                    <a:pt x="46" y="198"/>
                  </a:lnTo>
                  <a:lnTo>
                    <a:pt x="0" y="246"/>
                  </a:lnTo>
                  <a:lnTo>
                    <a:pt x="3" y="249"/>
                  </a:lnTo>
                  <a:lnTo>
                    <a:pt x="41" y="289"/>
                  </a:lnTo>
                  <a:lnTo>
                    <a:pt x="60" y="312"/>
                  </a:lnTo>
                  <a:lnTo>
                    <a:pt x="78" y="336"/>
                  </a:lnTo>
                  <a:lnTo>
                    <a:pt x="100" y="318"/>
                  </a:lnTo>
                  <a:lnTo>
                    <a:pt x="111" y="308"/>
                  </a:lnTo>
                  <a:lnTo>
                    <a:pt x="123" y="300"/>
                  </a:lnTo>
                  <a:lnTo>
                    <a:pt x="166" y="260"/>
                  </a:lnTo>
                  <a:lnTo>
                    <a:pt x="203" y="219"/>
                  </a:lnTo>
                  <a:lnTo>
                    <a:pt x="220" y="198"/>
                  </a:lnTo>
                  <a:lnTo>
                    <a:pt x="237" y="177"/>
                  </a:lnTo>
                  <a:lnTo>
                    <a:pt x="251" y="154"/>
                  </a:lnTo>
                  <a:lnTo>
                    <a:pt x="267" y="133"/>
                  </a:lnTo>
                  <a:lnTo>
                    <a:pt x="294" y="87"/>
                  </a:lnTo>
                  <a:lnTo>
                    <a:pt x="317" y="39"/>
                  </a:lnTo>
                  <a:close/>
                </a:path>
              </a:pathLst>
            </a:custGeom>
            <a:solidFill>
              <a:srgbClr val="99CC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54303" name="Freeform 31">
              <a:extLst>
                <a:ext uri="{FF2B5EF4-FFF2-40B4-BE49-F238E27FC236}">
                  <a16:creationId xmlns:a16="http://schemas.microsoft.com/office/drawing/2014/main" id="{15893E75-AA57-84FA-A30E-254E081A3A7B}"/>
                </a:ext>
              </a:extLst>
            </p:cNvPr>
            <p:cNvSpPr>
              <a:spLocks/>
            </p:cNvSpPr>
            <p:nvPr/>
          </p:nvSpPr>
          <p:spPr bwMode="auto">
            <a:xfrm>
              <a:off x="3832" y="3976"/>
              <a:ext cx="68" cy="47"/>
            </a:xfrm>
            <a:custGeom>
              <a:avLst/>
              <a:gdLst>
                <a:gd name="T0" fmla="*/ 172 w 203"/>
                <a:gd name="T1" fmla="*/ 109 h 142"/>
                <a:gd name="T2" fmla="*/ 203 w 203"/>
                <a:gd name="T3" fmla="*/ 88 h 142"/>
                <a:gd name="T4" fmla="*/ 57 w 203"/>
                <a:gd name="T5" fmla="*/ 2 h 142"/>
                <a:gd name="T6" fmla="*/ 56 w 203"/>
                <a:gd name="T7" fmla="*/ 0 h 142"/>
                <a:gd name="T8" fmla="*/ 0 w 203"/>
                <a:gd name="T9" fmla="*/ 46 h 142"/>
                <a:gd name="T10" fmla="*/ 129 w 203"/>
                <a:gd name="T11" fmla="*/ 142 h 142"/>
                <a:gd name="T12" fmla="*/ 172 w 203"/>
                <a:gd name="T13" fmla="*/ 109 h 142"/>
              </a:gdLst>
              <a:ahLst/>
              <a:cxnLst>
                <a:cxn ang="0">
                  <a:pos x="T0" y="T1"/>
                </a:cxn>
                <a:cxn ang="0">
                  <a:pos x="T2" y="T3"/>
                </a:cxn>
                <a:cxn ang="0">
                  <a:pos x="T4" y="T5"/>
                </a:cxn>
                <a:cxn ang="0">
                  <a:pos x="T6" y="T7"/>
                </a:cxn>
                <a:cxn ang="0">
                  <a:pos x="T8" y="T9"/>
                </a:cxn>
                <a:cxn ang="0">
                  <a:pos x="T10" y="T11"/>
                </a:cxn>
                <a:cxn ang="0">
                  <a:pos x="T12" y="T13"/>
                </a:cxn>
              </a:cxnLst>
              <a:rect l="0" t="0" r="r" b="b"/>
              <a:pathLst>
                <a:path w="203" h="142">
                  <a:moveTo>
                    <a:pt x="172" y="109"/>
                  </a:moveTo>
                  <a:lnTo>
                    <a:pt x="203" y="88"/>
                  </a:lnTo>
                  <a:lnTo>
                    <a:pt x="57" y="2"/>
                  </a:lnTo>
                  <a:lnTo>
                    <a:pt x="56" y="0"/>
                  </a:lnTo>
                  <a:lnTo>
                    <a:pt x="0" y="46"/>
                  </a:lnTo>
                  <a:lnTo>
                    <a:pt x="129" y="142"/>
                  </a:lnTo>
                  <a:lnTo>
                    <a:pt x="172" y="109"/>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04" name="Freeform 32">
              <a:extLst>
                <a:ext uri="{FF2B5EF4-FFF2-40B4-BE49-F238E27FC236}">
                  <a16:creationId xmlns:a16="http://schemas.microsoft.com/office/drawing/2014/main" id="{EAD97B10-F21C-8A01-DA20-5E50A5E04D03}"/>
                </a:ext>
              </a:extLst>
            </p:cNvPr>
            <p:cNvSpPr>
              <a:spLocks noEditPoints="1"/>
            </p:cNvSpPr>
            <p:nvPr/>
          </p:nvSpPr>
          <p:spPr bwMode="auto">
            <a:xfrm>
              <a:off x="3514" y="3762"/>
              <a:ext cx="229" cy="281"/>
            </a:xfrm>
            <a:custGeom>
              <a:avLst/>
              <a:gdLst>
                <a:gd name="T0" fmla="*/ 0 w 686"/>
                <a:gd name="T1" fmla="*/ 124 h 843"/>
                <a:gd name="T2" fmla="*/ 47 w 686"/>
                <a:gd name="T3" fmla="*/ 240 h 843"/>
                <a:gd name="T4" fmla="*/ 0 w 686"/>
                <a:gd name="T5" fmla="*/ 396 h 843"/>
                <a:gd name="T6" fmla="*/ 47 w 686"/>
                <a:gd name="T7" fmla="*/ 715 h 843"/>
                <a:gd name="T8" fmla="*/ 288 w 686"/>
                <a:gd name="T9" fmla="*/ 731 h 843"/>
                <a:gd name="T10" fmla="*/ 358 w 686"/>
                <a:gd name="T11" fmla="*/ 843 h 843"/>
                <a:gd name="T12" fmla="*/ 372 w 686"/>
                <a:gd name="T13" fmla="*/ 781 h 843"/>
                <a:gd name="T14" fmla="*/ 345 w 686"/>
                <a:gd name="T15" fmla="*/ 707 h 843"/>
                <a:gd name="T16" fmla="*/ 347 w 686"/>
                <a:gd name="T17" fmla="*/ 696 h 843"/>
                <a:gd name="T18" fmla="*/ 351 w 686"/>
                <a:gd name="T19" fmla="*/ 687 h 843"/>
                <a:gd name="T20" fmla="*/ 310 w 686"/>
                <a:gd name="T21" fmla="*/ 678 h 843"/>
                <a:gd name="T22" fmla="*/ 110 w 686"/>
                <a:gd name="T23" fmla="*/ 664 h 843"/>
                <a:gd name="T24" fmla="*/ 84 w 686"/>
                <a:gd name="T25" fmla="*/ 449 h 843"/>
                <a:gd name="T26" fmla="*/ 72 w 686"/>
                <a:gd name="T27" fmla="*/ 449 h 843"/>
                <a:gd name="T28" fmla="*/ 72 w 686"/>
                <a:gd name="T29" fmla="*/ 402 h 843"/>
                <a:gd name="T30" fmla="*/ 72 w 686"/>
                <a:gd name="T31" fmla="*/ 352 h 843"/>
                <a:gd name="T32" fmla="*/ 72 w 686"/>
                <a:gd name="T33" fmla="*/ 326 h 843"/>
                <a:gd name="T34" fmla="*/ 82 w 686"/>
                <a:gd name="T35" fmla="*/ 226 h 843"/>
                <a:gd name="T36" fmla="*/ 78 w 686"/>
                <a:gd name="T37" fmla="*/ 226 h 843"/>
                <a:gd name="T38" fmla="*/ 60 w 686"/>
                <a:gd name="T39" fmla="*/ 167 h 843"/>
                <a:gd name="T40" fmla="*/ 136 w 686"/>
                <a:gd name="T41" fmla="*/ 95 h 843"/>
                <a:gd name="T42" fmla="*/ 432 w 686"/>
                <a:gd name="T43" fmla="*/ 65 h 843"/>
                <a:gd name="T44" fmla="*/ 576 w 686"/>
                <a:gd name="T45" fmla="*/ 195 h 843"/>
                <a:gd name="T46" fmla="*/ 557 w 686"/>
                <a:gd name="T47" fmla="*/ 237 h 843"/>
                <a:gd name="T48" fmla="*/ 556 w 686"/>
                <a:gd name="T49" fmla="*/ 242 h 843"/>
                <a:gd name="T50" fmla="*/ 615 w 686"/>
                <a:gd name="T51" fmla="*/ 224 h 843"/>
                <a:gd name="T52" fmla="*/ 611 w 686"/>
                <a:gd name="T53" fmla="*/ 274 h 843"/>
                <a:gd name="T54" fmla="*/ 548 w 686"/>
                <a:gd name="T55" fmla="*/ 258 h 843"/>
                <a:gd name="T56" fmla="*/ 546 w 686"/>
                <a:gd name="T57" fmla="*/ 262 h 843"/>
                <a:gd name="T58" fmla="*/ 588 w 686"/>
                <a:gd name="T59" fmla="*/ 320 h 843"/>
                <a:gd name="T60" fmla="*/ 537 w 686"/>
                <a:gd name="T61" fmla="*/ 320 h 843"/>
                <a:gd name="T62" fmla="*/ 537 w 686"/>
                <a:gd name="T63" fmla="*/ 284 h 843"/>
                <a:gd name="T64" fmla="*/ 518 w 686"/>
                <a:gd name="T65" fmla="*/ 326 h 843"/>
                <a:gd name="T66" fmla="*/ 496 w 686"/>
                <a:gd name="T67" fmla="*/ 375 h 843"/>
                <a:gd name="T68" fmla="*/ 497 w 686"/>
                <a:gd name="T69" fmla="*/ 381 h 843"/>
                <a:gd name="T70" fmla="*/ 496 w 686"/>
                <a:gd name="T71" fmla="*/ 378 h 843"/>
                <a:gd name="T72" fmla="*/ 491 w 686"/>
                <a:gd name="T73" fmla="*/ 433 h 843"/>
                <a:gd name="T74" fmla="*/ 552 w 686"/>
                <a:gd name="T75" fmla="*/ 418 h 843"/>
                <a:gd name="T76" fmla="*/ 558 w 686"/>
                <a:gd name="T77" fmla="*/ 418 h 843"/>
                <a:gd name="T78" fmla="*/ 572 w 686"/>
                <a:gd name="T79" fmla="*/ 414 h 843"/>
                <a:gd name="T80" fmla="*/ 592 w 686"/>
                <a:gd name="T81" fmla="*/ 396 h 843"/>
                <a:gd name="T82" fmla="*/ 616 w 686"/>
                <a:gd name="T83" fmla="*/ 381 h 843"/>
                <a:gd name="T84" fmla="*/ 639 w 686"/>
                <a:gd name="T85" fmla="*/ 296 h 843"/>
                <a:gd name="T86" fmla="*/ 686 w 686"/>
                <a:gd name="T87" fmla="*/ 178 h 843"/>
                <a:gd name="T88" fmla="*/ 492 w 686"/>
                <a:gd name="T89" fmla="*/ 0 h 843"/>
                <a:gd name="T90" fmla="*/ 172 w 686"/>
                <a:gd name="T91" fmla="*/ 6 h 843"/>
                <a:gd name="T92" fmla="*/ 0 w 686"/>
                <a:gd name="T93" fmla="*/ 124 h 843"/>
                <a:gd name="T94" fmla="*/ 351 w 686"/>
                <a:gd name="T95" fmla="*/ 804 h 843"/>
                <a:gd name="T96" fmla="*/ 353 w 686"/>
                <a:gd name="T97" fmla="*/ 805 h 843"/>
                <a:gd name="T98" fmla="*/ 353 w 686"/>
                <a:gd name="T99" fmla="*/ 809 h 843"/>
                <a:gd name="T100" fmla="*/ 351 w 686"/>
                <a:gd name="T101" fmla="*/ 804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86" h="843">
                  <a:moveTo>
                    <a:pt x="0" y="124"/>
                  </a:moveTo>
                  <a:lnTo>
                    <a:pt x="47" y="240"/>
                  </a:lnTo>
                  <a:lnTo>
                    <a:pt x="0" y="396"/>
                  </a:lnTo>
                  <a:lnTo>
                    <a:pt x="47" y="715"/>
                  </a:lnTo>
                  <a:lnTo>
                    <a:pt x="288" y="731"/>
                  </a:lnTo>
                  <a:lnTo>
                    <a:pt x="358" y="843"/>
                  </a:lnTo>
                  <a:lnTo>
                    <a:pt x="372" y="781"/>
                  </a:lnTo>
                  <a:lnTo>
                    <a:pt x="345" y="707"/>
                  </a:lnTo>
                  <a:lnTo>
                    <a:pt x="347" y="696"/>
                  </a:lnTo>
                  <a:lnTo>
                    <a:pt x="351" y="687"/>
                  </a:lnTo>
                  <a:lnTo>
                    <a:pt x="310" y="678"/>
                  </a:lnTo>
                  <a:lnTo>
                    <a:pt x="110" y="664"/>
                  </a:lnTo>
                  <a:lnTo>
                    <a:pt x="84" y="449"/>
                  </a:lnTo>
                  <a:lnTo>
                    <a:pt x="72" y="449"/>
                  </a:lnTo>
                  <a:lnTo>
                    <a:pt x="72" y="402"/>
                  </a:lnTo>
                  <a:lnTo>
                    <a:pt x="72" y="352"/>
                  </a:lnTo>
                  <a:lnTo>
                    <a:pt x="72" y="326"/>
                  </a:lnTo>
                  <a:lnTo>
                    <a:pt x="82" y="226"/>
                  </a:lnTo>
                  <a:lnTo>
                    <a:pt x="78" y="226"/>
                  </a:lnTo>
                  <a:lnTo>
                    <a:pt x="60" y="167"/>
                  </a:lnTo>
                  <a:lnTo>
                    <a:pt x="136" y="95"/>
                  </a:lnTo>
                  <a:lnTo>
                    <a:pt x="432" y="65"/>
                  </a:lnTo>
                  <a:lnTo>
                    <a:pt x="576" y="195"/>
                  </a:lnTo>
                  <a:lnTo>
                    <a:pt x="557" y="237"/>
                  </a:lnTo>
                  <a:lnTo>
                    <a:pt x="556" y="242"/>
                  </a:lnTo>
                  <a:lnTo>
                    <a:pt x="615" y="224"/>
                  </a:lnTo>
                  <a:lnTo>
                    <a:pt x="611" y="274"/>
                  </a:lnTo>
                  <a:lnTo>
                    <a:pt x="548" y="258"/>
                  </a:lnTo>
                  <a:lnTo>
                    <a:pt x="546" y="262"/>
                  </a:lnTo>
                  <a:lnTo>
                    <a:pt x="588" y="320"/>
                  </a:lnTo>
                  <a:lnTo>
                    <a:pt x="537" y="320"/>
                  </a:lnTo>
                  <a:lnTo>
                    <a:pt x="537" y="284"/>
                  </a:lnTo>
                  <a:lnTo>
                    <a:pt x="518" y="326"/>
                  </a:lnTo>
                  <a:lnTo>
                    <a:pt x="496" y="375"/>
                  </a:lnTo>
                  <a:lnTo>
                    <a:pt x="497" y="381"/>
                  </a:lnTo>
                  <a:lnTo>
                    <a:pt x="496" y="378"/>
                  </a:lnTo>
                  <a:lnTo>
                    <a:pt x="491" y="433"/>
                  </a:lnTo>
                  <a:lnTo>
                    <a:pt x="552" y="418"/>
                  </a:lnTo>
                  <a:lnTo>
                    <a:pt x="558" y="418"/>
                  </a:lnTo>
                  <a:lnTo>
                    <a:pt x="572" y="414"/>
                  </a:lnTo>
                  <a:lnTo>
                    <a:pt x="592" y="396"/>
                  </a:lnTo>
                  <a:lnTo>
                    <a:pt x="616" y="381"/>
                  </a:lnTo>
                  <a:lnTo>
                    <a:pt x="639" y="296"/>
                  </a:lnTo>
                  <a:lnTo>
                    <a:pt x="686" y="178"/>
                  </a:lnTo>
                  <a:lnTo>
                    <a:pt x="492" y="0"/>
                  </a:lnTo>
                  <a:lnTo>
                    <a:pt x="172" y="6"/>
                  </a:lnTo>
                  <a:lnTo>
                    <a:pt x="0" y="124"/>
                  </a:lnTo>
                  <a:close/>
                  <a:moveTo>
                    <a:pt x="351" y="804"/>
                  </a:moveTo>
                  <a:lnTo>
                    <a:pt x="353" y="805"/>
                  </a:lnTo>
                  <a:lnTo>
                    <a:pt x="353" y="809"/>
                  </a:lnTo>
                  <a:lnTo>
                    <a:pt x="351" y="804"/>
                  </a:lnTo>
                  <a:close/>
                </a:path>
              </a:pathLst>
            </a:custGeom>
            <a:solidFill>
              <a:srgbClr val="E8E8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05" name="Freeform 33">
              <a:extLst>
                <a:ext uri="{FF2B5EF4-FFF2-40B4-BE49-F238E27FC236}">
                  <a16:creationId xmlns:a16="http://schemas.microsoft.com/office/drawing/2014/main" id="{F9399E2F-6804-0C06-2539-212BB9D74DF1}"/>
                </a:ext>
              </a:extLst>
            </p:cNvPr>
            <p:cNvSpPr>
              <a:spLocks/>
            </p:cNvSpPr>
            <p:nvPr/>
          </p:nvSpPr>
          <p:spPr bwMode="auto">
            <a:xfrm>
              <a:off x="3631" y="4030"/>
              <a:ext cx="1" cy="2"/>
            </a:xfrm>
            <a:custGeom>
              <a:avLst/>
              <a:gdLst>
                <a:gd name="T0" fmla="*/ 2 w 2"/>
                <a:gd name="T1" fmla="*/ 1 h 5"/>
                <a:gd name="T2" fmla="*/ 0 w 2"/>
                <a:gd name="T3" fmla="*/ 0 h 5"/>
                <a:gd name="T4" fmla="*/ 2 w 2"/>
                <a:gd name="T5" fmla="*/ 5 h 5"/>
                <a:gd name="T6" fmla="*/ 2 w 2"/>
                <a:gd name="T7" fmla="*/ 1 h 5"/>
              </a:gdLst>
              <a:ahLst/>
              <a:cxnLst>
                <a:cxn ang="0">
                  <a:pos x="T0" y="T1"/>
                </a:cxn>
                <a:cxn ang="0">
                  <a:pos x="T2" y="T3"/>
                </a:cxn>
                <a:cxn ang="0">
                  <a:pos x="T4" y="T5"/>
                </a:cxn>
                <a:cxn ang="0">
                  <a:pos x="T6" y="T7"/>
                </a:cxn>
              </a:cxnLst>
              <a:rect l="0" t="0" r="r" b="b"/>
              <a:pathLst>
                <a:path w="2" h="5">
                  <a:moveTo>
                    <a:pt x="2" y="1"/>
                  </a:moveTo>
                  <a:lnTo>
                    <a:pt x="0" y="0"/>
                  </a:lnTo>
                  <a:lnTo>
                    <a:pt x="2" y="5"/>
                  </a:lnTo>
                  <a:lnTo>
                    <a:pt x="2" y="1"/>
                  </a:lnTo>
                  <a:close/>
                </a:path>
              </a:pathLst>
            </a:custGeom>
            <a:solidFill>
              <a:srgbClr val="FFD14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06" name="Freeform 34">
              <a:extLst>
                <a:ext uri="{FF2B5EF4-FFF2-40B4-BE49-F238E27FC236}">
                  <a16:creationId xmlns:a16="http://schemas.microsoft.com/office/drawing/2014/main" id="{B36B7109-34B7-9446-380E-D732D31270FA}"/>
                </a:ext>
              </a:extLst>
            </p:cNvPr>
            <p:cNvSpPr>
              <a:spLocks/>
            </p:cNvSpPr>
            <p:nvPr/>
          </p:nvSpPr>
          <p:spPr bwMode="auto">
            <a:xfrm>
              <a:off x="3442" y="3713"/>
              <a:ext cx="437" cy="454"/>
            </a:xfrm>
            <a:custGeom>
              <a:avLst/>
              <a:gdLst>
                <a:gd name="T0" fmla="*/ 216 w 1311"/>
                <a:gd name="T1" fmla="*/ 271 h 1362"/>
                <a:gd name="T2" fmla="*/ 708 w 1311"/>
                <a:gd name="T3" fmla="*/ 147 h 1362"/>
                <a:gd name="T4" fmla="*/ 855 w 1311"/>
                <a:gd name="T5" fmla="*/ 443 h 1362"/>
                <a:gd name="T6" fmla="*/ 863 w 1311"/>
                <a:gd name="T7" fmla="*/ 507 h 1362"/>
                <a:gd name="T8" fmla="*/ 916 w 1311"/>
                <a:gd name="T9" fmla="*/ 477 h 1362"/>
                <a:gd name="T10" fmla="*/ 1073 w 1311"/>
                <a:gd name="T11" fmla="*/ 351 h 1362"/>
                <a:gd name="T12" fmla="*/ 1122 w 1311"/>
                <a:gd name="T13" fmla="*/ 339 h 1362"/>
                <a:gd name="T14" fmla="*/ 1221 w 1311"/>
                <a:gd name="T15" fmla="*/ 337 h 1362"/>
                <a:gd name="T16" fmla="*/ 1305 w 1311"/>
                <a:gd name="T17" fmla="*/ 359 h 1362"/>
                <a:gd name="T18" fmla="*/ 1284 w 1311"/>
                <a:gd name="T19" fmla="*/ 319 h 1362"/>
                <a:gd name="T20" fmla="*/ 1224 w 1311"/>
                <a:gd name="T21" fmla="*/ 240 h 1362"/>
                <a:gd name="T22" fmla="*/ 1163 w 1311"/>
                <a:gd name="T23" fmla="*/ 177 h 1362"/>
                <a:gd name="T24" fmla="*/ 1109 w 1311"/>
                <a:gd name="T25" fmla="*/ 133 h 1362"/>
                <a:gd name="T26" fmla="*/ 1053 w 1311"/>
                <a:gd name="T27" fmla="*/ 95 h 1362"/>
                <a:gd name="T28" fmla="*/ 994 w 1311"/>
                <a:gd name="T29" fmla="*/ 62 h 1362"/>
                <a:gd name="T30" fmla="*/ 933 w 1311"/>
                <a:gd name="T31" fmla="*/ 37 h 1362"/>
                <a:gd name="T32" fmla="*/ 868 w 1311"/>
                <a:gd name="T33" fmla="*/ 18 h 1362"/>
                <a:gd name="T34" fmla="*/ 801 w 1311"/>
                <a:gd name="T35" fmla="*/ 6 h 1362"/>
                <a:gd name="T36" fmla="*/ 732 w 1311"/>
                <a:gd name="T37" fmla="*/ 0 h 1362"/>
                <a:gd name="T38" fmla="*/ 660 w 1311"/>
                <a:gd name="T39" fmla="*/ 0 h 1362"/>
                <a:gd name="T40" fmla="*/ 557 w 1311"/>
                <a:gd name="T41" fmla="*/ 12 h 1362"/>
                <a:gd name="T42" fmla="*/ 459 w 1311"/>
                <a:gd name="T43" fmla="*/ 37 h 1362"/>
                <a:gd name="T44" fmla="*/ 368 w 1311"/>
                <a:gd name="T45" fmla="*/ 78 h 1362"/>
                <a:gd name="T46" fmla="*/ 282 w 1311"/>
                <a:gd name="T47" fmla="*/ 133 h 1362"/>
                <a:gd name="T48" fmla="*/ 204 w 1311"/>
                <a:gd name="T49" fmla="*/ 204 h 1362"/>
                <a:gd name="T50" fmla="*/ 134 w 1311"/>
                <a:gd name="T51" fmla="*/ 282 h 1362"/>
                <a:gd name="T52" fmla="*/ 78 w 1311"/>
                <a:gd name="T53" fmla="*/ 367 h 1362"/>
                <a:gd name="T54" fmla="*/ 38 w 1311"/>
                <a:gd name="T55" fmla="*/ 458 h 1362"/>
                <a:gd name="T56" fmla="*/ 12 w 1311"/>
                <a:gd name="T57" fmla="*/ 557 h 1362"/>
                <a:gd name="T58" fmla="*/ 0 w 1311"/>
                <a:gd name="T59" fmla="*/ 660 h 1362"/>
                <a:gd name="T60" fmla="*/ 0 w 1311"/>
                <a:gd name="T61" fmla="*/ 732 h 1362"/>
                <a:gd name="T62" fmla="*/ 6 w 1311"/>
                <a:gd name="T63" fmla="*/ 800 h 1362"/>
                <a:gd name="T64" fmla="*/ 18 w 1311"/>
                <a:gd name="T65" fmla="*/ 867 h 1362"/>
                <a:gd name="T66" fmla="*/ 38 w 1311"/>
                <a:gd name="T67" fmla="*/ 932 h 1362"/>
                <a:gd name="T68" fmla="*/ 63 w 1311"/>
                <a:gd name="T69" fmla="*/ 993 h 1362"/>
                <a:gd name="T70" fmla="*/ 95 w 1311"/>
                <a:gd name="T71" fmla="*/ 1052 h 1362"/>
                <a:gd name="T72" fmla="*/ 134 w 1311"/>
                <a:gd name="T73" fmla="*/ 1108 h 1362"/>
                <a:gd name="T74" fmla="*/ 178 w 1311"/>
                <a:gd name="T75" fmla="*/ 1162 h 1362"/>
                <a:gd name="T76" fmla="*/ 234 w 1311"/>
                <a:gd name="T77" fmla="*/ 1218 h 1362"/>
                <a:gd name="T78" fmla="*/ 299 w 1311"/>
                <a:gd name="T79" fmla="*/ 1270 h 1362"/>
                <a:gd name="T80" fmla="*/ 369 w 1311"/>
                <a:gd name="T81" fmla="*/ 1314 h 1362"/>
                <a:gd name="T82" fmla="*/ 442 w 1311"/>
                <a:gd name="T83" fmla="*/ 1347 h 1362"/>
                <a:gd name="T84" fmla="*/ 497 w 1311"/>
                <a:gd name="T85" fmla="*/ 1294 h 1362"/>
                <a:gd name="T86" fmla="*/ 537 w 1311"/>
                <a:gd name="T87" fmla="*/ 1136 h 1362"/>
                <a:gd name="T88" fmla="*/ 574 w 1311"/>
                <a:gd name="T89" fmla="*/ 990 h 1362"/>
                <a:gd name="T90" fmla="*/ 263 w 1311"/>
                <a:gd name="T91" fmla="*/ 862 h 1362"/>
                <a:gd name="T92" fmla="*/ 263 w 1311"/>
                <a:gd name="T93" fmla="*/ 387 h 1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11" h="1362">
                  <a:moveTo>
                    <a:pt x="263" y="387"/>
                  </a:moveTo>
                  <a:lnTo>
                    <a:pt x="216" y="271"/>
                  </a:lnTo>
                  <a:lnTo>
                    <a:pt x="388" y="153"/>
                  </a:lnTo>
                  <a:lnTo>
                    <a:pt x="708" y="147"/>
                  </a:lnTo>
                  <a:lnTo>
                    <a:pt x="902" y="325"/>
                  </a:lnTo>
                  <a:lnTo>
                    <a:pt x="855" y="443"/>
                  </a:lnTo>
                  <a:lnTo>
                    <a:pt x="832" y="528"/>
                  </a:lnTo>
                  <a:lnTo>
                    <a:pt x="863" y="507"/>
                  </a:lnTo>
                  <a:lnTo>
                    <a:pt x="900" y="492"/>
                  </a:lnTo>
                  <a:lnTo>
                    <a:pt x="916" y="477"/>
                  </a:lnTo>
                  <a:lnTo>
                    <a:pt x="1025" y="372"/>
                  </a:lnTo>
                  <a:lnTo>
                    <a:pt x="1073" y="351"/>
                  </a:lnTo>
                  <a:lnTo>
                    <a:pt x="1097" y="343"/>
                  </a:lnTo>
                  <a:lnTo>
                    <a:pt x="1122" y="339"/>
                  </a:lnTo>
                  <a:lnTo>
                    <a:pt x="1170" y="333"/>
                  </a:lnTo>
                  <a:lnTo>
                    <a:pt x="1221" y="337"/>
                  </a:lnTo>
                  <a:lnTo>
                    <a:pt x="1262" y="344"/>
                  </a:lnTo>
                  <a:lnTo>
                    <a:pt x="1305" y="359"/>
                  </a:lnTo>
                  <a:lnTo>
                    <a:pt x="1311" y="361"/>
                  </a:lnTo>
                  <a:lnTo>
                    <a:pt x="1284" y="319"/>
                  </a:lnTo>
                  <a:lnTo>
                    <a:pt x="1257" y="279"/>
                  </a:lnTo>
                  <a:lnTo>
                    <a:pt x="1224" y="240"/>
                  </a:lnTo>
                  <a:lnTo>
                    <a:pt x="1191" y="204"/>
                  </a:lnTo>
                  <a:lnTo>
                    <a:pt x="1163" y="177"/>
                  </a:lnTo>
                  <a:lnTo>
                    <a:pt x="1137" y="155"/>
                  </a:lnTo>
                  <a:lnTo>
                    <a:pt x="1109" y="133"/>
                  </a:lnTo>
                  <a:lnTo>
                    <a:pt x="1083" y="114"/>
                  </a:lnTo>
                  <a:lnTo>
                    <a:pt x="1053" y="95"/>
                  </a:lnTo>
                  <a:lnTo>
                    <a:pt x="1024" y="78"/>
                  </a:lnTo>
                  <a:lnTo>
                    <a:pt x="994" y="62"/>
                  </a:lnTo>
                  <a:lnTo>
                    <a:pt x="965" y="50"/>
                  </a:lnTo>
                  <a:lnTo>
                    <a:pt x="933" y="37"/>
                  </a:lnTo>
                  <a:lnTo>
                    <a:pt x="902" y="27"/>
                  </a:lnTo>
                  <a:lnTo>
                    <a:pt x="868" y="18"/>
                  </a:lnTo>
                  <a:lnTo>
                    <a:pt x="836" y="12"/>
                  </a:lnTo>
                  <a:lnTo>
                    <a:pt x="801" y="6"/>
                  </a:lnTo>
                  <a:lnTo>
                    <a:pt x="767" y="2"/>
                  </a:lnTo>
                  <a:lnTo>
                    <a:pt x="732" y="0"/>
                  </a:lnTo>
                  <a:lnTo>
                    <a:pt x="698" y="0"/>
                  </a:lnTo>
                  <a:lnTo>
                    <a:pt x="660" y="0"/>
                  </a:lnTo>
                  <a:lnTo>
                    <a:pt x="626" y="2"/>
                  </a:lnTo>
                  <a:lnTo>
                    <a:pt x="557" y="12"/>
                  </a:lnTo>
                  <a:lnTo>
                    <a:pt x="491" y="27"/>
                  </a:lnTo>
                  <a:lnTo>
                    <a:pt x="459" y="37"/>
                  </a:lnTo>
                  <a:lnTo>
                    <a:pt x="429" y="50"/>
                  </a:lnTo>
                  <a:lnTo>
                    <a:pt x="368" y="78"/>
                  </a:lnTo>
                  <a:lnTo>
                    <a:pt x="311" y="114"/>
                  </a:lnTo>
                  <a:lnTo>
                    <a:pt x="282" y="133"/>
                  </a:lnTo>
                  <a:lnTo>
                    <a:pt x="256" y="155"/>
                  </a:lnTo>
                  <a:lnTo>
                    <a:pt x="204" y="204"/>
                  </a:lnTo>
                  <a:lnTo>
                    <a:pt x="155" y="255"/>
                  </a:lnTo>
                  <a:lnTo>
                    <a:pt x="134" y="282"/>
                  </a:lnTo>
                  <a:lnTo>
                    <a:pt x="114" y="311"/>
                  </a:lnTo>
                  <a:lnTo>
                    <a:pt x="78" y="367"/>
                  </a:lnTo>
                  <a:lnTo>
                    <a:pt x="51" y="428"/>
                  </a:lnTo>
                  <a:lnTo>
                    <a:pt x="38" y="458"/>
                  </a:lnTo>
                  <a:lnTo>
                    <a:pt x="28" y="491"/>
                  </a:lnTo>
                  <a:lnTo>
                    <a:pt x="12" y="557"/>
                  </a:lnTo>
                  <a:lnTo>
                    <a:pt x="3" y="625"/>
                  </a:lnTo>
                  <a:lnTo>
                    <a:pt x="0" y="660"/>
                  </a:lnTo>
                  <a:lnTo>
                    <a:pt x="0" y="697"/>
                  </a:lnTo>
                  <a:lnTo>
                    <a:pt x="0" y="732"/>
                  </a:lnTo>
                  <a:lnTo>
                    <a:pt x="3" y="766"/>
                  </a:lnTo>
                  <a:lnTo>
                    <a:pt x="6" y="800"/>
                  </a:lnTo>
                  <a:lnTo>
                    <a:pt x="12" y="835"/>
                  </a:lnTo>
                  <a:lnTo>
                    <a:pt x="18" y="867"/>
                  </a:lnTo>
                  <a:lnTo>
                    <a:pt x="28" y="901"/>
                  </a:lnTo>
                  <a:lnTo>
                    <a:pt x="38" y="932"/>
                  </a:lnTo>
                  <a:lnTo>
                    <a:pt x="51" y="964"/>
                  </a:lnTo>
                  <a:lnTo>
                    <a:pt x="63" y="993"/>
                  </a:lnTo>
                  <a:lnTo>
                    <a:pt x="78" y="1023"/>
                  </a:lnTo>
                  <a:lnTo>
                    <a:pt x="95" y="1052"/>
                  </a:lnTo>
                  <a:lnTo>
                    <a:pt x="114" y="1082"/>
                  </a:lnTo>
                  <a:lnTo>
                    <a:pt x="134" y="1108"/>
                  </a:lnTo>
                  <a:lnTo>
                    <a:pt x="155" y="1136"/>
                  </a:lnTo>
                  <a:lnTo>
                    <a:pt x="178" y="1162"/>
                  </a:lnTo>
                  <a:lnTo>
                    <a:pt x="204" y="1190"/>
                  </a:lnTo>
                  <a:lnTo>
                    <a:pt x="234" y="1218"/>
                  </a:lnTo>
                  <a:lnTo>
                    <a:pt x="267" y="1245"/>
                  </a:lnTo>
                  <a:lnTo>
                    <a:pt x="299" y="1270"/>
                  </a:lnTo>
                  <a:lnTo>
                    <a:pt x="334" y="1293"/>
                  </a:lnTo>
                  <a:lnTo>
                    <a:pt x="369" y="1314"/>
                  </a:lnTo>
                  <a:lnTo>
                    <a:pt x="405" y="1332"/>
                  </a:lnTo>
                  <a:lnTo>
                    <a:pt x="442" y="1347"/>
                  </a:lnTo>
                  <a:lnTo>
                    <a:pt x="480" y="1362"/>
                  </a:lnTo>
                  <a:lnTo>
                    <a:pt x="497" y="1294"/>
                  </a:lnTo>
                  <a:lnTo>
                    <a:pt x="526" y="1178"/>
                  </a:lnTo>
                  <a:lnTo>
                    <a:pt x="537" y="1136"/>
                  </a:lnTo>
                  <a:lnTo>
                    <a:pt x="572" y="998"/>
                  </a:lnTo>
                  <a:lnTo>
                    <a:pt x="574" y="990"/>
                  </a:lnTo>
                  <a:lnTo>
                    <a:pt x="504" y="878"/>
                  </a:lnTo>
                  <a:lnTo>
                    <a:pt x="263" y="862"/>
                  </a:lnTo>
                  <a:lnTo>
                    <a:pt x="216" y="543"/>
                  </a:lnTo>
                  <a:lnTo>
                    <a:pt x="263" y="387"/>
                  </a:lnTo>
                  <a:close/>
                </a:path>
              </a:pathLst>
            </a:custGeom>
            <a:solidFill>
              <a:srgbClr val="99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07" name="Freeform 35">
              <a:extLst>
                <a:ext uri="{FF2B5EF4-FFF2-40B4-BE49-F238E27FC236}">
                  <a16:creationId xmlns:a16="http://schemas.microsoft.com/office/drawing/2014/main" id="{B86C0228-00AD-7646-AB36-E1FCB9E0B632}"/>
                </a:ext>
              </a:extLst>
            </p:cNvPr>
            <p:cNvSpPr>
              <a:spLocks/>
            </p:cNvSpPr>
            <p:nvPr/>
          </p:nvSpPr>
          <p:spPr bwMode="auto">
            <a:xfrm>
              <a:off x="3534" y="3784"/>
              <a:ext cx="172" cy="65"/>
            </a:xfrm>
            <a:custGeom>
              <a:avLst/>
              <a:gdLst>
                <a:gd name="T0" fmla="*/ 18 w 516"/>
                <a:gd name="T1" fmla="*/ 161 h 195"/>
                <a:gd name="T2" fmla="*/ 22 w 516"/>
                <a:gd name="T3" fmla="*/ 161 h 195"/>
                <a:gd name="T4" fmla="*/ 23 w 516"/>
                <a:gd name="T5" fmla="*/ 161 h 195"/>
                <a:gd name="T6" fmla="*/ 159 w 516"/>
                <a:gd name="T7" fmla="*/ 143 h 195"/>
                <a:gd name="T8" fmla="*/ 191 w 516"/>
                <a:gd name="T9" fmla="*/ 193 h 195"/>
                <a:gd name="T10" fmla="*/ 192 w 516"/>
                <a:gd name="T11" fmla="*/ 195 h 195"/>
                <a:gd name="T12" fmla="*/ 197 w 516"/>
                <a:gd name="T13" fmla="*/ 195 h 195"/>
                <a:gd name="T14" fmla="*/ 497 w 516"/>
                <a:gd name="T15" fmla="*/ 172 h 195"/>
                <a:gd name="T16" fmla="*/ 516 w 516"/>
                <a:gd name="T17" fmla="*/ 130 h 195"/>
                <a:gd name="T18" fmla="*/ 372 w 516"/>
                <a:gd name="T19" fmla="*/ 0 h 195"/>
                <a:gd name="T20" fmla="*/ 76 w 516"/>
                <a:gd name="T21" fmla="*/ 30 h 195"/>
                <a:gd name="T22" fmla="*/ 0 w 516"/>
                <a:gd name="T23" fmla="*/ 102 h 195"/>
                <a:gd name="T24" fmla="*/ 18 w 516"/>
                <a:gd name="T25" fmla="*/ 161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6" h="195">
                  <a:moveTo>
                    <a:pt x="18" y="161"/>
                  </a:moveTo>
                  <a:lnTo>
                    <a:pt x="22" y="161"/>
                  </a:lnTo>
                  <a:lnTo>
                    <a:pt x="23" y="161"/>
                  </a:lnTo>
                  <a:lnTo>
                    <a:pt x="159" y="143"/>
                  </a:lnTo>
                  <a:lnTo>
                    <a:pt x="191" y="193"/>
                  </a:lnTo>
                  <a:lnTo>
                    <a:pt x="192" y="195"/>
                  </a:lnTo>
                  <a:lnTo>
                    <a:pt x="197" y="195"/>
                  </a:lnTo>
                  <a:lnTo>
                    <a:pt x="497" y="172"/>
                  </a:lnTo>
                  <a:lnTo>
                    <a:pt x="516" y="130"/>
                  </a:lnTo>
                  <a:lnTo>
                    <a:pt x="372" y="0"/>
                  </a:lnTo>
                  <a:lnTo>
                    <a:pt x="76" y="30"/>
                  </a:lnTo>
                  <a:lnTo>
                    <a:pt x="0" y="102"/>
                  </a:lnTo>
                  <a:lnTo>
                    <a:pt x="18" y="161"/>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08" name="Freeform 36">
              <a:extLst>
                <a:ext uri="{FF2B5EF4-FFF2-40B4-BE49-F238E27FC236}">
                  <a16:creationId xmlns:a16="http://schemas.microsoft.com/office/drawing/2014/main" id="{D03B573C-E527-E083-EB8D-A54C192F10AD}"/>
                </a:ext>
              </a:extLst>
            </p:cNvPr>
            <p:cNvSpPr>
              <a:spLocks/>
            </p:cNvSpPr>
            <p:nvPr/>
          </p:nvSpPr>
          <p:spPr bwMode="auto">
            <a:xfrm>
              <a:off x="3538" y="3832"/>
              <a:ext cx="60" cy="39"/>
            </a:xfrm>
            <a:custGeom>
              <a:avLst/>
              <a:gdLst>
                <a:gd name="T0" fmla="*/ 11 w 179"/>
                <a:gd name="T1" fmla="*/ 18 h 118"/>
                <a:gd name="T2" fmla="*/ 10 w 179"/>
                <a:gd name="T3" fmla="*/ 18 h 118"/>
                <a:gd name="T4" fmla="*/ 0 w 179"/>
                <a:gd name="T5" fmla="*/ 118 h 118"/>
                <a:gd name="T6" fmla="*/ 179 w 179"/>
                <a:gd name="T7" fmla="*/ 50 h 118"/>
                <a:gd name="T8" fmla="*/ 147 w 179"/>
                <a:gd name="T9" fmla="*/ 0 h 118"/>
                <a:gd name="T10" fmla="*/ 11 w 179"/>
                <a:gd name="T11" fmla="*/ 18 h 118"/>
              </a:gdLst>
              <a:ahLst/>
              <a:cxnLst>
                <a:cxn ang="0">
                  <a:pos x="T0" y="T1"/>
                </a:cxn>
                <a:cxn ang="0">
                  <a:pos x="T2" y="T3"/>
                </a:cxn>
                <a:cxn ang="0">
                  <a:pos x="T4" y="T5"/>
                </a:cxn>
                <a:cxn ang="0">
                  <a:pos x="T6" y="T7"/>
                </a:cxn>
                <a:cxn ang="0">
                  <a:pos x="T8" y="T9"/>
                </a:cxn>
                <a:cxn ang="0">
                  <a:pos x="T10" y="T11"/>
                </a:cxn>
              </a:cxnLst>
              <a:rect l="0" t="0" r="r" b="b"/>
              <a:pathLst>
                <a:path w="179" h="118">
                  <a:moveTo>
                    <a:pt x="11" y="18"/>
                  </a:moveTo>
                  <a:lnTo>
                    <a:pt x="10" y="18"/>
                  </a:lnTo>
                  <a:lnTo>
                    <a:pt x="0" y="118"/>
                  </a:lnTo>
                  <a:lnTo>
                    <a:pt x="179" y="50"/>
                  </a:lnTo>
                  <a:lnTo>
                    <a:pt x="147" y="0"/>
                  </a:lnTo>
                  <a:lnTo>
                    <a:pt x="11" y="18"/>
                  </a:lnTo>
                  <a:close/>
                </a:path>
              </a:pathLst>
            </a:custGeom>
            <a:solidFill>
              <a:srgbClr val="FFCC9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54309" name="Freeform 37">
              <a:extLst>
                <a:ext uri="{FF2B5EF4-FFF2-40B4-BE49-F238E27FC236}">
                  <a16:creationId xmlns:a16="http://schemas.microsoft.com/office/drawing/2014/main" id="{D7FB4DA6-DB12-1FC3-9B41-164D50FE9966}"/>
                </a:ext>
              </a:extLst>
            </p:cNvPr>
            <p:cNvSpPr>
              <a:spLocks/>
            </p:cNvSpPr>
            <p:nvPr/>
          </p:nvSpPr>
          <p:spPr bwMode="auto">
            <a:xfrm>
              <a:off x="3538" y="3848"/>
              <a:ext cx="63" cy="64"/>
            </a:xfrm>
            <a:custGeom>
              <a:avLst/>
              <a:gdLst>
                <a:gd name="T0" fmla="*/ 0 w 189"/>
                <a:gd name="T1" fmla="*/ 68 h 191"/>
                <a:gd name="T2" fmla="*/ 0 w 189"/>
                <a:gd name="T3" fmla="*/ 94 h 191"/>
                <a:gd name="T4" fmla="*/ 93 w 189"/>
                <a:gd name="T5" fmla="*/ 94 h 191"/>
                <a:gd name="T6" fmla="*/ 0 w 189"/>
                <a:gd name="T7" fmla="*/ 144 h 191"/>
                <a:gd name="T8" fmla="*/ 0 w 189"/>
                <a:gd name="T9" fmla="*/ 191 h 191"/>
                <a:gd name="T10" fmla="*/ 12 w 189"/>
                <a:gd name="T11" fmla="*/ 191 h 191"/>
                <a:gd name="T12" fmla="*/ 27 w 189"/>
                <a:gd name="T13" fmla="*/ 189 h 191"/>
                <a:gd name="T14" fmla="*/ 42 w 189"/>
                <a:gd name="T15" fmla="*/ 186 h 191"/>
                <a:gd name="T16" fmla="*/ 57 w 189"/>
                <a:gd name="T17" fmla="*/ 181 h 191"/>
                <a:gd name="T18" fmla="*/ 71 w 189"/>
                <a:gd name="T19" fmla="*/ 177 h 191"/>
                <a:gd name="T20" fmla="*/ 83 w 189"/>
                <a:gd name="T21" fmla="*/ 169 h 191"/>
                <a:gd name="T22" fmla="*/ 96 w 189"/>
                <a:gd name="T23" fmla="*/ 162 h 191"/>
                <a:gd name="T24" fmla="*/ 108 w 189"/>
                <a:gd name="T25" fmla="*/ 154 h 191"/>
                <a:gd name="T26" fmla="*/ 120 w 189"/>
                <a:gd name="T27" fmla="*/ 144 h 191"/>
                <a:gd name="T28" fmla="*/ 130 w 189"/>
                <a:gd name="T29" fmla="*/ 132 h 191"/>
                <a:gd name="T30" fmla="*/ 141 w 189"/>
                <a:gd name="T31" fmla="*/ 120 h 191"/>
                <a:gd name="T32" fmla="*/ 149 w 189"/>
                <a:gd name="T33" fmla="*/ 106 h 191"/>
                <a:gd name="T34" fmla="*/ 159 w 189"/>
                <a:gd name="T35" fmla="*/ 92 h 191"/>
                <a:gd name="T36" fmla="*/ 166 w 189"/>
                <a:gd name="T37" fmla="*/ 75 h 191"/>
                <a:gd name="T38" fmla="*/ 174 w 189"/>
                <a:gd name="T39" fmla="*/ 58 h 191"/>
                <a:gd name="T40" fmla="*/ 177 w 189"/>
                <a:gd name="T41" fmla="*/ 48 h 191"/>
                <a:gd name="T42" fmla="*/ 178 w 189"/>
                <a:gd name="T43" fmla="*/ 44 h 191"/>
                <a:gd name="T44" fmla="*/ 180 w 189"/>
                <a:gd name="T45" fmla="*/ 40 h 191"/>
                <a:gd name="T46" fmla="*/ 188 w 189"/>
                <a:gd name="T47" fmla="*/ 22 h 191"/>
                <a:gd name="T48" fmla="*/ 188 w 189"/>
                <a:gd name="T49" fmla="*/ 21 h 191"/>
                <a:gd name="T50" fmla="*/ 189 w 189"/>
                <a:gd name="T51" fmla="*/ 17 h 191"/>
                <a:gd name="T52" fmla="*/ 180 w 189"/>
                <a:gd name="T53" fmla="*/ 2 h 191"/>
                <a:gd name="T54" fmla="*/ 179 w 189"/>
                <a:gd name="T55" fmla="*/ 0 h 191"/>
                <a:gd name="T56" fmla="*/ 0 w 189"/>
                <a:gd name="T57" fmla="*/ 68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9" h="191">
                  <a:moveTo>
                    <a:pt x="0" y="68"/>
                  </a:moveTo>
                  <a:lnTo>
                    <a:pt x="0" y="94"/>
                  </a:lnTo>
                  <a:lnTo>
                    <a:pt x="93" y="94"/>
                  </a:lnTo>
                  <a:lnTo>
                    <a:pt x="0" y="144"/>
                  </a:lnTo>
                  <a:lnTo>
                    <a:pt x="0" y="191"/>
                  </a:lnTo>
                  <a:lnTo>
                    <a:pt x="12" y="191"/>
                  </a:lnTo>
                  <a:lnTo>
                    <a:pt x="27" y="189"/>
                  </a:lnTo>
                  <a:lnTo>
                    <a:pt x="42" y="186"/>
                  </a:lnTo>
                  <a:lnTo>
                    <a:pt x="57" y="181"/>
                  </a:lnTo>
                  <a:lnTo>
                    <a:pt x="71" y="177"/>
                  </a:lnTo>
                  <a:lnTo>
                    <a:pt x="83" y="169"/>
                  </a:lnTo>
                  <a:lnTo>
                    <a:pt x="96" y="162"/>
                  </a:lnTo>
                  <a:lnTo>
                    <a:pt x="108" y="154"/>
                  </a:lnTo>
                  <a:lnTo>
                    <a:pt x="120" y="144"/>
                  </a:lnTo>
                  <a:lnTo>
                    <a:pt x="130" y="132"/>
                  </a:lnTo>
                  <a:lnTo>
                    <a:pt x="141" y="120"/>
                  </a:lnTo>
                  <a:lnTo>
                    <a:pt x="149" y="106"/>
                  </a:lnTo>
                  <a:lnTo>
                    <a:pt x="159" y="92"/>
                  </a:lnTo>
                  <a:lnTo>
                    <a:pt x="166" y="75"/>
                  </a:lnTo>
                  <a:lnTo>
                    <a:pt x="174" y="58"/>
                  </a:lnTo>
                  <a:lnTo>
                    <a:pt x="177" y="48"/>
                  </a:lnTo>
                  <a:lnTo>
                    <a:pt x="178" y="44"/>
                  </a:lnTo>
                  <a:lnTo>
                    <a:pt x="180" y="40"/>
                  </a:lnTo>
                  <a:lnTo>
                    <a:pt x="188" y="22"/>
                  </a:lnTo>
                  <a:lnTo>
                    <a:pt x="188" y="21"/>
                  </a:lnTo>
                  <a:lnTo>
                    <a:pt x="189" y="17"/>
                  </a:lnTo>
                  <a:lnTo>
                    <a:pt x="180" y="2"/>
                  </a:lnTo>
                  <a:lnTo>
                    <a:pt x="179" y="0"/>
                  </a:lnTo>
                  <a:lnTo>
                    <a:pt x="0"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10" name="Freeform 38">
              <a:extLst>
                <a:ext uri="{FF2B5EF4-FFF2-40B4-BE49-F238E27FC236}">
                  <a16:creationId xmlns:a16="http://schemas.microsoft.com/office/drawing/2014/main" id="{CB42331F-CAC3-0113-0FC5-B167CDA93610}"/>
                </a:ext>
              </a:extLst>
            </p:cNvPr>
            <p:cNvSpPr>
              <a:spLocks/>
            </p:cNvSpPr>
            <p:nvPr/>
          </p:nvSpPr>
          <p:spPr bwMode="auto">
            <a:xfrm>
              <a:off x="3538" y="3880"/>
              <a:ext cx="31" cy="16"/>
            </a:xfrm>
            <a:custGeom>
              <a:avLst/>
              <a:gdLst>
                <a:gd name="T0" fmla="*/ 0 w 93"/>
                <a:gd name="T1" fmla="*/ 0 h 50"/>
                <a:gd name="T2" fmla="*/ 0 w 93"/>
                <a:gd name="T3" fmla="*/ 50 h 50"/>
                <a:gd name="T4" fmla="*/ 93 w 93"/>
                <a:gd name="T5" fmla="*/ 0 h 50"/>
                <a:gd name="T6" fmla="*/ 0 w 93"/>
                <a:gd name="T7" fmla="*/ 0 h 50"/>
              </a:gdLst>
              <a:ahLst/>
              <a:cxnLst>
                <a:cxn ang="0">
                  <a:pos x="T0" y="T1"/>
                </a:cxn>
                <a:cxn ang="0">
                  <a:pos x="T2" y="T3"/>
                </a:cxn>
                <a:cxn ang="0">
                  <a:pos x="T4" y="T5"/>
                </a:cxn>
                <a:cxn ang="0">
                  <a:pos x="T6" y="T7"/>
                </a:cxn>
              </a:cxnLst>
              <a:rect l="0" t="0" r="r" b="b"/>
              <a:pathLst>
                <a:path w="93" h="50">
                  <a:moveTo>
                    <a:pt x="0" y="0"/>
                  </a:moveTo>
                  <a:lnTo>
                    <a:pt x="0" y="50"/>
                  </a:lnTo>
                  <a:lnTo>
                    <a:pt x="93"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11" name="Freeform 39">
              <a:extLst>
                <a:ext uri="{FF2B5EF4-FFF2-40B4-BE49-F238E27FC236}">
                  <a16:creationId xmlns:a16="http://schemas.microsoft.com/office/drawing/2014/main" id="{43E6912A-29F0-DCD9-19DC-D42F6ECC3E34}"/>
                </a:ext>
              </a:extLst>
            </p:cNvPr>
            <p:cNvSpPr>
              <a:spLocks/>
            </p:cNvSpPr>
            <p:nvPr/>
          </p:nvSpPr>
          <p:spPr bwMode="auto">
            <a:xfrm>
              <a:off x="3600" y="3841"/>
              <a:ext cx="100" cy="10"/>
            </a:xfrm>
            <a:custGeom>
              <a:avLst/>
              <a:gdLst>
                <a:gd name="T0" fmla="*/ 289 w 300"/>
                <a:gd name="T1" fmla="*/ 25 h 29"/>
                <a:gd name="T2" fmla="*/ 291 w 300"/>
                <a:gd name="T3" fmla="*/ 21 h 29"/>
                <a:gd name="T4" fmla="*/ 299 w 300"/>
                <a:gd name="T5" fmla="*/ 5 h 29"/>
                <a:gd name="T6" fmla="*/ 300 w 300"/>
                <a:gd name="T7" fmla="*/ 0 h 29"/>
                <a:gd name="T8" fmla="*/ 0 w 300"/>
                <a:gd name="T9" fmla="*/ 23 h 29"/>
                <a:gd name="T10" fmla="*/ 288 w 300"/>
                <a:gd name="T11" fmla="*/ 29 h 29"/>
                <a:gd name="T12" fmla="*/ 289 w 300"/>
                <a:gd name="T13" fmla="*/ 25 h 29"/>
              </a:gdLst>
              <a:ahLst/>
              <a:cxnLst>
                <a:cxn ang="0">
                  <a:pos x="T0" y="T1"/>
                </a:cxn>
                <a:cxn ang="0">
                  <a:pos x="T2" y="T3"/>
                </a:cxn>
                <a:cxn ang="0">
                  <a:pos x="T4" y="T5"/>
                </a:cxn>
                <a:cxn ang="0">
                  <a:pos x="T6" y="T7"/>
                </a:cxn>
                <a:cxn ang="0">
                  <a:pos x="T8" y="T9"/>
                </a:cxn>
                <a:cxn ang="0">
                  <a:pos x="T10" y="T11"/>
                </a:cxn>
                <a:cxn ang="0">
                  <a:pos x="T12" y="T13"/>
                </a:cxn>
              </a:cxnLst>
              <a:rect l="0" t="0" r="r" b="b"/>
              <a:pathLst>
                <a:path w="300" h="29">
                  <a:moveTo>
                    <a:pt x="289" y="25"/>
                  </a:moveTo>
                  <a:lnTo>
                    <a:pt x="291" y="21"/>
                  </a:lnTo>
                  <a:lnTo>
                    <a:pt x="299" y="5"/>
                  </a:lnTo>
                  <a:lnTo>
                    <a:pt x="300" y="0"/>
                  </a:lnTo>
                  <a:lnTo>
                    <a:pt x="0" y="23"/>
                  </a:lnTo>
                  <a:lnTo>
                    <a:pt x="288" y="29"/>
                  </a:lnTo>
                  <a:lnTo>
                    <a:pt x="289" y="25"/>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12" name="Freeform 40">
              <a:extLst>
                <a:ext uri="{FF2B5EF4-FFF2-40B4-BE49-F238E27FC236}">
                  <a16:creationId xmlns:a16="http://schemas.microsoft.com/office/drawing/2014/main" id="{23D83EE1-A936-DED8-9085-7A2C423FBB33}"/>
                </a:ext>
              </a:extLst>
            </p:cNvPr>
            <p:cNvSpPr>
              <a:spLocks/>
            </p:cNvSpPr>
            <p:nvPr/>
          </p:nvSpPr>
          <p:spPr bwMode="auto">
            <a:xfrm>
              <a:off x="3697" y="3837"/>
              <a:ext cx="22" cy="17"/>
            </a:xfrm>
            <a:custGeom>
              <a:avLst/>
              <a:gdLst>
                <a:gd name="T0" fmla="*/ 67 w 67"/>
                <a:gd name="T1" fmla="*/ 0 h 50"/>
                <a:gd name="T2" fmla="*/ 8 w 67"/>
                <a:gd name="T3" fmla="*/ 18 h 50"/>
                <a:gd name="T4" fmla="*/ 0 w 67"/>
                <a:gd name="T5" fmla="*/ 34 h 50"/>
                <a:gd name="T6" fmla="*/ 63 w 67"/>
                <a:gd name="T7" fmla="*/ 50 h 50"/>
                <a:gd name="T8" fmla="*/ 67 w 67"/>
                <a:gd name="T9" fmla="*/ 0 h 50"/>
              </a:gdLst>
              <a:ahLst/>
              <a:cxnLst>
                <a:cxn ang="0">
                  <a:pos x="T0" y="T1"/>
                </a:cxn>
                <a:cxn ang="0">
                  <a:pos x="T2" y="T3"/>
                </a:cxn>
                <a:cxn ang="0">
                  <a:pos x="T4" y="T5"/>
                </a:cxn>
                <a:cxn ang="0">
                  <a:pos x="T6" y="T7"/>
                </a:cxn>
                <a:cxn ang="0">
                  <a:pos x="T8" y="T9"/>
                </a:cxn>
              </a:cxnLst>
              <a:rect l="0" t="0" r="r" b="b"/>
              <a:pathLst>
                <a:path w="67" h="50">
                  <a:moveTo>
                    <a:pt x="67" y="0"/>
                  </a:moveTo>
                  <a:lnTo>
                    <a:pt x="8" y="18"/>
                  </a:lnTo>
                  <a:lnTo>
                    <a:pt x="0" y="34"/>
                  </a:lnTo>
                  <a:lnTo>
                    <a:pt x="63" y="50"/>
                  </a:lnTo>
                  <a:lnTo>
                    <a:pt x="6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13" name="Freeform 41">
              <a:extLst>
                <a:ext uri="{FF2B5EF4-FFF2-40B4-BE49-F238E27FC236}">
                  <a16:creationId xmlns:a16="http://schemas.microsoft.com/office/drawing/2014/main" id="{BC183E23-ADA1-E014-5113-4FD7D0006211}"/>
                </a:ext>
              </a:extLst>
            </p:cNvPr>
            <p:cNvSpPr>
              <a:spLocks/>
            </p:cNvSpPr>
            <p:nvPr/>
          </p:nvSpPr>
          <p:spPr bwMode="auto">
            <a:xfrm>
              <a:off x="3598" y="3849"/>
              <a:ext cx="112" cy="22"/>
            </a:xfrm>
            <a:custGeom>
              <a:avLst/>
              <a:gdLst>
                <a:gd name="T0" fmla="*/ 294 w 336"/>
                <a:gd name="T1" fmla="*/ 2 h 66"/>
                <a:gd name="T2" fmla="*/ 293 w 336"/>
                <a:gd name="T3" fmla="*/ 6 h 66"/>
                <a:gd name="T4" fmla="*/ 5 w 336"/>
                <a:gd name="T5" fmla="*/ 0 h 66"/>
                <a:gd name="T6" fmla="*/ 0 w 336"/>
                <a:gd name="T7" fmla="*/ 0 h 66"/>
                <a:gd name="T8" fmla="*/ 224 w 336"/>
                <a:gd name="T9" fmla="*/ 56 h 66"/>
                <a:gd name="T10" fmla="*/ 266 w 336"/>
                <a:gd name="T11" fmla="*/ 66 h 66"/>
                <a:gd name="T12" fmla="*/ 285 w 336"/>
                <a:gd name="T13" fmla="*/ 24 h 66"/>
                <a:gd name="T14" fmla="*/ 285 w 336"/>
                <a:gd name="T15" fmla="*/ 60 h 66"/>
                <a:gd name="T16" fmla="*/ 336 w 336"/>
                <a:gd name="T17" fmla="*/ 60 h 66"/>
                <a:gd name="T18" fmla="*/ 294 w 336"/>
                <a:gd name="T19" fmla="*/ 2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66">
                  <a:moveTo>
                    <a:pt x="294" y="2"/>
                  </a:moveTo>
                  <a:lnTo>
                    <a:pt x="293" y="6"/>
                  </a:lnTo>
                  <a:lnTo>
                    <a:pt x="5" y="0"/>
                  </a:lnTo>
                  <a:lnTo>
                    <a:pt x="0" y="0"/>
                  </a:lnTo>
                  <a:lnTo>
                    <a:pt x="224" y="56"/>
                  </a:lnTo>
                  <a:lnTo>
                    <a:pt x="266" y="66"/>
                  </a:lnTo>
                  <a:lnTo>
                    <a:pt x="285" y="24"/>
                  </a:lnTo>
                  <a:lnTo>
                    <a:pt x="285" y="60"/>
                  </a:lnTo>
                  <a:lnTo>
                    <a:pt x="336" y="60"/>
                  </a:lnTo>
                  <a:lnTo>
                    <a:pt x="294"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14" name="Freeform 42">
              <a:extLst>
                <a:ext uri="{FF2B5EF4-FFF2-40B4-BE49-F238E27FC236}">
                  <a16:creationId xmlns:a16="http://schemas.microsoft.com/office/drawing/2014/main" id="{38E8C305-237C-8EC2-A640-D7AAF0411A54}"/>
                </a:ext>
              </a:extLst>
            </p:cNvPr>
            <p:cNvSpPr>
              <a:spLocks/>
            </p:cNvSpPr>
            <p:nvPr/>
          </p:nvSpPr>
          <p:spPr bwMode="auto">
            <a:xfrm>
              <a:off x="3542" y="3854"/>
              <a:ext cx="120" cy="137"/>
            </a:xfrm>
            <a:custGeom>
              <a:avLst/>
              <a:gdLst>
                <a:gd name="T0" fmla="*/ 177 w 359"/>
                <a:gd name="T1" fmla="*/ 0 h 412"/>
                <a:gd name="T2" fmla="*/ 176 w 359"/>
                <a:gd name="T3" fmla="*/ 4 h 412"/>
                <a:gd name="T4" fmla="*/ 176 w 359"/>
                <a:gd name="T5" fmla="*/ 5 h 412"/>
                <a:gd name="T6" fmla="*/ 168 w 359"/>
                <a:gd name="T7" fmla="*/ 23 h 412"/>
                <a:gd name="T8" fmla="*/ 166 w 359"/>
                <a:gd name="T9" fmla="*/ 27 h 412"/>
                <a:gd name="T10" fmla="*/ 165 w 359"/>
                <a:gd name="T11" fmla="*/ 31 h 412"/>
                <a:gd name="T12" fmla="*/ 162 w 359"/>
                <a:gd name="T13" fmla="*/ 41 h 412"/>
                <a:gd name="T14" fmla="*/ 154 w 359"/>
                <a:gd name="T15" fmla="*/ 58 h 412"/>
                <a:gd name="T16" fmla="*/ 147 w 359"/>
                <a:gd name="T17" fmla="*/ 75 h 412"/>
                <a:gd name="T18" fmla="*/ 137 w 359"/>
                <a:gd name="T19" fmla="*/ 89 h 412"/>
                <a:gd name="T20" fmla="*/ 129 w 359"/>
                <a:gd name="T21" fmla="*/ 103 h 412"/>
                <a:gd name="T22" fmla="*/ 118 w 359"/>
                <a:gd name="T23" fmla="*/ 115 h 412"/>
                <a:gd name="T24" fmla="*/ 108 w 359"/>
                <a:gd name="T25" fmla="*/ 127 h 412"/>
                <a:gd name="T26" fmla="*/ 96 w 359"/>
                <a:gd name="T27" fmla="*/ 137 h 412"/>
                <a:gd name="T28" fmla="*/ 84 w 359"/>
                <a:gd name="T29" fmla="*/ 145 h 412"/>
                <a:gd name="T30" fmla="*/ 71 w 359"/>
                <a:gd name="T31" fmla="*/ 152 h 412"/>
                <a:gd name="T32" fmla="*/ 59 w 359"/>
                <a:gd name="T33" fmla="*/ 160 h 412"/>
                <a:gd name="T34" fmla="*/ 45 w 359"/>
                <a:gd name="T35" fmla="*/ 164 h 412"/>
                <a:gd name="T36" fmla="*/ 30 w 359"/>
                <a:gd name="T37" fmla="*/ 169 h 412"/>
                <a:gd name="T38" fmla="*/ 15 w 359"/>
                <a:gd name="T39" fmla="*/ 172 h 412"/>
                <a:gd name="T40" fmla="*/ 0 w 359"/>
                <a:gd name="T41" fmla="*/ 174 h 412"/>
                <a:gd name="T42" fmla="*/ 26 w 359"/>
                <a:gd name="T43" fmla="*/ 389 h 412"/>
                <a:gd name="T44" fmla="*/ 226 w 359"/>
                <a:gd name="T45" fmla="*/ 403 h 412"/>
                <a:gd name="T46" fmla="*/ 267 w 359"/>
                <a:gd name="T47" fmla="*/ 412 h 412"/>
                <a:gd name="T48" fmla="*/ 285 w 359"/>
                <a:gd name="T49" fmla="*/ 360 h 412"/>
                <a:gd name="T50" fmla="*/ 304 w 359"/>
                <a:gd name="T51" fmla="*/ 313 h 412"/>
                <a:gd name="T52" fmla="*/ 315 w 359"/>
                <a:gd name="T53" fmla="*/ 289 h 412"/>
                <a:gd name="T54" fmla="*/ 342 w 359"/>
                <a:gd name="T55" fmla="*/ 235 h 412"/>
                <a:gd name="T56" fmla="*/ 354 w 359"/>
                <a:gd name="T57" fmla="*/ 214 h 412"/>
                <a:gd name="T58" fmla="*/ 359 w 359"/>
                <a:gd name="T59" fmla="*/ 205 h 412"/>
                <a:gd name="T60" fmla="*/ 304 w 359"/>
                <a:gd name="T61" fmla="*/ 216 h 412"/>
                <a:gd name="T62" fmla="*/ 273 w 359"/>
                <a:gd name="T63" fmla="*/ 162 h 412"/>
                <a:gd name="T64" fmla="*/ 303 w 359"/>
                <a:gd name="T65" fmla="*/ 115 h 412"/>
                <a:gd name="T66" fmla="*/ 293 w 359"/>
                <a:gd name="T67" fmla="*/ 54 h 412"/>
                <a:gd name="T68" fmla="*/ 255 w 359"/>
                <a:gd name="T69" fmla="*/ 29 h 412"/>
                <a:gd name="T70" fmla="*/ 203 w 359"/>
                <a:gd name="T71" fmla="*/ 131 h 412"/>
                <a:gd name="T72" fmla="*/ 171 w 359"/>
                <a:gd name="T73" fmla="*/ 127 h 412"/>
                <a:gd name="T74" fmla="*/ 177 w 359"/>
                <a:gd name="T75" fmla="*/ 4 h 412"/>
                <a:gd name="T76" fmla="*/ 177 w 359"/>
                <a:gd name="T77" fmla="*/ 1 h 412"/>
                <a:gd name="T78" fmla="*/ 177 w 359"/>
                <a:gd name="T79"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9" h="412">
                  <a:moveTo>
                    <a:pt x="177" y="0"/>
                  </a:moveTo>
                  <a:lnTo>
                    <a:pt x="176" y="4"/>
                  </a:lnTo>
                  <a:lnTo>
                    <a:pt x="176" y="5"/>
                  </a:lnTo>
                  <a:lnTo>
                    <a:pt x="168" y="23"/>
                  </a:lnTo>
                  <a:lnTo>
                    <a:pt x="166" y="27"/>
                  </a:lnTo>
                  <a:lnTo>
                    <a:pt x="165" y="31"/>
                  </a:lnTo>
                  <a:lnTo>
                    <a:pt x="162" y="41"/>
                  </a:lnTo>
                  <a:lnTo>
                    <a:pt x="154" y="58"/>
                  </a:lnTo>
                  <a:lnTo>
                    <a:pt x="147" y="75"/>
                  </a:lnTo>
                  <a:lnTo>
                    <a:pt x="137" y="89"/>
                  </a:lnTo>
                  <a:lnTo>
                    <a:pt x="129" y="103"/>
                  </a:lnTo>
                  <a:lnTo>
                    <a:pt x="118" y="115"/>
                  </a:lnTo>
                  <a:lnTo>
                    <a:pt x="108" y="127"/>
                  </a:lnTo>
                  <a:lnTo>
                    <a:pt x="96" y="137"/>
                  </a:lnTo>
                  <a:lnTo>
                    <a:pt x="84" y="145"/>
                  </a:lnTo>
                  <a:lnTo>
                    <a:pt x="71" y="152"/>
                  </a:lnTo>
                  <a:lnTo>
                    <a:pt x="59" y="160"/>
                  </a:lnTo>
                  <a:lnTo>
                    <a:pt x="45" y="164"/>
                  </a:lnTo>
                  <a:lnTo>
                    <a:pt x="30" y="169"/>
                  </a:lnTo>
                  <a:lnTo>
                    <a:pt x="15" y="172"/>
                  </a:lnTo>
                  <a:lnTo>
                    <a:pt x="0" y="174"/>
                  </a:lnTo>
                  <a:lnTo>
                    <a:pt x="26" y="389"/>
                  </a:lnTo>
                  <a:lnTo>
                    <a:pt x="226" y="403"/>
                  </a:lnTo>
                  <a:lnTo>
                    <a:pt x="267" y="412"/>
                  </a:lnTo>
                  <a:lnTo>
                    <a:pt x="285" y="360"/>
                  </a:lnTo>
                  <a:lnTo>
                    <a:pt x="304" y="313"/>
                  </a:lnTo>
                  <a:lnTo>
                    <a:pt x="315" y="289"/>
                  </a:lnTo>
                  <a:lnTo>
                    <a:pt x="342" y="235"/>
                  </a:lnTo>
                  <a:lnTo>
                    <a:pt x="354" y="214"/>
                  </a:lnTo>
                  <a:lnTo>
                    <a:pt x="359" y="205"/>
                  </a:lnTo>
                  <a:lnTo>
                    <a:pt x="304" y="216"/>
                  </a:lnTo>
                  <a:lnTo>
                    <a:pt x="273" y="162"/>
                  </a:lnTo>
                  <a:lnTo>
                    <a:pt x="303" y="115"/>
                  </a:lnTo>
                  <a:lnTo>
                    <a:pt x="293" y="54"/>
                  </a:lnTo>
                  <a:lnTo>
                    <a:pt x="255" y="29"/>
                  </a:lnTo>
                  <a:lnTo>
                    <a:pt x="203" y="131"/>
                  </a:lnTo>
                  <a:lnTo>
                    <a:pt x="171" y="127"/>
                  </a:lnTo>
                  <a:lnTo>
                    <a:pt x="177" y="4"/>
                  </a:lnTo>
                  <a:lnTo>
                    <a:pt x="177" y="1"/>
                  </a:lnTo>
                  <a:lnTo>
                    <a:pt x="177"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15" name="Freeform 43">
              <a:extLst>
                <a:ext uri="{FF2B5EF4-FFF2-40B4-BE49-F238E27FC236}">
                  <a16:creationId xmlns:a16="http://schemas.microsoft.com/office/drawing/2014/main" id="{21BDCE21-5F98-7F13-EE96-4BD769670448}"/>
                </a:ext>
              </a:extLst>
            </p:cNvPr>
            <p:cNvSpPr>
              <a:spLocks/>
            </p:cNvSpPr>
            <p:nvPr/>
          </p:nvSpPr>
          <p:spPr bwMode="auto">
            <a:xfrm>
              <a:off x="3598" y="3849"/>
              <a:ext cx="75" cy="19"/>
            </a:xfrm>
            <a:custGeom>
              <a:avLst/>
              <a:gdLst>
                <a:gd name="T0" fmla="*/ 0 w 224"/>
                <a:gd name="T1" fmla="*/ 0 h 56"/>
                <a:gd name="T2" fmla="*/ 9 w 224"/>
                <a:gd name="T3" fmla="*/ 15 h 56"/>
                <a:gd name="T4" fmla="*/ 9 w 224"/>
                <a:gd name="T5" fmla="*/ 16 h 56"/>
                <a:gd name="T6" fmla="*/ 9 w 224"/>
                <a:gd name="T7" fmla="*/ 19 h 56"/>
                <a:gd name="T8" fmla="*/ 224 w 224"/>
                <a:gd name="T9" fmla="*/ 56 h 56"/>
                <a:gd name="T10" fmla="*/ 0 w 224"/>
                <a:gd name="T11" fmla="*/ 0 h 56"/>
              </a:gdLst>
              <a:ahLst/>
              <a:cxnLst>
                <a:cxn ang="0">
                  <a:pos x="T0" y="T1"/>
                </a:cxn>
                <a:cxn ang="0">
                  <a:pos x="T2" y="T3"/>
                </a:cxn>
                <a:cxn ang="0">
                  <a:pos x="T4" y="T5"/>
                </a:cxn>
                <a:cxn ang="0">
                  <a:pos x="T6" y="T7"/>
                </a:cxn>
                <a:cxn ang="0">
                  <a:pos x="T8" y="T9"/>
                </a:cxn>
                <a:cxn ang="0">
                  <a:pos x="T10" y="T11"/>
                </a:cxn>
              </a:cxnLst>
              <a:rect l="0" t="0" r="r" b="b"/>
              <a:pathLst>
                <a:path w="224" h="56">
                  <a:moveTo>
                    <a:pt x="0" y="0"/>
                  </a:moveTo>
                  <a:lnTo>
                    <a:pt x="9" y="15"/>
                  </a:lnTo>
                  <a:lnTo>
                    <a:pt x="9" y="16"/>
                  </a:lnTo>
                  <a:lnTo>
                    <a:pt x="9" y="19"/>
                  </a:lnTo>
                  <a:lnTo>
                    <a:pt x="224" y="56"/>
                  </a:lnTo>
                  <a:lnTo>
                    <a:pt x="0"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16" name="Freeform 44">
              <a:extLst>
                <a:ext uri="{FF2B5EF4-FFF2-40B4-BE49-F238E27FC236}">
                  <a16:creationId xmlns:a16="http://schemas.microsoft.com/office/drawing/2014/main" id="{30568BB5-749A-DF56-4F98-2B6690F3B9C8}"/>
                </a:ext>
              </a:extLst>
            </p:cNvPr>
            <p:cNvSpPr>
              <a:spLocks/>
            </p:cNvSpPr>
            <p:nvPr/>
          </p:nvSpPr>
          <p:spPr bwMode="auto">
            <a:xfrm>
              <a:off x="3599" y="3855"/>
              <a:ext cx="88" cy="71"/>
            </a:xfrm>
            <a:custGeom>
              <a:avLst/>
              <a:gdLst>
                <a:gd name="T0" fmla="*/ 102 w 263"/>
                <a:gd name="T1" fmla="*/ 158 h 212"/>
                <a:gd name="T2" fmla="*/ 133 w 263"/>
                <a:gd name="T3" fmla="*/ 212 h 212"/>
                <a:gd name="T4" fmla="*/ 188 w 263"/>
                <a:gd name="T5" fmla="*/ 201 h 212"/>
                <a:gd name="T6" fmla="*/ 205 w 263"/>
                <a:gd name="T7" fmla="*/ 171 h 212"/>
                <a:gd name="T8" fmla="*/ 207 w 263"/>
                <a:gd name="T9" fmla="*/ 169 h 212"/>
                <a:gd name="T10" fmla="*/ 207 w 263"/>
                <a:gd name="T11" fmla="*/ 165 h 212"/>
                <a:gd name="T12" fmla="*/ 205 w 263"/>
                <a:gd name="T13" fmla="*/ 164 h 212"/>
                <a:gd name="T14" fmla="*/ 209 w 263"/>
                <a:gd name="T15" fmla="*/ 159 h 212"/>
                <a:gd name="T16" fmla="*/ 236 w 263"/>
                <a:gd name="T17" fmla="*/ 154 h 212"/>
                <a:gd name="T18" fmla="*/ 241 w 263"/>
                <a:gd name="T19" fmla="*/ 99 h 212"/>
                <a:gd name="T20" fmla="*/ 242 w 263"/>
                <a:gd name="T21" fmla="*/ 102 h 212"/>
                <a:gd name="T22" fmla="*/ 241 w 263"/>
                <a:gd name="T23" fmla="*/ 96 h 212"/>
                <a:gd name="T24" fmla="*/ 263 w 263"/>
                <a:gd name="T25" fmla="*/ 47 h 212"/>
                <a:gd name="T26" fmla="*/ 221 w 263"/>
                <a:gd name="T27" fmla="*/ 37 h 212"/>
                <a:gd name="T28" fmla="*/ 6 w 263"/>
                <a:gd name="T29" fmla="*/ 0 h 212"/>
                <a:gd name="T30" fmla="*/ 0 w 263"/>
                <a:gd name="T31" fmla="*/ 123 h 212"/>
                <a:gd name="T32" fmla="*/ 32 w 263"/>
                <a:gd name="T33" fmla="*/ 127 h 212"/>
                <a:gd name="T34" fmla="*/ 84 w 263"/>
                <a:gd name="T35" fmla="*/ 25 h 212"/>
                <a:gd name="T36" fmla="*/ 122 w 263"/>
                <a:gd name="T37" fmla="*/ 50 h 212"/>
                <a:gd name="T38" fmla="*/ 132 w 263"/>
                <a:gd name="T39" fmla="*/ 111 h 212"/>
                <a:gd name="T40" fmla="*/ 102 w 263"/>
                <a:gd name="T41" fmla="*/ 158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3" h="212">
                  <a:moveTo>
                    <a:pt x="102" y="158"/>
                  </a:moveTo>
                  <a:lnTo>
                    <a:pt x="133" y="212"/>
                  </a:lnTo>
                  <a:lnTo>
                    <a:pt x="188" y="201"/>
                  </a:lnTo>
                  <a:lnTo>
                    <a:pt x="205" y="171"/>
                  </a:lnTo>
                  <a:lnTo>
                    <a:pt x="207" y="169"/>
                  </a:lnTo>
                  <a:lnTo>
                    <a:pt x="207" y="165"/>
                  </a:lnTo>
                  <a:lnTo>
                    <a:pt x="205" y="164"/>
                  </a:lnTo>
                  <a:lnTo>
                    <a:pt x="209" y="159"/>
                  </a:lnTo>
                  <a:lnTo>
                    <a:pt x="236" y="154"/>
                  </a:lnTo>
                  <a:lnTo>
                    <a:pt x="241" y="99"/>
                  </a:lnTo>
                  <a:lnTo>
                    <a:pt x="242" y="102"/>
                  </a:lnTo>
                  <a:lnTo>
                    <a:pt x="241" y="96"/>
                  </a:lnTo>
                  <a:lnTo>
                    <a:pt x="263" y="47"/>
                  </a:lnTo>
                  <a:lnTo>
                    <a:pt x="221" y="37"/>
                  </a:lnTo>
                  <a:lnTo>
                    <a:pt x="6" y="0"/>
                  </a:lnTo>
                  <a:lnTo>
                    <a:pt x="0" y="123"/>
                  </a:lnTo>
                  <a:lnTo>
                    <a:pt x="32" y="127"/>
                  </a:lnTo>
                  <a:lnTo>
                    <a:pt x="84" y="25"/>
                  </a:lnTo>
                  <a:lnTo>
                    <a:pt x="122" y="50"/>
                  </a:lnTo>
                  <a:lnTo>
                    <a:pt x="132" y="111"/>
                  </a:lnTo>
                  <a:lnTo>
                    <a:pt x="102" y="158"/>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17" name="Freeform 45">
              <a:extLst>
                <a:ext uri="{FF2B5EF4-FFF2-40B4-BE49-F238E27FC236}">
                  <a16:creationId xmlns:a16="http://schemas.microsoft.com/office/drawing/2014/main" id="{DF24EECE-51E2-6180-82CC-9745F3FADA22}"/>
                </a:ext>
              </a:extLst>
            </p:cNvPr>
            <p:cNvSpPr>
              <a:spLocks/>
            </p:cNvSpPr>
            <p:nvPr/>
          </p:nvSpPr>
          <p:spPr bwMode="auto">
            <a:xfrm>
              <a:off x="3629" y="3900"/>
              <a:ext cx="76" cy="123"/>
            </a:xfrm>
            <a:custGeom>
              <a:avLst/>
              <a:gdLst>
                <a:gd name="T0" fmla="*/ 227 w 227"/>
                <a:gd name="T1" fmla="*/ 0 h 367"/>
                <a:gd name="T2" fmla="*/ 213 w 227"/>
                <a:gd name="T3" fmla="*/ 4 h 367"/>
                <a:gd name="T4" fmla="*/ 212 w 227"/>
                <a:gd name="T5" fmla="*/ 6 h 367"/>
                <a:gd name="T6" fmla="*/ 207 w 227"/>
                <a:gd name="T7" fmla="*/ 4 h 367"/>
                <a:gd name="T8" fmla="*/ 146 w 227"/>
                <a:gd name="T9" fmla="*/ 19 h 367"/>
                <a:gd name="T10" fmla="*/ 119 w 227"/>
                <a:gd name="T11" fmla="*/ 24 h 367"/>
                <a:gd name="T12" fmla="*/ 115 w 227"/>
                <a:gd name="T13" fmla="*/ 29 h 367"/>
                <a:gd name="T14" fmla="*/ 117 w 227"/>
                <a:gd name="T15" fmla="*/ 30 h 367"/>
                <a:gd name="T16" fmla="*/ 117 w 227"/>
                <a:gd name="T17" fmla="*/ 34 h 367"/>
                <a:gd name="T18" fmla="*/ 115 w 227"/>
                <a:gd name="T19" fmla="*/ 36 h 367"/>
                <a:gd name="T20" fmla="*/ 98 w 227"/>
                <a:gd name="T21" fmla="*/ 66 h 367"/>
                <a:gd name="T22" fmla="*/ 93 w 227"/>
                <a:gd name="T23" fmla="*/ 75 h 367"/>
                <a:gd name="T24" fmla="*/ 81 w 227"/>
                <a:gd name="T25" fmla="*/ 96 h 367"/>
                <a:gd name="T26" fmla="*/ 54 w 227"/>
                <a:gd name="T27" fmla="*/ 150 h 367"/>
                <a:gd name="T28" fmla="*/ 43 w 227"/>
                <a:gd name="T29" fmla="*/ 174 h 367"/>
                <a:gd name="T30" fmla="*/ 24 w 227"/>
                <a:gd name="T31" fmla="*/ 221 h 367"/>
                <a:gd name="T32" fmla="*/ 6 w 227"/>
                <a:gd name="T33" fmla="*/ 273 h 367"/>
                <a:gd name="T34" fmla="*/ 2 w 227"/>
                <a:gd name="T35" fmla="*/ 282 h 367"/>
                <a:gd name="T36" fmla="*/ 0 w 227"/>
                <a:gd name="T37" fmla="*/ 293 h 367"/>
                <a:gd name="T38" fmla="*/ 27 w 227"/>
                <a:gd name="T39" fmla="*/ 367 h 367"/>
                <a:gd name="T40" fmla="*/ 30 w 227"/>
                <a:gd name="T41" fmla="*/ 354 h 367"/>
                <a:gd name="T42" fmla="*/ 29 w 227"/>
                <a:gd name="T43" fmla="*/ 353 h 367"/>
                <a:gd name="T44" fmla="*/ 33 w 227"/>
                <a:gd name="T45" fmla="*/ 307 h 367"/>
                <a:gd name="T46" fmla="*/ 50 w 227"/>
                <a:gd name="T47" fmla="*/ 241 h 367"/>
                <a:gd name="T48" fmla="*/ 44 w 227"/>
                <a:gd name="T49" fmla="*/ 241 h 367"/>
                <a:gd name="T50" fmla="*/ 59 w 227"/>
                <a:gd name="T51" fmla="*/ 205 h 367"/>
                <a:gd name="T52" fmla="*/ 78 w 227"/>
                <a:gd name="T53" fmla="*/ 172 h 367"/>
                <a:gd name="T54" fmla="*/ 99 w 227"/>
                <a:gd name="T55" fmla="*/ 138 h 367"/>
                <a:gd name="T56" fmla="*/ 125 w 227"/>
                <a:gd name="T57" fmla="*/ 105 h 367"/>
                <a:gd name="T58" fmla="*/ 146 w 227"/>
                <a:gd name="T59" fmla="*/ 78 h 367"/>
                <a:gd name="T60" fmla="*/ 197 w 227"/>
                <a:gd name="T61" fmla="*/ 29 h 367"/>
                <a:gd name="T62" fmla="*/ 227 w 227"/>
                <a:gd name="T63" fmla="*/ 0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7" h="367">
                  <a:moveTo>
                    <a:pt x="227" y="0"/>
                  </a:moveTo>
                  <a:lnTo>
                    <a:pt x="213" y="4"/>
                  </a:lnTo>
                  <a:lnTo>
                    <a:pt x="212" y="6"/>
                  </a:lnTo>
                  <a:lnTo>
                    <a:pt x="207" y="4"/>
                  </a:lnTo>
                  <a:lnTo>
                    <a:pt x="146" y="19"/>
                  </a:lnTo>
                  <a:lnTo>
                    <a:pt x="119" y="24"/>
                  </a:lnTo>
                  <a:lnTo>
                    <a:pt x="115" y="29"/>
                  </a:lnTo>
                  <a:lnTo>
                    <a:pt x="117" y="30"/>
                  </a:lnTo>
                  <a:lnTo>
                    <a:pt x="117" y="34"/>
                  </a:lnTo>
                  <a:lnTo>
                    <a:pt x="115" y="36"/>
                  </a:lnTo>
                  <a:lnTo>
                    <a:pt x="98" y="66"/>
                  </a:lnTo>
                  <a:lnTo>
                    <a:pt x="93" y="75"/>
                  </a:lnTo>
                  <a:lnTo>
                    <a:pt x="81" y="96"/>
                  </a:lnTo>
                  <a:lnTo>
                    <a:pt x="54" y="150"/>
                  </a:lnTo>
                  <a:lnTo>
                    <a:pt x="43" y="174"/>
                  </a:lnTo>
                  <a:lnTo>
                    <a:pt x="24" y="221"/>
                  </a:lnTo>
                  <a:lnTo>
                    <a:pt x="6" y="273"/>
                  </a:lnTo>
                  <a:lnTo>
                    <a:pt x="2" y="282"/>
                  </a:lnTo>
                  <a:lnTo>
                    <a:pt x="0" y="293"/>
                  </a:lnTo>
                  <a:lnTo>
                    <a:pt x="27" y="367"/>
                  </a:lnTo>
                  <a:lnTo>
                    <a:pt x="30" y="354"/>
                  </a:lnTo>
                  <a:lnTo>
                    <a:pt x="29" y="353"/>
                  </a:lnTo>
                  <a:lnTo>
                    <a:pt x="33" y="307"/>
                  </a:lnTo>
                  <a:lnTo>
                    <a:pt x="50" y="241"/>
                  </a:lnTo>
                  <a:lnTo>
                    <a:pt x="44" y="241"/>
                  </a:lnTo>
                  <a:lnTo>
                    <a:pt x="59" y="205"/>
                  </a:lnTo>
                  <a:lnTo>
                    <a:pt x="78" y="172"/>
                  </a:lnTo>
                  <a:lnTo>
                    <a:pt x="99" y="138"/>
                  </a:lnTo>
                  <a:lnTo>
                    <a:pt x="125" y="105"/>
                  </a:lnTo>
                  <a:lnTo>
                    <a:pt x="146" y="78"/>
                  </a:lnTo>
                  <a:lnTo>
                    <a:pt x="197" y="29"/>
                  </a:lnTo>
                  <a:lnTo>
                    <a:pt x="22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18" name="Freeform 46">
              <a:extLst>
                <a:ext uri="{FF2B5EF4-FFF2-40B4-BE49-F238E27FC236}">
                  <a16:creationId xmlns:a16="http://schemas.microsoft.com/office/drawing/2014/main" id="{AF2779B4-D049-29D3-823B-E3C25D29112E}"/>
                </a:ext>
              </a:extLst>
            </p:cNvPr>
            <p:cNvSpPr>
              <a:spLocks/>
            </p:cNvSpPr>
            <p:nvPr/>
          </p:nvSpPr>
          <p:spPr bwMode="auto">
            <a:xfrm>
              <a:off x="3698" y="3902"/>
              <a:ext cx="2" cy="0"/>
            </a:xfrm>
            <a:custGeom>
              <a:avLst/>
              <a:gdLst>
                <a:gd name="T0" fmla="*/ 6 w 6"/>
                <a:gd name="T1" fmla="*/ 0 h 2"/>
                <a:gd name="T2" fmla="*/ 0 w 6"/>
                <a:gd name="T3" fmla="*/ 0 h 2"/>
                <a:gd name="T4" fmla="*/ 5 w 6"/>
                <a:gd name="T5" fmla="*/ 2 h 2"/>
                <a:gd name="T6" fmla="*/ 6 w 6"/>
                <a:gd name="T7" fmla="*/ 0 h 2"/>
              </a:gdLst>
              <a:ahLst/>
              <a:cxnLst>
                <a:cxn ang="0">
                  <a:pos x="T0" y="T1"/>
                </a:cxn>
                <a:cxn ang="0">
                  <a:pos x="T2" y="T3"/>
                </a:cxn>
                <a:cxn ang="0">
                  <a:pos x="T4" y="T5"/>
                </a:cxn>
                <a:cxn ang="0">
                  <a:pos x="T6" y="T7"/>
                </a:cxn>
              </a:cxnLst>
              <a:rect l="0" t="0" r="r" b="b"/>
              <a:pathLst>
                <a:path w="6" h="2">
                  <a:moveTo>
                    <a:pt x="6" y="0"/>
                  </a:moveTo>
                  <a:lnTo>
                    <a:pt x="0" y="0"/>
                  </a:lnTo>
                  <a:lnTo>
                    <a:pt x="5" y="2"/>
                  </a:lnTo>
                  <a:lnTo>
                    <a:pt x="6" y="0"/>
                  </a:lnTo>
                  <a:close/>
                </a:path>
              </a:pathLst>
            </a:custGeom>
            <a:solidFill>
              <a:srgbClr val="FFD14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19" name="Freeform 47">
              <a:extLst>
                <a:ext uri="{FF2B5EF4-FFF2-40B4-BE49-F238E27FC236}">
                  <a16:creationId xmlns:a16="http://schemas.microsoft.com/office/drawing/2014/main" id="{CF791BFC-2A54-05C6-6578-F2C0FF527949}"/>
                </a:ext>
              </a:extLst>
            </p:cNvPr>
            <p:cNvSpPr>
              <a:spLocks noEditPoints="1"/>
            </p:cNvSpPr>
            <p:nvPr/>
          </p:nvSpPr>
          <p:spPr bwMode="auto">
            <a:xfrm>
              <a:off x="3633" y="3877"/>
              <a:ext cx="109" cy="169"/>
            </a:xfrm>
            <a:custGeom>
              <a:avLst/>
              <a:gdLst>
                <a:gd name="T0" fmla="*/ 260 w 328"/>
                <a:gd name="T1" fmla="*/ 36 h 506"/>
                <a:gd name="T2" fmla="*/ 236 w 328"/>
                <a:gd name="T3" fmla="*/ 51 h 506"/>
                <a:gd name="T4" fmla="*/ 216 w 328"/>
                <a:gd name="T5" fmla="*/ 69 h 506"/>
                <a:gd name="T6" fmla="*/ 186 w 328"/>
                <a:gd name="T7" fmla="*/ 98 h 506"/>
                <a:gd name="T8" fmla="*/ 135 w 328"/>
                <a:gd name="T9" fmla="*/ 147 h 506"/>
                <a:gd name="T10" fmla="*/ 114 w 328"/>
                <a:gd name="T11" fmla="*/ 174 h 506"/>
                <a:gd name="T12" fmla="*/ 88 w 328"/>
                <a:gd name="T13" fmla="*/ 207 h 506"/>
                <a:gd name="T14" fmla="*/ 67 w 328"/>
                <a:gd name="T15" fmla="*/ 241 h 506"/>
                <a:gd name="T16" fmla="*/ 48 w 328"/>
                <a:gd name="T17" fmla="*/ 274 h 506"/>
                <a:gd name="T18" fmla="*/ 33 w 328"/>
                <a:gd name="T19" fmla="*/ 310 h 506"/>
                <a:gd name="T20" fmla="*/ 39 w 328"/>
                <a:gd name="T21" fmla="*/ 310 h 506"/>
                <a:gd name="T22" fmla="*/ 22 w 328"/>
                <a:gd name="T23" fmla="*/ 376 h 506"/>
                <a:gd name="T24" fmla="*/ 18 w 328"/>
                <a:gd name="T25" fmla="*/ 422 h 506"/>
                <a:gd name="T26" fmla="*/ 19 w 328"/>
                <a:gd name="T27" fmla="*/ 423 h 506"/>
                <a:gd name="T28" fmla="*/ 16 w 328"/>
                <a:gd name="T29" fmla="*/ 436 h 506"/>
                <a:gd name="T30" fmla="*/ 2 w 328"/>
                <a:gd name="T31" fmla="*/ 498 h 506"/>
                <a:gd name="T32" fmla="*/ 0 w 328"/>
                <a:gd name="T33" fmla="*/ 506 h 506"/>
                <a:gd name="T34" fmla="*/ 4 w 328"/>
                <a:gd name="T35" fmla="*/ 500 h 506"/>
                <a:gd name="T36" fmla="*/ 48 w 328"/>
                <a:gd name="T37" fmla="*/ 430 h 506"/>
                <a:gd name="T38" fmla="*/ 68 w 328"/>
                <a:gd name="T39" fmla="*/ 394 h 506"/>
                <a:gd name="T40" fmla="*/ 87 w 328"/>
                <a:gd name="T41" fmla="*/ 360 h 506"/>
                <a:gd name="T42" fmla="*/ 88 w 328"/>
                <a:gd name="T43" fmla="*/ 357 h 506"/>
                <a:gd name="T44" fmla="*/ 108 w 328"/>
                <a:gd name="T45" fmla="*/ 313 h 506"/>
                <a:gd name="T46" fmla="*/ 126 w 328"/>
                <a:gd name="T47" fmla="*/ 270 h 506"/>
                <a:gd name="T48" fmla="*/ 139 w 328"/>
                <a:gd name="T49" fmla="*/ 242 h 506"/>
                <a:gd name="T50" fmla="*/ 159 w 328"/>
                <a:gd name="T51" fmla="*/ 200 h 506"/>
                <a:gd name="T52" fmla="*/ 186 w 328"/>
                <a:gd name="T53" fmla="*/ 160 h 506"/>
                <a:gd name="T54" fmla="*/ 225 w 328"/>
                <a:gd name="T55" fmla="*/ 104 h 506"/>
                <a:gd name="T56" fmla="*/ 274 w 328"/>
                <a:gd name="T57" fmla="*/ 53 h 506"/>
                <a:gd name="T58" fmla="*/ 283 w 328"/>
                <a:gd name="T59" fmla="*/ 42 h 506"/>
                <a:gd name="T60" fmla="*/ 294 w 328"/>
                <a:gd name="T61" fmla="*/ 33 h 506"/>
                <a:gd name="T62" fmla="*/ 328 w 328"/>
                <a:gd name="T63" fmla="*/ 0 h 506"/>
                <a:gd name="T64" fmla="*/ 291 w 328"/>
                <a:gd name="T65" fmla="*/ 15 h 506"/>
                <a:gd name="T66" fmla="*/ 260 w 328"/>
                <a:gd name="T67" fmla="*/ 36 h 506"/>
                <a:gd name="T68" fmla="*/ 267 w 328"/>
                <a:gd name="T69" fmla="*/ 57 h 506"/>
                <a:gd name="T70" fmla="*/ 268 w 328"/>
                <a:gd name="T71" fmla="*/ 57 h 506"/>
                <a:gd name="T72" fmla="*/ 236 w 328"/>
                <a:gd name="T73" fmla="*/ 88 h 506"/>
                <a:gd name="T74" fmla="*/ 267 w 328"/>
                <a:gd name="T75" fmla="*/ 57 h 506"/>
                <a:gd name="T76" fmla="*/ 116 w 328"/>
                <a:gd name="T77" fmla="*/ 201 h 506"/>
                <a:gd name="T78" fmla="*/ 140 w 328"/>
                <a:gd name="T79" fmla="*/ 163 h 506"/>
                <a:gd name="T80" fmla="*/ 116 w 328"/>
                <a:gd name="T81" fmla="*/ 201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506">
                  <a:moveTo>
                    <a:pt x="260" y="36"/>
                  </a:moveTo>
                  <a:lnTo>
                    <a:pt x="236" y="51"/>
                  </a:lnTo>
                  <a:lnTo>
                    <a:pt x="216" y="69"/>
                  </a:lnTo>
                  <a:lnTo>
                    <a:pt x="186" y="98"/>
                  </a:lnTo>
                  <a:lnTo>
                    <a:pt x="135" y="147"/>
                  </a:lnTo>
                  <a:lnTo>
                    <a:pt x="114" y="174"/>
                  </a:lnTo>
                  <a:lnTo>
                    <a:pt x="88" y="207"/>
                  </a:lnTo>
                  <a:lnTo>
                    <a:pt x="67" y="241"/>
                  </a:lnTo>
                  <a:lnTo>
                    <a:pt x="48" y="274"/>
                  </a:lnTo>
                  <a:lnTo>
                    <a:pt x="33" y="310"/>
                  </a:lnTo>
                  <a:lnTo>
                    <a:pt x="39" y="310"/>
                  </a:lnTo>
                  <a:lnTo>
                    <a:pt x="22" y="376"/>
                  </a:lnTo>
                  <a:lnTo>
                    <a:pt x="18" y="422"/>
                  </a:lnTo>
                  <a:lnTo>
                    <a:pt x="19" y="423"/>
                  </a:lnTo>
                  <a:lnTo>
                    <a:pt x="16" y="436"/>
                  </a:lnTo>
                  <a:lnTo>
                    <a:pt x="2" y="498"/>
                  </a:lnTo>
                  <a:lnTo>
                    <a:pt x="0" y="506"/>
                  </a:lnTo>
                  <a:lnTo>
                    <a:pt x="4" y="500"/>
                  </a:lnTo>
                  <a:lnTo>
                    <a:pt x="48" y="430"/>
                  </a:lnTo>
                  <a:lnTo>
                    <a:pt x="68" y="394"/>
                  </a:lnTo>
                  <a:lnTo>
                    <a:pt x="87" y="360"/>
                  </a:lnTo>
                  <a:lnTo>
                    <a:pt x="88" y="357"/>
                  </a:lnTo>
                  <a:lnTo>
                    <a:pt x="108" y="313"/>
                  </a:lnTo>
                  <a:lnTo>
                    <a:pt x="126" y="270"/>
                  </a:lnTo>
                  <a:lnTo>
                    <a:pt x="139" y="242"/>
                  </a:lnTo>
                  <a:lnTo>
                    <a:pt x="159" y="200"/>
                  </a:lnTo>
                  <a:lnTo>
                    <a:pt x="186" y="160"/>
                  </a:lnTo>
                  <a:lnTo>
                    <a:pt x="225" y="104"/>
                  </a:lnTo>
                  <a:lnTo>
                    <a:pt x="274" y="53"/>
                  </a:lnTo>
                  <a:lnTo>
                    <a:pt x="283" y="42"/>
                  </a:lnTo>
                  <a:lnTo>
                    <a:pt x="294" y="33"/>
                  </a:lnTo>
                  <a:lnTo>
                    <a:pt x="328" y="0"/>
                  </a:lnTo>
                  <a:lnTo>
                    <a:pt x="291" y="15"/>
                  </a:lnTo>
                  <a:lnTo>
                    <a:pt x="260" y="36"/>
                  </a:lnTo>
                  <a:close/>
                  <a:moveTo>
                    <a:pt x="267" y="57"/>
                  </a:moveTo>
                  <a:lnTo>
                    <a:pt x="268" y="57"/>
                  </a:lnTo>
                  <a:lnTo>
                    <a:pt x="236" y="88"/>
                  </a:lnTo>
                  <a:lnTo>
                    <a:pt x="267" y="57"/>
                  </a:lnTo>
                  <a:close/>
                  <a:moveTo>
                    <a:pt x="116" y="201"/>
                  </a:moveTo>
                  <a:lnTo>
                    <a:pt x="140" y="163"/>
                  </a:lnTo>
                  <a:lnTo>
                    <a:pt x="116" y="201"/>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20" name="Freeform 48">
              <a:extLst>
                <a:ext uri="{FF2B5EF4-FFF2-40B4-BE49-F238E27FC236}">
                  <a16:creationId xmlns:a16="http://schemas.microsoft.com/office/drawing/2014/main" id="{16CC2EC1-280A-BEC1-8492-BCE0C41F70EA}"/>
                </a:ext>
              </a:extLst>
            </p:cNvPr>
            <p:cNvSpPr>
              <a:spLocks/>
            </p:cNvSpPr>
            <p:nvPr/>
          </p:nvSpPr>
          <p:spPr bwMode="auto">
            <a:xfrm>
              <a:off x="3671" y="3932"/>
              <a:ext cx="8" cy="12"/>
            </a:xfrm>
            <a:custGeom>
              <a:avLst/>
              <a:gdLst>
                <a:gd name="T0" fmla="*/ 0 w 24"/>
                <a:gd name="T1" fmla="*/ 38 h 38"/>
                <a:gd name="T2" fmla="*/ 24 w 24"/>
                <a:gd name="T3" fmla="*/ 0 h 38"/>
                <a:gd name="T4" fmla="*/ 0 w 24"/>
                <a:gd name="T5" fmla="*/ 38 h 38"/>
              </a:gdLst>
              <a:ahLst/>
              <a:cxnLst>
                <a:cxn ang="0">
                  <a:pos x="T0" y="T1"/>
                </a:cxn>
                <a:cxn ang="0">
                  <a:pos x="T2" y="T3"/>
                </a:cxn>
                <a:cxn ang="0">
                  <a:pos x="T4" y="T5"/>
                </a:cxn>
              </a:cxnLst>
              <a:rect l="0" t="0" r="r" b="b"/>
              <a:pathLst>
                <a:path w="24" h="38">
                  <a:moveTo>
                    <a:pt x="0" y="38"/>
                  </a:moveTo>
                  <a:lnTo>
                    <a:pt x="24" y="0"/>
                  </a:lnTo>
                  <a:lnTo>
                    <a:pt x="0" y="38"/>
                  </a:lnTo>
                  <a:close/>
                </a:path>
              </a:pathLst>
            </a:custGeom>
            <a:solidFill>
              <a:srgbClr val="CC6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21" name="Freeform 49">
              <a:extLst>
                <a:ext uri="{FF2B5EF4-FFF2-40B4-BE49-F238E27FC236}">
                  <a16:creationId xmlns:a16="http://schemas.microsoft.com/office/drawing/2014/main" id="{1755D2C8-E590-60D1-9D4B-5454A028F8AC}"/>
                </a:ext>
              </a:extLst>
            </p:cNvPr>
            <p:cNvSpPr>
              <a:spLocks/>
            </p:cNvSpPr>
            <p:nvPr/>
          </p:nvSpPr>
          <p:spPr bwMode="auto">
            <a:xfrm>
              <a:off x="3621" y="3824"/>
              <a:ext cx="228" cy="268"/>
            </a:xfrm>
            <a:custGeom>
              <a:avLst/>
              <a:gdLst>
                <a:gd name="T0" fmla="*/ 221 w 684"/>
                <a:gd name="T1" fmla="*/ 319 h 803"/>
                <a:gd name="T2" fmla="*/ 194 w 684"/>
                <a:gd name="T3" fmla="*/ 359 h 803"/>
                <a:gd name="T4" fmla="*/ 174 w 684"/>
                <a:gd name="T5" fmla="*/ 401 h 803"/>
                <a:gd name="T6" fmla="*/ 161 w 684"/>
                <a:gd name="T7" fmla="*/ 429 h 803"/>
                <a:gd name="T8" fmla="*/ 143 w 684"/>
                <a:gd name="T9" fmla="*/ 472 h 803"/>
                <a:gd name="T10" fmla="*/ 123 w 684"/>
                <a:gd name="T11" fmla="*/ 516 h 803"/>
                <a:gd name="T12" fmla="*/ 122 w 684"/>
                <a:gd name="T13" fmla="*/ 519 h 803"/>
                <a:gd name="T14" fmla="*/ 103 w 684"/>
                <a:gd name="T15" fmla="*/ 553 h 803"/>
                <a:gd name="T16" fmla="*/ 83 w 684"/>
                <a:gd name="T17" fmla="*/ 589 h 803"/>
                <a:gd name="T18" fmla="*/ 39 w 684"/>
                <a:gd name="T19" fmla="*/ 659 h 803"/>
                <a:gd name="T20" fmla="*/ 35 w 684"/>
                <a:gd name="T21" fmla="*/ 665 h 803"/>
                <a:gd name="T22" fmla="*/ 0 w 684"/>
                <a:gd name="T23" fmla="*/ 803 h 803"/>
                <a:gd name="T24" fmla="*/ 29 w 684"/>
                <a:gd name="T25" fmla="*/ 778 h 803"/>
                <a:gd name="T26" fmla="*/ 57 w 684"/>
                <a:gd name="T27" fmla="*/ 756 h 803"/>
                <a:gd name="T28" fmla="*/ 84 w 684"/>
                <a:gd name="T29" fmla="*/ 737 h 803"/>
                <a:gd name="T30" fmla="*/ 97 w 684"/>
                <a:gd name="T31" fmla="*/ 729 h 803"/>
                <a:gd name="T32" fmla="*/ 111 w 684"/>
                <a:gd name="T33" fmla="*/ 723 h 803"/>
                <a:gd name="T34" fmla="*/ 117 w 684"/>
                <a:gd name="T35" fmla="*/ 718 h 803"/>
                <a:gd name="T36" fmla="*/ 169 w 684"/>
                <a:gd name="T37" fmla="*/ 597 h 803"/>
                <a:gd name="T38" fmla="*/ 227 w 684"/>
                <a:gd name="T39" fmla="*/ 474 h 803"/>
                <a:gd name="T40" fmla="*/ 255 w 684"/>
                <a:gd name="T41" fmla="*/ 417 h 803"/>
                <a:gd name="T42" fmla="*/ 272 w 684"/>
                <a:gd name="T43" fmla="*/ 388 h 803"/>
                <a:gd name="T44" fmla="*/ 291 w 684"/>
                <a:gd name="T45" fmla="*/ 360 h 803"/>
                <a:gd name="T46" fmla="*/ 333 w 684"/>
                <a:gd name="T47" fmla="*/ 303 h 803"/>
                <a:gd name="T48" fmla="*/ 383 w 684"/>
                <a:gd name="T49" fmla="*/ 247 h 803"/>
                <a:gd name="T50" fmla="*/ 426 w 684"/>
                <a:gd name="T51" fmla="*/ 201 h 803"/>
                <a:gd name="T52" fmla="*/ 474 w 684"/>
                <a:gd name="T53" fmla="*/ 155 h 803"/>
                <a:gd name="T54" fmla="*/ 524 w 684"/>
                <a:gd name="T55" fmla="*/ 111 h 803"/>
                <a:gd name="T56" fmla="*/ 579 w 684"/>
                <a:gd name="T57" fmla="*/ 69 h 803"/>
                <a:gd name="T58" fmla="*/ 613 w 684"/>
                <a:gd name="T59" fmla="*/ 44 h 803"/>
                <a:gd name="T60" fmla="*/ 623 w 684"/>
                <a:gd name="T61" fmla="*/ 42 h 803"/>
                <a:gd name="T62" fmla="*/ 623 w 684"/>
                <a:gd name="T63" fmla="*/ 38 h 803"/>
                <a:gd name="T64" fmla="*/ 647 w 684"/>
                <a:gd name="T65" fmla="*/ 22 h 803"/>
                <a:gd name="T66" fmla="*/ 672 w 684"/>
                <a:gd name="T67" fmla="*/ 9 h 803"/>
                <a:gd name="T68" fmla="*/ 684 w 684"/>
                <a:gd name="T69" fmla="*/ 4 h 803"/>
                <a:gd name="T70" fmla="*/ 633 w 684"/>
                <a:gd name="T71" fmla="*/ 0 h 803"/>
                <a:gd name="T72" fmla="*/ 585 w 684"/>
                <a:gd name="T73" fmla="*/ 6 h 803"/>
                <a:gd name="T74" fmla="*/ 560 w 684"/>
                <a:gd name="T75" fmla="*/ 10 h 803"/>
                <a:gd name="T76" fmla="*/ 536 w 684"/>
                <a:gd name="T77" fmla="*/ 18 h 803"/>
                <a:gd name="T78" fmla="*/ 488 w 684"/>
                <a:gd name="T79" fmla="*/ 39 h 803"/>
                <a:gd name="T80" fmla="*/ 379 w 684"/>
                <a:gd name="T81" fmla="*/ 144 h 803"/>
                <a:gd name="T82" fmla="*/ 363 w 684"/>
                <a:gd name="T83" fmla="*/ 159 h 803"/>
                <a:gd name="T84" fmla="*/ 309 w 684"/>
                <a:gd name="T85" fmla="*/ 212 h 803"/>
                <a:gd name="T86" fmla="*/ 260 w 684"/>
                <a:gd name="T87" fmla="*/ 263 h 803"/>
                <a:gd name="T88" fmla="*/ 221 w 684"/>
                <a:gd name="T89" fmla="*/ 319 h 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84" h="803">
                  <a:moveTo>
                    <a:pt x="221" y="319"/>
                  </a:moveTo>
                  <a:lnTo>
                    <a:pt x="194" y="359"/>
                  </a:lnTo>
                  <a:lnTo>
                    <a:pt x="174" y="401"/>
                  </a:lnTo>
                  <a:lnTo>
                    <a:pt x="161" y="429"/>
                  </a:lnTo>
                  <a:lnTo>
                    <a:pt x="143" y="472"/>
                  </a:lnTo>
                  <a:lnTo>
                    <a:pt x="123" y="516"/>
                  </a:lnTo>
                  <a:lnTo>
                    <a:pt x="122" y="519"/>
                  </a:lnTo>
                  <a:lnTo>
                    <a:pt x="103" y="553"/>
                  </a:lnTo>
                  <a:lnTo>
                    <a:pt x="83" y="589"/>
                  </a:lnTo>
                  <a:lnTo>
                    <a:pt x="39" y="659"/>
                  </a:lnTo>
                  <a:lnTo>
                    <a:pt x="35" y="665"/>
                  </a:lnTo>
                  <a:lnTo>
                    <a:pt x="0" y="803"/>
                  </a:lnTo>
                  <a:lnTo>
                    <a:pt x="29" y="778"/>
                  </a:lnTo>
                  <a:lnTo>
                    <a:pt x="57" y="756"/>
                  </a:lnTo>
                  <a:lnTo>
                    <a:pt x="84" y="737"/>
                  </a:lnTo>
                  <a:lnTo>
                    <a:pt x="97" y="729"/>
                  </a:lnTo>
                  <a:lnTo>
                    <a:pt x="111" y="723"/>
                  </a:lnTo>
                  <a:lnTo>
                    <a:pt x="117" y="718"/>
                  </a:lnTo>
                  <a:lnTo>
                    <a:pt x="169" y="597"/>
                  </a:lnTo>
                  <a:lnTo>
                    <a:pt x="227" y="474"/>
                  </a:lnTo>
                  <a:lnTo>
                    <a:pt x="255" y="417"/>
                  </a:lnTo>
                  <a:lnTo>
                    <a:pt x="272" y="388"/>
                  </a:lnTo>
                  <a:lnTo>
                    <a:pt x="291" y="360"/>
                  </a:lnTo>
                  <a:lnTo>
                    <a:pt x="333" y="303"/>
                  </a:lnTo>
                  <a:lnTo>
                    <a:pt x="383" y="247"/>
                  </a:lnTo>
                  <a:lnTo>
                    <a:pt x="426" y="201"/>
                  </a:lnTo>
                  <a:lnTo>
                    <a:pt x="474" y="155"/>
                  </a:lnTo>
                  <a:lnTo>
                    <a:pt x="524" y="111"/>
                  </a:lnTo>
                  <a:lnTo>
                    <a:pt x="579" y="69"/>
                  </a:lnTo>
                  <a:lnTo>
                    <a:pt x="613" y="44"/>
                  </a:lnTo>
                  <a:lnTo>
                    <a:pt x="623" y="42"/>
                  </a:lnTo>
                  <a:lnTo>
                    <a:pt x="623" y="38"/>
                  </a:lnTo>
                  <a:lnTo>
                    <a:pt x="647" y="22"/>
                  </a:lnTo>
                  <a:lnTo>
                    <a:pt x="672" y="9"/>
                  </a:lnTo>
                  <a:lnTo>
                    <a:pt x="684" y="4"/>
                  </a:lnTo>
                  <a:lnTo>
                    <a:pt x="633" y="0"/>
                  </a:lnTo>
                  <a:lnTo>
                    <a:pt x="585" y="6"/>
                  </a:lnTo>
                  <a:lnTo>
                    <a:pt x="560" y="10"/>
                  </a:lnTo>
                  <a:lnTo>
                    <a:pt x="536" y="18"/>
                  </a:lnTo>
                  <a:lnTo>
                    <a:pt x="488" y="39"/>
                  </a:lnTo>
                  <a:lnTo>
                    <a:pt x="379" y="144"/>
                  </a:lnTo>
                  <a:lnTo>
                    <a:pt x="363" y="159"/>
                  </a:lnTo>
                  <a:lnTo>
                    <a:pt x="309" y="212"/>
                  </a:lnTo>
                  <a:lnTo>
                    <a:pt x="260" y="263"/>
                  </a:lnTo>
                  <a:lnTo>
                    <a:pt x="221" y="319"/>
                  </a:lnTo>
                  <a:close/>
                </a:path>
              </a:pathLst>
            </a:custGeom>
            <a:solidFill>
              <a:srgbClr val="99CC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54322" name="Freeform 50">
              <a:extLst>
                <a:ext uri="{FF2B5EF4-FFF2-40B4-BE49-F238E27FC236}">
                  <a16:creationId xmlns:a16="http://schemas.microsoft.com/office/drawing/2014/main" id="{B04A5FB5-03CC-B495-84B6-CEB78600BB1C}"/>
                </a:ext>
              </a:extLst>
            </p:cNvPr>
            <p:cNvSpPr>
              <a:spLocks/>
            </p:cNvSpPr>
            <p:nvPr/>
          </p:nvSpPr>
          <p:spPr bwMode="auto">
            <a:xfrm>
              <a:off x="3797" y="3838"/>
              <a:ext cx="86" cy="38"/>
            </a:xfrm>
            <a:custGeom>
              <a:avLst/>
              <a:gdLst>
                <a:gd name="T0" fmla="*/ 84 w 258"/>
                <a:gd name="T1" fmla="*/ 3 h 113"/>
                <a:gd name="T2" fmla="*/ 50 w 258"/>
                <a:gd name="T3" fmla="*/ 28 h 113"/>
                <a:gd name="T4" fmla="*/ 0 w 258"/>
                <a:gd name="T5" fmla="*/ 99 h 113"/>
                <a:gd name="T6" fmla="*/ 116 w 258"/>
                <a:gd name="T7" fmla="*/ 101 h 113"/>
                <a:gd name="T8" fmla="*/ 132 w 258"/>
                <a:gd name="T9" fmla="*/ 113 h 113"/>
                <a:gd name="T10" fmla="*/ 258 w 258"/>
                <a:gd name="T11" fmla="*/ 33 h 113"/>
                <a:gd name="T12" fmla="*/ 227 w 258"/>
                <a:gd name="T13" fmla="*/ 19 h 113"/>
                <a:gd name="T14" fmla="*/ 197 w 258"/>
                <a:gd name="T15" fmla="*/ 11 h 113"/>
                <a:gd name="T16" fmla="*/ 170 w 258"/>
                <a:gd name="T17" fmla="*/ 5 h 113"/>
                <a:gd name="T18" fmla="*/ 145 w 258"/>
                <a:gd name="T19" fmla="*/ 1 h 113"/>
                <a:gd name="T20" fmla="*/ 119 w 258"/>
                <a:gd name="T21" fmla="*/ 0 h 113"/>
                <a:gd name="T22" fmla="*/ 94 w 258"/>
                <a:gd name="T23" fmla="*/ 1 h 113"/>
                <a:gd name="T24" fmla="*/ 84 w 258"/>
                <a:gd name="T25" fmla="*/ 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8" h="113">
                  <a:moveTo>
                    <a:pt x="84" y="3"/>
                  </a:moveTo>
                  <a:lnTo>
                    <a:pt x="50" y="28"/>
                  </a:lnTo>
                  <a:lnTo>
                    <a:pt x="0" y="99"/>
                  </a:lnTo>
                  <a:lnTo>
                    <a:pt x="116" y="101"/>
                  </a:lnTo>
                  <a:lnTo>
                    <a:pt x="132" y="113"/>
                  </a:lnTo>
                  <a:lnTo>
                    <a:pt x="258" y="33"/>
                  </a:lnTo>
                  <a:lnTo>
                    <a:pt x="227" y="19"/>
                  </a:lnTo>
                  <a:lnTo>
                    <a:pt x="197" y="11"/>
                  </a:lnTo>
                  <a:lnTo>
                    <a:pt x="170" y="5"/>
                  </a:lnTo>
                  <a:lnTo>
                    <a:pt x="145" y="1"/>
                  </a:lnTo>
                  <a:lnTo>
                    <a:pt x="119" y="0"/>
                  </a:lnTo>
                  <a:lnTo>
                    <a:pt x="94" y="1"/>
                  </a:lnTo>
                  <a:lnTo>
                    <a:pt x="84" y="3"/>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23" name="Freeform 51">
              <a:extLst>
                <a:ext uri="{FF2B5EF4-FFF2-40B4-BE49-F238E27FC236}">
                  <a16:creationId xmlns:a16="http://schemas.microsoft.com/office/drawing/2014/main" id="{1915911A-53A5-68D9-96A8-79A5F8DC2D18}"/>
                </a:ext>
              </a:extLst>
            </p:cNvPr>
            <p:cNvSpPr>
              <a:spLocks/>
            </p:cNvSpPr>
            <p:nvPr/>
          </p:nvSpPr>
          <p:spPr bwMode="auto">
            <a:xfrm>
              <a:off x="3829" y="3826"/>
              <a:ext cx="58" cy="24"/>
            </a:xfrm>
            <a:custGeom>
              <a:avLst/>
              <a:gdLst>
                <a:gd name="T0" fmla="*/ 0 w 174"/>
                <a:gd name="T1" fmla="*/ 34 h 72"/>
                <a:gd name="T2" fmla="*/ 0 w 174"/>
                <a:gd name="T3" fmla="*/ 38 h 72"/>
                <a:gd name="T4" fmla="*/ 25 w 174"/>
                <a:gd name="T5" fmla="*/ 37 h 72"/>
                <a:gd name="T6" fmla="*/ 51 w 174"/>
                <a:gd name="T7" fmla="*/ 38 h 72"/>
                <a:gd name="T8" fmla="*/ 76 w 174"/>
                <a:gd name="T9" fmla="*/ 42 h 72"/>
                <a:gd name="T10" fmla="*/ 103 w 174"/>
                <a:gd name="T11" fmla="*/ 48 h 72"/>
                <a:gd name="T12" fmla="*/ 133 w 174"/>
                <a:gd name="T13" fmla="*/ 56 h 72"/>
                <a:gd name="T14" fmla="*/ 164 w 174"/>
                <a:gd name="T15" fmla="*/ 70 h 72"/>
                <a:gd name="T16" fmla="*/ 169 w 174"/>
                <a:gd name="T17" fmla="*/ 72 h 72"/>
                <a:gd name="T18" fmla="*/ 174 w 174"/>
                <a:gd name="T19" fmla="*/ 68 h 72"/>
                <a:gd name="T20" fmla="*/ 151 w 174"/>
                <a:gd name="T21" fmla="*/ 24 h 72"/>
                <a:gd name="T22" fmla="*/ 145 w 174"/>
                <a:gd name="T23" fmla="*/ 22 h 72"/>
                <a:gd name="T24" fmla="*/ 102 w 174"/>
                <a:gd name="T25" fmla="*/ 7 h 72"/>
                <a:gd name="T26" fmla="*/ 61 w 174"/>
                <a:gd name="T27" fmla="*/ 0 h 72"/>
                <a:gd name="T28" fmla="*/ 49 w 174"/>
                <a:gd name="T29" fmla="*/ 5 h 72"/>
                <a:gd name="T30" fmla="*/ 24 w 174"/>
                <a:gd name="T31" fmla="*/ 18 h 72"/>
                <a:gd name="T32" fmla="*/ 0 w 174"/>
                <a:gd name="T33"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4" h="72">
                  <a:moveTo>
                    <a:pt x="0" y="34"/>
                  </a:moveTo>
                  <a:lnTo>
                    <a:pt x="0" y="38"/>
                  </a:lnTo>
                  <a:lnTo>
                    <a:pt x="25" y="37"/>
                  </a:lnTo>
                  <a:lnTo>
                    <a:pt x="51" y="38"/>
                  </a:lnTo>
                  <a:lnTo>
                    <a:pt x="76" y="42"/>
                  </a:lnTo>
                  <a:lnTo>
                    <a:pt x="103" y="48"/>
                  </a:lnTo>
                  <a:lnTo>
                    <a:pt x="133" y="56"/>
                  </a:lnTo>
                  <a:lnTo>
                    <a:pt x="164" y="70"/>
                  </a:lnTo>
                  <a:lnTo>
                    <a:pt x="169" y="72"/>
                  </a:lnTo>
                  <a:lnTo>
                    <a:pt x="174" y="68"/>
                  </a:lnTo>
                  <a:lnTo>
                    <a:pt x="151" y="24"/>
                  </a:lnTo>
                  <a:lnTo>
                    <a:pt x="145" y="22"/>
                  </a:lnTo>
                  <a:lnTo>
                    <a:pt x="102" y="7"/>
                  </a:lnTo>
                  <a:lnTo>
                    <a:pt x="61" y="0"/>
                  </a:lnTo>
                  <a:lnTo>
                    <a:pt x="49" y="5"/>
                  </a:lnTo>
                  <a:lnTo>
                    <a:pt x="24" y="18"/>
                  </a:lnTo>
                  <a:lnTo>
                    <a:pt x="0" y="34"/>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24" name="Freeform 52">
              <a:extLst>
                <a:ext uri="{FF2B5EF4-FFF2-40B4-BE49-F238E27FC236}">
                  <a16:creationId xmlns:a16="http://schemas.microsoft.com/office/drawing/2014/main" id="{98B0C52D-2FD2-CE37-CCB1-85827A8682F0}"/>
                </a:ext>
              </a:extLst>
            </p:cNvPr>
            <p:cNvSpPr>
              <a:spLocks/>
            </p:cNvSpPr>
            <p:nvPr/>
          </p:nvSpPr>
          <p:spPr bwMode="auto">
            <a:xfrm>
              <a:off x="3699" y="3904"/>
              <a:ext cx="188" cy="174"/>
            </a:xfrm>
            <a:custGeom>
              <a:avLst/>
              <a:gdLst>
                <a:gd name="T0" fmla="*/ 268 w 564"/>
                <a:gd name="T1" fmla="*/ 50 h 521"/>
                <a:gd name="T2" fmla="*/ 261 w 564"/>
                <a:gd name="T3" fmla="*/ 58 h 521"/>
                <a:gd name="T4" fmla="*/ 222 w 564"/>
                <a:gd name="T5" fmla="*/ 96 h 521"/>
                <a:gd name="T6" fmla="*/ 186 w 564"/>
                <a:gd name="T7" fmla="*/ 137 h 521"/>
                <a:gd name="T8" fmla="*/ 153 w 564"/>
                <a:gd name="T9" fmla="*/ 179 h 521"/>
                <a:gd name="T10" fmla="*/ 124 w 564"/>
                <a:gd name="T11" fmla="*/ 223 h 521"/>
                <a:gd name="T12" fmla="*/ 91 w 564"/>
                <a:gd name="T13" fmla="*/ 274 h 521"/>
                <a:gd name="T14" fmla="*/ 60 w 564"/>
                <a:gd name="T15" fmla="*/ 329 h 521"/>
                <a:gd name="T16" fmla="*/ 28 w 564"/>
                <a:gd name="T17" fmla="*/ 388 h 521"/>
                <a:gd name="T18" fmla="*/ 0 w 564"/>
                <a:gd name="T19" fmla="*/ 451 h 521"/>
                <a:gd name="T20" fmla="*/ 22 w 564"/>
                <a:gd name="T21" fmla="*/ 455 h 521"/>
                <a:gd name="T22" fmla="*/ 54 w 564"/>
                <a:gd name="T23" fmla="*/ 464 h 521"/>
                <a:gd name="T24" fmla="*/ 86 w 564"/>
                <a:gd name="T25" fmla="*/ 480 h 521"/>
                <a:gd name="T26" fmla="*/ 118 w 564"/>
                <a:gd name="T27" fmla="*/ 498 h 521"/>
                <a:gd name="T28" fmla="*/ 153 w 564"/>
                <a:gd name="T29" fmla="*/ 521 h 521"/>
                <a:gd name="T30" fmla="*/ 192 w 564"/>
                <a:gd name="T31" fmla="*/ 468 h 521"/>
                <a:gd name="T32" fmla="*/ 213 w 564"/>
                <a:gd name="T33" fmla="*/ 442 h 521"/>
                <a:gd name="T34" fmla="*/ 237 w 564"/>
                <a:gd name="T35" fmla="*/ 416 h 521"/>
                <a:gd name="T36" fmla="*/ 286 w 564"/>
                <a:gd name="T37" fmla="*/ 364 h 521"/>
                <a:gd name="T38" fmla="*/ 342 w 564"/>
                <a:gd name="T39" fmla="*/ 311 h 521"/>
                <a:gd name="T40" fmla="*/ 400 w 564"/>
                <a:gd name="T41" fmla="*/ 262 h 521"/>
                <a:gd name="T42" fmla="*/ 386 w 564"/>
                <a:gd name="T43" fmla="*/ 251 h 521"/>
                <a:gd name="T44" fmla="*/ 427 w 564"/>
                <a:gd name="T45" fmla="*/ 202 h 521"/>
                <a:gd name="T46" fmla="*/ 456 w 564"/>
                <a:gd name="T47" fmla="*/ 216 h 521"/>
                <a:gd name="T48" fmla="*/ 459 w 564"/>
                <a:gd name="T49" fmla="*/ 215 h 521"/>
                <a:gd name="T50" fmla="*/ 544 w 564"/>
                <a:gd name="T51" fmla="*/ 151 h 521"/>
                <a:gd name="T52" fmla="*/ 564 w 564"/>
                <a:gd name="T53" fmla="*/ 138 h 521"/>
                <a:gd name="T54" fmla="*/ 326 w 564"/>
                <a:gd name="T55" fmla="*/ 0 h 521"/>
                <a:gd name="T56" fmla="*/ 309 w 564"/>
                <a:gd name="T57" fmla="*/ 13 h 521"/>
                <a:gd name="T58" fmla="*/ 268 w 564"/>
                <a:gd name="T59" fmla="*/ 50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64" h="521">
                  <a:moveTo>
                    <a:pt x="268" y="50"/>
                  </a:moveTo>
                  <a:lnTo>
                    <a:pt x="261" y="58"/>
                  </a:lnTo>
                  <a:lnTo>
                    <a:pt x="222" y="96"/>
                  </a:lnTo>
                  <a:lnTo>
                    <a:pt x="186" y="137"/>
                  </a:lnTo>
                  <a:lnTo>
                    <a:pt x="153" y="179"/>
                  </a:lnTo>
                  <a:lnTo>
                    <a:pt x="124" y="223"/>
                  </a:lnTo>
                  <a:lnTo>
                    <a:pt x="91" y="274"/>
                  </a:lnTo>
                  <a:lnTo>
                    <a:pt x="60" y="329"/>
                  </a:lnTo>
                  <a:lnTo>
                    <a:pt x="28" y="388"/>
                  </a:lnTo>
                  <a:lnTo>
                    <a:pt x="0" y="451"/>
                  </a:lnTo>
                  <a:lnTo>
                    <a:pt x="22" y="455"/>
                  </a:lnTo>
                  <a:lnTo>
                    <a:pt x="54" y="464"/>
                  </a:lnTo>
                  <a:lnTo>
                    <a:pt x="86" y="480"/>
                  </a:lnTo>
                  <a:lnTo>
                    <a:pt x="118" y="498"/>
                  </a:lnTo>
                  <a:lnTo>
                    <a:pt x="153" y="521"/>
                  </a:lnTo>
                  <a:lnTo>
                    <a:pt x="192" y="468"/>
                  </a:lnTo>
                  <a:lnTo>
                    <a:pt x="213" y="442"/>
                  </a:lnTo>
                  <a:lnTo>
                    <a:pt x="237" y="416"/>
                  </a:lnTo>
                  <a:lnTo>
                    <a:pt x="286" y="364"/>
                  </a:lnTo>
                  <a:lnTo>
                    <a:pt x="342" y="311"/>
                  </a:lnTo>
                  <a:lnTo>
                    <a:pt x="400" y="262"/>
                  </a:lnTo>
                  <a:lnTo>
                    <a:pt x="386" y="251"/>
                  </a:lnTo>
                  <a:lnTo>
                    <a:pt x="427" y="202"/>
                  </a:lnTo>
                  <a:lnTo>
                    <a:pt x="456" y="216"/>
                  </a:lnTo>
                  <a:lnTo>
                    <a:pt x="459" y="215"/>
                  </a:lnTo>
                  <a:lnTo>
                    <a:pt x="544" y="151"/>
                  </a:lnTo>
                  <a:lnTo>
                    <a:pt x="564" y="138"/>
                  </a:lnTo>
                  <a:lnTo>
                    <a:pt x="326" y="0"/>
                  </a:lnTo>
                  <a:lnTo>
                    <a:pt x="309" y="13"/>
                  </a:lnTo>
                  <a:lnTo>
                    <a:pt x="268" y="50"/>
                  </a:lnTo>
                  <a:close/>
                </a:path>
              </a:pathLst>
            </a:custGeom>
            <a:solidFill>
              <a:srgbClr val="99CC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54325" name="Freeform 53">
              <a:extLst>
                <a:ext uri="{FF2B5EF4-FFF2-40B4-BE49-F238E27FC236}">
                  <a16:creationId xmlns:a16="http://schemas.microsoft.com/office/drawing/2014/main" id="{CA7B476A-D33A-A30F-3C40-7D2E3881310B}"/>
                </a:ext>
              </a:extLst>
            </p:cNvPr>
            <p:cNvSpPr>
              <a:spLocks/>
            </p:cNvSpPr>
            <p:nvPr/>
          </p:nvSpPr>
          <p:spPr bwMode="auto">
            <a:xfrm>
              <a:off x="3617" y="3847"/>
              <a:ext cx="258" cy="311"/>
            </a:xfrm>
            <a:custGeom>
              <a:avLst/>
              <a:gdLst>
                <a:gd name="T0" fmla="*/ 512 w 773"/>
                <a:gd name="T1" fmla="*/ 220 h 932"/>
                <a:gd name="T2" fmla="*/ 570 w 773"/>
                <a:gd name="T3" fmla="*/ 170 h 932"/>
                <a:gd name="T4" fmla="*/ 590 w 773"/>
                <a:gd name="T5" fmla="*/ 147 h 932"/>
                <a:gd name="T6" fmla="*/ 617 w 773"/>
                <a:gd name="T7" fmla="*/ 133 h 932"/>
                <a:gd name="T8" fmla="*/ 636 w 773"/>
                <a:gd name="T9" fmla="*/ 119 h 932"/>
                <a:gd name="T10" fmla="*/ 673 w 773"/>
                <a:gd name="T11" fmla="*/ 89 h 932"/>
                <a:gd name="T12" fmla="*/ 656 w 773"/>
                <a:gd name="T13" fmla="*/ 73 h 932"/>
                <a:gd name="T14" fmla="*/ 590 w 773"/>
                <a:gd name="T15" fmla="*/ 0 h 932"/>
                <a:gd name="T16" fmla="*/ 485 w 773"/>
                <a:gd name="T17" fmla="*/ 86 h 932"/>
                <a:gd name="T18" fmla="*/ 394 w 773"/>
                <a:gd name="T19" fmla="*/ 178 h 932"/>
                <a:gd name="T20" fmla="*/ 302 w 773"/>
                <a:gd name="T21" fmla="*/ 291 h 932"/>
                <a:gd name="T22" fmla="*/ 266 w 773"/>
                <a:gd name="T23" fmla="*/ 348 h 932"/>
                <a:gd name="T24" fmla="*/ 180 w 773"/>
                <a:gd name="T25" fmla="*/ 528 h 932"/>
                <a:gd name="T26" fmla="*/ 122 w 773"/>
                <a:gd name="T27" fmla="*/ 654 h 932"/>
                <a:gd name="T28" fmla="*/ 95 w 773"/>
                <a:gd name="T29" fmla="*/ 668 h 932"/>
                <a:gd name="T30" fmla="*/ 40 w 773"/>
                <a:gd name="T31" fmla="*/ 709 h 932"/>
                <a:gd name="T32" fmla="*/ 0 w 773"/>
                <a:gd name="T33" fmla="*/ 776 h 932"/>
                <a:gd name="T34" fmla="*/ 83 w 773"/>
                <a:gd name="T35" fmla="*/ 750 h 932"/>
                <a:gd name="T36" fmla="*/ 168 w 773"/>
                <a:gd name="T37" fmla="*/ 748 h 932"/>
                <a:gd name="T38" fmla="*/ 230 w 773"/>
                <a:gd name="T39" fmla="*/ 763 h 932"/>
                <a:gd name="T40" fmla="*/ 314 w 773"/>
                <a:gd name="T41" fmla="*/ 805 h 932"/>
                <a:gd name="T42" fmla="*/ 404 w 773"/>
                <a:gd name="T43" fmla="*/ 876 h 932"/>
                <a:gd name="T44" fmla="*/ 436 w 773"/>
                <a:gd name="T45" fmla="*/ 904 h 932"/>
                <a:gd name="T46" fmla="*/ 500 w 773"/>
                <a:gd name="T47" fmla="*/ 912 h 932"/>
                <a:gd name="T48" fmla="*/ 529 w 773"/>
                <a:gd name="T49" fmla="*/ 894 h 932"/>
                <a:gd name="T50" fmla="*/ 548 w 773"/>
                <a:gd name="T51" fmla="*/ 882 h 932"/>
                <a:gd name="T52" fmla="*/ 577 w 773"/>
                <a:gd name="T53" fmla="*/ 864 h 932"/>
                <a:gd name="T54" fmla="*/ 540 w 773"/>
                <a:gd name="T55" fmla="*/ 817 h 932"/>
                <a:gd name="T56" fmla="*/ 498 w 773"/>
                <a:gd name="T57" fmla="*/ 775 h 932"/>
                <a:gd name="T58" fmla="*/ 545 w 773"/>
                <a:gd name="T59" fmla="*/ 726 h 932"/>
                <a:gd name="T60" fmla="*/ 646 w 773"/>
                <a:gd name="T61" fmla="*/ 630 h 932"/>
                <a:gd name="T62" fmla="*/ 773 w 773"/>
                <a:gd name="T63" fmla="*/ 528 h 932"/>
                <a:gd name="T64" fmla="*/ 586 w 773"/>
                <a:gd name="T65" fmla="*/ 481 h 932"/>
                <a:gd name="T66" fmla="*/ 481 w 773"/>
                <a:gd name="T67" fmla="*/ 586 h 932"/>
                <a:gd name="T68" fmla="*/ 436 w 773"/>
                <a:gd name="T69" fmla="*/ 638 h 932"/>
                <a:gd name="T70" fmla="*/ 362 w 773"/>
                <a:gd name="T71" fmla="*/ 668 h 932"/>
                <a:gd name="T72" fmla="*/ 298 w 773"/>
                <a:gd name="T73" fmla="*/ 634 h 932"/>
                <a:gd name="T74" fmla="*/ 244 w 773"/>
                <a:gd name="T75" fmla="*/ 621 h 932"/>
                <a:gd name="T76" fmla="*/ 304 w 773"/>
                <a:gd name="T77" fmla="*/ 499 h 932"/>
                <a:gd name="T78" fmla="*/ 368 w 773"/>
                <a:gd name="T79" fmla="*/ 393 h 932"/>
                <a:gd name="T80" fmla="*/ 430 w 773"/>
                <a:gd name="T81" fmla="*/ 307 h 932"/>
                <a:gd name="T82" fmla="*/ 505 w 773"/>
                <a:gd name="T83" fmla="*/ 228 h 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73" h="932">
                  <a:moveTo>
                    <a:pt x="505" y="228"/>
                  </a:moveTo>
                  <a:lnTo>
                    <a:pt x="512" y="220"/>
                  </a:lnTo>
                  <a:lnTo>
                    <a:pt x="553" y="183"/>
                  </a:lnTo>
                  <a:lnTo>
                    <a:pt x="570" y="170"/>
                  </a:lnTo>
                  <a:lnTo>
                    <a:pt x="509" y="134"/>
                  </a:lnTo>
                  <a:lnTo>
                    <a:pt x="590" y="147"/>
                  </a:lnTo>
                  <a:lnTo>
                    <a:pt x="598" y="147"/>
                  </a:lnTo>
                  <a:lnTo>
                    <a:pt x="617" y="133"/>
                  </a:lnTo>
                  <a:lnTo>
                    <a:pt x="625" y="125"/>
                  </a:lnTo>
                  <a:lnTo>
                    <a:pt x="636" y="119"/>
                  </a:lnTo>
                  <a:lnTo>
                    <a:pt x="652" y="104"/>
                  </a:lnTo>
                  <a:lnTo>
                    <a:pt x="673" y="89"/>
                  </a:lnTo>
                  <a:lnTo>
                    <a:pt x="672" y="85"/>
                  </a:lnTo>
                  <a:lnTo>
                    <a:pt x="656" y="73"/>
                  </a:lnTo>
                  <a:lnTo>
                    <a:pt x="540" y="71"/>
                  </a:lnTo>
                  <a:lnTo>
                    <a:pt x="590" y="0"/>
                  </a:lnTo>
                  <a:lnTo>
                    <a:pt x="535" y="42"/>
                  </a:lnTo>
                  <a:lnTo>
                    <a:pt x="485" y="86"/>
                  </a:lnTo>
                  <a:lnTo>
                    <a:pt x="437" y="132"/>
                  </a:lnTo>
                  <a:lnTo>
                    <a:pt x="394" y="178"/>
                  </a:lnTo>
                  <a:lnTo>
                    <a:pt x="344" y="234"/>
                  </a:lnTo>
                  <a:lnTo>
                    <a:pt x="302" y="291"/>
                  </a:lnTo>
                  <a:lnTo>
                    <a:pt x="283" y="319"/>
                  </a:lnTo>
                  <a:lnTo>
                    <a:pt x="266" y="348"/>
                  </a:lnTo>
                  <a:lnTo>
                    <a:pt x="238" y="405"/>
                  </a:lnTo>
                  <a:lnTo>
                    <a:pt x="180" y="528"/>
                  </a:lnTo>
                  <a:lnTo>
                    <a:pt x="128" y="649"/>
                  </a:lnTo>
                  <a:lnTo>
                    <a:pt x="122" y="654"/>
                  </a:lnTo>
                  <a:lnTo>
                    <a:pt x="108" y="660"/>
                  </a:lnTo>
                  <a:lnTo>
                    <a:pt x="95" y="668"/>
                  </a:lnTo>
                  <a:lnTo>
                    <a:pt x="68" y="687"/>
                  </a:lnTo>
                  <a:lnTo>
                    <a:pt x="40" y="709"/>
                  </a:lnTo>
                  <a:lnTo>
                    <a:pt x="11" y="734"/>
                  </a:lnTo>
                  <a:lnTo>
                    <a:pt x="0" y="776"/>
                  </a:lnTo>
                  <a:lnTo>
                    <a:pt x="41" y="759"/>
                  </a:lnTo>
                  <a:lnTo>
                    <a:pt x="83" y="750"/>
                  </a:lnTo>
                  <a:lnTo>
                    <a:pt x="125" y="745"/>
                  </a:lnTo>
                  <a:lnTo>
                    <a:pt x="168" y="748"/>
                  </a:lnTo>
                  <a:lnTo>
                    <a:pt x="198" y="753"/>
                  </a:lnTo>
                  <a:lnTo>
                    <a:pt x="230" y="763"/>
                  </a:lnTo>
                  <a:lnTo>
                    <a:pt x="271" y="780"/>
                  </a:lnTo>
                  <a:lnTo>
                    <a:pt x="314" y="805"/>
                  </a:lnTo>
                  <a:lnTo>
                    <a:pt x="358" y="836"/>
                  </a:lnTo>
                  <a:lnTo>
                    <a:pt x="404" y="876"/>
                  </a:lnTo>
                  <a:lnTo>
                    <a:pt x="409" y="880"/>
                  </a:lnTo>
                  <a:lnTo>
                    <a:pt x="436" y="904"/>
                  </a:lnTo>
                  <a:lnTo>
                    <a:pt x="462" y="932"/>
                  </a:lnTo>
                  <a:lnTo>
                    <a:pt x="500" y="912"/>
                  </a:lnTo>
                  <a:lnTo>
                    <a:pt x="520" y="900"/>
                  </a:lnTo>
                  <a:lnTo>
                    <a:pt x="529" y="894"/>
                  </a:lnTo>
                  <a:lnTo>
                    <a:pt x="540" y="889"/>
                  </a:lnTo>
                  <a:lnTo>
                    <a:pt x="548" y="882"/>
                  </a:lnTo>
                  <a:lnTo>
                    <a:pt x="558" y="876"/>
                  </a:lnTo>
                  <a:lnTo>
                    <a:pt x="577" y="864"/>
                  </a:lnTo>
                  <a:lnTo>
                    <a:pt x="559" y="840"/>
                  </a:lnTo>
                  <a:lnTo>
                    <a:pt x="540" y="817"/>
                  </a:lnTo>
                  <a:lnTo>
                    <a:pt x="502" y="777"/>
                  </a:lnTo>
                  <a:lnTo>
                    <a:pt x="498" y="775"/>
                  </a:lnTo>
                  <a:lnTo>
                    <a:pt x="499" y="774"/>
                  </a:lnTo>
                  <a:lnTo>
                    <a:pt x="545" y="726"/>
                  </a:lnTo>
                  <a:lnTo>
                    <a:pt x="594" y="678"/>
                  </a:lnTo>
                  <a:lnTo>
                    <a:pt x="646" y="630"/>
                  </a:lnTo>
                  <a:lnTo>
                    <a:pt x="702" y="584"/>
                  </a:lnTo>
                  <a:lnTo>
                    <a:pt x="773" y="528"/>
                  </a:lnTo>
                  <a:lnTo>
                    <a:pt x="644" y="432"/>
                  </a:lnTo>
                  <a:lnTo>
                    <a:pt x="586" y="481"/>
                  </a:lnTo>
                  <a:lnTo>
                    <a:pt x="530" y="534"/>
                  </a:lnTo>
                  <a:lnTo>
                    <a:pt x="481" y="586"/>
                  </a:lnTo>
                  <a:lnTo>
                    <a:pt x="457" y="612"/>
                  </a:lnTo>
                  <a:lnTo>
                    <a:pt x="436" y="638"/>
                  </a:lnTo>
                  <a:lnTo>
                    <a:pt x="397" y="691"/>
                  </a:lnTo>
                  <a:lnTo>
                    <a:pt x="362" y="668"/>
                  </a:lnTo>
                  <a:lnTo>
                    <a:pt x="330" y="650"/>
                  </a:lnTo>
                  <a:lnTo>
                    <a:pt x="298" y="634"/>
                  </a:lnTo>
                  <a:lnTo>
                    <a:pt x="266" y="625"/>
                  </a:lnTo>
                  <a:lnTo>
                    <a:pt x="244" y="621"/>
                  </a:lnTo>
                  <a:lnTo>
                    <a:pt x="272" y="558"/>
                  </a:lnTo>
                  <a:lnTo>
                    <a:pt x="304" y="499"/>
                  </a:lnTo>
                  <a:lnTo>
                    <a:pt x="335" y="444"/>
                  </a:lnTo>
                  <a:lnTo>
                    <a:pt x="368" y="393"/>
                  </a:lnTo>
                  <a:lnTo>
                    <a:pt x="397" y="349"/>
                  </a:lnTo>
                  <a:lnTo>
                    <a:pt x="430" y="307"/>
                  </a:lnTo>
                  <a:lnTo>
                    <a:pt x="466" y="266"/>
                  </a:lnTo>
                  <a:lnTo>
                    <a:pt x="505" y="22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26" name="Freeform 54">
              <a:extLst>
                <a:ext uri="{FF2B5EF4-FFF2-40B4-BE49-F238E27FC236}">
                  <a16:creationId xmlns:a16="http://schemas.microsoft.com/office/drawing/2014/main" id="{57A9DE8F-B425-F87A-89A1-AE41C4EB819F}"/>
                </a:ext>
              </a:extLst>
            </p:cNvPr>
            <p:cNvSpPr>
              <a:spLocks/>
            </p:cNvSpPr>
            <p:nvPr/>
          </p:nvSpPr>
          <p:spPr bwMode="auto">
            <a:xfrm>
              <a:off x="3787" y="3892"/>
              <a:ext cx="27" cy="12"/>
            </a:xfrm>
            <a:custGeom>
              <a:avLst/>
              <a:gdLst>
                <a:gd name="T0" fmla="*/ 0 w 81"/>
                <a:gd name="T1" fmla="*/ 0 h 36"/>
                <a:gd name="T2" fmla="*/ 61 w 81"/>
                <a:gd name="T3" fmla="*/ 36 h 36"/>
                <a:gd name="T4" fmla="*/ 80 w 81"/>
                <a:gd name="T5" fmla="*/ 19 h 36"/>
                <a:gd name="T6" fmla="*/ 81 w 81"/>
                <a:gd name="T7" fmla="*/ 13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61" y="36"/>
                  </a:lnTo>
                  <a:lnTo>
                    <a:pt x="80" y="19"/>
                  </a:lnTo>
                  <a:lnTo>
                    <a:pt x="81" y="13"/>
                  </a:lnTo>
                  <a:lnTo>
                    <a:pt x="0" y="0"/>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27" name="Freeform 55">
              <a:extLst>
                <a:ext uri="{FF2B5EF4-FFF2-40B4-BE49-F238E27FC236}">
                  <a16:creationId xmlns:a16="http://schemas.microsoft.com/office/drawing/2014/main" id="{F367E9B2-33C7-AD76-69B1-AF339BD44441}"/>
                </a:ext>
              </a:extLst>
            </p:cNvPr>
            <p:cNvSpPr>
              <a:spLocks/>
            </p:cNvSpPr>
            <p:nvPr/>
          </p:nvSpPr>
          <p:spPr bwMode="auto">
            <a:xfrm>
              <a:off x="3817" y="3877"/>
              <a:ext cx="54" cy="27"/>
            </a:xfrm>
            <a:custGeom>
              <a:avLst/>
              <a:gdLst>
                <a:gd name="T0" fmla="*/ 75 w 163"/>
                <a:gd name="T1" fmla="*/ 0 h 81"/>
                <a:gd name="T2" fmla="*/ 54 w 163"/>
                <a:gd name="T3" fmla="*/ 15 h 81"/>
                <a:gd name="T4" fmla="*/ 38 w 163"/>
                <a:gd name="T5" fmla="*/ 30 h 81"/>
                <a:gd name="T6" fmla="*/ 27 w 163"/>
                <a:gd name="T7" fmla="*/ 36 h 81"/>
                <a:gd name="T8" fmla="*/ 19 w 163"/>
                <a:gd name="T9" fmla="*/ 44 h 81"/>
                <a:gd name="T10" fmla="*/ 0 w 163"/>
                <a:gd name="T11" fmla="*/ 58 h 81"/>
                <a:gd name="T12" fmla="*/ 163 w 163"/>
                <a:gd name="T13" fmla="*/ 81 h 81"/>
                <a:gd name="T14" fmla="*/ 75 w 163"/>
                <a:gd name="T15" fmla="*/ 0 h 8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3" h="81">
                  <a:moveTo>
                    <a:pt x="75" y="0"/>
                  </a:moveTo>
                  <a:lnTo>
                    <a:pt x="54" y="15"/>
                  </a:lnTo>
                  <a:lnTo>
                    <a:pt x="38" y="30"/>
                  </a:lnTo>
                  <a:lnTo>
                    <a:pt x="27" y="36"/>
                  </a:lnTo>
                  <a:lnTo>
                    <a:pt x="19" y="44"/>
                  </a:lnTo>
                  <a:lnTo>
                    <a:pt x="0" y="58"/>
                  </a:lnTo>
                  <a:lnTo>
                    <a:pt x="163" y="81"/>
                  </a:lnTo>
                  <a:lnTo>
                    <a:pt x="75"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28" name="Freeform 56">
              <a:extLst>
                <a:ext uri="{FF2B5EF4-FFF2-40B4-BE49-F238E27FC236}">
                  <a16:creationId xmlns:a16="http://schemas.microsoft.com/office/drawing/2014/main" id="{3778AC55-300E-7781-83B8-ADD4C1A642D8}"/>
                </a:ext>
              </a:extLst>
            </p:cNvPr>
            <p:cNvSpPr>
              <a:spLocks/>
            </p:cNvSpPr>
            <p:nvPr/>
          </p:nvSpPr>
          <p:spPr bwMode="auto">
            <a:xfrm>
              <a:off x="3814" y="3896"/>
              <a:ext cx="3" cy="2"/>
            </a:xfrm>
            <a:custGeom>
              <a:avLst/>
              <a:gdLst>
                <a:gd name="T0" fmla="*/ 1 w 9"/>
                <a:gd name="T1" fmla="*/ 0 h 6"/>
                <a:gd name="T2" fmla="*/ 0 w 9"/>
                <a:gd name="T3" fmla="*/ 6 h 6"/>
                <a:gd name="T4" fmla="*/ 9 w 9"/>
                <a:gd name="T5" fmla="*/ 0 h 6"/>
                <a:gd name="T6" fmla="*/ 1 w 9"/>
                <a:gd name="T7" fmla="*/ 0 h 6"/>
              </a:gdLst>
              <a:ahLst/>
              <a:cxnLst>
                <a:cxn ang="0">
                  <a:pos x="T0" y="T1"/>
                </a:cxn>
                <a:cxn ang="0">
                  <a:pos x="T2" y="T3"/>
                </a:cxn>
                <a:cxn ang="0">
                  <a:pos x="T4" y="T5"/>
                </a:cxn>
                <a:cxn ang="0">
                  <a:pos x="T6" y="T7"/>
                </a:cxn>
              </a:cxnLst>
              <a:rect l="0" t="0" r="r" b="b"/>
              <a:pathLst>
                <a:path w="9" h="6">
                  <a:moveTo>
                    <a:pt x="1" y="0"/>
                  </a:moveTo>
                  <a:lnTo>
                    <a:pt x="0" y="6"/>
                  </a:lnTo>
                  <a:lnTo>
                    <a:pt x="9" y="0"/>
                  </a:lnTo>
                  <a:lnTo>
                    <a:pt x="1"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29" name="Freeform 57">
              <a:extLst>
                <a:ext uri="{FF2B5EF4-FFF2-40B4-BE49-F238E27FC236}">
                  <a16:creationId xmlns:a16="http://schemas.microsoft.com/office/drawing/2014/main" id="{0F9A390D-043D-8C55-18DC-DAF9A9E83581}"/>
                </a:ext>
              </a:extLst>
            </p:cNvPr>
            <p:cNvSpPr>
              <a:spLocks/>
            </p:cNvSpPr>
            <p:nvPr/>
          </p:nvSpPr>
          <p:spPr bwMode="auto">
            <a:xfrm>
              <a:off x="3827" y="3971"/>
              <a:ext cx="24" cy="20"/>
            </a:xfrm>
            <a:custGeom>
              <a:avLst/>
              <a:gdLst>
                <a:gd name="T0" fmla="*/ 0 w 70"/>
                <a:gd name="T1" fmla="*/ 49 h 60"/>
                <a:gd name="T2" fmla="*/ 14 w 70"/>
                <a:gd name="T3" fmla="*/ 60 h 60"/>
                <a:gd name="T4" fmla="*/ 70 w 70"/>
                <a:gd name="T5" fmla="*/ 14 h 60"/>
                <a:gd name="T6" fmla="*/ 41 w 70"/>
                <a:gd name="T7" fmla="*/ 0 h 60"/>
                <a:gd name="T8" fmla="*/ 0 w 70"/>
                <a:gd name="T9" fmla="*/ 49 h 60"/>
              </a:gdLst>
              <a:ahLst/>
              <a:cxnLst>
                <a:cxn ang="0">
                  <a:pos x="T0" y="T1"/>
                </a:cxn>
                <a:cxn ang="0">
                  <a:pos x="T2" y="T3"/>
                </a:cxn>
                <a:cxn ang="0">
                  <a:pos x="T4" y="T5"/>
                </a:cxn>
                <a:cxn ang="0">
                  <a:pos x="T6" y="T7"/>
                </a:cxn>
                <a:cxn ang="0">
                  <a:pos x="T8" y="T9"/>
                </a:cxn>
              </a:cxnLst>
              <a:rect l="0" t="0" r="r" b="b"/>
              <a:pathLst>
                <a:path w="70" h="60">
                  <a:moveTo>
                    <a:pt x="0" y="49"/>
                  </a:moveTo>
                  <a:lnTo>
                    <a:pt x="14" y="60"/>
                  </a:lnTo>
                  <a:lnTo>
                    <a:pt x="70" y="14"/>
                  </a:lnTo>
                  <a:lnTo>
                    <a:pt x="41" y="0"/>
                  </a:lnTo>
                  <a:lnTo>
                    <a:pt x="0" y="49"/>
                  </a:lnTo>
                  <a:close/>
                </a:path>
              </a:pathLst>
            </a:custGeom>
            <a:solidFill>
              <a:srgbClr val="FBFB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30" name="Freeform 58">
              <a:extLst>
                <a:ext uri="{FF2B5EF4-FFF2-40B4-BE49-F238E27FC236}">
                  <a16:creationId xmlns:a16="http://schemas.microsoft.com/office/drawing/2014/main" id="{76562687-E0EC-490D-DD4C-F32E93C86D00}"/>
                </a:ext>
              </a:extLst>
            </p:cNvPr>
            <p:cNvSpPr>
              <a:spLocks/>
            </p:cNvSpPr>
            <p:nvPr/>
          </p:nvSpPr>
          <p:spPr bwMode="auto">
            <a:xfrm>
              <a:off x="3608" y="4096"/>
              <a:ext cx="163" cy="82"/>
            </a:xfrm>
            <a:custGeom>
              <a:avLst/>
              <a:gdLst>
                <a:gd name="T0" fmla="*/ 438 w 491"/>
                <a:gd name="T1" fmla="*/ 135 h 247"/>
                <a:gd name="T2" fmla="*/ 433 w 491"/>
                <a:gd name="T3" fmla="*/ 131 h 247"/>
                <a:gd name="T4" fmla="*/ 387 w 491"/>
                <a:gd name="T5" fmla="*/ 91 h 247"/>
                <a:gd name="T6" fmla="*/ 343 w 491"/>
                <a:gd name="T7" fmla="*/ 60 h 247"/>
                <a:gd name="T8" fmla="*/ 300 w 491"/>
                <a:gd name="T9" fmla="*/ 35 h 247"/>
                <a:gd name="T10" fmla="*/ 259 w 491"/>
                <a:gd name="T11" fmla="*/ 18 h 247"/>
                <a:gd name="T12" fmla="*/ 227 w 491"/>
                <a:gd name="T13" fmla="*/ 8 h 247"/>
                <a:gd name="T14" fmla="*/ 197 w 491"/>
                <a:gd name="T15" fmla="*/ 3 h 247"/>
                <a:gd name="T16" fmla="*/ 154 w 491"/>
                <a:gd name="T17" fmla="*/ 0 h 247"/>
                <a:gd name="T18" fmla="*/ 112 w 491"/>
                <a:gd name="T19" fmla="*/ 5 h 247"/>
                <a:gd name="T20" fmla="*/ 70 w 491"/>
                <a:gd name="T21" fmla="*/ 14 h 247"/>
                <a:gd name="T22" fmla="*/ 29 w 491"/>
                <a:gd name="T23" fmla="*/ 31 h 247"/>
                <a:gd name="T24" fmla="*/ 0 w 491"/>
                <a:gd name="T25" fmla="*/ 147 h 247"/>
                <a:gd name="T26" fmla="*/ 54 w 491"/>
                <a:gd name="T27" fmla="*/ 195 h 247"/>
                <a:gd name="T28" fmla="*/ 112 w 491"/>
                <a:gd name="T29" fmla="*/ 242 h 247"/>
                <a:gd name="T30" fmla="*/ 155 w 491"/>
                <a:gd name="T31" fmla="*/ 246 h 247"/>
                <a:gd name="T32" fmla="*/ 201 w 491"/>
                <a:gd name="T33" fmla="*/ 247 h 247"/>
                <a:gd name="T34" fmla="*/ 237 w 491"/>
                <a:gd name="T35" fmla="*/ 246 h 247"/>
                <a:gd name="T36" fmla="*/ 273 w 491"/>
                <a:gd name="T37" fmla="*/ 243 h 247"/>
                <a:gd name="T38" fmla="*/ 307 w 491"/>
                <a:gd name="T39" fmla="*/ 239 h 247"/>
                <a:gd name="T40" fmla="*/ 343 w 491"/>
                <a:gd name="T41" fmla="*/ 234 h 247"/>
                <a:gd name="T42" fmla="*/ 363 w 491"/>
                <a:gd name="T43" fmla="*/ 230 h 247"/>
                <a:gd name="T44" fmla="*/ 366 w 491"/>
                <a:gd name="T45" fmla="*/ 228 h 247"/>
                <a:gd name="T46" fmla="*/ 371 w 491"/>
                <a:gd name="T47" fmla="*/ 227 h 247"/>
                <a:gd name="T48" fmla="*/ 381 w 491"/>
                <a:gd name="T49" fmla="*/ 224 h 247"/>
                <a:gd name="T50" fmla="*/ 400 w 491"/>
                <a:gd name="T51" fmla="*/ 219 h 247"/>
                <a:gd name="T52" fmla="*/ 438 w 491"/>
                <a:gd name="T53" fmla="*/ 207 h 247"/>
                <a:gd name="T54" fmla="*/ 491 w 491"/>
                <a:gd name="T55" fmla="*/ 187 h 247"/>
                <a:gd name="T56" fmla="*/ 465 w 491"/>
                <a:gd name="T57" fmla="*/ 159 h 247"/>
                <a:gd name="T58" fmla="*/ 438 w 491"/>
                <a:gd name="T59" fmla="*/ 13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91" h="247">
                  <a:moveTo>
                    <a:pt x="438" y="135"/>
                  </a:moveTo>
                  <a:lnTo>
                    <a:pt x="433" y="131"/>
                  </a:lnTo>
                  <a:lnTo>
                    <a:pt x="387" y="91"/>
                  </a:lnTo>
                  <a:lnTo>
                    <a:pt x="343" y="60"/>
                  </a:lnTo>
                  <a:lnTo>
                    <a:pt x="300" y="35"/>
                  </a:lnTo>
                  <a:lnTo>
                    <a:pt x="259" y="18"/>
                  </a:lnTo>
                  <a:lnTo>
                    <a:pt x="227" y="8"/>
                  </a:lnTo>
                  <a:lnTo>
                    <a:pt x="197" y="3"/>
                  </a:lnTo>
                  <a:lnTo>
                    <a:pt x="154" y="0"/>
                  </a:lnTo>
                  <a:lnTo>
                    <a:pt x="112" y="5"/>
                  </a:lnTo>
                  <a:lnTo>
                    <a:pt x="70" y="14"/>
                  </a:lnTo>
                  <a:lnTo>
                    <a:pt x="29" y="31"/>
                  </a:lnTo>
                  <a:lnTo>
                    <a:pt x="0" y="147"/>
                  </a:lnTo>
                  <a:lnTo>
                    <a:pt x="54" y="195"/>
                  </a:lnTo>
                  <a:lnTo>
                    <a:pt x="112" y="242"/>
                  </a:lnTo>
                  <a:lnTo>
                    <a:pt x="155" y="246"/>
                  </a:lnTo>
                  <a:lnTo>
                    <a:pt x="201" y="247"/>
                  </a:lnTo>
                  <a:lnTo>
                    <a:pt x="237" y="246"/>
                  </a:lnTo>
                  <a:lnTo>
                    <a:pt x="273" y="243"/>
                  </a:lnTo>
                  <a:lnTo>
                    <a:pt x="307" y="239"/>
                  </a:lnTo>
                  <a:lnTo>
                    <a:pt x="343" y="234"/>
                  </a:lnTo>
                  <a:lnTo>
                    <a:pt x="363" y="230"/>
                  </a:lnTo>
                  <a:lnTo>
                    <a:pt x="366" y="228"/>
                  </a:lnTo>
                  <a:lnTo>
                    <a:pt x="371" y="227"/>
                  </a:lnTo>
                  <a:lnTo>
                    <a:pt x="381" y="224"/>
                  </a:lnTo>
                  <a:lnTo>
                    <a:pt x="400" y="219"/>
                  </a:lnTo>
                  <a:lnTo>
                    <a:pt x="438" y="207"/>
                  </a:lnTo>
                  <a:lnTo>
                    <a:pt x="491" y="187"/>
                  </a:lnTo>
                  <a:lnTo>
                    <a:pt x="465" y="159"/>
                  </a:lnTo>
                  <a:lnTo>
                    <a:pt x="438" y="135"/>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31" name="Freeform 59">
              <a:extLst>
                <a:ext uri="{FF2B5EF4-FFF2-40B4-BE49-F238E27FC236}">
                  <a16:creationId xmlns:a16="http://schemas.microsoft.com/office/drawing/2014/main" id="{B63DBC59-37D0-DEEA-F39F-D9E78B6FDC18}"/>
                </a:ext>
              </a:extLst>
            </p:cNvPr>
            <p:cNvSpPr>
              <a:spLocks/>
            </p:cNvSpPr>
            <p:nvPr/>
          </p:nvSpPr>
          <p:spPr bwMode="auto">
            <a:xfrm>
              <a:off x="3783" y="4105"/>
              <a:ext cx="2" cy="1"/>
            </a:xfrm>
            <a:custGeom>
              <a:avLst/>
              <a:gdLst>
                <a:gd name="T0" fmla="*/ 4 w 4"/>
                <a:gd name="T1" fmla="*/ 3 h 3"/>
                <a:gd name="T2" fmla="*/ 1 w 4"/>
                <a:gd name="T3" fmla="*/ 0 h 3"/>
                <a:gd name="T4" fmla="*/ 0 w 4"/>
                <a:gd name="T5" fmla="*/ 1 h 3"/>
                <a:gd name="T6" fmla="*/ 4 w 4"/>
                <a:gd name="T7" fmla="*/ 3 h 3"/>
              </a:gdLst>
              <a:ahLst/>
              <a:cxnLst>
                <a:cxn ang="0">
                  <a:pos x="T0" y="T1"/>
                </a:cxn>
                <a:cxn ang="0">
                  <a:pos x="T2" y="T3"/>
                </a:cxn>
                <a:cxn ang="0">
                  <a:pos x="T4" y="T5"/>
                </a:cxn>
                <a:cxn ang="0">
                  <a:pos x="T6" y="T7"/>
                </a:cxn>
              </a:cxnLst>
              <a:rect l="0" t="0" r="r" b="b"/>
              <a:pathLst>
                <a:path w="4" h="3">
                  <a:moveTo>
                    <a:pt x="4" y="3"/>
                  </a:moveTo>
                  <a:lnTo>
                    <a:pt x="1" y="0"/>
                  </a:lnTo>
                  <a:lnTo>
                    <a:pt x="0" y="1"/>
                  </a:lnTo>
                  <a:lnTo>
                    <a:pt x="4" y="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32" name="Freeform 60">
              <a:extLst>
                <a:ext uri="{FF2B5EF4-FFF2-40B4-BE49-F238E27FC236}">
                  <a16:creationId xmlns:a16="http://schemas.microsoft.com/office/drawing/2014/main" id="{E11A0004-660D-0C4A-65B4-0CF9149C7A04}"/>
                </a:ext>
              </a:extLst>
            </p:cNvPr>
            <p:cNvSpPr>
              <a:spLocks/>
            </p:cNvSpPr>
            <p:nvPr/>
          </p:nvSpPr>
          <p:spPr bwMode="auto">
            <a:xfrm>
              <a:off x="3602" y="4145"/>
              <a:ext cx="43" cy="31"/>
            </a:xfrm>
            <a:custGeom>
              <a:avLst/>
              <a:gdLst>
                <a:gd name="T0" fmla="*/ 0 w 129"/>
                <a:gd name="T1" fmla="*/ 68 h 95"/>
                <a:gd name="T2" fmla="*/ 17 w 129"/>
                <a:gd name="T3" fmla="*/ 72 h 95"/>
                <a:gd name="T4" fmla="*/ 71 w 129"/>
                <a:gd name="T5" fmla="*/ 86 h 95"/>
                <a:gd name="T6" fmla="*/ 99 w 129"/>
                <a:gd name="T7" fmla="*/ 90 h 95"/>
                <a:gd name="T8" fmla="*/ 129 w 129"/>
                <a:gd name="T9" fmla="*/ 95 h 95"/>
                <a:gd name="T10" fmla="*/ 71 w 129"/>
                <a:gd name="T11" fmla="*/ 48 h 95"/>
                <a:gd name="T12" fmla="*/ 17 w 129"/>
                <a:gd name="T13" fmla="*/ 0 h 95"/>
                <a:gd name="T14" fmla="*/ 0 w 129"/>
                <a:gd name="T15" fmla="*/ 68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9" h="95">
                  <a:moveTo>
                    <a:pt x="0" y="68"/>
                  </a:moveTo>
                  <a:lnTo>
                    <a:pt x="17" y="72"/>
                  </a:lnTo>
                  <a:lnTo>
                    <a:pt x="71" y="86"/>
                  </a:lnTo>
                  <a:lnTo>
                    <a:pt x="99" y="90"/>
                  </a:lnTo>
                  <a:lnTo>
                    <a:pt x="129" y="95"/>
                  </a:lnTo>
                  <a:lnTo>
                    <a:pt x="71" y="48"/>
                  </a:lnTo>
                  <a:lnTo>
                    <a:pt x="17" y="0"/>
                  </a:lnTo>
                  <a:lnTo>
                    <a:pt x="0"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33" name="Line 61">
              <a:extLst>
                <a:ext uri="{FF2B5EF4-FFF2-40B4-BE49-F238E27FC236}">
                  <a16:creationId xmlns:a16="http://schemas.microsoft.com/office/drawing/2014/main" id="{A3350378-5379-392E-56AE-EC98CCABBD38}"/>
                </a:ext>
              </a:extLst>
            </p:cNvPr>
            <p:cNvSpPr>
              <a:spLocks noChangeShapeType="1"/>
            </p:cNvSpPr>
            <p:nvPr/>
          </p:nvSpPr>
          <p:spPr bwMode="auto">
            <a:xfrm flipV="1">
              <a:off x="3786" y="3921"/>
              <a:ext cx="2" cy="2"/>
            </a:xfrm>
            <a:prstGeom prst="line">
              <a:avLst/>
            </a:prstGeom>
            <a:noFill/>
            <a:ln w="0">
              <a:solidFill>
                <a:srgbClr val="BEBD9A"/>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54334" name="Freeform 62">
              <a:extLst>
                <a:ext uri="{FF2B5EF4-FFF2-40B4-BE49-F238E27FC236}">
                  <a16:creationId xmlns:a16="http://schemas.microsoft.com/office/drawing/2014/main" id="{3D119843-1B1E-4A76-96D2-A8B9CFCE4C85}"/>
                </a:ext>
              </a:extLst>
            </p:cNvPr>
            <p:cNvSpPr>
              <a:spLocks/>
            </p:cNvSpPr>
            <p:nvPr/>
          </p:nvSpPr>
          <p:spPr bwMode="auto">
            <a:xfrm>
              <a:off x="3442" y="3713"/>
              <a:ext cx="465" cy="465"/>
            </a:xfrm>
            <a:custGeom>
              <a:avLst/>
              <a:gdLst>
                <a:gd name="T0" fmla="*/ 1380 w 1395"/>
                <a:gd name="T1" fmla="*/ 844 h 1394"/>
                <a:gd name="T2" fmla="*/ 1389 w 1395"/>
                <a:gd name="T3" fmla="*/ 793 h 1394"/>
                <a:gd name="T4" fmla="*/ 1394 w 1395"/>
                <a:gd name="T5" fmla="*/ 723 h 1394"/>
                <a:gd name="T6" fmla="*/ 1395 w 1395"/>
                <a:gd name="T7" fmla="*/ 678 h 1394"/>
                <a:gd name="T8" fmla="*/ 1385 w 1395"/>
                <a:gd name="T9" fmla="*/ 571 h 1394"/>
                <a:gd name="T10" fmla="*/ 1358 w 1395"/>
                <a:gd name="T11" fmla="*/ 464 h 1394"/>
                <a:gd name="T12" fmla="*/ 1337 w 1395"/>
                <a:gd name="T13" fmla="*/ 413 h 1394"/>
                <a:gd name="T14" fmla="*/ 1311 w 1395"/>
                <a:gd name="T15" fmla="*/ 361 h 1394"/>
                <a:gd name="T16" fmla="*/ 1257 w 1395"/>
                <a:gd name="T17" fmla="*/ 279 h 1394"/>
                <a:gd name="T18" fmla="*/ 1191 w 1395"/>
                <a:gd name="T19" fmla="*/ 204 h 1394"/>
                <a:gd name="T20" fmla="*/ 1137 w 1395"/>
                <a:gd name="T21" fmla="*/ 155 h 1394"/>
                <a:gd name="T22" fmla="*/ 1083 w 1395"/>
                <a:gd name="T23" fmla="*/ 114 h 1394"/>
                <a:gd name="T24" fmla="*/ 1024 w 1395"/>
                <a:gd name="T25" fmla="*/ 78 h 1394"/>
                <a:gd name="T26" fmla="*/ 965 w 1395"/>
                <a:gd name="T27" fmla="*/ 50 h 1394"/>
                <a:gd name="T28" fmla="*/ 902 w 1395"/>
                <a:gd name="T29" fmla="*/ 27 h 1394"/>
                <a:gd name="T30" fmla="*/ 836 w 1395"/>
                <a:gd name="T31" fmla="*/ 12 h 1394"/>
                <a:gd name="T32" fmla="*/ 767 w 1395"/>
                <a:gd name="T33" fmla="*/ 2 h 1394"/>
                <a:gd name="T34" fmla="*/ 698 w 1395"/>
                <a:gd name="T35" fmla="*/ 0 h 1394"/>
                <a:gd name="T36" fmla="*/ 626 w 1395"/>
                <a:gd name="T37" fmla="*/ 2 h 1394"/>
                <a:gd name="T38" fmla="*/ 491 w 1395"/>
                <a:gd name="T39" fmla="*/ 27 h 1394"/>
                <a:gd name="T40" fmla="*/ 429 w 1395"/>
                <a:gd name="T41" fmla="*/ 50 h 1394"/>
                <a:gd name="T42" fmla="*/ 311 w 1395"/>
                <a:gd name="T43" fmla="*/ 114 h 1394"/>
                <a:gd name="T44" fmla="*/ 256 w 1395"/>
                <a:gd name="T45" fmla="*/ 155 h 1394"/>
                <a:gd name="T46" fmla="*/ 155 w 1395"/>
                <a:gd name="T47" fmla="*/ 255 h 1394"/>
                <a:gd name="T48" fmla="*/ 114 w 1395"/>
                <a:gd name="T49" fmla="*/ 311 h 1394"/>
                <a:gd name="T50" fmla="*/ 51 w 1395"/>
                <a:gd name="T51" fmla="*/ 428 h 1394"/>
                <a:gd name="T52" fmla="*/ 28 w 1395"/>
                <a:gd name="T53" fmla="*/ 491 h 1394"/>
                <a:gd name="T54" fmla="*/ 3 w 1395"/>
                <a:gd name="T55" fmla="*/ 625 h 1394"/>
                <a:gd name="T56" fmla="*/ 0 w 1395"/>
                <a:gd name="T57" fmla="*/ 697 h 1394"/>
                <a:gd name="T58" fmla="*/ 3 w 1395"/>
                <a:gd name="T59" fmla="*/ 766 h 1394"/>
                <a:gd name="T60" fmla="*/ 12 w 1395"/>
                <a:gd name="T61" fmla="*/ 835 h 1394"/>
                <a:gd name="T62" fmla="*/ 28 w 1395"/>
                <a:gd name="T63" fmla="*/ 901 h 1394"/>
                <a:gd name="T64" fmla="*/ 51 w 1395"/>
                <a:gd name="T65" fmla="*/ 964 h 1394"/>
                <a:gd name="T66" fmla="*/ 78 w 1395"/>
                <a:gd name="T67" fmla="*/ 1023 h 1394"/>
                <a:gd name="T68" fmla="*/ 114 w 1395"/>
                <a:gd name="T69" fmla="*/ 1082 h 1394"/>
                <a:gd name="T70" fmla="*/ 155 w 1395"/>
                <a:gd name="T71" fmla="*/ 1136 h 1394"/>
                <a:gd name="T72" fmla="*/ 204 w 1395"/>
                <a:gd name="T73" fmla="*/ 1190 h 1394"/>
                <a:gd name="T74" fmla="*/ 267 w 1395"/>
                <a:gd name="T75" fmla="*/ 1245 h 1394"/>
                <a:gd name="T76" fmla="*/ 334 w 1395"/>
                <a:gd name="T77" fmla="*/ 1293 h 1394"/>
                <a:gd name="T78" fmla="*/ 405 w 1395"/>
                <a:gd name="T79" fmla="*/ 1332 h 1394"/>
                <a:gd name="T80" fmla="*/ 480 w 1395"/>
                <a:gd name="T81" fmla="*/ 1362 h 1394"/>
                <a:gd name="T82" fmla="*/ 551 w 1395"/>
                <a:gd name="T83" fmla="*/ 1380 h 1394"/>
                <a:gd name="T84" fmla="*/ 609 w 1395"/>
                <a:gd name="T85" fmla="*/ 1389 h 1394"/>
                <a:gd name="T86" fmla="*/ 698 w 1395"/>
                <a:gd name="T87" fmla="*/ 1394 h 1394"/>
                <a:gd name="T88" fmla="*/ 770 w 1395"/>
                <a:gd name="T89" fmla="*/ 1390 h 1394"/>
                <a:gd name="T90" fmla="*/ 840 w 1395"/>
                <a:gd name="T91" fmla="*/ 1381 h 1394"/>
                <a:gd name="T92" fmla="*/ 863 w 1395"/>
                <a:gd name="T93" fmla="*/ 1375 h 1394"/>
                <a:gd name="T94" fmla="*/ 878 w 1395"/>
                <a:gd name="T95" fmla="*/ 1371 h 1394"/>
                <a:gd name="T96" fmla="*/ 935 w 1395"/>
                <a:gd name="T97" fmla="*/ 1354 h 1394"/>
                <a:gd name="T98" fmla="*/ 1026 w 1395"/>
                <a:gd name="T99" fmla="*/ 1314 h 1394"/>
                <a:gd name="T100" fmla="*/ 1055 w 1395"/>
                <a:gd name="T101" fmla="*/ 1296 h 1394"/>
                <a:gd name="T102" fmla="*/ 1074 w 1395"/>
                <a:gd name="T103" fmla="*/ 1284 h 1394"/>
                <a:gd name="T104" fmla="*/ 1103 w 1395"/>
                <a:gd name="T105" fmla="*/ 1266 h 1394"/>
                <a:gd name="T106" fmla="*/ 1136 w 1395"/>
                <a:gd name="T107" fmla="*/ 1238 h 1394"/>
                <a:gd name="T108" fmla="*/ 1191 w 1395"/>
                <a:gd name="T109" fmla="*/ 1190 h 1394"/>
                <a:gd name="T110" fmla="*/ 1245 w 1395"/>
                <a:gd name="T111" fmla="*/ 1128 h 1394"/>
                <a:gd name="T112" fmla="*/ 1276 w 1395"/>
                <a:gd name="T113" fmla="*/ 1084 h 1394"/>
                <a:gd name="T114" fmla="*/ 1319 w 1395"/>
                <a:gd name="T115" fmla="*/ 1017 h 1394"/>
                <a:gd name="T116" fmla="*/ 1344 w 1395"/>
                <a:gd name="T117" fmla="*/ 964 h 1394"/>
                <a:gd name="T118" fmla="*/ 1364 w 1395"/>
                <a:gd name="T119" fmla="*/ 906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95" h="1394">
                  <a:moveTo>
                    <a:pt x="1373" y="876"/>
                  </a:moveTo>
                  <a:lnTo>
                    <a:pt x="1380" y="844"/>
                  </a:lnTo>
                  <a:lnTo>
                    <a:pt x="1384" y="818"/>
                  </a:lnTo>
                  <a:lnTo>
                    <a:pt x="1389" y="793"/>
                  </a:lnTo>
                  <a:lnTo>
                    <a:pt x="1394" y="751"/>
                  </a:lnTo>
                  <a:lnTo>
                    <a:pt x="1394" y="723"/>
                  </a:lnTo>
                  <a:lnTo>
                    <a:pt x="1395" y="697"/>
                  </a:lnTo>
                  <a:lnTo>
                    <a:pt x="1395" y="678"/>
                  </a:lnTo>
                  <a:lnTo>
                    <a:pt x="1391" y="622"/>
                  </a:lnTo>
                  <a:lnTo>
                    <a:pt x="1385" y="571"/>
                  </a:lnTo>
                  <a:lnTo>
                    <a:pt x="1373" y="516"/>
                  </a:lnTo>
                  <a:lnTo>
                    <a:pt x="1358" y="464"/>
                  </a:lnTo>
                  <a:lnTo>
                    <a:pt x="1354" y="453"/>
                  </a:lnTo>
                  <a:lnTo>
                    <a:pt x="1337" y="413"/>
                  </a:lnTo>
                  <a:lnTo>
                    <a:pt x="1334" y="405"/>
                  </a:lnTo>
                  <a:lnTo>
                    <a:pt x="1311" y="361"/>
                  </a:lnTo>
                  <a:lnTo>
                    <a:pt x="1284" y="319"/>
                  </a:lnTo>
                  <a:lnTo>
                    <a:pt x="1257" y="279"/>
                  </a:lnTo>
                  <a:lnTo>
                    <a:pt x="1224" y="240"/>
                  </a:lnTo>
                  <a:lnTo>
                    <a:pt x="1191" y="204"/>
                  </a:lnTo>
                  <a:lnTo>
                    <a:pt x="1163" y="177"/>
                  </a:lnTo>
                  <a:lnTo>
                    <a:pt x="1137" y="155"/>
                  </a:lnTo>
                  <a:lnTo>
                    <a:pt x="1109" y="133"/>
                  </a:lnTo>
                  <a:lnTo>
                    <a:pt x="1083" y="114"/>
                  </a:lnTo>
                  <a:lnTo>
                    <a:pt x="1053" y="95"/>
                  </a:lnTo>
                  <a:lnTo>
                    <a:pt x="1024" y="78"/>
                  </a:lnTo>
                  <a:lnTo>
                    <a:pt x="994" y="62"/>
                  </a:lnTo>
                  <a:lnTo>
                    <a:pt x="965" y="50"/>
                  </a:lnTo>
                  <a:lnTo>
                    <a:pt x="933" y="37"/>
                  </a:lnTo>
                  <a:lnTo>
                    <a:pt x="902" y="27"/>
                  </a:lnTo>
                  <a:lnTo>
                    <a:pt x="868" y="18"/>
                  </a:lnTo>
                  <a:lnTo>
                    <a:pt x="836" y="12"/>
                  </a:lnTo>
                  <a:lnTo>
                    <a:pt x="801" y="6"/>
                  </a:lnTo>
                  <a:lnTo>
                    <a:pt x="767" y="2"/>
                  </a:lnTo>
                  <a:lnTo>
                    <a:pt x="732" y="0"/>
                  </a:lnTo>
                  <a:lnTo>
                    <a:pt x="698" y="0"/>
                  </a:lnTo>
                  <a:lnTo>
                    <a:pt x="660" y="0"/>
                  </a:lnTo>
                  <a:lnTo>
                    <a:pt x="626" y="2"/>
                  </a:lnTo>
                  <a:lnTo>
                    <a:pt x="557" y="12"/>
                  </a:lnTo>
                  <a:lnTo>
                    <a:pt x="491" y="27"/>
                  </a:lnTo>
                  <a:lnTo>
                    <a:pt x="459" y="37"/>
                  </a:lnTo>
                  <a:lnTo>
                    <a:pt x="429" y="50"/>
                  </a:lnTo>
                  <a:lnTo>
                    <a:pt x="368" y="78"/>
                  </a:lnTo>
                  <a:lnTo>
                    <a:pt x="311" y="114"/>
                  </a:lnTo>
                  <a:lnTo>
                    <a:pt x="282" y="133"/>
                  </a:lnTo>
                  <a:lnTo>
                    <a:pt x="256" y="155"/>
                  </a:lnTo>
                  <a:lnTo>
                    <a:pt x="204" y="204"/>
                  </a:lnTo>
                  <a:lnTo>
                    <a:pt x="155" y="255"/>
                  </a:lnTo>
                  <a:lnTo>
                    <a:pt x="134" y="282"/>
                  </a:lnTo>
                  <a:lnTo>
                    <a:pt x="114" y="311"/>
                  </a:lnTo>
                  <a:lnTo>
                    <a:pt x="78" y="367"/>
                  </a:lnTo>
                  <a:lnTo>
                    <a:pt x="51" y="428"/>
                  </a:lnTo>
                  <a:lnTo>
                    <a:pt x="38" y="458"/>
                  </a:lnTo>
                  <a:lnTo>
                    <a:pt x="28" y="491"/>
                  </a:lnTo>
                  <a:lnTo>
                    <a:pt x="12" y="557"/>
                  </a:lnTo>
                  <a:lnTo>
                    <a:pt x="3" y="625"/>
                  </a:lnTo>
                  <a:lnTo>
                    <a:pt x="0" y="660"/>
                  </a:lnTo>
                  <a:lnTo>
                    <a:pt x="0" y="697"/>
                  </a:lnTo>
                  <a:lnTo>
                    <a:pt x="0" y="732"/>
                  </a:lnTo>
                  <a:lnTo>
                    <a:pt x="3" y="766"/>
                  </a:lnTo>
                  <a:lnTo>
                    <a:pt x="6" y="800"/>
                  </a:lnTo>
                  <a:lnTo>
                    <a:pt x="12" y="835"/>
                  </a:lnTo>
                  <a:lnTo>
                    <a:pt x="18" y="867"/>
                  </a:lnTo>
                  <a:lnTo>
                    <a:pt x="28" y="901"/>
                  </a:lnTo>
                  <a:lnTo>
                    <a:pt x="38" y="932"/>
                  </a:lnTo>
                  <a:lnTo>
                    <a:pt x="51" y="964"/>
                  </a:lnTo>
                  <a:lnTo>
                    <a:pt x="63" y="993"/>
                  </a:lnTo>
                  <a:lnTo>
                    <a:pt x="78" y="1023"/>
                  </a:lnTo>
                  <a:lnTo>
                    <a:pt x="95" y="1052"/>
                  </a:lnTo>
                  <a:lnTo>
                    <a:pt x="114" y="1082"/>
                  </a:lnTo>
                  <a:lnTo>
                    <a:pt x="134" y="1108"/>
                  </a:lnTo>
                  <a:lnTo>
                    <a:pt x="155" y="1136"/>
                  </a:lnTo>
                  <a:lnTo>
                    <a:pt x="178" y="1162"/>
                  </a:lnTo>
                  <a:lnTo>
                    <a:pt x="204" y="1190"/>
                  </a:lnTo>
                  <a:lnTo>
                    <a:pt x="234" y="1218"/>
                  </a:lnTo>
                  <a:lnTo>
                    <a:pt x="267" y="1245"/>
                  </a:lnTo>
                  <a:lnTo>
                    <a:pt x="299" y="1270"/>
                  </a:lnTo>
                  <a:lnTo>
                    <a:pt x="334" y="1293"/>
                  </a:lnTo>
                  <a:lnTo>
                    <a:pt x="369" y="1314"/>
                  </a:lnTo>
                  <a:lnTo>
                    <a:pt x="405" y="1332"/>
                  </a:lnTo>
                  <a:lnTo>
                    <a:pt x="442" y="1347"/>
                  </a:lnTo>
                  <a:lnTo>
                    <a:pt x="480" y="1362"/>
                  </a:lnTo>
                  <a:lnTo>
                    <a:pt x="497" y="1366"/>
                  </a:lnTo>
                  <a:lnTo>
                    <a:pt x="551" y="1380"/>
                  </a:lnTo>
                  <a:lnTo>
                    <a:pt x="579" y="1384"/>
                  </a:lnTo>
                  <a:lnTo>
                    <a:pt x="609" y="1389"/>
                  </a:lnTo>
                  <a:lnTo>
                    <a:pt x="652" y="1393"/>
                  </a:lnTo>
                  <a:lnTo>
                    <a:pt x="698" y="1394"/>
                  </a:lnTo>
                  <a:lnTo>
                    <a:pt x="734" y="1393"/>
                  </a:lnTo>
                  <a:lnTo>
                    <a:pt x="770" y="1390"/>
                  </a:lnTo>
                  <a:lnTo>
                    <a:pt x="804" y="1386"/>
                  </a:lnTo>
                  <a:lnTo>
                    <a:pt x="840" y="1381"/>
                  </a:lnTo>
                  <a:lnTo>
                    <a:pt x="860" y="1377"/>
                  </a:lnTo>
                  <a:lnTo>
                    <a:pt x="863" y="1375"/>
                  </a:lnTo>
                  <a:lnTo>
                    <a:pt x="868" y="1374"/>
                  </a:lnTo>
                  <a:lnTo>
                    <a:pt x="878" y="1371"/>
                  </a:lnTo>
                  <a:lnTo>
                    <a:pt x="897" y="1366"/>
                  </a:lnTo>
                  <a:lnTo>
                    <a:pt x="935" y="1354"/>
                  </a:lnTo>
                  <a:lnTo>
                    <a:pt x="988" y="1334"/>
                  </a:lnTo>
                  <a:lnTo>
                    <a:pt x="1026" y="1314"/>
                  </a:lnTo>
                  <a:lnTo>
                    <a:pt x="1046" y="1302"/>
                  </a:lnTo>
                  <a:lnTo>
                    <a:pt x="1055" y="1296"/>
                  </a:lnTo>
                  <a:lnTo>
                    <a:pt x="1066" y="1291"/>
                  </a:lnTo>
                  <a:lnTo>
                    <a:pt x="1074" y="1284"/>
                  </a:lnTo>
                  <a:lnTo>
                    <a:pt x="1084" y="1278"/>
                  </a:lnTo>
                  <a:lnTo>
                    <a:pt x="1103" y="1266"/>
                  </a:lnTo>
                  <a:lnTo>
                    <a:pt x="1125" y="1248"/>
                  </a:lnTo>
                  <a:lnTo>
                    <a:pt x="1136" y="1238"/>
                  </a:lnTo>
                  <a:lnTo>
                    <a:pt x="1148" y="1230"/>
                  </a:lnTo>
                  <a:lnTo>
                    <a:pt x="1191" y="1190"/>
                  </a:lnTo>
                  <a:lnTo>
                    <a:pt x="1228" y="1149"/>
                  </a:lnTo>
                  <a:lnTo>
                    <a:pt x="1245" y="1128"/>
                  </a:lnTo>
                  <a:lnTo>
                    <a:pt x="1262" y="1107"/>
                  </a:lnTo>
                  <a:lnTo>
                    <a:pt x="1276" y="1084"/>
                  </a:lnTo>
                  <a:lnTo>
                    <a:pt x="1292" y="1063"/>
                  </a:lnTo>
                  <a:lnTo>
                    <a:pt x="1319" y="1017"/>
                  </a:lnTo>
                  <a:lnTo>
                    <a:pt x="1342" y="969"/>
                  </a:lnTo>
                  <a:lnTo>
                    <a:pt x="1344" y="964"/>
                  </a:lnTo>
                  <a:lnTo>
                    <a:pt x="1355" y="937"/>
                  </a:lnTo>
                  <a:lnTo>
                    <a:pt x="1364" y="906"/>
                  </a:lnTo>
                  <a:lnTo>
                    <a:pt x="1373" y="876"/>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grpSp>
        <p:nvGrpSpPr>
          <p:cNvPr id="54401" name="Group 129">
            <a:extLst>
              <a:ext uri="{FF2B5EF4-FFF2-40B4-BE49-F238E27FC236}">
                <a16:creationId xmlns:a16="http://schemas.microsoft.com/office/drawing/2014/main" id="{5AAFC4BF-6479-C7C7-888C-79A26F6B3733}"/>
              </a:ext>
            </a:extLst>
          </p:cNvPr>
          <p:cNvGrpSpPr>
            <a:grpSpLocks/>
          </p:cNvGrpSpPr>
          <p:nvPr/>
        </p:nvGrpSpPr>
        <p:grpSpPr bwMode="auto">
          <a:xfrm>
            <a:off x="4289425" y="1812925"/>
            <a:ext cx="3178175" cy="1266825"/>
            <a:chOff x="2702" y="1142"/>
            <a:chExt cx="2002" cy="798"/>
          </a:xfrm>
        </p:grpSpPr>
        <p:sp>
          <p:nvSpPr>
            <p:cNvPr id="54281" name="Freeform 9">
              <a:extLst>
                <a:ext uri="{FF2B5EF4-FFF2-40B4-BE49-F238E27FC236}">
                  <a16:creationId xmlns:a16="http://schemas.microsoft.com/office/drawing/2014/main" id="{C142E286-9325-F38B-138E-3C23A907DE4B}"/>
                </a:ext>
              </a:extLst>
            </p:cNvPr>
            <p:cNvSpPr>
              <a:spLocks/>
            </p:cNvSpPr>
            <p:nvPr/>
          </p:nvSpPr>
          <p:spPr bwMode="auto">
            <a:xfrm>
              <a:off x="3224" y="1142"/>
              <a:ext cx="1480" cy="244"/>
            </a:xfrm>
            <a:custGeom>
              <a:avLst/>
              <a:gdLst>
                <a:gd name="T0" fmla="*/ 4440 w 4440"/>
                <a:gd name="T1" fmla="*/ 45 h 731"/>
                <a:gd name="T2" fmla="*/ 4438 w 4440"/>
                <a:gd name="T3" fmla="*/ 33 h 731"/>
                <a:gd name="T4" fmla="*/ 4430 w 4440"/>
                <a:gd name="T5" fmla="*/ 25 h 731"/>
                <a:gd name="T6" fmla="*/ 4418 w 4440"/>
                <a:gd name="T7" fmla="*/ 17 h 731"/>
                <a:gd name="T8" fmla="*/ 4404 w 4440"/>
                <a:gd name="T9" fmla="*/ 11 h 731"/>
                <a:gd name="T10" fmla="*/ 4382 w 4440"/>
                <a:gd name="T11" fmla="*/ 5 h 731"/>
                <a:gd name="T12" fmla="*/ 4358 w 4440"/>
                <a:gd name="T13" fmla="*/ 2 h 731"/>
                <a:gd name="T14" fmla="*/ 4330 w 4440"/>
                <a:gd name="T15" fmla="*/ 0 h 731"/>
                <a:gd name="T16" fmla="*/ 4296 w 4440"/>
                <a:gd name="T17" fmla="*/ 1 h 731"/>
                <a:gd name="T18" fmla="*/ 144 w 4440"/>
                <a:gd name="T19" fmla="*/ 1 h 731"/>
                <a:gd name="T20" fmla="*/ 109 w 4440"/>
                <a:gd name="T21" fmla="*/ 0 h 731"/>
                <a:gd name="T22" fmla="*/ 80 w 4440"/>
                <a:gd name="T23" fmla="*/ 2 h 731"/>
                <a:gd name="T24" fmla="*/ 55 w 4440"/>
                <a:gd name="T25" fmla="*/ 5 h 731"/>
                <a:gd name="T26" fmla="*/ 36 w 4440"/>
                <a:gd name="T27" fmla="*/ 11 h 731"/>
                <a:gd name="T28" fmla="*/ 19 w 4440"/>
                <a:gd name="T29" fmla="*/ 17 h 731"/>
                <a:gd name="T30" fmla="*/ 8 w 4440"/>
                <a:gd name="T31" fmla="*/ 25 h 731"/>
                <a:gd name="T32" fmla="*/ 1 w 4440"/>
                <a:gd name="T33" fmla="*/ 33 h 731"/>
                <a:gd name="T34" fmla="*/ 0 w 4440"/>
                <a:gd name="T35" fmla="*/ 45 h 731"/>
                <a:gd name="T36" fmla="*/ 0 w 4440"/>
                <a:gd name="T37" fmla="*/ 686 h 731"/>
                <a:gd name="T38" fmla="*/ 1 w 4440"/>
                <a:gd name="T39" fmla="*/ 692 h 731"/>
                <a:gd name="T40" fmla="*/ 5 w 4440"/>
                <a:gd name="T41" fmla="*/ 699 h 731"/>
                <a:gd name="T42" fmla="*/ 11 w 4440"/>
                <a:gd name="T43" fmla="*/ 705 h 731"/>
                <a:gd name="T44" fmla="*/ 19 w 4440"/>
                <a:gd name="T45" fmla="*/ 713 h 731"/>
                <a:gd name="T46" fmla="*/ 30 w 4440"/>
                <a:gd name="T47" fmla="*/ 716 h 731"/>
                <a:gd name="T48" fmla="*/ 43 w 4440"/>
                <a:gd name="T49" fmla="*/ 721 h 731"/>
                <a:gd name="T50" fmla="*/ 59 w 4440"/>
                <a:gd name="T51" fmla="*/ 725 h 731"/>
                <a:gd name="T52" fmla="*/ 79 w 4440"/>
                <a:gd name="T53" fmla="*/ 728 h 731"/>
                <a:gd name="T54" fmla="*/ 92 w 4440"/>
                <a:gd name="T55" fmla="*/ 728 h 731"/>
                <a:gd name="T56" fmla="*/ 108 w 4440"/>
                <a:gd name="T57" fmla="*/ 729 h 731"/>
                <a:gd name="T58" fmla="*/ 125 w 4440"/>
                <a:gd name="T59" fmla="*/ 729 h 731"/>
                <a:gd name="T60" fmla="*/ 144 w 4440"/>
                <a:gd name="T61" fmla="*/ 731 h 731"/>
                <a:gd name="T62" fmla="*/ 4296 w 4440"/>
                <a:gd name="T63" fmla="*/ 731 h 731"/>
                <a:gd name="T64" fmla="*/ 4313 w 4440"/>
                <a:gd name="T65" fmla="*/ 729 h 731"/>
                <a:gd name="T66" fmla="*/ 4330 w 4440"/>
                <a:gd name="T67" fmla="*/ 729 h 731"/>
                <a:gd name="T68" fmla="*/ 4358 w 4440"/>
                <a:gd name="T69" fmla="*/ 727 h 731"/>
                <a:gd name="T70" fmla="*/ 4370 w 4440"/>
                <a:gd name="T71" fmla="*/ 725 h 731"/>
                <a:gd name="T72" fmla="*/ 4382 w 4440"/>
                <a:gd name="T73" fmla="*/ 723 h 731"/>
                <a:gd name="T74" fmla="*/ 4404 w 4440"/>
                <a:gd name="T75" fmla="*/ 719 h 731"/>
                <a:gd name="T76" fmla="*/ 4418 w 4440"/>
                <a:gd name="T77" fmla="*/ 711 h 731"/>
                <a:gd name="T78" fmla="*/ 4430 w 4440"/>
                <a:gd name="T79" fmla="*/ 704 h 731"/>
                <a:gd name="T80" fmla="*/ 4434 w 4440"/>
                <a:gd name="T81" fmla="*/ 699 h 731"/>
                <a:gd name="T82" fmla="*/ 4435 w 4440"/>
                <a:gd name="T83" fmla="*/ 697 h 731"/>
                <a:gd name="T84" fmla="*/ 4438 w 4440"/>
                <a:gd name="T85" fmla="*/ 696 h 731"/>
                <a:gd name="T86" fmla="*/ 4440 w 4440"/>
                <a:gd name="T87" fmla="*/ 686 h 731"/>
                <a:gd name="T88" fmla="*/ 4440 w 4440"/>
                <a:gd name="T89" fmla="*/ 45 h 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440" h="731">
                  <a:moveTo>
                    <a:pt x="4440" y="45"/>
                  </a:moveTo>
                  <a:lnTo>
                    <a:pt x="4438" y="33"/>
                  </a:lnTo>
                  <a:lnTo>
                    <a:pt x="4430" y="25"/>
                  </a:lnTo>
                  <a:lnTo>
                    <a:pt x="4418" y="17"/>
                  </a:lnTo>
                  <a:lnTo>
                    <a:pt x="4404" y="11"/>
                  </a:lnTo>
                  <a:lnTo>
                    <a:pt x="4382" y="5"/>
                  </a:lnTo>
                  <a:lnTo>
                    <a:pt x="4358" y="2"/>
                  </a:lnTo>
                  <a:lnTo>
                    <a:pt x="4330" y="0"/>
                  </a:lnTo>
                  <a:lnTo>
                    <a:pt x="4296" y="1"/>
                  </a:lnTo>
                  <a:lnTo>
                    <a:pt x="144" y="1"/>
                  </a:lnTo>
                  <a:lnTo>
                    <a:pt x="109" y="0"/>
                  </a:lnTo>
                  <a:lnTo>
                    <a:pt x="80" y="2"/>
                  </a:lnTo>
                  <a:lnTo>
                    <a:pt x="55" y="5"/>
                  </a:lnTo>
                  <a:lnTo>
                    <a:pt x="36" y="11"/>
                  </a:lnTo>
                  <a:lnTo>
                    <a:pt x="19" y="17"/>
                  </a:lnTo>
                  <a:lnTo>
                    <a:pt x="8" y="25"/>
                  </a:lnTo>
                  <a:lnTo>
                    <a:pt x="1" y="33"/>
                  </a:lnTo>
                  <a:lnTo>
                    <a:pt x="0" y="45"/>
                  </a:lnTo>
                  <a:lnTo>
                    <a:pt x="0" y="686"/>
                  </a:lnTo>
                  <a:lnTo>
                    <a:pt x="1" y="692"/>
                  </a:lnTo>
                  <a:lnTo>
                    <a:pt x="5" y="699"/>
                  </a:lnTo>
                  <a:lnTo>
                    <a:pt x="11" y="705"/>
                  </a:lnTo>
                  <a:lnTo>
                    <a:pt x="19" y="713"/>
                  </a:lnTo>
                  <a:lnTo>
                    <a:pt x="30" y="716"/>
                  </a:lnTo>
                  <a:lnTo>
                    <a:pt x="43" y="721"/>
                  </a:lnTo>
                  <a:lnTo>
                    <a:pt x="59" y="725"/>
                  </a:lnTo>
                  <a:lnTo>
                    <a:pt x="79" y="728"/>
                  </a:lnTo>
                  <a:lnTo>
                    <a:pt x="92" y="728"/>
                  </a:lnTo>
                  <a:lnTo>
                    <a:pt x="108" y="729"/>
                  </a:lnTo>
                  <a:lnTo>
                    <a:pt x="125" y="729"/>
                  </a:lnTo>
                  <a:lnTo>
                    <a:pt x="144" y="731"/>
                  </a:lnTo>
                  <a:lnTo>
                    <a:pt x="4296" y="731"/>
                  </a:lnTo>
                  <a:lnTo>
                    <a:pt x="4313" y="729"/>
                  </a:lnTo>
                  <a:lnTo>
                    <a:pt x="4330" y="729"/>
                  </a:lnTo>
                  <a:lnTo>
                    <a:pt x="4358" y="727"/>
                  </a:lnTo>
                  <a:lnTo>
                    <a:pt x="4370" y="725"/>
                  </a:lnTo>
                  <a:lnTo>
                    <a:pt x="4382" y="723"/>
                  </a:lnTo>
                  <a:lnTo>
                    <a:pt x="4404" y="719"/>
                  </a:lnTo>
                  <a:lnTo>
                    <a:pt x="4418" y="711"/>
                  </a:lnTo>
                  <a:lnTo>
                    <a:pt x="4430" y="704"/>
                  </a:lnTo>
                  <a:lnTo>
                    <a:pt x="4434" y="699"/>
                  </a:lnTo>
                  <a:lnTo>
                    <a:pt x="4435" y="697"/>
                  </a:lnTo>
                  <a:lnTo>
                    <a:pt x="4438" y="696"/>
                  </a:lnTo>
                  <a:lnTo>
                    <a:pt x="4440" y="686"/>
                  </a:lnTo>
                  <a:lnTo>
                    <a:pt x="4440" y="45"/>
                  </a:lnTo>
                  <a:close/>
                </a:path>
              </a:pathLst>
            </a:custGeom>
            <a:solidFill>
              <a:srgbClr val="CCFFCC"/>
            </a:solidFill>
            <a:ln w="25400" cap="flat" cmpd="sng">
              <a:solidFill>
                <a:srgbClr val="333333"/>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54296" name="Freeform 24">
              <a:extLst>
                <a:ext uri="{FF2B5EF4-FFF2-40B4-BE49-F238E27FC236}">
                  <a16:creationId xmlns:a16="http://schemas.microsoft.com/office/drawing/2014/main" id="{82FA4E0D-14E2-1D1E-6FA6-9D1B9327D636}"/>
                </a:ext>
              </a:extLst>
            </p:cNvPr>
            <p:cNvSpPr>
              <a:spLocks/>
            </p:cNvSpPr>
            <p:nvPr/>
          </p:nvSpPr>
          <p:spPr bwMode="auto">
            <a:xfrm>
              <a:off x="2702" y="1765"/>
              <a:ext cx="178" cy="175"/>
            </a:xfrm>
            <a:custGeom>
              <a:avLst/>
              <a:gdLst>
                <a:gd name="T0" fmla="*/ 269 w 533"/>
                <a:gd name="T1" fmla="*/ 164 h 524"/>
                <a:gd name="T2" fmla="*/ 160 w 533"/>
                <a:gd name="T3" fmla="*/ 0 h 524"/>
                <a:gd name="T4" fmla="*/ 4 w 533"/>
                <a:gd name="T5" fmla="*/ 0 h 524"/>
                <a:gd name="T6" fmla="*/ 186 w 533"/>
                <a:gd name="T7" fmla="*/ 260 h 524"/>
                <a:gd name="T8" fmla="*/ 0 w 533"/>
                <a:gd name="T9" fmla="*/ 524 h 524"/>
                <a:gd name="T10" fmla="*/ 149 w 533"/>
                <a:gd name="T11" fmla="*/ 524 h 524"/>
                <a:gd name="T12" fmla="*/ 264 w 533"/>
                <a:gd name="T13" fmla="*/ 352 h 524"/>
                <a:gd name="T14" fmla="*/ 377 w 533"/>
                <a:gd name="T15" fmla="*/ 524 h 524"/>
                <a:gd name="T16" fmla="*/ 533 w 533"/>
                <a:gd name="T17" fmla="*/ 524 h 524"/>
                <a:gd name="T18" fmla="*/ 347 w 533"/>
                <a:gd name="T19" fmla="*/ 255 h 524"/>
                <a:gd name="T20" fmla="*/ 531 w 533"/>
                <a:gd name="T21" fmla="*/ 0 h 524"/>
                <a:gd name="T22" fmla="*/ 381 w 533"/>
                <a:gd name="T23" fmla="*/ 0 h 524"/>
                <a:gd name="T24" fmla="*/ 269 w 533"/>
                <a:gd name="T25" fmla="*/ 164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3" h="524">
                  <a:moveTo>
                    <a:pt x="269" y="164"/>
                  </a:moveTo>
                  <a:lnTo>
                    <a:pt x="160" y="0"/>
                  </a:lnTo>
                  <a:lnTo>
                    <a:pt x="4" y="0"/>
                  </a:lnTo>
                  <a:lnTo>
                    <a:pt x="186" y="260"/>
                  </a:lnTo>
                  <a:lnTo>
                    <a:pt x="0" y="524"/>
                  </a:lnTo>
                  <a:lnTo>
                    <a:pt x="149" y="524"/>
                  </a:lnTo>
                  <a:lnTo>
                    <a:pt x="264" y="352"/>
                  </a:lnTo>
                  <a:lnTo>
                    <a:pt x="377" y="524"/>
                  </a:lnTo>
                  <a:lnTo>
                    <a:pt x="533" y="524"/>
                  </a:lnTo>
                  <a:lnTo>
                    <a:pt x="347" y="255"/>
                  </a:lnTo>
                  <a:lnTo>
                    <a:pt x="531" y="0"/>
                  </a:lnTo>
                  <a:lnTo>
                    <a:pt x="381" y="0"/>
                  </a:lnTo>
                  <a:lnTo>
                    <a:pt x="269" y="1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39" name="Freeform 67">
              <a:extLst>
                <a:ext uri="{FF2B5EF4-FFF2-40B4-BE49-F238E27FC236}">
                  <a16:creationId xmlns:a16="http://schemas.microsoft.com/office/drawing/2014/main" id="{274E6457-786A-3CCC-7402-9FC233B3E839}"/>
                </a:ext>
              </a:extLst>
            </p:cNvPr>
            <p:cNvSpPr>
              <a:spLocks/>
            </p:cNvSpPr>
            <p:nvPr/>
          </p:nvSpPr>
          <p:spPr bwMode="auto">
            <a:xfrm>
              <a:off x="3272" y="1212"/>
              <a:ext cx="82" cy="83"/>
            </a:xfrm>
            <a:custGeom>
              <a:avLst/>
              <a:gdLst>
                <a:gd name="T0" fmla="*/ 19 w 247"/>
                <a:gd name="T1" fmla="*/ 59 h 248"/>
                <a:gd name="T2" fmla="*/ 3 w 247"/>
                <a:gd name="T3" fmla="*/ 92 h 248"/>
                <a:gd name="T4" fmla="*/ 0 w 247"/>
                <a:gd name="T5" fmla="*/ 121 h 248"/>
                <a:gd name="T6" fmla="*/ 3 w 247"/>
                <a:gd name="T7" fmla="*/ 159 h 248"/>
                <a:gd name="T8" fmla="*/ 20 w 247"/>
                <a:gd name="T9" fmla="*/ 195 h 248"/>
                <a:gd name="T10" fmla="*/ 42 w 247"/>
                <a:gd name="T11" fmla="*/ 219 h 248"/>
                <a:gd name="T12" fmla="*/ 78 w 247"/>
                <a:gd name="T13" fmla="*/ 241 h 248"/>
                <a:gd name="T14" fmla="*/ 108 w 247"/>
                <a:gd name="T15" fmla="*/ 247 h 248"/>
                <a:gd name="T16" fmla="*/ 159 w 247"/>
                <a:gd name="T17" fmla="*/ 242 h 248"/>
                <a:gd name="T18" fmla="*/ 197 w 247"/>
                <a:gd name="T19" fmla="*/ 223 h 248"/>
                <a:gd name="T20" fmla="*/ 218 w 247"/>
                <a:gd name="T21" fmla="*/ 200 h 248"/>
                <a:gd name="T22" fmla="*/ 233 w 247"/>
                <a:gd name="T23" fmla="*/ 177 h 248"/>
                <a:gd name="T24" fmla="*/ 243 w 247"/>
                <a:gd name="T25" fmla="*/ 108 h 248"/>
                <a:gd name="T26" fmla="*/ 229 w 247"/>
                <a:gd name="T27" fmla="*/ 69 h 248"/>
                <a:gd name="T28" fmla="*/ 245 w 247"/>
                <a:gd name="T29" fmla="*/ 53 h 248"/>
                <a:gd name="T30" fmla="*/ 231 w 247"/>
                <a:gd name="T31" fmla="*/ 51 h 248"/>
                <a:gd name="T32" fmla="*/ 219 w 247"/>
                <a:gd name="T33" fmla="*/ 43 h 248"/>
                <a:gd name="T34" fmla="*/ 203 w 247"/>
                <a:gd name="T35" fmla="*/ 24 h 248"/>
                <a:gd name="T36" fmla="*/ 199 w 247"/>
                <a:gd name="T37" fmla="*/ 11 h 248"/>
                <a:gd name="T38" fmla="*/ 169 w 247"/>
                <a:gd name="T39" fmla="*/ 33 h 248"/>
                <a:gd name="T40" fmla="*/ 164 w 247"/>
                <a:gd name="T41" fmla="*/ 43 h 248"/>
                <a:gd name="T42" fmla="*/ 164 w 247"/>
                <a:gd name="T43" fmla="*/ 54 h 248"/>
                <a:gd name="T44" fmla="*/ 168 w 247"/>
                <a:gd name="T45" fmla="*/ 63 h 248"/>
                <a:gd name="T46" fmla="*/ 185 w 247"/>
                <a:gd name="T47" fmla="*/ 81 h 248"/>
                <a:gd name="T48" fmla="*/ 195 w 247"/>
                <a:gd name="T49" fmla="*/ 87 h 248"/>
                <a:gd name="T50" fmla="*/ 170 w 247"/>
                <a:gd name="T51" fmla="*/ 80 h 248"/>
                <a:gd name="T52" fmla="*/ 156 w 247"/>
                <a:gd name="T53" fmla="*/ 67 h 248"/>
                <a:gd name="T54" fmla="*/ 149 w 247"/>
                <a:gd name="T55" fmla="*/ 51 h 248"/>
                <a:gd name="T56" fmla="*/ 150 w 247"/>
                <a:gd name="T57" fmla="*/ 36 h 248"/>
                <a:gd name="T58" fmla="*/ 157 w 247"/>
                <a:gd name="T59" fmla="*/ 24 h 248"/>
                <a:gd name="T60" fmla="*/ 164 w 247"/>
                <a:gd name="T61" fmla="*/ 12 h 248"/>
                <a:gd name="T62" fmla="*/ 121 w 247"/>
                <a:gd name="T63" fmla="*/ 3 h 248"/>
                <a:gd name="T64" fmla="*/ 90 w 247"/>
                <a:gd name="T65" fmla="*/ 8 h 248"/>
                <a:gd name="T66" fmla="*/ 50 w 247"/>
                <a:gd name="T67" fmla="*/ 2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7" h="248">
                  <a:moveTo>
                    <a:pt x="36" y="38"/>
                  </a:moveTo>
                  <a:lnTo>
                    <a:pt x="19" y="59"/>
                  </a:lnTo>
                  <a:lnTo>
                    <a:pt x="11" y="74"/>
                  </a:lnTo>
                  <a:lnTo>
                    <a:pt x="3" y="92"/>
                  </a:lnTo>
                  <a:lnTo>
                    <a:pt x="1" y="102"/>
                  </a:lnTo>
                  <a:lnTo>
                    <a:pt x="0" y="121"/>
                  </a:lnTo>
                  <a:lnTo>
                    <a:pt x="0" y="140"/>
                  </a:lnTo>
                  <a:lnTo>
                    <a:pt x="3" y="159"/>
                  </a:lnTo>
                  <a:lnTo>
                    <a:pt x="11" y="179"/>
                  </a:lnTo>
                  <a:lnTo>
                    <a:pt x="20" y="195"/>
                  </a:lnTo>
                  <a:lnTo>
                    <a:pt x="33" y="211"/>
                  </a:lnTo>
                  <a:lnTo>
                    <a:pt x="42" y="219"/>
                  </a:lnTo>
                  <a:lnTo>
                    <a:pt x="56" y="230"/>
                  </a:lnTo>
                  <a:lnTo>
                    <a:pt x="78" y="241"/>
                  </a:lnTo>
                  <a:lnTo>
                    <a:pt x="95" y="246"/>
                  </a:lnTo>
                  <a:lnTo>
                    <a:pt x="108" y="247"/>
                  </a:lnTo>
                  <a:lnTo>
                    <a:pt x="125" y="248"/>
                  </a:lnTo>
                  <a:lnTo>
                    <a:pt x="159" y="242"/>
                  </a:lnTo>
                  <a:lnTo>
                    <a:pt x="176" y="236"/>
                  </a:lnTo>
                  <a:lnTo>
                    <a:pt x="197" y="223"/>
                  </a:lnTo>
                  <a:lnTo>
                    <a:pt x="206" y="215"/>
                  </a:lnTo>
                  <a:lnTo>
                    <a:pt x="218" y="200"/>
                  </a:lnTo>
                  <a:lnTo>
                    <a:pt x="224" y="193"/>
                  </a:lnTo>
                  <a:lnTo>
                    <a:pt x="233" y="177"/>
                  </a:lnTo>
                  <a:lnTo>
                    <a:pt x="243" y="143"/>
                  </a:lnTo>
                  <a:lnTo>
                    <a:pt x="243" y="108"/>
                  </a:lnTo>
                  <a:lnTo>
                    <a:pt x="235" y="81"/>
                  </a:lnTo>
                  <a:lnTo>
                    <a:pt x="229" y="69"/>
                  </a:lnTo>
                  <a:lnTo>
                    <a:pt x="247" y="51"/>
                  </a:lnTo>
                  <a:lnTo>
                    <a:pt x="245" y="53"/>
                  </a:lnTo>
                  <a:lnTo>
                    <a:pt x="240" y="53"/>
                  </a:lnTo>
                  <a:lnTo>
                    <a:pt x="231" y="51"/>
                  </a:lnTo>
                  <a:lnTo>
                    <a:pt x="223" y="47"/>
                  </a:lnTo>
                  <a:lnTo>
                    <a:pt x="219" y="43"/>
                  </a:lnTo>
                  <a:lnTo>
                    <a:pt x="210" y="33"/>
                  </a:lnTo>
                  <a:lnTo>
                    <a:pt x="203" y="24"/>
                  </a:lnTo>
                  <a:lnTo>
                    <a:pt x="199" y="14"/>
                  </a:lnTo>
                  <a:lnTo>
                    <a:pt x="199" y="11"/>
                  </a:lnTo>
                  <a:lnTo>
                    <a:pt x="199" y="0"/>
                  </a:lnTo>
                  <a:lnTo>
                    <a:pt x="169" y="33"/>
                  </a:lnTo>
                  <a:lnTo>
                    <a:pt x="167" y="38"/>
                  </a:lnTo>
                  <a:lnTo>
                    <a:pt x="164" y="43"/>
                  </a:lnTo>
                  <a:lnTo>
                    <a:pt x="164" y="49"/>
                  </a:lnTo>
                  <a:lnTo>
                    <a:pt x="164" y="54"/>
                  </a:lnTo>
                  <a:lnTo>
                    <a:pt x="165" y="59"/>
                  </a:lnTo>
                  <a:lnTo>
                    <a:pt x="168" y="63"/>
                  </a:lnTo>
                  <a:lnTo>
                    <a:pt x="174" y="72"/>
                  </a:lnTo>
                  <a:lnTo>
                    <a:pt x="185" y="81"/>
                  </a:lnTo>
                  <a:lnTo>
                    <a:pt x="194" y="87"/>
                  </a:lnTo>
                  <a:lnTo>
                    <a:pt x="195" y="87"/>
                  </a:lnTo>
                  <a:lnTo>
                    <a:pt x="174" y="81"/>
                  </a:lnTo>
                  <a:lnTo>
                    <a:pt x="170" y="80"/>
                  </a:lnTo>
                  <a:lnTo>
                    <a:pt x="162" y="74"/>
                  </a:lnTo>
                  <a:lnTo>
                    <a:pt x="156" y="67"/>
                  </a:lnTo>
                  <a:lnTo>
                    <a:pt x="151" y="59"/>
                  </a:lnTo>
                  <a:lnTo>
                    <a:pt x="149" y="51"/>
                  </a:lnTo>
                  <a:lnTo>
                    <a:pt x="149" y="43"/>
                  </a:lnTo>
                  <a:lnTo>
                    <a:pt x="150" y="36"/>
                  </a:lnTo>
                  <a:lnTo>
                    <a:pt x="153" y="30"/>
                  </a:lnTo>
                  <a:lnTo>
                    <a:pt x="157" y="24"/>
                  </a:lnTo>
                  <a:lnTo>
                    <a:pt x="169" y="13"/>
                  </a:lnTo>
                  <a:lnTo>
                    <a:pt x="164" y="12"/>
                  </a:lnTo>
                  <a:lnTo>
                    <a:pt x="147" y="6"/>
                  </a:lnTo>
                  <a:lnTo>
                    <a:pt x="121" y="3"/>
                  </a:lnTo>
                  <a:lnTo>
                    <a:pt x="103" y="6"/>
                  </a:lnTo>
                  <a:lnTo>
                    <a:pt x="90" y="8"/>
                  </a:lnTo>
                  <a:lnTo>
                    <a:pt x="66" y="17"/>
                  </a:lnTo>
                  <a:lnTo>
                    <a:pt x="50" y="26"/>
                  </a:lnTo>
                  <a:lnTo>
                    <a:pt x="36"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40" name="Freeform 68">
              <a:extLst>
                <a:ext uri="{FF2B5EF4-FFF2-40B4-BE49-F238E27FC236}">
                  <a16:creationId xmlns:a16="http://schemas.microsoft.com/office/drawing/2014/main" id="{AA11C609-609E-7013-F57D-BE185DF2B940}"/>
                </a:ext>
              </a:extLst>
            </p:cNvPr>
            <p:cNvSpPr>
              <a:spLocks/>
            </p:cNvSpPr>
            <p:nvPr/>
          </p:nvSpPr>
          <p:spPr bwMode="auto">
            <a:xfrm>
              <a:off x="3372" y="1175"/>
              <a:ext cx="26" cy="26"/>
            </a:xfrm>
            <a:custGeom>
              <a:avLst/>
              <a:gdLst>
                <a:gd name="T0" fmla="*/ 66 w 78"/>
                <a:gd name="T1" fmla="*/ 0 h 78"/>
                <a:gd name="T2" fmla="*/ 63 w 78"/>
                <a:gd name="T3" fmla="*/ 3 h 78"/>
                <a:gd name="T4" fmla="*/ 2 w 78"/>
                <a:gd name="T5" fmla="*/ 64 h 78"/>
                <a:gd name="T6" fmla="*/ 1 w 78"/>
                <a:gd name="T7" fmla="*/ 66 h 78"/>
                <a:gd name="T8" fmla="*/ 0 w 78"/>
                <a:gd name="T9" fmla="*/ 69 h 78"/>
                <a:gd name="T10" fmla="*/ 1 w 78"/>
                <a:gd name="T11" fmla="*/ 73 h 78"/>
                <a:gd name="T12" fmla="*/ 2 w 78"/>
                <a:gd name="T13" fmla="*/ 76 h 78"/>
                <a:gd name="T14" fmla="*/ 4 w 78"/>
                <a:gd name="T15" fmla="*/ 77 h 78"/>
                <a:gd name="T16" fmla="*/ 6 w 78"/>
                <a:gd name="T17" fmla="*/ 77 h 78"/>
                <a:gd name="T18" fmla="*/ 9 w 78"/>
                <a:gd name="T19" fmla="*/ 78 h 78"/>
                <a:gd name="T20" fmla="*/ 10 w 78"/>
                <a:gd name="T21" fmla="*/ 78 h 78"/>
                <a:gd name="T22" fmla="*/ 13 w 78"/>
                <a:gd name="T23" fmla="*/ 77 h 78"/>
                <a:gd name="T24" fmla="*/ 15 w 78"/>
                <a:gd name="T25" fmla="*/ 75 h 78"/>
                <a:gd name="T26" fmla="*/ 75 w 78"/>
                <a:gd name="T27" fmla="*/ 16 h 78"/>
                <a:gd name="T28" fmla="*/ 76 w 78"/>
                <a:gd name="T29" fmla="*/ 12 h 78"/>
                <a:gd name="T30" fmla="*/ 78 w 78"/>
                <a:gd name="T31" fmla="*/ 9 h 78"/>
                <a:gd name="T32" fmla="*/ 76 w 78"/>
                <a:gd name="T33" fmla="*/ 5 h 78"/>
                <a:gd name="T34" fmla="*/ 75 w 78"/>
                <a:gd name="T35" fmla="*/ 3 h 78"/>
                <a:gd name="T36" fmla="*/ 73 w 78"/>
                <a:gd name="T37" fmla="*/ 0 h 78"/>
                <a:gd name="T38" fmla="*/ 70 w 78"/>
                <a:gd name="T39" fmla="*/ 0 h 78"/>
                <a:gd name="T40" fmla="*/ 67 w 78"/>
                <a:gd name="T41" fmla="*/ 0 h 78"/>
                <a:gd name="T42" fmla="*/ 66 w 78"/>
                <a:gd name="T43"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8" h="78">
                  <a:moveTo>
                    <a:pt x="66" y="0"/>
                  </a:moveTo>
                  <a:lnTo>
                    <a:pt x="63" y="3"/>
                  </a:lnTo>
                  <a:lnTo>
                    <a:pt x="2" y="64"/>
                  </a:lnTo>
                  <a:lnTo>
                    <a:pt x="1" y="66"/>
                  </a:lnTo>
                  <a:lnTo>
                    <a:pt x="0" y="69"/>
                  </a:lnTo>
                  <a:lnTo>
                    <a:pt x="1" y="73"/>
                  </a:lnTo>
                  <a:lnTo>
                    <a:pt x="2" y="76"/>
                  </a:lnTo>
                  <a:lnTo>
                    <a:pt x="4" y="77"/>
                  </a:lnTo>
                  <a:lnTo>
                    <a:pt x="6" y="77"/>
                  </a:lnTo>
                  <a:lnTo>
                    <a:pt x="9" y="78"/>
                  </a:lnTo>
                  <a:lnTo>
                    <a:pt x="10" y="78"/>
                  </a:lnTo>
                  <a:lnTo>
                    <a:pt x="13" y="77"/>
                  </a:lnTo>
                  <a:lnTo>
                    <a:pt x="15" y="75"/>
                  </a:lnTo>
                  <a:lnTo>
                    <a:pt x="75" y="16"/>
                  </a:lnTo>
                  <a:lnTo>
                    <a:pt x="76" y="12"/>
                  </a:lnTo>
                  <a:lnTo>
                    <a:pt x="78" y="9"/>
                  </a:lnTo>
                  <a:lnTo>
                    <a:pt x="76" y="5"/>
                  </a:lnTo>
                  <a:lnTo>
                    <a:pt x="75" y="3"/>
                  </a:lnTo>
                  <a:lnTo>
                    <a:pt x="73" y="0"/>
                  </a:lnTo>
                  <a:lnTo>
                    <a:pt x="70" y="0"/>
                  </a:lnTo>
                  <a:lnTo>
                    <a:pt x="67" y="0"/>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41" name="Freeform 69">
              <a:extLst>
                <a:ext uri="{FF2B5EF4-FFF2-40B4-BE49-F238E27FC236}">
                  <a16:creationId xmlns:a16="http://schemas.microsoft.com/office/drawing/2014/main" id="{B16E36A4-43E5-14E7-E121-ECA5E380D55F}"/>
                </a:ext>
              </a:extLst>
            </p:cNvPr>
            <p:cNvSpPr>
              <a:spLocks/>
            </p:cNvSpPr>
            <p:nvPr/>
          </p:nvSpPr>
          <p:spPr bwMode="auto">
            <a:xfrm>
              <a:off x="3356" y="1164"/>
              <a:ext cx="6" cy="34"/>
            </a:xfrm>
            <a:custGeom>
              <a:avLst/>
              <a:gdLst>
                <a:gd name="T0" fmla="*/ 7 w 18"/>
                <a:gd name="T1" fmla="*/ 0 h 102"/>
                <a:gd name="T2" fmla="*/ 5 w 18"/>
                <a:gd name="T3" fmla="*/ 0 h 102"/>
                <a:gd name="T4" fmla="*/ 2 w 18"/>
                <a:gd name="T5" fmla="*/ 2 h 102"/>
                <a:gd name="T6" fmla="*/ 0 w 18"/>
                <a:gd name="T7" fmla="*/ 7 h 102"/>
                <a:gd name="T8" fmla="*/ 0 w 18"/>
                <a:gd name="T9" fmla="*/ 93 h 102"/>
                <a:gd name="T10" fmla="*/ 0 w 18"/>
                <a:gd name="T11" fmla="*/ 97 h 102"/>
                <a:gd name="T12" fmla="*/ 1 w 18"/>
                <a:gd name="T13" fmla="*/ 98 h 102"/>
                <a:gd name="T14" fmla="*/ 2 w 18"/>
                <a:gd name="T15" fmla="*/ 99 h 102"/>
                <a:gd name="T16" fmla="*/ 5 w 18"/>
                <a:gd name="T17" fmla="*/ 102 h 102"/>
                <a:gd name="T18" fmla="*/ 8 w 18"/>
                <a:gd name="T19" fmla="*/ 102 h 102"/>
                <a:gd name="T20" fmla="*/ 13 w 18"/>
                <a:gd name="T21" fmla="*/ 100 h 102"/>
                <a:gd name="T22" fmla="*/ 16 w 18"/>
                <a:gd name="T23" fmla="*/ 98 h 102"/>
                <a:gd name="T24" fmla="*/ 18 w 18"/>
                <a:gd name="T25" fmla="*/ 93 h 102"/>
                <a:gd name="T26" fmla="*/ 17 w 18"/>
                <a:gd name="T27" fmla="*/ 8 h 102"/>
                <a:gd name="T28" fmla="*/ 16 w 18"/>
                <a:gd name="T29" fmla="*/ 4 h 102"/>
                <a:gd name="T30" fmla="*/ 14 w 18"/>
                <a:gd name="T31" fmla="*/ 2 h 102"/>
                <a:gd name="T32" fmla="*/ 12 w 18"/>
                <a:gd name="T33" fmla="*/ 0 h 102"/>
                <a:gd name="T34" fmla="*/ 7 w 18"/>
                <a:gd name="T35"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102">
                  <a:moveTo>
                    <a:pt x="7" y="0"/>
                  </a:moveTo>
                  <a:lnTo>
                    <a:pt x="5" y="0"/>
                  </a:lnTo>
                  <a:lnTo>
                    <a:pt x="2" y="2"/>
                  </a:lnTo>
                  <a:lnTo>
                    <a:pt x="0" y="7"/>
                  </a:lnTo>
                  <a:lnTo>
                    <a:pt x="0" y="93"/>
                  </a:lnTo>
                  <a:lnTo>
                    <a:pt x="0" y="97"/>
                  </a:lnTo>
                  <a:lnTo>
                    <a:pt x="1" y="98"/>
                  </a:lnTo>
                  <a:lnTo>
                    <a:pt x="2" y="99"/>
                  </a:lnTo>
                  <a:lnTo>
                    <a:pt x="5" y="102"/>
                  </a:lnTo>
                  <a:lnTo>
                    <a:pt x="8" y="102"/>
                  </a:lnTo>
                  <a:lnTo>
                    <a:pt x="13" y="100"/>
                  </a:lnTo>
                  <a:lnTo>
                    <a:pt x="16" y="98"/>
                  </a:lnTo>
                  <a:lnTo>
                    <a:pt x="18" y="93"/>
                  </a:lnTo>
                  <a:lnTo>
                    <a:pt x="17" y="8"/>
                  </a:lnTo>
                  <a:lnTo>
                    <a:pt x="16" y="4"/>
                  </a:lnTo>
                  <a:lnTo>
                    <a:pt x="14" y="2"/>
                  </a:lnTo>
                  <a:lnTo>
                    <a:pt x="12" y="0"/>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42" name="Freeform 70">
              <a:extLst>
                <a:ext uri="{FF2B5EF4-FFF2-40B4-BE49-F238E27FC236}">
                  <a16:creationId xmlns:a16="http://schemas.microsoft.com/office/drawing/2014/main" id="{CC0DA88E-9A23-397E-EA65-312F8946DBBA}"/>
                </a:ext>
              </a:extLst>
            </p:cNvPr>
            <p:cNvSpPr>
              <a:spLocks/>
            </p:cNvSpPr>
            <p:nvPr/>
          </p:nvSpPr>
          <p:spPr bwMode="auto">
            <a:xfrm>
              <a:off x="3342" y="1205"/>
              <a:ext cx="26" cy="21"/>
            </a:xfrm>
            <a:custGeom>
              <a:avLst/>
              <a:gdLst>
                <a:gd name="T0" fmla="*/ 68 w 78"/>
                <a:gd name="T1" fmla="*/ 0 h 62"/>
                <a:gd name="T2" fmla="*/ 62 w 78"/>
                <a:gd name="T3" fmla="*/ 6 h 62"/>
                <a:gd name="T4" fmla="*/ 24 w 78"/>
                <a:gd name="T5" fmla="*/ 39 h 62"/>
                <a:gd name="T6" fmla="*/ 23 w 78"/>
                <a:gd name="T7" fmla="*/ 39 h 62"/>
                <a:gd name="T8" fmla="*/ 23 w 78"/>
                <a:gd name="T9" fmla="*/ 40 h 62"/>
                <a:gd name="T10" fmla="*/ 20 w 78"/>
                <a:gd name="T11" fmla="*/ 39 h 62"/>
                <a:gd name="T12" fmla="*/ 19 w 78"/>
                <a:gd name="T13" fmla="*/ 36 h 62"/>
                <a:gd name="T14" fmla="*/ 19 w 78"/>
                <a:gd name="T15" fmla="*/ 34 h 62"/>
                <a:gd name="T16" fmla="*/ 20 w 78"/>
                <a:gd name="T17" fmla="*/ 33 h 62"/>
                <a:gd name="T18" fmla="*/ 20 w 78"/>
                <a:gd name="T19" fmla="*/ 32 h 62"/>
                <a:gd name="T20" fmla="*/ 26 w 78"/>
                <a:gd name="T21" fmla="*/ 24 h 62"/>
                <a:gd name="T22" fmla="*/ 29 w 78"/>
                <a:gd name="T23" fmla="*/ 22 h 62"/>
                <a:gd name="T24" fmla="*/ 26 w 78"/>
                <a:gd name="T25" fmla="*/ 20 h 62"/>
                <a:gd name="T26" fmla="*/ 17 w 78"/>
                <a:gd name="T27" fmla="*/ 14 h 62"/>
                <a:gd name="T28" fmla="*/ 13 w 78"/>
                <a:gd name="T29" fmla="*/ 12 h 62"/>
                <a:gd name="T30" fmla="*/ 9 w 78"/>
                <a:gd name="T31" fmla="*/ 11 h 62"/>
                <a:gd name="T32" fmla="*/ 6 w 78"/>
                <a:gd name="T33" fmla="*/ 11 h 62"/>
                <a:gd name="T34" fmla="*/ 3 w 78"/>
                <a:gd name="T35" fmla="*/ 14 h 62"/>
                <a:gd name="T36" fmla="*/ 2 w 78"/>
                <a:gd name="T37" fmla="*/ 15 h 62"/>
                <a:gd name="T38" fmla="*/ 1 w 78"/>
                <a:gd name="T39" fmla="*/ 17 h 62"/>
                <a:gd name="T40" fmla="*/ 0 w 78"/>
                <a:gd name="T41" fmla="*/ 21 h 62"/>
                <a:gd name="T42" fmla="*/ 2 w 78"/>
                <a:gd name="T43" fmla="*/ 32 h 62"/>
                <a:gd name="T44" fmla="*/ 7 w 78"/>
                <a:gd name="T45" fmla="*/ 41 h 62"/>
                <a:gd name="T46" fmla="*/ 13 w 78"/>
                <a:gd name="T47" fmla="*/ 47 h 62"/>
                <a:gd name="T48" fmla="*/ 19 w 78"/>
                <a:gd name="T49" fmla="*/ 54 h 62"/>
                <a:gd name="T50" fmla="*/ 21 w 78"/>
                <a:gd name="T51" fmla="*/ 56 h 62"/>
                <a:gd name="T52" fmla="*/ 29 w 78"/>
                <a:gd name="T53" fmla="*/ 59 h 62"/>
                <a:gd name="T54" fmla="*/ 38 w 78"/>
                <a:gd name="T55" fmla="*/ 62 h 62"/>
                <a:gd name="T56" fmla="*/ 42 w 78"/>
                <a:gd name="T57" fmla="*/ 60 h 62"/>
                <a:gd name="T58" fmla="*/ 45 w 78"/>
                <a:gd name="T59" fmla="*/ 59 h 62"/>
                <a:gd name="T60" fmla="*/ 45 w 78"/>
                <a:gd name="T61" fmla="*/ 58 h 62"/>
                <a:gd name="T62" fmla="*/ 47 w 78"/>
                <a:gd name="T63" fmla="*/ 57 h 62"/>
                <a:gd name="T64" fmla="*/ 48 w 78"/>
                <a:gd name="T65" fmla="*/ 54 h 62"/>
                <a:gd name="T66" fmla="*/ 48 w 78"/>
                <a:gd name="T67" fmla="*/ 50 h 62"/>
                <a:gd name="T68" fmla="*/ 47 w 78"/>
                <a:gd name="T69" fmla="*/ 42 h 62"/>
                <a:gd name="T70" fmla="*/ 43 w 78"/>
                <a:gd name="T71" fmla="*/ 35 h 62"/>
                <a:gd name="T72" fmla="*/ 74 w 78"/>
                <a:gd name="T73" fmla="*/ 10 h 62"/>
                <a:gd name="T74" fmla="*/ 78 w 78"/>
                <a:gd name="T75" fmla="*/ 9 h 62"/>
                <a:gd name="T76" fmla="*/ 68 w 78"/>
                <a:gd name="T7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8" h="62">
                  <a:moveTo>
                    <a:pt x="68" y="0"/>
                  </a:moveTo>
                  <a:lnTo>
                    <a:pt x="62" y="6"/>
                  </a:lnTo>
                  <a:lnTo>
                    <a:pt x="24" y="39"/>
                  </a:lnTo>
                  <a:lnTo>
                    <a:pt x="23" y="39"/>
                  </a:lnTo>
                  <a:lnTo>
                    <a:pt x="23" y="40"/>
                  </a:lnTo>
                  <a:lnTo>
                    <a:pt x="20" y="39"/>
                  </a:lnTo>
                  <a:lnTo>
                    <a:pt x="19" y="36"/>
                  </a:lnTo>
                  <a:lnTo>
                    <a:pt x="19" y="34"/>
                  </a:lnTo>
                  <a:lnTo>
                    <a:pt x="20" y="33"/>
                  </a:lnTo>
                  <a:lnTo>
                    <a:pt x="20" y="32"/>
                  </a:lnTo>
                  <a:lnTo>
                    <a:pt x="26" y="24"/>
                  </a:lnTo>
                  <a:lnTo>
                    <a:pt x="29" y="22"/>
                  </a:lnTo>
                  <a:lnTo>
                    <a:pt x="26" y="20"/>
                  </a:lnTo>
                  <a:lnTo>
                    <a:pt x="17" y="14"/>
                  </a:lnTo>
                  <a:lnTo>
                    <a:pt x="13" y="12"/>
                  </a:lnTo>
                  <a:lnTo>
                    <a:pt x="9" y="11"/>
                  </a:lnTo>
                  <a:lnTo>
                    <a:pt x="6" y="11"/>
                  </a:lnTo>
                  <a:lnTo>
                    <a:pt x="3" y="14"/>
                  </a:lnTo>
                  <a:lnTo>
                    <a:pt x="2" y="15"/>
                  </a:lnTo>
                  <a:lnTo>
                    <a:pt x="1" y="17"/>
                  </a:lnTo>
                  <a:lnTo>
                    <a:pt x="0" y="21"/>
                  </a:lnTo>
                  <a:lnTo>
                    <a:pt x="2" y="32"/>
                  </a:lnTo>
                  <a:lnTo>
                    <a:pt x="7" y="41"/>
                  </a:lnTo>
                  <a:lnTo>
                    <a:pt x="13" y="47"/>
                  </a:lnTo>
                  <a:lnTo>
                    <a:pt x="19" y="54"/>
                  </a:lnTo>
                  <a:lnTo>
                    <a:pt x="21" y="56"/>
                  </a:lnTo>
                  <a:lnTo>
                    <a:pt x="29" y="59"/>
                  </a:lnTo>
                  <a:lnTo>
                    <a:pt x="38" y="62"/>
                  </a:lnTo>
                  <a:lnTo>
                    <a:pt x="42" y="60"/>
                  </a:lnTo>
                  <a:lnTo>
                    <a:pt x="45" y="59"/>
                  </a:lnTo>
                  <a:lnTo>
                    <a:pt x="45" y="58"/>
                  </a:lnTo>
                  <a:lnTo>
                    <a:pt x="47" y="57"/>
                  </a:lnTo>
                  <a:lnTo>
                    <a:pt x="48" y="54"/>
                  </a:lnTo>
                  <a:lnTo>
                    <a:pt x="48" y="50"/>
                  </a:lnTo>
                  <a:lnTo>
                    <a:pt x="47" y="42"/>
                  </a:lnTo>
                  <a:lnTo>
                    <a:pt x="43" y="35"/>
                  </a:lnTo>
                  <a:lnTo>
                    <a:pt x="74" y="10"/>
                  </a:lnTo>
                  <a:lnTo>
                    <a:pt x="78" y="9"/>
                  </a:lnTo>
                  <a:lnTo>
                    <a:pt x="6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43" name="Freeform 71">
              <a:extLst>
                <a:ext uri="{FF2B5EF4-FFF2-40B4-BE49-F238E27FC236}">
                  <a16:creationId xmlns:a16="http://schemas.microsoft.com/office/drawing/2014/main" id="{DA46CBC3-7BF8-72D4-3551-BAD639316185}"/>
                </a:ext>
              </a:extLst>
            </p:cNvPr>
            <p:cNvSpPr>
              <a:spLocks/>
            </p:cNvSpPr>
            <p:nvPr/>
          </p:nvSpPr>
          <p:spPr bwMode="auto">
            <a:xfrm>
              <a:off x="3374" y="1210"/>
              <a:ext cx="34" cy="6"/>
            </a:xfrm>
            <a:custGeom>
              <a:avLst/>
              <a:gdLst>
                <a:gd name="T0" fmla="*/ 0 w 102"/>
                <a:gd name="T1" fmla="*/ 9 h 18"/>
                <a:gd name="T2" fmla="*/ 0 w 102"/>
                <a:gd name="T3" fmla="*/ 10 h 18"/>
                <a:gd name="T4" fmla="*/ 2 w 102"/>
                <a:gd name="T5" fmla="*/ 14 h 18"/>
                <a:gd name="T6" fmla="*/ 2 w 102"/>
                <a:gd name="T7" fmla="*/ 15 h 18"/>
                <a:gd name="T8" fmla="*/ 5 w 102"/>
                <a:gd name="T9" fmla="*/ 18 h 18"/>
                <a:gd name="T10" fmla="*/ 7 w 102"/>
                <a:gd name="T11" fmla="*/ 18 h 18"/>
                <a:gd name="T12" fmla="*/ 96 w 102"/>
                <a:gd name="T13" fmla="*/ 18 h 18"/>
                <a:gd name="T14" fmla="*/ 96 w 102"/>
                <a:gd name="T15" fmla="*/ 16 h 18"/>
                <a:gd name="T16" fmla="*/ 100 w 102"/>
                <a:gd name="T17" fmla="*/ 15 h 18"/>
                <a:gd name="T18" fmla="*/ 102 w 102"/>
                <a:gd name="T19" fmla="*/ 13 h 18"/>
                <a:gd name="T20" fmla="*/ 102 w 102"/>
                <a:gd name="T21" fmla="*/ 8 h 18"/>
                <a:gd name="T22" fmla="*/ 102 w 102"/>
                <a:gd name="T23" fmla="*/ 7 h 18"/>
                <a:gd name="T24" fmla="*/ 100 w 102"/>
                <a:gd name="T25" fmla="*/ 1 h 18"/>
                <a:gd name="T26" fmla="*/ 95 w 102"/>
                <a:gd name="T27" fmla="*/ 0 h 18"/>
                <a:gd name="T28" fmla="*/ 7 w 102"/>
                <a:gd name="T29" fmla="*/ 1 h 18"/>
                <a:gd name="T30" fmla="*/ 5 w 102"/>
                <a:gd name="T31" fmla="*/ 1 h 18"/>
                <a:gd name="T32" fmla="*/ 2 w 102"/>
                <a:gd name="T33" fmla="*/ 2 h 18"/>
                <a:gd name="T34" fmla="*/ 2 w 102"/>
                <a:gd name="T35" fmla="*/ 4 h 18"/>
                <a:gd name="T36" fmla="*/ 1 w 102"/>
                <a:gd name="T37" fmla="*/ 6 h 18"/>
                <a:gd name="T38" fmla="*/ 0 w 102"/>
                <a:gd name="T39"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18">
                  <a:moveTo>
                    <a:pt x="0" y="9"/>
                  </a:moveTo>
                  <a:lnTo>
                    <a:pt x="0" y="10"/>
                  </a:lnTo>
                  <a:lnTo>
                    <a:pt x="2" y="14"/>
                  </a:lnTo>
                  <a:lnTo>
                    <a:pt x="2" y="15"/>
                  </a:lnTo>
                  <a:lnTo>
                    <a:pt x="5" y="18"/>
                  </a:lnTo>
                  <a:lnTo>
                    <a:pt x="7" y="18"/>
                  </a:lnTo>
                  <a:lnTo>
                    <a:pt x="96" y="18"/>
                  </a:lnTo>
                  <a:lnTo>
                    <a:pt x="96" y="16"/>
                  </a:lnTo>
                  <a:lnTo>
                    <a:pt x="100" y="15"/>
                  </a:lnTo>
                  <a:lnTo>
                    <a:pt x="102" y="13"/>
                  </a:lnTo>
                  <a:lnTo>
                    <a:pt x="102" y="8"/>
                  </a:lnTo>
                  <a:lnTo>
                    <a:pt x="102" y="7"/>
                  </a:lnTo>
                  <a:lnTo>
                    <a:pt x="100" y="1"/>
                  </a:lnTo>
                  <a:lnTo>
                    <a:pt x="95" y="0"/>
                  </a:lnTo>
                  <a:lnTo>
                    <a:pt x="7" y="1"/>
                  </a:lnTo>
                  <a:lnTo>
                    <a:pt x="5" y="1"/>
                  </a:lnTo>
                  <a:lnTo>
                    <a:pt x="2" y="2"/>
                  </a:lnTo>
                  <a:lnTo>
                    <a:pt x="2" y="4"/>
                  </a:lnTo>
                  <a:lnTo>
                    <a:pt x="1" y="6"/>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4344" name="Rectangle 72">
              <a:extLst>
                <a:ext uri="{FF2B5EF4-FFF2-40B4-BE49-F238E27FC236}">
                  <a16:creationId xmlns:a16="http://schemas.microsoft.com/office/drawing/2014/main" id="{0121FBDF-DA04-5138-56D9-C803D62FBDEB}"/>
                </a:ext>
              </a:extLst>
            </p:cNvPr>
            <p:cNvSpPr>
              <a:spLocks noChangeArrowheads="1"/>
            </p:cNvSpPr>
            <p:nvPr/>
          </p:nvSpPr>
          <p:spPr bwMode="auto">
            <a:xfrm>
              <a:off x="3432" y="1200"/>
              <a:ext cx="120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a:solidFill>
                    <a:srgbClr val="000000"/>
                  </a:solidFill>
                  <a:latin typeface="Verdana" panose="020B0604030504040204" pitchFamily="34" charset="0"/>
                  <a:ea typeface="宋体" panose="02010600030101010101" pitchFamily="2" charset="-122"/>
                </a:rPr>
                <a:t>Spoofing DR site identity</a:t>
              </a:r>
              <a:endParaRPr lang="en-US" altLang="zh-CN" sz="1800">
                <a:solidFill>
                  <a:schemeClr val="tx1"/>
                </a:solidFill>
                <a:ea typeface="宋体" panose="02010600030101010101" pitchFamily="2" charset="-122"/>
              </a:endParaRPr>
            </a:p>
          </p:txBody>
        </p:sp>
      </p:grpSp>
      <p:sp>
        <p:nvSpPr>
          <p:cNvPr id="54345" name="Rectangle 73">
            <a:extLst>
              <a:ext uri="{FF2B5EF4-FFF2-40B4-BE49-F238E27FC236}">
                <a16:creationId xmlns:a16="http://schemas.microsoft.com/office/drawing/2014/main" id="{25819773-9A13-1269-204A-75E220BCA042}"/>
              </a:ext>
            </a:extLst>
          </p:cNvPr>
          <p:cNvSpPr>
            <a:spLocks noChangeArrowheads="1"/>
          </p:cNvSpPr>
          <p:nvPr/>
        </p:nvSpPr>
        <p:spPr bwMode="auto">
          <a:xfrm>
            <a:off x="1752600" y="2814638"/>
            <a:ext cx="11922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Storage Array</a:t>
            </a:r>
            <a:endParaRPr lang="en-US" altLang="zh-CN" sz="1800">
              <a:solidFill>
                <a:schemeClr val="tx1"/>
              </a:solidFill>
              <a:ea typeface="宋体" panose="02010600030101010101" pitchFamily="2" charset="-122"/>
            </a:endParaRPr>
          </a:p>
        </p:txBody>
      </p:sp>
      <p:sp>
        <p:nvSpPr>
          <p:cNvPr id="54346" name="Rectangle 74">
            <a:extLst>
              <a:ext uri="{FF2B5EF4-FFF2-40B4-BE49-F238E27FC236}">
                <a16:creationId xmlns:a16="http://schemas.microsoft.com/office/drawing/2014/main" id="{0AEF034E-F584-3B0B-5A35-CB453427EE66}"/>
              </a:ext>
            </a:extLst>
          </p:cNvPr>
          <p:cNvSpPr>
            <a:spLocks noChangeArrowheads="1"/>
          </p:cNvSpPr>
          <p:nvPr/>
        </p:nvSpPr>
        <p:spPr bwMode="auto">
          <a:xfrm>
            <a:off x="6096000" y="2814638"/>
            <a:ext cx="11922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Storage Array</a:t>
            </a:r>
            <a:endParaRPr lang="en-US" altLang="zh-CN" sz="1800">
              <a:solidFill>
                <a:schemeClr val="tx1"/>
              </a:solidFill>
              <a:ea typeface="宋体" panose="02010600030101010101" pitchFamily="2" charset="-122"/>
            </a:endParaRPr>
          </a:p>
        </p:txBody>
      </p:sp>
      <p:sp>
        <p:nvSpPr>
          <p:cNvPr id="54347" name="Rectangle 75">
            <a:extLst>
              <a:ext uri="{FF2B5EF4-FFF2-40B4-BE49-F238E27FC236}">
                <a16:creationId xmlns:a16="http://schemas.microsoft.com/office/drawing/2014/main" id="{0A146CA6-3FFD-CEAE-8283-D21C620ECE21}"/>
              </a:ext>
            </a:extLst>
          </p:cNvPr>
          <p:cNvSpPr>
            <a:spLocks noChangeArrowheads="1"/>
          </p:cNvSpPr>
          <p:nvPr/>
        </p:nvSpPr>
        <p:spPr bwMode="auto">
          <a:xfrm>
            <a:off x="2133600" y="5557838"/>
            <a:ext cx="8286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Local Site</a:t>
            </a:r>
            <a:endParaRPr lang="en-US" altLang="zh-CN" sz="1800">
              <a:solidFill>
                <a:schemeClr val="tx1"/>
              </a:solidFill>
              <a:ea typeface="宋体" panose="02010600030101010101" pitchFamily="2" charset="-122"/>
            </a:endParaRPr>
          </a:p>
        </p:txBody>
      </p:sp>
      <p:sp>
        <p:nvSpPr>
          <p:cNvPr id="54348" name="Rectangle 76">
            <a:extLst>
              <a:ext uri="{FF2B5EF4-FFF2-40B4-BE49-F238E27FC236}">
                <a16:creationId xmlns:a16="http://schemas.microsoft.com/office/drawing/2014/main" id="{8CE14904-D304-D88F-AD61-5B7D60A58EE0}"/>
              </a:ext>
            </a:extLst>
          </p:cNvPr>
          <p:cNvSpPr>
            <a:spLocks noChangeArrowheads="1"/>
          </p:cNvSpPr>
          <p:nvPr/>
        </p:nvSpPr>
        <p:spPr bwMode="auto">
          <a:xfrm>
            <a:off x="6561138" y="5586413"/>
            <a:ext cx="6302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DR Site</a:t>
            </a:r>
            <a:endParaRPr lang="en-US" altLang="zh-CN" sz="1800">
              <a:solidFill>
                <a:schemeClr val="tx1"/>
              </a:solidFill>
              <a:ea typeface="宋体" panose="02010600030101010101" pitchFamily="2" charset="-122"/>
            </a:endParaRPr>
          </a:p>
        </p:txBody>
      </p:sp>
      <p:grpSp>
        <p:nvGrpSpPr>
          <p:cNvPr id="54402" name="Group 130">
            <a:extLst>
              <a:ext uri="{FF2B5EF4-FFF2-40B4-BE49-F238E27FC236}">
                <a16:creationId xmlns:a16="http://schemas.microsoft.com/office/drawing/2014/main" id="{2546DA74-54CD-0461-0FBF-61987771132E}"/>
              </a:ext>
            </a:extLst>
          </p:cNvPr>
          <p:cNvGrpSpPr>
            <a:grpSpLocks/>
          </p:cNvGrpSpPr>
          <p:nvPr/>
        </p:nvGrpSpPr>
        <p:grpSpPr bwMode="auto">
          <a:xfrm>
            <a:off x="3924300" y="1295400"/>
            <a:ext cx="1255713" cy="1398588"/>
            <a:chOff x="2472" y="816"/>
            <a:chExt cx="791" cy="881"/>
          </a:xfrm>
        </p:grpSpPr>
        <p:sp>
          <p:nvSpPr>
            <p:cNvPr id="54335" name="Rectangle 63">
              <a:extLst>
                <a:ext uri="{FF2B5EF4-FFF2-40B4-BE49-F238E27FC236}">
                  <a16:creationId xmlns:a16="http://schemas.microsoft.com/office/drawing/2014/main" id="{9DF22808-4F95-B2D8-75A0-340893A34BD7}"/>
                </a:ext>
              </a:extLst>
            </p:cNvPr>
            <p:cNvSpPr>
              <a:spLocks noChangeArrowheads="1"/>
            </p:cNvSpPr>
            <p:nvPr/>
          </p:nvSpPr>
          <p:spPr bwMode="auto">
            <a:xfrm>
              <a:off x="2472" y="816"/>
              <a:ext cx="79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Unauthorized  </a:t>
              </a:r>
              <a:endParaRPr lang="en-US" altLang="zh-CN" sz="1800">
                <a:solidFill>
                  <a:schemeClr val="tx1"/>
                </a:solidFill>
                <a:ea typeface="宋体" panose="02010600030101010101" pitchFamily="2" charset="-122"/>
              </a:endParaRPr>
            </a:p>
          </p:txBody>
        </p:sp>
        <p:sp>
          <p:nvSpPr>
            <p:cNvPr id="54336" name="Rectangle 64">
              <a:extLst>
                <a:ext uri="{FF2B5EF4-FFF2-40B4-BE49-F238E27FC236}">
                  <a16:creationId xmlns:a16="http://schemas.microsoft.com/office/drawing/2014/main" id="{20213A9C-E5BF-4985-4523-A88314AC4C33}"/>
                </a:ext>
              </a:extLst>
            </p:cNvPr>
            <p:cNvSpPr>
              <a:spLocks noChangeArrowheads="1"/>
            </p:cNvSpPr>
            <p:nvPr/>
          </p:nvSpPr>
          <p:spPr bwMode="auto">
            <a:xfrm>
              <a:off x="2711" y="948"/>
              <a:ext cx="28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Host </a:t>
              </a:r>
              <a:endParaRPr lang="en-US" altLang="zh-CN" sz="1800">
                <a:solidFill>
                  <a:schemeClr val="tx1"/>
                </a:solidFill>
                <a:ea typeface="宋体" panose="02010600030101010101" pitchFamily="2" charset="-122"/>
              </a:endParaRPr>
            </a:p>
          </p:txBody>
        </p:sp>
        <p:pic>
          <p:nvPicPr>
            <p:cNvPr id="54349" name="Picture 77">
              <a:extLst>
                <a:ext uri="{FF2B5EF4-FFF2-40B4-BE49-F238E27FC236}">
                  <a16:creationId xmlns:a16="http://schemas.microsoft.com/office/drawing/2014/main" id="{AC58A822-F27F-587C-6449-9746ABAD56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0" y="1101"/>
              <a:ext cx="351" cy="596"/>
            </a:xfrm>
            <a:prstGeom prst="rect">
              <a:avLst/>
            </a:prstGeom>
            <a:noFill/>
            <a:extLst>
              <a:ext uri="{909E8E84-426E-40DD-AFC4-6F175D3DCCD1}">
                <a14:hiddenFill xmlns:a14="http://schemas.microsoft.com/office/drawing/2010/main">
                  <a:solidFill>
                    <a:srgbClr val="FFFFFF"/>
                  </a:solidFill>
                </a14:hiddenFill>
              </a:ext>
            </a:extLst>
          </p:spPr>
        </p:pic>
      </p:grpSp>
      <p:pic>
        <p:nvPicPr>
          <p:cNvPr id="54350" name="Picture 78">
            <a:extLst>
              <a:ext uri="{FF2B5EF4-FFF2-40B4-BE49-F238E27FC236}">
                <a16:creationId xmlns:a16="http://schemas.microsoft.com/office/drawing/2014/main" id="{6DEC11A0-5F1E-AA28-FB06-1697299A44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0813" y="4471988"/>
            <a:ext cx="738187" cy="901700"/>
          </a:xfrm>
          <a:prstGeom prst="rect">
            <a:avLst/>
          </a:prstGeom>
          <a:noFill/>
          <a:extLst>
            <a:ext uri="{909E8E84-426E-40DD-AFC4-6F175D3DCCD1}">
              <a14:hiddenFill xmlns:a14="http://schemas.microsoft.com/office/drawing/2010/main">
                <a:solidFill>
                  <a:srgbClr val="FFFFFF"/>
                </a:solidFill>
              </a14:hiddenFill>
            </a:ext>
          </a:extLst>
        </p:spPr>
      </p:pic>
      <p:pic>
        <p:nvPicPr>
          <p:cNvPr id="54351" name="Picture 79">
            <a:extLst>
              <a:ext uri="{FF2B5EF4-FFF2-40B4-BE49-F238E27FC236}">
                <a16:creationId xmlns:a16="http://schemas.microsoft.com/office/drawing/2014/main" id="{DF919372-D021-C0FD-2D88-7B657F6F79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7363" y="3195638"/>
            <a:ext cx="985837" cy="1295400"/>
          </a:xfrm>
          <a:prstGeom prst="rect">
            <a:avLst/>
          </a:prstGeom>
          <a:noFill/>
          <a:extLst>
            <a:ext uri="{909E8E84-426E-40DD-AFC4-6F175D3DCCD1}">
              <a14:hiddenFill xmlns:a14="http://schemas.microsoft.com/office/drawing/2010/main">
                <a:solidFill>
                  <a:srgbClr val="FFFFFF"/>
                </a:solidFill>
              </a14:hiddenFill>
            </a:ext>
          </a:extLst>
        </p:spPr>
      </p:pic>
      <p:pic>
        <p:nvPicPr>
          <p:cNvPr id="54352" name="Picture 80">
            <a:extLst>
              <a:ext uri="{FF2B5EF4-FFF2-40B4-BE49-F238E27FC236}">
                <a16:creationId xmlns:a16="http://schemas.microsoft.com/office/drawing/2014/main" id="{1105A02B-4AB1-AF3A-6285-1AEAA4FF89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64288" y="3195638"/>
            <a:ext cx="985837" cy="1295400"/>
          </a:xfrm>
          <a:prstGeom prst="rect">
            <a:avLst/>
          </a:prstGeom>
          <a:noFill/>
          <a:extLst>
            <a:ext uri="{909E8E84-426E-40DD-AFC4-6F175D3DCCD1}">
              <a14:hiddenFill xmlns:a14="http://schemas.microsoft.com/office/drawing/2010/main">
                <a:solidFill>
                  <a:srgbClr val="FFFFFF"/>
                </a:solidFill>
              </a14:hiddenFill>
            </a:ext>
          </a:extLst>
        </p:spPr>
      </p:pic>
      <p:sp>
        <p:nvSpPr>
          <p:cNvPr id="54353" name="AutoShape 81">
            <a:extLst>
              <a:ext uri="{FF2B5EF4-FFF2-40B4-BE49-F238E27FC236}">
                <a16:creationId xmlns:a16="http://schemas.microsoft.com/office/drawing/2014/main" id="{980A5498-B25C-89B2-B1AE-14DAC5659176}"/>
              </a:ext>
            </a:extLst>
          </p:cNvPr>
          <p:cNvSpPr>
            <a:spLocks noChangeArrowheads="1"/>
          </p:cNvSpPr>
          <p:nvPr/>
        </p:nvSpPr>
        <p:spPr bwMode="auto">
          <a:xfrm>
            <a:off x="1524000" y="2738438"/>
            <a:ext cx="2057400" cy="2743200"/>
          </a:xfrm>
          <a:prstGeom prst="roundRect">
            <a:avLst>
              <a:gd name="adj" fmla="val 16667"/>
            </a:avLst>
          </a:pr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4354" name="AutoShape 82">
            <a:extLst>
              <a:ext uri="{FF2B5EF4-FFF2-40B4-BE49-F238E27FC236}">
                <a16:creationId xmlns:a16="http://schemas.microsoft.com/office/drawing/2014/main" id="{05BDC665-4FEF-6447-A820-22D1269B361D}"/>
              </a:ext>
            </a:extLst>
          </p:cNvPr>
          <p:cNvSpPr>
            <a:spLocks noChangeArrowheads="1"/>
          </p:cNvSpPr>
          <p:nvPr/>
        </p:nvSpPr>
        <p:spPr bwMode="auto">
          <a:xfrm>
            <a:off x="5791200" y="2738438"/>
            <a:ext cx="2057400" cy="2743200"/>
          </a:xfrm>
          <a:prstGeom prst="roundRect">
            <a:avLst>
              <a:gd name="adj" fmla="val 16667"/>
            </a:avLst>
          </a:prstGeom>
          <a:noFill/>
          <a:ln w="25400" cap="rnd">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4355" name="Line 83">
            <a:extLst>
              <a:ext uri="{FF2B5EF4-FFF2-40B4-BE49-F238E27FC236}">
                <a16:creationId xmlns:a16="http://schemas.microsoft.com/office/drawing/2014/main" id="{92BDE931-7E8A-64D9-24E2-B566AAE2937E}"/>
              </a:ext>
            </a:extLst>
          </p:cNvPr>
          <p:cNvSpPr>
            <a:spLocks noChangeShapeType="1"/>
          </p:cNvSpPr>
          <p:nvPr/>
        </p:nvSpPr>
        <p:spPr bwMode="auto">
          <a:xfrm>
            <a:off x="4800600" y="3805238"/>
            <a:ext cx="1600200" cy="0"/>
          </a:xfrm>
          <a:prstGeom prst="line">
            <a:avLst/>
          </a:prstGeom>
          <a:noFill/>
          <a:ln w="12700">
            <a:solidFill>
              <a:srgbClr val="0000CC"/>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nvGrpSpPr>
          <p:cNvPr id="54356" name="Group 84">
            <a:extLst>
              <a:ext uri="{FF2B5EF4-FFF2-40B4-BE49-F238E27FC236}">
                <a16:creationId xmlns:a16="http://schemas.microsoft.com/office/drawing/2014/main" id="{4BAF5EFC-7D2F-06E8-332E-CF1C0D81712A}"/>
              </a:ext>
            </a:extLst>
          </p:cNvPr>
          <p:cNvGrpSpPr>
            <a:grpSpLocks/>
          </p:cNvGrpSpPr>
          <p:nvPr/>
        </p:nvGrpSpPr>
        <p:grpSpPr bwMode="auto">
          <a:xfrm>
            <a:off x="4038600" y="3576638"/>
            <a:ext cx="752475" cy="485775"/>
            <a:chOff x="2544" y="1920"/>
            <a:chExt cx="474" cy="306"/>
          </a:xfrm>
        </p:grpSpPr>
        <p:sp>
          <p:nvSpPr>
            <p:cNvPr id="54357" name="Freeform 85">
              <a:extLst>
                <a:ext uri="{FF2B5EF4-FFF2-40B4-BE49-F238E27FC236}">
                  <a16:creationId xmlns:a16="http://schemas.microsoft.com/office/drawing/2014/main" id="{ED66F937-FB49-E57C-49A6-C4C2846DC9E0}"/>
                </a:ext>
              </a:extLst>
            </p:cNvPr>
            <p:cNvSpPr>
              <a:spLocks/>
            </p:cNvSpPr>
            <p:nvPr/>
          </p:nvSpPr>
          <p:spPr bwMode="auto">
            <a:xfrm>
              <a:off x="2544" y="1920"/>
              <a:ext cx="474" cy="306"/>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54358" name="Rectangle 86">
              <a:extLst>
                <a:ext uri="{FF2B5EF4-FFF2-40B4-BE49-F238E27FC236}">
                  <a16:creationId xmlns:a16="http://schemas.microsoft.com/office/drawing/2014/main" id="{9FF6501D-B276-F188-6FC9-9550A5B9DCAB}"/>
                </a:ext>
              </a:extLst>
            </p:cNvPr>
            <p:cNvSpPr>
              <a:spLocks noChangeArrowheads="1"/>
            </p:cNvSpPr>
            <p:nvPr/>
          </p:nvSpPr>
          <p:spPr bwMode="auto">
            <a:xfrm>
              <a:off x="2634" y="1980"/>
              <a:ext cx="302"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a:solidFill>
                    <a:srgbClr val="000000"/>
                  </a:solidFill>
                  <a:latin typeface="Verdana" panose="020B0604030504040204" pitchFamily="34" charset="0"/>
                  <a:ea typeface="宋体" panose="02010600030101010101" pitchFamily="2" charset="-122"/>
                </a:rPr>
                <a:t>DR</a:t>
              </a:r>
            </a:p>
            <a:p>
              <a:pPr>
                <a:spcBef>
                  <a:spcPct val="0"/>
                </a:spcBef>
                <a:buClrTx/>
                <a:buFontTx/>
                <a:buNone/>
              </a:pPr>
              <a:r>
                <a:rPr lang="en-US" altLang="zh-CN" sz="900">
                  <a:solidFill>
                    <a:srgbClr val="000000"/>
                  </a:solidFill>
                  <a:latin typeface="Verdana" panose="020B0604030504040204" pitchFamily="34" charset="0"/>
                  <a:ea typeface="宋体" panose="02010600030101010101" pitchFamily="2" charset="-122"/>
                </a:rPr>
                <a:t>Network</a:t>
              </a:r>
              <a:endParaRPr lang="en-US" altLang="zh-CN" sz="1400">
                <a:solidFill>
                  <a:schemeClr val="tx1"/>
                </a:solidFill>
                <a:ea typeface="宋体" panose="02010600030101010101" pitchFamily="2" charset="-122"/>
              </a:endParaRPr>
            </a:p>
          </p:txBody>
        </p:sp>
      </p:grpSp>
      <p:sp>
        <p:nvSpPr>
          <p:cNvPr id="54359" name="Line 87">
            <a:extLst>
              <a:ext uri="{FF2B5EF4-FFF2-40B4-BE49-F238E27FC236}">
                <a16:creationId xmlns:a16="http://schemas.microsoft.com/office/drawing/2014/main" id="{78DF9EE9-9725-B244-C9B2-969A7F7D5DA9}"/>
              </a:ext>
            </a:extLst>
          </p:cNvPr>
          <p:cNvSpPr>
            <a:spLocks noChangeShapeType="1"/>
          </p:cNvSpPr>
          <p:nvPr/>
        </p:nvSpPr>
        <p:spPr bwMode="auto">
          <a:xfrm>
            <a:off x="2667000" y="3805238"/>
            <a:ext cx="1371600" cy="0"/>
          </a:xfrm>
          <a:prstGeom prst="line">
            <a:avLst/>
          </a:prstGeom>
          <a:noFill/>
          <a:ln w="12700">
            <a:solidFill>
              <a:srgbClr val="0000CC"/>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4402"/>
                                        </p:tgtEl>
                                        <p:attrNameLst>
                                          <p:attrName>style.visibility</p:attrName>
                                        </p:attrNameLst>
                                      </p:cBhvr>
                                      <p:to>
                                        <p:strVal val="visible"/>
                                      </p:to>
                                    </p:set>
                                    <p:animEffect transition="in" filter="fade">
                                      <p:cBhvr>
                                        <p:cTn id="7" dur="2000"/>
                                        <p:tgtEl>
                                          <p:spTgt spid="54402"/>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54278"/>
                                        </p:tgtEl>
                                        <p:attrNameLst>
                                          <p:attrName>style.visibility</p:attrName>
                                        </p:attrNameLst>
                                      </p:cBhvr>
                                      <p:to>
                                        <p:strVal val="visible"/>
                                      </p:to>
                                    </p:set>
                                    <p:animEffect transition="in" filter="wipe(up)">
                                      <p:cBhvr>
                                        <p:cTn id="11" dur="1000"/>
                                        <p:tgtEl>
                                          <p:spTgt spid="54278"/>
                                        </p:tgtEl>
                                      </p:cBhvr>
                                    </p:animEffect>
                                  </p:childTnLst>
                                </p:cTn>
                              </p:par>
                            </p:childTnLst>
                          </p:cTn>
                        </p:par>
                        <p:par>
                          <p:cTn id="12" fill="hold" nodeType="afterGroup">
                            <p:stCondLst>
                              <p:cond delay="3000"/>
                            </p:stCondLst>
                            <p:childTnLst>
                              <p:par>
                                <p:cTn id="13" presetID="1" presetClass="entr" presetSubtype="0" fill="hold" nodeType="afterEffect">
                                  <p:stCondLst>
                                    <p:cond delay="1000"/>
                                  </p:stCondLst>
                                  <p:childTnLst>
                                    <p:set>
                                      <p:cBhvr>
                                        <p:cTn id="14" dur="1" fill="hold">
                                          <p:stCondLst>
                                            <p:cond delay="0"/>
                                          </p:stCondLst>
                                        </p:cTn>
                                        <p:tgtEl>
                                          <p:spTgt spid="5440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4362"/>
                                        </p:tgtEl>
                                        <p:attrNameLst>
                                          <p:attrName>style.visibility</p:attrName>
                                        </p:attrNameLst>
                                      </p:cBhvr>
                                      <p:to>
                                        <p:strVal val="visible"/>
                                      </p:to>
                                    </p:set>
                                  </p:childTnLst>
                                </p:cTn>
                              </p:par>
                            </p:childTnLst>
                          </p:cTn>
                        </p:par>
                        <p:par>
                          <p:cTn id="19" fill="hold" nodeType="afterGroup">
                            <p:stCondLst>
                              <p:cond delay="0"/>
                            </p:stCondLst>
                            <p:childTnLst>
                              <p:par>
                                <p:cTn id="20" presetID="22" presetClass="entr" presetSubtype="1" fill="hold" nodeType="afterEffect">
                                  <p:stCondLst>
                                    <p:cond delay="0"/>
                                  </p:stCondLst>
                                  <p:childTnLst>
                                    <p:set>
                                      <p:cBhvr>
                                        <p:cTn id="21" dur="1" fill="hold">
                                          <p:stCondLst>
                                            <p:cond delay="0"/>
                                          </p:stCondLst>
                                        </p:cTn>
                                        <p:tgtEl>
                                          <p:spTgt spid="54404"/>
                                        </p:tgtEl>
                                        <p:attrNameLst>
                                          <p:attrName>style.visibility</p:attrName>
                                        </p:attrNameLst>
                                      </p:cBhvr>
                                      <p:to>
                                        <p:strVal val="visible"/>
                                      </p:to>
                                    </p:set>
                                    <p:animEffect transition="in" filter="wipe(up)">
                                      <p:cBhvr>
                                        <p:cTn id="22" dur="1000"/>
                                        <p:tgtEl>
                                          <p:spTgt spid="54404"/>
                                        </p:tgtEl>
                                      </p:cBhvr>
                                    </p:animEffect>
                                  </p:childTnLst>
                                </p:cTn>
                              </p:par>
                            </p:childTnLst>
                          </p:cTn>
                        </p:par>
                        <p:par>
                          <p:cTn id="23" fill="hold" nodeType="afterGroup">
                            <p:stCondLst>
                              <p:cond delay="1000"/>
                            </p:stCondLst>
                            <p:childTnLst>
                              <p:par>
                                <p:cTn id="24" presetID="1" presetClass="entr" presetSubtype="0" fill="hold" nodeType="afterEffect">
                                  <p:stCondLst>
                                    <p:cond delay="1000"/>
                                  </p:stCondLst>
                                  <p:childTnLst>
                                    <p:set>
                                      <p:cBhvr>
                                        <p:cTn id="25" dur="1" fill="hold">
                                          <p:stCondLst>
                                            <p:cond delay="0"/>
                                          </p:stCondLst>
                                        </p:cTn>
                                        <p:tgtEl>
                                          <p:spTgt spid="54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B0B15258-2E18-D6E2-0146-E63FC4E62112}"/>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3">
            <a:extLst>
              <a:ext uri="{FF2B5EF4-FFF2-40B4-BE49-F238E27FC236}">
                <a16:creationId xmlns:a16="http://schemas.microsoft.com/office/drawing/2014/main" id="{21CBE64C-AFE5-CB96-7CF8-7A905F46E18A}"/>
              </a:ext>
            </a:extLst>
          </p:cNvPr>
          <p:cNvSpPr>
            <a:spLocks noGrp="1"/>
          </p:cNvSpPr>
          <p:nvPr>
            <p:ph type="sldNum" sz="quarter" idx="11"/>
          </p:nvPr>
        </p:nvSpPr>
        <p:spPr/>
        <p:txBody>
          <a:bodyPr/>
          <a:lstStyle/>
          <a:p>
            <a:r>
              <a:rPr lang="zh-CN" altLang="en-US"/>
              <a:t> </a:t>
            </a:r>
            <a:r>
              <a:rPr lang="en-US" altLang="zh-CN"/>
              <a:t>- </a:t>
            </a:r>
            <a:fld id="{769770E0-E4D2-467E-8B45-380D300312A2}" type="slidenum">
              <a:rPr lang="en-US" altLang="zh-CN" sz="800"/>
              <a:pPr/>
              <a:t>22</a:t>
            </a:fld>
            <a:endParaRPr lang="en-US" altLang="zh-CN" sz="800"/>
          </a:p>
        </p:txBody>
      </p:sp>
      <p:sp>
        <p:nvSpPr>
          <p:cNvPr id="143362" name="Rectangle 2">
            <a:extLst>
              <a:ext uri="{FF2B5EF4-FFF2-40B4-BE49-F238E27FC236}">
                <a16:creationId xmlns:a16="http://schemas.microsoft.com/office/drawing/2014/main" id="{4C4793BC-36EC-23F2-5909-BC983D324F42}"/>
              </a:ext>
            </a:extLst>
          </p:cNvPr>
          <p:cNvSpPr>
            <a:spLocks noGrp="1" noChangeArrowheads="1"/>
          </p:cNvSpPr>
          <p:nvPr>
            <p:ph type="title"/>
          </p:nvPr>
        </p:nvSpPr>
        <p:spPr/>
        <p:txBody>
          <a:bodyPr/>
          <a:lstStyle/>
          <a:p>
            <a:r>
              <a:rPr lang="en-US" altLang="zh-CN">
                <a:ea typeface="宋体" panose="02010600030101010101" pitchFamily="2" charset="-122"/>
              </a:rPr>
              <a:t>Protecting Secondary Storage and Replication Infrastructure</a:t>
            </a:r>
          </a:p>
        </p:txBody>
      </p:sp>
      <p:sp>
        <p:nvSpPr>
          <p:cNvPr id="143363" name="AutoShape 3">
            <a:extLst>
              <a:ext uri="{FF2B5EF4-FFF2-40B4-BE49-F238E27FC236}">
                <a16:creationId xmlns:a16="http://schemas.microsoft.com/office/drawing/2014/main" id="{2DFCEF0C-94AB-2827-7416-3934AFC399DD}"/>
              </a:ext>
            </a:extLst>
          </p:cNvPr>
          <p:cNvSpPr>
            <a:spLocks noChangeArrowheads="1"/>
          </p:cNvSpPr>
          <p:nvPr/>
        </p:nvSpPr>
        <p:spPr bwMode="gray">
          <a:xfrm>
            <a:off x="228600" y="1971675"/>
            <a:ext cx="1981200" cy="1219200"/>
          </a:xfrm>
          <a:prstGeom prst="homePlate">
            <a:avLst>
              <a:gd name="adj" fmla="val 40625"/>
            </a:avLst>
          </a:prstGeom>
          <a:gradFill rotWithShape="1">
            <a:gsLst>
              <a:gs pos="0">
                <a:schemeClr val="accent2"/>
              </a:gs>
              <a:gs pos="100000">
                <a:schemeClr val="accent2">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8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Threats</a:t>
            </a:r>
          </a:p>
        </p:txBody>
      </p:sp>
      <p:sp>
        <p:nvSpPr>
          <p:cNvPr id="143364" name="AutoShape 4">
            <a:extLst>
              <a:ext uri="{FF2B5EF4-FFF2-40B4-BE49-F238E27FC236}">
                <a16:creationId xmlns:a16="http://schemas.microsoft.com/office/drawing/2014/main" id="{C86F9E27-877F-49CE-EE0A-A31DB35D2CE9}"/>
              </a:ext>
            </a:extLst>
          </p:cNvPr>
          <p:cNvSpPr>
            <a:spLocks noChangeArrowheads="1"/>
          </p:cNvSpPr>
          <p:nvPr/>
        </p:nvSpPr>
        <p:spPr bwMode="gray">
          <a:xfrm>
            <a:off x="228600" y="3724275"/>
            <a:ext cx="1905000" cy="1219200"/>
          </a:xfrm>
          <a:prstGeom prst="homePlate">
            <a:avLst>
              <a:gd name="adj" fmla="val 39063"/>
            </a:avLst>
          </a:prstGeom>
          <a:gradFill rotWithShape="1">
            <a:gsLst>
              <a:gs pos="0">
                <a:schemeClr val="hlink"/>
              </a:gs>
              <a:gs pos="100000">
                <a:schemeClr val="hlink">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8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Available Controls</a:t>
            </a:r>
          </a:p>
        </p:txBody>
      </p:sp>
      <p:sp>
        <p:nvSpPr>
          <p:cNvPr id="143365" name="AutoShape 5">
            <a:extLst>
              <a:ext uri="{FF2B5EF4-FFF2-40B4-BE49-F238E27FC236}">
                <a16:creationId xmlns:a16="http://schemas.microsoft.com/office/drawing/2014/main" id="{008DB227-88B9-CA02-6FCA-D2D77E1A3F27}"/>
              </a:ext>
            </a:extLst>
          </p:cNvPr>
          <p:cNvSpPr>
            <a:spLocks noChangeArrowheads="1"/>
          </p:cNvSpPr>
          <p:nvPr/>
        </p:nvSpPr>
        <p:spPr bwMode="gray">
          <a:xfrm>
            <a:off x="228600" y="5324475"/>
            <a:ext cx="1981200" cy="1219200"/>
          </a:xfrm>
          <a:prstGeom prst="homePlate">
            <a:avLst>
              <a:gd name="adj" fmla="val 40625"/>
            </a:avLst>
          </a:prstGeom>
          <a:gradFill rotWithShape="1">
            <a:gsLst>
              <a:gs pos="0">
                <a:schemeClr val="folHlink"/>
              </a:gs>
              <a:gs pos="100000">
                <a:schemeClr val="folHlink">
                  <a:gamma/>
                  <a:shade val="46275"/>
                  <a:invGamma/>
                </a:schemeClr>
              </a:gs>
            </a:gsLst>
            <a:lin ang="2700000" scaled="1"/>
          </a:gradFill>
          <a:ln>
            <a:noFill/>
          </a:ln>
          <a:effectLst/>
          <a:extLst>
            <a:ext uri="{91240B29-F687-4F45-9708-019B960494DF}">
              <a14:hiddenLine xmlns:a14="http://schemas.microsoft.com/office/drawing/2010/main" w="12700" algn="ctr">
                <a:solidFill>
                  <a:srgbClr val="4F8F7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lstStyle>
            <a:lvl1pPr marL="125413" indent="-6350" algn="l">
              <a:spcBef>
                <a:spcPct val="0"/>
              </a:spcBef>
              <a:defRPr>
                <a:solidFill>
                  <a:schemeClr val="tx1"/>
                </a:solidFill>
                <a:latin typeface="Arial" panose="020B0604020202020204" pitchFamily="34" charset="0"/>
                <a:cs typeface="Arial" panose="020B0604020202020204" pitchFamily="34" charset="0"/>
              </a:defRPr>
            </a:lvl1pPr>
            <a:lvl2pPr marL="631825"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lnSpc>
                <a:spcPct val="90000"/>
              </a:lnSpc>
              <a:buClrTx/>
              <a:buFontTx/>
              <a:buNone/>
            </a:pPr>
            <a:r>
              <a:rPr lang="en-US" altLang="zh-CN" sz="1800">
                <a:solidFill>
                  <a:schemeClr val="bg1"/>
                </a:solidFill>
                <a:effectLst>
                  <a:outerShdw blurRad="38100" dist="38100" dir="2700000" algn="tl">
                    <a:srgbClr val="000000"/>
                  </a:outerShdw>
                </a:effectLst>
                <a:latin typeface="Arial Black" panose="020B0A04020102020204" pitchFamily="34" charset="0"/>
                <a:ea typeface="宋体" panose="02010600030101010101" pitchFamily="2" charset="-122"/>
              </a:rPr>
              <a:t>Examples</a:t>
            </a:r>
          </a:p>
        </p:txBody>
      </p:sp>
      <p:grpSp>
        <p:nvGrpSpPr>
          <p:cNvPr id="143369" name="Group 9">
            <a:extLst>
              <a:ext uri="{FF2B5EF4-FFF2-40B4-BE49-F238E27FC236}">
                <a16:creationId xmlns:a16="http://schemas.microsoft.com/office/drawing/2014/main" id="{8F645358-5057-75E1-5FAF-E8CBC6E7D9AD}"/>
              </a:ext>
            </a:extLst>
          </p:cNvPr>
          <p:cNvGrpSpPr>
            <a:grpSpLocks/>
          </p:cNvGrpSpPr>
          <p:nvPr/>
        </p:nvGrpSpPr>
        <p:grpSpPr bwMode="auto">
          <a:xfrm>
            <a:off x="2438400" y="1808163"/>
            <a:ext cx="6172200" cy="4745037"/>
            <a:chOff x="1776" y="1139"/>
            <a:chExt cx="3888" cy="2989"/>
          </a:xfrm>
        </p:grpSpPr>
        <p:sp>
          <p:nvSpPr>
            <p:cNvPr id="143366" name="Text Box 6">
              <a:extLst>
                <a:ext uri="{FF2B5EF4-FFF2-40B4-BE49-F238E27FC236}">
                  <a16:creationId xmlns:a16="http://schemas.microsoft.com/office/drawing/2014/main" id="{0085580D-39B7-1797-1AA7-4110B90687D0}"/>
                </a:ext>
              </a:extLst>
            </p:cNvPr>
            <p:cNvSpPr txBox="1">
              <a:spLocks noChangeArrowheads="1"/>
            </p:cNvSpPr>
            <p:nvPr/>
          </p:nvSpPr>
          <p:spPr bwMode="auto">
            <a:xfrm>
              <a:off x="1776" y="1139"/>
              <a:ext cx="3888" cy="1063"/>
            </a:xfrm>
            <a:prstGeom prst="rect">
              <a:avLst/>
            </a:prstGeom>
            <a:solidFill>
              <a:srgbClr val="F8B20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2000">
                  <a:ea typeface="宋体" panose="02010600030101010101" pitchFamily="2" charset="-122"/>
                </a:rPr>
                <a:t>Spoofing DR site identity (Integrity, Confidentiality)</a:t>
              </a:r>
            </a:p>
            <a:p>
              <a:pPr>
                <a:spcAft>
                  <a:spcPct val="40000"/>
                </a:spcAft>
                <a:buClrTx/>
                <a:buFont typeface="Wingdings" panose="05000000000000000000" pitchFamily="2" charset="2"/>
                <a:buChar char="ü"/>
              </a:pPr>
              <a:r>
                <a:rPr lang="en-US" altLang="zh-CN" sz="2000">
                  <a:ea typeface="宋体" panose="02010600030101010101" pitchFamily="2" charset="-122"/>
                </a:rPr>
                <a:t>Tampering with data (Integrity)</a:t>
              </a:r>
            </a:p>
            <a:p>
              <a:pPr>
                <a:spcAft>
                  <a:spcPct val="40000"/>
                </a:spcAft>
                <a:buClrTx/>
                <a:buFont typeface="Wingdings" panose="05000000000000000000" pitchFamily="2" charset="2"/>
                <a:buChar char="ü"/>
              </a:pPr>
              <a:r>
                <a:rPr lang="en-US" altLang="zh-CN" sz="2000">
                  <a:ea typeface="宋体" panose="02010600030101010101" pitchFamily="2" charset="-122"/>
                </a:rPr>
                <a:t>Network snooping (Integrity, Confidentiality)</a:t>
              </a:r>
            </a:p>
            <a:p>
              <a:pPr>
                <a:spcAft>
                  <a:spcPct val="40000"/>
                </a:spcAft>
                <a:buClrTx/>
                <a:buFont typeface="Wingdings" panose="05000000000000000000" pitchFamily="2" charset="2"/>
                <a:buChar char="ü"/>
              </a:pPr>
              <a:r>
                <a:rPr lang="en-US" altLang="zh-CN" sz="2000">
                  <a:ea typeface="宋体" panose="02010600030101010101" pitchFamily="2" charset="-122"/>
                </a:rPr>
                <a:t>Denial of service (Availability)</a:t>
              </a:r>
            </a:p>
          </p:txBody>
        </p:sp>
        <p:sp>
          <p:nvSpPr>
            <p:cNvPr id="143367" name="Text Box 7">
              <a:extLst>
                <a:ext uri="{FF2B5EF4-FFF2-40B4-BE49-F238E27FC236}">
                  <a16:creationId xmlns:a16="http://schemas.microsoft.com/office/drawing/2014/main" id="{EFC4271E-0132-E757-7986-7E518C877B78}"/>
                </a:ext>
              </a:extLst>
            </p:cNvPr>
            <p:cNvSpPr txBox="1">
              <a:spLocks noChangeArrowheads="1"/>
            </p:cNvSpPr>
            <p:nvPr/>
          </p:nvSpPr>
          <p:spPr bwMode="auto">
            <a:xfrm>
              <a:off x="1776" y="2272"/>
              <a:ext cx="3888" cy="986"/>
            </a:xfrm>
            <a:prstGeom prst="rect">
              <a:avLst/>
            </a:prstGeom>
            <a:solidFill>
              <a:srgbClr val="9AD9E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2000">
                  <a:ea typeface="宋体" panose="02010600030101010101" pitchFamily="2" charset="-122"/>
                </a:rPr>
                <a:t>Primary to Secondary Storage Access Control (Technical)</a:t>
              </a:r>
            </a:p>
            <a:p>
              <a:pPr>
                <a:spcAft>
                  <a:spcPct val="40000"/>
                </a:spcAft>
                <a:buClrTx/>
                <a:buFont typeface="Wingdings" panose="05000000000000000000" pitchFamily="2" charset="2"/>
                <a:buChar char="ü"/>
              </a:pPr>
              <a:r>
                <a:rPr lang="en-US" altLang="zh-CN" sz="2000">
                  <a:ea typeface="宋体" panose="02010600030101010101" pitchFamily="2" charset="-122"/>
                </a:rPr>
                <a:t>Backup encryption (Technical)</a:t>
              </a:r>
            </a:p>
            <a:p>
              <a:pPr>
                <a:spcAft>
                  <a:spcPct val="40000"/>
                </a:spcAft>
                <a:buClrTx/>
                <a:buFont typeface="Wingdings" panose="05000000000000000000" pitchFamily="2" charset="2"/>
                <a:buChar char="ü"/>
              </a:pPr>
              <a:r>
                <a:rPr lang="en-US" altLang="zh-CN" sz="2000">
                  <a:ea typeface="宋体" panose="02010600030101010101" pitchFamily="2" charset="-122"/>
                </a:rPr>
                <a:t>Replication network encryption (Technical)</a:t>
              </a:r>
            </a:p>
          </p:txBody>
        </p:sp>
        <p:sp>
          <p:nvSpPr>
            <p:cNvPr id="143368" name="Text Box 8">
              <a:extLst>
                <a:ext uri="{FF2B5EF4-FFF2-40B4-BE49-F238E27FC236}">
                  <a16:creationId xmlns:a16="http://schemas.microsoft.com/office/drawing/2014/main" id="{02FC420E-8955-C73A-51A0-3C7529E6E35E}"/>
                </a:ext>
              </a:extLst>
            </p:cNvPr>
            <p:cNvSpPr txBox="1">
              <a:spLocks noChangeArrowheads="1"/>
            </p:cNvSpPr>
            <p:nvPr/>
          </p:nvSpPr>
          <p:spPr bwMode="auto">
            <a:xfrm>
              <a:off x="1776" y="3334"/>
              <a:ext cx="3888" cy="79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288925" indent="-288925"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Aft>
                  <a:spcPct val="40000"/>
                </a:spcAft>
                <a:buClrTx/>
                <a:buFont typeface="Wingdings" panose="05000000000000000000" pitchFamily="2" charset="2"/>
                <a:buChar char="ü"/>
              </a:pPr>
              <a:r>
                <a:rPr lang="en-US" altLang="zh-CN" sz="2000">
                  <a:ea typeface="宋体" panose="02010600030101010101" pitchFamily="2" charset="-122"/>
                </a:rPr>
                <a:t>External storage encryption services</a:t>
              </a:r>
            </a:p>
            <a:p>
              <a:pPr>
                <a:spcAft>
                  <a:spcPct val="40000"/>
                </a:spcAft>
                <a:buClrTx/>
                <a:buFont typeface="Wingdings" panose="05000000000000000000" pitchFamily="2" charset="2"/>
                <a:buChar char="ü"/>
              </a:pPr>
              <a:r>
                <a:rPr lang="en-US" altLang="zh-CN" sz="2000">
                  <a:ea typeface="宋体" panose="02010600030101010101" pitchFamily="2" charset="-122"/>
                </a:rPr>
                <a:t>Built in encryption at the software level</a:t>
              </a:r>
            </a:p>
            <a:p>
              <a:pPr>
                <a:spcAft>
                  <a:spcPct val="40000"/>
                </a:spcAft>
                <a:buClrTx/>
                <a:buFont typeface="Wingdings" panose="05000000000000000000" pitchFamily="2" charset="2"/>
                <a:buChar char="ü"/>
              </a:pPr>
              <a:r>
                <a:rPr lang="en-US" altLang="zh-CN" sz="2000">
                  <a:ea typeface="宋体" panose="02010600030101010101" pitchFamily="2" charset="-122"/>
                </a:rPr>
                <a:t>Secure replication channels (SSL, IPSec)</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FC1353DF-D008-50DC-0BD5-5BEF9C444E04}"/>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2FC592B2-C9B9-8AE0-2FD2-12932E5E7E79}"/>
              </a:ext>
            </a:extLst>
          </p:cNvPr>
          <p:cNvSpPr>
            <a:spLocks noGrp="1"/>
          </p:cNvSpPr>
          <p:nvPr>
            <p:ph type="sldNum" sz="quarter" idx="11"/>
          </p:nvPr>
        </p:nvSpPr>
        <p:spPr/>
        <p:txBody>
          <a:bodyPr/>
          <a:lstStyle/>
          <a:p>
            <a:r>
              <a:rPr lang="zh-CN" altLang="en-US"/>
              <a:t> </a:t>
            </a:r>
            <a:r>
              <a:rPr lang="en-US" altLang="zh-CN"/>
              <a:t>- </a:t>
            </a:r>
            <a:fld id="{42B86388-56EC-449A-96CD-1E9E858744D3}" type="slidenum">
              <a:rPr lang="en-US" altLang="zh-CN" sz="800"/>
              <a:pPr/>
              <a:t>23</a:t>
            </a:fld>
            <a:endParaRPr lang="en-US" altLang="zh-CN" sz="800"/>
          </a:p>
        </p:txBody>
      </p:sp>
      <p:sp>
        <p:nvSpPr>
          <p:cNvPr id="71682" name="Rectangle 2">
            <a:extLst>
              <a:ext uri="{FF2B5EF4-FFF2-40B4-BE49-F238E27FC236}">
                <a16:creationId xmlns:a16="http://schemas.microsoft.com/office/drawing/2014/main" id="{A64CC9E8-4AA9-FEE5-7AD6-ED9B10936385}"/>
              </a:ext>
            </a:extLst>
          </p:cNvPr>
          <p:cNvSpPr>
            <a:spLocks noGrp="1" noChangeArrowheads="1"/>
          </p:cNvSpPr>
          <p:nvPr>
            <p:ph type="title"/>
          </p:nvPr>
        </p:nvSpPr>
        <p:spPr/>
        <p:txBody>
          <a:bodyPr/>
          <a:lstStyle/>
          <a:p>
            <a:r>
              <a:rPr lang="en-US" altLang="zh-CN">
                <a:solidFill>
                  <a:schemeClr val="tx1"/>
                </a:solidFill>
                <a:ea typeface="宋体" panose="02010600030101010101" pitchFamily="2" charset="-122"/>
              </a:rPr>
              <a:t>Lesson Summary</a:t>
            </a:r>
          </a:p>
        </p:txBody>
      </p:sp>
      <p:sp>
        <p:nvSpPr>
          <p:cNvPr id="71683" name="Rectangle 3">
            <a:extLst>
              <a:ext uri="{FF2B5EF4-FFF2-40B4-BE49-F238E27FC236}">
                <a16:creationId xmlns:a16="http://schemas.microsoft.com/office/drawing/2014/main" id="{8FF78DFF-B669-F316-9BFF-3CE7A7CC0064}"/>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Key topics covered in this lesson:</a:t>
            </a:r>
          </a:p>
          <a:p>
            <a:r>
              <a:rPr lang="en-US" altLang="zh-CN">
                <a:ea typeface="宋体" panose="02010600030101010101" pitchFamily="2" charset="-122"/>
              </a:rPr>
              <a:t>The three security domains</a:t>
            </a:r>
          </a:p>
          <a:p>
            <a:pPr lvl="1"/>
            <a:r>
              <a:rPr lang="en-US" altLang="zh-CN">
                <a:ea typeface="宋体" panose="02010600030101010101" pitchFamily="2" charset="-122"/>
              </a:rPr>
              <a:t>Application</a:t>
            </a:r>
          </a:p>
          <a:p>
            <a:pPr lvl="1"/>
            <a:r>
              <a:rPr lang="en-US" altLang="zh-CN">
                <a:ea typeface="宋体" panose="02010600030101010101" pitchFamily="2" charset="-122"/>
              </a:rPr>
              <a:t>Management</a:t>
            </a:r>
          </a:p>
          <a:p>
            <a:pPr lvl="1"/>
            <a:r>
              <a:rPr lang="en-US" altLang="zh-CN">
                <a:ea typeface="宋体" panose="02010600030101010101" pitchFamily="2" charset="-122"/>
              </a:rPr>
              <a:t>Backup &amp; Data Storage</a:t>
            </a:r>
          </a:p>
          <a:p>
            <a:r>
              <a:rPr lang="en-US" altLang="zh-CN">
                <a:ea typeface="宋体" panose="02010600030101010101" pitchFamily="2" charset="-122"/>
              </a:rPr>
              <a:t>Security threats in each domain </a:t>
            </a:r>
          </a:p>
          <a:p>
            <a:r>
              <a:rPr lang="en-US" altLang="zh-CN">
                <a:ea typeface="宋体" panose="02010600030101010101" pitchFamily="2" charset="-122"/>
              </a:rPr>
              <a:t>Security controls</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0F0111D8-165E-827B-8CBA-FF9C4AAD2560}"/>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851D0B87-1859-1CCB-B1F8-6055274EFB52}"/>
              </a:ext>
            </a:extLst>
          </p:cNvPr>
          <p:cNvSpPr>
            <a:spLocks noGrp="1"/>
          </p:cNvSpPr>
          <p:nvPr>
            <p:ph type="sldNum" sz="quarter" idx="11"/>
          </p:nvPr>
        </p:nvSpPr>
        <p:spPr/>
        <p:txBody>
          <a:bodyPr/>
          <a:lstStyle/>
          <a:p>
            <a:r>
              <a:rPr lang="zh-CN" altLang="en-US"/>
              <a:t> </a:t>
            </a:r>
            <a:r>
              <a:rPr lang="en-US" altLang="zh-CN"/>
              <a:t>- </a:t>
            </a:r>
            <a:fld id="{5AE8302B-33AF-443A-B955-91697E79D5B9}" type="slidenum">
              <a:rPr lang="en-US" altLang="zh-CN" sz="800"/>
              <a:pPr/>
              <a:t>24</a:t>
            </a:fld>
            <a:endParaRPr lang="en-US" altLang="zh-CN" sz="800"/>
          </a:p>
        </p:txBody>
      </p:sp>
      <p:sp>
        <p:nvSpPr>
          <p:cNvPr id="73730" name="Rectangle 2">
            <a:extLst>
              <a:ext uri="{FF2B5EF4-FFF2-40B4-BE49-F238E27FC236}">
                <a16:creationId xmlns:a16="http://schemas.microsoft.com/office/drawing/2014/main" id="{22F16236-482A-3D88-CB9C-0B0A79354D71}"/>
              </a:ext>
            </a:extLst>
          </p:cNvPr>
          <p:cNvSpPr>
            <a:spLocks noGrp="1" noChangeArrowheads="1"/>
          </p:cNvSpPr>
          <p:nvPr>
            <p:ph type="title"/>
          </p:nvPr>
        </p:nvSpPr>
        <p:spPr/>
        <p:txBody>
          <a:bodyPr/>
          <a:lstStyle/>
          <a:p>
            <a:r>
              <a:rPr lang="en-US" altLang="zh-CN" sz="2400">
                <a:ea typeface="宋体" panose="02010600030101010101" pitchFamily="2" charset="-122"/>
              </a:rPr>
              <a:t>Lesson 3: </a:t>
            </a:r>
            <a:r>
              <a:rPr lang="en-US" altLang="zh-CN" sz="2400" i="0">
                <a:ea typeface="宋体" panose="02010600030101010101" pitchFamily="2" charset="-122"/>
              </a:rPr>
              <a:t>Security Implementations in Storage Networking</a:t>
            </a:r>
          </a:p>
        </p:txBody>
      </p:sp>
      <p:sp>
        <p:nvSpPr>
          <p:cNvPr id="73731" name="Rectangle 3">
            <a:extLst>
              <a:ext uri="{FF2B5EF4-FFF2-40B4-BE49-F238E27FC236}">
                <a16:creationId xmlns:a16="http://schemas.microsoft.com/office/drawing/2014/main" id="{CCF237F7-A4ED-D755-9702-15CF35900275}"/>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Upon completion of this lesson, you will be able to:</a:t>
            </a:r>
          </a:p>
          <a:p>
            <a:r>
              <a:rPr lang="en-US" altLang="zh-CN">
                <a:ea typeface="宋体" panose="02010600030101010101" pitchFamily="2" charset="-122"/>
              </a:rPr>
              <a:t>SAN security implementations </a:t>
            </a:r>
          </a:p>
          <a:p>
            <a:pPr lvl="1"/>
            <a:r>
              <a:rPr lang="en-US" altLang="zh-CN">
                <a:solidFill>
                  <a:schemeClr val="tx1"/>
                </a:solidFill>
                <a:ea typeface="宋体" panose="02010600030101010101" pitchFamily="2" charset="-122"/>
              </a:rPr>
              <a:t>SAN security Architecture</a:t>
            </a:r>
          </a:p>
          <a:p>
            <a:pPr lvl="1"/>
            <a:r>
              <a:rPr lang="en-US" altLang="zh-CN">
                <a:solidFill>
                  <a:schemeClr val="tx1"/>
                </a:solidFill>
                <a:ea typeface="宋体" panose="02010600030101010101" pitchFamily="2" charset="-122"/>
              </a:rPr>
              <a:t>Zoning, LUN masking, Port Binding, ACLs, RBAC, VSAN</a:t>
            </a:r>
            <a:endParaRPr lang="en-US" altLang="zh-CN">
              <a:ea typeface="宋体" panose="02010600030101010101" pitchFamily="2" charset="-122"/>
            </a:endParaRPr>
          </a:p>
          <a:p>
            <a:r>
              <a:rPr lang="en-US" altLang="zh-CN">
                <a:ea typeface="宋体" panose="02010600030101010101" pitchFamily="2" charset="-122"/>
              </a:rPr>
              <a:t>NAS security implementations </a:t>
            </a:r>
          </a:p>
          <a:p>
            <a:pPr lvl="1"/>
            <a:r>
              <a:rPr lang="en-US" altLang="zh-CN">
                <a:solidFill>
                  <a:schemeClr val="tx1"/>
                </a:solidFill>
                <a:ea typeface="宋体" panose="02010600030101010101" pitchFamily="2" charset="-122"/>
              </a:rPr>
              <a:t>ACLs and Permissions</a:t>
            </a:r>
          </a:p>
          <a:p>
            <a:pPr lvl="1"/>
            <a:r>
              <a:rPr lang="en-US" altLang="zh-CN">
                <a:solidFill>
                  <a:schemeClr val="tx1"/>
                </a:solidFill>
                <a:ea typeface="宋体" panose="02010600030101010101" pitchFamily="2" charset="-122"/>
              </a:rPr>
              <a:t>Kerberos</a:t>
            </a:r>
          </a:p>
          <a:p>
            <a:pPr lvl="1"/>
            <a:r>
              <a:rPr lang="en-US" altLang="zh-CN">
                <a:solidFill>
                  <a:schemeClr val="tx1"/>
                </a:solidFill>
                <a:ea typeface="宋体" panose="02010600030101010101" pitchFamily="2" charset="-122"/>
              </a:rPr>
              <a:t>Network layer firewalls</a:t>
            </a:r>
            <a:endParaRPr lang="en-US" altLang="zh-CN">
              <a:ea typeface="宋体" panose="02010600030101010101" pitchFamily="2" charset="-122"/>
            </a:endParaRPr>
          </a:p>
          <a:p>
            <a:r>
              <a:rPr lang="en-US" altLang="zh-CN">
                <a:ea typeface="宋体" panose="02010600030101010101" pitchFamily="2" charset="-122"/>
              </a:rPr>
              <a:t>IP-SAN security implementations </a:t>
            </a:r>
            <a:endParaRPr lang="en-US" altLang="zh-CN">
              <a:solidFill>
                <a:schemeClr val="tx1"/>
              </a:solidFill>
              <a:ea typeface="宋体" panose="02010600030101010101" pitchFamily="2" charset="-122"/>
            </a:endParaRPr>
          </a:p>
          <a:p>
            <a:pPr lvl="1"/>
            <a:r>
              <a:rPr lang="en-US" altLang="zh-CN">
                <a:solidFill>
                  <a:schemeClr val="tx1"/>
                </a:solidFill>
                <a:ea typeface="宋体" panose="02010600030101010101" pitchFamily="2" charset="-122"/>
              </a:rPr>
              <a:t>CHAP, iSNS discovery domains</a:t>
            </a:r>
          </a:p>
        </p:txBody>
      </p:sp>
      <p:pic>
        <p:nvPicPr>
          <p:cNvPr id="73732" name="Picture 4">
            <a:extLst>
              <a:ext uri="{FF2B5EF4-FFF2-40B4-BE49-F238E27FC236}">
                <a16:creationId xmlns:a16="http://schemas.microsoft.com/office/drawing/2014/main" id="{1DC9F904-4642-8B39-DA13-675BD5B9D4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057900"/>
            <a:ext cx="8839200" cy="5667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C3B80114-056C-6957-C436-426815EB6845}"/>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F98B6C4F-BA38-0E8C-0C25-043CF75A56A2}"/>
              </a:ext>
            </a:extLst>
          </p:cNvPr>
          <p:cNvSpPr>
            <a:spLocks noGrp="1"/>
          </p:cNvSpPr>
          <p:nvPr>
            <p:ph type="sldNum" sz="quarter" idx="11"/>
          </p:nvPr>
        </p:nvSpPr>
        <p:spPr/>
        <p:txBody>
          <a:bodyPr/>
          <a:lstStyle/>
          <a:p>
            <a:r>
              <a:rPr lang="zh-CN" altLang="en-US"/>
              <a:t> </a:t>
            </a:r>
            <a:r>
              <a:rPr lang="en-US" altLang="zh-CN"/>
              <a:t>- </a:t>
            </a:r>
            <a:fld id="{B4B99C31-60BD-4EB9-8073-3EB1D9D87E34}" type="slidenum">
              <a:rPr lang="en-US" altLang="zh-CN" sz="800"/>
              <a:pPr/>
              <a:t>25</a:t>
            </a:fld>
            <a:endParaRPr lang="en-US" altLang="zh-CN" sz="800"/>
          </a:p>
        </p:txBody>
      </p:sp>
      <p:sp>
        <p:nvSpPr>
          <p:cNvPr id="145410" name="Rectangle 2">
            <a:extLst>
              <a:ext uri="{FF2B5EF4-FFF2-40B4-BE49-F238E27FC236}">
                <a16:creationId xmlns:a16="http://schemas.microsoft.com/office/drawing/2014/main" id="{BDAB7B70-1B8B-BB6F-BB59-F71A90C955CC}"/>
              </a:ext>
            </a:extLst>
          </p:cNvPr>
          <p:cNvSpPr>
            <a:spLocks noGrp="1" noChangeArrowheads="1"/>
          </p:cNvSpPr>
          <p:nvPr>
            <p:ph type="title"/>
          </p:nvPr>
        </p:nvSpPr>
        <p:spPr/>
        <p:txBody>
          <a:bodyPr/>
          <a:lstStyle/>
          <a:p>
            <a:r>
              <a:rPr lang="en-US" altLang="zh-CN">
                <a:ea typeface="宋体" panose="02010600030101010101" pitchFamily="2" charset="-122"/>
              </a:rPr>
              <a:t>Security Implementation in SAN</a:t>
            </a:r>
          </a:p>
        </p:txBody>
      </p:sp>
      <p:sp>
        <p:nvSpPr>
          <p:cNvPr id="145411" name="Rectangle 3">
            <a:extLst>
              <a:ext uri="{FF2B5EF4-FFF2-40B4-BE49-F238E27FC236}">
                <a16:creationId xmlns:a16="http://schemas.microsoft.com/office/drawing/2014/main" id="{310F486D-A2C2-1CF4-6100-391FEDD1BFC7}"/>
              </a:ext>
            </a:extLst>
          </p:cNvPr>
          <p:cNvSpPr>
            <a:spLocks noGrp="1" noChangeArrowheads="1"/>
          </p:cNvSpPr>
          <p:nvPr>
            <p:ph type="body" idx="1"/>
          </p:nvPr>
        </p:nvSpPr>
        <p:spPr/>
        <p:txBody>
          <a:bodyPr/>
          <a:lstStyle/>
          <a:p>
            <a:r>
              <a:rPr lang="en-US" altLang="zh-CN">
                <a:ea typeface="宋体" panose="02010600030101010101" pitchFamily="2" charset="-122"/>
              </a:rPr>
              <a:t>Traditional FC SANs being isolated is more secure</a:t>
            </a:r>
          </a:p>
          <a:p>
            <a:r>
              <a:rPr lang="en-US" altLang="zh-CN">
                <a:ea typeface="宋体" panose="02010600030101010101" pitchFamily="2" charset="-122"/>
              </a:rPr>
              <a:t>However, scenario has changed with storage consolidation and larger SAN design that span multiple sites across the enterprise</a:t>
            </a:r>
            <a:endParaRPr lang="en-US" altLang="zh-CN" i="1">
              <a:ea typeface="宋体" panose="02010600030101010101" pitchFamily="2" charset="-122"/>
            </a:endParaRPr>
          </a:p>
          <a:p>
            <a:r>
              <a:rPr lang="en-US" altLang="zh-CN" i="1">
                <a:ea typeface="宋体" panose="02010600030101010101" pitchFamily="2" charset="-122"/>
              </a:rPr>
              <a:t>FC-SP (Fibre Channel Security Protocol) </a:t>
            </a:r>
          </a:p>
          <a:p>
            <a:pPr lvl="1"/>
            <a:r>
              <a:rPr lang="en-US" altLang="zh-CN">
                <a:ea typeface="宋体" panose="02010600030101010101" pitchFamily="2" charset="-122"/>
              </a:rPr>
              <a:t>Align security mechanisms and algorithms between IP and FC interconnects</a:t>
            </a:r>
          </a:p>
          <a:p>
            <a:r>
              <a:rPr lang="en-US" altLang="zh-CN">
                <a:ea typeface="宋体" panose="02010600030101010101" pitchFamily="2" charset="-122"/>
              </a:rPr>
              <a:t>This standards describe guidelines for:</a:t>
            </a:r>
          </a:p>
          <a:p>
            <a:pPr lvl="1"/>
            <a:r>
              <a:rPr lang="en-US" altLang="zh-CN">
                <a:ea typeface="宋体" panose="02010600030101010101" pitchFamily="2" charset="-122"/>
              </a:rPr>
              <a:t>Authenticating FC entities</a:t>
            </a:r>
          </a:p>
          <a:p>
            <a:pPr lvl="1"/>
            <a:r>
              <a:rPr lang="en-US" altLang="zh-CN">
                <a:ea typeface="宋体" panose="02010600030101010101" pitchFamily="2" charset="-122"/>
              </a:rPr>
              <a:t>Setting up session keys</a:t>
            </a:r>
          </a:p>
          <a:p>
            <a:pPr lvl="1"/>
            <a:r>
              <a:rPr lang="en-US" altLang="zh-CN">
                <a:ea typeface="宋体" panose="02010600030101010101" pitchFamily="2" charset="-122"/>
              </a:rPr>
              <a:t>Negotiating parameters required to ensure frame-by-frame integrity and confidentiality </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28C62DD1-ED99-143E-83EA-907674F46F39}"/>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5231A6CB-FA83-CFCE-055C-1CE7B3CEEC28}"/>
              </a:ext>
            </a:extLst>
          </p:cNvPr>
          <p:cNvSpPr>
            <a:spLocks noGrp="1"/>
          </p:cNvSpPr>
          <p:nvPr>
            <p:ph type="sldNum" sz="quarter" idx="11"/>
          </p:nvPr>
        </p:nvSpPr>
        <p:spPr/>
        <p:txBody>
          <a:bodyPr/>
          <a:lstStyle/>
          <a:p>
            <a:r>
              <a:rPr lang="zh-CN" altLang="en-US"/>
              <a:t> </a:t>
            </a:r>
            <a:r>
              <a:rPr lang="en-US" altLang="zh-CN"/>
              <a:t>- </a:t>
            </a:r>
            <a:fld id="{EC944618-44A1-457A-9D40-C34CAD1E7311}" type="slidenum">
              <a:rPr lang="en-US" altLang="zh-CN" sz="800"/>
              <a:pPr/>
              <a:t>26</a:t>
            </a:fld>
            <a:endParaRPr lang="en-US" altLang="zh-CN" sz="800"/>
          </a:p>
        </p:txBody>
      </p:sp>
      <p:sp>
        <p:nvSpPr>
          <p:cNvPr id="149827" name="Text Box 3395">
            <a:extLst>
              <a:ext uri="{FF2B5EF4-FFF2-40B4-BE49-F238E27FC236}">
                <a16:creationId xmlns:a16="http://schemas.microsoft.com/office/drawing/2014/main" id="{75B9506C-BC70-128C-5C43-63DC32EC2867}"/>
              </a:ext>
            </a:extLst>
          </p:cNvPr>
          <p:cNvSpPr txBox="1">
            <a:spLocks noChangeArrowheads="1"/>
          </p:cNvSpPr>
          <p:nvPr/>
        </p:nvSpPr>
        <p:spPr bwMode="auto">
          <a:xfrm>
            <a:off x="838200" y="5605463"/>
            <a:ext cx="7924800" cy="1062037"/>
          </a:xfrm>
          <a:prstGeom prst="rect">
            <a:avLst/>
          </a:prstGeom>
          <a:solidFill>
            <a:srgbClr val="FFCC99"/>
          </a:solidFill>
          <a:ln w="25400"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chemeClr val="tx2"/>
                </a:solidFill>
                <a:ea typeface="宋体" panose="02010600030101010101" pitchFamily="2" charset="-122"/>
              </a:rPr>
              <a:t>Authentication at Management Console</a:t>
            </a:r>
          </a:p>
          <a:p>
            <a:pPr>
              <a:spcBef>
                <a:spcPct val="50000"/>
              </a:spcBef>
            </a:pPr>
            <a:r>
              <a:rPr lang="en-US" altLang="zh-CN" sz="1200" b="1">
                <a:solidFill>
                  <a:schemeClr val="tx2"/>
                </a:solidFill>
                <a:ea typeface="宋体" panose="02010600030101010101" pitchFamily="2" charset="-122"/>
              </a:rPr>
              <a:t>(a) Restrict management LAN access to authorized users (lock down MAC addresses)</a:t>
            </a:r>
          </a:p>
          <a:p>
            <a:pPr>
              <a:spcBef>
                <a:spcPct val="50000"/>
              </a:spcBef>
            </a:pPr>
            <a:r>
              <a:rPr lang="en-US" altLang="zh-CN" sz="1200" b="1">
                <a:solidFill>
                  <a:schemeClr val="tx2"/>
                </a:solidFill>
                <a:ea typeface="宋体" panose="02010600030101010101" pitchFamily="2" charset="-122"/>
              </a:rPr>
              <a:t>(b) Implement VPN tunneling for secure remote access to the management LAN</a:t>
            </a:r>
          </a:p>
          <a:p>
            <a:pPr>
              <a:spcBef>
                <a:spcPct val="50000"/>
              </a:spcBef>
            </a:pPr>
            <a:r>
              <a:rPr lang="en-US" altLang="zh-CN" sz="1200" b="1">
                <a:solidFill>
                  <a:schemeClr val="tx2"/>
                </a:solidFill>
                <a:ea typeface="宋体" panose="02010600030101010101" pitchFamily="2" charset="-122"/>
              </a:rPr>
              <a:t>(c) Use two-factor authentication for network access</a:t>
            </a:r>
            <a:endParaRPr lang="en-US" altLang="zh-CN" sz="1200" b="1">
              <a:solidFill>
                <a:srgbClr val="003580"/>
              </a:solidFill>
              <a:ea typeface="宋体" panose="02010600030101010101" pitchFamily="2" charset="-122"/>
            </a:endParaRPr>
          </a:p>
        </p:txBody>
      </p:sp>
      <p:sp>
        <p:nvSpPr>
          <p:cNvPr id="149832" name="Text Box 3400">
            <a:extLst>
              <a:ext uri="{FF2B5EF4-FFF2-40B4-BE49-F238E27FC236}">
                <a16:creationId xmlns:a16="http://schemas.microsoft.com/office/drawing/2014/main" id="{23165837-BE67-5CB6-6872-CA3F79FE7613}"/>
              </a:ext>
            </a:extLst>
          </p:cNvPr>
          <p:cNvSpPr txBox="1">
            <a:spLocks noChangeArrowheads="1"/>
          </p:cNvSpPr>
          <p:nvPr/>
        </p:nvSpPr>
        <p:spPr bwMode="auto">
          <a:xfrm>
            <a:off x="838200" y="5605463"/>
            <a:ext cx="7924800" cy="876300"/>
          </a:xfrm>
          <a:prstGeom prst="rect">
            <a:avLst/>
          </a:prstGeom>
          <a:solidFill>
            <a:srgbClr val="FFB9DC"/>
          </a:solidFill>
          <a:ln w="25400"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sz="1400" b="1">
                <a:solidFill>
                  <a:schemeClr val="tx2"/>
                </a:solidFill>
                <a:ea typeface="宋体" panose="02010600030101010101" pitchFamily="2" charset="-122"/>
              </a:rPr>
              <a:t>Block inappropriate or dangerous traffic by:</a:t>
            </a:r>
          </a:p>
          <a:p>
            <a:pPr>
              <a:spcBef>
                <a:spcPct val="50000"/>
              </a:spcBef>
            </a:pPr>
            <a:r>
              <a:rPr lang="en-US" altLang="zh-CN" sz="1400" b="1">
                <a:solidFill>
                  <a:schemeClr val="tx2"/>
                </a:solidFill>
                <a:ea typeface="宋体" panose="02010600030101010101" pitchFamily="2" charset="-122"/>
              </a:rPr>
              <a:t>(a) Filtering out addresses that should not be allowed on your LAN</a:t>
            </a:r>
          </a:p>
          <a:p>
            <a:pPr>
              <a:spcBef>
                <a:spcPct val="50000"/>
              </a:spcBef>
            </a:pPr>
            <a:r>
              <a:rPr lang="en-US" altLang="zh-CN" sz="1400" b="1">
                <a:solidFill>
                  <a:schemeClr val="tx2"/>
                </a:solidFill>
                <a:ea typeface="宋体" panose="02010600030101010101" pitchFamily="2" charset="-122"/>
              </a:rPr>
              <a:t>(b) Screening for allowable protocols—block well-known ports that are not in use</a:t>
            </a:r>
          </a:p>
        </p:txBody>
      </p:sp>
      <p:sp>
        <p:nvSpPr>
          <p:cNvPr id="149834" name="Text Box 3402">
            <a:extLst>
              <a:ext uri="{FF2B5EF4-FFF2-40B4-BE49-F238E27FC236}">
                <a16:creationId xmlns:a16="http://schemas.microsoft.com/office/drawing/2014/main" id="{2BDB8C31-048D-73E5-9E98-26CE7026B2E8}"/>
              </a:ext>
            </a:extLst>
          </p:cNvPr>
          <p:cNvSpPr txBox="1">
            <a:spLocks noChangeArrowheads="1"/>
          </p:cNvSpPr>
          <p:nvPr/>
        </p:nvSpPr>
        <p:spPr bwMode="auto">
          <a:xfrm>
            <a:off x="838200" y="5605463"/>
            <a:ext cx="7924800" cy="790575"/>
          </a:xfrm>
          <a:prstGeom prst="rect">
            <a:avLst/>
          </a:prstGeom>
          <a:solidFill>
            <a:srgbClr val="FFFF99"/>
          </a:solidFill>
          <a:ln w="25400"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chemeClr val="tx2"/>
                </a:solidFill>
                <a:ea typeface="宋体" panose="02010600030101010101" pitchFamily="2" charset="-122"/>
              </a:rPr>
              <a:t>Access Control Switch</a:t>
            </a:r>
          </a:p>
          <a:p>
            <a:pPr>
              <a:lnSpc>
                <a:spcPct val="80000"/>
              </a:lnSpc>
              <a:spcBef>
                <a:spcPct val="50000"/>
              </a:spcBef>
            </a:pPr>
            <a:r>
              <a:rPr lang="en-US" altLang="zh-CN" sz="1400" b="1">
                <a:solidFill>
                  <a:schemeClr val="tx2"/>
                </a:solidFill>
                <a:ea typeface="宋体" panose="02010600030101010101" pitchFamily="2" charset="-122"/>
              </a:rPr>
              <a:t>Authenticate users/administrators of FC switches using RADIUS (Remote Authentication Dial</a:t>
            </a:r>
          </a:p>
          <a:p>
            <a:pPr>
              <a:lnSpc>
                <a:spcPct val="80000"/>
              </a:lnSpc>
              <a:spcBef>
                <a:spcPct val="50000"/>
              </a:spcBef>
            </a:pPr>
            <a:r>
              <a:rPr lang="en-US" altLang="zh-CN" sz="1400" b="1">
                <a:solidFill>
                  <a:schemeClr val="tx2"/>
                </a:solidFill>
                <a:ea typeface="宋体" panose="02010600030101010101" pitchFamily="2" charset="-122"/>
              </a:rPr>
              <a:t>In User Service) DH-CHAP (Diffie-Hellman ChallengeHandshake Authentication Protocol), etc.</a:t>
            </a:r>
            <a:endParaRPr lang="en-US" altLang="zh-CN" sz="1400" b="1">
              <a:solidFill>
                <a:srgbClr val="003580"/>
              </a:solidFill>
              <a:ea typeface="宋体" panose="02010600030101010101" pitchFamily="2" charset="-122"/>
            </a:endParaRPr>
          </a:p>
        </p:txBody>
      </p:sp>
      <p:sp>
        <p:nvSpPr>
          <p:cNvPr id="75778" name="Rectangle 2">
            <a:extLst>
              <a:ext uri="{FF2B5EF4-FFF2-40B4-BE49-F238E27FC236}">
                <a16:creationId xmlns:a16="http://schemas.microsoft.com/office/drawing/2014/main" id="{DC6091BF-552C-85D0-7A79-915DB52E6A60}"/>
              </a:ext>
            </a:extLst>
          </p:cNvPr>
          <p:cNvSpPr>
            <a:spLocks noGrp="1" noChangeArrowheads="1"/>
          </p:cNvSpPr>
          <p:nvPr>
            <p:ph type="title"/>
          </p:nvPr>
        </p:nvSpPr>
        <p:spPr/>
        <p:txBody>
          <a:bodyPr/>
          <a:lstStyle/>
          <a:p>
            <a:r>
              <a:rPr lang="en-US" altLang="zh-CN">
                <a:ea typeface="宋体" panose="02010600030101010101" pitchFamily="2" charset="-122"/>
              </a:rPr>
              <a:t>SAN Security Architecture – “defense-in-depth”</a:t>
            </a:r>
          </a:p>
        </p:txBody>
      </p:sp>
      <p:sp>
        <p:nvSpPr>
          <p:cNvPr id="149809" name="Line 3377">
            <a:extLst>
              <a:ext uri="{FF2B5EF4-FFF2-40B4-BE49-F238E27FC236}">
                <a16:creationId xmlns:a16="http://schemas.microsoft.com/office/drawing/2014/main" id="{A5CFBDE3-F3E1-2108-7108-D5BEB57FDEE3}"/>
              </a:ext>
            </a:extLst>
          </p:cNvPr>
          <p:cNvSpPr>
            <a:spLocks noChangeShapeType="1"/>
          </p:cNvSpPr>
          <p:nvPr/>
        </p:nvSpPr>
        <p:spPr bwMode="auto">
          <a:xfrm flipV="1">
            <a:off x="2698750" y="1336675"/>
            <a:ext cx="1431925" cy="360363"/>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149810" name="Line 3378">
            <a:extLst>
              <a:ext uri="{FF2B5EF4-FFF2-40B4-BE49-F238E27FC236}">
                <a16:creationId xmlns:a16="http://schemas.microsoft.com/office/drawing/2014/main" id="{C8CBD4B3-6F34-185B-CD66-CFB9FFF9113F}"/>
              </a:ext>
            </a:extLst>
          </p:cNvPr>
          <p:cNvSpPr>
            <a:spLocks noChangeShapeType="1"/>
          </p:cNvSpPr>
          <p:nvPr/>
        </p:nvSpPr>
        <p:spPr bwMode="auto">
          <a:xfrm flipV="1">
            <a:off x="2560638" y="1444625"/>
            <a:ext cx="1620837" cy="1498600"/>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nvGrpSpPr>
          <p:cNvPr id="149837" name="Group 3405">
            <a:extLst>
              <a:ext uri="{FF2B5EF4-FFF2-40B4-BE49-F238E27FC236}">
                <a16:creationId xmlns:a16="http://schemas.microsoft.com/office/drawing/2014/main" id="{39822DB3-0B74-28E6-96A4-964BE577E2B6}"/>
              </a:ext>
            </a:extLst>
          </p:cNvPr>
          <p:cNvGrpSpPr>
            <a:grpSpLocks/>
          </p:cNvGrpSpPr>
          <p:nvPr/>
        </p:nvGrpSpPr>
        <p:grpSpPr bwMode="auto">
          <a:xfrm>
            <a:off x="4083050" y="1509713"/>
            <a:ext cx="930275" cy="442912"/>
            <a:chOff x="2572" y="951"/>
            <a:chExt cx="586" cy="279"/>
          </a:xfrm>
        </p:grpSpPr>
        <p:sp>
          <p:nvSpPr>
            <p:cNvPr id="149817" name="Line 3385">
              <a:extLst>
                <a:ext uri="{FF2B5EF4-FFF2-40B4-BE49-F238E27FC236}">
                  <a16:creationId xmlns:a16="http://schemas.microsoft.com/office/drawing/2014/main" id="{2148496B-DDB2-E984-20F7-EE4CDD22A77D}"/>
                </a:ext>
              </a:extLst>
            </p:cNvPr>
            <p:cNvSpPr>
              <a:spLocks noChangeShapeType="1"/>
            </p:cNvSpPr>
            <p:nvPr/>
          </p:nvSpPr>
          <p:spPr bwMode="auto">
            <a:xfrm flipH="1">
              <a:off x="2572" y="951"/>
              <a:ext cx="141" cy="279"/>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149818" name="Line 3386">
              <a:extLst>
                <a:ext uri="{FF2B5EF4-FFF2-40B4-BE49-F238E27FC236}">
                  <a16:creationId xmlns:a16="http://schemas.microsoft.com/office/drawing/2014/main" id="{FCBED3A5-28B2-6F7D-2D3A-92457AB0ED5B}"/>
                </a:ext>
              </a:extLst>
            </p:cNvPr>
            <p:cNvSpPr>
              <a:spLocks noChangeShapeType="1"/>
            </p:cNvSpPr>
            <p:nvPr/>
          </p:nvSpPr>
          <p:spPr bwMode="auto">
            <a:xfrm>
              <a:off x="2838" y="951"/>
              <a:ext cx="0" cy="232"/>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149819" name="Line 3387">
              <a:extLst>
                <a:ext uri="{FF2B5EF4-FFF2-40B4-BE49-F238E27FC236}">
                  <a16:creationId xmlns:a16="http://schemas.microsoft.com/office/drawing/2014/main" id="{03088509-30B1-70A7-7EDB-56DA69ED2878}"/>
                </a:ext>
              </a:extLst>
            </p:cNvPr>
            <p:cNvSpPr>
              <a:spLocks noChangeShapeType="1"/>
            </p:cNvSpPr>
            <p:nvPr/>
          </p:nvSpPr>
          <p:spPr bwMode="auto">
            <a:xfrm>
              <a:off x="2923" y="951"/>
              <a:ext cx="235" cy="279"/>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sp>
        <p:nvSpPr>
          <p:cNvPr id="149820" name="Line 3388">
            <a:extLst>
              <a:ext uri="{FF2B5EF4-FFF2-40B4-BE49-F238E27FC236}">
                <a16:creationId xmlns:a16="http://schemas.microsoft.com/office/drawing/2014/main" id="{22277017-84B5-AF17-3D80-A9392A102742}"/>
              </a:ext>
            </a:extLst>
          </p:cNvPr>
          <p:cNvSpPr>
            <a:spLocks noChangeShapeType="1"/>
          </p:cNvSpPr>
          <p:nvPr/>
        </p:nvSpPr>
        <p:spPr bwMode="auto">
          <a:xfrm>
            <a:off x="4772025" y="1317625"/>
            <a:ext cx="1030288" cy="288925"/>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nvGrpSpPr>
          <p:cNvPr id="149828" name="Group 3396">
            <a:extLst>
              <a:ext uri="{FF2B5EF4-FFF2-40B4-BE49-F238E27FC236}">
                <a16:creationId xmlns:a16="http://schemas.microsoft.com/office/drawing/2014/main" id="{AE4EF590-09B6-FD54-2B86-F9F7FF0C236B}"/>
              </a:ext>
            </a:extLst>
          </p:cNvPr>
          <p:cNvGrpSpPr>
            <a:grpSpLocks/>
          </p:cNvGrpSpPr>
          <p:nvPr/>
        </p:nvGrpSpPr>
        <p:grpSpPr bwMode="auto">
          <a:xfrm>
            <a:off x="1219200" y="1216025"/>
            <a:ext cx="1562100" cy="1565275"/>
            <a:chOff x="768" y="766"/>
            <a:chExt cx="984" cy="986"/>
          </a:xfrm>
        </p:grpSpPr>
        <p:sp>
          <p:nvSpPr>
            <p:cNvPr id="149580" name="Oval 3148">
              <a:extLst>
                <a:ext uri="{FF2B5EF4-FFF2-40B4-BE49-F238E27FC236}">
                  <a16:creationId xmlns:a16="http://schemas.microsoft.com/office/drawing/2014/main" id="{DF599061-345C-F4DA-7884-368E19F02B17}"/>
                </a:ext>
              </a:extLst>
            </p:cNvPr>
            <p:cNvSpPr>
              <a:spLocks noChangeArrowheads="1"/>
            </p:cNvSpPr>
            <p:nvPr/>
          </p:nvSpPr>
          <p:spPr bwMode="auto">
            <a:xfrm>
              <a:off x="768" y="766"/>
              <a:ext cx="984" cy="986"/>
            </a:xfrm>
            <a:prstGeom prst="ellipse">
              <a:avLst/>
            </a:prstGeom>
            <a:solidFill>
              <a:srgbClr val="FFCC99"/>
            </a:solidFill>
            <a:ln w="25400" cap="rnd"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76196" name="Freeform 420">
              <a:extLst>
                <a:ext uri="{FF2B5EF4-FFF2-40B4-BE49-F238E27FC236}">
                  <a16:creationId xmlns:a16="http://schemas.microsoft.com/office/drawing/2014/main" id="{BDE7111F-0D48-B2E9-0EA0-4BA31879AF35}"/>
                </a:ext>
              </a:extLst>
            </p:cNvPr>
            <p:cNvSpPr>
              <a:spLocks/>
            </p:cNvSpPr>
            <p:nvPr/>
          </p:nvSpPr>
          <p:spPr bwMode="auto">
            <a:xfrm>
              <a:off x="1149" y="1370"/>
              <a:ext cx="233" cy="8"/>
            </a:xfrm>
            <a:custGeom>
              <a:avLst/>
              <a:gdLst>
                <a:gd name="T0" fmla="*/ 440 w 769"/>
                <a:gd name="T1" fmla="*/ 0 h 32"/>
                <a:gd name="T2" fmla="*/ 447 w 769"/>
                <a:gd name="T3" fmla="*/ 1 h 32"/>
                <a:gd name="T4" fmla="*/ 450 w 769"/>
                <a:gd name="T5" fmla="*/ 4 h 32"/>
                <a:gd name="T6" fmla="*/ 451 w 769"/>
                <a:gd name="T7" fmla="*/ 6 h 32"/>
                <a:gd name="T8" fmla="*/ 450 w 769"/>
                <a:gd name="T9" fmla="*/ 8 h 32"/>
                <a:gd name="T10" fmla="*/ 447 w 769"/>
                <a:gd name="T11" fmla="*/ 11 h 32"/>
                <a:gd name="T12" fmla="*/ 442 w 769"/>
                <a:gd name="T13" fmla="*/ 12 h 32"/>
                <a:gd name="T14" fmla="*/ 440 w 769"/>
                <a:gd name="T15" fmla="*/ 12 h 32"/>
                <a:gd name="T16" fmla="*/ 439 w 769"/>
                <a:gd name="T17" fmla="*/ 12 h 32"/>
                <a:gd name="T18" fmla="*/ 439 w 769"/>
                <a:gd name="T19" fmla="*/ 13 h 32"/>
                <a:gd name="T20" fmla="*/ 430 w 769"/>
                <a:gd name="T21" fmla="*/ 11 h 32"/>
                <a:gd name="T22" fmla="*/ 426 w 769"/>
                <a:gd name="T23" fmla="*/ 6 h 32"/>
                <a:gd name="T24" fmla="*/ 430 w 769"/>
                <a:gd name="T25" fmla="*/ 1 h 32"/>
                <a:gd name="T26" fmla="*/ 439 w 769"/>
                <a:gd name="T27" fmla="*/ 0 h 32"/>
                <a:gd name="T28" fmla="*/ 400 w 769"/>
                <a:gd name="T29" fmla="*/ 0 h 32"/>
                <a:gd name="T30" fmla="*/ 400 w 769"/>
                <a:gd name="T31" fmla="*/ 5 h 32"/>
                <a:gd name="T32" fmla="*/ 399 w 769"/>
                <a:gd name="T33" fmla="*/ 10 h 32"/>
                <a:gd name="T34" fmla="*/ 396 w 769"/>
                <a:gd name="T35" fmla="*/ 16 h 32"/>
                <a:gd name="T36" fmla="*/ 394 w 769"/>
                <a:gd name="T37" fmla="*/ 16 h 32"/>
                <a:gd name="T38" fmla="*/ 393 w 769"/>
                <a:gd name="T39" fmla="*/ 16 h 32"/>
                <a:gd name="T40" fmla="*/ 393 w 769"/>
                <a:gd name="T41" fmla="*/ 17 h 32"/>
                <a:gd name="T42" fmla="*/ 390 w 769"/>
                <a:gd name="T43" fmla="*/ 20 h 32"/>
                <a:gd name="T44" fmla="*/ 386 w 769"/>
                <a:gd name="T45" fmla="*/ 20 h 32"/>
                <a:gd name="T46" fmla="*/ 384 w 769"/>
                <a:gd name="T47" fmla="*/ 21 h 32"/>
                <a:gd name="T48" fmla="*/ 378 w 769"/>
                <a:gd name="T49" fmla="*/ 20 h 32"/>
                <a:gd name="T50" fmla="*/ 373 w 769"/>
                <a:gd name="T51" fmla="*/ 16 h 32"/>
                <a:gd name="T52" fmla="*/ 369 w 769"/>
                <a:gd name="T53" fmla="*/ 10 h 32"/>
                <a:gd name="T54" fmla="*/ 368 w 769"/>
                <a:gd name="T55" fmla="*/ 5 h 32"/>
                <a:gd name="T56" fmla="*/ 369 w 769"/>
                <a:gd name="T57" fmla="*/ 0 h 32"/>
                <a:gd name="T58" fmla="*/ 330 w 769"/>
                <a:gd name="T59" fmla="*/ 0 h 32"/>
                <a:gd name="T60" fmla="*/ 338 w 769"/>
                <a:gd name="T61" fmla="*/ 1 h 32"/>
                <a:gd name="T62" fmla="*/ 340 w 769"/>
                <a:gd name="T63" fmla="*/ 4 h 32"/>
                <a:gd name="T64" fmla="*/ 342 w 769"/>
                <a:gd name="T65" fmla="*/ 6 h 32"/>
                <a:gd name="T66" fmla="*/ 340 w 769"/>
                <a:gd name="T67" fmla="*/ 8 h 32"/>
                <a:gd name="T68" fmla="*/ 338 w 769"/>
                <a:gd name="T69" fmla="*/ 11 h 32"/>
                <a:gd name="T70" fmla="*/ 335 w 769"/>
                <a:gd name="T71" fmla="*/ 11 h 32"/>
                <a:gd name="T72" fmla="*/ 334 w 769"/>
                <a:gd name="T73" fmla="*/ 11 h 32"/>
                <a:gd name="T74" fmla="*/ 334 w 769"/>
                <a:gd name="T75" fmla="*/ 12 h 32"/>
                <a:gd name="T76" fmla="*/ 329 w 769"/>
                <a:gd name="T77" fmla="*/ 13 h 32"/>
                <a:gd name="T78" fmla="*/ 320 w 769"/>
                <a:gd name="T79" fmla="*/ 11 h 32"/>
                <a:gd name="T80" fmla="*/ 318 w 769"/>
                <a:gd name="T81" fmla="*/ 6 h 32"/>
                <a:gd name="T82" fmla="*/ 320 w 769"/>
                <a:gd name="T83" fmla="*/ 1 h 32"/>
                <a:gd name="T84" fmla="*/ 329 w 769"/>
                <a:gd name="T85" fmla="*/ 0 h 32"/>
                <a:gd name="T86" fmla="*/ 0 w 769"/>
                <a:gd name="T87" fmla="*/ 0 h 32"/>
                <a:gd name="T88" fmla="*/ 0 w 769"/>
                <a:gd name="T89" fmla="*/ 32 h 32"/>
                <a:gd name="T90" fmla="*/ 252 w 769"/>
                <a:gd name="T91" fmla="*/ 32 h 32"/>
                <a:gd name="T92" fmla="*/ 253 w 769"/>
                <a:gd name="T93" fmla="*/ 32 h 32"/>
                <a:gd name="T94" fmla="*/ 514 w 769"/>
                <a:gd name="T95" fmla="*/ 32 h 32"/>
                <a:gd name="T96" fmla="*/ 516 w 769"/>
                <a:gd name="T97" fmla="*/ 32 h 32"/>
                <a:gd name="T98" fmla="*/ 769 w 769"/>
                <a:gd name="T99" fmla="*/ 32 h 32"/>
                <a:gd name="T100" fmla="*/ 769 w 769"/>
                <a:gd name="T101" fmla="*/ 0 h 32"/>
                <a:gd name="T102" fmla="*/ 440 w 769"/>
                <a:gd name="T10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69" h="32">
                  <a:moveTo>
                    <a:pt x="440" y="0"/>
                  </a:moveTo>
                  <a:lnTo>
                    <a:pt x="447" y="1"/>
                  </a:lnTo>
                  <a:lnTo>
                    <a:pt x="450" y="4"/>
                  </a:lnTo>
                  <a:lnTo>
                    <a:pt x="451" y="6"/>
                  </a:lnTo>
                  <a:lnTo>
                    <a:pt x="450" y="8"/>
                  </a:lnTo>
                  <a:lnTo>
                    <a:pt x="447" y="11"/>
                  </a:lnTo>
                  <a:lnTo>
                    <a:pt x="442" y="12"/>
                  </a:lnTo>
                  <a:lnTo>
                    <a:pt x="440" y="12"/>
                  </a:lnTo>
                  <a:lnTo>
                    <a:pt x="439" y="12"/>
                  </a:lnTo>
                  <a:lnTo>
                    <a:pt x="439" y="13"/>
                  </a:lnTo>
                  <a:lnTo>
                    <a:pt x="430" y="11"/>
                  </a:lnTo>
                  <a:lnTo>
                    <a:pt x="426" y="6"/>
                  </a:lnTo>
                  <a:lnTo>
                    <a:pt x="430" y="1"/>
                  </a:lnTo>
                  <a:lnTo>
                    <a:pt x="439" y="0"/>
                  </a:lnTo>
                  <a:lnTo>
                    <a:pt x="400" y="0"/>
                  </a:lnTo>
                  <a:lnTo>
                    <a:pt x="400" y="5"/>
                  </a:lnTo>
                  <a:lnTo>
                    <a:pt x="399" y="10"/>
                  </a:lnTo>
                  <a:lnTo>
                    <a:pt x="396" y="16"/>
                  </a:lnTo>
                  <a:lnTo>
                    <a:pt x="394" y="16"/>
                  </a:lnTo>
                  <a:lnTo>
                    <a:pt x="393" y="16"/>
                  </a:lnTo>
                  <a:lnTo>
                    <a:pt x="393" y="17"/>
                  </a:lnTo>
                  <a:lnTo>
                    <a:pt x="390" y="20"/>
                  </a:lnTo>
                  <a:lnTo>
                    <a:pt x="386" y="20"/>
                  </a:lnTo>
                  <a:lnTo>
                    <a:pt x="384" y="21"/>
                  </a:lnTo>
                  <a:lnTo>
                    <a:pt x="378" y="20"/>
                  </a:lnTo>
                  <a:lnTo>
                    <a:pt x="373" y="16"/>
                  </a:lnTo>
                  <a:lnTo>
                    <a:pt x="369" y="10"/>
                  </a:lnTo>
                  <a:lnTo>
                    <a:pt x="368" y="5"/>
                  </a:lnTo>
                  <a:lnTo>
                    <a:pt x="369" y="0"/>
                  </a:lnTo>
                  <a:lnTo>
                    <a:pt x="330" y="0"/>
                  </a:lnTo>
                  <a:lnTo>
                    <a:pt x="338" y="1"/>
                  </a:lnTo>
                  <a:lnTo>
                    <a:pt x="340" y="4"/>
                  </a:lnTo>
                  <a:lnTo>
                    <a:pt x="342" y="6"/>
                  </a:lnTo>
                  <a:lnTo>
                    <a:pt x="340" y="8"/>
                  </a:lnTo>
                  <a:lnTo>
                    <a:pt x="338" y="11"/>
                  </a:lnTo>
                  <a:lnTo>
                    <a:pt x="335" y="11"/>
                  </a:lnTo>
                  <a:lnTo>
                    <a:pt x="334" y="11"/>
                  </a:lnTo>
                  <a:lnTo>
                    <a:pt x="334" y="12"/>
                  </a:lnTo>
                  <a:lnTo>
                    <a:pt x="329" y="13"/>
                  </a:lnTo>
                  <a:lnTo>
                    <a:pt x="320" y="11"/>
                  </a:lnTo>
                  <a:lnTo>
                    <a:pt x="318" y="6"/>
                  </a:lnTo>
                  <a:lnTo>
                    <a:pt x="320" y="1"/>
                  </a:lnTo>
                  <a:lnTo>
                    <a:pt x="329" y="0"/>
                  </a:lnTo>
                  <a:lnTo>
                    <a:pt x="0" y="0"/>
                  </a:lnTo>
                  <a:lnTo>
                    <a:pt x="0" y="32"/>
                  </a:lnTo>
                  <a:lnTo>
                    <a:pt x="252" y="32"/>
                  </a:lnTo>
                  <a:lnTo>
                    <a:pt x="253" y="32"/>
                  </a:lnTo>
                  <a:lnTo>
                    <a:pt x="514" y="32"/>
                  </a:lnTo>
                  <a:lnTo>
                    <a:pt x="516" y="32"/>
                  </a:lnTo>
                  <a:lnTo>
                    <a:pt x="769" y="32"/>
                  </a:lnTo>
                  <a:lnTo>
                    <a:pt x="769" y="0"/>
                  </a:lnTo>
                  <a:lnTo>
                    <a:pt x="440"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197" name="Freeform 421">
              <a:extLst>
                <a:ext uri="{FF2B5EF4-FFF2-40B4-BE49-F238E27FC236}">
                  <a16:creationId xmlns:a16="http://schemas.microsoft.com/office/drawing/2014/main" id="{8A009F0C-EFFD-DA86-B56B-A9EBDF154178}"/>
                </a:ext>
              </a:extLst>
            </p:cNvPr>
            <p:cNvSpPr>
              <a:spLocks/>
            </p:cNvSpPr>
            <p:nvPr/>
          </p:nvSpPr>
          <p:spPr bwMode="auto">
            <a:xfrm>
              <a:off x="1278" y="1370"/>
              <a:ext cx="7" cy="4"/>
            </a:xfrm>
            <a:custGeom>
              <a:avLst/>
              <a:gdLst>
                <a:gd name="T0" fmla="*/ 21 w 25"/>
                <a:gd name="T1" fmla="*/ 1 h 13"/>
                <a:gd name="T2" fmla="*/ 14 w 25"/>
                <a:gd name="T3" fmla="*/ 0 h 13"/>
                <a:gd name="T4" fmla="*/ 13 w 25"/>
                <a:gd name="T5" fmla="*/ 0 h 13"/>
                <a:gd name="T6" fmla="*/ 4 w 25"/>
                <a:gd name="T7" fmla="*/ 1 h 13"/>
                <a:gd name="T8" fmla="*/ 0 w 25"/>
                <a:gd name="T9" fmla="*/ 6 h 13"/>
                <a:gd name="T10" fmla="*/ 4 w 25"/>
                <a:gd name="T11" fmla="*/ 11 h 13"/>
                <a:gd name="T12" fmla="*/ 13 w 25"/>
                <a:gd name="T13" fmla="*/ 13 h 13"/>
                <a:gd name="T14" fmla="*/ 13 w 25"/>
                <a:gd name="T15" fmla="*/ 12 h 13"/>
                <a:gd name="T16" fmla="*/ 14 w 25"/>
                <a:gd name="T17" fmla="*/ 12 h 13"/>
                <a:gd name="T18" fmla="*/ 16 w 25"/>
                <a:gd name="T19" fmla="*/ 12 h 13"/>
                <a:gd name="T20" fmla="*/ 21 w 25"/>
                <a:gd name="T21" fmla="*/ 11 h 13"/>
                <a:gd name="T22" fmla="*/ 24 w 25"/>
                <a:gd name="T23" fmla="*/ 8 h 13"/>
                <a:gd name="T24" fmla="*/ 25 w 25"/>
                <a:gd name="T25" fmla="*/ 6 h 13"/>
                <a:gd name="T26" fmla="*/ 24 w 25"/>
                <a:gd name="T27" fmla="*/ 4 h 13"/>
                <a:gd name="T28" fmla="*/ 21 w 25"/>
                <a:gd name="T29"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 h="13">
                  <a:moveTo>
                    <a:pt x="21" y="1"/>
                  </a:moveTo>
                  <a:lnTo>
                    <a:pt x="14" y="0"/>
                  </a:lnTo>
                  <a:lnTo>
                    <a:pt x="13" y="0"/>
                  </a:lnTo>
                  <a:lnTo>
                    <a:pt x="4" y="1"/>
                  </a:lnTo>
                  <a:lnTo>
                    <a:pt x="0" y="6"/>
                  </a:lnTo>
                  <a:lnTo>
                    <a:pt x="4" y="11"/>
                  </a:lnTo>
                  <a:lnTo>
                    <a:pt x="13" y="13"/>
                  </a:lnTo>
                  <a:lnTo>
                    <a:pt x="13" y="12"/>
                  </a:lnTo>
                  <a:lnTo>
                    <a:pt x="14" y="12"/>
                  </a:lnTo>
                  <a:lnTo>
                    <a:pt x="16" y="12"/>
                  </a:lnTo>
                  <a:lnTo>
                    <a:pt x="21" y="11"/>
                  </a:lnTo>
                  <a:lnTo>
                    <a:pt x="24" y="8"/>
                  </a:lnTo>
                  <a:lnTo>
                    <a:pt x="25" y="6"/>
                  </a:lnTo>
                  <a:lnTo>
                    <a:pt x="24" y="4"/>
                  </a:lnTo>
                  <a:lnTo>
                    <a:pt x="21" y="1"/>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198" name="Freeform 422">
              <a:extLst>
                <a:ext uri="{FF2B5EF4-FFF2-40B4-BE49-F238E27FC236}">
                  <a16:creationId xmlns:a16="http://schemas.microsoft.com/office/drawing/2014/main" id="{213289D5-B8E7-CE26-4007-6D79041DC115}"/>
                </a:ext>
              </a:extLst>
            </p:cNvPr>
            <p:cNvSpPr>
              <a:spLocks/>
            </p:cNvSpPr>
            <p:nvPr/>
          </p:nvSpPr>
          <p:spPr bwMode="auto">
            <a:xfrm>
              <a:off x="1149" y="1365"/>
              <a:ext cx="233" cy="5"/>
            </a:xfrm>
            <a:custGeom>
              <a:avLst/>
              <a:gdLst>
                <a:gd name="T0" fmla="*/ 439 w 769"/>
                <a:gd name="T1" fmla="*/ 20 h 20"/>
                <a:gd name="T2" fmla="*/ 440 w 769"/>
                <a:gd name="T3" fmla="*/ 20 h 20"/>
                <a:gd name="T4" fmla="*/ 769 w 769"/>
                <a:gd name="T5" fmla="*/ 20 h 20"/>
                <a:gd name="T6" fmla="*/ 769 w 769"/>
                <a:gd name="T7" fmla="*/ 0 h 20"/>
                <a:gd name="T8" fmla="*/ 559 w 769"/>
                <a:gd name="T9" fmla="*/ 0 h 20"/>
                <a:gd name="T10" fmla="*/ 209 w 769"/>
                <a:gd name="T11" fmla="*/ 0 h 20"/>
                <a:gd name="T12" fmla="*/ 0 w 769"/>
                <a:gd name="T13" fmla="*/ 0 h 20"/>
                <a:gd name="T14" fmla="*/ 0 w 769"/>
                <a:gd name="T15" fmla="*/ 20 h 20"/>
                <a:gd name="T16" fmla="*/ 329 w 769"/>
                <a:gd name="T17" fmla="*/ 20 h 20"/>
                <a:gd name="T18" fmla="*/ 330 w 769"/>
                <a:gd name="T19" fmla="*/ 20 h 20"/>
                <a:gd name="T20" fmla="*/ 369 w 769"/>
                <a:gd name="T21" fmla="*/ 20 h 20"/>
                <a:gd name="T22" fmla="*/ 373 w 769"/>
                <a:gd name="T23" fmla="*/ 12 h 20"/>
                <a:gd name="T24" fmla="*/ 378 w 769"/>
                <a:gd name="T25" fmla="*/ 9 h 20"/>
                <a:gd name="T26" fmla="*/ 384 w 769"/>
                <a:gd name="T27" fmla="*/ 7 h 20"/>
                <a:gd name="T28" fmla="*/ 390 w 769"/>
                <a:gd name="T29" fmla="*/ 9 h 20"/>
                <a:gd name="T30" fmla="*/ 396 w 769"/>
                <a:gd name="T31" fmla="*/ 12 h 20"/>
                <a:gd name="T32" fmla="*/ 400 w 769"/>
                <a:gd name="T33" fmla="*/ 20 h 20"/>
                <a:gd name="T34" fmla="*/ 439 w 769"/>
                <a:gd name="T35"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9" h="20">
                  <a:moveTo>
                    <a:pt x="439" y="20"/>
                  </a:moveTo>
                  <a:lnTo>
                    <a:pt x="440" y="20"/>
                  </a:lnTo>
                  <a:lnTo>
                    <a:pt x="769" y="20"/>
                  </a:lnTo>
                  <a:lnTo>
                    <a:pt x="769" y="0"/>
                  </a:lnTo>
                  <a:lnTo>
                    <a:pt x="559" y="0"/>
                  </a:lnTo>
                  <a:lnTo>
                    <a:pt x="209" y="0"/>
                  </a:lnTo>
                  <a:lnTo>
                    <a:pt x="0" y="0"/>
                  </a:lnTo>
                  <a:lnTo>
                    <a:pt x="0" y="20"/>
                  </a:lnTo>
                  <a:lnTo>
                    <a:pt x="329" y="20"/>
                  </a:lnTo>
                  <a:lnTo>
                    <a:pt x="330" y="20"/>
                  </a:lnTo>
                  <a:lnTo>
                    <a:pt x="369" y="20"/>
                  </a:lnTo>
                  <a:lnTo>
                    <a:pt x="373" y="12"/>
                  </a:lnTo>
                  <a:lnTo>
                    <a:pt x="378" y="9"/>
                  </a:lnTo>
                  <a:lnTo>
                    <a:pt x="384" y="7"/>
                  </a:lnTo>
                  <a:lnTo>
                    <a:pt x="390" y="9"/>
                  </a:lnTo>
                  <a:lnTo>
                    <a:pt x="396" y="12"/>
                  </a:lnTo>
                  <a:lnTo>
                    <a:pt x="400" y="20"/>
                  </a:lnTo>
                  <a:lnTo>
                    <a:pt x="439" y="2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199" name="Freeform 423">
              <a:extLst>
                <a:ext uri="{FF2B5EF4-FFF2-40B4-BE49-F238E27FC236}">
                  <a16:creationId xmlns:a16="http://schemas.microsoft.com/office/drawing/2014/main" id="{3F0EE051-5E3D-B956-802C-80F352AA0E53}"/>
                </a:ext>
              </a:extLst>
            </p:cNvPr>
            <p:cNvSpPr>
              <a:spLocks/>
            </p:cNvSpPr>
            <p:nvPr/>
          </p:nvSpPr>
          <p:spPr bwMode="auto">
            <a:xfrm>
              <a:off x="1226" y="1378"/>
              <a:ext cx="78" cy="9"/>
            </a:xfrm>
            <a:custGeom>
              <a:avLst/>
              <a:gdLst>
                <a:gd name="T0" fmla="*/ 261 w 261"/>
                <a:gd name="T1" fmla="*/ 1 h 41"/>
                <a:gd name="T2" fmla="*/ 261 w 261"/>
                <a:gd name="T3" fmla="*/ 0 h 41"/>
                <a:gd name="T4" fmla="*/ 0 w 261"/>
                <a:gd name="T5" fmla="*/ 0 h 41"/>
                <a:gd name="T6" fmla="*/ 0 w 261"/>
                <a:gd name="T7" fmla="*/ 1 h 41"/>
                <a:gd name="T8" fmla="*/ 19 w 261"/>
                <a:gd name="T9" fmla="*/ 13 h 41"/>
                <a:gd name="T10" fmla="*/ 45 w 261"/>
                <a:gd name="T11" fmla="*/ 25 h 41"/>
                <a:gd name="T12" fmla="*/ 75 w 261"/>
                <a:gd name="T13" fmla="*/ 35 h 41"/>
                <a:gd name="T14" fmla="*/ 100 w 261"/>
                <a:gd name="T15" fmla="*/ 40 h 41"/>
                <a:gd name="T16" fmla="*/ 131 w 261"/>
                <a:gd name="T17" fmla="*/ 41 h 41"/>
                <a:gd name="T18" fmla="*/ 146 w 261"/>
                <a:gd name="T19" fmla="*/ 40 h 41"/>
                <a:gd name="T20" fmla="*/ 153 w 261"/>
                <a:gd name="T21" fmla="*/ 39 h 41"/>
                <a:gd name="T22" fmla="*/ 162 w 261"/>
                <a:gd name="T23" fmla="*/ 39 h 41"/>
                <a:gd name="T24" fmla="*/ 192 w 261"/>
                <a:gd name="T25" fmla="*/ 34 h 41"/>
                <a:gd name="T26" fmla="*/ 205 w 261"/>
                <a:gd name="T27" fmla="*/ 29 h 41"/>
                <a:gd name="T28" fmla="*/ 220 w 261"/>
                <a:gd name="T29" fmla="*/ 24 h 41"/>
                <a:gd name="T30" fmla="*/ 233 w 261"/>
                <a:gd name="T31" fmla="*/ 17 h 41"/>
                <a:gd name="T32" fmla="*/ 235 w 261"/>
                <a:gd name="T33" fmla="*/ 15 h 41"/>
                <a:gd name="T34" fmla="*/ 235 w 261"/>
                <a:gd name="T35" fmla="*/ 14 h 41"/>
                <a:gd name="T36" fmla="*/ 236 w 261"/>
                <a:gd name="T37" fmla="*/ 14 h 41"/>
                <a:gd name="T38" fmla="*/ 239 w 261"/>
                <a:gd name="T39" fmla="*/ 14 h 41"/>
                <a:gd name="T40" fmla="*/ 246 w 261"/>
                <a:gd name="T41" fmla="*/ 11 h 41"/>
                <a:gd name="T42" fmla="*/ 261 w 261"/>
                <a:gd name="T43"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1" h="41">
                  <a:moveTo>
                    <a:pt x="261" y="1"/>
                  </a:moveTo>
                  <a:lnTo>
                    <a:pt x="261" y="0"/>
                  </a:lnTo>
                  <a:lnTo>
                    <a:pt x="0" y="0"/>
                  </a:lnTo>
                  <a:lnTo>
                    <a:pt x="0" y="1"/>
                  </a:lnTo>
                  <a:lnTo>
                    <a:pt x="19" y="13"/>
                  </a:lnTo>
                  <a:lnTo>
                    <a:pt x="45" y="25"/>
                  </a:lnTo>
                  <a:lnTo>
                    <a:pt x="75" y="35"/>
                  </a:lnTo>
                  <a:lnTo>
                    <a:pt x="100" y="40"/>
                  </a:lnTo>
                  <a:lnTo>
                    <a:pt x="131" y="41"/>
                  </a:lnTo>
                  <a:lnTo>
                    <a:pt x="146" y="40"/>
                  </a:lnTo>
                  <a:lnTo>
                    <a:pt x="153" y="39"/>
                  </a:lnTo>
                  <a:lnTo>
                    <a:pt x="162" y="39"/>
                  </a:lnTo>
                  <a:lnTo>
                    <a:pt x="192" y="34"/>
                  </a:lnTo>
                  <a:lnTo>
                    <a:pt x="205" y="29"/>
                  </a:lnTo>
                  <a:lnTo>
                    <a:pt x="220" y="24"/>
                  </a:lnTo>
                  <a:lnTo>
                    <a:pt x="233" y="17"/>
                  </a:lnTo>
                  <a:lnTo>
                    <a:pt x="235" y="15"/>
                  </a:lnTo>
                  <a:lnTo>
                    <a:pt x="235" y="14"/>
                  </a:lnTo>
                  <a:lnTo>
                    <a:pt x="236" y="14"/>
                  </a:lnTo>
                  <a:lnTo>
                    <a:pt x="239" y="14"/>
                  </a:lnTo>
                  <a:lnTo>
                    <a:pt x="246" y="11"/>
                  </a:lnTo>
                  <a:lnTo>
                    <a:pt x="261" y="1"/>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00" name="Freeform 424">
              <a:extLst>
                <a:ext uri="{FF2B5EF4-FFF2-40B4-BE49-F238E27FC236}">
                  <a16:creationId xmlns:a16="http://schemas.microsoft.com/office/drawing/2014/main" id="{1FD8E3B4-40ED-448A-DF7B-80AF726C250D}"/>
                </a:ext>
              </a:extLst>
            </p:cNvPr>
            <p:cNvSpPr>
              <a:spLocks/>
            </p:cNvSpPr>
            <p:nvPr/>
          </p:nvSpPr>
          <p:spPr bwMode="auto">
            <a:xfrm>
              <a:off x="1201" y="1380"/>
              <a:ext cx="129" cy="13"/>
            </a:xfrm>
            <a:custGeom>
              <a:avLst/>
              <a:gdLst>
                <a:gd name="T0" fmla="*/ 351 w 429"/>
                <a:gd name="T1" fmla="*/ 4 h 56"/>
                <a:gd name="T2" fmla="*/ 329 w 429"/>
                <a:gd name="T3" fmla="*/ 0 h 56"/>
                <a:gd name="T4" fmla="*/ 322 w 429"/>
                <a:gd name="T5" fmla="*/ 3 h 56"/>
                <a:gd name="T6" fmla="*/ 319 w 429"/>
                <a:gd name="T7" fmla="*/ 3 h 56"/>
                <a:gd name="T8" fmla="*/ 318 w 429"/>
                <a:gd name="T9" fmla="*/ 3 h 56"/>
                <a:gd name="T10" fmla="*/ 318 w 429"/>
                <a:gd name="T11" fmla="*/ 4 h 56"/>
                <a:gd name="T12" fmla="*/ 316 w 429"/>
                <a:gd name="T13" fmla="*/ 6 h 56"/>
                <a:gd name="T14" fmla="*/ 303 w 429"/>
                <a:gd name="T15" fmla="*/ 13 h 56"/>
                <a:gd name="T16" fmla="*/ 288 w 429"/>
                <a:gd name="T17" fmla="*/ 18 h 56"/>
                <a:gd name="T18" fmla="*/ 275 w 429"/>
                <a:gd name="T19" fmla="*/ 23 h 56"/>
                <a:gd name="T20" fmla="*/ 245 w 429"/>
                <a:gd name="T21" fmla="*/ 28 h 56"/>
                <a:gd name="T22" fmla="*/ 236 w 429"/>
                <a:gd name="T23" fmla="*/ 28 h 56"/>
                <a:gd name="T24" fmla="*/ 229 w 429"/>
                <a:gd name="T25" fmla="*/ 29 h 56"/>
                <a:gd name="T26" fmla="*/ 214 w 429"/>
                <a:gd name="T27" fmla="*/ 30 h 56"/>
                <a:gd name="T28" fmla="*/ 183 w 429"/>
                <a:gd name="T29" fmla="*/ 29 h 56"/>
                <a:gd name="T30" fmla="*/ 201 w 429"/>
                <a:gd name="T31" fmla="*/ 31 h 56"/>
                <a:gd name="T32" fmla="*/ 220 w 429"/>
                <a:gd name="T33" fmla="*/ 36 h 56"/>
                <a:gd name="T34" fmla="*/ 236 w 429"/>
                <a:gd name="T35" fmla="*/ 39 h 56"/>
                <a:gd name="T36" fmla="*/ 250 w 429"/>
                <a:gd name="T37" fmla="*/ 44 h 56"/>
                <a:gd name="T38" fmla="*/ 251 w 429"/>
                <a:gd name="T39" fmla="*/ 44 h 56"/>
                <a:gd name="T40" fmla="*/ 250 w 429"/>
                <a:gd name="T41" fmla="*/ 44 h 56"/>
                <a:gd name="T42" fmla="*/ 246 w 429"/>
                <a:gd name="T43" fmla="*/ 44 h 56"/>
                <a:gd name="T44" fmla="*/ 241 w 429"/>
                <a:gd name="T45" fmla="*/ 45 h 56"/>
                <a:gd name="T46" fmla="*/ 232 w 429"/>
                <a:gd name="T47" fmla="*/ 45 h 56"/>
                <a:gd name="T48" fmla="*/ 224 w 429"/>
                <a:gd name="T49" fmla="*/ 45 h 56"/>
                <a:gd name="T50" fmla="*/ 211 w 429"/>
                <a:gd name="T51" fmla="*/ 45 h 56"/>
                <a:gd name="T52" fmla="*/ 198 w 429"/>
                <a:gd name="T53" fmla="*/ 47 h 56"/>
                <a:gd name="T54" fmla="*/ 180 w 429"/>
                <a:gd name="T55" fmla="*/ 47 h 56"/>
                <a:gd name="T56" fmla="*/ 162 w 429"/>
                <a:gd name="T57" fmla="*/ 47 h 56"/>
                <a:gd name="T58" fmla="*/ 141 w 429"/>
                <a:gd name="T59" fmla="*/ 47 h 56"/>
                <a:gd name="T60" fmla="*/ 117 w 429"/>
                <a:gd name="T61" fmla="*/ 47 h 56"/>
                <a:gd name="T62" fmla="*/ 91 w 429"/>
                <a:gd name="T63" fmla="*/ 47 h 56"/>
                <a:gd name="T64" fmla="*/ 63 w 429"/>
                <a:gd name="T65" fmla="*/ 47 h 56"/>
                <a:gd name="T66" fmla="*/ 32 w 429"/>
                <a:gd name="T67" fmla="*/ 47 h 56"/>
                <a:gd name="T68" fmla="*/ 16 w 429"/>
                <a:gd name="T69" fmla="*/ 47 h 56"/>
                <a:gd name="T70" fmla="*/ 1 w 429"/>
                <a:gd name="T71" fmla="*/ 49 h 56"/>
                <a:gd name="T72" fmla="*/ 0 w 429"/>
                <a:gd name="T73" fmla="*/ 49 h 56"/>
                <a:gd name="T74" fmla="*/ 3 w 429"/>
                <a:gd name="T75" fmla="*/ 51 h 56"/>
                <a:gd name="T76" fmla="*/ 10 w 429"/>
                <a:gd name="T77" fmla="*/ 56 h 56"/>
                <a:gd name="T78" fmla="*/ 13 w 429"/>
                <a:gd name="T79" fmla="*/ 56 h 56"/>
                <a:gd name="T80" fmla="*/ 424 w 429"/>
                <a:gd name="T81" fmla="*/ 56 h 56"/>
                <a:gd name="T82" fmla="*/ 428 w 429"/>
                <a:gd name="T83" fmla="*/ 51 h 56"/>
                <a:gd name="T84" fmla="*/ 429 w 429"/>
                <a:gd name="T85" fmla="*/ 46 h 56"/>
                <a:gd name="T86" fmla="*/ 426 w 429"/>
                <a:gd name="T87" fmla="*/ 43 h 56"/>
                <a:gd name="T88" fmla="*/ 425 w 429"/>
                <a:gd name="T89" fmla="*/ 40 h 56"/>
                <a:gd name="T90" fmla="*/ 419 w 429"/>
                <a:gd name="T91" fmla="*/ 35 h 56"/>
                <a:gd name="T92" fmla="*/ 408 w 429"/>
                <a:gd name="T93" fmla="*/ 28 h 56"/>
                <a:gd name="T94" fmla="*/ 393 w 429"/>
                <a:gd name="T95" fmla="*/ 20 h 56"/>
                <a:gd name="T96" fmla="*/ 383 w 429"/>
                <a:gd name="T97" fmla="*/ 15 h 56"/>
                <a:gd name="T98" fmla="*/ 373 w 429"/>
                <a:gd name="T99" fmla="*/ 11 h 56"/>
                <a:gd name="T100" fmla="*/ 351 w 429"/>
                <a:gd name="T101" fmla="*/ 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29" h="56">
                  <a:moveTo>
                    <a:pt x="351" y="4"/>
                  </a:moveTo>
                  <a:lnTo>
                    <a:pt x="329" y="0"/>
                  </a:lnTo>
                  <a:lnTo>
                    <a:pt x="322" y="3"/>
                  </a:lnTo>
                  <a:lnTo>
                    <a:pt x="319" y="3"/>
                  </a:lnTo>
                  <a:lnTo>
                    <a:pt x="318" y="3"/>
                  </a:lnTo>
                  <a:lnTo>
                    <a:pt x="318" y="4"/>
                  </a:lnTo>
                  <a:lnTo>
                    <a:pt x="316" y="6"/>
                  </a:lnTo>
                  <a:lnTo>
                    <a:pt x="303" y="13"/>
                  </a:lnTo>
                  <a:lnTo>
                    <a:pt x="288" y="18"/>
                  </a:lnTo>
                  <a:lnTo>
                    <a:pt x="275" y="23"/>
                  </a:lnTo>
                  <a:lnTo>
                    <a:pt x="245" y="28"/>
                  </a:lnTo>
                  <a:lnTo>
                    <a:pt x="236" y="28"/>
                  </a:lnTo>
                  <a:lnTo>
                    <a:pt x="229" y="29"/>
                  </a:lnTo>
                  <a:lnTo>
                    <a:pt x="214" y="30"/>
                  </a:lnTo>
                  <a:lnTo>
                    <a:pt x="183" y="29"/>
                  </a:lnTo>
                  <a:lnTo>
                    <a:pt x="201" y="31"/>
                  </a:lnTo>
                  <a:lnTo>
                    <a:pt x="220" y="36"/>
                  </a:lnTo>
                  <a:lnTo>
                    <a:pt x="236" y="39"/>
                  </a:lnTo>
                  <a:lnTo>
                    <a:pt x="250" y="44"/>
                  </a:lnTo>
                  <a:lnTo>
                    <a:pt x="251" y="44"/>
                  </a:lnTo>
                  <a:lnTo>
                    <a:pt x="250" y="44"/>
                  </a:lnTo>
                  <a:lnTo>
                    <a:pt x="246" y="44"/>
                  </a:lnTo>
                  <a:lnTo>
                    <a:pt x="241" y="45"/>
                  </a:lnTo>
                  <a:lnTo>
                    <a:pt x="232" y="45"/>
                  </a:lnTo>
                  <a:lnTo>
                    <a:pt x="224" y="45"/>
                  </a:lnTo>
                  <a:lnTo>
                    <a:pt x="211" y="45"/>
                  </a:lnTo>
                  <a:lnTo>
                    <a:pt x="198" y="47"/>
                  </a:lnTo>
                  <a:lnTo>
                    <a:pt x="180" y="47"/>
                  </a:lnTo>
                  <a:lnTo>
                    <a:pt x="162" y="47"/>
                  </a:lnTo>
                  <a:lnTo>
                    <a:pt x="141" y="47"/>
                  </a:lnTo>
                  <a:lnTo>
                    <a:pt x="117" y="47"/>
                  </a:lnTo>
                  <a:lnTo>
                    <a:pt x="91" y="47"/>
                  </a:lnTo>
                  <a:lnTo>
                    <a:pt x="63" y="47"/>
                  </a:lnTo>
                  <a:lnTo>
                    <a:pt x="32" y="47"/>
                  </a:lnTo>
                  <a:lnTo>
                    <a:pt x="16" y="47"/>
                  </a:lnTo>
                  <a:lnTo>
                    <a:pt x="1" y="49"/>
                  </a:lnTo>
                  <a:lnTo>
                    <a:pt x="0" y="49"/>
                  </a:lnTo>
                  <a:lnTo>
                    <a:pt x="3" y="51"/>
                  </a:lnTo>
                  <a:lnTo>
                    <a:pt x="10" y="56"/>
                  </a:lnTo>
                  <a:lnTo>
                    <a:pt x="13" y="56"/>
                  </a:lnTo>
                  <a:lnTo>
                    <a:pt x="424" y="56"/>
                  </a:lnTo>
                  <a:lnTo>
                    <a:pt x="428" y="51"/>
                  </a:lnTo>
                  <a:lnTo>
                    <a:pt x="429" y="46"/>
                  </a:lnTo>
                  <a:lnTo>
                    <a:pt x="426" y="43"/>
                  </a:lnTo>
                  <a:lnTo>
                    <a:pt x="425" y="40"/>
                  </a:lnTo>
                  <a:lnTo>
                    <a:pt x="419" y="35"/>
                  </a:lnTo>
                  <a:lnTo>
                    <a:pt x="408" y="28"/>
                  </a:lnTo>
                  <a:lnTo>
                    <a:pt x="393" y="20"/>
                  </a:lnTo>
                  <a:lnTo>
                    <a:pt x="383" y="15"/>
                  </a:lnTo>
                  <a:lnTo>
                    <a:pt x="373" y="11"/>
                  </a:lnTo>
                  <a:lnTo>
                    <a:pt x="351" y="4"/>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01" name="Freeform 425">
              <a:extLst>
                <a:ext uri="{FF2B5EF4-FFF2-40B4-BE49-F238E27FC236}">
                  <a16:creationId xmlns:a16="http://schemas.microsoft.com/office/drawing/2014/main" id="{60033DDF-4AD8-6948-3741-5D8DBAE158CD}"/>
                </a:ext>
              </a:extLst>
            </p:cNvPr>
            <p:cNvSpPr>
              <a:spLocks/>
            </p:cNvSpPr>
            <p:nvPr/>
          </p:nvSpPr>
          <p:spPr bwMode="auto">
            <a:xfrm>
              <a:off x="1260" y="1368"/>
              <a:ext cx="11" cy="8"/>
            </a:xfrm>
            <a:custGeom>
              <a:avLst/>
              <a:gdLst>
                <a:gd name="T0" fmla="*/ 1 w 32"/>
                <a:gd name="T1" fmla="*/ 13 h 34"/>
                <a:gd name="T2" fmla="*/ 0 w 32"/>
                <a:gd name="T3" fmla="*/ 18 h 34"/>
                <a:gd name="T4" fmla="*/ 1 w 32"/>
                <a:gd name="T5" fmla="*/ 23 h 34"/>
                <a:gd name="T6" fmla="*/ 5 w 32"/>
                <a:gd name="T7" fmla="*/ 29 h 34"/>
                <a:gd name="T8" fmla="*/ 10 w 32"/>
                <a:gd name="T9" fmla="*/ 33 h 34"/>
                <a:gd name="T10" fmla="*/ 16 w 32"/>
                <a:gd name="T11" fmla="*/ 34 h 34"/>
                <a:gd name="T12" fmla="*/ 18 w 32"/>
                <a:gd name="T13" fmla="*/ 33 h 34"/>
                <a:gd name="T14" fmla="*/ 22 w 32"/>
                <a:gd name="T15" fmla="*/ 33 h 34"/>
                <a:gd name="T16" fmla="*/ 25 w 32"/>
                <a:gd name="T17" fmla="*/ 30 h 34"/>
                <a:gd name="T18" fmla="*/ 25 w 32"/>
                <a:gd name="T19" fmla="*/ 29 h 34"/>
                <a:gd name="T20" fmla="*/ 26 w 32"/>
                <a:gd name="T21" fmla="*/ 29 h 34"/>
                <a:gd name="T22" fmla="*/ 28 w 32"/>
                <a:gd name="T23" fmla="*/ 29 h 34"/>
                <a:gd name="T24" fmla="*/ 31 w 32"/>
                <a:gd name="T25" fmla="*/ 23 h 34"/>
                <a:gd name="T26" fmla="*/ 32 w 32"/>
                <a:gd name="T27" fmla="*/ 18 h 34"/>
                <a:gd name="T28" fmla="*/ 32 w 32"/>
                <a:gd name="T29" fmla="*/ 13 h 34"/>
                <a:gd name="T30" fmla="*/ 28 w 32"/>
                <a:gd name="T31" fmla="*/ 5 h 34"/>
                <a:gd name="T32" fmla="*/ 22 w 32"/>
                <a:gd name="T33" fmla="*/ 2 h 34"/>
                <a:gd name="T34" fmla="*/ 16 w 32"/>
                <a:gd name="T35" fmla="*/ 0 h 34"/>
                <a:gd name="T36" fmla="*/ 10 w 32"/>
                <a:gd name="T37" fmla="*/ 2 h 34"/>
                <a:gd name="T38" fmla="*/ 5 w 32"/>
                <a:gd name="T39" fmla="*/ 5 h 34"/>
                <a:gd name="T40" fmla="*/ 1 w 32"/>
                <a:gd name="T41" fmla="*/ 1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34">
                  <a:moveTo>
                    <a:pt x="1" y="13"/>
                  </a:moveTo>
                  <a:lnTo>
                    <a:pt x="0" y="18"/>
                  </a:lnTo>
                  <a:lnTo>
                    <a:pt x="1" y="23"/>
                  </a:lnTo>
                  <a:lnTo>
                    <a:pt x="5" y="29"/>
                  </a:lnTo>
                  <a:lnTo>
                    <a:pt x="10" y="33"/>
                  </a:lnTo>
                  <a:lnTo>
                    <a:pt x="16" y="34"/>
                  </a:lnTo>
                  <a:lnTo>
                    <a:pt x="18" y="33"/>
                  </a:lnTo>
                  <a:lnTo>
                    <a:pt x="22" y="33"/>
                  </a:lnTo>
                  <a:lnTo>
                    <a:pt x="25" y="30"/>
                  </a:lnTo>
                  <a:lnTo>
                    <a:pt x="25" y="29"/>
                  </a:lnTo>
                  <a:lnTo>
                    <a:pt x="26" y="29"/>
                  </a:lnTo>
                  <a:lnTo>
                    <a:pt x="28" y="29"/>
                  </a:lnTo>
                  <a:lnTo>
                    <a:pt x="31" y="23"/>
                  </a:lnTo>
                  <a:lnTo>
                    <a:pt x="32" y="18"/>
                  </a:lnTo>
                  <a:lnTo>
                    <a:pt x="32" y="13"/>
                  </a:lnTo>
                  <a:lnTo>
                    <a:pt x="28" y="5"/>
                  </a:lnTo>
                  <a:lnTo>
                    <a:pt x="22" y="2"/>
                  </a:lnTo>
                  <a:lnTo>
                    <a:pt x="16" y="0"/>
                  </a:lnTo>
                  <a:lnTo>
                    <a:pt x="10" y="2"/>
                  </a:lnTo>
                  <a:lnTo>
                    <a:pt x="5" y="5"/>
                  </a:lnTo>
                  <a:lnTo>
                    <a:pt x="1" y="13"/>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02" name="Freeform 426">
              <a:extLst>
                <a:ext uri="{FF2B5EF4-FFF2-40B4-BE49-F238E27FC236}">
                  <a16:creationId xmlns:a16="http://schemas.microsoft.com/office/drawing/2014/main" id="{B87F5E9B-7635-F8DC-02EB-655740FA9234}"/>
                </a:ext>
              </a:extLst>
            </p:cNvPr>
            <p:cNvSpPr>
              <a:spLocks/>
            </p:cNvSpPr>
            <p:nvPr/>
          </p:nvSpPr>
          <p:spPr bwMode="auto">
            <a:xfrm>
              <a:off x="1245" y="1370"/>
              <a:ext cx="7" cy="4"/>
            </a:xfrm>
            <a:custGeom>
              <a:avLst/>
              <a:gdLst>
                <a:gd name="T0" fmla="*/ 0 w 24"/>
                <a:gd name="T1" fmla="*/ 6 h 13"/>
                <a:gd name="T2" fmla="*/ 2 w 24"/>
                <a:gd name="T3" fmla="*/ 11 h 13"/>
                <a:gd name="T4" fmla="*/ 11 w 24"/>
                <a:gd name="T5" fmla="*/ 13 h 13"/>
                <a:gd name="T6" fmla="*/ 16 w 24"/>
                <a:gd name="T7" fmla="*/ 12 h 13"/>
                <a:gd name="T8" fmla="*/ 16 w 24"/>
                <a:gd name="T9" fmla="*/ 11 h 13"/>
                <a:gd name="T10" fmla="*/ 17 w 24"/>
                <a:gd name="T11" fmla="*/ 11 h 13"/>
                <a:gd name="T12" fmla="*/ 20 w 24"/>
                <a:gd name="T13" fmla="*/ 11 h 13"/>
                <a:gd name="T14" fmla="*/ 22 w 24"/>
                <a:gd name="T15" fmla="*/ 8 h 13"/>
                <a:gd name="T16" fmla="*/ 24 w 24"/>
                <a:gd name="T17" fmla="*/ 6 h 13"/>
                <a:gd name="T18" fmla="*/ 22 w 24"/>
                <a:gd name="T19" fmla="*/ 4 h 13"/>
                <a:gd name="T20" fmla="*/ 20 w 24"/>
                <a:gd name="T21" fmla="*/ 1 h 13"/>
                <a:gd name="T22" fmla="*/ 12 w 24"/>
                <a:gd name="T23" fmla="*/ 0 h 13"/>
                <a:gd name="T24" fmla="*/ 11 w 24"/>
                <a:gd name="T25" fmla="*/ 0 h 13"/>
                <a:gd name="T26" fmla="*/ 2 w 24"/>
                <a:gd name="T27" fmla="*/ 1 h 13"/>
                <a:gd name="T28" fmla="*/ 0 w 24"/>
                <a:gd name="T2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13">
                  <a:moveTo>
                    <a:pt x="0" y="6"/>
                  </a:moveTo>
                  <a:lnTo>
                    <a:pt x="2" y="11"/>
                  </a:lnTo>
                  <a:lnTo>
                    <a:pt x="11" y="13"/>
                  </a:lnTo>
                  <a:lnTo>
                    <a:pt x="16" y="12"/>
                  </a:lnTo>
                  <a:lnTo>
                    <a:pt x="16" y="11"/>
                  </a:lnTo>
                  <a:lnTo>
                    <a:pt x="17" y="11"/>
                  </a:lnTo>
                  <a:lnTo>
                    <a:pt x="20" y="11"/>
                  </a:lnTo>
                  <a:lnTo>
                    <a:pt x="22" y="8"/>
                  </a:lnTo>
                  <a:lnTo>
                    <a:pt x="24" y="6"/>
                  </a:lnTo>
                  <a:lnTo>
                    <a:pt x="22" y="4"/>
                  </a:lnTo>
                  <a:lnTo>
                    <a:pt x="20" y="1"/>
                  </a:lnTo>
                  <a:lnTo>
                    <a:pt x="12" y="0"/>
                  </a:lnTo>
                  <a:lnTo>
                    <a:pt x="11" y="0"/>
                  </a:lnTo>
                  <a:lnTo>
                    <a:pt x="2" y="1"/>
                  </a:lnTo>
                  <a:lnTo>
                    <a:pt x="0" y="6"/>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03" name="Freeform 427">
              <a:extLst>
                <a:ext uri="{FF2B5EF4-FFF2-40B4-BE49-F238E27FC236}">
                  <a16:creationId xmlns:a16="http://schemas.microsoft.com/office/drawing/2014/main" id="{F1DF403C-7073-29D7-F6E2-545B8AE40455}"/>
                </a:ext>
              </a:extLst>
            </p:cNvPr>
            <p:cNvSpPr>
              <a:spLocks/>
            </p:cNvSpPr>
            <p:nvPr/>
          </p:nvSpPr>
          <p:spPr bwMode="auto">
            <a:xfrm>
              <a:off x="1201" y="1381"/>
              <a:ext cx="76" cy="10"/>
            </a:xfrm>
            <a:custGeom>
              <a:avLst/>
              <a:gdLst>
                <a:gd name="T0" fmla="*/ 183 w 251"/>
                <a:gd name="T1" fmla="*/ 27 h 47"/>
                <a:gd name="T2" fmla="*/ 158 w 251"/>
                <a:gd name="T3" fmla="*/ 22 h 47"/>
                <a:gd name="T4" fmla="*/ 128 w 251"/>
                <a:gd name="T5" fmla="*/ 12 h 47"/>
                <a:gd name="T6" fmla="*/ 102 w 251"/>
                <a:gd name="T7" fmla="*/ 0 h 47"/>
                <a:gd name="T8" fmla="*/ 62 w 251"/>
                <a:gd name="T9" fmla="*/ 8 h 47"/>
                <a:gd name="T10" fmla="*/ 56 w 251"/>
                <a:gd name="T11" fmla="*/ 11 h 47"/>
                <a:gd name="T12" fmla="*/ 30 w 251"/>
                <a:gd name="T13" fmla="*/ 21 h 47"/>
                <a:gd name="T14" fmla="*/ 14 w 251"/>
                <a:gd name="T15" fmla="*/ 31 h 47"/>
                <a:gd name="T16" fmla="*/ 6 w 251"/>
                <a:gd name="T17" fmla="*/ 34 h 47"/>
                <a:gd name="T18" fmla="*/ 3 w 251"/>
                <a:gd name="T19" fmla="*/ 39 h 47"/>
                <a:gd name="T20" fmla="*/ 0 w 251"/>
                <a:gd name="T21" fmla="*/ 47 h 47"/>
                <a:gd name="T22" fmla="*/ 1 w 251"/>
                <a:gd name="T23" fmla="*/ 47 h 47"/>
                <a:gd name="T24" fmla="*/ 16 w 251"/>
                <a:gd name="T25" fmla="*/ 45 h 47"/>
                <a:gd name="T26" fmla="*/ 32 w 251"/>
                <a:gd name="T27" fmla="*/ 45 h 47"/>
                <a:gd name="T28" fmla="*/ 63 w 251"/>
                <a:gd name="T29" fmla="*/ 45 h 47"/>
                <a:gd name="T30" fmla="*/ 91 w 251"/>
                <a:gd name="T31" fmla="*/ 45 h 47"/>
                <a:gd name="T32" fmla="*/ 117 w 251"/>
                <a:gd name="T33" fmla="*/ 45 h 47"/>
                <a:gd name="T34" fmla="*/ 141 w 251"/>
                <a:gd name="T35" fmla="*/ 45 h 47"/>
                <a:gd name="T36" fmla="*/ 162 w 251"/>
                <a:gd name="T37" fmla="*/ 45 h 47"/>
                <a:gd name="T38" fmla="*/ 180 w 251"/>
                <a:gd name="T39" fmla="*/ 45 h 47"/>
                <a:gd name="T40" fmla="*/ 198 w 251"/>
                <a:gd name="T41" fmla="*/ 45 h 47"/>
                <a:gd name="T42" fmla="*/ 211 w 251"/>
                <a:gd name="T43" fmla="*/ 43 h 47"/>
                <a:gd name="T44" fmla="*/ 224 w 251"/>
                <a:gd name="T45" fmla="*/ 43 h 47"/>
                <a:gd name="T46" fmla="*/ 232 w 251"/>
                <a:gd name="T47" fmla="*/ 43 h 47"/>
                <a:gd name="T48" fmla="*/ 241 w 251"/>
                <a:gd name="T49" fmla="*/ 43 h 47"/>
                <a:gd name="T50" fmla="*/ 246 w 251"/>
                <a:gd name="T51" fmla="*/ 42 h 47"/>
                <a:gd name="T52" fmla="*/ 250 w 251"/>
                <a:gd name="T53" fmla="*/ 42 h 47"/>
                <a:gd name="T54" fmla="*/ 251 w 251"/>
                <a:gd name="T55" fmla="*/ 42 h 47"/>
                <a:gd name="T56" fmla="*/ 250 w 251"/>
                <a:gd name="T57" fmla="*/ 42 h 47"/>
                <a:gd name="T58" fmla="*/ 236 w 251"/>
                <a:gd name="T59" fmla="*/ 37 h 47"/>
                <a:gd name="T60" fmla="*/ 220 w 251"/>
                <a:gd name="T61" fmla="*/ 34 h 47"/>
                <a:gd name="T62" fmla="*/ 201 w 251"/>
                <a:gd name="T63" fmla="*/ 29 h 47"/>
                <a:gd name="T64" fmla="*/ 183 w 251"/>
                <a:gd name="T65" fmla="*/ 2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1" h="47">
                  <a:moveTo>
                    <a:pt x="183" y="27"/>
                  </a:moveTo>
                  <a:lnTo>
                    <a:pt x="158" y="22"/>
                  </a:lnTo>
                  <a:lnTo>
                    <a:pt x="128" y="12"/>
                  </a:lnTo>
                  <a:lnTo>
                    <a:pt x="102" y="0"/>
                  </a:lnTo>
                  <a:lnTo>
                    <a:pt x="62" y="8"/>
                  </a:lnTo>
                  <a:lnTo>
                    <a:pt x="56" y="11"/>
                  </a:lnTo>
                  <a:lnTo>
                    <a:pt x="30" y="21"/>
                  </a:lnTo>
                  <a:lnTo>
                    <a:pt x="14" y="31"/>
                  </a:lnTo>
                  <a:lnTo>
                    <a:pt x="6" y="34"/>
                  </a:lnTo>
                  <a:lnTo>
                    <a:pt x="3" y="39"/>
                  </a:lnTo>
                  <a:lnTo>
                    <a:pt x="0" y="47"/>
                  </a:lnTo>
                  <a:lnTo>
                    <a:pt x="1" y="47"/>
                  </a:lnTo>
                  <a:lnTo>
                    <a:pt x="16" y="45"/>
                  </a:lnTo>
                  <a:lnTo>
                    <a:pt x="32" y="45"/>
                  </a:lnTo>
                  <a:lnTo>
                    <a:pt x="63" y="45"/>
                  </a:lnTo>
                  <a:lnTo>
                    <a:pt x="91" y="45"/>
                  </a:lnTo>
                  <a:lnTo>
                    <a:pt x="117" y="45"/>
                  </a:lnTo>
                  <a:lnTo>
                    <a:pt x="141" y="45"/>
                  </a:lnTo>
                  <a:lnTo>
                    <a:pt x="162" y="45"/>
                  </a:lnTo>
                  <a:lnTo>
                    <a:pt x="180" y="45"/>
                  </a:lnTo>
                  <a:lnTo>
                    <a:pt x="198" y="45"/>
                  </a:lnTo>
                  <a:lnTo>
                    <a:pt x="211" y="43"/>
                  </a:lnTo>
                  <a:lnTo>
                    <a:pt x="224" y="43"/>
                  </a:lnTo>
                  <a:lnTo>
                    <a:pt x="232" y="43"/>
                  </a:lnTo>
                  <a:lnTo>
                    <a:pt x="241" y="43"/>
                  </a:lnTo>
                  <a:lnTo>
                    <a:pt x="246" y="42"/>
                  </a:lnTo>
                  <a:lnTo>
                    <a:pt x="250" y="42"/>
                  </a:lnTo>
                  <a:lnTo>
                    <a:pt x="251" y="42"/>
                  </a:lnTo>
                  <a:lnTo>
                    <a:pt x="250" y="42"/>
                  </a:lnTo>
                  <a:lnTo>
                    <a:pt x="236" y="37"/>
                  </a:lnTo>
                  <a:lnTo>
                    <a:pt x="220" y="34"/>
                  </a:lnTo>
                  <a:lnTo>
                    <a:pt x="201" y="29"/>
                  </a:lnTo>
                  <a:lnTo>
                    <a:pt x="183" y="27"/>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04" name="Freeform 428">
              <a:extLst>
                <a:ext uri="{FF2B5EF4-FFF2-40B4-BE49-F238E27FC236}">
                  <a16:creationId xmlns:a16="http://schemas.microsoft.com/office/drawing/2014/main" id="{9882A762-88E1-BF1B-B066-4DDB3F5DAAF4}"/>
                </a:ext>
              </a:extLst>
            </p:cNvPr>
            <p:cNvSpPr>
              <a:spLocks noEditPoints="1"/>
            </p:cNvSpPr>
            <p:nvPr/>
          </p:nvSpPr>
          <p:spPr bwMode="auto">
            <a:xfrm>
              <a:off x="1129" y="1215"/>
              <a:ext cx="268" cy="150"/>
            </a:xfrm>
            <a:custGeom>
              <a:avLst/>
              <a:gdLst>
                <a:gd name="T0" fmla="*/ 834 w 883"/>
                <a:gd name="T1" fmla="*/ 680 h 680"/>
                <a:gd name="T2" fmla="*/ 883 w 883"/>
                <a:gd name="T3" fmla="*/ 680 h 680"/>
                <a:gd name="T4" fmla="*/ 883 w 883"/>
                <a:gd name="T5" fmla="*/ 0 h 680"/>
                <a:gd name="T6" fmla="*/ 0 w 883"/>
                <a:gd name="T7" fmla="*/ 0 h 680"/>
                <a:gd name="T8" fmla="*/ 0 w 883"/>
                <a:gd name="T9" fmla="*/ 680 h 680"/>
                <a:gd name="T10" fmla="*/ 65 w 883"/>
                <a:gd name="T11" fmla="*/ 680 h 680"/>
                <a:gd name="T12" fmla="*/ 274 w 883"/>
                <a:gd name="T13" fmla="*/ 680 h 680"/>
                <a:gd name="T14" fmla="*/ 624 w 883"/>
                <a:gd name="T15" fmla="*/ 680 h 680"/>
                <a:gd name="T16" fmla="*/ 834 w 883"/>
                <a:gd name="T17" fmla="*/ 680 h 680"/>
                <a:gd name="T18" fmla="*/ 849 w 883"/>
                <a:gd name="T19" fmla="*/ 41 h 680"/>
                <a:gd name="T20" fmla="*/ 849 w 883"/>
                <a:gd name="T21" fmla="*/ 608 h 680"/>
                <a:gd name="T22" fmla="*/ 37 w 883"/>
                <a:gd name="T23" fmla="*/ 608 h 680"/>
                <a:gd name="T24" fmla="*/ 37 w 883"/>
                <a:gd name="T25" fmla="*/ 602 h 680"/>
                <a:gd name="T26" fmla="*/ 37 w 883"/>
                <a:gd name="T27" fmla="*/ 41 h 680"/>
                <a:gd name="T28" fmla="*/ 849 w 883"/>
                <a:gd name="T29" fmla="*/ 41 h 680"/>
                <a:gd name="T30" fmla="*/ 121 w 883"/>
                <a:gd name="T31" fmla="*/ 659 h 680"/>
                <a:gd name="T32" fmla="*/ 37 w 883"/>
                <a:gd name="T33" fmla="*/ 659 h 680"/>
                <a:gd name="T34" fmla="*/ 37 w 883"/>
                <a:gd name="T35" fmla="*/ 631 h 680"/>
                <a:gd name="T36" fmla="*/ 121 w 883"/>
                <a:gd name="T37" fmla="*/ 631 h 680"/>
                <a:gd name="T38" fmla="*/ 121 w 883"/>
                <a:gd name="T39" fmla="*/ 659 h 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83" h="680">
                  <a:moveTo>
                    <a:pt x="834" y="680"/>
                  </a:moveTo>
                  <a:lnTo>
                    <a:pt x="883" y="680"/>
                  </a:lnTo>
                  <a:lnTo>
                    <a:pt x="883" y="0"/>
                  </a:lnTo>
                  <a:lnTo>
                    <a:pt x="0" y="0"/>
                  </a:lnTo>
                  <a:lnTo>
                    <a:pt x="0" y="680"/>
                  </a:lnTo>
                  <a:lnTo>
                    <a:pt x="65" y="680"/>
                  </a:lnTo>
                  <a:lnTo>
                    <a:pt x="274" y="680"/>
                  </a:lnTo>
                  <a:lnTo>
                    <a:pt x="624" y="680"/>
                  </a:lnTo>
                  <a:lnTo>
                    <a:pt x="834" y="680"/>
                  </a:lnTo>
                  <a:close/>
                  <a:moveTo>
                    <a:pt x="849" y="41"/>
                  </a:moveTo>
                  <a:lnTo>
                    <a:pt x="849" y="608"/>
                  </a:lnTo>
                  <a:lnTo>
                    <a:pt x="37" y="608"/>
                  </a:lnTo>
                  <a:lnTo>
                    <a:pt x="37" y="602"/>
                  </a:lnTo>
                  <a:lnTo>
                    <a:pt x="37" y="41"/>
                  </a:lnTo>
                  <a:lnTo>
                    <a:pt x="849" y="41"/>
                  </a:lnTo>
                  <a:close/>
                  <a:moveTo>
                    <a:pt x="121" y="659"/>
                  </a:moveTo>
                  <a:lnTo>
                    <a:pt x="37" y="659"/>
                  </a:lnTo>
                  <a:lnTo>
                    <a:pt x="37" y="631"/>
                  </a:lnTo>
                  <a:lnTo>
                    <a:pt x="121" y="631"/>
                  </a:lnTo>
                  <a:lnTo>
                    <a:pt x="121" y="659"/>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05" name="Freeform 429">
              <a:extLst>
                <a:ext uri="{FF2B5EF4-FFF2-40B4-BE49-F238E27FC236}">
                  <a16:creationId xmlns:a16="http://schemas.microsoft.com/office/drawing/2014/main" id="{3CF547F9-37F4-991A-109F-133099292E80}"/>
                </a:ext>
              </a:extLst>
            </p:cNvPr>
            <p:cNvSpPr>
              <a:spLocks noEditPoints="1"/>
            </p:cNvSpPr>
            <p:nvPr/>
          </p:nvSpPr>
          <p:spPr bwMode="auto">
            <a:xfrm>
              <a:off x="1141" y="1223"/>
              <a:ext cx="245" cy="127"/>
            </a:xfrm>
            <a:custGeom>
              <a:avLst/>
              <a:gdLst>
                <a:gd name="T0" fmla="*/ 812 w 812"/>
                <a:gd name="T1" fmla="*/ 567 h 567"/>
                <a:gd name="T2" fmla="*/ 812 w 812"/>
                <a:gd name="T3" fmla="*/ 0 h 567"/>
                <a:gd name="T4" fmla="*/ 0 w 812"/>
                <a:gd name="T5" fmla="*/ 0 h 567"/>
                <a:gd name="T6" fmla="*/ 0 w 812"/>
                <a:gd name="T7" fmla="*/ 561 h 567"/>
                <a:gd name="T8" fmla="*/ 0 w 812"/>
                <a:gd name="T9" fmla="*/ 567 h 567"/>
                <a:gd name="T10" fmla="*/ 812 w 812"/>
                <a:gd name="T11" fmla="*/ 567 h 567"/>
                <a:gd name="T12" fmla="*/ 629 w 812"/>
                <a:gd name="T13" fmla="*/ 6 h 567"/>
                <a:gd name="T14" fmla="*/ 803 w 812"/>
                <a:gd name="T15" fmla="*/ 6 h 567"/>
                <a:gd name="T16" fmla="*/ 807 w 812"/>
                <a:gd name="T17" fmla="*/ 143 h 567"/>
                <a:gd name="T18" fmla="*/ 808 w 812"/>
                <a:gd name="T19" fmla="*/ 281 h 567"/>
                <a:gd name="T20" fmla="*/ 807 w 812"/>
                <a:gd name="T21" fmla="*/ 420 h 567"/>
                <a:gd name="T22" fmla="*/ 803 w 812"/>
                <a:gd name="T23" fmla="*/ 562 h 567"/>
                <a:gd name="T24" fmla="*/ 167 w 812"/>
                <a:gd name="T25" fmla="*/ 562 h 567"/>
                <a:gd name="T26" fmla="*/ 9 w 812"/>
                <a:gd name="T27" fmla="*/ 562 h 567"/>
                <a:gd name="T28" fmla="*/ 9 w 812"/>
                <a:gd name="T29" fmla="*/ 554 h 567"/>
                <a:gd name="T30" fmla="*/ 4 w 812"/>
                <a:gd name="T31" fmla="*/ 416 h 567"/>
                <a:gd name="T32" fmla="*/ 3 w 812"/>
                <a:gd name="T33" fmla="*/ 280 h 567"/>
                <a:gd name="T34" fmla="*/ 4 w 812"/>
                <a:gd name="T35" fmla="*/ 143 h 567"/>
                <a:gd name="T36" fmla="*/ 9 w 812"/>
                <a:gd name="T37" fmla="*/ 6 h 567"/>
                <a:gd name="T38" fmla="*/ 629 w 812"/>
                <a:gd name="T39" fmla="*/ 6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12" h="567">
                  <a:moveTo>
                    <a:pt x="812" y="567"/>
                  </a:moveTo>
                  <a:lnTo>
                    <a:pt x="812" y="0"/>
                  </a:lnTo>
                  <a:lnTo>
                    <a:pt x="0" y="0"/>
                  </a:lnTo>
                  <a:lnTo>
                    <a:pt x="0" y="561"/>
                  </a:lnTo>
                  <a:lnTo>
                    <a:pt x="0" y="567"/>
                  </a:lnTo>
                  <a:lnTo>
                    <a:pt x="812" y="567"/>
                  </a:lnTo>
                  <a:close/>
                  <a:moveTo>
                    <a:pt x="629" y="6"/>
                  </a:moveTo>
                  <a:lnTo>
                    <a:pt x="803" y="6"/>
                  </a:lnTo>
                  <a:lnTo>
                    <a:pt x="807" y="143"/>
                  </a:lnTo>
                  <a:lnTo>
                    <a:pt x="808" y="281"/>
                  </a:lnTo>
                  <a:lnTo>
                    <a:pt x="807" y="420"/>
                  </a:lnTo>
                  <a:lnTo>
                    <a:pt x="803" y="562"/>
                  </a:lnTo>
                  <a:lnTo>
                    <a:pt x="167" y="562"/>
                  </a:lnTo>
                  <a:lnTo>
                    <a:pt x="9" y="562"/>
                  </a:lnTo>
                  <a:lnTo>
                    <a:pt x="9" y="554"/>
                  </a:lnTo>
                  <a:lnTo>
                    <a:pt x="4" y="416"/>
                  </a:lnTo>
                  <a:lnTo>
                    <a:pt x="3" y="280"/>
                  </a:lnTo>
                  <a:lnTo>
                    <a:pt x="4" y="143"/>
                  </a:lnTo>
                  <a:lnTo>
                    <a:pt x="9" y="6"/>
                  </a:lnTo>
                  <a:lnTo>
                    <a:pt x="629" y="6"/>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06" name="Freeform 430">
              <a:extLst>
                <a:ext uri="{FF2B5EF4-FFF2-40B4-BE49-F238E27FC236}">
                  <a16:creationId xmlns:a16="http://schemas.microsoft.com/office/drawing/2014/main" id="{19506A59-ECF2-BF02-9347-9DC69767752C}"/>
                </a:ext>
              </a:extLst>
            </p:cNvPr>
            <p:cNvSpPr>
              <a:spLocks/>
            </p:cNvSpPr>
            <p:nvPr/>
          </p:nvSpPr>
          <p:spPr bwMode="auto">
            <a:xfrm>
              <a:off x="1191" y="1225"/>
              <a:ext cx="194" cy="124"/>
            </a:xfrm>
            <a:custGeom>
              <a:avLst/>
              <a:gdLst>
                <a:gd name="T0" fmla="*/ 636 w 641"/>
                <a:gd name="T1" fmla="*/ 0 h 556"/>
                <a:gd name="T2" fmla="*/ 462 w 641"/>
                <a:gd name="T3" fmla="*/ 0 h 556"/>
                <a:gd name="T4" fmla="*/ 476 w 641"/>
                <a:gd name="T5" fmla="*/ 33 h 556"/>
                <a:gd name="T6" fmla="*/ 488 w 641"/>
                <a:gd name="T7" fmla="*/ 66 h 556"/>
                <a:gd name="T8" fmla="*/ 493 w 641"/>
                <a:gd name="T9" fmla="*/ 81 h 556"/>
                <a:gd name="T10" fmla="*/ 496 w 641"/>
                <a:gd name="T11" fmla="*/ 89 h 556"/>
                <a:gd name="T12" fmla="*/ 500 w 641"/>
                <a:gd name="T13" fmla="*/ 97 h 556"/>
                <a:gd name="T14" fmla="*/ 503 w 641"/>
                <a:gd name="T15" fmla="*/ 112 h 556"/>
                <a:gd name="T16" fmla="*/ 508 w 641"/>
                <a:gd name="T17" fmla="*/ 128 h 556"/>
                <a:gd name="T18" fmla="*/ 511 w 641"/>
                <a:gd name="T19" fmla="*/ 142 h 556"/>
                <a:gd name="T20" fmla="*/ 515 w 641"/>
                <a:gd name="T21" fmla="*/ 157 h 556"/>
                <a:gd name="T22" fmla="*/ 520 w 641"/>
                <a:gd name="T23" fmla="*/ 185 h 556"/>
                <a:gd name="T24" fmla="*/ 523 w 641"/>
                <a:gd name="T25" fmla="*/ 213 h 556"/>
                <a:gd name="T26" fmla="*/ 526 w 641"/>
                <a:gd name="T27" fmla="*/ 240 h 556"/>
                <a:gd name="T28" fmla="*/ 524 w 641"/>
                <a:gd name="T29" fmla="*/ 245 h 556"/>
                <a:gd name="T30" fmla="*/ 524 w 641"/>
                <a:gd name="T31" fmla="*/ 251 h 556"/>
                <a:gd name="T32" fmla="*/ 524 w 641"/>
                <a:gd name="T33" fmla="*/ 264 h 556"/>
                <a:gd name="T34" fmla="*/ 522 w 641"/>
                <a:gd name="T35" fmla="*/ 289 h 556"/>
                <a:gd name="T36" fmla="*/ 518 w 641"/>
                <a:gd name="T37" fmla="*/ 311 h 556"/>
                <a:gd name="T38" fmla="*/ 513 w 641"/>
                <a:gd name="T39" fmla="*/ 335 h 556"/>
                <a:gd name="T40" fmla="*/ 505 w 641"/>
                <a:gd name="T41" fmla="*/ 354 h 556"/>
                <a:gd name="T42" fmla="*/ 495 w 641"/>
                <a:gd name="T43" fmla="*/ 376 h 556"/>
                <a:gd name="T44" fmla="*/ 491 w 641"/>
                <a:gd name="T45" fmla="*/ 379 h 556"/>
                <a:gd name="T46" fmla="*/ 488 w 641"/>
                <a:gd name="T47" fmla="*/ 384 h 556"/>
                <a:gd name="T48" fmla="*/ 483 w 641"/>
                <a:gd name="T49" fmla="*/ 394 h 556"/>
                <a:gd name="T50" fmla="*/ 471 w 641"/>
                <a:gd name="T51" fmla="*/ 413 h 556"/>
                <a:gd name="T52" fmla="*/ 455 w 641"/>
                <a:gd name="T53" fmla="*/ 428 h 556"/>
                <a:gd name="T54" fmla="*/ 437 w 641"/>
                <a:gd name="T55" fmla="*/ 444 h 556"/>
                <a:gd name="T56" fmla="*/ 418 w 641"/>
                <a:gd name="T57" fmla="*/ 458 h 556"/>
                <a:gd name="T58" fmla="*/ 396 w 641"/>
                <a:gd name="T59" fmla="*/ 473 h 556"/>
                <a:gd name="T60" fmla="*/ 384 w 641"/>
                <a:gd name="T61" fmla="*/ 478 h 556"/>
                <a:gd name="T62" fmla="*/ 378 w 641"/>
                <a:gd name="T63" fmla="*/ 480 h 556"/>
                <a:gd name="T64" fmla="*/ 373 w 641"/>
                <a:gd name="T65" fmla="*/ 484 h 556"/>
                <a:gd name="T66" fmla="*/ 348 w 641"/>
                <a:gd name="T67" fmla="*/ 496 h 556"/>
                <a:gd name="T68" fmla="*/ 322 w 641"/>
                <a:gd name="T69" fmla="*/ 506 h 556"/>
                <a:gd name="T70" fmla="*/ 295 w 641"/>
                <a:gd name="T71" fmla="*/ 516 h 556"/>
                <a:gd name="T72" fmla="*/ 263 w 641"/>
                <a:gd name="T73" fmla="*/ 524 h 556"/>
                <a:gd name="T74" fmla="*/ 231 w 641"/>
                <a:gd name="T75" fmla="*/ 531 h 556"/>
                <a:gd name="T76" fmla="*/ 198 w 641"/>
                <a:gd name="T77" fmla="*/ 536 h 556"/>
                <a:gd name="T78" fmla="*/ 179 w 641"/>
                <a:gd name="T79" fmla="*/ 538 h 556"/>
                <a:gd name="T80" fmla="*/ 162 w 641"/>
                <a:gd name="T81" fmla="*/ 542 h 556"/>
                <a:gd name="T82" fmla="*/ 142 w 641"/>
                <a:gd name="T83" fmla="*/ 543 h 556"/>
                <a:gd name="T84" fmla="*/ 123 w 641"/>
                <a:gd name="T85" fmla="*/ 546 h 556"/>
                <a:gd name="T86" fmla="*/ 83 w 641"/>
                <a:gd name="T87" fmla="*/ 550 h 556"/>
                <a:gd name="T88" fmla="*/ 62 w 641"/>
                <a:gd name="T89" fmla="*/ 550 h 556"/>
                <a:gd name="T90" fmla="*/ 42 w 641"/>
                <a:gd name="T91" fmla="*/ 551 h 556"/>
                <a:gd name="T92" fmla="*/ 0 w 641"/>
                <a:gd name="T93" fmla="*/ 553 h 556"/>
                <a:gd name="T94" fmla="*/ 0 w 641"/>
                <a:gd name="T95" fmla="*/ 556 h 556"/>
                <a:gd name="T96" fmla="*/ 636 w 641"/>
                <a:gd name="T97" fmla="*/ 556 h 556"/>
                <a:gd name="T98" fmla="*/ 640 w 641"/>
                <a:gd name="T99" fmla="*/ 414 h 556"/>
                <a:gd name="T100" fmla="*/ 641 w 641"/>
                <a:gd name="T101" fmla="*/ 275 h 556"/>
                <a:gd name="T102" fmla="*/ 640 w 641"/>
                <a:gd name="T103" fmla="*/ 137 h 556"/>
                <a:gd name="T104" fmla="*/ 636 w 641"/>
                <a:gd name="T105" fmla="*/ 0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41" h="556">
                  <a:moveTo>
                    <a:pt x="636" y="0"/>
                  </a:moveTo>
                  <a:lnTo>
                    <a:pt x="462" y="0"/>
                  </a:lnTo>
                  <a:lnTo>
                    <a:pt x="476" y="33"/>
                  </a:lnTo>
                  <a:lnTo>
                    <a:pt x="488" y="66"/>
                  </a:lnTo>
                  <a:lnTo>
                    <a:pt x="493" y="81"/>
                  </a:lnTo>
                  <a:lnTo>
                    <a:pt x="496" y="89"/>
                  </a:lnTo>
                  <a:lnTo>
                    <a:pt x="500" y="97"/>
                  </a:lnTo>
                  <a:lnTo>
                    <a:pt x="503" y="112"/>
                  </a:lnTo>
                  <a:lnTo>
                    <a:pt x="508" y="128"/>
                  </a:lnTo>
                  <a:lnTo>
                    <a:pt x="511" y="142"/>
                  </a:lnTo>
                  <a:lnTo>
                    <a:pt x="515" y="157"/>
                  </a:lnTo>
                  <a:lnTo>
                    <a:pt x="520" y="185"/>
                  </a:lnTo>
                  <a:lnTo>
                    <a:pt x="523" y="213"/>
                  </a:lnTo>
                  <a:lnTo>
                    <a:pt x="526" y="240"/>
                  </a:lnTo>
                  <a:lnTo>
                    <a:pt x="524" y="245"/>
                  </a:lnTo>
                  <a:lnTo>
                    <a:pt x="524" y="251"/>
                  </a:lnTo>
                  <a:lnTo>
                    <a:pt x="524" y="264"/>
                  </a:lnTo>
                  <a:lnTo>
                    <a:pt x="522" y="289"/>
                  </a:lnTo>
                  <a:lnTo>
                    <a:pt x="518" y="311"/>
                  </a:lnTo>
                  <a:lnTo>
                    <a:pt x="513" y="335"/>
                  </a:lnTo>
                  <a:lnTo>
                    <a:pt x="505" y="354"/>
                  </a:lnTo>
                  <a:lnTo>
                    <a:pt x="495" y="376"/>
                  </a:lnTo>
                  <a:lnTo>
                    <a:pt x="491" y="379"/>
                  </a:lnTo>
                  <a:lnTo>
                    <a:pt x="488" y="384"/>
                  </a:lnTo>
                  <a:lnTo>
                    <a:pt x="483" y="394"/>
                  </a:lnTo>
                  <a:lnTo>
                    <a:pt x="471" y="413"/>
                  </a:lnTo>
                  <a:lnTo>
                    <a:pt x="455" y="428"/>
                  </a:lnTo>
                  <a:lnTo>
                    <a:pt x="437" y="444"/>
                  </a:lnTo>
                  <a:lnTo>
                    <a:pt x="418" y="458"/>
                  </a:lnTo>
                  <a:lnTo>
                    <a:pt x="396" y="473"/>
                  </a:lnTo>
                  <a:lnTo>
                    <a:pt x="384" y="478"/>
                  </a:lnTo>
                  <a:lnTo>
                    <a:pt x="378" y="480"/>
                  </a:lnTo>
                  <a:lnTo>
                    <a:pt x="373" y="484"/>
                  </a:lnTo>
                  <a:lnTo>
                    <a:pt x="348" y="496"/>
                  </a:lnTo>
                  <a:lnTo>
                    <a:pt x="322" y="506"/>
                  </a:lnTo>
                  <a:lnTo>
                    <a:pt x="295" y="516"/>
                  </a:lnTo>
                  <a:lnTo>
                    <a:pt x="263" y="524"/>
                  </a:lnTo>
                  <a:lnTo>
                    <a:pt x="231" y="531"/>
                  </a:lnTo>
                  <a:lnTo>
                    <a:pt x="198" y="536"/>
                  </a:lnTo>
                  <a:lnTo>
                    <a:pt x="179" y="538"/>
                  </a:lnTo>
                  <a:lnTo>
                    <a:pt x="162" y="542"/>
                  </a:lnTo>
                  <a:lnTo>
                    <a:pt x="142" y="543"/>
                  </a:lnTo>
                  <a:lnTo>
                    <a:pt x="123" y="546"/>
                  </a:lnTo>
                  <a:lnTo>
                    <a:pt x="83" y="550"/>
                  </a:lnTo>
                  <a:lnTo>
                    <a:pt x="62" y="550"/>
                  </a:lnTo>
                  <a:lnTo>
                    <a:pt x="42" y="551"/>
                  </a:lnTo>
                  <a:lnTo>
                    <a:pt x="0" y="553"/>
                  </a:lnTo>
                  <a:lnTo>
                    <a:pt x="0" y="556"/>
                  </a:lnTo>
                  <a:lnTo>
                    <a:pt x="636" y="556"/>
                  </a:lnTo>
                  <a:lnTo>
                    <a:pt x="640" y="414"/>
                  </a:lnTo>
                  <a:lnTo>
                    <a:pt x="641" y="275"/>
                  </a:lnTo>
                  <a:lnTo>
                    <a:pt x="640" y="137"/>
                  </a:lnTo>
                  <a:lnTo>
                    <a:pt x="636" y="0"/>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07" name="Freeform 431">
              <a:extLst>
                <a:ext uri="{FF2B5EF4-FFF2-40B4-BE49-F238E27FC236}">
                  <a16:creationId xmlns:a16="http://schemas.microsoft.com/office/drawing/2014/main" id="{0A25877B-58D6-640D-FE1A-17C1E6F52610}"/>
                </a:ext>
              </a:extLst>
            </p:cNvPr>
            <p:cNvSpPr>
              <a:spLocks/>
            </p:cNvSpPr>
            <p:nvPr/>
          </p:nvSpPr>
          <p:spPr bwMode="auto">
            <a:xfrm>
              <a:off x="1144" y="1347"/>
              <a:ext cx="47" cy="2"/>
            </a:xfrm>
            <a:custGeom>
              <a:avLst/>
              <a:gdLst>
                <a:gd name="T0" fmla="*/ 158 w 158"/>
                <a:gd name="T1" fmla="*/ 8 h 8"/>
                <a:gd name="T2" fmla="*/ 158 w 158"/>
                <a:gd name="T3" fmla="*/ 5 h 8"/>
                <a:gd name="T4" fmla="*/ 138 w 158"/>
                <a:gd name="T5" fmla="*/ 4 h 8"/>
                <a:gd name="T6" fmla="*/ 119 w 158"/>
                <a:gd name="T7" fmla="*/ 4 h 8"/>
                <a:gd name="T8" fmla="*/ 81 w 158"/>
                <a:gd name="T9" fmla="*/ 4 h 8"/>
                <a:gd name="T10" fmla="*/ 40 w 158"/>
                <a:gd name="T11" fmla="*/ 2 h 8"/>
                <a:gd name="T12" fmla="*/ 0 w 158"/>
                <a:gd name="T13" fmla="*/ 0 h 8"/>
                <a:gd name="T14" fmla="*/ 0 w 158"/>
                <a:gd name="T15" fmla="*/ 8 h 8"/>
                <a:gd name="T16" fmla="*/ 158 w 158"/>
                <a:gd name="T17" fmla="*/ 8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8">
                  <a:moveTo>
                    <a:pt x="158" y="8"/>
                  </a:moveTo>
                  <a:lnTo>
                    <a:pt x="158" y="5"/>
                  </a:lnTo>
                  <a:lnTo>
                    <a:pt x="138" y="4"/>
                  </a:lnTo>
                  <a:lnTo>
                    <a:pt x="119" y="4"/>
                  </a:lnTo>
                  <a:lnTo>
                    <a:pt x="81" y="4"/>
                  </a:lnTo>
                  <a:lnTo>
                    <a:pt x="40" y="2"/>
                  </a:lnTo>
                  <a:lnTo>
                    <a:pt x="0" y="0"/>
                  </a:lnTo>
                  <a:lnTo>
                    <a:pt x="0" y="8"/>
                  </a:lnTo>
                  <a:lnTo>
                    <a:pt x="158" y="8"/>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08" name="Freeform 432">
              <a:extLst>
                <a:ext uri="{FF2B5EF4-FFF2-40B4-BE49-F238E27FC236}">
                  <a16:creationId xmlns:a16="http://schemas.microsoft.com/office/drawing/2014/main" id="{764256D9-8F41-EDDF-B937-302F658FEBFD}"/>
                </a:ext>
              </a:extLst>
            </p:cNvPr>
            <p:cNvSpPr>
              <a:spLocks/>
            </p:cNvSpPr>
            <p:nvPr/>
          </p:nvSpPr>
          <p:spPr bwMode="auto">
            <a:xfrm>
              <a:off x="1141" y="1225"/>
              <a:ext cx="209" cy="124"/>
            </a:xfrm>
            <a:custGeom>
              <a:avLst/>
              <a:gdLst>
                <a:gd name="T0" fmla="*/ 6 w 690"/>
                <a:gd name="T1" fmla="*/ 548 h 553"/>
                <a:gd name="T2" fmla="*/ 46 w 690"/>
                <a:gd name="T3" fmla="*/ 550 h 553"/>
                <a:gd name="T4" fmla="*/ 87 w 690"/>
                <a:gd name="T5" fmla="*/ 552 h 553"/>
                <a:gd name="T6" fmla="*/ 125 w 690"/>
                <a:gd name="T7" fmla="*/ 552 h 553"/>
                <a:gd name="T8" fmla="*/ 144 w 690"/>
                <a:gd name="T9" fmla="*/ 552 h 553"/>
                <a:gd name="T10" fmla="*/ 164 w 690"/>
                <a:gd name="T11" fmla="*/ 553 h 553"/>
                <a:gd name="T12" fmla="*/ 206 w 690"/>
                <a:gd name="T13" fmla="*/ 551 h 553"/>
                <a:gd name="T14" fmla="*/ 226 w 690"/>
                <a:gd name="T15" fmla="*/ 550 h 553"/>
                <a:gd name="T16" fmla="*/ 247 w 690"/>
                <a:gd name="T17" fmla="*/ 550 h 553"/>
                <a:gd name="T18" fmla="*/ 287 w 690"/>
                <a:gd name="T19" fmla="*/ 546 h 553"/>
                <a:gd name="T20" fmla="*/ 306 w 690"/>
                <a:gd name="T21" fmla="*/ 543 h 553"/>
                <a:gd name="T22" fmla="*/ 326 w 690"/>
                <a:gd name="T23" fmla="*/ 542 h 553"/>
                <a:gd name="T24" fmla="*/ 343 w 690"/>
                <a:gd name="T25" fmla="*/ 538 h 553"/>
                <a:gd name="T26" fmla="*/ 362 w 690"/>
                <a:gd name="T27" fmla="*/ 536 h 553"/>
                <a:gd name="T28" fmla="*/ 395 w 690"/>
                <a:gd name="T29" fmla="*/ 531 h 553"/>
                <a:gd name="T30" fmla="*/ 427 w 690"/>
                <a:gd name="T31" fmla="*/ 524 h 553"/>
                <a:gd name="T32" fmla="*/ 459 w 690"/>
                <a:gd name="T33" fmla="*/ 516 h 553"/>
                <a:gd name="T34" fmla="*/ 486 w 690"/>
                <a:gd name="T35" fmla="*/ 506 h 553"/>
                <a:gd name="T36" fmla="*/ 512 w 690"/>
                <a:gd name="T37" fmla="*/ 496 h 553"/>
                <a:gd name="T38" fmla="*/ 537 w 690"/>
                <a:gd name="T39" fmla="*/ 484 h 553"/>
                <a:gd name="T40" fmla="*/ 542 w 690"/>
                <a:gd name="T41" fmla="*/ 480 h 553"/>
                <a:gd name="T42" fmla="*/ 548 w 690"/>
                <a:gd name="T43" fmla="*/ 478 h 553"/>
                <a:gd name="T44" fmla="*/ 560 w 690"/>
                <a:gd name="T45" fmla="*/ 473 h 553"/>
                <a:gd name="T46" fmla="*/ 582 w 690"/>
                <a:gd name="T47" fmla="*/ 458 h 553"/>
                <a:gd name="T48" fmla="*/ 601 w 690"/>
                <a:gd name="T49" fmla="*/ 444 h 553"/>
                <a:gd name="T50" fmla="*/ 619 w 690"/>
                <a:gd name="T51" fmla="*/ 428 h 553"/>
                <a:gd name="T52" fmla="*/ 635 w 690"/>
                <a:gd name="T53" fmla="*/ 413 h 553"/>
                <a:gd name="T54" fmla="*/ 647 w 690"/>
                <a:gd name="T55" fmla="*/ 394 h 553"/>
                <a:gd name="T56" fmla="*/ 652 w 690"/>
                <a:gd name="T57" fmla="*/ 384 h 553"/>
                <a:gd name="T58" fmla="*/ 655 w 690"/>
                <a:gd name="T59" fmla="*/ 379 h 553"/>
                <a:gd name="T60" fmla="*/ 659 w 690"/>
                <a:gd name="T61" fmla="*/ 376 h 553"/>
                <a:gd name="T62" fmla="*/ 669 w 690"/>
                <a:gd name="T63" fmla="*/ 354 h 553"/>
                <a:gd name="T64" fmla="*/ 677 w 690"/>
                <a:gd name="T65" fmla="*/ 335 h 553"/>
                <a:gd name="T66" fmla="*/ 682 w 690"/>
                <a:gd name="T67" fmla="*/ 311 h 553"/>
                <a:gd name="T68" fmla="*/ 686 w 690"/>
                <a:gd name="T69" fmla="*/ 289 h 553"/>
                <a:gd name="T70" fmla="*/ 688 w 690"/>
                <a:gd name="T71" fmla="*/ 264 h 553"/>
                <a:gd name="T72" fmla="*/ 688 w 690"/>
                <a:gd name="T73" fmla="*/ 251 h 553"/>
                <a:gd name="T74" fmla="*/ 688 w 690"/>
                <a:gd name="T75" fmla="*/ 245 h 553"/>
                <a:gd name="T76" fmla="*/ 690 w 690"/>
                <a:gd name="T77" fmla="*/ 240 h 553"/>
                <a:gd name="T78" fmla="*/ 687 w 690"/>
                <a:gd name="T79" fmla="*/ 213 h 553"/>
                <a:gd name="T80" fmla="*/ 684 w 690"/>
                <a:gd name="T81" fmla="*/ 185 h 553"/>
                <a:gd name="T82" fmla="*/ 679 w 690"/>
                <a:gd name="T83" fmla="*/ 157 h 553"/>
                <a:gd name="T84" fmla="*/ 675 w 690"/>
                <a:gd name="T85" fmla="*/ 142 h 553"/>
                <a:gd name="T86" fmla="*/ 672 w 690"/>
                <a:gd name="T87" fmla="*/ 128 h 553"/>
                <a:gd name="T88" fmla="*/ 667 w 690"/>
                <a:gd name="T89" fmla="*/ 112 h 553"/>
                <a:gd name="T90" fmla="*/ 664 w 690"/>
                <a:gd name="T91" fmla="*/ 97 h 553"/>
                <a:gd name="T92" fmla="*/ 660 w 690"/>
                <a:gd name="T93" fmla="*/ 89 h 553"/>
                <a:gd name="T94" fmla="*/ 657 w 690"/>
                <a:gd name="T95" fmla="*/ 81 h 553"/>
                <a:gd name="T96" fmla="*/ 652 w 690"/>
                <a:gd name="T97" fmla="*/ 66 h 553"/>
                <a:gd name="T98" fmla="*/ 640 w 690"/>
                <a:gd name="T99" fmla="*/ 33 h 553"/>
                <a:gd name="T100" fmla="*/ 626 w 690"/>
                <a:gd name="T101" fmla="*/ 0 h 553"/>
                <a:gd name="T102" fmla="*/ 6 w 690"/>
                <a:gd name="T103" fmla="*/ 0 h 553"/>
                <a:gd name="T104" fmla="*/ 1 w 690"/>
                <a:gd name="T105" fmla="*/ 137 h 553"/>
                <a:gd name="T106" fmla="*/ 0 w 690"/>
                <a:gd name="T107" fmla="*/ 274 h 553"/>
                <a:gd name="T108" fmla="*/ 1 w 690"/>
                <a:gd name="T109" fmla="*/ 410 h 553"/>
                <a:gd name="T110" fmla="*/ 6 w 690"/>
                <a:gd name="T111" fmla="*/ 548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0" h="553">
                  <a:moveTo>
                    <a:pt x="6" y="548"/>
                  </a:moveTo>
                  <a:lnTo>
                    <a:pt x="46" y="550"/>
                  </a:lnTo>
                  <a:lnTo>
                    <a:pt x="87" y="552"/>
                  </a:lnTo>
                  <a:lnTo>
                    <a:pt x="125" y="552"/>
                  </a:lnTo>
                  <a:lnTo>
                    <a:pt x="144" y="552"/>
                  </a:lnTo>
                  <a:lnTo>
                    <a:pt x="164" y="553"/>
                  </a:lnTo>
                  <a:lnTo>
                    <a:pt x="206" y="551"/>
                  </a:lnTo>
                  <a:lnTo>
                    <a:pt x="226" y="550"/>
                  </a:lnTo>
                  <a:lnTo>
                    <a:pt x="247" y="550"/>
                  </a:lnTo>
                  <a:lnTo>
                    <a:pt x="287" y="546"/>
                  </a:lnTo>
                  <a:lnTo>
                    <a:pt x="306" y="543"/>
                  </a:lnTo>
                  <a:lnTo>
                    <a:pt x="326" y="542"/>
                  </a:lnTo>
                  <a:lnTo>
                    <a:pt x="343" y="538"/>
                  </a:lnTo>
                  <a:lnTo>
                    <a:pt x="362" y="536"/>
                  </a:lnTo>
                  <a:lnTo>
                    <a:pt x="395" y="531"/>
                  </a:lnTo>
                  <a:lnTo>
                    <a:pt x="427" y="524"/>
                  </a:lnTo>
                  <a:lnTo>
                    <a:pt x="459" y="516"/>
                  </a:lnTo>
                  <a:lnTo>
                    <a:pt x="486" y="506"/>
                  </a:lnTo>
                  <a:lnTo>
                    <a:pt x="512" y="496"/>
                  </a:lnTo>
                  <a:lnTo>
                    <a:pt x="537" y="484"/>
                  </a:lnTo>
                  <a:lnTo>
                    <a:pt x="542" y="480"/>
                  </a:lnTo>
                  <a:lnTo>
                    <a:pt x="548" y="478"/>
                  </a:lnTo>
                  <a:lnTo>
                    <a:pt x="560" y="473"/>
                  </a:lnTo>
                  <a:lnTo>
                    <a:pt x="582" y="458"/>
                  </a:lnTo>
                  <a:lnTo>
                    <a:pt x="601" y="444"/>
                  </a:lnTo>
                  <a:lnTo>
                    <a:pt x="619" y="428"/>
                  </a:lnTo>
                  <a:lnTo>
                    <a:pt x="635" y="413"/>
                  </a:lnTo>
                  <a:lnTo>
                    <a:pt x="647" y="394"/>
                  </a:lnTo>
                  <a:lnTo>
                    <a:pt x="652" y="384"/>
                  </a:lnTo>
                  <a:lnTo>
                    <a:pt x="655" y="379"/>
                  </a:lnTo>
                  <a:lnTo>
                    <a:pt x="659" y="376"/>
                  </a:lnTo>
                  <a:lnTo>
                    <a:pt x="669" y="354"/>
                  </a:lnTo>
                  <a:lnTo>
                    <a:pt x="677" y="335"/>
                  </a:lnTo>
                  <a:lnTo>
                    <a:pt x="682" y="311"/>
                  </a:lnTo>
                  <a:lnTo>
                    <a:pt x="686" y="289"/>
                  </a:lnTo>
                  <a:lnTo>
                    <a:pt x="688" y="264"/>
                  </a:lnTo>
                  <a:lnTo>
                    <a:pt x="688" y="251"/>
                  </a:lnTo>
                  <a:lnTo>
                    <a:pt x="688" y="245"/>
                  </a:lnTo>
                  <a:lnTo>
                    <a:pt x="690" y="240"/>
                  </a:lnTo>
                  <a:lnTo>
                    <a:pt x="687" y="213"/>
                  </a:lnTo>
                  <a:lnTo>
                    <a:pt x="684" y="185"/>
                  </a:lnTo>
                  <a:lnTo>
                    <a:pt x="679" y="157"/>
                  </a:lnTo>
                  <a:lnTo>
                    <a:pt x="675" y="142"/>
                  </a:lnTo>
                  <a:lnTo>
                    <a:pt x="672" y="128"/>
                  </a:lnTo>
                  <a:lnTo>
                    <a:pt x="667" y="112"/>
                  </a:lnTo>
                  <a:lnTo>
                    <a:pt x="664" y="97"/>
                  </a:lnTo>
                  <a:lnTo>
                    <a:pt x="660" y="89"/>
                  </a:lnTo>
                  <a:lnTo>
                    <a:pt x="657" y="81"/>
                  </a:lnTo>
                  <a:lnTo>
                    <a:pt x="652" y="66"/>
                  </a:lnTo>
                  <a:lnTo>
                    <a:pt x="640" y="33"/>
                  </a:lnTo>
                  <a:lnTo>
                    <a:pt x="626" y="0"/>
                  </a:lnTo>
                  <a:lnTo>
                    <a:pt x="6" y="0"/>
                  </a:lnTo>
                  <a:lnTo>
                    <a:pt x="1" y="137"/>
                  </a:lnTo>
                  <a:lnTo>
                    <a:pt x="0" y="274"/>
                  </a:lnTo>
                  <a:lnTo>
                    <a:pt x="1" y="410"/>
                  </a:lnTo>
                  <a:lnTo>
                    <a:pt x="6" y="548"/>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09" name="Rectangle 433">
              <a:extLst>
                <a:ext uri="{FF2B5EF4-FFF2-40B4-BE49-F238E27FC236}">
                  <a16:creationId xmlns:a16="http://schemas.microsoft.com/office/drawing/2014/main" id="{4DD9C5B7-B426-D32F-B014-66E922F0C53F}"/>
                </a:ext>
              </a:extLst>
            </p:cNvPr>
            <p:cNvSpPr>
              <a:spLocks noChangeArrowheads="1"/>
            </p:cNvSpPr>
            <p:nvPr/>
          </p:nvSpPr>
          <p:spPr bwMode="auto">
            <a:xfrm>
              <a:off x="1141" y="1355"/>
              <a:ext cx="25" cy="6"/>
            </a:xfrm>
            <a:prstGeom prst="rect">
              <a:avLst/>
            </a:prstGeom>
            <a:solidFill>
              <a:srgbClr val="AEAEA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76210" name="Line 434">
              <a:extLst>
                <a:ext uri="{FF2B5EF4-FFF2-40B4-BE49-F238E27FC236}">
                  <a16:creationId xmlns:a16="http://schemas.microsoft.com/office/drawing/2014/main" id="{87FCEAEE-D7DF-8F4E-3530-29A057CF5B37}"/>
                </a:ext>
              </a:extLst>
            </p:cNvPr>
            <p:cNvSpPr>
              <a:spLocks noChangeShapeType="1"/>
            </p:cNvSpPr>
            <p:nvPr/>
          </p:nvSpPr>
          <p:spPr bwMode="auto">
            <a:xfrm>
              <a:off x="1204" y="1393"/>
              <a:ext cx="12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11" name="Freeform 435">
              <a:extLst>
                <a:ext uri="{FF2B5EF4-FFF2-40B4-BE49-F238E27FC236}">
                  <a16:creationId xmlns:a16="http://schemas.microsoft.com/office/drawing/2014/main" id="{6303E16C-5BEA-B1A2-68A9-E1560042CAAE}"/>
                </a:ext>
              </a:extLst>
            </p:cNvPr>
            <p:cNvSpPr>
              <a:spLocks/>
            </p:cNvSpPr>
            <p:nvPr/>
          </p:nvSpPr>
          <p:spPr bwMode="auto">
            <a:xfrm>
              <a:off x="1141" y="1223"/>
              <a:ext cx="245" cy="127"/>
            </a:xfrm>
            <a:custGeom>
              <a:avLst/>
              <a:gdLst>
                <a:gd name="T0" fmla="*/ 812 w 812"/>
                <a:gd name="T1" fmla="*/ 0 h 567"/>
                <a:gd name="T2" fmla="*/ 0 w 812"/>
                <a:gd name="T3" fmla="*/ 0 h 567"/>
                <a:gd name="T4" fmla="*/ 0 w 812"/>
                <a:gd name="T5" fmla="*/ 561 h 567"/>
                <a:gd name="T6" fmla="*/ 0 w 812"/>
                <a:gd name="T7" fmla="*/ 567 h 567"/>
              </a:gdLst>
              <a:ahLst/>
              <a:cxnLst>
                <a:cxn ang="0">
                  <a:pos x="T0" y="T1"/>
                </a:cxn>
                <a:cxn ang="0">
                  <a:pos x="T2" y="T3"/>
                </a:cxn>
                <a:cxn ang="0">
                  <a:pos x="T4" y="T5"/>
                </a:cxn>
                <a:cxn ang="0">
                  <a:pos x="T6" y="T7"/>
                </a:cxn>
              </a:cxnLst>
              <a:rect l="0" t="0" r="r" b="b"/>
              <a:pathLst>
                <a:path w="812" h="567">
                  <a:moveTo>
                    <a:pt x="812" y="0"/>
                  </a:moveTo>
                  <a:lnTo>
                    <a:pt x="0" y="0"/>
                  </a:lnTo>
                  <a:lnTo>
                    <a:pt x="0" y="561"/>
                  </a:lnTo>
                  <a:lnTo>
                    <a:pt x="0" y="567"/>
                  </a:lnTo>
                </a:path>
              </a:pathLst>
            </a:custGeom>
            <a:noFill/>
            <a:ln w="0">
              <a:solidFill>
                <a:srgbClr val="484848"/>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12" name="Freeform 436">
              <a:extLst>
                <a:ext uri="{FF2B5EF4-FFF2-40B4-BE49-F238E27FC236}">
                  <a16:creationId xmlns:a16="http://schemas.microsoft.com/office/drawing/2014/main" id="{19C76BEF-2148-B095-E595-8E3B67B90D42}"/>
                </a:ext>
              </a:extLst>
            </p:cNvPr>
            <p:cNvSpPr>
              <a:spLocks/>
            </p:cNvSpPr>
            <p:nvPr/>
          </p:nvSpPr>
          <p:spPr bwMode="auto">
            <a:xfrm>
              <a:off x="1141" y="1355"/>
              <a:ext cx="25" cy="6"/>
            </a:xfrm>
            <a:custGeom>
              <a:avLst/>
              <a:gdLst>
                <a:gd name="T0" fmla="*/ 0 w 84"/>
                <a:gd name="T1" fmla="*/ 28 h 28"/>
                <a:gd name="T2" fmla="*/ 84 w 84"/>
                <a:gd name="T3" fmla="*/ 28 h 28"/>
                <a:gd name="T4" fmla="*/ 84 w 84"/>
                <a:gd name="T5" fmla="*/ 0 h 28"/>
              </a:gdLst>
              <a:ahLst/>
              <a:cxnLst>
                <a:cxn ang="0">
                  <a:pos x="T0" y="T1"/>
                </a:cxn>
                <a:cxn ang="0">
                  <a:pos x="T2" y="T3"/>
                </a:cxn>
                <a:cxn ang="0">
                  <a:pos x="T4" y="T5"/>
                </a:cxn>
              </a:cxnLst>
              <a:rect l="0" t="0" r="r" b="b"/>
              <a:pathLst>
                <a:path w="84" h="28">
                  <a:moveTo>
                    <a:pt x="0" y="28"/>
                  </a:moveTo>
                  <a:lnTo>
                    <a:pt x="84" y="28"/>
                  </a:lnTo>
                  <a:lnTo>
                    <a:pt x="84" y="0"/>
                  </a:lnTo>
                </a:path>
              </a:pathLst>
            </a:custGeom>
            <a:noFill/>
            <a:ln w="0">
              <a:solidFill>
                <a:srgbClr val="6666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13" name="Freeform 437">
              <a:extLst>
                <a:ext uri="{FF2B5EF4-FFF2-40B4-BE49-F238E27FC236}">
                  <a16:creationId xmlns:a16="http://schemas.microsoft.com/office/drawing/2014/main" id="{EECF2D9E-32EA-E1C3-7817-1AC27330775D}"/>
                </a:ext>
              </a:extLst>
            </p:cNvPr>
            <p:cNvSpPr>
              <a:spLocks/>
            </p:cNvSpPr>
            <p:nvPr/>
          </p:nvSpPr>
          <p:spPr bwMode="auto">
            <a:xfrm>
              <a:off x="1226" y="1378"/>
              <a:ext cx="78" cy="1"/>
            </a:xfrm>
            <a:custGeom>
              <a:avLst/>
              <a:gdLst>
                <a:gd name="T0" fmla="*/ 264 w 264"/>
                <a:gd name="T1" fmla="*/ 262 w 264"/>
                <a:gd name="T2" fmla="*/ 1 w 264"/>
                <a:gd name="T3" fmla="*/ 0 w 264"/>
              </a:gdLst>
              <a:ahLst/>
              <a:cxnLst>
                <a:cxn ang="0">
                  <a:pos x="T0" y="0"/>
                </a:cxn>
                <a:cxn ang="0">
                  <a:pos x="T1" y="0"/>
                </a:cxn>
                <a:cxn ang="0">
                  <a:pos x="T2" y="0"/>
                </a:cxn>
                <a:cxn ang="0">
                  <a:pos x="T3" y="0"/>
                </a:cxn>
              </a:cxnLst>
              <a:rect l="0" t="0" r="r" b="b"/>
              <a:pathLst>
                <a:path w="264">
                  <a:moveTo>
                    <a:pt x="264" y="0"/>
                  </a:moveTo>
                  <a:lnTo>
                    <a:pt x="262" y="0"/>
                  </a:lnTo>
                  <a:lnTo>
                    <a:pt x="1" y="0"/>
                  </a:lnTo>
                  <a:lnTo>
                    <a:pt x="0" y="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14" name="Line 438">
              <a:extLst>
                <a:ext uri="{FF2B5EF4-FFF2-40B4-BE49-F238E27FC236}">
                  <a16:creationId xmlns:a16="http://schemas.microsoft.com/office/drawing/2014/main" id="{3D4E594A-CD5B-36AE-517B-DE7CF5B150C8}"/>
                </a:ext>
              </a:extLst>
            </p:cNvPr>
            <p:cNvSpPr>
              <a:spLocks noChangeShapeType="1"/>
            </p:cNvSpPr>
            <p:nvPr/>
          </p:nvSpPr>
          <p:spPr bwMode="auto">
            <a:xfrm>
              <a:off x="1213" y="1365"/>
              <a:ext cx="105" cy="2"/>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15" name="Freeform 439">
              <a:extLst>
                <a:ext uri="{FF2B5EF4-FFF2-40B4-BE49-F238E27FC236}">
                  <a16:creationId xmlns:a16="http://schemas.microsoft.com/office/drawing/2014/main" id="{68543C7F-B6D2-46C8-35B8-2D65F169CA39}"/>
                </a:ext>
              </a:extLst>
            </p:cNvPr>
            <p:cNvSpPr>
              <a:spLocks/>
            </p:cNvSpPr>
            <p:nvPr/>
          </p:nvSpPr>
          <p:spPr bwMode="auto">
            <a:xfrm>
              <a:off x="1300" y="1378"/>
              <a:ext cx="4" cy="2"/>
            </a:xfrm>
            <a:custGeom>
              <a:avLst/>
              <a:gdLst>
                <a:gd name="T0" fmla="*/ 0 w 17"/>
                <a:gd name="T1" fmla="*/ 11 h 11"/>
                <a:gd name="T2" fmla="*/ 15 w 17"/>
                <a:gd name="T3" fmla="*/ 1 h 11"/>
                <a:gd name="T4" fmla="*/ 17 w 17"/>
                <a:gd name="T5" fmla="*/ 0 h 11"/>
              </a:gdLst>
              <a:ahLst/>
              <a:cxnLst>
                <a:cxn ang="0">
                  <a:pos x="T0" y="T1"/>
                </a:cxn>
                <a:cxn ang="0">
                  <a:pos x="T2" y="T3"/>
                </a:cxn>
                <a:cxn ang="0">
                  <a:pos x="T4" y="T5"/>
                </a:cxn>
              </a:cxnLst>
              <a:rect l="0" t="0" r="r" b="b"/>
              <a:pathLst>
                <a:path w="17" h="11">
                  <a:moveTo>
                    <a:pt x="0" y="11"/>
                  </a:moveTo>
                  <a:lnTo>
                    <a:pt x="15" y="1"/>
                  </a:lnTo>
                  <a:lnTo>
                    <a:pt x="17" y="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16" name="Freeform 440">
              <a:extLst>
                <a:ext uri="{FF2B5EF4-FFF2-40B4-BE49-F238E27FC236}">
                  <a16:creationId xmlns:a16="http://schemas.microsoft.com/office/drawing/2014/main" id="{4FEC497F-923E-CEFF-B16E-909FBC3CD005}"/>
                </a:ext>
              </a:extLst>
            </p:cNvPr>
            <p:cNvSpPr>
              <a:spLocks/>
            </p:cNvSpPr>
            <p:nvPr/>
          </p:nvSpPr>
          <p:spPr bwMode="auto">
            <a:xfrm>
              <a:off x="1300" y="1380"/>
              <a:ext cx="30" cy="13"/>
            </a:xfrm>
            <a:custGeom>
              <a:avLst/>
              <a:gdLst>
                <a:gd name="T0" fmla="*/ 95 w 100"/>
                <a:gd name="T1" fmla="*/ 56 h 56"/>
                <a:gd name="T2" fmla="*/ 99 w 100"/>
                <a:gd name="T3" fmla="*/ 51 h 56"/>
                <a:gd name="T4" fmla="*/ 100 w 100"/>
                <a:gd name="T5" fmla="*/ 46 h 56"/>
                <a:gd name="T6" fmla="*/ 97 w 100"/>
                <a:gd name="T7" fmla="*/ 43 h 56"/>
                <a:gd name="T8" fmla="*/ 96 w 100"/>
                <a:gd name="T9" fmla="*/ 40 h 56"/>
                <a:gd name="T10" fmla="*/ 90 w 100"/>
                <a:gd name="T11" fmla="*/ 35 h 56"/>
                <a:gd name="T12" fmla="*/ 79 w 100"/>
                <a:gd name="T13" fmla="*/ 28 h 56"/>
                <a:gd name="T14" fmla="*/ 64 w 100"/>
                <a:gd name="T15" fmla="*/ 20 h 56"/>
                <a:gd name="T16" fmla="*/ 54 w 100"/>
                <a:gd name="T17" fmla="*/ 15 h 56"/>
                <a:gd name="T18" fmla="*/ 44 w 100"/>
                <a:gd name="T19" fmla="*/ 11 h 56"/>
                <a:gd name="T20" fmla="*/ 22 w 100"/>
                <a:gd name="T21" fmla="*/ 4 h 56"/>
                <a:gd name="T22" fmla="*/ 0 w 100"/>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0" h="56">
                  <a:moveTo>
                    <a:pt x="95" y="56"/>
                  </a:moveTo>
                  <a:lnTo>
                    <a:pt x="99" y="51"/>
                  </a:lnTo>
                  <a:lnTo>
                    <a:pt x="100" y="46"/>
                  </a:lnTo>
                  <a:lnTo>
                    <a:pt x="97" y="43"/>
                  </a:lnTo>
                  <a:lnTo>
                    <a:pt x="96" y="40"/>
                  </a:lnTo>
                  <a:lnTo>
                    <a:pt x="90" y="35"/>
                  </a:lnTo>
                  <a:lnTo>
                    <a:pt x="79" y="28"/>
                  </a:lnTo>
                  <a:lnTo>
                    <a:pt x="64" y="20"/>
                  </a:lnTo>
                  <a:lnTo>
                    <a:pt x="54" y="15"/>
                  </a:lnTo>
                  <a:lnTo>
                    <a:pt x="44" y="11"/>
                  </a:lnTo>
                  <a:lnTo>
                    <a:pt x="22" y="4"/>
                  </a:lnTo>
                  <a:lnTo>
                    <a:pt x="0" y="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17" name="Line 441">
              <a:extLst>
                <a:ext uri="{FF2B5EF4-FFF2-40B4-BE49-F238E27FC236}">
                  <a16:creationId xmlns:a16="http://schemas.microsoft.com/office/drawing/2014/main" id="{A1BE926D-7918-1423-9F10-52D94D35D0C7}"/>
                </a:ext>
              </a:extLst>
            </p:cNvPr>
            <p:cNvSpPr>
              <a:spLocks noChangeShapeType="1"/>
            </p:cNvSpPr>
            <p:nvPr/>
          </p:nvSpPr>
          <p:spPr bwMode="auto">
            <a:xfrm flipH="1">
              <a:off x="1213" y="1365"/>
              <a:ext cx="105" cy="2"/>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18" name="Freeform 442">
              <a:extLst>
                <a:ext uri="{FF2B5EF4-FFF2-40B4-BE49-F238E27FC236}">
                  <a16:creationId xmlns:a16="http://schemas.microsoft.com/office/drawing/2014/main" id="{AC496E72-7A19-7C62-CC2D-2A68AAFC554B}"/>
                </a:ext>
              </a:extLst>
            </p:cNvPr>
            <p:cNvSpPr>
              <a:spLocks/>
            </p:cNvSpPr>
            <p:nvPr/>
          </p:nvSpPr>
          <p:spPr bwMode="auto">
            <a:xfrm>
              <a:off x="1304" y="1365"/>
              <a:ext cx="78" cy="13"/>
            </a:xfrm>
            <a:custGeom>
              <a:avLst/>
              <a:gdLst>
                <a:gd name="T0" fmla="*/ 0 w 253"/>
                <a:gd name="T1" fmla="*/ 52 h 52"/>
                <a:gd name="T2" fmla="*/ 253 w 253"/>
                <a:gd name="T3" fmla="*/ 52 h 52"/>
                <a:gd name="T4" fmla="*/ 253 w 253"/>
                <a:gd name="T5" fmla="*/ 20 h 52"/>
                <a:gd name="T6" fmla="*/ 253 w 253"/>
                <a:gd name="T7" fmla="*/ 0 h 52"/>
              </a:gdLst>
              <a:ahLst/>
              <a:cxnLst>
                <a:cxn ang="0">
                  <a:pos x="T0" y="T1"/>
                </a:cxn>
                <a:cxn ang="0">
                  <a:pos x="T2" y="T3"/>
                </a:cxn>
                <a:cxn ang="0">
                  <a:pos x="T4" y="T5"/>
                </a:cxn>
                <a:cxn ang="0">
                  <a:pos x="T6" y="T7"/>
                </a:cxn>
              </a:cxnLst>
              <a:rect l="0" t="0" r="r" b="b"/>
              <a:pathLst>
                <a:path w="253" h="52">
                  <a:moveTo>
                    <a:pt x="0" y="52"/>
                  </a:moveTo>
                  <a:lnTo>
                    <a:pt x="253" y="52"/>
                  </a:lnTo>
                  <a:lnTo>
                    <a:pt x="253" y="20"/>
                  </a:lnTo>
                  <a:lnTo>
                    <a:pt x="253" y="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19" name="Freeform 443">
              <a:extLst>
                <a:ext uri="{FF2B5EF4-FFF2-40B4-BE49-F238E27FC236}">
                  <a16:creationId xmlns:a16="http://schemas.microsoft.com/office/drawing/2014/main" id="{5321E2A0-26DD-E861-0985-327CC19F1337}"/>
                </a:ext>
              </a:extLst>
            </p:cNvPr>
            <p:cNvSpPr>
              <a:spLocks/>
            </p:cNvSpPr>
            <p:nvPr/>
          </p:nvSpPr>
          <p:spPr bwMode="auto">
            <a:xfrm>
              <a:off x="1129" y="1215"/>
              <a:ext cx="268" cy="150"/>
            </a:xfrm>
            <a:custGeom>
              <a:avLst/>
              <a:gdLst>
                <a:gd name="T0" fmla="*/ 834 w 883"/>
                <a:gd name="T1" fmla="*/ 680 h 680"/>
                <a:gd name="T2" fmla="*/ 883 w 883"/>
                <a:gd name="T3" fmla="*/ 680 h 680"/>
                <a:gd name="T4" fmla="*/ 883 w 883"/>
                <a:gd name="T5" fmla="*/ 0 h 680"/>
                <a:gd name="T6" fmla="*/ 0 w 883"/>
                <a:gd name="T7" fmla="*/ 0 h 680"/>
                <a:gd name="T8" fmla="*/ 0 w 883"/>
                <a:gd name="T9" fmla="*/ 680 h 680"/>
                <a:gd name="T10" fmla="*/ 65 w 883"/>
                <a:gd name="T11" fmla="*/ 680 h 680"/>
              </a:gdLst>
              <a:ahLst/>
              <a:cxnLst>
                <a:cxn ang="0">
                  <a:pos x="T0" y="T1"/>
                </a:cxn>
                <a:cxn ang="0">
                  <a:pos x="T2" y="T3"/>
                </a:cxn>
                <a:cxn ang="0">
                  <a:pos x="T4" y="T5"/>
                </a:cxn>
                <a:cxn ang="0">
                  <a:pos x="T6" y="T7"/>
                </a:cxn>
                <a:cxn ang="0">
                  <a:pos x="T8" y="T9"/>
                </a:cxn>
                <a:cxn ang="0">
                  <a:pos x="T10" y="T11"/>
                </a:cxn>
              </a:cxnLst>
              <a:rect l="0" t="0" r="r" b="b"/>
              <a:pathLst>
                <a:path w="883" h="680">
                  <a:moveTo>
                    <a:pt x="834" y="680"/>
                  </a:moveTo>
                  <a:lnTo>
                    <a:pt x="883" y="680"/>
                  </a:lnTo>
                  <a:lnTo>
                    <a:pt x="883" y="0"/>
                  </a:lnTo>
                  <a:lnTo>
                    <a:pt x="0" y="0"/>
                  </a:lnTo>
                  <a:lnTo>
                    <a:pt x="0" y="680"/>
                  </a:lnTo>
                  <a:lnTo>
                    <a:pt x="65" y="68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20" name="Line 444">
              <a:extLst>
                <a:ext uri="{FF2B5EF4-FFF2-40B4-BE49-F238E27FC236}">
                  <a16:creationId xmlns:a16="http://schemas.microsoft.com/office/drawing/2014/main" id="{0267DD70-2B1E-A6B3-0137-963EB6C3DEE1}"/>
                </a:ext>
              </a:extLst>
            </p:cNvPr>
            <p:cNvSpPr>
              <a:spLocks noChangeShapeType="1"/>
            </p:cNvSpPr>
            <p:nvPr/>
          </p:nvSpPr>
          <p:spPr bwMode="auto">
            <a:xfrm>
              <a:off x="1318" y="1365"/>
              <a:ext cx="64" cy="2"/>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21" name="Line 445">
              <a:extLst>
                <a:ext uri="{FF2B5EF4-FFF2-40B4-BE49-F238E27FC236}">
                  <a16:creationId xmlns:a16="http://schemas.microsoft.com/office/drawing/2014/main" id="{CF70EFF6-4572-37A0-BC1A-7B61875C0B4B}"/>
                </a:ext>
              </a:extLst>
            </p:cNvPr>
            <p:cNvSpPr>
              <a:spLocks noChangeShapeType="1"/>
            </p:cNvSpPr>
            <p:nvPr/>
          </p:nvSpPr>
          <p:spPr bwMode="auto">
            <a:xfrm flipH="1">
              <a:off x="1318" y="1365"/>
              <a:ext cx="64" cy="2"/>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22" name="Freeform 446">
              <a:extLst>
                <a:ext uri="{FF2B5EF4-FFF2-40B4-BE49-F238E27FC236}">
                  <a16:creationId xmlns:a16="http://schemas.microsoft.com/office/drawing/2014/main" id="{1918C9C0-BBF2-53D7-A9CD-DA4035D762C5}"/>
                </a:ext>
              </a:extLst>
            </p:cNvPr>
            <p:cNvSpPr>
              <a:spLocks/>
            </p:cNvSpPr>
            <p:nvPr/>
          </p:nvSpPr>
          <p:spPr bwMode="auto">
            <a:xfrm>
              <a:off x="1232" y="1380"/>
              <a:ext cx="68" cy="7"/>
            </a:xfrm>
            <a:custGeom>
              <a:avLst/>
              <a:gdLst>
                <a:gd name="T0" fmla="*/ 0 w 227"/>
                <a:gd name="T1" fmla="*/ 2 h 30"/>
                <a:gd name="T2" fmla="*/ 26 w 227"/>
                <a:gd name="T3" fmla="*/ 14 h 30"/>
                <a:gd name="T4" fmla="*/ 56 w 227"/>
                <a:gd name="T5" fmla="*/ 24 h 30"/>
                <a:gd name="T6" fmla="*/ 81 w 227"/>
                <a:gd name="T7" fmla="*/ 29 h 30"/>
                <a:gd name="T8" fmla="*/ 112 w 227"/>
                <a:gd name="T9" fmla="*/ 30 h 30"/>
                <a:gd name="T10" fmla="*/ 127 w 227"/>
                <a:gd name="T11" fmla="*/ 29 h 30"/>
                <a:gd name="T12" fmla="*/ 134 w 227"/>
                <a:gd name="T13" fmla="*/ 28 h 30"/>
                <a:gd name="T14" fmla="*/ 143 w 227"/>
                <a:gd name="T15" fmla="*/ 28 h 30"/>
                <a:gd name="T16" fmla="*/ 173 w 227"/>
                <a:gd name="T17" fmla="*/ 23 h 30"/>
                <a:gd name="T18" fmla="*/ 186 w 227"/>
                <a:gd name="T19" fmla="*/ 18 h 30"/>
                <a:gd name="T20" fmla="*/ 201 w 227"/>
                <a:gd name="T21" fmla="*/ 13 h 30"/>
                <a:gd name="T22" fmla="*/ 214 w 227"/>
                <a:gd name="T23" fmla="*/ 6 h 30"/>
                <a:gd name="T24" fmla="*/ 216 w 227"/>
                <a:gd name="T25" fmla="*/ 4 h 30"/>
                <a:gd name="T26" fmla="*/ 216 w 227"/>
                <a:gd name="T27" fmla="*/ 3 h 30"/>
                <a:gd name="T28" fmla="*/ 217 w 227"/>
                <a:gd name="T29" fmla="*/ 3 h 30"/>
                <a:gd name="T30" fmla="*/ 220 w 227"/>
                <a:gd name="T31" fmla="*/ 3 h 30"/>
                <a:gd name="T32" fmla="*/ 227 w 227"/>
                <a:gd name="T3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7" h="30">
                  <a:moveTo>
                    <a:pt x="0" y="2"/>
                  </a:moveTo>
                  <a:lnTo>
                    <a:pt x="26" y="14"/>
                  </a:lnTo>
                  <a:lnTo>
                    <a:pt x="56" y="24"/>
                  </a:lnTo>
                  <a:lnTo>
                    <a:pt x="81" y="29"/>
                  </a:lnTo>
                  <a:lnTo>
                    <a:pt x="112" y="30"/>
                  </a:lnTo>
                  <a:lnTo>
                    <a:pt x="127" y="29"/>
                  </a:lnTo>
                  <a:lnTo>
                    <a:pt x="134" y="28"/>
                  </a:lnTo>
                  <a:lnTo>
                    <a:pt x="143" y="28"/>
                  </a:lnTo>
                  <a:lnTo>
                    <a:pt x="173" y="23"/>
                  </a:lnTo>
                  <a:lnTo>
                    <a:pt x="186" y="18"/>
                  </a:lnTo>
                  <a:lnTo>
                    <a:pt x="201" y="13"/>
                  </a:lnTo>
                  <a:lnTo>
                    <a:pt x="214" y="6"/>
                  </a:lnTo>
                  <a:lnTo>
                    <a:pt x="216" y="4"/>
                  </a:lnTo>
                  <a:lnTo>
                    <a:pt x="216" y="3"/>
                  </a:lnTo>
                  <a:lnTo>
                    <a:pt x="217" y="3"/>
                  </a:lnTo>
                  <a:lnTo>
                    <a:pt x="220" y="3"/>
                  </a:lnTo>
                  <a:lnTo>
                    <a:pt x="227" y="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23" name="Freeform 447">
              <a:extLst>
                <a:ext uri="{FF2B5EF4-FFF2-40B4-BE49-F238E27FC236}">
                  <a16:creationId xmlns:a16="http://schemas.microsoft.com/office/drawing/2014/main" id="{95C0D2B4-DDDA-00B4-105C-DB2F8C468A2A}"/>
                </a:ext>
              </a:extLst>
            </p:cNvPr>
            <p:cNvSpPr>
              <a:spLocks/>
            </p:cNvSpPr>
            <p:nvPr/>
          </p:nvSpPr>
          <p:spPr bwMode="auto">
            <a:xfrm>
              <a:off x="1149" y="1365"/>
              <a:ext cx="77" cy="13"/>
            </a:xfrm>
            <a:custGeom>
              <a:avLst/>
              <a:gdLst>
                <a:gd name="T0" fmla="*/ 0 w 252"/>
                <a:gd name="T1" fmla="*/ 0 h 52"/>
                <a:gd name="T2" fmla="*/ 0 w 252"/>
                <a:gd name="T3" fmla="*/ 20 h 52"/>
                <a:gd name="T4" fmla="*/ 0 w 252"/>
                <a:gd name="T5" fmla="*/ 52 h 52"/>
                <a:gd name="T6" fmla="*/ 252 w 252"/>
                <a:gd name="T7" fmla="*/ 52 h 52"/>
              </a:gdLst>
              <a:ahLst/>
              <a:cxnLst>
                <a:cxn ang="0">
                  <a:pos x="T0" y="T1"/>
                </a:cxn>
                <a:cxn ang="0">
                  <a:pos x="T2" y="T3"/>
                </a:cxn>
                <a:cxn ang="0">
                  <a:pos x="T4" y="T5"/>
                </a:cxn>
                <a:cxn ang="0">
                  <a:pos x="T6" y="T7"/>
                </a:cxn>
              </a:cxnLst>
              <a:rect l="0" t="0" r="r" b="b"/>
              <a:pathLst>
                <a:path w="252" h="52">
                  <a:moveTo>
                    <a:pt x="0" y="0"/>
                  </a:moveTo>
                  <a:lnTo>
                    <a:pt x="0" y="20"/>
                  </a:lnTo>
                  <a:lnTo>
                    <a:pt x="0" y="52"/>
                  </a:lnTo>
                  <a:lnTo>
                    <a:pt x="252" y="52"/>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24" name="Line 448">
              <a:extLst>
                <a:ext uri="{FF2B5EF4-FFF2-40B4-BE49-F238E27FC236}">
                  <a16:creationId xmlns:a16="http://schemas.microsoft.com/office/drawing/2014/main" id="{DE647FAE-FA2B-D3E1-CC65-0BD4AD3A285A}"/>
                </a:ext>
              </a:extLst>
            </p:cNvPr>
            <p:cNvSpPr>
              <a:spLocks noChangeShapeType="1"/>
            </p:cNvSpPr>
            <p:nvPr/>
          </p:nvSpPr>
          <p:spPr bwMode="auto">
            <a:xfrm flipH="1">
              <a:off x="1149" y="1365"/>
              <a:ext cx="64" cy="2"/>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25" name="Freeform 449">
              <a:extLst>
                <a:ext uri="{FF2B5EF4-FFF2-40B4-BE49-F238E27FC236}">
                  <a16:creationId xmlns:a16="http://schemas.microsoft.com/office/drawing/2014/main" id="{F73515A8-E667-ADD0-8E45-23AEB270D6FB}"/>
                </a:ext>
              </a:extLst>
            </p:cNvPr>
            <p:cNvSpPr>
              <a:spLocks/>
            </p:cNvSpPr>
            <p:nvPr/>
          </p:nvSpPr>
          <p:spPr bwMode="auto">
            <a:xfrm>
              <a:off x="1201" y="1381"/>
              <a:ext cx="31" cy="12"/>
            </a:xfrm>
            <a:custGeom>
              <a:avLst/>
              <a:gdLst>
                <a:gd name="T0" fmla="*/ 102 w 102"/>
                <a:gd name="T1" fmla="*/ 0 h 54"/>
                <a:gd name="T2" fmla="*/ 62 w 102"/>
                <a:gd name="T3" fmla="*/ 8 h 54"/>
                <a:gd name="T4" fmla="*/ 56 w 102"/>
                <a:gd name="T5" fmla="*/ 11 h 54"/>
                <a:gd name="T6" fmla="*/ 30 w 102"/>
                <a:gd name="T7" fmla="*/ 21 h 54"/>
                <a:gd name="T8" fmla="*/ 14 w 102"/>
                <a:gd name="T9" fmla="*/ 31 h 54"/>
                <a:gd name="T10" fmla="*/ 6 w 102"/>
                <a:gd name="T11" fmla="*/ 34 h 54"/>
                <a:gd name="T12" fmla="*/ 3 w 102"/>
                <a:gd name="T13" fmla="*/ 39 h 54"/>
                <a:gd name="T14" fmla="*/ 0 w 102"/>
                <a:gd name="T15" fmla="*/ 47 h 54"/>
                <a:gd name="T16" fmla="*/ 3 w 102"/>
                <a:gd name="T17" fmla="*/ 49 h 54"/>
                <a:gd name="T18" fmla="*/ 10 w 102"/>
                <a:gd name="T19" fmla="*/ 54 h 54"/>
                <a:gd name="T20" fmla="*/ 13 w 102"/>
                <a:gd name="T2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2" h="54">
                  <a:moveTo>
                    <a:pt x="102" y="0"/>
                  </a:moveTo>
                  <a:lnTo>
                    <a:pt x="62" y="8"/>
                  </a:lnTo>
                  <a:lnTo>
                    <a:pt x="56" y="11"/>
                  </a:lnTo>
                  <a:lnTo>
                    <a:pt x="30" y="21"/>
                  </a:lnTo>
                  <a:lnTo>
                    <a:pt x="14" y="31"/>
                  </a:lnTo>
                  <a:lnTo>
                    <a:pt x="6" y="34"/>
                  </a:lnTo>
                  <a:lnTo>
                    <a:pt x="3" y="39"/>
                  </a:lnTo>
                  <a:lnTo>
                    <a:pt x="0" y="47"/>
                  </a:lnTo>
                  <a:lnTo>
                    <a:pt x="3" y="49"/>
                  </a:lnTo>
                  <a:lnTo>
                    <a:pt x="10" y="54"/>
                  </a:lnTo>
                  <a:lnTo>
                    <a:pt x="13" y="54"/>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26" name="Freeform 450">
              <a:extLst>
                <a:ext uri="{FF2B5EF4-FFF2-40B4-BE49-F238E27FC236}">
                  <a16:creationId xmlns:a16="http://schemas.microsoft.com/office/drawing/2014/main" id="{9D958AF7-F66F-B458-F15D-D5D867D78466}"/>
                </a:ext>
              </a:extLst>
            </p:cNvPr>
            <p:cNvSpPr>
              <a:spLocks/>
            </p:cNvSpPr>
            <p:nvPr/>
          </p:nvSpPr>
          <p:spPr bwMode="auto">
            <a:xfrm>
              <a:off x="1226" y="1378"/>
              <a:ext cx="6" cy="3"/>
            </a:xfrm>
            <a:custGeom>
              <a:avLst/>
              <a:gdLst>
                <a:gd name="T0" fmla="*/ 0 w 20"/>
                <a:gd name="T1" fmla="*/ 0 h 13"/>
                <a:gd name="T2" fmla="*/ 1 w 20"/>
                <a:gd name="T3" fmla="*/ 1 h 13"/>
                <a:gd name="T4" fmla="*/ 20 w 20"/>
                <a:gd name="T5" fmla="*/ 13 h 13"/>
              </a:gdLst>
              <a:ahLst/>
              <a:cxnLst>
                <a:cxn ang="0">
                  <a:pos x="T0" y="T1"/>
                </a:cxn>
                <a:cxn ang="0">
                  <a:pos x="T2" y="T3"/>
                </a:cxn>
                <a:cxn ang="0">
                  <a:pos x="T4" y="T5"/>
                </a:cxn>
              </a:cxnLst>
              <a:rect l="0" t="0" r="r" b="b"/>
              <a:pathLst>
                <a:path w="20" h="13">
                  <a:moveTo>
                    <a:pt x="0" y="0"/>
                  </a:moveTo>
                  <a:lnTo>
                    <a:pt x="1" y="1"/>
                  </a:lnTo>
                  <a:lnTo>
                    <a:pt x="20" y="13"/>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27" name="Line 451">
              <a:extLst>
                <a:ext uri="{FF2B5EF4-FFF2-40B4-BE49-F238E27FC236}">
                  <a16:creationId xmlns:a16="http://schemas.microsoft.com/office/drawing/2014/main" id="{FAEEB8A5-9B8E-AB0D-86B8-204003D2D912}"/>
                </a:ext>
              </a:extLst>
            </p:cNvPr>
            <p:cNvSpPr>
              <a:spLocks noChangeShapeType="1"/>
            </p:cNvSpPr>
            <p:nvPr/>
          </p:nvSpPr>
          <p:spPr bwMode="auto">
            <a:xfrm>
              <a:off x="1149" y="1365"/>
              <a:ext cx="64" cy="2"/>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28" name="Freeform 452">
              <a:extLst>
                <a:ext uri="{FF2B5EF4-FFF2-40B4-BE49-F238E27FC236}">
                  <a16:creationId xmlns:a16="http://schemas.microsoft.com/office/drawing/2014/main" id="{02B1DC05-7947-6E7A-8F88-88537AD384E6}"/>
                </a:ext>
              </a:extLst>
            </p:cNvPr>
            <p:cNvSpPr>
              <a:spLocks/>
            </p:cNvSpPr>
            <p:nvPr/>
          </p:nvSpPr>
          <p:spPr bwMode="auto">
            <a:xfrm>
              <a:off x="1141" y="1355"/>
              <a:ext cx="25" cy="6"/>
            </a:xfrm>
            <a:custGeom>
              <a:avLst/>
              <a:gdLst>
                <a:gd name="T0" fmla="*/ 84 w 84"/>
                <a:gd name="T1" fmla="*/ 0 h 28"/>
                <a:gd name="T2" fmla="*/ 0 w 84"/>
                <a:gd name="T3" fmla="*/ 0 h 28"/>
                <a:gd name="T4" fmla="*/ 0 w 84"/>
                <a:gd name="T5" fmla="*/ 28 h 28"/>
              </a:gdLst>
              <a:ahLst/>
              <a:cxnLst>
                <a:cxn ang="0">
                  <a:pos x="T0" y="T1"/>
                </a:cxn>
                <a:cxn ang="0">
                  <a:pos x="T2" y="T3"/>
                </a:cxn>
                <a:cxn ang="0">
                  <a:pos x="T4" y="T5"/>
                </a:cxn>
              </a:cxnLst>
              <a:rect l="0" t="0" r="r" b="b"/>
              <a:pathLst>
                <a:path w="84" h="28">
                  <a:moveTo>
                    <a:pt x="84" y="0"/>
                  </a:moveTo>
                  <a:lnTo>
                    <a:pt x="0" y="0"/>
                  </a:lnTo>
                  <a:lnTo>
                    <a:pt x="0" y="28"/>
                  </a:lnTo>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29" name="Freeform 453">
              <a:extLst>
                <a:ext uri="{FF2B5EF4-FFF2-40B4-BE49-F238E27FC236}">
                  <a16:creationId xmlns:a16="http://schemas.microsoft.com/office/drawing/2014/main" id="{0EBD5F73-4309-7FEA-4B9E-F2BABB252211}"/>
                </a:ext>
              </a:extLst>
            </p:cNvPr>
            <p:cNvSpPr>
              <a:spLocks/>
            </p:cNvSpPr>
            <p:nvPr/>
          </p:nvSpPr>
          <p:spPr bwMode="auto">
            <a:xfrm>
              <a:off x="1141" y="1223"/>
              <a:ext cx="245" cy="127"/>
            </a:xfrm>
            <a:custGeom>
              <a:avLst/>
              <a:gdLst>
                <a:gd name="T0" fmla="*/ 0 w 812"/>
                <a:gd name="T1" fmla="*/ 567 h 567"/>
                <a:gd name="T2" fmla="*/ 812 w 812"/>
                <a:gd name="T3" fmla="*/ 567 h 567"/>
                <a:gd name="T4" fmla="*/ 812 w 812"/>
                <a:gd name="T5" fmla="*/ 0 h 567"/>
              </a:gdLst>
              <a:ahLst/>
              <a:cxnLst>
                <a:cxn ang="0">
                  <a:pos x="T0" y="T1"/>
                </a:cxn>
                <a:cxn ang="0">
                  <a:pos x="T2" y="T3"/>
                </a:cxn>
                <a:cxn ang="0">
                  <a:pos x="T4" y="T5"/>
                </a:cxn>
              </a:cxnLst>
              <a:rect l="0" t="0" r="r" b="b"/>
              <a:pathLst>
                <a:path w="812" h="567">
                  <a:moveTo>
                    <a:pt x="0" y="567"/>
                  </a:moveTo>
                  <a:lnTo>
                    <a:pt x="812" y="567"/>
                  </a:lnTo>
                  <a:lnTo>
                    <a:pt x="812" y="0"/>
                  </a:lnTo>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30" name="Freeform 454">
              <a:extLst>
                <a:ext uri="{FF2B5EF4-FFF2-40B4-BE49-F238E27FC236}">
                  <a16:creationId xmlns:a16="http://schemas.microsoft.com/office/drawing/2014/main" id="{7627FA15-9ECE-944B-FF58-E3E17365933E}"/>
                </a:ext>
              </a:extLst>
            </p:cNvPr>
            <p:cNvSpPr>
              <a:spLocks/>
            </p:cNvSpPr>
            <p:nvPr/>
          </p:nvSpPr>
          <p:spPr bwMode="auto">
            <a:xfrm>
              <a:off x="1278" y="1370"/>
              <a:ext cx="7" cy="4"/>
            </a:xfrm>
            <a:custGeom>
              <a:avLst/>
              <a:gdLst>
                <a:gd name="T0" fmla="*/ 14 w 25"/>
                <a:gd name="T1" fmla="*/ 0 h 13"/>
                <a:gd name="T2" fmla="*/ 13 w 25"/>
                <a:gd name="T3" fmla="*/ 0 h 13"/>
                <a:gd name="T4" fmla="*/ 4 w 25"/>
                <a:gd name="T5" fmla="*/ 1 h 13"/>
                <a:gd name="T6" fmla="*/ 0 w 25"/>
                <a:gd name="T7" fmla="*/ 6 h 13"/>
                <a:gd name="T8" fmla="*/ 4 w 25"/>
                <a:gd name="T9" fmla="*/ 11 h 13"/>
                <a:gd name="T10" fmla="*/ 13 w 25"/>
                <a:gd name="T11" fmla="*/ 13 h 13"/>
                <a:gd name="T12" fmla="*/ 13 w 25"/>
                <a:gd name="T13" fmla="*/ 12 h 13"/>
                <a:gd name="T14" fmla="*/ 14 w 25"/>
                <a:gd name="T15" fmla="*/ 12 h 13"/>
                <a:gd name="T16" fmla="*/ 16 w 25"/>
                <a:gd name="T17" fmla="*/ 12 h 13"/>
                <a:gd name="T18" fmla="*/ 21 w 25"/>
                <a:gd name="T19" fmla="*/ 11 h 13"/>
                <a:gd name="T20" fmla="*/ 24 w 25"/>
                <a:gd name="T21" fmla="*/ 8 h 13"/>
                <a:gd name="T22" fmla="*/ 25 w 25"/>
                <a:gd name="T23" fmla="*/ 6 h 13"/>
                <a:gd name="T24" fmla="*/ 24 w 25"/>
                <a:gd name="T25" fmla="*/ 4 h 13"/>
                <a:gd name="T26" fmla="*/ 21 w 25"/>
                <a:gd name="T27" fmla="*/ 1 h 13"/>
                <a:gd name="T28" fmla="*/ 14 w 25"/>
                <a:gd name="T29"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 h="13">
                  <a:moveTo>
                    <a:pt x="14" y="0"/>
                  </a:moveTo>
                  <a:lnTo>
                    <a:pt x="13" y="0"/>
                  </a:lnTo>
                  <a:lnTo>
                    <a:pt x="4" y="1"/>
                  </a:lnTo>
                  <a:lnTo>
                    <a:pt x="0" y="6"/>
                  </a:lnTo>
                  <a:lnTo>
                    <a:pt x="4" y="11"/>
                  </a:lnTo>
                  <a:lnTo>
                    <a:pt x="13" y="13"/>
                  </a:lnTo>
                  <a:lnTo>
                    <a:pt x="13" y="12"/>
                  </a:lnTo>
                  <a:lnTo>
                    <a:pt x="14" y="12"/>
                  </a:lnTo>
                  <a:lnTo>
                    <a:pt x="16" y="12"/>
                  </a:lnTo>
                  <a:lnTo>
                    <a:pt x="21" y="11"/>
                  </a:lnTo>
                  <a:lnTo>
                    <a:pt x="24" y="8"/>
                  </a:lnTo>
                  <a:lnTo>
                    <a:pt x="25" y="6"/>
                  </a:lnTo>
                  <a:lnTo>
                    <a:pt x="24" y="4"/>
                  </a:lnTo>
                  <a:lnTo>
                    <a:pt x="21" y="1"/>
                  </a:lnTo>
                  <a:lnTo>
                    <a:pt x="14" y="0"/>
                  </a:lnTo>
                </a:path>
              </a:pathLst>
            </a:custGeom>
            <a:noFill/>
            <a:ln w="1588">
              <a:solidFill>
                <a:srgbClr val="6666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31" name="Freeform 455">
              <a:extLst>
                <a:ext uri="{FF2B5EF4-FFF2-40B4-BE49-F238E27FC236}">
                  <a16:creationId xmlns:a16="http://schemas.microsoft.com/office/drawing/2014/main" id="{6C4D990F-B0C9-5F85-C192-3A251EE8D4B1}"/>
                </a:ext>
              </a:extLst>
            </p:cNvPr>
            <p:cNvSpPr>
              <a:spLocks/>
            </p:cNvSpPr>
            <p:nvPr/>
          </p:nvSpPr>
          <p:spPr bwMode="auto">
            <a:xfrm>
              <a:off x="1260" y="1368"/>
              <a:ext cx="11" cy="8"/>
            </a:xfrm>
            <a:custGeom>
              <a:avLst/>
              <a:gdLst>
                <a:gd name="T0" fmla="*/ 0 w 32"/>
                <a:gd name="T1" fmla="*/ 18 h 34"/>
                <a:gd name="T2" fmla="*/ 1 w 32"/>
                <a:gd name="T3" fmla="*/ 23 h 34"/>
                <a:gd name="T4" fmla="*/ 5 w 32"/>
                <a:gd name="T5" fmla="*/ 29 h 34"/>
                <a:gd name="T6" fmla="*/ 10 w 32"/>
                <a:gd name="T7" fmla="*/ 33 h 34"/>
                <a:gd name="T8" fmla="*/ 16 w 32"/>
                <a:gd name="T9" fmla="*/ 34 h 34"/>
                <a:gd name="T10" fmla="*/ 18 w 32"/>
                <a:gd name="T11" fmla="*/ 33 h 34"/>
                <a:gd name="T12" fmla="*/ 22 w 32"/>
                <a:gd name="T13" fmla="*/ 33 h 34"/>
                <a:gd name="T14" fmla="*/ 25 w 32"/>
                <a:gd name="T15" fmla="*/ 30 h 34"/>
                <a:gd name="T16" fmla="*/ 25 w 32"/>
                <a:gd name="T17" fmla="*/ 29 h 34"/>
                <a:gd name="T18" fmla="*/ 26 w 32"/>
                <a:gd name="T19" fmla="*/ 29 h 34"/>
                <a:gd name="T20" fmla="*/ 28 w 32"/>
                <a:gd name="T21" fmla="*/ 29 h 34"/>
                <a:gd name="T22" fmla="*/ 31 w 32"/>
                <a:gd name="T23" fmla="*/ 23 h 34"/>
                <a:gd name="T24" fmla="*/ 32 w 32"/>
                <a:gd name="T25" fmla="*/ 18 h 34"/>
                <a:gd name="T26" fmla="*/ 32 w 32"/>
                <a:gd name="T27" fmla="*/ 13 h 34"/>
                <a:gd name="T28" fmla="*/ 28 w 32"/>
                <a:gd name="T29" fmla="*/ 5 h 34"/>
                <a:gd name="T30" fmla="*/ 22 w 32"/>
                <a:gd name="T31" fmla="*/ 2 h 34"/>
                <a:gd name="T32" fmla="*/ 16 w 32"/>
                <a:gd name="T33" fmla="*/ 0 h 34"/>
                <a:gd name="T34" fmla="*/ 10 w 32"/>
                <a:gd name="T35" fmla="*/ 2 h 34"/>
                <a:gd name="T36" fmla="*/ 5 w 32"/>
                <a:gd name="T37" fmla="*/ 5 h 34"/>
                <a:gd name="T38" fmla="*/ 1 w 32"/>
                <a:gd name="T39" fmla="*/ 13 h 34"/>
                <a:gd name="T40" fmla="*/ 0 w 32"/>
                <a:gd name="T41" fmla="*/ 1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34">
                  <a:moveTo>
                    <a:pt x="0" y="18"/>
                  </a:moveTo>
                  <a:lnTo>
                    <a:pt x="1" y="23"/>
                  </a:lnTo>
                  <a:lnTo>
                    <a:pt x="5" y="29"/>
                  </a:lnTo>
                  <a:lnTo>
                    <a:pt x="10" y="33"/>
                  </a:lnTo>
                  <a:lnTo>
                    <a:pt x="16" y="34"/>
                  </a:lnTo>
                  <a:lnTo>
                    <a:pt x="18" y="33"/>
                  </a:lnTo>
                  <a:lnTo>
                    <a:pt x="22" y="33"/>
                  </a:lnTo>
                  <a:lnTo>
                    <a:pt x="25" y="30"/>
                  </a:lnTo>
                  <a:lnTo>
                    <a:pt x="25" y="29"/>
                  </a:lnTo>
                  <a:lnTo>
                    <a:pt x="26" y="29"/>
                  </a:lnTo>
                  <a:lnTo>
                    <a:pt x="28" y="29"/>
                  </a:lnTo>
                  <a:lnTo>
                    <a:pt x="31" y="23"/>
                  </a:lnTo>
                  <a:lnTo>
                    <a:pt x="32" y="18"/>
                  </a:lnTo>
                  <a:lnTo>
                    <a:pt x="32" y="13"/>
                  </a:lnTo>
                  <a:lnTo>
                    <a:pt x="28" y="5"/>
                  </a:lnTo>
                  <a:lnTo>
                    <a:pt x="22" y="2"/>
                  </a:lnTo>
                  <a:lnTo>
                    <a:pt x="16" y="0"/>
                  </a:lnTo>
                  <a:lnTo>
                    <a:pt x="10" y="2"/>
                  </a:lnTo>
                  <a:lnTo>
                    <a:pt x="5" y="5"/>
                  </a:lnTo>
                  <a:lnTo>
                    <a:pt x="1" y="13"/>
                  </a:lnTo>
                  <a:lnTo>
                    <a:pt x="0" y="18"/>
                  </a:lnTo>
                </a:path>
              </a:pathLst>
            </a:custGeom>
            <a:noFill/>
            <a:ln w="1588">
              <a:solidFill>
                <a:srgbClr val="6666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32" name="Freeform 456">
              <a:extLst>
                <a:ext uri="{FF2B5EF4-FFF2-40B4-BE49-F238E27FC236}">
                  <a16:creationId xmlns:a16="http://schemas.microsoft.com/office/drawing/2014/main" id="{2E87BB2E-6069-2FBD-744D-093DB204A3D2}"/>
                </a:ext>
              </a:extLst>
            </p:cNvPr>
            <p:cNvSpPr>
              <a:spLocks/>
            </p:cNvSpPr>
            <p:nvPr/>
          </p:nvSpPr>
          <p:spPr bwMode="auto">
            <a:xfrm>
              <a:off x="1245" y="1370"/>
              <a:ext cx="7" cy="4"/>
            </a:xfrm>
            <a:custGeom>
              <a:avLst/>
              <a:gdLst>
                <a:gd name="T0" fmla="*/ 11 w 24"/>
                <a:gd name="T1" fmla="*/ 0 h 13"/>
                <a:gd name="T2" fmla="*/ 2 w 24"/>
                <a:gd name="T3" fmla="*/ 1 h 13"/>
                <a:gd name="T4" fmla="*/ 0 w 24"/>
                <a:gd name="T5" fmla="*/ 6 h 13"/>
                <a:gd name="T6" fmla="*/ 2 w 24"/>
                <a:gd name="T7" fmla="*/ 11 h 13"/>
                <a:gd name="T8" fmla="*/ 11 w 24"/>
                <a:gd name="T9" fmla="*/ 13 h 13"/>
                <a:gd name="T10" fmla="*/ 16 w 24"/>
                <a:gd name="T11" fmla="*/ 12 h 13"/>
                <a:gd name="T12" fmla="*/ 16 w 24"/>
                <a:gd name="T13" fmla="*/ 11 h 13"/>
                <a:gd name="T14" fmla="*/ 17 w 24"/>
                <a:gd name="T15" fmla="*/ 11 h 13"/>
                <a:gd name="T16" fmla="*/ 20 w 24"/>
                <a:gd name="T17" fmla="*/ 11 h 13"/>
                <a:gd name="T18" fmla="*/ 22 w 24"/>
                <a:gd name="T19" fmla="*/ 8 h 13"/>
                <a:gd name="T20" fmla="*/ 24 w 24"/>
                <a:gd name="T21" fmla="*/ 6 h 13"/>
                <a:gd name="T22" fmla="*/ 22 w 24"/>
                <a:gd name="T23" fmla="*/ 4 h 13"/>
                <a:gd name="T24" fmla="*/ 20 w 24"/>
                <a:gd name="T25" fmla="*/ 1 h 13"/>
                <a:gd name="T26" fmla="*/ 12 w 24"/>
                <a:gd name="T2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13">
                  <a:moveTo>
                    <a:pt x="11" y="0"/>
                  </a:moveTo>
                  <a:lnTo>
                    <a:pt x="2" y="1"/>
                  </a:lnTo>
                  <a:lnTo>
                    <a:pt x="0" y="6"/>
                  </a:lnTo>
                  <a:lnTo>
                    <a:pt x="2" y="11"/>
                  </a:lnTo>
                  <a:lnTo>
                    <a:pt x="11" y="13"/>
                  </a:lnTo>
                  <a:lnTo>
                    <a:pt x="16" y="12"/>
                  </a:lnTo>
                  <a:lnTo>
                    <a:pt x="16" y="11"/>
                  </a:lnTo>
                  <a:lnTo>
                    <a:pt x="17" y="11"/>
                  </a:lnTo>
                  <a:lnTo>
                    <a:pt x="20" y="11"/>
                  </a:lnTo>
                  <a:lnTo>
                    <a:pt x="22" y="8"/>
                  </a:lnTo>
                  <a:lnTo>
                    <a:pt x="24" y="6"/>
                  </a:lnTo>
                  <a:lnTo>
                    <a:pt x="22" y="4"/>
                  </a:lnTo>
                  <a:lnTo>
                    <a:pt x="20" y="1"/>
                  </a:lnTo>
                  <a:lnTo>
                    <a:pt x="12" y="0"/>
                  </a:lnTo>
                </a:path>
              </a:pathLst>
            </a:custGeom>
            <a:noFill/>
            <a:ln w="1588">
              <a:solidFill>
                <a:srgbClr val="6666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33" name="Freeform 457">
              <a:extLst>
                <a:ext uri="{FF2B5EF4-FFF2-40B4-BE49-F238E27FC236}">
                  <a16:creationId xmlns:a16="http://schemas.microsoft.com/office/drawing/2014/main" id="{842421B7-82D5-7350-BC2F-39A82AF078AF}"/>
                </a:ext>
              </a:extLst>
            </p:cNvPr>
            <p:cNvSpPr>
              <a:spLocks/>
            </p:cNvSpPr>
            <p:nvPr/>
          </p:nvSpPr>
          <p:spPr bwMode="auto">
            <a:xfrm>
              <a:off x="1426" y="1480"/>
              <a:ext cx="46" cy="25"/>
            </a:xfrm>
            <a:custGeom>
              <a:avLst/>
              <a:gdLst>
                <a:gd name="T0" fmla="*/ 0 w 152"/>
                <a:gd name="T1" fmla="*/ 0 h 111"/>
                <a:gd name="T2" fmla="*/ 38 w 152"/>
                <a:gd name="T3" fmla="*/ 27 h 111"/>
                <a:gd name="T4" fmla="*/ 56 w 152"/>
                <a:gd name="T5" fmla="*/ 38 h 111"/>
                <a:gd name="T6" fmla="*/ 76 w 152"/>
                <a:gd name="T7" fmla="*/ 48 h 111"/>
                <a:gd name="T8" fmla="*/ 82 w 152"/>
                <a:gd name="T9" fmla="*/ 51 h 111"/>
                <a:gd name="T10" fmla="*/ 85 w 152"/>
                <a:gd name="T11" fmla="*/ 52 h 111"/>
                <a:gd name="T12" fmla="*/ 89 w 152"/>
                <a:gd name="T13" fmla="*/ 55 h 111"/>
                <a:gd name="T14" fmla="*/ 93 w 152"/>
                <a:gd name="T15" fmla="*/ 57 h 111"/>
                <a:gd name="T16" fmla="*/ 98 w 152"/>
                <a:gd name="T17" fmla="*/ 61 h 111"/>
                <a:gd name="T18" fmla="*/ 101 w 152"/>
                <a:gd name="T19" fmla="*/ 62 h 111"/>
                <a:gd name="T20" fmla="*/ 105 w 152"/>
                <a:gd name="T21" fmla="*/ 65 h 111"/>
                <a:gd name="T22" fmla="*/ 107 w 152"/>
                <a:gd name="T23" fmla="*/ 70 h 111"/>
                <a:gd name="T24" fmla="*/ 100 w 152"/>
                <a:gd name="T25" fmla="*/ 81 h 111"/>
                <a:gd name="T26" fmla="*/ 101 w 152"/>
                <a:gd name="T27" fmla="*/ 84 h 111"/>
                <a:gd name="T28" fmla="*/ 105 w 152"/>
                <a:gd name="T29" fmla="*/ 89 h 111"/>
                <a:gd name="T30" fmla="*/ 111 w 152"/>
                <a:gd name="T31" fmla="*/ 94 h 111"/>
                <a:gd name="T32" fmla="*/ 122 w 152"/>
                <a:gd name="T33" fmla="*/ 101 h 111"/>
                <a:gd name="T34" fmla="*/ 137 w 152"/>
                <a:gd name="T35" fmla="*/ 107 h 111"/>
                <a:gd name="T36" fmla="*/ 152 w 152"/>
                <a:gd name="T37" fmla="*/ 11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2" h="111">
                  <a:moveTo>
                    <a:pt x="0" y="0"/>
                  </a:moveTo>
                  <a:lnTo>
                    <a:pt x="38" y="27"/>
                  </a:lnTo>
                  <a:lnTo>
                    <a:pt x="56" y="38"/>
                  </a:lnTo>
                  <a:lnTo>
                    <a:pt x="76" y="48"/>
                  </a:lnTo>
                  <a:lnTo>
                    <a:pt x="82" y="51"/>
                  </a:lnTo>
                  <a:lnTo>
                    <a:pt x="85" y="52"/>
                  </a:lnTo>
                  <a:lnTo>
                    <a:pt x="89" y="55"/>
                  </a:lnTo>
                  <a:lnTo>
                    <a:pt x="93" y="57"/>
                  </a:lnTo>
                  <a:lnTo>
                    <a:pt x="98" y="61"/>
                  </a:lnTo>
                  <a:lnTo>
                    <a:pt x="101" y="62"/>
                  </a:lnTo>
                  <a:lnTo>
                    <a:pt x="105" y="65"/>
                  </a:lnTo>
                  <a:lnTo>
                    <a:pt x="107" y="70"/>
                  </a:lnTo>
                  <a:lnTo>
                    <a:pt x="100" y="81"/>
                  </a:lnTo>
                  <a:lnTo>
                    <a:pt x="101" y="84"/>
                  </a:lnTo>
                  <a:lnTo>
                    <a:pt x="105" y="89"/>
                  </a:lnTo>
                  <a:lnTo>
                    <a:pt x="111" y="94"/>
                  </a:lnTo>
                  <a:lnTo>
                    <a:pt x="122" y="101"/>
                  </a:lnTo>
                  <a:lnTo>
                    <a:pt x="137" y="107"/>
                  </a:lnTo>
                  <a:lnTo>
                    <a:pt x="152" y="111"/>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34" name="Rectangle 458">
              <a:extLst>
                <a:ext uri="{FF2B5EF4-FFF2-40B4-BE49-F238E27FC236}">
                  <a16:creationId xmlns:a16="http://schemas.microsoft.com/office/drawing/2014/main" id="{999D9FA8-7E37-7118-35FF-0EDA8CA1E259}"/>
                </a:ext>
              </a:extLst>
            </p:cNvPr>
            <p:cNvSpPr>
              <a:spLocks noChangeArrowheads="1"/>
            </p:cNvSpPr>
            <p:nvPr/>
          </p:nvSpPr>
          <p:spPr bwMode="auto">
            <a:xfrm>
              <a:off x="1292" y="1398"/>
              <a:ext cx="131" cy="2"/>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76235" name="Freeform 459">
              <a:extLst>
                <a:ext uri="{FF2B5EF4-FFF2-40B4-BE49-F238E27FC236}">
                  <a16:creationId xmlns:a16="http://schemas.microsoft.com/office/drawing/2014/main" id="{B4C7AC8D-98E9-0952-AD8B-614CDB8E3014}"/>
                </a:ext>
              </a:extLst>
            </p:cNvPr>
            <p:cNvSpPr>
              <a:spLocks/>
            </p:cNvSpPr>
            <p:nvPr/>
          </p:nvSpPr>
          <p:spPr bwMode="auto">
            <a:xfrm>
              <a:off x="1074" y="1398"/>
              <a:ext cx="218" cy="56"/>
            </a:xfrm>
            <a:custGeom>
              <a:avLst/>
              <a:gdLst>
                <a:gd name="T0" fmla="*/ 726 w 726"/>
                <a:gd name="T1" fmla="*/ 12 h 251"/>
                <a:gd name="T2" fmla="*/ 726 w 726"/>
                <a:gd name="T3" fmla="*/ 0 h 251"/>
                <a:gd name="T4" fmla="*/ 0 w 726"/>
                <a:gd name="T5" fmla="*/ 0 h 251"/>
                <a:gd name="T6" fmla="*/ 0 w 726"/>
                <a:gd name="T7" fmla="*/ 12 h 251"/>
                <a:gd name="T8" fmla="*/ 722 w 726"/>
                <a:gd name="T9" fmla="*/ 12 h 251"/>
                <a:gd name="T10" fmla="*/ 722 w 726"/>
                <a:gd name="T11" fmla="*/ 251 h 251"/>
                <a:gd name="T12" fmla="*/ 726 w 726"/>
                <a:gd name="T13" fmla="*/ 251 h 251"/>
                <a:gd name="T14" fmla="*/ 726 w 726"/>
                <a:gd name="T15" fmla="*/ 248 h 251"/>
                <a:gd name="T16" fmla="*/ 726 w 726"/>
                <a:gd name="T17" fmla="*/ 12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6" h="251">
                  <a:moveTo>
                    <a:pt x="726" y="12"/>
                  </a:moveTo>
                  <a:lnTo>
                    <a:pt x="726" y="0"/>
                  </a:lnTo>
                  <a:lnTo>
                    <a:pt x="0" y="0"/>
                  </a:lnTo>
                  <a:lnTo>
                    <a:pt x="0" y="12"/>
                  </a:lnTo>
                  <a:lnTo>
                    <a:pt x="722" y="12"/>
                  </a:lnTo>
                  <a:lnTo>
                    <a:pt x="722" y="251"/>
                  </a:lnTo>
                  <a:lnTo>
                    <a:pt x="726" y="251"/>
                  </a:lnTo>
                  <a:lnTo>
                    <a:pt x="726" y="248"/>
                  </a:lnTo>
                  <a:lnTo>
                    <a:pt x="726" y="12"/>
                  </a:lnTo>
                  <a:close/>
                </a:path>
              </a:pathLst>
            </a:custGeom>
            <a:solidFill>
              <a:srgbClr val="9D9D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36" name="Rectangle 460">
              <a:extLst>
                <a:ext uri="{FF2B5EF4-FFF2-40B4-BE49-F238E27FC236}">
                  <a16:creationId xmlns:a16="http://schemas.microsoft.com/office/drawing/2014/main" id="{3E11F606-0B8B-3829-06CA-2C188994AC89}"/>
                </a:ext>
              </a:extLst>
            </p:cNvPr>
            <p:cNvSpPr>
              <a:spLocks noChangeArrowheads="1"/>
            </p:cNvSpPr>
            <p:nvPr/>
          </p:nvSpPr>
          <p:spPr bwMode="auto">
            <a:xfrm>
              <a:off x="1423" y="1398"/>
              <a:ext cx="29" cy="2"/>
            </a:xfrm>
            <a:prstGeom prst="rect">
              <a:avLst/>
            </a:prstGeom>
            <a:solidFill>
              <a:srgbClr val="88888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76237" name="Freeform 461">
              <a:extLst>
                <a:ext uri="{FF2B5EF4-FFF2-40B4-BE49-F238E27FC236}">
                  <a16:creationId xmlns:a16="http://schemas.microsoft.com/office/drawing/2014/main" id="{59A2388F-83D5-75FE-F029-630A46DFF9BD}"/>
                </a:ext>
              </a:extLst>
            </p:cNvPr>
            <p:cNvSpPr>
              <a:spLocks/>
            </p:cNvSpPr>
            <p:nvPr/>
          </p:nvSpPr>
          <p:spPr bwMode="auto">
            <a:xfrm>
              <a:off x="1074" y="1393"/>
              <a:ext cx="378" cy="5"/>
            </a:xfrm>
            <a:custGeom>
              <a:avLst/>
              <a:gdLst>
                <a:gd name="T0" fmla="*/ 1160 w 1261"/>
                <a:gd name="T1" fmla="*/ 24 h 24"/>
                <a:gd name="T2" fmla="*/ 1261 w 1261"/>
                <a:gd name="T3" fmla="*/ 24 h 24"/>
                <a:gd name="T4" fmla="*/ 1261 w 1261"/>
                <a:gd name="T5" fmla="*/ 0 h 24"/>
                <a:gd name="T6" fmla="*/ 0 w 1261"/>
                <a:gd name="T7" fmla="*/ 0 h 24"/>
                <a:gd name="T8" fmla="*/ 0 w 1261"/>
                <a:gd name="T9" fmla="*/ 24 h 24"/>
                <a:gd name="T10" fmla="*/ 726 w 1261"/>
                <a:gd name="T11" fmla="*/ 24 h 24"/>
                <a:gd name="T12" fmla="*/ 1160 w 1261"/>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1261" h="24">
                  <a:moveTo>
                    <a:pt x="1160" y="24"/>
                  </a:moveTo>
                  <a:lnTo>
                    <a:pt x="1261" y="24"/>
                  </a:lnTo>
                  <a:lnTo>
                    <a:pt x="1261" y="0"/>
                  </a:lnTo>
                  <a:lnTo>
                    <a:pt x="0" y="0"/>
                  </a:lnTo>
                  <a:lnTo>
                    <a:pt x="0" y="24"/>
                  </a:lnTo>
                  <a:lnTo>
                    <a:pt x="726" y="24"/>
                  </a:lnTo>
                  <a:lnTo>
                    <a:pt x="1160" y="24"/>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38" name="Freeform 462">
              <a:extLst>
                <a:ext uri="{FF2B5EF4-FFF2-40B4-BE49-F238E27FC236}">
                  <a16:creationId xmlns:a16="http://schemas.microsoft.com/office/drawing/2014/main" id="{43122310-3E75-B2B9-605A-2846EE56864D}"/>
                </a:ext>
              </a:extLst>
            </p:cNvPr>
            <p:cNvSpPr>
              <a:spLocks/>
            </p:cNvSpPr>
            <p:nvPr/>
          </p:nvSpPr>
          <p:spPr bwMode="auto">
            <a:xfrm>
              <a:off x="1423" y="1400"/>
              <a:ext cx="29" cy="77"/>
            </a:xfrm>
            <a:custGeom>
              <a:avLst/>
              <a:gdLst>
                <a:gd name="T0" fmla="*/ 101 w 101"/>
                <a:gd name="T1" fmla="*/ 0 h 341"/>
                <a:gd name="T2" fmla="*/ 0 w 101"/>
                <a:gd name="T3" fmla="*/ 0 h 341"/>
                <a:gd name="T4" fmla="*/ 0 w 101"/>
                <a:gd name="T5" fmla="*/ 236 h 341"/>
                <a:gd name="T6" fmla="*/ 0 w 101"/>
                <a:gd name="T7" fmla="*/ 239 h 341"/>
                <a:gd name="T8" fmla="*/ 0 w 101"/>
                <a:gd name="T9" fmla="*/ 341 h 341"/>
                <a:gd name="T10" fmla="*/ 101 w 101"/>
                <a:gd name="T11" fmla="*/ 341 h 341"/>
                <a:gd name="T12" fmla="*/ 101 w 101"/>
                <a:gd name="T13" fmla="*/ 0 h 341"/>
              </a:gdLst>
              <a:ahLst/>
              <a:cxnLst>
                <a:cxn ang="0">
                  <a:pos x="T0" y="T1"/>
                </a:cxn>
                <a:cxn ang="0">
                  <a:pos x="T2" y="T3"/>
                </a:cxn>
                <a:cxn ang="0">
                  <a:pos x="T4" y="T5"/>
                </a:cxn>
                <a:cxn ang="0">
                  <a:pos x="T6" y="T7"/>
                </a:cxn>
                <a:cxn ang="0">
                  <a:pos x="T8" y="T9"/>
                </a:cxn>
                <a:cxn ang="0">
                  <a:pos x="T10" y="T11"/>
                </a:cxn>
                <a:cxn ang="0">
                  <a:pos x="T12" y="T13"/>
                </a:cxn>
              </a:cxnLst>
              <a:rect l="0" t="0" r="r" b="b"/>
              <a:pathLst>
                <a:path w="101" h="341">
                  <a:moveTo>
                    <a:pt x="101" y="0"/>
                  </a:moveTo>
                  <a:lnTo>
                    <a:pt x="0" y="0"/>
                  </a:lnTo>
                  <a:lnTo>
                    <a:pt x="0" y="236"/>
                  </a:lnTo>
                  <a:lnTo>
                    <a:pt x="0" y="239"/>
                  </a:lnTo>
                  <a:lnTo>
                    <a:pt x="0" y="341"/>
                  </a:lnTo>
                  <a:lnTo>
                    <a:pt x="101" y="341"/>
                  </a:lnTo>
                  <a:lnTo>
                    <a:pt x="101" y="0"/>
                  </a:lnTo>
                  <a:close/>
                </a:path>
              </a:pathLst>
            </a:custGeom>
            <a:solidFill>
              <a:srgbClr val="A2A2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39" name="Freeform 463">
              <a:extLst>
                <a:ext uri="{FF2B5EF4-FFF2-40B4-BE49-F238E27FC236}">
                  <a16:creationId xmlns:a16="http://schemas.microsoft.com/office/drawing/2014/main" id="{D1BADBD7-7D7E-3E26-CFFD-DB4E2DFD2CAE}"/>
                </a:ext>
              </a:extLst>
            </p:cNvPr>
            <p:cNvSpPr>
              <a:spLocks noEditPoints="1"/>
            </p:cNvSpPr>
            <p:nvPr/>
          </p:nvSpPr>
          <p:spPr bwMode="auto">
            <a:xfrm>
              <a:off x="1292" y="1400"/>
              <a:ext cx="131" cy="53"/>
            </a:xfrm>
            <a:custGeom>
              <a:avLst/>
              <a:gdLst>
                <a:gd name="T0" fmla="*/ 434 w 434"/>
                <a:gd name="T1" fmla="*/ 0 h 236"/>
                <a:gd name="T2" fmla="*/ 0 w 434"/>
                <a:gd name="T3" fmla="*/ 0 h 236"/>
                <a:gd name="T4" fmla="*/ 0 w 434"/>
                <a:gd name="T5" fmla="*/ 236 h 236"/>
                <a:gd name="T6" fmla="*/ 434 w 434"/>
                <a:gd name="T7" fmla="*/ 236 h 236"/>
                <a:gd name="T8" fmla="*/ 434 w 434"/>
                <a:gd name="T9" fmla="*/ 0 h 236"/>
                <a:gd name="T10" fmla="*/ 146 w 434"/>
                <a:gd name="T11" fmla="*/ 85 h 236"/>
                <a:gd name="T12" fmla="*/ 146 w 434"/>
                <a:gd name="T13" fmla="*/ 73 h 236"/>
                <a:gd name="T14" fmla="*/ 97 w 434"/>
                <a:gd name="T15" fmla="*/ 73 h 236"/>
                <a:gd name="T16" fmla="*/ 97 w 434"/>
                <a:gd name="T17" fmla="*/ 36 h 236"/>
                <a:gd name="T18" fmla="*/ 146 w 434"/>
                <a:gd name="T19" fmla="*/ 36 h 236"/>
                <a:gd name="T20" fmla="*/ 146 w 434"/>
                <a:gd name="T21" fmla="*/ 24 h 236"/>
                <a:gd name="T22" fmla="*/ 295 w 434"/>
                <a:gd name="T23" fmla="*/ 24 h 236"/>
                <a:gd name="T24" fmla="*/ 295 w 434"/>
                <a:gd name="T25" fmla="*/ 36 h 236"/>
                <a:gd name="T26" fmla="*/ 344 w 434"/>
                <a:gd name="T27" fmla="*/ 36 h 236"/>
                <a:gd name="T28" fmla="*/ 344 w 434"/>
                <a:gd name="T29" fmla="*/ 73 h 236"/>
                <a:gd name="T30" fmla="*/ 295 w 434"/>
                <a:gd name="T31" fmla="*/ 73 h 236"/>
                <a:gd name="T32" fmla="*/ 295 w 434"/>
                <a:gd name="T33" fmla="*/ 85 h 236"/>
                <a:gd name="T34" fmla="*/ 146 w 434"/>
                <a:gd name="T35" fmla="*/ 85 h 236"/>
                <a:gd name="T36" fmla="*/ 357 w 434"/>
                <a:gd name="T37" fmla="*/ 216 h 236"/>
                <a:gd name="T38" fmla="*/ 404 w 434"/>
                <a:gd name="T39" fmla="*/ 216 h 236"/>
                <a:gd name="T40" fmla="*/ 404 w 434"/>
                <a:gd name="T41" fmla="*/ 232 h 236"/>
                <a:gd name="T42" fmla="*/ 357 w 434"/>
                <a:gd name="T43" fmla="*/ 232 h 236"/>
                <a:gd name="T44" fmla="*/ 357 w 434"/>
                <a:gd name="T45" fmla="*/ 216 h 236"/>
                <a:gd name="T46" fmla="*/ 373 w 434"/>
                <a:gd name="T47" fmla="*/ 165 h 236"/>
                <a:gd name="T48" fmla="*/ 373 w 434"/>
                <a:gd name="T49" fmla="*/ 189 h 236"/>
                <a:gd name="T50" fmla="*/ 300 w 434"/>
                <a:gd name="T51" fmla="*/ 189 h 236"/>
                <a:gd name="T52" fmla="*/ 300 w 434"/>
                <a:gd name="T53" fmla="*/ 208 h 236"/>
                <a:gd name="T54" fmla="*/ 137 w 434"/>
                <a:gd name="T55" fmla="*/ 208 h 236"/>
                <a:gd name="T56" fmla="*/ 137 w 434"/>
                <a:gd name="T57" fmla="*/ 189 h 236"/>
                <a:gd name="T58" fmla="*/ 60 w 434"/>
                <a:gd name="T59" fmla="*/ 189 h 236"/>
                <a:gd name="T60" fmla="*/ 60 w 434"/>
                <a:gd name="T61" fmla="*/ 165 h 236"/>
                <a:gd name="T62" fmla="*/ 137 w 434"/>
                <a:gd name="T63" fmla="*/ 165 h 236"/>
                <a:gd name="T64" fmla="*/ 137 w 434"/>
                <a:gd name="T65" fmla="*/ 150 h 236"/>
                <a:gd name="T66" fmla="*/ 300 w 434"/>
                <a:gd name="T67" fmla="*/ 150 h 236"/>
                <a:gd name="T68" fmla="*/ 300 w 434"/>
                <a:gd name="T69" fmla="*/ 165 h 236"/>
                <a:gd name="T70" fmla="*/ 373 w 434"/>
                <a:gd name="T71" fmla="*/ 16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4" h="236">
                  <a:moveTo>
                    <a:pt x="434" y="0"/>
                  </a:moveTo>
                  <a:lnTo>
                    <a:pt x="0" y="0"/>
                  </a:lnTo>
                  <a:lnTo>
                    <a:pt x="0" y="236"/>
                  </a:lnTo>
                  <a:lnTo>
                    <a:pt x="434" y="236"/>
                  </a:lnTo>
                  <a:lnTo>
                    <a:pt x="434" y="0"/>
                  </a:lnTo>
                  <a:close/>
                  <a:moveTo>
                    <a:pt x="146" y="85"/>
                  </a:moveTo>
                  <a:lnTo>
                    <a:pt x="146" y="73"/>
                  </a:lnTo>
                  <a:lnTo>
                    <a:pt x="97" y="73"/>
                  </a:lnTo>
                  <a:lnTo>
                    <a:pt x="97" y="36"/>
                  </a:lnTo>
                  <a:lnTo>
                    <a:pt x="146" y="36"/>
                  </a:lnTo>
                  <a:lnTo>
                    <a:pt x="146" y="24"/>
                  </a:lnTo>
                  <a:lnTo>
                    <a:pt x="295" y="24"/>
                  </a:lnTo>
                  <a:lnTo>
                    <a:pt x="295" y="36"/>
                  </a:lnTo>
                  <a:lnTo>
                    <a:pt x="344" y="36"/>
                  </a:lnTo>
                  <a:lnTo>
                    <a:pt x="344" y="73"/>
                  </a:lnTo>
                  <a:lnTo>
                    <a:pt x="295" y="73"/>
                  </a:lnTo>
                  <a:lnTo>
                    <a:pt x="295" y="85"/>
                  </a:lnTo>
                  <a:lnTo>
                    <a:pt x="146" y="85"/>
                  </a:lnTo>
                  <a:close/>
                  <a:moveTo>
                    <a:pt x="357" y="216"/>
                  </a:moveTo>
                  <a:lnTo>
                    <a:pt x="404" y="216"/>
                  </a:lnTo>
                  <a:lnTo>
                    <a:pt x="404" y="232"/>
                  </a:lnTo>
                  <a:lnTo>
                    <a:pt x="357" y="232"/>
                  </a:lnTo>
                  <a:lnTo>
                    <a:pt x="357" y="216"/>
                  </a:lnTo>
                  <a:close/>
                  <a:moveTo>
                    <a:pt x="373" y="165"/>
                  </a:moveTo>
                  <a:lnTo>
                    <a:pt x="373" y="189"/>
                  </a:lnTo>
                  <a:lnTo>
                    <a:pt x="300" y="189"/>
                  </a:lnTo>
                  <a:lnTo>
                    <a:pt x="300" y="208"/>
                  </a:lnTo>
                  <a:lnTo>
                    <a:pt x="137" y="208"/>
                  </a:lnTo>
                  <a:lnTo>
                    <a:pt x="137" y="189"/>
                  </a:lnTo>
                  <a:lnTo>
                    <a:pt x="60" y="189"/>
                  </a:lnTo>
                  <a:lnTo>
                    <a:pt x="60" y="165"/>
                  </a:lnTo>
                  <a:lnTo>
                    <a:pt x="137" y="165"/>
                  </a:lnTo>
                  <a:lnTo>
                    <a:pt x="137" y="150"/>
                  </a:lnTo>
                  <a:lnTo>
                    <a:pt x="300" y="150"/>
                  </a:lnTo>
                  <a:lnTo>
                    <a:pt x="300" y="165"/>
                  </a:lnTo>
                  <a:lnTo>
                    <a:pt x="373" y="165"/>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40" name="Rectangle 464">
              <a:extLst>
                <a:ext uri="{FF2B5EF4-FFF2-40B4-BE49-F238E27FC236}">
                  <a16:creationId xmlns:a16="http://schemas.microsoft.com/office/drawing/2014/main" id="{1C94724F-C608-CED7-05B7-C2162C1597CA}"/>
                </a:ext>
              </a:extLst>
            </p:cNvPr>
            <p:cNvSpPr>
              <a:spLocks noChangeArrowheads="1"/>
            </p:cNvSpPr>
            <p:nvPr/>
          </p:nvSpPr>
          <p:spPr bwMode="auto">
            <a:xfrm>
              <a:off x="1336" y="1417"/>
              <a:ext cx="44" cy="2"/>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76241" name="Rectangle 465">
              <a:extLst>
                <a:ext uri="{FF2B5EF4-FFF2-40B4-BE49-F238E27FC236}">
                  <a16:creationId xmlns:a16="http://schemas.microsoft.com/office/drawing/2014/main" id="{0FC5FC07-214B-5C9F-3E32-169BB24AAC22}"/>
                </a:ext>
              </a:extLst>
            </p:cNvPr>
            <p:cNvSpPr>
              <a:spLocks noChangeArrowheads="1"/>
            </p:cNvSpPr>
            <p:nvPr/>
          </p:nvSpPr>
          <p:spPr bwMode="auto">
            <a:xfrm>
              <a:off x="1336" y="1406"/>
              <a:ext cx="44" cy="2"/>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76242" name="Freeform 466">
              <a:extLst>
                <a:ext uri="{FF2B5EF4-FFF2-40B4-BE49-F238E27FC236}">
                  <a16:creationId xmlns:a16="http://schemas.microsoft.com/office/drawing/2014/main" id="{EA5D9589-6DDA-4149-54E0-A27C2FA76A31}"/>
                </a:ext>
              </a:extLst>
            </p:cNvPr>
            <p:cNvSpPr>
              <a:spLocks/>
            </p:cNvSpPr>
            <p:nvPr/>
          </p:nvSpPr>
          <p:spPr bwMode="auto">
            <a:xfrm>
              <a:off x="1322" y="1408"/>
              <a:ext cx="75" cy="9"/>
            </a:xfrm>
            <a:custGeom>
              <a:avLst/>
              <a:gdLst>
                <a:gd name="T0" fmla="*/ 49 w 247"/>
                <a:gd name="T1" fmla="*/ 0 h 37"/>
                <a:gd name="T2" fmla="*/ 0 w 247"/>
                <a:gd name="T3" fmla="*/ 0 h 37"/>
                <a:gd name="T4" fmla="*/ 0 w 247"/>
                <a:gd name="T5" fmla="*/ 37 h 37"/>
                <a:gd name="T6" fmla="*/ 49 w 247"/>
                <a:gd name="T7" fmla="*/ 37 h 37"/>
                <a:gd name="T8" fmla="*/ 198 w 247"/>
                <a:gd name="T9" fmla="*/ 37 h 37"/>
                <a:gd name="T10" fmla="*/ 247 w 247"/>
                <a:gd name="T11" fmla="*/ 37 h 37"/>
                <a:gd name="T12" fmla="*/ 247 w 247"/>
                <a:gd name="T13" fmla="*/ 0 h 37"/>
                <a:gd name="T14" fmla="*/ 198 w 247"/>
                <a:gd name="T15" fmla="*/ 0 h 37"/>
                <a:gd name="T16" fmla="*/ 49 w 247"/>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7" h="37">
                  <a:moveTo>
                    <a:pt x="49" y="0"/>
                  </a:moveTo>
                  <a:lnTo>
                    <a:pt x="0" y="0"/>
                  </a:lnTo>
                  <a:lnTo>
                    <a:pt x="0" y="37"/>
                  </a:lnTo>
                  <a:lnTo>
                    <a:pt x="49" y="37"/>
                  </a:lnTo>
                  <a:lnTo>
                    <a:pt x="198" y="37"/>
                  </a:lnTo>
                  <a:lnTo>
                    <a:pt x="247" y="37"/>
                  </a:lnTo>
                  <a:lnTo>
                    <a:pt x="247" y="0"/>
                  </a:lnTo>
                  <a:lnTo>
                    <a:pt x="198" y="0"/>
                  </a:lnTo>
                  <a:lnTo>
                    <a:pt x="49" y="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43" name="Rectangle 467">
              <a:extLst>
                <a:ext uri="{FF2B5EF4-FFF2-40B4-BE49-F238E27FC236}">
                  <a16:creationId xmlns:a16="http://schemas.microsoft.com/office/drawing/2014/main" id="{583AA793-16D3-9A46-D481-EBC4FB815C2D}"/>
                </a:ext>
              </a:extLst>
            </p:cNvPr>
            <p:cNvSpPr>
              <a:spLocks noChangeArrowheads="1"/>
            </p:cNvSpPr>
            <p:nvPr/>
          </p:nvSpPr>
          <p:spPr bwMode="auto">
            <a:xfrm>
              <a:off x="1400" y="1448"/>
              <a:ext cx="14" cy="5"/>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76244" name="Freeform 468">
              <a:extLst>
                <a:ext uri="{FF2B5EF4-FFF2-40B4-BE49-F238E27FC236}">
                  <a16:creationId xmlns:a16="http://schemas.microsoft.com/office/drawing/2014/main" id="{BCB761F0-9DB7-BD49-F1C5-9847D7DA00F7}"/>
                </a:ext>
              </a:extLst>
            </p:cNvPr>
            <p:cNvSpPr>
              <a:spLocks/>
            </p:cNvSpPr>
            <p:nvPr/>
          </p:nvSpPr>
          <p:spPr bwMode="auto">
            <a:xfrm>
              <a:off x="1310" y="1436"/>
              <a:ext cx="94" cy="6"/>
            </a:xfrm>
            <a:custGeom>
              <a:avLst/>
              <a:gdLst>
                <a:gd name="T0" fmla="*/ 313 w 313"/>
                <a:gd name="T1" fmla="*/ 24 h 24"/>
                <a:gd name="T2" fmla="*/ 313 w 313"/>
                <a:gd name="T3" fmla="*/ 0 h 24"/>
                <a:gd name="T4" fmla="*/ 240 w 313"/>
                <a:gd name="T5" fmla="*/ 0 h 24"/>
                <a:gd name="T6" fmla="*/ 77 w 313"/>
                <a:gd name="T7" fmla="*/ 0 h 24"/>
                <a:gd name="T8" fmla="*/ 0 w 313"/>
                <a:gd name="T9" fmla="*/ 0 h 24"/>
                <a:gd name="T10" fmla="*/ 0 w 313"/>
                <a:gd name="T11" fmla="*/ 24 h 24"/>
                <a:gd name="T12" fmla="*/ 77 w 313"/>
                <a:gd name="T13" fmla="*/ 24 h 24"/>
                <a:gd name="T14" fmla="*/ 240 w 313"/>
                <a:gd name="T15" fmla="*/ 24 h 24"/>
                <a:gd name="T16" fmla="*/ 313 w 313"/>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3" h="24">
                  <a:moveTo>
                    <a:pt x="313" y="24"/>
                  </a:moveTo>
                  <a:lnTo>
                    <a:pt x="313" y="0"/>
                  </a:lnTo>
                  <a:lnTo>
                    <a:pt x="240" y="0"/>
                  </a:lnTo>
                  <a:lnTo>
                    <a:pt x="77" y="0"/>
                  </a:lnTo>
                  <a:lnTo>
                    <a:pt x="0" y="0"/>
                  </a:lnTo>
                  <a:lnTo>
                    <a:pt x="0" y="24"/>
                  </a:lnTo>
                  <a:lnTo>
                    <a:pt x="77" y="24"/>
                  </a:lnTo>
                  <a:lnTo>
                    <a:pt x="240" y="24"/>
                  </a:lnTo>
                  <a:lnTo>
                    <a:pt x="313" y="24"/>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45" name="Rectangle 469">
              <a:extLst>
                <a:ext uri="{FF2B5EF4-FFF2-40B4-BE49-F238E27FC236}">
                  <a16:creationId xmlns:a16="http://schemas.microsoft.com/office/drawing/2014/main" id="{B4F80206-8028-C562-DA26-252EE96CB53C}"/>
                </a:ext>
              </a:extLst>
            </p:cNvPr>
            <p:cNvSpPr>
              <a:spLocks noChangeArrowheads="1"/>
            </p:cNvSpPr>
            <p:nvPr/>
          </p:nvSpPr>
          <p:spPr bwMode="auto">
            <a:xfrm>
              <a:off x="1333" y="1435"/>
              <a:ext cx="49" cy="1"/>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76246" name="Rectangle 470">
              <a:extLst>
                <a:ext uri="{FF2B5EF4-FFF2-40B4-BE49-F238E27FC236}">
                  <a16:creationId xmlns:a16="http://schemas.microsoft.com/office/drawing/2014/main" id="{F660E353-42D8-4A1F-D686-23497967A0FC}"/>
                </a:ext>
              </a:extLst>
            </p:cNvPr>
            <p:cNvSpPr>
              <a:spLocks noChangeArrowheads="1"/>
            </p:cNvSpPr>
            <p:nvPr/>
          </p:nvSpPr>
          <p:spPr bwMode="auto">
            <a:xfrm>
              <a:off x="1333" y="1442"/>
              <a:ext cx="49" cy="5"/>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76247" name="Freeform 471">
              <a:extLst>
                <a:ext uri="{FF2B5EF4-FFF2-40B4-BE49-F238E27FC236}">
                  <a16:creationId xmlns:a16="http://schemas.microsoft.com/office/drawing/2014/main" id="{0F158079-EAE9-011D-E192-08CF2F400307}"/>
                </a:ext>
              </a:extLst>
            </p:cNvPr>
            <p:cNvSpPr>
              <a:spLocks/>
            </p:cNvSpPr>
            <p:nvPr/>
          </p:nvSpPr>
          <p:spPr bwMode="auto">
            <a:xfrm>
              <a:off x="1074" y="1480"/>
              <a:ext cx="378" cy="3"/>
            </a:xfrm>
            <a:custGeom>
              <a:avLst/>
              <a:gdLst>
                <a:gd name="T0" fmla="*/ 0 w 1261"/>
                <a:gd name="T1" fmla="*/ 0 h 14"/>
                <a:gd name="T2" fmla="*/ 0 w 1261"/>
                <a:gd name="T3" fmla="*/ 14 h 14"/>
                <a:gd name="T4" fmla="*/ 1261 w 1261"/>
                <a:gd name="T5" fmla="*/ 14 h 14"/>
                <a:gd name="T6" fmla="*/ 1261 w 1261"/>
                <a:gd name="T7" fmla="*/ 0 h 14"/>
                <a:gd name="T8" fmla="*/ 722 w 1261"/>
                <a:gd name="T9" fmla="*/ 0 h 14"/>
                <a:gd name="T10" fmla="*/ 0 w 1261"/>
                <a:gd name="T11" fmla="*/ 0 h 14"/>
              </a:gdLst>
              <a:ahLst/>
              <a:cxnLst>
                <a:cxn ang="0">
                  <a:pos x="T0" y="T1"/>
                </a:cxn>
                <a:cxn ang="0">
                  <a:pos x="T2" y="T3"/>
                </a:cxn>
                <a:cxn ang="0">
                  <a:pos x="T4" y="T5"/>
                </a:cxn>
                <a:cxn ang="0">
                  <a:pos x="T6" y="T7"/>
                </a:cxn>
                <a:cxn ang="0">
                  <a:pos x="T8" y="T9"/>
                </a:cxn>
                <a:cxn ang="0">
                  <a:pos x="T10" y="T11"/>
                </a:cxn>
              </a:cxnLst>
              <a:rect l="0" t="0" r="r" b="b"/>
              <a:pathLst>
                <a:path w="1261" h="14">
                  <a:moveTo>
                    <a:pt x="0" y="0"/>
                  </a:moveTo>
                  <a:lnTo>
                    <a:pt x="0" y="14"/>
                  </a:lnTo>
                  <a:lnTo>
                    <a:pt x="1261" y="14"/>
                  </a:lnTo>
                  <a:lnTo>
                    <a:pt x="1261" y="0"/>
                  </a:lnTo>
                  <a:lnTo>
                    <a:pt x="722" y="0"/>
                  </a:lnTo>
                  <a:lnTo>
                    <a:pt x="0" y="0"/>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48" name="Rectangle 472">
              <a:extLst>
                <a:ext uri="{FF2B5EF4-FFF2-40B4-BE49-F238E27FC236}">
                  <a16:creationId xmlns:a16="http://schemas.microsoft.com/office/drawing/2014/main" id="{EDB0F501-0B5D-85CC-F928-1CAA4346FC3F}"/>
                </a:ext>
              </a:extLst>
            </p:cNvPr>
            <p:cNvSpPr>
              <a:spLocks noChangeArrowheads="1"/>
            </p:cNvSpPr>
            <p:nvPr/>
          </p:nvSpPr>
          <p:spPr bwMode="auto">
            <a:xfrm>
              <a:off x="1292" y="1453"/>
              <a:ext cx="131" cy="1"/>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76249" name="Freeform 473">
              <a:extLst>
                <a:ext uri="{FF2B5EF4-FFF2-40B4-BE49-F238E27FC236}">
                  <a16:creationId xmlns:a16="http://schemas.microsoft.com/office/drawing/2014/main" id="{6458F053-5441-D090-F430-F608B919D70D}"/>
                </a:ext>
              </a:extLst>
            </p:cNvPr>
            <p:cNvSpPr>
              <a:spLocks/>
            </p:cNvSpPr>
            <p:nvPr/>
          </p:nvSpPr>
          <p:spPr bwMode="auto">
            <a:xfrm>
              <a:off x="1291" y="1454"/>
              <a:ext cx="161" cy="26"/>
            </a:xfrm>
            <a:custGeom>
              <a:avLst/>
              <a:gdLst>
                <a:gd name="T0" fmla="*/ 539 w 539"/>
                <a:gd name="T1" fmla="*/ 116 h 116"/>
                <a:gd name="T2" fmla="*/ 539 w 539"/>
                <a:gd name="T3" fmla="*/ 102 h 116"/>
                <a:gd name="T4" fmla="*/ 438 w 539"/>
                <a:gd name="T5" fmla="*/ 102 h 116"/>
                <a:gd name="T6" fmla="*/ 438 w 539"/>
                <a:gd name="T7" fmla="*/ 0 h 116"/>
                <a:gd name="T8" fmla="*/ 4 w 539"/>
                <a:gd name="T9" fmla="*/ 0 h 116"/>
                <a:gd name="T10" fmla="*/ 0 w 539"/>
                <a:gd name="T11" fmla="*/ 0 h 116"/>
                <a:gd name="T12" fmla="*/ 0 w 539"/>
                <a:gd name="T13" fmla="*/ 116 h 116"/>
                <a:gd name="T14" fmla="*/ 539 w 539"/>
                <a:gd name="T15" fmla="*/ 116 h 1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9" h="116">
                  <a:moveTo>
                    <a:pt x="539" y="116"/>
                  </a:moveTo>
                  <a:lnTo>
                    <a:pt x="539" y="102"/>
                  </a:lnTo>
                  <a:lnTo>
                    <a:pt x="438" y="102"/>
                  </a:lnTo>
                  <a:lnTo>
                    <a:pt x="438" y="0"/>
                  </a:lnTo>
                  <a:lnTo>
                    <a:pt x="4" y="0"/>
                  </a:lnTo>
                  <a:lnTo>
                    <a:pt x="0" y="0"/>
                  </a:lnTo>
                  <a:lnTo>
                    <a:pt x="0" y="116"/>
                  </a:lnTo>
                  <a:lnTo>
                    <a:pt x="539" y="116"/>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50" name="Freeform 474">
              <a:extLst>
                <a:ext uri="{FF2B5EF4-FFF2-40B4-BE49-F238E27FC236}">
                  <a16:creationId xmlns:a16="http://schemas.microsoft.com/office/drawing/2014/main" id="{9B76CEF5-9019-C7D1-4215-CDBF7445B5DF}"/>
                </a:ext>
              </a:extLst>
            </p:cNvPr>
            <p:cNvSpPr>
              <a:spLocks/>
            </p:cNvSpPr>
            <p:nvPr/>
          </p:nvSpPr>
          <p:spPr bwMode="auto">
            <a:xfrm>
              <a:off x="1074" y="1400"/>
              <a:ext cx="217" cy="80"/>
            </a:xfrm>
            <a:custGeom>
              <a:avLst/>
              <a:gdLst>
                <a:gd name="T0" fmla="*/ 722 w 722"/>
                <a:gd name="T1" fmla="*/ 355 h 355"/>
                <a:gd name="T2" fmla="*/ 722 w 722"/>
                <a:gd name="T3" fmla="*/ 239 h 355"/>
                <a:gd name="T4" fmla="*/ 722 w 722"/>
                <a:gd name="T5" fmla="*/ 0 h 355"/>
                <a:gd name="T6" fmla="*/ 0 w 722"/>
                <a:gd name="T7" fmla="*/ 0 h 355"/>
                <a:gd name="T8" fmla="*/ 0 w 722"/>
                <a:gd name="T9" fmla="*/ 355 h 355"/>
                <a:gd name="T10" fmla="*/ 722 w 722"/>
                <a:gd name="T11" fmla="*/ 355 h 355"/>
              </a:gdLst>
              <a:ahLst/>
              <a:cxnLst>
                <a:cxn ang="0">
                  <a:pos x="T0" y="T1"/>
                </a:cxn>
                <a:cxn ang="0">
                  <a:pos x="T2" y="T3"/>
                </a:cxn>
                <a:cxn ang="0">
                  <a:pos x="T4" y="T5"/>
                </a:cxn>
                <a:cxn ang="0">
                  <a:pos x="T6" y="T7"/>
                </a:cxn>
                <a:cxn ang="0">
                  <a:pos x="T8" y="T9"/>
                </a:cxn>
                <a:cxn ang="0">
                  <a:pos x="T10" y="T11"/>
                </a:cxn>
              </a:cxnLst>
              <a:rect l="0" t="0" r="r" b="b"/>
              <a:pathLst>
                <a:path w="722" h="355">
                  <a:moveTo>
                    <a:pt x="722" y="355"/>
                  </a:moveTo>
                  <a:lnTo>
                    <a:pt x="722" y="239"/>
                  </a:lnTo>
                  <a:lnTo>
                    <a:pt x="722" y="0"/>
                  </a:lnTo>
                  <a:lnTo>
                    <a:pt x="0" y="0"/>
                  </a:lnTo>
                  <a:lnTo>
                    <a:pt x="0" y="355"/>
                  </a:lnTo>
                  <a:lnTo>
                    <a:pt x="722" y="355"/>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51" name="Freeform 475">
              <a:extLst>
                <a:ext uri="{FF2B5EF4-FFF2-40B4-BE49-F238E27FC236}">
                  <a16:creationId xmlns:a16="http://schemas.microsoft.com/office/drawing/2014/main" id="{88C984CE-9497-5ABD-7285-2A1A2B6DBDE2}"/>
                </a:ext>
              </a:extLst>
            </p:cNvPr>
            <p:cNvSpPr>
              <a:spLocks/>
            </p:cNvSpPr>
            <p:nvPr/>
          </p:nvSpPr>
          <p:spPr bwMode="auto">
            <a:xfrm>
              <a:off x="1074" y="1398"/>
              <a:ext cx="378" cy="1"/>
            </a:xfrm>
            <a:custGeom>
              <a:avLst/>
              <a:gdLst>
                <a:gd name="T0" fmla="*/ 1261 w 1261"/>
                <a:gd name="T1" fmla="*/ 1160 w 1261"/>
                <a:gd name="T2" fmla="*/ 726 w 1261"/>
                <a:gd name="T3" fmla="*/ 0 w 1261"/>
              </a:gdLst>
              <a:ahLst/>
              <a:cxnLst>
                <a:cxn ang="0">
                  <a:pos x="T0" y="0"/>
                </a:cxn>
                <a:cxn ang="0">
                  <a:pos x="T1" y="0"/>
                </a:cxn>
                <a:cxn ang="0">
                  <a:pos x="T2" y="0"/>
                </a:cxn>
                <a:cxn ang="0">
                  <a:pos x="T3" y="0"/>
                </a:cxn>
              </a:cxnLst>
              <a:rect l="0" t="0" r="r" b="b"/>
              <a:pathLst>
                <a:path w="1261">
                  <a:moveTo>
                    <a:pt x="1261" y="0"/>
                  </a:moveTo>
                  <a:lnTo>
                    <a:pt x="1160" y="0"/>
                  </a:lnTo>
                  <a:lnTo>
                    <a:pt x="726" y="0"/>
                  </a:lnTo>
                  <a:lnTo>
                    <a:pt x="0" y="0"/>
                  </a:lnTo>
                </a:path>
              </a:pathLst>
            </a:custGeom>
            <a:noFill/>
            <a:ln w="0">
              <a:solidFill>
                <a:srgbClr val="6666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52" name="Freeform 476">
              <a:extLst>
                <a:ext uri="{FF2B5EF4-FFF2-40B4-BE49-F238E27FC236}">
                  <a16:creationId xmlns:a16="http://schemas.microsoft.com/office/drawing/2014/main" id="{610B9164-CF57-DDE2-B868-44718D812DE0}"/>
                </a:ext>
              </a:extLst>
            </p:cNvPr>
            <p:cNvSpPr>
              <a:spLocks/>
            </p:cNvSpPr>
            <p:nvPr/>
          </p:nvSpPr>
          <p:spPr bwMode="auto">
            <a:xfrm>
              <a:off x="1322" y="1408"/>
              <a:ext cx="75" cy="9"/>
            </a:xfrm>
            <a:custGeom>
              <a:avLst/>
              <a:gdLst>
                <a:gd name="T0" fmla="*/ 247 w 247"/>
                <a:gd name="T1" fmla="*/ 0 h 37"/>
                <a:gd name="T2" fmla="*/ 198 w 247"/>
                <a:gd name="T3" fmla="*/ 0 h 37"/>
                <a:gd name="T4" fmla="*/ 49 w 247"/>
                <a:gd name="T5" fmla="*/ 0 h 37"/>
                <a:gd name="T6" fmla="*/ 0 w 247"/>
                <a:gd name="T7" fmla="*/ 0 h 37"/>
                <a:gd name="T8" fmla="*/ 0 w 247"/>
                <a:gd name="T9" fmla="*/ 37 h 37"/>
              </a:gdLst>
              <a:ahLst/>
              <a:cxnLst>
                <a:cxn ang="0">
                  <a:pos x="T0" y="T1"/>
                </a:cxn>
                <a:cxn ang="0">
                  <a:pos x="T2" y="T3"/>
                </a:cxn>
                <a:cxn ang="0">
                  <a:pos x="T4" y="T5"/>
                </a:cxn>
                <a:cxn ang="0">
                  <a:pos x="T6" y="T7"/>
                </a:cxn>
                <a:cxn ang="0">
                  <a:pos x="T8" y="T9"/>
                </a:cxn>
              </a:cxnLst>
              <a:rect l="0" t="0" r="r" b="b"/>
              <a:pathLst>
                <a:path w="247" h="37">
                  <a:moveTo>
                    <a:pt x="247" y="0"/>
                  </a:moveTo>
                  <a:lnTo>
                    <a:pt x="198" y="0"/>
                  </a:lnTo>
                  <a:lnTo>
                    <a:pt x="49" y="0"/>
                  </a:lnTo>
                  <a:lnTo>
                    <a:pt x="0" y="0"/>
                  </a:lnTo>
                  <a:lnTo>
                    <a:pt x="0" y="37"/>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53" name="Freeform 477">
              <a:extLst>
                <a:ext uri="{FF2B5EF4-FFF2-40B4-BE49-F238E27FC236}">
                  <a16:creationId xmlns:a16="http://schemas.microsoft.com/office/drawing/2014/main" id="{5FDC80AD-4EE0-9227-EB60-4ACE691D1AD0}"/>
                </a:ext>
              </a:extLst>
            </p:cNvPr>
            <p:cNvSpPr>
              <a:spLocks/>
            </p:cNvSpPr>
            <p:nvPr/>
          </p:nvSpPr>
          <p:spPr bwMode="auto">
            <a:xfrm>
              <a:off x="1310" y="1436"/>
              <a:ext cx="94" cy="6"/>
            </a:xfrm>
            <a:custGeom>
              <a:avLst/>
              <a:gdLst>
                <a:gd name="T0" fmla="*/ 313 w 313"/>
                <a:gd name="T1" fmla="*/ 0 h 24"/>
                <a:gd name="T2" fmla="*/ 240 w 313"/>
                <a:gd name="T3" fmla="*/ 0 h 24"/>
                <a:gd name="T4" fmla="*/ 77 w 313"/>
                <a:gd name="T5" fmla="*/ 0 h 24"/>
                <a:gd name="T6" fmla="*/ 0 w 313"/>
                <a:gd name="T7" fmla="*/ 0 h 24"/>
                <a:gd name="T8" fmla="*/ 0 w 313"/>
                <a:gd name="T9" fmla="*/ 24 h 24"/>
              </a:gdLst>
              <a:ahLst/>
              <a:cxnLst>
                <a:cxn ang="0">
                  <a:pos x="T0" y="T1"/>
                </a:cxn>
                <a:cxn ang="0">
                  <a:pos x="T2" y="T3"/>
                </a:cxn>
                <a:cxn ang="0">
                  <a:pos x="T4" y="T5"/>
                </a:cxn>
                <a:cxn ang="0">
                  <a:pos x="T6" y="T7"/>
                </a:cxn>
                <a:cxn ang="0">
                  <a:pos x="T8" y="T9"/>
                </a:cxn>
              </a:cxnLst>
              <a:rect l="0" t="0" r="r" b="b"/>
              <a:pathLst>
                <a:path w="313" h="24">
                  <a:moveTo>
                    <a:pt x="313" y="0"/>
                  </a:moveTo>
                  <a:lnTo>
                    <a:pt x="240" y="0"/>
                  </a:lnTo>
                  <a:lnTo>
                    <a:pt x="77" y="0"/>
                  </a:lnTo>
                  <a:lnTo>
                    <a:pt x="0" y="0"/>
                  </a:lnTo>
                  <a:lnTo>
                    <a:pt x="0" y="24"/>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54" name="Freeform 478">
              <a:extLst>
                <a:ext uri="{FF2B5EF4-FFF2-40B4-BE49-F238E27FC236}">
                  <a16:creationId xmlns:a16="http://schemas.microsoft.com/office/drawing/2014/main" id="{1C1A4ED1-0723-F334-F0BB-270539308FF0}"/>
                </a:ext>
              </a:extLst>
            </p:cNvPr>
            <p:cNvSpPr>
              <a:spLocks/>
            </p:cNvSpPr>
            <p:nvPr/>
          </p:nvSpPr>
          <p:spPr bwMode="auto">
            <a:xfrm>
              <a:off x="1336" y="1406"/>
              <a:ext cx="44" cy="2"/>
            </a:xfrm>
            <a:custGeom>
              <a:avLst/>
              <a:gdLst>
                <a:gd name="T0" fmla="*/ 149 w 149"/>
                <a:gd name="T1" fmla="*/ 12 h 12"/>
                <a:gd name="T2" fmla="*/ 149 w 149"/>
                <a:gd name="T3" fmla="*/ 0 h 12"/>
                <a:gd name="T4" fmla="*/ 0 w 149"/>
                <a:gd name="T5" fmla="*/ 0 h 12"/>
                <a:gd name="T6" fmla="*/ 0 w 149"/>
                <a:gd name="T7" fmla="*/ 12 h 12"/>
              </a:gdLst>
              <a:ahLst/>
              <a:cxnLst>
                <a:cxn ang="0">
                  <a:pos x="T0" y="T1"/>
                </a:cxn>
                <a:cxn ang="0">
                  <a:pos x="T2" y="T3"/>
                </a:cxn>
                <a:cxn ang="0">
                  <a:pos x="T4" y="T5"/>
                </a:cxn>
                <a:cxn ang="0">
                  <a:pos x="T6" y="T7"/>
                </a:cxn>
              </a:cxnLst>
              <a:rect l="0" t="0" r="r" b="b"/>
              <a:pathLst>
                <a:path w="149" h="12">
                  <a:moveTo>
                    <a:pt x="149" y="12"/>
                  </a:moveTo>
                  <a:lnTo>
                    <a:pt x="149" y="0"/>
                  </a:lnTo>
                  <a:lnTo>
                    <a:pt x="0" y="0"/>
                  </a:lnTo>
                  <a:lnTo>
                    <a:pt x="0" y="12"/>
                  </a:lnTo>
                </a:path>
              </a:pathLst>
            </a:custGeom>
            <a:noFill/>
            <a:ln w="0">
              <a:solidFill>
                <a:srgbClr val="444444"/>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55" name="Freeform 479">
              <a:extLst>
                <a:ext uri="{FF2B5EF4-FFF2-40B4-BE49-F238E27FC236}">
                  <a16:creationId xmlns:a16="http://schemas.microsoft.com/office/drawing/2014/main" id="{2C24DC6F-F233-AA0D-3EA8-1453B3EBFBE9}"/>
                </a:ext>
              </a:extLst>
            </p:cNvPr>
            <p:cNvSpPr>
              <a:spLocks/>
            </p:cNvSpPr>
            <p:nvPr/>
          </p:nvSpPr>
          <p:spPr bwMode="auto">
            <a:xfrm>
              <a:off x="1333" y="1442"/>
              <a:ext cx="49" cy="5"/>
            </a:xfrm>
            <a:custGeom>
              <a:avLst/>
              <a:gdLst>
                <a:gd name="T0" fmla="*/ 0 w 163"/>
                <a:gd name="T1" fmla="*/ 0 h 19"/>
                <a:gd name="T2" fmla="*/ 0 w 163"/>
                <a:gd name="T3" fmla="*/ 19 h 19"/>
                <a:gd name="T4" fmla="*/ 163 w 163"/>
                <a:gd name="T5" fmla="*/ 19 h 19"/>
                <a:gd name="T6" fmla="*/ 163 w 163"/>
                <a:gd name="T7" fmla="*/ 0 h 19"/>
              </a:gdLst>
              <a:ahLst/>
              <a:cxnLst>
                <a:cxn ang="0">
                  <a:pos x="T0" y="T1"/>
                </a:cxn>
                <a:cxn ang="0">
                  <a:pos x="T2" y="T3"/>
                </a:cxn>
                <a:cxn ang="0">
                  <a:pos x="T4" y="T5"/>
                </a:cxn>
                <a:cxn ang="0">
                  <a:pos x="T6" y="T7"/>
                </a:cxn>
              </a:cxnLst>
              <a:rect l="0" t="0" r="r" b="b"/>
              <a:pathLst>
                <a:path w="163" h="19">
                  <a:moveTo>
                    <a:pt x="0" y="0"/>
                  </a:moveTo>
                  <a:lnTo>
                    <a:pt x="0" y="19"/>
                  </a:lnTo>
                  <a:lnTo>
                    <a:pt x="163" y="19"/>
                  </a:lnTo>
                  <a:lnTo>
                    <a:pt x="163" y="0"/>
                  </a:lnTo>
                </a:path>
              </a:pathLst>
            </a:custGeom>
            <a:noFill/>
            <a:ln w="0">
              <a:solidFill>
                <a:srgbClr val="444444"/>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56" name="Freeform 480">
              <a:extLst>
                <a:ext uri="{FF2B5EF4-FFF2-40B4-BE49-F238E27FC236}">
                  <a16:creationId xmlns:a16="http://schemas.microsoft.com/office/drawing/2014/main" id="{6A2D5E28-0797-69D6-1C8B-266B3C722FDF}"/>
                </a:ext>
              </a:extLst>
            </p:cNvPr>
            <p:cNvSpPr>
              <a:spLocks/>
            </p:cNvSpPr>
            <p:nvPr/>
          </p:nvSpPr>
          <p:spPr bwMode="auto">
            <a:xfrm>
              <a:off x="1333" y="1435"/>
              <a:ext cx="49" cy="1"/>
            </a:xfrm>
            <a:custGeom>
              <a:avLst/>
              <a:gdLst>
                <a:gd name="T0" fmla="*/ 163 w 163"/>
                <a:gd name="T1" fmla="*/ 15 h 15"/>
                <a:gd name="T2" fmla="*/ 163 w 163"/>
                <a:gd name="T3" fmla="*/ 0 h 15"/>
                <a:gd name="T4" fmla="*/ 0 w 163"/>
                <a:gd name="T5" fmla="*/ 0 h 15"/>
                <a:gd name="T6" fmla="*/ 0 w 163"/>
                <a:gd name="T7" fmla="*/ 15 h 15"/>
              </a:gdLst>
              <a:ahLst/>
              <a:cxnLst>
                <a:cxn ang="0">
                  <a:pos x="T0" y="T1"/>
                </a:cxn>
                <a:cxn ang="0">
                  <a:pos x="T2" y="T3"/>
                </a:cxn>
                <a:cxn ang="0">
                  <a:pos x="T4" y="T5"/>
                </a:cxn>
                <a:cxn ang="0">
                  <a:pos x="T6" y="T7"/>
                </a:cxn>
              </a:cxnLst>
              <a:rect l="0" t="0" r="r" b="b"/>
              <a:pathLst>
                <a:path w="163" h="15">
                  <a:moveTo>
                    <a:pt x="163" y="15"/>
                  </a:moveTo>
                  <a:lnTo>
                    <a:pt x="163" y="0"/>
                  </a:lnTo>
                  <a:lnTo>
                    <a:pt x="0" y="0"/>
                  </a:lnTo>
                  <a:lnTo>
                    <a:pt x="0" y="15"/>
                  </a:lnTo>
                </a:path>
              </a:pathLst>
            </a:custGeom>
            <a:noFill/>
            <a:ln w="0">
              <a:solidFill>
                <a:srgbClr val="444444"/>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57" name="Freeform 481">
              <a:extLst>
                <a:ext uri="{FF2B5EF4-FFF2-40B4-BE49-F238E27FC236}">
                  <a16:creationId xmlns:a16="http://schemas.microsoft.com/office/drawing/2014/main" id="{890FA9C6-ECA3-FFAA-6128-F8E884A14E3B}"/>
                </a:ext>
              </a:extLst>
            </p:cNvPr>
            <p:cNvSpPr>
              <a:spLocks/>
            </p:cNvSpPr>
            <p:nvPr/>
          </p:nvSpPr>
          <p:spPr bwMode="auto">
            <a:xfrm>
              <a:off x="1336" y="1417"/>
              <a:ext cx="44" cy="2"/>
            </a:xfrm>
            <a:custGeom>
              <a:avLst/>
              <a:gdLst>
                <a:gd name="T0" fmla="*/ 0 w 149"/>
                <a:gd name="T1" fmla="*/ 0 h 12"/>
                <a:gd name="T2" fmla="*/ 0 w 149"/>
                <a:gd name="T3" fmla="*/ 12 h 12"/>
                <a:gd name="T4" fmla="*/ 149 w 149"/>
                <a:gd name="T5" fmla="*/ 12 h 12"/>
                <a:gd name="T6" fmla="*/ 149 w 149"/>
                <a:gd name="T7" fmla="*/ 0 h 12"/>
              </a:gdLst>
              <a:ahLst/>
              <a:cxnLst>
                <a:cxn ang="0">
                  <a:pos x="T0" y="T1"/>
                </a:cxn>
                <a:cxn ang="0">
                  <a:pos x="T2" y="T3"/>
                </a:cxn>
                <a:cxn ang="0">
                  <a:pos x="T4" y="T5"/>
                </a:cxn>
                <a:cxn ang="0">
                  <a:pos x="T6" y="T7"/>
                </a:cxn>
              </a:cxnLst>
              <a:rect l="0" t="0" r="r" b="b"/>
              <a:pathLst>
                <a:path w="149" h="12">
                  <a:moveTo>
                    <a:pt x="0" y="0"/>
                  </a:moveTo>
                  <a:lnTo>
                    <a:pt x="0" y="12"/>
                  </a:lnTo>
                  <a:lnTo>
                    <a:pt x="149" y="12"/>
                  </a:lnTo>
                  <a:lnTo>
                    <a:pt x="149" y="0"/>
                  </a:lnTo>
                </a:path>
              </a:pathLst>
            </a:custGeom>
            <a:noFill/>
            <a:ln w="0">
              <a:solidFill>
                <a:srgbClr val="444444"/>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58" name="Freeform 482">
              <a:extLst>
                <a:ext uri="{FF2B5EF4-FFF2-40B4-BE49-F238E27FC236}">
                  <a16:creationId xmlns:a16="http://schemas.microsoft.com/office/drawing/2014/main" id="{1119B5A5-BE2A-D0DD-625F-36DA4F9D7606}"/>
                </a:ext>
              </a:extLst>
            </p:cNvPr>
            <p:cNvSpPr>
              <a:spLocks/>
            </p:cNvSpPr>
            <p:nvPr/>
          </p:nvSpPr>
          <p:spPr bwMode="auto">
            <a:xfrm>
              <a:off x="1400" y="1448"/>
              <a:ext cx="14" cy="5"/>
            </a:xfrm>
            <a:custGeom>
              <a:avLst/>
              <a:gdLst>
                <a:gd name="T0" fmla="*/ 0 w 47"/>
                <a:gd name="T1" fmla="*/ 16 h 16"/>
                <a:gd name="T2" fmla="*/ 47 w 47"/>
                <a:gd name="T3" fmla="*/ 16 h 16"/>
                <a:gd name="T4" fmla="*/ 47 w 47"/>
                <a:gd name="T5" fmla="*/ 0 h 16"/>
              </a:gdLst>
              <a:ahLst/>
              <a:cxnLst>
                <a:cxn ang="0">
                  <a:pos x="T0" y="T1"/>
                </a:cxn>
                <a:cxn ang="0">
                  <a:pos x="T2" y="T3"/>
                </a:cxn>
                <a:cxn ang="0">
                  <a:pos x="T4" y="T5"/>
                </a:cxn>
              </a:cxnLst>
              <a:rect l="0" t="0" r="r" b="b"/>
              <a:pathLst>
                <a:path w="47" h="16">
                  <a:moveTo>
                    <a:pt x="0" y="16"/>
                  </a:moveTo>
                  <a:lnTo>
                    <a:pt x="47" y="16"/>
                  </a:lnTo>
                  <a:lnTo>
                    <a:pt x="47" y="0"/>
                  </a:lnTo>
                </a:path>
              </a:pathLst>
            </a:custGeom>
            <a:noFill/>
            <a:ln w="0">
              <a:solidFill>
                <a:srgbClr val="62626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59" name="Freeform 483">
              <a:extLst>
                <a:ext uri="{FF2B5EF4-FFF2-40B4-BE49-F238E27FC236}">
                  <a16:creationId xmlns:a16="http://schemas.microsoft.com/office/drawing/2014/main" id="{59DFB13C-B549-0204-5059-DF30402B6F23}"/>
                </a:ext>
              </a:extLst>
            </p:cNvPr>
            <p:cNvSpPr>
              <a:spLocks/>
            </p:cNvSpPr>
            <p:nvPr/>
          </p:nvSpPr>
          <p:spPr bwMode="auto">
            <a:xfrm>
              <a:off x="1400" y="1448"/>
              <a:ext cx="14" cy="5"/>
            </a:xfrm>
            <a:custGeom>
              <a:avLst/>
              <a:gdLst>
                <a:gd name="T0" fmla="*/ 47 w 47"/>
                <a:gd name="T1" fmla="*/ 0 h 16"/>
                <a:gd name="T2" fmla="*/ 0 w 47"/>
                <a:gd name="T3" fmla="*/ 0 h 16"/>
                <a:gd name="T4" fmla="*/ 0 w 47"/>
                <a:gd name="T5" fmla="*/ 16 h 16"/>
              </a:gdLst>
              <a:ahLst/>
              <a:cxnLst>
                <a:cxn ang="0">
                  <a:pos x="T0" y="T1"/>
                </a:cxn>
                <a:cxn ang="0">
                  <a:pos x="T2" y="T3"/>
                </a:cxn>
                <a:cxn ang="0">
                  <a:pos x="T4" y="T5"/>
                </a:cxn>
              </a:cxnLst>
              <a:rect l="0" t="0" r="r" b="b"/>
              <a:pathLst>
                <a:path w="47" h="16">
                  <a:moveTo>
                    <a:pt x="47" y="0"/>
                  </a:moveTo>
                  <a:lnTo>
                    <a:pt x="0" y="0"/>
                  </a:lnTo>
                  <a:lnTo>
                    <a:pt x="0" y="16"/>
                  </a:lnTo>
                </a:path>
              </a:pathLst>
            </a:custGeom>
            <a:noFill/>
            <a:ln w="0">
              <a:solidFill>
                <a:srgbClr val="EAEAEA"/>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60" name="Freeform 484">
              <a:extLst>
                <a:ext uri="{FF2B5EF4-FFF2-40B4-BE49-F238E27FC236}">
                  <a16:creationId xmlns:a16="http://schemas.microsoft.com/office/drawing/2014/main" id="{31342075-73B7-A89F-9AE7-EFE20BF5CB24}"/>
                </a:ext>
              </a:extLst>
            </p:cNvPr>
            <p:cNvSpPr>
              <a:spLocks/>
            </p:cNvSpPr>
            <p:nvPr/>
          </p:nvSpPr>
          <p:spPr bwMode="auto">
            <a:xfrm>
              <a:off x="1322" y="1408"/>
              <a:ext cx="75" cy="9"/>
            </a:xfrm>
            <a:custGeom>
              <a:avLst/>
              <a:gdLst>
                <a:gd name="T0" fmla="*/ 0 w 247"/>
                <a:gd name="T1" fmla="*/ 37 h 37"/>
                <a:gd name="T2" fmla="*/ 49 w 247"/>
                <a:gd name="T3" fmla="*/ 37 h 37"/>
                <a:gd name="T4" fmla="*/ 198 w 247"/>
                <a:gd name="T5" fmla="*/ 37 h 37"/>
                <a:gd name="T6" fmla="*/ 247 w 247"/>
                <a:gd name="T7" fmla="*/ 37 h 37"/>
                <a:gd name="T8" fmla="*/ 247 w 247"/>
                <a:gd name="T9" fmla="*/ 0 h 37"/>
              </a:gdLst>
              <a:ahLst/>
              <a:cxnLst>
                <a:cxn ang="0">
                  <a:pos x="T0" y="T1"/>
                </a:cxn>
                <a:cxn ang="0">
                  <a:pos x="T2" y="T3"/>
                </a:cxn>
                <a:cxn ang="0">
                  <a:pos x="T4" y="T5"/>
                </a:cxn>
                <a:cxn ang="0">
                  <a:pos x="T6" y="T7"/>
                </a:cxn>
                <a:cxn ang="0">
                  <a:pos x="T8" y="T9"/>
                </a:cxn>
              </a:cxnLst>
              <a:rect l="0" t="0" r="r" b="b"/>
              <a:pathLst>
                <a:path w="247" h="37">
                  <a:moveTo>
                    <a:pt x="0" y="37"/>
                  </a:moveTo>
                  <a:lnTo>
                    <a:pt x="49" y="37"/>
                  </a:lnTo>
                  <a:lnTo>
                    <a:pt x="198" y="37"/>
                  </a:lnTo>
                  <a:lnTo>
                    <a:pt x="247" y="37"/>
                  </a:lnTo>
                  <a:lnTo>
                    <a:pt x="247" y="0"/>
                  </a:lnTo>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61" name="Freeform 485">
              <a:extLst>
                <a:ext uri="{FF2B5EF4-FFF2-40B4-BE49-F238E27FC236}">
                  <a16:creationId xmlns:a16="http://schemas.microsoft.com/office/drawing/2014/main" id="{D407767F-8C80-5AAC-EE38-4CBE125A97E8}"/>
                </a:ext>
              </a:extLst>
            </p:cNvPr>
            <p:cNvSpPr>
              <a:spLocks/>
            </p:cNvSpPr>
            <p:nvPr/>
          </p:nvSpPr>
          <p:spPr bwMode="auto">
            <a:xfrm>
              <a:off x="1310" y="1436"/>
              <a:ext cx="94" cy="6"/>
            </a:xfrm>
            <a:custGeom>
              <a:avLst/>
              <a:gdLst>
                <a:gd name="T0" fmla="*/ 0 w 313"/>
                <a:gd name="T1" fmla="*/ 24 h 24"/>
                <a:gd name="T2" fmla="*/ 77 w 313"/>
                <a:gd name="T3" fmla="*/ 24 h 24"/>
                <a:gd name="T4" fmla="*/ 240 w 313"/>
                <a:gd name="T5" fmla="*/ 24 h 24"/>
                <a:gd name="T6" fmla="*/ 313 w 313"/>
                <a:gd name="T7" fmla="*/ 24 h 24"/>
                <a:gd name="T8" fmla="*/ 313 w 313"/>
                <a:gd name="T9" fmla="*/ 0 h 24"/>
              </a:gdLst>
              <a:ahLst/>
              <a:cxnLst>
                <a:cxn ang="0">
                  <a:pos x="T0" y="T1"/>
                </a:cxn>
                <a:cxn ang="0">
                  <a:pos x="T2" y="T3"/>
                </a:cxn>
                <a:cxn ang="0">
                  <a:pos x="T4" y="T5"/>
                </a:cxn>
                <a:cxn ang="0">
                  <a:pos x="T6" y="T7"/>
                </a:cxn>
                <a:cxn ang="0">
                  <a:pos x="T8" y="T9"/>
                </a:cxn>
              </a:cxnLst>
              <a:rect l="0" t="0" r="r" b="b"/>
              <a:pathLst>
                <a:path w="313" h="24">
                  <a:moveTo>
                    <a:pt x="0" y="24"/>
                  </a:moveTo>
                  <a:lnTo>
                    <a:pt x="77" y="24"/>
                  </a:lnTo>
                  <a:lnTo>
                    <a:pt x="240" y="24"/>
                  </a:lnTo>
                  <a:lnTo>
                    <a:pt x="313" y="24"/>
                  </a:lnTo>
                  <a:lnTo>
                    <a:pt x="313" y="0"/>
                  </a:lnTo>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62" name="Freeform 486">
              <a:extLst>
                <a:ext uri="{FF2B5EF4-FFF2-40B4-BE49-F238E27FC236}">
                  <a16:creationId xmlns:a16="http://schemas.microsoft.com/office/drawing/2014/main" id="{EF9A6498-B3A6-F2AD-F63A-D877D35AF737}"/>
                </a:ext>
              </a:extLst>
            </p:cNvPr>
            <p:cNvSpPr>
              <a:spLocks/>
            </p:cNvSpPr>
            <p:nvPr/>
          </p:nvSpPr>
          <p:spPr bwMode="auto">
            <a:xfrm>
              <a:off x="1074" y="1480"/>
              <a:ext cx="378" cy="1"/>
            </a:xfrm>
            <a:custGeom>
              <a:avLst/>
              <a:gdLst>
                <a:gd name="T0" fmla="*/ 1261 w 1261"/>
                <a:gd name="T1" fmla="*/ 722 w 1261"/>
                <a:gd name="T2" fmla="*/ 0 w 1261"/>
              </a:gdLst>
              <a:ahLst/>
              <a:cxnLst>
                <a:cxn ang="0">
                  <a:pos x="T0" y="0"/>
                </a:cxn>
                <a:cxn ang="0">
                  <a:pos x="T1" y="0"/>
                </a:cxn>
                <a:cxn ang="0">
                  <a:pos x="T2" y="0"/>
                </a:cxn>
              </a:cxnLst>
              <a:rect l="0" t="0" r="r" b="b"/>
              <a:pathLst>
                <a:path w="1261">
                  <a:moveTo>
                    <a:pt x="1261" y="0"/>
                  </a:moveTo>
                  <a:lnTo>
                    <a:pt x="722" y="0"/>
                  </a:lnTo>
                  <a:lnTo>
                    <a:pt x="0" y="0"/>
                  </a:lnTo>
                </a:path>
              </a:pathLst>
            </a:custGeom>
            <a:noFill/>
            <a:ln w="1588">
              <a:solidFill>
                <a:srgbClr val="DDDDDD"/>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63" name="Freeform 487">
              <a:extLst>
                <a:ext uri="{FF2B5EF4-FFF2-40B4-BE49-F238E27FC236}">
                  <a16:creationId xmlns:a16="http://schemas.microsoft.com/office/drawing/2014/main" id="{2FD319C3-3FF3-C240-CFC0-F1EBDD167EE5}"/>
                </a:ext>
              </a:extLst>
            </p:cNvPr>
            <p:cNvSpPr>
              <a:spLocks/>
            </p:cNvSpPr>
            <p:nvPr/>
          </p:nvSpPr>
          <p:spPr bwMode="auto">
            <a:xfrm>
              <a:off x="1095" y="1522"/>
              <a:ext cx="346" cy="2"/>
            </a:xfrm>
            <a:custGeom>
              <a:avLst/>
              <a:gdLst>
                <a:gd name="T0" fmla="*/ 0 w 1146"/>
                <a:gd name="T1" fmla="*/ 0 h 13"/>
                <a:gd name="T2" fmla="*/ 5 w 1146"/>
                <a:gd name="T3" fmla="*/ 13 h 13"/>
                <a:gd name="T4" fmla="*/ 1144 w 1146"/>
                <a:gd name="T5" fmla="*/ 12 h 13"/>
                <a:gd name="T6" fmla="*/ 1146 w 1146"/>
                <a:gd name="T7" fmla="*/ 0 h 13"/>
                <a:gd name="T8" fmla="*/ 0 w 1146"/>
                <a:gd name="T9" fmla="*/ 0 h 13"/>
              </a:gdLst>
              <a:ahLst/>
              <a:cxnLst>
                <a:cxn ang="0">
                  <a:pos x="T0" y="T1"/>
                </a:cxn>
                <a:cxn ang="0">
                  <a:pos x="T2" y="T3"/>
                </a:cxn>
                <a:cxn ang="0">
                  <a:pos x="T4" y="T5"/>
                </a:cxn>
                <a:cxn ang="0">
                  <a:pos x="T6" y="T7"/>
                </a:cxn>
                <a:cxn ang="0">
                  <a:pos x="T8" y="T9"/>
                </a:cxn>
              </a:cxnLst>
              <a:rect l="0" t="0" r="r" b="b"/>
              <a:pathLst>
                <a:path w="1146" h="13">
                  <a:moveTo>
                    <a:pt x="0" y="0"/>
                  </a:moveTo>
                  <a:lnTo>
                    <a:pt x="5" y="13"/>
                  </a:lnTo>
                  <a:lnTo>
                    <a:pt x="1144" y="12"/>
                  </a:lnTo>
                  <a:lnTo>
                    <a:pt x="1146" y="0"/>
                  </a:lnTo>
                  <a:lnTo>
                    <a:pt x="0" y="0"/>
                  </a:lnTo>
                  <a:close/>
                </a:path>
              </a:pathLst>
            </a:custGeom>
            <a:solidFill>
              <a:srgbClr val="6262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64" name="Freeform 488">
              <a:extLst>
                <a:ext uri="{FF2B5EF4-FFF2-40B4-BE49-F238E27FC236}">
                  <a16:creationId xmlns:a16="http://schemas.microsoft.com/office/drawing/2014/main" id="{BC3A77C8-C0AD-5135-E060-8166722CCF31}"/>
                </a:ext>
              </a:extLst>
            </p:cNvPr>
            <p:cNvSpPr>
              <a:spLocks noEditPoints="1"/>
            </p:cNvSpPr>
            <p:nvPr/>
          </p:nvSpPr>
          <p:spPr bwMode="auto">
            <a:xfrm>
              <a:off x="1095" y="1491"/>
              <a:ext cx="346" cy="31"/>
            </a:xfrm>
            <a:custGeom>
              <a:avLst/>
              <a:gdLst>
                <a:gd name="T0" fmla="*/ 144 w 1146"/>
                <a:gd name="T1" fmla="*/ 0 h 139"/>
                <a:gd name="T2" fmla="*/ 0 w 1146"/>
                <a:gd name="T3" fmla="*/ 139 h 139"/>
                <a:gd name="T4" fmla="*/ 1146 w 1146"/>
                <a:gd name="T5" fmla="*/ 139 h 139"/>
                <a:gd name="T6" fmla="*/ 1005 w 1146"/>
                <a:gd name="T7" fmla="*/ 0 h 139"/>
                <a:gd name="T8" fmla="*/ 144 w 1146"/>
                <a:gd name="T9" fmla="*/ 0 h 139"/>
                <a:gd name="T10" fmla="*/ 569 w 1146"/>
                <a:gd name="T11" fmla="*/ 8 h 139"/>
                <a:gd name="T12" fmla="*/ 573 w 1146"/>
                <a:gd name="T13" fmla="*/ 25 h 139"/>
                <a:gd name="T14" fmla="*/ 432 w 1146"/>
                <a:gd name="T15" fmla="*/ 25 h 139"/>
                <a:gd name="T16" fmla="*/ 432 w 1146"/>
                <a:gd name="T17" fmla="*/ 8 h 139"/>
                <a:gd name="T18" fmla="*/ 569 w 1146"/>
                <a:gd name="T19" fmla="*/ 8 h 139"/>
                <a:gd name="T20" fmla="*/ 598 w 1146"/>
                <a:gd name="T21" fmla="*/ 25 h 139"/>
                <a:gd name="T22" fmla="*/ 594 w 1146"/>
                <a:gd name="T23" fmla="*/ 8 h 139"/>
                <a:gd name="T24" fmla="*/ 719 w 1146"/>
                <a:gd name="T25" fmla="*/ 8 h 139"/>
                <a:gd name="T26" fmla="*/ 731 w 1146"/>
                <a:gd name="T27" fmla="*/ 25 h 139"/>
                <a:gd name="T28" fmla="*/ 598 w 1146"/>
                <a:gd name="T29" fmla="*/ 25 h 139"/>
                <a:gd name="T30" fmla="*/ 227 w 1146"/>
                <a:gd name="T31" fmla="*/ 25 h 139"/>
                <a:gd name="T32" fmla="*/ 237 w 1146"/>
                <a:gd name="T33" fmla="*/ 8 h 139"/>
                <a:gd name="T34" fmla="*/ 410 w 1146"/>
                <a:gd name="T35" fmla="*/ 8 h 139"/>
                <a:gd name="T36" fmla="*/ 410 w 1146"/>
                <a:gd name="T37" fmla="*/ 25 h 139"/>
                <a:gd name="T38" fmla="*/ 227 w 1146"/>
                <a:gd name="T39" fmla="*/ 25 h 139"/>
                <a:gd name="T40" fmla="*/ 201 w 1146"/>
                <a:gd name="T41" fmla="*/ 8 h 139"/>
                <a:gd name="T42" fmla="*/ 190 w 1146"/>
                <a:gd name="T43" fmla="*/ 25 h 139"/>
                <a:gd name="T44" fmla="*/ 139 w 1146"/>
                <a:gd name="T45" fmla="*/ 25 h 139"/>
                <a:gd name="T46" fmla="*/ 156 w 1146"/>
                <a:gd name="T47" fmla="*/ 8 h 139"/>
                <a:gd name="T48" fmla="*/ 201 w 1146"/>
                <a:gd name="T49" fmla="*/ 8 h 139"/>
                <a:gd name="T50" fmla="*/ 559 w 1146"/>
                <a:gd name="T51" fmla="*/ 127 h 139"/>
                <a:gd name="T52" fmla="*/ 220 w 1146"/>
                <a:gd name="T53" fmla="*/ 127 h 139"/>
                <a:gd name="T54" fmla="*/ 40 w 1146"/>
                <a:gd name="T55" fmla="*/ 127 h 139"/>
                <a:gd name="T56" fmla="*/ 133 w 1146"/>
                <a:gd name="T57" fmla="*/ 31 h 139"/>
                <a:gd name="T58" fmla="*/ 734 w 1146"/>
                <a:gd name="T59" fmla="*/ 31 h 139"/>
                <a:gd name="T60" fmla="*/ 793 w 1146"/>
                <a:gd name="T61" fmla="*/ 127 h 139"/>
                <a:gd name="T62" fmla="*/ 559 w 1146"/>
                <a:gd name="T63" fmla="*/ 127 h 139"/>
                <a:gd name="T64" fmla="*/ 995 w 1146"/>
                <a:gd name="T65" fmla="*/ 8 h 139"/>
                <a:gd name="T66" fmla="*/ 1013 w 1146"/>
                <a:gd name="T67" fmla="*/ 25 h 139"/>
                <a:gd name="T68" fmla="*/ 902 w 1146"/>
                <a:gd name="T69" fmla="*/ 25 h 139"/>
                <a:gd name="T70" fmla="*/ 888 w 1146"/>
                <a:gd name="T71" fmla="*/ 8 h 139"/>
                <a:gd name="T72" fmla="*/ 995 w 1146"/>
                <a:gd name="T73" fmla="*/ 8 h 139"/>
                <a:gd name="T74" fmla="*/ 751 w 1146"/>
                <a:gd name="T75" fmla="*/ 25 h 139"/>
                <a:gd name="T76" fmla="*/ 739 w 1146"/>
                <a:gd name="T77" fmla="*/ 8 h 139"/>
                <a:gd name="T78" fmla="*/ 872 w 1146"/>
                <a:gd name="T79" fmla="*/ 8 h 139"/>
                <a:gd name="T80" fmla="*/ 885 w 1146"/>
                <a:gd name="T81" fmla="*/ 25 h 139"/>
                <a:gd name="T82" fmla="*/ 751 w 1146"/>
                <a:gd name="T83" fmla="*/ 25 h 139"/>
                <a:gd name="T84" fmla="*/ 755 w 1146"/>
                <a:gd name="T85" fmla="*/ 31 h 139"/>
                <a:gd name="T86" fmla="*/ 890 w 1146"/>
                <a:gd name="T87" fmla="*/ 31 h 139"/>
                <a:gd name="T88" fmla="*/ 917 w 1146"/>
                <a:gd name="T89" fmla="*/ 69 h 139"/>
                <a:gd name="T90" fmla="*/ 783 w 1146"/>
                <a:gd name="T91" fmla="*/ 73 h 139"/>
                <a:gd name="T92" fmla="*/ 755 w 1146"/>
                <a:gd name="T93" fmla="*/ 31 h 139"/>
                <a:gd name="T94" fmla="*/ 943 w 1146"/>
                <a:gd name="T95" fmla="*/ 103 h 139"/>
                <a:gd name="T96" fmla="*/ 959 w 1146"/>
                <a:gd name="T97" fmla="*/ 127 h 139"/>
                <a:gd name="T98" fmla="*/ 819 w 1146"/>
                <a:gd name="T99" fmla="*/ 127 h 139"/>
                <a:gd name="T100" fmla="*/ 803 w 1146"/>
                <a:gd name="T101" fmla="*/ 103 h 139"/>
                <a:gd name="T102" fmla="*/ 854 w 1146"/>
                <a:gd name="T103" fmla="*/ 103 h 139"/>
                <a:gd name="T104" fmla="*/ 841 w 1146"/>
                <a:gd name="T105" fmla="*/ 82 h 139"/>
                <a:gd name="T106" fmla="*/ 880 w 1146"/>
                <a:gd name="T107" fmla="*/ 82 h 139"/>
                <a:gd name="T108" fmla="*/ 893 w 1146"/>
                <a:gd name="T109" fmla="*/ 103 h 139"/>
                <a:gd name="T110" fmla="*/ 943 w 1146"/>
                <a:gd name="T111" fmla="*/ 103 h 139"/>
                <a:gd name="T112" fmla="*/ 1019 w 1146"/>
                <a:gd name="T113" fmla="*/ 31 h 139"/>
                <a:gd name="T114" fmla="*/ 1112 w 1146"/>
                <a:gd name="T115" fmla="*/ 127 h 139"/>
                <a:gd name="T116" fmla="*/ 983 w 1146"/>
                <a:gd name="T117" fmla="*/ 127 h 139"/>
                <a:gd name="T118" fmla="*/ 908 w 1146"/>
                <a:gd name="T119" fmla="*/ 31 h 139"/>
                <a:gd name="T120" fmla="*/ 1019 w 1146"/>
                <a:gd name="T12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46" h="139">
                  <a:moveTo>
                    <a:pt x="144" y="0"/>
                  </a:moveTo>
                  <a:lnTo>
                    <a:pt x="0" y="139"/>
                  </a:lnTo>
                  <a:lnTo>
                    <a:pt x="1146" y="139"/>
                  </a:lnTo>
                  <a:lnTo>
                    <a:pt x="1005" y="0"/>
                  </a:lnTo>
                  <a:lnTo>
                    <a:pt x="144" y="0"/>
                  </a:lnTo>
                  <a:close/>
                  <a:moveTo>
                    <a:pt x="569" y="8"/>
                  </a:moveTo>
                  <a:lnTo>
                    <a:pt x="573" y="25"/>
                  </a:lnTo>
                  <a:lnTo>
                    <a:pt x="432" y="25"/>
                  </a:lnTo>
                  <a:lnTo>
                    <a:pt x="432" y="8"/>
                  </a:lnTo>
                  <a:lnTo>
                    <a:pt x="569" y="8"/>
                  </a:lnTo>
                  <a:close/>
                  <a:moveTo>
                    <a:pt x="598" y="25"/>
                  </a:moveTo>
                  <a:lnTo>
                    <a:pt x="594" y="8"/>
                  </a:lnTo>
                  <a:lnTo>
                    <a:pt x="719" y="8"/>
                  </a:lnTo>
                  <a:lnTo>
                    <a:pt x="731" y="25"/>
                  </a:lnTo>
                  <a:lnTo>
                    <a:pt x="598" y="25"/>
                  </a:lnTo>
                  <a:close/>
                  <a:moveTo>
                    <a:pt x="227" y="25"/>
                  </a:moveTo>
                  <a:lnTo>
                    <a:pt x="237" y="8"/>
                  </a:lnTo>
                  <a:lnTo>
                    <a:pt x="410" y="8"/>
                  </a:lnTo>
                  <a:lnTo>
                    <a:pt x="410" y="25"/>
                  </a:lnTo>
                  <a:lnTo>
                    <a:pt x="227" y="25"/>
                  </a:lnTo>
                  <a:close/>
                  <a:moveTo>
                    <a:pt x="201" y="8"/>
                  </a:moveTo>
                  <a:lnTo>
                    <a:pt x="190" y="25"/>
                  </a:lnTo>
                  <a:lnTo>
                    <a:pt x="139" y="25"/>
                  </a:lnTo>
                  <a:lnTo>
                    <a:pt x="156" y="8"/>
                  </a:lnTo>
                  <a:lnTo>
                    <a:pt x="201" y="8"/>
                  </a:lnTo>
                  <a:close/>
                  <a:moveTo>
                    <a:pt x="559" y="127"/>
                  </a:moveTo>
                  <a:lnTo>
                    <a:pt x="220" y="127"/>
                  </a:lnTo>
                  <a:lnTo>
                    <a:pt x="40" y="127"/>
                  </a:lnTo>
                  <a:lnTo>
                    <a:pt x="133" y="31"/>
                  </a:lnTo>
                  <a:lnTo>
                    <a:pt x="734" y="31"/>
                  </a:lnTo>
                  <a:lnTo>
                    <a:pt x="793" y="127"/>
                  </a:lnTo>
                  <a:lnTo>
                    <a:pt x="559" y="127"/>
                  </a:lnTo>
                  <a:close/>
                  <a:moveTo>
                    <a:pt x="995" y="8"/>
                  </a:moveTo>
                  <a:lnTo>
                    <a:pt x="1013" y="25"/>
                  </a:lnTo>
                  <a:lnTo>
                    <a:pt x="902" y="25"/>
                  </a:lnTo>
                  <a:lnTo>
                    <a:pt x="888" y="8"/>
                  </a:lnTo>
                  <a:lnTo>
                    <a:pt x="995" y="8"/>
                  </a:lnTo>
                  <a:close/>
                  <a:moveTo>
                    <a:pt x="751" y="25"/>
                  </a:moveTo>
                  <a:lnTo>
                    <a:pt x="739" y="8"/>
                  </a:lnTo>
                  <a:lnTo>
                    <a:pt x="872" y="8"/>
                  </a:lnTo>
                  <a:lnTo>
                    <a:pt x="885" y="25"/>
                  </a:lnTo>
                  <a:lnTo>
                    <a:pt x="751" y="25"/>
                  </a:lnTo>
                  <a:close/>
                  <a:moveTo>
                    <a:pt x="755" y="31"/>
                  </a:moveTo>
                  <a:lnTo>
                    <a:pt x="890" y="31"/>
                  </a:lnTo>
                  <a:lnTo>
                    <a:pt x="917" y="69"/>
                  </a:lnTo>
                  <a:lnTo>
                    <a:pt x="783" y="73"/>
                  </a:lnTo>
                  <a:lnTo>
                    <a:pt x="755" y="31"/>
                  </a:lnTo>
                  <a:close/>
                  <a:moveTo>
                    <a:pt x="943" y="103"/>
                  </a:moveTo>
                  <a:lnTo>
                    <a:pt x="959" y="127"/>
                  </a:lnTo>
                  <a:lnTo>
                    <a:pt x="819" y="127"/>
                  </a:lnTo>
                  <a:lnTo>
                    <a:pt x="803" y="103"/>
                  </a:lnTo>
                  <a:lnTo>
                    <a:pt x="854" y="103"/>
                  </a:lnTo>
                  <a:lnTo>
                    <a:pt x="841" y="82"/>
                  </a:lnTo>
                  <a:lnTo>
                    <a:pt x="880" y="82"/>
                  </a:lnTo>
                  <a:lnTo>
                    <a:pt x="893" y="103"/>
                  </a:lnTo>
                  <a:lnTo>
                    <a:pt x="943" y="103"/>
                  </a:lnTo>
                  <a:close/>
                  <a:moveTo>
                    <a:pt x="1019" y="31"/>
                  </a:moveTo>
                  <a:lnTo>
                    <a:pt x="1112" y="127"/>
                  </a:lnTo>
                  <a:lnTo>
                    <a:pt x="983" y="127"/>
                  </a:lnTo>
                  <a:lnTo>
                    <a:pt x="908" y="31"/>
                  </a:lnTo>
                  <a:lnTo>
                    <a:pt x="1019" y="31"/>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65" name="Freeform 489">
              <a:extLst>
                <a:ext uri="{FF2B5EF4-FFF2-40B4-BE49-F238E27FC236}">
                  <a16:creationId xmlns:a16="http://schemas.microsoft.com/office/drawing/2014/main" id="{4E187921-D93E-8BEA-3983-63456DAF1A99}"/>
                </a:ext>
              </a:extLst>
            </p:cNvPr>
            <p:cNvSpPr>
              <a:spLocks/>
            </p:cNvSpPr>
            <p:nvPr/>
          </p:nvSpPr>
          <p:spPr bwMode="auto">
            <a:xfrm>
              <a:off x="1226" y="1493"/>
              <a:ext cx="43" cy="3"/>
            </a:xfrm>
            <a:custGeom>
              <a:avLst/>
              <a:gdLst>
                <a:gd name="T0" fmla="*/ 141 w 141"/>
                <a:gd name="T1" fmla="*/ 17 h 17"/>
                <a:gd name="T2" fmla="*/ 137 w 141"/>
                <a:gd name="T3" fmla="*/ 0 h 17"/>
                <a:gd name="T4" fmla="*/ 0 w 141"/>
                <a:gd name="T5" fmla="*/ 0 h 17"/>
                <a:gd name="T6" fmla="*/ 0 w 141"/>
                <a:gd name="T7" fmla="*/ 17 h 17"/>
                <a:gd name="T8" fmla="*/ 141 w 141"/>
                <a:gd name="T9" fmla="*/ 17 h 17"/>
              </a:gdLst>
              <a:ahLst/>
              <a:cxnLst>
                <a:cxn ang="0">
                  <a:pos x="T0" y="T1"/>
                </a:cxn>
                <a:cxn ang="0">
                  <a:pos x="T2" y="T3"/>
                </a:cxn>
                <a:cxn ang="0">
                  <a:pos x="T4" y="T5"/>
                </a:cxn>
                <a:cxn ang="0">
                  <a:pos x="T6" y="T7"/>
                </a:cxn>
                <a:cxn ang="0">
                  <a:pos x="T8" y="T9"/>
                </a:cxn>
              </a:cxnLst>
              <a:rect l="0" t="0" r="r" b="b"/>
              <a:pathLst>
                <a:path w="141" h="17">
                  <a:moveTo>
                    <a:pt x="141" y="17"/>
                  </a:moveTo>
                  <a:lnTo>
                    <a:pt x="137" y="0"/>
                  </a:lnTo>
                  <a:lnTo>
                    <a:pt x="0" y="0"/>
                  </a:lnTo>
                  <a:lnTo>
                    <a:pt x="0" y="17"/>
                  </a:lnTo>
                  <a:lnTo>
                    <a:pt x="141" y="17"/>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66" name="Freeform 490">
              <a:extLst>
                <a:ext uri="{FF2B5EF4-FFF2-40B4-BE49-F238E27FC236}">
                  <a16:creationId xmlns:a16="http://schemas.microsoft.com/office/drawing/2014/main" id="{4656A924-48F2-6BF2-F8B7-675E0526AE86}"/>
                </a:ext>
              </a:extLst>
            </p:cNvPr>
            <p:cNvSpPr>
              <a:spLocks/>
            </p:cNvSpPr>
            <p:nvPr/>
          </p:nvSpPr>
          <p:spPr bwMode="auto">
            <a:xfrm>
              <a:off x="1275" y="1493"/>
              <a:ext cx="41" cy="3"/>
            </a:xfrm>
            <a:custGeom>
              <a:avLst/>
              <a:gdLst>
                <a:gd name="T0" fmla="*/ 0 w 137"/>
                <a:gd name="T1" fmla="*/ 0 h 17"/>
                <a:gd name="T2" fmla="*/ 4 w 137"/>
                <a:gd name="T3" fmla="*/ 17 h 17"/>
                <a:gd name="T4" fmla="*/ 137 w 137"/>
                <a:gd name="T5" fmla="*/ 17 h 17"/>
                <a:gd name="T6" fmla="*/ 125 w 137"/>
                <a:gd name="T7" fmla="*/ 0 h 17"/>
                <a:gd name="T8" fmla="*/ 0 w 137"/>
                <a:gd name="T9" fmla="*/ 0 h 17"/>
              </a:gdLst>
              <a:ahLst/>
              <a:cxnLst>
                <a:cxn ang="0">
                  <a:pos x="T0" y="T1"/>
                </a:cxn>
                <a:cxn ang="0">
                  <a:pos x="T2" y="T3"/>
                </a:cxn>
                <a:cxn ang="0">
                  <a:pos x="T4" y="T5"/>
                </a:cxn>
                <a:cxn ang="0">
                  <a:pos x="T6" y="T7"/>
                </a:cxn>
                <a:cxn ang="0">
                  <a:pos x="T8" y="T9"/>
                </a:cxn>
              </a:cxnLst>
              <a:rect l="0" t="0" r="r" b="b"/>
              <a:pathLst>
                <a:path w="137" h="17">
                  <a:moveTo>
                    <a:pt x="0" y="0"/>
                  </a:moveTo>
                  <a:lnTo>
                    <a:pt x="4" y="17"/>
                  </a:lnTo>
                  <a:lnTo>
                    <a:pt x="137" y="17"/>
                  </a:lnTo>
                  <a:lnTo>
                    <a:pt x="125"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67" name="Freeform 491">
              <a:extLst>
                <a:ext uri="{FF2B5EF4-FFF2-40B4-BE49-F238E27FC236}">
                  <a16:creationId xmlns:a16="http://schemas.microsoft.com/office/drawing/2014/main" id="{323A3B11-64FA-C57E-E403-7E5E5E730119}"/>
                </a:ext>
              </a:extLst>
            </p:cNvPr>
            <p:cNvSpPr>
              <a:spLocks/>
            </p:cNvSpPr>
            <p:nvPr/>
          </p:nvSpPr>
          <p:spPr bwMode="auto">
            <a:xfrm>
              <a:off x="1164" y="1493"/>
              <a:ext cx="55" cy="3"/>
            </a:xfrm>
            <a:custGeom>
              <a:avLst/>
              <a:gdLst>
                <a:gd name="T0" fmla="*/ 10 w 183"/>
                <a:gd name="T1" fmla="*/ 0 h 17"/>
                <a:gd name="T2" fmla="*/ 0 w 183"/>
                <a:gd name="T3" fmla="*/ 17 h 17"/>
                <a:gd name="T4" fmla="*/ 183 w 183"/>
                <a:gd name="T5" fmla="*/ 17 h 17"/>
                <a:gd name="T6" fmla="*/ 183 w 183"/>
                <a:gd name="T7" fmla="*/ 0 h 17"/>
                <a:gd name="T8" fmla="*/ 10 w 183"/>
                <a:gd name="T9" fmla="*/ 0 h 17"/>
              </a:gdLst>
              <a:ahLst/>
              <a:cxnLst>
                <a:cxn ang="0">
                  <a:pos x="T0" y="T1"/>
                </a:cxn>
                <a:cxn ang="0">
                  <a:pos x="T2" y="T3"/>
                </a:cxn>
                <a:cxn ang="0">
                  <a:pos x="T4" y="T5"/>
                </a:cxn>
                <a:cxn ang="0">
                  <a:pos x="T6" y="T7"/>
                </a:cxn>
                <a:cxn ang="0">
                  <a:pos x="T8" y="T9"/>
                </a:cxn>
              </a:cxnLst>
              <a:rect l="0" t="0" r="r" b="b"/>
              <a:pathLst>
                <a:path w="183" h="17">
                  <a:moveTo>
                    <a:pt x="10" y="0"/>
                  </a:moveTo>
                  <a:lnTo>
                    <a:pt x="0" y="17"/>
                  </a:lnTo>
                  <a:lnTo>
                    <a:pt x="183" y="17"/>
                  </a:lnTo>
                  <a:lnTo>
                    <a:pt x="183" y="0"/>
                  </a:lnTo>
                  <a:lnTo>
                    <a:pt x="1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68" name="Freeform 492">
              <a:extLst>
                <a:ext uri="{FF2B5EF4-FFF2-40B4-BE49-F238E27FC236}">
                  <a16:creationId xmlns:a16="http://schemas.microsoft.com/office/drawing/2014/main" id="{FA79F07C-555E-C914-81AF-5FE15C062B8D}"/>
                </a:ext>
              </a:extLst>
            </p:cNvPr>
            <p:cNvSpPr>
              <a:spLocks/>
            </p:cNvSpPr>
            <p:nvPr/>
          </p:nvSpPr>
          <p:spPr bwMode="auto">
            <a:xfrm>
              <a:off x="1138" y="1493"/>
              <a:ext cx="18" cy="3"/>
            </a:xfrm>
            <a:custGeom>
              <a:avLst/>
              <a:gdLst>
                <a:gd name="T0" fmla="*/ 51 w 62"/>
                <a:gd name="T1" fmla="*/ 17 h 17"/>
                <a:gd name="T2" fmla="*/ 62 w 62"/>
                <a:gd name="T3" fmla="*/ 0 h 17"/>
                <a:gd name="T4" fmla="*/ 17 w 62"/>
                <a:gd name="T5" fmla="*/ 0 h 17"/>
                <a:gd name="T6" fmla="*/ 0 w 62"/>
                <a:gd name="T7" fmla="*/ 17 h 17"/>
                <a:gd name="T8" fmla="*/ 51 w 62"/>
                <a:gd name="T9" fmla="*/ 17 h 17"/>
              </a:gdLst>
              <a:ahLst/>
              <a:cxnLst>
                <a:cxn ang="0">
                  <a:pos x="T0" y="T1"/>
                </a:cxn>
                <a:cxn ang="0">
                  <a:pos x="T2" y="T3"/>
                </a:cxn>
                <a:cxn ang="0">
                  <a:pos x="T4" y="T5"/>
                </a:cxn>
                <a:cxn ang="0">
                  <a:pos x="T6" y="T7"/>
                </a:cxn>
                <a:cxn ang="0">
                  <a:pos x="T8" y="T9"/>
                </a:cxn>
              </a:cxnLst>
              <a:rect l="0" t="0" r="r" b="b"/>
              <a:pathLst>
                <a:path w="62" h="17">
                  <a:moveTo>
                    <a:pt x="51" y="17"/>
                  </a:moveTo>
                  <a:lnTo>
                    <a:pt x="62" y="0"/>
                  </a:lnTo>
                  <a:lnTo>
                    <a:pt x="17" y="0"/>
                  </a:lnTo>
                  <a:lnTo>
                    <a:pt x="0" y="17"/>
                  </a:lnTo>
                  <a:lnTo>
                    <a:pt x="51" y="17"/>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69" name="Freeform 493">
              <a:extLst>
                <a:ext uri="{FF2B5EF4-FFF2-40B4-BE49-F238E27FC236}">
                  <a16:creationId xmlns:a16="http://schemas.microsoft.com/office/drawing/2014/main" id="{1FC20694-6170-03B8-0E3E-198202AF7DD5}"/>
                </a:ext>
              </a:extLst>
            </p:cNvPr>
            <p:cNvSpPr>
              <a:spLocks/>
            </p:cNvSpPr>
            <p:nvPr/>
          </p:nvSpPr>
          <p:spPr bwMode="auto">
            <a:xfrm>
              <a:off x="1161" y="1514"/>
              <a:ext cx="104" cy="5"/>
            </a:xfrm>
            <a:custGeom>
              <a:avLst/>
              <a:gdLst>
                <a:gd name="T0" fmla="*/ 12 w 339"/>
                <a:gd name="T1" fmla="*/ 1 h 22"/>
                <a:gd name="T2" fmla="*/ 0 w 339"/>
                <a:gd name="T3" fmla="*/ 22 h 22"/>
                <a:gd name="T4" fmla="*/ 339 w 339"/>
                <a:gd name="T5" fmla="*/ 22 h 22"/>
                <a:gd name="T6" fmla="*/ 333 w 339"/>
                <a:gd name="T7" fmla="*/ 0 h 22"/>
                <a:gd name="T8" fmla="*/ 12 w 339"/>
                <a:gd name="T9" fmla="*/ 1 h 22"/>
              </a:gdLst>
              <a:ahLst/>
              <a:cxnLst>
                <a:cxn ang="0">
                  <a:pos x="T0" y="T1"/>
                </a:cxn>
                <a:cxn ang="0">
                  <a:pos x="T2" y="T3"/>
                </a:cxn>
                <a:cxn ang="0">
                  <a:pos x="T4" y="T5"/>
                </a:cxn>
                <a:cxn ang="0">
                  <a:pos x="T6" y="T7"/>
                </a:cxn>
                <a:cxn ang="0">
                  <a:pos x="T8" y="T9"/>
                </a:cxn>
              </a:cxnLst>
              <a:rect l="0" t="0" r="r" b="b"/>
              <a:pathLst>
                <a:path w="339" h="22">
                  <a:moveTo>
                    <a:pt x="12" y="1"/>
                  </a:moveTo>
                  <a:lnTo>
                    <a:pt x="0" y="22"/>
                  </a:lnTo>
                  <a:lnTo>
                    <a:pt x="339" y="22"/>
                  </a:lnTo>
                  <a:lnTo>
                    <a:pt x="333" y="0"/>
                  </a:lnTo>
                  <a:lnTo>
                    <a:pt x="12" y="1"/>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70" name="Freeform 494">
              <a:extLst>
                <a:ext uri="{FF2B5EF4-FFF2-40B4-BE49-F238E27FC236}">
                  <a16:creationId xmlns:a16="http://schemas.microsoft.com/office/drawing/2014/main" id="{C30AF377-B11B-F16A-31D6-0DFBFC488350}"/>
                </a:ext>
              </a:extLst>
            </p:cNvPr>
            <p:cNvSpPr>
              <a:spLocks/>
            </p:cNvSpPr>
            <p:nvPr/>
          </p:nvSpPr>
          <p:spPr bwMode="auto">
            <a:xfrm>
              <a:off x="1108" y="1498"/>
              <a:ext cx="227" cy="21"/>
            </a:xfrm>
            <a:custGeom>
              <a:avLst/>
              <a:gdLst>
                <a:gd name="T0" fmla="*/ 180 w 753"/>
                <a:gd name="T1" fmla="*/ 96 h 96"/>
                <a:gd name="T2" fmla="*/ 192 w 753"/>
                <a:gd name="T3" fmla="*/ 75 h 96"/>
                <a:gd name="T4" fmla="*/ 513 w 753"/>
                <a:gd name="T5" fmla="*/ 74 h 96"/>
                <a:gd name="T6" fmla="*/ 519 w 753"/>
                <a:gd name="T7" fmla="*/ 96 h 96"/>
                <a:gd name="T8" fmla="*/ 753 w 753"/>
                <a:gd name="T9" fmla="*/ 96 h 96"/>
                <a:gd name="T10" fmla="*/ 694 w 753"/>
                <a:gd name="T11" fmla="*/ 0 h 96"/>
                <a:gd name="T12" fmla="*/ 93 w 753"/>
                <a:gd name="T13" fmla="*/ 0 h 96"/>
                <a:gd name="T14" fmla="*/ 0 w 753"/>
                <a:gd name="T15" fmla="*/ 96 h 96"/>
                <a:gd name="T16" fmla="*/ 180 w 753"/>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3" h="96">
                  <a:moveTo>
                    <a:pt x="180" y="96"/>
                  </a:moveTo>
                  <a:lnTo>
                    <a:pt x="192" y="75"/>
                  </a:lnTo>
                  <a:lnTo>
                    <a:pt x="513" y="74"/>
                  </a:lnTo>
                  <a:lnTo>
                    <a:pt x="519" y="96"/>
                  </a:lnTo>
                  <a:lnTo>
                    <a:pt x="753" y="96"/>
                  </a:lnTo>
                  <a:lnTo>
                    <a:pt x="694" y="0"/>
                  </a:lnTo>
                  <a:lnTo>
                    <a:pt x="93" y="0"/>
                  </a:lnTo>
                  <a:lnTo>
                    <a:pt x="0" y="96"/>
                  </a:lnTo>
                  <a:lnTo>
                    <a:pt x="180" y="9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71" name="Freeform 495">
              <a:extLst>
                <a:ext uri="{FF2B5EF4-FFF2-40B4-BE49-F238E27FC236}">
                  <a16:creationId xmlns:a16="http://schemas.microsoft.com/office/drawing/2014/main" id="{8568CF84-B90E-A3AC-6019-D7E7F30DF7B2}"/>
                </a:ext>
              </a:extLst>
            </p:cNvPr>
            <p:cNvSpPr>
              <a:spLocks/>
            </p:cNvSpPr>
            <p:nvPr/>
          </p:nvSpPr>
          <p:spPr bwMode="auto">
            <a:xfrm>
              <a:off x="1364" y="1493"/>
              <a:ext cx="37" cy="3"/>
            </a:xfrm>
            <a:custGeom>
              <a:avLst/>
              <a:gdLst>
                <a:gd name="T0" fmla="*/ 125 w 125"/>
                <a:gd name="T1" fmla="*/ 17 h 17"/>
                <a:gd name="T2" fmla="*/ 107 w 125"/>
                <a:gd name="T3" fmla="*/ 0 h 17"/>
                <a:gd name="T4" fmla="*/ 0 w 125"/>
                <a:gd name="T5" fmla="*/ 0 h 17"/>
                <a:gd name="T6" fmla="*/ 14 w 125"/>
                <a:gd name="T7" fmla="*/ 17 h 17"/>
                <a:gd name="T8" fmla="*/ 125 w 125"/>
                <a:gd name="T9" fmla="*/ 17 h 17"/>
              </a:gdLst>
              <a:ahLst/>
              <a:cxnLst>
                <a:cxn ang="0">
                  <a:pos x="T0" y="T1"/>
                </a:cxn>
                <a:cxn ang="0">
                  <a:pos x="T2" y="T3"/>
                </a:cxn>
                <a:cxn ang="0">
                  <a:pos x="T4" y="T5"/>
                </a:cxn>
                <a:cxn ang="0">
                  <a:pos x="T6" y="T7"/>
                </a:cxn>
                <a:cxn ang="0">
                  <a:pos x="T8" y="T9"/>
                </a:cxn>
              </a:cxnLst>
              <a:rect l="0" t="0" r="r" b="b"/>
              <a:pathLst>
                <a:path w="125" h="17">
                  <a:moveTo>
                    <a:pt x="125" y="17"/>
                  </a:moveTo>
                  <a:lnTo>
                    <a:pt x="107" y="0"/>
                  </a:lnTo>
                  <a:lnTo>
                    <a:pt x="0" y="0"/>
                  </a:lnTo>
                  <a:lnTo>
                    <a:pt x="14" y="17"/>
                  </a:lnTo>
                  <a:lnTo>
                    <a:pt x="125" y="17"/>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72" name="Freeform 496">
              <a:extLst>
                <a:ext uri="{FF2B5EF4-FFF2-40B4-BE49-F238E27FC236}">
                  <a16:creationId xmlns:a16="http://schemas.microsoft.com/office/drawing/2014/main" id="{53877D6D-F3D1-351D-5B69-55B0DE9778AF}"/>
                </a:ext>
              </a:extLst>
            </p:cNvPr>
            <p:cNvSpPr>
              <a:spLocks/>
            </p:cNvSpPr>
            <p:nvPr/>
          </p:nvSpPr>
          <p:spPr bwMode="auto">
            <a:xfrm>
              <a:off x="1319" y="1493"/>
              <a:ext cx="44" cy="3"/>
            </a:xfrm>
            <a:custGeom>
              <a:avLst/>
              <a:gdLst>
                <a:gd name="T0" fmla="*/ 0 w 146"/>
                <a:gd name="T1" fmla="*/ 0 h 17"/>
                <a:gd name="T2" fmla="*/ 12 w 146"/>
                <a:gd name="T3" fmla="*/ 17 h 17"/>
                <a:gd name="T4" fmla="*/ 146 w 146"/>
                <a:gd name="T5" fmla="*/ 17 h 17"/>
                <a:gd name="T6" fmla="*/ 133 w 146"/>
                <a:gd name="T7" fmla="*/ 0 h 17"/>
                <a:gd name="T8" fmla="*/ 0 w 146"/>
                <a:gd name="T9" fmla="*/ 0 h 17"/>
              </a:gdLst>
              <a:ahLst/>
              <a:cxnLst>
                <a:cxn ang="0">
                  <a:pos x="T0" y="T1"/>
                </a:cxn>
                <a:cxn ang="0">
                  <a:pos x="T2" y="T3"/>
                </a:cxn>
                <a:cxn ang="0">
                  <a:pos x="T4" y="T5"/>
                </a:cxn>
                <a:cxn ang="0">
                  <a:pos x="T6" y="T7"/>
                </a:cxn>
                <a:cxn ang="0">
                  <a:pos x="T8" y="T9"/>
                </a:cxn>
              </a:cxnLst>
              <a:rect l="0" t="0" r="r" b="b"/>
              <a:pathLst>
                <a:path w="146" h="17">
                  <a:moveTo>
                    <a:pt x="0" y="0"/>
                  </a:moveTo>
                  <a:lnTo>
                    <a:pt x="12" y="17"/>
                  </a:lnTo>
                  <a:lnTo>
                    <a:pt x="146" y="17"/>
                  </a:lnTo>
                  <a:lnTo>
                    <a:pt x="133"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73" name="Freeform 497">
              <a:extLst>
                <a:ext uri="{FF2B5EF4-FFF2-40B4-BE49-F238E27FC236}">
                  <a16:creationId xmlns:a16="http://schemas.microsoft.com/office/drawing/2014/main" id="{2F47BB3A-0B1D-9F8B-B48E-6B58F14AE85F}"/>
                </a:ext>
              </a:extLst>
            </p:cNvPr>
            <p:cNvSpPr>
              <a:spLocks/>
            </p:cNvSpPr>
            <p:nvPr/>
          </p:nvSpPr>
          <p:spPr bwMode="auto">
            <a:xfrm>
              <a:off x="1323" y="1498"/>
              <a:ext cx="48" cy="9"/>
            </a:xfrm>
            <a:custGeom>
              <a:avLst/>
              <a:gdLst>
                <a:gd name="T0" fmla="*/ 135 w 162"/>
                <a:gd name="T1" fmla="*/ 0 h 42"/>
                <a:gd name="T2" fmla="*/ 0 w 162"/>
                <a:gd name="T3" fmla="*/ 0 h 42"/>
                <a:gd name="T4" fmla="*/ 28 w 162"/>
                <a:gd name="T5" fmla="*/ 42 h 42"/>
                <a:gd name="T6" fmla="*/ 162 w 162"/>
                <a:gd name="T7" fmla="*/ 38 h 42"/>
                <a:gd name="T8" fmla="*/ 135 w 162"/>
                <a:gd name="T9" fmla="*/ 0 h 42"/>
              </a:gdLst>
              <a:ahLst/>
              <a:cxnLst>
                <a:cxn ang="0">
                  <a:pos x="T0" y="T1"/>
                </a:cxn>
                <a:cxn ang="0">
                  <a:pos x="T2" y="T3"/>
                </a:cxn>
                <a:cxn ang="0">
                  <a:pos x="T4" y="T5"/>
                </a:cxn>
                <a:cxn ang="0">
                  <a:pos x="T6" y="T7"/>
                </a:cxn>
                <a:cxn ang="0">
                  <a:pos x="T8" y="T9"/>
                </a:cxn>
              </a:cxnLst>
              <a:rect l="0" t="0" r="r" b="b"/>
              <a:pathLst>
                <a:path w="162" h="42">
                  <a:moveTo>
                    <a:pt x="135" y="0"/>
                  </a:moveTo>
                  <a:lnTo>
                    <a:pt x="0" y="0"/>
                  </a:lnTo>
                  <a:lnTo>
                    <a:pt x="28" y="42"/>
                  </a:lnTo>
                  <a:lnTo>
                    <a:pt x="162" y="38"/>
                  </a:lnTo>
                  <a:lnTo>
                    <a:pt x="135"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74" name="Freeform 498">
              <a:extLst>
                <a:ext uri="{FF2B5EF4-FFF2-40B4-BE49-F238E27FC236}">
                  <a16:creationId xmlns:a16="http://schemas.microsoft.com/office/drawing/2014/main" id="{ECB3B547-70D5-92D0-AB98-7D204366ACCB}"/>
                </a:ext>
              </a:extLst>
            </p:cNvPr>
            <p:cNvSpPr>
              <a:spLocks/>
            </p:cNvSpPr>
            <p:nvPr/>
          </p:nvSpPr>
          <p:spPr bwMode="auto">
            <a:xfrm>
              <a:off x="1336" y="1510"/>
              <a:ext cx="49" cy="9"/>
            </a:xfrm>
            <a:custGeom>
              <a:avLst/>
              <a:gdLst>
                <a:gd name="T0" fmla="*/ 156 w 156"/>
                <a:gd name="T1" fmla="*/ 45 h 45"/>
                <a:gd name="T2" fmla="*/ 140 w 156"/>
                <a:gd name="T3" fmla="*/ 21 h 45"/>
                <a:gd name="T4" fmla="*/ 90 w 156"/>
                <a:gd name="T5" fmla="*/ 21 h 45"/>
                <a:gd name="T6" fmla="*/ 77 w 156"/>
                <a:gd name="T7" fmla="*/ 0 h 45"/>
                <a:gd name="T8" fmla="*/ 38 w 156"/>
                <a:gd name="T9" fmla="*/ 0 h 45"/>
                <a:gd name="T10" fmla="*/ 51 w 156"/>
                <a:gd name="T11" fmla="*/ 21 h 45"/>
                <a:gd name="T12" fmla="*/ 0 w 156"/>
                <a:gd name="T13" fmla="*/ 21 h 45"/>
                <a:gd name="T14" fmla="*/ 16 w 156"/>
                <a:gd name="T15" fmla="*/ 45 h 45"/>
                <a:gd name="T16" fmla="*/ 156 w 156"/>
                <a:gd name="T17"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6" h="45">
                  <a:moveTo>
                    <a:pt x="156" y="45"/>
                  </a:moveTo>
                  <a:lnTo>
                    <a:pt x="140" y="21"/>
                  </a:lnTo>
                  <a:lnTo>
                    <a:pt x="90" y="21"/>
                  </a:lnTo>
                  <a:lnTo>
                    <a:pt x="77" y="0"/>
                  </a:lnTo>
                  <a:lnTo>
                    <a:pt x="38" y="0"/>
                  </a:lnTo>
                  <a:lnTo>
                    <a:pt x="51" y="21"/>
                  </a:lnTo>
                  <a:lnTo>
                    <a:pt x="0" y="21"/>
                  </a:lnTo>
                  <a:lnTo>
                    <a:pt x="16" y="45"/>
                  </a:lnTo>
                  <a:lnTo>
                    <a:pt x="156" y="45"/>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75" name="Freeform 499">
              <a:extLst>
                <a:ext uri="{FF2B5EF4-FFF2-40B4-BE49-F238E27FC236}">
                  <a16:creationId xmlns:a16="http://schemas.microsoft.com/office/drawing/2014/main" id="{1F5AA815-F569-4887-D1BA-1B9E9E5943BF}"/>
                </a:ext>
              </a:extLst>
            </p:cNvPr>
            <p:cNvSpPr>
              <a:spLocks/>
            </p:cNvSpPr>
            <p:nvPr/>
          </p:nvSpPr>
          <p:spPr bwMode="auto">
            <a:xfrm>
              <a:off x="1370" y="1498"/>
              <a:ext cx="61" cy="21"/>
            </a:xfrm>
            <a:custGeom>
              <a:avLst/>
              <a:gdLst>
                <a:gd name="T0" fmla="*/ 204 w 204"/>
                <a:gd name="T1" fmla="*/ 96 h 96"/>
                <a:gd name="T2" fmla="*/ 111 w 204"/>
                <a:gd name="T3" fmla="*/ 0 h 96"/>
                <a:gd name="T4" fmla="*/ 0 w 204"/>
                <a:gd name="T5" fmla="*/ 0 h 96"/>
                <a:gd name="T6" fmla="*/ 75 w 204"/>
                <a:gd name="T7" fmla="*/ 96 h 96"/>
                <a:gd name="T8" fmla="*/ 204 w 204"/>
                <a:gd name="T9" fmla="*/ 96 h 96"/>
              </a:gdLst>
              <a:ahLst/>
              <a:cxnLst>
                <a:cxn ang="0">
                  <a:pos x="T0" y="T1"/>
                </a:cxn>
                <a:cxn ang="0">
                  <a:pos x="T2" y="T3"/>
                </a:cxn>
                <a:cxn ang="0">
                  <a:pos x="T4" y="T5"/>
                </a:cxn>
                <a:cxn ang="0">
                  <a:pos x="T6" y="T7"/>
                </a:cxn>
                <a:cxn ang="0">
                  <a:pos x="T8" y="T9"/>
                </a:cxn>
              </a:cxnLst>
              <a:rect l="0" t="0" r="r" b="b"/>
              <a:pathLst>
                <a:path w="204" h="96">
                  <a:moveTo>
                    <a:pt x="204" y="96"/>
                  </a:moveTo>
                  <a:lnTo>
                    <a:pt x="111" y="0"/>
                  </a:lnTo>
                  <a:lnTo>
                    <a:pt x="0" y="0"/>
                  </a:lnTo>
                  <a:lnTo>
                    <a:pt x="75" y="96"/>
                  </a:lnTo>
                  <a:lnTo>
                    <a:pt x="204" y="9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76" name="Freeform 500">
              <a:extLst>
                <a:ext uri="{FF2B5EF4-FFF2-40B4-BE49-F238E27FC236}">
                  <a16:creationId xmlns:a16="http://schemas.microsoft.com/office/drawing/2014/main" id="{D983C3A5-D3CE-3B73-A039-5F2676304F57}"/>
                </a:ext>
              </a:extLst>
            </p:cNvPr>
            <p:cNvSpPr>
              <a:spLocks/>
            </p:cNvSpPr>
            <p:nvPr/>
          </p:nvSpPr>
          <p:spPr bwMode="auto">
            <a:xfrm>
              <a:off x="1226" y="1493"/>
              <a:ext cx="43" cy="3"/>
            </a:xfrm>
            <a:custGeom>
              <a:avLst/>
              <a:gdLst>
                <a:gd name="T0" fmla="*/ 0 w 141"/>
                <a:gd name="T1" fmla="*/ 17 h 17"/>
                <a:gd name="T2" fmla="*/ 141 w 141"/>
                <a:gd name="T3" fmla="*/ 17 h 17"/>
                <a:gd name="T4" fmla="*/ 137 w 141"/>
                <a:gd name="T5" fmla="*/ 0 h 17"/>
              </a:gdLst>
              <a:ahLst/>
              <a:cxnLst>
                <a:cxn ang="0">
                  <a:pos x="T0" y="T1"/>
                </a:cxn>
                <a:cxn ang="0">
                  <a:pos x="T2" y="T3"/>
                </a:cxn>
                <a:cxn ang="0">
                  <a:pos x="T4" y="T5"/>
                </a:cxn>
              </a:cxnLst>
              <a:rect l="0" t="0" r="r" b="b"/>
              <a:pathLst>
                <a:path w="141" h="17">
                  <a:moveTo>
                    <a:pt x="0" y="17"/>
                  </a:moveTo>
                  <a:lnTo>
                    <a:pt x="141" y="17"/>
                  </a:lnTo>
                  <a:lnTo>
                    <a:pt x="137" y="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77" name="Freeform 501">
              <a:extLst>
                <a:ext uri="{FF2B5EF4-FFF2-40B4-BE49-F238E27FC236}">
                  <a16:creationId xmlns:a16="http://schemas.microsoft.com/office/drawing/2014/main" id="{B5C3D508-FD82-7DA4-993B-98A97F3EEE78}"/>
                </a:ext>
              </a:extLst>
            </p:cNvPr>
            <p:cNvSpPr>
              <a:spLocks/>
            </p:cNvSpPr>
            <p:nvPr/>
          </p:nvSpPr>
          <p:spPr bwMode="auto">
            <a:xfrm>
              <a:off x="1138" y="1493"/>
              <a:ext cx="18" cy="3"/>
            </a:xfrm>
            <a:custGeom>
              <a:avLst/>
              <a:gdLst>
                <a:gd name="T0" fmla="*/ 0 w 62"/>
                <a:gd name="T1" fmla="*/ 17 h 17"/>
                <a:gd name="T2" fmla="*/ 51 w 62"/>
                <a:gd name="T3" fmla="*/ 17 h 17"/>
                <a:gd name="T4" fmla="*/ 62 w 62"/>
                <a:gd name="T5" fmla="*/ 0 h 17"/>
              </a:gdLst>
              <a:ahLst/>
              <a:cxnLst>
                <a:cxn ang="0">
                  <a:pos x="T0" y="T1"/>
                </a:cxn>
                <a:cxn ang="0">
                  <a:pos x="T2" y="T3"/>
                </a:cxn>
                <a:cxn ang="0">
                  <a:pos x="T4" y="T5"/>
                </a:cxn>
              </a:cxnLst>
              <a:rect l="0" t="0" r="r" b="b"/>
              <a:pathLst>
                <a:path w="62" h="17">
                  <a:moveTo>
                    <a:pt x="0" y="17"/>
                  </a:moveTo>
                  <a:lnTo>
                    <a:pt x="51" y="17"/>
                  </a:lnTo>
                  <a:lnTo>
                    <a:pt x="62" y="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78" name="Freeform 502">
              <a:extLst>
                <a:ext uri="{FF2B5EF4-FFF2-40B4-BE49-F238E27FC236}">
                  <a16:creationId xmlns:a16="http://schemas.microsoft.com/office/drawing/2014/main" id="{3F5813DA-9722-AEEC-AE4A-AC170408480F}"/>
                </a:ext>
              </a:extLst>
            </p:cNvPr>
            <p:cNvSpPr>
              <a:spLocks/>
            </p:cNvSpPr>
            <p:nvPr/>
          </p:nvSpPr>
          <p:spPr bwMode="auto">
            <a:xfrm>
              <a:off x="1164" y="1493"/>
              <a:ext cx="55" cy="3"/>
            </a:xfrm>
            <a:custGeom>
              <a:avLst/>
              <a:gdLst>
                <a:gd name="T0" fmla="*/ 183 w 183"/>
                <a:gd name="T1" fmla="*/ 0 h 17"/>
                <a:gd name="T2" fmla="*/ 183 w 183"/>
                <a:gd name="T3" fmla="*/ 17 h 17"/>
                <a:gd name="T4" fmla="*/ 0 w 183"/>
                <a:gd name="T5" fmla="*/ 17 h 17"/>
              </a:gdLst>
              <a:ahLst/>
              <a:cxnLst>
                <a:cxn ang="0">
                  <a:pos x="T0" y="T1"/>
                </a:cxn>
                <a:cxn ang="0">
                  <a:pos x="T2" y="T3"/>
                </a:cxn>
                <a:cxn ang="0">
                  <a:pos x="T4" y="T5"/>
                </a:cxn>
              </a:cxnLst>
              <a:rect l="0" t="0" r="r" b="b"/>
              <a:pathLst>
                <a:path w="183" h="17">
                  <a:moveTo>
                    <a:pt x="183" y="0"/>
                  </a:moveTo>
                  <a:lnTo>
                    <a:pt x="183" y="17"/>
                  </a:lnTo>
                  <a:lnTo>
                    <a:pt x="0" y="17"/>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79" name="Line 503">
              <a:extLst>
                <a:ext uri="{FF2B5EF4-FFF2-40B4-BE49-F238E27FC236}">
                  <a16:creationId xmlns:a16="http://schemas.microsoft.com/office/drawing/2014/main" id="{F838E074-5C74-DD24-F9D9-95C1147608A3}"/>
                </a:ext>
              </a:extLst>
            </p:cNvPr>
            <p:cNvSpPr>
              <a:spLocks noChangeShapeType="1"/>
            </p:cNvSpPr>
            <p:nvPr/>
          </p:nvSpPr>
          <p:spPr bwMode="auto">
            <a:xfrm flipH="1">
              <a:off x="1108" y="1519"/>
              <a:ext cx="53" cy="1"/>
            </a:xfrm>
            <a:prstGeom prst="line">
              <a:avLst/>
            </a:prstGeom>
            <a:noFill/>
            <a:ln w="1588">
              <a:solidFill>
                <a:srgbClr val="A6A6A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80" name="Freeform 504">
              <a:extLst>
                <a:ext uri="{FF2B5EF4-FFF2-40B4-BE49-F238E27FC236}">
                  <a16:creationId xmlns:a16="http://schemas.microsoft.com/office/drawing/2014/main" id="{D6B52C03-85D7-DBAF-5AF3-69E4A4785A37}"/>
                </a:ext>
              </a:extLst>
            </p:cNvPr>
            <p:cNvSpPr>
              <a:spLocks/>
            </p:cNvSpPr>
            <p:nvPr/>
          </p:nvSpPr>
          <p:spPr bwMode="auto">
            <a:xfrm>
              <a:off x="1319" y="1493"/>
              <a:ext cx="44" cy="3"/>
            </a:xfrm>
            <a:custGeom>
              <a:avLst/>
              <a:gdLst>
                <a:gd name="T0" fmla="*/ 146 w 146"/>
                <a:gd name="T1" fmla="*/ 17 h 17"/>
                <a:gd name="T2" fmla="*/ 12 w 146"/>
                <a:gd name="T3" fmla="*/ 17 h 17"/>
                <a:gd name="T4" fmla="*/ 0 w 146"/>
                <a:gd name="T5" fmla="*/ 0 h 17"/>
              </a:gdLst>
              <a:ahLst/>
              <a:cxnLst>
                <a:cxn ang="0">
                  <a:pos x="T0" y="T1"/>
                </a:cxn>
                <a:cxn ang="0">
                  <a:pos x="T2" y="T3"/>
                </a:cxn>
                <a:cxn ang="0">
                  <a:pos x="T4" y="T5"/>
                </a:cxn>
              </a:cxnLst>
              <a:rect l="0" t="0" r="r" b="b"/>
              <a:pathLst>
                <a:path w="146" h="17">
                  <a:moveTo>
                    <a:pt x="146" y="17"/>
                  </a:moveTo>
                  <a:lnTo>
                    <a:pt x="12" y="17"/>
                  </a:lnTo>
                  <a:lnTo>
                    <a:pt x="0" y="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81" name="Freeform 505">
              <a:extLst>
                <a:ext uri="{FF2B5EF4-FFF2-40B4-BE49-F238E27FC236}">
                  <a16:creationId xmlns:a16="http://schemas.microsoft.com/office/drawing/2014/main" id="{1DAE116B-399A-0A09-C686-EA9C7350B1B7}"/>
                </a:ext>
              </a:extLst>
            </p:cNvPr>
            <p:cNvSpPr>
              <a:spLocks/>
            </p:cNvSpPr>
            <p:nvPr/>
          </p:nvSpPr>
          <p:spPr bwMode="auto">
            <a:xfrm>
              <a:off x="1277" y="1493"/>
              <a:ext cx="39" cy="3"/>
            </a:xfrm>
            <a:custGeom>
              <a:avLst/>
              <a:gdLst>
                <a:gd name="T0" fmla="*/ 121 w 133"/>
                <a:gd name="T1" fmla="*/ 0 h 17"/>
                <a:gd name="T2" fmla="*/ 133 w 133"/>
                <a:gd name="T3" fmla="*/ 17 h 17"/>
                <a:gd name="T4" fmla="*/ 0 w 133"/>
                <a:gd name="T5" fmla="*/ 17 h 17"/>
              </a:gdLst>
              <a:ahLst/>
              <a:cxnLst>
                <a:cxn ang="0">
                  <a:pos x="T0" y="T1"/>
                </a:cxn>
                <a:cxn ang="0">
                  <a:pos x="T2" y="T3"/>
                </a:cxn>
                <a:cxn ang="0">
                  <a:pos x="T4" y="T5"/>
                </a:cxn>
              </a:cxnLst>
              <a:rect l="0" t="0" r="r" b="b"/>
              <a:pathLst>
                <a:path w="133" h="17">
                  <a:moveTo>
                    <a:pt x="121" y="0"/>
                  </a:moveTo>
                  <a:lnTo>
                    <a:pt x="133" y="17"/>
                  </a:lnTo>
                  <a:lnTo>
                    <a:pt x="0" y="17"/>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82" name="Freeform 506">
              <a:extLst>
                <a:ext uri="{FF2B5EF4-FFF2-40B4-BE49-F238E27FC236}">
                  <a16:creationId xmlns:a16="http://schemas.microsoft.com/office/drawing/2014/main" id="{53D5C2F0-0998-0CC3-F804-F236ABFB5C30}"/>
                </a:ext>
              </a:extLst>
            </p:cNvPr>
            <p:cNvSpPr>
              <a:spLocks/>
            </p:cNvSpPr>
            <p:nvPr/>
          </p:nvSpPr>
          <p:spPr bwMode="auto">
            <a:xfrm>
              <a:off x="1364" y="1493"/>
              <a:ext cx="37" cy="3"/>
            </a:xfrm>
            <a:custGeom>
              <a:avLst/>
              <a:gdLst>
                <a:gd name="T0" fmla="*/ 0 w 125"/>
                <a:gd name="T1" fmla="*/ 0 h 17"/>
                <a:gd name="T2" fmla="*/ 14 w 125"/>
                <a:gd name="T3" fmla="*/ 17 h 17"/>
                <a:gd name="T4" fmla="*/ 125 w 125"/>
                <a:gd name="T5" fmla="*/ 17 h 17"/>
              </a:gdLst>
              <a:ahLst/>
              <a:cxnLst>
                <a:cxn ang="0">
                  <a:pos x="T0" y="T1"/>
                </a:cxn>
                <a:cxn ang="0">
                  <a:pos x="T2" y="T3"/>
                </a:cxn>
                <a:cxn ang="0">
                  <a:pos x="T4" y="T5"/>
                </a:cxn>
              </a:cxnLst>
              <a:rect l="0" t="0" r="r" b="b"/>
              <a:pathLst>
                <a:path w="125" h="17">
                  <a:moveTo>
                    <a:pt x="0" y="0"/>
                  </a:moveTo>
                  <a:lnTo>
                    <a:pt x="14" y="17"/>
                  </a:lnTo>
                  <a:lnTo>
                    <a:pt x="125" y="17"/>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83" name="Freeform 507">
              <a:extLst>
                <a:ext uri="{FF2B5EF4-FFF2-40B4-BE49-F238E27FC236}">
                  <a16:creationId xmlns:a16="http://schemas.microsoft.com/office/drawing/2014/main" id="{E1CF6AF9-5E77-7D80-A958-A8A5FE531326}"/>
                </a:ext>
              </a:extLst>
            </p:cNvPr>
            <p:cNvSpPr>
              <a:spLocks/>
            </p:cNvSpPr>
            <p:nvPr/>
          </p:nvSpPr>
          <p:spPr bwMode="auto">
            <a:xfrm>
              <a:off x="1336" y="1514"/>
              <a:ext cx="49" cy="5"/>
            </a:xfrm>
            <a:custGeom>
              <a:avLst/>
              <a:gdLst>
                <a:gd name="T0" fmla="*/ 0 w 156"/>
                <a:gd name="T1" fmla="*/ 0 h 24"/>
                <a:gd name="T2" fmla="*/ 16 w 156"/>
                <a:gd name="T3" fmla="*/ 24 h 24"/>
                <a:gd name="T4" fmla="*/ 156 w 156"/>
                <a:gd name="T5" fmla="*/ 24 h 24"/>
              </a:gdLst>
              <a:ahLst/>
              <a:cxnLst>
                <a:cxn ang="0">
                  <a:pos x="T0" y="T1"/>
                </a:cxn>
                <a:cxn ang="0">
                  <a:pos x="T2" y="T3"/>
                </a:cxn>
                <a:cxn ang="0">
                  <a:pos x="T4" y="T5"/>
                </a:cxn>
              </a:cxnLst>
              <a:rect l="0" t="0" r="r" b="b"/>
              <a:pathLst>
                <a:path w="156" h="24">
                  <a:moveTo>
                    <a:pt x="0" y="0"/>
                  </a:moveTo>
                  <a:lnTo>
                    <a:pt x="16" y="24"/>
                  </a:lnTo>
                  <a:lnTo>
                    <a:pt x="156" y="24"/>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84" name="Line 508">
              <a:extLst>
                <a:ext uri="{FF2B5EF4-FFF2-40B4-BE49-F238E27FC236}">
                  <a16:creationId xmlns:a16="http://schemas.microsoft.com/office/drawing/2014/main" id="{39921266-8D93-1F97-2603-95D92B06B54E}"/>
                </a:ext>
              </a:extLst>
            </p:cNvPr>
            <p:cNvSpPr>
              <a:spLocks noChangeShapeType="1"/>
            </p:cNvSpPr>
            <p:nvPr/>
          </p:nvSpPr>
          <p:spPr bwMode="auto">
            <a:xfrm>
              <a:off x="1350" y="1510"/>
              <a:ext cx="3" cy="4"/>
            </a:xfrm>
            <a:prstGeom prst="line">
              <a:avLst/>
            </a:prstGeom>
            <a:noFill/>
            <a:ln w="1588">
              <a:solidFill>
                <a:srgbClr val="A6A6A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85" name="Freeform 509">
              <a:extLst>
                <a:ext uri="{FF2B5EF4-FFF2-40B4-BE49-F238E27FC236}">
                  <a16:creationId xmlns:a16="http://schemas.microsoft.com/office/drawing/2014/main" id="{3629D09E-446C-5A49-CBAF-F7F77EFA4AFD}"/>
                </a:ext>
              </a:extLst>
            </p:cNvPr>
            <p:cNvSpPr>
              <a:spLocks/>
            </p:cNvSpPr>
            <p:nvPr/>
          </p:nvSpPr>
          <p:spPr bwMode="auto">
            <a:xfrm>
              <a:off x="1323" y="1498"/>
              <a:ext cx="48" cy="9"/>
            </a:xfrm>
            <a:custGeom>
              <a:avLst/>
              <a:gdLst>
                <a:gd name="T0" fmla="*/ 0 w 162"/>
                <a:gd name="T1" fmla="*/ 0 h 42"/>
                <a:gd name="T2" fmla="*/ 28 w 162"/>
                <a:gd name="T3" fmla="*/ 42 h 42"/>
                <a:gd name="T4" fmla="*/ 162 w 162"/>
                <a:gd name="T5" fmla="*/ 38 h 42"/>
              </a:gdLst>
              <a:ahLst/>
              <a:cxnLst>
                <a:cxn ang="0">
                  <a:pos x="T0" y="T1"/>
                </a:cxn>
                <a:cxn ang="0">
                  <a:pos x="T2" y="T3"/>
                </a:cxn>
                <a:cxn ang="0">
                  <a:pos x="T4" y="T5"/>
                </a:cxn>
              </a:cxnLst>
              <a:rect l="0" t="0" r="r" b="b"/>
              <a:pathLst>
                <a:path w="162" h="42">
                  <a:moveTo>
                    <a:pt x="0" y="0"/>
                  </a:moveTo>
                  <a:lnTo>
                    <a:pt x="28" y="42"/>
                  </a:lnTo>
                  <a:lnTo>
                    <a:pt x="162" y="38"/>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86" name="Freeform 510">
              <a:extLst>
                <a:ext uri="{FF2B5EF4-FFF2-40B4-BE49-F238E27FC236}">
                  <a16:creationId xmlns:a16="http://schemas.microsoft.com/office/drawing/2014/main" id="{1943335C-55C6-F8B0-B9C5-4AE7CF2D5C3D}"/>
                </a:ext>
              </a:extLst>
            </p:cNvPr>
            <p:cNvSpPr>
              <a:spLocks/>
            </p:cNvSpPr>
            <p:nvPr/>
          </p:nvSpPr>
          <p:spPr bwMode="auto">
            <a:xfrm>
              <a:off x="1370" y="1498"/>
              <a:ext cx="61" cy="21"/>
            </a:xfrm>
            <a:custGeom>
              <a:avLst/>
              <a:gdLst>
                <a:gd name="T0" fmla="*/ 0 w 204"/>
                <a:gd name="T1" fmla="*/ 0 h 96"/>
                <a:gd name="T2" fmla="*/ 75 w 204"/>
                <a:gd name="T3" fmla="*/ 96 h 96"/>
                <a:gd name="T4" fmla="*/ 204 w 204"/>
                <a:gd name="T5" fmla="*/ 96 h 96"/>
              </a:gdLst>
              <a:ahLst/>
              <a:cxnLst>
                <a:cxn ang="0">
                  <a:pos x="T0" y="T1"/>
                </a:cxn>
                <a:cxn ang="0">
                  <a:pos x="T2" y="T3"/>
                </a:cxn>
                <a:cxn ang="0">
                  <a:pos x="T4" y="T5"/>
                </a:cxn>
              </a:cxnLst>
              <a:rect l="0" t="0" r="r" b="b"/>
              <a:pathLst>
                <a:path w="204" h="96">
                  <a:moveTo>
                    <a:pt x="0" y="0"/>
                  </a:moveTo>
                  <a:lnTo>
                    <a:pt x="75" y="96"/>
                  </a:lnTo>
                  <a:lnTo>
                    <a:pt x="204" y="96"/>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87" name="Freeform 511">
              <a:extLst>
                <a:ext uri="{FF2B5EF4-FFF2-40B4-BE49-F238E27FC236}">
                  <a16:creationId xmlns:a16="http://schemas.microsoft.com/office/drawing/2014/main" id="{01E90159-3B06-FBD3-264C-AC57879A3151}"/>
                </a:ext>
              </a:extLst>
            </p:cNvPr>
            <p:cNvSpPr>
              <a:spLocks/>
            </p:cNvSpPr>
            <p:nvPr/>
          </p:nvSpPr>
          <p:spPr bwMode="auto">
            <a:xfrm>
              <a:off x="1265" y="1498"/>
              <a:ext cx="70" cy="21"/>
            </a:xfrm>
            <a:custGeom>
              <a:avLst/>
              <a:gdLst>
                <a:gd name="T0" fmla="*/ 0 w 234"/>
                <a:gd name="T1" fmla="*/ 96 h 96"/>
                <a:gd name="T2" fmla="*/ 234 w 234"/>
                <a:gd name="T3" fmla="*/ 96 h 96"/>
                <a:gd name="T4" fmla="*/ 175 w 234"/>
                <a:gd name="T5" fmla="*/ 0 h 96"/>
              </a:gdLst>
              <a:ahLst/>
              <a:cxnLst>
                <a:cxn ang="0">
                  <a:pos x="T0" y="T1"/>
                </a:cxn>
                <a:cxn ang="0">
                  <a:pos x="T2" y="T3"/>
                </a:cxn>
                <a:cxn ang="0">
                  <a:pos x="T4" y="T5"/>
                </a:cxn>
              </a:cxnLst>
              <a:rect l="0" t="0" r="r" b="b"/>
              <a:pathLst>
                <a:path w="234" h="96">
                  <a:moveTo>
                    <a:pt x="0" y="96"/>
                  </a:moveTo>
                  <a:lnTo>
                    <a:pt x="234" y="96"/>
                  </a:lnTo>
                  <a:lnTo>
                    <a:pt x="175" y="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88" name="Freeform 512">
              <a:extLst>
                <a:ext uri="{FF2B5EF4-FFF2-40B4-BE49-F238E27FC236}">
                  <a16:creationId xmlns:a16="http://schemas.microsoft.com/office/drawing/2014/main" id="{0B64D494-2DC2-1E7C-541C-FF5E05D8044F}"/>
                </a:ext>
              </a:extLst>
            </p:cNvPr>
            <p:cNvSpPr>
              <a:spLocks/>
            </p:cNvSpPr>
            <p:nvPr/>
          </p:nvSpPr>
          <p:spPr bwMode="auto">
            <a:xfrm>
              <a:off x="1467" y="1504"/>
              <a:ext cx="26" cy="13"/>
            </a:xfrm>
            <a:custGeom>
              <a:avLst/>
              <a:gdLst>
                <a:gd name="T0" fmla="*/ 60 w 88"/>
                <a:gd name="T1" fmla="*/ 4 h 54"/>
                <a:gd name="T2" fmla="*/ 46 w 88"/>
                <a:gd name="T3" fmla="*/ 0 h 54"/>
                <a:gd name="T4" fmla="*/ 34 w 88"/>
                <a:gd name="T5" fmla="*/ 0 h 54"/>
                <a:gd name="T6" fmla="*/ 24 w 88"/>
                <a:gd name="T7" fmla="*/ 1 h 54"/>
                <a:gd name="T8" fmla="*/ 15 w 88"/>
                <a:gd name="T9" fmla="*/ 7 h 54"/>
                <a:gd name="T10" fmla="*/ 6 w 88"/>
                <a:gd name="T11" fmla="*/ 13 h 54"/>
                <a:gd name="T12" fmla="*/ 0 w 88"/>
                <a:gd name="T13" fmla="*/ 23 h 54"/>
                <a:gd name="T14" fmla="*/ 6 w 88"/>
                <a:gd name="T15" fmla="*/ 28 h 54"/>
                <a:gd name="T16" fmla="*/ 14 w 88"/>
                <a:gd name="T17" fmla="*/ 35 h 54"/>
                <a:gd name="T18" fmla="*/ 16 w 88"/>
                <a:gd name="T19" fmla="*/ 36 h 54"/>
                <a:gd name="T20" fmla="*/ 20 w 88"/>
                <a:gd name="T21" fmla="*/ 38 h 54"/>
                <a:gd name="T22" fmla="*/ 27 w 88"/>
                <a:gd name="T23" fmla="*/ 43 h 54"/>
                <a:gd name="T24" fmla="*/ 32 w 88"/>
                <a:gd name="T25" fmla="*/ 46 h 54"/>
                <a:gd name="T26" fmla="*/ 35 w 88"/>
                <a:gd name="T27" fmla="*/ 47 h 54"/>
                <a:gd name="T28" fmla="*/ 39 w 88"/>
                <a:gd name="T29" fmla="*/ 50 h 54"/>
                <a:gd name="T30" fmla="*/ 51 w 88"/>
                <a:gd name="T31" fmla="*/ 53 h 54"/>
                <a:gd name="T32" fmla="*/ 61 w 88"/>
                <a:gd name="T33" fmla="*/ 54 h 54"/>
                <a:gd name="T34" fmla="*/ 71 w 88"/>
                <a:gd name="T35" fmla="*/ 54 h 54"/>
                <a:gd name="T36" fmla="*/ 75 w 88"/>
                <a:gd name="T37" fmla="*/ 52 h 54"/>
                <a:gd name="T38" fmla="*/ 80 w 88"/>
                <a:gd name="T39" fmla="*/ 51 h 54"/>
                <a:gd name="T40" fmla="*/ 83 w 88"/>
                <a:gd name="T41" fmla="*/ 48 h 54"/>
                <a:gd name="T42" fmla="*/ 88 w 88"/>
                <a:gd name="T43" fmla="*/ 47 h 54"/>
                <a:gd name="T44" fmla="*/ 81 w 88"/>
                <a:gd name="T45" fmla="*/ 31 h 54"/>
                <a:gd name="T46" fmla="*/ 75 w 88"/>
                <a:gd name="T47" fmla="*/ 20 h 54"/>
                <a:gd name="T48" fmla="*/ 67 w 88"/>
                <a:gd name="T49" fmla="*/ 10 h 54"/>
                <a:gd name="T50" fmla="*/ 60 w 88"/>
                <a:gd name="T51" fmla="*/ 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8" h="54">
                  <a:moveTo>
                    <a:pt x="60" y="4"/>
                  </a:moveTo>
                  <a:lnTo>
                    <a:pt x="46" y="0"/>
                  </a:lnTo>
                  <a:lnTo>
                    <a:pt x="34" y="0"/>
                  </a:lnTo>
                  <a:lnTo>
                    <a:pt x="24" y="1"/>
                  </a:lnTo>
                  <a:lnTo>
                    <a:pt x="15" y="7"/>
                  </a:lnTo>
                  <a:lnTo>
                    <a:pt x="6" y="13"/>
                  </a:lnTo>
                  <a:lnTo>
                    <a:pt x="0" y="23"/>
                  </a:lnTo>
                  <a:lnTo>
                    <a:pt x="6" y="28"/>
                  </a:lnTo>
                  <a:lnTo>
                    <a:pt x="14" y="35"/>
                  </a:lnTo>
                  <a:lnTo>
                    <a:pt x="16" y="36"/>
                  </a:lnTo>
                  <a:lnTo>
                    <a:pt x="20" y="38"/>
                  </a:lnTo>
                  <a:lnTo>
                    <a:pt x="27" y="43"/>
                  </a:lnTo>
                  <a:lnTo>
                    <a:pt x="32" y="46"/>
                  </a:lnTo>
                  <a:lnTo>
                    <a:pt x="35" y="47"/>
                  </a:lnTo>
                  <a:lnTo>
                    <a:pt x="39" y="50"/>
                  </a:lnTo>
                  <a:lnTo>
                    <a:pt x="51" y="53"/>
                  </a:lnTo>
                  <a:lnTo>
                    <a:pt x="61" y="54"/>
                  </a:lnTo>
                  <a:lnTo>
                    <a:pt x="71" y="54"/>
                  </a:lnTo>
                  <a:lnTo>
                    <a:pt x="75" y="52"/>
                  </a:lnTo>
                  <a:lnTo>
                    <a:pt x="80" y="51"/>
                  </a:lnTo>
                  <a:lnTo>
                    <a:pt x="83" y="48"/>
                  </a:lnTo>
                  <a:lnTo>
                    <a:pt x="88" y="47"/>
                  </a:lnTo>
                  <a:lnTo>
                    <a:pt x="81" y="31"/>
                  </a:lnTo>
                  <a:lnTo>
                    <a:pt x="75" y="20"/>
                  </a:lnTo>
                  <a:lnTo>
                    <a:pt x="67" y="10"/>
                  </a:lnTo>
                  <a:lnTo>
                    <a:pt x="60" y="4"/>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89" name="Freeform 513">
              <a:extLst>
                <a:ext uri="{FF2B5EF4-FFF2-40B4-BE49-F238E27FC236}">
                  <a16:creationId xmlns:a16="http://schemas.microsoft.com/office/drawing/2014/main" id="{F8C54878-5512-ECFB-1CB0-DB774D495751}"/>
                </a:ext>
              </a:extLst>
            </p:cNvPr>
            <p:cNvSpPr>
              <a:spLocks/>
            </p:cNvSpPr>
            <p:nvPr/>
          </p:nvSpPr>
          <p:spPr bwMode="auto">
            <a:xfrm>
              <a:off x="1463" y="1502"/>
              <a:ext cx="22" cy="8"/>
            </a:xfrm>
            <a:custGeom>
              <a:avLst/>
              <a:gdLst>
                <a:gd name="T0" fmla="*/ 43 w 77"/>
                <a:gd name="T1" fmla="*/ 7 h 31"/>
                <a:gd name="T2" fmla="*/ 51 w 77"/>
                <a:gd name="T3" fmla="*/ 8 h 31"/>
                <a:gd name="T4" fmla="*/ 63 w 77"/>
                <a:gd name="T5" fmla="*/ 8 h 31"/>
                <a:gd name="T6" fmla="*/ 77 w 77"/>
                <a:gd name="T7" fmla="*/ 12 h 31"/>
                <a:gd name="T8" fmla="*/ 64 w 77"/>
                <a:gd name="T9" fmla="*/ 5 h 31"/>
                <a:gd name="T10" fmla="*/ 53 w 77"/>
                <a:gd name="T11" fmla="*/ 2 h 31"/>
                <a:gd name="T12" fmla="*/ 41 w 77"/>
                <a:gd name="T13" fmla="*/ 0 h 31"/>
                <a:gd name="T14" fmla="*/ 29 w 77"/>
                <a:gd name="T15" fmla="*/ 2 h 31"/>
                <a:gd name="T16" fmla="*/ 27 w 77"/>
                <a:gd name="T17" fmla="*/ 2 h 31"/>
                <a:gd name="T18" fmla="*/ 26 w 77"/>
                <a:gd name="T19" fmla="*/ 2 h 31"/>
                <a:gd name="T20" fmla="*/ 11 w 77"/>
                <a:gd name="T21" fmla="*/ 7 h 31"/>
                <a:gd name="T22" fmla="*/ 0 w 77"/>
                <a:gd name="T23" fmla="*/ 15 h 31"/>
                <a:gd name="T24" fmla="*/ 17 w 77"/>
                <a:gd name="T25" fmla="*/ 31 h 31"/>
                <a:gd name="T26" fmla="*/ 23 w 77"/>
                <a:gd name="T27" fmla="*/ 21 h 31"/>
                <a:gd name="T28" fmla="*/ 32 w 77"/>
                <a:gd name="T29" fmla="*/ 15 h 31"/>
                <a:gd name="T30" fmla="*/ 41 w 77"/>
                <a:gd name="T31" fmla="*/ 9 h 31"/>
                <a:gd name="T32" fmla="*/ 51 w 77"/>
                <a:gd name="T33" fmla="*/ 8 h 31"/>
                <a:gd name="T34" fmla="*/ 43 w 77"/>
                <a:gd name="T35"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31">
                  <a:moveTo>
                    <a:pt x="43" y="7"/>
                  </a:moveTo>
                  <a:lnTo>
                    <a:pt x="51" y="8"/>
                  </a:lnTo>
                  <a:lnTo>
                    <a:pt x="63" y="8"/>
                  </a:lnTo>
                  <a:lnTo>
                    <a:pt x="77" y="12"/>
                  </a:lnTo>
                  <a:lnTo>
                    <a:pt x="64" y="5"/>
                  </a:lnTo>
                  <a:lnTo>
                    <a:pt x="53" y="2"/>
                  </a:lnTo>
                  <a:lnTo>
                    <a:pt x="41" y="0"/>
                  </a:lnTo>
                  <a:lnTo>
                    <a:pt x="29" y="2"/>
                  </a:lnTo>
                  <a:lnTo>
                    <a:pt x="27" y="2"/>
                  </a:lnTo>
                  <a:lnTo>
                    <a:pt x="26" y="2"/>
                  </a:lnTo>
                  <a:lnTo>
                    <a:pt x="11" y="7"/>
                  </a:lnTo>
                  <a:lnTo>
                    <a:pt x="0" y="15"/>
                  </a:lnTo>
                  <a:lnTo>
                    <a:pt x="17" y="31"/>
                  </a:lnTo>
                  <a:lnTo>
                    <a:pt x="23" y="21"/>
                  </a:lnTo>
                  <a:lnTo>
                    <a:pt x="32" y="15"/>
                  </a:lnTo>
                  <a:lnTo>
                    <a:pt x="41" y="9"/>
                  </a:lnTo>
                  <a:lnTo>
                    <a:pt x="51" y="8"/>
                  </a:lnTo>
                  <a:lnTo>
                    <a:pt x="43" y="7"/>
                  </a:lnTo>
                  <a:close/>
                </a:path>
              </a:pathLst>
            </a:custGeom>
            <a:solidFill>
              <a:srgbClr val="C8C8C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90" name="Freeform 514">
              <a:extLst>
                <a:ext uri="{FF2B5EF4-FFF2-40B4-BE49-F238E27FC236}">
                  <a16:creationId xmlns:a16="http://schemas.microsoft.com/office/drawing/2014/main" id="{D762DCE0-C14A-7AD6-9AF5-0BD0FD2FC408}"/>
                </a:ext>
              </a:extLst>
            </p:cNvPr>
            <p:cNvSpPr>
              <a:spLocks/>
            </p:cNvSpPr>
            <p:nvPr/>
          </p:nvSpPr>
          <p:spPr bwMode="auto">
            <a:xfrm>
              <a:off x="1467" y="1510"/>
              <a:ext cx="26" cy="9"/>
            </a:xfrm>
            <a:custGeom>
              <a:avLst/>
              <a:gdLst>
                <a:gd name="T0" fmla="*/ 0 w 88"/>
                <a:gd name="T1" fmla="*/ 0 h 43"/>
                <a:gd name="T2" fmla="*/ 0 w 88"/>
                <a:gd name="T3" fmla="*/ 10 h 43"/>
                <a:gd name="T4" fmla="*/ 15 w 88"/>
                <a:gd name="T5" fmla="*/ 20 h 43"/>
                <a:gd name="T6" fmla="*/ 34 w 88"/>
                <a:gd name="T7" fmla="*/ 33 h 43"/>
                <a:gd name="T8" fmla="*/ 43 w 88"/>
                <a:gd name="T9" fmla="*/ 36 h 43"/>
                <a:gd name="T10" fmla="*/ 53 w 88"/>
                <a:gd name="T11" fmla="*/ 40 h 43"/>
                <a:gd name="T12" fmla="*/ 57 w 88"/>
                <a:gd name="T13" fmla="*/ 40 h 43"/>
                <a:gd name="T14" fmla="*/ 62 w 88"/>
                <a:gd name="T15" fmla="*/ 41 h 43"/>
                <a:gd name="T16" fmla="*/ 66 w 88"/>
                <a:gd name="T17" fmla="*/ 41 h 43"/>
                <a:gd name="T18" fmla="*/ 71 w 88"/>
                <a:gd name="T19" fmla="*/ 43 h 43"/>
                <a:gd name="T20" fmla="*/ 76 w 88"/>
                <a:gd name="T21" fmla="*/ 40 h 43"/>
                <a:gd name="T22" fmla="*/ 81 w 88"/>
                <a:gd name="T23" fmla="*/ 38 h 43"/>
                <a:gd name="T24" fmla="*/ 84 w 88"/>
                <a:gd name="T25" fmla="*/ 33 h 43"/>
                <a:gd name="T26" fmla="*/ 88 w 88"/>
                <a:gd name="T27" fmla="*/ 28 h 43"/>
                <a:gd name="T28" fmla="*/ 88 w 88"/>
                <a:gd name="T29" fmla="*/ 25 h 43"/>
                <a:gd name="T30" fmla="*/ 88 w 88"/>
                <a:gd name="T31" fmla="*/ 24 h 43"/>
                <a:gd name="T32" fmla="*/ 83 w 88"/>
                <a:gd name="T33" fmla="*/ 25 h 43"/>
                <a:gd name="T34" fmla="*/ 80 w 88"/>
                <a:gd name="T35" fmla="*/ 28 h 43"/>
                <a:gd name="T36" fmla="*/ 75 w 88"/>
                <a:gd name="T37" fmla="*/ 29 h 43"/>
                <a:gd name="T38" fmla="*/ 71 w 88"/>
                <a:gd name="T39" fmla="*/ 31 h 43"/>
                <a:gd name="T40" fmla="*/ 61 w 88"/>
                <a:gd name="T41" fmla="*/ 31 h 43"/>
                <a:gd name="T42" fmla="*/ 51 w 88"/>
                <a:gd name="T43" fmla="*/ 30 h 43"/>
                <a:gd name="T44" fmla="*/ 39 w 88"/>
                <a:gd name="T45" fmla="*/ 27 h 43"/>
                <a:gd name="T46" fmla="*/ 35 w 88"/>
                <a:gd name="T47" fmla="*/ 24 h 43"/>
                <a:gd name="T48" fmla="*/ 32 w 88"/>
                <a:gd name="T49" fmla="*/ 23 h 43"/>
                <a:gd name="T50" fmla="*/ 27 w 88"/>
                <a:gd name="T51" fmla="*/ 20 h 43"/>
                <a:gd name="T52" fmla="*/ 20 w 88"/>
                <a:gd name="T53" fmla="*/ 15 h 43"/>
                <a:gd name="T54" fmla="*/ 16 w 88"/>
                <a:gd name="T55" fmla="*/ 13 h 43"/>
                <a:gd name="T56" fmla="*/ 14 w 88"/>
                <a:gd name="T57" fmla="*/ 12 h 43"/>
                <a:gd name="T58" fmla="*/ 6 w 88"/>
                <a:gd name="T59" fmla="*/ 5 h 43"/>
                <a:gd name="T60" fmla="*/ 0 w 88"/>
                <a:gd name="T61"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8" h="43">
                  <a:moveTo>
                    <a:pt x="0" y="0"/>
                  </a:moveTo>
                  <a:lnTo>
                    <a:pt x="0" y="10"/>
                  </a:lnTo>
                  <a:lnTo>
                    <a:pt x="15" y="20"/>
                  </a:lnTo>
                  <a:lnTo>
                    <a:pt x="34" y="33"/>
                  </a:lnTo>
                  <a:lnTo>
                    <a:pt x="43" y="36"/>
                  </a:lnTo>
                  <a:lnTo>
                    <a:pt x="53" y="40"/>
                  </a:lnTo>
                  <a:lnTo>
                    <a:pt x="57" y="40"/>
                  </a:lnTo>
                  <a:lnTo>
                    <a:pt x="62" y="41"/>
                  </a:lnTo>
                  <a:lnTo>
                    <a:pt x="66" y="41"/>
                  </a:lnTo>
                  <a:lnTo>
                    <a:pt x="71" y="43"/>
                  </a:lnTo>
                  <a:lnTo>
                    <a:pt x="76" y="40"/>
                  </a:lnTo>
                  <a:lnTo>
                    <a:pt x="81" y="38"/>
                  </a:lnTo>
                  <a:lnTo>
                    <a:pt x="84" y="33"/>
                  </a:lnTo>
                  <a:lnTo>
                    <a:pt x="88" y="28"/>
                  </a:lnTo>
                  <a:lnTo>
                    <a:pt x="88" y="25"/>
                  </a:lnTo>
                  <a:lnTo>
                    <a:pt x="88" y="24"/>
                  </a:lnTo>
                  <a:lnTo>
                    <a:pt x="83" y="25"/>
                  </a:lnTo>
                  <a:lnTo>
                    <a:pt x="80" y="28"/>
                  </a:lnTo>
                  <a:lnTo>
                    <a:pt x="75" y="29"/>
                  </a:lnTo>
                  <a:lnTo>
                    <a:pt x="71" y="31"/>
                  </a:lnTo>
                  <a:lnTo>
                    <a:pt x="61" y="31"/>
                  </a:lnTo>
                  <a:lnTo>
                    <a:pt x="51" y="30"/>
                  </a:lnTo>
                  <a:lnTo>
                    <a:pt x="39" y="27"/>
                  </a:lnTo>
                  <a:lnTo>
                    <a:pt x="35" y="24"/>
                  </a:lnTo>
                  <a:lnTo>
                    <a:pt x="32" y="23"/>
                  </a:lnTo>
                  <a:lnTo>
                    <a:pt x="27" y="20"/>
                  </a:lnTo>
                  <a:lnTo>
                    <a:pt x="20" y="15"/>
                  </a:lnTo>
                  <a:lnTo>
                    <a:pt x="16" y="13"/>
                  </a:lnTo>
                  <a:lnTo>
                    <a:pt x="14" y="12"/>
                  </a:lnTo>
                  <a:lnTo>
                    <a:pt x="6" y="5"/>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91" name="Freeform 515">
              <a:extLst>
                <a:ext uri="{FF2B5EF4-FFF2-40B4-BE49-F238E27FC236}">
                  <a16:creationId xmlns:a16="http://schemas.microsoft.com/office/drawing/2014/main" id="{20272DBE-4F7D-8ADA-9321-97164ADD373C}"/>
                </a:ext>
              </a:extLst>
            </p:cNvPr>
            <p:cNvSpPr>
              <a:spLocks/>
            </p:cNvSpPr>
            <p:nvPr/>
          </p:nvSpPr>
          <p:spPr bwMode="auto">
            <a:xfrm>
              <a:off x="1463" y="1506"/>
              <a:ext cx="4" cy="7"/>
            </a:xfrm>
            <a:custGeom>
              <a:avLst/>
              <a:gdLst>
                <a:gd name="T0" fmla="*/ 17 w 17"/>
                <a:gd name="T1" fmla="*/ 26 h 26"/>
                <a:gd name="T2" fmla="*/ 17 w 17"/>
                <a:gd name="T3" fmla="*/ 16 h 26"/>
                <a:gd name="T4" fmla="*/ 0 w 17"/>
                <a:gd name="T5" fmla="*/ 0 h 26"/>
                <a:gd name="T6" fmla="*/ 1 w 17"/>
                <a:gd name="T7" fmla="*/ 11 h 26"/>
                <a:gd name="T8" fmla="*/ 17 w 17"/>
                <a:gd name="T9" fmla="*/ 26 h 26"/>
              </a:gdLst>
              <a:ahLst/>
              <a:cxnLst>
                <a:cxn ang="0">
                  <a:pos x="T0" y="T1"/>
                </a:cxn>
                <a:cxn ang="0">
                  <a:pos x="T2" y="T3"/>
                </a:cxn>
                <a:cxn ang="0">
                  <a:pos x="T4" y="T5"/>
                </a:cxn>
                <a:cxn ang="0">
                  <a:pos x="T6" y="T7"/>
                </a:cxn>
                <a:cxn ang="0">
                  <a:pos x="T8" y="T9"/>
                </a:cxn>
              </a:cxnLst>
              <a:rect l="0" t="0" r="r" b="b"/>
              <a:pathLst>
                <a:path w="17" h="26">
                  <a:moveTo>
                    <a:pt x="17" y="26"/>
                  </a:moveTo>
                  <a:lnTo>
                    <a:pt x="17" y="16"/>
                  </a:lnTo>
                  <a:lnTo>
                    <a:pt x="0" y="0"/>
                  </a:lnTo>
                  <a:lnTo>
                    <a:pt x="1" y="11"/>
                  </a:lnTo>
                  <a:lnTo>
                    <a:pt x="17" y="26"/>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92" name="Line 516">
              <a:extLst>
                <a:ext uri="{FF2B5EF4-FFF2-40B4-BE49-F238E27FC236}">
                  <a16:creationId xmlns:a16="http://schemas.microsoft.com/office/drawing/2014/main" id="{8D39CD9E-CB9D-9BB2-6B20-9EA2A61D06CE}"/>
                </a:ext>
              </a:extLst>
            </p:cNvPr>
            <p:cNvSpPr>
              <a:spLocks noChangeShapeType="1"/>
            </p:cNvSpPr>
            <p:nvPr/>
          </p:nvSpPr>
          <p:spPr bwMode="auto">
            <a:xfrm flipV="1">
              <a:off x="1467" y="1510"/>
              <a:ext cx="2" cy="3"/>
            </a:xfrm>
            <a:prstGeom prst="line">
              <a:avLst/>
            </a:prstGeom>
            <a:noFill/>
            <a:ln w="0">
              <a:solidFill>
                <a:srgbClr val="5E5E5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93" name="Freeform 517">
              <a:extLst>
                <a:ext uri="{FF2B5EF4-FFF2-40B4-BE49-F238E27FC236}">
                  <a16:creationId xmlns:a16="http://schemas.microsoft.com/office/drawing/2014/main" id="{FC14E7FC-3A8C-ACAB-D09F-18883D89C176}"/>
                </a:ext>
              </a:extLst>
            </p:cNvPr>
            <p:cNvSpPr>
              <a:spLocks/>
            </p:cNvSpPr>
            <p:nvPr/>
          </p:nvSpPr>
          <p:spPr bwMode="auto">
            <a:xfrm>
              <a:off x="1463" y="1506"/>
              <a:ext cx="30" cy="11"/>
            </a:xfrm>
            <a:custGeom>
              <a:avLst/>
              <a:gdLst>
                <a:gd name="T0" fmla="*/ 0 w 105"/>
                <a:gd name="T1" fmla="*/ 0 h 47"/>
                <a:gd name="T2" fmla="*/ 17 w 105"/>
                <a:gd name="T3" fmla="*/ 16 h 47"/>
                <a:gd name="T4" fmla="*/ 23 w 105"/>
                <a:gd name="T5" fmla="*/ 21 h 47"/>
                <a:gd name="T6" fmla="*/ 31 w 105"/>
                <a:gd name="T7" fmla="*/ 28 h 47"/>
                <a:gd name="T8" fmla="*/ 33 w 105"/>
                <a:gd name="T9" fmla="*/ 29 h 47"/>
                <a:gd name="T10" fmla="*/ 37 w 105"/>
                <a:gd name="T11" fmla="*/ 31 h 47"/>
                <a:gd name="T12" fmla="*/ 44 w 105"/>
                <a:gd name="T13" fmla="*/ 36 h 47"/>
                <a:gd name="T14" fmla="*/ 49 w 105"/>
                <a:gd name="T15" fmla="*/ 39 h 47"/>
                <a:gd name="T16" fmla="*/ 52 w 105"/>
                <a:gd name="T17" fmla="*/ 40 h 47"/>
                <a:gd name="T18" fmla="*/ 56 w 105"/>
                <a:gd name="T19" fmla="*/ 43 h 47"/>
                <a:gd name="T20" fmla="*/ 68 w 105"/>
                <a:gd name="T21" fmla="*/ 46 h 47"/>
                <a:gd name="T22" fmla="*/ 78 w 105"/>
                <a:gd name="T23" fmla="*/ 47 h 47"/>
                <a:gd name="T24" fmla="*/ 88 w 105"/>
                <a:gd name="T25" fmla="*/ 47 h 47"/>
                <a:gd name="T26" fmla="*/ 92 w 105"/>
                <a:gd name="T27" fmla="*/ 45 h 47"/>
                <a:gd name="T28" fmla="*/ 97 w 105"/>
                <a:gd name="T29" fmla="*/ 44 h 47"/>
                <a:gd name="T30" fmla="*/ 100 w 105"/>
                <a:gd name="T31" fmla="*/ 41 h 47"/>
                <a:gd name="T32" fmla="*/ 105 w 105"/>
                <a:gd name="T33" fmla="*/ 4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 h="47">
                  <a:moveTo>
                    <a:pt x="0" y="0"/>
                  </a:moveTo>
                  <a:lnTo>
                    <a:pt x="17" y="16"/>
                  </a:lnTo>
                  <a:lnTo>
                    <a:pt x="23" y="21"/>
                  </a:lnTo>
                  <a:lnTo>
                    <a:pt x="31" y="28"/>
                  </a:lnTo>
                  <a:lnTo>
                    <a:pt x="33" y="29"/>
                  </a:lnTo>
                  <a:lnTo>
                    <a:pt x="37" y="31"/>
                  </a:lnTo>
                  <a:lnTo>
                    <a:pt x="44" y="36"/>
                  </a:lnTo>
                  <a:lnTo>
                    <a:pt x="49" y="39"/>
                  </a:lnTo>
                  <a:lnTo>
                    <a:pt x="52" y="40"/>
                  </a:lnTo>
                  <a:lnTo>
                    <a:pt x="56" y="43"/>
                  </a:lnTo>
                  <a:lnTo>
                    <a:pt x="68" y="46"/>
                  </a:lnTo>
                  <a:lnTo>
                    <a:pt x="78" y="47"/>
                  </a:lnTo>
                  <a:lnTo>
                    <a:pt x="88" y="47"/>
                  </a:lnTo>
                  <a:lnTo>
                    <a:pt x="92" y="45"/>
                  </a:lnTo>
                  <a:lnTo>
                    <a:pt x="97" y="44"/>
                  </a:lnTo>
                  <a:lnTo>
                    <a:pt x="100" y="41"/>
                  </a:lnTo>
                  <a:lnTo>
                    <a:pt x="105" y="40"/>
                  </a:lnTo>
                </a:path>
              </a:pathLst>
            </a:custGeom>
            <a:noFill/>
            <a:ln w="0">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94" name="Freeform 518">
              <a:extLst>
                <a:ext uri="{FF2B5EF4-FFF2-40B4-BE49-F238E27FC236}">
                  <a16:creationId xmlns:a16="http://schemas.microsoft.com/office/drawing/2014/main" id="{4AE2A578-5B55-9FE2-46FE-BB8F5F422692}"/>
                </a:ext>
              </a:extLst>
            </p:cNvPr>
            <p:cNvSpPr>
              <a:spLocks/>
            </p:cNvSpPr>
            <p:nvPr/>
          </p:nvSpPr>
          <p:spPr bwMode="auto">
            <a:xfrm>
              <a:off x="1479" y="1504"/>
              <a:ext cx="6" cy="1"/>
            </a:xfrm>
            <a:custGeom>
              <a:avLst/>
              <a:gdLst>
                <a:gd name="T0" fmla="*/ 26 w 26"/>
                <a:gd name="T1" fmla="*/ 4 h 4"/>
                <a:gd name="T2" fmla="*/ 12 w 26"/>
                <a:gd name="T3" fmla="*/ 0 h 4"/>
                <a:gd name="T4" fmla="*/ 0 w 26"/>
                <a:gd name="T5" fmla="*/ 0 h 4"/>
              </a:gdLst>
              <a:ahLst/>
              <a:cxnLst>
                <a:cxn ang="0">
                  <a:pos x="T0" y="T1"/>
                </a:cxn>
                <a:cxn ang="0">
                  <a:pos x="T2" y="T3"/>
                </a:cxn>
                <a:cxn ang="0">
                  <a:pos x="T4" y="T5"/>
                </a:cxn>
              </a:cxnLst>
              <a:rect l="0" t="0" r="r" b="b"/>
              <a:pathLst>
                <a:path w="26" h="4">
                  <a:moveTo>
                    <a:pt x="26" y="4"/>
                  </a:moveTo>
                  <a:lnTo>
                    <a:pt x="12" y="0"/>
                  </a:lnTo>
                  <a:lnTo>
                    <a:pt x="0" y="0"/>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95" name="Freeform 519">
              <a:extLst>
                <a:ext uri="{FF2B5EF4-FFF2-40B4-BE49-F238E27FC236}">
                  <a16:creationId xmlns:a16="http://schemas.microsoft.com/office/drawing/2014/main" id="{25F711C8-0B9A-6266-4CC3-951A446D0E9C}"/>
                </a:ext>
              </a:extLst>
            </p:cNvPr>
            <p:cNvSpPr>
              <a:spLocks/>
            </p:cNvSpPr>
            <p:nvPr/>
          </p:nvSpPr>
          <p:spPr bwMode="auto">
            <a:xfrm>
              <a:off x="1467" y="1504"/>
              <a:ext cx="12" cy="6"/>
            </a:xfrm>
            <a:custGeom>
              <a:avLst/>
              <a:gdLst>
                <a:gd name="T0" fmla="*/ 0 w 34"/>
                <a:gd name="T1" fmla="*/ 23 h 23"/>
                <a:gd name="T2" fmla="*/ 6 w 34"/>
                <a:gd name="T3" fmla="*/ 13 h 23"/>
                <a:gd name="T4" fmla="*/ 15 w 34"/>
                <a:gd name="T5" fmla="*/ 7 h 23"/>
                <a:gd name="T6" fmla="*/ 24 w 34"/>
                <a:gd name="T7" fmla="*/ 1 h 23"/>
                <a:gd name="T8" fmla="*/ 34 w 34"/>
                <a:gd name="T9" fmla="*/ 0 h 23"/>
              </a:gdLst>
              <a:ahLst/>
              <a:cxnLst>
                <a:cxn ang="0">
                  <a:pos x="T0" y="T1"/>
                </a:cxn>
                <a:cxn ang="0">
                  <a:pos x="T2" y="T3"/>
                </a:cxn>
                <a:cxn ang="0">
                  <a:pos x="T4" y="T5"/>
                </a:cxn>
                <a:cxn ang="0">
                  <a:pos x="T6" y="T7"/>
                </a:cxn>
                <a:cxn ang="0">
                  <a:pos x="T8" y="T9"/>
                </a:cxn>
              </a:cxnLst>
              <a:rect l="0" t="0" r="r" b="b"/>
              <a:pathLst>
                <a:path w="34" h="23">
                  <a:moveTo>
                    <a:pt x="0" y="23"/>
                  </a:moveTo>
                  <a:lnTo>
                    <a:pt x="6" y="13"/>
                  </a:lnTo>
                  <a:lnTo>
                    <a:pt x="15" y="7"/>
                  </a:lnTo>
                  <a:lnTo>
                    <a:pt x="24" y="1"/>
                  </a:lnTo>
                  <a:lnTo>
                    <a:pt x="34" y="0"/>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96" name="Line 520">
              <a:extLst>
                <a:ext uri="{FF2B5EF4-FFF2-40B4-BE49-F238E27FC236}">
                  <a16:creationId xmlns:a16="http://schemas.microsoft.com/office/drawing/2014/main" id="{E5688008-AE70-21AB-10F1-6E5441058B50}"/>
                </a:ext>
              </a:extLst>
            </p:cNvPr>
            <p:cNvSpPr>
              <a:spLocks noChangeShapeType="1"/>
            </p:cNvSpPr>
            <p:nvPr/>
          </p:nvSpPr>
          <p:spPr bwMode="auto">
            <a:xfrm flipH="1" flipV="1">
              <a:off x="1476" y="1504"/>
              <a:ext cx="3" cy="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76297" name="Freeform 521">
              <a:extLst>
                <a:ext uri="{FF2B5EF4-FFF2-40B4-BE49-F238E27FC236}">
                  <a16:creationId xmlns:a16="http://schemas.microsoft.com/office/drawing/2014/main" id="{61322B5F-B864-4EE7-F4D6-014B16FF2F6F}"/>
                </a:ext>
              </a:extLst>
            </p:cNvPr>
            <p:cNvSpPr>
              <a:spLocks/>
            </p:cNvSpPr>
            <p:nvPr/>
          </p:nvSpPr>
          <p:spPr bwMode="auto">
            <a:xfrm>
              <a:off x="1470" y="1503"/>
              <a:ext cx="2" cy="1"/>
            </a:xfrm>
            <a:custGeom>
              <a:avLst/>
              <a:gdLst>
                <a:gd name="T0" fmla="*/ 3 w 3"/>
                <a:gd name="T1" fmla="*/ 1 w 3"/>
                <a:gd name="T2" fmla="*/ 0 w 3"/>
              </a:gdLst>
              <a:ahLst/>
              <a:cxnLst>
                <a:cxn ang="0">
                  <a:pos x="T0" y="0"/>
                </a:cxn>
                <a:cxn ang="0">
                  <a:pos x="T1" y="0"/>
                </a:cxn>
                <a:cxn ang="0">
                  <a:pos x="T2" y="0"/>
                </a:cxn>
              </a:cxnLst>
              <a:rect l="0" t="0" r="r" b="b"/>
              <a:pathLst>
                <a:path w="3">
                  <a:moveTo>
                    <a:pt x="3" y="0"/>
                  </a:moveTo>
                  <a:lnTo>
                    <a:pt x="1" y="0"/>
                  </a:lnTo>
                  <a:lnTo>
                    <a:pt x="0" y="0"/>
                  </a:lnTo>
                </a:path>
              </a:pathLst>
            </a:custGeom>
            <a:noFill/>
            <a:ln w="0">
              <a:solidFill>
                <a:srgbClr val="EEEEEE"/>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76298" name="Freeform 522">
              <a:extLst>
                <a:ext uri="{FF2B5EF4-FFF2-40B4-BE49-F238E27FC236}">
                  <a16:creationId xmlns:a16="http://schemas.microsoft.com/office/drawing/2014/main" id="{CE33FF50-C57F-065A-186E-7D2F63B9E288}"/>
                </a:ext>
              </a:extLst>
            </p:cNvPr>
            <p:cNvSpPr>
              <a:spLocks/>
            </p:cNvSpPr>
            <p:nvPr/>
          </p:nvSpPr>
          <p:spPr bwMode="auto">
            <a:xfrm>
              <a:off x="1472" y="1502"/>
              <a:ext cx="4" cy="2"/>
            </a:xfrm>
            <a:custGeom>
              <a:avLst/>
              <a:gdLst>
                <a:gd name="T0" fmla="*/ 9 w 16"/>
                <a:gd name="T1" fmla="*/ 0 h 7"/>
                <a:gd name="T2" fmla="*/ 0 w 16"/>
                <a:gd name="T3" fmla="*/ 3 h 7"/>
                <a:gd name="T4" fmla="*/ 2 w 16"/>
                <a:gd name="T5" fmla="*/ 0 h 7"/>
                <a:gd name="T6" fmla="*/ 6 w 16"/>
                <a:gd name="T7" fmla="*/ 2 h 7"/>
                <a:gd name="T8" fmla="*/ 9 w 16"/>
                <a:gd name="T9" fmla="*/ 3 h 7"/>
                <a:gd name="T10" fmla="*/ 12 w 16"/>
                <a:gd name="T11" fmla="*/ 7 h 7"/>
                <a:gd name="T12" fmla="*/ 15 w 16"/>
                <a:gd name="T13" fmla="*/ 5 h 7"/>
                <a:gd name="T14" fmla="*/ 16 w 16"/>
                <a:gd name="T15" fmla="*/ 5 h 7"/>
                <a:gd name="T16" fmla="*/ 11 w 16"/>
                <a:gd name="T17" fmla="*/ 2 h 7"/>
                <a:gd name="T18" fmla="*/ 9 w 16"/>
                <a:gd name="T19"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7">
                  <a:moveTo>
                    <a:pt x="9" y="0"/>
                  </a:moveTo>
                  <a:lnTo>
                    <a:pt x="0" y="3"/>
                  </a:lnTo>
                  <a:lnTo>
                    <a:pt x="2" y="0"/>
                  </a:lnTo>
                  <a:lnTo>
                    <a:pt x="6" y="2"/>
                  </a:lnTo>
                  <a:lnTo>
                    <a:pt x="9" y="3"/>
                  </a:lnTo>
                  <a:lnTo>
                    <a:pt x="12" y="7"/>
                  </a:lnTo>
                  <a:lnTo>
                    <a:pt x="15" y="5"/>
                  </a:lnTo>
                  <a:lnTo>
                    <a:pt x="16" y="5"/>
                  </a:lnTo>
                  <a:lnTo>
                    <a:pt x="11" y="2"/>
                  </a:lnTo>
                  <a:lnTo>
                    <a:pt x="9" y="0"/>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299" name="Freeform 523">
              <a:extLst>
                <a:ext uri="{FF2B5EF4-FFF2-40B4-BE49-F238E27FC236}">
                  <a16:creationId xmlns:a16="http://schemas.microsoft.com/office/drawing/2014/main" id="{678404EF-7180-D633-4849-D34318FAA05A}"/>
                </a:ext>
              </a:extLst>
            </p:cNvPr>
            <p:cNvSpPr>
              <a:spLocks/>
            </p:cNvSpPr>
            <p:nvPr/>
          </p:nvSpPr>
          <p:spPr bwMode="auto">
            <a:xfrm>
              <a:off x="1472" y="1502"/>
              <a:ext cx="3" cy="2"/>
            </a:xfrm>
            <a:custGeom>
              <a:avLst/>
              <a:gdLst>
                <a:gd name="T0" fmla="*/ 12 w 12"/>
                <a:gd name="T1" fmla="*/ 7 h 7"/>
                <a:gd name="T2" fmla="*/ 9 w 12"/>
                <a:gd name="T3" fmla="*/ 3 h 7"/>
                <a:gd name="T4" fmla="*/ 6 w 12"/>
                <a:gd name="T5" fmla="*/ 2 h 7"/>
                <a:gd name="T6" fmla="*/ 2 w 12"/>
                <a:gd name="T7" fmla="*/ 0 h 7"/>
                <a:gd name="T8" fmla="*/ 0 w 12"/>
                <a:gd name="T9" fmla="*/ 3 h 7"/>
                <a:gd name="T10" fmla="*/ 12 w 12"/>
                <a:gd name="T11" fmla="*/ 7 h 7"/>
              </a:gdLst>
              <a:ahLst/>
              <a:cxnLst>
                <a:cxn ang="0">
                  <a:pos x="T0" y="T1"/>
                </a:cxn>
                <a:cxn ang="0">
                  <a:pos x="T2" y="T3"/>
                </a:cxn>
                <a:cxn ang="0">
                  <a:pos x="T4" y="T5"/>
                </a:cxn>
                <a:cxn ang="0">
                  <a:pos x="T6" y="T7"/>
                </a:cxn>
                <a:cxn ang="0">
                  <a:pos x="T8" y="T9"/>
                </a:cxn>
                <a:cxn ang="0">
                  <a:pos x="T10" y="T11"/>
                </a:cxn>
              </a:cxnLst>
              <a:rect l="0" t="0" r="r" b="b"/>
              <a:pathLst>
                <a:path w="12" h="7">
                  <a:moveTo>
                    <a:pt x="12" y="7"/>
                  </a:moveTo>
                  <a:lnTo>
                    <a:pt x="9" y="3"/>
                  </a:lnTo>
                  <a:lnTo>
                    <a:pt x="6" y="2"/>
                  </a:lnTo>
                  <a:lnTo>
                    <a:pt x="2" y="0"/>
                  </a:lnTo>
                  <a:lnTo>
                    <a:pt x="0" y="3"/>
                  </a:lnTo>
                  <a:lnTo>
                    <a:pt x="12" y="7"/>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6300" name="Rectangle 524">
              <a:extLst>
                <a:ext uri="{FF2B5EF4-FFF2-40B4-BE49-F238E27FC236}">
                  <a16:creationId xmlns:a16="http://schemas.microsoft.com/office/drawing/2014/main" id="{399FCB86-F712-CF26-53DB-254395599F57}"/>
                </a:ext>
              </a:extLst>
            </p:cNvPr>
            <p:cNvSpPr>
              <a:spLocks noChangeArrowheads="1"/>
            </p:cNvSpPr>
            <p:nvPr/>
          </p:nvSpPr>
          <p:spPr bwMode="auto">
            <a:xfrm>
              <a:off x="836" y="998"/>
              <a:ext cx="848"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Security Zone A</a:t>
              </a:r>
            </a:p>
          </p:txBody>
        </p:sp>
        <p:sp>
          <p:nvSpPr>
            <p:cNvPr id="149539" name="Rectangle 3107">
              <a:extLst>
                <a:ext uri="{FF2B5EF4-FFF2-40B4-BE49-F238E27FC236}">
                  <a16:creationId xmlns:a16="http://schemas.microsoft.com/office/drawing/2014/main" id="{0B65CAED-EA14-FE7C-BC35-A8EE1D3C8254}"/>
                </a:ext>
              </a:extLst>
            </p:cNvPr>
            <p:cNvSpPr>
              <a:spLocks noChangeArrowheads="1"/>
            </p:cNvSpPr>
            <p:nvPr/>
          </p:nvSpPr>
          <p:spPr bwMode="auto">
            <a:xfrm>
              <a:off x="932" y="1091"/>
              <a:ext cx="621"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latin typeface="Verdana" panose="020B0604030504040204" pitchFamily="34" charset="0"/>
                  <a:ea typeface="宋体" panose="02010600030101010101" pitchFamily="2" charset="-122"/>
                </a:rPr>
                <a:t>Administrator</a:t>
              </a:r>
            </a:p>
          </p:txBody>
        </p:sp>
      </p:grpSp>
      <p:grpSp>
        <p:nvGrpSpPr>
          <p:cNvPr id="149836" name="Group 3404">
            <a:extLst>
              <a:ext uri="{FF2B5EF4-FFF2-40B4-BE49-F238E27FC236}">
                <a16:creationId xmlns:a16="http://schemas.microsoft.com/office/drawing/2014/main" id="{CA6135A7-C3B8-A6C0-59A1-57F1F44475A1}"/>
              </a:ext>
            </a:extLst>
          </p:cNvPr>
          <p:cNvGrpSpPr>
            <a:grpSpLocks/>
          </p:cNvGrpSpPr>
          <p:nvPr/>
        </p:nvGrpSpPr>
        <p:grpSpPr bwMode="auto">
          <a:xfrm>
            <a:off x="3451225" y="1771650"/>
            <a:ext cx="2219325" cy="1309688"/>
            <a:chOff x="2174" y="1116"/>
            <a:chExt cx="1398" cy="825"/>
          </a:xfrm>
        </p:grpSpPr>
        <p:sp>
          <p:nvSpPr>
            <p:cNvPr id="149543" name="Oval 3111">
              <a:extLst>
                <a:ext uri="{FF2B5EF4-FFF2-40B4-BE49-F238E27FC236}">
                  <a16:creationId xmlns:a16="http://schemas.microsoft.com/office/drawing/2014/main" id="{3DF7CC10-6C25-1649-F4CB-0BCCF395F1F3}"/>
                </a:ext>
              </a:extLst>
            </p:cNvPr>
            <p:cNvSpPr>
              <a:spLocks noChangeArrowheads="1"/>
            </p:cNvSpPr>
            <p:nvPr/>
          </p:nvSpPr>
          <p:spPr bwMode="auto">
            <a:xfrm>
              <a:off x="2174" y="1116"/>
              <a:ext cx="1398" cy="825"/>
            </a:xfrm>
            <a:prstGeom prst="ellipse">
              <a:avLst/>
            </a:prstGeom>
            <a:solidFill>
              <a:srgbClr val="CC99FF"/>
            </a:solidFill>
            <a:ln w="25400" cap="rnd"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148117" name="Rectangle 1685">
              <a:extLst>
                <a:ext uri="{FF2B5EF4-FFF2-40B4-BE49-F238E27FC236}">
                  <a16:creationId xmlns:a16="http://schemas.microsoft.com/office/drawing/2014/main" id="{D2AA5D9D-2101-E3DA-0DC1-A67E62E41692}"/>
                </a:ext>
              </a:extLst>
            </p:cNvPr>
            <p:cNvSpPr>
              <a:spLocks noChangeArrowheads="1"/>
            </p:cNvSpPr>
            <p:nvPr/>
          </p:nvSpPr>
          <p:spPr bwMode="auto">
            <a:xfrm>
              <a:off x="2447" y="1683"/>
              <a:ext cx="853"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Security Zone D</a:t>
              </a:r>
            </a:p>
          </p:txBody>
        </p:sp>
        <p:sp>
          <p:nvSpPr>
            <p:cNvPr id="148118" name="Rectangle 1686">
              <a:extLst>
                <a:ext uri="{FF2B5EF4-FFF2-40B4-BE49-F238E27FC236}">
                  <a16:creationId xmlns:a16="http://schemas.microsoft.com/office/drawing/2014/main" id="{65DBF817-A00E-04F0-0858-8CDD7435C03A}"/>
                </a:ext>
              </a:extLst>
            </p:cNvPr>
            <p:cNvSpPr>
              <a:spLocks noChangeArrowheads="1"/>
            </p:cNvSpPr>
            <p:nvPr/>
          </p:nvSpPr>
          <p:spPr bwMode="auto">
            <a:xfrm>
              <a:off x="2584" y="1808"/>
              <a:ext cx="599"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latin typeface="Verdana" panose="020B0604030504040204" pitchFamily="34" charset="0"/>
                  <a:ea typeface="宋体" panose="02010600030101010101" pitchFamily="2" charset="-122"/>
                </a:rPr>
                <a:t>Host - Switch</a:t>
              </a:r>
            </a:p>
          </p:txBody>
        </p:sp>
        <p:pic>
          <p:nvPicPr>
            <p:cNvPr id="149540" name="Picture 3108">
              <a:extLst>
                <a:ext uri="{FF2B5EF4-FFF2-40B4-BE49-F238E27FC236}">
                  <a16:creationId xmlns:a16="http://schemas.microsoft.com/office/drawing/2014/main" id="{FF67B588-611C-E8F2-A9D8-C83020135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6" y="1195"/>
              <a:ext cx="252" cy="499"/>
            </a:xfrm>
            <a:prstGeom prst="rect">
              <a:avLst/>
            </a:prstGeom>
            <a:noFill/>
            <a:extLst>
              <a:ext uri="{909E8E84-426E-40DD-AFC4-6F175D3DCCD1}">
                <a14:hiddenFill xmlns:a14="http://schemas.microsoft.com/office/drawing/2010/main">
                  <a:solidFill>
                    <a:srgbClr val="FFFFFF"/>
                  </a:solidFill>
                </a14:hiddenFill>
              </a:ext>
            </a:extLst>
          </p:spPr>
        </p:pic>
        <p:pic>
          <p:nvPicPr>
            <p:cNvPr id="149541" name="Picture 3109">
              <a:extLst>
                <a:ext uri="{FF2B5EF4-FFF2-40B4-BE49-F238E27FC236}">
                  <a16:creationId xmlns:a16="http://schemas.microsoft.com/office/drawing/2014/main" id="{2DC50474-03AA-2ADB-BE1D-FFE9BFDED7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0" y="1116"/>
              <a:ext cx="257" cy="511"/>
            </a:xfrm>
            <a:prstGeom prst="rect">
              <a:avLst/>
            </a:prstGeom>
            <a:noFill/>
            <a:extLst>
              <a:ext uri="{909E8E84-426E-40DD-AFC4-6F175D3DCCD1}">
                <a14:hiddenFill xmlns:a14="http://schemas.microsoft.com/office/drawing/2010/main">
                  <a:solidFill>
                    <a:srgbClr val="FFFFFF"/>
                  </a:solidFill>
                </a14:hiddenFill>
              </a:ext>
            </a:extLst>
          </p:spPr>
        </p:pic>
        <p:pic>
          <p:nvPicPr>
            <p:cNvPr id="149542" name="Picture 3110">
              <a:extLst>
                <a:ext uri="{FF2B5EF4-FFF2-40B4-BE49-F238E27FC236}">
                  <a16:creationId xmlns:a16="http://schemas.microsoft.com/office/drawing/2014/main" id="{CA6D1E0E-F326-86EC-CFC7-BE6FA7A456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9" y="1195"/>
              <a:ext cx="257" cy="51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9848" name="Group 3416">
            <a:extLst>
              <a:ext uri="{FF2B5EF4-FFF2-40B4-BE49-F238E27FC236}">
                <a16:creationId xmlns:a16="http://schemas.microsoft.com/office/drawing/2014/main" id="{55FB5C6F-3BBD-D850-CE4D-2F598A8EC443}"/>
              </a:ext>
            </a:extLst>
          </p:cNvPr>
          <p:cNvGrpSpPr>
            <a:grpSpLocks/>
          </p:cNvGrpSpPr>
          <p:nvPr/>
        </p:nvGrpSpPr>
        <p:grpSpPr bwMode="auto">
          <a:xfrm>
            <a:off x="3486150" y="4233863"/>
            <a:ext cx="2022475" cy="1185862"/>
            <a:chOff x="2196" y="2709"/>
            <a:chExt cx="1274" cy="747"/>
          </a:xfrm>
        </p:grpSpPr>
        <p:sp>
          <p:nvSpPr>
            <p:cNvPr id="149570" name="Oval 3138">
              <a:extLst>
                <a:ext uri="{FF2B5EF4-FFF2-40B4-BE49-F238E27FC236}">
                  <a16:creationId xmlns:a16="http://schemas.microsoft.com/office/drawing/2014/main" id="{B47F284A-D41E-C447-7F50-F407DA8ECE73}"/>
                </a:ext>
              </a:extLst>
            </p:cNvPr>
            <p:cNvSpPr>
              <a:spLocks noChangeArrowheads="1"/>
            </p:cNvSpPr>
            <p:nvPr/>
          </p:nvSpPr>
          <p:spPr bwMode="auto">
            <a:xfrm>
              <a:off x="2196" y="2709"/>
              <a:ext cx="1274" cy="702"/>
            </a:xfrm>
            <a:prstGeom prst="ellipse">
              <a:avLst/>
            </a:prstGeom>
            <a:solidFill>
              <a:srgbClr val="CCFFCC"/>
            </a:solidFill>
            <a:ln w="25400" cap="rnd"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pic>
          <p:nvPicPr>
            <p:cNvPr id="149565" name="Picture 3133">
              <a:extLst>
                <a:ext uri="{FF2B5EF4-FFF2-40B4-BE49-F238E27FC236}">
                  <a16:creationId xmlns:a16="http://schemas.microsoft.com/office/drawing/2014/main" id="{972008CC-CF39-402E-0888-A27BF0F96F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9" y="2832"/>
              <a:ext cx="252" cy="461"/>
            </a:xfrm>
            <a:prstGeom prst="rect">
              <a:avLst/>
            </a:prstGeom>
            <a:noFill/>
            <a:extLst>
              <a:ext uri="{909E8E84-426E-40DD-AFC4-6F175D3DCCD1}">
                <a14:hiddenFill xmlns:a14="http://schemas.microsoft.com/office/drawing/2010/main">
                  <a:solidFill>
                    <a:srgbClr val="FFFFFF"/>
                  </a:solidFill>
                </a14:hiddenFill>
              </a:ext>
            </a:extLst>
          </p:spPr>
        </p:pic>
        <p:grpSp>
          <p:nvGrpSpPr>
            <p:cNvPr id="149564" name="Group 3132">
              <a:extLst>
                <a:ext uri="{FF2B5EF4-FFF2-40B4-BE49-F238E27FC236}">
                  <a16:creationId xmlns:a16="http://schemas.microsoft.com/office/drawing/2014/main" id="{2B23BBFF-C46B-C364-E758-778BFA51E1E6}"/>
                </a:ext>
              </a:extLst>
            </p:cNvPr>
            <p:cNvGrpSpPr>
              <a:grpSpLocks/>
            </p:cNvGrpSpPr>
            <p:nvPr/>
          </p:nvGrpSpPr>
          <p:grpSpPr bwMode="auto">
            <a:xfrm>
              <a:off x="2358" y="3019"/>
              <a:ext cx="111" cy="166"/>
              <a:chOff x="918" y="3735"/>
              <a:chExt cx="132" cy="183"/>
            </a:xfrm>
          </p:grpSpPr>
          <p:sp>
            <p:nvSpPr>
              <p:cNvPr id="148651" name="Freeform 2219">
                <a:extLst>
                  <a:ext uri="{FF2B5EF4-FFF2-40B4-BE49-F238E27FC236}">
                    <a16:creationId xmlns:a16="http://schemas.microsoft.com/office/drawing/2014/main" id="{76AC42E5-5BA5-E6FC-9F40-500534582E2D}"/>
                  </a:ext>
                </a:extLst>
              </p:cNvPr>
              <p:cNvSpPr>
                <a:spLocks/>
              </p:cNvSpPr>
              <p:nvPr/>
            </p:nvSpPr>
            <p:spPr bwMode="auto">
              <a:xfrm>
                <a:off x="946" y="3906"/>
                <a:ext cx="4" cy="5"/>
              </a:xfrm>
              <a:custGeom>
                <a:avLst/>
                <a:gdLst>
                  <a:gd name="T0" fmla="*/ 15 w 18"/>
                  <a:gd name="T1" fmla="*/ 15 h 17"/>
                  <a:gd name="T2" fmla="*/ 15 w 18"/>
                  <a:gd name="T3" fmla="*/ 12 h 17"/>
                  <a:gd name="T4" fmla="*/ 15 w 18"/>
                  <a:gd name="T5" fmla="*/ 11 h 17"/>
                  <a:gd name="T6" fmla="*/ 16 w 18"/>
                  <a:gd name="T7" fmla="*/ 11 h 17"/>
                  <a:gd name="T8" fmla="*/ 18 w 18"/>
                  <a:gd name="T9" fmla="*/ 9 h 17"/>
                  <a:gd name="T10" fmla="*/ 15 w 18"/>
                  <a:gd name="T11" fmla="*/ 2 h 17"/>
                  <a:gd name="T12" fmla="*/ 12 w 18"/>
                  <a:gd name="T13" fmla="*/ 0 h 17"/>
                  <a:gd name="T14" fmla="*/ 9 w 18"/>
                  <a:gd name="T15" fmla="*/ 0 h 17"/>
                  <a:gd name="T16" fmla="*/ 3 w 18"/>
                  <a:gd name="T17" fmla="*/ 2 h 17"/>
                  <a:gd name="T18" fmla="*/ 0 w 18"/>
                  <a:gd name="T19" fmla="*/ 9 h 17"/>
                  <a:gd name="T20" fmla="*/ 0 w 18"/>
                  <a:gd name="T21" fmla="*/ 11 h 17"/>
                  <a:gd name="T22" fmla="*/ 3 w 18"/>
                  <a:gd name="T23" fmla="*/ 15 h 17"/>
                  <a:gd name="T24" fmla="*/ 9 w 18"/>
                  <a:gd name="T25" fmla="*/ 17 h 17"/>
                  <a:gd name="T26" fmla="*/ 12 w 18"/>
                  <a:gd name="T27" fmla="*/ 16 h 17"/>
                  <a:gd name="T28" fmla="*/ 12 w 18"/>
                  <a:gd name="T29" fmla="*/ 15 h 17"/>
                  <a:gd name="T30" fmla="*/ 13 w 18"/>
                  <a:gd name="T31" fmla="*/ 15 h 17"/>
                  <a:gd name="T32" fmla="*/ 15 w 18"/>
                  <a:gd name="T33"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15" y="15"/>
                    </a:moveTo>
                    <a:lnTo>
                      <a:pt x="15" y="12"/>
                    </a:lnTo>
                    <a:lnTo>
                      <a:pt x="15" y="11"/>
                    </a:lnTo>
                    <a:lnTo>
                      <a:pt x="16" y="11"/>
                    </a:lnTo>
                    <a:lnTo>
                      <a:pt x="18" y="9"/>
                    </a:lnTo>
                    <a:lnTo>
                      <a:pt x="15" y="2"/>
                    </a:lnTo>
                    <a:lnTo>
                      <a:pt x="12" y="0"/>
                    </a:lnTo>
                    <a:lnTo>
                      <a:pt x="9" y="0"/>
                    </a:lnTo>
                    <a:lnTo>
                      <a:pt x="3" y="2"/>
                    </a:lnTo>
                    <a:lnTo>
                      <a:pt x="0" y="9"/>
                    </a:lnTo>
                    <a:lnTo>
                      <a:pt x="0" y="11"/>
                    </a:lnTo>
                    <a:lnTo>
                      <a:pt x="3" y="15"/>
                    </a:lnTo>
                    <a:lnTo>
                      <a:pt x="9" y="17"/>
                    </a:lnTo>
                    <a:lnTo>
                      <a:pt x="12" y="16"/>
                    </a:lnTo>
                    <a:lnTo>
                      <a:pt x="12" y="15"/>
                    </a:lnTo>
                    <a:lnTo>
                      <a:pt x="13" y="15"/>
                    </a:lnTo>
                    <a:lnTo>
                      <a:pt x="15"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63" name="Freeform 2231">
                <a:extLst>
                  <a:ext uri="{FF2B5EF4-FFF2-40B4-BE49-F238E27FC236}">
                    <a16:creationId xmlns:a16="http://schemas.microsoft.com/office/drawing/2014/main" id="{D8F7B362-5A67-91C7-F4C9-47E70920DD3E}"/>
                  </a:ext>
                </a:extLst>
              </p:cNvPr>
              <p:cNvSpPr>
                <a:spLocks/>
              </p:cNvSpPr>
              <p:nvPr/>
            </p:nvSpPr>
            <p:spPr bwMode="auto">
              <a:xfrm>
                <a:off x="972" y="3880"/>
                <a:ext cx="4" cy="5"/>
              </a:xfrm>
              <a:custGeom>
                <a:avLst/>
                <a:gdLst>
                  <a:gd name="T0" fmla="*/ 14 w 17"/>
                  <a:gd name="T1" fmla="*/ 3 h 18"/>
                  <a:gd name="T2" fmla="*/ 10 w 17"/>
                  <a:gd name="T3" fmla="*/ 0 h 18"/>
                  <a:gd name="T4" fmla="*/ 8 w 17"/>
                  <a:gd name="T5" fmla="*/ 0 h 18"/>
                  <a:gd name="T6" fmla="*/ 2 w 17"/>
                  <a:gd name="T7" fmla="*/ 3 h 18"/>
                  <a:gd name="T8" fmla="*/ 0 w 17"/>
                  <a:gd name="T9" fmla="*/ 9 h 18"/>
                  <a:gd name="T10" fmla="*/ 2 w 17"/>
                  <a:gd name="T11" fmla="*/ 15 h 18"/>
                  <a:gd name="T12" fmla="*/ 8 w 17"/>
                  <a:gd name="T13" fmla="*/ 18 h 18"/>
                  <a:gd name="T14" fmla="*/ 10 w 17"/>
                  <a:gd name="T15" fmla="*/ 17 h 18"/>
                  <a:gd name="T16" fmla="*/ 10 w 17"/>
                  <a:gd name="T17" fmla="*/ 15 h 18"/>
                  <a:gd name="T18" fmla="*/ 12 w 17"/>
                  <a:gd name="T19" fmla="*/ 15 h 18"/>
                  <a:gd name="T20" fmla="*/ 14 w 17"/>
                  <a:gd name="T21" fmla="*/ 15 h 18"/>
                  <a:gd name="T22" fmla="*/ 14 w 17"/>
                  <a:gd name="T23" fmla="*/ 13 h 18"/>
                  <a:gd name="T24" fmla="*/ 14 w 17"/>
                  <a:gd name="T25" fmla="*/ 12 h 18"/>
                  <a:gd name="T26" fmla="*/ 15 w 17"/>
                  <a:gd name="T27" fmla="*/ 12 h 18"/>
                  <a:gd name="T28" fmla="*/ 17 w 17"/>
                  <a:gd name="T29" fmla="*/ 9 h 18"/>
                  <a:gd name="T30" fmla="*/ 14 w 17"/>
                  <a:gd name="T31"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8">
                    <a:moveTo>
                      <a:pt x="14" y="3"/>
                    </a:moveTo>
                    <a:lnTo>
                      <a:pt x="10" y="0"/>
                    </a:lnTo>
                    <a:lnTo>
                      <a:pt x="8" y="0"/>
                    </a:lnTo>
                    <a:lnTo>
                      <a:pt x="2" y="3"/>
                    </a:lnTo>
                    <a:lnTo>
                      <a:pt x="0" y="9"/>
                    </a:lnTo>
                    <a:lnTo>
                      <a:pt x="2" y="15"/>
                    </a:lnTo>
                    <a:lnTo>
                      <a:pt x="8" y="18"/>
                    </a:lnTo>
                    <a:lnTo>
                      <a:pt x="10" y="17"/>
                    </a:lnTo>
                    <a:lnTo>
                      <a:pt x="10" y="15"/>
                    </a:lnTo>
                    <a:lnTo>
                      <a:pt x="12" y="15"/>
                    </a:lnTo>
                    <a:lnTo>
                      <a:pt x="14" y="15"/>
                    </a:lnTo>
                    <a:lnTo>
                      <a:pt x="14" y="13"/>
                    </a:lnTo>
                    <a:lnTo>
                      <a:pt x="14" y="12"/>
                    </a:lnTo>
                    <a:lnTo>
                      <a:pt x="15" y="12"/>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64" name="Freeform 2232">
                <a:extLst>
                  <a:ext uri="{FF2B5EF4-FFF2-40B4-BE49-F238E27FC236}">
                    <a16:creationId xmlns:a16="http://schemas.microsoft.com/office/drawing/2014/main" id="{B4859D64-47A3-4AA0-127F-2DBF354A5A99}"/>
                  </a:ext>
                </a:extLst>
              </p:cNvPr>
              <p:cNvSpPr>
                <a:spLocks/>
              </p:cNvSpPr>
              <p:nvPr/>
            </p:nvSpPr>
            <p:spPr bwMode="auto">
              <a:xfrm>
                <a:off x="965" y="3880"/>
                <a:ext cx="4" cy="5"/>
              </a:xfrm>
              <a:custGeom>
                <a:avLst/>
                <a:gdLst>
                  <a:gd name="T0" fmla="*/ 14 w 17"/>
                  <a:gd name="T1" fmla="*/ 15 h 18"/>
                  <a:gd name="T2" fmla="*/ 14 w 17"/>
                  <a:gd name="T3" fmla="*/ 13 h 18"/>
                  <a:gd name="T4" fmla="*/ 14 w 17"/>
                  <a:gd name="T5" fmla="*/ 12 h 18"/>
                  <a:gd name="T6" fmla="*/ 15 w 17"/>
                  <a:gd name="T7" fmla="*/ 12 h 18"/>
                  <a:gd name="T8" fmla="*/ 17 w 17"/>
                  <a:gd name="T9" fmla="*/ 9 h 18"/>
                  <a:gd name="T10" fmla="*/ 14 w 17"/>
                  <a:gd name="T11" fmla="*/ 3 h 18"/>
                  <a:gd name="T12" fmla="*/ 9 w 17"/>
                  <a:gd name="T13" fmla="*/ 0 h 18"/>
                  <a:gd name="T14" fmla="*/ 3 w 17"/>
                  <a:gd name="T15" fmla="*/ 3 h 18"/>
                  <a:gd name="T16" fmla="*/ 0 w 17"/>
                  <a:gd name="T17" fmla="*/ 9 h 18"/>
                  <a:gd name="T18" fmla="*/ 0 w 17"/>
                  <a:gd name="T19" fmla="*/ 12 h 18"/>
                  <a:gd name="T20" fmla="*/ 3 w 17"/>
                  <a:gd name="T21" fmla="*/ 15 h 18"/>
                  <a:gd name="T22" fmla="*/ 9 w 17"/>
                  <a:gd name="T23" fmla="*/ 18 h 18"/>
                  <a:gd name="T24" fmla="*/ 14 w 17"/>
                  <a:gd name="T25"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8">
                    <a:moveTo>
                      <a:pt x="14" y="15"/>
                    </a:moveTo>
                    <a:lnTo>
                      <a:pt x="14" y="13"/>
                    </a:lnTo>
                    <a:lnTo>
                      <a:pt x="14" y="12"/>
                    </a:lnTo>
                    <a:lnTo>
                      <a:pt x="15" y="12"/>
                    </a:lnTo>
                    <a:lnTo>
                      <a:pt x="17" y="9"/>
                    </a:lnTo>
                    <a:lnTo>
                      <a:pt x="14" y="3"/>
                    </a:lnTo>
                    <a:lnTo>
                      <a:pt x="9" y="0"/>
                    </a:lnTo>
                    <a:lnTo>
                      <a:pt x="3" y="3"/>
                    </a:lnTo>
                    <a:lnTo>
                      <a:pt x="0" y="9"/>
                    </a:lnTo>
                    <a:lnTo>
                      <a:pt x="0" y="12"/>
                    </a:lnTo>
                    <a:lnTo>
                      <a:pt x="3" y="15"/>
                    </a:lnTo>
                    <a:lnTo>
                      <a:pt x="9" y="18"/>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65" name="Freeform 2233">
                <a:extLst>
                  <a:ext uri="{FF2B5EF4-FFF2-40B4-BE49-F238E27FC236}">
                    <a16:creationId xmlns:a16="http://schemas.microsoft.com/office/drawing/2014/main" id="{02841726-EE02-B995-2433-6826F4F5EB01}"/>
                  </a:ext>
                </a:extLst>
              </p:cNvPr>
              <p:cNvSpPr>
                <a:spLocks/>
              </p:cNvSpPr>
              <p:nvPr/>
            </p:nvSpPr>
            <p:spPr bwMode="auto">
              <a:xfrm>
                <a:off x="965" y="3887"/>
                <a:ext cx="4" cy="4"/>
              </a:xfrm>
              <a:custGeom>
                <a:avLst/>
                <a:gdLst>
                  <a:gd name="T0" fmla="*/ 17 w 17"/>
                  <a:gd name="T1" fmla="*/ 8 h 16"/>
                  <a:gd name="T2" fmla="*/ 14 w 17"/>
                  <a:gd name="T3" fmla="*/ 2 h 16"/>
                  <a:gd name="T4" fmla="*/ 9 w 17"/>
                  <a:gd name="T5" fmla="*/ 0 h 16"/>
                  <a:gd name="T6" fmla="*/ 3 w 17"/>
                  <a:gd name="T7" fmla="*/ 2 h 16"/>
                  <a:gd name="T8" fmla="*/ 0 w 17"/>
                  <a:gd name="T9" fmla="*/ 8 h 16"/>
                  <a:gd name="T10" fmla="*/ 3 w 17"/>
                  <a:gd name="T11" fmla="*/ 13 h 16"/>
                  <a:gd name="T12" fmla="*/ 9 w 17"/>
                  <a:gd name="T13" fmla="*/ 16 h 16"/>
                  <a:gd name="T14" fmla="*/ 14 w 17"/>
                  <a:gd name="T15" fmla="*/ 13 h 16"/>
                  <a:gd name="T16" fmla="*/ 17 w 17"/>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7" y="8"/>
                    </a:moveTo>
                    <a:lnTo>
                      <a:pt x="14" y="2"/>
                    </a:lnTo>
                    <a:lnTo>
                      <a:pt x="9" y="0"/>
                    </a:lnTo>
                    <a:lnTo>
                      <a:pt x="3" y="2"/>
                    </a:lnTo>
                    <a:lnTo>
                      <a:pt x="0" y="8"/>
                    </a:lnTo>
                    <a:lnTo>
                      <a:pt x="3" y="13"/>
                    </a:lnTo>
                    <a:lnTo>
                      <a:pt x="9" y="16"/>
                    </a:lnTo>
                    <a:lnTo>
                      <a:pt x="14" y="13"/>
                    </a:lnTo>
                    <a:lnTo>
                      <a:pt x="17" y="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66" name="Freeform 2234">
                <a:extLst>
                  <a:ext uri="{FF2B5EF4-FFF2-40B4-BE49-F238E27FC236}">
                    <a16:creationId xmlns:a16="http://schemas.microsoft.com/office/drawing/2014/main" id="{9D6EF95B-5AAF-B2E8-5EE7-15CE27BE06EA}"/>
                  </a:ext>
                </a:extLst>
              </p:cNvPr>
              <p:cNvSpPr>
                <a:spLocks/>
              </p:cNvSpPr>
              <p:nvPr/>
            </p:nvSpPr>
            <p:spPr bwMode="auto">
              <a:xfrm>
                <a:off x="972" y="3887"/>
                <a:ext cx="4" cy="4"/>
              </a:xfrm>
              <a:custGeom>
                <a:avLst/>
                <a:gdLst>
                  <a:gd name="T0" fmla="*/ 2 w 17"/>
                  <a:gd name="T1" fmla="*/ 2 h 16"/>
                  <a:gd name="T2" fmla="*/ 0 w 17"/>
                  <a:gd name="T3" fmla="*/ 8 h 16"/>
                  <a:gd name="T4" fmla="*/ 2 w 17"/>
                  <a:gd name="T5" fmla="*/ 13 h 16"/>
                  <a:gd name="T6" fmla="*/ 8 w 17"/>
                  <a:gd name="T7" fmla="*/ 16 h 16"/>
                  <a:gd name="T8" fmla="*/ 10 w 17"/>
                  <a:gd name="T9" fmla="*/ 14 h 16"/>
                  <a:gd name="T10" fmla="*/ 10 w 17"/>
                  <a:gd name="T11" fmla="*/ 13 h 16"/>
                  <a:gd name="T12" fmla="*/ 12 w 17"/>
                  <a:gd name="T13" fmla="*/ 13 h 16"/>
                  <a:gd name="T14" fmla="*/ 14 w 17"/>
                  <a:gd name="T15" fmla="*/ 13 h 16"/>
                  <a:gd name="T16" fmla="*/ 17 w 17"/>
                  <a:gd name="T17" fmla="*/ 8 h 16"/>
                  <a:gd name="T18" fmla="*/ 14 w 17"/>
                  <a:gd name="T19" fmla="*/ 2 h 16"/>
                  <a:gd name="T20" fmla="*/ 10 w 17"/>
                  <a:gd name="T21" fmla="*/ 0 h 16"/>
                  <a:gd name="T22" fmla="*/ 8 w 17"/>
                  <a:gd name="T23" fmla="*/ 0 h 16"/>
                  <a:gd name="T24" fmla="*/ 2 w 17"/>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2" y="2"/>
                    </a:moveTo>
                    <a:lnTo>
                      <a:pt x="0" y="8"/>
                    </a:lnTo>
                    <a:lnTo>
                      <a:pt x="2" y="13"/>
                    </a:lnTo>
                    <a:lnTo>
                      <a:pt x="8" y="16"/>
                    </a:lnTo>
                    <a:lnTo>
                      <a:pt x="10" y="14"/>
                    </a:lnTo>
                    <a:lnTo>
                      <a:pt x="10" y="13"/>
                    </a:lnTo>
                    <a:lnTo>
                      <a:pt x="12" y="13"/>
                    </a:lnTo>
                    <a:lnTo>
                      <a:pt x="14" y="13"/>
                    </a:lnTo>
                    <a:lnTo>
                      <a:pt x="17" y="8"/>
                    </a:lnTo>
                    <a:lnTo>
                      <a:pt x="14" y="2"/>
                    </a:lnTo>
                    <a:lnTo>
                      <a:pt x="10" y="0"/>
                    </a:lnTo>
                    <a:lnTo>
                      <a:pt x="8" y="0"/>
                    </a:lnTo>
                    <a:lnTo>
                      <a:pt x="2"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67" name="Freeform 2235">
                <a:extLst>
                  <a:ext uri="{FF2B5EF4-FFF2-40B4-BE49-F238E27FC236}">
                    <a16:creationId xmlns:a16="http://schemas.microsoft.com/office/drawing/2014/main" id="{5AA195F4-BCE3-5E05-143D-8416DFF372B1}"/>
                  </a:ext>
                </a:extLst>
              </p:cNvPr>
              <p:cNvSpPr>
                <a:spLocks/>
              </p:cNvSpPr>
              <p:nvPr/>
            </p:nvSpPr>
            <p:spPr bwMode="auto">
              <a:xfrm>
                <a:off x="959" y="3880"/>
                <a:ext cx="4" cy="5"/>
              </a:xfrm>
              <a:custGeom>
                <a:avLst/>
                <a:gdLst>
                  <a:gd name="T0" fmla="*/ 9 w 18"/>
                  <a:gd name="T1" fmla="*/ 18 h 18"/>
                  <a:gd name="T2" fmla="*/ 11 w 18"/>
                  <a:gd name="T3" fmla="*/ 17 h 18"/>
                  <a:gd name="T4" fmla="*/ 11 w 18"/>
                  <a:gd name="T5" fmla="*/ 15 h 18"/>
                  <a:gd name="T6" fmla="*/ 13 w 18"/>
                  <a:gd name="T7" fmla="*/ 15 h 18"/>
                  <a:gd name="T8" fmla="*/ 15 w 18"/>
                  <a:gd name="T9" fmla="*/ 15 h 18"/>
                  <a:gd name="T10" fmla="*/ 18 w 18"/>
                  <a:gd name="T11" fmla="*/ 9 h 18"/>
                  <a:gd name="T12" fmla="*/ 15 w 18"/>
                  <a:gd name="T13" fmla="*/ 3 h 18"/>
                  <a:gd name="T14" fmla="*/ 11 w 18"/>
                  <a:gd name="T15" fmla="*/ 0 h 18"/>
                  <a:gd name="T16" fmla="*/ 9 w 18"/>
                  <a:gd name="T17" fmla="*/ 0 h 18"/>
                  <a:gd name="T18" fmla="*/ 3 w 18"/>
                  <a:gd name="T19" fmla="*/ 3 h 18"/>
                  <a:gd name="T20" fmla="*/ 2 w 18"/>
                  <a:gd name="T21" fmla="*/ 9 h 18"/>
                  <a:gd name="T22" fmla="*/ 0 w 18"/>
                  <a:gd name="T23" fmla="*/ 12 h 18"/>
                  <a:gd name="T24" fmla="*/ 3 w 18"/>
                  <a:gd name="T25" fmla="*/ 15 h 18"/>
                  <a:gd name="T26" fmla="*/ 9 w 18"/>
                  <a:gd name="T2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18">
                    <a:moveTo>
                      <a:pt x="9" y="18"/>
                    </a:moveTo>
                    <a:lnTo>
                      <a:pt x="11" y="17"/>
                    </a:lnTo>
                    <a:lnTo>
                      <a:pt x="11" y="15"/>
                    </a:lnTo>
                    <a:lnTo>
                      <a:pt x="13" y="15"/>
                    </a:lnTo>
                    <a:lnTo>
                      <a:pt x="15" y="15"/>
                    </a:lnTo>
                    <a:lnTo>
                      <a:pt x="18" y="9"/>
                    </a:lnTo>
                    <a:lnTo>
                      <a:pt x="15" y="3"/>
                    </a:lnTo>
                    <a:lnTo>
                      <a:pt x="11" y="0"/>
                    </a:lnTo>
                    <a:lnTo>
                      <a:pt x="9" y="0"/>
                    </a:lnTo>
                    <a:lnTo>
                      <a:pt x="3" y="3"/>
                    </a:lnTo>
                    <a:lnTo>
                      <a:pt x="2" y="9"/>
                    </a:lnTo>
                    <a:lnTo>
                      <a:pt x="0" y="12"/>
                    </a:lnTo>
                    <a:lnTo>
                      <a:pt x="3" y="15"/>
                    </a:lnTo>
                    <a:lnTo>
                      <a:pt x="9" y="1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68" name="Freeform 2236">
                <a:extLst>
                  <a:ext uri="{FF2B5EF4-FFF2-40B4-BE49-F238E27FC236}">
                    <a16:creationId xmlns:a16="http://schemas.microsoft.com/office/drawing/2014/main" id="{6483AB17-F55C-5E5A-14FC-BE5B1D42BACB}"/>
                  </a:ext>
                </a:extLst>
              </p:cNvPr>
              <p:cNvSpPr>
                <a:spLocks/>
              </p:cNvSpPr>
              <p:nvPr/>
            </p:nvSpPr>
            <p:spPr bwMode="auto">
              <a:xfrm>
                <a:off x="959" y="3887"/>
                <a:ext cx="4" cy="4"/>
              </a:xfrm>
              <a:custGeom>
                <a:avLst/>
                <a:gdLst>
                  <a:gd name="T0" fmla="*/ 13 w 16"/>
                  <a:gd name="T1" fmla="*/ 2 h 16"/>
                  <a:gd name="T2" fmla="*/ 9 w 16"/>
                  <a:gd name="T3" fmla="*/ 0 h 16"/>
                  <a:gd name="T4" fmla="*/ 7 w 16"/>
                  <a:gd name="T5" fmla="*/ 0 h 16"/>
                  <a:gd name="T6" fmla="*/ 1 w 16"/>
                  <a:gd name="T7" fmla="*/ 2 h 16"/>
                  <a:gd name="T8" fmla="*/ 0 w 16"/>
                  <a:gd name="T9" fmla="*/ 8 h 16"/>
                  <a:gd name="T10" fmla="*/ 1 w 16"/>
                  <a:gd name="T11" fmla="*/ 13 h 16"/>
                  <a:gd name="T12" fmla="*/ 7 w 16"/>
                  <a:gd name="T13" fmla="*/ 16 h 16"/>
                  <a:gd name="T14" fmla="*/ 9 w 16"/>
                  <a:gd name="T15" fmla="*/ 14 h 16"/>
                  <a:gd name="T16" fmla="*/ 9 w 16"/>
                  <a:gd name="T17" fmla="*/ 13 h 16"/>
                  <a:gd name="T18" fmla="*/ 11 w 16"/>
                  <a:gd name="T19" fmla="*/ 13 h 16"/>
                  <a:gd name="T20" fmla="*/ 13 w 16"/>
                  <a:gd name="T21" fmla="*/ 13 h 16"/>
                  <a:gd name="T22" fmla="*/ 16 w 16"/>
                  <a:gd name="T23" fmla="*/ 8 h 16"/>
                  <a:gd name="T24" fmla="*/ 13 w 16"/>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6">
                    <a:moveTo>
                      <a:pt x="13" y="2"/>
                    </a:moveTo>
                    <a:lnTo>
                      <a:pt x="9" y="0"/>
                    </a:lnTo>
                    <a:lnTo>
                      <a:pt x="7" y="0"/>
                    </a:lnTo>
                    <a:lnTo>
                      <a:pt x="1" y="2"/>
                    </a:lnTo>
                    <a:lnTo>
                      <a:pt x="0" y="8"/>
                    </a:lnTo>
                    <a:lnTo>
                      <a:pt x="1" y="13"/>
                    </a:lnTo>
                    <a:lnTo>
                      <a:pt x="7" y="16"/>
                    </a:lnTo>
                    <a:lnTo>
                      <a:pt x="9" y="14"/>
                    </a:lnTo>
                    <a:lnTo>
                      <a:pt x="9" y="13"/>
                    </a:lnTo>
                    <a:lnTo>
                      <a:pt x="11" y="13"/>
                    </a:lnTo>
                    <a:lnTo>
                      <a:pt x="13" y="13"/>
                    </a:lnTo>
                    <a:lnTo>
                      <a:pt x="16" y="8"/>
                    </a:lnTo>
                    <a:lnTo>
                      <a:pt x="13"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69" name="Freeform 2237">
                <a:extLst>
                  <a:ext uri="{FF2B5EF4-FFF2-40B4-BE49-F238E27FC236}">
                    <a16:creationId xmlns:a16="http://schemas.microsoft.com/office/drawing/2014/main" id="{65C46ABD-2ADA-2E68-0959-DD2E3ECB9204}"/>
                  </a:ext>
                </a:extLst>
              </p:cNvPr>
              <p:cNvSpPr>
                <a:spLocks/>
              </p:cNvSpPr>
              <p:nvPr/>
            </p:nvSpPr>
            <p:spPr bwMode="auto">
              <a:xfrm>
                <a:off x="965" y="3893"/>
                <a:ext cx="4" cy="4"/>
              </a:xfrm>
              <a:custGeom>
                <a:avLst/>
                <a:gdLst>
                  <a:gd name="T0" fmla="*/ 9 w 17"/>
                  <a:gd name="T1" fmla="*/ 0 h 18"/>
                  <a:gd name="T2" fmla="*/ 3 w 17"/>
                  <a:gd name="T3" fmla="*/ 3 h 18"/>
                  <a:gd name="T4" fmla="*/ 0 w 17"/>
                  <a:gd name="T5" fmla="*/ 9 h 18"/>
                  <a:gd name="T6" fmla="*/ 0 w 17"/>
                  <a:gd name="T7" fmla="*/ 12 h 18"/>
                  <a:gd name="T8" fmla="*/ 3 w 17"/>
                  <a:gd name="T9" fmla="*/ 15 h 18"/>
                  <a:gd name="T10" fmla="*/ 9 w 17"/>
                  <a:gd name="T11" fmla="*/ 18 h 18"/>
                  <a:gd name="T12" fmla="*/ 14 w 17"/>
                  <a:gd name="T13" fmla="*/ 15 h 18"/>
                  <a:gd name="T14" fmla="*/ 14 w 17"/>
                  <a:gd name="T15" fmla="*/ 13 h 18"/>
                  <a:gd name="T16" fmla="*/ 14 w 17"/>
                  <a:gd name="T17" fmla="*/ 12 h 18"/>
                  <a:gd name="T18" fmla="*/ 15 w 17"/>
                  <a:gd name="T19" fmla="*/ 12 h 18"/>
                  <a:gd name="T20" fmla="*/ 17 w 17"/>
                  <a:gd name="T21" fmla="*/ 9 h 18"/>
                  <a:gd name="T22" fmla="*/ 14 w 17"/>
                  <a:gd name="T23" fmla="*/ 3 h 18"/>
                  <a:gd name="T24" fmla="*/ 9 w 17"/>
                  <a:gd name="T25"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8">
                    <a:moveTo>
                      <a:pt x="9" y="0"/>
                    </a:moveTo>
                    <a:lnTo>
                      <a:pt x="3" y="3"/>
                    </a:lnTo>
                    <a:lnTo>
                      <a:pt x="0" y="9"/>
                    </a:lnTo>
                    <a:lnTo>
                      <a:pt x="0" y="12"/>
                    </a:lnTo>
                    <a:lnTo>
                      <a:pt x="3" y="15"/>
                    </a:lnTo>
                    <a:lnTo>
                      <a:pt x="9" y="18"/>
                    </a:lnTo>
                    <a:lnTo>
                      <a:pt x="14" y="15"/>
                    </a:lnTo>
                    <a:lnTo>
                      <a:pt x="14" y="13"/>
                    </a:lnTo>
                    <a:lnTo>
                      <a:pt x="14" y="12"/>
                    </a:lnTo>
                    <a:lnTo>
                      <a:pt x="15" y="12"/>
                    </a:lnTo>
                    <a:lnTo>
                      <a:pt x="17" y="9"/>
                    </a:lnTo>
                    <a:lnTo>
                      <a:pt x="14" y="3"/>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70" name="Freeform 2238">
                <a:extLst>
                  <a:ext uri="{FF2B5EF4-FFF2-40B4-BE49-F238E27FC236}">
                    <a16:creationId xmlns:a16="http://schemas.microsoft.com/office/drawing/2014/main" id="{33398E58-3A4A-2205-1150-D9BE535C3A3C}"/>
                  </a:ext>
                </a:extLst>
              </p:cNvPr>
              <p:cNvSpPr>
                <a:spLocks/>
              </p:cNvSpPr>
              <p:nvPr/>
            </p:nvSpPr>
            <p:spPr bwMode="auto">
              <a:xfrm>
                <a:off x="959" y="3893"/>
                <a:ext cx="4" cy="4"/>
              </a:xfrm>
              <a:custGeom>
                <a:avLst/>
                <a:gdLst>
                  <a:gd name="T0" fmla="*/ 15 w 18"/>
                  <a:gd name="T1" fmla="*/ 3 h 18"/>
                  <a:gd name="T2" fmla="*/ 11 w 18"/>
                  <a:gd name="T3" fmla="*/ 0 h 18"/>
                  <a:gd name="T4" fmla="*/ 9 w 18"/>
                  <a:gd name="T5" fmla="*/ 0 h 18"/>
                  <a:gd name="T6" fmla="*/ 3 w 18"/>
                  <a:gd name="T7" fmla="*/ 3 h 18"/>
                  <a:gd name="T8" fmla="*/ 2 w 18"/>
                  <a:gd name="T9" fmla="*/ 9 h 18"/>
                  <a:gd name="T10" fmla="*/ 0 w 18"/>
                  <a:gd name="T11" fmla="*/ 12 h 18"/>
                  <a:gd name="T12" fmla="*/ 3 w 18"/>
                  <a:gd name="T13" fmla="*/ 15 h 18"/>
                  <a:gd name="T14" fmla="*/ 9 w 18"/>
                  <a:gd name="T15" fmla="*/ 18 h 18"/>
                  <a:gd name="T16" fmla="*/ 11 w 18"/>
                  <a:gd name="T17" fmla="*/ 17 h 18"/>
                  <a:gd name="T18" fmla="*/ 11 w 18"/>
                  <a:gd name="T19" fmla="*/ 15 h 18"/>
                  <a:gd name="T20" fmla="*/ 13 w 18"/>
                  <a:gd name="T21" fmla="*/ 15 h 18"/>
                  <a:gd name="T22" fmla="*/ 15 w 18"/>
                  <a:gd name="T23" fmla="*/ 15 h 18"/>
                  <a:gd name="T24" fmla="*/ 18 w 18"/>
                  <a:gd name="T25" fmla="*/ 9 h 18"/>
                  <a:gd name="T26" fmla="*/ 15 w 18"/>
                  <a:gd name="T2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18">
                    <a:moveTo>
                      <a:pt x="15" y="3"/>
                    </a:moveTo>
                    <a:lnTo>
                      <a:pt x="11" y="0"/>
                    </a:lnTo>
                    <a:lnTo>
                      <a:pt x="9" y="0"/>
                    </a:lnTo>
                    <a:lnTo>
                      <a:pt x="3" y="3"/>
                    </a:lnTo>
                    <a:lnTo>
                      <a:pt x="2" y="9"/>
                    </a:lnTo>
                    <a:lnTo>
                      <a:pt x="0" y="12"/>
                    </a:lnTo>
                    <a:lnTo>
                      <a:pt x="3" y="15"/>
                    </a:lnTo>
                    <a:lnTo>
                      <a:pt x="9" y="18"/>
                    </a:lnTo>
                    <a:lnTo>
                      <a:pt x="11" y="17"/>
                    </a:lnTo>
                    <a:lnTo>
                      <a:pt x="11" y="15"/>
                    </a:lnTo>
                    <a:lnTo>
                      <a:pt x="13" y="15"/>
                    </a:lnTo>
                    <a:lnTo>
                      <a:pt x="15" y="15"/>
                    </a:lnTo>
                    <a:lnTo>
                      <a:pt x="18" y="9"/>
                    </a:lnTo>
                    <a:lnTo>
                      <a:pt x="15"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71" name="Freeform 2239">
                <a:extLst>
                  <a:ext uri="{FF2B5EF4-FFF2-40B4-BE49-F238E27FC236}">
                    <a16:creationId xmlns:a16="http://schemas.microsoft.com/office/drawing/2014/main" id="{D4822DC5-FA64-D07B-A564-4FCA571F574C}"/>
                  </a:ext>
                </a:extLst>
              </p:cNvPr>
              <p:cNvSpPr>
                <a:spLocks/>
              </p:cNvSpPr>
              <p:nvPr/>
            </p:nvSpPr>
            <p:spPr bwMode="auto">
              <a:xfrm>
                <a:off x="972" y="3893"/>
                <a:ext cx="4" cy="4"/>
              </a:xfrm>
              <a:custGeom>
                <a:avLst/>
                <a:gdLst>
                  <a:gd name="T0" fmla="*/ 8 w 17"/>
                  <a:gd name="T1" fmla="*/ 0 h 18"/>
                  <a:gd name="T2" fmla="*/ 2 w 17"/>
                  <a:gd name="T3" fmla="*/ 3 h 18"/>
                  <a:gd name="T4" fmla="*/ 0 w 17"/>
                  <a:gd name="T5" fmla="*/ 9 h 18"/>
                  <a:gd name="T6" fmla="*/ 2 w 17"/>
                  <a:gd name="T7" fmla="*/ 15 h 18"/>
                  <a:gd name="T8" fmla="*/ 8 w 17"/>
                  <a:gd name="T9" fmla="*/ 18 h 18"/>
                  <a:gd name="T10" fmla="*/ 10 w 17"/>
                  <a:gd name="T11" fmla="*/ 17 h 18"/>
                  <a:gd name="T12" fmla="*/ 10 w 17"/>
                  <a:gd name="T13" fmla="*/ 15 h 18"/>
                  <a:gd name="T14" fmla="*/ 12 w 17"/>
                  <a:gd name="T15" fmla="*/ 15 h 18"/>
                  <a:gd name="T16" fmla="*/ 14 w 17"/>
                  <a:gd name="T17" fmla="*/ 15 h 18"/>
                  <a:gd name="T18" fmla="*/ 14 w 17"/>
                  <a:gd name="T19" fmla="*/ 13 h 18"/>
                  <a:gd name="T20" fmla="*/ 14 w 17"/>
                  <a:gd name="T21" fmla="*/ 12 h 18"/>
                  <a:gd name="T22" fmla="*/ 15 w 17"/>
                  <a:gd name="T23" fmla="*/ 12 h 18"/>
                  <a:gd name="T24" fmla="*/ 17 w 17"/>
                  <a:gd name="T25" fmla="*/ 9 h 18"/>
                  <a:gd name="T26" fmla="*/ 14 w 17"/>
                  <a:gd name="T27" fmla="*/ 3 h 18"/>
                  <a:gd name="T28" fmla="*/ 10 w 17"/>
                  <a:gd name="T29" fmla="*/ 0 h 18"/>
                  <a:gd name="T30" fmla="*/ 8 w 17"/>
                  <a:gd name="T31"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8">
                    <a:moveTo>
                      <a:pt x="8" y="0"/>
                    </a:moveTo>
                    <a:lnTo>
                      <a:pt x="2" y="3"/>
                    </a:lnTo>
                    <a:lnTo>
                      <a:pt x="0" y="9"/>
                    </a:lnTo>
                    <a:lnTo>
                      <a:pt x="2" y="15"/>
                    </a:lnTo>
                    <a:lnTo>
                      <a:pt x="8" y="18"/>
                    </a:lnTo>
                    <a:lnTo>
                      <a:pt x="10" y="17"/>
                    </a:lnTo>
                    <a:lnTo>
                      <a:pt x="10" y="15"/>
                    </a:lnTo>
                    <a:lnTo>
                      <a:pt x="12" y="15"/>
                    </a:lnTo>
                    <a:lnTo>
                      <a:pt x="14" y="15"/>
                    </a:lnTo>
                    <a:lnTo>
                      <a:pt x="14" y="13"/>
                    </a:lnTo>
                    <a:lnTo>
                      <a:pt x="14" y="12"/>
                    </a:lnTo>
                    <a:lnTo>
                      <a:pt x="15" y="12"/>
                    </a:lnTo>
                    <a:lnTo>
                      <a:pt x="17" y="9"/>
                    </a:lnTo>
                    <a:lnTo>
                      <a:pt x="14" y="3"/>
                    </a:lnTo>
                    <a:lnTo>
                      <a:pt x="10" y="0"/>
                    </a:lnTo>
                    <a:lnTo>
                      <a:pt x="8"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72" name="Freeform 2240">
                <a:extLst>
                  <a:ext uri="{FF2B5EF4-FFF2-40B4-BE49-F238E27FC236}">
                    <a16:creationId xmlns:a16="http://schemas.microsoft.com/office/drawing/2014/main" id="{0630ECAE-7ABF-A03B-1A4A-37D1BFE51CC5}"/>
                  </a:ext>
                </a:extLst>
              </p:cNvPr>
              <p:cNvSpPr>
                <a:spLocks/>
              </p:cNvSpPr>
              <p:nvPr/>
            </p:nvSpPr>
            <p:spPr bwMode="auto">
              <a:xfrm>
                <a:off x="978" y="3880"/>
                <a:ext cx="4" cy="5"/>
              </a:xfrm>
              <a:custGeom>
                <a:avLst/>
                <a:gdLst>
                  <a:gd name="T0" fmla="*/ 14 w 16"/>
                  <a:gd name="T1" fmla="*/ 15 h 18"/>
                  <a:gd name="T2" fmla="*/ 14 w 16"/>
                  <a:gd name="T3" fmla="*/ 13 h 18"/>
                  <a:gd name="T4" fmla="*/ 14 w 16"/>
                  <a:gd name="T5" fmla="*/ 12 h 18"/>
                  <a:gd name="T6" fmla="*/ 15 w 16"/>
                  <a:gd name="T7" fmla="*/ 12 h 18"/>
                  <a:gd name="T8" fmla="*/ 16 w 16"/>
                  <a:gd name="T9" fmla="*/ 9 h 18"/>
                  <a:gd name="T10" fmla="*/ 14 w 16"/>
                  <a:gd name="T11" fmla="*/ 3 h 18"/>
                  <a:gd name="T12" fmla="*/ 9 w 16"/>
                  <a:gd name="T13" fmla="*/ 0 h 18"/>
                  <a:gd name="T14" fmla="*/ 3 w 16"/>
                  <a:gd name="T15" fmla="*/ 3 h 18"/>
                  <a:gd name="T16" fmla="*/ 0 w 16"/>
                  <a:gd name="T17" fmla="*/ 9 h 18"/>
                  <a:gd name="T18" fmla="*/ 0 w 16"/>
                  <a:gd name="T19" fmla="*/ 12 h 18"/>
                  <a:gd name="T20" fmla="*/ 3 w 16"/>
                  <a:gd name="T21" fmla="*/ 15 h 18"/>
                  <a:gd name="T22" fmla="*/ 9 w 16"/>
                  <a:gd name="T23" fmla="*/ 18 h 18"/>
                  <a:gd name="T24" fmla="*/ 14 w 16"/>
                  <a:gd name="T25"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8">
                    <a:moveTo>
                      <a:pt x="14" y="15"/>
                    </a:moveTo>
                    <a:lnTo>
                      <a:pt x="14" y="13"/>
                    </a:lnTo>
                    <a:lnTo>
                      <a:pt x="14" y="12"/>
                    </a:lnTo>
                    <a:lnTo>
                      <a:pt x="15" y="12"/>
                    </a:lnTo>
                    <a:lnTo>
                      <a:pt x="16" y="9"/>
                    </a:lnTo>
                    <a:lnTo>
                      <a:pt x="14" y="3"/>
                    </a:lnTo>
                    <a:lnTo>
                      <a:pt x="9" y="0"/>
                    </a:lnTo>
                    <a:lnTo>
                      <a:pt x="3" y="3"/>
                    </a:lnTo>
                    <a:lnTo>
                      <a:pt x="0" y="9"/>
                    </a:lnTo>
                    <a:lnTo>
                      <a:pt x="0" y="12"/>
                    </a:lnTo>
                    <a:lnTo>
                      <a:pt x="3" y="15"/>
                    </a:lnTo>
                    <a:lnTo>
                      <a:pt x="9" y="18"/>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73" name="Freeform 2241">
                <a:extLst>
                  <a:ext uri="{FF2B5EF4-FFF2-40B4-BE49-F238E27FC236}">
                    <a16:creationId xmlns:a16="http://schemas.microsoft.com/office/drawing/2014/main" id="{75DFC6E8-3246-D61D-4CD1-17072C77E1AC}"/>
                  </a:ext>
                </a:extLst>
              </p:cNvPr>
              <p:cNvSpPr>
                <a:spLocks/>
              </p:cNvSpPr>
              <p:nvPr/>
            </p:nvSpPr>
            <p:spPr bwMode="auto">
              <a:xfrm>
                <a:off x="978" y="3887"/>
                <a:ext cx="4" cy="4"/>
              </a:xfrm>
              <a:custGeom>
                <a:avLst/>
                <a:gdLst>
                  <a:gd name="T0" fmla="*/ 3 w 16"/>
                  <a:gd name="T1" fmla="*/ 2 h 16"/>
                  <a:gd name="T2" fmla="*/ 0 w 16"/>
                  <a:gd name="T3" fmla="*/ 8 h 16"/>
                  <a:gd name="T4" fmla="*/ 3 w 16"/>
                  <a:gd name="T5" fmla="*/ 13 h 16"/>
                  <a:gd name="T6" fmla="*/ 9 w 16"/>
                  <a:gd name="T7" fmla="*/ 16 h 16"/>
                  <a:gd name="T8" fmla="*/ 14 w 16"/>
                  <a:gd name="T9" fmla="*/ 13 h 16"/>
                  <a:gd name="T10" fmla="*/ 16 w 16"/>
                  <a:gd name="T11" fmla="*/ 8 h 16"/>
                  <a:gd name="T12" fmla="*/ 14 w 16"/>
                  <a:gd name="T13" fmla="*/ 2 h 16"/>
                  <a:gd name="T14" fmla="*/ 9 w 16"/>
                  <a:gd name="T15" fmla="*/ 0 h 16"/>
                  <a:gd name="T16" fmla="*/ 3 w 16"/>
                  <a:gd name="T17"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3" y="2"/>
                    </a:moveTo>
                    <a:lnTo>
                      <a:pt x="0" y="8"/>
                    </a:lnTo>
                    <a:lnTo>
                      <a:pt x="3" y="13"/>
                    </a:lnTo>
                    <a:lnTo>
                      <a:pt x="9" y="16"/>
                    </a:lnTo>
                    <a:lnTo>
                      <a:pt x="14" y="13"/>
                    </a:lnTo>
                    <a:lnTo>
                      <a:pt x="16" y="8"/>
                    </a:lnTo>
                    <a:lnTo>
                      <a:pt x="14" y="2"/>
                    </a:lnTo>
                    <a:lnTo>
                      <a:pt x="9" y="0"/>
                    </a:lnTo>
                    <a:lnTo>
                      <a:pt x="3"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74" name="Freeform 2242">
                <a:extLst>
                  <a:ext uri="{FF2B5EF4-FFF2-40B4-BE49-F238E27FC236}">
                    <a16:creationId xmlns:a16="http://schemas.microsoft.com/office/drawing/2014/main" id="{0F59B43C-27FB-0F27-45F6-4E7C7170EFF3}"/>
                  </a:ext>
                </a:extLst>
              </p:cNvPr>
              <p:cNvSpPr>
                <a:spLocks/>
              </p:cNvSpPr>
              <p:nvPr/>
            </p:nvSpPr>
            <p:spPr bwMode="auto">
              <a:xfrm>
                <a:off x="978" y="3893"/>
                <a:ext cx="4" cy="4"/>
              </a:xfrm>
              <a:custGeom>
                <a:avLst/>
                <a:gdLst>
                  <a:gd name="T0" fmla="*/ 14 w 16"/>
                  <a:gd name="T1" fmla="*/ 3 h 18"/>
                  <a:gd name="T2" fmla="*/ 9 w 16"/>
                  <a:gd name="T3" fmla="*/ 0 h 18"/>
                  <a:gd name="T4" fmla="*/ 3 w 16"/>
                  <a:gd name="T5" fmla="*/ 3 h 18"/>
                  <a:gd name="T6" fmla="*/ 0 w 16"/>
                  <a:gd name="T7" fmla="*/ 9 h 18"/>
                  <a:gd name="T8" fmla="*/ 0 w 16"/>
                  <a:gd name="T9" fmla="*/ 12 h 18"/>
                  <a:gd name="T10" fmla="*/ 3 w 16"/>
                  <a:gd name="T11" fmla="*/ 15 h 18"/>
                  <a:gd name="T12" fmla="*/ 9 w 16"/>
                  <a:gd name="T13" fmla="*/ 18 h 18"/>
                  <a:gd name="T14" fmla="*/ 14 w 16"/>
                  <a:gd name="T15" fmla="*/ 15 h 18"/>
                  <a:gd name="T16" fmla="*/ 14 w 16"/>
                  <a:gd name="T17" fmla="*/ 13 h 18"/>
                  <a:gd name="T18" fmla="*/ 14 w 16"/>
                  <a:gd name="T19" fmla="*/ 12 h 18"/>
                  <a:gd name="T20" fmla="*/ 15 w 16"/>
                  <a:gd name="T21" fmla="*/ 12 h 18"/>
                  <a:gd name="T22" fmla="*/ 16 w 16"/>
                  <a:gd name="T23" fmla="*/ 9 h 18"/>
                  <a:gd name="T24" fmla="*/ 14 w 16"/>
                  <a:gd name="T25"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8">
                    <a:moveTo>
                      <a:pt x="14" y="3"/>
                    </a:moveTo>
                    <a:lnTo>
                      <a:pt x="9" y="0"/>
                    </a:lnTo>
                    <a:lnTo>
                      <a:pt x="3" y="3"/>
                    </a:lnTo>
                    <a:lnTo>
                      <a:pt x="0" y="9"/>
                    </a:lnTo>
                    <a:lnTo>
                      <a:pt x="0" y="12"/>
                    </a:lnTo>
                    <a:lnTo>
                      <a:pt x="3" y="15"/>
                    </a:lnTo>
                    <a:lnTo>
                      <a:pt x="9" y="18"/>
                    </a:lnTo>
                    <a:lnTo>
                      <a:pt x="14" y="15"/>
                    </a:lnTo>
                    <a:lnTo>
                      <a:pt x="14" y="13"/>
                    </a:lnTo>
                    <a:lnTo>
                      <a:pt x="14" y="12"/>
                    </a:lnTo>
                    <a:lnTo>
                      <a:pt x="15" y="12"/>
                    </a:lnTo>
                    <a:lnTo>
                      <a:pt x="16"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75" name="Freeform 2243">
                <a:extLst>
                  <a:ext uri="{FF2B5EF4-FFF2-40B4-BE49-F238E27FC236}">
                    <a16:creationId xmlns:a16="http://schemas.microsoft.com/office/drawing/2014/main" id="{183856C5-0085-2231-BB12-64103C60D79B}"/>
                  </a:ext>
                </a:extLst>
              </p:cNvPr>
              <p:cNvSpPr>
                <a:spLocks/>
              </p:cNvSpPr>
              <p:nvPr/>
            </p:nvSpPr>
            <p:spPr bwMode="auto">
              <a:xfrm>
                <a:off x="940" y="3880"/>
                <a:ext cx="4" cy="5"/>
              </a:xfrm>
              <a:custGeom>
                <a:avLst/>
                <a:gdLst>
                  <a:gd name="T0" fmla="*/ 14 w 17"/>
                  <a:gd name="T1" fmla="*/ 15 h 18"/>
                  <a:gd name="T2" fmla="*/ 14 w 17"/>
                  <a:gd name="T3" fmla="*/ 13 h 18"/>
                  <a:gd name="T4" fmla="*/ 14 w 17"/>
                  <a:gd name="T5" fmla="*/ 12 h 18"/>
                  <a:gd name="T6" fmla="*/ 15 w 17"/>
                  <a:gd name="T7" fmla="*/ 12 h 18"/>
                  <a:gd name="T8" fmla="*/ 17 w 17"/>
                  <a:gd name="T9" fmla="*/ 9 h 18"/>
                  <a:gd name="T10" fmla="*/ 14 w 17"/>
                  <a:gd name="T11" fmla="*/ 3 h 18"/>
                  <a:gd name="T12" fmla="*/ 10 w 17"/>
                  <a:gd name="T13" fmla="*/ 0 h 18"/>
                  <a:gd name="T14" fmla="*/ 8 w 17"/>
                  <a:gd name="T15" fmla="*/ 0 h 18"/>
                  <a:gd name="T16" fmla="*/ 3 w 17"/>
                  <a:gd name="T17" fmla="*/ 3 h 18"/>
                  <a:gd name="T18" fmla="*/ 0 w 17"/>
                  <a:gd name="T19" fmla="*/ 9 h 18"/>
                  <a:gd name="T20" fmla="*/ 0 w 17"/>
                  <a:gd name="T21" fmla="*/ 12 h 18"/>
                  <a:gd name="T22" fmla="*/ 3 w 17"/>
                  <a:gd name="T23" fmla="*/ 15 h 18"/>
                  <a:gd name="T24" fmla="*/ 8 w 17"/>
                  <a:gd name="T25" fmla="*/ 18 h 18"/>
                  <a:gd name="T26" fmla="*/ 10 w 17"/>
                  <a:gd name="T27" fmla="*/ 17 h 18"/>
                  <a:gd name="T28" fmla="*/ 10 w 17"/>
                  <a:gd name="T29" fmla="*/ 15 h 18"/>
                  <a:gd name="T30" fmla="*/ 12 w 17"/>
                  <a:gd name="T31" fmla="*/ 15 h 18"/>
                  <a:gd name="T32" fmla="*/ 14 w 17"/>
                  <a:gd name="T33"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18">
                    <a:moveTo>
                      <a:pt x="14" y="15"/>
                    </a:moveTo>
                    <a:lnTo>
                      <a:pt x="14" y="13"/>
                    </a:lnTo>
                    <a:lnTo>
                      <a:pt x="14" y="12"/>
                    </a:lnTo>
                    <a:lnTo>
                      <a:pt x="15" y="12"/>
                    </a:lnTo>
                    <a:lnTo>
                      <a:pt x="17" y="9"/>
                    </a:lnTo>
                    <a:lnTo>
                      <a:pt x="14" y="3"/>
                    </a:lnTo>
                    <a:lnTo>
                      <a:pt x="10" y="0"/>
                    </a:lnTo>
                    <a:lnTo>
                      <a:pt x="8" y="0"/>
                    </a:lnTo>
                    <a:lnTo>
                      <a:pt x="3" y="3"/>
                    </a:lnTo>
                    <a:lnTo>
                      <a:pt x="0" y="9"/>
                    </a:lnTo>
                    <a:lnTo>
                      <a:pt x="0" y="12"/>
                    </a:lnTo>
                    <a:lnTo>
                      <a:pt x="3" y="15"/>
                    </a:lnTo>
                    <a:lnTo>
                      <a:pt x="8" y="18"/>
                    </a:lnTo>
                    <a:lnTo>
                      <a:pt x="10" y="17"/>
                    </a:lnTo>
                    <a:lnTo>
                      <a:pt x="10" y="15"/>
                    </a:lnTo>
                    <a:lnTo>
                      <a:pt x="12" y="15"/>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76" name="Freeform 2244">
                <a:extLst>
                  <a:ext uri="{FF2B5EF4-FFF2-40B4-BE49-F238E27FC236}">
                    <a16:creationId xmlns:a16="http://schemas.microsoft.com/office/drawing/2014/main" id="{0A3F80CD-31C1-79B4-1FFD-D4FEE48D360F}"/>
                  </a:ext>
                </a:extLst>
              </p:cNvPr>
              <p:cNvSpPr>
                <a:spLocks/>
              </p:cNvSpPr>
              <p:nvPr/>
            </p:nvSpPr>
            <p:spPr bwMode="auto">
              <a:xfrm>
                <a:off x="940" y="3887"/>
                <a:ext cx="4" cy="4"/>
              </a:xfrm>
              <a:custGeom>
                <a:avLst/>
                <a:gdLst>
                  <a:gd name="T0" fmla="*/ 3 w 17"/>
                  <a:gd name="T1" fmla="*/ 2 h 16"/>
                  <a:gd name="T2" fmla="*/ 0 w 17"/>
                  <a:gd name="T3" fmla="*/ 8 h 16"/>
                  <a:gd name="T4" fmla="*/ 3 w 17"/>
                  <a:gd name="T5" fmla="*/ 13 h 16"/>
                  <a:gd name="T6" fmla="*/ 8 w 17"/>
                  <a:gd name="T7" fmla="*/ 16 h 16"/>
                  <a:gd name="T8" fmla="*/ 10 w 17"/>
                  <a:gd name="T9" fmla="*/ 14 h 16"/>
                  <a:gd name="T10" fmla="*/ 10 w 17"/>
                  <a:gd name="T11" fmla="*/ 13 h 16"/>
                  <a:gd name="T12" fmla="*/ 12 w 17"/>
                  <a:gd name="T13" fmla="*/ 13 h 16"/>
                  <a:gd name="T14" fmla="*/ 14 w 17"/>
                  <a:gd name="T15" fmla="*/ 13 h 16"/>
                  <a:gd name="T16" fmla="*/ 17 w 17"/>
                  <a:gd name="T17" fmla="*/ 8 h 16"/>
                  <a:gd name="T18" fmla="*/ 14 w 17"/>
                  <a:gd name="T19" fmla="*/ 2 h 16"/>
                  <a:gd name="T20" fmla="*/ 10 w 17"/>
                  <a:gd name="T21" fmla="*/ 0 h 16"/>
                  <a:gd name="T22" fmla="*/ 8 w 17"/>
                  <a:gd name="T23" fmla="*/ 0 h 16"/>
                  <a:gd name="T24" fmla="*/ 3 w 17"/>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3" y="2"/>
                    </a:moveTo>
                    <a:lnTo>
                      <a:pt x="0" y="8"/>
                    </a:lnTo>
                    <a:lnTo>
                      <a:pt x="3" y="13"/>
                    </a:lnTo>
                    <a:lnTo>
                      <a:pt x="8" y="16"/>
                    </a:lnTo>
                    <a:lnTo>
                      <a:pt x="10" y="14"/>
                    </a:lnTo>
                    <a:lnTo>
                      <a:pt x="10" y="13"/>
                    </a:lnTo>
                    <a:lnTo>
                      <a:pt x="12" y="13"/>
                    </a:lnTo>
                    <a:lnTo>
                      <a:pt x="14" y="13"/>
                    </a:lnTo>
                    <a:lnTo>
                      <a:pt x="17" y="8"/>
                    </a:lnTo>
                    <a:lnTo>
                      <a:pt x="14" y="2"/>
                    </a:lnTo>
                    <a:lnTo>
                      <a:pt x="10" y="0"/>
                    </a:lnTo>
                    <a:lnTo>
                      <a:pt x="8" y="0"/>
                    </a:lnTo>
                    <a:lnTo>
                      <a:pt x="3"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77" name="Freeform 2245">
                <a:extLst>
                  <a:ext uri="{FF2B5EF4-FFF2-40B4-BE49-F238E27FC236}">
                    <a16:creationId xmlns:a16="http://schemas.microsoft.com/office/drawing/2014/main" id="{7F9EDF0C-DFD6-73B3-62BA-EC5ACF04CD5C}"/>
                  </a:ext>
                </a:extLst>
              </p:cNvPr>
              <p:cNvSpPr>
                <a:spLocks/>
              </p:cNvSpPr>
              <p:nvPr/>
            </p:nvSpPr>
            <p:spPr bwMode="auto">
              <a:xfrm>
                <a:off x="933" y="3880"/>
                <a:ext cx="5" cy="5"/>
              </a:xfrm>
              <a:custGeom>
                <a:avLst/>
                <a:gdLst>
                  <a:gd name="T0" fmla="*/ 9 w 18"/>
                  <a:gd name="T1" fmla="*/ 0 h 18"/>
                  <a:gd name="T2" fmla="*/ 3 w 18"/>
                  <a:gd name="T3" fmla="*/ 3 h 18"/>
                  <a:gd name="T4" fmla="*/ 0 w 18"/>
                  <a:gd name="T5" fmla="*/ 9 h 18"/>
                  <a:gd name="T6" fmla="*/ 0 w 18"/>
                  <a:gd name="T7" fmla="*/ 12 h 18"/>
                  <a:gd name="T8" fmla="*/ 3 w 18"/>
                  <a:gd name="T9" fmla="*/ 15 h 18"/>
                  <a:gd name="T10" fmla="*/ 9 w 18"/>
                  <a:gd name="T11" fmla="*/ 18 h 18"/>
                  <a:gd name="T12" fmla="*/ 12 w 18"/>
                  <a:gd name="T13" fmla="*/ 17 h 18"/>
                  <a:gd name="T14" fmla="*/ 12 w 18"/>
                  <a:gd name="T15" fmla="*/ 15 h 18"/>
                  <a:gd name="T16" fmla="*/ 13 w 18"/>
                  <a:gd name="T17" fmla="*/ 15 h 18"/>
                  <a:gd name="T18" fmla="*/ 15 w 18"/>
                  <a:gd name="T19" fmla="*/ 15 h 18"/>
                  <a:gd name="T20" fmla="*/ 15 w 18"/>
                  <a:gd name="T21" fmla="*/ 13 h 18"/>
                  <a:gd name="T22" fmla="*/ 15 w 18"/>
                  <a:gd name="T23" fmla="*/ 12 h 18"/>
                  <a:gd name="T24" fmla="*/ 17 w 18"/>
                  <a:gd name="T25" fmla="*/ 12 h 18"/>
                  <a:gd name="T26" fmla="*/ 18 w 18"/>
                  <a:gd name="T27" fmla="*/ 9 h 18"/>
                  <a:gd name="T28" fmla="*/ 15 w 18"/>
                  <a:gd name="T29" fmla="*/ 3 h 18"/>
                  <a:gd name="T30" fmla="*/ 12 w 18"/>
                  <a:gd name="T31" fmla="*/ 0 h 18"/>
                  <a:gd name="T32" fmla="*/ 9 w 18"/>
                  <a:gd name="T3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8">
                    <a:moveTo>
                      <a:pt x="9" y="0"/>
                    </a:moveTo>
                    <a:lnTo>
                      <a:pt x="3" y="3"/>
                    </a:lnTo>
                    <a:lnTo>
                      <a:pt x="0" y="9"/>
                    </a:lnTo>
                    <a:lnTo>
                      <a:pt x="0" y="12"/>
                    </a:lnTo>
                    <a:lnTo>
                      <a:pt x="3" y="15"/>
                    </a:lnTo>
                    <a:lnTo>
                      <a:pt x="9" y="18"/>
                    </a:lnTo>
                    <a:lnTo>
                      <a:pt x="12" y="17"/>
                    </a:lnTo>
                    <a:lnTo>
                      <a:pt x="12" y="15"/>
                    </a:lnTo>
                    <a:lnTo>
                      <a:pt x="13" y="15"/>
                    </a:lnTo>
                    <a:lnTo>
                      <a:pt x="15" y="15"/>
                    </a:lnTo>
                    <a:lnTo>
                      <a:pt x="15" y="13"/>
                    </a:lnTo>
                    <a:lnTo>
                      <a:pt x="15" y="12"/>
                    </a:lnTo>
                    <a:lnTo>
                      <a:pt x="17" y="12"/>
                    </a:lnTo>
                    <a:lnTo>
                      <a:pt x="18" y="9"/>
                    </a:lnTo>
                    <a:lnTo>
                      <a:pt x="15" y="3"/>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78" name="Freeform 2246">
                <a:extLst>
                  <a:ext uri="{FF2B5EF4-FFF2-40B4-BE49-F238E27FC236}">
                    <a16:creationId xmlns:a16="http://schemas.microsoft.com/office/drawing/2014/main" id="{26020BD1-6EBD-C445-DF26-70BB64686818}"/>
                  </a:ext>
                </a:extLst>
              </p:cNvPr>
              <p:cNvSpPr>
                <a:spLocks/>
              </p:cNvSpPr>
              <p:nvPr/>
            </p:nvSpPr>
            <p:spPr bwMode="auto">
              <a:xfrm>
                <a:off x="933" y="3887"/>
                <a:ext cx="5" cy="4"/>
              </a:xfrm>
              <a:custGeom>
                <a:avLst/>
                <a:gdLst>
                  <a:gd name="T0" fmla="*/ 9 w 18"/>
                  <a:gd name="T1" fmla="*/ 0 h 16"/>
                  <a:gd name="T2" fmla="*/ 3 w 18"/>
                  <a:gd name="T3" fmla="*/ 2 h 16"/>
                  <a:gd name="T4" fmla="*/ 0 w 18"/>
                  <a:gd name="T5" fmla="*/ 8 h 16"/>
                  <a:gd name="T6" fmla="*/ 3 w 18"/>
                  <a:gd name="T7" fmla="*/ 13 h 16"/>
                  <a:gd name="T8" fmla="*/ 9 w 18"/>
                  <a:gd name="T9" fmla="*/ 16 h 16"/>
                  <a:gd name="T10" fmla="*/ 12 w 18"/>
                  <a:gd name="T11" fmla="*/ 14 h 16"/>
                  <a:gd name="T12" fmla="*/ 12 w 18"/>
                  <a:gd name="T13" fmla="*/ 13 h 16"/>
                  <a:gd name="T14" fmla="*/ 13 w 18"/>
                  <a:gd name="T15" fmla="*/ 13 h 16"/>
                  <a:gd name="T16" fmla="*/ 15 w 18"/>
                  <a:gd name="T17" fmla="*/ 13 h 16"/>
                  <a:gd name="T18" fmla="*/ 18 w 18"/>
                  <a:gd name="T19" fmla="*/ 8 h 16"/>
                  <a:gd name="T20" fmla="*/ 15 w 18"/>
                  <a:gd name="T21" fmla="*/ 2 h 16"/>
                  <a:gd name="T22" fmla="*/ 12 w 18"/>
                  <a:gd name="T23" fmla="*/ 0 h 16"/>
                  <a:gd name="T24" fmla="*/ 9 w 18"/>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9" y="0"/>
                    </a:moveTo>
                    <a:lnTo>
                      <a:pt x="3" y="2"/>
                    </a:lnTo>
                    <a:lnTo>
                      <a:pt x="0" y="8"/>
                    </a:lnTo>
                    <a:lnTo>
                      <a:pt x="3" y="13"/>
                    </a:lnTo>
                    <a:lnTo>
                      <a:pt x="9" y="16"/>
                    </a:lnTo>
                    <a:lnTo>
                      <a:pt x="12" y="14"/>
                    </a:lnTo>
                    <a:lnTo>
                      <a:pt x="12" y="13"/>
                    </a:lnTo>
                    <a:lnTo>
                      <a:pt x="13" y="13"/>
                    </a:lnTo>
                    <a:lnTo>
                      <a:pt x="15" y="13"/>
                    </a:lnTo>
                    <a:lnTo>
                      <a:pt x="18" y="8"/>
                    </a:lnTo>
                    <a:lnTo>
                      <a:pt x="15" y="2"/>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79" name="Freeform 2247">
                <a:extLst>
                  <a:ext uri="{FF2B5EF4-FFF2-40B4-BE49-F238E27FC236}">
                    <a16:creationId xmlns:a16="http://schemas.microsoft.com/office/drawing/2014/main" id="{B840D6C2-AE39-A0C4-FE93-FCCDA612EE68}"/>
                  </a:ext>
                </a:extLst>
              </p:cNvPr>
              <p:cNvSpPr>
                <a:spLocks/>
              </p:cNvSpPr>
              <p:nvPr/>
            </p:nvSpPr>
            <p:spPr bwMode="auto">
              <a:xfrm>
                <a:off x="933" y="3893"/>
                <a:ext cx="5" cy="4"/>
              </a:xfrm>
              <a:custGeom>
                <a:avLst/>
                <a:gdLst>
                  <a:gd name="T0" fmla="*/ 9 w 18"/>
                  <a:gd name="T1" fmla="*/ 0 h 18"/>
                  <a:gd name="T2" fmla="*/ 3 w 18"/>
                  <a:gd name="T3" fmla="*/ 3 h 18"/>
                  <a:gd name="T4" fmla="*/ 0 w 18"/>
                  <a:gd name="T5" fmla="*/ 9 h 18"/>
                  <a:gd name="T6" fmla="*/ 0 w 18"/>
                  <a:gd name="T7" fmla="*/ 12 h 18"/>
                  <a:gd name="T8" fmla="*/ 3 w 18"/>
                  <a:gd name="T9" fmla="*/ 15 h 18"/>
                  <a:gd name="T10" fmla="*/ 9 w 18"/>
                  <a:gd name="T11" fmla="*/ 18 h 18"/>
                  <a:gd name="T12" fmla="*/ 12 w 18"/>
                  <a:gd name="T13" fmla="*/ 17 h 18"/>
                  <a:gd name="T14" fmla="*/ 12 w 18"/>
                  <a:gd name="T15" fmla="*/ 15 h 18"/>
                  <a:gd name="T16" fmla="*/ 13 w 18"/>
                  <a:gd name="T17" fmla="*/ 15 h 18"/>
                  <a:gd name="T18" fmla="*/ 15 w 18"/>
                  <a:gd name="T19" fmla="*/ 15 h 18"/>
                  <a:gd name="T20" fmla="*/ 15 w 18"/>
                  <a:gd name="T21" fmla="*/ 13 h 18"/>
                  <a:gd name="T22" fmla="*/ 15 w 18"/>
                  <a:gd name="T23" fmla="*/ 12 h 18"/>
                  <a:gd name="T24" fmla="*/ 17 w 18"/>
                  <a:gd name="T25" fmla="*/ 12 h 18"/>
                  <a:gd name="T26" fmla="*/ 18 w 18"/>
                  <a:gd name="T27" fmla="*/ 9 h 18"/>
                  <a:gd name="T28" fmla="*/ 15 w 18"/>
                  <a:gd name="T29" fmla="*/ 3 h 18"/>
                  <a:gd name="T30" fmla="*/ 12 w 18"/>
                  <a:gd name="T31" fmla="*/ 0 h 18"/>
                  <a:gd name="T32" fmla="*/ 9 w 18"/>
                  <a:gd name="T3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8">
                    <a:moveTo>
                      <a:pt x="9" y="0"/>
                    </a:moveTo>
                    <a:lnTo>
                      <a:pt x="3" y="3"/>
                    </a:lnTo>
                    <a:lnTo>
                      <a:pt x="0" y="9"/>
                    </a:lnTo>
                    <a:lnTo>
                      <a:pt x="0" y="12"/>
                    </a:lnTo>
                    <a:lnTo>
                      <a:pt x="3" y="15"/>
                    </a:lnTo>
                    <a:lnTo>
                      <a:pt x="9" y="18"/>
                    </a:lnTo>
                    <a:lnTo>
                      <a:pt x="12" y="17"/>
                    </a:lnTo>
                    <a:lnTo>
                      <a:pt x="12" y="15"/>
                    </a:lnTo>
                    <a:lnTo>
                      <a:pt x="13" y="15"/>
                    </a:lnTo>
                    <a:lnTo>
                      <a:pt x="15" y="15"/>
                    </a:lnTo>
                    <a:lnTo>
                      <a:pt x="15" y="13"/>
                    </a:lnTo>
                    <a:lnTo>
                      <a:pt x="15" y="12"/>
                    </a:lnTo>
                    <a:lnTo>
                      <a:pt x="17" y="12"/>
                    </a:lnTo>
                    <a:lnTo>
                      <a:pt x="18" y="9"/>
                    </a:lnTo>
                    <a:lnTo>
                      <a:pt x="15" y="3"/>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80" name="Freeform 2248">
                <a:extLst>
                  <a:ext uri="{FF2B5EF4-FFF2-40B4-BE49-F238E27FC236}">
                    <a16:creationId xmlns:a16="http://schemas.microsoft.com/office/drawing/2014/main" id="{0C01A2B3-D731-122C-E5A6-E3D02795D703}"/>
                  </a:ext>
                </a:extLst>
              </p:cNvPr>
              <p:cNvSpPr>
                <a:spLocks/>
              </p:cNvSpPr>
              <p:nvPr/>
            </p:nvSpPr>
            <p:spPr bwMode="auto">
              <a:xfrm>
                <a:off x="940" y="3893"/>
                <a:ext cx="4" cy="4"/>
              </a:xfrm>
              <a:custGeom>
                <a:avLst/>
                <a:gdLst>
                  <a:gd name="T0" fmla="*/ 14 w 17"/>
                  <a:gd name="T1" fmla="*/ 3 h 18"/>
                  <a:gd name="T2" fmla="*/ 10 w 17"/>
                  <a:gd name="T3" fmla="*/ 0 h 18"/>
                  <a:gd name="T4" fmla="*/ 8 w 17"/>
                  <a:gd name="T5" fmla="*/ 0 h 18"/>
                  <a:gd name="T6" fmla="*/ 3 w 17"/>
                  <a:gd name="T7" fmla="*/ 3 h 18"/>
                  <a:gd name="T8" fmla="*/ 0 w 17"/>
                  <a:gd name="T9" fmla="*/ 9 h 18"/>
                  <a:gd name="T10" fmla="*/ 0 w 17"/>
                  <a:gd name="T11" fmla="*/ 12 h 18"/>
                  <a:gd name="T12" fmla="*/ 3 w 17"/>
                  <a:gd name="T13" fmla="*/ 15 h 18"/>
                  <a:gd name="T14" fmla="*/ 8 w 17"/>
                  <a:gd name="T15" fmla="*/ 18 h 18"/>
                  <a:gd name="T16" fmla="*/ 10 w 17"/>
                  <a:gd name="T17" fmla="*/ 17 h 18"/>
                  <a:gd name="T18" fmla="*/ 10 w 17"/>
                  <a:gd name="T19" fmla="*/ 15 h 18"/>
                  <a:gd name="T20" fmla="*/ 12 w 17"/>
                  <a:gd name="T21" fmla="*/ 15 h 18"/>
                  <a:gd name="T22" fmla="*/ 14 w 17"/>
                  <a:gd name="T23" fmla="*/ 15 h 18"/>
                  <a:gd name="T24" fmla="*/ 14 w 17"/>
                  <a:gd name="T25" fmla="*/ 13 h 18"/>
                  <a:gd name="T26" fmla="*/ 14 w 17"/>
                  <a:gd name="T27" fmla="*/ 12 h 18"/>
                  <a:gd name="T28" fmla="*/ 15 w 17"/>
                  <a:gd name="T29" fmla="*/ 12 h 18"/>
                  <a:gd name="T30" fmla="*/ 17 w 17"/>
                  <a:gd name="T31" fmla="*/ 9 h 18"/>
                  <a:gd name="T32" fmla="*/ 14 w 17"/>
                  <a:gd name="T33"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18">
                    <a:moveTo>
                      <a:pt x="14" y="3"/>
                    </a:moveTo>
                    <a:lnTo>
                      <a:pt x="10" y="0"/>
                    </a:lnTo>
                    <a:lnTo>
                      <a:pt x="8" y="0"/>
                    </a:lnTo>
                    <a:lnTo>
                      <a:pt x="3" y="3"/>
                    </a:lnTo>
                    <a:lnTo>
                      <a:pt x="0" y="9"/>
                    </a:lnTo>
                    <a:lnTo>
                      <a:pt x="0" y="12"/>
                    </a:lnTo>
                    <a:lnTo>
                      <a:pt x="3" y="15"/>
                    </a:lnTo>
                    <a:lnTo>
                      <a:pt x="8" y="18"/>
                    </a:lnTo>
                    <a:lnTo>
                      <a:pt x="10" y="17"/>
                    </a:lnTo>
                    <a:lnTo>
                      <a:pt x="10" y="15"/>
                    </a:lnTo>
                    <a:lnTo>
                      <a:pt x="12" y="15"/>
                    </a:lnTo>
                    <a:lnTo>
                      <a:pt x="14" y="15"/>
                    </a:lnTo>
                    <a:lnTo>
                      <a:pt x="14" y="13"/>
                    </a:lnTo>
                    <a:lnTo>
                      <a:pt x="14" y="12"/>
                    </a:lnTo>
                    <a:lnTo>
                      <a:pt x="15" y="12"/>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81" name="Freeform 2249">
                <a:extLst>
                  <a:ext uri="{FF2B5EF4-FFF2-40B4-BE49-F238E27FC236}">
                    <a16:creationId xmlns:a16="http://schemas.microsoft.com/office/drawing/2014/main" id="{B9F92051-CBF8-5AD9-3007-6925E1B6A38D}"/>
                  </a:ext>
                </a:extLst>
              </p:cNvPr>
              <p:cNvSpPr>
                <a:spLocks/>
              </p:cNvSpPr>
              <p:nvPr/>
            </p:nvSpPr>
            <p:spPr bwMode="auto">
              <a:xfrm>
                <a:off x="953" y="3880"/>
                <a:ext cx="4" cy="5"/>
              </a:xfrm>
              <a:custGeom>
                <a:avLst/>
                <a:gdLst>
                  <a:gd name="T0" fmla="*/ 3 w 17"/>
                  <a:gd name="T1" fmla="*/ 15 h 18"/>
                  <a:gd name="T2" fmla="*/ 9 w 17"/>
                  <a:gd name="T3" fmla="*/ 18 h 18"/>
                  <a:gd name="T4" fmla="*/ 14 w 17"/>
                  <a:gd name="T5" fmla="*/ 15 h 18"/>
                  <a:gd name="T6" fmla="*/ 14 w 17"/>
                  <a:gd name="T7" fmla="*/ 13 h 18"/>
                  <a:gd name="T8" fmla="*/ 14 w 17"/>
                  <a:gd name="T9" fmla="*/ 12 h 18"/>
                  <a:gd name="T10" fmla="*/ 15 w 17"/>
                  <a:gd name="T11" fmla="*/ 12 h 18"/>
                  <a:gd name="T12" fmla="*/ 17 w 17"/>
                  <a:gd name="T13" fmla="*/ 9 h 18"/>
                  <a:gd name="T14" fmla="*/ 14 w 17"/>
                  <a:gd name="T15" fmla="*/ 3 h 18"/>
                  <a:gd name="T16" fmla="*/ 9 w 17"/>
                  <a:gd name="T17" fmla="*/ 0 h 18"/>
                  <a:gd name="T18" fmla="*/ 3 w 17"/>
                  <a:gd name="T19" fmla="*/ 3 h 18"/>
                  <a:gd name="T20" fmla="*/ 0 w 17"/>
                  <a:gd name="T21" fmla="*/ 9 h 18"/>
                  <a:gd name="T22" fmla="*/ 0 w 17"/>
                  <a:gd name="T23" fmla="*/ 12 h 18"/>
                  <a:gd name="T24" fmla="*/ 3 w 17"/>
                  <a:gd name="T25"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8">
                    <a:moveTo>
                      <a:pt x="3" y="15"/>
                    </a:moveTo>
                    <a:lnTo>
                      <a:pt x="9" y="18"/>
                    </a:lnTo>
                    <a:lnTo>
                      <a:pt x="14" y="15"/>
                    </a:lnTo>
                    <a:lnTo>
                      <a:pt x="14" y="13"/>
                    </a:lnTo>
                    <a:lnTo>
                      <a:pt x="14" y="12"/>
                    </a:lnTo>
                    <a:lnTo>
                      <a:pt x="15" y="12"/>
                    </a:lnTo>
                    <a:lnTo>
                      <a:pt x="17" y="9"/>
                    </a:lnTo>
                    <a:lnTo>
                      <a:pt x="14" y="3"/>
                    </a:lnTo>
                    <a:lnTo>
                      <a:pt x="9" y="0"/>
                    </a:lnTo>
                    <a:lnTo>
                      <a:pt x="3" y="3"/>
                    </a:lnTo>
                    <a:lnTo>
                      <a:pt x="0" y="9"/>
                    </a:lnTo>
                    <a:lnTo>
                      <a:pt x="0" y="12"/>
                    </a:lnTo>
                    <a:lnTo>
                      <a:pt x="3"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82" name="Freeform 2250">
                <a:extLst>
                  <a:ext uri="{FF2B5EF4-FFF2-40B4-BE49-F238E27FC236}">
                    <a16:creationId xmlns:a16="http://schemas.microsoft.com/office/drawing/2014/main" id="{0CE8063D-7983-4645-DB4B-D8FFB9E9235B}"/>
                  </a:ext>
                </a:extLst>
              </p:cNvPr>
              <p:cNvSpPr>
                <a:spLocks/>
              </p:cNvSpPr>
              <p:nvPr/>
            </p:nvSpPr>
            <p:spPr bwMode="auto">
              <a:xfrm>
                <a:off x="953" y="3887"/>
                <a:ext cx="4" cy="4"/>
              </a:xfrm>
              <a:custGeom>
                <a:avLst/>
                <a:gdLst>
                  <a:gd name="T0" fmla="*/ 9 w 17"/>
                  <a:gd name="T1" fmla="*/ 0 h 16"/>
                  <a:gd name="T2" fmla="*/ 3 w 17"/>
                  <a:gd name="T3" fmla="*/ 2 h 16"/>
                  <a:gd name="T4" fmla="*/ 0 w 17"/>
                  <a:gd name="T5" fmla="*/ 8 h 16"/>
                  <a:gd name="T6" fmla="*/ 3 w 17"/>
                  <a:gd name="T7" fmla="*/ 13 h 16"/>
                  <a:gd name="T8" fmla="*/ 9 w 17"/>
                  <a:gd name="T9" fmla="*/ 16 h 16"/>
                  <a:gd name="T10" fmla="*/ 14 w 17"/>
                  <a:gd name="T11" fmla="*/ 13 h 16"/>
                  <a:gd name="T12" fmla="*/ 17 w 17"/>
                  <a:gd name="T13" fmla="*/ 8 h 16"/>
                  <a:gd name="T14" fmla="*/ 14 w 17"/>
                  <a:gd name="T15" fmla="*/ 2 h 16"/>
                  <a:gd name="T16" fmla="*/ 9 w 17"/>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9" y="0"/>
                    </a:moveTo>
                    <a:lnTo>
                      <a:pt x="3" y="2"/>
                    </a:lnTo>
                    <a:lnTo>
                      <a:pt x="0" y="8"/>
                    </a:lnTo>
                    <a:lnTo>
                      <a:pt x="3" y="13"/>
                    </a:lnTo>
                    <a:lnTo>
                      <a:pt x="9" y="16"/>
                    </a:lnTo>
                    <a:lnTo>
                      <a:pt x="14" y="13"/>
                    </a:lnTo>
                    <a:lnTo>
                      <a:pt x="17" y="8"/>
                    </a:lnTo>
                    <a:lnTo>
                      <a:pt x="14" y="2"/>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83" name="Freeform 2251">
                <a:extLst>
                  <a:ext uri="{FF2B5EF4-FFF2-40B4-BE49-F238E27FC236}">
                    <a16:creationId xmlns:a16="http://schemas.microsoft.com/office/drawing/2014/main" id="{E81760BF-F6A5-A059-FE99-57491FE736F0}"/>
                  </a:ext>
                </a:extLst>
              </p:cNvPr>
              <p:cNvSpPr>
                <a:spLocks/>
              </p:cNvSpPr>
              <p:nvPr/>
            </p:nvSpPr>
            <p:spPr bwMode="auto">
              <a:xfrm>
                <a:off x="946" y="3880"/>
                <a:ext cx="4" cy="5"/>
              </a:xfrm>
              <a:custGeom>
                <a:avLst/>
                <a:gdLst>
                  <a:gd name="T0" fmla="*/ 18 w 18"/>
                  <a:gd name="T1" fmla="*/ 9 h 18"/>
                  <a:gd name="T2" fmla="*/ 15 w 18"/>
                  <a:gd name="T3" fmla="*/ 3 h 18"/>
                  <a:gd name="T4" fmla="*/ 12 w 18"/>
                  <a:gd name="T5" fmla="*/ 0 h 18"/>
                  <a:gd name="T6" fmla="*/ 9 w 18"/>
                  <a:gd name="T7" fmla="*/ 0 h 18"/>
                  <a:gd name="T8" fmla="*/ 3 w 18"/>
                  <a:gd name="T9" fmla="*/ 3 h 18"/>
                  <a:gd name="T10" fmla="*/ 0 w 18"/>
                  <a:gd name="T11" fmla="*/ 9 h 18"/>
                  <a:gd name="T12" fmla="*/ 0 w 18"/>
                  <a:gd name="T13" fmla="*/ 12 h 18"/>
                  <a:gd name="T14" fmla="*/ 3 w 18"/>
                  <a:gd name="T15" fmla="*/ 15 h 18"/>
                  <a:gd name="T16" fmla="*/ 9 w 18"/>
                  <a:gd name="T17" fmla="*/ 18 h 18"/>
                  <a:gd name="T18" fmla="*/ 12 w 18"/>
                  <a:gd name="T19" fmla="*/ 17 h 18"/>
                  <a:gd name="T20" fmla="*/ 12 w 18"/>
                  <a:gd name="T21" fmla="*/ 15 h 18"/>
                  <a:gd name="T22" fmla="*/ 13 w 18"/>
                  <a:gd name="T23" fmla="*/ 15 h 18"/>
                  <a:gd name="T24" fmla="*/ 15 w 18"/>
                  <a:gd name="T25" fmla="*/ 15 h 18"/>
                  <a:gd name="T26" fmla="*/ 15 w 18"/>
                  <a:gd name="T27" fmla="*/ 13 h 18"/>
                  <a:gd name="T28" fmla="*/ 15 w 18"/>
                  <a:gd name="T29" fmla="*/ 12 h 18"/>
                  <a:gd name="T30" fmla="*/ 16 w 18"/>
                  <a:gd name="T31" fmla="*/ 12 h 18"/>
                  <a:gd name="T32" fmla="*/ 18 w 18"/>
                  <a:gd name="T33"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8">
                    <a:moveTo>
                      <a:pt x="18" y="9"/>
                    </a:moveTo>
                    <a:lnTo>
                      <a:pt x="15" y="3"/>
                    </a:lnTo>
                    <a:lnTo>
                      <a:pt x="12" y="0"/>
                    </a:lnTo>
                    <a:lnTo>
                      <a:pt x="9" y="0"/>
                    </a:lnTo>
                    <a:lnTo>
                      <a:pt x="3" y="3"/>
                    </a:lnTo>
                    <a:lnTo>
                      <a:pt x="0" y="9"/>
                    </a:lnTo>
                    <a:lnTo>
                      <a:pt x="0" y="12"/>
                    </a:lnTo>
                    <a:lnTo>
                      <a:pt x="3" y="15"/>
                    </a:lnTo>
                    <a:lnTo>
                      <a:pt x="9" y="18"/>
                    </a:lnTo>
                    <a:lnTo>
                      <a:pt x="12" y="17"/>
                    </a:lnTo>
                    <a:lnTo>
                      <a:pt x="12" y="15"/>
                    </a:lnTo>
                    <a:lnTo>
                      <a:pt x="13" y="15"/>
                    </a:lnTo>
                    <a:lnTo>
                      <a:pt x="15" y="15"/>
                    </a:lnTo>
                    <a:lnTo>
                      <a:pt x="15" y="13"/>
                    </a:lnTo>
                    <a:lnTo>
                      <a:pt x="15" y="12"/>
                    </a:lnTo>
                    <a:lnTo>
                      <a:pt x="16" y="12"/>
                    </a:lnTo>
                    <a:lnTo>
                      <a:pt x="18"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84" name="Freeform 2252">
                <a:extLst>
                  <a:ext uri="{FF2B5EF4-FFF2-40B4-BE49-F238E27FC236}">
                    <a16:creationId xmlns:a16="http://schemas.microsoft.com/office/drawing/2014/main" id="{B41453E9-3BC4-B02B-5D38-3BD6ABB75FDE}"/>
                  </a:ext>
                </a:extLst>
              </p:cNvPr>
              <p:cNvSpPr>
                <a:spLocks/>
              </p:cNvSpPr>
              <p:nvPr/>
            </p:nvSpPr>
            <p:spPr bwMode="auto">
              <a:xfrm>
                <a:off x="946" y="3887"/>
                <a:ext cx="4" cy="4"/>
              </a:xfrm>
              <a:custGeom>
                <a:avLst/>
                <a:gdLst>
                  <a:gd name="T0" fmla="*/ 9 w 18"/>
                  <a:gd name="T1" fmla="*/ 0 h 16"/>
                  <a:gd name="T2" fmla="*/ 3 w 18"/>
                  <a:gd name="T3" fmla="*/ 2 h 16"/>
                  <a:gd name="T4" fmla="*/ 0 w 18"/>
                  <a:gd name="T5" fmla="*/ 8 h 16"/>
                  <a:gd name="T6" fmla="*/ 3 w 18"/>
                  <a:gd name="T7" fmla="*/ 13 h 16"/>
                  <a:gd name="T8" fmla="*/ 9 w 18"/>
                  <a:gd name="T9" fmla="*/ 16 h 16"/>
                  <a:gd name="T10" fmla="*/ 12 w 18"/>
                  <a:gd name="T11" fmla="*/ 14 h 16"/>
                  <a:gd name="T12" fmla="*/ 12 w 18"/>
                  <a:gd name="T13" fmla="*/ 13 h 16"/>
                  <a:gd name="T14" fmla="*/ 13 w 18"/>
                  <a:gd name="T15" fmla="*/ 13 h 16"/>
                  <a:gd name="T16" fmla="*/ 15 w 18"/>
                  <a:gd name="T17" fmla="*/ 13 h 16"/>
                  <a:gd name="T18" fmla="*/ 18 w 18"/>
                  <a:gd name="T19" fmla="*/ 8 h 16"/>
                  <a:gd name="T20" fmla="*/ 15 w 18"/>
                  <a:gd name="T21" fmla="*/ 2 h 16"/>
                  <a:gd name="T22" fmla="*/ 12 w 18"/>
                  <a:gd name="T23" fmla="*/ 0 h 16"/>
                  <a:gd name="T24" fmla="*/ 9 w 18"/>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9" y="0"/>
                    </a:moveTo>
                    <a:lnTo>
                      <a:pt x="3" y="2"/>
                    </a:lnTo>
                    <a:lnTo>
                      <a:pt x="0" y="8"/>
                    </a:lnTo>
                    <a:lnTo>
                      <a:pt x="3" y="13"/>
                    </a:lnTo>
                    <a:lnTo>
                      <a:pt x="9" y="16"/>
                    </a:lnTo>
                    <a:lnTo>
                      <a:pt x="12" y="14"/>
                    </a:lnTo>
                    <a:lnTo>
                      <a:pt x="12" y="13"/>
                    </a:lnTo>
                    <a:lnTo>
                      <a:pt x="13" y="13"/>
                    </a:lnTo>
                    <a:lnTo>
                      <a:pt x="15" y="13"/>
                    </a:lnTo>
                    <a:lnTo>
                      <a:pt x="18" y="8"/>
                    </a:lnTo>
                    <a:lnTo>
                      <a:pt x="15" y="2"/>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85" name="Freeform 2253">
                <a:extLst>
                  <a:ext uri="{FF2B5EF4-FFF2-40B4-BE49-F238E27FC236}">
                    <a16:creationId xmlns:a16="http://schemas.microsoft.com/office/drawing/2014/main" id="{099AB527-92F0-FC02-08F2-72D2A30E1957}"/>
                  </a:ext>
                </a:extLst>
              </p:cNvPr>
              <p:cNvSpPr>
                <a:spLocks/>
              </p:cNvSpPr>
              <p:nvPr/>
            </p:nvSpPr>
            <p:spPr bwMode="auto">
              <a:xfrm>
                <a:off x="946" y="3893"/>
                <a:ext cx="4" cy="4"/>
              </a:xfrm>
              <a:custGeom>
                <a:avLst/>
                <a:gdLst>
                  <a:gd name="T0" fmla="*/ 9 w 18"/>
                  <a:gd name="T1" fmla="*/ 0 h 18"/>
                  <a:gd name="T2" fmla="*/ 3 w 18"/>
                  <a:gd name="T3" fmla="*/ 3 h 18"/>
                  <a:gd name="T4" fmla="*/ 0 w 18"/>
                  <a:gd name="T5" fmla="*/ 9 h 18"/>
                  <a:gd name="T6" fmla="*/ 0 w 18"/>
                  <a:gd name="T7" fmla="*/ 12 h 18"/>
                  <a:gd name="T8" fmla="*/ 3 w 18"/>
                  <a:gd name="T9" fmla="*/ 15 h 18"/>
                  <a:gd name="T10" fmla="*/ 9 w 18"/>
                  <a:gd name="T11" fmla="*/ 18 h 18"/>
                  <a:gd name="T12" fmla="*/ 12 w 18"/>
                  <a:gd name="T13" fmla="*/ 17 h 18"/>
                  <a:gd name="T14" fmla="*/ 12 w 18"/>
                  <a:gd name="T15" fmla="*/ 15 h 18"/>
                  <a:gd name="T16" fmla="*/ 13 w 18"/>
                  <a:gd name="T17" fmla="*/ 15 h 18"/>
                  <a:gd name="T18" fmla="*/ 15 w 18"/>
                  <a:gd name="T19" fmla="*/ 15 h 18"/>
                  <a:gd name="T20" fmla="*/ 15 w 18"/>
                  <a:gd name="T21" fmla="*/ 13 h 18"/>
                  <a:gd name="T22" fmla="*/ 15 w 18"/>
                  <a:gd name="T23" fmla="*/ 12 h 18"/>
                  <a:gd name="T24" fmla="*/ 16 w 18"/>
                  <a:gd name="T25" fmla="*/ 12 h 18"/>
                  <a:gd name="T26" fmla="*/ 18 w 18"/>
                  <a:gd name="T27" fmla="*/ 9 h 18"/>
                  <a:gd name="T28" fmla="*/ 15 w 18"/>
                  <a:gd name="T29" fmla="*/ 3 h 18"/>
                  <a:gd name="T30" fmla="*/ 12 w 18"/>
                  <a:gd name="T31" fmla="*/ 0 h 18"/>
                  <a:gd name="T32" fmla="*/ 9 w 18"/>
                  <a:gd name="T3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8">
                    <a:moveTo>
                      <a:pt x="9" y="0"/>
                    </a:moveTo>
                    <a:lnTo>
                      <a:pt x="3" y="3"/>
                    </a:lnTo>
                    <a:lnTo>
                      <a:pt x="0" y="9"/>
                    </a:lnTo>
                    <a:lnTo>
                      <a:pt x="0" y="12"/>
                    </a:lnTo>
                    <a:lnTo>
                      <a:pt x="3" y="15"/>
                    </a:lnTo>
                    <a:lnTo>
                      <a:pt x="9" y="18"/>
                    </a:lnTo>
                    <a:lnTo>
                      <a:pt x="12" y="17"/>
                    </a:lnTo>
                    <a:lnTo>
                      <a:pt x="12" y="15"/>
                    </a:lnTo>
                    <a:lnTo>
                      <a:pt x="13" y="15"/>
                    </a:lnTo>
                    <a:lnTo>
                      <a:pt x="15" y="15"/>
                    </a:lnTo>
                    <a:lnTo>
                      <a:pt x="15" y="13"/>
                    </a:lnTo>
                    <a:lnTo>
                      <a:pt x="15" y="12"/>
                    </a:lnTo>
                    <a:lnTo>
                      <a:pt x="16" y="12"/>
                    </a:lnTo>
                    <a:lnTo>
                      <a:pt x="18" y="9"/>
                    </a:lnTo>
                    <a:lnTo>
                      <a:pt x="15" y="3"/>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86" name="Freeform 2254">
                <a:extLst>
                  <a:ext uri="{FF2B5EF4-FFF2-40B4-BE49-F238E27FC236}">
                    <a16:creationId xmlns:a16="http://schemas.microsoft.com/office/drawing/2014/main" id="{D1C8654E-6915-EA51-869F-260733A01420}"/>
                  </a:ext>
                </a:extLst>
              </p:cNvPr>
              <p:cNvSpPr>
                <a:spLocks/>
              </p:cNvSpPr>
              <p:nvPr/>
            </p:nvSpPr>
            <p:spPr bwMode="auto">
              <a:xfrm>
                <a:off x="953" y="3893"/>
                <a:ext cx="4" cy="4"/>
              </a:xfrm>
              <a:custGeom>
                <a:avLst/>
                <a:gdLst>
                  <a:gd name="T0" fmla="*/ 9 w 17"/>
                  <a:gd name="T1" fmla="*/ 0 h 18"/>
                  <a:gd name="T2" fmla="*/ 3 w 17"/>
                  <a:gd name="T3" fmla="*/ 3 h 18"/>
                  <a:gd name="T4" fmla="*/ 0 w 17"/>
                  <a:gd name="T5" fmla="*/ 9 h 18"/>
                  <a:gd name="T6" fmla="*/ 0 w 17"/>
                  <a:gd name="T7" fmla="*/ 12 h 18"/>
                  <a:gd name="T8" fmla="*/ 3 w 17"/>
                  <a:gd name="T9" fmla="*/ 15 h 18"/>
                  <a:gd name="T10" fmla="*/ 9 w 17"/>
                  <a:gd name="T11" fmla="*/ 18 h 18"/>
                  <a:gd name="T12" fmla="*/ 14 w 17"/>
                  <a:gd name="T13" fmla="*/ 15 h 18"/>
                  <a:gd name="T14" fmla="*/ 14 w 17"/>
                  <a:gd name="T15" fmla="*/ 13 h 18"/>
                  <a:gd name="T16" fmla="*/ 14 w 17"/>
                  <a:gd name="T17" fmla="*/ 12 h 18"/>
                  <a:gd name="T18" fmla="*/ 15 w 17"/>
                  <a:gd name="T19" fmla="*/ 12 h 18"/>
                  <a:gd name="T20" fmla="*/ 17 w 17"/>
                  <a:gd name="T21" fmla="*/ 9 h 18"/>
                  <a:gd name="T22" fmla="*/ 14 w 17"/>
                  <a:gd name="T23" fmla="*/ 3 h 18"/>
                  <a:gd name="T24" fmla="*/ 9 w 17"/>
                  <a:gd name="T25"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8">
                    <a:moveTo>
                      <a:pt x="9" y="0"/>
                    </a:moveTo>
                    <a:lnTo>
                      <a:pt x="3" y="3"/>
                    </a:lnTo>
                    <a:lnTo>
                      <a:pt x="0" y="9"/>
                    </a:lnTo>
                    <a:lnTo>
                      <a:pt x="0" y="12"/>
                    </a:lnTo>
                    <a:lnTo>
                      <a:pt x="3" y="15"/>
                    </a:lnTo>
                    <a:lnTo>
                      <a:pt x="9" y="18"/>
                    </a:lnTo>
                    <a:lnTo>
                      <a:pt x="14" y="15"/>
                    </a:lnTo>
                    <a:lnTo>
                      <a:pt x="14" y="13"/>
                    </a:lnTo>
                    <a:lnTo>
                      <a:pt x="14" y="12"/>
                    </a:lnTo>
                    <a:lnTo>
                      <a:pt x="15" y="12"/>
                    </a:lnTo>
                    <a:lnTo>
                      <a:pt x="17" y="9"/>
                    </a:lnTo>
                    <a:lnTo>
                      <a:pt x="14" y="3"/>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87" name="Freeform 2255">
                <a:extLst>
                  <a:ext uri="{FF2B5EF4-FFF2-40B4-BE49-F238E27FC236}">
                    <a16:creationId xmlns:a16="http://schemas.microsoft.com/office/drawing/2014/main" id="{03BAA187-B954-1A99-4D10-4C2284CE9271}"/>
                  </a:ext>
                </a:extLst>
              </p:cNvPr>
              <p:cNvSpPr>
                <a:spLocks/>
              </p:cNvSpPr>
              <p:nvPr/>
            </p:nvSpPr>
            <p:spPr bwMode="auto">
              <a:xfrm>
                <a:off x="959" y="3900"/>
                <a:ext cx="4" cy="4"/>
              </a:xfrm>
              <a:custGeom>
                <a:avLst/>
                <a:gdLst>
                  <a:gd name="T0" fmla="*/ 1 w 16"/>
                  <a:gd name="T1" fmla="*/ 2 h 16"/>
                  <a:gd name="T2" fmla="*/ 0 w 16"/>
                  <a:gd name="T3" fmla="*/ 8 h 16"/>
                  <a:gd name="T4" fmla="*/ 1 w 16"/>
                  <a:gd name="T5" fmla="*/ 13 h 16"/>
                  <a:gd name="T6" fmla="*/ 7 w 16"/>
                  <a:gd name="T7" fmla="*/ 16 h 16"/>
                  <a:gd name="T8" fmla="*/ 9 w 16"/>
                  <a:gd name="T9" fmla="*/ 14 h 16"/>
                  <a:gd name="T10" fmla="*/ 9 w 16"/>
                  <a:gd name="T11" fmla="*/ 13 h 16"/>
                  <a:gd name="T12" fmla="*/ 11 w 16"/>
                  <a:gd name="T13" fmla="*/ 13 h 16"/>
                  <a:gd name="T14" fmla="*/ 13 w 16"/>
                  <a:gd name="T15" fmla="*/ 13 h 16"/>
                  <a:gd name="T16" fmla="*/ 16 w 16"/>
                  <a:gd name="T17" fmla="*/ 8 h 16"/>
                  <a:gd name="T18" fmla="*/ 13 w 16"/>
                  <a:gd name="T19" fmla="*/ 2 h 16"/>
                  <a:gd name="T20" fmla="*/ 9 w 16"/>
                  <a:gd name="T21" fmla="*/ 0 h 16"/>
                  <a:gd name="T22" fmla="*/ 7 w 16"/>
                  <a:gd name="T23" fmla="*/ 0 h 16"/>
                  <a:gd name="T24" fmla="*/ 1 w 16"/>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6">
                    <a:moveTo>
                      <a:pt x="1" y="2"/>
                    </a:moveTo>
                    <a:lnTo>
                      <a:pt x="0" y="8"/>
                    </a:lnTo>
                    <a:lnTo>
                      <a:pt x="1" y="13"/>
                    </a:lnTo>
                    <a:lnTo>
                      <a:pt x="7" y="16"/>
                    </a:lnTo>
                    <a:lnTo>
                      <a:pt x="9" y="14"/>
                    </a:lnTo>
                    <a:lnTo>
                      <a:pt x="9" y="13"/>
                    </a:lnTo>
                    <a:lnTo>
                      <a:pt x="11" y="13"/>
                    </a:lnTo>
                    <a:lnTo>
                      <a:pt x="13" y="13"/>
                    </a:lnTo>
                    <a:lnTo>
                      <a:pt x="16" y="8"/>
                    </a:lnTo>
                    <a:lnTo>
                      <a:pt x="13" y="2"/>
                    </a:lnTo>
                    <a:lnTo>
                      <a:pt x="9" y="0"/>
                    </a:lnTo>
                    <a:lnTo>
                      <a:pt x="7" y="0"/>
                    </a:lnTo>
                    <a:lnTo>
                      <a:pt x="1"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88" name="Freeform 2256">
                <a:extLst>
                  <a:ext uri="{FF2B5EF4-FFF2-40B4-BE49-F238E27FC236}">
                    <a16:creationId xmlns:a16="http://schemas.microsoft.com/office/drawing/2014/main" id="{C8CE7AFD-4FC5-1B78-FC9A-6C49B35031AF}"/>
                  </a:ext>
                </a:extLst>
              </p:cNvPr>
              <p:cNvSpPr>
                <a:spLocks/>
              </p:cNvSpPr>
              <p:nvPr/>
            </p:nvSpPr>
            <p:spPr bwMode="auto">
              <a:xfrm>
                <a:off x="953" y="3900"/>
                <a:ext cx="4" cy="4"/>
              </a:xfrm>
              <a:custGeom>
                <a:avLst/>
                <a:gdLst>
                  <a:gd name="T0" fmla="*/ 14 w 17"/>
                  <a:gd name="T1" fmla="*/ 2 h 16"/>
                  <a:gd name="T2" fmla="*/ 9 w 17"/>
                  <a:gd name="T3" fmla="*/ 0 h 16"/>
                  <a:gd name="T4" fmla="*/ 3 w 17"/>
                  <a:gd name="T5" fmla="*/ 2 h 16"/>
                  <a:gd name="T6" fmla="*/ 0 w 17"/>
                  <a:gd name="T7" fmla="*/ 8 h 16"/>
                  <a:gd name="T8" fmla="*/ 3 w 17"/>
                  <a:gd name="T9" fmla="*/ 13 h 16"/>
                  <a:gd name="T10" fmla="*/ 9 w 17"/>
                  <a:gd name="T11" fmla="*/ 16 h 16"/>
                  <a:gd name="T12" fmla="*/ 14 w 17"/>
                  <a:gd name="T13" fmla="*/ 13 h 16"/>
                  <a:gd name="T14" fmla="*/ 17 w 17"/>
                  <a:gd name="T15" fmla="*/ 8 h 16"/>
                  <a:gd name="T16" fmla="*/ 14 w 17"/>
                  <a:gd name="T17"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4" y="2"/>
                    </a:moveTo>
                    <a:lnTo>
                      <a:pt x="9" y="0"/>
                    </a:lnTo>
                    <a:lnTo>
                      <a:pt x="3" y="2"/>
                    </a:lnTo>
                    <a:lnTo>
                      <a:pt x="0" y="8"/>
                    </a:lnTo>
                    <a:lnTo>
                      <a:pt x="3" y="13"/>
                    </a:lnTo>
                    <a:lnTo>
                      <a:pt x="9" y="16"/>
                    </a:lnTo>
                    <a:lnTo>
                      <a:pt x="14" y="13"/>
                    </a:lnTo>
                    <a:lnTo>
                      <a:pt x="17" y="8"/>
                    </a:lnTo>
                    <a:lnTo>
                      <a:pt x="14"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89" name="Freeform 2257">
                <a:extLst>
                  <a:ext uri="{FF2B5EF4-FFF2-40B4-BE49-F238E27FC236}">
                    <a16:creationId xmlns:a16="http://schemas.microsoft.com/office/drawing/2014/main" id="{9180CEA5-BCFC-85E0-2112-6738414B89B5}"/>
                  </a:ext>
                </a:extLst>
              </p:cNvPr>
              <p:cNvSpPr>
                <a:spLocks/>
              </p:cNvSpPr>
              <p:nvPr/>
            </p:nvSpPr>
            <p:spPr bwMode="auto">
              <a:xfrm>
                <a:off x="946" y="3900"/>
                <a:ext cx="4" cy="4"/>
              </a:xfrm>
              <a:custGeom>
                <a:avLst/>
                <a:gdLst>
                  <a:gd name="T0" fmla="*/ 18 w 18"/>
                  <a:gd name="T1" fmla="*/ 8 h 16"/>
                  <a:gd name="T2" fmla="*/ 15 w 18"/>
                  <a:gd name="T3" fmla="*/ 2 h 16"/>
                  <a:gd name="T4" fmla="*/ 12 w 18"/>
                  <a:gd name="T5" fmla="*/ 0 h 16"/>
                  <a:gd name="T6" fmla="*/ 9 w 18"/>
                  <a:gd name="T7" fmla="*/ 0 h 16"/>
                  <a:gd name="T8" fmla="*/ 3 w 18"/>
                  <a:gd name="T9" fmla="*/ 2 h 16"/>
                  <a:gd name="T10" fmla="*/ 0 w 18"/>
                  <a:gd name="T11" fmla="*/ 8 h 16"/>
                  <a:gd name="T12" fmla="*/ 3 w 18"/>
                  <a:gd name="T13" fmla="*/ 13 h 16"/>
                  <a:gd name="T14" fmla="*/ 9 w 18"/>
                  <a:gd name="T15" fmla="*/ 16 h 16"/>
                  <a:gd name="T16" fmla="*/ 12 w 18"/>
                  <a:gd name="T17" fmla="*/ 14 h 16"/>
                  <a:gd name="T18" fmla="*/ 12 w 18"/>
                  <a:gd name="T19" fmla="*/ 13 h 16"/>
                  <a:gd name="T20" fmla="*/ 13 w 18"/>
                  <a:gd name="T21" fmla="*/ 13 h 16"/>
                  <a:gd name="T22" fmla="*/ 15 w 18"/>
                  <a:gd name="T23" fmla="*/ 13 h 16"/>
                  <a:gd name="T24" fmla="*/ 18 w 18"/>
                  <a:gd name="T25"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18" y="8"/>
                    </a:moveTo>
                    <a:lnTo>
                      <a:pt x="15" y="2"/>
                    </a:lnTo>
                    <a:lnTo>
                      <a:pt x="12" y="0"/>
                    </a:lnTo>
                    <a:lnTo>
                      <a:pt x="9" y="0"/>
                    </a:lnTo>
                    <a:lnTo>
                      <a:pt x="3" y="2"/>
                    </a:lnTo>
                    <a:lnTo>
                      <a:pt x="0" y="8"/>
                    </a:lnTo>
                    <a:lnTo>
                      <a:pt x="3" y="13"/>
                    </a:lnTo>
                    <a:lnTo>
                      <a:pt x="9" y="16"/>
                    </a:lnTo>
                    <a:lnTo>
                      <a:pt x="12" y="14"/>
                    </a:lnTo>
                    <a:lnTo>
                      <a:pt x="12" y="13"/>
                    </a:lnTo>
                    <a:lnTo>
                      <a:pt x="13" y="13"/>
                    </a:lnTo>
                    <a:lnTo>
                      <a:pt x="15" y="13"/>
                    </a:lnTo>
                    <a:lnTo>
                      <a:pt x="18" y="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90" name="Freeform 2258">
                <a:extLst>
                  <a:ext uri="{FF2B5EF4-FFF2-40B4-BE49-F238E27FC236}">
                    <a16:creationId xmlns:a16="http://schemas.microsoft.com/office/drawing/2014/main" id="{24B5471F-ED26-F2E0-78B9-25DC4141E3BF}"/>
                  </a:ext>
                </a:extLst>
              </p:cNvPr>
              <p:cNvSpPr>
                <a:spLocks/>
              </p:cNvSpPr>
              <p:nvPr/>
            </p:nvSpPr>
            <p:spPr bwMode="auto">
              <a:xfrm>
                <a:off x="940" y="3900"/>
                <a:ext cx="4" cy="4"/>
              </a:xfrm>
              <a:custGeom>
                <a:avLst/>
                <a:gdLst>
                  <a:gd name="T0" fmla="*/ 0 w 17"/>
                  <a:gd name="T1" fmla="*/ 8 h 16"/>
                  <a:gd name="T2" fmla="*/ 3 w 17"/>
                  <a:gd name="T3" fmla="*/ 13 h 16"/>
                  <a:gd name="T4" fmla="*/ 8 w 17"/>
                  <a:gd name="T5" fmla="*/ 16 h 16"/>
                  <a:gd name="T6" fmla="*/ 10 w 17"/>
                  <a:gd name="T7" fmla="*/ 14 h 16"/>
                  <a:gd name="T8" fmla="*/ 10 w 17"/>
                  <a:gd name="T9" fmla="*/ 13 h 16"/>
                  <a:gd name="T10" fmla="*/ 12 w 17"/>
                  <a:gd name="T11" fmla="*/ 13 h 16"/>
                  <a:gd name="T12" fmla="*/ 14 w 17"/>
                  <a:gd name="T13" fmla="*/ 13 h 16"/>
                  <a:gd name="T14" fmla="*/ 17 w 17"/>
                  <a:gd name="T15" fmla="*/ 8 h 16"/>
                  <a:gd name="T16" fmla="*/ 14 w 17"/>
                  <a:gd name="T17" fmla="*/ 2 h 16"/>
                  <a:gd name="T18" fmla="*/ 10 w 17"/>
                  <a:gd name="T19" fmla="*/ 0 h 16"/>
                  <a:gd name="T20" fmla="*/ 8 w 17"/>
                  <a:gd name="T21" fmla="*/ 0 h 16"/>
                  <a:gd name="T22" fmla="*/ 3 w 17"/>
                  <a:gd name="T23" fmla="*/ 2 h 16"/>
                  <a:gd name="T24" fmla="*/ 0 w 17"/>
                  <a:gd name="T25"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0" y="8"/>
                    </a:moveTo>
                    <a:lnTo>
                      <a:pt x="3" y="13"/>
                    </a:lnTo>
                    <a:lnTo>
                      <a:pt x="8" y="16"/>
                    </a:lnTo>
                    <a:lnTo>
                      <a:pt x="10" y="14"/>
                    </a:lnTo>
                    <a:lnTo>
                      <a:pt x="10" y="13"/>
                    </a:lnTo>
                    <a:lnTo>
                      <a:pt x="12" y="13"/>
                    </a:lnTo>
                    <a:lnTo>
                      <a:pt x="14" y="13"/>
                    </a:lnTo>
                    <a:lnTo>
                      <a:pt x="17" y="8"/>
                    </a:lnTo>
                    <a:lnTo>
                      <a:pt x="14" y="2"/>
                    </a:lnTo>
                    <a:lnTo>
                      <a:pt x="10" y="0"/>
                    </a:lnTo>
                    <a:lnTo>
                      <a:pt x="8" y="0"/>
                    </a:lnTo>
                    <a:lnTo>
                      <a:pt x="3" y="2"/>
                    </a:lnTo>
                    <a:lnTo>
                      <a:pt x="0" y="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91" name="Freeform 2259">
                <a:extLst>
                  <a:ext uri="{FF2B5EF4-FFF2-40B4-BE49-F238E27FC236}">
                    <a16:creationId xmlns:a16="http://schemas.microsoft.com/office/drawing/2014/main" id="{F1B675CA-6E0F-AEF2-0882-D55BA4248AA4}"/>
                  </a:ext>
                </a:extLst>
              </p:cNvPr>
              <p:cNvSpPr>
                <a:spLocks/>
              </p:cNvSpPr>
              <p:nvPr/>
            </p:nvSpPr>
            <p:spPr bwMode="auto">
              <a:xfrm>
                <a:off x="933" y="3900"/>
                <a:ext cx="5" cy="4"/>
              </a:xfrm>
              <a:custGeom>
                <a:avLst/>
                <a:gdLst>
                  <a:gd name="T0" fmla="*/ 15 w 18"/>
                  <a:gd name="T1" fmla="*/ 2 h 16"/>
                  <a:gd name="T2" fmla="*/ 12 w 18"/>
                  <a:gd name="T3" fmla="*/ 0 h 16"/>
                  <a:gd name="T4" fmla="*/ 9 w 18"/>
                  <a:gd name="T5" fmla="*/ 0 h 16"/>
                  <a:gd name="T6" fmla="*/ 3 w 18"/>
                  <a:gd name="T7" fmla="*/ 2 h 16"/>
                  <a:gd name="T8" fmla="*/ 0 w 18"/>
                  <a:gd name="T9" fmla="*/ 8 h 16"/>
                  <a:gd name="T10" fmla="*/ 3 w 18"/>
                  <a:gd name="T11" fmla="*/ 13 h 16"/>
                  <a:gd name="T12" fmla="*/ 9 w 18"/>
                  <a:gd name="T13" fmla="*/ 16 h 16"/>
                  <a:gd name="T14" fmla="*/ 12 w 18"/>
                  <a:gd name="T15" fmla="*/ 14 h 16"/>
                  <a:gd name="T16" fmla="*/ 12 w 18"/>
                  <a:gd name="T17" fmla="*/ 13 h 16"/>
                  <a:gd name="T18" fmla="*/ 13 w 18"/>
                  <a:gd name="T19" fmla="*/ 13 h 16"/>
                  <a:gd name="T20" fmla="*/ 15 w 18"/>
                  <a:gd name="T21" fmla="*/ 13 h 16"/>
                  <a:gd name="T22" fmla="*/ 18 w 18"/>
                  <a:gd name="T23" fmla="*/ 8 h 16"/>
                  <a:gd name="T24" fmla="*/ 15 w 18"/>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15" y="2"/>
                    </a:moveTo>
                    <a:lnTo>
                      <a:pt x="12" y="0"/>
                    </a:lnTo>
                    <a:lnTo>
                      <a:pt x="9" y="0"/>
                    </a:lnTo>
                    <a:lnTo>
                      <a:pt x="3" y="2"/>
                    </a:lnTo>
                    <a:lnTo>
                      <a:pt x="0" y="8"/>
                    </a:lnTo>
                    <a:lnTo>
                      <a:pt x="3" y="13"/>
                    </a:lnTo>
                    <a:lnTo>
                      <a:pt x="9" y="16"/>
                    </a:lnTo>
                    <a:lnTo>
                      <a:pt x="12" y="14"/>
                    </a:lnTo>
                    <a:lnTo>
                      <a:pt x="12" y="13"/>
                    </a:lnTo>
                    <a:lnTo>
                      <a:pt x="13" y="13"/>
                    </a:lnTo>
                    <a:lnTo>
                      <a:pt x="15" y="13"/>
                    </a:lnTo>
                    <a:lnTo>
                      <a:pt x="18" y="8"/>
                    </a:lnTo>
                    <a:lnTo>
                      <a:pt x="15"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92" name="Freeform 2260">
                <a:extLst>
                  <a:ext uri="{FF2B5EF4-FFF2-40B4-BE49-F238E27FC236}">
                    <a16:creationId xmlns:a16="http://schemas.microsoft.com/office/drawing/2014/main" id="{E3D6416C-7859-FB14-E071-B17C32B412E2}"/>
                  </a:ext>
                </a:extLst>
              </p:cNvPr>
              <p:cNvSpPr>
                <a:spLocks/>
              </p:cNvSpPr>
              <p:nvPr/>
            </p:nvSpPr>
            <p:spPr bwMode="auto">
              <a:xfrm>
                <a:off x="978" y="3900"/>
                <a:ext cx="4" cy="4"/>
              </a:xfrm>
              <a:custGeom>
                <a:avLst/>
                <a:gdLst>
                  <a:gd name="T0" fmla="*/ 16 w 16"/>
                  <a:gd name="T1" fmla="*/ 8 h 16"/>
                  <a:gd name="T2" fmla="*/ 14 w 16"/>
                  <a:gd name="T3" fmla="*/ 2 h 16"/>
                  <a:gd name="T4" fmla="*/ 9 w 16"/>
                  <a:gd name="T5" fmla="*/ 0 h 16"/>
                  <a:gd name="T6" fmla="*/ 3 w 16"/>
                  <a:gd name="T7" fmla="*/ 2 h 16"/>
                  <a:gd name="T8" fmla="*/ 0 w 16"/>
                  <a:gd name="T9" fmla="*/ 8 h 16"/>
                  <a:gd name="T10" fmla="*/ 3 w 16"/>
                  <a:gd name="T11" fmla="*/ 13 h 16"/>
                  <a:gd name="T12" fmla="*/ 9 w 16"/>
                  <a:gd name="T13" fmla="*/ 16 h 16"/>
                  <a:gd name="T14" fmla="*/ 14 w 16"/>
                  <a:gd name="T15" fmla="*/ 13 h 16"/>
                  <a:gd name="T16" fmla="*/ 16 w 16"/>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8"/>
                    </a:moveTo>
                    <a:lnTo>
                      <a:pt x="14" y="2"/>
                    </a:lnTo>
                    <a:lnTo>
                      <a:pt x="9" y="0"/>
                    </a:lnTo>
                    <a:lnTo>
                      <a:pt x="3" y="2"/>
                    </a:lnTo>
                    <a:lnTo>
                      <a:pt x="0" y="8"/>
                    </a:lnTo>
                    <a:lnTo>
                      <a:pt x="3" y="13"/>
                    </a:lnTo>
                    <a:lnTo>
                      <a:pt x="9" y="16"/>
                    </a:lnTo>
                    <a:lnTo>
                      <a:pt x="14" y="13"/>
                    </a:lnTo>
                    <a:lnTo>
                      <a:pt x="16" y="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93" name="Freeform 2261">
                <a:extLst>
                  <a:ext uri="{FF2B5EF4-FFF2-40B4-BE49-F238E27FC236}">
                    <a16:creationId xmlns:a16="http://schemas.microsoft.com/office/drawing/2014/main" id="{13B505AD-F6CC-1BC5-76D3-C3CE912230BC}"/>
                  </a:ext>
                </a:extLst>
              </p:cNvPr>
              <p:cNvSpPr>
                <a:spLocks/>
              </p:cNvSpPr>
              <p:nvPr/>
            </p:nvSpPr>
            <p:spPr bwMode="auto">
              <a:xfrm>
                <a:off x="972" y="3900"/>
                <a:ext cx="4" cy="4"/>
              </a:xfrm>
              <a:custGeom>
                <a:avLst/>
                <a:gdLst>
                  <a:gd name="T0" fmla="*/ 14 w 17"/>
                  <a:gd name="T1" fmla="*/ 2 h 16"/>
                  <a:gd name="T2" fmla="*/ 10 w 17"/>
                  <a:gd name="T3" fmla="*/ 0 h 16"/>
                  <a:gd name="T4" fmla="*/ 8 w 17"/>
                  <a:gd name="T5" fmla="*/ 0 h 16"/>
                  <a:gd name="T6" fmla="*/ 2 w 17"/>
                  <a:gd name="T7" fmla="*/ 2 h 16"/>
                  <a:gd name="T8" fmla="*/ 0 w 17"/>
                  <a:gd name="T9" fmla="*/ 8 h 16"/>
                  <a:gd name="T10" fmla="*/ 2 w 17"/>
                  <a:gd name="T11" fmla="*/ 13 h 16"/>
                  <a:gd name="T12" fmla="*/ 8 w 17"/>
                  <a:gd name="T13" fmla="*/ 16 h 16"/>
                  <a:gd name="T14" fmla="*/ 10 w 17"/>
                  <a:gd name="T15" fmla="*/ 14 h 16"/>
                  <a:gd name="T16" fmla="*/ 10 w 17"/>
                  <a:gd name="T17" fmla="*/ 13 h 16"/>
                  <a:gd name="T18" fmla="*/ 12 w 17"/>
                  <a:gd name="T19" fmla="*/ 13 h 16"/>
                  <a:gd name="T20" fmla="*/ 14 w 17"/>
                  <a:gd name="T21" fmla="*/ 13 h 16"/>
                  <a:gd name="T22" fmla="*/ 17 w 17"/>
                  <a:gd name="T23" fmla="*/ 8 h 16"/>
                  <a:gd name="T24" fmla="*/ 14 w 17"/>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14" y="2"/>
                    </a:moveTo>
                    <a:lnTo>
                      <a:pt x="10" y="0"/>
                    </a:lnTo>
                    <a:lnTo>
                      <a:pt x="8" y="0"/>
                    </a:lnTo>
                    <a:lnTo>
                      <a:pt x="2" y="2"/>
                    </a:lnTo>
                    <a:lnTo>
                      <a:pt x="0" y="8"/>
                    </a:lnTo>
                    <a:lnTo>
                      <a:pt x="2" y="13"/>
                    </a:lnTo>
                    <a:lnTo>
                      <a:pt x="8" y="16"/>
                    </a:lnTo>
                    <a:lnTo>
                      <a:pt x="10" y="14"/>
                    </a:lnTo>
                    <a:lnTo>
                      <a:pt x="10" y="13"/>
                    </a:lnTo>
                    <a:lnTo>
                      <a:pt x="12" y="13"/>
                    </a:lnTo>
                    <a:lnTo>
                      <a:pt x="14" y="13"/>
                    </a:lnTo>
                    <a:lnTo>
                      <a:pt x="17" y="8"/>
                    </a:lnTo>
                    <a:lnTo>
                      <a:pt x="14"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94" name="Freeform 2262">
                <a:extLst>
                  <a:ext uri="{FF2B5EF4-FFF2-40B4-BE49-F238E27FC236}">
                    <a16:creationId xmlns:a16="http://schemas.microsoft.com/office/drawing/2014/main" id="{B6224534-ED58-6C16-C5BC-4101865220F4}"/>
                  </a:ext>
                </a:extLst>
              </p:cNvPr>
              <p:cNvSpPr>
                <a:spLocks/>
              </p:cNvSpPr>
              <p:nvPr/>
            </p:nvSpPr>
            <p:spPr bwMode="auto">
              <a:xfrm>
                <a:off x="965" y="3900"/>
                <a:ext cx="4" cy="4"/>
              </a:xfrm>
              <a:custGeom>
                <a:avLst/>
                <a:gdLst>
                  <a:gd name="T0" fmla="*/ 17 w 17"/>
                  <a:gd name="T1" fmla="*/ 8 h 16"/>
                  <a:gd name="T2" fmla="*/ 14 w 17"/>
                  <a:gd name="T3" fmla="*/ 2 h 16"/>
                  <a:gd name="T4" fmla="*/ 9 w 17"/>
                  <a:gd name="T5" fmla="*/ 0 h 16"/>
                  <a:gd name="T6" fmla="*/ 3 w 17"/>
                  <a:gd name="T7" fmla="*/ 2 h 16"/>
                  <a:gd name="T8" fmla="*/ 0 w 17"/>
                  <a:gd name="T9" fmla="*/ 8 h 16"/>
                  <a:gd name="T10" fmla="*/ 3 w 17"/>
                  <a:gd name="T11" fmla="*/ 13 h 16"/>
                  <a:gd name="T12" fmla="*/ 9 w 17"/>
                  <a:gd name="T13" fmla="*/ 16 h 16"/>
                  <a:gd name="T14" fmla="*/ 14 w 17"/>
                  <a:gd name="T15" fmla="*/ 13 h 16"/>
                  <a:gd name="T16" fmla="*/ 17 w 17"/>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7" y="8"/>
                    </a:moveTo>
                    <a:lnTo>
                      <a:pt x="14" y="2"/>
                    </a:lnTo>
                    <a:lnTo>
                      <a:pt x="9" y="0"/>
                    </a:lnTo>
                    <a:lnTo>
                      <a:pt x="3" y="2"/>
                    </a:lnTo>
                    <a:lnTo>
                      <a:pt x="0" y="8"/>
                    </a:lnTo>
                    <a:lnTo>
                      <a:pt x="3" y="13"/>
                    </a:lnTo>
                    <a:lnTo>
                      <a:pt x="9" y="16"/>
                    </a:lnTo>
                    <a:lnTo>
                      <a:pt x="14" y="13"/>
                    </a:lnTo>
                    <a:lnTo>
                      <a:pt x="17" y="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95" name="Freeform 2263">
                <a:extLst>
                  <a:ext uri="{FF2B5EF4-FFF2-40B4-BE49-F238E27FC236}">
                    <a16:creationId xmlns:a16="http://schemas.microsoft.com/office/drawing/2014/main" id="{FAEF334D-C4F2-4AAB-8A1E-AA1B3F1CAC6A}"/>
                  </a:ext>
                </a:extLst>
              </p:cNvPr>
              <p:cNvSpPr>
                <a:spLocks/>
              </p:cNvSpPr>
              <p:nvPr/>
            </p:nvSpPr>
            <p:spPr bwMode="auto">
              <a:xfrm>
                <a:off x="972" y="3856"/>
                <a:ext cx="4" cy="4"/>
              </a:xfrm>
              <a:custGeom>
                <a:avLst/>
                <a:gdLst>
                  <a:gd name="T0" fmla="*/ 14 w 17"/>
                  <a:gd name="T1" fmla="*/ 3 h 17"/>
                  <a:gd name="T2" fmla="*/ 10 w 17"/>
                  <a:gd name="T3" fmla="*/ 0 h 17"/>
                  <a:gd name="T4" fmla="*/ 8 w 17"/>
                  <a:gd name="T5" fmla="*/ 0 h 17"/>
                  <a:gd name="T6" fmla="*/ 2 w 17"/>
                  <a:gd name="T7" fmla="*/ 3 h 17"/>
                  <a:gd name="T8" fmla="*/ 0 w 17"/>
                  <a:gd name="T9" fmla="*/ 9 h 17"/>
                  <a:gd name="T10" fmla="*/ 2 w 17"/>
                  <a:gd name="T11" fmla="*/ 15 h 17"/>
                  <a:gd name="T12" fmla="*/ 8 w 17"/>
                  <a:gd name="T13" fmla="*/ 17 h 17"/>
                  <a:gd name="T14" fmla="*/ 10 w 17"/>
                  <a:gd name="T15" fmla="*/ 16 h 17"/>
                  <a:gd name="T16" fmla="*/ 10 w 17"/>
                  <a:gd name="T17" fmla="*/ 15 h 17"/>
                  <a:gd name="T18" fmla="*/ 12 w 17"/>
                  <a:gd name="T19" fmla="*/ 15 h 17"/>
                  <a:gd name="T20" fmla="*/ 14 w 17"/>
                  <a:gd name="T21" fmla="*/ 15 h 17"/>
                  <a:gd name="T22" fmla="*/ 14 w 17"/>
                  <a:gd name="T23" fmla="*/ 12 h 17"/>
                  <a:gd name="T24" fmla="*/ 14 w 17"/>
                  <a:gd name="T25" fmla="*/ 11 h 17"/>
                  <a:gd name="T26" fmla="*/ 15 w 17"/>
                  <a:gd name="T27" fmla="*/ 11 h 17"/>
                  <a:gd name="T28" fmla="*/ 17 w 17"/>
                  <a:gd name="T29" fmla="*/ 9 h 17"/>
                  <a:gd name="T30" fmla="*/ 14 w 17"/>
                  <a:gd name="T31"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7">
                    <a:moveTo>
                      <a:pt x="14" y="3"/>
                    </a:moveTo>
                    <a:lnTo>
                      <a:pt x="10" y="0"/>
                    </a:lnTo>
                    <a:lnTo>
                      <a:pt x="8" y="0"/>
                    </a:lnTo>
                    <a:lnTo>
                      <a:pt x="2" y="3"/>
                    </a:lnTo>
                    <a:lnTo>
                      <a:pt x="0" y="9"/>
                    </a:lnTo>
                    <a:lnTo>
                      <a:pt x="2" y="15"/>
                    </a:lnTo>
                    <a:lnTo>
                      <a:pt x="8" y="17"/>
                    </a:lnTo>
                    <a:lnTo>
                      <a:pt x="10" y="16"/>
                    </a:lnTo>
                    <a:lnTo>
                      <a:pt x="10" y="15"/>
                    </a:lnTo>
                    <a:lnTo>
                      <a:pt x="12" y="15"/>
                    </a:lnTo>
                    <a:lnTo>
                      <a:pt x="14" y="15"/>
                    </a:lnTo>
                    <a:lnTo>
                      <a:pt x="14" y="12"/>
                    </a:lnTo>
                    <a:lnTo>
                      <a:pt x="14" y="11"/>
                    </a:lnTo>
                    <a:lnTo>
                      <a:pt x="15" y="11"/>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96" name="Freeform 2264">
                <a:extLst>
                  <a:ext uri="{FF2B5EF4-FFF2-40B4-BE49-F238E27FC236}">
                    <a16:creationId xmlns:a16="http://schemas.microsoft.com/office/drawing/2014/main" id="{6BA0F93A-0761-D3E9-8133-47C38BAFE10F}"/>
                  </a:ext>
                </a:extLst>
              </p:cNvPr>
              <p:cNvSpPr>
                <a:spLocks/>
              </p:cNvSpPr>
              <p:nvPr/>
            </p:nvSpPr>
            <p:spPr bwMode="auto">
              <a:xfrm>
                <a:off x="965" y="3856"/>
                <a:ext cx="4" cy="4"/>
              </a:xfrm>
              <a:custGeom>
                <a:avLst/>
                <a:gdLst>
                  <a:gd name="T0" fmla="*/ 17 w 17"/>
                  <a:gd name="T1" fmla="*/ 9 h 17"/>
                  <a:gd name="T2" fmla="*/ 14 w 17"/>
                  <a:gd name="T3" fmla="*/ 3 h 17"/>
                  <a:gd name="T4" fmla="*/ 9 w 17"/>
                  <a:gd name="T5" fmla="*/ 0 h 17"/>
                  <a:gd name="T6" fmla="*/ 3 w 17"/>
                  <a:gd name="T7" fmla="*/ 3 h 17"/>
                  <a:gd name="T8" fmla="*/ 0 w 17"/>
                  <a:gd name="T9" fmla="*/ 9 h 17"/>
                  <a:gd name="T10" fmla="*/ 0 w 17"/>
                  <a:gd name="T11" fmla="*/ 11 h 17"/>
                  <a:gd name="T12" fmla="*/ 3 w 17"/>
                  <a:gd name="T13" fmla="*/ 15 h 17"/>
                  <a:gd name="T14" fmla="*/ 9 w 17"/>
                  <a:gd name="T15" fmla="*/ 17 h 17"/>
                  <a:gd name="T16" fmla="*/ 14 w 17"/>
                  <a:gd name="T17" fmla="*/ 15 h 17"/>
                  <a:gd name="T18" fmla="*/ 14 w 17"/>
                  <a:gd name="T19" fmla="*/ 12 h 17"/>
                  <a:gd name="T20" fmla="*/ 14 w 17"/>
                  <a:gd name="T21" fmla="*/ 11 h 17"/>
                  <a:gd name="T22" fmla="*/ 15 w 17"/>
                  <a:gd name="T23" fmla="*/ 11 h 17"/>
                  <a:gd name="T24" fmla="*/ 17 w 17"/>
                  <a:gd name="T25"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17" y="9"/>
                    </a:moveTo>
                    <a:lnTo>
                      <a:pt x="14" y="3"/>
                    </a:lnTo>
                    <a:lnTo>
                      <a:pt x="9" y="0"/>
                    </a:lnTo>
                    <a:lnTo>
                      <a:pt x="3" y="3"/>
                    </a:lnTo>
                    <a:lnTo>
                      <a:pt x="0" y="9"/>
                    </a:lnTo>
                    <a:lnTo>
                      <a:pt x="0" y="11"/>
                    </a:lnTo>
                    <a:lnTo>
                      <a:pt x="3" y="15"/>
                    </a:lnTo>
                    <a:lnTo>
                      <a:pt x="9" y="17"/>
                    </a:lnTo>
                    <a:lnTo>
                      <a:pt x="14" y="15"/>
                    </a:lnTo>
                    <a:lnTo>
                      <a:pt x="14" y="12"/>
                    </a:lnTo>
                    <a:lnTo>
                      <a:pt x="14" y="11"/>
                    </a:lnTo>
                    <a:lnTo>
                      <a:pt x="15" y="11"/>
                    </a:lnTo>
                    <a:lnTo>
                      <a:pt x="17"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97" name="Freeform 2265">
                <a:extLst>
                  <a:ext uri="{FF2B5EF4-FFF2-40B4-BE49-F238E27FC236}">
                    <a16:creationId xmlns:a16="http://schemas.microsoft.com/office/drawing/2014/main" id="{0A87299D-F4F2-C867-65BA-D40DBB4A8252}"/>
                  </a:ext>
                </a:extLst>
              </p:cNvPr>
              <p:cNvSpPr>
                <a:spLocks/>
              </p:cNvSpPr>
              <p:nvPr/>
            </p:nvSpPr>
            <p:spPr bwMode="auto">
              <a:xfrm>
                <a:off x="965" y="3862"/>
                <a:ext cx="4" cy="4"/>
              </a:xfrm>
              <a:custGeom>
                <a:avLst/>
                <a:gdLst>
                  <a:gd name="T0" fmla="*/ 17 w 17"/>
                  <a:gd name="T1" fmla="*/ 9 h 16"/>
                  <a:gd name="T2" fmla="*/ 14 w 17"/>
                  <a:gd name="T3" fmla="*/ 3 h 16"/>
                  <a:gd name="T4" fmla="*/ 9 w 17"/>
                  <a:gd name="T5" fmla="*/ 0 h 16"/>
                  <a:gd name="T6" fmla="*/ 3 w 17"/>
                  <a:gd name="T7" fmla="*/ 3 h 16"/>
                  <a:gd name="T8" fmla="*/ 0 w 17"/>
                  <a:gd name="T9" fmla="*/ 9 h 16"/>
                  <a:gd name="T10" fmla="*/ 3 w 17"/>
                  <a:gd name="T11" fmla="*/ 14 h 16"/>
                  <a:gd name="T12" fmla="*/ 9 w 17"/>
                  <a:gd name="T13" fmla="*/ 16 h 16"/>
                  <a:gd name="T14" fmla="*/ 14 w 17"/>
                  <a:gd name="T15" fmla="*/ 14 h 16"/>
                  <a:gd name="T16" fmla="*/ 17 w 17"/>
                  <a:gd name="T17"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7" y="9"/>
                    </a:moveTo>
                    <a:lnTo>
                      <a:pt x="14" y="3"/>
                    </a:lnTo>
                    <a:lnTo>
                      <a:pt x="9" y="0"/>
                    </a:lnTo>
                    <a:lnTo>
                      <a:pt x="3" y="3"/>
                    </a:lnTo>
                    <a:lnTo>
                      <a:pt x="0" y="9"/>
                    </a:lnTo>
                    <a:lnTo>
                      <a:pt x="3" y="14"/>
                    </a:lnTo>
                    <a:lnTo>
                      <a:pt x="9" y="16"/>
                    </a:lnTo>
                    <a:lnTo>
                      <a:pt x="14" y="14"/>
                    </a:lnTo>
                    <a:lnTo>
                      <a:pt x="17"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98" name="Freeform 2266">
                <a:extLst>
                  <a:ext uri="{FF2B5EF4-FFF2-40B4-BE49-F238E27FC236}">
                    <a16:creationId xmlns:a16="http://schemas.microsoft.com/office/drawing/2014/main" id="{1FE5FC5F-2A33-0DE7-E170-7A7640762351}"/>
                  </a:ext>
                </a:extLst>
              </p:cNvPr>
              <p:cNvSpPr>
                <a:spLocks/>
              </p:cNvSpPr>
              <p:nvPr/>
            </p:nvSpPr>
            <p:spPr bwMode="auto">
              <a:xfrm>
                <a:off x="972" y="3862"/>
                <a:ext cx="4" cy="4"/>
              </a:xfrm>
              <a:custGeom>
                <a:avLst/>
                <a:gdLst>
                  <a:gd name="T0" fmla="*/ 2 w 17"/>
                  <a:gd name="T1" fmla="*/ 3 h 16"/>
                  <a:gd name="T2" fmla="*/ 0 w 17"/>
                  <a:gd name="T3" fmla="*/ 9 h 16"/>
                  <a:gd name="T4" fmla="*/ 2 w 17"/>
                  <a:gd name="T5" fmla="*/ 14 h 16"/>
                  <a:gd name="T6" fmla="*/ 8 w 17"/>
                  <a:gd name="T7" fmla="*/ 16 h 16"/>
                  <a:gd name="T8" fmla="*/ 10 w 17"/>
                  <a:gd name="T9" fmla="*/ 15 h 16"/>
                  <a:gd name="T10" fmla="*/ 10 w 17"/>
                  <a:gd name="T11" fmla="*/ 14 h 16"/>
                  <a:gd name="T12" fmla="*/ 12 w 17"/>
                  <a:gd name="T13" fmla="*/ 14 h 16"/>
                  <a:gd name="T14" fmla="*/ 14 w 17"/>
                  <a:gd name="T15" fmla="*/ 14 h 16"/>
                  <a:gd name="T16" fmla="*/ 17 w 17"/>
                  <a:gd name="T17" fmla="*/ 9 h 16"/>
                  <a:gd name="T18" fmla="*/ 14 w 17"/>
                  <a:gd name="T19" fmla="*/ 3 h 16"/>
                  <a:gd name="T20" fmla="*/ 10 w 17"/>
                  <a:gd name="T21" fmla="*/ 0 h 16"/>
                  <a:gd name="T22" fmla="*/ 8 w 17"/>
                  <a:gd name="T23" fmla="*/ 0 h 16"/>
                  <a:gd name="T24" fmla="*/ 2 w 17"/>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2" y="3"/>
                    </a:moveTo>
                    <a:lnTo>
                      <a:pt x="0" y="9"/>
                    </a:lnTo>
                    <a:lnTo>
                      <a:pt x="2" y="14"/>
                    </a:lnTo>
                    <a:lnTo>
                      <a:pt x="8" y="16"/>
                    </a:lnTo>
                    <a:lnTo>
                      <a:pt x="10" y="15"/>
                    </a:lnTo>
                    <a:lnTo>
                      <a:pt x="10" y="14"/>
                    </a:lnTo>
                    <a:lnTo>
                      <a:pt x="12" y="14"/>
                    </a:lnTo>
                    <a:lnTo>
                      <a:pt x="14" y="14"/>
                    </a:lnTo>
                    <a:lnTo>
                      <a:pt x="17" y="9"/>
                    </a:lnTo>
                    <a:lnTo>
                      <a:pt x="14" y="3"/>
                    </a:lnTo>
                    <a:lnTo>
                      <a:pt x="10" y="0"/>
                    </a:lnTo>
                    <a:lnTo>
                      <a:pt x="8" y="0"/>
                    </a:lnTo>
                    <a:lnTo>
                      <a:pt x="2"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699" name="Freeform 2267">
                <a:extLst>
                  <a:ext uri="{FF2B5EF4-FFF2-40B4-BE49-F238E27FC236}">
                    <a16:creationId xmlns:a16="http://schemas.microsoft.com/office/drawing/2014/main" id="{3D57830B-289E-EF68-8455-E732F780B4A5}"/>
                  </a:ext>
                </a:extLst>
              </p:cNvPr>
              <p:cNvSpPr>
                <a:spLocks/>
              </p:cNvSpPr>
              <p:nvPr/>
            </p:nvSpPr>
            <p:spPr bwMode="auto">
              <a:xfrm>
                <a:off x="959" y="3856"/>
                <a:ext cx="4" cy="4"/>
              </a:xfrm>
              <a:custGeom>
                <a:avLst/>
                <a:gdLst>
                  <a:gd name="T0" fmla="*/ 9 w 18"/>
                  <a:gd name="T1" fmla="*/ 17 h 17"/>
                  <a:gd name="T2" fmla="*/ 11 w 18"/>
                  <a:gd name="T3" fmla="*/ 16 h 17"/>
                  <a:gd name="T4" fmla="*/ 11 w 18"/>
                  <a:gd name="T5" fmla="*/ 15 h 17"/>
                  <a:gd name="T6" fmla="*/ 13 w 18"/>
                  <a:gd name="T7" fmla="*/ 15 h 17"/>
                  <a:gd name="T8" fmla="*/ 15 w 18"/>
                  <a:gd name="T9" fmla="*/ 15 h 17"/>
                  <a:gd name="T10" fmla="*/ 18 w 18"/>
                  <a:gd name="T11" fmla="*/ 9 h 17"/>
                  <a:gd name="T12" fmla="*/ 15 w 18"/>
                  <a:gd name="T13" fmla="*/ 3 h 17"/>
                  <a:gd name="T14" fmla="*/ 11 w 18"/>
                  <a:gd name="T15" fmla="*/ 0 h 17"/>
                  <a:gd name="T16" fmla="*/ 9 w 18"/>
                  <a:gd name="T17" fmla="*/ 0 h 17"/>
                  <a:gd name="T18" fmla="*/ 3 w 18"/>
                  <a:gd name="T19" fmla="*/ 3 h 17"/>
                  <a:gd name="T20" fmla="*/ 2 w 18"/>
                  <a:gd name="T21" fmla="*/ 9 h 17"/>
                  <a:gd name="T22" fmla="*/ 0 w 18"/>
                  <a:gd name="T23" fmla="*/ 11 h 17"/>
                  <a:gd name="T24" fmla="*/ 3 w 18"/>
                  <a:gd name="T25" fmla="*/ 15 h 17"/>
                  <a:gd name="T26" fmla="*/ 9 w 18"/>
                  <a:gd name="T2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17">
                    <a:moveTo>
                      <a:pt x="9" y="17"/>
                    </a:moveTo>
                    <a:lnTo>
                      <a:pt x="11" y="16"/>
                    </a:lnTo>
                    <a:lnTo>
                      <a:pt x="11" y="15"/>
                    </a:lnTo>
                    <a:lnTo>
                      <a:pt x="13" y="15"/>
                    </a:lnTo>
                    <a:lnTo>
                      <a:pt x="15" y="15"/>
                    </a:lnTo>
                    <a:lnTo>
                      <a:pt x="18" y="9"/>
                    </a:lnTo>
                    <a:lnTo>
                      <a:pt x="15" y="3"/>
                    </a:lnTo>
                    <a:lnTo>
                      <a:pt x="11" y="0"/>
                    </a:lnTo>
                    <a:lnTo>
                      <a:pt x="9" y="0"/>
                    </a:lnTo>
                    <a:lnTo>
                      <a:pt x="3" y="3"/>
                    </a:lnTo>
                    <a:lnTo>
                      <a:pt x="2" y="9"/>
                    </a:lnTo>
                    <a:lnTo>
                      <a:pt x="0" y="11"/>
                    </a:lnTo>
                    <a:lnTo>
                      <a:pt x="3" y="15"/>
                    </a:lnTo>
                    <a:lnTo>
                      <a:pt x="9" y="17"/>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00" name="Freeform 2268">
                <a:extLst>
                  <a:ext uri="{FF2B5EF4-FFF2-40B4-BE49-F238E27FC236}">
                    <a16:creationId xmlns:a16="http://schemas.microsoft.com/office/drawing/2014/main" id="{E7E1D778-F0E2-8373-86A9-EED0A95A906A}"/>
                  </a:ext>
                </a:extLst>
              </p:cNvPr>
              <p:cNvSpPr>
                <a:spLocks/>
              </p:cNvSpPr>
              <p:nvPr/>
            </p:nvSpPr>
            <p:spPr bwMode="auto">
              <a:xfrm>
                <a:off x="959" y="3862"/>
                <a:ext cx="4" cy="4"/>
              </a:xfrm>
              <a:custGeom>
                <a:avLst/>
                <a:gdLst>
                  <a:gd name="T0" fmla="*/ 13 w 16"/>
                  <a:gd name="T1" fmla="*/ 3 h 16"/>
                  <a:gd name="T2" fmla="*/ 9 w 16"/>
                  <a:gd name="T3" fmla="*/ 0 h 16"/>
                  <a:gd name="T4" fmla="*/ 7 w 16"/>
                  <a:gd name="T5" fmla="*/ 0 h 16"/>
                  <a:gd name="T6" fmla="*/ 1 w 16"/>
                  <a:gd name="T7" fmla="*/ 3 h 16"/>
                  <a:gd name="T8" fmla="*/ 0 w 16"/>
                  <a:gd name="T9" fmla="*/ 9 h 16"/>
                  <a:gd name="T10" fmla="*/ 1 w 16"/>
                  <a:gd name="T11" fmla="*/ 14 h 16"/>
                  <a:gd name="T12" fmla="*/ 7 w 16"/>
                  <a:gd name="T13" fmla="*/ 16 h 16"/>
                  <a:gd name="T14" fmla="*/ 9 w 16"/>
                  <a:gd name="T15" fmla="*/ 15 h 16"/>
                  <a:gd name="T16" fmla="*/ 9 w 16"/>
                  <a:gd name="T17" fmla="*/ 14 h 16"/>
                  <a:gd name="T18" fmla="*/ 11 w 16"/>
                  <a:gd name="T19" fmla="*/ 14 h 16"/>
                  <a:gd name="T20" fmla="*/ 13 w 16"/>
                  <a:gd name="T21" fmla="*/ 14 h 16"/>
                  <a:gd name="T22" fmla="*/ 16 w 16"/>
                  <a:gd name="T23" fmla="*/ 9 h 16"/>
                  <a:gd name="T24" fmla="*/ 13 w 16"/>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6">
                    <a:moveTo>
                      <a:pt x="13" y="3"/>
                    </a:moveTo>
                    <a:lnTo>
                      <a:pt x="9" y="0"/>
                    </a:lnTo>
                    <a:lnTo>
                      <a:pt x="7" y="0"/>
                    </a:lnTo>
                    <a:lnTo>
                      <a:pt x="1" y="3"/>
                    </a:lnTo>
                    <a:lnTo>
                      <a:pt x="0" y="9"/>
                    </a:lnTo>
                    <a:lnTo>
                      <a:pt x="1" y="14"/>
                    </a:lnTo>
                    <a:lnTo>
                      <a:pt x="7" y="16"/>
                    </a:lnTo>
                    <a:lnTo>
                      <a:pt x="9" y="15"/>
                    </a:lnTo>
                    <a:lnTo>
                      <a:pt x="9" y="14"/>
                    </a:lnTo>
                    <a:lnTo>
                      <a:pt x="11" y="14"/>
                    </a:lnTo>
                    <a:lnTo>
                      <a:pt x="13" y="14"/>
                    </a:lnTo>
                    <a:lnTo>
                      <a:pt x="16" y="9"/>
                    </a:lnTo>
                    <a:lnTo>
                      <a:pt x="13"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01" name="Freeform 2269">
                <a:extLst>
                  <a:ext uri="{FF2B5EF4-FFF2-40B4-BE49-F238E27FC236}">
                    <a16:creationId xmlns:a16="http://schemas.microsoft.com/office/drawing/2014/main" id="{1BB77A4B-DCD7-DCC8-3563-B047C593DA23}"/>
                  </a:ext>
                </a:extLst>
              </p:cNvPr>
              <p:cNvSpPr>
                <a:spLocks/>
              </p:cNvSpPr>
              <p:nvPr/>
            </p:nvSpPr>
            <p:spPr bwMode="auto">
              <a:xfrm>
                <a:off x="965" y="3868"/>
                <a:ext cx="4" cy="5"/>
              </a:xfrm>
              <a:custGeom>
                <a:avLst/>
                <a:gdLst>
                  <a:gd name="T0" fmla="*/ 9 w 17"/>
                  <a:gd name="T1" fmla="*/ 0 h 17"/>
                  <a:gd name="T2" fmla="*/ 3 w 17"/>
                  <a:gd name="T3" fmla="*/ 2 h 17"/>
                  <a:gd name="T4" fmla="*/ 0 w 17"/>
                  <a:gd name="T5" fmla="*/ 9 h 17"/>
                  <a:gd name="T6" fmla="*/ 0 w 17"/>
                  <a:gd name="T7" fmla="*/ 11 h 17"/>
                  <a:gd name="T8" fmla="*/ 3 w 17"/>
                  <a:gd name="T9" fmla="*/ 15 h 17"/>
                  <a:gd name="T10" fmla="*/ 9 w 17"/>
                  <a:gd name="T11" fmla="*/ 17 h 17"/>
                  <a:gd name="T12" fmla="*/ 14 w 17"/>
                  <a:gd name="T13" fmla="*/ 15 h 17"/>
                  <a:gd name="T14" fmla="*/ 14 w 17"/>
                  <a:gd name="T15" fmla="*/ 12 h 17"/>
                  <a:gd name="T16" fmla="*/ 14 w 17"/>
                  <a:gd name="T17" fmla="*/ 11 h 17"/>
                  <a:gd name="T18" fmla="*/ 15 w 17"/>
                  <a:gd name="T19" fmla="*/ 11 h 17"/>
                  <a:gd name="T20" fmla="*/ 17 w 17"/>
                  <a:gd name="T21" fmla="*/ 9 h 17"/>
                  <a:gd name="T22" fmla="*/ 14 w 17"/>
                  <a:gd name="T23" fmla="*/ 2 h 17"/>
                  <a:gd name="T24" fmla="*/ 9 w 17"/>
                  <a:gd name="T2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9" y="0"/>
                    </a:moveTo>
                    <a:lnTo>
                      <a:pt x="3" y="2"/>
                    </a:lnTo>
                    <a:lnTo>
                      <a:pt x="0" y="9"/>
                    </a:lnTo>
                    <a:lnTo>
                      <a:pt x="0" y="11"/>
                    </a:lnTo>
                    <a:lnTo>
                      <a:pt x="3" y="15"/>
                    </a:lnTo>
                    <a:lnTo>
                      <a:pt x="9" y="17"/>
                    </a:lnTo>
                    <a:lnTo>
                      <a:pt x="14" y="15"/>
                    </a:lnTo>
                    <a:lnTo>
                      <a:pt x="14" y="12"/>
                    </a:lnTo>
                    <a:lnTo>
                      <a:pt x="14" y="11"/>
                    </a:lnTo>
                    <a:lnTo>
                      <a:pt x="15" y="11"/>
                    </a:lnTo>
                    <a:lnTo>
                      <a:pt x="17" y="9"/>
                    </a:lnTo>
                    <a:lnTo>
                      <a:pt x="14" y="2"/>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02" name="Freeform 2270">
                <a:extLst>
                  <a:ext uri="{FF2B5EF4-FFF2-40B4-BE49-F238E27FC236}">
                    <a16:creationId xmlns:a16="http://schemas.microsoft.com/office/drawing/2014/main" id="{E79C7AFA-F069-F27E-CE72-09C3F3BC3ACD}"/>
                  </a:ext>
                </a:extLst>
              </p:cNvPr>
              <p:cNvSpPr>
                <a:spLocks/>
              </p:cNvSpPr>
              <p:nvPr/>
            </p:nvSpPr>
            <p:spPr bwMode="auto">
              <a:xfrm>
                <a:off x="959" y="3868"/>
                <a:ext cx="4" cy="5"/>
              </a:xfrm>
              <a:custGeom>
                <a:avLst/>
                <a:gdLst>
                  <a:gd name="T0" fmla="*/ 15 w 18"/>
                  <a:gd name="T1" fmla="*/ 2 h 17"/>
                  <a:gd name="T2" fmla="*/ 11 w 18"/>
                  <a:gd name="T3" fmla="*/ 0 h 17"/>
                  <a:gd name="T4" fmla="*/ 9 w 18"/>
                  <a:gd name="T5" fmla="*/ 0 h 17"/>
                  <a:gd name="T6" fmla="*/ 3 w 18"/>
                  <a:gd name="T7" fmla="*/ 2 h 17"/>
                  <a:gd name="T8" fmla="*/ 2 w 18"/>
                  <a:gd name="T9" fmla="*/ 9 h 17"/>
                  <a:gd name="T10" fmla="*/ 0 w 18"/>
                  <a:gd name="T11" fmla="*/ 11 h 17"/>
                  <a:gd name="T12" fmla="*/ 3 w 18"/>
                  <a:gd name="T13" fmla="*/ 15 h 17"/>
                  <a:gd name="T14" fmla="*/ 9 w 18"/>
                  <a:gd name="T15" fmla="*/ 17 h 17"/>
                  <a:gd name="T16" fmla="*/ 11 w 18"/>
                  <a:gd name="T17" fmla="*/ 16 h 17"/>
                  <a:gd name="T18" fmla="*/ 11 w 18"/>
                  <a:gd name="T19" fmla="*/ 15 h 17"/>
                  <a:gd name="T20" fmla="*/ 13 w 18"/>
                  <a:gd name="T21" fmla="*/ 15 h 17"/>
                  <a:gd name="T22" fmla="*/ 15 w 18"/>
                  <a:gd name="T23" fmla="*/ 15 h 17"/>
                  <a:gd name="T24" fmla="*/ 18 w 18"/>
                  <a:gd name="T25" fmla="*/ 9 h 17"/>
                  <a:gd name="T26" fmla="*/ 15 w 18"/>
                  <a:gd name="T27"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17">
                    <a:moveTo>
                      <a:pt x="15" y="2"/>
                    </a:moveTo>
                    <a:lnTo>
                      <a:pt x="11" y="0"/>
                    </a:lnTo>
                    <a:lnTo>
                      <a:pt x="9" y="0"/>
                    </a:lnTo>
                    <a:lnTo>
                      <a:pt x="3" y="2"/>
                    </a:lnTo>
                    <a:lnTo>
                      <a:pt x="2" y="9"/>
                    </a:lnTo>
                    <a:lnTo>
                      <a:pt x="0" y="11"/>
                    </a:lnTo>
                    <a:lnTo>
                      <a:pt x="3" y="15"/>
                    </a:lnTo>
                    <a:lnTo>
                      <a:pt x="9" y="17"/>
                    </a:lnTo>
                    <a:lnTo>
                      <a:pt x="11" y="16"/>
                    </a:lnTo>
                    <a:lnTo>
                      <a:pt x="11" y="15"/>
                    </a:lnTo>
                    <a:lnTo>
                      <a:pt x="13" y="15"/>
                    </a:lnTo>
                    <a:lnTo>
                      <a:pt x="15" y="15"/>
                    </a:lnTo>
                    <a:lnTo>
                      <a:pt x="18" y="9"/>
                    </a:lnTo>
                    <a:lnTo>
                      <a:pt x="15"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03" name="Freeform 2271">
                <a:extLst>
                  <a:ext uri="{FF2B5EF4-FFF2-40B4-BE49-F238E27FC236}">
                    <a16:creationId xmlns:a16="http://schemas.microsoft.com/office/drawing/2014/main" id="{D70D1B04-BD38-BBAE-F4BC-6793524E7ACF}"/>
                  </a:ext>
                </a:extLst>
              </p:cNvPr>
              <p:cNvSpPr>
                <a:spLocks/>
              </p:cNvSpPr>
              <p:nvPr/>
            </p:nvSpPr>
            <p:spPr bwMode="auto">
              <a:xfrm>
                <a:off x="972" y="3868"/>
                <a:ext cx="4" cy="5"/>
              </a:xfrm>
              <a:custGeom>
                <a:avLst/>
                <a:gdLst>
                  <a:gd name="T0" fmla="*/ 8 w 17"/>
                  <a:gd name="T1" fmla="*/ 0 h 17"/>
                  <a:gd name="T2" fmla="*/ 2 w 17"/>
                  <a:gd name="T3" fmla="*/ 2 h 17"/>
                  <a:gd name="T4" fmla="*/ 0 w 17"/>
                  <a:gd name="T5" fmla="*/ 9 h 17"/>
                  <a:gd name="T6" fmla="*/ 2 w 17"/>
                  <a:gd name="T7" fmla="*/ 15 h 17"/>
                  <a:gd name="T8" fmla="*/ 8 w 17"/>
                  <a:gd name="T9" fmla="*/ 17 h 17"/>
                  <a:gd name="T10" fmla="*/ 10 w 17"/>
                  <a:gd name="T11" fmla="*/ 16 h 17"/>
                  <a:gd name="T12" fmla="*/ 10 w 17"/>
                  <a:gd name="T13" fmla="*/ 15 h 17"/>
                  <a:gd name="T14" fmla="*/ 12 w 17"/>
                  <a:gd name="T15" fmla="*/ 15 h 17"/>
                  <a:gd name="T16" fmla="*/ 14 w 17"/>
                  <a:gd name="T17" fmla="*/ 15 h 17"/>
                  <a:gd name="T18" fmla="*/ 14 w 17"/>
                  <a:gd name="T19" fmla="*/ 12 h 17"/>
                  <a:gd name="T20" fmla="*/ 14 w 17"/>
                  <a:gd name="T21" fmla="*/ 11 h 17"/>
                  <a:gd name="T22" fmla="*/ 15 w 17"/>
                  <a:gd name="T23" fmla="*/ 11 h 17"/>
                  <a:gd name="T24" fmla="*/ 17 w 17"/>
                  <a:gd name="T25" fmla="*/ 9 h 17"/>
                  <a:gd name="T26" fmla="*/ 14 w 17"/>
                  <a:gd name="T27" fmla="*/ 2 h 17"/>
                  <a:gd name="T28" fmla="*/ 10 w 17"/>
                  <a:gd name="T29" fmla="*/ 0 h 17"/>
                  <a:gd name="T30" fmla="*/ 8 w 17"/>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7">
                    <a:moveTo>
                      <a:pt x="8" y="0"/>
                    </a:moveTo>
                    <a:lnTo>
                      <a:pt x="2" y="2"/>
                    </a:lnTo>
                    <a:lnTo>
                      <a:pt x="0" y="9"/>
                    </a:lnTo>
                    <a:lnTo>
                      <a:pt x="2" y="15"/>
                    </a:lnTo>
                    <a:lnTo>
                      <a:pt x="8" y="17"/>
                    </a:lnTo>
                    <a:lnTo>
                      <a:pt x="10" y="16"/>
                    </a:lnTo>
                    <a:lnTo>
                      <a:pt x="10" y="15"/>
                    </a:lnTo>
                    <a:lnTo>
                      <a:pt x="12" y="15"/>
                    </a:lnTo>
                    <a:lnTo>
                      <a:pt x="14" y="15"/>
                    </a:lnTo>
                    <a:lnTo>
                      <a:pt x="14" y="12"/>
                    </a:lnTo>
                    <a:lnTo>
                      <a:pt x="14" y="11"/>
                    </a:lnTo>
                    <a:lnTo>
                      <a:pt x="15" y="11"/>
                    </a:lnTo>
                    <a:lnTo>
                      <a:pt x="17" y="9"/>
                    </a:lnTo>
                    <a:lnTo>
                      <a:pt x="14" y="2"/>
                    </a:lnTo>
                    <a:lnTo>
                      <a:pt x="10" y="0"/>
                    </a:lnTo>
                    <a:lnTo>
                      <a:pt x="8"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04" name="Freeform 2272">
                <a:extLst>
                  <a:ext uri="{FF2B5EF4-FFF2-40B4-BE49-F238E27FC236}">
                    <a16:creationId xmlns:a16="http://schemas.microsoft.com/office/drawing/2014/main" id="{8C8969A9-F823-86A4-4BA5-4B89E12E092D}"/>
                  </a:ext>
                </a:extLst>
              </p:cNvPr>
              <p:cNvSpPr>
                <a:spLocks/>
              </p:cNvSpPr>
              <p:nvPr/>
            </p:nvSpPr>
            <p:spPr bwMode="auto">
              <a:xfrm>
                <a:off x="978" y="3856"/>
                <a:ext cx="4" cy="4"/>
              </a:xfrm>
              <a:custGeom>
                <a:avLst/>
                <a:gdLst>
                  <a:gd name="T0" fmla="*/ 14 w 16"/>
                  <a:gd name="T1" fmla="*/ 15 h 17"/>
                  <a:gd name="T2" fmla="*/ 14 w 16"/>
                  <a:gd name="T3" fmla="*/ 12 h 17"/>
                  <a:gd name="T4" fmla="*/ 14 w 16"/>
                  <a:gd name="T5" fmla="*/ 11 h 17"/>
                  <a:gd name="T6" fmla="*/ 15 w 16"/>
                  <a:gd name="T7" fmla="*/ 11 h 17"/>
                  <a:gd name="T8" fmla="*/ 16 w 16"/>
                  <a:gd name="T9" fmla="*/ 9 h 17"/>
                  <a:gd name="T10" fmla="*/ 14 w 16"/>
                  <a:gd name="T11" fmla="*/ 3 h 17"/>
                  <a:gd name="T12" fmla="*/ 9 w 16"/>
                  <a:gd name="T13" fmla="*/ 0 h 17"/>
                  <a:gd name="T14" fmla="*/ 3 w 16"/>
                  <a:gd name="T15" fmla="*/ 3 h 17"/>
                  <a:gd name="T16" fmla="*/ 0 w 16"/>
                  <a:gd name="T17" fmla="*/ 9 h 17"/>
                  <a:gd name="T18" fmla="*/ 0 w 16"/>
                  <a:gd name="T19" fmla="*/ 11 h 17"/>
                  <a:gd name="T20" fmla="*/ 3 w 16"/>
                  <a:gd name="T21" fmla="*/ 15 h 17"/>
                  <a:gd name="T22" fmla="*/ 9 w 16"/>
                  <a:gd name="T23" fmla="*/ 17 h 17"/>
                  <a:gd name="T24" fmla="*/ 14 w 16"/>
                  <a:gd name="T25"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7">
                    <a:moveTo>
                      <a:pt x="14" y="15"/>
                    </a:moveTo>
                    <a:lnTo>
                      <a:pt x="14" y="12"/>
                    </a:lnTo>
                    <a:lnTo>
                      <a:pt x="14" y="11"/>
                    </a:lnTo>
                    <a:lnTo>
                      <a:pt x="15" y="11"/>
                    </a:lnTo>
                    <a:lnTo>
                      <a:pt x="16" y="9"/>
                    </a:lnTo>
                    <a:lnTo>
                      <a:pt x="14" y="3"/>
                    </a:lnTo>
                    <a:lnTo>
                      <a:pt x="9" y="0"/>
                    </a:lnTo>
                    <a:lnTo>
                      <a:pt x="3" y="3"/>
                    </a:lnTo>
                    <a:lnTo>
                      <a:pt x="0" y="9"/>
                    </a:lnTo>
                    <a:lnTo>
                      <a:pt x="0" y="11"/>
                    </a:lnTo>
                    <a:lnTo>
                      <a:pt x="3" y="15"/>
                    </a:lnTo>
                    <a:lnTo>
                      <a:pt x="9" y="17"/>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05" name="Freeform 2273">
                <a:extLst>
                  <a:ext uri="{FF2B5EF4-FFF2-40B4-BE49-F238E27FC236}">
                    <a16:creationId xmlns:a16="http://schemas.microsoft.com/office/drawing/2014/main" id="{C1E37AFB-905E-C5C3-B82C-FD1F5BD617FC}"/>
                  </a:ext>
                </a:extLst>
              </p:cNvPr>
              <p:cNvSpPr>
                <a:spLocks/>
              </p:cNvSpPr>
              <p:nvPr/>
            </p:nvSpPr>
            <p:spPr bwMode="auto">
              <a:xfrm>
                <a:off x="978" y="3862"/>
                <a:ext cx="4" cy="4"/>
              </a:xfrm>
              <a:custGeom>
                <a:avLst/>
                <a:gdLst>
                  <a:gd name="T0" fmla="*/ 3 w 16"/>
                  <a:gd name="T1" fmla="*/ 3 h 16"/>
                  <a:gd name="T2" fmla="*/ 0 w 16"/>
                  <a:gd name="T3" fmla="*/ 9 h 16"/>
                  <a:gd name="T4" fmla="*/ 3 w 16"/>
                  <a:gd name="T5" fmla="*/ 14 h 16"/>
                  <a:gd name="T6" fmla="*/ 9 w 16"/>
                  <a:gd name="T7" fmla="*/ 16 h 16"/>
                  <a:gd name="T8" fmla="*/ 14 w 16"/>
                  <a:gd name="T9" fmla="*/ 14 h 16"/>
                  <a:gd name="T10" fmla="*/ 16 w 16"/>
                  <a:gd name="T11" fmla="*/ 9 h 16"/>
                  <a:gd name="T12" fmla="*/ 14 w 16"/>
                  <a:gd name="T13" fmla="*/ 3 h 16"/>
                  <a:gd name="T14" fmla="*/ 9 w 16"/>
                  <a:gd name="T15" fmla="*/ 0 h 16"/>
                  <a:gd name="T16" fmla="*/ 3 w 16"/>
                  <a:gd name="T17"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3" y="3"/>
                    </a:moveTo>
                    <a:lnTo>
                      <a:pt x="0" y="9"/>
                    </a:lnTo>
                    <a:lnTo>
                      <a:pt x="3" y="14"/>
                    </a:lnTo>
                    <a:lnTo>
                      <a:pt x="9" y="16"/>
                    </a:lnTo>
                    <a:lnTo>
                      <a:pt x="14" y="14"/>
                    </a:lnTo>
                    <a:lnTo>
                      <a:pt x="16" y="9"/>
                    </a:lnTo>
                    <a:lnTo>
                      <a:pt x="14" y="3"/>
                    </a:lnTo>
                    <a:lnTo>
                      <a:pt x="9" y="0"/>
                    </a:lnTo>
                    <a:lnTo>
                      <a:pt x="3"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06" name="Freeform 2274">
                <a:extLst>
                  <a:ext uri="{FF2B5EF4-FFF2-40B4-BE49-F238E27FC236}">
                    <a16:creationId xmlns:a16="http://schemas.microsoft.com/office/drawing/2014/main" id="{70D0F3DD-8A8F-54F8-8D3C-08FC37E8A9EE}"/>
                  </a:ext>
                </a:extLst>
              </p:cNvPr>
              <p:cNvSpPr>
                <a:spLocks/>
              </p:cNvSpPr>
              <p:nvPr/>
            </p:nvSpPr>
            <p:spPr bwMode="auto">
              <a:xfrm>
                <a:off x="978" y="3868"/>
                <a:ext cx="4" cy="5"/>
              </a:xfrm>
              <a:custGeom>
                <a:avLst/>
                <a:gdLst>
                  <a:gd name="T0" fmla="*/ 14 w 16"/>
                  <a:gd name="T1" fmla="*/ 2 h 17"/>
                  <a:gd name="T2" fmla="*/ 9 w 16"/>
                  <a:gd name="T3" fmla="*/ 0 h 17"/>
                  <a:gd name="T4" fmla="*/ 3 w 16"/>
                  <a:gd name="T5" fmla="*/ 2 h 17"/>
                  <a:gd name="T6" fmla="*/ 0 w 16"/>
                  <a:gd name="T7" fmla="*/ 9 h 17"/>
                  <a:gd name="T8" fmla="*/ 0 w 16"/>
                  <a:gd name="T9" fmla="*/ 11 h 17"/>
                  <a:gd name="T10" fmla="*/ 3 w 16"/>
                  <a:gd name="T11" fmla="*/ 15 h 17"/>
                  <a:gd name="T12" fmla="*/ 9 w 16"/>
                  <a:gd name="T13" fmla="*/ 17 h 17"/>
                  <a:gd name="T14" fmla="*/ 14 w 16"/>
                  <a:gd name="T15" fmla="*/ 15 h 17"/>
                  <a:gd name="T16" fmla="*/ 14 w 16"/>
                  <a:gd name="T17" fmla="*/ 12 h 17"/>
                  <a:gd name="T18" fmla="*/ 14 w 16"/>
                  <a:gd name="T19" fmla="*/ 11 h 17"/>
                  <a:gd name="T20" fmla="*/ 15 w 16"/>
                  <a:gd name="T21" fmla="*/ 11 h 17"/>
                  <a:gd name="T22" fmla="*/ 16 w 16"/>
                  <a:gd name="T23" fmla="*/ 9 h 17"/>
                  <a:gd name="T24" fmla="*/ 14 w 16"/>
                  <a:gd name="T25"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7">
                    <a:moveTo>
                      <a:pt x="14" y="2"/>
                    </a:moveTo>
                    <a:lnTo>
                      <a:pt x="9" y="0"/>
                    </a:lnTo>
                    <a:lnTo>
                      <a:pt x="3" y="2"/>
                    </a:lnTo>
                    <a:lnTo>
                      <a:pt x="0" y="9"/>
                    </a:lnTo>
                    <a:lnTo>
                      <a:pt x="0" y="11"/>
                    </a:lnTo>
                    <a:lnTo>
                      <a:pt x="3" y="15"/>
                    </a:lnTo>
                    <a:lnTo>
                      <a:pt x="9" y="17"/>
                    </a:lnTo>
                    <a:lnTo>
                      <a:pt x="14" y="15"/>
                    </a:lnTo>
                    <a:lnTo>
                      <a:pt x="14" y="12"/>
                    </a:lnTo>
                    <a:lnTo>
                      <a:pt x="14" y="11"/>
                    </a:lnTo>
                    <a:lnTo>
                      <a:pt x="15" y="11"/>
                    </a:lnTo>
                    <a:lnTo>
                      <a:pt x="16" y="9"/>
                    </a:lnTo>
                    <a:lnTo>
                      <a:pt x="14"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07" name="Freeform 2275">
                <a:extLst>
                  <a:ext uri="{FF2B5EF4-FFF2-40B4-BE49-F238E27FC236}">
                    <a16:creationId xmlns:a16="http://schemas.microsoft.com/office/drawing/2014/main" id="{030791B9-1620-DC58-39C4-3635E273E83D}"/>
                  </a:ext>
                </a:extLst>
              </p:cNvPr>
              <p:cNvSpPr>
                <a:spLocks/>
              </p:cNvSpPr>
              <p:nvPr/>
            </p:nvSpPr>
            <p:spPr bwMode="auto">
              <a:xfrm>
                <a:off x="940" y="3856"/>
                <a:ext cx="4" cy="4"/>
              </a:xfrm>
              <a:custGeom>
                <a:avLst/>
                <a:gdLst>
                  <a:gd name="T0" fmla="*/ 14 w 17"/>
                  <a:gd name="T1" fmla="*/ 15 h 17"/>
                  <a:gd name="T2" fmla="*/ 14 w 17"/>
                  <a:gd name="T3" fmla="*/ 12 h 17"/>
                  <a:gd name="T4" fmla="*/ 14 w 17"/>
                  <a:gd name="T5" fmla="*/ 11 h 17"/>
                  <a:gd name="T6" fmla="*/ 15 w 17"/>
                  <a:gd name="T7" fmla="*/ 11 h 17"/>
                  <a:gd name="T8" fmla="*/ 17 w 17"/>
                  <a:gd name="T9" fmla="*/ 9 h 17"/>
                  <a:gd name="T10" fmla="*/ 14 w 17"/>
                  <a:gd name="T11" fmla="*/ 3 h 17"/>
                  <a:gd name="T12" fmla="*/ 10 w 17"/>
                  <a:gd name="T13" fmla="*/ 0 h 17"/>
                  <a:gd name="T14" fmla="*/ 8 w 17"/>
                  <a:gd name="T15" fmla="*/ 0 h 17"/>
                  <a:gd name="T16" fmla="*/ 3 w 17"/>
                  <a:gd name="T17" fmla="*/ 3 h 17"/>
                  <a:gd name="T18" fmla="*/ 0 w 17"/>
                  <a:gd name="T19" fmla="*/ 9 h 17"/>
                  <a:gd name="T20" fmla="*/ 0 w 17"/>
                  <a:gd name="T21" fmla="*/ 11 h 17"/>
                  <a:gd name="T22" fmla="*/ 3 w 17"/>
                  <a:gd name="T23" fmla="*/ 15 h 17"/>
                  <a:gd name="T24" fmla="*/ 8 w 17"/>
                  <a:gd name="T25" fmla="*/ 17 h 17"/>
                  <a:gd name="T26" fmla="*/ 10 w 17"/>
                  <a:gd name="T27" fmla="*/ 16 h 17"/>
                  <a:gd name="T28" fmla="*/ 10 w 17"/>
                  <a:gd name="T29" fmla="*/ 15 h 17"/>
                  <a:gd name="T30" fmla="*/ 12 w 17"/>
                  <a:gd name="T31" fmla="*/ 15 h 17"/>
                  <a:gd name="T32" fmla="*/ 14 w 17"/>
                  <a:gd name="T33"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17">
                    <a:moveTo>
                      <a:pt x="14" y="15"/>
                    </a:moveTo>
                    <a:lnTo>
                      <a:pt x="14" y="12"/>
                    </a:lnTo>
                    <a:lnTo>
                      <a:pt x="14" y="11"/>
                    </a:lnTo>
                    <a:lnTo>
                      <a:pt x="15" y="11"/>
                    </a:lnTo>
                    <a:lnTo>
                      <a:pt x="17" y="9"/>
                    </a:lnTo>
                    <a:lnTo>
                      <a:pt x="14" y="3"/>
                    </a:lnTo>
                    <a:lnTo>
                      <a:pt x="10" y="0"/>
                    </a:lnTo>
                    <a:lnTo>
                      <a:pt x="8" y="0"/>
                    </a:lnTo>
                    <a:lnTo>
                      <a:pt x="3" y="3"/>
                    </a:lnTo>
                    <a:lnTo>
                      <a:pt x="0" y="9"/>
                    </a:lnTo>
                    <a:lnTo>
                      <a:pt x="0" y="11"/>
                    </a:lnTo>
                    <a:lnTo>
                      <a:pt x="3" y="15"/>
                    </a:lnTo>
                    <a:lnTo>
                      <a:pt x="8" y="17"/>
                    </a:lnTo>
                    <a:lnTo>
                      <a:pt x="10" y="16"/>
                    </a:lnTo>
                    <a:lnTo>
                      <a:pt x="10" y="15"/>
                    </a:lnTo>
                    <a:lnTo>
                      <a:pt x="12" y="15"/>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08" name="Freeform 2276">
                <a:extLst>
                  <a:ext uri="{FF2B5EF4-FFF2-40B4-BE49-F238E27FC236}">
                    <a16:creationId xmlns:a16="http://schemas.microsoft.com/office/drawing/2014/main" id="{B659B9B7-C62A-6A82-23EF-A224C8A11B3D}"/>
                  </a:ext>
                </a:extLst>
              </p:cNvPr>
              <p:cNvSpPr>
                <a:spLocks/>
              </p:cNvSpPr>
              <p:nvPr/>
            </p:nvSpPr>
            <p:spPr bwMode="auto">
              <a:xfrm>
                <a:off x="940" y="3862"/>
                <a:ext cx="4" cy="4"/>
              </a:xfrm>
              <a:custGeom>
                <a:avLst/>
                <a:gdLst>
                  <a:gd name="T0" fmla="*/ 3 w 17"/>
                  <a:gd name="T1" fmla="*/ 3 h 16"/>
                  <a:gd name="T2" fmla="*/ 0 w 17"/>
                  <a:gd name="T3" fmla="*/ 9 h 16"/>
                  <a:gd name="T4" fmla="*/ 3 w 17"/>
                  <a:gd name="T5" fmla="*/ 14 h 16"/>
                  <a:gd name="T6" fmla="*/ 8 w 17"/>
                  <a:gd name="T7" fmla="*/ 16 h 16"/>
                  <a:gd name="T8" fmla="*/ 10 w 17"/>
                  <a:gd name="T9" fmla="*/ 15 h 16"/>
                  <a:gd name="T10" fmla="*/ 10 w 17"/>
                  <a:gd name="T11" fmla="*/ 14 h 16"/>
                  <a:gd name="T12" fmla="*/ 12 w 17"/>
                  <a:gd name="T13" fmla="*/ 14 h 16"/>
                  <a:gd name="T14" fmla="*/ 14 w 17"/>
                  <a:gd name="T15" fmla="*/ 14 h 16"/>
                  <a:gd name="T16" fmla="*/ 17 w 17"/>
                  <a:gd name="T17" fmla="*/ 9 h 16"/>
                  <a:gd name="T18" fmla="*/ 14 w 17"/>
                  <a:gd name="T19" fmla="*/ 3 h 16"/>
                  <a:gd name="T20" fmla="*/ 10 w 17"/>
                  <a:gd name="T21" fmla="*/ 0 h 16"/>
                  <a:gd name="T22" fmla="*/ 8 w 17"/>
                  <a:gd name="T23" fmla="*/ 0 h 16"/>
                  <a:gd name="T24" fmla="*/ 3 w 17"/>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3" y="3"/>
                    </a:moveTo>
                    <a:lnTo>
                      <a:pt x="0" y="9"/>
                    </a:lnTo>
                    <a:lnTo>
                      <a:pt x="3" y="14"/>
                    </a:lnTo>
                    <a:lnTo>
                      <a:pt x="8" y="16"/>
                    </a:lnTo>
                    <a:lnTo>
                      <a:pt x="10" y="15"/>
                    </a:lnTo>
                    <a:lnTo>
                      <a:pt x="10" y="14"/>
                    </a:lnTo>
                    <a:lnTo>
                      <a:pt x="12" y="14"/>
                    </a:lnTo>
                    <a:lnTo>
                      <a:pt x="14" y="14"/>
                    </a:lnTo>
                    <a:lnTo>
                      <a:pt x="17" y="9"/>
                    </a:lnTo>
                    <a:lnTo>
                      <a:pt x="14" y="3"/>
                    </a:lnTo>
                    <a:lnTo>
                      <a:pt x="10" y="0"/>
                    </a:lnTo>
                    <a:lnTo>
                      <a:pt x="8" y="0"/>
                    </a:lnTo>
                    <a:lnTo>
                      <a:pt x="3"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09" name="Freeform 2277">
                <a:extLst>
                  <a:ext uri="{FF2B5EF4-FFF2-40B4-BE49-F238E27FC236}">
                    <a16:creationId xmlns:a16="http://schemas.microsoft.com/office/drawing/2014/main" id="{73372031-354F-C841-02D6-50C158792434}"/>
                  </a:ext>
                </a:extLst>
              </p:cNvPr>
              <p:cNvSpPr>
                <a:spLocks/>
              </p:cNvSpPr>
              <p:nvPr/>
            </p:nvSpPr>
            <p:spPr bwMode="auto">
              <a:xfrm>
                <a:off x="933" y="3856"/>
                <a:ext cx="5" cy="4"/>
              </a:xfrm>
              <a:custGeom>
                <a:avLst/>
                <a:gdLst>
                  <a:gd name="T0" fmla="*/ 15 w 18"/>
                  <a:gd name="T1" fmla="*/ 3 h 17"/>
                  <a:gd name="T2" fmla="*/ 12 w 18"/>
                  <a:gd name="T3" fmla="*/ 0 h 17"/>
                  <a:gd name="T4" fmla="*/ 9 w 18"/>
                  <a:gd name="T5" fmla="*/ 0 h 17"/>
                  <a:gd name="T6" fmla="*/ 3 w 18"/>
                  <a:gd name="T7" fmla="*/ 3 h 17"/>
                  <a:gd name="T8" fmla="*/ 0 w 18"/>
                  <a:gd name="T9" fmla="*/ 9 h 17"/>
                  <a:gd name="T10" fmla="*/ 0 w 18"/>
                  <a:gd name="T11" fmla="*/ 11 h 17"/>
                  <a:gd name="T12" fmla="*/ 3 w 18"/>
                  <a:gd name="T13" fmla="*/ 15 h 17"/>
                  <a:gd name="T14" fmla="*/ 9 w 18"/>
                  <a:gd name="T15" fmla="*/ 17 h 17"/>
                  <a:gd name="T16" fmla="*/ 12 w 18"/>
                  <a:gd name="T17" fmla="*/ 16 h 17"/>
                  <a:gd name="T18" fmla="*/ 12 w 18"/>
                  <a:gd name="T19" fmla="*/ 15 h 17"/>
                  <a:gd name="T20" fmla="*/ 13 w 18"/>
                  <a:gd name="T21" fmla="*/ 15 h 17"/>
                  <a:gd name="T22" fmla="*/ 15 w 18"/>
                  <a:gd name="T23" fmla="*/ 15 h 17"/>
                  <a:gd name="T24" fmla="*/ 15 w 18"/>
                  <a:gd name="T25" fmla="*/ 12 h 17"/>
                  <a:gd name="T26" fmla="*/ 15 w 18"/>
                  <a:gd name="T27" fmla="*/ 11 h 17"/>
                  <a:gd name="T28" fmla="*/ 17 w 18"/>
                  <a:gd name="T29" fmla="*/ 11 h 17"/>
                  <a:gd name="T30" fmla="*/ 18 w 18"/>
                  <a:gd name="T31" fmla="*/ 9 h 17"/>
                  <a:gd name="T32" fmla="*/ 15 w 18"/>
                  <a:gd name="T33"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15" y="3"/>
                    </a:moveTo>
                    <a:lnTo>
                      <a:pt x="12" y="0"/>
                    </a:lnTo>
                    <a:lnTo>
                      <a:pt x="9" y="0"/>
                    </a:lnTo>
                    <a:lnTo>
                      <a:pt x="3" y="3"/>
                    </a:lnTo>
                    <a:lnTo>
                      <a:pt x="0" y="9"/>
                    </a:lnTo>
                    <a:lnTo>
                      <a:pt x="0" y="11"/>
                    </a:lnTo>
                    <a:lnTo>
                      <a:pt x="3" y="15"/>
                    </a:lnTo>
                    <a:lnTo>
                      <a:pt x="9" y="17"/>
                    </a:lnTo>
                    <a:lnTo>
                      <a:pt x="12" y="16"/>
                    </a:lnTo>
                    <a:lnTo>
                      <a:pt x="12" y="15"/>
                    </a:lnTo>
                    <a:lnTo>
                      <a:pt x="13" y="15"/>
                    </a:lnTo>
                    <a:lnTo>
                      <a:pt x="15" y="15"/>
                    </a:lnTo>
                    <a:lnTo>
                      <a:pt x="15" y="12"/>
                    </a:lnTo>
                    <a:lnTo>
                      <a:pt x="15" y="11"/>
                    </a:lnTo>
                    <a:lnTo>
                      <a:pt x="17" y="11"/>
                    </a:lnTo>
                    <a:lnTo>
                      <a:pt x="18" y="9"/>
                    </a:lnTo>
                    <a:lnTo>
                      <a:pt x="15"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10" name="Freeform 2278">
                <a:extLst>
                  <a:ext uri="{FF2B5EF4-FFF2-40B4-BE49-F238E27FC236}">
                    <a16:creationId xmlns:a16="http://schemas.microsoft.com/office/drawing/2014/main" id="{5C082C62-7E73-2BE3-CE91-25552C04D2A4}"/>
                  </a:ext>
                </a:extLst>
              </p:cNvPr>
              <p:cNvSpPr>
                <a:spLocks/>
              </p:cNvSpPr>
              <p:nvPr/>
            </p:nvSpPr>
            <p:spPr bwMode="auto">
              <a:xfrm>
                <a:off x="933" y="3862"/>
                <a:ext cx="5" cy="4"/>
              </a:xfrm>
              <a:custGeom>
                <a:avLst/>
                <a:gdLst>
                  <a:gd name="T0" fmla="*/ 9 w 18"/>
                  <a:gd name="T1" fmla="*/ 0 h 16"/>
                  <a:gd name="T2" fmla="*/ 3 w 18"/>
                  <a:gd name="T3" fmla="*/ 3 h 16"/>
                  <a:gd name="T4" fmla="*/ 0 w 18"/>
                  <a:gd name="T5" fmla="*/ 9 h 16"/>
                  <a:gd name="T6" fmla="*/ 3 w 18"/>
                  <a:gd name="T7" fmla="*/ 14 h 16"/>
                  <a:gd name="T8" fmla="*/ 9 w 18"/>
                  <a:gd name="T9" fmla="*/ 16 h 16"/>
                  <a:gd name="T10" fmla="*/ 12 w 18"/>
                  <a:gd name="T11" fmla="*/ 15 h 16"/>
                  <a:gd name="T12" fmla="*/ 12 w 18"/>
                  <a:gd name="T13" fmla="*/ 14 h 16"/>
                  <a:gd name="T14" fmla="*/ 13 w 18"/>
                  <a:gd name="T15" fmla="*/ 14 h 16"/>
                  <a:gd name="T16" fmla="*/ 15 w 18"/>
                  <a:gd name="T17" fmla="*/ 14 h 16"/>
                  <a:gd name="T18" fmla="*/ 18 w 18"/>
                  <a:gd name="T19" fmla="*/ 9 h 16"/>
                  <a:gd name="T20" fmla="*/ 15 w 18"/>
                  <a:gd name="T21" fmla="*/ 3 h 16"/>
                  <a:gd name="T22" fmla="*/ 12 w 18"/>
                  <a:gd name="T23" fmla="*/ 0 h 16"/>
                  <a:gd name="T24" fmla="*/ 9 w 18"/>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9" y="0"/>
                    </a:moveTo>
                    <a:lnTo>
                      <a:pt x="3" y="3"/>
                    </a:lnTo>
                    <a:lnTo>
                      <a:pt x="0" y="9"/>
                    </a:lnTo>
                    <a:lnTo>
                      <a:pt x="3" y="14"/>
                    </a:lnTo>
                    <a:lnTo>
                      <a:pt x="9" y="16"/>
                    </a:lnTo>
                    <a:lnTo>
                      <a:pt x="12" y="15"/>
                    </a:lnTo>
                    <a:lnTo>
                      <a:pt x="12" y="14"/>
                    </a:lnTo>
                    <a:lnTo>
                      <a:pt x="13" y="14"/>
                    </a:lnTo>
                    <a:lnTo>
                      <a:pt x="15" y="14"/>
                    </a:lnTo>
                    <a:lnTo>
                      <a:pt x="18" y="9"/>
                    </a:lnTo>
                    <a:lnTo>
                      <a:pt x="15" y="3"/>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11" name="Freeform 2279">
                <a:extLst>
                  <a:ext uri="{FF2B5EF4-FFF2-40B4-BE49-F238E27FC236}">
                    <a16:creationId xmlns:a16="http://schemas.microsoft.com/office/drawing/2014/main" id="{6C06DFEF-AA7F-C5AB-05CA-639FE7222EF9}"/>
                  </a:ext>
                </a:extLst>
              </p:cNvPr>
              <p:cNvSpPr>
                <a:spLocks/>
              </p:cNvSpPr>
              <p:nvPr/>
            </p:nvSpPr>
            <p:spPr bwMode="auto">
              <a:xfrm>
                <a:off x="933" y="3868"/>
                <a:ext cx="5" cy="5"/>
              </a:xfrm>
              <a:custGeom>
                <a:avLst/>
                <a:gdLst>
                  <a:gd name="T0" fmla="*/ 9 w 18"/>
                  <a:gd name="T1" fmla="*/ 0 h 17"/>
                  <a:gd name="T2" fmla="*/ 3 w 18"/>
                  <a:gd name="T3" fmla="*/ 2 h 17"/>
                  <a:gd name="T4" fmla="*/ 0 w 18"/>
                  <a:gd name="T5" fmla="*/ 9 h 17"/>
                  <a:gd name="T6" fmla="*/ 0 w 18"/>
                  <a:gd name="T7" fmla="*/ 11 h 17"/>
                  <a:gd name="T8" fmla="*/ 3 w 18"/>
                  <a:gd name="T9" fmla="*/ 15 h 17"/>
                  <a:gd name="T10" fmla="*/ 9 w 18"/>
                  <a:gd name="T11" fmla="*/ 17 h 17"/>
                  <a:gd name="T12" fmla="*/ 12 w 18"/>
                  <a:gd name="T13" fmla="*/ 16 h 17"/>
                  <a:gd name="T14" fmla="*/ 12 w 18"/>
                  <a:gd name="T15" fmla="*/ 15 h 17"/>
                  <a:gd name="T16" fmla="*/ 13 w 18"/>
                  <a:gd name="T17" fmla="*/ 15 h 17"/>
                  <a:gd name="T18" fmla="*/ 15 w 18"/>
                  <a:gd name="T19" fmla="*/ 15 h 17"/>
                  <a:gd name="T20" fmla="*/ 15 w 18"/>
                  <a:gd name="T21" fmla="*/ 12 h 17"/>
                  <a:gd name="T22" fmla="*/ 15 w 18"/>
                  <a:gd name="T23" fmla="*/ 11 h 17"/>
                  <a:gd name="T24" fmla="*/ 17 w 18"/>
                  <a:gd name="T25" fmla="*/ 11 h 17"/>
                  <a:gd name="T26" fmla="*/ 18 w 18"/>
                  <a:gd name="T27" fmla="*/ 9 h 17"/>
                  <a:gd name="T28" fmla="*/ 15 w 18"/>
                  <a:gd name="T29" fmla="*/ 2 h 17"/>
                  <a:gd name="T30" fmla="*/ 12 w 18"/>
                  <a:gd name="T31" fmla="*/ 0 h 17"/>
                  <a:gd name="T32" fmla="*/ 9 w 18"/>
                  <a:gd name="T3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9" y="0"/>
                    </a:moveTo>
                    <a:lnTo>
                      <a:pt x="3" y="2"/>
                    </a:lnTo>
                    <a:lnTo>
                      <a:pt x="0" y="9"/>
                    </a:lnTo>
                    <a:lnTo>
                      <a:pt x="0" y="11"/>
                    </a:lnTo>
                    <a:lnTo>
                      <a:pt x="3" y="15"/>
                    </a:lnTo>
                    <a:lnTo>
                      <a:pt x="9" y="17"/>
                    </a:lnTo>
                    <a:lnTo>
                      <a:pt x="12" y="16"/>
                    </a:lnTo>
                    <a:lnTo>
                      <a:pt x="12" y="15"/>
                    </a:lnTo>
                    <a:lnTo>
                      <a:pt x="13" y="15"/>
                    </a:lnTo>
                    <a:lnTo>
                      <a:pt x="15" y="15"/>
                    </a:lnTo>
                    <a:lnTo>
                      <a:pt x="15" y="12"/>
                    </a:lnTo>
                    <a:lnTo>
                      <a:pt x="15" y="11"/>
                    </a:lnTo>
                    <a:lnTo>
                      <a:pt x="17" y="11"/>
                    </a:lnTo>
                    <a:lnTo>
                      <a:pt x="18" y="9"/>
                    </a:lnTo>
                    <a:lnTo>
                      <a:pt x="15" y="2"/>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12" name="Freeform 2280">
                <a:extLst>
                  <a:ext uri="{FF2B5EF4-FFF2-40B4-BE49-F238E27FC236}">
                    <a16:creationId xmlns:a16="http://schemas.microsoft.com/office/drawing/2014/main" id="{B8058D24-ED70-C9E7-6641-9A9C68B6E23E}"/>
                  </a:ext>
                </a:extLst>
              </p:cNvPr>
              <p:cNvSpPr>
                <a:spLocks/>
              </p:cNvSpPr>
              <p:nvPr/>
            </p:nvSpPr>
            <p:spPr bwMode="auto">
              <a:xfrm>
                <a:off x="940" y="3868"/>
                <a:ext cx="4" cy="5"/>
              </a:xfrm>
              <a:custGeom>
                <a:avLst/>
                <a:gdLst>
                  <a:gd name="T0" fmla="*/ 14 w 17"/>
                  <a:gd name="T1" fmla="*/ 2 h 17"/>
                  <a:gd name="T2" fmla="*/ 10 w 17"/>
                  <a:gd name="T3" fmla="*/ 0 h 17"/>
                  <a:gd name="T4" fmla="*/ 8 w 17"/>
                  <a:gd name="T5" fmla="*/ 0 h 17"/>
                  <a:gd name="T6" fmla="*/ 3 w 17"/>
                  <a:gd name="T7" fmla="*/ 2 h 17"/>
                  <a:gd name="T8" fmla="*/ 0 w 17"/>
                  <a:gd name="T9" fmla="*/ 9 h 17"/>
                  <a:gd name="T10" fmla="*/ 0 w 17"/>
                  <a:gd name="T11" fmla="*/ 11 h 17"/>
                  <a:gd name="T12" fmla="*/ 3 w 17"/>
                  <a:gd name="T13" fmla="*/ 15 h 17"/>
                  <a:gd name="T14" fmla="*/ 8 w 17"/>
                  <a:gd name="T15" fmla="*/ 17 h 17"/>
                  <a:gd name="T16" fmla="*/ 10 w 17"/>
                  <a:gd name="T17" fmla="*/ 16 h 17"/>
                  <a:gd name="T18" fmla="*/ 10 w 17"/>
                  <a:gd name="T19" fmla="*/ 15 h 17"/>
                  <a:gd name="T20" fmla="*/ 12 w 17"/>
                  <a:gd name="T21" fmla="*/ 15 h 17"/>
                  <a:gd name="T22" fmla="*/ 14 w 17"/>
                  <a:gd name="T23" fmla="*/ 15 h 17"/>
                  <a:gd name="T24" fmla="*/ 14 w 17"/>
                  <a:gd name="T25" fmla="*/ 12 h 17"/>
                  <a:gd name="T26" fmla="*/ 14 w 17"/>
                  <a:gd name="T27" fmla="*/ 11 h 17"/>
                  <a:gd name="T28" fmla="*/ 15 w 17"/>
                  <a:gd name="T29" fmla="*/ 11 h 17"/>
                  <a:gd name="T30" fmla="*/ 17 w 17"/>
                  <a:gd name="T31" fmla="*/ 9 h 17"/>
                  <a:gd name="T32" fmla="*/ 14 w 17"/>
                  <a:gd name="T33"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17">
                    <a:moveTo>
                      <a:pt x="14" y="2"/>
                    </a:moveTo>
                    <a:lnTo>
                      <a:pt x="10" y="0"/>
                    </a:lnTo>
                    <a:lnTo>
                      <a:pt x="8" y="0"/>
                    </a:lnTo>
                    <a:lnTo>
                      <a:pt x="3" y="2"/>
                    </a:lnTo>
                    <a:lnTo>
                      <a:pt x="0" y="9"/>
                    </a:lnTo>
                    <a:lnTo>
                      <a:pt x="0" y="11"/>
                    </a:lnTo>
                    <a:lnTo>
                      <a:pt x="3" y="15"/>
                    </a:lnTo>
                    <a:lnTo>
                      <a:pt x="8" y="17"/>
                    </a:lnTo>
                    <a:lnTo>
                      <a:pt x="10" y="16"/>
                    </a:lnTo>
                    <a:lnTo>
                      <a:pt x="10" y="15"/>
                    </a:lnTo>
                    <a:lnTo>
                      <a:pt x="12" y="15"/>
                    </a:lnTo>
                    <a:lnTo>
                      <a:pt x="14" y="15"/>
                    </a:lnTo>
                    <a:lnTo>
                      <a:pt x="14" y="12"/>
                    </a:lnTo>
                    <a:lnTo>
                      <a:pt x="14" y="11"/>
                    </a:lnTo>
                    <a:lnTo>
                      <a:pt x="15" y="11"/>
                    </a:lnTo>
                    <a:lnTo>
                      <a:pt x="17" y="9"/>
                    </a:lnTo>
                    <a:lnTo>
                      <a:pt x="14"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13" name="Freeform 2281">
                <a:extLst>
                  <a:ext uri="{FF2B5EF4-FFF2-40B4-BE49-F238E27FC236}">
                    <a16:creationId xmlns:a16="http://schemas.microsoft.com/office/drawing/2014/main" id="{DCB92502-798B-37D9-1A15-5B2145E9D260}"/>
                  </a:ext>
                </a:extLst>
              </p:cNvPr>
              <p:cNvSpPr>
                <a:spLocks/>
              </p:cNvSpPr>
              <p:nvPr/>
            </p:nvSpPr>
            <p:spPr bwMode="auto">
              <a:xfrm>
                <a:off x="953" y="3856"/>
                <a:ext cx="4" cy="4"/>
              </a:xfrm>
              <a:custGeom>
                <a:avLst/>
                <a:gdLst>
                  <a:gd name="T0" fmla="*/ 9 w 17"/>
                  <a:gd name="T1" fmla="*/ 0 h 17"/>
                  <a:gd name="T2" fmla="*/ 3 w 17"/>
                  <a:gd name="T3" fmla="*/ 3 h 17"/>
                  <a:gd name="T4" fmla="*/ 0 w 17"/>
                  <a:gd name="T5" fmla="*/ 9 h 17"/>
                  <a:gd name="T6" fmla="*/ 0 w 17"/>
                  <a:gd name="T7" fmla="*/ 11 h 17"/>
                  <a:gd name="T8" fmla="*/ 3 w 17"/>
                  <a:gd name="T9" fmla="*/ 15 h 17"/>
                  <a:gd name="T10" fmla="*/ 9 w 17"/>
                  <a:gd name="T11" fmla="*/ 17 h 17"/>
                  <a:gd name="T12" fmla="*/ 14 w 17"/>
                  <a:gd name="T13" fmla="*/ 15 h 17"/>
                  <a:gd name="T14" fmla="*/ 14 w 17"/>
                  <a:gd name="T15" fmla="*/ 12 h 17"/>
                  <a:gd name="T16" fmla="*/ 14 w 17"/>
                  <a:gd name="T17" fmla="*/ 11 h 17"/>
                  <a:gd name="T18" fmla="*/ 15 w 17"/>
                  <a:gd name="T19" fmla="*/ 11 h 17"/>
                  <a:gd name="T20" fmla="*/ 17 w 17"/>
                  <a:gd name="T21" fmla="*/ 9 h 17"/>
                  <a:gd name="T22" fmla="*/ 14 w 17"/>
                  <a:gd name="T23" fmla="*/ 3 h 17"/>
                  <a:gd name="T24" fmla="*/ 9 w 17"/>
                  <a:gd name="T2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9" y="0"/>
                    </a:moveTo>
                    <a:lnTo>
                      <a:pt x="3" y="3"/>
                    </a:lnTo>
                    <a:lnTo>
                      <a:pt x="0" y="9"/>
                    </a:lnTo>
                    <a:lnTo>
                      <a:pt x="0" y="11"/>
                    </a:lnTo>
                    <a:lnTo>
                      <a:pt x="3" y="15"/>
                    </a:lnTo>
                    <a:lnTo>
                      <a:pt x="9" y="17"/>
                    </a:lnTo>
                    <a:lnTo>
                      <a:pt x="14" y="15"/>
                    </a:lnTo>
                    <a:lnTo>
                      <a:pt x="14" y="12"/>
                    </a:lnTo>
                    <a:lnTo>
                      <a:pt x="14" y="11"/>
                    </a:lnTo>
                    <a:lnTo>
                      <a:pt x="15" y="11"/>
                    </a:lnTo>
                    <a:lnTo>
                      <a:pt x="17" y="9"/>
                    </a:lnTo>
                    <a:lnTo>
                      <a:pt x="14" y="3"/>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14" name="Freeform 2282">
                <a:extLst>
                  <a:ext uri="{FF2B5EF4-FFF2-40B4-BE49-F238E27FC236}">
                    <a16:creationId xmlns:a16="http://schemas.microsoft.com/office/drawing/2014/main" id="{F12E4CDF-6B08-FA46-24A2-D3DEDF0DCC81}"/>
                  </a:ext>
                </a:extLst>
              </p:cNvPr>
              <p:cNvSpPr>
                <a:spLocks/>
              </p:cNvSpPr>
              <p:nvPr/>
            </p:nvSpPr>
            <p:spPr bwMode="auto">
              <a:xfrm>
                <a:off x="953" y="3862"/>
                <a:ext cx="4" cy="4"/>
              </a:xfrm>
              <a:custGeom>
                <a:avLst/>
                <a:gdLst>
                  <a:gd name="T0" fmla="*/ 9 w 17"/>
                  <a:gd name="T1" fmla="*/ 0 h 16"/>
                  <a:gd name="T2" fmla="*/ 3 w 17"/>
                  <a:gd name="T3" fmla="*/ 3 h 16"/>
                  <a:gd name="T4" fmla="*/ 0 w 17"/>
                  <a:gd name="T5" fmla="*/ 9 h 16"/>
                  <a:gd name="T6" fmla="*/ 3 w 17"/>
                  <a:gd name="T7" fmla="*/ 14 h 16"/>
                  <a:gd name="T8" fmla="*/ 9 w 17"/>
                  <a:gd name="T9" fmla="*/ 16 h 16"/>
                  <a:gd name="T10" fmla="*/ 14 w 17"/>
                  <a:gd name="T11" fmla="*/ 14 h 16"/>
                  <a:gd name="T12" fmla="*/ 17 w 17"/>
                  <a:gd name="T13" fmla="*/ 9 h 16"/>
                  <a:gd name="T14" fmla="*/ 14 w 17"/>
                  <a:gd name="T15" fmla="*/ 3 h 16"/>
                  <a:gd name="T16" fmla="*/ 9 w 17"/>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9" y="0"/>
                    </a:moveTo>
                    <a:lnTo>
                      <a:pt x="3" y="3"/>
                    </a:lnTo>
                    <a:lnTo>
                      <a:pt x="0" y="9"/>
                    </a:lnTo>
                    <a:lnTo>
                      <a:pt x="3" y="14"/>
                    </a:lnTo>
                    <a:lnTo>
                      <a:pt x="9" y="16"/>
                    </a:lnTo>
                    <a:lnTo>
                      <a:pt x="14" y="14"/>
                    </a:lnTo>
                    <a:lnTo>
                      <a:pt x="17" y="9"/>
                    </a:lnTo>
                    <a:lnTo>
                      <a:pt x="14" y="3"/>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15" name="Freeform 2283">
                <a:extLst>
                  <a:ext uri="{FF2B5EF4-FFF2-40B4-BE49-F238E27FC236}">
                    <a16:creationId xmlns:a16="http://schemas.microsoft.com/office/drawing/2014/main" id="{CE5A168B-289D-6AA3-E62C-DA21784EADA4}"/>
                  </a:ext>
                </a:extLst>
              </p:cNvPr>
              <p:cNvSpPr>
                <a:spLocks/>
              </p:cNvSpPr>
              <p:nvPr/>
            </p:nvSpPr>
            <p:spPr bwMode="auto">
              <a:xfrm>
                <a:off x="946" y="3856"/>
                <a:ext cx="4" cy="4"/>
              </a:xfrm>
              <a:custGeom>
                <a:avLst/>
                <a:gdLst>
                  <a:gd name="T0" fmla="*/ 15 w 18"/>
                  <a:gd name="T1" fmla="*/ 15 h 17"/>
                  <a:gd name="T2" fmla="*/ 15 w 18"/>
                  <a:gd name="T3" fmla="*/ 12 h 17"/>
                  <a:gd name="T4" fmla="*/ 15 w 18"/>
                  <a:gd name="T5" fmla="*/ 11 h 17"/>
                  <a:gd name="T6" fmla="*/ 16 w 18"/>
                  <a:gd name="T7" fmla="*/ 11 h 17"/>
                  <a:gd name="T8" fmla="*/ 18 w 18"/>
                  <a:gd name="T9" fmla="*/ 9 h 17"/>
                  <a:gd name="T10" fmla="*/ 15 w 18"/>
                  <a:gd name="T11" fmla="*/ 3 h 17"/>
                  <a:gd name="T12" fmla="*/ 12 w 18"/>
                  <a:gd name="T13" fmla="*/ 0 h 17"/>
                  <a:gd name="T14" fmla="*/ 9 w 18"/>
                  <a:gd name="T15" fmla="*/ 0 h 17"/>
                  <a:gd name="T16" fmla="*/ 3 w 18"/>
                  <a:gd name="T17" fmla="*/ 3 h 17"/>
                  <a:gd name="T18" fmla="*/ 0 w 18"/>
                  <a:gd name="T19" fmla="*/ 9 h 17"/>
                  <a:gd name="T20" fmla="*/ 0 w 18"/>
                  <a:gd name="T21" fmla="*/ 11 h 17"/>
                  <a:gd name="T22" fmla="*/ 3 w 18"/>
                  <a:gd name="T23" fmla="*/ 15 h 17"/>
                  <a:gd name="T24" fmla="*/ 9 w 18"/>
                  <a:gd name="T25" fmla="*/ 17 h 17"/>
                  <a:gd name="T26" fmla="*/ 12 w 18"/>
                  <a:gd name="T27" fmla="*/ 16 h 17"/>
                  <a:gd name="T28" fmla="*/ 12 w 18"/>
                  <a:gd name="T29" fmla="*/ 15 h 17"/>
                  <a:gd name="T30" fmla="*/ 13 w 18"/>
                  <a:gd name="T31" fmla="*/ 15 h 17"/>
                  <a:gd name="T32" fmla="*/ 15 w 18"/>
                  <a:gd name="T33"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15" y="15"/>
                    </a:moveTo>
                    <a:lnTo>
                      <a:pt x="15" y="12"/>
                    </a:lnTo>
                    <a:lnTo>
                      <a:pt x="15" y="11"/>
                    </a:lnTo>
                    <a:lnTo>
                      <a:pt x="16" y="11"/>
                    </a:lnTo>
                    <a:lnTo>
                      <a:pt x="18" y="9"/>
                    </a:lnTo>
                    <a:lnTo>
                      <a:pt x="15" y="3"/>
                    </a:lnTo>
                    <a:lnTo>
                      <a:pt x="12" y="0"/>
                    </a:lnTo>
                    <a:lnTo>
                      <a:pt x="9" y="0"/>
                    </a:lnTo>
                    <a:lnTo>
                      <a:pt x="3" y="3"/>
                    </a:lnTo>
                    <a:lnTo>
                      <a:pt x="0" y="9"/>
                    </a:lnTo>
                    <a:lnTo>
                      <a:pt x="0" y="11"/>
                    </a:lnTo>
                    <a:lnTo>
                      <a:pt x="3" y="15"/>
                    </a:lnTo>
                    <a:lnTo>
                      <a:pt x="9" y="17"/>
                    </a:lnTo>
                    <a:lnTo>
                      <a:pt x="12" y="16"/>
                    </a:lnTo>
                    <a:lnTo>
                      <a:pt x="12" y="15"/>
                    </a:lnTo>
                    <a:lnTo>
                      <a:pt x="13" y="15"/>
                    </a:lnTo>
                    <a:lnTo>
                      <a:pt x="15"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16" name="Freeform 2284">
                <a:extLst>
                  <a:ext uri="{FF2B5EF4-FFF2-40B4-BE49-F238E27FC236}">
                    <a16:creationId xmlns:a16="http://schemas.microsoft.com/office/drawing/2014/main" id="{7C670F01-C873-488D-E556-6A6BF4A65229}"/>
                  </a:ext>
                </a:extLst>
              </p:cNvPr>
              <p:cNvSpPr>
                <a:spLocks/>
              </p:cNvSpPr>
              <p:nvPr/>
            </p:nvSpPr>
            <p:spPr bwMode="auto">
              <a:xfrm>
                <a:off x="946" y="3862"/>
                <a:ext cx="4" cy="4"/>
              </a:xfrm>
              <a:custGeom>
                <a:avLst/>
                <a:gdLst>
                  <a:gd name="T0" fmla="*/ 9 w 18"/>
                  <a:gd name="T1" fmla="*/ 0 h 16"/>
                  <a:gd name="T2" fmla="*/ 3 w 18"/>
                  <a:gd name="T3" fmla="*/ 3 h 16"/>
                  <a:gd name="T4" fmla="*/ 0 w 18"/>
                  <a:gd name="T5" fmla="*/ 9 h 16"/>
                  <a:gd name="T6" fmla="*/ 3 w 18"/>
                  <a:gd name="T7" fmla="*/ 14 h 16"/>
                  <a:gd name="T8" fmla="*/ 9 w 18"/>
                  <a:gd name="T9" fmla="*/ 16 h 16"/>
                  <a:gd name="T10" fmla="*/ 12 w 18"/>
                  <a:gd name="T11" fmla="*/ 15 h 16"/>
                  <a:gd name="T12" fmla="*/ 12 w 18"/>
                  <a:gd name="T13" fmla="*/ 14 h 16"/>
                  <a:gd name="T14" fmla="*/ 13 w 18"/>
                  <a:gd name="T15" fmla="*/ 14 h 16"/>
                  <a:gd name="T16" fmla="*/ 15 w 18"/>
                  <a:gd name="T17" fmla="*/ 14 h 16"/>
                  <a:gd name="T18" fmla="*/ 18 w 18"/>
                  <a:gd name="T19" fmla="*/ 9 h 16"/>
                  <a:gd name="T20" fmla="*/ 15 w 18"/>
                  <a:gd name="T21" fmla="*/ 3 h 16"/>
                  <a:gd name="T22" fmla="*/ 12 w 18"/>
                  <a:gd name="T23" fmla="*/ 0 h 16"/>
                  <a:gd name="T24" fmla="*/ 9 w 18"/>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9" y="0"/>
                    </a:moveTo>
                    <a:lnTo>
                      <a:pt x="3" y="3"/>
                    </a:lnTo>
                    <a:lnTo>
                      <a:pt x="0" y="9"/>
                    </a:lnTo>
                    <a:lnTo>
                      <a:pt x="3" y="14"/>
                    </a:lnTo>
                    <a:lnTo>
                      <a:pt x="9" y="16"/>
                    </a:lnTo>
                    <a:lnTo>
                      <a:pt x="12" y="15"/>
                    </a:lnTo>
                    <a:lnTo>
                      <a:pt x="12" y="14"/>
                    </a:lnTo>
                    <a:lnTo>
                      <a:pt x="13" y="14"/>
                    </a:lnTo>
                    <a:lnTo>
                      <a:pt x="15" y="14"/>
                    </a:lnTo>
                    <a:lnTo>
                      <a:pt x="18" y="9"/>
                    </a:lnTo>
                    <a:lnTo>
                      <a:pt x="15" y="3"/>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17" name="Freeform 2285">
                <a:extLst>
                  <a:ext uri="{FF2B5EF4-FFF2-40B4-BE49-F238E27FC236}">
                    <a16:creationId xmlns:a16="http://schemas.microsoft.com/office/drawing/2014/main" id="{524085CB-B727-CCC5-937F-829C58375E68}"/>
                  </a:ext>
                </a:extLst>
              </p:cNvPr>
              <p:cNvSpPr>
                <a:spLocks/>
              </p:cNvSpPr>
              <p:nvPr/>
            </p:nvSpPr>
            <p:spPr bwMode="auto">
              <a:xfrm>
                <a:off x="946" y="3868"/>
                <a:ext cx="4" cy="5"/>
              </a:xfrm>
              <a:custGeom>
                <a:avLst/>
                <a:gdLst>
                  <a:gd name="T0" fmla="*/ 9 w 18"/>
                  <a:gd name="T1" fmla="*/ 0 h 17"/>
                  <a:gd name="T2" fmla="*/ 3 w 18"/>
                  <a:gd name="T3" fmla="*/ 2 h 17"/>
                  <a:gd name="T4" fmla="*/ 0 w 18"/>
                  <a:gd name="T5" fmla="*/ 9 h 17"/>
                  <a:gd name="T6" fmla="*/ 0 w 18"/>
                  <a:gd name="T7" fmla="*/ 11 h 17"/>
                  <a:gd name="T8" fmla="*/ 3 w 18"/>
                  <a:gd name="T9" fmla="*/ 15 h 17"/>
                  <a:gd name="T10" fmla="*/ 9 w 18"/>
                  <a:gd name="T11" fmla="*/ 17 h 17"/>
                  <a:gd name="T12" fmla="*/ 12 w 18"/>
                  <a:gd name="T13" fmla="*/ 16 h 17"/>
                  <a:gd name="T14" fmla="*/ 12 w 18"/>
                  <a:gd name="T15" fmla="*/ 15 h 17"/>
                  <a:gd name="T16" fmla="*/ 13 w 18"/>
                  <a:gd name="T17" fmla="*/ 15 h 17"/>
                  <a:gd name="T18" fmla="*/ 15 w 18"/>
                  <a:gd name="T19" fmla="*/ 15 h 17"/>
                  <a:gd name="T20" fmla="*/ 15 w 18"/>
                  <a:gd name="T21" fmla="*/ 12 h 17"/>
                  <a:gd name="T22" fmla="*/ 15 w 18"/>
                  <a:gd name="T23" fmla="*/ 11 h 17"/>
                  <a:gd name="T24" fmla="*/ 16 w 18"/>
                  <a:gd name="T25" fmla="*/ 11 h 17"/>
                  <a:gd name="T26" fmla="*/ 18 w 18"/>
                  <a:gd name="T27" fmla="*/ 9 h 17"/>
                  <a:gd name="T28" fmla="*/ 15 w 18"/>
                  <a:gd name="T29" fmla="*/ 2 h 17"/>
                  <a:gd name="T30" fmla="*/ 12 w 18"/>
                  <a:gd name="T31" fmla="*/ 0 h 17"/>
                  <a:gd name="T32" fmla="*/ 9 w 18"/>
                  <a:gd name="T3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9" y="0"/>
                    </a:moveTo>
                    <a:lnTo>
                      <a:pt x="3" y="2"/>
                    </a:lnTo>
                    <a:lnTo>
                      <a:pt x="0" y="9"/>
                    </a:lnTo>
                    <a:lnTo>
                      <a:pt x="0" y="11"/>
                    </a:lnTo>
                    <a:lnTo>
                      <a:pt x="3" y="15"/>
                    </a:lnTo>
                    <a:lnTo>
                      <a:pt x="9" y="17"/>
                    </a:lnTo>
                    <a:lnTo>
                      <a:pt x="12" y="16"/>
                    </a:lnTo>
                    <a:lnTo>
                      <a:pt x="12" y="15"/>
                    </a:lnTo>
                    <a:lnTo>
                      <a:pt x="13" y="15"/>
                    </a:lnTo>
                    <a:lnTo>
                      <a:pt x="15" y="15"/>
                    </a:lnTo>
                    <a:lnTo>
                      <a:pt x="15" y="12"/>
                    </a:lnTo>
                    <a:lnTo>
                      <a:pt x="15" y="11"/>
                    </a:lnTo>
                    <a:lnTo>
                      <a:pt x="16" y="11"/>
                    </a:lnTo>
                    <a:lnTo>
                      <a:pt x="18" y="9"/>
                    </a:lnTo>
                    <a:lnTo>
                      <a:pt x="15" y="2"/>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18" name="Freeform 2286">
                <a:extLst>
                  <a:ext uri="{FF2B5EF4-FFF2-40B4-BE49-F238E27FC236}">
                    <a16:creationId xmlns:a16="http://schemas.microsoft.com/office/drawing/2014/main" id="{59E70AEA-DF53-F5A0-CA90-B5514A9BA589}"/>
                  </a:ext>
                </a:extLst>
              </p:cNvPr>
              <p:cNvSpPr>
                <a:spLocks/>
              </p:cNvSpPr>
              <p:nvPr/>
            </p:nvSpPr>
            <p:spPr bwMode="auto">
              <a:xfrm>
                <a:off x="953" y="3868"/>
                <a:ext cx="4" cy="5"/>
              </a:xfrm>
              <a:custGeom>
                <a:avLst/>
                <a:gdLst>
                  <a:gd name="T0" fmla="*/ 9 w 17"/>
                  <a:gd name="T1" fmla="*/ 0 h 17"/>
                  <a:gd name="T2" fmla="*/ 3 w 17"/>
                  <a:gd name="T3" fmla="*/ 2 h 17"/>
                  <a:gd name="T4" fmla="*/ 0 w 17"/>
                  <a:gd name="T5" fmla="*/ 9 h 17"/>
                  <a:gd name="T6" fmla="*/ 0 w 17"/>
                  <a:gd name="T7" fmla="*/ 11 h 17"/>
                  <a:gd name="T8" fmla="*/ 3 w 17"/>
                  <a:gd name="T9" fmla="*/ 15 h 17"/>
                  <a:gd name="T10" fmla="*/ 9 w 17"/>
                  <a:gd name="T11" fmla="*/ 17 h 17"/>
                  <a:gd name="T12" fmla="*/ 14 w 17"/>
                  <a:gd name="T13" fmla="*/ 15 h 17"/>
                  <a:gd name="T14" fmla="*/ 14 w 17"/>
                  <a:gd name="T15" fmla="*/ 12 h 17"/>
                  <a:gd name="T16" fmla="*/ 14 w 17"/>
                  <a:gd name="T17" fmla="*/ 11 h 17"/>
                  <a:gd name="T18" fmla="*/ 15 w 17"/>
                  <a:gd name="T19" fmla="*/ 11 h 17"/>
                  <a:gd name="T20" fmla="*/ 17 w 17"/>
                  <a:gd name="T21" fmla="*/ 9 h 17"/>
                  <a:gd name="T22" fmla="*/ 14 w 17"/>
                  <a:gd name="T23" fmla="*/ 2 h 17"/>
                  <a:gd name="T24" fmla="*/ 9 w 17"/>
                  <a:gd name="T2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9" y="0"/>
                    </a:moveTo>
                    <a:lnTo>
                      <a:pt x="3" y="2"/>
                    </a:lnTo>
                    <a:lnTo>
                      <a:pt x="0" y="9"/>
                    </a:lnTo>
                    <a:lnTo>
                      <a:pt x="0" y="11"/>
                    </a:lnTo>
                    <a:lnTo>
                      <a:pt x="3" y="15"/>
                    </a:lnTo>
                    <a:lnTo>
                      <a:pt x="9" y="17"/>
                    </a:lnTo>
                    <a:lnTo>
                      <a:pt x="14" y="15"/>
                    </a:lnTo>
                    <a:lnTo>
                      <a:pt x="14" y="12"/>
                    </a:lnTo>
                    <a:lnTo>
                      <a:pt x="14" y="11"/>
                    </a:lnTo>
                    <a:lnTo>
                      <a:pt x="15" y="11"/>
                    </a:lnTo>
                    <a:lnTo>
                      <a:pt x="17" y="9"/>
                    </a:lnTo>
                    <a:lnTo>
                      <a:pt x="14" y="2"/>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19" name="Freeform 2287">
                <a:extLst>
                  <a:ext uri="{FF2B5EF4-FFF2-40B4-BE49-F238E27FC236}">
                    <a16:creationId xmlns:a16="http://schemas.microsoft.com/office/drawing/2014/main" id="{6FE780A9-8897-2D0A-E66F-2465D10534B4}"/>
                  </a:ext>
                </a:extLst>
              </p:cNvPr>
              <p:cNvSpPr>
                <a:spLocks/>
              </p:cNvSpPr>
              <p:nvPr/>
            </p:nvSpPr>
            <p:spPr bwMode="auto">
              <a:xfrm>
                <a:off x="953" y="3875"/>
                <a:ext cx="4" cy="4"/>
              </a:xfrm>
              <a:custGeom>
                <a:avLst/>
                <a:gdLst>
                  <a:gd name="T0" fmla="*/ 14 w 17"/>
                  <a:gd name="T1" fmla="*/ 3 h 16"/>
                  <a:gd name="T2" fmla="*/ 9 w 17"/>
                  <a:gd name="T3" fmla="*/ 0 h 16"/>
                  <a:gd name="T4" fmla="*/ 3 w 17"/>
                  <a:gd name="T5" fmla="*/ 3 h 16"/>
                  <a:gd name="T6" fmla="*/ 0 w 17"/>
                  <a:gd name="T7" fmla="*/ 9 h 16"/>
                  <a:gd name="T8" fmla="*/ 3 w 17"/>
                  <a:gd name="T9" fmla="*/ 14 h 16"/>
                  <a:gd name="T10" fmla="*/ 9 w 17"/>
                  <a:gd name="T11" fmla="*/ 16 h 16"/>
                  <a:gd name="T12" fmla="*/ 14 w 17"/>
                  <a:gd name="T13" fmla="*/ 14 h 16"/>
                  <a:gd name="T14" fmla="*/ 17 w 17"/>
                  <a:gd name="T15" fmla="*/ 9 h 16"/>
                  <a:gd name="T16" fmla="*/ 14 w 17"/>
                  <a:gd name="T17"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4" y="3"/>
                    </a:moveTo>
                    <a:lnTo>
                      <a:pt x="9" y="0"/>
                    </a:lnTo>
                    <a:lnTo>
                      <a:pt x="3" y="3"/>
                    </a:lnTo>
                    <a:lnTo>
                      <a:pt x="0" y="9"/>
                    </a:lnTo>
                    <a:lnTo>
                      <a:pt x="3" y="14"/>
                    </a:lnTo>
                    <a:lnTo>
                      <a:pt x="9" y="16"/>
                    </a:lnTo>
                    <a:lnTo>
                      <a:pt x="14" y="14"/>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20" name="Freeform 2288">
                <a:extLst>
                  <a:ext uri="{FF2B5EF4-FFF2-40B4-BE49-F238E27FC236}">
                    <a16:creationId xmlns:a16="http://schemas.microsoft.com/office/drawing/2014/main" id="{A72ADEDC-2E6D-868F-6C01-4E81AE93B0BC}"/>
                  </a:ext>
                </a:extLst>
              </p:cNvPr>
              <p:cNvSpPr>
                <a:spLocks/>
              </p:cNvSpPr>
              <p:nvPr/>
            </p:nvSpPr>
            <p:spPr bwMode="auto">
              <a:xfrm>
                <a:off x="959" y="3875"/>
                <a:ext cx="4" cy="4"/>
              </a:xfrm>
              <a:custGeom>
                <a:avLst/>
                <a:gdLst>
                  <a:gd name="T0" fmla="*/ 1 w 16"/>
                  <a:gd name="T1" fmla="*/ 3 h 16"/>
                  <a:gd name="T2" fmla="*/ 0 w 16"/>
                  <a:gd name="T3" fmla="*/ 9 h 16"/>
                  <a:gd name="T4" fmla="*/ 1 w 16"/>
                  <a:gd name="T5" fmla="*/ 14 h 16"/>
                  <a:gd name="T6" fmla="*/ 7 w 16"/>
                  <a:gd name="T7" fmla="*/ 16 h 16"/>
                  <a:gd name="T8" fmla="*/ 9 w 16"/>
                  <a:gd name="T9" fmla="*/ 15 h 16"/>
                  <a:gd name="T10" fmla="*/ 9 w 16"/>
                  <a:gd name="T11" fmla="*/ 14 h 16"/>
                  <a:gd name="T12" fmla="*/ 11 w 16"/>
                  <a:gd name="T13" fmla="*/ 14 h 16"/>
                  <a:gd name="T14" fmla="*/ 13 w 16"/>
                  <a:gd name="T15" fmla="*/ 14 h 16"/>
                  <a:gd name="T16" fmla="*/ 16 w 16"/>
                  <a:gd name="T17" fmla="*/ 9 h 16"/>
                  <a:gd name="T18" fmla="*/ 13 w 16"/>
                  <a:gd name="T19" fmla="*/ 3 h 16"/>
                  <a:gd name="T20" fmla="*/ 9 w 16"/>
                  <a:gd name="T21" fmla="*/ 0 h 16"/>
                  <a:gd name="T22" fmla="*/ 7 w 16"/>
                  <a:gd name="T23" fmla="*/ 0 h 16"/>
                  <a:gd name="T24" fmla="*/ 1 w 16"/>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6">
                    <a:moveTo>
                      <a:pt x="1" y="3"/>
                    </a:moveTo>
                    <a:lnTo>
                      <a:pt x="0" y="9"/>
                    </a:lnTo>
                    <a:lnTo>
                      <a:pt x="1" y="14"/>
                    </a:lnTo>
                    <a:lnTo>
                      <a:pt x="7" y="16"/>
                    </a:lnTo>
                    <a:lnTo>
                      <a:pt x="9" y="15"/>
                    </a:lnTo>
                    <a:lnTo>
                      <a:pt x="9" y="14"/>
                    </a:lnTo>
                    <a:lnTo>
                      <a:pt x="11" y="14"/>
                    </a:lnTo>
                    <a:lnTo>
                      <a:pt x="13" y="14"/>
                    </a:lnTo>
                    <a:lnTo>
                      <a:pt x="16" y="9"/>
                    </a:lnTo>
                    <a:lnTo>
                      <a:pt x="13" y="3"/>
                    </a:lnTo>
                    <a:lnTo>
                      <a:pt x="9" y="0"/>
                    </a:lnTo>
                    <a:lnTo>
                      <a:pt x="7" y="0"/>
                    </a:lnTo>
                    <a:lnTo>
                      <a:pt x="1"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21" name="Freeform 2289">
                <a:extLst>
                  <a:ext uri="{FF2B5EF4-FFF2-40B4-BE49-F238E27FC236}">
                    <a16:creationId xmlns:a16="http://schemas.microsoft.com/office/drawing/2014/main" id="{7B7CD5AB-8D27-D97F-0D7E-4867A74B2AAE}"/>
                  </a:ext>
                </a:extLst>
              </p:cNvPr>
              <p:cNvSpPr>
                <a:spLocks/>
              </p:cNvSpPr>
              <p:nvPr/>
            </p:nvSpPr>
            <p:spPr bwMode="auto">
              <a:xfrm>
                <a:off x="946" y="3875"/>
                <a:ext cx="4" cy="4"/>
              </a:xfrm>
              <a:custGeom>
                <a:avLst/>
                <a:gdLst>
                  <a:gd name="T0" fmla="*/ 18 w 18"/>
                  <a:gd name="T1" fmla="*/ 9 h 16"/>
                  <a:gd name="T2" fmla="*/ 15 w 18"/>
                  <a:gd name="T3" fmla="*/ 3 h 16"/>
                  <a:gd name="T4" fmla="*/ 12 w 18"/>
                  <a:gd name="T5" fmla="*/ 0 h 16"/>
                  <a:gd name="T6" fmla="*/ 9 w 18"/>
                  <a:gd name="T7" fmla="*/ 0 h 16"/>
                  <a:gd name="T8" fmla="*/ 3 w 18"/>
                  <a:gd name="T9" fmla="*/ 3 h 16"/>
                  <a:gd name="T10" fmla="*/ 0 w 18"/>
                  <a:gd name="T11" fmla="*/ 9 h 16"/>
                  <a:gd name="T12" fmla="*/ 3 w 18"/>
                  <a:gd name="T13" fmla="*/ 14 h 16"/>
                  <a:gd name="T14" fmla="*/ 9 w 18"/>
                  <a:gd name="T15" fmla="*/ 16 h 16"/>
                  <a:gd name="T16" fmla="*/ 12 w 18"/>
                  <a:gd name="T17" fmla="*/ 15 h 16"/>
                  <a:gd name="T18" fmla="*/ 12 w 18"/>
                  <a:gd name="T19" fmla="*/ 14 h 16"/>
                  <a:gd name="T20" fmla="*/ 13 w 18"/>
                  <a:gd name="T21" fmla="*/ 14 h 16"/>
                  <a:gd name="T22" fmla="*/ 15 w 18"/>
                  <a:gd name="T23" fmla="*/ 14 h 16"/>
                  <a:gd name="T24" fmla="*/ 18 w 18"/>
                  <a:gd name="T25"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18" y="9"/>
                    </a:moveTo>
                    <a:lnTo>
                      <a:pt x="15" y="3"/>
                    </a:lnTo>
                    <a:lnTo>
                      <a:pt x="12" y="0"/>
                    </a:lnTo>
                    <a:lnTo>
                      <a:pt x="9" y="0"/>
                    </a:lnTo>
                    <a:lnTo>
                      <a:pt x="3" y="3"/>
                    </a:lnTo>
                    <a:lnTo>
                      <a:pt x="0" y="9"/>
                    </a:lnTo>
                    <a:lnTo>
                      <a:pt x="3" y="14"/>
                    </a:lnTo>
                    <a:lnTo>
                      <a:pt x="9" y="16"/>
                    </a:lnTo>
                    <a:lnTo>
                      <a:pt x="12" y="15"/>
                    </a:lnTo>
                    <a:lnTo>
                      <a:pt x="12" y="14"/>
                    </a:lnTo>
                    <a:lnTo>
                      <a:pt x="13" y="14"/>
                    </a:lnTo>
                    <a:lnTo>
                      <a:pt x="15" y="14"/>
                    </a:lnTo>
                    <a:lnTo>
                      <a:pt x="18"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22" name="Freeform 2290">
                <a:extLst>
                  <a:ext uri="{FF2B5EF4-FFF2-40B4-BE49-F238E27FC236}">
                    <a16:creationId xmlns:a16="http://schemas.microsoft.com/office/drawing/2014/main" id="{DECCB96D-FF74-D1E2-BC4B-C390D3B76150}"/>
                  </a:ext>
                </a:extLst>
              </p:cNvPr>
              <p:cNvSpPr>
                <a:spLocks/>
              </p:cNvSpPr>
              <p:nvPr/>
            </p:nvSpPr>
            <p:spPr bwMode="auto">
              <a:xfrm>
                <a:off x="940" y="3875"/>
                <a:ext cx="4" cy="4"/>
              </a:xfrm>
              <a:custGeom>
                <a:avLst/>
                <a:gdLst>
                  <a:gd name="T0" fmla="*/ 3 w 17"/>
                  <a:gd name="T1" fmla="*/ 3 h 16"/>
                  <a:gd name="T2" fmla="*/ 0 w 17"/>
                  <a:gd name="T3" fmla="*/ 9 h 16"/>
                  <a:gd name="T4" fmla="*/ 3 w 17"/>
                  <a:gd name="T5" fmla="*/ 14 h 16"/>
                  <a:gd name="T6" fmla="*/ 8 w 17"/>
                  <a:gd name="T7" fmla="*/ 16 h 16"/>
                  <a:gd name="T8" fmla="*/ 10 w 17"/>
                  <a:gd name="T9" fmla="*/ 15 h 16"/>
                  <a:gd name="T10" fmla="*/ 10 w 17"/>
                  <a:gd name="T11" fmla="*/ 14 h 16"/>
                  <a:gd name="T12" fmla="*/ 12 w 17"/>
                  <a:gd name="T13" fmla="*/ 14 h 16"/>
                  <a:gd name="T14" fmla="*/ 14 w 17"/>
                  <a:gd name="T15" fmla="*/ 14 h 16"/>
                  <a:gd name="T16" fmla="*/ 17 w 17"/>
                  <a:gd name="T17" fmla="*/ 9 h 16"/>
                  <a:gd name="T18" fmla="*/ 14 w 17"/>
                  <a:gd name="T19" fmla="*/ 3 h 16"/>
                  <a:gd name="T20" fmla="*/ 10 w 17"/>
                  <a:gd name="T21" fmla="*/ 0 h 16"/>
                  <a:gd name="T22" fmla="*/ 8 w 17"/>
                  <a:gd name="T23" fmla="*/ 0 h 16"/>
                  <a:gd name="T24" fmla="*/ 3 w 17"/>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3" y="3"/>
                    </a:moveTo>
                    <a:lnTo>
                      <a:pt x="0" y="9"/>
                    </a:lnTo>
                    <a:lnTo>
                      <a:pt x="3" y="14"/>
                    </a:lnTo>
                    <a:lnTo>
                      <a:pt x="8" y="16"/>
                    </a:lnTo>
                    <a:lnTo>
                      <a:pt x="10" y="15"/>
                    </a:lnTo>
                    <a:lnTo>
                      <a:pt x="10" y="14"/>
                    </a:lnTo>
                    <a:lnTo>
                      <a:pt x="12" y="14"/>
                    </a:lnTo>
                    <a:lnTo>
                      <a:pt x="14" y="14"/>
                    </a:lnTo>
                    <a:lnTo>
                      <a:pt x="17" y="9"/>
                    </a:lnTo>
                    <a:lnTo>
                      <a:pt x="14" y="3"/>
                    </a:lnTo>
                    <a:lnTo>
                      <a:pt x="10" y="0"/>
                    </a:lnTo>
                    <a:lnTo>
                      <a:pt x="8" y="0"/>
                    </a:lnTo>
                    <a:lnTo>
                      <a:pt x="3"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23" name="Freeform 2291">
                <a:extLst>
                  <a:ext uri="{FF2B5EF4-FFF2-40B4-BE49-F238E27FC236}">
                    <a16:creationId xmlns:a16="http://schemas.microsoft.com/office/drawing/2014/main" id="{130EA43E-762B-F197-BC9A-A39F2C1BCE3D}"/>
                  </a:ext>
                </a:extLst>
              </p:cNvPr>
              <p:cNvSpPr>
                <a:spLocks/>
              </p:cNvSpPr>
              <p:nvPr/>
            </p:nvSpPr>
            <p:spPr bwMode="auto">
              <a:xfrm>
                <a:off x="933" y="3875"/>
                <a:ext cx="5" cy="4"/>
              </a:xfrm>
              <a:custGeom>
                <a:avLst/>
                <a:gdLst>
                  <a:gd name="T0" fmla="*/ 15 w 18"/>
                  <a:gd name="T1" fmla="*/ 3 h 16"/>
                  <a:gd name="T2" fmla="*/ 12 w 18"/>
                  <a:gd name="T3" fmla="*/ 0 h 16"/>
                  <a:gd name="T4" fmla="*/ 9 w 18"/>
                  <a:gd name="T5" fmla="*/ 0 h 16"/>
                  <a:gd name="T6" fmla="*/ 3 w 18"/>
                  <a:gd name="T7" fmla="*/ 3 h 16"/>
                  <a:gd name="T8" fmla="*/ 0 w 18"/>
                  <a:gd name="T9" fmla="*/ 9 h 16"/>
                  <a:gd name="T10" fmla="*/ 3 w 18"/>
                  <a:gd name="T11" fmla="*/ 14 h 16"/>
                  <a:gd name="T12" fmla="*/ 9 w 18"/>
                  <a:gd name="T13" fmla="*/ 16 h 16"/>
                  <a:gd name="T14" fmla="*/ 12 w 18"/>
                  <a:gd name="T15" fmla="*/ 15 h 16"/>
                  <a:gd name="T16" fmla="*/ 12 w 18"/>
                  <a:gd name="T17" fmla="*/ 14 h 16"/>
                  <a:gd name="T18" fmla="*/ 13 w 18"/>
                  <a:gd name="T19" fmla="*/ 14 h 16"/>
                  <a:gd name="T20" fmla="*/ 15 w 18"/>
                  <a:gd name="T21" fmla="*/ 14 h 16"/>
                  <a:gd name="T22" fmla="*/ 18 w 18"/>
                  <a:gd name="T23" fmla="*/ 9 h 16"/>
                  <a:gd name="T24" fmla="*/ 15 w 18"/>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15" y="3"/>
                    </a:moveTo>
                    <a:lnTo>
                      <a:pt x="12" y="0"/>
                    </a:lnTo>
                    <a:lnTo>
                      <a:pt x="9" y="0"/>
                    </a:lnTo>
                    <a:lnTo>
                      <a:pt x="3" y="3"/>
                    </a:lnTo>
                    <a:lnTo>
                      <a:pt x="0" y="9"/>
                    </a:lnTo>
                    <a:lnTo>
                      <a:pt x="3" y="14"/>
                    </a:lnTo>
                    <a:lnTo>
                      <a:pt x="9" y="16"/>
                    </a:lnTo>
                    <a:lnTo>
                      <a:pt x="12" y="15"/>
                    </a:lnTo>
                    <a:lnTo>
                      <a:pt x="12" y="14"/>
                    </a:lnTo>
                    <a:lnTo>
                      <a:pt x="13" y="14"/>
                    </a:lnTo>
                    <a:lnTo>
                      <a:pt x="15" y="14"/>
                    </a:lnTo>
                    <a:lnTo>
                      <a:pt x="18" y="9"/>
                    </a:lnTo>
                    <a:lnTo>
                      <a:pt x="15"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24" name="Freeform 2292">
                <a:extLst>
                  <a:ext uri="{FF2B5EF4-FFF2-40B4-BE49-F238E27FC236}">
                    <a16:creationId xmlns:a16="http://schemas.microsoft.com/office/drawing/2014/main" id="{B8CEB57C-19BB-9557-5700-570EA804D92C}"/>
                  </a:ext>
                </a:extLst>
              </p:cNvPr>
              <p:cNvSpPr>
                <a:spLocks/>
              </p:cNvSpPr>
              <p:nvPr/>
            </p:nvSpPr>
            <p:spPr bwMode="auto">
              <a:xfrm>
                <a:off x="978" y="3875"/>
                <a:ext cx="4" cy="4"/>
              </a:xfrm>
              <a:custGeom>
                <a:avLst/>
                <a:gdLst>
                  <a:gd name="T0" fmla="*/ 16 w 16"/>
                  <a:gd name="T1" fmla="*/ 9 h 16"/>
                  <a:gd name="T2" fmla="*/ 14 w 16"/>
                  <a:gd name="T3" fmla="*/ 3 h 16"/>
                  <a:gd name="T4" fmla="*/ 9 w 16"/>
                  <a:gd name="T5" fmla="*/ 0 h 16"/>
                  <a:gd name="T6" fmla="*/ 3 w 16"/>
                  <a:gd name="T7" fmla="*/ 3 h 16"/>
                  <a:gd name="T8" fmla="*/ 0 w 16"/>
                  <a:gd name="T9" fmla="*/ 9 h 16"/>
                  <a:gd name="T10" fmla="*/ 3 w 16"/>
                  <a:gd name="T11" fmla="*/ 14 h 16"/>
                  <a:gd name="T12" fmla="*/ 9 w 16"/>
                  <a:gd name="T13" fmla="*/ 16 h 16"/>
                  <a:gd name="T14" fmla="*/ 14 w 16"/>
                  <a:gd name="T15" fmla="*/ 14 h 16"/>
                  <a:gd name="T16" fmla="*/ 16 w 16"/>
                  <a:gd name="T17"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9"/>
                    </a:moveTo>
                    <a:lnTo>
                      <a:pt x="14" y="3"/>
                    </a:lnTo>
                    <a:lnTo>
                      <a:pt x="9" y="0"/>
                    </a:lnTo>
                    <a:lnTo>
                      <a:pt x="3" y="3"/>
                    </a:lnTo>
                    <a:lnTo>
                      <a:pt x="0" y="9"/>
                    </a:lnTo>
                    <a:lnTo>
                      <a:pt x="3" y="14"/>
                    </a:lnTo>
                    <a:lnTo>
                      <a:pt x="9" y="16"/>
                    </a:lnTo>
                    <a:lnTo>
                      <a:pt x="14" y="14"/>
                    </a:lnTo>
                    <a:lnTo>
                      <a:pt x="16"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25" name="Freeform 2293">
                <a:extLst>
                  <a:ext uri="{FF2B5EF4-FFF2-40B4-BE49-F238E27FC236}">
                    <a16:creationId xmlns:a16="http://schemas.microsoft.com/office/drawing/2014/main" id="{BB28B33A-CCA6-AACC-E16A-DE77CBE00566}"/>
                  </a:ext>
                </a:extLst>
              </p:cNvPr>
              <p:cNvSpPr>
                <a:spLocks/>
              </p:cNvSpPr>
              <p:nvPr/>
            </p:nvSpPr>
            <p:spPr bwMode="auto">
              <a:xfrm>
                <a:off x="965" y="3875"/>
                <a:ext cx="4" cy="4"/>
              </a:xfrm>
              <a:custGeom>
                <a:avLst/>
                <a:gdLst>
                  <a:gd name="T0" fmla="*/ 17 w 17"/>
                  <a:gd name="T1" fmla="*/ 9 h 16"/>
                  <a:gd name="T2" fmla="*/ 14 w 17"/>
                  <a:gd name="T3" fmla="*/ 3 h 16"/>
                  <a:gd name="T4" fmla="*/ 9 w 17"/>
                  <a:gd name="T5" fmla="*/ 0 h 16"/>
                  <a:gd name="T6" fmla="*/ 3 w 17"/>
                  <a:gd name="T7" fmla="*/ 3 h 16"/>
                  <a:gd name="T8" fmla="*/ 0 w 17"/>
                  <a:gd name="T9" fmla="*/ 9 h 16"/>
                  <a:gd name="T10" fmla="*/ 3 w 17"/>
                  <a:gd name="T11" fmla="*/ 14 h 16"/>
                  <a:gd name="T12" fmla="*/ 9 w 17"/>
                  <a:gd name="T13" fmla="*/ 16 h 16"/>
                  <a:gd name="T14" fmla="*/ 14 w 17"/>
                  <a:gd name="T15" fmla="*/ 14 h 16"/>
                  <a:gd name="T16" fmla="*/ 17 w 17"/>
                  <a:gd name="T17"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7" y="9"/>
                    </a:moveTo>
                    <a:lnTo>
                      <a:pt x="14" y="3"/>
                    </a:lnTo>
                    <a:lnTo>
                      <a:pt x="9" y="0"/>
                    </a:lnTo>
                    <a:lnTo>
                      <a:pt x="3" y="3"/>
                    </a:lnTo>
                    <a:lnTo>
                      <a:pt x="0" y="9"/>
                    </a:lnTo>
                    <a:lnTo>
                      <a:pt x="3" y="14"/>
                    </a:lnTo>
                    <a:lnTo>
                      <a:pt x="9" y="16"/>
                    </a:lnTo>
                    <a:lnTo>
                      <a:pt x="14" y="14"/>
                    </a:lnTo>
                    <a:lnTo>
                      <a:pt x="17"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26" name="Freeform 2294">
                <a:extLst>
                  <a:ext uri="{FF2B5EF4-FFF2-40B4-BE49-F238E27FC236}">
                    <a16:creationId xmlns:a16="http://schemas.microsoft.com/office/drawing/2014/main" id="{B4FF4F99-67CA-621F-86EE-96D86CA9D869}"/>
                  </a:ext>
                </a:extLst>
              </p:cNvPr>
              <p:cNvSpPr>
                <a:spLocks/>
              </p:cNvSpPr>
              <p:nvPr/>
            </p:nvSpPr>
            <p:spPr bwMode="auto">
              <a:xfrm>
                <a:off x="972" y="3875"/>
                <a:ext cx="4" cy="4"/>
              </a:xfrm>
              <a:custGeom>
                <a:avLst/>
                <a:gdLst>
                  <a:gd name="T0" fmla="*/ 14 w 17"/>
                  <a:gd name="T1" fmla="*/ 3 h 16"/>
                  <a:gd name="T2" fmla="*/ 10 w 17"/>
                  <a:gd name="T3" fmla="*/ 0 h 16"/>
                  <a:gd name="T4" fmla="*/ 8 w 17"/>
                  <a:gd name="T5" fmla="*/ 0 h 16"/>
                  <a:gd name="T6" fmla="*/ 2 w 17"/>
                  <a:gd name="T7" fmla="*/ 3 h 16"/>
                  <a:gd name="T8" fmla="*/ 0 w 17"/>
                  <a:gd name="T9" fmla="*/ 9 h 16"/>
                  <a:gd name="T10" fmla="*/ 2 w 17"/>
                  <a:gd name="T11" fmla="*/ 14 h 16"/>
                  <a:gd name="T12" fmla="*/ 8 w 17"/>
                  <a:gd name="T13" fmla="*/ 16 h 16"/>
                  <a:gd name="T14" fmla="*/ 10 w 17"/>
                  <a:gd name="T15" fmla="*/ 15 h 16"/>
                  <a:gd name="T16" fmla="*/ 10 w 17"/>
                  <a:gd name="T17" fmla="*/ 14 h 16"/>
                  <a:gd name="T18" fmla="*/ 12 w 17"/>
                  <a:gd name="T19" fmla="*/ 14 h 16"/>
                  <a:gd name="T20" fmla="*/ 14 w 17"/>
                  <a:gd name="T21" fmla="*/ 14 h 16"/>
                  <a:gd name="T22" fmla="*/ 17 w 17"/>
                  <a:gd name="T23" fmla="*/ 9 h 16"/>
                  <a:gd name="T24" fmla="*/ 14 w 17"/>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14" y="3"/>
                    </a:moveTo>
                    <a:lnTo>
                      <a:pt x="10" y="0"/>
                    </a:lnTo>
                    <a:lnTo>
                      <a:pt x="8" y="0"/>
                    </a:lnTo>
                    <a:lnTo>
                      <a:pt x="2" y="3"/>
                    </a:lnTo>
                    <a:lnTo>
                      <a:pt x="0" y="9"/>
                    </a:lnTo>
                    <a:lnTo>
                      <a:pt x="2" y="14"/>
                    </a:lnTo>
                    <a:lnTo>
                      <a:pt x="8" y="16"/>
                    </a:lnTo>
                    <a:lnTo>
                      <a:pt x="10" y="15"/>
                    </a:lnTo>
                    <a:lnTo>
                      <a:pt x="10" y="14"/>
                    </a:lnTo>
                    <a:lnTo>
                      <a:pt x="12" y="14"/>
                    </a:lnTo>
                    <a:lnTo>
                      <a:pt x="14" y="14"/>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27" name="Freeform 2295">
                <a:extLst>
                  <a:ext uri="{FF2B5EF4-FFF2-40B4-BE49-F238E27FC236}">
                    <a16:creationId xmlns:a16="http://schemas.microsoft.com/office/drawing/2014/main" id="{38142E01-6203-08A7-299B-E66643F9D111}"/>
                  </a:ext>
                </a:extLst>
              </p:cNvPr>
              <p:cNvSpPr>
                <a:spLocks/>
              </p:cNvSpPr>
              <p:nvPr/>
            </p:nvSpPr>
            <p:spPr bwMode="auto">
              <a:xfrm>
                <a:off x="1027" y="3906"/>
                <a:ext cx="4" cy="5"/>
              </a:xfrm>
              <a:custGeom>
                <a:avLst/>
                <a:gdLst>
                  <a:gd name="T0" fmla="*/ 14 w 17"/>
                  <a:gd name="T1" fmla="*/ 2 h 17"/>
                  <a:gd name="T2" fmla="*/ 10 w 17"/>
                  <a:gd name="T3" fmla="*/ 0 h 17"/>
                  <a:gd name="T4" fmla="*/ 8 w 17"/>
                  <a:gd name="T5" fmla="*/ 0 h 17"/>
                  <a:gd name="T6" fmla="*/ 2 w 17"/>
                  <a:gd name="T7" fmla="*/ 2 h 17"/>
                  <a:gd name="T8" fmla="*/ 0 w 17"/>
                  <a:gd name="T9" fmla="*/ 9 h 17"/>
                  <a:gd name="T10" fmla="*/ 2 w 17"/>
                  <a:gd name="T11" fmla="*/ 15 h 17"/>
                  <a:gd name="T12" fmla="*/ 8 w 17"/>
                  <a:gd name="T13" fmla="*/ 17 h 17"/>
                  <a:gd name="T14" fmla="*/ 10 w 17"/>
                  <a:gd name="T15" fmla="*/ 16 h 17"/>
                  <a:gd name="T16" fmla="*/ 10 w 17"/>
                  <a:gd name="T17" fmla="*/ 15 h 17"/>
                  <a:gd name="T18" fmla="*/ 12 w 17"/>
                  <a:gd name="T19" fmla="*/ 15 h 17"/>
                  <a:gd name="T20" fmla="*/ 14 w 17"/>
                  <a:gd name="T21" fmla="*/ 15 h 17"/>
                  <a:gd name="T22" fmla="*/ 14 w 17"/>
                  <a:gd name="T23" fmla="*/ 12 h 17"/>
                  <a:gd name="T24" fmla="*/ 14 w 17"/>
                  <a:gd name="T25" fmla="*/ 11 h 17"/>
                  <a:gd name="T26" fmla="*/ 15 w 17"/>
                  <a:gd name="T27" fmla="*/ 11 h 17"/>
                  <a:gd name="T28" fmla="*/ 17 w 17"/>
                  <a:gd name="T29" fmla="*/ 9 h 17"/>
                  <a:gd name="T30" fmla="*/ 14 w 17"/>
                  <a:gd name="T31"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7">
                    <a:moveTo>
                      <a:pt x="14" y="2"/>
                    </a:moveTo>
                    <a:lnTo>
                      <a:pt x="10" y="0"/>
                    </a:lnTo>
                    <a:lnTo>
                      <a:pt x="8" y="0"/>
                    </a:lnTo>
                    <a:lnTo>
                      <a:pt x="2" y="2"/>
                    </a:lnTo>
                    <a:lnTo>
                      <a:pt x="0" y="9"/>
                    </a:lnTo>
                    <a:lnTo>
                      <a:pt x="2" y="15"/>
                    </a:lnTo>
                    <a:lnTo>
                      <a:pt x="8" y="17"/>
                    </a:lnTo>
                    <a:lnTo>
                      <a:pt x="10" y="16"/>
                    </a:lnTo>
                    <a:lnTo>
                      <a:pt x="10" y="15"/>
                    </a:lnTo>
                    <a:lnTo>
                      <a:pt x="12" y="15"/>
                    </a:lnTo>
                    <a:lnTo>
                      <a:pt x="14" y="15"/>
                    </a:lnTo>
                    <a:lnTo>
                      <a:pt x="14" y="12"/>
                    </a:lnTo>
                    <a:lnTo>
                      <a:pt x="14" y="11"/>
                    </a:lnTo>
                    <a:lnTo>
                      <a:pt x="15" y="11"/>
                    </a:lnTo>
                    <a:lnTo>
                      <a:pt x="17" y="9"/>
                    </a:lnTo>
                    <a:lnTo>
                      <a:pt x="14"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28" name="Freeform 2296">
                <a:extLst>
                  <a:ext uri="{FF2B5EF4-FFF2-40B4-BE49-F238E27FC236}">
                    <a16:creationId xmlns:a16="http://schemas.microsoft.com/office/drawing/2014/main" id="{71898737-6077-0375-3393-B073C8A6734F}"/>
                  </a:ext>
                </a:extLst>
              </p:cNvPr>
              <p:cNvSpPr>
                <a:spLocks/>
              </p:cNvSpPr>
              <p:nvPr/>
            </p:nvSpPr>
            <p:spPr bwMode="auto">
              <a:xfrm>
                <a:off x="1020" y="3906"/>
                <a:ext cx="4" cy="5"/>
              </a:xfrm>
              <a:custGeom>
                <a:avLst/>
                <a:gdLst>
                  <a:gd name="T0" fmla="*/ 14 w 17"/>
                  <a:gd name="T1" fmla="*/ 15 h 17"/>
                  <a:gd name="T2" fmla="*/ 14 w 17"/>
                  <a:gd name="T3" fmla="*/ 12 h 17"/>
                  <a:gd name="T4" fmla="*/ 14 w 17"/>
                  <a:gd name="T5" fmla="*/ 11 h 17"/>
                  <a:gd name="T6" fmla="*/ 15 w 17"/>
                  <a:gd name="T7" fmla="*/ 11 h 17"/>
                  <a:gd name="T8" fmla="*/ 17 w 17"/>
                  <a:gd name="T9" fmla="*/ 9 h 17"/>
                  <a:gd name="T10" fmla="*/ 14 w 17"/>
                  <a:gd name="T11" fmla="*/ 2 h 17"/>
                  <a:gd name="T12" fmla="*/ 9 w 17"/>
                  <a:gd name="T13" fmla="*/ 0 h 17"/>
                  <a:gd name="T14" fmla="*/ 3 w 17"/>
                  <a:gd name="T15" fmla="*/ 2 h 17"/>
                  <a:gd name="T16" fmla="*/ 0 w 17"/>
                  <a:gd name="T17" fmla="*/ 9 h 17"/>
                  <a:gd name="T18" fmla="*/ 0 w 17"/>
                  <a:gd name="T19" fmla="*/ 11 h 17"/>
                  <a:gd name="T20" fmla="*/ 3 w 17"/>
                  <a:gd name="T21" fmla="*/ 15 h 17"/>
                  <a:gd name="T22" fmla="*/ 9 w 17"/>
                  <a:gd name="T23" fmla="*/ 17 h 17"/>
                  <a:gd name="T24" fmla="*/ 14 w 17"/>
                  <a:gd name="T25"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14" y="15"/>
                    </a:moveTo>
                    <a:lnTo>
                      <a:pt x="14" y="12"/>
                    </a:lnTo>
                    <a:lnTo>
                      <a:pt x="14" y="11"/>
                    </a:lnTo>
                    <a:lnTo>
                      <a:pt x="15" y="11"/>
                    </a:lnTo>
                    <a:lnTo>
                      <a:pt x="17" y="9"/>
                    </a:lnTo>
                    <a:lnTo>
                      <a:pt x="14" y="2"/>
                    </a:lnTo>
                    <a:lnTo>
                      <a:pt x="9" y="0"/>
                    </a:lnTo>
                    <a:lnTo>
                      <a:pt x="3" y="2"/>
                    </a:lnTo>
                    <a:lnTo>
                      <a:pt x="0" y="9"/>
                    </a:lnTo>
                    <a:lnTo>
                      <a:pt x="0" y="11"/>
                    </a:lnTo>
                    <a:lnTo>
                      <a:pt x="3" y="15"/>
                    </a:lnTo>
                    <a:lnTo>
                      <a:pt x="9" y="17"/>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31" name="Freeform 2299">
                <a:extLst>
                  <a:ext uri="{FF2B5EF4-FFF2-40B4-BE49-F238E27FC236}">
                    <a16:creationId xmlns:a16="http://schemas.microsoft.com/office/drawing/2014/main" id="{FE31AEBB-27FC-09C1-BDDB-DE1157605626}"/>
                  </a:ext>
                </a:extLst>
              </p:cNvPr>
              <p:cNvSpPr>
                <a:spLocks/>
              </p:cNvSpPr>
              <p:nvPr/>
            </p:nvSpPr>
            <p:spPr bwMode="auto">
              <a:xfrm>
                <a:off x="1014" y="3906"/>
                <a:ext cx="4" cy="5"/>
              </a:xfrm>
              <a:custGeom>
                <a:avLst/>
                <a:gdLst>
                  <a:gd name="T0" fmla="*/ 9 w 18"/>
                  <a:gd name="T1" fmla="*/ 17 h 17"/>
                  <a:gd name="T2" fmla="*/ 11 w 18"/>
                  <a:gd name="T3" fmla="*/ 16 h 17"/>
                  <a:gd name="T4" fmla="*/ 11 w 18"/>
                  <a:gd name="T5" fmla="*/ 15 h 17"/>
                  <a:gd name="T6" fmla="*/ 13 w 18"/>
                  <a:gd name="T7" fmla="*/ 15 h 17"/>
                  <a:gd name="T8" fmla="*/ 15 w 18"/>
                  <a:gd name="T9" fmla="*/ 15 h 17"/>
                  <a:gd name="T10" fmla="*/ 18 w 18"/>
                  <a:gd name="T11" fmla="*/ 9 h 17"/>
                  <a:gd name="T12" fmla="*/ 15 w 18"/>
                  <a:gd name="T13" fmla="*/ 2 h 17"/>
                  <a:gd name="T14" fmla="*/ 11 w 18"/>
                  <a:gd name="T15" fmla="*/ 0 h 17"/>
                  <a:gd name="T16" fmla="*/ 9 w 18"/>
                  <a:gd name="T17" fmla="*/ 0 h 17"/>
                  <a:gd name="T18" fmla="*/ 3 w 18"/>
                  <a:gd name="T19" fmla="*/ 2 h 17"/>
                  <a:gd name="T20" fmla="*/ 2 w 18"/>
                  <a:gd name="T21" fmla="*/ 9 h 17"/>
                  <a:gd name="T22" fmla="*/ 0 w 18"/>
                  <a:gd name="T23" fmla="*/ 11 h 17"/>
                  <a:gd name="T24" fmla="*/ 3 w 18"/>
                  <a:gd name="T25" fmla="*/ 15 h 17"/>
                  <a:gd name="T26" fmla="*/ 9 w 18"/>
                  <a:gd name="T2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17">
                    <a:moveTo>
                      <a:pt x="9" y="17"/>
                    </a:moveTo>
                    <a:lnTo>
                      <a:pt x="11" y="16"/>
                    </a:lnTo>
                    <a:lnTo>
                      <a:pt x="11" y="15"/>
                    </a:lnTo>
                    <a:lnTo>
                      <a:pt x="13" y="15"/>
                    </a:lnTo>
                    <a:lnTo>
                      <a:pt x="15" y="15"/>
                    </a:lnTo>
                    <a:lnTo>
                      <a:pt x="18" y="9"/>
                    </a:lnTo>
                    <a:lnTo>
                      <a:pt x="15" y="2"/>
                    </a:lnTo>
                    <a:lnTo>
                      <a:pt x="11" y="0"/>
                    </a:lnTo>
                    <a:lnTo>
                      <a:pt x="9" y="0"/>
                    </a:lnTo>
                    <a:lnTo>
                      <a:pt x="3" y="2"/>
                    </a:lnTo>
                    <a:lnTo>
                      <a:pt x="2" y="9"/>
                    </a:lnTo>
                    <a:lnTo>
                      <a:pt x="0" y="11"/>
                    </a:lnTo>
                    <a:lnTo>
                      <a:pt x="3" y="15"/>
                    </a:lnTo>
                    <a:lnTo>
                      <a:pt x="9" y="17"/>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36" name="Freeform 2304">
                <a:extLst>
                  <a:ext uri="{FF2B5EF4-FFF2-40B4-BE49-F238E27FC236}">
                    <a16:creationId xmlns:a16="http://schemas.microsoft.com/office/drawing/2014/main" id="{97101CF0-3085-3718-3B56-70AABF2C84E5}"/>
                  </a:ext>
                </a:extLst>
              </p:cNvPr>
              <p:cNvSpPr>
                <a:spLocks/>
              </p:cNvSpPr>
              <p:nvPr/>
            </p:nvSpPr>
            <p:spPr bwMode="auto">
              <a:xfrm>
                <a:off x="1033" y="3906"/>
                <a:ext cx="4" cy="5"/>
              </a:xfrm>
              <a:custGeom>
                <a:avLst/>
                <a:gdLst>
                  <a:gd name="T0" fmla="*/ 14 w 16"/>
                  <a:gd name="T1" fmla="*/ 15 h 17"/>
                  <a:gd name="T2" fmla="*/ 14 w 16"/>
                  <a:gd name="T3" fmla="*/ 12 h 17"/>
                  <a:gd name="T4" fmla="*/ 14 w 16"/>
                  <a:gd name="T5" fmla="*/ 11 h 17"/>
                  <a:gd name="T6" fmla="*/ 15 w 16"/>
                  <a:gd name="T7" fmla="*/ 11 h 17"/>
                  <a:gd name="T8" fmla="*/ 16 w 16"/>
                  <a:gd name="T9" fmla="*/ 9 h 17"/>
                  <a:gd name="T10" fmla="*/ 14 w 16"/>
                  <a:gd name="T11" fmla="*/ 2 h 17"/>
                  <a:gd name="T12" fmla="*/ 9 w 16"/>
                  <a:gd name="T13" fmla="*/ 0 h 17"/>
                  <a:gd name="T14" fmla="*/ 3 w 16"/>
                  <a:gd name="T15" fmla="*/ 2 h 17"/>
                  <a:gd name="T16" fmla="*/ 0 w 16"/>
                  <a:gd name="T17" fmla="*/ 9 h 17"/>
                  <a:gd name="T18" fmla="*/ 0 w 16"/>
                  <a:gd name="T19" fmla="*/ 11 h 17"/>
                  <a:gd name="T20" fmla="*/ 3 w 16"/>
                  <a:gd name="T21" fmla="*/ 15 h 17"/>
                  <a:gd name="T22" fmla="*/ 9 w 16"/>
                  <a:gd name="T23" fmla="*/ 17 h 17"/>
                  <a:gd name="T24" fmla="*/ 14 w 16"/>
                  <a:gd name="T25"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7">
                    <a:moveTo>
                      <a:pt x="14" y="15"/>
                    </a:moveTo>
                    <a:lnTo>
                      <a:pt x="14" y="12"/>
                    </a:lnTo>
                    <a:lnTo>
                      <a:pt x="14" y="11"/>
                    </a:lnTo>
                    <a:lnTo>
                      <a:pt x="15" y="11"/>
                    </a:lnTo>
                    <a:lnTo>
                      <a:pt x="16" y="9"/>
                    </a:lnTo>
                    <a:lnTo>
                      <a:pt x="14" y="2"/>
                    </a:lnTo>
                    <a:lnTo>
                      <a:pt x="9" y="0"/>
                    </a:lnTo>
                    <a:lnTo>
                      <a:pt x="3" y="2"/>
                    </a:lnTo>
                    <a:lnTo>
                      <a:pt x="0" y="9"/>
                    </a:lnTo>
                    <a:lnTo>
                      <a:pt x="0" y="11"/>
                    </a:lnTo>
                    <a:lnTo>
                      <a:pt x="3" y="15"/>
                    </a:lnTo>
                    <a:lnTo>
                      <a:pt x="9" y="17"/>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39" name="Freeform 2307">
                <a:extLst>
                  <a:ext uri="{FF2B5EF4-FFF2-40B4-BE49-F238E27FC236}">
                    <a16:creationId xmlns:a16="http://schemas.microsoft.com/office/drawing/2014/main" id="{E226919F-E575-7739-FC01-8C539A5E1738}"/>
                  </a:ext>
                </a:extLst>
              </p:cNvPr>
              <p:cNvSpPr>
                <a:spLocks/>
              </p:cNvSpPr>
              <p:nvPr/>
            </p:nvSpPr>
            <p:spPr bwMode="auto">
              <a:xfrm>
                <a:off x="995" y="3906"/>
                <a:ext cx="4" cy="5"/>
              </a:xfrm>
              <a:custGeom>
                <a:avLst/>
                <a:gdLst>
                  <a:gd name="T0" fmla="*/ 14 w 17"/>
                  <a:gd name="T1" fmla="*/ 15 h 17"/>
                  <a:gd name="T2" fmla="*/ 14 w 17"/>
                  <a:gd name="T3" fmla="*/ 12 h 17"/>
                  <a:gd name="T4" fmla="*/ 14 w 17"/>
                  <a:gd name="T5" fmla="*/ 11 h 17"/>
                  <a:gd name="T6" fmla="*/ 15 w 17"/>
                  <a:gd name="T7" fmla="*/ 11 h 17"/>
                  <a:gd name="T8" fmla="*/ 17 w 17"/>
                  <a:gd name="T9" fmla="*/ 9 h 17"/>
                  <a:gd name="T10" fmla="*/ 14 w 17"/>
                  <a:gd name="T11" fmla="*/ 2 h 17"/>
                  <a:gd name="T12" fmla="*/ 10 w 17"/>
                  <a:gd name="T13" fmla="*/ 0 h 17"/>
                  <a:gd name="T14" fmla="*/ 8 w 17"/>
                  <a:gd name="T15" fmla="*/ 0 h 17"/>
                  <a:gd name="T16" fmla="*/ 3 w 17"/>
                  <a:gd name="T17" fmla="*/ 2 h 17"/>
                  <a:gd name="T18" fmla="*/ 0 w 17"/>
                  <a:gd name="T19" fmla="*/ 9 h 17"/>
                  <a:gd name="T20" fmla="*/ 0 w 17"/>
                  <a:gd name="T21" fmla="*/ 11 h 17"/>
                  <a:gd name="T22" fmla="*/ 3 w 17"/>
                  <a:gd name="T23" fmla="*/ 15 h 17"/>
                  <a:gd name="T24" fmla="*/ 8 w 17"/>
                  <a:gd name="T25" fmla="*/ 17 h 17"/>
                  <a:gd name="T26" fmla="*/ 10 w 17"/>
                  <a:gd name="T27" fmla="*/ 16 h 17"/>
                  <a:gd name="T28" fmla="*/ 10 w 17"/>
                  <a:gd name="T29" fmla="*/ 15 h 17"/>
                  <a:gd name="T30" fmla="*/ 12 w 17"/>
                  <a:gd name="T31" fmla="*/ 15 h 17"/>
                  <a:gd name="T32" fmla="*/ 14 w 17"/>
                  <a:gd name="T33"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17">
                    <a:moveTo>
                      <a:pt x="14" y="15"/>
                    </a:moveTo>
                    <a:lnTo>
                      <a:pt x="14" y="12"/>
                    </a:lnTo>
                    <a:lnTo>
                      <a:pt x="14" y="11"/>
                    </a:lnTo>
                    <a:lnTo>
                      <a:pt x="15" y="11"/>
                    </a:lnTo>
                    <a:lnTo>
                      <a:pt x="17" y="9"/>
                    </a:lnTo>
                    <a:lnTo>
                      <a:pt x="14" y="2"/>
                    </a:lnTo>
                    <a:lnTo>
                      <a:pt x="10" y="0"/>
                    </a:lnTo>
                    <a:lnTo>
                      <a:pt x="8" y="0"/>
                    </a:lnTo>
                    <a:lnTo>
                      <a:pt x="3" y="2"/>
                    </a:lnTo>
                    <a:lnTo>
                      <a:pt x="0" y="9"/>
                    </a:lnTo>
                    <a:lnTo>
                      <a:pt x="0" y="11"/>
                    </a:lnTo>
                    <a:lnTo>
                      <a:pt x="3" y="15"/>
                    </a:lnTo>
                    <a:lnTo>
                      <a:pt x="8" y="17"/>
                    </a:lnTo>
                    <a:lnTo>
                      <a:pt x="10" y="16"/>
                    </a:lnTo>
                    <a:lnTo>
                      <a:pt x="10" y="15"/>
                    </a:lnTo>
                    <a:lnTo>
                      <a:pt x="12" y="15"/>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41" name="Freeform 2309">
                <a:extLst>
                  <a:ext uri="{FF2B5EF4-FFF2-40B4-BE49-F238E27FC236}">
                    <a16:creationId xmlns:a16="http://schemas.microsoft.com/office/drawing/2014/main" id="{5CDFF953-52C2-3A86-3A8D-F5C0633A6478}"/>
                  </a:ext>
                </a:extLst>
              </p:cNvPr>
              <p:cNvSpPr>
                <a:spLocks/>
              </p:cNvSpPr>
              <p:nvPr/>
            </p:nvSpPr>
            <p:spPr bwMode="auto">
              <a:xfrm>
                <a:off x="988" y="3906"/>
                <a:ext cx="5" cy="5"/>
              </a:xfrm>
              <a:custGeom>
                <a:avLst/>
                <a:gdLst>
                  <a:gd name="T0" fmla="*/ 9 w 18"/>
                  <a:gd name="T1" fmla="*/ 0 h 17"/>
                  <a:gd name="T2" fmla="*/ 3 w 18"/>
                  <a:gd name="T3" fmla="*/ 2 h 17"/>
                  <a:gd name="T4" fmla="*/ 0 w 18"/>
                  <a:gd name="T5" fmla="*/ 9 h 17"/>
                  <a:gd name="T6" fmla="*/ 0 w 18"/>
                  <a:gd name="T7" fmla="*/ 11 h 17"/>
                  <a:gd name="T8" fmla="*/ 3 w 18"/>
                  <a:gd name="T9" fmla="*/ 15 h 17"/>
                  <a:gd name="T10" fmla="*/ 9 w 18"/>
                  <a:gd name="T11" fmla="*/ 17 h 17"/>
                  <a:gd name="T12" fmla="*/ 12 w 18"/>
                  <a:gd name="T13" fmla="*/ 16 h 17"/>
                  <a:gd name="T14" fmla="*/ 12 w 18"/>
                  <a:gd name="T15" fmla="*/ 15 h 17"/>
                  <a:gd name="T16" fmla="*/ 13 w 18"/>
                  <a:gd name="T17" fmla="*/ 15 h 17"/>
                  <a:gd name="T18" fmla="*/ 15 w 18"/>
                  <a:gd name="T19" fmla="*/ 15 h 17"/>
                  <a:gd name="T20" fmla="*/ 15 w 18"/>
                  <a:gd name="T21" fmla="*/ 12 h 17"/>
                  <a:gd name="T22" fmla="*/ 15 w 18"/>
                  <a:gd name="T23" fmla="*/ 11 h 17"/>
                  <a:gd name="T24" fmla="*/ 17 w 18"/>
                  <a:gd name="T25" fmla="*/ 11 h 17"/>
                  <a:gd name="T26" fmla="*/ 18 w 18"/>
                  <a:gd name="T27" fmla="*/ 9 h 17"/>
                  <a:gd name="T28" fmla="*/ 15 w 18"/>
                  <a:gd name="T29" fmla="*/ 2 h 17"/>
                  <a:gd name="T30" fmla="*/ 12 w 18"/>
                  <a:gd name="T31" fmla="*/ 0 h 17"/>
                  <a:gd name="T32" fmla="*/ 9 w 18"/>
                  <a:gd name="T3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9" y="0"/>
                    </a:moveTo>
                    <a:lnTo>
                      <a:pt x="3" y="2"/>
                    </a:lnTo>
                    <a:lnTo>
                      <a:pt x="0" y="9"/>
                    </a:lnTo>
                    <a:lnTo>
                      <a:pt x="0" y="11"/>
                    </a:lnTo>
                    <a:lnTo>
                      <a:pt x="3" y="15"/>
                    </a:lnTo>
                    <a:lnTo>
                      <a:pt x="9" y="17"/>
                    </a:lnTo>
                    <a:lnTo>
                      <a:pt x="12" y="16"/>
                    </a:lnTo>
                    <a:lnTo>
                      <a:pt x="12" y="15"/>
                    </a:lnTo>
                    <a:lnTo>
                      <a:pt x="13" y="15"/>
                    </a:lnTo>
                    <a:lnTo>
                      <a:pt x="15" y="15"/>
                    </a:lnTo>
                    <a:lnTo>
                      <a:pt x="15" y="12"/>
                    </a:lnTo>
                    <a:lnTo>
                      <a:pt x="15" y="11"/>
                    </a:lnTo>
                    <a:lnTo>
                      <a:pt x="17" y="11"/>
                    </a:lnTo>
                    <a:lnTo>
                      <a:pt x="18" y="9"/>
                    </a:lnTo>
                    <a:lnTo>
                      <a:pt x="15" y="2"/>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45" name="Freeform 2313">
                <a:extLst>
                  <a:ext uri="{FF2B5EF4-FFF2-40B4-BE49-F238E27FC236}">
                    <a16:creationId xmlns:a16="http://schemas.microsoft.com/office/drawing/2014/main" id="{40E7302A-6341-4059-54A9-45AFCA6465AA}"/>
                  </a:ext>
                </a:extLst>
              </p:cNvPr>
              <p:cNvSpPr>
                <a:spLocks/>
              </p:cNvSpPr>
              <p:nvPr/>
            </p:nvSpPr>
            <p:spPr bwMode="auto">
              <a:xfrm>
                <a:off x="1008" y="3906"/>
                <a:ext cx="4" cy="5"/>
              </a:xfrm>
              <a:custGeom>
                <a:avLst/>
                <a:gdLst>
                  <a:gd name="T0" fmla="*/ 3 w 17"/>
                  <a:gd name="T1" fmla="*/ 15 h 17"/>
                  <a:gd name="T2" fmla="*/ 9 w 17"/>
                  <a:gd name="T3" fmla="*/ 17 h 17"/>
                  <a:gd name="T4" fmla="*/ 14 w 17"/>
                  <a:gd name="T5" fmla="*/ 15 h 17"/>
                  <a:gd name="T6" fmla="*/ 14 w 17"/>
                  <a:gd name="T7" fmla="*/ 12 h 17"/>
                  <a:gd name="T8" fmla="*/ 14 w 17"/>
                  <a:gd name="T9" fmla="*/ 11 h 17"/>
                  <a:gd name="T10" fmla="*/ 15 w 17"/>
                  <a:gd name="T11" fmla="*/ 11 h 17"/>
                  <a:gd name="T12" fmla="*/ 17 w 17"/>
                  <a:gd name="T13" fmla="*/ 9 h 17"/>
                  <a:gd name="T14" fmla="*/ 14 w 17"/>
                  <a:gd name="T15" fmla="*/ 2 h 17"/>
                  <a:gd name="T16" fmla="*/ 9 w 17"/>
                  <a:gd name="T17" fmla="*/ 0 h 17"/>
                  <a:gd name="T18" fmla="*/ 3 w 17"/>
                  <a:gd name="T19" fmla="*/ 2 h 17"/>
                  <a:gd name="T20" fmla="*/ 0 w 17"/>
                  <a:gd name="T21" fmla="*/ 9 h 17"/>
                  <a:gd name="T22" fmla="*/ 0 w 17"/>
                  <a:gd name="T23" fmla="*/ 11 h 17"/>
                  <a:gd name="T24" fmla="*/ 3 w 17"/>
                  <a:gd name="T25"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3" y="15"/>
                    </a:moveTo>
                    <a:lnTo>
                      <a:pt x="9" y="17"/>
                    </a:lnTo>
                    <a:lnTo>
                      <a:pt x="14" y="15"/>
                    </a:lnTo>
                    <a:lnTo>
                      <a:pt x="14" y="12"/>
                    </a:lnTo>
                    <a:lnTo>
                      <a:pt x="14" y="11"/>
                    </a:lnTo>
                    <a:lnTo>
                      <a:pt x="15" y="11"/>
                    </a:lnTo>
                    <a:lnTo>
                      <a:pt x="17" y="9"/>
                    </a:lnTo>
                    <a:lnTo>
                      <a:pt x="14" y="2"/>
                    </a:lnTo>
                    <a:lnTo>
                      <a:pt x="9" y="0"/>
                    </a:lnTo>
                    <a:lnTo>
                      <a:pt x="3" y="2"/>
                    </a:lnTo>
                    <a:lnTo>
                      <a:pt x="0" y="9"/>
                    </a:lnTo>
                    <a:lnTo>
                      <a:pt x="0" y="11"/>
                    </a:lnTo>
                    <a:lnTo>
                      <a:pt x="3"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47" name="Freeform 2315">
                <a:extLst>
                  <a:ext uri="{FF2B5EF4-FFF2-40B4-BE49-F238E27FC236}">
                    <a16:creationId xmlns:a16="http://schemas.microsoft.com/office/drawing/2014/main" id="{1A317F11-EE7D-DBA7-0C0F-F6A27D081C14}"/>
                  </a:ext>
                </a:extLst>
              </p:cNvPr>
              <p:cNvSpPr>
                <a:spLocks/>
              </p:cNvSpPr>
              <p:nvPr/>
            </p:nvSpPr>
            <p:spPr bwMode="auto">
              <a:xfrm>
                <a:off x="1001" y="3906"/>
                <a:ext cx="4" cy="5"/>
              </a:xfrm>
              <a:custGeom>
                <a:avLst/>
                <a:gdLst>
                  <a:gd name="T0" fmla="*/ 18 w 18"/>
                  <a:gd name="T1" fmla="*/ 9 h 17"/>
                  <a:gd name="T2" fmla="*/ 15 w 18"/>
                  <a:gd name="T3" fmla="*/ 2 h 17"/>
                  <a:gd name="T4" fmla="*/ 11 w 18"/>
                  <a:gd name="T5" fmla="*/ 0 h 17"/>
                  <a:gd name="T6" fmla="*/ 9 w 18"/>
                  <a:gd name="T7" fmla="*/ 0 h 17"/>
                  <a:gd name="T8" fmla="*/ 3 w 18"/>
                  <a:gd name="T9" fmla="*/ 2 h 17"/>
                  <a:gd name="T10" fmla="*/ 0 w 18"/>
                  <a:gd name="T11" fmla="*/ 9 h 17"/>
                  <a:gd name="T12" fmla="*/ 0 w 18"/>
                  <a:gd name="T13" fmla="*/ 11 h 17"/>
                  <a:gd name="T14" fmla="*/ 3 w 18"/>
                  <a:gd name="T15" fmla="*/ 15 h 17"/>
                  <a:gd name="T16" fmla="*/ 9 w 18"/>
                  <a:gd name="T17" fmla="*/ 17 h 17"/>
                  <a:gd name="T18" fmla="*/ 11 w 18"/>
                  <a:gd name="T19" fmla="*/ 16 h 17"/>
                  <a:gd name="T20" fmla="*/ 11 w 18"/>
                  <a:gd name="T21" fmla="*/ 15 h 17"/>
                  <a:gd name="T22" fmla="*/ 13 w 18"/>
                  <a:gd name="T23" fmla="*/ 15 h 17"/>
                  <a:gd name="T24" fmla="*/ 15 w 18"/>
                  <a:gd name="T25" fmla="*/ 15 h 17"/>
                  <a:gd name="T26" fmla="*/ 15 w 18"/>
                  <a:gd name="T27" fmla="*/ 12 h 17"/>
                  <a:gd name="T28" fmla="*/ 15 w 18"/>
                  <a:gd name="T29" fmla="*/ 11 h 17"/>
                  <a:gd name="T30" fmla="*/ 16 w 18"/>
                  <a:gd name="T31" fmla="*/ 11 h 17"/>
                  <a:gd name="T32" fmla="*/ 18 w 18"/>
                  <a:gd name="T33"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18" y="9"/>
                    </a:moveTo>
                    <a:lnTo>
                      <a:pt x="15" y="2"/>
                    </a:lnTo>
                    <a:lnTo>
                      <a:pt x="11" y="0"/>
                    </a:lnTo>
                    <a:lnTo>
                      <a:pt x="9" y="0"/>
                    </a:lnTo>
                    <a:lnTo>
                      <a:pt x="3" y="2"/>
                    </a:lnTo>
                    <a:lnTo>
                      <a:pt x="0" y="9"/>
                    </a:lnTo>
                    <a:lnTo>
                      <a:pt x="0" y="11"/>
                    </a:lnTo>
                    <a:lnTo>
                      <a:pt x="3" y="15"/>
                    </a:lnTo>
                    <a:lnTo>
                      <a:pt x="9" y="17"/>
                    </a:lnTo>
                    <a:lnTo>
                      <a:pt x="11" y="16"/>
                    </a:lnTo>
                    <a:lnTo>
                      <a:pt x="11" y="15"/>
                    </a:lnTo>
                    <a:lnTo>
                      <a:pt x="13" y="15"/>
                    </a:lnTo>
                    <a:lnTo>
                      <a:pt x="15" y="15"/>
                    </a:lnTo>
                    <a:lnTo>
                      <a:pt x="15" y="12"/>
                    </a:lnTo>
                    <a:lnTo>
                      <a:pt x="15" y="11"/>
                    </a:lnTo>
                    <a:lnTo>
                      <a:pt x="16" y="11"/>
                    </a:lnTo>
                    <a:lnTo>
                      <a:pt x="18"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59" name="Freeform 2327">
                <a:extLst>
                  <a:ext uri="{FF2B5EF4-FFF2-40B4-BE49-F238E27FC236}">
                    <a16:creationId xmlns:a16="http://schemas.microsoft.com/office/drawing/2014/main" id="{208CE6BE-3893-E14D-BAB9-D4E37AB81461}"/>
                  </a:ext>
                </a:extLst>
              </p:cNvPr>
              <p:cNvSpPr>
                <a:spLocks/>
              </p:cNvSpPr>
              <p:nvPr/>
            </p:nvSpPr>
            <p:spPr bwMode="auto">
              <a:xfrm>
                <a:off x="1027" y="3880"/>
                <a:ext cx="4" cy="5"/>
              </a:xfrm>
              <a:custGeom>
                <a:avLst/>
                <a:gdLst>
                  <a:gd name="T0" fmla="*/ 14 w 17"/>
                  <a:gd name="T1" fmla="*/ 3 h 18"/>
                  <a:gd name="T2" fmla="*/ 10 w 17"/>
                  <a:gd name="T3" fmla="*/ 0 h 18"/>
                  <a:gd name="T4" fmla="*/ 8 w 17"/>
                  <a:gd name="T5" fmla="*/ 0 h 18"/>
                  <a:gd name="T6" fmla="*/ 2 w 17"/>
                  <a:gd name="T7" fmla="*/ 3 h 18"/>
                  <a:gd name="T8" fmla="*/ 0 w 17"/>
                  <a:gd name="T9" fmla="*/ 9 h 18"/>
                  <a:gd name="T10" fmla="*/ 2 w 17"/>
                  <a:gd name="T11" fmla="*/ 15 h 18"/>
                  <a:gd name="T12" fmla="*/ 8 w 17"/>
                  <a:gd name="T13" fmla="*/ 18 h 18"/>
                  <a:gd name="T14" fmla="*/ 10 w 17"/>
                  <a:gd name="T15" fmla="*/ 17 h 18"/>
                  <a:gd name="T16" fmla="*/ 10 w 17"/>
                  <a:gd name="T17" fmla="*/ 15 h 18"/>
                  <a:gd name="T18" fmla="*/ 12 w 17"/>
                  <a:gd name="T19" fmla="*/ 15 h 18"/>
                  <a:gd name="T20" fmla="*/ 14 w 17"/>
                  <a:gd name="T21" fmla="*/ 15 h 18"/>
                  <a:gd name="T22" fmla="*/ 14 w 17"/>
                  <a:gd name="T23" fmla="*/ 13 h 18"/>
                  <a:gd name="T24" fmla="*/ 14 w 17"/>
                  <a:gd name="T25" fmla="*/ 12 h 18"/>
                  <a:gd name="T26" fmla="*/ 15 w 17"/>
                  <a:gd name="T27" fmla="*/ 12 h 18"/>
                  <a:gd name="T28" fmla="*/ 17 w 17"/>
                  <a:gd name="T29" fmla="*/ 9 h 18"/>
                  <a:gd name="T30" fmla="*/ 14 w 17"/>
                  <a:gd name="T31"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8">
                    <a:moveTo>
                      <a:pt x="14" y="3"/>
                    </a:moveTo>
                    <a:lnTo>
                      <a:pt x="10" y="0"/>
                    </a:lnTo>
                    <a:lnTo>
                      <a:pt x="8" y="0"/>
                    </a:lnTo>
                    <a:lnTo>
                      <a:pt x="2" y="3"/>
                    </a:lnTo>
                    <a:lnTo>
                      <a:pt x="0" y="9"/>
                    </a:lnTo>
                    <a:lnTo>
                      <a:pt x="2" y="15"/>
                    </a:lnTo>
                    <a:lnTo>
                      <a:pt x="8" y="18"/>
                    </a:lnTo>
                    <a:lnTo>
                      <a:pt x="10" y="17"/>
                    </a:lnTo>
                    <a:lnTo>
                      <a:pt x="10" y="15"/>
                    </a:lnTo>
                    <a:lnTo>
                      <a:pt x="12" y="15"/>
                    </a:lnTo>
                    <a:lnTo>
                      <a:pt x="14" y="15"/>
                    </a:lnTo>
                    <a:lnTo>
                      <a:pt x="14" y="13"/>
                    </a:lnTo>
                    <a:lnTo>
                      <a:pt x="14" y="12"/>
                    </a:lnTo>
                    <a:lnTo>
                      <a:pt x="15" y="12"/>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60" name="Freeform 2328">
                <a:extLst>
                  <a:ext uri="{FF2B5EF4-FFF2-40B4-BE49-F238E27FC236}">
                    <a16:creationId xmlns:a16="http://schemas.microsoft.com/office/drawing/2014/main" id="{C77C92B6-4435-309F-5536-B7009A74DDBA}"/>
                  </a:ext>
                </a:extLst>
              </p:cNvPr>
              <p:cNvSpPr>
                <a:spLocks/>
              </p:cNvSpPr>
              <p:nvPr/>
            </p:nvSpPr>
            <p:spPr bwMode="auto">
              <a:xfrm>
                <a:off x="1020" y="3880"/>
                <a:ext cx="4" cy="5"/>
              </a:xfrm>
              <a:custGeom>
                <a:avLst/>
                <a:gdLst>
                  <a:gd name="T0" fmla="*/ 17 w 17"/>
                  <a:gd name="T1" fmla="*/ 9 h 18"/>
                  <a:gd name="T2" fmla="*/ 14 w 17"/>
                  <a:gd name="T3" fmla="*/ 3 h 18"/>
                  <a:gd name="T4" fmla="*/ 9 w 17"/>
                  <a:gd name="T5" fmla="*/ 0 h 18"/>
                  <a:gd name="T6" fmla="*/ 3 w 17"/>
                  <a:gd name="T7" fmla="*/ 3 h 18"/>
                  <a:gd name="T8" fmla="*/ 0 w 17"/>
                  <a:gd name="T9" fmla="*/ 9 h 18"/>
                  <a:gd name="T10" fmla="*/ 0 w 17"/>
                  <a:gd name="T11" fmla="*/ 12 h 18"/>
                  <a:gd name="T12" fmla="*/ 3 w 17"/>
                  <a:gd name="T13" fmla="*/ 15 h 18"/>
                  <a:gd name="T14" fmla="*/ 9 w 17"/>
                  <a:gd name="T15" fmla="*/ 18 h 18"/>
                  <a:gd name="T16" fmla="*/ 14 w 17"/>
                  <a:gd name="T17" fmla="*/ 15 h 18"/>
                  <a:gd name="T18" fmla="*/ 14 w 17"/>
                  <a:gd name="T19" fmla="*/ 13 h 18"/>
                  <a:gd name="T20" fmla="*/ 14 w 17"/>
                  <a:gd name="T21" fmla="*/ 12 h 18"/>
                  <a:gd name="T22" fmla="*/ 15 w 17"/>
                  <a:gd name="T23" fmla="*/ 12 h 18"/>
                  <a:gd name="T24" fmla="*/ 17 w 17"/>
                  <a:gd name="T25" fmla="*/ 9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8">
                    <a:moveTo>
                      <a:pt x="17" y="9"/>
                    </a:moveTo>
                    <a:lnTo>
                      <a:pt x="14" y="3"/>
                    </a:lnTo>
                    <a:lnTo>
                      <a:pt x="9" y="0"/>
                    </a:lnTo>
                    <a:lnTo>
                      <a:pt x="3" y="3"/>
                    </a:lnTo>
                    <a:lnTo>
                      <a:pt x="0" y="9"/>
                    </a:lnTo>
                    <a:lnTo>
                      <a:pt x="0" y="12"/>
                    </a:lnTo>
                    <a:lnTo>
                      <a:pt x="3" y="15"/>
                    </a:lnTo>
                    <a:lnTo>
                      <a:pt x="9" y="18"/>
                    </a:lnTo>
                    <a:lnTo>
                      <a:pt x="14" y="15"/>
                    </a:lnTo>
                    <a:lnTo>
                      <a:pt x="14" y="13"/>
                    </a:lnTo>
                    <a:lnTo>
                      <a:pt x="14" y="12"/>
                    </a:lnTo>
                    <a:lnTo>
                      <a:pt x="15" y="12"/>
                    </a:lnTo>
                    <a:lnTo>
                      <a:pt x="17"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61" name="Freeform 2329">
                <a:extLst>
                  <a:ext uri="{FF2B5EF4-FFF2-40B4-BE49-F238E27FC236}">
                    <a16:creationId xmlns:a16="http://schemas.microsoft.com/office/drawing/2014/main" id="{5A8D60A7-0E3F-9290-B387-01B4DA7835FB}"/>
                  </a:ext>
                </a:extLst>
              </p:cNvPr>
              <p:cNvSpPr>
                <a:spLocks/>
              </p:cNvSpPr>
              <p:nvPr/>
            </p:nvSpPr>
            <p:spPr bwMode="auto">
              <a:xfrm>
                <a:off x="1020" y="3887"/>
                <a:ext cx="4" cy="4"/>
              </a:xfrm>
              <a:custGeom>
                <a:avLst/>
                <a:gdLst>
                  <a:gd name="T0" fmla="*/ 17 w 17"/>
                  <a:gd name="T1" fmla="*/ 8 h 16"/>
                  <a:gd name="T2" fmla="*/ 14 w 17"/>
                  <a:gd name="T3" fmla="*/ 2 h 16"/>
                  <a:gd name="T4" fmla="*/ 9 w 17"/>
                  <a:gd name="T5" fmla="*/ 0 h 16"/>
                  <a:gd name="T6" fmla="*/ 3 w 17"/>
                  <a:gd name="T7" fmla="*/ 2 h 16"/>
                  <a:gd name="T8" fmla="*/ 0 w 17"/>
                  <a:gd name="T9" fmla="*/ 8 h 16"/>
                  <a:gd name="T10" fmla="*/ 3 w 17"/>
                  <a:gd name="T11" fmla="*/ 13 h 16"/>
                  <a:gd name="T12" fmla="*/ 9 w 17"/>
                  <a:gd name="T13" fmla="*/ 16 h 16"/>
                  <a:gd name="T14" fmla="*/ 14 w 17"/>
                  <a:gd name="T15" fmla="*/ 13 h 16"/>
                  <a:gd name="T16" fmla="*/ 17 w 17"/>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7" y="8"/>
                    </a:moveTo>
                    <a:lnTo>
                      <a:pt x="14" y="2"/>
                    </a:lnTo>
                    <a:lnTo>
                      <a:pt x="9" y="0"/>
                    </a:lnTo>
                    <a:lnTo>
                      <a:pt x="3" y="2"/>
                    </a:lnTo>
                    <a:lnTo>
                      <a:pt x="0" y="8"/>
                    </a:lnTo>
                    <a:lnTo>
                      <a:pt x="3" y="13"/>
                    </a:lnTo>
                    <a:lnTo>
                      <a:pt x="9" y="16"/>
                    </a:lnTo>
                    <a:lnTo>
                      <a:pt x="14" y="13"/>
                    </a:lnTo>
                    <a:lnTo>
                      <a:pt x="17" y="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62" name="Freeform 2330">
                <a:extLst>
                  <a:ext uri="{FF2B5EF4-FFF2-40B4-BE49-F238E27FC236}">
                    <a16:creationId xmlns:a16="http://schemas.microsoft.com/office/drawing/2014/main" id="{6DB6F0DA-EB74-3D28-F582-5508D58D7923}"/>
                  </a:ext>
                </a:extLst>
              </p:cNvPr>
              <p:cNvSpPr>
                <a:spLocks/>
              </p:cNvSpPr>
              <p:nvPr/>
            </p:nvSpPr>
            <p:spPr bwMode="auto">
              <a:xfrm>
                <a:off x="1027" y="3887"/>
                <a:ext cx="4" cy="4"/>
              </a:xfrm>
              <a:custGeom>
                <a:avLst/>
                <a:gdLst>
                  <a:gd name="T0" fmla="*/ 2 w 17"/>
                  <a:gd name="T1" fmla="*/ 2 h 16"/>
                  <a:gd name="T2" fmla="*/ 0 w 17"/>
                  <a:gd name="T3" fmla="*/ 8 h 16"/>
                  <a:gd name="T4" fmla="*/ 2 w 17"/>
                  <a:gd name="T5" fmla="*/ 13 h 16"/>
                  <a:gd name="T6" fmla="*/ 8 w 17"/>
                  <a:gd name="T7" fmla="*/ 16 h 16"/>
                  <a:gd name="T8" fmla="*/ 10 w 17"/>
                  <a:gd name="T9" fmla="*/ 14 h 16"/>
                  <a:gd name="T10" fmla="*/ 10 w 17"/>
                  <a:gd name="T11" fmla="*/ 13 h 16"/>
                  <a:gd name="T12" fmla="*/ 12 w 17"/>
                  <a:gd name="T13" fmla="*/ 13 h 16"/>
                  <a:gd name="T14" fmla="*/ 14 w 17"/>
                  <a:gd name="T15" fmla="*/ 13 h 16"/>
                  <a:gd name="T16" fmla="*/ 17 w 17"/>
                  <a:gd name="T17" fmla="*/ 8 h 16"/>
                  <a:gd name="T18" fmla="*/ 14 w 17"/>
                  <a:gd name="T19" fmla="*/ 2 h 16"/>
                  <a:gd name="T20" fmla="*/ 10 w 17"/>
                  <a:gd name="T21" fmla="*/ 0 h 16"/>
                  <a:gd name="T22" fmla="*/ 8 w 17"/>
                  <a:gd name="T23" fmla="*/ 0 h 16"/>
                  <a:gd name="T24" fmla="*/ 2 w 17"/>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2" y="2"/>
                    </a:moveTo>
                    <a:lnTo>
                      <a:pt x="0" y="8"/>
                    </a:lnTo>
                    <a:lnTo>
                      <a:pt x="2" y="13"/>
                    </a:lnTo>
                    <a:lnTo>
                      <a:pt x="8" y="16"/>
                    </a:lnTo>
                    <a:lnTo>
                      <a:pt x="10" y="14"/>
                    </a:lnTo>
                    <a:lnTo>
                      <a:pt x="10" y="13"/>
                    </a:lnTo>
                    <a:lnTo>
                      <a:pt x="12" y="13"/>
                    </a:lnTo>
                    <a:lnTo>
                      <a:pt x="14" y="13"/>
                    </a:lnTo>
                    <a:lnTo>
                      <a:pt x="17" y="8"/>
                    </a:lnTo>
                    <a:lnTo>
                      <a:pt x="14" y="2"/>
                    </a:lnTo>
                    <a:lnTo>
                      <a:pt x="10" y="0"/>
                    </a:lnTo>
                    <a:lnTo>
                      <a:pt x="8" y="0"/>
                    </a:lnTo>
                    <a:lnTo>
                      <a:pt x="2"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63" name="Freeform 2331">
                <a:extLst>
                  <a:ext uri="{FF2B5EF4-FFF2-40B4-BE49-F238E27FC236}">
                    <a16:creationId xmlns:a16="http://schemas.microsoft.com/office/drawing/2014/main" id="{458F54B2-03CA-632A-5591-55220CADAC14}"/>
                  </a:ext>
                </a:extLst>
              </p:cNvPr>
              <p:cNvSpPr>
                <a:spLocks/>
              </p:cNvSpPr>
              <p:nvPr/>
            </p:nvSpPr>
            <p:spPr bwMode="auto">
              <a:xfrm>
                <a:off x="1014" y="3880"/>
                <a:ext cx="4" cy="5"/>
              </a:xfrm>
              <a:custGeom>
                <a:avLst/>
                <a:gdLst>
                  <a:gd name="T0" fmla="*/ 9 w 18"/>
                  <a:gd name="T1" fmla="*/ 18 h 18"/>
                  <a:gd name="T2" fmla="*/ 11 w 18"/>
                  <a:gd name="T3" fmla="*/ 17 h 18"/>
                  <a:gd name="T4" fmla="*/ 11 w 18"/>
                  <a:gd name="T5" fmla="*/ 15 h 18"/>
                  <a:gd name="T6" fmla="*/ 13 w 18"/>
                  <a:gd name="T7" fmla="*/ 15 h 18"/>
                  <a:gd name="T8" fmla="*/ 15 w 18"/>
                  <a:gd name="T9" fmla="*/ 15 h 18"/>
                  <a:gd name="T10" fmla="*/ 18 w 18"/>
                  <a:gd name="T11" fmla="*/ 9 h 18"/>
                  <a:gd name="T12" fmla="*/ 15 w 18"/>
                  <a:gd name="T13" fmla="*/ 3 h 18"/>
                  <a:gd name="T14" fmla="*/ 11 w 18"/>
                  <a:gd name="T15" fmla="*/ 0 h 18"/>
                  <a:gd name="T16" fmla="*/ 9 w 18"/>
                  <a:gd name="T17" fmla="*/ 0 h 18"/>
                  <a:gd name="T18" fmla="*/ 3 w 18"/>
                  <a:gd name="T19" fmla="*/ 3 h 18"/>
                  <a:gd name="T20" fmla="*/ 2 w 18"/>
                  <a:gd name="T21" fmla="*/ 9 h 18"/>
                  <a:gd name="T22" fmla="*/ 0 w 18"/>
                  <a:gd name="T23" fmla="*/ 12 h 18"/>
                  <a:gd name="T24" fmla="*/ 3 w 18"/>
                  <a:gd name="T25" fmla="*/ 15 h 18"/>
                  <a:gd name="T26" fmla="*/ 9 w 18"/>
                  <a:gd name="T2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18">
                    <a:moveTo>
                      <a:pt x="9" y="18"/>
                    </a:moveTo>
                    <a:lnTo>
                      <a:pt x="11" y="17"/>
                    </a:lnTo>
                    <a:lnTo>
                      <a:pt x="11" y="15"/>
                    </a:lnTo>
                    <a:lnTo>
                      <a:pt x="13" y="15"/>
                    </a:lnTo>
                    <a:lnTo>
                      <a:pt x="15" y="15"/>
                    </a:lnTo>
                    <a:lnTo>
                      <a:pt x="18" y="9"/>
                    </a:lnTo>
                    <a:lnTo>
                      <a:pt x="15" y="3"/>
                    </a:lnTo>
                    <a:lnTo>
                      <a:pt x="11" y="0"/>
                    </a:lnTo>
                    <a:lnTo>
                      <a:pt x="9" y="0"/>
                    </a:lnTo>
                    <a:lnTo>
                      <a:pt x="3" y="3"/>
                    </a:lnTo>
                    <a:lnTo>
                      <a:pt x="2" y="9"/>
                    </a:lnTo>
                    <a:lnTo>
                      <a:pt x="0" y="12"/>
                    </a:lnTo>
                    <a:lnTo>
                      <a:pt x="3" y="15"/>
                    </a:lnTo>
                    <a:lnTo>
                      <a:pt x="9" y="1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64" name="Freeform 2332">
                <a:extLst>
                  <a:ext uri="{FF2B5EF4-FFF2-40B4-BE49-F238E27FC236}">
                    <a16:creationId xmlns:a16="http://schemas.microsoft.com/office/drawing/2014/main" id="{9CC998F5-926F-C266-D4DE-772B47B1F6DD}"/>
                  </a:ext>
                </a:extLst>
              </p:cNvPr>
              <p:cNvSpPr>
                <a:spLocks/>
              </p:cNvSpPr>
              <p:nvPr/>
            </p:nvSpPr>
            <p:spPr bwMode="auto">
              <a:xfrm>
                <a:off x="1014" y="3887"/>
                <a:ext cx="4" cy="4"/>
              </a:xfrm>
              <a:custGeom>
                <a:avLst/>
                <a:gdLst>
                  <a:gd name="T0" fmla="*/ 13 w 16"/>
                  <a:gd name="T1" fmla="*/ 2 h 16"/>
                  <a:gd name="T2" fmla="*/ 9 w 16"/>
                  <a:gd name="T3" fmla="*/ 0 h 16"/>
                  <a:gd name="T4" fmla="*/ 7 w 16"/>
                  <a:gd name="T5" fmla="*/ 0 h 16"/>
                  <a:gd name="T6" fmla="*/ 1 w 16"/>
                  <a:gd name="T7" fmla="*/ 2 h 16"/>
                  <a:gd name="T8" fmla="*/ 0 w 16"/>
                  <a:gd name="T9" fmla="*/ 8 h 16"/>
                  <a:gd name="T10" fmla="*/ 1 w 16"/>
                  <a:gd name="T11" fmla="*/ 13 h 16"/>
                  <a:gd name="T12" fmla="*/ 7 w 16"/>
                  <a:gd name="T13" fmla="*/ 16 h 16"/>
                  <a:gd name="T14" fmla="*/ 9 w 16"/>
                  <a:gd name="T15" fmla="*/ 14 h 16"/>
                  <a:gd name="T16" fmla="*/ 9 w 16"/>
                  <a:gd name="T17" fmla="*/ 13 h 16"/>
                  <a:gd name="T18" fmla="*/ 11 w 16"/>
                  <a:gd name="T19" fmla="*/ 13 h 16"/>
                  <a:gd name="T20" fmla="*/ 13 w 16"/>
                  <a:gd name="T21" fmla="*/ 13 h 16"/>
                  <a:gd name="T22" fmla="*/ 16 w 16"/>
                  <a:gd name="T23" fmla="*/ 8 h 16"/>
                  <a:gd name="T24" fmla="*/ 13 w 16"/>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6">
                    <a:moveTo>
                      <a:pt x="13" y="2"/>
                    </a:moveTo>
                    <a:lnTo>
                      <a:pt x="9" y="0"/>
                    </a:lnTo>
                    <a:lnTo>
                      <a:pt x="7" y="0"/>
                    </a:lnTo>
                    <a:lnTo>
                      <a:pt x="1" y="2"/>
                    </a:lnTo>
                    <a:lnTo>
                      <a:pt x="0" y="8"/>
                    </a:lnTo>
                    <a:lnTo>
                      <a:pt x="1" y="13"/>
                    </a:lnTo>
                    <a:lnTo>
                      <a:pt x="7" y="16"/>
                    </a:lnTo>
                    <a:lnTo>
                      <a:pt x="9" y="14"/>
                    </a:lnTo>
                    <a:lnTo>
                      <a:pt x="9" y="13"/>
                    </a:lnTo>
                    <a:lnTo>
                      <a:pt x="11" y="13"/>
                    </a:lnTo>
                    <a:lnTo>
                      <a:pt x="13" y="13"/>
                    </a:lnTo>
                    <a:lnTo>
                      <a:pt x="16" y="8"/>
                    </a:lnTo>
                    <a:lnTo>
                      <a:pt x="13"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65" name="Freeform 2333">
                <a:extLst>
                  <a:ext uri="{FF2B5EF4-FFF2-40B4-BE49-F238E27FC236}">
                    <a16:creationId xmlns:a16="http://schemas.microsoft.com/office/drawing/2014/main" id="{E426BFB0-E736-7CE6-150F-758B285E0065}"/>
                  </a:ext>
                </a:extLst>
              </p:cNvPr>
              <p:cNvSpPr>
                <a:spLocks/>
              </p:cNvSpPr>
              <p:nvPr/>
            </p:nvSpPr>
            <p:spPr bwMode="auto">
              <a:xfrm>
                <a:off x="1020" y="3893"/>
                <a:ext cx="4" cy="4"/>
              </a:xfrm>
              <a:custGeom>
                <a:avLst/>
                <a:gdLst>
                  <a:gd name="T0" fmla="*/ 9 w 17"/>
                  <a:gd name="T1" fmla="*/ 0 h 18"/>
                  <a:gd name="T2" fmla="*/ 3 w 17"/>
                  <a:gd name="T3" fmla="*/ 3 h 18"/>
                  <a:gd name="T4" fmla="*/ 0 w 17"/>
                  <a:gd name="T5" fmla="*/ 9 h 18"/>
                  <a:gd name="T6" fmla="*/ 0 w 17"/>
                  <a:gd name="T7" fmla="*/ 12 h 18"/>
                  <a:gd name="T8" fmla="*/ 3 w 17"/>
                  <a:gd name="T9" fmla="*/ 15 h 18"/>
                  <a:gd name="T10" fmla="*/ 9 w 17"/>
                  <a:gd name="T11" fmla="*/ 18 h 18"/>
                  <a:gd name="T12" fmla="*/ 14 w 17"/>
                  <a:gd name="T13" fmla="*/ 15 h 18"/>
                  <a:gd name="T14" fmla="*/ 14 w 17"/>
                  <a:gd name="T15" fmla="*/ 13 h 18"/>
                  <a:gd name="T16" fmla="*/ 14 w 17"/>
                  <a:gd name="T17" fmla="*/ 12 h 18"/>
                  <a:gd name="T18" fmla="*/ 15 w 17"/>
                  <a:gd name="T19" fmla="*/ 12 h 18"/>
                  <a:gd name="T20" fmla="*/ 17 w 17"/>
                  <a:gd name="T21" fmla="*/ 9 h 18"/>
                  <a:gd name="T22" fmla="*/ 14 w 17"/>
                  <a:gd name="T23" fmla="*/ 3 h 18"/>
                  <a:gd name="T24" fmla="*/ 9 w 17"/>
                  <a:gd name="T25"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8">
                    <a:moveTo>
                      <a:pt x="9" y="0"/>
                    </a:moveTo>
                    <a:lnTo>
                      <a:pt x="3" y="3"/>
                    </a:lnTo>
                    <a:lnTo>
                      <a:pt x="0" y="9"/>
                    </a:lnTo>
                    <a:lnTo>
                      <a:pt x="0" y="12"/>
                    </a:lnTo>
                    <a:lnTo>
                      <a:pt x="3" y="15"/>
                    </a:lnTo>
                    <a:lnTo>
                      <a:pt x="9" y="18"/>
                    </a:lnTo>
                    <a:lnTo>
                      <a:pt x="14" y="15"/>
                    </a:lnTo>
                    <a:lnTo>
                      <a:pt x="14" y="13"/>
                    </a:lnTo>
                    <a:lnTo>
                      <a:pt x="14" y="12"/>
                    </a:lnTo>
                    <a:lnTo>
                      <a:pt x="15" y="12"/>
                    </a:lnTo>
                    <a:lnTo>
                      <a:pt x="17" y="9"/>
                    </a:lnTo>
                    <a:lnTo>
                      <a:pt x="14" y="3"/>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66" name="Freeform 2334">
                <a:extLst>
                  <a:ext uri="{FF2B5EF4-FFF2-40B4-BE49-F238E27FC236}">
                    <a16:creationId xmlns:a16="http://schemas.microsoft.com/office/drawing/2014/main" id="{6F5C866C-6D16-3CD5-63DF-51957C264CEB}"/>
                  </a:ext>
                </a:extLst>
              </p:cNvPr>
              <p:cNvSpPr>
                <a:spLocks/>
              </p:cNvSpPr>
              <p:nvPr/>
            </p:nvSpPr>
            <p:spPr bwMode="auto">
              <a:xfrm>
                <a:off x="1014" y="3893"/>
                <a:ext cx="4" cy="4"/>
              </a:xfrm>
              <a:custGeom>
                <a:avLst/>
                <a:gdLst>
                  <a:gd name="T0" fmla="*/ 15 w 18"/>
                  <a:gd name="T1" fmla="*/ 3 h 18"/>
                  <a:gd name="T2" fmla="*/ 11 w 18"/>
                  <a:gd name="T3" fmla="*/ 0 h 18"/>
                  <a:gd name="T4" fmla="*/ 9 w 18"/>
                  <a:gd name="T5" fmla="*/ 0 h 18"/>
                  <a:gd name="T6" fmla="*/ 3 w 18"/>
                  <a:gd name="T7" fmla="*/ 3 h 18"/>
                  <a:gd name="T8" fmla="*/ 2 w 18"/>
                  <a:gd name="T9" fmla="*/ 9 h 18"/>
                  <a:gd name="T10" fmla="*/ 0 w 18"/>
                  <a:gd name="T11" fmla="*/ 12 h 18"/>
                  <a:gd name="T12" fmla="*/ 3 w 18"/>
                  <a:gd name="T13" fmla="*/ 15 h 18"/>
                  <a:gd name="T14" fmla="*/ 9 w 18"/>
                  <a:gd name="T15" fmla="*/ 18 h 18"/>
                  <a:gd name="T16" fmla="*/ 11 w 18"/>
                  <a:gd name="T17" fmla="*/ 17 h 18"/>
                  <a:gd name="T18" fmla="*/ 11 w 18"/>
                  <a:gd name="T19" fmla="*/ 15 h 18"/>
                  <a:gd name="T20" fmla="*/ 13 w 18"/>
                  <a:gd name="T21" fmla="*/ 15 h 18"/>
                  <a:gd name="T22" fmla="*/ 15 w 18"/>
                  <a:gd name="T23" fmla="*/ 15 h 18"/>
                  <a:gd name="T24" fmla="*/ 18 w 18"/>
                  <a:gd name="T25" fmla="*/ 9 h 18"/>
                  <a:gd name="T26" fmla="*/ 15 w 18"/>
                  <a:gd name="T2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18">
                    <a:moveTo>
                      <a:pt x="15" y="3"/>
                    </a:moveTo>
                    <a:lnTo>
                      <a:pt x="11" y="0"/>
                    </a:lnTo>
                    <a:lnTo>
                      <a:pt x="9" y="0"/>
                    </a:lnTo>
                    <a:lnTo>
                      <a:pt x="3" y="3"/>
                    </a:lnTo>
                    <a:lnTo>
                      <a:pt x="2" y="9"/>
                    </a:lnTo>
                    <a:lnTo>
                      <a:pt x="0" y="12"/>
                    </a:lnTo>
                    <a:lnTo>
                      <a:pt x="3" y="15"/>
                    </a:lnTo>
                    <a:lnTo>
                      <a:pt x="9" y="18"/>
                    </a:lnTo>
                    <a:lnTo>
                      <a:pt x="11" y="17"/>
                    </a:lnTo>
                    <a:lnTo>
                      <a:pt x="11" y="15"/>
                    </a:lnTo>
                    <a:lnTo>
                      <a:pt x="13" y="15"/>
                    </a:lnTo>
                    <a:lnTo>
                      <a:pt x="15" y="15"/>
                    </a:lnTo>
                    <a:lnTo>
                      <a:pt x="18" y="9"/>
                    </a:lnTo>
                    <a:lnTo>
                      <a:pt x="15"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67" name="Freeform 2335">
                <a:extLst>
                  <a:ext uri="{FF2B5EF4-FFF2-40B4-BE49-F238E27FC236}">
                    <a16:creationId xmlns:a16="http://schemas.microsoft.com/office/drawing/2014/main" id="{256CA177-72F2-7F7A-F251-60AB3A912C3F}"/>
                  </a:ext>
                </a:extLst>
              </p:cNvPr>
              <p:cNvSpPr>
                <a:spLocks/>
              </p:cNvSpPr>
              <p:nvPr/>
            </p:nvSpPr>
            <p:spPr bwMode="auto">
              <a:xfrm>
                <a:off x="1027" y="3893"/>
                <a:ext cx="4" cy="4"/>
              </a:xfrm>
              <a:custGeom>
                <a:avLst/>
                <a:gdLst>
                  <a:gd name="T0" fmla="*/ 8 w 17"/>
                  <a:gd name="T1" fmla="*/ 0 h 18"/>
                  <a:gd name="T2" fmla="*/ 2 w 17"/>
                  <a:gd name="T3" fmla="*/ 3 h 18"/>
                  <a:gd name="T4" fmla="*/ 0 w 17"/>
                  <a:gd name="T5" fmla="*/ 9 h 18"/>
                  <a:gd name="T6" fmla="*/ 2 w 17"/>
                  <a:gd name="T7" fmla="*/ 15 h 18"/>
                  <a:gd name="T8" fmla="*/ 8 w 17"/>
                  <a:gd name="T9" fmla="*/ 18 h 18"/>
                  <a:gd name="T10" fmla="*/ 10 w 17"/>
                  <a:gd name="T11" fmla="*/ 17 h 18"/>
                  <a:gd name="T12" fmla="*/ 10 w 17"/>
                  <a:gd name="T13" fmla="*/ 15 h 18"/>
                  <a:gd name="T14" fmla="*/ 12 w 17"/>
                  <a:gd name="T15" fmla="*/ 15 h 18"/>
                  <a:gd name="T16" fmla="*/ 14 w 17"/>
                  <a:gd name="T17" fmla="*/ 15 h 18"/>
                  <a:gd name="T18" fmla="*/ 14 w 17"/>
                  <a:gd name="T19" fmla="*/ 13 h 18"/>
                  <a:gd name="T20" fmla="*/ 14 w 17"/>
                  <a:gd name="T21" fmla="*/ 12 h 18"/>
                  <a:gd name="T22" fmla="*/ 15 w 17"/>
                  <a:gd name="T23" fmla="*/ 12 h 18"/>
                  <a:gd name="T24" fmla="*/ 17 w 17"/>
                  <a:gd name="T25" fmla="*/ 9 h 18"/>
                  <a:gd name="T26" fmla="*/ 14 w 17"/>
                  <a:gd name="T27" fmla="*/ 3 h 18"/>
                  <a:gd name="T28" fmla="*/ 10 w 17"/>
                  <a:gd name="T29" fmla="*/ 0 h 18"/>
                  <a:gd name="T30" fmla="*/ 8 w 17"/>
                  <a:gd name="T31"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8">
                    <a:moveTo>
                      <a:pt x="8" y="0"/>
                    </a:moveTo>
                    <a:lnTo>
                      <a:pt x="2" y="3"/>
                    </a:lnTo>
                    <a:lnTo>
                      <a:pt x="0" y="9"/>
                    </a:lnTo>
                    <a:lnTo>
                      <a:pt x="2" y="15"/>
                    </a:lnTo>
                    <a:lnTo>
                      <a:pt x="8" y="18"/>
                    </a:lnTo>
                    <a:lnTo>
                      <a:pt x="10" y="17"/>
                    </a:lnTo>
                    <a:lnTo>
                      <a:pt x="10" y="15"/>
                    </a:lnTo>
                    <a:lnTo>
                      <a:pt x="12" y="15"/>
                    </a:lnTo>
                    <a:lnTo>
                      <a:pt x="14" y="15"/>
                    </a:lnTo>
                    <a:lnTo>
                      <a:pt x="14" y="13"/>
                    </a:lnTo>
                    <a:lnTo>
                      <a:pt x="14" y="12"/>
                    </a:lnTo>
                    <a:lnTo>
                      <a:pt x="15" y="12"/>
                    </a:lnTo>
                    <a:lnTo>
                      <a:pt x="17" y="9"/>
                    </a:lnTo>
                    <a:lnTo>
                      <a:pt x="14" y="3"/>
                    </a:lnTo>
                    <a:lnTo>
                      <a:pt x="10" y="0"/>
                    </a:lnTo>
                    <a:lnTo>
                      <a:pt x="8"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68" name="Freeform 2336">
                <a:extLst>
                  <a:ext uri="{FF2B5EF4-FFF2-40B4-BE49-F238E27FC236}">
                    <a16:creationId xmlns:a16="http://schemas.microsoft.com/office/drawing/2014/main" id="{3F7455FD-F1C5-9359-8451-F980A00BD75A}"/>
                  </a:ext>
                </a:extLst>
              </p:cNvPr>
              <p:cNvSpPr>
                <a:spLocks/>
              </p:cNvSpPr>
              <p:nvPr/>
            </p:nvSpPr>
            <p:spPr bwMode="auto">
              <a:xfrm>
                <a:off x="1033" y="3880"/>
                <a:ext cx="4" cy="5"/>
              </a:xfrm>
              <a:custGeom>
                <a:avLst/>
                <a:gdLst>
                  <a:gd name="T0" fmla="*/ 14 w 16"/>
                  <a:gd name="T1" fmla="*/ 15 h 18"/>
                  <a:gd name="T2" fmla="*/ 14 w 16"/>
                  <a:gd name="T3" fmla="*/ 13 h 18"/>
                  <a:gd name="T4" fmla="*/ 14 w 16"/>
                  <a:gd name="T5" fmla="*/ 12 h 18"/>
                  <a:gd name="T6" fmla="*/ 15 w 16"/>
                  <a:gd name="T7" fmla="*/ 12 h 18"/>
                  <a:gd name="T8" fmla="*/ 16 w 16"/>
                  <a:gd name="T9" fmla="*/ 9 h 18"/>
                  <a:gd name="T10" fmla="*/ 14 w 16"/>
                  <a:gd name="T11" fmla="*/ 3 h 18"/>
                  <a:gd name="T12" fmla="*/ 9 w 16"/>
                  <a:gd name="T13" fmla="*/ 0 h 18"/>
                  <a:gd name="T14" fmla="*/ 3 w 16"/>
                  <a:gd name="T15" fmla="*/ 3 h 18"/>
                  <a:gd name="T16" fmla="*/ 0 w 16"/>
                  <a:gd name="T17" fmla="*/ 9 h 18"/>
                  <a:gd name="T18" fmla="*/ 0 w 16"/>
                  <a:gd name="T19" fmla="*/ 12 h 18"/>
                  <a:gd name="T20" fmla="*/ 3 w 16"/>
                  <a:gd name="T21" fmla="*/ 15 h 18"/>
                  <a:gd name="T22" fmla="*/ 9 w 16"/>
                  <a:gd name="T23" fmla="*/ 18 h 18"/>
                  <a:gd name="T24" fmla="*/ 14 w 16"/>
                  <a:gd name="T25"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8">
                    <a:moveTo>
                      <a:pt x="14" y="15"/>
                    </a:moveTo>
                    <a:lnTo>
                      <a:pt x="14" y="13"/>
                    </a:lnTo>
                    <a:lnTo>
                      <a:pt x="14" y="12"/>
                    </a:lnTo>
                    <a:lnTo>
                      <a:pt x="15" y="12"/>
                    </a:lnTo>
                    <a:lnTo>
                      <a:pt x="16" y="9"/>
                    </a:lnTo>
                    <a:lnTo>
                      <a:pt x="14" y="3"/>
                    </a:lnTo>
                    <a:lnTo>
                      <a:pt x="9" y="0"/>
                    </a:lnTo>
                    <a:lnTo>
                      <a:pt x="3" y="3"/>
                    </a:lnTo>
                    <a:lnTo>
                      <a:pt x="0" y="9"/>
                    </a:lnTo>
                    <a:lnTo>
                      <a:pt x="0" y="12"/>
                    </a:lnTo>
                    <a:lnTo>
                      <a:pt x="3" y="15"/>
                    </a:lnTo>
                    <a:lnTo>
                      <a:pt x="9" y="18"/>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69" name="Freeform 2337">
                <a:extLst>
                  <a:ext uri="{FF2B5EF4-FFF2-40B4-BE49-F238E27FC236}">
                    <a16:creationId xmlns:a16="http://schemas.microsoft.com/office/drawing/2014/main" id="{C0E210BD-A295-F5B3-2E27-90D9A1412757}"/>
                  </a:ext>
                </a:extLst>
              </p:cNvPr>
              <p:cNvSpPr>
                <a:spLocks/>
              </p:cNvSpPr>
              <p:nvPr/>
            </p:nvSpPr>
            <p:spPr bwMode="auto">
              <a:xfrm>
                <a:off x="1033" y="3887"/>
                <a:ext cx="4" cy="4"/>
              </a:xfrm>
              <a:custGeom>
                <a:avLst/>
                <a:gdLst>
                  <a:gd name="T0" fmla="*/ 3 w 16"/>
                  <a:gd name="T1" fmla="*/ 2 h 16"/>
                  <a:gd name="T2" fmla="*/ 0 w 16"/>
                  <a:gd name="T3" fmla="*/ 8 h 16"/>
                  <a:gd name="T4" fmla="*/ 3 w 16"/>
                  <a:gd name="T5" fmla="*/ 13 h 16"/>
                  <a:gd name="T6" fmla="*/ 9 w 16"/>
                  <a:gd name="T7" fmla="*/ 16 h 16"/>
                  <a:gd name="T8" fmla="*/ 14 w 16"/>
                  <a:gd name="T9" fmla="*/ 13 h 16"/>
                  <a:gd name="T10" fmla="*/ 16 w 16"/>
                  <a:gd name="T11" fmla="*/ 8 h 16"/>
                  <a:gd name="T12" fmla="*/ 14 w 16"/>
                  <a:gd name="T13" fmla="*/ 2 h 16"/>
                  <a:gd name="T14" fmla="*/ 9 w 16"/>
                  <a:gd name="T15" fmla="*/ 0 h 16"/>
                  <a:gd name="T16" fmla="*/ 3 w 16"/>
                  <a:gd name="T17"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3" y="2"/>
                    </a:moveTo>
                    <a:lnTo>
                      <a:pt x="0" y="8"/>
                    </a:lnTo>
                    <a:lnTo>
                      <a:pt x="3" y="13"/>
                    </a:lnTo>
                    <a:lnTo>
                      <a:pt x="9" y="16"/>
                    </a:lnTo>
                    <a:lnTo>
                      <a:pt x="14" y="13"/>
                    </a:lnTo>
                    <a:lnTo>
                      <a:pt x="16" y="8"/>
                    </a:lnTo>
                    <a:lnTo>
                      <a:pt x="14" y="2"/>
                    </a:lnTo>
                    <a:lnTo>
                      <a:pt x="9" y="0"/>
                    </a:lnTo>
                    <a:lnTo>
                      <a:pt x="3"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70" name="Freeform 2338">
                <a:extLst>
                  <a:ext uri="{FF2B5EF4-FFF2-40B4-BE49-F238E27FC236}">
                    <a16:creationId xmlns:a16="http://schemas.microsoft.com/office/drawing/2014/main" id="{095189CB-0212-DB33-BCD1-86A632DC46A7}"/>
                  </a:ext>
                </a:extLst>
              </p:cNvPr>
              <p:cNvSpPr>
                <a:spLocks/>
              </p:cNvSpPr>
              <p:nvPr/>
            </p:nvSpPr>
            <p:spPr bwMode="auto">
              <a:xfrm>
                <a:off x="1033" y="3893"/>
                <a:ext cx="4" cy="4"/>
              </a:xfrm>
              <a:custGeom>
                <a:avLst/>
                <a:gdLst>
                  <a:gd name="T0" fmla="*/ 14 w 16"/>
                  <a:gd name="T1" fmla="*/ 3 h 18"/>
                  <a:gd name="T2" fmla="*/ 9 w 16"/>
                  <a:gd name="T3" fmla="*/ 0 h 18"/>
                  <a:gd name="T4" fmla="*/ 3 w 16"/>
                  <a:gd name="T5" fmla="*/ 3 h 18"/>
                  <a:gd name="T6" fmla="*/ 0 w 16"/>
                  <a:gd name="T7" fmla="*/ 9 h 18"/>
                  <a:gd name="T8" fmla="*/ 0 w 16"/>
                  <a:gd name="T9" fmla="*/ 12 h 18"/>
                  <a:gd name="T10" fmla="*/ 3 w 16"/>
                  <a:gd name="T11" fmla="*/ 15 h 18"/>
                  <a:gd name="T12" fmla="*/ 9 w 16"/>
                  <a:gd name="T13" fmla="*/ 18 h 18"/>
                  <a:gd name="T14" fmla="*/ 14 w 16"/>
                  <a:gd name="T15" fmla="*/ 15 h 18"/>
                  <a:gd name="T16" fmla="*/ 14 w 16"/>
                  <a:gd name="T17" fmla="*/ 13 h 18"/>
                  <a:gd name="T18" fmla="*/ 14 w 16"/>
                  <a:gd name="T19" fmla="*/ 12 h 18"/>
                  <a:gd name="T20" fmla="*/ 15 w 16"/>
                  <a:gd name="T21" fmla="*/ 12 h 18"/>
                  <a:gd name="T22" fmla="*/ 16 w 16"/>
                  <a:gd name="T23" fmla="*/ 9 h 18"/>
                  <a:gd name="T24" fmla="*/ 14 w 16"/>
                  <a:gd name="T25"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8">
                    <a:moveTo>
                      <a:pt x="14" y="3"/>
                    </a:moveTo>
                    <a:lnTo>
                      <a:pt x="9" y="0"/>
                    </a:lnTo>
                    <a:lnTo>
                      <a:pt x="3" y="3"/>
                    </a:lnTo>
                    <a:lnTo>
                      <a:pt x="0" y="9"/>
                    </a:lnTo>
                    <a:lnTo>
                      <a:pt x="0" y="12"/>
                    </a:lnTo>
                    <a:lnTo>
                      <a:pt x="3" y="15"/>
                    </a:lnTo>
                    <a:lnTo>
                      <a:pt x="9" y="18"/>
                    </a:lnTo>
                    <a:lnTo>
                      <a:pt x="14" y="15"/>
                    </a:lnTo>
                    <a:lnTo>
                      <a:pt x="14" y="13"/>
                    </a:lnTo>
                    <a:lnTo>
                      <a:pt x="14" y="12"/>
                    </a:lnTo>
                    <a:lnTo>
                      <a:pt x="15" y="12"/>
                    </a:lnTo>
                    <a:lnTo>
                      <a:pt x="16"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71" name="Freeform 2339">
                <a:extLst>
                  <a:ext uri="{FF2B5EF4-FFF2-40B4-BE49-F238E27FC236}">
                    <a16:creationId xmlns:a16="http://schemas.microsoft.com/office/drawing/2014/main" id="{D3D4EDBD-A415-9407-E1AF-446857963D24}"/>
                  </a:ext>
                </a:extLst>
              </p:cNvPr>
              <p:cNvSpPr>
                <a:spLocks/>
              </p:cNvSpPr>
              <p:nvPr/>
            </p:nvSpPr>
            <p:spPr bwMode="auto">
              <a:xfrm>
                <a:off x="995" y="3880"/>
                <a:ext cx="4" cy="5"/>
              </a:xfrm>
              <a:custGeom>
                <a:avLst/>
                <a:gdLst>
                  <a:gd name="T0" fmla="*/ 14 w 17"/>
                  <a:gd name="T1" fmla="*/ 15 h 18"/>
                  <a:gd name="T2" fmla="*/ 14 w 17"/>
                  <a:gd name="T3" fmla="*/ 13 h 18"/>
                  <a:gd name="T4" fmla="*/ 14 w 17"/>
                  <a:gd name="T5" fmla="*/ 12 h 18"/>
                  <a:gd name="T6" fmla="*/ 15 w 17"/>
                  <a:gd name="T7" fmla="*/ 12 h 18"/>
                  <a:gd name="T8" fmla="*/ 17 w 17"/>
                  <a:gd name="T9" fmla="*/ 9 h 18"/>
                  <a:gd name="T10" fmla="*/ 14 w 17"/>
                  <a:gd name="T11" fmla="*/ 3 h 18"/>
                  <a:gd name="T12" fmla="*/ 10 w 17"/>
                  <a:gd name="T13" fmla="*/ 0 h 18"/>
                  <a:gd name="T14" fmla="*/ 8 w 17"/>
                  <a:gd name="T15" fmla="*/ 0 h 18"/>
                  <a:gd name="T16" fmla="*/ 3 w 17"/>
                  <a:gd name="T17" fmla="*/ 3 h 18"/>
                  <a:gd name="T18" fmla="*/ 0 w 17"/>
                  <a:gd name="T19" fmla="*/ 9 h 18"/>
                  <a:gd name="T20" fmla="*/ 0 w 17"/>
                  <a:gd name="T21" fmla="*/ 12 h 18"/>
                  <a:gd name="T22" fmla="*/ 3 w 17"/>
                  <a:gd name="T23" fmla="*/ 15 h 18"/>
                  <a:gd name="T24" fmla="*/ 8 w 17"/>
                  <a:gd name="T25" fmla="*/ 18 h 18"/>
                  <a:gd name="T26" fmla="*/ 10 w 17"/>
                  <a:gd name="T27" fmla="*/ 17 h 18"/>
                  <a:gd name="T28" fmla="*/ 10 w 17"/>
                  <a:gd name="T29" fmla="*/ 15 h 18"/>
                  <a:gd name="T30" fmla="*/ 12 w 17"/>
                  <a:gd name="T31" fmla="*/ 15 h 18"/>
                  <a:gd name="T32" fmla="*/ 14 w 17"/>
                  <a:gd name="T33"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18">
                    <a:moveTo>
                      <a:pt x="14" y="15"/>
                    </a:moveTo>
                    <a:lnTo>
                      <a:pt x="14" y="13"/>
                    </a:lnTo>
                    <a:lnTo>
                      <a:pt x="14" y="12"/>
                    </a:lnTo>
                    <a:lnTo>
                      <a:pt x="15" y="12"/>
                    </a:lnTo>
                    <a:lnTo>
                      <a:pt x="17" y="9"/>
                    </a:lnTo>
                    <a:lnTo>
                      <a:pt x="14" y="3"/>
                    </a:lnTo>
                    <a:lnTo>
                      <a:pt x="10" y="0"/>
                    </a:lnTo>
                    <a:lnTo>
                      <a:pt x="8" y="0"/>
                    </a:lnTo>
                    <a:lnTo>
                      <a:pt x="3" y="3"/>
                    </a:lnTo>
                    <a:lnTo>
                      <a:pt x="0" y="9"/>
                    </a:lnTo>
                    <a:lnTo>
                      <a:pt x="0" y="12"/>
                    </a:lnTo>
                    <a:lnTo>
                      <a:pt x="3" y="15"/>
                    </a:lnTo>
                    <a:lnTo>
                      <a:pt x="8" y="18"/>
                    </a:lnTo>
                    <a:lnTo>
                      <a:pt x="10" y="17"/>
                    </a:lnTo>
                    <a:lnTo>
                      <a:pt x="10" y="15"/>
                    </a:lnTo>
                    <a:lnTo>
                      <a:pt x="12" y="15"/>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72" name="Freeform 2340">
                <a:extLst>
                  <a:ext uri="{FF2B5EF4-FFF2-40B4-BE49-F238E27FC236}">
                    <a16:creationId xmlns:a16="http://schemas.microsoft.com/office/drawing/2014/main" id="{0CF651D6-1C46-293D-FF30-C9EBBFC5D48E}"/>
                  </a:ext>
                </a:extLst>
              </p:cNvPr>
              <p:cNvSpPr>
                <a:spLocks/>
              </p:cNvSpPr>
              <p:nvPr/>
            </p:nvSpPr>
            <p:spPr bwMode="auto">
              <a:xfrm>
                <a:off x="995" y="3887"/>
                <a:ext cx="4" cy="4"/>
              </a:xfrm>
              <a:custGeom>
                <a:avLst/>
                <a:gdLst>
                  <a:gd name="T0" fmla="*/ 3 w 17"/>
                  <a:gd name="T1" fmla="*/ 2 h 16"/>
                  <a:gd name="T2" fmla="*/ 0 w 17"/>
                  <a:gd name="T3" fmla="*/ 8 h 16"/>
                  <a:gd name="T4" fmla="*/ 3 w 17"/>
                  <a:gd name="T5" fmla="*/ 13 h 16"/>
                  <a:gd name="T6" fmla="*/ 8 w 17"/>
                  <a:gd name="T7" fmla="*/ 16 h 16"/>
                  <a:gd name="T8" fmla="*/ 10 w 17"/>
                  <a:gd name="T9" fmla="*/ 14 h 16"/>
                  <a:gd name="T10" fmla="*/ 10 w 17"/>
                  <a:gd name="T11" fmla="*/ 13 h 16"/>
                  <a:gd name="T12" fmla="*/ 12 w 17"/>
                  <a:gd name="T13" fmla="*/ 13 h 16"/>
                  <a:gd name="T14" fmla="*/ 14 w 17"/>
                  <a:gd name="T15" fmla="*/ 13 h 16"/>
                  <a:gd name="T16" fmla="*/ 17 w 17"/>
                  <a:gd name="T17" fmla="*/ 8 h 16"/>
                  <a:gd name="T18" fmla="*/ 14 w 17"/>
                  <a:gd name="T19" fmla="*/ 2 h 16"/>
                  <a:gd name="T20" fmla="*/ 10 w 17"/>
                  <a:gd name="T21" fmla="*/ 0 h 16"/>
                  <a:gd name="T22" fmla="*/ 8 w 17"/>
                  <a:gd name="T23" fmla="*/ 0 h 16"/>
                  <a:gd name="T24" fmla="*/ 3 w 17"/>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3" y="2"/>
                    </a:moveTo>
                    <a:lnTo>
                      <a:pt x="0" y="8"/>
                    </a:lnTo>
                    <a:lnTo>
                      <a:pt x="3" y="13"/>
                    </a:lnTo>
                    <a:lnTo>
                      <a:pt x="8" y="16"/>
                    </a:lnTo>
                    <a:lnTo>
                      <a:pt x="10" y="14"/>
                    </a:lnTo>
                    <a:lnTo>
                      <a:pt x="10" y="13"/>
                    </a:lnTo>
                    <a:lnTo>
                      <a:pt x="12" y="13"/>
                    </a:lnTo>
                    <a:lnTo>
                      <a:pt x="14" y="13"/>
                    </a:lnTo>
                    <a:lnTo>
                      <a:pt x="17" y="8"/>
                    </a:lnTo>
                    <a:lnTo>
                      <a:pt x="14" y="2"/>
                    </a:lnTo>
                    <a:lnTo>
                      <a:pt x="10" y="0"/>
                    </a:lnTo>
                    <a:lnTo>
                      <a:pt x="8" y="0"/>
                    </a:lnTo>
                    <a:lnTo>
                      <a:pt x="3"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73" name="Freeform 2341">
                <a:extLst>
                  <a:ext uri="{FF2B5EF4-FFF2-40B4-BE49-F238E27FC236}">
                    <a16:creationId xmlns:a16="http://schemas.microsoft.com/office/drawing/2014/main" id="{E1190381-A6C1-426A-2380-4ADE2FCD8E40}"/>
                  </a:ext>
                </a:extLst>
              </p:cNvPr>
              <p:cNvSpPr>
                <a:spLocks/>
              </p:cNvSpPr>
              <p:nvPr/>
            </p:nvSpPr>
            <p:spPr bwMode="auto">
              <a:xfrm>
                <a:off x="988" y="3880"/>
                <a:ext cx="5" cy="5"/>
              </a:xfrm>
              <a:custGeom>
                <a:avLst/>
                <a:gdLst>
                  <a:gd name="T0" fmla="*/ 15 w 18"/>
                  <a:gd name="T1" fmla="*/ 3 h 18"/>
                  <a:gd name="T2" fmla="*/ 12 w 18"/>
                  <a:gd name="T3" fmla="*/ 0 h 18"/>
                  <a:gd name="T4" fmla="*/ 9 w 18"/>
                  <a:gd name="T5" fmla="*/ 0 h 18"/>
                  <a:gd name="T6" fmla="*/ 3 w 18"/>
                  <a:gd name="T7" fmla="*/ 3 h 18"/>
                  <a:gd name="T8" fmla="*/ 0 w 18"/>
                  <a:gd name="T9" fmla="*/ 9 h 18"/>
                  <a:gd name="T10" fmla="*/ 0 w 18"/>
                  <a:gd name="T11" fmla="*/ 12 h 18"/>
                  <a:gd name="T12" fmla="*/ 3 w 18"/>
                  <a:gd name="T13" fmla="*/ 15 h 18"/>
                  <a:gd name="T14" fmla="*/ 9 w 18"/>
                  <a:gd name="T15" fmla="*/ 18 h 18"/>
                  <a:gd name="T16" fmla="*/ 12 w 18"/>
                  <a:gd name="T17" fmla="*/ 17 h 18"/>
                  <a:gd name="T18" fmla="*/ 12 w 18"/>
                  <a:gd name="T19" fmla="*/ 15 h 18"/>
                  <a:gd name="T20" fmla="*/ 13 w 18"/>
                  <a:gd name="T21" fmla="*/ 15 h 18"/>
                  <a:gd name="T22" fmla="*/ 15 w 18"/>
                  <a:gd name="T23" fmla="*/ 15 h 18"/>
                  <a:gd name="T24" fmla="*/ 15 w 18"/>
                  <a:gd name="T25" fmla="*/ 13 h 18"/>
                  <a:gd name="T26" fmla="*/ 15 w 18"/>
                  <a:gd name="T27" fmla="*/ 12 h 18"/>
                  <a:gd name="T28" fmla="*/ 17 w 18"/>
                  <a:gd name="T29" fmla="*/ 12 h 18"/>
                  <a:gd name="T30" fmla="*/ 18 w 18"/>
                  <a:gd name="T31" fmla="*/ 9 h 18"/>
                  <a:gd name="T32" fmla="*/ 15 w 18"/>
                  <a:gd name="T33"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8">
                    <a:moveTo>
                      <a:pt x="15" y="3"/>
                    </a:moveTo>
                    <a:lnTo>
                      <a:pt x="12" y="0"/>
                    </a:lnTo>
                    <a:lnTo>
                      <a:pt x="9" y="0"/>
                    </a:lnTo>
                    <a:lnTo>
                      <a:pt x="3" y="3"/>
                    </a:lnTo>
                    <a:lnTo>
                      <a:pt x="0" y="9"/>
                    </a:lnTo>
                    <a:lnTo>
                      <a:pt x="0" y="12"/>
                    </a:lnTo>
                    <a:lnTo>
                      <a:pt x="3" y="15"/>
                    </a:lnTo>
                    <a:lnTo>
                      <a:pt x="9" y="18"/>
                    </a:lnTo>
                    <a:lnTo>
                      <a:pt x="12" y="17"/>
                    </a:lnTo>
                    <a:lnTo>
                      <a:pt x="12" y="15"/>
                    </a:lnTo>
                    <a:lnTo>
                      <a:pt x="13" y="15"/>
                    </a:lnTo>
                    <a:lnTo>
                      <a:pt x="15" y="15"/>
                    </a:lnTo>
                    <a:lnTo>
                      <a:pt x="15" y="13"/>
                    </a:lnTo>
                    <a:lnTo>
                      <a:pt x="15" y="12"/>
                    </a:lnTo>
                    <a:lnTo>
                      <a:pt x="17" y="12"/>
                    </a:lnTo>
                    <a:lnTo>
                      <a:pt x="18" y="9"/>
                    </a:lnTo>
                    <a:lnTo>
                      <a:pt x="15"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74" name="Freeform 2342">
                <a:extLst>
                  <a:ext uri="{FF2B5EF4-FFF2-40B4-BE49-F238E27FC236}">
                    <a16:creationId xmlns:a16="http://schemas.microsoft.com/office/drawing/2014/main" id="{8E505799-DE3C-B7E5-403C-635564A2575A}"/>
                  </a:ext>
                </a:extLst>
              </p:cNvPr>
              <p:cNvSpPr>
                <a:spLocks/>
              </p:cNvSpPr>
              <p:nvPr/>
            </p:nvSpPr>
            <p:spPr bwMode="auto">
              <a:xfrm>
                <a:off x="988" y="3887"/>
                <a:ext cx="5" cy="4"/>
              </a:xfrm>
              <a:custGeom>
                <a:avLst/>
                <a:gdLst>
                  <a:gd name="T0" fmla="*/ 9 w 18"/>
                  <a:gd name="T1" fmla="*/ 0 h 16"/>
                  <a:gd name="T2" fmla="*/ 3 w 18"/>
                  <a:gd name="T3" fmla="*/ 2 h 16"/>
                  <a:gd name="T4" fmla="*/ 0 w 18"/>
                  <a:gd name="T5" fmla="*/ 8 h 16"/>
                  <a:gd name="T6" fmla="*/ 3 w 18"/>
                  <a:gd name="T7" fmla="*/ 13 h 16"/>
                  <a:gd name="T8" fmla="*/ 9 w 18"/>
                  <a:gd name="T9" fmla="*/ 16 h 16"/>
                  <a:gd name="T10" fmla="*/ 12 w 18"/>
                  <a:gd name="T11" fmla="*/ 14 h 16"/>
                  <a:gd name="T12" fmla="*/ 12 w 18"/>
                  <a:gd name="T13" fmla="*/ 13 h 16"/>
                  <a:gd name="T14" fmla="*/ 13 w 18"/>
                  <a:gd name="T15" fmla="*/ 13 h 16"/>
                  <a:gd name="T16" fmla="*/ 15 w 18"/>
                  <a:gd name="T17" fmla="*/ 13 h 16"/>
                  <a:gd name="T18" fmla="*/ 18 w 18"/>
                  <a:gd name="T19" fmla="*/ 8 h 16"/>
                  <a:gd name="T20" fmla="*/ 15 w 18"/>
                  <a:gd name="T21" fmla="*/ 2 h 16"/>
                  <a:gd name="T22" fmla="*/ 12 w 18"/>
                  <a:gd name="T23" fmla="*/ 0 h 16"/>
                  <a:gd name="T24" fmla="*/ 9 w 18"/>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9" y="0"/>
                    </a:moveTo>
                    <a:lnTo>
                      <a:pt x="3" y="2"/>
                    </a:lnTo>
                    <a:lnTo>
                      <a:pt x="0" y="8"/>
                    </a:lnTo>
                    <a:lnTo>
                      <a:pt x="3" y="13"/>
                    </a:lnTo>
                    <a:lnTo>
                      <a:pt x="9" y="16"/>
                    </a:lnTo>
                    <a:lnTo>
                      <a:pt x="12" y="14"/>
                    </a:lnTo>
                    <a:lnTo>
                      <a:pt x="12" y="13"/>
                    </a:lnTo>
                    <a:lnTo>
                      <a:pt x="13" y="13"/>
                    </a:lnTo>
                    <a:lnTo>
                      <a:pt x="15" y="13"/>
                    </a:lnTo>
                    <a:lnTo>
                      <a:pt x="18" y="8"/>
                    </a:lnTo>
                    <a:lnTo>
                      <a:pt x="15" y="2"/>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75" name="Freeform 2343">
                <a:extLst>
                  <a:ext uri="{FF2B5EF4-FFF2-40B4-BE49-F238E27FC236}">
                    <a16:creationId xmlns:a16="http://schemas.microsoft.com/office/drawing/2014/main" id="{550CD741-8B38-664C-8AF0-693B03A1C543}"/>
                  </a:ext>
                </a:extLst>
              </p:cNvPr>
              <p:cNvSpPr>
                <a:spLocks/>
              </p:cNvSpPr>
              <p:nvPr/>
            </p:nvSpPr>
            <p:spPr bwMode="auto">
              <a:xfrm>
                <a:off x="988" y="3893"/>
                <a:ext cx="5" cy="4"/>
              </a:xfrm>
              <a:custGeom>
                <a:avLst/>
                <a:gdLst>
                  <a:gd name="T0" fmla="*/ 9 w 18"/>
                  <a:gd name="T1" fmla="*/ 0 h 18"/>
                  <a:gd name="T2" fmla="*/ 3 w 18"/>
                  <a:gd name="T3" fmla="*/ 3 h 18"/>
                  <a:gd name="T4" fmla="*/ 0 w 18"/>
                  <a:gd name="T5" fmla="*/ 9 h 18"/>
                  <a:gd name="T6" fmla="*/ 0 w 18"/>
                  <a:gd name="T7" fmla="*/ 12 h 18"/>
                  <a:gd name="T8" fmla="*/ 3 w 18"/>
                  <a:gd name="T9" fmla="*/ 15 h 18"/>
                  <a:gd name="T10" fmla="*/ 9 w 18"/>
                  <a:gd name="T11" fmla="*/ 18 h 18"/>
                  <a:gd name="T12" fmla="*/ 12 w 18"/>
                  <a:gd name="T13" fmla="*/ 17 h 18"/>
                  <a:gd name="T14" fmla="*/ 12 w 18"/>
                  <a:gd name="T15" fmla="*/ 15 h 18"/>
                  <a:gd name="T16" fmla="*/ 13 w 18"/>
                  <a:gd name="T17" fmla="*/ 15 h 18"/>
                  <a:gd name="T18" fmla="*/ 15 w 18"/>
                  <a:gd name="T19" fmla="*/ 15 h 18"/>
                  <a:gd name="T20" fmla="*/ 15 w 18"/>
                  <a:gd name="T21" fmla="*/ 13 h 18"/>
                  <a:gd name="T22" fmla="*/ 15 w 18"/>
                  <a:gd name="T23" fmla="*/ 12 h 18"/>
                  <a:gd name="T24" fmla="*/ 17 w 18"/>
                  <a:gd name="T25" fmla="*/ 12 h 18"/>
                  <a:gd name="T26" fmla="*/ 18 w 18"/>
                  <a:gd name="T27" fmla="*/ 9 h 18"/>
                  <a:gd name="T28" fmla="*/ 15 w 18"/>
                  <a:gd name="T29" fmla="*/ 3 h 18"/>
                  <a:gd name="T30" fmla="*/ 12 w 18"/>
                  <a:gd name="T31" fmla="*/ 0 h 18"/>
                  <a:gd name="T32" fmla="*/ 9 w 18"/>
                  <a:gd name="T3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8">
                    <a:moveTo>
                      <a:pt x="9" y="0"/>
                    </a:moveTo>
                    <a:lnTo>
                      <a:pt x="3" y="3"/>
                    </a:lnTo>
                    <a:lnTo>
                      <a:pt x="0" y="9"/>
                    </a:lnTo>
                    <a:lnTo>
                      <a:pt x="0" y="12"/>
                    </a:lnTo>
                    <a:lnTo>
                      <a:pt x="3" y="15"/>
                    </a:lnTo>
                    <a:lnTo>
                      <a:pt x="9" y="18"/>
                    </a:lnTo>
                    <a:lnTo>
                      <a:pt x="12" y="17"/>
                    </a:lnTo>
                    <a:lnTo>
                      <a:pt x="12" y="15"/>
                    </a:lnTo>
                    <a:lnTo>
                      <a:pt x="13" y="15"/>
                    </a:lnTo>
                    <a:lnTo>
                      <a:pt x="15" y="15"/>
                    </a:lnTo>
                    <a:lnTo>
                      <a:pt x="15" y="13"/>
                    </a:lnTo>
                    <a:lnTo>
                      <a:pt x="15" y="12"/>
                    </a:lnTo>
                    <a:lnTo>
                      <a:pt x="17" y="12"/>
                    </a:lnTo>
                    <a:lnTo>
                      <a:pt x="18" y="9"/>
                    </a:lnTo>
                    <a:lnTo>
                      <a:pt x="15" y="3"/>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76" name="Freeform 2344">
                <a:extLst>
                  <a:ext uri="{FF2B5EF4-FFF2-40B4-BE49-F238E27FC236}">
                    <a16:creationId xmlns:a16="http://schemas.microsoft.com/office/drawing/2014/main" id="{581BA905-9ED5-32AD-3C94-C06F02020BD8}"/>
                  </a:ext>
                </a:extLst>
              </p:cNvPr>
              <p:cNvSpPr>
                <a:spLocks/>
              </p:cNvSpPr>
              <p:nvPr/>
            </p:nvSpPr>
            <p:spPr bwMode="auto">
              <a:xfrm>
                <a:off x="995" y="3893"/>
                <a:ext cx="4" cy="4"/>
              </a:xfrm>
              <a:custGeom>
                <a:avLst/>
                <a:gdLst>
                  <a:gd name="T0" fmla="*/ 14 w 17"/>
                  <a:gd name="T1" fmla="*/ 3 h 18"/>
                  <a:gd name="T2" fmla="*/ 10 w 17"/>
                  <a:gd name="T3" fmla="*/ 0 h 18"/>
                  <a:gd name="T4" fmla="*/ 8 w 17"/>
                  <a:gd name="T5" fmla="*/ 0 h 18"/>
                  <a:gd name="T6" fmla="*/ 3 w 17"/>
                  <a:gd name="T7" fmla="*/ 3 h 18"/>
                  <a:gd name="T8" fmla="*/ 0 w 17"/>
                  <a:gd name="T9" fmla="*/ 9 h 18"/>
                  <a:gd name="T10" fmla="*/ 0 w 17"/>
                  <a:gd name="T11" fmla="*/ 12 h 18"/>
                  <a:gd name="T12" fmla="*/ 3 w 17"/>
                  <a:gd name="T13" fmla="*/ 15 h 18"/>
                  <a:gd name="T14" fmla="*/ 8 w 17"/>
                  <a:gd name="T15" fmla="*/ 18 h 18"/>
                  <a:gd name="T16" fmla="*/ 10 w 17"/>
                  <a:gd name="T17" fmla="*/ 17 h 18"/>
                  <a:gd name="T18" fmla="*/ 10 w 17"/>
                  <a:gd name="T19" fmla="*/ 15 h 18"/>
                  <a:gd name="T20" fmla="*/ 12 w 17"/>
                  <a:gd name="T21" fmla="*/ 15 h 18"/>
                  <a:gd name="T22" fmla="*/ 14 w 17"/>
                  <a:gd name="T23" fmla="*/ 15 h 18"/>
                  <a:gd name="T24" fmla="*/ 14 w 17"/>
                  <a:gd name="T25" fmla="*/ 13 h 18"/>
                  <a:gd name="T26" fmla="*/ 14 w 17"/>
                  <a:gd name="T27" fmla="*/ 12 h 18"/>
                  <a:gd name="T28" fmla="*/ 15 w 17"/>
                  <a:gd name="T29" fmla="*/ 12 h 18"/>
                  <a:gd name="T30" fmla="*/ 17 w 17"/>
                  <a:gd name="T31" fmla="*/ 9 h 18"/>
                  <a:gd name="T32" fmla="*/ 14 w 17"/>
                  <a:gd name="T33"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18">
                    <a:moveTo>
                      <a:pt x="14" y="3"/>
                    </a:moveTo>
                    <a:lnTo>
                      <a:pt x="10" y="0"/>
                    </a:lnTo>
                    <a:lnTo>
                      <a:pt x="8" y="0"/>
                    </a:lnTo>
                    <a:lnTo>
                      <a:pt x="3" y="3"/>
                    </a:lnTo>
                    <a:lnTo>
                      <a:pt x="0" y="9"/>
                    </a:lnTo>
                    <a:lnTo>
                      <a:pt x="0" y="12"/>
                    </a:lnTo>
                    <a:lnTo>
                      <a:pt x="3" y="15"/>
                    </a:lnTo>
                    <a:lnTo>
                      <a:pt x="8" y="18"/>
                    </a:lnTo>
                    <a:lnTo>
                      <a:pt x="10" y="17"/>
                    </a:lnTo>
                    <a:lnTo>
                      <a:pt x="10" y="15"/>
                    </a:lnTo>
                    <a:lnTo>
                      <a:pt x="12" y="15"/>
                    </a:lnTo>
                    <a:lnTo>
                      <a:pt x="14" y="15"/>
                    </a:lnTo>
                    <a:lnTo>
                      <a:pt x="14" y="13"/>
                    </a:lnTo>
                    <a:lnTo>
                      <a:pt x="14" y="12"/>
                    </a:lnTo>
                    <a:lnTo>
                      <a:pt x="15" y="12"/>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77" name="Freeform 2345">
                <a:extLst>
                  <a:ext uri="{FF2B5EF4-FFF2-40B4-BE49-F238E27FC236}">
                    <a16:creationId xmlns:a16="http://schemas.microsoft.com/office/drawing/2014/main" id="{FD1EA2AE-75E0-354A-A472-BB7A5E5BFC91}"/>
                  </a:ext>
                </a:extLst>
              </p:cNvPr>
              <p:cNvSpPr>
                <a:spLocks/>
              </p:cNvSpPr>
              <p:nvPr/>
            </p:nvSpPr>
            <p:spPr bwMode="auto">
              <a:xfrm>
                <a:off x="1008" y="3880"/>
                <a:ext cx="4" cy="5"/>
              </a:xfrm>
              <a:custGeom>
                <a:avLst/>
                <a:gdLst>
                  <a:gd name="T0" fmla="*/ 9 w 17"/>
                  <a:gd name="T1" fmla="*/ 0 h 18"/>
                  <a:gd name="T2" fmla="*/ 3 w 17"/>
                  <a:gd name="T3" fmla="*/ 3 h 18"/>
                  <a:gd name="T4" fmla="*/ 0 w 17"/>
                  <a:gd name="T5" fmla="*/ 9 h 18"/>
                  <a:gd name="T6" fmla="*/ 0 w 17"/>
                  <a:gd name="T7" fmla="*/ 12 h 18"/>
                  <a:gd name="T8" fmla="*/ 3 w 17"/>
                  <a:gd name="T9" fmla="*/ 15 h 18"/>
                  <a:gd name="T10" fmla="*/ 9 w 17"/>
                  <a:gd name="T11" fmla="*/ 18 h 18"/>
                  <a:gd name="T12" fmla="*/ 14 w 17"/>
                  <a:gd name="T13" fmla="*/ 15 h 18"/>
                  <a:gd name="T14" fmla="*/ 14 w 17"/>
                  <a:gd name="T15" fmla="*/ 13 h 18"/>
                  <a:gd name="T16" fmla="*/ 14 w 17"/>
                  <a:gd name="T17" fmla="*/ 12 h 18"/>
                  <a:gd name="T18" fmla="*/ 15 w 17"/>
                  <a:gd name="T19" fmla="*/ 12 h 18"/>
                  <a:gd name="T20" fmla="*/ 17 w 17"/>
                  <a:gd name="T21" fmla="*/ 9 h 18"/>
                  <a:gd name="T22" fmla="*/ 14 w 17"/>
                  <a:gd name="T23" fmla="*/ 3 h 18"/>
                  <a:gd name="T24" fmla="*/ 9 w 17"/>
                  <a:gd name="T25"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8">
                    <a:moveTo>
                      <a:pt x="9" y="0"/>
                    </a:moveTo>
                    <a:lnTo>
                      <a:pt x="3" y="3"/>
                    </a:lnTo>
                    <a:lnTo>
                      <a:pt x="0" y="9"/>
                    </a:lnTo>
                    <a:lnTo>
                      <a:pt x="0" y="12"/>
                    </a:lnTo>
                    <a:lnTo>
                      <a:pt x="3" y="15"/>
                    </a:lnTo>
                    <a:lnTo>
                      <a:pt x="9" y="18"/>
                    </a:lnTo>
                    <a:lnTo>
                      <a:pt x="14" y="15"/>
                    </a:lnTo>
                    <a:lnTo>
                      <a:pt x="14" y="13"/>
                    </a:lnTo>
                    <a:lnTo>
                      <a:pt x="14" y="12"/>
                    </a:lnTo>
                    <a:lnTo>
                      <a:pt x="15" y="12"/>
                    </a:lnTo>
                    <a:lnTo>
                      <a:pt x="17" y="9"/>
                    </a:lnTo>
                    <a:lnTo>
                      <a:pt x="14" y="3"/>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78" name="Freeform 2346">
                <a:extLst>
                  <a:ext uri="{FF2B5EF4-FFF2-40B4-BE49-F238E27FC236}">
                    <a16:creationId xmlns:a16="http://schemas.microsoft.com/office/drawing/2014/main" id="{D0F2CE9F-A75D-B5F1-86B7-4BAC964A471C}"/>
                  </a:ext>
                </a:extLst>
              </p:cNvPr>
              <p:cNvSpPr>
                <a:spLocks/>
              </p:cNvSpPr>
              <p:nvPr/>
            </p:nvSpPr>
            <p:spPr bwMode="auto">
              <a:xfrm>
                <a:off x="1008" y="3887"/>
                <a:ext cx="4" cy="4"/>
              </a:xfrm>
              <a:custGeom>
                <a:avLst/>
                <a:gdLst>
                  <a:gd name="T0" fmla="*/ 9 w 17"/>
                  <a:gd name="T1" fmla="*/ 0 h 16"/>
                  <a:gd name="T2" fmla="*/ 3 w 17"/>
                  <a:gd name="T3" fmla="*/ 2 h 16"/>
                  <a:gd name="T4" fmla="*/ 0 w 17"/>
                  <a:gd name="T5" fmla="*/ 8 h 16"/>
                  <a:gd name="T6" fmla="*/ 3 w 17"/>
                  <a:gd name="T7" fmla="*/ 13 h 16"/>
                  <a:gd name="T8" fmla="*/ 9 w 17"/>
                  <a:gd name="T9" fmla="*/ 16 h 16"/>
                  <a:gd name="T10" fmla="*/ 14 w 17"/>
                  <a:gd name="T11" fmla="*/ 13 h 16"/>
                  <a:gd name="T12" fmla="*/ 17 w 17"/>
                  <a:gd name="T13" fmla="*/ 8 h 16"/>
                  <a:gd name="T14" fmla="*/ 14 w 17"/>
                  <a:gd name="T15" fmla="*/ 2 h 16"/>
                  <a:gd name="T16" fmla="*/ 9 w 17"/>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9" y="0"/>
                    </a:moveTo>
                    <a:lnTo>
                      <a:pt x="3" y="2"/>
                    </a:lnTo>
                    <a:lnTo>
                      <a:pt x="0" y="8"/>
                    </a:lnTo>
                    <a:lnTo>
                      <a:pt x="3" y="13"/>
                    </a:lnTo>
                    <a:lnTo>
                      <a:pt x="9" y="16"/>
                    </a:lnTo>
                    <a:lnTo>
                      <a:pt x="14" y="13"/>
                    </a:lnTo>
                    <a:lnTo>
                      <a:pt x="17" y="8"/>
                    </a:lnTo>
                    <a:lnTo>
                      <a:pt x="14" y="2"/>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79" name="Freeform 2347">
                <a:extLst>
                  <a:ext uri="{FF2B5EF4-FFF2-40B4-BE49-F238E27FC236}">
                    <a16:creationId xmlns:a16="http://schemas.microsoft.com/office/drawing/2014/main" id="{C93AB678-B99D-EB12-5548-CA483DAE271C}"/>
                  </a:ext>
                </a:extLst>
              </p:cNvPr>
              <p:cNvSpPr>
                <a:spLocks/>
              </p:cNvSpPr>
              <p:nvPr/>
            </p:nvSpPr>
            <p:spPr bwMode="auto">
              <a:xfrm>
                <a:off x="1001" y="3880"/>
                <a:ext cx="4" cy="5"/>
              </a:xfrm>
              <a:custGeom>
                <a:avLst/>
                <a:gdLst>
                  <a:gd name="T0" fmla="*/ 15 w 18"/>
                  <a:gd name="T1" fmla="*/ 15 h 18"/>
                  <a:gd name="T2" fmla="*/ 15 w 18"/>
                  <a:gd name="T3" fmla="*/ 13 h 18"/>
                  <a:gd name="T4" fmla="*/ 15 w 18"/>
                  <a:gd name="T5" fmla="*/ 12 h 18"/>
                  <a:gd name="T6" fmla="*/ 16 w 18"/>
                  <a:gd name="T7" fmla="*/ 12 h 18"/>
                  <a:gd name="T8" fmla="*/ 18 w 18"/>
                  <a:gd name="T9" fmla="*/ 9 h 18"/>
                  <a:gd name="T10" fmla="*/ 15 w 18"/>
                  <a:gd name="T11" fmla="*/ 3 h 18"/>
                  <a:gd name="T12" fmla="*/ 11 w 18"/>
                  <a:gd name="T13" fmla="*/ 0 h 18"/>
                  <a:gd name="T14" fmla="*/ 9 w 18"/>
                  <a:gd name="T15" fmla="*/ 0 h 18"/>
                  <a:gd name="T16" fmla="*/ 3 w 18"/>
                  <a:gd name="T17" fmla="*/ 3 h 18"/>
                  <a:gd name="T18" fmla="*/ 0 w 18"/>
                  <a:gd name="T19" fmla="*/ 9 h 18"/>
                  <a:gd name="T20" fmla="*/ 0 w 18"/>
                  <a:gd name="T21" fmla="*/ 12 h 18"/>
                  <a:gd name="T22" fmla="*/ 3 w 18"/>
                  <a:gd name="T23" fmla="*/ 15 h 18"/>
                  <a:gd name="T24" fmla="*/ 9 w 18"/>
                  <a:gd name="T25" fmla="*/ 18 h 18"/>
                  <a:gd name="T26" fmla="*/ 11 w 18"/>
                  <a:gd name="T27" fmla="*/ 17 h 18"/>
                  <a:gd name="T28" fmla="*/ 11 w 18"/>
                  <a:gd name="T29" fmla="*/ 15 h 18"/>
                  <a:gd name="T30" fmla="*/ 13 w 18"/>
                  <a:gd name="T31" fmla="*/ 15 h 18"/>
                  <a:gd name="T32" fmla="*/ 15 w 18"/>
                  <a:gd name="T33"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8">
                    <a:moveTo>
                      <a:pt x="15" y="15"/>
                    </a:moveTo>
                    <a:lnTo>
                      <a:pt x="15" y="13"/>
                    </a:lnTo>
                    <a:lnTo>
                      <a:pt x="15" y="12"/>
                    </a:lnTo>
                    <a:lnTo>
                      <a:pt x="16" y="12"/>
                    </a:lnTo>
                    <a:lnTo>
                      <a:pt x="18" y="9"/>
                    </a:lnTo>
                    <a:lnTo>
                      <a:pt x="15" y="3"/>
                    </a:lnTo>
                    <a:lnTo>
                      <a:pt x="11" y="0"/>
                    </a:lnTo>
                    <a:lnTo>
                      <a:pt x="9" y="0"/>
                    </a:lnTo>
                    <a:lnTo>
                      <a:pt x="3" y="3"/>
                    </a:lnTo>
                    <a:lnTo>
                      <a:pt x="0" y="9"/>
                    </a:lnTo>
                    <a:lnTo>
                      <a:pt x="0" y="12"/>
                    </a:lnTo>
                    <a:lnTo>
                      <a:pt x="3" y="15"/>
                    </a:lnTo>
                    <a:lnTo>
                      <a:pt x="9" y="18"/>
                    </a:lnTo>
                    <a:lnTo>
                      <a:pt x="11" y="17"/>
                    </a:lnTo>
                    <a:lnTo>
                      <a:pt x="11" y="15"/>
                    </a:lnTo>
                    <a:lnTo>
                      <a:pt x="13" y="15"/>
                    </a:lnTo>
                    <a:lnTo>
                      <a:pt x="15"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80" name="Freeform 2348">
                <a:extLst>
                  <a:ext uri="{FF2B5EF4-FFF2-40B4-BE49-F238E27FC236}">
                    <a16:creationId xmlns:a16="http://schemas.microsoft.com/office/drawing/2014/main" id="{7FC06076-EE38-660F-9849-D99478E34FF9}"/>
                  </a:ext>
                </a:extLst>
              </p:cNvPr>
              <p:cNvSpPr>
                <a:spLocks/>
              </p:cNvSpPr>
              <p:nvPr/>
            </p:nvSpPr>
            <p:spPr bwMode="auto">
              <a:xfrm>
                <a:off x="1001" y="3887"/>
                <a:ext cx="4" cy="4"/>
              </a:xfrm>
              <a:custGeom>
                <a:avLst/>
                <a:gdLst>
                  <a:gd name="T0" fmla="*/ 9 w 18"/>
                  <a:gd name="T1" fmla="*/ 0 h 16"/>
                  <a:gd name="T2" fmla="*/ 3 w 18"/>
                  <a:gd name="T3" fmla="*/ 2 h 16"/>
                  <a:gd name="T4" fmla="*/ 0 w 18"/>
                  <a:gd name="T5" fmla="*/ 8 h 16"/>
                  <a:gd name="T6" fmla="*/ 3 w 18"/>
                  <a:gd name="T7" fmla="*/ 13 h 16"/>
                  <a:gd name="T8" fmla="*/ 9 w 18"/>
                  <a:gd name="T9" fmla="*/ 16 h 16"/>
                  <a:gd name="T10" fmla="*/ 11 w 18"/>
                  <a:gd name="T11" fmla="*/ 14 h 16"/>
                  <a:gd name="T12" fmla="*/ 11 w 18"/>
                  <a:gd name="T13" fmla="*/ 13 h 16"/>
                  <a:gd name="T14" fmla="*/ 13 w 18"/>
                  <a:gd name="T15" fmla="*/ 13 h 16"/>
                  <a:gd name="T16" fmla="*/ 15 w 18"/>
                  <a:gd name="T17" fmla="*/ 13 h 16"/>
                  <a:gd name="T18" fmla="*/ 18 w 18"/>
                  <a:gd name="T19" fmla="*/ 8 h 16"/>
                  <a:gd name="T20" fmla="*/ 15 w 18"/>
                  <a:gd name="T21" fmla="*/ 2 h 16"/>
                  <a:gd name="T22" fmla="*/ 11 w 18"/>
                  <a:gd name="T23" fmla="*/ 0 h 16"/>
                  <a:gd name="T24" fmla="*/ 9 w 18"/>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9" y="0"/>
                    </a:moveTo>
                    <a:lnTo>
                      <a:pt x="3" y="2"/>
                    </a:lnTo>
                    <a:lnTo>
                      <a:pt x="0" y="8"/>
                    </a:lnTo>
                    <a:lnTo>
                      <a:pt x="3" y="13"/>
                    </a:lnTo>
                    <a:lnTo>
                      <a:pt x="9" y="16"/>
                    </a:lnTo>
                    <a:lnTo>
                      <a:pt x="11" y="14"/>
                    </a:lnTo>
                    <a:lnTo>
                      <a:pt x="11" y="13"/>
                    </a:lnTo>
                    <a:lnTo>
                      <a:pt x="13" y="13"/>
                    </a:lnTo>
                    <a:lnTo>
                      <a:pt x="15" y="13"/>
                    </a:lnTo>
                    <a:lnTo>
                      <a:pt x="18" y="8"/>
                    </a:lnTo>
                    <a:lnTo>
                      <a:pt x="15" y="2"/>
                    </a:lnTo>
                    <a:lnTo>
                      <a:pt x="11"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81" name="Freeform 2349">
                <a:extLst>
                  <a:ext uri="{FF2B5EF4-FFF2-40B4-BE49-F238E27FC236}">
                    <a16:creationId xmlns:a16="http://schemas.microsoft.com/office/drawing/2014/main" id="{03B9BFC4-C968-4050-16CB-B7451603C653}"/>
                  </a:ext>
                </a:extLst>
              </p:cNvPr>
              <p:cNvSpPr>
                <a:spLocks/>
              </p:cNvSpPr>
              <p:nvPr/>
            </p:nvSpPr>
            <p:spPr bwMode="auto">
              <a:xfrm>
                <a:off x="1001" y="3893"/>
                <a:ext cx="4" cy="4"/>
              </a:xfrm>
              <a:custGeom>
                <a:avLst/>
                <a:gdLst>
                  <a:gd name="T0" fmla="*/ 9 w 18"/>
                  <a:gd name="T1" fmla="*/ 0 h 18"/>
                  <a:gd name="T2" fmla="*/ 3 w 18"/>
                  <a:gd name="T3" fmla="*/ 3 h 18"/>
                  <a:gd name="T4" fmla="*/ 0 w 18"/>
                  <a:gd name="T5" fmla="*/ 9 h 18"/>
                  <a:gd name="T6" fmla="*/ 0 w 18"/>
                  <a:gd name="T7" fmla="*/ 12 h 18"/>
                  <a:gd name="T8" fmla="*/ 3 w 18"/>
                  <a:gd name="T9" fmla="*/ 15 h 18"/>
                  <a:gd name="T10" fmla="*/ 9 w 18"/>
                  <a:gd name="T11" fmla="*/ 18 h 18"/>
                  <a:gd name="T12" fmla="*/ 11 w 18"/>
                  <a:gd name="T13" fmla="*/ 17 h 18"/>
                  <a:gd name="T14" fmla="*/ 11 w 18"/>
                  <a:gd name="T15" fmla="*/ 15 h 18"/>
                  <a:gd name="T16" fmla="*/ 13 w 18"/>
                  <a:gd name="T17" fmla="*/ 15 h 18"/>
                  <a:gd name="T18" fmla="*/ 15 w 18"/>
                  <a:gd name="T19" fmla="*/ 15 h 18"/>
                  <a:gd name="T20" fmla="*/ 15 w 18"/>
                  <a:gd name="T21" fmla="*/ 13 h 18"/>
                  <a:gd name="T22" fmla="*/ 15 w 18"/>
                  <a:gd name="T23" fmla="*/ 12 h 18"/>
                  <a:gd name="T24" fmla="*/ 16 w 18"/>
                  <a:gd name="T25" fmla="*/ 12 h 18"/>
                  <a:gd name="T26" fmla="*/ 18 w 18"/>
                  <a:gd name="T27" fmla="*/ 9 h 18"/>
                  <a:gd name="T28" fmla="*/ 15 w 18"/>
                  <a:gd name="T29" fmla="*/ 3 h 18"/>
                  <a:gd name="T30" fmla="*/ 11 w 18"/>
                  <a:gd name="T31" fmla="*/ 0 h 18"/>
                  <a:gd name="T32" fmla="*/ 9 w 18"/>
                  <a:gd name="T3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8">
                    <a:moveTo>
                      <a:pt x="9" y="0"/>
                    </a:moveTo>
                    <a:lnTo>
                      <a:pt x="3" y="3"/>
                    </a:lnTo>
                    <a:lnTo>
                      <a:pt x="0" y="9"/>
                    </a:lnTo>
                    <a:lnTo>
                      <a:pt x="0" y="12"/>
                    </a:lnTo>
                    <a:lnTo>
                      <a:pt x="3" y="15"/>
                    </a:lnTo>
                    <a:lnTo>
                      <a:pt x="9" y="18"/>
                    </a:lnTo>
                    <a:lnTo>
                      <a:pt x="11" y="17"/>
                    </a:lnTo>
                    <a:lnTo>
                      <a:pt x="11" y="15"/>
                    </a:lnTo>
                    <a:lnTo>
                      <a:pt x="13" y="15"/>
                    </a:lnTo>
                    <a:lnTo>
                      <a:pt x="15" y="15"/>
                    </a:lnTo>
                    <a:lnTo>
                      <a:pt x="15" y="13"/>
                    </a:lnTo>
                    <a:lnTo>
                      <a:pt x="15" y="12"/>
                    </a:lnTo>
                    <a:lnTo>
                      <a:pt x="16" y="12"/>
                    </a:lnTo>
                    <a:lnTo>
                      <a:pt x="18" y="9"/>
                    </a:lnTo>
                    <a:lnTo>
                      <a:pt x="15" y="3"/>
                    </a:lnTo>
                    <a:lnTo>
                      <a:pt x="11"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82" name="Freeform 2350">
                <a:extLst>
                  <a:ext uri="{FF2B5EF4-FFF2-40B4-BE49-F238E27FC236}">
                    <a16:creationId xmlns:a16="http://schemas.microsoft.com/office/drawing/2014/main" id="{1D615EE6-EC3E-630A-CAEA-DE2B54282DC7}"/>
                  </a:ext>
                </a:extLst>
              </p:cNvPr>
              <p:cNvSpPr>
                <a:spLocks/>
              </p:cNvSpPr>
              <p:nvPr/>
            </p:nvSpPr>
            <p:spPr bwMode="auto">
              <a:xfrm>
                <a:off x="1008" y="3893"/>
                <a:ext cx="4" cy="4"/>
              </a:xfrm>
              <a:custGeom>
                <a:avLst/>
                <a:gdLst>
                  <a:gd name="T0" fmla="*/ 9 w 17"/>
                  <a:gd name="T1" fmla="*/ 0 h 18"/>
                  <a:gd name="T2" fmla="*/ 3 w 17"/>
                  <a:gd name="T3" fmla="*/ 3 h 18"/>
                  <a:gd name="T4" fmla="*/ 0 w 17"/>
                  <a:gd name="T5" fmla="*/ 9 h 18"/>
                  <a:gd name="T6" fmla="*/ 0 w 17"/>
                  <a:gd name="T7" fmla="*/ 12 h 18"/>
                  <a:gd name="T8" fmla="*/ 3 w 17"/>
                  <a:gd name="T9" fmla="*/ 15 h 18"/>
                  <a:gd name="T10" fmla="*/ 9 w 17"/>
                  <a:gd name="T11" fmla="*/ 18 h 18"/>
                  <a:gd name="T12" fmla="*/ 14 w 17"/>
                  <a:gd name="T13" fmla="*/ 15 h 18"/>
                  <a:gd name="T14" fmla="*/ 14 w 17"/>
                  <a:gd name="T15" fmla="*/ 13 h 18"/>
                  <a:gd name="T16" fmla="*/ 14 w 17"/>
                  <a:gd name="T17" fmla="*/ 12 h 18"/>
                  <a:gd name="T18" fmla="*/ 15 w 17"/>
                  <a:gd name="T19" fmla="*/ 12 h 18"/>
                  <a:gd name="T20" fmla="*/ 17 w 17"/>
                  <a:gd name="T21" fmla="*/ 9 h 18"/>
                  <a:gd name="T22" fmla="*/ 14 w 17"/>
                  <a:gd name="T23" fmla="*/ 3 h 18"/>
                  <a:gd name="T24" fmla="*/ 9 w 17"/>
                  <a:gd name="T25"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8">
                    <a:moveTo>
                      <a:pt x="9" y="0"/>
                    </a:moveTo>
                    <a:lnTo>
                      <a:pt x="3" y="3"/>
                    </a:lnTo>
                    <a:lnTo>
                      <a:pt x="0" y="9"/>
                    </a:lnTo>
                    <a:lnTo>
                      <a:pt x="0" y="12"/>
                    </a:lnTo>
                    <a:lnTo>
                      <a:pt x="3" y="15"/>
                    </a:lnTo>
                    <a:lnTo>
                      <a:pt x="9" y="18"/>
                    </a:lnTo>
                    <a:lnTo>
                      <a:pt x="14" y="15"/>
                    </a:lnTo>
                    <a:lnTo>
                      <a:pt x="14" y="13"/>
                    </a:lnTo>
                    <a:lnTo>
                      <a:pt x="14" y="12"/>
                    </a:lnTo>
                    <a:lnTo>
                      <a:pt x="15" y="12"/>
                    </a:lnTo>
                    <a:lnTo>
                      <a:pt x="17" y="9"/>
                    </a:lnTo>
                    <a:lnTo>
                      <a:pt x="14" y="3"/>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83" name="Freeform 2351">
                <a:extLst>
                  <a:ext uri="{FF2B5EF4-FFF2-40B4-BE49-F238E27FC236}">
                    <a16:creationId xmlns:a16="http://schemas.microsoft.com/office/drawing/2014/main" id="{C1226AAE-DC47-142A-6650-1FF78CC38E06}"/>
                  </a:ext>
                </a:extLst>
              </p:cNvPr>
              <p:cNvSpPr>
                <a:spLocks/>
              </p:cNvSpPr>
              <p:nvPr/>
            </p:nvSpPr>
            <p:spPr bwMode="auto">
              <a:xfrm>
                <a:off x="1008" y="3900"/>
                <a:ext cx="4" cy="4"/>
              </a:xfrm>
              <a:custGeom>
                <a:avLst/>
                <a:gdLst>
                  <a:gd name="T0" fmla="*/ 14 w 17"/>
                  <a:gd name="T1" fmla="*/ 2 h 16"/>
                  <a:gd name="T2" fmla="*/ 9 w 17"/>
                  <a:gd name="T3" fmla="*/ 0 h 16"/>
                  <a:gd name="T4" fmla="*/ 3 w 17"/>
                  <a:gd name="T5" fmla="*/ 2 h 16"/>
                  <a:gd name="T6" fmla="*/ 0 w 17"/>
                  <a:gd name="T7" fmla="*/ 8 h 16"/>
                  <a:gd name="T8" fmla="*/ 3 w 17"/>
                  <a:gd name="T9" fmla="*/ 13 h 16"/>
                  <a:gd name="T10" fmla="*/ 9 w 17"/>
                  <a:gd name="T11" fmla="*/ 16 h 16"/>
                  <a:gd name="T12" fmla="*/ 14 w 17"/>
                  <a:gd name="T13" fmla="*/ 13 h 16"/>
                  <a:gd name="T14" fmla="*/ 17 w 17"/>
                  <a:gd name="T15" fmla="*/ 8 h 16"/>
                  <a:gd name="T16" fmla="*/ 14 w 17"/>
                  <a:gd name="T17"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4" y="2"/>
                    </a:moveTo>
                    <a:lnTo>
                      <a:pt x="9" y="0"/>
                    </a:lnTo>
                    <a:lnTo>
                      <a:pt x="3" y="2"/>
                    </a:lnTo>
                    <a:lnTo>
                      <a:pt x="0" y="8"/>
                    </a:lnTo>
                    <a:lnTo>
                      <a:pt x="3" y="13"/>
                    </a:lnTo>
                    <a:lnTo>
                      <a:pt x="9" y="16"/>
                    </a:lnTo>
                    <a:lnTo>
                      <a:pt x="14" y="13"/>
                    </a:lnTo>
                    <a:lnTo>
                      <a:pt x="17" y="8"/>
                    </a:lnTo>
                    <a:lnTo>
                      <a:pt x="14"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84" name="Freeform 2352">
                <a:extLst>
                  <a:ext uri="{FF2B5EF4-FFF2-40B4-BE49-F238E27FC236}">
                    <a16:creationId xmlns:a16="http://schemas.microsoft.com/office/drawing/2014/main" id="{00ABE224-5649-BD7B-4D75-F26AAF6D4809}"/>
                  </a:ext>
                </a:extLst>
              </p:cNvPr>
              <p:cNvSpPr>
                <a:spLocks/>
              </p:cNvSpPr>
              <p:nvPr/>
            </p:nvSpPr>
            <p:spPr bwMode="auto">
              <a:xfrm>
                <a:off x="1014" y="3900"/>
                <a:ext cx="4" cy="4"/>
              </a:xfrm>
              <a:custGeom>
                <a:avLst/>
                <a:gdLst>
                  <a:gd name="T0" fmla="*/ 1 w 16"/>
                  <a:gd name="T1" fmla="*/ 2 h 16"/>
                  <a:gd name="T2" fmla="*/ 0 w 16"/>
                  <a:gd name="T3" fmla="*/ 8 h 16"/>
                  <a:gd name="T4" fmla="*/ 1 w 16"/>
                  <a:gd name="T5" fmla="*/ 13 h 16"/>
                  <a:gd name="T6" fmla="*/ 7 w 16"/>
                  <a:gd name="T7" fmla="*/ 16 h 16"/>
                  <a:gd name="T8" fmla="*/ 9 w 16"/>
                  <a:gd name="T9" fmla="*/ 14 h 16"/>
                  <a:gd name="T10" fmla="*/ 9 w 16"/>
                  <a:gd name="T11" fmla="*/ 13 h 16"/>
                  <a:gd name="T12" fmla="*/ 11 w 16"/>
                  <a:gd name="T13" fmla="*/ 13 h 16"/>
                  <a:gd name="T14" fmla="*/ 13 w 16"/>
                  <a:gd name="T15" fmla="*/ 13 h 16"/>
                  <a:gd name="T16" fmla="*/ 16 w 16"/>
                  <a:gd name="T17" fmla="*/ 8 h 16"/>
                  <a:gd name="T18" fmla="*/ 13 w 16"/>
                  <a:gd name="T19" fmla="*/ 2 h 16"/>
                  <a:gd name="T20" fmla="*/ 9 w 16"/>
                  <a:gd name="T21" fmla="*/ 0 h 16"/>
                  <a:gd name="T22" fmla="*/ 7 w 16"/>
                  <a:gd name="T23" fmla="*/ 0 h 16"/>
                  <a:gd name="T24" fmla="*/ 1 w 16"/>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6">
                    <a:moveTo>
                      <a:pt x="1" y="2"/>
                    </a:moveTo>
                    <a:lnTo>
                      <a:pt x="0" y="8"/>
                    </a:lnTo>
                    <a:lnTo>
                      <a:pt x="1" y="13"/>
                    </a:lnTo>
                    <a:lnTo>
                      <a:pt x="7" y="16"/>
                    </a:lnTo>
                    <a:lnTo>
                      <a:pt x="9" y="14"/>
                    </a:lnTo>
                    <a:lnTo>
                      <a:pt x="9" y="13"/>
                    </a:lnTo>
                    <a:lnTo>
                      <a:pt x="11" y="13"/>
                    </a:lnTo>
                    <a:lnTo>
                      <a:pt x="13" y="13"/>
                    </a:lnTo>
                    <a:lnTo>
                      <a:pt x="16" y="8"/>
                    </a:lnTo>
                    <a:lnTo>
                      <a:pt x="13" y="2"/>
                    </a:lnTo>
                    <a:lnTo>
                      <a:pt x="9" y="0"/>
                    </a:lnTo>
                    <a:lnTo>
                      <a:pt x="7" y="0"/>
                    </a:lnTo>
                    <a:lnTo>
                      <a:pt x="1"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85" name="Freeform 2353">
                <a:extLst>
                  <a:ext uri="{FF2B5EF4-FFF2-40B4-BE49-F238E27FC236}">
                    <a16:creationId xmlns:a16="http://schemas.microsoft.com/office/drawing/2014/main" id="{E309552F-E6D7-4927-C045-501B49C47B47}"/>
                  </a:ext>
                </a:extLst>
              </p:cNvPr>
              <p:cNvSpPr>
                <a:spLocks/>
              </p:cNvSpPr>
              <p:nvPr/>
            </p:nvSpPr>
            <p:spPr bwMode="auto">
              <a:xfrm>
                <a:off x="1001" y="3900"/>
                <a:ext cx="4" cy="4"/>
              </a:xfrm>
              <a:custGeom>
                <a:avLst/>
                <a:gdLst>
                  <a:gd name="T0" fmla="*/ 18 w 18"/>
                  <a:gd name="T1" fmla="*/ 8 h 16"/>
                  <a:gd name="T2" fmla="*/ 15 w 18"/>
                  <a:gd name="T3" fmla="*/ 2 h 16"/>
                  <a:gd name="T4" fmla="*/ 11 w 18"/>
                  <a:gd name="T5" fmla="*/ 0 h 16"/>
                  <a:gd name="T6" fmla="*/ 9 w 18"/>
                  <a:gd name="T7" fmla="*/ 0 h 16"/>
                  <a:gd name="T8" fmla="*/ 3 w 18"/>
                  <a:gd name="T9" fmla="*/ 2 h 16"/>
                  <a:gd name="T10" fmla="*/ 0 w 18"/>
                  <a:gd name="T11" fmla="*/ 8 h 16"/>
                  <a:gd name="T12" fmla="*/ 3 w 18"/>
                  <a:gd name="T13" fmla="*/ 13 h 16"/>
                  <a:gd name="T14" fmla="*/ 9 w 18"/>
                  <a:gd name="T15" fmla="*/ 16 h 16"/>
                  <a:gd name="T16" fmla="*/ 11 w 18"/>
                  <a:gd name="T17" fmla="*/ 14 h 16"/>
                  <a:gd name="T18" fmla="*/ 11 w 18"/>
                  <a:gd name="T19" fmla="*/ 13 h 16"/>
                  <a:gd name="T20" fmla="*/ 13 w 18"/>
                  <a:gd name="T21" fmla="*/ 13 h 16"/>
                  <a:gd name="T22" fmla="*/ 15 w 18"/>
                  <a:gd name="T23" fmla="*/ 13 h 16"/>
                  <a:gd name="T24" fmla="*/ 18 w 18"/>
                  <a:gd name="T25"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18" y="8"/>
                    </a:moveTo>
                    <a:lnTo>
                      <a:pt x="15" y="2"/>
                    </a:lnTo>
                    <a:lnTo>
                      <a:pt x="11" y="0"/>
                    </a:lnTo>
                    <a:lnTo>
                      <a:pt x="9" y="0"/>
                    </a:lnTo>
                    <a:lnTo>
                      <a:pt x="3" y="2"/>
                    </a:lnTo>
                    <a:lnTo>
                      <a:pt x="0" y="8"/>
                    </a:lnTo>
                    <a:lnTo>
                      <a:pt x="3" y="13"/>
                    </a:lnTo>
                    <a:lnTo>
                      <a:pt x="9" y="16"/>
                    </a:lnTo>
                    <a:lnTo>
                      <a:pt x="11" y="14"/>
                    </a:lnTo>
                    <a:lnTo>
                      <a:pt x="11" y="13"/>
                    </a:lnTo>
                    <a:lnTo>
                      <a:pt x="13" y="13"/>
                    </a:lnTo>
                    <a:lnTo>
                      <a:pt x="15" y="13"/>
                    </a:lnTo>
                    <a:lnTo>
                      <a:pt x="18" y="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86" name="Freeform 2354">
                <a:extLst>
                  <a:ext uri="{FF2B5EF4-FFF2-40B4-BE49-F238E27FC236}">
                    <a16:creationId xmlns:a16="http://schemas.microsoft.com/office/drawing/2014/main" id="{0A07E2FE-C72F-83DA-D798-BF8F9950B226}"/>
                  </a:ext>
                </a:extLst>
              </p:cNvPr>
              <p:cNvSpPr>
                <a:spLocks/>
              </p:cNvSpPr>
              <p:nvPr/>
            </p:nvSpPr>
            <p:spPr bwMode="auto">
              <a:xfrm>
                <a:off x="995" y="3900"/>
                <a:ext cx="4" cy="4"/>
              </a:xfrm>
              <a:custGeom>
                <a:avLst/>
                <a:gdLst>
                  <a:gd name="T0" fmla="*/ 3 w 17"/>
                  <a:gd name="T1" fmla="*/ 2 h 16"/>
                  <a:gd name="T2" fmla="*/ 0 w 17"/>
                  <a:gd name="T3" fmla="*/ 8 h 16"/>
                  <a:gd name="T4" fmla="*/ 3 w 17"/>
                  <a:gd name="T5" fmla="*/ 13 h 16"/>
                  <a:gd name="T6" fmla="*/ 8 w 17"/>
                  <a:gd name="T7" fmla="*/ 16 h 16"/>
                  <a:gd name="T8" fmla="*/ 10 w 17"/>
                  <a:gd name="T9" fmla="*/ 14 h 16"/>
                  <a:gd name="T10" fmla="*/ 10 w 17"/>
                  <a:gd name="T11" fmla="*/ 13 h 16"/>
                  <a:gd name="T12" fmla="*/ 12 w 17"/>
                  <a:gd name="T13" fmla="*/ 13 h 16"/>
                  <a:gd name="T14" fmla="*/ 14 w 17"/>
                  <a:gd name="T15" fmla="*/ 13 h 16"/>
                  <a:gd name="T16" fmla="*/ 17 w 17"/>
                  <a:gd name="T17" fmla="*/ 8 h 16"/>
                  <a:gd name="T18" fmla="*/ 14 w 17"/>
                  <a:gd name="T19" fmla="*/ 2 h 16"/>
                  <a:gd name="T20" fmla="*/ 10 w 17"/>
                  <a:gd name="T21" fmla="*/ 0 h 16"/>
                  <a:gd name="T22" fmla="*/ 8 w 17"/>
                  <a:gd name="T23" fmla="*/ 0 h 16"/>
                  <a:gd name="T24" fmla="*/ 3 w 17"/>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3" y="2"/>
                    </a:moveTo>
                    <a:lnTo>
                      <a:pt x="0" y="8"/>
                    </a:lnTo>
                    <a:lnTo>
                      <a:pt x="3" y="13"/>
                    </a:lnTo>
                    <a:lnTo>
                      <a:pt x="8" y="16"/>
                    </a:lnTo>
                    <a:lnTo>
                      <a:pt x="10" y="14"/>
                    </a:lnTo>
                    <a:lnTo>
                      <a:pt x="10" y="13"/>
                    </a:lnTo>
                    <a:lnTo>
                      <a:pt x="12" y="13"/>
                    </a:lnTo>
                    <a:lnTo>
                      <a:pt x="14" y="13"/>
                    </a:lnTo>
                    <a:lnTo>
                      <a:pt x="17" y="8"/>
                    </a:lnTo>
                    <a:lnTo>
                      <a:pt x="14" y="2"/>
                    </a:lnTo>
                    <a:lnTo>
                      <a:pt x="10" y="0"/>
                    </a:lnTo>
                    <a:lnTo>
                      <a:pt x="8" y="0"/>
                    </a:lnTo>
                    <a:lnTo>
                      <a:pt x="3"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87" name="Freeform 2355">
                <a:extLst>
                  <a:ext uri="{FF2B5EF4-FFF2-40B4-BE49-F238E27FC236}">
                    <a16:creationId xmlns:a16="http://schemas.microsoft.com/office/drawing/2014/main" id="{A2F1AAED-2C34-8E23-3752-4E2524EAAA05}"/>
                  </a:ext>
                </a:extLst>
              </p:cNvPr>
              <p:cNvSpPr>
                <a:spLocks/>
              </p:cNvSpPr>
              <p:nvPr/>
            </p:nvSpPr>
            <p:spPr bwMode="auto">
              <a:xfrm>
                <a:off x="988" y="3900"/>
                <a:ext cx="5" cy="4"/>
              </a:xfrm>
              <a:custGeom>
                <a:avLst/>
                <a:gdLst>
                  <a:gd name="T0" fmla="*/ 15 w 18"/>
                  <a:gd name="T1" fmla="*/ 2 h 16"/>
                  <a:gd name="T2" fmla="*/ 12 w 18"/>
                  <a:gd name="T3" fmla="*/ 0 h 16"/>
                  <a:gd name="T4" fmla="*/ 9 w 18"/>
                  <a:gd name="T5" fmla="*/ 0 h 16"/>
                  <a:gd name="T6" fmla="*/ 3 w 18"/>
                  <a:gd name="T7" fmla="*/ 2 h 16"/>
                  <a:gd name="T8" fmla="*/ 0 w 18"/>
                  <a:gd name="T9" fmla="*/ 8 h 16"/>
                  <a:gd name="T10" fmla="*/ 3 w 18"/>
                  <a:gd name="T11" fmla="*/ 13 h 16"/>
                  <a:gd name="T12" fmla="*/ 9 w 18"/>
                  <a:gd name="T13" fmla="*/ 16 h 16"/>
                  <a:gd name="T14" fmla="*/ 12 w 18"/>
                  <a:gd name="T15" fmla="*/ 14 h 16"/>
                  <a:gd name="T16" fmla="*/ 12 w 18"/>
                  <a:gd name="T17" fmla="*/ 13 h 16"/>
                  <a:gd name="T18" fmla="*/ 13 w 18"/>
                  <a:gd name="T19" fmla="*/ 13 h 16"/>
                  <a:gd name="T20" fmla="*/ 15 w 18"/>
                  <a:gd name="T21" fmla="*/ 13 h 16"/>
                  <a:gd name="T22" fmla="*/ 18 w 18"/>
                  <a:gd name="T23" fmla="*/ 8 h 16"/>
                  <a:gd name="T24" fmla="*/ 15 w 18"/>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15" y="2"/>
                    </a:moveTo>
                    <a:lnTo>
                      <a:pt x="12" y="0"/>
                    </a:lnTo>
                    <a:lnTo>
                      <a:pt x="9" y="0"/>
                    </a:lnTo>
                    <a:lnTo>
                      <a:pt x="3" y="2"/>
                    </a:lnTo>
                    <a:lnTo>
                      <a:pt x="0" y="8"/>
                    </a:lnTo>
                    <a:lnTo>
                      <a:pt x="3" y="13"/>
                    </a:lnTo>
                    <a:lnTo>
                      <a:pt x="9" y="16"/>
                    </a:lnTo>
                    <a:lnTo>
                      <a:pt x="12" y="14"/>
                    </a:lnTo>
                    <a:lnTo>
                      <a:pt x="12" y="13"/>
                    </a:lnTo>
                    <a:lnTo>
                      <a:pt x="13" y="13"/>
                    </a:lnTo>
                    <a:lnTo>
                      <a:pt x="15" y="13"/>
                    </a:lnTo>
                    <a:lnTo>
                      <a:pt x="18" y="8"/>
                    </a:lnTo>
                    <a:lnTo>
                      <a:pt x="15"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88" name="Freeform 2356">
                <a:extLst>
                  <a:ext uri="{FF2B5EF4-FFF2-40B4-BE49-F238E27FC236}">
                    <a16:creationId xmlns:a16="http://schemas.microsoft.com/office/drawing/2014/main" id="{C89BEA93-01DA-A79F-1C7A-981906AD48BA}"/>
                  </a:ext>
                </a:extLst>
              </p:cNvPr>
              <p:cNvSpPr>
                <a:spLocks/>
              </p:cNvSpPr>
              <p:nvPr/>
            </p:nvSpPr>
            <p:spPr bwMode="auto">
              <a:xfrm>
                <a:off x="1033" y="3900"/>
                <a:ext cx="4" cy="4"/>
              </a:xfrm>
              <a:custGeom>
                <a:avLst/>
                <a:gdLst>
                  <a:gd name="T0" fmla="*/ 16 w 16"/>
                  <a:gd name="T1" fmla="*/ 8 h 16"/>
                  <a:gd name="T2" fmla="*/ 14 w 16"/>
                  <a:gd name="T3" fmla="*/ 2 h 16"/>
                  <a:gd name="T4" fmla="*/ 9 w 16"/>
                  <a:gd name="T5" fmla="*/ 0 h 16"/>
                  <a:gd name="T6" fmla="*/ 3 w 16"/>
                  <a:gd name="T7" fmla="*/ 2 h 16"/>
                  <a:gd name="T8" fmla="*/ 0 w 16"/>
                  <a:gd name="T9" fmla="*/ 8 h 16"/>
                  <a:gd name="T10" fmla="*/ 3 w 16"/>
                  <a:gd name="T11" fmla="*/ 13 h 16"/>
                  <a:gd name="T12" fmla="*/ 9 w 16"/>
                  <a:gd name="T13" fmla="*/ 16 h 16"/>
                  <a:gd name="T14" fmla="*/ 14 w 16"/>
                  <a:gd name="T15" fmla="*/ 13 h 16"/>
                  <a:gd name="T16" fmla="*/ 16 w 16"/>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8"/>
                    </a:moveTo>
                    <a:lnTo>
                      <a:pt x="14" y="2"/>
                    </a:lnTo>
                    <a:lnTo>
                      <a:pt x="9" y="0"/>
                    </a:lnTo>
                    <a:lnTo>
                      <a:pt x="3" y="2"/>
                    </a:lnTo>
                    <a:lnTo>
                      <a:pt x="0" y="8"/>
                    </a:lnTo>
                    <a:lnTo>
                      <a:pt x="3" y="13"/>
                    </a:lnTo>
                    <a:lnTo>
                      <a:pt x="9" y="16"/>
                    </a:lnTo>
                    <a:lnTo>
                      <a:pt x="14" y="13"/>
                    </a:lnTo>
                    <a:lnTo>
                      <a:pt x="16" y="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89" name="Freeform 2357">
                <a:extLst>
                  <a:ext uri="{FF2B5EF4-FFF2-40B4-BE49-F238E27FC236}">
                    <a16:creationId xmlns:a16="http://schemas.microsoft.com/office/drawing/2014/main" id="{C580D09C-B72D-04A1-FDED-7A0AA0A65832}"/>
                  </a:ext>
                </a:extLst>
              </p:cNvPr>
              <p:cNvSpPr>
                <a:spLocks/>
              </p:cNvSpPr>
              <p:nvPr/>
            </p:nvSpPr>
            <p:spPr bwMode="auto">
              <a:xfrm>
                <a:off x="1020" y="3900"/>
                <a:ext cx="4" cy="4"/>
              </a:xfrm>
              <a:custGeom>
                <a:avLst/>
                <a:gdLst>
                  <a:gd name="T0" fmla="*/ 17 w 17"/>
                  <a:gd name="T1" fmla="*/ 8 h 16"/>
                  <a:gd name="T2" fmla="*/ 14 w 17"/>
                  <a:gd name="T3" fmla="*/ 2 h 16"/>
                  <a:gd name="T4" fmla="*/ 9 w 17"/>
                  <a:gd name="T5" fmla="*/ 0 h 16"/>
                  <a:gd name="T6" fmla="*/ 3 w 17"/>
                  <a:gd name="T7" fmla="*/ 2 h 16"/>
                  <a:gd name="T8" fmla="*/ 0 w 17"/>
                  <a:gd name="T9" fmla="*/ 8 h 16"/>
                  <a:gd name="T10" fmla="*/ 3 w 17"/>
                  <a:gd name="T11" fmla="*/ 13 h 16"/>
                  <a:gd name="T12" fmla="*/ 9 w 17"/>
                  <a:gd name="T13" fmla="*/ 16 h 16"/>
                  <a:gd name="T14" fmla="*/ 14 w 17"/>
                  <a:gd name="T15" fmla="*/ 13 h 16"/>
                  <a:gd name="T16" fmla="*/ 17 w 17"/>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7" y="8"/>
                    </a:moveTo>
                    <a:lnTo>
                      <a:pt x="14" y="2"/>
                    </a:lnTo>
                    <a:lnTo>
                      <a:pt x="9" y="0"/>
                    </a:lnTo>
                    <a:lnTo>
                      <a:pt x="3" y="2"/>
                    </a:lnTo>
                    <a:lnTo>
                      <a:pt x="0" y="8"/>
                    </a:lnTo>
                    <a:lnTo>
                      <a:pt x="3" y="13"/>
                    </a:lnTo>
                    <a:lnTo>
                      <a:pt x="9" y="16"/>
                    </a:lnTo>
                    <a:lnTo>
                      <a:pt x="14" y="13"/>
                    </a:lnTo>
                    <a:lnTo>
                      <a:pt x="17" y="8"/>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90" name="Freeform 2358">
                <a:extLst>
                  <a:ext uri="{FF2B5EF4-FFF2-40B4-BE49-F238E27FC236}">
                    <a16:creationId xmlns:a16="http://schemas.microsoft.com/office/drawing/2014/main" id="{85FAB195-7CA3-48D8-2BF5-7DA30BEC9C46}"/>
                  </a:ext>
                </a:extLst>
              </p:cNvPr>
              <p:cNvSpPr>
                <a:spLocks/>
              </p:cNvSpPr>
              <p:nvPr/>
            </p:nvSpPr>
            <p:spPr bwMode="auto">
              <a:xfrm>
                <a:off x="1027" y="3900"/>
                <a:ext cx="4" cy="4"/>
              </a:xfrm>
              <a:custGeom>
                <a:avLst/>
                <a:gdLst>
                  <a:gd name="T0" fmla="*/ 14 w 17"/>
                  <a:gd name="T1" fmla="*/ 2 h 16"/>
                  <a:gd name="T2" fmla="*/ 10 w 17"/>
                  <a:gd name="T3" fmla="*/ 0 h 16"/>
                  <a:gd name="T4" fmla="*/ 8 w 17"/>
                  <a:gd name="T5" fmla="*/ 0 h 16"/>
                  <a:gd name="T6" fmla="*/ 2 w 17"/>
                  <a:gd name="T7" fmla="*/ 2 h 16"/>
                  <a:gd name="T8" fmla="*/ 0 w 17"/>
                  <a:gd name="T9" fmla="*/ 8 h 16"/>
                  <a:gd name="T10" fmla="*/ 2 w 17"/>
                  <a:gd name="T11" fmla="*/ 13 h 16"/>
                  <a:gd name="T12" fmla="*/ 8 w 17"/>
                  <a:gd name="T13" fmla="*/ 16 h 16"/>
                  <a:gd name="T14" fmla="*/ 10 w 17"/>
                  <a:gd name="T15" fmla="*/ 14 h 16"/>
                  <a:gd name="T16" fmla="*/ 10 w 17"/>
                  <a:gd name="T17" fmla="*/ 13 h 16"/>
                  <a:gd name="T18" fmla="*/ 12 w 17"/>
                  <a:gd name="T19" fmla="*/ 13 h 16"/>
                  <a:gd name="T20" fmla="*/ 14 w 17"/>
                  <a:gd name="T21" fmla="*/ 13 h 16"/>
                  <a:gd name="T22" fmla="*/ 17 w 17"/>
                  <a:gd name="T23" fmla="*/ 8 h 16"/>
                  <a:gd name="T24" fmla="*/ 14 w 17"/>
                  <a:gd name="T25"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14" y="2"/>
                    </a:moveTo>
                    <a:lnTo>
                      <a:pt x="10" y="0"/>
                    </a:lnTo>
                    <a:lnTo>
                      <a:pt x="8" y="0"/>
                    </a:lnTo>
                    <a:lnTo>
                      <a:pt x="2" y="2"/>
                    </a:lnTo>
                    <a:lnTo>
                      <a:pt x="0" y="8"/>
                    </a:lnTo>
                    <a:lnTo>
                      <a:pt x="2" y="13"/>
                    </a:lnTo>
                    <a:lnTo>
                      <a:pt x="8" y="16"/>
                    </a:lnTo>
                    <a:lnTo>
                      <a:pt x="10" y="14"/>
                    </a:lnTo>
                    <a:lnTo>
                      <a:pt x="10" y="13"/>
                    </a:lnTo>
                    <a:lnTo>
                      <a:pt x="12" y="13"/>
                    </a:lnTo>
                    <a:lnTo>
                      <a:pt x="14" y="13"/>
                    </a:lnTo>
                    <a:lnTo>
                      <a:pt x="17" y="8"/>
                    </a:lnTo>
                    <a:lnTo>
                      <a:pt x="14"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91" name="Freeform 2359">
                <a:extLst>
                  <a:ext uri="{FF2B5EF4-FFF2-40B4-BE49-F238E27FC236}">
                    <a16:creationId xmlns:a16="http://schemas.microsoft.com/office/drawing/2014/main" id="{A5FA590C-20E3-DF47-41D5-EC4AC4FC0FC5}"/>
                  </a:ext>
                </a:extLst>
              </p:cNvPr>
              <p:cNvSpPr>
                <a:spLocks/>
              </p:cNvSpPr>
              <p:nvPr/>
            </p:nvSpPr>
            <p:spPr bwMode="auto">
              <a:xfrm>
                <a:off x="1027" y="3856"/>
                <a:ext cx="4" cy="4"/>
              </a:xfrm>
              <a:custGeom>
                <a:avLst/>
                <a:gdLst>
                  <a:gd name="T0" fmla="*/ 14 w 17"/>
                  <a:gd name="T1" fmla="*/ 3 h 17"/>
                  <a:gd name="T2" fmla="*/ 10 w 17"/>
                  <a:gd name="T3" fmla="*/ 0 h 17"/>
                  <a:gd name="T4" fmla="*/ 8 w 17"/>
                  <a:gd name="T5" fmla="*/ 0 h 17"/>
                  <a:gd name="T6" fmla="*/ 2 w 17"/>
                  <a:gd name="T7" fmla="*/ 3 h 17"/>
                  <a:gd name="T8" fmla="*/ 0 w 17"/>
                  <a:gd name="T9" fmla="*/ 9 h 17"/>
                  <a:gd name="T10" fmla="*/ 2 w 17"/>
                  <a:gd name="T11" fmla="*/ 15 h 17"/>
                  <a:gd name="T12" fmla="*/ 8 w 17"/>
                  <a:gd name="T13" fmla="*/ 17 h 17"/>
                  <a:gd name="T14" fmla="*/ 10 w 17"/>
                  <a:gd name="T15" fmla="*/ 16 h 17"/>
                  <a:gd name="T16" fmla="*/ 10 w 17"/>
                  <a:gd name="T17" fmla="*/ 15 h 17"/>
                  <a:gd name="T18" fmla="*/ 12 w 17"/>
                  <a:gd name="T19" fmla="*/ 15 h 17"/>
                  <a:gd name="T20" fmla="*/ 14 w 17"/>
                  <a:gd name="T21" fmla="*/ 15 h 17"/>
                  <a:gd name="T22" fmla="*/ 14 w 17"/>
                  <a:gd name="T23" fmla="*/ 12 h 17"/>
                  <a:gd name="T24" fmla="*/ 14 w 17"/>
                  <a:gd name="T25" fmla="*/ 11 h 17"/>
                  <a:gd name="T26" fmla="*/ 15 w 17"/>
                  <a:gd name="T27" fmla="*/ 11 h 17"/>
                  <a:gd name="T28" fmla="*/ 17 w 17"/>
                  <a:gd name="T29" fmla="*/ 9 h 17"/>
                  <a:gd name="T30" fmla="*/ 14 w 17"/>
                  <a:gd name="T31"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7">
                    <a:moveTo>
                      <a:pt x="14" y="3"/>
                    </a:moveTo>
                    <a:lnTo>
                      <a:pt x="10" y="0"/>
                    </a:lnTo>
                    <a:lnTo>
                      <a:pt x="8" y="0"/>
                    </a:lnTo>
                    <a:lnTo>
                      <a:pt x="2" y="3"/>
                    </a:lnTo>
                    <a:lnTo>
                      <a:pt x="0" y="9"/>
                    </a:lnTo>
                    <a:lnTo>
                      <a:pt x="2" y="15"/>
                    </a:lnTo>
                    <a:lnTo>
                      <a:pt x="8" y="17"/>
                    </a:lnTo>
                    <a:lnTo>
                      <a:pt x="10" y="16"/>
                    </a:lnTo>
                    <a:lnTo>
                      <a:pt x="10" y="15"/>
                    </a:lnTo>
                    <a:lnTo>
                      <a:pt x="12" y="15"/>
                    </a:lnTo>
                    <a:lnTo>
                      <a:pt x="14" y="15"/>
                    </a:lnTo>
                    <a:lnTo>
                      <a:pt x="14" y="12"/>
                    </a:lnTo>
                    <a:lnTo>
                      <a:pt x="14" y="11"/>
                    </a:lnTo>
                    <a:lnTo>
                      <a:pt x="15" y="11"/>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92" name="Freeform 2360">
                <a:extLst>
                  <a:ext uri="{FF2B5EF4-FFF2-40B4-BE49-F238E27FC236}">
                    <a16:creationId xmlns:a16="http://schemas.microsoft.com/office/drawing/2014/main" id="{A3F77A3D-B00A-095D-DD64-1062D93150EE}"/>
                  </a:ext>
                </a:extLst>
              </p:cNvPr>
              <p:cNvSpPr>
                <a:spLocks/>
              </p:cNvSpPr>
              <p:nvPr/>
            </p:nvSpPr>
            <p:spPr bwMode="auto">
              <a:xfrm>
                <a:off x="1020" y="3856"/>
                <a:ext cx="4" cy="4"/>
              </a:xfrm>
              <a:custGeom>
                <a:avLst/>
                <a:gdLst>
                  <a:gd name="T0" fmla="*/ 14 w 17"/>
                  <a:gd name="T1" fmla="*/ 15 h 17"/>
                  <a:gd name="T2" fmla="*/ 14 w 17"/>
                  <a:gd name="T3" fmla="*/ 12 h 17"/>
                  <a:gd name="T4" fmla="*/ 14 w 17"/>
                  <a:gd name="T5" fmla="*/ 11 h 17"/>
                  <a:gd name="T6" fmla="*/ 15 w 17"/>
                  <a:gd name="T7" fmla="*/ 11 h 17"/>
                  <a:gd name="T8" fmla="*/ 17 w 17"/>
                  <a:gd name="T9" fmla="*/ 9 h 17"/>
                  <a:gd name="T10" fmla="*/ 14 w 17"/>
                  <a:gd name="T11" fmla="*/ 3 h 17"/>
                  <a:gd name="T12" fmla="*/ 9 w 17"/>
                  <a:gd name="T13" fmla="*/ 0 h 17"/>
                  <a:gd name="T14" fmla="*/ 3 w 17"/>
                  <a:gd name="T15" fmla="*/ 3 h 17"/>
                  <a:gd name="T16" fmla="*/ 0 w 17"/>
                  <a:gd name="T17" fmla="*/ 9 h 17"/>
                  <a:gd name="T18" fmla="*/ 0 w 17"/>
                  <a:gd name="T19" fmla="*/ 11 h 17"/>
                  <a:gd name="T20" fmla="*/ 3 w 17"/>
                  <a:gd name="T21" fmla="*/ 15 h 17"/>
                  <a:gd name="T22" fmla="*/ 9 w 17"/>
                  <a:gd name="T23" fmla="*/ 17 h 17"/>
                  <a:gd name="T24" fmla="*/ 14 w 17"/>
                  <a:gd name="T25"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14" y="15"/>
                    </a:moveTo>
                    <a:lnTo>
                      <a:pt x="14" y="12"/>
                    </a:lnTo>
                    <a:lnTo>
                      <a:pt x="14" y="11"/>
                    </a:lnTo>
                    <a:lnTo>
                      <a:pt x="15" y="11"/>
                    </a:lnTo>
                    <a:lnTo>
                      <a:pt x="17" y="9"/>
                    </a:lnTo>
                    <a:lnTo>
                      <a:pt x="14" y="3"/>
                    </a:lnTo>
                    <a:lnTo>
                      <a:pt x="9" y="0"/>
                    </a:lnTo>
                    <a:lnTo>
                      <a:pt x="3" y="3"/>
                    </a:lnTo>
                    <a:lnTo>
                      <a:pt x="0" y="9"/>
                    </a:lnTo>
                    <a:lnTo>
                      <a:pt x="0" y="11"/>
                    </a:lnTo>
                    <a:lnTo>
                      <a:pt x="3" y="15"/>
                    </a:lnTo>
                    <a:lnTo>
                      <a:pt x="9" y="17"/>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93" name="Freeform 2361">
                <a:extLst>
                  <a:ext uri="{FF2B5EF4-FFF2-40B4-BE49-F238E27FC236}">
                    <a16:creationId xmlns:a16="http://schemas.microsoft.com/office/drawing/2014/main" id="{19301CFC-4D0B-426D-F13A-EB93972CFC69}"/>
                  </a:ext>
                </a:extLst>
              </p:cNvPr>
              <p:cNvSpPr>
                <a:spLocks/>
              </p:cNvSpPr>
              <p:nvPr/>
            </p:nvSpPr>
            <p:spPr bwMode="auto">
              <a:xfrm>
                <a:off x="1020" y="3862"/>
                <a:ext cx="4" cy="4"/>
              </a:xfrm>
              <a:custGeom>
                <a:avLst/>
                <a:gdLst>
                  <a:gd name="T0" fmla="*/ 17 w 17"/>
                  <a:gd name="T1" fmla="*/ 9 h 16"/>
                  <a:gd name="T2" fmla="*/ 14 w 17"/>
                  <a:gd name="T3" fmla="*/ 3 h 16"/>
                  <a:gd name="T4" fmla="*/ 9 w 17"/>
                  <a:gd name="T5" fmla="*/ 0 h 16"/>
                  <a:gd name="T6" fmla="*/ 3 w 17"/>
                  <a:gd name="T7" fmla="*/ 3 h 16"/>
                  <a:gd name="T8" fmla="*/ 0 w 17"/>
                  <a:gd name="T9" fmla="*/ 9 h 16"/>
                  <a:gd name="T10" fmla="*/ 3 w 17"/>
                  <a:gd name="T11" fmla="*/ 14 h 16"/>
                  <a:gd name="T12" fmla="*/ 9 w 17"/>
                  <a:gd name="T13" fmla="*/ 16 h 16"/>
                  <a:gd name="T14" fmla="*/ 14 w 17"/>
                  <a:gd name="T15" fmla="*/ 14 h 16"/>
                  <a:gd name="T16" fmla="*/ 17 w 17"/>
                  <a:gd name="T17"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7" y="9"/>
                    </a:moveTo>
                    <a:lnTo>
                      <a:pt x="14" y="3"/>
                    </a:lnTo>
                    <a:lnTo>
                      <a:pt x="9" y="0"/>
                    </a:lnTo>
                    <a:lnTo>
                      <a:pt x="3" y="3"/>
                    </a:lnTo>
                    <a:lnTo>
                      <a:pt x="0" y="9"/>
                    </a:lnTo>
                    <a:lnTo>
                      <a:pt x="3" y="14"/>
                    </a:lnTo>
                    <a:lnTo>
                      <a:pt x="9" y="16"/>
                    </a:lnTo>
                    <a:lnTo>
                      <a:pt x="14" y="14"/>
                    </a:lnTo>
                    <a:lnTo>
                      <a:pt x="17"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94" name="Freeform 2362">
                <a:extLst>
                  <a:ext uri="{FF2B5EF4-FFF2-40B4-BE49-F238E27FC236}">
                    <a16:creationId xmlns:a16="http://schemas.microsoft.com/office/drawing/2014/main" id="{9CDD0429-647D-AE83-B342-B2D8B4A02D22}"/>
                  </a:ext>
                </a:extLst>
              </p:cNvPr>
              <p:cNvSpPr>
                <a:spLocks/>
              </p:cNvSpPr>
              <p:nvPr/>
            </p:nvSpPr>
            <p:spPr bwMode="auto">
              <a:xfrm>
                <a:off x="1027" y="3862"/>
                <a:ext cx="4" cy="4"/>
              </a:xfrm>
              <a:custGeom>
                <a:avLst/>
                <a:gdLst>
                  <a:gd name="T0" fmla="*/ 2 w 17"/>
                  <a:gd name="T1" fmla="*/ 3 h 16"/>
                  <a:gd name="T2" fmla="*/ 0 w 17"/>
                  <a:gd name="T3" fmla="*/ 9 h 16"/>
                  <a:gd name="T4" fmla="*/ 2 w 17"/>
                  <a:gd name="T5" fmla="*/ 14 h 16"/>
                  <a:gd name="T6" fmla="*/ 8 w 17"/>
                  <a:gd name="T7" fmla="*/ 16 h 16"/>
                  <a:gd name="T8" fmla="*/ 10 w 17"/>
                  <a:gd name="T9" fmla="*/ 15 h 16"/>
                  <a:gd name="T10" fmla="*/ 10 w 17"/>
                  <a:gd name="T11" fmla="*/ 14 h 16"/>
                  <a:gd name="T12" fmla="*/ 12 w 17"/>
                  <a:gd name="T13" fmla="*/ 14 h 16"/>
                  <a:gd name="T14" fmla="*/ 14 w 17"/>
                  <a:gd name="T15" fmla="*/ 14 h 16"/>
                  <a:gd name="T16" fmla="*/ 17 w 17"/>
                  <a:gd name="T17" fmla="*/ 9 h 16"/>
                  <a:gd name="T18" fmla="*/ 14 w 17"/>
                  <a:gd name="T19" fmla="*/ 3 h 16"/>
                  <a:gd name="T20" fmla="*/ 10 w 17"/>
                  <a:gd name="T21" fmla="*/ 0 h 16"/>
                  <a:gd name="T22" fmla="*/ 8 w 17"/>
                  <a:gd name="T23" fmla="*/ 0 h 16"/>
                  <a:gd name="T24" fmla="*/ 2 w 17"/>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2" y="3"/>
                    </a:moveTo>
                    <a:lnTo>
                      <a:pt x="0" y="9"/>
                    </a:lnTo>
                    <a:lnTo>
                      <a:pt x="2" y="14"/>
                    </a:lnTo>
                    <a:lnTo>
                      <a:pt x="8" y="16"/>
                    </a:lnTo>
                    <a:lnTo>
                      <a:pt x="10" y="15"/>
                    </a:lnTo>
                    <a:lnTo>
                      <a:pt x="10" y="14"/>
                    </a:lnTo>
                    <a:lnTo>
                      <a:pt x="12" y="14"/>
                    </a:lnTo>
                    <a:lnTo>
                      <a:pt x="14" y="14"/>
                    </a:lnTo>
                    <a:lnTo>
                      <a:pt x="17" y="9"/>
                    </a:lnTo>
                    <a:lnTo>
                      <a:pt x="14" y="3"/>
                    </a:lnTo>
                    <a:lnTo>
                      <a:pt x="10" y="0"/>
                    </a:lnTo>
                    <a:lnTo>
                      <a:pt x="8" y="0"/>
                    </a:lnTo>
                    <a:lnTo>
                      <a:pt x="2"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95" name="Freeform 2363">
                <a:extLst>
                  <a:ext uri="{FF2B5EF4-FFF2-40B4-BE49-F238E27FC236}">
                    <a16:creationId xmlns:a16="http://schemas.microsoft.com/office/drawing/2014/main" id="{F6B4F060-B6D6-AFDF-A1E6-E50FB750FE44}"/>
                  </a:ext>
                </a:extLst>
              </p:cNvPr>
              <p:cNvSpPr>
                <a:spLocks/>
              </p:cNvSpPr>
              <p:nvPr/>
            </p:nvSpPr>
            <p:spPr bwMode="auto">
              <a:xfrm>
                <a:off x="1014" y="3856"/>
                <a:ext cx="4" cy="4"/>
              </a:xfrm>
              <a:custGeom>
                <a:avLst/>
                <a:gdLst>
                  <a:gd name="T0" fmla="*/ 9 w 18"/>
                  <a:gd name="T1" fmla="*/ 17 h 17"/>
                  <a:gd name="T2" fmla="*/ 11 w 18"/>
                  <a:gd name="T3" fmla="*/ 16 h 17"/>
                  <a:gd name="T4" fmla="*/ 11 w 18"/>
                  <a:gd name="T5" fmla="*/ 15 h 17"/>
                  <a:gd name="T6" fmla="*/ 13 w 18"/>
                  <a:gd name="T7" fmla="*/ 15 h 17"/>
                  <a:gd name="T8" fmla="*/ 15 w 18"/>
                  <a:gd name="T9" fmla="*/ 15 h 17"/>
                  <a:gd name="T10" fmla="*/ 18 w 18"/>
                  <a:gd name="T11" fmla="*/ 9 h 17"/>
                  <a:gd name="T12" fmla="*/ 15 w 18"/>
                  <a:gd name="T13" fmla="*/ 3 h 17"/>
                  <a:gd name="T14" fmla="*/ 11 w 18"/>
                  <a:gd name="T15" fmla="*/ 0 h 17"/>
                  <a:gd name="T16" fmla="*/ 9 w 18"/>
                  <a:gd name="T17" fmla="*/ 0 h 17"/>
                  <a:gd name="T18" fmla="*/ 3 w 18"/>
                  <a:gd name="T19" fmla="*/ 3 h 17"/>
                  <a:gd name="T20" fmla="*/ 2 w 18"/>
                  <a:gd name="T21" fmla="*/ 9 h 17"/>
                  <a:gd name="T22" fmla="*/ 0 w 18"/>
                  <a:gd name="T23" fmla="*/ 11 h 17"/>
                  <a:gd name="T24" fmla="*/ 3 w 18"/>
                  <a:gd name="T25" fmla="*/ 15 h 17"/>
                  <a:gd name="T26" fmla="*/ 9 w 18"/>
                  <a:gd name="T27"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17">
                    <a:moveTo>
                      <a:pt x="9" y="17"/>
                    </a:moveTo>
                    <a:lnTo>
                      <a:pt x="11" y="16"/>
                    </a:lnTo>
                    <a:lnTo>
                      <a:pt x="11" y="15"/>
                    </a:lnTo>
                    <a:lnTo>
                      <a:pt x="13" y="15"/>
                    </a:lnTo>
                    <a:lnTo>
                      <a:pt x="15" y="15"/>
                    </a:lnTo>
                    <a:lnTo>
                      <a:pt x="18" y="9"/>
                    </a:lnTo>
                    <a:lnTo>
                      <a:pt x="15" y="3"/>
                    </a:lnTo>
                    <a:lnTo>
                      <a:pt x="11" y="0"/>
                    </a:lnTo>
                    <a:lnTo>
                      <a:pt x="9" y="0"/>
                    </a:lnTo>
                    <a:lnTo>
                      <a:pt x="3" y="3"/>
                    </a:lnTo>
                    <a:lnTo>
                      <a:pt x="2" y="9"/>
                    </a:lnTo>
                    <a:lnTo>
                      <a:pt x="0" y="11"/>
                    </a:lnTo>
                    <a:lnTo>
                      <a:pt x="3" y="15"/>
                    </a:lnTo>
                    <a:lnTo>
                      <a:pt x="9" y="17"/>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96" name="Freeform 2364">
                <a:extLst>
                  <a:ext uri="{FF2B5EF4-FFF2-40B4-BE49-F238E27FC236}">
                    <a16:creationId xmlns:a16="http://schemas.microsoft.com/office/drawing/2014/main" id="{452313D2-5BF9-8375-C5AF-144D76132FE6}"/>
                  </a:ext>
                </a:extLst>
              </p:cNvPr>
              <p:cNvSpPr>
                <a:spLocks/>
              </p:cNvSpPr>
              <p:nvPr/>
            </p:nvSpPr>
            <p:spPr bwMode="auto">
              <a:xfrm>
                <a:off x="1014" y="3862"/>
                <a:ext cx="4" cy="4"/>
              </a:xfrm>
              <a:custGeom>
                <a:avLst/>
                <a:gdLst>
                  <a:gd name="T0" fmla="*/ 13 w 16"/>
                  <a:gd name="T1" fmla="*/ 3 h 16"/>
                  <a:gd name="T2" fmla="*/ 9 w 16"/>
                  <a:gd name="T3" fmla="*/ 0 h 16"/>
                  <a:gd name="T4" fmla="*/ 7 w 16"/>
                  <a:gd name="T5" fmla="*/ 0 h 16"/>
                  <a:gd name="T6" fmla="*/ 1 w 16"/>
                  <a:gd name="T7" fmla="*/ 3 h 16"/>
                  <a:gd name="T8" fmla="*/ 0 w 16"/>
                  <a:gd name="T9" fmla="*/ 9 h 16"/>
                  <a:gd name="T10" fmla="*/ 1 w 16"/>
                  <a:gd name="T11" fmla="*/ 14 h 16"/>
                  <a:gd name="T12" fmla="*/ 7 w 16"/>
                  <a:gd name="T13" fmla="*/ 16 h 16"/>
                  <a:gd name="T14" fmla="*/ 9 w 16"/>
                  <a:gd name="T15" fmla="*/ 15 h 16"/>
                  <a:gd name="T16" fmla="*/ 9 w 16"/>
                  <a:gd name="T17" fmla="*/ 14 h 16"/>
                  <a:gd name="T18" fmla="*/ 11 w 16"/>
                  <a:gd name="T19" fmla="*/ 14 h 16"/>
                  <a:gd name="T20" fmla="*/ 13 w 16"/>
                  <a:gd name="T21" fmla="*/ 14 h 16"/>
                  <a:gd name="T22" fmla="*/ 16 w 16"/>
                  <a:gd name="T23" fmla="*/ 9 h 16"/>
                  <a:gd name="T24" fmla="*/ 13 w 16"/>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6">
                    <a:moveTo>
                      <a:pt x="13" y="3"/>
                    </a:moveTo>
                    <a:lnTo>
                      <a:pt x="9" y="0"/>
                    </a:lnTo>
                    <a:lnTo>
                      <a:pt x="7" y="0"/>
                    </a:lnTo>
                    <a:lnTo>
                      <a:pt x="1" y="3"/>
                    </a:lnTo>
                    <a:lnTo>
                      <a:pt x="0" y="9"/>
                    </a:lnTo>
                    <a:lnTo>
                      <a:pt x="1" y="14"/>
                    </a:lnTo>
                    <a:lnTo>
                      <a:pt x="7" y="16"/>
                    </a:lnTo>
                    <a:lnTo>
                      <a:pt x="9" y="15"/>
                    </a:lnTo>
                    <a:lnTo>
                      <a:pt x="9" y="14"/>
                    </a:lnTo>
                    <a:lnTo>
                      <a:pt x="11" y="14"/>
                    </a:lnTo>
                    <a:lnTo>
                      <a:pt x="13" y="14"/>
                    </a:lnTo>
                    <a:lnTo>
                      <a:pt x="16" y="9"/>
                    </a:lnTo>
                    <a:lnTo>
                      <a:pt x="13"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97" name="Freeform 2365">
                <a:extLst>
                  <a:ext uri="{FF2B5EF4-FFF2-40B4-BE49-F238E27FC236}">
                    <a16:creationId xmlns:a16="http://schemas.microsoft.com/office/drawing/2014/main" id="{D3E31308-0D13-0FFC-3D71-BA3C3EEDB203}"/>
                  </a:ext>
                </a:extLst>
              </p:cNvPr>
              <p:cNvSpPr>
                <a:spLocks/>
              </p:cNvSpPr>
              <p:nvPr/>
            </p:nvSpPr>
            <p:spPr bwMode="auto">
              <a:xfrm>
                <a:off x="1020" y="3868"/>
                <a:ext cx="4" cy="5"/>
              </a:xfrm>
              <a:custGeom>
                <a:avLst/>
                <a:gdLst>
                  <a:gd name="T0" fmla="*/ 9 w 17"/>
                  <a:gd name="T1" fmla="*/ 0 h 17"/>
                  <a:gd name="T2" fmla="*/ 3 w 17"/>
                  <a:gd name="T3" fmla="*/ 2 h 17"/>
                  <a:gd name="T4" fmla="*/ 0 w 17"/>
                  <a:gd name="T5" fmla="*/ 9 h 17"/>
                  <a:gd name="T6" fmla="*/ 0 w 17"/>
                  <a:gd name="T7" fmla="*/ 11 h 17"/>
                  <a:gd name="T8" fmla="*/ 3 w 17"/>
                  <a:gd name="T9" fmla="*/ 15 h 17"/>
                  <a:gd name="T10" fmla="*/ 9 w 17"/>
                  <a:gd name="T11" fmla="*/ 17 h 17"/>
                  <a:gd name="T12" fmla="*/ 14 w 17"/>
                  <a:gd name="T13" fmla="*/ 15 h 17"/>
                  <a:gd name="T14" fmla="*/ 14 w 17"/>
                  <a:gd name="T15" fmla="*/ 12 h 17"/>
                  <a:gd name="T16" fmla="*/ 14 w 17"/>
                  <a:gd name="T17" fmla="*/ 11 h 17"/>
                  <a:gd name="T18" fmla="*/ 15 w 17"/>
                  <a:gd name="T19" fmla="*/ 11 h 17"/>
                  <a:gd name="T20" fmla="*/ 17 w 17"/>
                  <a:gd name="T21" fmla="*/ 9 h 17"/>
                  <a:gd name="T22" fmla="*/ 14 w 17"/>
                  <a:gd name="T23" fmla="*/ 2 h 17"/>
                  <a:gd name="T24" fmla="*/ 9 w 17"/>
                  <a:gd name="T2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9" y="0"/>
                    </a:moveTo>
                    <a:lnTo>
                      <a:pt x="3" y="2"/>
                    </a:lnTo>
                    <a:lnTo>
                      <a:pt x="0" y="9"/>
                    </a:lnTo>
                    <a:lnTo>
                      <a:pt x="0" y="11"/>
                    </a:lnTo>
                    <a:lnTo>
                      <a:pt x="3" y="15"/>
                    </a:lnTo>
                    <a:lnTo>
                      <a:pt x="9" y="17"/>
                    </a:lnTo>
                    <a:lnTo>
                      <a:pt x="14" y="15"/>
                    </a:lnTo>
                    <a:lnTo>
                      <a:pt x="14" y="12"/>
                    </a:lnTo>
                    <a:lnTo>
                      <a:pt x="14" y="11"/>
                    </a:lnTo>
                    <a:lnTo>
                      <a:pt x="15" y="11"/>
                    </a:lnTo>
                    <a:lnTo>
                      <a:pt x="17" y="9"/>
                    </a:lnTo>
                    <a:lnTo>
                      <a:pt x="14" y="2"/>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98" name="Freeform 2366">
                <a:extLst>
                  <a:ext uri="{FF2B5EF4-FFF2-40B4-BE49-F238E27FC236}">
                    <a16:creationId xmlns:a16="http://schemas.microsoft.com/office/drawing/2014/main" id="{F8EA6998-4671-C916-239E-5AADF2BB2227}"/>
                  </a:ext>
                </a:extLst>
              </p:cNvPr>
              <p:cNvSpPr>
                <a:spLocks/>
              </p:cNvSpPr>
              <p:nvPr/>
            </p:nvSpPr>
            <p:spPr bwMode="auto">
              <a:xfrm>
                <a:off x="1014" y="3868"/>
                <a:ext cx="4" cy="5"/>
              </a:xfrm>
              <a:custGeom>
                <a:avLst/>
                <a:gdLst>
                  <a:gd name="T0" fmla="*/ 15 w 18"/>
                  <a:gd name="T1" fmla="*/ 2 h 17"/>
                  <a:gd name="T2" fmla="*/ 11 w 18"/>
                  <a:gd name="T3" fmla="*/ 0 h 17"/>
                  <a:gd name="T4" fmla="*/ 9 w 18"/>
                  <a:gd name="T5" fmla="*/ 0 h 17"/>
                  <a:gd name="T6" fmla="*/ 3 w 18"/>
                  <a:gd name="T7" fmla="*/ 2 h 17"/>
                  <a:gd name="T8" fmla="*/ 2 w 18"/>
                  <a:gd name="T9" fmla="*/ 9 h 17"/>
                  <a:gd name="T10" fmla="*/ 0 w 18"/>
                  <a:gd name="T11" fmla="*/ 11 h 17"/>
                  <a:gd name="T12" fmla="*/ 3 w 18"/>
                  <a:gd name="T13" fmla="*/ 15 h 17"/>
                  <a:gd name="T14" fmla="*/ 9 w 18"/>
                  <a:gd name="T15" fmla="*/ 17 h 17"/>
                  <a:gd name="T16" fmla="*/ 11 w 18"/>
                  <a:gd name="T17" fmla="*/ 16 h 17"/>
                  <a:gd name="T18" fmla="*/ 11 w 18"/>
                  <a:gd name="T19" fmla="*/ 15 h 17"/>
                  <a:gd name="T20" fmla="*/ 13 w 18"/>
                  <a:gd name="T21" fmla="*/ 15 h 17"/>
                  <a:gd name="T22" fmla="*/ 15 w 18"/>
                  <a:gd name="T23" fmla="*/ 15 h 17"/>
                  <a:gd name="T24" fmla="*/ 18 w 18"/>
                  <a:gd name="T25" fmla="*/ 9 h 17"/>
                  <a:gd name="T26" fmla="*/ 15 w 18"/>
                  <a:gd name="T27"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 h="17">
                    <a:moveTo>
                      <a:pt x="15" y="2"/>
                    </a:moveTo>
                    <a:lnTo>
                      <a:pt x="11" y="0"/>
                    </a:lnTo>
                    <a:lnTo>
                      <a:pt x="9" y="0"/>
                    </a:lnTo>
                    <a:lnTo>
                      <a:pt x="3" y="2"/>
                    </a:lnTo>
                    <a:lnTo>
                      <a:pt x="2" y="9"/>
                    </a:lnTo>
                    <a:lnTo>
                      <a:pt x="0" y="11"/>
                    </a:lnTo>
                    <a:lnTo>
                      <a:pt x="3" y="15"/>
                    </a:lnTo>
                    <a:lnTo>
                      <a:pt x="9" y="17"/>
                    </a:lnTo>
                    <a:lnTo>
                      <a:pt x="11" y="16"/>
                    </a:lnTo>
                    <a:lnTo>
                      <a:pt x="11" y="15"/>
                    </a:lnTo>
                    <a:lnTo>
                      <a:pt x="13" y="15"/>
                    </a:lnTo>
                    <a:lnTo>
                      <a:pt x="15" y="15"/>
                    </a:lnTo>
                    <a:lnTo>
                      <a:pt x="18" y="9"/>
                    </a:lnTo>
                    <a:lnTo>
                      <a:pt x="15"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799" name="Freeform 2367">
                <a:extLst>
                  <a:ext uri="{FF2B5EF4-FFF2-40B4-BE49-F238E27FC236}">
                    <a16:creationId xmlns:a16="http://schemas.microsoft.com/office/drawing/2014/main" id="{D10DC912-3B6B-E616-C922-B37E7C248B34}"/>
                  </a:ext>
                </a:extLst>
              </p:cNvPr>
              <p:cNvSpPr>
                <a:spLocks/>
              </p:cNvSpPr>
              <p:nvPr/>
            </p:nvSpPr>
            <p:spPr bwMode="auto">
              <a:xfrm>
                <a:off x="1027" y="3868"/>
                <a:ext cx="4" cy="5"/>
              </a:xfrm>
              <a:custGeom>
                <a:avLst/>
                <a:gdLst>
                  <a:gd name="T0" fmla="*/ 8 w 17"/>
                  <a:gd name="T1" fmla="*/ 0 h 17"/>
                  <a:gd name="T2" fmla="*/ 2 w 17"/>
                  <a:gd name="T3" fmla="*/ 2 h 17"/>
                  <a:gd name="T4" fmla="*/ 0 w 17"/>
                  <a:gd name="T5" fmla="*/ 9 h 17"/>
                  <a:gd name="T6" fmla="*/ 2 w 17"/>
                  <a:gd name="T7" fmla="*/ 15 h 17"/>
                  <a:gd name="T8" fmla="*/ 8 w 17"/>
                  <a:gd name="T9" fmla="*/ 17 h 17"/>
                  <a:gd name="T10" fmla="*/ 10 w 17"/>
                  <a:gd name="T11" fmla="*/ 16 h 17"/>
                  <a:gd name="T12" fmla="*/ 10 w 17"/>
                  <a:gd name="T13" fmla="*/ 15 h 17"/>
                  <a:gd name="T14" fmla="*/ 12 w 17"/>
                  <a:gd name="T15" fmla="*/ 15 h 17"/>
                  <a:gd name="T16" fmla="*/ 14 w 17"/>
                  <a:gd name="T17" fmla="*/ 15 h 17"/>
                  <a:gd name="T18" fmla="*/ 14 w 17"/>
                  <a:gd name="T19" fmla="*/ 12 h 17"/>
                  <a:gd name="T20" fmla="*/ 14 w 17"/>
                  <a:gd name="T21" fmla="*/ 11 h 17"/>
                  <a:gd name="T22" fmla="*/ 15 w 17"/>
                  <a:gd name="T23" fmla="*/ 11 h 17"/>
                  <a:gd name="T24" fmla="*/ 17 w 17"/>
                  <a:gd name="T25" fmla="*/ 9 h 17"/>
                  <a:gd name="T26" fmla="*/ 14 w 17"/>
                  <a:gd name="T27" fmla="*/ 2 h 17"/>
                  <a:gd name="T28" fmla="*/ 10 w 17"/>
                  <a:gd name="T29" fmla="*/ 0 h 17"/>
                  <a:gd name="T30" fmla="*/ 8 w 17"/>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 h="17">
                    <a:moveTo>
                      <a:pt x="8" y="0"/>
                    </a:moveTo>
                    <a:lnTo>
                      <a:pt x="2" y="2"/>
                    </a:lnTo>
                    <a:lnTo>
                      <a:pt x="0" y="9"/>
                    </a:lnTo>
                    <a:lnTo>
                      <a:pt x="2" y="15"/>
                    </a:lnTo>
                    <a:lnTo>
                      <a:pt x="8" y="17"/>
                    </a:lnTo>
                    <a:lnTo>
                      <a:pt x="10" y="16"/>
                    </a:lnTo>
                    <a:lnTo>
                      <a:pt x="10" y="15"/>
                    </a:lnTo>
                    <a:lnTo>
                      <a:pt x="12" y="15"/>
                    </a:lnTo>
                    <a:lnTo>
                      <a:pt x="14" y="15"/>
                    </a:lnTo>
                    <a:lnTo>
                      <a:pt x="14" y="12"/>
                    </a:lnTo>
                    <a:lnTo>
                      <a:pt x="14" y="11"/>
                    </a:lnTo>
                    <a:lnTo>
                      <a:pt x="15" y="11"/>
                    </a:lnTo>
                    <a:lnTo>
                      <a:pt x="17" y="9"/>
                    </a:lnTo>
                    <a:lnTo>
                      <a:pt x="14" y="2"/>
                    </a:lnTo>
                    <a:lnTo>
                      <a:pt x="10" y="0"/>
                    </a:lnTo>
                    <a:lnTo>
                      <a:pt x="8"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00" name="Freeform 2368">
                <a:extLst>
                  <a:ext uri="{FF2B5EF4-FFF2-40B4-BE49-F238E27FC236}">
                    <a16:creationId xmlns:a16="http://schemas.microsoft.com/office/drawing/2014/main" id="{22B05DCC-7850-1F64-77D6-B1C0087229C7}"/>
                  </a:ext>
                </a:extLst>
              </p:cNvPr>
              <p:cNvSpPr>
                <a:spLocks/>
              </p:cNvSpPr>
              <p:nvPr/>
            </p:nvSpPr>
            <p:spPr bwMode="auto">
              <a:xfrm>
                <a:off x="1033" y="3856"/>
                <a:ext cx="4" cy="4"/>
              </a:xfrm>
              <a:custGeom>
                <a:avLst/>
                <a:gdLst>
                  <a:gd name="T0" fmla="*/ 14 w 16"/>
                  <a:gd name="T1" fmla="*/ 15 h 17"/>
                  <a:gd name="T2" fmla="*/ 14 w 16"/>
                  <a:gd name="T3" fmla="*/ 12 h 17"/>
                  <a:gd name="T4" fmla="*/ 14 w 16"/>
                  <a:gd name="T5" fmla="*/ 11 h 17"/>
                  <a:gd name="T6" fmla="*/ 15 w 16"/>
                  <a:gd name="T7" fmla="*/ 11 h 17"/>
                  <a:gd name="T8" fmla="*/ 16 w 16"/>
                  <a:gd name="T9" fmla="*/ 9 h 17"/>
                  <a:gd name="T10" fmla="*/ 14 w 16"/>
                  <a:gd name="T11" fmla="*/ 3 h 17"/>
                  <a:gd name="T12" fmla="*/ 9 w 16"/>
                  <a:gd name="T13" fmla="*/ 0 h 17"/>
                  <a:gd name="T14" fmla="*/ 3 w 16"/>
                  <a:gd name="T15" fmla="*/ 3 h 17"/>
                  <a:gd name="T16" fmla="*/ 0 w 16"/>
                  <a:gd name="T17" fmla="*/ 9 h 17"/>
                  <a:gd name="T18" fmla="*/ 0 w 16"/>
                  <a:gd name="T19" fmla="*/ 11 h 17"/>
                  <a:gd name="T20" fmla="*/ 3 w 16"/>
                  <a:gd name="T21" fmla="*/ 15 h 17"/>
                  <a:gd name="T22" fmla="*/ 9 w 16"/>
                  <a:gd name="T23" fmla="*/ 17 h 17"/>
                  <a:gd name="T24" fmla="*/ 14 w 16"/>
                  <a:gd name="T25"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7">
                    <a:moveTo>
                      <a:pt x="14" y="15"/>
                    </a:moveTo>
                    <a:lnTo>
                      <a:pt x="14" y="12"/>
                    </a:lnTo>
                    <a:lnTo>
                      <a:pt x="14" y="11"/>
                    </a:lnTo>
                    <a:lnTo>
                      <a:pt x="15" y="11"/>
                    </a:lnTo>
                    <a:lnTo>
                      <a:pt x="16" y="9"/>
                    </a:lnTo>
                    <a:lnTo>
                      <a:pt x="14" y="3"/>
                    </a:lnTo>
                    <a:lnTo>
                      <a:pt x="9" y="0"/>
                    </a:lnTo>
                    <a:lnTo>
                      <a:pt x="3" y="3"/>
                    </a:lnTo>
                    <a:lnTo>
                      <a:pt x="0" y="9"/>
                    </a:lnTo>
                    <a:lnTo>
                      <a:pt x="0" y="11"/>
                    </a:lnTo>
                    <a:lnTo>
                      <a:pt x="3" y="15"/>
                    </a:lnTo>
                    <a:lnTo>
                      <a:pt x="9" y="17"/>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01" name="Freeform 2369">
                <a:extLst>
                  <a:ext uri="{FF2B5EF4-FFF2-40B4-BE49-F238E27FC236}">
                    <a16:creationId xmlns:a16="http://schemas.microsoft.com/office/drawing/2014/main" id="{D6DB36C1-0E9F-C442-EE75-F650EEF8F9FE}"/>
                  </a:ext>
                </a:extLst>
              </p:cNvPr>
              <p:cNvSpPr>
                <a:spLocks/>
              </p:cNvSpPr>
              <p:nvPr/>
            </p:nvSpPr>
            <p:spPr bwMode="auto">
              <a:xfrm>
                <a:off x="1033" y="3862"/>
                <a:ext cx="4" cy="4"/>
              </a:xfrm>
              <a:custGeom>
                <a:avLst/>
                <a:gdLst>
                  <a:gd name="T0" fmla="*/ 3 w 16"/>
                  <a:gd name="T1" fmla="*/ 3 h 16"/>
                  <a:gd name="T2" fmla="*/ 0 w 16"/>
                  <a:gd name="T3" fmla="*/ 9 h 16"/>
                  <a:gd name="T4" fmla="*/ 3 w 16"/>
                  <a:gd name="T5" fmla="*/ 14 h 16"/>
                  <a:gd name="T6" fmla="*/ 9 w 16"/>
                  <a:gd name="T7" fmla="*/ 16 h 16"/>
                  <a:gd name="T8" fmla="*/ 14 w 16"/>
                  <a:gd name="T9" fmla="*/ 14 h 16"/>
                  <a:gd name="T10" fmla="*/ 16 w 16"/>
                  <a:gd name="T11" fmla="*/ 9 h 16"/>
                  <a:gd name="T12" fmla="*/ 14 w 16"/>
                  <a:gd name="T13" fmla="*/ 3 h 16"/>
                  <a:gd name="T14" fmla="*/ 9 w 16"/>
                  <a:gd name="T15" fmla="*/ 0 h 16"/>
                  <a:gd name="T16" fmla="*/ 3 w 16"/>
                  <a:gd name="T17"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3" y="3"/>
                    </a:moveTo>
                    <a:lnTo>
                      <a:pt x="0" y="9"/>
                    </a:lnTo>
                    <a:lnTo>
                      <a:pt x="3" y="14"/>
                    </a:lnTo>
                    <a:lnTo>
                      <a:pt x="9" y="16"/>
                    </a:lnTo>
                    <a:lnTo>
                      <a:pt x="14" y="14"/>
                    </a:lnTo>
                    <a:lnTo>
                      <a:pt x="16" y="9"/>
                    </a:lnTo>
                    <a:lnTo>
                      <a:pt x="14" y="3"/>
                    </a:lnTo>
                    <a:lnTo>
                      <a:pt x="9" y="0"/>
                    </a:lnTo>
                    <a:lnTo>
                      <a:pt x="3"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02" name="Freeform 2370">
                <a:extLst>
                  <a:ext uri="{FF2B5EF4-FFF2-40B4-BE49-F238E27FC236}">
                    <a16:creationId xmlns:a16="http://schemas.microsoft.com/office/drawing/2014/main" id="{C0D62933-18D2-CC24-F595-9662B1E56859}"/>
                  </a:ext>
                </a:extLst>
              </p:cNvPr>
              <p:cNvSpPr>
                <a:spLocks/>
              </p:cNvSpPr>
              <p:nvPr/>
            </p:nvSpPr>
            <p:spPr bwMode="auto">
              <a:xfrm>
                <a:off x="1033" y="3868"/>
                <a:ext cx="4" cy="5"/>
              </a:xfrm>
              <a:custGeom>
                <a:avLst/>
                <a:gdLst>
                  <a:gd name="T0" fmla="*/ 14 w 16"/>
                  <a:gd name="T1" fmla="*/ 2 h 17"/>
                  <a:gd name="T2" fmla="*/ 9 w 16"/>
                  <a:gd name="T3" fmla="*/ 0 h 17"/>
                  <a:gd name="T4" fmla="*/ 3 w 16"/>
                  <a:gd name="T5" fmla="*/ 2 h 17"/>
                  <a:gd name="T6" fmla="*/ 0 w 16"/>
                  <a:gd name="T7" fmla="*/ 9 h 17"/>
                  <a:gd name="T8" fmla="*/ 0 w 16"/>
                  <a:gd name="T9" fmla="*/ 11 h 17"/>
                  <a:gd name="T10" fmla="*/ 3 w 16"/>
                  <a:gd name="T11" fmla="*/ 15 h 17"/>
                  <a:gd name="T12" fmla="*/ 9 w 16"/>
                  <a:gd name="T13" fmla="*/ 17 h 17"/>
                  <a:gd name="T14" fmla="*/ 14 w 16"/>
                  <a:gd name="T15" fmla="*/ 15 h 17"/>
                  <a:gd name="T16" fmla="*/ 14 w 16"/>
                  <a:gd name="T17" fmla="*/ 12 h 17"/>
                  <a:gd name="T18" fmla="*/ 14 w 16"/>
                  <a:gd name="T19" fmla="*/ 11 h 17"/>
                  <a:gd name="T20" fmla="*/ 15 w 16"/>
                  <a:gd name="T21" fmla="*/ 11 h 17"/>
                  <a:gd name="T22" fmla="*/ 16 w 16"/>
                  <a:gd name="T23" fmla="*/ 9 h 17"/>
                  <a:gd name="T24" fmla="*/ 14 w 16"/>
                  <a:gd name="T25"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7">
                    <a:moveTo>
                      <a:pt x="14" y="2"/>
                    </a:moveTo>
                    <a:lnTo>
                      <a:pt x="9" y="0"/>
                    </a:lnTo>
                    <a:lnTo>
                      <a:pt x="3" y="2"/>
                    </a:lnTo>
                    <a:lnTo>
                      <a:pt x="0" y="9"/>
                    </a:lnTo>
                    <a:lnTo>
                      <a:pt x="0" y="11"/>
                    </a:lnTo>
                    <a:lnTo>
                      <a:pt x="3" y="15"/>
                    </a:lnTo>
                    <a:lnTo>
                      <a:pt x="9" y="17"/>
                    </a:lnTo>
                    <a:lnTo>
                      <a:pt x="14" y="15"/>
                    </a:lnTo>
                    <a:lnTo>
                      <a:pt x="14" y="12"/>
                    </a:lnTo>
                    <a:lnTo>
                      <a:pt x="14" y="11"/>
                    </a:lnTo>
                    <a:lnTo>
                      <a:pt x="15" y="11"/>
                    </a:lnTo>
                    <a:lnTo>
                      <a:pt x="16" y="9"/>
                    </a:lnTo>
                    <a:lnTo>
                      <a:pt x="14"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03" name="Freeform 2371">
                <a:extLst>
                  <a:ext uri="{FF2B5EF4-FFF2-40B4-BE49-F238E27FC236}">
                    <a16:creationId xmlns:a16="http://schemas.microsoft.com/office/drawing/2014/main" id="{656A57D1-2244-BE33-4AFE-BAA51B579E48}"/>
                  </a:ext>
                </a:extLst>
              </p:cNvPr>
              <p:cNvSpPr>
                <a:spLocks/>
              </p:cNvSpPr>
              <p:nvPr/>
            </p:nvSpPr>
            <p:spPr bwMode="auto">
              <a:xfrm>
                <a:off x="995" y="3856"/>
                <a:ext cx="4" cy="4"/>
              </a:xfrm>
              <a:custGeom>
                <a:avLst/>
                <a:gdLst>
                  <a:gd name="T0" fmla="*/ 14 w 17"/>
                  <a:gd name="T1" fmla="*/ 15 h 17"/>
                  <a:gd name="T2" fmla="*/ 14 w 17"/>
                  <a:gd name="T3" fmla="*/ 12 h 17"/>
                  <a:gd name="T4" fmla="*/ 14 w 17"/>
                  <a:gd name="T5" fmla="*/ 11 h 17"/>
                  <a:gd name="T6" fmla="*/ 15 w 17"/>
                  <a:gd name="T7" fmla="*/ 11 h 17"/>
                  <a:gd name="T8" fmla="*/ 17 w 17"/>
                  <a:gd name="T9" fmla="*/ 9 h 17"/>
                  <a:gd name="T10" fmla="*/ 14 w 17"/>
                  <a:gd name="T11" fmla="*/ 3 h 17"/>
                  <a:gd name="T12" fmla="*/ 10 w 17"/>
                  <a:gd name="T13" fmla="*/ 0 h 17"/>
                  <a:gd name="T14" fmla="*/ 8 w 17"/>
                  <a:gd name="T15" fmla="*/ 0 h 17"/>
                  <a:gd name="T16" fmla="*/ 3 w 17"/>
                  <a:gd name="T17" fmla="*/ 3 h 17"/>
                  <a:gd name="T18" fmla="*/ 0 w 17"/>
                  <a:gd name="T19" fmla="*/ 9 h 17"/>
                  <a:gd name="T20" fmla="*/ 0 w 17"/>
                  <a:gd name="T21" fmla="*/ 11 h 17"/>
                  <a:gd name="T22" fmla="*/ 3 w 17"/>
                  <a:gd name="T23" fmla="*/ 15 h 17"/>
                  <a:gd name="T24" fmla="*/ 8 w 17"/>
                  <a:gd name="T25" fmla="*/ 17 h 17"/>
                  <a:gd name="T26" fmla="*/ 10 w 17"/>
                  <a:gd name="T27" fmla="*/ 16 h 17"/>
                  <a:gd name="T28" fmla="*/ 10 w 17"/>
                  <a:gd name="T29" fmla="*/ 15 h 17"/>
                  <a:gd name="T30" fmla="*/ 12 w 17"/>
                  <a:gd name="T31" fmla="*/ 15 h 17"/>
                  <a:gd name="T32" fmla="*/ 14 w 17"/>
                  <a:gd name="T33"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17">
                    <a:moveTo>
                      <a:pt x="14" y="15"/>
                    </a:moveTo>
                    <a:lnTo>
                      <a:pt x="14" y="12"/>
                    </a:lnTo>
                    <a:lnTo>
                      <a:pt x="14" y="11"/>
                    </a:lnTo>
                    <a:lnTo>
                      <a:pt x="15" y="11"/>
                    </a:lnTo>
                    <a:lnTo>
                      <a:pt x="17" y="9"/>
                    </a:lnTo>
                    <a:lnTo>
                      <a:pt x="14" y="3"/>
                    </a:lnTo>
                    <a:lnTo>
                      <a:pt x="10" y="0"/>
                    </a:lnTo>
                    <a:lnTo>
                      <a:pt x="8" y="0"/>
                    </a:lnTo>
                    <a:lnTo>
                      <a:pt x="3" y="3"/>
                    </a:lnTo>
                    <a:lnTo>
                      <a:pt x="0" y="9"/>
                    </a:lnTo>
                    <a:lnTo>
                      <a:pt x="0" y="11"/>
                    </a:lnTo>
                    <a:lnTo>
                      <a:pt x="3" y="15"/>
                    </a:lnTo>
                    <a:lnTo>
                      <a:pt x="8" y="17"/>
                    </a:lnTo>
                    <a:lnTo>
                      <a:pt x="10" y="16"/>
                    </a:lnTo>
                    <a:lnTo>
                      <a:pt x="10" y="15"/>
                    </a:lnTo>
                    <a:lnTo>
                      <a:pt x="12" y="15"/>
                    </a:lnTo>
                    <a:lnTo>
                      <a:pt x="14" y="15"/>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04" name="Freeform 2372">
                <a:extLst>
                  <a:ext uri="{FF2B5EF4-FFF2-40B4-BE49-F238E27FC236}">
                    <a16:creationId xmlns:a16="http://schemas.microsoft.com/office/drawing/2014/main" id="{BE98543E-A7E9-09ED-FBF3-1B44E4DEC911}"/>
                  </a:ext>
                </a:extLst>
              </p:cNvPr>
              <p:cNvSpPr>
                <a:spLocks/>
              </p:cNvSpPr>
              <p:nvPr/>
            </p:nvSpPr>
            <p:spPr bwMode="auto">
              <a:xfrm>
                <a:off x="995" y="3862"/>
                <a:ext cx="4" cy="4"/>
              </a:xfrm>
              <a:custGeom>
                <a:avLst/>
                <a:gdLst>
                  <a:gd name="T0" fmla="*/ 3 w 17"/>
                  <a:gd name="T1" fmla="*/ 3 h 16"/>
                  <a:gd name="T2" fmla="*/ 0 w 17"/>
                  <a:gd name="T3" fmla="*/ 9 h 16"/>
                  <a:gd name="T4" fmla="*/ 3 w 17"/>
                  <a:gd name="T5" fmla="*/ 14 h 16"/>
                  <a:gd name="T6" fmla="*/ 8 w 17"/>
                  <a:gd name="T7" fmla="*/ 16 h 16"/>
                  <a:gd name="T8" fmla="*/ 10 w 17"/>
                  <a:gd name="T9" fmla="*/ 15 h 16"/>
                  <a:gd name="T10" fmla="*/ 10 w 17"/>
                  <a:gd name="T11" fmla="*/ 14 h 16"/>
                  <a:gd name="T12" fmla="*/ 12 w 17"/>
                  <a:gd name="T13" fmla="*/ 14 h 16"/>
                  <a:gd name="T14" fmla="*/ 14 w 17"/>
                  <a:gd name="T15" fmla="*/ 14 h 16"/>
                  <a:gd name="T16" fmla="*/ 17 w 17"/>
                  <a:gd name="T17" fmla="*/ 9 h 16"/>
                  <a:gd name="T18" fmla="*/ 14 w 17"/>
                  <a:gd name="T19" fmla="*/ 3 h 16"/>
                  <a:gd name="T20" fmla="*/ 10 w 17"/>
                  <a:gd name="T21" fmla="*/ 0 h 16"/>
                  <a:gd name="T22" fmla="*/ 8 w 17"/>
                  <a:gd name="T23" fmla="*/ 0 h 16"/>
                  <a:gd name="T24" fmla="*/ 3 w 17"/>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3" y="3"/>
                    </a:moveTo>
                    <a:lnTo>
                      <a:pt x="0" y="9"/>
                    </a:lnTo>
                    <a:lnTo>
                      <a:pt x="3" y="14"/>
                    </a:lnTo>
                    <a:lnTo>
                      <a:pt x="8" y="16"/>
                    </a:lnTo>
                    <a:lnTo>
                      <a:pt x="10" y="15"/>
                    </a:lnTo>
                    <a:lnTo>
                      <a:pt x="10" y="14"/>
                    </a:lnTo>
                    <a:lnTo>
                      <a:pt x="12" y="14"/>
                    </a:lnTo>
                    <a:lnTo>
                      <a:pt x="14" y="14"/>
                    </a:lnTo>
                    <a:lnTo>
                      <a:pt x="17" y="9"/>
                    </a:lnTo>
                    <a:lnTo>
                      <a:pt x="14" y="3"/>
                    </a:lnTo>
                    <a:lnTo>
                      <a:pt x="10" y="0"/>
                    </a:lnTo>
                    <a:lnTo>
                      <a:pt x="8" y="0"/>
                    </a:lnTo>
                    <a:lnTo>
                      <a:pt x="3"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05" name="Freeform 2373">
                <a:extLst>
                  <a:ext uri="{FF2B5EF4-FFF2-40B4-BE49-F238E27FC236}">
                    <a16:creationId xmlns:a16="http://schemas.microsoft.com/office/drawing/2014/main" id="{F3743D9E-A796-36B7-B673-571E167E4877}"/>
                  </a:ext>
                </a:extLst>
              </p:cNvPr>
              <p:cNvSpPr>
                <a:spLocks/>
              </p:cNvSpPr>
              <p:nvPr/>
            </p:nvSpPr>
            <p:spPr bwMode="auto">
              <a:xfrm>
                <a:off x="988" y="3856"/>
                <a:ext cx="5" cy="4"/>
              </a:xfrm>
              <a:custGeom>
                <a:avLst/>
                <a:gdLst>
                  <a:gd name="T0" fmla="*/ 18 w 18"/>
                  <a:gd name="T1" fmla="*/ 9 h 17"/>
                  <a:gd name="T2" fmla="*/ 15 w 18"/>
                  <a:gd name="T3" fmla="*/ 3 h 17"/>
                  <a:gd name="T4" fmla="*/ 12 w 18"/>
                  <a:gd name="T5" fmla="*/ 0 h 17"/>
                  <a:gd name="T6" fmla="*/ 9 w 18"/>
                  <a:gd name="T7" fmla="*/ 0 h 17"/>
                  <a:gd name="T8" fmla="*/ 3 w 18"/>
                  <a:gd name="T9" fmla="*/ 3 h 17"/>
                  <a:gd name="T10" fmla="*/ 0 w 18"/>
                  <a:gd name="T11" fmla="*/ 9 h 17"/>
                  <a:gd name="T12" fmla="*/ 0 w 18"/>
                  <a:gd name="T13" fmla="*/ 11 h 17"/>
                  <a:gd name="T14" fmla="*/ 3 w 18"/>
                  <a:gd name="T15" fmla="*/ 15 h 17"/>
                  <a:gd name="T16" fmla="*/ 9 w 18"/>
                  <a:gd name="T17" fmla="*/ 17 h 17"/>
                  <a:gd name="T18" fmla="*/ 12 w 18"/>
                  <a:gd name="T19" fmla="*/ 16 h 17"/>
                  <a:gd name="T20" fmla="*/ 12 w 18"/>
                  <a:gd name="T21" fmla="*/ 15 h 17"/>
                  <a:gd name="T22" fmla="*/ 13 w 18"/>
                  <a:gd name="T23" fmla="*/ 15 h 17"/>
                  <a:gd name="T24" fmla="*/ 15 w 18"/>
                  <a:gd name="T25" fmla="*/ 15 h 17"/>
                  <a:gd name="T26" fmla="*/ 15 w 18"/>
                  <a:gd name="T27" fmla="*/ 12 h 17"/>
                  <a:gd name="T28" fmla="*/ 15 w 18"/>
                  <a:gd name="T29" fmla="*/ 11 h 17"/>
                  <a:gd name="T30" fmla="*/ 17 w 18"/>
                  <a:gd name="T31" fmla="*/ 11 h 17"/>
                  <a:gd name="T32" fmla="*/ 18 w 18"/>
                  <a:gd name="T33"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18" y="9"/>
                    </a:moveTo>
                    <a:lnTo>
                      <a:pt x="15" y="3"/>
                    </a:lnTo>
                    <a:lnTo>
                      <a:pt x="12" y="0"/>
                    </a:lnTo>
                    <a:lnTo>
                      <a:pt x="9" y="0"/>
                    </a:lnTo>
                    <a:lnTo>
                      <a:pt x="3" y="3"/>
                    </a:lnTo>
                    <a:lnTo>
                      <a:pt x="0" y="9"/>
                    </a:lnTo>
                    <a:lnTo>
                      <a:pt x="0" y="11"/>
                    </a:lnTo>
                    <a:lnTo>
                      <a:pt x="3" y="15"/>
                    </a:lnTo>
                    <a:lnTo>
                      <a:pt x="9" y="17"/>
                    </a:lnTo>
                    <a:lnTo>
                      <a:pt x="12" y="16"/>
                    </a:lnTo>
                    <a:lnTo>
                      <a:pt x="12" y="15"/>
                    </a:lnTo>
                    <a:lnTo>
                      <a:pt x="13" y="15"/>
                    </a:lnTo>
                    <a:lnTo>
                      <a:pt x="15" y="15"/>
                    </a:lnTo>
                    <a:lnTo>
                      <a:pt x="15" y="12"/>
                    </a:lnTo>
                    <a:lnTo>
                      <a:pt x="15" y="11"/>
                    </a:lnTo>
                    <a:lnTo>
                      <a:pt x="17" y="11"/>
                    </a:lnTo>
                    <a:lnTo>
                      <a:pt x="18"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06" name="Freeform 2374">
                <a:extLst>
                  <a:ext uri="{FF2B5EF4-FFF2-40B4-BE49-F238E27FC236}">
                    <a16:creationId xmlns:a16="http://schemas.microsoft.com/office/drawing/2014/main" id="{57FB13DC-E1CD-C882-79C7-5DBCA2C67771}"/>
                  </a:ext>
                </a:extLst>
              </p:cNvPr>
              <p:cNvSpPr>
                <a:spLocks/>
              </p:cNvSpPr>
              <p:nvPr/>
            </p:nvSpPr>
            <p:spPr bwMode="auto">
              <a:xfrm>
                <a:off x="988" y="3862"/>
                <a:ext cx="5" cy="4"/>
              </a:xfrm>
              <a:custGeom>
                <a:avLst/>
                <a:gdLst>
                  <a:gd name="T0" fmla="*/ 9 w 18"/>
                  <a:gd name="T1" fmla="*/ 0 h 16"/>
                  <a:gd name="T2" fmla="*/ 3 w 18"/>
                  <a:gd name="T3" fmla="*/ 3 h 16"/>
                  <a:gd name="T4" fmla="*/ 0 w 18"/>
                  <a:gd name="T5" fmla="*/ 9 h 16"/>
                  <a:gd name="T6" fmla="*/ 3 w 18"/>
                  <a:gd name="T7" fmla="*/ 14 h 16"/>
                  <a:gd name="T8" fmla="*/ 9 w 18"/>
                  <a:gd name="T9" fmla="*/ 16 h 16"/>
                  <a:gd name="T10" fmla="*/ 12 w 18"/>
                  <a:gd name="T11" fmla="*/ 15 h 16"/>
                  <a:gd name="T12" fmla="*/ 12 w 18"/>
                  <a:gd name="T13" fmla="*/ 14 h 16"/>
                  <a:gd name="T14" fmla="*/ 13 w 18"/>
                  <a:gd name="T15" fmla="*/ 14 h 16"/>
                  <a:gd name="T16" fmla="*/ 15 w 18"/>
                  <a:gd name="T17" fmla="*/ 14 h 16"/>
                  <a:gd name="T18" fmla="*/ 18 w 18"/>
                  <a:gd name="T19" fmla="*/ 9 h 16"/>
                  <a:gd name="T20" fmla="*/ 15 w 18"/>
                  <a:gd name="T21" fmla="*/ 3 h 16"/>
                  <a:gd name="T22" fmla="*/ 12 w 18"/>
                  <a:gd name="T23" fmla="*/ 0 h 16"/>
                  <a:gd name="T24" fmla="*/ 9 w 18"/>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9" y="0"/>
                    </a:moveTo>
                    <a:lnTo>
                      <a:pt x="3" y="3"/>
                    </a:lnTo>
                    <a:lnTo>
                      <a:pt x="0" y="9"/>
                    </a:lnTo>
                    <a:lnTo>
                      <a:pt x="3" y="14"/>
                    </a:lnTo>
                    <a:lnTo>
                      <a:pt x="9" y="16"/>
                    </a:lnTo>
                    <a:lnTo>
                      <a:pt x="12" y="15"/>
                    </a:lnTo>
                    <a:lnTo>
                      <a:pt x="12" y="14"/>
                    </a:lnTo>
                    <a:lnTo>
                      <a:pt x="13" y="14"/>
                    </a:lnTo>
                    <a:lnTo>
                      <a:pt x="15" y="14"/>
                    </a:lnTo>
                    <a:lnTo>
                      <a:pt x="18" y="9"/>
                    </a:lnTo>
                    <a:lnTo>
                      <a:pt x="15" y="3"/>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07" name="Freeform 2375">
                <a:extLst>
                  <a:ext uri="{FF2B5EF4-FFF2-40B4-BE49-F238E27FC236}">
                    <a16:creationId xmlns:a16="http://schemas.microsoft.com/office/drawing/2014/main" id="{E4CBFC85-987C-6D10-B8E2-D88D5BFC382A}"/>
                  </a:ext>
                </a:extLst>
              </p:cNvPr>
              <p:cNvSpPr>
                <a:spLocks/>
              </p:cNvSpPr>
              <p:nvPr/>
            </p:nvSpPr>
            <p:spPr bwMode="auto">
              <a:xfrm>
                <a:off x="988" y="3868"/>
                <a:ext cx="5" cy="5"/>
              </a:xfrm>
              <a:custGeom>
                <a:avLst/>
                <a:gdLst>
                  <a:gd name="T0" fmla="*/ 9 w 18"/>
                  <a:gd name="T1" fmla="*/ 0 h 17"/>
                  <a:gd name="T2" fmla="*/ 3 w 18"/>
                  <a:gd name="T3" fmla="*/ 2 h 17"/>
                  <a:gd name="T4" fmla="*/ 0 w 18"/>
                  <a:gd name="T5" fmla="*/ 9 h 17"/>
                  <a:gd name="T6" fmla="*/ 0 w 18"/>
                  <a:gd name="T7" fmla="*/ 11 h 17"/>
                  <a:gd name="T8" fmla="*/ 3 w 18"/>
                  <a:gd name="T9" fmla="*/ 15 h 17"/>
                  <a:gd name="T10" fmla="*/ 9 w 18"/>
                  <a:gd name="T11" fmla="*/ 17 h 17"/>
                  <a:gd name="T12" fmla="*/ 12 w 18"/>
                  <a:gd name="T13" fmla="*/ 16 h 17"/>
                  <a:gd name="T14" fmla="*/ 12 w 18"/>
                  <a:gd name="T15" fmla="*/ 15 h 17"/>
                  <a:gd name="T16" fmla="*/ 13 w 18"/>
                  <a:gd name="T17" fmla="*/ 15 h 17"/>
                  <a:gd name="T18" fmla="*/ 15 w 18"/>
                  <a:gd name="T19" fmla="*/ 15 h 17"/>
                  <a:gd name="T20" fmla="*/ 15 w 18"/>
                  <a:gd name="T21" fmla="*/ 12 h 17"/>
                  <a:gd name="T22" fmla="*/ 15 w 18"/>
                  <a:gd name="T23" fmla="*/ 11 h 17"/>
                  <a:gd name="T24" fmla="*/ 17 w 18"/>
                  <a:gd name="T25" fmla="*/ 11 h 17"/>
                  <a:gd name="T26" fmla="*/ 18 w 18"/>
                  <a:gd name="T27" fmla="*/ 9 h 17"/>
                  <a:gd name="T28" fmla="*/ 15 w 18"/>
                  <a:gd name="T29" fmla="*/ 2 h 17"/>
                  <a:gd name="T30" fmla="*/ 12 w 18"/>
                  <a:gd name="T31" fmla="*/ 0 h 17"/>
                  <a:gd name="T32" fmla="*/ 9 w 18"/>
                  <a:gd name="T3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9" y="0"/>
                    </a:moveTo>
                    <a:lnTo>
                      <a:pt x="3" y="2"/>
                    </a:lnTo>
                    <a:lnTo>
                      <a:pt x="0" y="9"/>
                    </a:lnTo>
                    <a:lnTo>
                      <a:pt x="0" y="11"/>
                    </a:lnTo>
                    <a:lnTo>
                      <a:pt x="3" y="15"/>
                    </a:lnTo>
                    <a:lnTo>
                      <a:pt x="9" y="17"/>
                    </a:lnTo>
                    <a:lnTo>
                      <a:pt x="12" y="16"/>
                    </a:lnTo>
                    <a:lnTo>
                      <a:pt x="12" y="15"/>
                    </a:lnTo>
                    <a:lnTo>
                      <a:pt x="13" y="15"/>
                    </a:lnTo>
                    <a:lnTo>
                      <a:pt x="15" y="15"/>
                    </a:lnTo>
                    <a:lnTo>
                      <a:pt x="15" y="12"/>
                    </a:lnTo>
                    <a:lnTo>
                      <a:pt x="15" y="11"/>
                    </a:lnTo>
                    <a:lnTo>
                      <a:pt x="17" y="11"/>
                    </a:lnTo>
                    <a:lnTo>
                      <a:pt x="18" y="9"/>
                    </a:lnTo>
                    <a:lnTo>
                      <a:pt x="15" y="2"/>
                    </a:lnTo>
                    <a:lnTo>
                      <a:pt x="12"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08" name="Freeform 2376">
                <a:extLst>
                  <a:ext uri="{FF2B5EF4-FFF2-40B4-BE49-F238E27FC236}">
                    <a16:creationId xmlns:a16="http://schemas.microsoft.com/office/drawing/2014/main" id="{0A8A5461-6869-EB18-D369-34AB1755A8FE}"/>
                  </a:ext>
                </a:extLst>
              </p:cNvPr>
              <p:cNvSpPr>
                <a:spLocks/>
              </p:cNvSpPr>
              <p:nvPr/>
            </p:nvSpPr>
            <p:spPr bwMode="auto">
              <a:xfrm>
                <a:off x="995" y="3868"/>
                <a:ext cx="4" cy="5"/>
              </a:xfrm>
              <a:custGeom>
                <a:avLst/>
                <a:gdLst>
                  <a:gd name="T0" fmla="*/ 14 w 17"/>
                  <a:gd name="T1" fmla="*/ 2 h 17"/>
                  <a:gd name="T2" fmla="*/ 10 w 17"/>
                  <a:gd name="T3" fmla="*/ 0 h 17"/>
                  <a:gd name="T4" fmla="*/ 8 w 17"/>
                  <a:gd name="T5" fmla="*/ 0 h 17"/>
                  <a:gd name="T6" fmla="*/ 3 w 17"/>
                  <a:gd name="T7" fmla="*/ 2 h 17"/>
                  <a:gd name="T8" fmla="*/ 0 w 17"/>
                  <a:gd name="T9" fmla="*/ 9 h 17"/>
                  <a:gd name="T10" fmla="*/ 0 w 17"/>
                  <a:gd name="T11" fmla="*/ 11 h 17"/>
                  <a:gd name="T12" fmla="*/ 3 w 17"/>
                  <a:gd name="T13" fmla="*/ 15 h 17"/>
                  <a:gd name="T14" fmla="*/ 8 w 17"/>
                  <a:gd name="T15" fmla="*/ 17 h 17"/>
                  <a:gd name="T16" fmla="*/ 10 w 17"/>
                  <a:gd name="T17" fmla="*/ 16 h 17"/>
                  <a:gd name="T18" fmla="*/ 10 w 17"/>
                  <a:gd name="T19" fmla="*/ 15 h 17"/>
                  <a:gd name="T20" fmla="*/ 12 w 17"/>
                  <a:gd name="T21" fmla="*/ 15 h 17"/>
                  <a:gd name="T22" fmla="*/ 14 w 17"/>
                  <a:gd name="T23" fmla="*/ 15 h 17"/>
                  <a:gd name="T24" fmla="*/ 14 w 17"/>
                  <a:gd name="T25" fmla="*/ 12 h 17"/>
                  <a:gd name="T26" fmla="*/ 14 w 17"/>
                  <a:gd name="T27" fmla="*/ 11 h 17"/>
                  <a:gd name="T28" fmla="*/ 15 w 17"/>
                  <a:gd name="T29" fmla="*/ 11 h 17"/>
                  <a:gd name="T30" fmla="*/ 17 w 17"/>
                  <a:gd name="T31" fmla="*/ 9 h 17"/>
                  <a:gd name="T32" fmla="*/ 14 w 17"/>
                  <a:gd name="T33" fmla="*/ 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 h="17">
                    <a:moveTo>
                      <a:pt x="14" y="2"/>
                    </a:moveTo>
                    <a:lnTo>
                      <a:pt x="10" y="0"/>
                    </a:lnTo>
                    <a:lnTo>
                      <a:pt x="8" y="0"/>
                    </a:lnTo>
                    <a:lnTo>
                      <a:pt x="3" y="2"/>
                    </a:lnTo>
                    <a:lnTo>
                      <a:pt x="0" y="9"/>
                    </a:lnTo>
                    <a:lnTo>
                      <a:pt x="0" y="11"/>
                    </a:lnTo>
                    <a:lnTo>
                      <a:pt x="3" y="15"/>
                    </a:lnTo>
                    <a:lnTo>
                      <a:pt x="8" y="17"/>
                    </a:lnTo>
                    <a:lnTo>
                      <a:pt x="10" y="16"/>
                    </a:lnTo>
                    <a:lnTo>
                      <a:pt x="10" y="15"/>
                    </a:lnTo>
                    <a:lnTo>
                      <a:pt x="12" y="15"/>
                    </a:lnTo>
                    <a:lnTo>
                      <a:pt x="14" y="15"/>
                    </a:lnTo>
                    <a:lnTo>
                      <a:pt x="14" y="12"/>
                    </a:lnTo>
                    <a:lnTo>
                      <a:pt x="14" y="11"/>
                    </a:lnTo>
                    <a:lnTo>
                      <a:pt x="15" y="11"/>
                    </a:lnTo>
                    <a:lnTo>
                      <a:pt x="17" y="9"/>
                    </a:lnTo>
                    <a:lnTo>
                      <a:pt x="14"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09" name="Freeform 2377">
                <a:extLst>
                  <a:ext uri="{FF2B5EF4-FFF2-40B4-BE49-F238E27FC236}">
                    <a16:creationId xmlns:a16="http://schemas.microsoft.com/office/drawing/2014/main" id="{93A044ED-27D8-B644-D5EC-B02C23E908A5}"/>
                  </a:ext>
                </a:extLst>
              </p:cNvPr>
              <p:cNvSpPr>
                <a:spLocks/>
              </p:cNvSpPr>
              <p:nvPr/>
            </p:nvSpPr>
            <p:spPr bwMode="auto">
              <a:xfrm>
                <a:off x="1008" y="3856"/>
                <a:ext cx="4" cy="4"/>
              </a:xfrm>
              <a:custGeom>
                <a:avLst/>
                <a:gdLst>
                  <a:gd name="T0" fmla="*/ 14 w 17"/>
                  <a:gd name="T1" fmla="*/ 3 h 17"/>
                  <a:gd name="T2" fmla="*/ 9 w 17"/>
                  <a:gd name="T3" fmla="*/ 0 h 17"/>
                  <a:gd name="T4" fmla="*/ 3 w 17"/>
                  <a:gd name="T5" fmla="*/ 3 h 17"/>
                  <a:gd name="T6" fmla="*/ 0 w 17"/>
                  <a:gd name="T7" fmla="*/ 9 h 17"/>
                  <a:gd name="T8" fmla="*/ 0 w 17"/>
                  <a:gd name="T9" fmla="*/ 11 h 17"/>
                  <a:gd name="T10" fmla="*/ 3 w 17"/>
                  <a:gd name="T11" fmla="*/ 15 h 17"/>
                  <a:gd name="T12" fmla="*/ 9 w 17"/>
                  <a:gd name="T13" fmla="*/ 17 h 17"/>
                  <a:gd name="T14" fmla="*/ 14 w 17"/>
                  <a:gd name="T15" fmla="*/ 15 h 17"/>
                  <a:gd name="T16" fmla="*/ 14 w 17"/>
                  <a:gd name="T17" fmla="*/ 12 h 17"/>
                  <a:gd name="T18" fmla="*/ 14 w 17"/>
                  <a:gd name="T19" fmla="*/ 11 h 17"/>
                  <a:gd name="T20" fmla="*/ 15 w 17"/>
                  <a:gd name="T21" fmla="*/ 11 h 17"/>
                  <a:gd name="T22" fmla="*/ 17 w 17"/>
                  <a:gd name="T23" fmla="*/ 9 h 17"/>
                  <a:gd name="T24" fmla="*/ 14 w 17"/>
                  <a:gd name="T25" fmla="*/ 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14" y="3"/>
                    </a:moveTo>
                    <a:lnTo>
                      <a:pt x="9" y="0"/>
                    </a:lnTo>
                    <a:lnTo>
                      <a:pt x="3" y="3"/>
                    </a:lnTo>
                    <a:lnTo>
                      <a:pt x="0" y="9"/>
                    </a:lnTo>
                    <a:lnTo>
                      <a:pt x="0" y="11"/>
                    </a:lnTo>
                    <a:lnTo>
                      <a:pt x="3" y="15"/>
                    </a:lnTo>
                    <a:lnTo>
                      <a:pt x="9" y="17"/>
                    </a:lnTo>
                    <a:lnTo>
                      <a:pt x="14" y="15"/>
                    </a:lnTo>
                    <a:lnTo>
                      <a:pt x="14" y="12"/>
                    </a:lnTo>
                    <a:lnTo>
                      <a:pt x="14" y="11"/>
                    </a:lnTo>
                    <a:lnTo>
                      <a:pt x="15" y="11"/>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10" name="Freeform 2378">
                <a:extLst>
                  <a:ext uri="{FF2B5EF4-FFF2-40B4-BE49-F238E27FC236}">
                    <a16:creationId xmlns:a16="http://schemas.microsoft.com/office/drawing/2014/main" id="{EA89B8FE-85A2-42CB-F44B-64C7ED7C59D7}"/>
                  </a:ext>
                </a:extLst>
              </p:cNvPr>
              <p:cNvSpPr>
                <a:spLocks/>
              </p:cNvSpPr>
              <p:nvPr/>
            </p:nvSpPr>
            <p:spPr bwMode="auto">
              <a:xfrm>
                <a:off x="1008" y="3862"/>
                <a:ext cx="4" cy="4"/>
              </a:xfrm>
              <a:custGeom>
                <a:avLst/>
                <a:gdLst>
                  <a:gd name="T0" fmla="*/ 9 w 17"/>
                  <a:gd name="T1" fmla="*/ 0 h 16"/>
                  <a:gd name="T2" fmla="*/ 3 w 17"/>
                  <a:gd name="T3" fmla="*/ 3 h 16"/>
                  <a:gd name="T4" fmla="*/ 0 w 17"/>
                  <a:gd name="T5" fmla="*/ 9 h 16"/>
                  <a:gd name="T6" fmla="*/ 3 w 17"/>
                  <a:gd name="T7" fmla="*/ 14 h 16"/>
                  <a:gd name="T8" fmla="*/ 9 w 17"/>
                  <a:gd name="T9" fmla="*/ 16 h 16"/>
                  <a:gd name="T10" fmla="*/ 14 w 17"/>
                  <a:gd name="T11" fmla="*/ 14 h 16"/>
                  <a:gd name="T12" fmla="*/ 17 w 17"/>
                  <a:gd name="T13" fmla="*/ 9 h 16"/>
                  <a:gd name="T14" fmla="*/ 14 w 17"/>
                  <a:gd name="T15" fmla="*/ 3 h 16"/>
                  <a:gd name="T16" fmla="*/ 9 w 17"/>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9" y="0"/>
                    </a:moveTo>
                    <a:lnTo>
                      <a:pt x="3" y="3"/>
                    </a:lnTo>
                    <a:lnTo>
                      <a:pt x="0" y="9"/>
                    </a:lnTo>
                    <a:lnTo>
                      <a:pt x="3" y="14"/>
                    </a:lnTo>
                    <a:lnTo>
                      <a:pt x="9" y="16"/>
                    </a:lnTo>
                    <a:lnTo>
                      <a:pt x="14" y="14"/>
                    </a:lnTo>
                    <a:lnTo>
                      <a:pt x="17" y="9"/>
                    </a:lnTo>
                    <a:lnTo>
                      <a:pt x="14" y="3"/>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11" name="Freeform 2379">
                <a:extLst>
                  <a:ext uri="{FF2B5EF4-FFF2-40B4-BE49-F238E27FC236}">
                    <a16:creationId xmlns:a16="http://schemas.microsoft.com/office/drawing/2014/main" id="{D8F83D82-2AE9-CE65-80FB-F46177847F42}"/>
                  </a:ext>
                </a:extLst>
              </p:cNvPr>
              <p:cNvSpPr>
                <a:spLocks/>
              </p:cNvSpPr>
              <p:nvPr/>
            </p:nvSpPr>
            <p:spPr bwMode="auto">
              <a:xfrm>
                <a:off x="1001" y="3856"/>
                <a:ext cx="4" cy="4"/>
              </a:xfrm>
              <a:custGeom>
                <a:avLst/>
                <a:gdLst>
                  <a:gd name="T0" fmla="*/ 18 w 18"/>
                  <a:gd name="T1" fmla="*/ 9 h 17"/>
                  <a:gd name="T2" fmla="*/ 15 w 18"/>
                  <a:gd name="T3" fmla="*/ 3 h 17"/>
                  <a:gd name="T4" fmla="*/ 11 w 18"/>
                  <a:gd name="T5" fmla="*/ 0 h 17"/>
                  <a:gd name="T6" fmla="*/ 9 w 18"/>
                  <a:gd name="T7" fmla="*/ 0 h 17"/>
                  <a:gd name="T8" fmla="*/ 3 w 18"/>
                  <a:gd name="T9" fmla="*/ 3 h 17"/>
                  <a:gd name="T10" fmla="*/ 0 w 18"/>
                  <a:gd name="T11" fmla="*/ 9 h 17"/>
                  <a:gd name="T12" fmla="*/ 0 w 18"/>
                  <a:gd name="T13" fmla="*/ 11 h 17"/>
                  <a:gd name="T14" fmla="*/ 3 w 18"/>
                  <a:gd name="T15" fmla="*/ 15 h 17"/>
                  <a:gd name="T16" fmla="*/ 9 w 18"/>
                  <a:gd name="T17" fmla="*/ 17 h 17"/>
                  <a:gd name="T18" fmla="*/ 11 w 18"/>
                  <a:gd name="T19" fmla="*/ 16 h 17"/>
                  <a:gd name="T20" fmla="*/ 11 w 18"/>
                  <a:gd name="T21" fmla="*/ 15 h 17"/>
                  <a:gd name="T22" fmla="*/ 13 w 18"/>
                  <a:gd name="T23" fmla="*/ 15 h 17"/>
                  <a:gd name="T24" fmla="*/ 15 w 18"/>
                  <a:gd name="T25" fmla="*/ 15 h 17"/>
                  <a:gd name="T26" fmla="*/ 15 w 18"/>
                  <a:gd name="T27" fmla="*/ 12 h 17"/>
                  <a:gd name="T28" fmla="*/ 15 w 18"/>
                  <a:gd name="T29" fmla="*/ 11 h 17"/>
                  <a:gd name="T30" fmla="*/ 16 w 18"/>
                  <a:gd name="T31" fmla="*/ 11 h 17"/>
                  <a:gd name="T32" fmla="*/ 18 w 18"/>
                  <a:gd name="T33" fmla="*/ 9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18" y="9"/>
                    </a:moveTo>
                    <a:lnTo>
                      <a:pt x="15" y="3"/>
                    </a:lnTo>
                    <a:lnTo>
                      <a:pt x="11" y="0"/>
                    </a:lnTo>
                    <a:lnTo>
                      <a:pt x="9" y="0"/>
                    </a:lnTo>
                    <a:lnTo>
                      <a:pt x="3" y="3"/>
                    </a:lnTo>
                    <a:lnTo>
                      <a:pt x="0" y="9"/>
                    </a:lnTo>
                    <a:lnTo>
                      <a:pt x="0" y="11"/>
                    </a:lnTo>
                    <a:lnTo>
                      <a:pt x="3" y="15"/>
                    </a:lnTo>
                    <a:lnTo>
                      <a:pt x="9" y="17"/>
                    </a:lnTo>
                    <a:lnTo>
                      <a:pt x="11" y="16"/>
                    </a:lnTo>
                    <a:lnTo>
                      <a:pt x="11" y="15"/>
                    </a:lnTo>
                    <a:lnTo>
                      <a:pt x="13" y="15"/>
                    </a:lnTo>
                    <a:lnTo>
                      <a:pt x="15" y="15"/>
                    </a:lnTo>
                    <a:lnTo>
                      <a:pt x="15" y="12"/>
                    </a:lnTo>
                    <a:lnTo>
                      <a:pt x="15" y="11"/>
                    </a:lnTo>
                    <a:lnTo>
                      <a:pt x="16" y="11"/>
                    </a:lnTo>
                    <a:lnTo>
                      <a:pt x="18"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12" name="Freeform 2380">
                <a:extLst>
                  <a:ext uri="{FF2B5EF4-FFF2-40B4-BE49-F238E27FC236}">
                    <a16:creationId xmlns:a16="http://schemas.microsoft.com/office/drawing/2014/main" id="{17402AF4-6DDE-4BA8-6373-470C2990CCD5}"/>
                  </a:ext>
                </a:extLst>
              </p:cNvPr>
              <p:cNvSpPr>
                <a:spLocks/>
              </p:cNvSpPr>
              <p:nvPr/>
            </p:nvSpPr>
            <p:spPr bwMode="auto">
              <a:xfrm>
                <a:off x="1001" y="3862"/>
                <a:ext cx="4" cy="4"/>
              </a:xfrm>
              <a:custGeom>
                <a:avLst/>
                <a:gdLst>
                  <a:gd name="T0" fmla="*/ 9 w 18"/>
                  <a:gd name="T1" fmla="*/ 0 h 16"/>
                  <a:gd name="T2" fmla="*/ 3 w 18"/>
                  <a:gd name="T3" fmla="*/ 3 h 16"/>
                  <a:gd name="T4" fmla="*/ 0 w 18"/>
                  <a:gd name="T5" fmla="*/ 9 h 16"/>
                  <a:gd name="T6" fmla="*/ 3 w 18"/>
                  <a:gd name="T7" fmla="*/ 14 h 16"/>
                  <a:gd name="T8" fmla="*/ 9 w 18"/>
                  <a:gd name="T9" fmla="*/ 16 h 16"/>
                  <a:gd name="T10" fmla="*/ 11 w 18"/>
                  <a:gd name="T11" fmla="*/ 15 h 16"/>
                  <a:gd name="T12" fmla="*/ 11 w 18"/>
                  <a:gd name="T13" fmla="*/ 14 h 16"/>
                  <a:gd name="T14" fmla="*/ 13 w 18"/>
                  <a:gd name="T15" fmla="*/ 14 h 16"/>
                  <a:gd name="T16" fmla="*/ 15 w 18"/>
                  <a:gd name="T17" fmla="*/ 14 h 16"/>
                  <a:gd name="T18" fmla="*/ 18 w 18"/>
                  <a:gd name="T19" fmla="*/ 9 h 16"/>
                  <a:gd name="T20" fmla="*/ 15 w 18"/>
                  <a:gd name="T21" fmla="*/ 3 h 16"/>
                  <a:gd name="T22" fmla="*/ 11 w 18"/>
                  <a:gd name="T23" fmla="*/ 0 h 16"/>
                  <a:gd name="T24" fmla="*/ 9 w 18"/>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9" y="0"/>
                    </a:moveTo>
                    <a:lnTo>
                      <a:pt x="3" y="3"/>
                    </a:lnTo>
                    <a:lnTo>
                      <a:pt x="0" y="9"/>
                    </a:lnTo>
                    <a:lnTo>
                      <a:pt x="3" y="14"/>
                    </a:lnTo>
                    <a:lnTo>
                      <a:pt x="9" y="16"/>
                    </a:lnTo>
                    <a:lnTo>
                      <a:pt x="11" y="15"/>
                    </a:lnTo>
                    <a:lnTo>
                      <a:pt x="11" y="14"/>
                    </a:lnTo>
                    <a:lnTo>
                      <a:pt x="13" y="14"/>
                    </a:lnTo>
                    <a:lnTo>
                      <a:pt x="15" y="14"/>
                    </a:lnTo>
                    <a:lnTo>
                      <a:pt x="18" y="9"/>
                    </a:lnTo>
                    <a:lnTo>
                      <a:pt x="15" y="3"/>
                    </a:lnTo>
                    <a:lnTo>
                      <a:pt x="11"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13" name="Freeform 2381">
                <a:extLst>
                  <a:ext uri="{FF2B5EF4-FFF2-40B4-BE49-F238E27FC236}">
                    <a16:creationId xmlns:a16="http://schemas.microsoft.com/office/drawing/2014/main" id="{8A267CF3-A8C8-741F-B4CA-406655F49848}"/>
                  </a:ext>
                </a:extLst>
              </p:cNvPr>
              <p:cNvSpPr>
                <a:spLocks/>
              </p:cNvSpPr>
              <p:nvPr/>
            </p:nvSpPr>
            <p:spPr bwMode="auto">
              <a:xfrm>
                <a:off x="1001" y="3868"/>
                <a:ext cx="4" cy="5"/>
              </a:xfrm>
              <a:custGeom>
                <a:avLst/>
                <a:gdLst>
                  <a:gd name="T0" fmla="*/ 9 w 18"/>
                  <a:gd name="T1" fmla="*/ 0 h 17"/>
                  <a:gd name="T2" fmla="*/ 3 w 18"/>
                  <a:gd name="T3" fmla="*/ 2 h 17"/>
                  <a:gd name="T4" fmla="*/ 0 w 18"/>
                  <a:gd name="T5" fmla="*/ 9 h 17"/>
                  <a:gd name="T6" fmla="*/ 0 w 18"/>
                  <a:gd name="T7" fmla="*/ 11 h 17"/>
                  <a:gd name="T8" fmla="*/ 3 w 18"/>
                  <a:gd name="T9" fmla="*/ 15 h 17"/>
                  <a:gd name="T10" fmla="*/ 9 w 18"/>
                  <a:gd name="T11" fmla="*/ 17 h 17"/>
                  <a:gd name="T12" fmla="*/ 11 w 18"/>
                  <a:gd name="T13" fmla="*/ 16 h 17"/>
                  <a:gd name="T14" fmla="*/ 11 w 18"/>
                  <a:gd name="T15" fmla="*/ 15 h 17"/>
                  <a:gd name="T16" fmla="*/ 13 w 18"/>
                  <a:gd name="T17" fmla="*/ 15 h 17"/>
                  <a:gd name="T18" fmla="*/ 15 w 18"/>
                  <a:gd name="T19" fmla="*/ 15 h 17"/>
                  <a:gd name="T20" fmla="*/ 15 w 18"/>
                  <a:gd name="T21" fmla="*/ 12 h 17"/>
                  <a:gd name="T22" fmla="*/ 15 w 18"/>
                  <a:gd name="T23" fmla="*/ 11 h 17"/>
                  <a:gd name="T24" fmla="*/ 16 w 18"/>
                  <a:gd name="T25" fmla="*/ 11 h 17"/>
                  <a:gd name="T26" fmla="*/ 18 w 18"/>
                  <a:gd name="T27" fmla="*/ 9 h 17"/>
                  <a:gd name="T28" fmla="*/ 15 w 18"/>
                  <a:gd name="T29" fmla="*/ 2 h 17"/>
                  <a:gd name="T30" fmla="*/ 11 w 18"/>
                  <a:gd name="T31" fmla="*/ 0 h 17"/>
                  <a:gd name="T32" fmla="*/ 9 w 18"/>
                  <a:gd name="T3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 h="17">
                    <a:moveTo>
                      <a:pt x="9" y="0"/>
                    </a:moveTo>
                    <a:lnTo>
                      <a:pt x="3" y="2"/>
                    </a:lnTo>
                    <a:lnTo>
                      <a:pt x="0" y="9"/>
                    </a:lnTo>
                    <a:lnTo>
                      <a:pt x="0" y="11"/>
                    </a:lnTo>
                    <a:lnTo>
                      <a:pt x="3" y="15"/>
                    </a:lnTo>
                    <a:lnTo>
                      <a:pt x="9" y="17"/>
                    </a:lnTo>
                    <a:lnTo>
                      <a:pt x="11" y="16"/>
                    </a:lnTo>
                    <a:lnTo>
                      <a:pt x="11" y="15"/>
                    </a:lnTo>
                    <a:lnTo>
                      <a:pt x="13" y="15"/>
                    </a:lnTo>
                    <a:lnTo>
                      <a:pt x="15" y="15"/>
                    </a:lnTo>
                    <a:lnTo>
                      <a:pt x="15" y="12"/>
                    </a:lnTo>
                    <a:lnTo>
                      <a:pt x="15" y="11"/>
                    </a:lnTo>
                    <a:lnTo>
                      <a:pt x="16" y="11"/>
                    </a:lnTo>
                    <a:lnTo>
                      <a:pt x="18" y="9"/>
                    </a:lnTo>
                    <a:lnTo>
                      <a:pt x="15" y="2"/>
                    </a:lnTo>
                    <a:lnTo>
                      <a:pt x="11" y="0"/>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14" name="Freeform 2382">
                <a:extLst>
                  <a:ext uri="{FF2B5EF4-FFF2-40B4-BE49-F238E27FC236}">
                    <a16:creationId xmlns:a16="http://schemas.microsoft.com/office/drawing/2014/main" id="{B5E2E70A-D5A6-2016-5AE7-C3D9BE0F77E0}"/>
                  </a:ext>
                </a:extLst>
              </p:cNvPr>
              <p:cNvSpPr>
                <a:spLocks/>
              </p:cNvSpPr>
              <p:nvPr/>
            </p:nvSpPr>
            <p:spPr bwMode="auto">
              <a:xfrm>
                <a:off x="1008" y="3868"/>
                <a:ext cx="4" cy="5"/>
              </a:xfrm>
              <a:custGeom>
                <a:avLst/>
                <a:gdLst>
                  <a:gd name="T0" fmla="*/ 9 w 17"/>
                  <a:gd name="T1" fmla="*/ 0 h 17"/>
                  <a:gd name="T2" fmla="*/ 3 w 17"/>
                  <a:gd name="T3" fmla="*/ 2 h 17"/>
                  <a:gd name="T4" fmla="*/ 0 w 17"/>
                  <a:gd name="T5" fmla="*/ 9 h 17"/>
                  <a:gd name="T6" fmla="*/ 0 w 17"/>
                  <a:gd name="T7" fmla="*/ 11 h 17"/>
                  <a:gd name="T8" fmla="*/ 3 w 17"/>
                  <a:gd name="T9" fmla="*/ 15 h 17"/>
                  <a:gd name="T10" fmla="*/ 9 w 17"/>
                  <a:gd name="T11" fmla="*/ 17 h 17"/>
                  <a:gd name="T12" fmla="*/ 14 w 17"/>
                  <a:gd name="T13" fmla="*/ 15 h 17"/>
                  <a:gd name="T14" fmla="*/ 14 w 17"/>
                  <a:gd name="T15" fmla="*/ 12 h 17"/>
                  <a:gd name="T16" fmla="*/ 14 w 17"/>
                  <a:gd name="T17" fmla="*/ 11 h 17"/>
                  <a:gd name="T18" fmla="*/ 15 w 17"/>
                  <a:gd name="T19" fmla="*/ 11 h 17"/>
                  <a:gd name="T20" fmla="*/ 17 w 17"/>
                  <a:gd name="T21" fmla="*/ 9 h 17"/>
                  <a:gd name="T22" fmla="*/ 14 w 17"/>
                  <a:gd name="T23" fmla="*/ 2 h 17"/>
                  <a:gd name="T24" fmla="*/ 9 w 17"/>
                  <a:gd name="T25"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7">
                    <a:moveTo>
                      <a:pt x="9" y="0"/>
                    </a:moveTo>
                    <a:lnTo>
                      <a:pt x="3" y="2"/>
                    </a:lnTo>
                    <a:lnTo>
                      <a:pt x="0" y="9"/>
                    </a:lnTo>
                    <a:lnTo>
                      <a:pt x="0" y="11"/>
                    </a:lnTo>
                    <a:lnTo>
                      <a:pt x="3" y="15"/>
                    </a:lnTo>
                    <a:lnTo>
                      <a:pt x="9" y="17"/>
                    </a:lnTo>
                    <a:lnTo>
                      <a:pt x="14" y="15"/>
                    </a:lnTo>
                    <a:lnTo>
                      <a:pt x="14" y="12"/>
                    </a:lnTo>
                    <a:lnTo>
                      <a:pt x="14" y="11"/>
                    </a:lnTo>
                    <a:lnTo>
                      <a:pt x="15" y="11"/>
                    </a:lnTo>
                    <a:lnTo>
                      <a:pt x="17" y="9"/>
                    </a:lnTo>
                    <a:lnTo>
                      <a:pt x="14" y="2"/>
                    </a:lnTo>
                    <a:lnTo>
                      <a:pt x="9"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15" name="Freeform 2383">
                <a:extLst>
                  <a:ext uri="{FF2B5EF4-FFF2-40B4-BE49-F238E27FC236}">
                    <a16:creationId xmlns:a16="http://schemas.microsoft.com/office/drawing/2014/main" id="{40B6A02E-8AEE-58EF-B564-6CF43583B878}"/>
                  </a:ext>
                </a:extLst>
              </p:cNvPr>
              <p:cNvSpPr>
                <a:spLocks/>
              </p:cNvSpPr>
              <p:nvPr/>
            </p:nvSpPr>
            <p:spPr bwMode="auto">
              <a:xfrm>
                <a:off x="1014" y="3875"/>
                <a:ext cx="4" cy="4"/>
              </a:xfrm>
              <a:custGeom>
                <a:avLst/>
                <a:gdLst>
                  <a:gd name="T0" fmla="*/ 1 w 16"/>
                  <a:gd name="T1" fmla="*/ 3 h 16"/>
                  <a:gd name="T2" fmla="*/ 0 w 16"/>
                  <a:gd name="T3" fmla="*/ 9 h 16"/>
                  <a:gd name="T4" fmla="*/ 1 w 16"/>
                  <a:gd name="T5" fmla="*/ 14 h 16"/>
                  <a:gd name="T6" fmla="*/ 7 w 16"/>
                  <a:gd name="T7" fmla="*/ 16 h 16"/>
                  <a:gd name="T8" fmla="*/ 9 w 16"/>
                  <a:gd name="T9" fmla="*/ 15 h 16"/>
                  <a:gd name="T10" fmla="*/ 9 w 16"/>
                  <a:gd name="T11" fmla="*/ 14 h 16"/>
                  <a:gd name="T12" fmla="*/ 11 w 16"/>
                  <a:gd name="T13" fmla="*/ 14 h 16"/>
                  <a:gd name="T14" fmla="*/ 13 w 16"/>
                  <a:gd name="T15" fmla="*/ 14 h 16"/>
                  <a:gd name="T16" fmla="*/ 16 w 16"/>
                  <a:gd name="T17" fmla="*/ 9 h 16"/>
                  <a:gd name="T18" fmla="*/ 13 w 16"/>
                  <a:gd name="T19" fmla="*/ 3 h 16"/>
                  <a:gd name="T20" fmla="*/ 9 w 16"/>
                  <a:gd name="T21" fmla="*/ 0 h 16"/>
                  <a:gd name="T22" fmla="*/ 7 w 16"/>
                  <a:gd name="T23" fmla="*/ 0 h 16"/>
                  <a:gd name="T24" fmla="*/ 1 w 16"/>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6">
                    <a:moveTo>
                      <a:pt x="1" y="3"/>
                    </a:moveTo>
                    <a:lnTo>
                      <a:pt x="0" y="9"/>
                    </a:lnTo>
                    <a:lnTo>
                      <a:pt x="1" y="14"/>
                    </a:lnTo>
                    <a:lnTo>
                      <a:pt x="7" y="16"/>
                    </a:lnTo>
                    <a:lnTo>
                      <a:pt x="9" y="15"/>
                    </a:lnTo>
                    <a:lnTo>
                      <a:pt x="9" y="14"/>
                    </a:lnTo>
                    <a:lnTo>
                      <a:pt x="11" y="14"/>
                    </a:lnTo>
                    <a:lnTo>
                      <a:pt x="13" y="14"/>
                    </a:lnTo>
                    <a:lnTo>
                      <a:pt x="16" y="9"/>
                    </a:lnTo>
                    <a:lnTo>
                      <a:pt x="13" y="3"/>
                    </a:lnTo>
                    <a:lnTo>
                      <a:pt x="9" y="0"/>
                    </a:lnTo>
                    <a:lnTo>
                      <a:pt x="7" y="0"/>
                    </a:lnTo>
                    <a:lnTo>
                      <a:pt x="1"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16" name="Freeform 2384">
                <a:extLst>
                  <a:ext uri="{FF2B5EF4-FFF2-40B4-BE49-F238E27FC236}">
                    <a16:creationId xmlns:a16="http://schemas.microsoft.com/office/drawing/2014/main" id="{7AF6DE6C-1BBF-5124-8F63-2256D98B6CBD}"/>
                  </a:ext>
                </a:extLst>
              </p:cNvPr>
              <p:cNvSpPr>
                <a:spLocks/>
              </p:cNvSpPr>
              <p:nvPr/>
            </p:nvSpPr>
            <p:spPr bwMode="auto">
              <a:xfrm>
                <a:off x="1008" y="3875"/>
                <a:ext cx="4" cy="4"/>
              </a:xfrm>
              <a:custGeom>
                <a:avLst/>
                <a:gdLst>
                  <a:gd name="T0" fmla="*/ 14 w 17"/>
                  <a:gd name="T1" fmla="*/ 3 h 16"/>
                  <a:gd name="T2" fmla="*/ 9 w 17"/>
                  <a:gd name="T3" fmla="*/ 0 h 16"/>
                  <a:gd name="T4" fmla="*/ 3 w 17"/>
                  <a:gd name="T5" fmla="*/ 3 h 16"/>
                  <a:gd name="T6" fmla="*/ 0 w 17"/>
                  <a:gd name="T7" fmla="*/ 9 h 16"/>
                  <a:gd name="T8" fmla="*/ 3 w 17"/>
                  <a:gd name="T9" fmla="*/ 14 h 16"/>
                  <a:gd name="T10" fmla="*/ 9 w 17"/>
                  <a:gd name="T11" fmla="*/ 16 h 16"/>
                  <a:gd name="T12" fmla="*/ 14 w 17"/>
                  <a:gd name="T13" fmla="*/ 14 h 16"/>
                  <a:gd name="T14" fmla="*/ 17 w 17"/>
                  <a:gd name="T15" fmla="*/ 9 h 16"/>
                  <a:gd name="T16" fmla="*/ 14 w 17"/>
                  <a:gd name="T17"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4" y="3"/>
                    </a:moveTo>
                    <a:lnTo>
                      <a:pt x="9" y="0"/>
                    </a:lnTo>
                    <a:lnTo>
                      <a:pt x="3" y="3"/>
                    </a:lnTo>
                    <a:lnTo>
                      <a:pt x="0" y="9"/>
                    </a:lnTo>
                    <a:lnTo>
                      <a:pt x="3" y="14"/>
                    </a:lnTo>
                    <a:lnTo>
                      <a:pt x="9" y="16"/>
                    </a:lnTo>
                    <a:lnTo>
                      <a:pt x="14" y="14"/>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17" name="Freeform 2385">
                <a:extLst>
                  <a:ext uri="{FF2B5EF4-FFF2-40B4-BE49-F238E27FC236}">
                    <a16:creationId xmlns:a16="http://schemas.microsoft.com/office/drawing/2014/main" id="{E58DD8CE-E78F-55DD-4101-36510361F412}"/>
                  </a:ext>
                </a:extLst>
              </p:cNvPr>
              <p:cNvSpPr>
                <a:spLocks/>
              </p:cNvSpPr>
              <p:nvPr/>
            </p:nvSpPr>
            <p:spPr bwMode="auto">
              <a:xfrm>
                <a:off x="1001" y="3875"/>
                <a:ext cx="4" cy="4"/>
              </a:xfrm>
              <a:custGeom>
                <a:avLst/>
                <a:gdLst>
                  <a:gd name="T0" fmla="*/ 18 w 18"/>
                  <a:gd name="T1" fmla="*/ 9 h 16"/>
                  <a:gd name="T2" fmla="*/ 15 w 18"/>
                  <a:gd name="T3" fmla="*/ 3 h 16"/>
                  <a:gd name="T4" fmla="*/ 11 w 18"/>
                  <a:gd name="T5" fmla="*/ 0 h 16"/>
                  <a:gd name="T6" fmla="*/ 9 w 18"/>
                  <a:gd name="T7" fmla="*/ 0 h 16"/>
                  <a:gd name="T8" fmla="*/ 3 w 18"/>
                  <a:gd name="T9" fmla="*/ 3 h 16"/>
                  <a:gd name="T10" fmla="*/ 0 w 18"/>
                  <a:gd name="T11" fmla="*/ 9 h 16"/>
                  <a:gd name="T12" fmla="*/ 3 w 18"/>
                  <a:gd name="T13" fmla="*/ 14 h 16"/>
                  <a:gd name="T14" fmla="*/ 9 w 18"/>
                  <a:gd name="T15" fmla="*/ 16 h 16"/>
                  <a:gd name="T16" fmla="*/ 11 w 18"/>
                  <a:gd name="T17" fmla="*/ 15 h 16"/>
                  <a:gd name="T18" fmla="*/ 11 w 18"/>
                  <a:gd name="T19" fmla="*/ 14 h 16"/>
                  <a:gd name="T20" fmla="*/ 13 w 18"/>
                  <a:gd name="T21" fmla="*/ 14 h 16"/>
                  <a:gd name="T22" fmla="*/ 15 w 18"/>
                  <a:gd name="T23" fmla="*/ 14 h 16"/>
                  <a:gd name="T24" fmla="*/ 18 w 18"/>
                  <a:gd name="T25"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18" y="9"/>
                    </a:moveTo>
                    <a:lnTo>
                      <a:pt x="15" y="3"/>
                    </a:lnTo>
                    <a:lnTo>
                      <a:pt x="11" y="0"/>
                    </a:lnTo>
                    <a:lnTo>
                      <a:pt x="9" y="0"/>
                    </a:lnTo>
                    <a:lnTo>
                      <a:pt x="3" y="3"/>
                    </a:lnTo>
                    <a:lnTo>
                      <a:pt x="0" y="9"/>
                    </a:lnTo>
                    <a:lnTo>
                      <a:pt x="3" y="14"/>
                    </a:lnTo>
                    <a:lnTo>
                      <a:pt x="9" y="16"/>
                    </a:lnTo>
                    <a:lnTo>
                      <a:pt x="11" y="15"/>
                    </a:lnTo>
                    <a:lnTo>
                      <a:pt x="11" y="14"/>
                    </a:lnTo>
                    <a:lnTo>
                      <a:pt x="13" y="14"/>
                    </a:lnTo>
                    <a:lnTo>
                      <a:pt x="15" y="14"/>
                    </a:lnTo>
                    <a:lnTo>
                      <a:pt x="18"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18" name="Freeform 2386">
                <a:extLst>
                  <a:ext uri="{FF2B5EF4-FFF2-40B4-BE49-F238E27FC236}">
                    <a16:creationId xmlns:a16="http://schemas.microsoft.com/office/drawing/2014/main" id="{5558D631-0B36-07BE-3B9C-C0B20F11F93A}"/>
                  </a:ext>
                </a:extLst>
              </p:cNvPr>
              <p:cNvSpPr>
                <a:spLocks/>
              </p:cNvSpPr>
              <p:nvPr/>
            </p:nvSpPr>
            <p:spPr bwMode="auto">
              <a:xfrm>
                <a:off x="995" y="3875"/>
                <a:ext cx="4" cy="4"/>
              </a:xfrm>
              <a:custGeom>
                <a:avLst/>
                <a:gdLst>
                  <a:gd name="T0" fmla="*/ 8 w 17"/>
                  <a:gd name="T1" fmla="*/ 0 h 16"/>
                  <a:gd name="T2" fmla="*/ 3 w 17"/>
                  <a:gd name="T3" fmla="*/ 3 h 16"/>
                  <a:gd name="T4" fmla="*/ 0 w 17"/>
                  <a:gd name="T5" fmla="*/ 9 h 16"/>
                  <a:gd name="T6" fmla="*/ 3 w 17"/>
                  <a:gd name="T7" fmla="*/ 14 h 16"/>
                  <a:gd name="T8" fmla="*/ 8 w 17"/>
                  <a:gd name="T9" fmla="*/ 16 h 16"/>
                  <a:gd name="T10" fmla="*/ 10 w 17"/>
                  <a:gd name="T11" fmla="*/ 15 h 16"/>
                  <a:gd name="T12" fmla="*/ 10 w 17"/>
                  <a:gd name="T13" fmla="*/ 14 h 16"/>
                  <a:gd name="T14" fmla="*/ 12 w 17"/>
                  <a:gd name="T15" fmla="*/ 14 h 16"/>
                  <a:gd name="T16" fmla="*/ 14 w 17"/>
                  <a:gd name="T17" fmla="*/ 14 h 16"/>
                  <a:gd name="T18" fmla="*/ 17 w 17"/>
                  <a:gd name="T19" fmla="*/ 9 h 16"/>
                  <a:gd name="T20" fmla="*/ 14 w 17"/>
                  <a:gd name="T21" fmla="*/ 3 h 16"/>
                  <a:gd name="T22" fmla="*/ 10 w 17"/>
                  <a:gd name="T23" fmla="*/ 0 h 16"/>
                  <a:gd name="T24" fmla="*/ 8 w 17"/>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8" y="0"/>
                    </a:moveTo>
                    <a:lnTo>
                      <a:pt x="3" y="3"/>
                    </a:lnTo>
                    <a:lnTo>
                      <a:pt x="0" y="9"/>
                    </a:lnTo>
                    <a:lnTo>
                      <a:pt x="3" y="14"/>
                    </a:lnTo>
                    <a:lnTo>
                      <a:pt x="8" y="16"/>
                    </a:lnTo>
                    <a:lnTo>
                      <a:pt x="10" y="15"/>
                    </a:lnTo>
                    <a:lnTo>
                      <a:pt x="10" y="14"/>
                    </a:lnTo>
                    <a:lnTo>
                      <a:pt x="12" y="14"/>
                    </a:lnTo>
                    <a:lnTo>
                      <a:pt x="14" y="14"/>
                    </a:lnTo>
                    <a:lnTo>
                      <a:pt x="17" y="9"/>
                    </a:lnTo>
                    <a:lnTo>
                      <a:pt x="14" y="3"/>
                    </a:lnTo>
                    <a:lnTo>
                      <a:pt x="10" y="0"/>
                    </a:lnTo>
                    <a:lnTo>
                      <a:pt x="8" y="0"/>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19" name="Freeform 2387">
                <a:extLst>
                  <a:ext uri="{FF2B5EF4-FFF2-40B4-BE49-F238E27FC236}">
                    <a16:creationId xmlns:a16="http://schemas.microsoft.com/office/drawing/2014/main" id="{B94BD769-2D0D-6D6A-55C4-FC3BED76B678}"/>
                  </a:ext>
                </a:extLst>
              </p:cNvPr>
              <p:cNvSpPr>
                <a:spLocks/>
              </p:cNvSpPr>
              <p:nvPr/>
            </p:nvSpPr>
            <p:spPr bwMode="auto">
              <a:xfrm>
                <a:off x="988" y="3875"/>
                <a:ext cx="5" cy="4"/>
              </a:xfrm>
              <a:custGeom>
                <a:avLst/>
                <a:gdLst>
                  <a:gd name="T0" fmla="*/ 15 w 18"/>
                  <a:gd name="T1" fmla="*/ 3 h 16"/>
                  <a:gd name="T2" fmla="*/ 12 w 18"/>
                  <a:gd name="T3" fmla="*/ 0 h 16"/>
                  <a:gd name="T4" fmla="*/ 9 w 18"/>
                  <a:gd name="T5" fmla="*/ 0 h 16"/>
                  <a:gd name="T6" fmla="*/ 3 w 18"/>
                  <a:gd name="T7" fmla="*/ 3 h 16"/>
                  <a:gd name="T8" fmla="*/ 0 w 18"/>
                  <a:gd name="T9" fmla="*/ 9 h 16"/>
                  <a:gd name="T10" fmla="*/ 3 w 18"/>
                  <a:gd name="T11" fmla="*/ 14 h 16"/>
                  <a:gd name="T12" fmla="*/ 9 w 18"/>
                  <a:gd name="T13" fmla="*/ 16 h 16"/>
                  <a:gd name="T14" fmla="*/ 12 w 18"/>
                  <a:gd name="T15" fmla="*/ 15 h 16"/>
                  <a:gd name="T16" fmla="*/ 12 w 18"/>
                  <a:gd name="T17" fmla="*/ 14 h 16"/>
                  <a:gd name="T18" fmla="*/ 13 w 18"/>
                  <a:gd name="T19" fmla="*/ 14 h 16"/>
                  <a:gd name="T20" fmla="*/ 15 w 18"/>
                  <a:gd name="T21" fmla="*/ 14 h 16"/>
                  <a:gd name="T22" fmla="*/ 18 w 18"/>
                  <a:gd name="T23" fmla="*/ 9 h 16"/>
                  <a:gd name="T24" fmla="*/ 15 w 18"/>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6">
                    <a:moveTo>
                      <a:pt x="15" y="3"/>
                    </a:moveTo>
                    <a:lnTo>
                      <a:pt x="12" y="0"/>
                    </a:lnTo>
                    <a:lnTo>
                      <a:pt x="9" y="0"/>
                    </a:lnTo>
                    <a:lnTo>
                      <a:pt x="3" y="3"/>
                    </a:lnTo>
                    <a:lnTo>
                      <a:pt x="0" y="9"/>
                    </a:lnTo>
                    <a:lnTo>
                      <a:pt x="3" y="14"/>
                    </a:lnTo>
                    <a:lnTo>
                      <a:pt x="9" y="16"/>
                    </a:lnTo>
                    <a:lnTo>
                      <a:pt x="12" y="15"/>
                    </a:lnTo>
                    <a:lnTo>
                      <a:pt x="12" y="14"/>
                    </a:lnTo>
                    <a:lnTo>
                      <a:pt x="13" y="14"/>
                    </a:lnTo>
                    <a:lnTo>
                      <a:pt x="15" y="14"/>
                    </a:lnTo>
                    <a:lnTo>
                      <a:pt x="18" y="9"/>
                    </a:lnTo>
                    <a:lnTo>
                      <a:pt x="15"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20" name="Freeform 2388">
                <a:extLst>
                  <a:ext uri="{FF2B5EF4-FFF2-40B4-BE49-F238E27FC236}">
                    <a16:creationId xmlns:a16="http://schemas.microsoft.com/office/drawing/2014/main" id="{8DEAE174-E801-58E1-203D-0140AF994729}"/>
                  </a:ext>
                </a:extLst>
              </p:cNvPr>
              <p:cNvSpPr>
                <a:spLocks/>
              </p:cNvSpPr>
              <p:nvPr/>
            </p:nvSpPr>
            <p:spPr bwMode="auto">
              <a:xfrm>
                <a:off x="1033" y="3875"/>
                <a:ext cx="4" cy="4"/>
              </a:xfrm>
              <a:custGeom>
                <a:avLst/>
                <a:gdLst>
                  <a:gd name="T0" fmla="*/ 16 w 16"/>
                  <a:gd name="T1" fmla="*/ 9 h 16"/>
                  <a:gd name="T2" fmla="*/ 14 w 16"/>
                  <a:gd name="T3" fmla="*/ 3 h 16"/>
                  <a:gd name="T4" fmla="*/ 9 w 16"/>
                  <a:gd name="T5" fmla="*/ 0 h 16"/>
                  <a:gd name="T6" fmla="*/ 3 w 16"/>
                  <a:gd name="T7" fmla="*/ 3 h 16"/>
                  <a:gd name="T8" fmla="*/ 0 w 16"/>
                  <a:gd name="T9" fmla="*/ 9 h 16"/>
                  <a:gd name="T10" fmla="*/ 3 w 16"/>
                  <a:gd name="T11" fmla="*/ 14 h 16"/>
                  <a:gd name="T12" fmla="*/ 9 w 16"/>
                  <a:gd name="T13" fmla="*/ 16 h 16"/>
                  <a:gd name="T14" fmla="*/ 14 w 16"/>
                  <a:gd name="T15" fmla="*/ 14 h 16"/>
                  <a:gd name="T16" fmla="*/ 16 w 16"/>
                  <a:gd name="T17"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9"/>
                    </a:moveTo>
                    <a:lnTo>
                      <a:pt x="14" y="3"/>
                    </a:lnTo>
                    <a:lnTo>
                      <a:pt x="9" y="0"/>
                    </a:lnTo>
                    <a:lnTo>
                      <a:pt x="3" y="3"/>
                    </a:lnTo>
                    <a:lnTo>
                      <a:pt x="0" y="9"/>
                    </a:lnTo>
                    <a:lnTo>
                      <a:pt x="3" y="14"/>
                    </a:lnTo>
                    <a:lnTo>
                      <a:pt x="9" y="16"/>
                    </a:lnTo>
                    <a:lnTo>
                      <a:pt x="14" y="14"/>
                    </a:lnTo>
                    <a:lnTo>
                      <a:pt x="16"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21" name="Freeform 2389">
                <a:extLst>
                  <a:ext uri="{FF2B5EF4-FFF2-40B4-BE49-F238E27FC236}">
                    <a16:creationId xmlns:a16="http://schemas.microsoft.com/office/drawing/2014/main" id="{AC5EE48B-0CAF-4AE6-C104-615D02765020}"/>
                  </a:ext>
                </a:extLst>
              </p:cNvPr>
              <p:cNvSpPr>
                <a:spLocks/>
              </p:cNvSpPr>
              <p:nvPr/>
            </p:nvSpPr>
            <p:spPr bwMode="auto">
              <a:xfrm>
                <a:off x="1027" y="3875"/>
                <a:ext cx="4" cy="4"/>
              </a:xfrm>
              <a:custGeom>
                <a:avLst/>
                <a:gdLst>
                  <a:gd name="T0" fmla="*/ 14 w 17"/>
                  <a:gd name="T1" fmla="*/ 3 h 16"/>
                  <a:gd name="T2" fmla="*/ 10 w 17"/>
                  <a:gd name="T3" fmla="*/ 0 h 16"/>
                  <a:gd name="T4" fmla="*/ 8 w 17"/>
                  <a:gd name="T5" fmla="*/ 0 h 16"/>
                  <a:gd name="T6" fmla="*/ 2 w 17"/>
                  <a:gd name="T7" fmla="*/ 3 h 16"/>
                  <a:gd name="T8" fmla="*/ 0 w 17"/>
                  <a:gd name="T9" fmla="*/ 9 h 16"/>
                  <a:gd name="T10" fmla="*/ 2 w 17"/>
                  <a:gd name="T11" fmla="*/ 14 h 16"/>
                  <a:gd name="T12" fmla="*/ 8 w 17"/>
                  <a:gd name="T13" fmla="*/ 16 h 16"/>
                  <a:gd name="T14" fmla="*/ 10 w 17"/>
                  <a:gd name="T15" fmla="*/ 15 h 16"/>
                  <a:gd name="T16" fmla="*/ 10 w 17"/>
                  <a:gd name="T17" fmla="*/ 14 h 16"/>
                  <a:gd name="T18" fmla="*/ 12 w 17"/>
                  <a:gd name="T19" fmla="*/ 14 h 16"/>
                  <a:gd name="T20" fmla="*/ 14 w 17"/>
                  <a:gd name="T21" fmla="*/ 14 h 16"/>
                  <a:gd name="T22" fmla="*/ 17 w 17"/>
                  <a:gd name="T23" fmla="*/ 9 h 16"/>
                  <a:gd name="T24" fmla="*/ 14 w 17"/>
                  <a:gd name="T25"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16">
                    <a:moveTo>
                      <a:pt x="14" y="3"/>
                    </a:moveTo>
                    <a:lnTo>
                      <a:pt x="10" y="0"/>
                    </a:lnTo>
                    <a:lnTo>
                      <a:pt x="8" y="0"/>
                    </a:lnTo>
                    <a:lnTo>
                      <a:pt x="2" y="3"/>
                    </a:lnTo>
                    <a:lnTo>
                      <a:pt x="0" y="9"/>
                    </a:lnTo>
                    <a:lnTo>
                      <a:pt x="2" y="14"/>
                    </a:lnTo>
                    <a:lnTo>
                      <a:pt x="8" y="16"/>
                    </a:lnTo>
                    <a:lnTo>
                      <a:pt x="10" y="15"/>
                    </a:lnTo>
                    <a:lnTo>
                      <a:pt x="10" y="14"/>
                    </a:lnTo>
                    <a:lnTo>
                      <a:pt x="12" y="14"/>
                    </a:lnTo>
                    <a:lnTo>
                      <a:pt x="14" y="14"/>
                    </a:lnTo>
                    <a:lnTo>
                      <a:pt x="17" y="9"/>
                    </a:lnTo>
                    <a:lnTo>
                      <a:pt x="14" y="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22" name="Freeform 2390">
                <a:extLst>
                  <a:ext uri="{FF2B5EF4-FFF2-40B4-BE49-F238E27FC236}">
                    <a16:creationId xmlns:a16="http://schemas.microsoft.com/office/drawing/2014/main" id="{F342ED77-5A89-32AD-F850-6E73039CBBEE}"/>
                  </a:ext>
                </a:extLst>
              </p:cNvPr>
              <p:cNvSpPr>
                <a:spLocks/>
              </p:cNvSpPr>
              <p:nvPr/>
            </p:nvSpPr>
            <p:spPr bwMode="auto">
              <a:xfrm>
                <a:off x="1020" y="3875"/>
                <a:ext cx="4" cy="4"/>
              </a:xfrm>
              <a:custGeom>
                <a:avLst/>
                <a:gdLst>
                  <a:gd name="T0" fmla="*/ 17 w 17"/>
                  <a:gd name="T1" fmla="*/ 9 h 16"/>
                  <a:gd name="T2" fmla="*/ 14 w 17"/>
                  <a:gd name="T3" fmla="*/ 3 h 16"/>
                  <a:gd name="T4" fmla="*/ 9 w 17"/>
                  <a:gd name="T5" fmla="*/ 0 h 16"/>
                  <a:gd name="T6" fmla="*/ 3 w 17"/>
                  <a:gd name="T7" fmla="*/ 3 h 16"/>
                  <a:gd name="T8" fmla="*/ 0 w 17"/>
                  <a:gd name="T9" fmla="*/ 9 h 16"/>
                  <a:gd name="T10" fmla="*/ 3 w 17"/>
                  <a:gd name="T11" fmla="*/ 14 h 16"/>
                  <a:gd name="T12" fmla="*/ 9 w 17"/>
                  <a:gd name="T13" fmla="*/ 16 h 16"/>
                  <a:gd name="T14" fmla="*/ 14 w 17"/>
                  <a:gd name="T15" fmla="*/ 14 h 16"/>
                  <a:gd name="T16" fmla="*/ 17 w 17"/>
                  <a:gd name="T17"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7" y="9"/>
                    </a:moveTo>
                    <a:lnTo>
                      <a:pt x="14" y="3"/>
                    </a:lnTo>
                    <a:lnTo>
                      <a:pt x="9" y="0"/>
                    </a:lnTo>
                    <a:lnTo>
                      <a:pt x="3" y="3"/>
                    </a:lnTo>
                    <a:lnTo>
                      <a:pt x="0" y="9"/>
                    </a:lnTo>
                    <a:lnTo>
                      <a:pt x="3" y="14"/>
                    </a:lnTo>
                    <a:lnTo>
                      <a:pt x="9" y="16"/>
                    </a:lnTo>
                    <a:lnTo>
                      <a:pt x="14" y="14"/>
                    </a:lnTo>
                    <a:lnTo>
                      <a:pt x="17" y="9"/>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26" name="Freeform 2394">
                <a:extLst>
                  <a:ext uri="{FF2B5EF4-FFF2-40B4-BE49-F238E27FC236}">
                    <a16:creationId xmlns:a16="http://schemas.microsoft.com/office/drawing/2014/main" id="{CB6A69AD-EA4E-5574-205A-ACE28E400C90}"/>
                  </a:ext>
                </a:extLst>
              </p:cNvPr>
              <p:cNvSpPr>
                <a:spLocks/>
              </p:cNvSpPr>
              <p:nvPr/>
            </p:nvSpPr>
            <p:spPr bwMode="auto">
              <a:xfrm>
                <a:off x="918" y="3806"/>
                <a:ext cx="29" cy="91"/>
              </a:xfrm>
              <a:custGeom>
                <a:avLst/>
                <a:gdLst>
                  <a:gd name="T0" fmla="*/ 115 w 118"/>
                  <a:gd name="T1" fmla="*/ 32 h 360"/>
                  <a:gd name="T2" fmla="*/ 117 w 118"/>
                  <a:gd name="T3" fmla="*/ 22 h 360"/>
                  <a:gd name="T4" fmla="*/ 118 w 118"/>
                  <a:gd name="T5" fmla="*/ 20 h 360"/>
                  <a:gd name="T6" fmla="*/ 118 w 118"/>
                  <a:gd name="T7" fmla="*/ 11 h 360"/>
                  <a:gd name="T8" fmla="*/ 117 w 118"/>
                  <a:gd name="T9" fmla="*/ 6 h 360"/>
                  <a:gd name="T10" fmla="*/ 113 w 118"/>
                  <a:gd name="T11" fmla="*/ 2 h 360"/>
                  <a:gd name="T12" fmla="*/ 110 w 118"/>
                  <a:gd name="T13" fmla="*/ 1 h 360"/>
                  <a:gd name="T14" fmla="*/ 103 w 118"/>
                  <a:gd name="T15" fmla="*/ 0 h 360"/>
                  <a:gd name="T16" fmla="*/ 96 w 118"/>
                  <a:gd name="T17" fmla="*/ 3 h 360"/>
                  <a:gd name="T18" fmla="*/ 86 w 118"/>
                  <a:gd name="T19" fmla="*/ 7 h 360"/>
                  <a:gd name="T20" fmla="*/ 76 w 118"/>
                  <a:gd name="T21" fmla="*/ 15 h 360"/>
                  <a:gd name="T22" fmla="*/ 62 w 118"/>
                  <a:gd name="T23" fmla="*/ 27 h 360"/>
                  <a:gd name="T24" fmla="*/ 44 w 118"/>
                  <a:gd name="T25" fmla="*/ 44 h 360"/>
                  <a:gd name="T26" fmla="*/ 30 w 118"/>
                  <a:gd name="T27" fmla="*/ 64 h 360"/>
                  <a:gd name="T28" fmla="*/ 19 w 118"/>
                  <a:gd name="T29" fmla="*/ 84 h 360"/>
                  <a:gd name="T30" fmla="*/ 10 w 118"/>
                  <a:gd name="T31" fmla="*/ 107 h 360"/>
                  <a:gd name="T32" fmla="*/ 4 w 118"/>
                  <a:gd name="T33" fmla="*/ 128 h 360"/>
                  <a:gd name="T34" fmla="*/ 0 w 118"/>
                  <a:gd name="T35" fmla="*/ 151 h 360"/>
                  <a:gd name="T36" fmla="*/ 0 w 118"/>
                  <a:gd name="T37" fmla="*/ 171 h 360"/>
                  <a:gd name="T38" fmla="*/ 0 w 118"/>
                  <a:gd name="T39" fmla="*/ 317 h 360"/>
                  <a:gd name="T40" fmla="*/ 3 w 118"/>
                  <a:gd name="T41" fmla="*/ 325 h 360"/>
                  <a:gd name="T42" fmla="*/ 8 w 118"/>
                  <a:gd name="T43" fmla="*/ 334 h 360"/>
                  <a:gd name="T44" fmla="*/ 13 w 118"/>
                  <a:gd name="T45" fmla="*/ 341 h 360"/>
                  <a:gd name="T46" fmla="*/ 20 w 118"/>
                  <a:gd name="T47" fmla="*/ 348 h 360"/>
                  <a:gd name="T48" fmla="*/ 28 w 118"/>
                  <a:gd name="T49" fmla="*/ 351 h 360"/>
                  <a:gd name="T50" fmla="*/ 38 w 118"/>
                  <a:gd name="T51" fmla="*/ 355 h 360"/>
                  <a:gd name="T52" fmla="*/ 49 w 118"/>
                  <a:gd name="T53" fmla="*/ 358 h 360"/>
                  <a:gd name="T54" fmla="*/ 62 w 118"/>
                  <a:gd name="T55" fmla="*/ 360 h 360"/>
                  <a:gd name="T56" fmla="*/ 62 w 118"/>
                  <a:gd name="T57" fmla="*/ 177 h 360"/>
                  <a:gd name="T58" fmla="*/ 64 w 118"/>
                  <a:gd name="T59" fmla="*/ 153 h 360"/>
                  <a:gd name="T60" fmla="*/ 70 w 118"/>
                  <a:gd name="T61" fmla="*/ 130 h 360"/>
                  <a:gd name="T62" fmla="*/ 80 w 118"/>
                  <a:gd name="T63" fmla="*/ 105 h 360"/>
                  <a:gd name="T64" fmla="*/ 95 w 118"/>
                  <a:gd name="T65" fmla="*/ 83 h 360"/>
                  <a:gd name="T66" fmla="*/ 101 w 118"/>
                  <a:gd name="T67" fmla="*/ 67 h 360"/>
                  <a:gd name="T68" fmla="*/ 107 w 118"/>
                  <a:gd name="T69" fmla="*/ 54 h 360"/>
                  <a:gd name="T70" fmla="*/ 111 w 118"/>
                  <a:gd name="T71" fmla="*/ 42 h 360"/>
                  <a:gd name="T72" fmla="*/ 115 w 118"/>
                  <a:gd name="T73" fmla="*/ 32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8" h="360">
                    <a:moveTo>
                      <a:pt x="115" y="32"/>
                    </a:moveTo>
                    <a:lnTo>
                      <a:pt x="117" y="22"/>
                    </a:lnTo>
                    <a:lnTo>
                      <a:pt x="118" y="20"/>
                    </a:lnTo>
                    <a:lnTo>
                      <a:pt x="118" y="11"/>
                    </a:lnTo>
                    <a:lnTo>
                      <a:pt x="117" y="6"/>
                    </a:lnTo>
                    <a:lnTo>
                      <a:pt x="113" y="2"/>
                    </a:lnTo>
                    <a:lnTo>
                      <a:pt x="110" y="1"/>
                    </a:lnTo>
                    <a:lnTo>
                      <a:pt x="103" y="0"/>
                    </a:lnTo>
                    <a:lnTo>
                      <a:pt x="96" y="3"/>
                    </a:lnTo>
                    <a:lnTo>
                      <a:pt x="86" y="7"/>
                    </a:lnTo>
                    <a:lnTo>
                      <a:pt x="76" y="15"/>
                    </a:lnTo>
                    <a:lnTo>
                      <a:pt x="62" y="27"/>
                    </a:lnTo>
                    <a:lnTo>
                      <a:pt x="44" y="44"/>
                    </a:lnTo>
                    <a:lnTo>
                      <a:pt x="30" y="64"/>
                    </a:lnTo>
                    <a:lnTo>
                      <a:pt x="19" y="84"/>
                    </a:lnTo>
                    <a:lnTo>
                      <a:pt x="10" y="107"/>
                    </a:lnTo>
                    <a:lnTo>
                      <a:pt x="4" y="128"/>
                    </a:lnTo>
                    <a:lnTo>
                      <a:pt x="0" y="151"/>
                    </a:lnTo>
                    <a:lnTo>
                      <a:pt x="0" y="171"/>
                    </a:lnTo>
                    <a:lnTo>
                      <a:pt x="0" y="317"/>
                    </a:lnTo>
                    <a:lnTo>
                      <a:pt x="3" y="325"/>
                    </a:lnTo>
                    <a:lnTo>
                      <a:pt x="8" y="334"/>
                    </a:lnTo>
                    <a:lnTo>
                      <a:pt x="13" y="341"/>
                    </a:lnTo>
                    <a:lnTo>
                      <a:pt x="20" y="348"/>
                    </a:lnTo>
                    <a:lnTo>
                      <a:pt x="28" y="351"/>
                    </a:lnTo>
                    <a:lnTo>
                      <a:pt x="38" y="355"/>
                    </a:lnTo>
                    <a:lnTo>
                      <a:pt x="49" y="358"/>
                    </a:lnTo>
                    <a:lnTo>
                      <a:pt x="62" y="360"/>
                    </a:lnTo>
                    <a:lnTo>
                      <a:pt x="62" y="177"/>
                    </a:lnTo>
                    <a:lnTo>
                      <a:pt x="64" y="153"/>
                    </a:lnTo>
                    <a:lnTo>
                      <a:pt x="70" y="130"/>
                    </a:lnTo>
                    <a:lnTo>
                      <a:pt x="80" y="105"/>
                    </a:lnTo>
                    <a:lnTo>
                      <a:pt x="95" y="83"/>
                    </a:lnTo>
                    <a:lnTo>
                      <a:pt x="101" y="67"/>
                    </a:lnTo>
                    <a:lnTo>
                      <a:pt x="107" y="54"/>
                    </a:lnTo>
                    <a:lnTo>
                      <a:pt x="111" y="42"/>
                    </a:lnTo>
                    <a:lnTo>
                      <a:pt x="115" y="3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27" name="Freeform 2395">
                <a:extLst>
                  <a:ext uri="{FF2B5EF4-FFF2-40B4-BE49-F238E27FC236}">
                    <a16:creationId xmlns:a16="http://schemas.microsoft.com/office/drawing/2014/main" id="{E50CDBD8-5B33-32C8-E4EB-620346374E9D}"/>
                  </a:ext>
                </a:extLst>
              </p:cNvPr>
              <p:cNvSpPr>
                <a:spLocks/>
              </p:cNvSpPr>
              <p:nvPr/>
            </p:nvSpPr>
            <p:spPr bwMode="auto">
              <a:xfrm>
                <a:off x="933" y="3811"/>
                <a:ext cx="93" cy="107"/>
              </a:xfrm>
              <a:custGeom>
                <a:avLst/>
                <a:gdLst>
                  <a:gd name="T0" fmla="*/ 55 w 371"/>
                  <a:gd name="T1" fmla="*/ 2 h 427"/>
                  <a:gd name="T2" fmla="*/ 53 w 371"/>
                  <a:gd name="T3" fmla="*/ 12 h 427"/>
                  <a:gd name="T4" fmla="*/ 49 w 371"/>
                  <a:gd name="T5" fmla="*/ 22 h 427"/>
                  <a:gd name="T6" fmla="*/ 45 w 371"/>
                  <a:gd name="T7" fmla="*/ 34 h 427"/>
                  <a:gd name="T8" fmla="*/ 39 w 371"/>
                  <a:gd name="T9" fmla="*/ 47 h 427"/>
                  <a:gd name="T10" fmla="*/ 33 w 371"/>
                  <a:gd name="T11" fmla="*/ 63 h 427"/>
                  <a:gd name="T12" fmla="*/ 18 w 371"/>
                  <a:gd name="T13" fmla="*/ 85 h 427"/>
                  <a:gd name="T14" fmla="*/ 8 w 371"/>
                  <a:gd name="T15" fmla="*/ 110 h 427"/>
                  <a:gd name="T16" fmla="*/ 2 w 371"/>
                  <a:gd name="T17" fmla="*/ 133 h 427"/>
                  <a:gd name="T18" fmla="*/ 0 w 371"/>
                  <a:gd name="T19" fmla="*/ 157 h 427"/>
                  <a:gd name="T20" fmla="*/ 0 w 371"/>
                  <a:gd name="T21" fmla="*/ 340 h 427"/>
                  <a:gd name="T22" fmla="*/ 40 w 371"/>
                  <a:gd name="T23" fmla="*/ 367 h 427"/>
                  <a:gd name="T24" fmla="*/ 84 w 371"/>
                  <a:gd name="T25" fmla="*/ 390 h 427"/>
                  <a:gd name="T26" fmla="*/ 127 w 371"/>
                  <a:gd name="T27" fmla="*/ 407 h 427"/>
                  <a:gd name="T28" fmla="*/ 173 w 371"/>
                  <a:gd name="T29" fmla="*/ 420 h 427"/>
                  <a:gd name="T30" fmla="*/ 219 w 371"/>
                  <a:gd name="T31" fmla="*/ 425 h 427"/>
                  <a:gd name="T32" fmla="*/ 269 w 371"/>
                  <a:gd name="T33" fmla="*/ 427 h 427"/>
                  <a:gd name="T34" fmla="*/ 294 w 371"/>
                  <a:gd name="T35" fmla="*/ 426 h 427"/>
                  <a:gd name="T36" fmla="*/ 319 w 371"/>
                  <a:gd name="T37" fmla="*/ 423 h 427"/>
                  <a:gd name="T38" fmla="*/ 371 w 371"/>
                  <a:gd name="T39" fmla="*/ 416 h 427"/>
                  <a:gd name="T40" fmla="*/ 371 w 371"/>
                  <a:gd name="T41" fmla="*/ 177 h 427"/>
                  <a:gd name="T42" fmla="*/ 369 w 371"/>
                  <a:gd name="T43" fmla="*/ 165 h 427"/>
                  <a:gd name="T44" fmla="*/ 367 w 371"/>
                  <a:gd name="T45" fmla="*/ 152 h 427"/>
                  <a:gd name="T46" fmla="*/ 360 w 371"/>
                  <a:gd name="T47" fmla="*/ 131 h 427"/>
                  <a:gd name="T48" fmla="*/ 345 w 371"/>
                  <a:gd name="T49" fmla="*/ 110 h 427"/>
                  <a:gd name="T50" fmla="*/ 336 w 371"/>
                  <a:gd name="T51" fmla="*/ 100 h 427"/>
                  <a:gd name="T52" fmla="*/ 326 w 371"/>
                  <a:gd name="T53" fmla="*/ 93 h 427"/>
                  <a:gd name="T54" fmla="*/ 309 w 371"/>
                  <a:gd name="T55" fmla="*/ 75 h 427"/>
                  <a:gd name="T56" fmla="*/ 299 w 371"/>
                  <a:gd name="T57" fmla="*/ 60 h 427"/>
                  <a:gd name="T58" fmla="*/ 292 w 371"/>
                  <a:gd name="T59" fmla="*/ 49 h 427"/>
                  <a:gd name="T60" fmla="*/ 291 w 371"/>
                  <a:gd name="T61" fmla="*/ 39 h 427"/>
                  <a:gd name="T62" fmla="*/ 258 w 371"/>
                  <a:gd name="T63" fmla="*/ 46 h 427"/>
                  <a:gd name="T64" fmla="*/ 225 w 371"/>
                  <a:gd name="T65" fmla="*/ 51 h 427"/>
                  <a:gd name="T66" fmla="*/ 194 w 371"/>
                  <a:gd name="T67" fmla="*/ 51 h 427"/>
                  <a:gd name="T68" fmla="*/ 166 w 371"/>
                  <a:gd name="T69" fmla="*/ 48 h 427"/>
                  <a:gd name="T70" fmla="*/ 136 w 371"/>
                  <a:gd name="T71" fmla="*/ 41 h 427"/>
                  <a:gd name="T72" fmla="*/ 109 w 371"/>
                  <a:gd name="T73" fmla="*/ 31 h 427"/>
                  <a:gd name="T74" fmla="*/ 81 w 371"/>
                  <a:gd name="T75" fmla="*/ 16 h 427"/>
                  <a:gd name="T76" fmla="*/ 56 w 371"/>
                  <a:gd name="T77" fmla="*/ 0 h 427"/>
                  <a:gd name="T78" fmla="*/ 55 w 371"/>
                  <a:gd name="T79" fmla="*/ 2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71" h="427">
                    <a:moveTo>
                      <a:pt x="55" y="2"/>
                    </a:moveTo>
                    <a:lnTo>
                      <a:pt x="53" y="12"/>
                    </a:lnTo>
                    <a:lnTo>
                      <a:pt x="49" y="22"/>
                    </a:lnTo>
                    <a:lnTo>
                      <a:pt x="45" y="34"/>
                    </a:lnTo>
                    <a:lnTo>
                      <a:pt x="39" y="47"/>
                    </a:lnTo>
                    <a:lnTo>
                      <a:pt x="33" y="63"/>
                    </a:lnTo>
                    <a:lnTo>
                      <a:pt x="18" y="85"/>
                    </a:lnTo>
                    <a:lnTo>
                      <a:pt x="8" y="110"/>
                    </a:lnTo>
                    <a:lnTo>
                      <a:pt x="2" y="133"/>
                    </a:lnTo>
                    <a:lnTo>
                      <a:pt x="0" y="157"/>
                    </a:lnTo>
                    <a:lnTo>
                      <a:pt x="0" y="340"/>
                    </a:lnTo>
                    <a:lnTo>
                      <a:pt x="40" y="367"/>
                    </a:lnTo>
                    <a:lnTo>
                      <a:pt x="84" y="390"/>
                    </a:lnTo>
                    <a:lnTo>
                      <a:pt x="127" y="407"/>
                    </a:lnTo>
                    <a:lnTo>
                      <a:pt x="173" y="420"/>
                    </a:lnTo>
                    <a:lnTo>
                      <a:pt x="219" y="425"/>
                    </a:lnTo>
                    <a:lnTo>
                      <a:pt x="269" y="427"/>
                    </a:lnTo>
                    <a:lnTo>
                      <a:pt x="294" y="426"/>
                    </a:lnTo>
                    <a:lnTo>
                      <a:pt x="319" y="423"/>
                    </a:lnTo>
                    <a:lnTo>
                      <a:pt x="371" y="416"/>
                    </a:lnTo>
                    <a:lnTo>
                      <a:pt x="371" y="177"/>
                    </a:lnTo>
                    <a:lnTo>
                      <a:pt x="369" y="165"/>
                    </a:lnTo>
                    <a:lnTo>
                      <a:pt x="367" y="152"/>
                    </a:lnTo>
                    <a:lnTo>
                      <a:pt x="360" y="131"/>
                    </a:lnTo>
                    <a:lnTo>
                      <a:pt x="345" y="110"/>
                    </a:lnTo>
                    <a:lnTo>
                      <a:pt x="336" y="100"/>
                    </a:lnTo>
                    <a:lnTo>
                      <a:pt x="326" y="93"/>
                    </a:lnTo>
                    <a:lnTo>
                      <a:pt x="309" y="75"/>
                    </a:lnTo>
                    <a:lnTo>
                      <a:pt x="299" y="60"/>
                    </a:lnTo>
                    <a:lnTo>
                      <a:pt x="292" y="49"/>
                    </a:lnTo>
                    <a:lnTo>
                      <a:pt x="291" y="39"/>
                    </a:lnTo>
                    <a:lnTo>
                      <a:pt x="258" y="46"/>
                    </a:lnTo>
                    <a:lnTo>
                      <a:pt x="225" y="51"/>
                    </a:lnTo>
                    <a:lnTo>
                      <a:pt x="194" y="51"/>
                    </a:lnTo>
                    <a:lnTo>
                      <a:pt x="166" y="48"/>
                    </a:lnTo>
                    <a:lnTo>
                      <a:pt x="136" y="41"/>
                    </a:lnTo>
                    <a:lnTo>
                      <a:pt x="109" y="31"/>
                    </a:lnTo>
                    <a:lnTo>
                      <a:pt x="81" y="16"/>
                    </a:lnTo>
                    <a:lnTo>
                      <a:pt x="56" y="0"/>
                    </a:lnTo>
                    <a:lnTo>
                      <a:pt x="55" y="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28" name="Freeform 2396">
                <a:extLst>
                  <a:ext uri="{FF2B5EF4-FFF2-40B4-BE49-F238E27FC236}">
                    <a16:creationId xmlns:a16="http://schemas.microsoft.com/office/drawing/2014/main" id="{30A7BC6F-7CAE-A0E1-EF95-778EFE3C6A29}"/>
                  </a:ext>
                </a:extLst>
              </p:cNvPr>
              <p:cNvSpPr>
                <a:spLocks/>
              </p:cNvSpPr>
              <p:nvPr/>
            </p:nvSpPr>
            <p:spPr bwMode="auto">
              <a:xfrm>
                <a:off x="937" y="3801"/>
                <a:ext cx="87" cy="23"/>
              </a:xfrm>
              <a:custGeom>
                <a:avLst/>
                <a:gdLst>
                  <a:gd name="T0" fmla="*/ 0 w 351"/>
                  <a:gd name="T1" fmla="*/ 36 h 92"/>
                  <a:gd name="T2" fmla="*/ 10 w 351"/>
                  <a:gd name="T3" fmla="*/ 28 h 92"/>
                  <a:gd name="T4" fmla="*/ 20 w 351"/>
                  <a:gd name="T5" fmla="*/ 24 h 92"/>
                  <a:gd name="T6" fmla="*/ 27 w 351"/>
                  <a:gd name="T7" fmla="*/ 21 h 92"/>
                  <a:gd name="T8" fmla="*/ 34 w 351"/>
                  <a:gd name="T9" fmla="*/ 22 h 92"/>
                  <a:gd name="T10" fmla="*/ 37 w 351"/>
                  <a:gd name="T11" fmla="*/ 23 h 92"/>
                  <a:gd name="T12" fmla="*/ 41 w 351"/>
                  <a:gd name="T13" fmla="*/ 27 h 92"/>
                  <a:gd name="T14" fmla="*/ 42 w 351"/>
                  <a:gd name="T15" fmla="*/ 32 h 92"/>
                  <a:gd name="T16" fmla="*/ 42 w 351"/>
                  <a:gd name="T17" fmla="*/ 41 h 92"/>
                  <a:gd name="T18" fmla="*/ 67 w 351"/>
                  <a:gd name="T19" fmla="*/ 57 h 92"/>
                  <a:gd name="T20" fmla="*/ 95 w 351"/>
                  <a:gd name="T21" fmla="*/ 72 h 92"/>
                  <a:gd name="T22" fmla="*/ 122 w 351"/>
                  <a:gd name="T23" fmla="*/ 82 h 92"/>
                  <a:gd name="T24" fmla="*/ 152 w 351"/>
                  <a:gd name="T25" fmla="*/ 89 h 92"/>
                  <a:gd name="T26" fmla="*/ 180 w 351"/>
                  <a:gd name="T27" fmla="*/ 92 h 92"/>
                  <a:gd name="T28" fmla="*/ 211 w 351"/>
                  <a:gd name="T29" fmla="*/ 92 h 92"/>
                  <a:gd name="T30" fmla="*/ 244 w 351"/>
                  <a:gd name="T31" fmla="*/ 87 h 92"/>
                  <a:gd name="T32" fmla="*/ 277 w 351"/>
                  <a:gd name="T33" fmla="*/ 80 h 92"/>
                  <a:gd name="T34" fmla="*/ 277 w 351"/>
                  <a:gd name="T35" fmla="*/ 73 h 92"/>
                  <a:gd name="T36" fmla="*/ 281 w 351"/>
                  <a:gd name="T37" fmla="*/ 57 h 92"/>
                  <a:gd name="T38" fmla="*/ 287 w 351"/>
                  <a:gd name="T39" fmla="*/ 51 h 92"/>
                  <a:gd name="T40" fmla="*/ 296 w 351"/>
                  <a:gd name="T41" fmla="*/ 46 h 92"/>
                  <a:gd name="T42" fmla="*/ 305 w 351"/>
                  <a:gd name="T43" fmla="*/ 41 h 92"/>
                  <a:gd name="T44" fmla="*/ 318 w 351"/>
                  <a:gd name="T45" fmla="*/ 37 h 92"/>
                  <a:gd name="T46" fmla="*/ 332 w 351"/>
                  <a:gd name="T47" fmla="*/ 33 h 92"/>
                  <a:gd name="T48" fmla="*/ 351 w 351"/>
                  <a:gd name="T49" fmla="*/ 31 h 92"/>
                  <a:gd name="T50" fmla="*/ 331 w 351"/>
                  <a:gd name="T51" fmla="*/ 19 h 92"/>
                  <a:gd name="T52" fmla="*/ 312 w 351"/>
                  <a:gd name="T53" fmla="*/ 11 h 92"/>
                  <a:gd name="T54" fmla="*/ 300 w 351"/>
                  <a:gd name="T55" fmla="*/ 7 h 92"/>
                  <a:gd name="T56" fmla="*/ 275 w 351"/>
                  <a:gd name="T57" fmla="*/ 24 h 92"/>
                  <a:gd name="T58" fmla="*/ 261 w 351"/>
                  <a:gd name="T59" fmla="*/ 32 h 92"/>
                  <a:gd name="T60" fmla="*/ 249 w 351"/>
                  <a:gd name="T61" fmla="*/ 39 h 92"/>
                  <a:gd name="T62" fmla="*/ 234 w 351"/>
                  <a:gd name="T63" fmla="*/ 43 h 92"/>
                  <a:gd name="T64" fmla="*/ 226 w 351"/>
                  <a:gd name="T65" fmla="*/ 44 h 92"/>
                  <a:gd name="T66" fmla="*/ 220 w 351"/>
                  <a:gd name="T67" fmla="*/ 47 h 92"/>
                  <a:gd name="T68" fmla="*/ 205 w 351"/>
                  <a:gd name="T69" fmla="*/ 49 h 92"/>
                  <a:gd name="T70" fmla="*/ 190 w 351"/>
                  <a:gd name="T71" fmla="*/ 51 h 92"/>
                  <a:gd name="T72" fmla="*/ 173 w 351"/>
                  <a:gd name="T73" fmla="*/ 49 h 92"/>
                  <a:gd name="T74" fmla="*/ 157 w 351"/>
                  <a:gd name="T75" fmla="*/ 47 h 92"/>
                  <a:gd name="T76" fmla="*/ 142 w 351"/>
                  <a:gd name="T77" fmla="*/ 43 h 92"/>
                  <a:gd name="T78" fmla="*/ 128 w 351"/>
                  <a:gd name="T79" fmla="*/ 38 h 92"/>
                  <a:gd name="T80" fmla="*/ 102 w 351"/>
                  <a:gd name="T81" fmla="*/ 23 h 92"/>
                  <a:gd name="T82" fmla="*/ 90 w 351"/>
                  <a:gd name="T83" fmla="*/ 14 h 92"/>
                  <a:gd name="T84" fmla="*/ 78 w 351"/>
                  <a:gd name="T85" fmla="*/ 5 h 92"/>
                  <a:gd name="T86" fmla="*/ 73 w 351"/>
                  <a:gd name="T87" fmla="*/ 0 h 92"/>
                  <a:gd name="T88" fmla="*/ 71 w 351"/>
                  <a:gd name="T89" fmla="*/ 1 h 92"/>
                  <a:gd name="T90" fmla="*/ 51 w 351"/>
                  <a:gd name="T91" fmla="*/ 5 h 92"/>
                  <a:gd name="T92" fmla="*/ 34 w 351"/>
                  <a:gd name="T93" fmla="*/ 13 h 92"/>
                  <a:gd name="T94" fmla="*/ 16 w 351"/>
                  <a:gd name="T95" fmla="*/ 22 h 92"/>
                  <a:gd name="T96" fmla="*/ 0 w 351"/>
                  <a:gd name="T97" fmla="*/ 3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51" h="92">
                    <a:moveTo>
                      <a:pt x="0" y="36"/>
                    </a:moveTo>
                    <a:lnTo>
                      <a:pt x="10" y="28"/>
                    </a:lnTo>
                    <a:lnTo>
                      <a:pt x="20" y="24"/>
                    </a:lnTo>
                    <a:lnTo>
                      <a:pt x="27" y="21"/>
                    </a:lnTo>
                    <a:lnTo>
                      <a:pt x="34" y="22"/>
                    </a:lnTo>
                    <a:lnTo>
                      <a:pt x="37" y="23"/>
                    </a:lnTo>
                    <a:lnTo>
                      <a:pt x="41" y="27"/>
                    </a:lnTo>
                    <a:lnTo>
                      <a:pt x="42" y="32"/>
                    </a:lnTo>
                    <a:lnTo>
                      <a:pt x="42" y="41"/>
                    </a:lnTo>
                    <a:lnTo>
                      <a:pt x="67" y="57"/>
                    </a:lnTo>
                    <a:lnTo>
                      <a:pt x="95" y="72"/>
                    </a:lnTo>
                    <a:lnTo>
                      <a:pt x="122" y="82"/>
                    </a:lnTo>
                    <a:lnTo>
                      <a:pt x="152" y="89"/>
                    </a:lnTo>
                    <a:lnTo>
                      <a:pt x="180" y="92"/>
                    </a:lnTo>
                    <a:lnTo>
                      <a:pt x="211" y="92"/>
                    </a:lnTo>
                    <a:lnTo>
                      <a:pt x="244" y="87"/>
                    </a:lnTo>
                    <a:lnTo>
                      <a:pt x="277" y="80"/>
                    </a:lnTo>
                    <a:lnTo>
                      <a:pt x="277" y="73"/>
                    </a:lnTo>
                    <a:lnTo>
                      <a:pt x="281" y="57"/>
                    </a:lnTo>
                    <a:lnTo>
                      <a:pt x="287" y="51"/>
                    </a:lnTo>
                    <a:lnTo>
                      <a:pt x="296" y="46"/>
                    </a:lnTo>
                    <a:lnTo>
                      <a:pt x="305" y="41"/>
                    </a:lnTo>
                    <a:lnTo>
                      <a:pt x="318" y="37"/>
                    </a:lnTo>
                    <a:lnTo>
                      <a:pt x="332" y="33"/>
                    </a:lnTo>
                    <a:lnTo>
                      <a:pt x="351" y="31"/>
                    </a:lnTo>
                    <a:lnTo>
                      <a:pt x="331" y="19"/>
                    </a:lnTo>
                    <a:lnTo>
                      <a:pt x="312" y="11"/>
                    </a:lnTo>
                    <a:lnTo>
                      <a:pt x="300" y="7"/>
                    </a:lnTo>
                    <a:lnTo>
                      <a:pt x="275" y="24"/>
                    </a:lnTo>
                    <a:lnTo>
                      <a:pt x="261" y="32"/>
                    </a:lnTo>
                    <a:lnTo>
                      <a:pt x="249" y="39"/>
                    </a:lnTo>
                    <a:lnTo>
                      <a:pt x="234" y="43"/>
                    </a:lnTo>
                    <a:lnTo>
                      <a:pt x="226" y="44"/>
                    </a:lnTo>
                    <a:lnTo>
                      <a:pt x="220" y="47"/>
                    </a:lnTo>
                    <a:lnTo>
                      <a:pt x="205" y="49"/>
                    </a:lnTo>
                    <a:lnTo>
                      <a:pt x="190" y="51"/>
                    </a:lnTo>
                    <a:lnTo>
                      <a:pt x="173" y="49"/>
                    </a:lnTo>
                    <a:lnTo>
                      <a:pt x="157" y="47"/>
                    </a:lnTo>
                    <a:lnTo>
                      <a:pt x="142" y="43"/>
                    </a:lnTo>
                    <a:lnTo>
                      <a:pt x="128" y="38"/>
                    </a:lnTo>
                    <a:lnTo>
                      <a:pt x="102" y="23"/>
                    </a:lnTo>
                    <a:lnTo>
                      <a:pt x="90" y="14"/>
                    </a:lnTo>
                    <a:lnTo>
                      <a:pt x="78" y="5"/>
                    </a:lnTo>
                    <a:lnTo>
                      <a:pt x="73" y="0"/>
                    </a:lnTo>
                    <a:lnTo>
                      <a:pt x="71" y="1"/>
                    </a:lnTo>
                    <a:lnTo>
                      <a:pt x="51" y="5"/>
                    </a:lnTo>
                    <a:lnTo>
                      <a:pt x="34" y="13"/>
                    </a:lnTo>
                    <a:lnTo>
                      <a:pt x="16" y="22"/>
                    </a:lnTo>
                    <a:lnTo>
                      <a:pt x="0" y="36"/>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29" name="Freeform 2397">
                <a:extLst>
                  <a:ext uri="{FF2B5EF4-FFF2-40B4-BE49-F238E27FC236}">
                    <a16:creationId xmlns:a16="http://schemas.microsoft.com/office/drawing/2014/main" id="{D9751725-2262-E7A5-F5E9-44EE80205C7E}"/>
                  </a:ext>
                </a:extLst>
              </p:cNvPr>
              <p:cNvSpPr>
                <a:spLocks/>
              </p:cNvSpPr>
              <p:nvPr/>
            </p:nvSpPr>
            <p:spPr bwMode="auto">
              <a:xfrm>
                <a:off x="945" y="3735"/>
                <a:ext cx="79" cy="79"/>
              </a:xfrm>
              <a:custGeom>
                <a:avLst/>
                <a:gdLst>
                  <a:gd name="T0" fmla="*/ 41 w 316"/>
                  <a:gd name="T1" fmla="*/ 265 h 316"/>
                  <a:gd name="T2" fmla="*/ 58 w 316"/>
                  <a:gd name="T3" fmla="*/ 279 h 316"/>
                  <a:gd name="T4" fmla="*/ 96 w 316"/>
                  <a:gd name="T5" fmla="*/ 303 h 316"/>
                  <a:gd name="T6" fmla="*/ 125 w 316"/>
                  <a:gd name="T7" fmla="*/ 312 h 316"/>
                  <a:gd name="T8" fmla="*/ 158 w 316"/>
                  <a:gd name="T9" fmla="*/ 316 h 316"/>
                  <a:gd name="T10" fmla="*/ 188 w 316"/>
                  <a:gd name="T11" fmla="*/ 312 h 316"/>
                  <a:gd name="T12" fmla="*/ 202 w 316"/>
                  <a:gd name="T13" fmla="*/ 308 h 316"/>
                  <a:gd name="T14" fmla="*/ 229 w 316"/>
                  <a:gd name="T15" fmla="*/ 297 h 316"/>
                  <a:gd name="T16" fmla="*/ 268 w 316"/>
                  <a:gd name="T17" fmla="*/ 272 h 316"/>
                  <a:gd name="T18" fmla="*/ 275 w 316"/>
                  <a:gd name="T19" fmla="*/ 265 h 316"/>
                  <a:gd name="T20" fmla="*/ 284 w 316"/>
                  <a:gd name="T21" fmla="*/ 250 h 316"/>
                  <a:gd name="T22" fmla="*/ 285 w 316"/>
                  <a:gd name="T23" fmla="*/ 248 h 316"/>
                  <a:gd name="T24" fmla="*/ 292 w 316"/>
                  <a:gd name="T25" fmla="*/ 241 h 316"/>
                  <a:gd name="T26" fmla="*/ 295 w 316"/>
                  <a:gd name="T27" fmla="*/ 231 h 316"/>
                  <a:gd name="T28" fmla="*/ 296 w 316"/>
                  <a:gd name="T29" fmla="*/ 230 h 316"/>
                  <a:gd name="T30" fmla="*/ 305 w 316"/>
                  <a:gd name="T31" fmla="*/ 215 h 316"/>
                  <a:gd name="T32" fmla="*/ 310 w 316"/>
                  <a:gd name="T33" fmla="*/ 192 h 316"/>
                  <a:gd name="T34" fmla="*/ 315 w 316"/>
                  <a:gd name="T35" fmla="*/ 171 h 316"/>
                  <a:gd name="T36" fmla="*/ 315 w 316"/>
                  <a:gd name="T37" fmla="*/ 160 h 316"/>
                  <a:gd name="T38" fmla="*/ 315 w 316"/>
                  <a:gd name="T39" fmla="*/ 140 h 316"/>
                  <a:gd name="T40" fmla="*/ 309 w 316"/>
                  <a:gd name="T41" fmla="*/ 110 h 316"/>
                  <a:gd name="T42" fmla="*/ 289 w 316"/>
                  <a:gd name="T43" fmla="*/ 71 h 316"/>
                  <a:gd name="T44" fmla="*/ 270 w 316"/>
                  <a:gd name="T45" fmla="*/ 47 h 316"/>
                  <a:gd name="T46" fmla="*/ 244 w 316"/>
                  <a:gd name="T47" fmla="*/ 26 h 316"/>
                  <a:gd name="T48" fmla="*/ 218 w 316"/>
                  <a:gd name="T49" fmla="*/ 11 h 316"/>
                  <a:gd name="T50" fmla="*/ 189 w 316"/>
                  <a:gd name="T51" fmla="*/ 2 h 316"/>
                  <a:gd name="T52" fmla="*/ 158 w 316"/>
                  <a:gd name="T53" fmla="*/ 0 h 316"/>
                  <a:gd name="T54" fmla="*/ 96 w 316"/>
                  <a:gd name="T55" fmla="*/ 11 h 316"/>
                  <a:gd name="T56" fmla="*/ 46 w 316"/>
                  <a:gd name="T57" fmla="*/ 47 h 316"/>
                  <a:gd name="T58" fmla="*/ 10 w 316"/>
                  <a:gd name="T59" fmla="*/ 97 h 316"/>
                  <a:gd name="T60" fmla="*/ 0 w 316"/>
                  <a:gd name="T61" fmla="*/ 158 h 316"/>
                  <a:gd name="T62" fmla="*/ 7 w 316"/>
                  <a:gd name="T63" fmla="*/ 207 h 316"/>
                  <a:gd name="T64" fmla="*/ 30 w 316"/>
                  <a:gd name="T65" fmla="*/ 252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16" h="316">
                    <a:moveTo>
                      <a:pt x="40" y="263"/>
                    </a:moveTo>
                    <a:lnTo>
                      <a:pt x="41" y="265"/>
                    </a:lnTo>
                    <a:lnTo>
                      <a:pt x="46" y="270"/>
                    </a:lnTo>
                    <a:lnTo>
                      <a:pt x="58" y="279"/>
                    </a:lnTo>
                    <a:lnTo>
                      <a:pt x="70" y="288"/>
                    </a:lnTo>
                    <a:lnTo>
                      <a:pt x="96" y="303"/>
                    </a:lnTo>
                    <a:lnTo>
                      <a:pt x="110" y="308"/>
                    </a:lnTo>
                    <a:lnTo>
                      <a:pt x="125" y="312"/>
                    </a:lnTo>
                    <a:lnTo>
                      <a:pt x="141" y="314"/>
                    </a:lnTo>
                    <a:lnTo>
                      <a:pt x="158" y="316"/>
                    </a:lnTo>
                    <a:lnTo>
                      <a:pt x="173" y="314"/>
                    </a:lnTo>
                    <a:lnTo>
                      <a:pt x="188" y="312"/>
                    </a:lnTo>
                    <a:lnTo>
                      <a:pt x="194" y="309"/>
                    </a:lnTo>
                    <a:lnTo>
                      <a:pt x="202" y="308"/>
                    </a:lnTo>
                    <a:lnTo>
                      <a:pt x="217" y="304"/>
                    </a:lnTo>
                    <a:lnTo>
                      <a:pt x="229" y="297"/>
                    </a:lnTo>
                    <a:lnTo>
                      <a:pt x="243" y="289"/>
                    </a:lnTo>
                    <a:lnTo>
                      <a:pt x="268" y="272"/>
                    </a:lnTo>
                    <a:lnTo>
                      <a:pt x="270" y="270"/>
                    </a:lnTo>
                    <a:lnTo>
                      <a:pt x="275" y="265"/>
                    </a:lnTo>
                    <a:lnTo>
                      <a:pt x="284" y="252"/>
                    </a:lnTo>
                    <a:lnTo>
                      <a:pt x="284" y="250"/>
                    </a:lnTo>
                    <a:lnTo>
                      <a:pt x="284" y="248"/>
                    </a:lnTo>
                    <a:lnTo>
                      <a:pt x="285" y="248"/>
                    </a:lnTo>
                    <a:lnTo>
                      <a:pt x="287" y="246"/>
                    </a:lnTo>
                    <a:lnTo>
                      <a:pt x="292" y="241"/>
                    </a:lnTo>
                    <a:lnTo>
                      <a:pt x="295" y="233"/>
                    </a:lnTo>
                    <a:lnTo>
                      <a:pt x="295" y="231"/>
                    </a:lnTo>
                    <a:lnTo>
                      <a:pt x="295" y="230"/>
                    </a:lnTo>
                    <a:lnTo>
                      <a:pt x="296" y="230"/>
                    </a:lnTo>
                    <a:lnTo>
                      <a:pt x="299" y="227"/>
                    </a:lnTo>
                    <a:lnTo>
                      <a:pt x="305" y="215"/>
                    </a:lnTo>
                    <a:lnTo>
                      <a:pt x="309" y="200"/>
                    </a:lnTo>
                    <a:lnTo>
                      <a:pt x="310" y="192"/>
                    </a:lnTo>
                    <a:lnTo>
                      <a:pt x="312" y="186"/>
                    </a:lnTo>
                    <a:lnTo>
                      <a:pt x="315" y="171"/>
                    </a:lnTo>
                    <a:lnTo>
                      <a:pt x="315" y="164"/>
                    </a:lnTo>
                    <a:lnTo>
                      <a:pt x="315" y="160"/>
                    </a:lnTo>
                    <a:lnTo>
                      <a:pt x="316" y="158"/>
                    </a:lnTo>
                    <a:lnTo>
                      <a:pt x="315" y="140"/>
                    </a:lnTo>
                    <a:lnTo>
                      <a:pt x="312" y="125"/>
                    </a:lnTo>
                    <a:lnTo>
                      <a:pt x="309" y="110"/>
                    </a:lnTo>
                    <a:lnTo>
                      <a:pt x="304" y="97"/>
                    </a:lnTo>
                    <a:lnTo>
                      <a:pt x="289" y="71"/>
                    </a:lnTo>
                    <a:lnTo>
                      <a:pt x="280" y="58"/>
                    </a:lnTo>
                    <a:lnTo>
                      <a:pt x="270" y="47"/>
                    </a:lnTo>
                    <a:lnTo>
                      <a:pt x="256" y="35"/>
                    </a:lnTo>
                    <a:lnTo>
                      <a:pt x="244" y="26"/>
                    </a:lnTo>
                    <a:lnTo>
                      <a:pt x="230" y="17"/>
                    </a:lnTo>
                    <a:lnTo>
                      <a:pt x="218" y="11"/>
                    </a:lnTo>
                    <a:lnTo>
                      <a:pt x="203" y="5"/>
                    </a:lnTo>
                    <a:lnTo>
                      <a:pt x="189" y="2"/>
                    </a:lnTo>
                    <a:lnTo>
                      <a:pt x="173" y="0"/>
                    </a:lnTo>
                    <a:lnTo>
                      <a:pt x="158" y="0"/>
                    </a:lnTo>
                    <a:lnTo>
                      <a:pt x="125" y="2"/>
                    </a:lnTo>
                    <a:lnTo>
                      <a:pt x="96" y="11"/>
                    </a:lnTo>
                    <a:lnTo>
                      <a:pt x="70" y="26"/>
                    </a:lnTo>
                    <a:lnTo>
                      <a:pt x="46" y="47"/>
                    </a:lnTo>
                    <a:lnTo>
                      <a:pt x="25" y="71"/>
                    </a:lnTo>
                    <a:lnTo>
                      <a:pt x="10" y="97"/>
                    </a:lnTo>
                    <a:lnTo>
                      <a:pt x="2" y="125"/>
                    </a:lnTo>
                    <a:lnTo>
                      <a:pt x="0" y="158"/>
                    </a:lnTo>
                    <a:lnTo>
                      <a:pt x="0" y="183"/>
                    </a:lnTo>
                    <a:lnTo>
                      <a:pt x="7" y="207"/>
                    </a:lnTo>
                    <a:lnTo>
                      <a:pt x="15" y="230"/>
                    </a:lnTo>
                    <a:lnTo>
                      <a:pt x="30" y="252"/>
                    </a:lnTo>
                    <a:lnTo>
                      <a:pt x="40" y="26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30" name="Freeform 2398">
                <a:extLst>
                  <a:ext uri="{FF2B5EF4-FFF2-40B4-BE49-F238E27FC236}">
                    <a16:creationId xmlns:a16="http://schemas.microsoft.com/office/drawing/2014/main" id="{B3B16EC0-CD80-7CA7-9F7E-EC413185987D}"/>
                  </a:ext>
                </a:extLst>
              </p:cNvPr>
              <p:cNvSpPr>
                <a:spLocks/>
              </p:cNvSpPr>
              <p:nvPr/>
            </p:nvSpPr>
            <p:spPr bwMode="auto">
              <a:xfrm>
                <a:off x="1006" y="3809"/>
                <a:ext cx="44" cy="106"/>
              </a:xfrm>
              <a:custGeom>
                <a:avLst/>
                <a:gdLst>
                  <a:gd name="T0" fmla="*/ 115 w 177"/>
                  <a:gd name="T1" fmla="*/ 33 h 426"/>
                  <a:gd name="T2" fmla="*/ 93 w 177"/>
                  <a:gd name="T3" fmla="*/ 15 h 426"/>
                  <a:gd name="T4" fmla="*/ 74 w 177"/>
                  <a:gd name="T5" fmla="*/ 0 h 426"/>
                  <a:gd name="T6" fmla="*/ 55 w 177"/>
                  <a:gd name="T7" fmla="*/ 2 h 426"/>
                  <a:gd name="T8" fmla="*/ 41 w 177"/>
                  <a:gd name="T9" fmla="*/ 6 h 426"/>
                  <a:gd name="T10" fmla="*/ 28 w 177"/>
                  <a:gd name="T11" fmla="*/ 10 h 426"/>
                  <a:gd name="T12" fmla="*/ 19 w 177"/>
                  <a:gd name="T13" fmla="*/ 15 h 426"/>
                  <a:gd name="T14" fmla="*/ 10 w 177"/>
                  <a:gd name="T15" fmla="*/ 20 h 426"/>
                  <a:gd name="T16" fmla="*/ 4 w 177"/>
                  <a:gd name="T17" fmla="*/ 26 h 426"/>
                  <a:gd name="T18" fmla="*/ 0 w 177"/>
                  <a:gd name="T19" fmla="*/ 42 h 426"/>
                  <a:gd name="T20" fmla="*/ 0 w 177"/>
                  <a:gd name="T21" fmla="*/ 49 h 426"/>
                  <a:gd name="T22" fmla="*/ 1 w 177"/>
                  <a:gd name="T23" fmla="*/ 59 h 426"/>
                  <a:gd name="T24" fmla="*/ 8 w 177"/>
                  <a:gd name="T25" fmla="*/ 70 h 426"/>
                  <a:gd name="T26" fmla="*/ 18 w 177"/>
                  <a:gd name="T27" fmla="*/ 85 h 426"/>
                  <a:gd name="T28" fmla="*/ 35 w 177"/>
                  <a:gd name="T29" fmla="*/ 103 h 426"/>
                  <a:gd name="T30" fmla="*/ 45 w 177"/>
                  <a:gd name="T31" fmla="*/ 110 h 426"/>
                  <a:gd name="T32" fmla="*/ 54 w 177"/>
                  <a:gd name="T33" fmla="*/ 120 h 426"/>
                  <a:gd name="T34" fmla="*/ 69 w 177"/>
                  <a:gd name="T35" fmla="*/ 141 h 426"/>
                  <a:gd name="T36" fmla="*/ 76 w 177"/>
                  <a:gd name="T37" fmla="*/ 162 h 426"/>
                  <a:gd name="T38" fmla="*/ 78 w 177"/>
                  <a:gd name="T39" fmla="*/ 175 h 426"/>
                  <a:gd name="T40" fmla="*/ 80 w 177"/>
                  <a:gd name="T41" fmla="*/ 187 h 426"/>
                  <a:gd name="T42" fmla="*/ 80 w 177"/>
                  <a:gd name="T43" fmla="*/ 426 h 426"/>
                  <a:gd name="T44" fmla="*/ 95 w 177"/>
                  <a:gd name="T45" fmla="*/ 425 h 426"/>
                  <a:gd name="T46" fmla="*/ 110 w 177"/>
                  <a:gd name="T47" fmla="*/ 423 h 426"/>
                  <a:gd name="T48" fmla="*/ 122 w 177"/>
                  <a:gd name="T49" fmla="*/ 420 h 426"/>
                  <a:gd name="T50" fmla="*/ 124 w 177"/>
                  <a:gd name="T51" fmla="*/ 417 h 426"/>
                  <a:gd name="T52" fmla="*/ 124 w 177"/>
                  <a:gd name="T53" fmla="*/ 416 h 426"/>
                  <a:gd name="T54" fmla="*/ 126 w 177"/>
                  <a:gd name="T55" fmla="*/ 416 h 426"/>
                  <a:gd name="T56" fmla="*/ 128 w 177"/>
                  <a:gd name="T57" fmla="*/ 416 h 426"/>
                  <a:gd name="T58" fmla="*/ 136 w 177"/>
                  <a:gd name="T59" fmla="*/ 413 h 426"/>
                  <a:gd name="T60" fmla="*/ 146 w 177"/>
                  <a:gd name="T61" fmla="*/ 405 h 426"/>
                  <a:gd name="T62" fmla="*/ 156 w 177"/>
                  <a:gd name="T63" fmla="*/ 395 h 426"/>
                  <a:gd name="T64" fmla="*/ 164 w 177"/>
                  <a:gd name="T65" fmla="*/ 382 h 426"/>
                  <a:gd name="T66" fmla="*/ 168 w 177"/>
                  <a:gd name="T67" fmla="*/ 375 h 426"/>
                  <a:gd name="T68" fmla="*/ 173 w 177"/>
                  <a:gd name="T69" fmla="*/ 369 h 426"/>
                  <a:gd name="T70" fmla="*/ 175 w 177"/>
                  <a:gd name="T71" fmla="*/ 349 h 426"/>
                  <a:gd name="T72" fmla="*/ 177 w 177"/>
                  <a:gd name="T73" fmla="*/ 329 h 426"/>
                  <a:gd name="T74" fmla="*/ 177 w 177"/>
                  <a:gd name="T75" fmla="*/ 184 h 426"/>
                  <a:gd name="T76" fmla="*/ 175 w 177"/>
                  <a:gd name="T77" fmla="*/ 161 h 426"/>
                  <a:gd name="T78" fmla="*/ 173 w 177"/>
                  <a:gd name="T79" fmla="*/ 141 h 426"/>
                  <a:gd name="T80" fmla="*/ 169 w 177"/>
                  <a:gd name="T81" fmla="*/ 128 h 426"/>
                  <a:gd name="T82" fmla="*/ 167 w 177"/>
                  <a:gd name="T83" fmla="*/ 116 h 426"/>
                  <a:gd name="T84" fmla="*/ 157 w 177"/>
                  <a:gd name="T85" fmla="*/ 93 h 426"/>
                  <a:gd name="T86" fmla="*/ 146 w 177"/>
                  <a:gd name="T87" fmla="*/ 72 h 426"/>
                  <a:gd name="T88" fmla="*/ 131 w 177"/>
                  <a:gd name="T89" fmla="*/ 52 h 426"/>
                  <a:gd name="T90" fmla="*/ 115 w 177"/>
                  <a:gd name="T91" fmla="*/ 33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7" h="426">
                    <a:moveTo>
                      <a:pt x="115" y="33"/>
                    </a:moveTo>
                    <a:lnTo>
                      <a:pt x="93" y="15"/>
                    </a:lnTo>
                    <a:lnTo>
                      <a:pt x="74" y="0"/>
                    </a:lnTo>
                    <a:lnTo>
                      <a:pt x="55" y="2"/>
                    </a:lnTo>
                    <a:lnTo>
                      <a:pt x="41" y="6"/>
                    </a:lnTo>
                    <a:lnTo>
                      <a:pt x="28" y="10"/>
                    </a:lnTo>
                    <a:lnTo>
                      <a:pt x="19" y="15"/>
                    </a:lnTo>
                    <a:lnTo>
                      <a:pt x="10" y="20"/>
                    </a:lnTo>
                    <a:lnTo>
                      <a:pt x="4" y="26"/>
                    </a:lnTo>
                    <a:lnTo>
                      <a:pt x="0" y="42"/>
                    </a:lnTo>
                    <a:lnTo>
                      <a:pt x="0" y="49"/>
                    </a:lnTo>
                    <a:lnTo>
                      <a:pt x="1" y="59"/>
                    </a:lnTo>
                    <a:lnTo>
                      <a:pt x="8" y="70"/>
                    </a:lnTo>
                    <a:lnTo>
                      <a:pt x="18" y="85"/>
                    </a:lnTo>
                    <a:lnTo>
                      <a:pt x="35" y="103"/>
                    </a:lnTo>
                    <a:lnTo>
                      <a:pt x="45" y="110"/>
                    </a:lnTo>
                    <a:lnTo>
                      <a:pt x="54" y="120"/>
                    </a:lnTo>
                    <a:lnTo>
                      <a:pt x="69" y="141"/>
                    </a:lnTo>
                    <a:lnTo>
                      <a:pt x="76" y="162"/>
                    </a:lnTo>
                    <a:lnTo>
                      <a:pt x="78" y="175"/>
                    </a:lnTo>
                    <a:lnTo>
                      <a:pt x="80" y="187"/>
                    </a:lnTo>
                    <a:lnTo>
                      <a:pt x="80" y="426"/>
                    </a:lnTo>
                    <a:lnTo>
                      <a:pt x="95" y="425"/>
                    </a:lnTo>
                    <a:lnTo>
                      <a:pt x="110" y="423"/>
                    </a:lnTo>
                    <a:lnTo>
                      <a:pt x="122" y="420"/>
                    </a:lnTo>
                    <a:lnTo>
                      <a:pt x="124" y="417"/>
                    </a:lnTo>
                    <a:lnTo>
                      <a:pt x="124" y="416"/>
                    </a:lnTo>
                    <a:lnTo>
                      <a:pt x="126" y="416"/>
                    </a:lnTo>
                    <a:lnTo>
                      <a:pt x="128" y="416"/>
                    </a:lnTo>
                    <a:lnTo>
                      <a:pt x="136" y="413"/>
                    </a:lnTo>
                    <a:lnTo>
                      <a:pt x="146" y="405"/>
                    </a:lnTo>
                    <a:lnTo>
                      <a:pt x="156" y="395"/>
                    </a:lnTo>
                    <a:lnTo>
                      <a:pt x="164" y="382"/>
                    </a:lnTo>
                    <a:lnTo>
                      <a:pt x="168" y="375"/>
                    </a:lnTo>
                    <a:lnTo>
                      <a:pt x="173" y="369"/>
                    </a:lnTo>
                    <a:lnTo>
                      <a:pt x="175" y="349"/>
                    </a:lnTo>
                    <a:lnTo>
                      <a:pt x="177" y="329"/>
                    </a:lnTo>
                    <a:lnTo>
                      <a:pt x="177" y="184"/>
                    </a:lnTo>
                    <a:lnTo>
                      <a:pt x="175" y="161"/>
                    </a:lnTo>
                    <a:lnTo>
                      <a:pt x="173" y="141"/>
                    </a:lnTo>
                    <a:lnTo>
                      <a:pt x="169" y="128"/>
                    </a:lnTo>
                    <a:lnTo>
                      <a:pt x="167" y="116"/>
                    </a:lnTo>
                    <a:lnTo>
                      <a:pt x="157" y="93"/>
                    </a:lnTo>
                    <a:lnTo>
                      <a:pt x="146" y="72"/>
                    </a:lnTo>
                    <a:lnTo>
                      <a:pt x="131" y="52"/>
                    </a:lnTo>
                    <a:lnTo>
                      <a:pt x="115" y="33"/>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8831" name="Freeform 2399">
                <a:extLst>
                  <a:ext uri="{FF2B5EF4-FFF2-40B4-BE49-F238E27FC236}">
                    <a16:creationId xmlns:a16="http://schemas.microsoft.com/office/drawing/2014/main" id="{8C9D5A09-A2A8-0452-90BE-39C70442BDF9}"/>
                  </a:ext>
                </a:extLst>
              </p:cNvPr>
              <p:cNvSpPr>
                <a:spLocks/>
              </p:cNvSpPr>
              <p:nvPr/>
            </p:nvSpPr>
            <p:spPr bwMode="auto">
              <a:xfrm>
                <a:off x="945" y="3735"/>
                <a:ext cx="79" cy="68"/>
              </a:xfrm>
              <a:custGeom>
                <a:avLst/>
                <a:gdLst>
                  <a:gd name="T0" fmla="*/ 41 w 316"/>
                  <a:gd name="T1" fmla="*/ 265 h 272"/>
                  <a:gd name="T2" fmla="*/ 40 w 316"/>
                  <a:gd name="T3" fmla="*/ 263 h 272"/>
                  <a:gd name="T4" fmla="*/ 30 w 316"/>
                  <a:gd name="T5" fmla="*/ 252 h 272"/>
                  <a:gd name="T6" fmla="*/ 15 w 316"/>
                  <a:gd name="T7" fmla="*/ 230 h 272"/>
                  <a:gd name="T8" fmla="*/ 7 w 316"/>
                  <a:gd name="T9" fmla="*/ 207 h 272"/>
                  <a:gd name="T10" fmla="*/ 0 w 316"/>
                  <a:gd name="T11" fmla="*/ 183 h 272"/>
                  <a:gd name="T12" fmla="*/ 0 w 316"/>
                  <a:gd name="T13" fmla="*/ 158 h 272"/>
                  <a:gd name="T14" fmla="*/ 2 w 316"/>
                  <a:gd name="T15" fmla="*/ 125 h 272"/>
                  <a:gd name="T16" fmla="*/ 10 w 316"/>
                  <a:gd name="T17" fmla="*/ 97 h 272"/>
                  <a:gd name="T18" fmla="*/ 25 w 316"/>
                  <a:gd name="T19" fmla="*/ 71 h 272"/>
                  <a:gd name="T20" fmla="*/ 46 w 316"/>
                  <a:gd name="T21" fmla="*/ 47 h 272"/>
                  <a:gd name="T22" fmla="*/ 70 w 316"/>
                  <a:gd name="T23" fmla="*/ 26 h 272"/>
                  <a:gd name="T24" fmla="*/ 96 w 316"/>
                  <a:gd name="T25" fmla="*/ 11 h 272"/>
                  <a:gd name="T26" fmla="*/ 125 w 316"/>
                  <a:gd name="T27" fmla="*/ 2 h 272"/>
                  <a:gd name="T28" fmla="*/ 158 w 316"/>
                  <a:gd name="T29" fmla="*/ 0 h 272"/>
                  <a:gd name="T30" fmla="*/ 173 w 316"/>
                  <a:gd name="T31" fmla="*/ 0 h 272"/>
                  <a:gd name="T32" fmla="*/ 189 w 316"/>
                  <a:gd name="T33" fmla="*/ 2 h 272"/>
                  <a:gd name="T34" fmla="*/ 203 w 316"/>
                  <a:gd name="T35" fmla="*/ 5 h 272"/>
                  <a:gd name="T36" fmla="*/ 218 w 316"/>
                  <a:gd name="T37" fmla="*/ 11 h 272"/>
                  <a:gd name="T38" fmla="*/ 230 w 316"/>
                  <a:gd name="T39" fmla="*/ 17 h 272"/>
                  <a:gd name="T40" fmla="*/ 244 w 316"/>
                  <a:gd name="T41" fmla="*/ 26 h 272"/>
                  <a:gd name="T42" fmla="*/ 256 w 316"/>
                  <a:gd name="T43" fmla="*/ 35 h 272"/>
                  <a:gd name="T44" fmla="*/ 270 w 316"/>
                  <a:gd name="T45" fmla="*/ 47 h 272"/>
                  <a:gd name="T46" fmla="*/ 280 w 316"/>
                  <a:gd name="T47" fmla="*/ 58 h 272"/>
                  <a:gd name="T48" fmla="*/ 289 w 316"/>
                  <a:gd name="T49" fmla="*/ 71 h 272"/>
                  <a:gd name="T50" fmla="*/ 304 w 316"/>
                  <a:gd name="T51" fmla="*/ 97 h 272"/>
                  <a:gd name="T52" fmla="*/ 309 w 316"/>
                  <a:gd name="T53" fmla="*/ 110 h 272"/>
                  <a:gd name="T54" fmla="*/ 312 w 316"/>
                  <a:gd name="T55" fmla="*/ 125 h 272"/>
                  <a:gd name="T56" fmla="*/ 315 w 316"/>
                  <a:gd name="T57" fmla="*/ 140 h 272"/>
                  <a:gd name="T58" fmla="*/ 316 w 316"/>
                  <a:gd name="T59" fmla="*/ 158 h 272"/>
                  <a:gd name="T60" fmla="*/ 315 w 316"/>
                  <a:gd name="T61" fmla="*/ 160 h 272"/>
                  <a:gd name="T62" fmla="*/ 315 w 316"/>
                  <a:gd name="T63" fmla="*/ 164 h 272"/>
                  <a:gd name="T64" fmla="*/ 315 w 316"/>
                  <a:gd name="T65" fmla="*/ 171 h 272"/>
                  <a:gd name="T66" fmla="*/ 312 w 316"/>
                  <a:gd name="T67" fmla="*/ 186 h 272"/>
                  <a:gd name="T68" fmla="*/ 310 w 316"/>
                  <a:gd name="T69" fmla="*/ 192 h 272"/>
                  <a:gd name="T70" fmla="*/ 309 w 316"/>
                  <a:gd name="T71" fmla="*/ 200 h 272"/>
                  <a:gd name="T72" fmla="*/ 305 w 316"/>
                  <a:gd name="T73" fmla="*/ 215 h 272"/>
                  <a:gd name="T74" fmla="*/ 299 w 316"/>
                  <a:gd name="T75" fmla="*/ 227 h 272"/>
                  <a:gd name="T76" fmla="*/ 296 w 316"/>
                  <a:gd name="T77" fmla="*/ 230 h 272"/>
                  <a:gd name="T78" fmla="*/ 295 w 316"/>
                  <a:gd name="T79" fmla="*/ 230 h 272"/>
                  <a:gd name="T80" fmla="*/ 295 w 316"/>
                  <a:gd name="T81" fmla="*/ 231 h 272"/>
                  <a:gd name="T82" fmla="*/ 295 w 316"/>
                  <a:gd name="T83" fmla="*/ 233 h 272"/>
                  <a:gd name="T84" fmla="*/ 292 w 316"/>
                  <a:gd name="T85" fmla="*/ 241 h 272"/>
                  <a:gd name="T86" fmla="*/ 287 w 316"/>
                  <a:gd name="T87" fmla="*/ 246 h 272"/>
                  <a:gd name="T88" fmla="*/ 285 w 316"/>
                  <a:gd name="T89" fmla="*/ 248 h 272"/>
                  <a:gd name="T90" fmla="*/ 284 w 316"/>
                  <a:gd name="T91" fmla="*/ 248 h 272"/>
                  <a:gd name="T92" fmla="*/ 284 w 316"/>
                  <a:gd name="T93" fmla="*/ 250 h 272"/>
                  <a:gd name="T94" fmla="*/ 284 w 316"/>
                  <a:gd name="T95" fmla="*/ 252 h 272"/>
                  <a:gd name="T96" fmla="*/ 275 w 316"/>
                  <a:gd name="T97" fmla="*/ 265 h 272"/>
                  <a:gd name="T98" fmla="*/ 270 w 316"/>
                  <a:gd name="T99" fmla="*/ 270 h 272"/>
                  <a:gd name="T100" fmla="*/ 268 w 316"/>
                  <a:gd name="T101" fmla="*/ 272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16" h="272">
                    <a:moveTo>
                      <a:pt x="41" y="265"/>
                    </a:moveTo>
                    <a:lnTo>
                      <a:pt x="40" y="263"/>
                    </a:lnTo>
                    <a:lnTo>
                      <a:pt x="30" y="252"/>
                    </a:lnTo>
                    <a:lnTo>
                      <a:pt x="15" y="230"/>
                    </a:lnTo>
                    <a:lnTo>
                      <a:pt x="7" y="207"/>
                    </a:lnTo>
                    <a:lnTo>
                      <a:pt x="0" y="183"/>
                    </a:lnTo>
                    <a:lnTo>
                      <a:pt x="0" y="158"/>
                    </a:lnTo>
                    <a:lnTo>
                      <a:pt x="2" y="125"/>
                    </a:lnTo>
                    <a:lnTo>
                      <a:pt x="10" y="97"/>
                    </a:lnTo>
                    <a:lnTo>
                      <a:pt x="25" y="71"/>
                    </a:lnTo>
                    <a:lnTo>
                      <a:pt x="46" y="47"/>
                    </a:lnTo>
                    <a:lnTo>
                      <a:pt x="70" y="26"/>
                    </a:lnTo>
                    <a:lnTo>
                      <a:pt x="96" y="11"/>
                    </a:lnTo>
                    <a:lnTo>
                      <a:pt x="125" y="2"/>
                    </a:lnTo>
                    <a:lnTo>
                      <a:pt x="158" y="0"/>
                    </a:lnTo>
                    <a:lnTo>
                      <a:pt x="173" y="0"/>
                    </a:lnTo>
                    <a:lnTo>
                      <a:pt x="189" y="2"/>
                    </a:lnTo>
                    <a:lnTo>
                      <a:pt x="203" y="5"/>
                    </a:lnTo>
                    <a:lnTo>
                      <a:pt x="218" y="11"/>
                    </a:lnTo>
                    <a:lnTo>
                      <a:pt x="230" y="17"/>
                    </a:lnTo>
                    <a:lnTo>
                      <a:pt x="244" y="26"/>
                    </a:lnTo>
                    <a:lnTo>
                      <a:pt x="256" y="35"/>
                    </a:lnTo>
                    <a:lnTo>
                      <a:pt x="270" y="47"/>
                    </a:lnTo>
                    <a:lnTo>
                      <a:pt x="280" y="58"/>
                    </a:lnTo>
                    <a:lnTo>
                      <a:pt x="289" y="71"/>
                    </a:lnTo>
                    <a:lnTo>
                      <a:pt x="304" y="97"/>
                    </a:lnTo>
                    <a:lnTo>
                      <a:pt x="309" y="110"/>
                    </a:lnTo>
                    <a:lnTo>
                      <a:pt x="312" y="125"/>
                    </a:lnTo>
                    <a:lnTo>
                      <a:pt x="315" y="140"/>
                    </a:lnTo>
                    <a:lnTo>
                      <a:pt x="316" y="158"/>
                    </a:lnTo>
                    <a:lnTo>
                      <a:pt x="315" y="160"/>
                    </a:lnTo>
                    <a:lnTo>
                      <a:pt x="315" y="164"/>
                    </a:lnTo>
                    <a:lnTo>
                      <a:pt x="315" y="171"/>
                    </a:lnTo>
                    <a:lnTo>
                      <a:pt x="312" y="186"/>
                    </a:lnTo>
                    <a:lnTo>
                      <a:pt x="310" y="192"/>
                    </a:lnTo>
                    <a:lnTo>
                      <a:pt x="309" y="200"/>
                    </a:lnTo>
                    <a:lnTo>
                      <a:pt x="305" y="215"/>
                    </a:lnTo>
                    <a:lnTo>
                      <a:pt x="299" y="227"/>
                    </a:lnTo>
                    <a:lnTo>
                      <a:pt x="296" y="230"/>
                    </a:lnTo>
                    <a:lnTo>
                      <a:pt x="295" y="230"/>
                    </a:lnTo>
                    <a:lnTo>
                      <a:pt x="295" y="231"/>
                    </a:lnTo>
                    <a:lnTo>
                      <a:pt x="295" y="233"/>
                    </a:lnTo>
                    <a:lnTo>
                      <a:pt x="292" y="241"/>
                    </a:lnTo>
                    <a:lnTo>
                      <a:pt x="287" y="246"/>
                    </a:lnTo>
                    <a:lnTo>
                      <a:pt x="285" y="248"/>
                    </a:lnTo>
                    <a:lnTo>
                      <a:pt x="284" y="248"/>
                    </a:lnTo>
                    <a:lnTo>
                      <a:pt x="284" y="250"/>
                    </a:lnTo>
                    <a:lnTo>
                      <a:pt x="284" y="252"/>
                    </a:lnTo>
                    <a:lnTo>
                      <a:pt x="275" y="265"/>
                    </a:lnTo>
                    <a:lnTo>
                      <a:pt x="270" y="270"/>
                    </a:lnTo>
                    <a:lnTo>
                      <a:pt x="268" y="272"/>
                    </a:lnTo>
                  </a:path>
                </a:pathLst>
              </a:custGeom>
              <a:solidFill>
                <a:srgbClr val="FFCC99"/>
              </a:solidFill>
              <a:ln w="14288">
                <a:solidFill>
                  <a:srgbClr val="000000"/>
                </a:solidFill>
                <a:prstDash val="solid"/>
                <a:round/>
                <a:headEnd/>
                <a:tailEnd/>
              </a:ln>
            </p:spPr>
            <p:txBody>
              <a:bodyPr/>
              <a:lstStyle/>
              <a:p>
                <a:endParaRPr lang="en-IN"/>
              </a:p>
            </p:txBody>
          </p:sp>
          <p:sp>
            <p:nvSpPr>
              <p:cNvPr id="148832" name="Freeform 2400">
                <a:extLst>
                  <a:ext uri="{FF2B5EF4-FFF2-40B4-BE49-F238E27FC236}">
                    <a16:creationId xmlns:a16="http://schemas.microsoft.com/office/drawing/2014/main" id="{FA44F15A-C0FB-E054-2D32-427ABF1A3A60}"/>
                  </a:ext>
                </a:extLst>
              </p:cNvPr>
              <p:cNvSpPr>
                <a:spLocks/>
              </p:cNvSpPr>
              <p:nvPr/>
            </p:nvSpPr>
            <p:spPr bwMode="auto">
              <a:xfrm>
                <a:off x="955" y="3801"/>
                <a:ext cx="57" cy="13"/>
              </a:xfrm>
              <a:custGeom>
                <a:avLst/>
                <a:gdLst>
                  <a:gd name="T0" fmla="*/ 227 w 227"/>
                  <a:gd name="T1" fmla="*/ 7 h 51"/>
                  <a:gd name="T2" fmla="*/ 202 w 227"/>
                  <a:gd name="T3" fmla="*/ 24 h 51"/>
                  <a:gd name="T4" fmla="*/ 188 w 227"/>
                  <a:gd name="T5" fmla="*/ 32 h 51"/>
                  <a:gd name="T6" fmla="*/ 176 w 227"/>
                  <a:gd name="T7" fmla="*/ 39 h 51"/>
                  <a:gd name="T8" fmla="*/ 161 w 227"/>
                  <a:gd name="T9" fmla="*/ 43 h 51"/>
                  <a:gd name="T10" fmla="*/ 153 w 227"/>
                  <a:gd name="T11" fmla="*/ 44 h 51"/>
                  <a:gd name="T12" fmla="*/ 147 w 227"/>
                  <a:gd name="T13" fmla="*/ 47 h 51"/>
                  <a:gd name="T14" fmla="*/ 132 w 227"/>
                  <a:gd name="T15" fmla="*/ 49 h 51"/>
                  <a:gd name="T16" fmla="*/ 117 w 227"/>
                  <a:gd name="T17" fmla="*/ 51 h 51"/>
                  <a:gd name="T18" fmla="*/ 100 w 227"/>
                  <a:gd name="T19" fmla="*/ 49 h 51"/>
                  <a:gd name="T20" fmla="*/ 84 w 227"/>
                  <a:gd name="T21" fmla="*/ 47 h 51"/>
                  <a:gd name="T22" fmla="*/ 69 w 227"/>
                  <a:gd name="T23" fmla="*/ 43 h 51"/>
                  <a:gd name="T24" fmla="*/ 55 w 227"/>
                  <a:gd name="T25" fmla="*/ 38 h 51"/>
                  <a:gd name="T26" fmla="*/ 29 w 227"/>
                  <a:gd name="T27" fmla="*/ 23 h 51"/>
                  <a:gd name="T28" fmla="*/ 17 w 227"/>
                  <a:gd name="T29" fmla="*/ 14 h 51"/>
                  <a:gd name="T30" fmla="*/ 5 w 227"/>
                  <a:gd name="T31" fmla="*/ 5 h 51"/>
                  <a:gd name="T32" fmla="*/ 0 w 227"/>
                  <a:gd name="T33"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7" h="51">
                    <a:moveTo>
                      <a:pt x="227" y="7"/>
                    </a:moveTo>
                    <a:lnTo>
                      <a:pt x="202" y="24"/>
                    </a:lnTo>
                    <a:lnTo>
                      <a:pt x="188" y="32"/>
                    </a:lnTo>
                    <a:lnTo>
                      <a:pt x="176" y="39"/>
                    </a:lnTo>
                    <a:lnTo>
                      <a:pt x="161" y="43"/>
                    </a:lnTo>
                    <a:lnTo>
                      <a:pt x="153" y="44"/>
                    </a:lnTo>
                    <a:lnTo>
                      <a:pt x="147" y="47"/>
                    </a:lnTo>
                    <a:lnTo>
                      <a:pt x="132" y="49"/>
                    </a:lnTo>
                    <a:lnTo>
                      <a:pt x="117" y="51"/>
                    </a:lnTo>
                    <a:lnTo>
                      <a:pt x="100" y="49"/>
                    </a:lnTo>
                    <a:lnTo>
                      <a:pt x="84" y="47"/>
                    </a:lnTo>
                    <a:lnTo>
                      <a:pt x="69" y="43"/>
                    </a:lnTo>
                    <a:lnTo>
                      <a:pt x="55" y="38"/>
                    </a:lnTo>
                    <a:lnTo>
                      <a:pt x="29" y="23"/>
                    </a:lnTo>
                    <a:lnTo>
                      <a:pt x="17" y="14"/>
                    </a:lnTo>
                    <a:lnTo>
                      <a:pt x="5" y="5"/>
                    </a:lnTo>
                    <a:lnTo>
                      <a:pt x="0" y="0"/>
                    </a:lnTo>
                  </a:path>
                </a:pathLst>
              </a:custGeom>
              <a:solidFill>
                <a:srgbClr val="FFCC99"/>
              </a:solidFill>
              <a:ln w="14288">
                <a:solidFill>
                  <a:srgbClr val="000000"/>
                </a:solidFill>
                <a:prstDash val="solid"/>
                <a:round/>
                <a:headEnd/>
                <a:tailEnd/>
              </a:ln>
            </p:spPr>
            <p:txBody>
              <a:bodyPr/>
              <a:lstStyle/>
              <a:p>
                <a:endParaRPr lang="en-IN"/>
              </a:p>
            </p:txBody>
          </p:sp>
          <p:sp>
            <p:nvSpPr>
              <p:cNvPr id="148833" name="Freeform 2401">
                <a:extLst>
                  <a:ext uri="{FF2B5EF4-FFF2-40B4-BE49-F238E27FC236}">
                    <a16:creationId xmlns:a16="http://schemas.microsoft.com/office/drawing/2014/main" id="{8CE3B550-8676-61EB-7FE8-09BE0255E6B5}"/>
                  </a:ext>
                </a:extLst>
              </p:cNvPr>
              <p:cNvSpPr>
                <a:spLocks/>
              </p:cNvSpPr>
              <p:nvPr/>
            </p:nvSpPr>
            <p:spPr bwMode="auto">
              <a:xfrm>
                <a:off x="1012" y="3803"/>
                <a:ext cx="38" cy="112"/>
              </a:xfrm>
              <a:custGeom>
                <a:avLst/>
                <a:gdLst>
                  <a:gd name="T0" fmla="*/ 57 w 154"/>
                  <a:gd name="T1" fmla="*/ 450 h 450"/>
                  <a:gd name="T2" fmla="*/ 72 w 154"/>
                  <a:gd name="T3" fmla="*/ 449 h 450"/>
                  <a:gd name="T4" fmla="*/ 87 w 154"/>
                  <a:gd name="T5" fmla="*/ 447 h 450"/>
                  <a:gd name="T6" fmla="*/ 99 w 154"/>
                  <a:gd name="T7" fmla="*/ 444 h 450"/>
                  <a:gd name="T8" fmla="*/ 101 w 154"/>
                  <a:gd name="T9" fmla="*/ 441 h 450"/>
                  <a:gd name="T10" fmla="*/ 101 w 154"/>
                  <a:gd name="T11" fmla="*/ 440 h 450"/>
                  <a:gd name="T12" fmla="*/ 103 w 154"/>
                  <a:gd name="T13" fmla="*/ 440 h 450"/>
                  <a:gd name="T14" fmla="*/ 105 w 154"/>
                  <a:gd name="T15" fmla="*/ 440 h 450"/>
                  <a:gd name="T16" fmla="*/ 113 w 154"/>
                  <a:gd name="T17" fmla="*/ 437 h 450"/>
                  <a:gd name="T18" fmla="*/ 123 w 154"/>
                  <a:gd name="T19" fmla="*/ 429 h 450"/>
                  <a:gd name="T20" fmla="*/ 133 w 154"/>
                  <a:gd name="T21" fmla="*/ 419 h 450"/>
                  <a:gd name="T22" fmla="*/ 141 w 154"/>
                  <a:gd name="T23" fmla="*/ 406 h 450"/>
                  <a:gd name="T24" fmla="*/ 145 w 154"/>
                  <a:gd name="T25" fmla="*/ 399 h 450"/>
                  <a:gd name="T26" fmla="*/ 150 w 154"/>
                  <a:gd name="T27" fmla="*/ 393 h 450"/>
                  <a:gd name="T28" fmla="*/ 152 w 154"/>
                  <a:gd name="T29" fmla="*/ 373 h 450"/>
                  <a:gd name="T30" fmla="*/ 154 w 154"/>
                  <a:gd name="T31" fmla="*/ 353 h 450"/>
                  <a:gd name="T32" fmla="*/ 154 w 154"/>
                  <a:gd name="T33" fmla="*/ 208 h 450"/>
                  <a:gd name="T34" fmla="*/ 152 w 154"/>
                  <a:gd name="T35" fmla="*/ 185 h 450"/>
                  <a:gd name="T36" fmla="*/ 150 w 154"/>
                  <a:gd name="T37" fmla="*/ 165 h 450"/>
                  <a:gd name="T38" fmla="*/ 146 w 154"/>
                  <a:gd name="T39" fmla="*/ 152 h 450"/>
                  <a:gd name="T40" fmla="*/ 144 w 154"/>
                  <a:gd name="T41" fmla="*/ 140 h 450"/>
                  <a:gd name="T42" fmla="*/ 134 w 154"/>
                  <a:gd name="T43" fmla="*/ 117 h 450"/>
                  <a:gd name="T44" fmla="*/ 123 w 154"/>
                  <a:gd name="T45" fmla="*/ 96 h 450"/>
                  <a:gd name="T46" fmla="*/ 108 w 154"/>
                  <a:gd name="T47" fmla="*/ 76 h 450"/>
                  <a:gd name="T48" fmla="*/ 92 w 154"/>
                  <a:gd name="T49" fmla="*/ 57 h 450"/>
                  <a:gd name="T50" fmla="*/ 70 w 154"/>
                  <a:gd name="T51" fmla="*/ 39 h 450"/>
                  <a:gd name="T52" fmla="*/ 51 w 154"/>
                  <a:gd name="T53" fmla="*/ 24 h 450"/>
                  <a:gd name="T54" fmla="*/ 31 w 154"/>
                  <a:gd name="T55" fmla="*/ 12 h 450"/>
                  <a:gd name="T56" fmla="*/ 12 w 154"/>
                  <a:gd name="T57" fmla="*/ 4 h 450"/>
                  <a:gd name="T58" fmla="*/ 0 w 154"/>
                  <a:gd name="T59" fmla="*/ 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 h="450">
                    <a:moveTo>
                      <a:pt x="57" y="450"/>
                    </a:moveTo>
                    <a:lnTo>
                      <a:pt x="72" y="449"/>
                    </a:lnTo>
                    <a:lnTo>
                      <a:pt x="87" y="447"/>
                    </a:lnTo>
                    <a:lnTo>
                      <a:pt x="99" y="444"/>
                    </a:lnTo>
                    <a:lnTo>
                      <a:pt x="101" y="441"/>
                    </a:lnTo>
                    <a:lnTo>
                      <a:pt x="101" y="440"/>
                    </a:lnTo>
                    <a:lnTo>
                      <a:pt x="103" y="440"/>
                    </a:lnTo>
                    <a:lnTo>
                      <a:pt x="105" y="440"/>
                    </a:lnTo>
                    <a:lnTo>
                      <a:pt x="113" y="437"/>
                    </a:lnTo>
                    <a:lnTo>
                      <a:pt x="123" y="429"/>
                    </a:lnTo>
                    <a:lnTo>
                      <a:pt x="133" y="419"/>
                    </a:lnTo>
                    <a:lnTo>
                      <a:pt x="141" y="406"/>
                    </a:lnTo>
                    <a:lnTo>
                      <a:pt x="145" y="399"/>
                    </a:lnTo>
                    <a:lnTo>
                      <a:pt x="150" y="393"/>
                    </a:lnTo>
                    <a:lnTo>
                      <a:pt x="152" y="373"/>
                    </a:lnTo>
                    <a:lnTo>
                      <a:pt x="154" y="353"/>
                    </a:lnTo>
                    <a:lnTo>
                      <a:pt x="154" y="208"/>
                    </a:lnTo>
                    <a:lnTo>
                      <a:pt x="152" y="185"/>
                    </a:lnTo>
                    <a:lnTo>
                      <a:pt x="150" y="165"/>
                    </a:lnTo>
                    <a:lnTo>
                      <a:pt x="146" y="152"/>
                    </a:lnTo>
                    <a:lnTo>
                      <a:pt x="144" y="140"/>
                    </a:lnTo>
                    <a:lnTo>
                      <a:pt x="134" y="117"/>
                    </a:lnTo>
                    <a:lnTo>
                      <a:pt x="123" y="96"/>
                    </a:lnTo>
                    <a:lnTo>
                      <a:pt x="108" y="76"/>
                    </a:lnTo>
                    <a:lnTo>
                      <a:pt x="92" y="57"/>
                    </a:lnTo>
                    <a:lnTo>
                      <a:pt x="70" y="39"/>
                    </a:lnTo>
                    <a:lnTo>
                      <a:pt x="51" y="24"/>
                    </a:lnTo>
                    <a:lnTo>
                      <a:pt x="31" y="12"/>
                    </a:lnTo>
                    <a:lnTo>
                      <a:pt x="12" y="4"/>
                    </a:lnTo>
                    <a:lnTo>
                      <a:pt x="0" y="0"/>
                    </a:lnTo>
                  </a:path>
                </a:pathLst>
              </a:custGeom>
              <a:solidFill>
                <a:srgbClr val="FFCC99"/>
              </a:solidFill>
              <a:ln w="14288">
                <a:solidFill>
                  <a:srgbClr val="000000"/>
                </a:solidFill>
                <a:prstDash val="solid"/>
                <a:round/>
                <a:headEnd/>
                <a:tailEnd/>
              </a:ln>
            </p:spPr>
            <p:txBody>
              <a:bodyPr/>
              <a:lstStyle/>
              <a:p>
                <a:endParaRPr lang="en-IN"/>
              </a:p>
            </p:txBody>
          </p:sp>
          <p:sp>
            <p:nvSpPr>
              <p:cNvPr id="148834" name="Freeform 2402">
                <a:extLst>
                  <a:ext uri="{FF2B5EF4-FFF2-40B4-BE49-F238E27FC236}">
                    <a16:creationId xmlns:a16="http://schemas.microsoft.com/office/drawing/2014/main" id="{FB0010CB-CD9B-5511-E142-4269E19B2978}"/>
                  </a:ext>
                </a:extLst>
              </p:cNvPr>
              <p:cNvSpPr>
                <a:spLocks/>
              </p:cNvSpPr>
              <p:nvPr/>
            </p:nvSpPr>
            <p:spPr bwMode="auto">
              <a:xfrm>
                <a:off x="933" y="3897"/>
                <a:ext cx="93" cy="21"/>
              </a:xfrm>
              <a:custGeom>
                <a:avLst/>
                <a:gdLst>
                  <a:gd name="T0" fmla="*/ 0 w 371"/>
                  <a:gd name="T1" fmla="*/ 0 h 87"/>
                  <a:gd name="T2" fmla="*/ 40 w 371"/>
                  <a:gd name="T3" fmla="*/ 27 h 87"/>
                  <a:gd name="T4" fmla="*/ 84 w 371"/>
                  <a:gd name="T5" fmla="*/ 50 h 87"/>
                  <a:gd name="T6" fmla="*/ 127 w 371"/>
                  <a:gd name="T7" fmla="*/ 67 h 87"/>
                  <a:gd name="T8" fmla="*/ 173 w 371"/>
                  <a:gd name="T9" fmla="*/ 80 h 87"/>
                  <a:gd name="T10" fmla="*/ 219 w 371"/>
                  <a:gd name="T11" fmla="*/ 85 h 87"/>
                  <a:gd name="T12" fmla="*/ 269 w 371"/>
                  <a:gd name="T13" fmla="*/ 87 h 87"/>
                  <a:gd name="T14" fmla="*/ 294 w 371"/>
                  <a:gd name="T15" fmla="*/ 86 h 87"/>
                  <a:gd name="T16" fmla="*/ 319 w 371"/>
                  <a:gd name="T17" fmla="*/ 83 h 87"/>
                  <a:gd name="T18" fmla="*/ 371 w 371"/>
                  <a:gd name="T19" fmla="*/ 76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1" h="87">
                    <a:moveTo>
                      <a:pt x="0" y="0"/>
                    </a:moveTo>
                    <a:lnTo>
                      <a:pt x="40" y="27"/>
                    </a:lnTo>
                    <a:lnTo>
                      <a:pt x="84" y="50"/>
                    </a:lnTo>
                    <a:lnTo>
                      <a:pt x="127" y="67"/>
                    </a:lnTo>
                    <a:lnTo>
                      <a:pt x="173" y="80"/>
                    </a:lnTo>
                    <a:lnTo>
                      <a:pt x="219" y="85"/>
                    </a:lnTo>
                    <a:lnTo>
                      <a:pt x="269" y="87"/>
                    </a:lnTo>
                    <a:lnTo>
                      <a:pt x="294" y="86"/>
                    </a:lnTo>
                    <a:lnTo>
                      <a:pt x="319" y="83"/>
                    </a:lnTo>
                    <a:lnTo>
                      <a:pt x="371" y="76"/>
                    </a:lnTo>
                  </a:path>
                </a:pathLst>
              </a:custGeom>
              <a:solidFill>
                <a:srgbClr val="FFCC99"/>
              </a:solidFill>
              <a:ln w="14288">
                <a:solidFill>
                  <a:srgbClr val="000000"/>
                </a:solidFill>
                <a:prstDash val="solid"/>
                <a:round/>
                <a:headEnd/>
                <a:tailEnd/>
              </a:ln>
            </p:spPr>
            <p:txBody>
              <a:bodyPr/>
              <a:lstStyle/>
              <a:p>
                <a:endParaRPr lang="en-IN"/>
              </a:p>
            </p:txBody>
          </p:sp>
          <p:sp>
            <p:nvSpPr>
              <p:cNvPr id="148835" name="Line 2403">
                <a:extLst>
                  <a:ext uri="{FF2B5EF4-FFF2-40B4-BE49-F238E27FC236}">
                    <a16:creationId xmlns:a16="http://schemas.microsoft.com/office/drawing/2014/main" id="{7306BE4E-52D0-D998-5B98-9B82E363FD08}"/>
                  </a:ext>
                </a:extLst>
              </p:cNvPr>
              <p:cNvSpPr>
                <a:spLocks noChangeShapeType="1"/>
              </p:cNvSpPr>
              <p:nvPr/>
            </p:nvSpPr>
            <p:spPr bwMode="auto">
              <a:xfrm flipV="1">
                <a:off x="1026" y="3856"/>
                <a:ext cx="0" cy="5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8836" name="Line 2404">
                <a:extLst>
                  <a:ext uri="{FF2B5EF4-FFF2-40B4-BE49-F238E27FC236}">
                    <a16:creationId xmlns:a16="http://schemas.microsoft.com/office/drawing/2014/main" id="{35BAD4BB-C6D2-C2BB-2B21-9EF992EECF77}"/>
                  </a:ext>
                </a:extLst>
              </p:cNvPr>
              <p:cNvSpPr>
                <a:spLocks noChangeShapeType="1"/>
              </p:cNvSpPr>
              <p:nvPr/>
            </p:nvSpPr>
            <p:spPr bwMode="auto">
              <a:xfrm>
                <a:off x="933" y="3851"/>
                <a:ext cx="0" cy="4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8837" name="Freeform 2405">
                <a:extLst>
                  <a:ext uri="{FF2B5EF4-FFF2-40B4-BE49-F238E27FC236}">
                    <a16:creationId xmlns:a16="http://schemas.microsoft.com/office/drawing/2014/main" id="{F62E9E37-7485-1E5F-EAF0-63463E366F71}"/>
                  </a:ext>
                </a:extLst>
              </p:cNvPr>
              <p:cNvSpPr>
                <a:spLocks/>
              </p:cNvSpPr>
              <p:nvPr/>
            </p:nvSpPr>
            <p:spPr bwMode="auto">
              <a:xfrm>
                <a:off x="918" y="3801"/>
                <a:ext cx="37" cy="96"/>
              </a:xfrm>
              <a:custGeom>
                <a:avLst/>
                <a:gdLst>
                  <a:gd name="T0" fmla="*/ 62 w 149"/>
                  <a:gd name="T1" fmla="*/ 381 h 381"/>
                  <a:gd name="T2" fmla="*/ 49 w 149"/>
                  <a:gd name="T3" fmla="*/ 379 h 381"/>
                  <a:gd name="T4" fmla="*/ 38 w 149"/>
                  <a:gd name="T5" fmla="*/ 376 h 381"/>
                  <a:gd name="T6" fmla="*/ 28 w 149"/>
                  <a:gd name="T7" fmla="*/ 372 h 381"/>
                  <a:gd name="T8" fmla="*/ 20 w 149"/>
                  <a:gd name="T9" fmla="*/ 369 h 381"/>
                  <a:gd name="T10" fmla="*/ 13 w 149"/>
                  <a:gd name="T11" fmla="*/ 362 h 381"/>
                  <a:gd name="T12" fmla="*/ 8 w 149"/>
                  <a:gd name="T13" fmla="*/ 355 h 381"/>
                  <a:gd name="T14" fmla="*/ 3 w 149"/>
                  <a:gd name="T15" fmla="*/ 346 h 381"/>
                  <a:gd name="T16" fmla="*/ 0 w 149"/>
                  <a:gd name="T17" fmla="*/ 338 h 381"/>
                  <a:gd name="T18" fmla="*/ 0 w 149"/>
                  <a:gd name="T19" fmla="*/ 192 h 381"/>
                  <a:gd name="T20" fmla="*/ 0 w 149"/>
                  <a:gd name="T21" fmla="*/ 172 h 381"/>
                  <a:gd name="T22" fmla="*/ 4 w 149"/>
                  <a:gd name="T23" fmla="*/ 149 h 381"/>
                  <a:gd name="T24" fmla="*/ 10 w 149"/>
                  <a:gd name="T25" fmla="*/ 128 h 381"/>
                  <a:gd name="T26" fmla="*/ 19 w 149"/>
                  <a:gd name="T27" fmla="*/ 105 h 381"/>
                  <a:gd name="T28" fmla="*/ 30 w 149"/>
                  <a:gd name="T29" fmla="*/ 85 h 381"/>
                  <a:gd name="T30" fmla="*/ 44 w 149"/>
                  <a:gd name="T31" fmla="*/ 65 h 381"/>
                  <a:gd name="T32" fmla="*/ 62 w 149"/>
                  <a:gd name="T33" fmla="*/ 48 h 381"/>
                  <a:gd name="T34" fmla="*/ 76 w 149"/>
                  <a:gd name="T35" fmla="*/ 36 h 381"/>
                  <a:gd name="T36" fmla="*/ 92 w 149"/>
                  <a:gd name="T37" fmla="*/ 22 h 381"/>
                  <a:gd name="T38" fmla="*/ 110 w 149"/>
                  <a:gd name="T39" fmla="*/ 13 h 381"/>
                  <a:gd name="T40" fmla="*/ 127 w 149"/>
                  <a:gd name="T41" fmla="*/ 5 h 381"/>
                  <a:gd name="T42" fmla="*/ 147 w 149"/>
                  <a:gd name="T43" fmla="*/ 1 h 381"/>
                  <a:gd name="T44" fmla="*/ 149 w 149"/>
                  <a:gd name="T45" fmla="*/ 0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9" h="381">
                    <a:moveTo>
                      <a:pt x="62" y="381"/>
                    </a:moveTo>
                    <a:lnTo>
                      <a:pt x="49" y="379"/>
                    </a:lnTo>
                    <a:lnTo>
                      <a:pt x="38" y="376"/>
                    </a:lnTo>
                    <a:lnTo>
                      <a:pt x="28" y="372"/>
                    </a:lnTo>
                    <a:lnTo>
                      <a:pt x="20" y="369"/>
                    </a:lnTo>
                    <a:lnTo>
                      <a:pt x="13" y="362"/>
                    </a:lnTo>
                    <a:lnTo>
                      <a:pt x="8" y="355"/>
                    </a:lnTo>
                    <a:lnTo>
                      <a:pt x="3" y="346"/>
                    </a:lnTo>
                    <a:lnTo>
                      <a:pt x="0" y="338"/>
                    </a:lnTo>
                    <a:lnTo>
                      <a:pt x="0" y="192"/>
                    </a:lnTo>
                    <a:lnTo>
                      <a:pt x="0" y="172"/>
                    </a:lnTo>
                    <a:lnTo>
                      <a:pt x="4" y="149"/>
                    </a:lnTo>
                    <a:lnTo>
                      <a:pt x="10" y="128"/>
                    </a:lnTo>
                    <a:lnTo>
                      <a:pt x="19" y="105"/>
                    </a:lnTo>
                    <a:lnTo>
                      <a:pt x="30" y="85"/>
                    </a:lnTo>
                    <a:lnTo>
                      <a:pt x="44" y="65"/>
                    </a:lnTo>
                    <a:lnTo>
                      <a:pt x="62" y="48"/>
                    </a:lnTo>
                    <a:lnTo>
                      <a:pt x="76" y="36"/>
                    </a:lnTo>
                    <a:lnTo>
                      <a:pt x="92" y="22"/>
                    </a:lnTo>
                    <a:lnTo>
                      <a:pt x="110" y="13"/>
                    </a:lnTo>
                    <a:lnTo>
                      <a:pt x="127" y="5"/>
                    </a:lnTo>
                    <a:lnTo>
                      <a:pt x="147" y="1"/>
                    </a:lnTo>
                    <a:lnTo>
                      <a:pt x="149" y="0"/>
                    </a:lnTo>
                  </a:path>
                </a:pathLst>
              </a:custGeom>
              <a:solidFill>
                <a:srgbClr val="FFCC99"/>
              </a:solidFill>
              <a:ln w="14288">
                <a:solidFill>
                  <a:srgbClr val="000000"/>
                </a:solidFill>
                <a:prstDash val="solid"/>
                <a:round/>
                <a:headEnd/>
                <a:tailEnd/>
              </a:ln>
            </p:spPr>
            <p:txBody>
              <a:bodyPr/>
              <a:lstStyle/>
              <a:p>
                <a:endParaRPr lang="en-IN"/>
              </a:p>
            </p:txBody>
          </p:sp>
        </p:grpSp>
        <p:sp>
          <p:nvSpPr>
            <p:cNvPr id="148838" name="Rectangle 2406">
              <a:extLst>
                <a:ext uri="{FF2B5EF4-FFF2-40B4-BE49-F238E27FC236}">
                  <a16:creationId xmlns:a16="http://schemas.microsoft.com/office/drawing/2014/main" id="{900A2759-FAAB-30AD-DBC6-F710DC6F139F}"/>
                </a:ext>
              </a:extLst>
            </p:cNvPr>
            <p:cNvSpPr>
              <a:spLocks noChangeArrowheads="1"/>
            </p:cNvSpPr>
            <p:nvPr/>
          </p:nvSpPr>
          <p:spPr bwMode="auto">
            <a:xfrm>
              <a:off x="2543" y="2906"/>
              <a:ext cx="851"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Security Zone G</a:t>
              </a:r>
            </a:p>
          </p:txBody>
        </p:sp>
        <p:sp>
          <p:nvSpPr>
            <p:cNvPr id="148839" name="Rectangle 2407">
              <a:extLst>
                <a:ext uri="{FF2B5EF4-FFF2-40B4-BE49-F238E27FC236}">
                  <a16:creationId xmlns:a16="http://schemas.microsoft.com/office/drawing/2014/main" id="{72467B94-7886-1C56-45FE-E219E3125746}"/>
                </a:ext>
              </a:extLst>
            </p:cNvPr>
            <p:cNvSpPr>
              <a:spLocks noChangeArrowheads="1"/>
            </p:cNvSpPr>
            <p:nvPr/>
          </p:nvSpPr>
          <p:spPr bwMode="auto">
            <a:xfrm>
              <a:off x="2616" y="3024"/>
              <a:ext cx="744"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latin typeface="Verdana" panose="020B0604030504040204" pitchFamily="34" charset="0"/>
                  <a:ea typeface="宋体" panose="02010600030101010101" pitchFamily="2" charset="-122"/>
                </a:rPr>
                <a:t>Switch - Storage</a:t>
              </a:r>
            </a:p>
          </p:txBody>
        </p:sp>
        <p:grpSp>
          <p:nvGrpSpPr>
            <p:cNvPr id="149806" name="Group 3374">
              <a:extLst>
                <a:ext uri="{FF2B5EF4-FFF2-40B4-BE49-F238E27FC236}">
                  <a16:creationId xmlns:a16="http://schemas.microsoft.com/office/drawing/2014/main" id="{FB76E7E6-E2AB-D1BA-6D76-6D5C7F0C89AF}"/>
                </a:ext>
              </a:extLst>
            </p:cNvPr>
            <p:cNvGrpSpPr>
              <a:grpSpLocks/>
            </p:cNvGrpSpPr>
            <p:nvPr/>
          </p:nvGrpSpPr>
          <p:grpSpPr bwMode="auto">
            <a:xfrm>
              <a:off x="2532" y="3325"/>
              <a:ext cx="588" cy="131"/>
              <a:chOff x="2481" y="3968"/>
              <a:chExt cx="762" cy="208"/>
            </a:xfrm>
          </p:grpSpPr>
          <p:pic>
            <p:nvPicPr>
              <p:cNvPr id="149567" name="Picture 3135">
                <a:extLst>
                  <a:ext uri="{FF2B5EF4-FFF2-40B4-BE49-F238E27FC236}">
                    <a16:creationId xmlns:a16="http://schemas.microsoft.com/office/drawing/2014/main" id="{12B91A2D-4865-447A-E6F6-A2725C12EE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1" y="3968"/>
                <a:ext cx="201" cy="208"/>
              </a:xfrm>
              <a:prstGeom prst="rect">
                <a:avLst/>
              </a:prstGeom>
              <a:noFill/>
              <a:extLst>
                <a:ext uri="{909E8E84-426E-40DD-AFC4-6F175D3DCCD1}">
                  <a14:hiddenFill xmlns:a14="http://schemas.microsoft.com/office/drawing/2010/main">
                    <a:solidFill>
                      <a:srgbClr val="FFFFFF"/>
                    </a:solidFill>
                  </a14:hiddenFill>
                </a:ext>
              </a:extLst>
            </p:spPr>
          </p:pic>
          <p:pic>
            <p:nvPicPr>
              <p:cNvPr id="149568" name="Picture 3136">
                <a:extLst>
                  <a:ext uri="{FF2B5EF4-FFF2-40B4-BE49-F238E27FC236}">
                    <a16:creationId xmlns:a16="http://schemas.microsoft.com/office/drawing/2014/main" id="{1054C24F-015E-97EE-1DB3-B7AACA1AA6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7" y="3968"/>
                <a:ext cx="201" cy="208"/>
              </a:xfrm>
              <a:prstGeom prst="rect">
                <a:avLst/>
              </a:prstGeom>
              <a:noFill/>
              <a:extLst>
                <a:ext uri="{909E8E84-426E-40DD-AFC4-6F175D3DCCD1}">
                  <a14:hiddenFill xmlns:a14="http://schemas.microsoft.com/office/drawing/2010/main">
                    <a:solidFill>
                      <a:srgbClr val="FFFFFF"/>
                    </a:solidFill>
                  </a14:hiddenFill>
                </a:ext>
              </a:extLst>
            </p:spPr>
          </p:pic>
          <p:pic>
            <p:nvPicPr>
              <p:cNvPr id="149569" name="Picture 3137">
                <a:extLst>
                  <a:ext uri="{FF2B5EF4-FFF2-40B4-BE49-F238E27FC236}">
                    <a16:creationId xmlns:a16="http://schemas.microsoft.com/office/drawing/2014/main" id="{07C24401-C528-F133-F45E-D054312175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1" y="3968"/>
                <a:ext cx="202" cy="20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49845" name="Group 3413">
            <a:extLst>
              <a:ext uri="{FF2B5EF4-FFF2-40B4-BE49-F238E27FC236}">
                <a16:creationId xmlns:a16="http://schemas.microsoft.com/office/drawing/2014/main" id="{07476B95-1CC5-27D8-62D3-8A893D34BAF1}"/>
              </a:ext>
            </a:extLst>
          </p:cNvPr>
          <p:cNvGrpSpPr>
            <a:grpSpLocks/>
          </p:cNvGrpSpPr>
          <p:nvPr/>
        </p:nvGrpSpPr>
        <p:grpSpPr bwMode="auto">
          <a:xfrm>
            <a:off x="5635625" y="2867025"/>
            <a:ext cx="1755775" cy="1122363"/>
            <a:chOff x="3550" y="1806"/>
            <a:chExt cx="1106" cy="707"/>
          </a:xfrm>
        </p:grpSpPr>
        <p:sp>
          <p:nvSpPr>
            <p:cNvPr id="149576" name="Oval 3144">
              <a:extLst>
                <a:ext uri="{FF2B5EF4-FFF2-40B4-BE49-F238E27FC236}">
                  <a16:creationId xmlns:a16="http://schemas.microsoft.com/office/drawing/2014/main" id="{5DA5F3F8-DBC0-AC08-1182-0BFD85BB2263}"/>
                </a:ext>
              </a:extLst>
            </p:cNvPr>
            <p:cNvSpPr>
              <a:spLocks noChangeArrowheads="1"/>
            </p:cNvSpPr>
            <p:nvPr/>
          </p:nvSpPr>
          <p:spPr bwMode="auto">
            <a:xfrm>
              <a:off x="3550" y="1983"/>
              <a:ext cx="907" cy="530"/>
            </a:xfrm>
            <a:prstGeom prst="ellipse">
              <a:avLst/>
            </a:prstGeom>
            <a:solidFill>
              <a:srgbClr val="99CCFF"/>
            </a:solidFill>
            <a:ln w="25400" cap="rnd"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149574" name="Freeform 3142">
              <a:extLst>
                <a:ext uri="{FF2B5EF4-FFF2-40B4-BE49-F238E27FC236}">
                  <a16:creationId xmlns:a16="http://schemas.microsoft.com/office/drawing/2014/main" id="{A261EAE8-F991-7929-5626-DD78F9427E41}"/>
                </a:ext>
              </a:extLst>
            </p:cNvPr>
            <p:cNvSpPr>
              <a:spLocks/>
            </p:cNvSpPr>
            <p:nvPr/>
          </p:nvSpPr>
          <p:spPr bwMode="auto">
            <a:xfrm>
              <a:off x="4249" y="1806"/>
              <a:ext cx="407" cy="281"/>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575" name="Rectangle 3143">
              <a:extLst>
                <a:ext uri="{FF2B5EF4-FFF2-40B4-BE49-F238E27FC236}">
                  <a16:creationId xmlns:a16="http://schemas.microsoft.com/office/drawing/2014/main" id="{6F20B95A-3FBD-26CC-B3D8-9BAEDC29B63C}"/>
                </a:ext>
              </a:extLst>
            </p:cNvPr>
            <p:cNvSpPr>
              <a:spLocks noChangeArrowheads="1"/>
            </p:cNvSpPr>
            <p:nvPr/>
          </p:nvSpPr>
          <p:spPr bwMode="auto">
            <a:xfrm>
              <a:off x="4336" y="1910"/>
              <a:ext cx="26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WAN</a:t>
              </a:r>
              <a:endParaRPr lang="en-US" altLang="zh-CN" sz="1600" b="1">
                <a:solidFill>
                  <a:schemeClr val="tx1"/>
                </a:solidFill>
                <a:ea typeface="宋体" panose="02010600030101010101" pitchFamily="2" charset="-122"/>
              </a:endParaRPr>
            </a:p>
          </p:txBody>
        </p:sp>
        <p:sp>
          <p:nvSpPr>
            <p:cNvPr id="149535" name="Rectangle 3103">
              <a:extLst>
                <a:ext uri="{FF2B5EF4-FFF2-40B4-BE49-F238E27FC236}">
                  <a16:creationId xmlns:a16="http://schemas.microsoft.com/office/drawing/2014/main" id="{9A7C50DC-94F5-39B9-276E-8DAB5941C5CB}"/>
                </a:ext>
              </a:extLst>
            </p:cNvPr>
            <p:cNvSpPr>
              <a:spLocks noChangeArrowheads="1"/>
            </p:cNvSpPr>
            <p:nvPr/>
          </p:nvSpPr>
          <p:spPr bwMode="auto">
            <a:xfrm>
              <a:off x="3605" y="2142"/>
              <a:ext cx="835"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Security Zone F</a:t>
              </a:r>
            </a:p>
          </p:txBody>
        </p:sp>
        <p:sp>
          <p:nvSpPr>
            <p:cNvPr id="149536" name="Rectangle 3104">
              <a:extLst>
                <a:ext uri="{FF2B5EF4-FFF2-40B4-BE49-F238E27FC236}">
                  <a16:creationId xmlns:a16="http://schemas.microsoft.com/office/drawing/2014/main" id="{27DB0344-E6A3-E1BB-7C40-8B0C43BCC269}"/>
                </a:ext>
              </a:extLst>
            </p:cNvPr>
            <p:cNvSpPr>
              <a:spLocks noChangeArrowheads="1"/>
            </p:cNvSpPr>
            <p:nvPr/>
          </p:nvSpPr>
          <p:spPr bwMode="auto">
            <a:xfrm>
              <a:off x="3606" y="2236"/>
              <a:ext cx="854"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latin typeface="Verdana" panose="020B0604030504040204" pitchFamily="34" charset="0"/>
                  <a:ea typeface="宋体" panose="02010600030101010101" pitchFamily="2" charset="-122"/>
                </a:rPr>
                <a:t>Distance Extension</a:t>
              </a:r>
            </a:p>
          </p:txBody>
        </p:sp>
        <p:pic>
          <p:nvPicPr>
            <p:cNvPr id="149571" name="Picture 3139">
              <a:extLst>
                <a:ext uri="{FF2B5EF4-FFF2-40B4-BE49-F238E27FC236}">
                  <a16:creationId xmlns:a16="http://schemas.microsoft.com/office/drawing/2014/main" id="{63D77DAA-80E7-200E-2EC1-6230F64296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7" y="1866"/>
              <a:ext cx="494" cy="200"/>
            </a:xfrm>
            <a:prstGeom prst="rect">
              <a:avLst/>
            </a:prstGeom>
            <a:noFill/>
            <a:extLst>
              <a:ext uri="{909E8E84-426E-40DD-AFC4-6F175D3DCCD1}">
                <a14:hiddenFill xmlns:a14="http://schemas.microsoft.com/office/drawing/2010/main">
                  <a:solidFill>
                    <a:srgbClr val="FFFFFF"/>
                  </a:solidFill>
                </a14:hiddenFill>
              </a:ext>
            </a:extLst>
          </p:spPr>
        </p:pic>
      </p:grpSp>
      <p:sp>
        <p:nvSpPr>
          <p:cNvPr id="149579" name="Rectangle 3147">
            <a:extLst>
              <a:ext uri="{FF2B5EF4-FFF2-40B4-BE49-F238E27FC236}">
                <a16:creationId xmlns:a16="http://schemas.microsoft.com/office/drawing/2014/main" id="{2FDB8293-CD52-C4CC-833A-F32105A935ED}"/>
              </a:ext>
            </a:extLst>
          </p:cNvPr>
          <p:cNvSpPr>
            <a:spLocks noChangeArrowheads="1"/>
          </p:cNvSpPr>
          <p:nvPr/>
        </p:nvSpPr>
        <p:spPr bwMode="auto">
          <a:xfrm>
            <a:off x="4306888" y="1246188"/>
            <a:ext cx="3127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l">
              <a:spcBef>
                <a:spcPct val="0"/>
              </a:spcBef>
              <a:buClrTx/>
              <a:buFontTx/>
              <a:buNone/>
            </a:pPr>
            <a:r>
              <a:rPr lang="en-US" altLang="zh-CN" sz="1000" b="1">
                <a:solidFill>
                  <a:srgbClr val="000000"/>
                </a:solidFill>
                <a:latin typeface="Verdana" panose="020B0604030504040204" pitchFamily="34" charset="0"/>
                <a:ea typeface="宋体" panose="02010600030101010101" pitchFamily="2" charset="-122"/>
              </a:rPr>
              <a:t>LAN</a:t>
            </a:r>
            <a:endParaRPr lang="en-US" altLang="zh-CN" sz="1600" b="1">
              <a:solidFill>
                <a:schemeClr val="tx1"/>
              </a:solidFill>
              <a:ea typeface="宋体" panose="02010600030101010101" pitchFamily="2" charset="-122"/>
            </a:endParaRPr>
          </a:p>
        </p:txBody>
      </p:sp>
      <p:grpSp>
        <p:nvGrpSpPr>
          <p:cNvPr id="149835" name="Group 3403">
            <a:extLst>
              <a:ext uri="{FF2B5EF4-FFF2-40B4-BE49-F238E27FC236}">
                <a16:creationId xmlns:a16="http://schemas.microsoft.com/office/drawing/2014/main" id="{60346398-B0A2-D6E7-EBA3-5682ED3949D1}"/>
              </a:ext>
            </a:extLst>
          </p:cNvPr>
          <p:cNvGrpSpPr>
            <a:grpSpLocks/>
          </p:cNvGrpSpPr>
          <p:nvPr/>
        </p:nvGrpSpPr>
        <p:grpSpPr bwMode="auto">
          <a:xfrm>
            <a:off x="1762125" y="2863850"/>
            <a:ext cx="1670050" cy="2185988"/>
            <a:chOff x="1053" y="1804"/>
            <a:chExt cx="1052" cy="1377"/>
          </a:xfrm>
        </p:grpSpPr>
        <p:sp>
          <p:nvSpPr>
            <p:cNvPr id="149547" name="Oval 3115">
              <a:extLst>
                <a:ext uri="{FF2B5EF4-FFF2-40B4-BE49-F238E27FC236}">
                  <a16:creationId xmlns:a16="http://schemas.microsoft.com/office/drawing/2014/main" id="{0F7DF34B-12A8-DDF6-BCEF-06A0FD5E876D}"/>
                </a:ext>
              </a:extLst>
            </p:cNvPr>
            <p:cNvSpPr>
              <a:spLocks noChangeArrowheads="1"/>
            </p:cNvSpPr>
            <p:nvPr/>
          </p:nvSpPr>
          <p:spPr bwMode="auto">
            <a:xfrm rot="-2583067">
              <a:off x="1085" y="1937"/>
              <a:ext cx="987" cy="1244"/>
            </a:xfrm>
            <a:prstGeom prst="ellipse">
              <a:avLst/>
            </a:prstGeom>
            <a:solidFill>
              <a:srgbClr val="FFFF99"/>
            </a:solidFill>
            <a:ln w="25400" cap="rnd"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149384" name="Rectangle 2952">
              <a:extLst>
                <a:ext uri="{FF2B5EF4-FFF2-40B4-BE49-F238E27FC236}">
                  <a16:creationId xmlns:a16="http://schemas.microsoft.com/office/drawing/2014/main" id="{DBF9A749-8B83-C909-139D-ABF89B8325FC}"/>
                </a:ext>
              </a:extLst>
            </p:cNvPr>
            <p:cNvSpPr>
              <a:spLocks noChangeArrowheads="1"/>
            </p:cNvSpPr>
            <p:nvPr/>
          </p:nvSpPr>
          <p:spPr bwMode="auto">
            <a:xfrm>
              <a:off x="1108" y="2377"/>
              <a:ext cx="84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Security Zone C</a:t>
              </a:r>
              <a:endParaRPr lang="en-US" altLang="zh-CN" sz="3600">
                <a:solidFill>
                  <a:srgbClr val="003580"/>
                </a:solidFill>
                <a:ea typeface="宋体" panose="02010600030101010101" pitchFamily="2" charset="-122"/>
              </a:endParaRPr>
            </a:p>
          </p:txBody>
        </p:sp>
        <p:sp>
          <p:nvSpPr>
            <p:cNvPr id="149385" name="Rectangle 2953">
              <a:extLst>
                <a:ext uri="{FF2B5EF4-FFF2-40B4-BE49-F238E27FC236}">
                  <a16:creationId xmlns:a16="http://schemas.microsoft.com/office/drawing/2014/main" id="{4A0F331B-025E-2123-9176-AF5F0268C6E3}"/>
                </a:ext>
              </a:extLst>
            </p:cNvPr>
            <p:cNvSpPr>
              <a:spLocks noChangeArrowheads="1"/>
            </p:cNvSpPr>
            <p:nvPr/>
          </p:nvSpPr>
          <p:spPr bwMode="auto">
            <a:xfrm>
              <a:off x="1053" y="2489"/>
              <a:ext cx="1052"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latin typeface="Verdana" panose="020B0604030504040204" pitchFamily="34" charset="0"/>
                  <a:ea typeface="宋体" panose="02010600030101010101" pitchFamily="2" charset="-122"/>
                </a:rPr>
                <a:t>Access Control - Switch</a:t>
              </a:r>
            </a:p>
          </p:txBody>
        </p:sp>
        <p:grpSp>
          <p:nvGrpSpPr>
            <p:cNvPr id="149546" name="Group 3114">
              <a:extLst>
                <a:ext uri="{FF2B5EF4-FFF2-40B4-BE49-F238E27FC236}">
                  <a16:creationId xmlns:a16="http://schemas.microsoft.com/office/drawing/2014/main" id="{F52C7FBF-A6E8-D7F3-0461-89912649A0C7}"/>
                </a:ext>
              </a:extLst>
            </p:cNvPr>
            <p:cNvGrpSpPr>
              <a:grpSpLocks/>
            </p:cNvGrpSpPr>
            <p:nvPr/>
          </p:nvGrpSpPr>
          <p:grpSpPr bwMode="auto">
            <a:xfrm>
              <a:off x="1441" y="1804"/>
              <a:ext cx="251" cy="499"/>
              <a:chOff x="144" y="2016"/>
              <a:chExt cx="266" cy="452"/>
            </a:xfrm>
          </p:grpSpPr>
          <p:pic>
            <p:nvPicPr>
              <p:cNvPr id="149544" name="Picture 3112">
                <a:extLst>
                  <a:ext uri="{FF2B5EF4-FFF2-40B4-BE49-F238E27FC236}">
                    <a16:creationId xmlns:a16="http://schemas.microsoft.com/office/drawing/2014/main" id="{0AD3FA1F-20F6-ADE9-D556-9C2C7C515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 y="2016"/>
                <a:ext cx="266" cy="452"/>
              </a:xfrm>
              <a:prstGeom prst="rect">
                <a:avLst/>
              </a:prstGeom>
              <a:noFill/>
              <a:extLst>
                <a:ext uri="{909E8E84-426E-40DD-AFC4-6F175D3DCCD1}">
                  <a14:hiddenFill xmlns:a14="http://schemas.microsoft.com/office/drawing/2010/main">
                    <a:solidFill>
                      <a:srgbClr val="FFFFFF"/>
                    </a:solidFill>
                  </a14:hiddenFill>
                </a:ext>
              </a:extLst>
            </p:spPr>
          </p:pic>
          <p:grpSp>
            <p:nvGrpSpPr>
              <p:cNvPr id="149545" name="Group 3113">
                <a:extLst>
                  <a:ext uri="{FF2B5EF4-FFF2-40B4-BE49-F238E27FC236}">
                    <a16:creationId xmlns:a16="http://schemas.microsoft.com/office/drawing/2014/main" id="{F8712377-7FE4-C431-90E9-C99C9CEEF415}"/>
                  </a:ext>
                </a:extLst>
              </p:cNvPr>
              <p:cNvGrpSpPr>
                <a:grpSpLocks/>
              </p:cNvGrpSpPr>
              <p:nvPr/>
            </p:nvGrpSpPr>
            <p:grpSpPr bwMode="auto">
              <a:xfrm>
                <a:off x="192" y="2267"/>
                <a:ext cx="187" cy="133"/>
                <a:chOff x="293" y="1872"/>
                <a:chExt cx="187" cy="133"/>
              </a:xfrm>
            </p:grpSpPr>
            <p:sp>
              <p:nvSpPr>
                <p:cNvPr id="149363" name="Freeform 2931">
                  <a:extLst>
                    <a:ext uri="{FF2B5EF4-FFF2-40B4-BE49-F238E27FC236}">
                      <a16:creationId xmlns:a16="http://schemas.microsoft.com/office/drawing/2014/main" id="{5CFC3DAE-9F16-AAD4-8F84-A4261BAB70EA}"/>
                    </a:ext>
                  </a:extLst>
                </p:cNvPr>
                <p:cNvSpPr>
                  <a:spLocks/>
                </p:cNvSpPr>
                <p:nvPr/>
              </p:nvSpPr>
              <p:spPr bwMode="auto">
                <a:xfrm>
                  <a:off x="414" y="1916"/>
                  <a:ext cx="58" cy="81"/>
                </a:xfrm>
                <a:custGeom>
                  <a:avLst/>
                  <a:gdLst>
                    <a:gd name="T0" fmla="*/ 179 w 234"/>
                    <a:gd name="T1" fmla="*/ 0 h 326"/>
                    <a:gd name="T2" fmla="*/ 159 w 234"/>
                    <a:gd name="T3" fmla="*/ 0 h 326"/>
                    <a:gd name="T4" fmla="*/ 154 w 234"/>
                    <a:gd name="T5" fmla="*/ 2 h 326"/>
                    <a:gd name="T6" fmla="*/ 148 w 234"/>
                    <a:gd name="T7" fmla="*/ 4 h 326"/>
                    <a:gd name="T8" fmla="*/ 132 w 234"/>
                    <a:gd name="T9" fmla="*/ 10 h 326"/>
                    <a:gd name="T10" fmla="*/ 100 w 234"/>
                    <a:gd name="T11" fmla="*/ 30 h 326"/>
                    <a:gd name="T12" fmla="*/ 56 w 234"/>
                    <a:gd name="T13" fmla="*/ 77 h 326"/>
                    <a:gd name="T14" fmla="*/ 31 w 234"/>
                    <a:gd name="T15" fmla="*/ 117 h 326"/>
                    <a:gd name="T16" fmla="*/ 8 w 234"/>
                    <a:gd name="T17" fmla="*/ 181 h 326"/>
                    <a:gd name="T18" fmla="*/ 0 w 234"/>
                    <a:gd name="T19" fmla="*/ 241 h 326"/>
                    <a:gd name="T20" fmla="*/ 3 w 234"/>
                    <a:gd name="T21" fmla="*/ 267 h 326"/>
                    <a:gd name="T22" fmla="*/ 10 w 234"/>
                    <a:gd name="T23" fmla="*/ 288 h 326"/>
                    <a:gd name="T24" fmla="*/ 21 w 234"/>
                    <a:gd name="T25" fmla="*/ 308 h 326"/>
                    <a:gd name="T26" fmla="*/ 36 w 234"/>
                    <a:gd name="T27" fmla="*/ 321 h 326"/>
                    <a:gd name="T28" fmla="*/ 55 w 234"/>
                    <a:gd name="T29" fmla="*/ 326 h 326"/>
                    <a:gd name="T30" fmla="*/ 76 w 234"/>
                    <a:gd name="T31" fmla="*/ 324 h 326"/>
                    <a:gd name="T32" fmla="*/ 97 w 234"/>
                    <a:gd name="T33" fmla="*/ 318 h 326"/>
                    <a:gd name="T34" fmla="*/ 119 w 234"/>
                    <a:gd name="T35" fmla="*/ 304 h 326"/>
                    <a:gd name="T36" fmla="*/ 163 w 234"/>
                    <a:gd name="T37" fmla="*/ 265 h 326"/>
                    <a:gd name="T38" fmla="*/ 185 w 234"/>
                    <a:gd name="T39" fmla="*/ 237 h 326"/>
                    <a:gd name="T40" fmla="*/ 203 w 234"/>
                    <a:gd name="T41" fmla="*/ 208 h 326"/>
                    <a:gd name="T42" fmla="*/ 226 w 234"/>
                    <a:gd name="T43" fmla="*/ 144 h 326"/>
                    <a:gd name="T44" fmla="*/ 233 w 234"/>
                    <a:gd name="T45" fmla="*/ 113 h 326"/>
                    <a:gd name="T46" fmla="*/ 234 w 234"/>
                    <a:gd name="T47" fmla="*/ 85 h 326"/>
                    <a:gd name="T48" fmla="*/ 231 w 234"/>
                    <a:gd name="T49" fmla="*/ 57 h 326"/>
                    <a:gd name="T50" fmla="*/ 225 w 234"/>
                    <a:gd name="T51" fmla="*/ 36 h 326"/>
                    <a:gd name="T52" fmla="*/ 214 w 234"/>
                    <a:gd name="T53" fmla="*/ 17 h 326"/>
                    <a:gd name="T54" fmla="*/ 199 w 234"/>
                    <a:gd name="T55" fmla="*/ 6 h 326"/>
                    <a:gd name="T56" fmla="*/ 193 w 234"/>
                    <a:gd name="T57" fmla="*/ 2 h 326"/>
                    <a:gd name="T58" fmla="*/ 185 w 234"/>
                    <a:gd name="T59" fmla="*/ 0 h 326"/>
                    <a:gd name="T60" fmla="*/ 179 w 234"/>
                    <a:gd name="T61" fmla="*/ 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34" h="326">
                      <a:moveTo>
                        <a:pt x="179" y="0"/>
                      </a:moveTo>
                      <a:lnTo>
                        <a:pt x="159" y="0"/>
                      </a:lnTo>
                      <a:lnTo>
                        <a:pt x="154" y="2"/>
                      </a:lnTo>
                      <a:lnTo>
                        <a:pt x="148" y="4"/>
                      </a:lnTo>
                      <a:lnTo>
                        <a:pt x="132" y="10"/>
                      </a:lnTo>
                      <a:lnTo>
                        <a:pt x="100" y="30"/>
                      </a:lnTo>
                      <a:lnTo>
                        <a:pt x="56" y="77"/>
                      </a:lnTo>
                      <a:lnTo>
                        <a:pt x="31" y="117"/>
                      </a:lnTo>
                      <a:lnTo>
                        <a:pt x="8" y="181"/>
                      </a:lnTo>
                      <a:lnTo>
                        <a:pt x="0" y="241"/>
                      </a:lnTo>
                      <a:lnTo>
                        <a:pt x="3" y="267"/>
                      </a:lnTo>
                      <a:lnTo>
                        <a:pt x="10" y="288"/>
                      </a:lnTo>
                      <a:lnTo>
                        <a:pt x="21" y="308"/>
                      </a:lnTo>
                      <a:lnTo>
                        <a:pt x="36" y="321"/>
                      </a:lnTo>
                      <a:lnTo>
                        <a:pt x="55" y="326"/>
                      </a:lnTo>
                      <a:lnTo>
                        <a:pt x="76" y="324"/>
                      </a:lnTo>
                      <a:lnTo>
                        <a:pt x="97" y="318"/>
                      </a:lnTo>
                      <a:lnTo>
                        <a:pt x="119" y="304"/>
                      </a:lnTo>
                      <a:lnTo>
                        <a:pt x="163" y="265"/>
                      </a:lnTo>
                      <a:lnTo>
                        <a:pt x="185" y="237"/>
                      </a:lnTo>
                      <a:lnTo>
                        <a:pt x="203" y="208"/>
                      </a:lnTo>
                      <a:lnTo>
                        <a:pt x="226" y="144"/>
                      </a:lnTo>
                      <a:lnTo>
                        <a:pt x="233" y="113"/>
                      </a:lnTo>
                      <a:lnTo>
                        <a:pt x="234" y="85"/>
                      </a:lnTo>
                      <a:lnTo>
                        <a:pt x="231" y="57"/>
                      </a:lnTo>
                      <a:lnTo>
                        <a:pt x="225" y="36"/>
                      </a:lnTo>
                      <a:lnTo>
                        <a:pt x="214" y="17"/>
                      </a:lnTo>
                      <a:lnTo>
                        <a:pt x="199" y="6"/>
                      </a:lnTo>
                      <a:lnTo>
                        <a:pt x="193" y="2"/>
                      </a:lnTo>
                      <a:lnTo>
                        <a:pt x="185" y="0"/>
                      </a:lnTo>
                      <a:lnTo>
                        <a:pt x="179" y="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364" name="Freeform 2932">
                  <a:extLst>
                    <a:ext uri="{FF2B5EF4-FFF2-40B4-BE49-F238E27FC236}">
                      <a16:creationId xmlns:a16="http://schemas.microsoft.com/office/drawing/2014/main" id="{96DAB012-E95E-F8E1-7BB8-84DD8DF1DA2B}"/>
                    </a:ext>
                  </a:extLst>
                </p:cNvPr>
                <p:cNvSpPr>
                  <a:spLocks/>
                </p:cNvSpPr>
                <p:nvPr/>
              </p:nvSpPr>
              <p:spPr bwMode="auto">
                <a:xfrm>
                  <a:off x="302" y="1880"/>
                  <a:ext cx="115" cy="66"/>
                </a:xfrm>
                <a:custGeom>
                  <a:avLst/>
                  <a:gdLst>
                    <a:gd name="T0" fmla="*/ 450 w 462"/>
                    <a:gd name="T1" fmla="*/ 256 h 263"/>
                    <a:gd name="T2" fmla="*/ 452 w 462"/>
                    <a:gd name="T3" fmla="*/ 252 h 263"/>
                    <a:gd name="T4" fmla="*/ 454 w 462"/>
                    <a:gd name="T5" fmla="*/ 248 h 263"/>
                    <a:gd name="T6" fmla="*/ 457 w 462"/>
                    <a:gd name="T7" fmla="*/ 244 h 263"/>
                    <a:gd name="T8" fmla="*/ 459 w 462"/>
                    <a:gd name="T9" fmla="*/ 239 h 263"/>
                    <a:gd name="T10" fmla="*/ 460 w 462"/>
                    <a:gd name="T11" fmla="*/ 237 h 263"/>
                    <a:gd name="T12" fmla="*/ 462 w 462"/>
                    <a:gd name="T13" fmla="*/ 233 h 263"/>
                    <a:gd name="T14" fmla="*/ 25 w 462"/>
                    <a:gd name="T15" fmla="*/ 2 h 263"/>
                    <a:gd name="T16" fmla="*/ 19 w 462"/>
                    <a:gd name="T17" fmla="*/ 1 h 263"/>
                    <a:gd name="T18" fmla="*/ 14 w 462"/>
                    <a:gd name="T19" fmla="*/ 0 h 263"/>
                    <a:gd name="T20" fmla="*/ 8 w 462"/>
                    <a:gd name="T21" fmla="*/ 3 h 263"/>
                    <a:gd name="T22" fmla="*/ 3 w 462"/>
                    <a:gd name="T23" fmla="*/ 10 h 263"/>
                    <a:gd name="T24" fmla="*/ 0 w 462"/>
                    <a:gd name="T25" fmla="*/ 12 h 263"/>
                    <a:gd name="T26" fmla="*/ 0 w 462"/>
                    <a:gd name="T27" fmla="*/ 15 h 263"/>
                    <a:gd name="T28" fmla="*/ 0 w 462"/>
                    <a:gd name="T29" fmla="*/ 18 h 263"/>
                    <a:gd name="T30" fmla="*/ 0 w 462"/>
                    <a:gd name="T31" fmla="*/ 23 h 263"/>
                    <a:gd name="T32" fmla="*/ 5 w 462"/>
                    <a:gd name="T33" fmla="*/ 29 h 263"/>
                    <a:gd name="T34" fmla="*/ 9 w 462"/>
                    <a:gd name="T35" fmla="*/ 32 h 263"/>
                    <a:gd name="T36" fmla="*/ 50 w 462"/>
                    <a:gd name="T37" fmla="*/ 54 h 263"/>
                    <a:gd name="T38" fmla="*/ 7 w 462"/>
                    <a:gd name="T39" fmla="*/ 140 h 263"/>
                    <a:gd name="T40" fmla="*/ 14 w 462"/>
                    <a:gd name="T41" fmla="*/ 145 h 263"/>
                    <a:gd name="T42" fmla="*/ 29 w 462"/>
                    <a:gd name="T43" fmla="*/ 151 h 263"/>
                    <a:gd name="T44" fmla="*/ 37 w 462"/>
                    <a:gd name="T45" fmla="*/ 155 h 263"/>
                    <a:gd name="T46" fmla="*/ 79 w 462"/>
                    <a:gd name="T47" fmla="*/ 73 h 263"/>
                    <a:gd name="T48" fmla="*/ 80 w 462"/>
                    <a:gd name="T49" fmla="*/ 69 h 263"/>
                    <a:gd name="T50" fmla="*/ 163 w 462"/>
                    <a:gd name="T51" fmla="*/ 113 h 263"/>
                    <a:gd name="T52" fmla="*/ 163 w 462"/>
                    <a:gd name="T53" fmla="*/ 116 h 263"/>
                    <a:gd name="T54" fmla="*/ 124 w 462"/>
                    <a:gd name="T55" fmla="*/ 190 h 263"/>
                    <a:gd name="T56" fmla="*/ 120 w 462"/>
                    <a:gd name="T57" fmla="*/ 200 h 263"/>
                    <a:gd name="T58" fmla="*/ 127 w 462"/>
                    <a:gd name="T59" fmla="*/ 205 h 263"/>
                    <a:gd name="T60" fmla="*/ 141 w 462"/>
                    <a:gd name="T61" fmla="*/ 210 h 263"/>
                    <a:gd name="T62" fmla="*/ 148 w 462"/>
                    <a:gd name="T63" fmla="*/ 215 h 263"/>
                    <a:gd name="T64" fmla="*/ 181 w 462"/>
                    <a:gd name="T65" fmla="*/ 151 h 263"/>
                    <a:gd name="T66" fmla="*/ 193 w 462"/>
                    <a:gd name="T67" fmla="*/ 133 h 263"/>
                    <a:gd name="T68" fmla="*/ 193 w 462"/>
                    <a:gd name="T69" fmla="*/ 129 h 263"/>
                    <a:gd name="T70" fmla="*/ 447 w 462"/>
                    <a:gd name="T71" fmla="*/ 263 h 263"/>
                    <a:gd name="T72" fmla="*/ 449 w 462"/>
                    <a:gd name="T73" fmla="*/ 259 h 263"/>
                    <a:gd name="T74" fmla="*/ 450 w 462"/>
                    <a:gd name="T75" fmla="*/ 256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62" h="263">
                      <a:moveTo>
                        <a:pt x="450" y="256"/>
                      </a:moveTo>
                      <a:lnTo>
                        <a:pt x="452" y="252"/>
                      </a:lnTo>
                      <a:lnTo>
                        <a:pt x="454" y="248"/>
                      </a:lnTo>
                      <a:lnTo>
                        <a:pt x="457" y="244"/>
                      </a:lnTo>
                      <a:lnTo>
                        <a:pt x="459" y="239"/>
                      </a:lnTo>
                      <a:lnTo>
                        <a:pt x="460" y="237"/>
                      </a:lnTo>
                      <a:lnTo>
                        <a:pt x="462" y="233"/>
                      </a:lnTo>
                      <a:lnTo>
                        <a:pt x="25" y="2"/>
                      </a:lnTo>
                      <a:lnTo>
                        <a:pt x="19" y="1"/>
                      </a:lnTo>
                      <a:lnTo>
                        <a:pt x="14" y="0"/>
                      </a:lnTo>
                      <a:lnTo>
                        <a:pt x="8" y="3"/>
                      </a:lnTo>
                      <a:lnTo>
                        <a:pt x="3" y="10"/>
                      </a:lnTo>
                      <a:lnTo>
                        <a:pt x="0" y="12"/>
                      </a:lnTo>
                      <a:lnTo>
                        <a:pt x="0" y="15"/>
                      </a:lnTo>
                      <a:lnTo>
                        <a:pt x="0" y="18"/>
                      </a:lnTo>
                      <a:lnTo>
                        <a:pt x="0" y="23"/>
                      </a:lnTo>
                      <a:lnTo>
                        <a:pt x="5" y="29"/>
                      </a:lnTo>
                      <a:lnTo>
                        <a:pt x="9" y="32"/>
                      </a:lnTo>
                      <a:lnTo>
                        <a:pt x="50" y="54"/>
                      </a:lnTo>
                      <a:lnTo>
                        <a:pt x="7" y="140"/>
                      </a:lnTo>
                      <a:lnTo>
                        <a:pt x="14" y="145"/>
                      </a:lnTo>
                      <a:lnTo>
                        <a:pt x="29" y="151"/>
                      </a:lnTo>
                      <a:lnTo>
                        <a:pt x="37" y="155"/>
                      </a:lnTo>
                      <a:lnTo>
                        <a:pt x="79" y="73"/>
                      </a:lnTo>
                      <a:lnTo>
                        <a:pt x="80" y="69"/>
                      </a:lnTo>
                      <a:lnTo>
                        <a:pt x="163" y="113"/>
                      </a:lnTo>
                      <a:lnTo>
                        <a:pt x="163" y="116"/>
                      </a:lnTo>
                      <a:lnTo>
                        <a:pt x="124" y="190"/>
                      </a:lnTo>
                      <a:lnTo>
                        <a:pt x="120" y="200"/>
                      </a:lnTo>
                      <a:lnTo>
                        <a:pt x="127" y="205"/>
                      </a:lnTo>
                      <a:lnTo>
                        <a:pt x="141" y="210"/>
                      </a:lnTo>
                      <a:lnTo>
                        <a:pt x="148" y="215"/>
                      </a:lnTo>
                      <a:lnTo>
                        <a:pt x="181" y="151"/>
                      </a:lnTo>
                      <a:lnTo>
                        <a:pt x="193" y="133"/>
                      </a:lnTo>
                      <a:lnTo>
                        <a:pt x="193" y="129"/>
                      </a:lnTo>
                      <a:lnTo>
                        <a:pt x="447" y="263"/>
                      </a:lnTo>
                      <a:lnTo>
                        <a:pt x="449" y="259"/>
                      </a:lnTo>
                      <a:lnTo>
                        <a:pt x="450" y="256"/>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365" name="Freeform 2933">
                  <a:extLst>
                    <a:ext uri="{FF2B5EF4-FFF2-40B4-BE49-F238E27FC236}">
                      <a16:creationId xmlns:a16="http://schemas.microsoft.com/office/drawing/2014/main" id="{EECBF4D4-18E3-4701-95E3-A3EC2D3D99B0}"/>
                    </a:ext>
                  </a:extLst>
                </p:cNvPr>
                <p:cNvSpPr>
                  <a:spLocks noEditPoints="1"/>
                </p:cNvSpPr>
                <p:nvPr/>
              </p:nvSpPr>
              <p:spPr bwMode="auto">
                <a:xfrm>
                  <a:off x="424" y="1930"/>
                  <a:ext cx="38" cy="54"/>
                </a:xfrm>
                <a:custGeom>
                  <a:avLst/>
                  <a:gdLst>
                    <a:gd name="T0" fmla="*/ 105 w 152"/>
                    <a:gd name="T1" fmla="*/ 1 h 217"/>
                    <a:gd name="T2" fmla="*/ 91 w 152"/>
                    <a:gd name="T3" fmla="*/ 5 h 217"/>
                    <a:gd name="T4" fmla="*/ 63 w 152"/>
                    <a:gd name="T5" fmla="*/ 25 h 217"/>
                    <a:gd name="T6" fmla="*/ 48 w 152"/>
                    <a:gd name="T7" fmla="*/ 41 h 217"/>
                    <a:gd name="T8" fmla="*/ 35 w 152"/>
                    <a:gd name="T9" fmla="*/ 59 h 217"/>
                    <a:gd name="T10" fmla="*/ 15 w 152"/>
                    <a:gd name="T11" fmla="*/ 95 h 217"/>
                    <a:gd name="T12" fmla="*/ 2 w 152"/>
                    <a:gd name="T13" fmla="*/ 140 h 217"/>
                    <a:gd name="T14" fmla="*/ 0 w 152"/>
                    <a:gd name="T15" fmla="*/ 154 h 217"/>
                    <a:gd name="T16" fmla="*/ 0 w 152"/>
                    <a:gd name="T17" fmla="*/ 179 h 217"/>
                    <a:gd name="T18" fmla="*/ 3 w 152"/>
                    <a:gd name="T19" fmla="*/ 190 h 217"/>
                    <a:gd name="T20" fmla="*/ 9 w 152"/>
                    <a:gd name="T21" fmla="*/ 205 h 217"/>
                    <a:gd name="T22" fmla="*/ 15 w 152"/>
                    <a:gd name="T23" fmla="*/ 210 h 217"/>
                    <a:gd name="T24" fmla="*/ 22 w 152"/>
                    <a:gd name="T25" fmla="*/ 213 h 217"/>
                    <a:gd name="T26" fmla="*/ 24 w 152"/>
                    <a:gd name="T27" fmla="*/ 215 h 217"/>
                    <a:gd name="T28" fmla="*/ 28 w 152"/>
                    <a:gd name="T29" fmla="*/ 216 h 217"/>
                    <a:gd name="T30" fmla="*/ 31 w 152"/>
                    <a:gd name="T31" fmla="*/ 217 h 217"/>
                    <a:gd name="T32" fmla="*/ 43 w 152"/>
                    <a:gd name="T33" fmla="*/ 217 h 217"/>
                    <a:gd name="T34" fmla="*/ 48 w 152"/>
                    <a:gd name="T35" fmla="*/ 216 h 217"/>
                    <a:gd name="T36" fmla="*/ 51 w 152"/>
                    <a:gd name="T37" fmla="*/ 215 h 217"/>
                    <a:gd name="T38" fmla="*/ 61 w 152"/>
                    <a:gd name="T39" fmla="*/ 211 h 217"/>
                    <a:gd name="T40" fmla="*/ 81 w 152"/>
                    <a:gd name="T41" fmla="*/ 197 h 217"/>
                    <a:gd name="T42" fmla="*/ 92 w 152"/>
                    <a:gd name="T43" fmla="*/ 187 h 217"/>
                    <a:gd name="T44" fmla="*/ 120 w 152"/>
                    <a:gd name="T45" fmla="*/ 151 h 217"/>
                    <a:gd name="T46" fmla="*/ 138 w 152"/>
                    <a:gd name="T47" fmla="*/ 114 h 217"/>
                    <a:gd name="T48" fmla="*/ 146 w 152"/>
                    <a:gd name="T49" fmla="*/ 93 h 217"/>
                    <a:gd name="T50" fmla="*/ 152 w 152"/>
                    <a:gd name="T51" fmla="*/ 53 h 217"/>
                    <a:gd name="T52" fmla="*/ 151 w 152"/>
                    <a:gd name="T53" fmla="*/ 36 h 217"/>
                    <a:gd name="T54" fmla="*/ 147 w 152"/>
                    <a:gd name="T55" fmla="*/ 22 h 217"/>
                    <a:gd name="T56" fmla="*/ 140 w 152"/>
                    <a:gd name="T57" fmla="*/ 11 h 217"/>
                    <a:gd name="T58" fmla="*/ 130 w 152"/>
                    <a:gd name="T59" fmla="*/ 3 h 217"/>
                    <a:gd name="T60" fmla="*/ 118 w 152"/>
                    <a:gd name="T61" fmla="*/ 0 h 217"/>
                    <a:gd name="T62" fmla="*/ 105 w 152"/>
                    <a:gd name="T63" fmla="*/ 1 h 217"/>
                    <a:gd name="T64" fmla="*/ 113 w 152"/>
                    <a:gd name="T65" fmla="*/ 18 h 217"/>
                    <a:gd name="T66" fmla="*/ 121 w 152"/>
                    <a:gd name="T67" fmla="*/ 21 h 217"/>
                    <a:gd name="T68" fmla="*/ 131 w 152"/>
                    <a:gd name="T69" fmla="*/ 33 h 217"/>
                    <a:gd name="T70" fmla="*/ 133 w 152"/>
                    <a:gd name="T71" fmla="*/ 58 h 217"/>
                    <a:gd name="T72" fmla="*/ 126 w 152"/>
                    <a:gd name="T73" fmla="*/ 89 h 217"/>
                    <a:gd name="T74" fmla="*/ 111 w 152"/>
                    <a:gd name="T75" fmla="*/ 126 h 217"/>
                    <a:gd name="T76" fmla="*/ 96 w 152"/>
                    <a:gd name="T77" fmla="*/ 153 h 217"/>
                    <a:gd name="T78" fmla="*/ 80 w 152"/>
                    <a:gd name="T79" fmla="*/ 172 h 217"/>
                    <a:gd name="T80" fmla="*/ 63 w 152"/>
                    <a:gd name="T81" fmla="*/ 187 h 217"/>
                    <a:gd name="T82" fmla="*/ 45 w 152"/>
                    <a:gd name="T83" fmla="*/ 196 h 217"/>
                    <a:gd name="T84" fmla="*/ 41 w 152"/>
                    <a:gd name="T85" fmla="*/ 197 h 217"/>
                    <a:gd name="T86" fmla="*/ 34 w 152"/>
                    <a:gd name="T87" fmla="*/ 197 h 217"/>
                    <a:gd name="T88" fmla="*/ 30 w 152"/>
                    <a:gd name="T89" fmla="*/ 196 h 217"/>
                    <a:gd name="T90" fmla="*/ 26 w 152"/>
                    <a:gd name="T91" fmla="*/ 195 h 217"/>
                    <a:gd name="T92" fmla="*/ 22 w 152"/>
                    <a:gd name="T93" fmla="*/ 184 h 217"/>
                    <a:gd name="T94" fmla="*/ 19 w 152"/>
                    <a:gd name="T95" fmla="*/ 165 h 217"/>
                    <a:gd name="T96" fmla="*/ 22 w 152"/>
                    <a:gd name="T97" fmla="*/ 141 h 217"/>
                    <a:gd name="T98" fmla="*/ 29 w 152"/>
                    <a:gd name="T99" fmla="*/ 117 h 217"/>
                    <a:gd name="T100" fmla="*/ 40 w 152"/>
                    <a:gd name="T101" fmla="*/ 89 h 217"/>
                    <a:gd name="T102" fmla="*/ 61 w 152"/>
                    <a:gd name="T103" fmla="*/ 56 h 217"/>
                    <a:gd name="T104" fmla="*/ 84 w 152"/>
                    <a:gd name="T105" fmla="*/ 32 h 217"/>
                    <a:gd name="T106" fmla="*/ 95 w 152"/>
                    <a:gd name="T107" fmla="*/ 25 h 217"/>
                    <a:gd name="T108" fmla="*/ 106 w 152"/>
                    <a:gd name="T109" fmla="*/ 21 h 217"/>
                    <a:gd name="T110" fmla="*/ 113 w 152"/>
                    <a:gd name="T111" fmla="*/ 18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2" h="217">
                      <a:moveTo>
                        <a:pt x="105" y="1"/>
                      </a:moveTo>
                      <a:lnTo>
                        <a:pt x="91" y="5"/>
                      </a:lnTo>
                      <a:lnTo>
                        <a:pt x="63" y="25"/>
                      </a:lnTo>
                      <a:lnTo>
                        <a:pt x="48" y="41"/>
                      </a:lnTo>
                      <a:lnTo>
                        <a:pt x="35" y="59"/>
                      </a:lnTo>
                      <a:lnTo>
                        <a:pt x="15" y="95"/>
                      </a:lnTo>
                      <a:lnTo>
                        <a:pt x="2" y="140"/>
                      </a:lnTo>
                      <a:lnTo>
                        <a:pt x="0" y="154"/>
                      </a:lnTo>
                      <a:lnTo>
                        <a:pt x="0" y="179"/>
                      </a:lnTo>
                      <a:lnTo>
                        <a:pt x="3" y="190"/>
                      </a:lnTo>
                      <a:lnTo>
                        <a:pt x="9" y="205"/>
                      </a:lnTo>
                      <a:lnTo>
                        <a:pt x="15" y="210"/>
                      </a:lnTo>
                      <a:lnTo>
                        <a:pt x="22" y="213"/>
                      </a:lnTo>
                      <a:lnTo>
                        <a:pt x="24" y="215"/>
                      </a:lnTo>
                      <a:lnTo>
                        <a:pt x="28" y="216"/>
                      </a:lnTo>
                      <a:lnTo>
                        <a:pt x="31" y="217"/>
                      </a:lnTo>
                      <a:lnTo>
                        <a:pt x="43" y="217"/>
                      </a:lnTo>
                      <a:lnTo>
                        <a:pt x="48" y="216"/>
                      </a:lnTo>
                      <a:lnTo>
                        <a:pt x="51" y="215"/>
                      </a:lnTo>
                      <a:lnTo>
                        <a:pt x="61" y="211"/>
                      </a:lnTo>
                      <a:lnTo>
                        <a:pt x="81" y="197"/>
                      </a:lnTo>
                      <a:lnTo>
                        <a:pt x="92" y="187"/>
                      </a:lnTo>
                      <a:lnTo>
                        <a:pt x="120" y="151"/>
                      </a:lnTo>
                      <a:lnTo>
                        <a:pt x="138" y="114"/>
                      </a:lnTo>
                      <a:lnTo>
                        <a:pt x="146" y="93"/>
                      </a:lnTo>
                      <a:lnTo>
                        <a:pt x="152" y="53"/>
                      </a:lnTo>
                      <a:lnTo>
                        <a:pt x="151" y="36"/>
                      </a:lnTo>
                      <a:lnTo>
                        <a:pt x="147" y="22"/>
                      </a:lnTo>
                      <a:lnTo>
                        <a:pt x="140" y="11"/>
                      </a:lnTo>
                      <a:lnTo>
                        <a:pt x="130" y="3"/>
                      </a:lnTo>
                      <a:lnTo>
                        <a:pt x="118" y="0"/>
                      </a:lnTo>
                      <a:lnTo>
                        <a:pt x="105" y="1"/>
                      </a:lnTo>
                      <a:close/>
                      <a:moveTo>
                        <a:pt x="113" y="18"/>
                      </a:moveTo>
                      <a:lnTo>
                        <a:pt x="121" y="21"/>
                      </a:lnTo>
                      <a:lnTo>
                        <a:pt x="131" y="33"/>
                      </a:lnTo>
                      <a:lnTo>
                        <a:pt x="133" y="58"/>
                      </a:lnTo>
                      <a:lnTo>
                        <a:pt x="126" y="89"/>
                      </a:lnTo>
                      <a:lnTo>
                        <a:pt x="111" y="126"/>
                      </a:lnTo>
                      <a:lnTo>
                        <a:pt x="96" y="153"/>
                      </a:lnTo>
                      <a:lnTo>
                        <a:pt x="80" y="172"/>
                      </a:lnTo>
                      <a:lnTo>
                        <a:pt x="63" y="187"/>
                      </a:lnTo>
                      <a:lnTo>
                        <a:pt x="45" y="196"/>
                      </a:lnTo>
                      <a:lnTo>
                        <a:pt x="41" y="197"/>
                      </a:lnTo>
                      <a:lnTo>
                        <a:pt x="34" y="197"/>
                      </a:lnTo>
                      <a:lnTo>
                        <a:pt x="30" y="196"/>
                      </a:lnTo>
                      <a:lnTo>
                        <a:pt x="26" y="195"/>
                      </a:lnTo>
                      <a:lnTo>
                        <a:pt x="22" y="184"/>
                      </a:lnTo>
                      <a:lnTo>
                        <a:pt x="19" y="165"/>
                      </a:lnTo>
                      <a:lnTo>
                        <a:pt x="22" y="141"/>
                      </a:lnTo>
                      <a:lnTo>
                        <a:pt x="29" y="117"/>
                      </a:lnTo>
                      <a:lnTo>
                        <a:pt x="40" y="89"/>
                      </a:lnTo>
                      <a:lnTo>
                        <a:pt x="61" y="56"/>
                      </a:lnTo>
                      <a:lnTo>
                        <a:pt x="84" y="32"/>
                      </a:lnTo>
                      <a:lnTo>
                        <a:pt x="95" y="25"/>
                      </a:lnTo>
                      <a:lnTo>
                        <a:pt x="106" y="21"/>
                      </a:lnTo>
                      <a:lnTo>
                        <a:pt x="113"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369" name="Freeform 2937">
                  <a:extLst>
                    <a:ext uri="{FF2B5EF4-FFF2-40B4-BE49-F238E27FC236}">
                      <a16:creationId xmlns:a16="http://schemas.microsoft.com/office/drawing/2014/main" id="{CAE8CB41-F719-CB7F-5CDF-3A521BC05AEA}"/>
                    </a:ext>
                  </a:extLst>
                </p:cNvPr>
                <p:cNvSpPr>
                  <a:spLocks noEditPoints="1"/>
                </p:cNvSpPr>
                <p:nvPr/>
              </p:nvSpPr>
              <p:spPr bwMode="auto">
                <a:xfrm>
                  <a:off x="293" y="1872"/>
                  <a:ext cx="187" cy="133"/>
                </a:xfrm>
                <a:custGeom>
                  <a:avLst/>
                  <a:gdLst>
                    <a:gd name="T0" fmla="*/ 575 w 747"/>
                    <a:gd name="T1" fmla="*/ 173 h 530"/>
                    <a:gd name="T2" fmla="*/ 515 w 747"/>
                    <a:gd name="T3" fmla="*/ 235 h 530"/>
                    <a:gd name="T4" fmla="*/ 58 w 747"/>
                    <a:gd name="T5" fmla="*/ 0 h 530"/>
                    <a:gd name="T6" fmla="*/ 16 w 747"/>
                    <a:gd name="T7" fmla="*/ 16 h 530"/>
                    <a:gd name="T8" fmla="*/ 3 w 747"/>
                    <a:gd name="T9" fmla="*/ 43 h 530"/>
                    <a:gd name="T10" fmla="*/ 11 w 747"/>
                    <a:gd name="T11" fmla="*/ 74 h 530"/>
                    <a:gd name="T12" fmla="*/ 29 w 747"/>
                    <a:gd name="T13" fmla="*/ 90 h 530"/>
                    <a:gd name="T14" fmla="*/ 44 w 747"/>
                    <a:gd name="T15" fmla="*/ 97 h 530"/>
                    <a:gd name="T16" fmla="*/ 83 w 747"/>
                    <a:gd name="T17" fmla="*/ 226 h 530"/>
                    <a:gd name="T18" fmla="*/ 134 w 747"/>
                    <a:gd name="T19" fmla="*/ 145 h 530"/>
                    <a:gd name="T20" fmla="*/ 114 w 747"/>
                    <a:gd name="T21" fmla="*/ 238 h 530"/>
                    <a:gd name="T22" fmla="*/ 197 w 747"/>
                    <a:gd name="T23" fmla="*/ 282 h 530"/>
                    <a:gd name="T24" fmla="*/ 245 w 747"/>
                    <a:gd name="T25" fmla="*/ 202 h 530"/>
                    <a:gd name="T26" fmla="*/ 258 w 747"/>
                    <a:gd name="T27" fmla="*/ 211 h 530"/>
                    <a:gd name="T28" fmla="*/ 458 w 747"/>
                    <a:gd name="T29" fmla="*/ 356 h 530"/>
                    <a:gd name="T30" fmla="*/ 458 w 747"/>
                    <a:gd name="T31" fmla="*/ 457 h 530"/>
                    <a:gd name="T32" fmla="*/ 488 w 747"/>
                    <a:gd name="T33" fmla="*/ 511 h 530"/>
                    <a:gd name="T34" fmla="*/ 529 w 747"/>
                    <a:gd name="T35" fmla="*/ 530 h 530"/>
                    <a:gd name="T36" fmla="*/ 599 w 747"/>
                    <a:gd name="T37" fmla="*/ 518 h 530"/>
                    <a:gd name="T38" fmla="*/ 702 w 747"/>
                    <a:gd name="T39" fmla="*/ 416 h 530"/>
                    <a:gd name="T40" fmla="*/ 747 w 747"/>
                    <a:gd name="T41" fmla="*/ 248 h 530"/>
                    <a:gd name="T42" fmla="*/ 717 w 747"/>
                    <a:gd name="T43" fmla="*/ 169 h 530"/>
                    <a:gd name="T44" fmla="*/ 671 w 747"/>
                    <a:gd name="T45" fmla="*/ 145 h 530"/>
                    <a:gd name="T46" fmla="*/ 631 w 747"/>
                    <a:gd name="T47" fmla="*/ 179 h 530"/>
                    <a:gd name="T48" fmla="*/ 668 w 747"/>
                    <a:gd name="T49" fmla="*/ 175 h 530"/>
                    <a:gd name="T50" fmla="*/ 697 w 747"/>
                    <a:gd name="T51" fmla="*/ 192 h 530"/>
                    <a:gd name="T52" fmla="*/ 717 w 747"/>
                    <a:gd name="T53" fmla="*/ 260 h 530"/>
                    <a:gd name="T54" fmla="*/ 686 w 747"/>
                    <a:gd name="T55" fmla="*/ 383 h 530"/>
                    <a:gd name="T56" fmla="*/ 602 w 747"/>
                    <a:gd name="T57" fmla="*/ 479 h 530"/>
                    <a:gd name="T58" fmla="*/ 538 w 747"/>
                    <a:gd name="T59" fmla="*/ 501 h 530"/>
                    <a:gd name="T60" fmla="*/ 497 w 747"/>
                    <a:gd name="T61" fmla="*/ 473 h 530"/>
                    <a:gd name="T62" fmla="*/ 483 w 747"/>
                    <a:gd name="T63" fmla="*/ 424 h 530"/>
                    <a:gd name="T64" fmla="*/ 501 w 747"/>
                    <a:gd name="T65" fmla="*/ 327 h 530"/>
                    <a:gd name="T66" fmla="*/ 549 w 747"/>
                    <a:gd name="T67" fmla="*/ 242 h 530"/>
                    <a:gd name="T68" fmla="*/ 612 w 747"/>
                    <a:gd name="T69" fmla="*/ 186 h 530"/>
                    <a:gd name="T70" fmla="*/ 310 w 747"/>
                    <a:gd name="T71" fmla="*/ 165 h 530"/>
                    <a:gd name="T72" fmla="*/ 493 w 747"/>
                    <a:gd name="T73" fmla="*/ 269 h 530"/>
                    <a:gd name="T74" fmla="*/ 486 w 747"/>
                    <a:gd name="T75" fmla="*/ 282 h 530"/>
                    <a:gd name="T76" fmla="*/ 481 w 747"/>
                    <a:gd name="T77" fmla="*/ 293 h 530"/>
                    <a:gd name="T78" fmla="*/ 215 w 747"/>
                    <a:gd name="T79" fmla="*/ 181 h 530"/>
                    <a:gd name="T80" fmla="*/ 161 w 747"/>
                    <a:gd name="T81" fmla="*/ 235 h 530"/>
                    <a:gd name="T82" fmla="*/ 197 w 747"/>
                    <a:gd name="T83" fmla="*/ 146 h 530"/>
                    <a:gd name="T84" fmla="*/ 113 w 747"/>
                    <a:gd name="T85" fmla="*/ 103 h 530"/>
                    <a:gd name="T86" fmla="*/ 48 w 747"/>
                    <a:gd name="T87" fmla="*/ 175 h 530"/>
                    <a:gd name="T88" fmla="*/ 43 w 747"/>
                    <a:gd name="T89" fmla="*/ 62 h 530"/>
                    <a:gd name="T90" fmla="*/ 34 w 747"/>
                    <a:gd name="T91" fmla="*/ 48 h 530"/>
                    <a:gd name="T92" fmla="*/ 37 w 747"/>
                    <a:gd name="T93" fmla="*/ 40 h 530"/>
                    <a:gd name="T94" fmla="*/ 53 w 747"/>
                    <a:gd name="T95" fmla="*/ 31 h 530"/>
                    <a:gd name="T96" fmla="*/ 304 w 747"/>
                    <a:gd name="T97" fmla="*/ 163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7" h="530">
                      <a:moveTo>
                        <a:pt x="622" y="149"/>
                      </a:moveTo>
                      <a:lnTo>
                        <a:pt x="595" y="161"/>
                      </a:lnTo>
                      <a:lnTo>
                        <a:pt x="575" y="173"/>
                      </a:lnTo>
                      <a:lnTo>
                        <a:pt x="549" y="195"/>
                      </a:lnTo>
                      <a:lnTo>
                        <a:pt x="522" y="225"/>
                      </a:lnTo>
                      <a:lnTo>
                        <a:pt x="515" y="235"/>
                      </a:lnTo>
                      <a:lnTo>
                        <a:pt x="512" y="238"/>
                      </a:lnTo>
                      <a:lnTo>
                        <a:pt x="66" y="2"/>
                      </a:lnTo>
                      <a:lnTo>
                        <a:pt x="58" y="0"/>
                      </a:lnTo>
                      <a:lnTo>
                        <a:pt x="41" y="0"/>
                      </a:lnTo>
                      <a:lnTo>
                        <a:pt x="23" y="8"/>
                      </a:lnTo>
                      <a:lnTo>
                        <a:pt x="16" y="16"/>
                      </a:lnTo>
                      <a:lnTo>
                        <a:pt x="10" y="26"/>
                      </a:lnTo>
                      <a:lnTo>
                        <a:pt x="5" y="36"/>
                      </a:lnTo>
                      <a:lnTo>
                        <a:pt x="3" y="43"/>
                      </a:lnTo>
                      <a:lnTo>
                        <a:pt x="3" y="48"/>
                      </a:lnTo>
                      <a:lnTo>
                        <a:pt x="6" y="63"/>
                      </a:lnTo>
                      <a:lnTo>
                        <a:pt x="11" y="74"/>
                      </a:lnTo>
                      <a:lnTo>
                        <a:pt x="20" y="83"/>
                      </a:lnTo>
                      <a:lnTo>
                        <a:pt x="29" y="89"/>
                      </a:lnTo>
                      <a:lnTo>
                        <a:pt x="29" y="90"/>
                      </a:lnTo>
                      <a:lnTo>
                        <a:pt x="33" y="92"/>
                      </a:lnTo>
                      <a:lnTo>
                        <a:pt x="38" y="95"/>
                      </a:lnTo>
                      <a:lnTo>
                        <a:pt x="44" y="97"/>
                      </a:lnTo>
                      <a:lnTo>
                        <a:pt x="0" y="179"/>
                      </a:lnTo>
                      <a:lnTo>
                        <a:pt x="0" y="182"/>
                      </a:lnTo>
                      <a:lnTo>
                        <a:pt x="83" y="226"/>
                      </a:lnTo>
                      <a:lnTo>
                        <a:pt x="123" y="150"/>
                      </a:lnTo>
                      <a:lnTo>
                        <a:pt x="126" y="141"/>
                      </a:lnTo>
                      <a:lnTo>
                        <a:pt x="134" y="145"/>
                      </a:lnTo>
                      <a:lnTo>
                        <a:pt x="141" y="149"/>
                      </a:lnTo>
                      <a:lnTo>
                        <a:pt x="156" y="156"/>
                      </a:lnTo>
                      <a:lnTo>
                        <a:pt x="114" y="238"/>
                      </a:lnTo>
                      <a:lnTo>
                        <a:pt x="113" y="242"/>
                      </a:lnTo>
                      <a:lnTo>
                        <a:pt x="196" y="286"/>
                      </a:lnTo>
                      <a:lnTo>
                        <a:pt x="197" y="282"/>
                      </a:lnTo>
                      <a:lnTo>
                        <a:pt x="240" y="201"/>
                      </a:lnTo>
                      <a:lnTo>
                        <a:pt x="242" y="202"/>
                      </a:lnTo>
                      <a:lnTo>
                        <a:pt x="245" y="202"/>
                      </a:lnTo>
                      <a:lnTo>
                        <a:pt x="248" y="205"/>
                      </a:lnTo>
                      <a:lnTo>
                        <a:pt x="253" y="207"/>
                      </a:lnTo>
                      <a:lnTo>
                        <a:pt x="258" y="211"/>
                      </a:lnTo>
                      <a:lnTo>
                        <a:pt x="271" y="216"/>
                      </a:lnTo>
                      <a:lnTo>
                        <a:pt x="471" y="322"/>
                      </a:lnTo>
                      <a:lnTo>
                        <a:pt x="458" y="356"/>
                      </a:lnTo>
                      <a:lnTo>
                        <a:pt x="452" y="410"/>
                      </a:lnTo>
                      <a:lnTo>
                        <a:pt x="453" y="436"/>
                      </a:lnTo>
                      <a:lnTo>
                        <a:pt x="458" y="457"/>
                      </a:lnTo>
                      <a:lnTo>
                        <a:pt x="466" y="478"/>
                      </a:lnTo>
                      <a:lnTo>
                        <a:pt x="476" y="496"/>
                      </a:lnTo>
                      <a:lnTo>
                        <a:pt x="488" y="511"/>
                      </a:lnTo>
                      <a:lnTo>
                        <a:pt x="504" y="521"/>
                      </a:lnTo>
                      <a:lnTo>
                        <a:pt x="517" y="527"/>
                      </a:lnTo>
                      <a:lnTo>
                        <a:pt x="529" y="530"/>
                      </a:lnTo>
                      <a:lnTo>
                        <a:pt x="543" y="530"/>
                      </a:lnTo>
                      <a:lnTo>
                        <a:pt x="570" y="528"/>
                      </a:lnTo>
                      <a:lnTo>
                        <a:pt x="599" y="518"/>
                      </a:lnTo>
                      <a:lnTo>
                        <a:pt x="640" y="491"/>
                      </a:lnTo>
                      <a:lnTo>
                        <a:pt x="678" y="450"/>
                      </a:lnTo>
                      <a:lnTo>
                        <a:pt x="702" y="416"/>
                      </a:lnTo>
                      <a:lnTo>
                        <a:pt x="729" y="359"/>
                      </a:lnTo>
                      <a:lnTo>
                        <a:pt x="747" y="283"/>
                      </a:lnTo>
                      <a:lnTo>
                        <a:pt x="747" y="248"/>
                      </a:lnTo>
                      <a:lnTo>
                        <a:pt x="743" y="217"/>
                      </a:lnTo>
                      <a:lnTo>
                        <a:pt x="732" y="191"/>
                      </a:lnTo>
                      <a:lnTo>
                        <a:pt x="717" y="169"/>
                      </a:lnTo>
                      <a:lnTo>
                        <a:pt x="696" y="153"/>
                      </a:lnTo>
                      <a:lnTo>
                        <a:pt x="679" y="146"/>
                      </a:lnTo>
                      <a:lnTo>
                        <a:pt x="671" y="145"/>
                      </a:lnTo>
                      <a:lnTo>
                        <a:pt x="642" y="145"/>
                      </a:lnTo>
                      <a:lnTo>
                        <a:pt x="622" y="149"/>
                      </a:lnTo>
                      <a:close/>
                      <a:moveTo>
                        <a:pt x="631" y="179"/>
                      </a:moveTo>
                      <a:lnTo>
                        <a:pt x="637" y="177"/>
                      </a:lnTo>
                      <a:lnTo>
                        <a:pt x="642" y="175"/>
                      </a:lnTo>
                      <a:lnTo>
                        <a:pt x="668" y="175"/>
                      </a:lnTo>
                      <a:lnTo>
                        <a:pt x="676" y="177"/>
                      </a:lnTo>
                      <a:lnTo>
                        <a:pt x="682" y="181"/>
                      </a:lnTo>
                      <a:lnTo>
                        <a:pt x="697" y="192"/>
                      </a:lnTo>
                      <a:lnTo>
                        <a:pt x="708" y="211"/>
                      </a:lnTo>
                      <a:lnTo>
                        <a:pt x="714" y="232"/>
                      </a:lnTo>
                      <a:lnTo>
                        <a:pt x="717" y="260"/>
                      </a:lnTo>
                      <a:lnTo>
                        <a:pt x="716" y="288"/>
                      </a:lnTo>
                      <a:lnTo>
                        <a:pt x="709" y="319"/>
                      </a:lnTo>
                      <a:lnTo>
                        <a:pt x="686" y="383"/>
                      </a:lnTo>
                      <a:lnTo>
                        <a:pt x="668" y="412"/>
                      </a:lnTo>
                      <a:lnTo>
                        <a:pt x="646" y="440"/>
                      </a:lnTo>
                      <a:lnTo>
                        <a:pt x="602" y="479"/>
                      </a:lnTo>
                      <a:lnTo>
                        <a:pt x="580" y="493"/>
                      </a:lnTo>
                      <a:lnTo>
                        <a:pt x="559" y="499"/>
                      </a:lnTo>
                      <a:lnTo>
                        <a:pt x="538" y="501"/>
                      </a:lnTo>
                      <a:lnTo>
                        <a:pt x="519" y="496"/>
                      </a:lnTo>
                      <a:lnTo>
                        <a:pt x="507" y="486"/>
                      </a:lnTo>
                      <a:lnTo>
                        <a:pt x="497" y="473"/>
                      </a:lnTo>
                      <a:lnTo>
                        <a:pt x="491" y="460"/>
                      </a:lnTo>
                      <a:lnTo>
                        <a:pt x="486" y="442"/>
                      </a:lnTo>
                      <a:lnTo>
                        <a:pt x="483" y="424"/>
                      </a:lnTo>
                      <a:lnTo>
                        <a:pt x="486" y="380"/>
                      </a:lnTo>
                      <a:lnTo>
                        <a:pt x="497" y="334"/>
                      </a:lnTo>
                      <a:lnTo>
                        <a:pt x="501" y="327"/>
                      </a:lnTo>
                      <a:lnTo>
                        <a:pt x="514" y="292"/>
                      </a:lnTo>
                      <a:lnTo>
                        <a:pt x="543" y="248"/>
                      </a:lnTo>
                      <a:lnTo>
                        <a:pt x="549" y="242"/>
                      </a:lnTo>
                      <a:lnTo>
                        <a:pt x="559" y="228"/>
                      </a:lnTo>
                      <a:lnTo>
                        <a:pt x="585" y="205"/>
                      </a:lnTo>
                      <a:lnTo>
                        <a:pt x="612" y="186"/>
                      </a:lnTo>
                      <a:lnTo>
                        <a:pt x="631" y="179"/>
                      </a:lnTo>
                      <a:close/>
                      <a:moveTo>
                        <a:pt x="304" y="163"/>
                      </a:moveTo>
                      <a:lnTo>
                        <a:pt x="310" y="165"/>
                      </a:lnTo>
                      <a:lnTo>
                        <a:pt x="496" y="263"/>
                      </a:lnTo>
                      <a:lnTo>
                        <a:pt x="494" y="267"/>
                      </a:lnTo>
                      <a:lnTo>
                        <a:pt x="493" y="269"/>
                      </a:lnTo>
                      <a:lnTo>
                        <a:pt x="491" y="274"/>
                      </a:lnTo>
                      <a:lnTo>
                        <a:pt x="488" y="278"/>
                      </a:lnTo>
                      <a:lnTo>
                        <a:pt x="486" y="282"/>
                      </a:lnTo>
                      <a:lnTo>
                        <a:pt x="484" y="286"/>
                      </a:lnTo>
                      <a:lnTo>
                        <a:pt x="483" y="289"/>
                      </a:lnTo>
                      <a:lnTo>
                        <a:pt x="481" y="293"/>
                      </a:lnTo>
                      <a:lnTo>
                        <a:pt x="227" y="159"/>
                      </a:lnTo>
                      <a:lnTo>
                        <a:pt x="227" y="163"/>
                      </a:lnTo>
                      <a:lnTo>
                        <a:pt x="215" y="181"/>
                      </a:lnTo>
                      <a:lnTo>
                        <a:pt x="182" y="245"/>
                      </a:lnTo>
                      <a:lnTo>
                        <a:pt x="175" y="240"/>
                      </a:lnTo>
                      <a:lnTo>
                        <a:pt x="161" y="235"/>
                      </a:lnTo>
                      <a:lnTo>
                        <a:pt x="154" y="230"/>
                      </a:lnTo>
                      <a:lnTo>
                        <a:pt x="158" y="220"/>
                      </a:lnTo>
                      <a:lnTo>
                        <a:pt x="197" y="146"/>
                      </a:lnTo>
                      <a:lnTo>
                        <a:pt x="197" y="143"/>
                      </a:lnTo>
                      <a:lnTo>
                        <a:pt x="114" y="99"/>
                      </a:lnTo>
                      <a:lnTo>
                        <a:pt x="113" y="103"/>
                      </a:lnTo>
                      <a:lnTo>
                        <a:pt x="71" y="185"/>
                      </a:lnTo>
                      <a:lnTo>
                        <a:pt x="63" y="181"/>
                      </a:lnTo>
                      <a:lnTo>
                        <a:pt x="48" y="175"/>
                      </a:lnTo>
                      <a:lnTo>
                        <a:pt x="41" y="170"/>
                      </a:lnTo>
                      <a:lnTo>
                        <a:pt x="84" y="84"/>
                      </a:lnTo>
                      <a:lnTo>
                        <a:pt x="43" y="62"/>
                      </a:lnTo>
                      <a:lnTo>
                        <a:pt x="39" y="59"/>
                      </a:lnTo>
                      <a:lnTo>
                        <a:pt x="34" y="53"/>
                      </a:lnTo>
                      <a:lnTo>
                        <a:pt x="34" y="48"/>
                      </a:lnTo>
                      <a:lnTo>
                        <a:pt x="34" y="45"/>
                      </a:lnTo>
                      <a:lnTo>
                        <a:pt x="34" y="42"/>
                      </a:lnTo>
                      <a:lnTo>
                        <a:pt x="37" y="40"/>
                      </a:lnTo>
                      <a:lnTo>
                        <a:pt x="42" y="33"/>
                      </a:lnTo>
                      <a:lnTo>
                        <a:pt x="48" y="30"/>
                      </a:lnTo>
                      <a:lnTo>
                        <a:pt x="53" y="31"/>
                      </a:lnTo>
                      <a:lnTo>
                        <a:pt x="59" y="32"/>
                      </a:lnTo>
                      <a:lnTo>
                        <a:pt x="61" y="33"/>
                      </a:lnTo>
                      <a:lnTo>
                        <a:pt x="304" y="1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grpSp>
      <p:grpSp>
        <p:nvGrpSpPr>
          <p:cNvPr id="149829" name="Group 3397">
            <a:extLst>
              <a:ext uri="{FF2B5EF4-FFF2-40B4-BE49-F238E27FC236}">
                <a16:creationId xmlns:a16="http://schemas.microsoft.com/office/drawing/2014/main" id="{9F1DD31E-218B-CB66-FCEC-2775073BCA95}"/>
              </a:ext>
            </a:extLst>
          </p:cNvPr>
          <p:cNvGrpSpPr>
            <a:grpSpLocks/>
          </p:cNvGrpSpPr>
          <p:nvPr/>
        </p:nvGrpSpPr>
        <p:grpSpPr bwMode="auto">
          <a:xfrm>
            <a:off x="5705475" y="1182688"/>
            <a:ext cx="1762125" cy="1246187"/>
            <a:chOff x="3594" y="745"/>
            <a:chExt cx="1110" cy="785"/>
          </a:xfrm>
        </p:grpSpPr>
        <p:sp>
          <p:nvSpPr>
            <p:cNvPr id="149690" name="Oval 3258">
              <a:extLst>
                <a:ext uri="{FF2B5EF4-FFF2-40B4-BE49-F238E27FC236}">
                  <a16:creationId xmlns:a16="http://schemas.microsoft.com/office/drawing/2014/main" id="{3087FE6D-0A92-EBB6-E4BC-EDE17DEBACE8}"/>
                </a:ext>
              </a:extLst>
            </p:cNvPr>
            <p:cNvSpPr>
              <a:spLocks noChangeArrowheads="1"/>
            </p:cNvSpPr>
            <p:nvPr/>
          </p:nvSpPr>
          <p:spPr bwMode="auto">
            <a:xfrm>
              <a:off x="3594" y="745"/>
              <a:ext cx="1110" cy="785"/>
            </a:xfrm>
            <a:prstGeom prst="ellipse">
              <a:avLst/>
            </a:prstGeom>
            <a:solidFill>
              <a:srgbClr val="FFB9DC"/>
            </a:solidFill>
            <a:ln w="25400" cap="rnd"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76301" name="Rectangle 525">
              <a:extLst>
                <a:ext uri="{FF2B5EF4-FFF2-40B4-BE49-F238E27FC236}">
                  <a16:creationId xmlns:a16="http://schemas.microsoft.com/office/drawing/2014/main" id="{0F76AC1F-9AE0-8C3E-FF8B-983C1EE76362}"/>
                </a:ext>
              </a:extLst>
            </p:cNvPr>
            <p:cNvSpPr>
              <a:spLocks noChangeArrowheads="1"/>
            </p:cNvSpPr>
            <p:nvPr/>
          </p:nvSpPr>
          <p:spPr bwMode="auto">
            <a:xfrm>
              <a:off x="3969" y="1420"/>
              <a:ext cx="357"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latin typeface="Verdana" panose="020B0604030504040204" pitchFamily="34" charset="0"/>
                  <a:ea typeface="宋体" panose="02010600030101010101" pitchFamily="2" charset="-122"/>
                </a:rPr>
                <a:t>Firewall</a:t>
              </a:r>
            </a:p>
          </p:txBody>
        </p:sp>
        <p:sp>
          <p:nvSpPr>
            <p:cNvPr id="76303" name="Rectangle 527">
              <a:extLst>
                <a:ext uri="{FF2B5EF4-FFF2-40B4-BE49-F238E27FC236}">
                  <a16:creationId xmlns:a16="http://schemas.microsoft.com/office/drawing/2014/main" id="{28BC2712-E701-317A-4465-782AD4EEE335}"/>
                </a:ext>
              </a:extLst>
            </p:cNvPr>
            <p:cNvSpPr>
              <a:spLocks noChangeArrowheads="1"/>
            </p:cNvSpPr>
            <p:nvPr/>
          </p:nvSpPr>
          <p:spPr bwMode="auto">
            <a:xfrm>
              <a:off x="3740" y="1301"/>
              <a:ext cx="846"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Security Zone B</a:t>
              </a:r>
            </a:p>
          </p:txBody>
        </p:sp>
        <p:grpSp>
          <p:nvGrpSpPr>
            <p:cNvPr id="149590" name="Group 3158">
              <a:extLst>
                <a:ext uri="{FF2B5EF4-FFF2-40B4-BE49-F238E27FC236}">
                  <a16:creationId xmlns:a16="http://schemas.microsoft.com/office/drawing/2014/main" id="{5AA43D63-D49B-80CC-EE0E-3E42B29A0F16}"/>
                </a:ext>
              </a:extLst>
            </p:cNvPr>
            <p:cNvGrpSpPr>
              <a:grpSpLocks/>
            </p:cNvGrpSpPr>
            <p:nvPr/>
          </p:nvGrpSpPr>
          <p:grpSpPr bwMode="auto">
            <a:xfrm>
              <a:off x="3794" y="802"/>
              <a:ext cx="556" cy="491"/>
              <a:chOff x="1920" y="1584"/>
              <a:chExt cx="1842" cy="1272"/>
            </a:xfrm>
          </p:grpSpPr>
          <p:sp>
            <p:nvSpPr>
              <p:cNvPr id="149591" name="Freeform 3159">
                <a:extLst>
                  <a:ext uri="{FF2B5EF4-FFF2-40B4-BE49-F238E27FC236}">
                    <a16:creationId xmlns:a16="http://schemas.microsoft.com/office/drawing/2014/main" id="{E00165E0-6C3C-3EEC-F78D-9BEB17CCBCE6}"/>
                  </a:ext>
                </a:extLst>
              </p:cNvPr>
              <p:cNvSpPr>
                <a:spLocks/>
              </p:cNvSpPr>
              <p:nvPr/>
            </p:nvSpPr>
            <p:spPr bwMode="auto">
              <a:xfrm>
                <a:off x="3437" y="1603"/>
                <a:ext cx="80" cy="168"/>
              </a:xfrm>
              <a:custGeom>
                <a:avLst/>
                <a:gdLst>
                  <a:gd name="T0" fmla="*/ 63 w 63"/>
                  <a:gd name="T1" fmla="*/ 162 h 188"/>
                  <a:gd name="T2" fmla="*/ 63 w 63"/>
                  <a:gd name="T3" fmla="*/ 0 h 188"/>
                  <a:gd name="T4" fmla="*/ 0 w 63"/>
                  <a:gd name="T5" fmla="*/ 22 h 188"/>
                  <a:gd name="T6" fmla="*/ 0 w 63"/>
                  <a:gd name="T7" fmla="*/ 188 h 188"/>
                  <a:gd name="T8" fmla="*/ 63 w 63"/>
                  <a:gd name="T9" fmla="*/ 162 h 188"/>
                </a:gdLst>
                <a:ahLst/>
                <a:cxnLst>
                  <a:cxn ang="0">
                    <a:pos x="T0" y="T1"/>
                  </a:cxn>
                  <a:cxn ang="0">
                    <a:pos x="T2" y="T3"/>
                  </a:cxn>
                  <a:cxn ang="0">
                    <a:pos x="T4" y="T5"/>
                  </a:cxn>
                  <a:cxn ang="0">
                    <a:pos x="T6" y="T7"/>
                  </a:cxn>
                  <a:cxn ang="0">
                    <a:pos x="T8" y="T9"/>
                  </a:cxn>
                </a:cxnLst>
                <a:rect l="0" t="0" r="r" b="b"/>
                <a:pathLst>
                  <a:path w="63" h="188">
                    <a:moveTo>
                      <a:pt x="63" y="162"/>
                    </a:moveTo>
                    <a:lnTo>
                      <a:pt x="63" y="0"/>
                    </a:lnTo>
                    <a:lnTo>
                      <a:pt x="0" y="22"/>
                    </a:lnTo>
                    <a:lnTo>
                      <a:pt x="0" y="188"/>
                    </a:lnTo>
                    <a:lnTo>
                      <a:pt x="63" y="162"/>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592" name="Freeform 3160">
                <a:extLst>
                  <a:ext uri="{FF2B5EF4-FFF2-40B4-BE49-F238E27FC236}">
                    <a16:creationId xmlns:a16="http://schemas.microsoft.com/office/drawing/2014/main" id="{8EE30E13-CCB9-ABFC-9134-31FBE172DB12}"/>
                  </a:ext>
                </a:extLst>
              </p:cNvPr>
              <p:cNvSpPr>
                <a:spLocks/>
              </p:cNvSpPr>
              <p:nvPr/>
            </p:nvSpPr>
            <p:spPr bwMode="auto">
              <a:xfrm>
                <a:off x="2120" y="1584"/>
                <a:ext cx="1397" cy="323"/>
              </a:xfrm>
              <a:custGeom>
                <a:avLst/>
                <a:gdLst>
                  <a:gd name="T0" fmla="*/ 1046 w 1109"/>
                  <a:gd name="T1" fmla="*/ 42 h 356"/>
                  <a:gd name="T2" fmla="*/ 1109 w 1109"/>
                  <a:gd name="T3" fmla="*/ 20 h 356"/>
                  <a:gd name="T4" fmla="*/ 1005 w 1109"/>
                  <a:gd name="T5" fmla="*/ 0 h 356"/>
                  <a:gd name="T6" fmla="*/ 0 w 1109"/>
                  <a:gd name="T7" fmla="*/ 320 h 356"/>
                  <a:gd name="T8" fmla="*/ 105 w 1109"/>
                  <a:gd name="T9" fmla="*/ 356 h 356"/>
                  <a:gd name="T10" fmla="*/ 403 w 1109"/>
                  <a:gd name="T11" fmla="*/ 257 h 356"/>
                  <a:gd name="T12" fmla="*/ 404 w 1109"/>
                  <a:gd name="T13" fmla="*/ 257 h 356"/>
                  <a:gd name="T14" fmla="*/ 760 w 1109"/>
                  <a:gd name="T15" fmla="*/ 137 h 356"/>
                  <a:gd name="T16" fmla="*/ 1046 w 1109"/>
                  <a:gd name="T17" fmla="*/ 4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9" h="356">
                    <a:moveTo>
                      <a:pt x="1046" y="42"/>
                    </a:moveTo>
                    <a:lnTo>
                      <a:pt x="1109" y="20"/>
                    </a:lnTo>
                    <a:lnTo>
                      <a:pt x="1005" y="0"/>
                    </a:lnTo>
                    <a:lnTo>
                      <a:pt x="0" y="320"/>
                    </a:lnTo>
                    <a:lnTo>
                      <a:pt x="105" y="356"/>
                    </a:lnTo>
                    <a:lnTo>
                      <a:pt x="403" y="257"/>
                    </a:lnTo>
                    <a:lnTo>
                      <a:pt x="404" y="257"/>
                    </a:lnTo>
                    <a:lnTo>
                      <a:pt x="760" y="137"/>
                    </a:lnTo>
                    <a:lnTo>
                      <a:pt x="1046" y="42"/>
                    </a:lnTo>
                    <a:close/>
                  </a:path>
                </a:pathLst>
              </a:custGeom>
              <a:solidFill>
                <a:srgbClr val="FED7A4"/>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593" name="Freeform 3161">
                <a:extLst>
                  <a:ext uri="{FF2B5EF4-FFF2-40B4-BE49-F238E27FC236}">
                    <a16:creationId xmlns:a16="http://schemas.microsoft.com/office/drawing/2014/main" id="{3A913FD9-692C-04BC-46D6-793835518181}"/>
                  </a:ext>
                </a:extLst>
              </p:cNvPr>
              <p:cNvSpPr>
                <a:spLocks/>
              </p:cNvSpPr>
              <p:nvPr/>
            </p:nvSpPr>
            <p:spPr bwMode="auto">
              <a:xfrm>
                <a:off x="2886" y="1817"/>
                <a:ext cx="393" cy="304"/>
              </a:xfrm>
              <a:custGeom>
                <a:avLst/>
                <a:gdLst>
                  <a:gd name="T0" fmla="*/ 314 w 314"/>
                  <a:gd name="T1" fmla="*/ 199 h 336"/>
                  <a:gd name="T2" fmla="*/ 314 w 314"/>
                  <a:gd name="T3" fmla="*/ 0 h 336"/>
                  <a:gd name="T4" fmla="*/ 153 w 314"/>
                  <a:gd name="T5" fmla="*/ 62 h 336"/>
                  <a:gd name="T6" fmla="*/ 2 w 314"/>
                  <a:gd name="T7" fmla="*/ 121 h 336"/>
                  <a:gd name="T8" fmla="*/ 0 w 314"/>
                  <a:gd name="T9" fmla="*/ 122 h 336"/>
                  <a:gd name="T10" fmla="*/ 0 w 314"/>
                  <a:gd name="T11" fmla="*/ 336 h 336"/>
                  <a:gd name="T12" fmla="*/ 165 w 314"/>
                  <a:gd name="T13" fmla="*/ 264 h 336"/>
                  <a:gd name="T14" fmla="*/ 314 w 314"/>
                  <a:gd name="T15" fmla="*/ 199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4" h="336">
                    <a:moveTo>
                      <a:pt x="314" y="199"/>
                    </a:moveTo>
                    <a:lnTo>
                      <a:pt x="314" y="0"/>
                    </a:lnTo>
                    <a:lnTo>
                      <a:pt x="153" y="62"/>
                    </a:lnTo>
                    <a:lnTo>
                      <a:pt x="2" y="121"/>
                    </a:lnTo>
                    <a:lnTo>
                      <a:pt x="0" y="122"/>
                    </a:lnTo>
                    <a:lnTo>
                      <a:pt x="0" y="336"/>
                    </a:lnTo>
                    <a:lnTo>
                      <a:pt x="165" y="264"/>
                    </a:lnTo>
                    <a:lnTo>
                      <a:pt x="314" y="199"/>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594" name="Freeform 3162">
                <a:extLst>
                  <a:ext uri="{FF2B5EF4-FFF2-40B4-BE49-F238E27FC236}">
                    <a16:creationId xmlns:a16="http://schemas.microsoft.com/office/drawing/2014/main" id="{7214A4EA-62FF-D2B7-05D6-5D1320511B92}"/>
                  </a:ext>
                </a:extLst>
              </p:cNvPr>
              <p:cNvSpPr>
                <a:spLocks/>
              </p:cNvSpPr>
              <p:nvPr/>
            </p:nvSpPr>
            <p:spPr bwMode="auto">
              <a:xfrm>
                <a:off x="3279" y="1749"/>
                <a:ext cx="238" cy="247"/>
              </a:xfrm>
              <a:custGeom>
                <a:avLst/>
                <a:gdLst>
                  <a:gd name="T0" fmla="*/ 0 w 188"/>
                  <a:gd name="T1" fmla="*/ 75 h 274"/>
                  <a:gd name="T2" fmla="*/ 0 w 188"/>
                  <a:gd name="T3" fmla="*/ 274 h 274"/>
                  <a:gd name="T4" fmla="*/ 141 w 188"/>
                  <a:gd name="T5" fmla="*/ 213 h 274"/>
                  <a:gd name="T6" fmla="*/ 143 w 188"/>
                  <a:gd name="T7" fmla="*/ 212 h 274"/>
                  <a:gd name="T8" fmla="*/ 188 w 188"/>
                  <a:gd name="T9" fmla="*/ 192 h 274"/>
                  <a:gd name="T10" fmla="*/ 188 w 188"/>
                  <a:gd name="T11" fmla="*/ 0 h 274"/>
                  <a:gd name="T12" fmla="*/ 125 w 188"/>
                  <a:gd name="T13" fmla="*/ 26 h 274"/>
                  <a:gd name="T14" fmla="*/ 0 w 188"/>
                  <a:gd name="T15" fmla="*/ 75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8" h="274">
                    <a:moveTo>
                      <a:pt x="0" y="75"/>
                    </a:moveTo>
                    <a:lnTo>
                      <a:pt x="0" y="274"/>
                    </a:lnTo>
                    <a:lnTo>
                      <a:pt x="141" y="213"/>
                    </a:lnTo>
                    <a:lnTo>
                      <a:pt x="143" y="212"/>
                    </a:lnTo>
                    <a:lnTo>
                      <a:pt x="188" y="192"/>
                    </a:lnTo>
                    <a:lnTo>
                      <a:pt x="188" y="0"/>
                    </a:lnTo>
                    <a:lnTo>
                      <a:pt x="125" y="26"/>
                    </a:lnTo>
                    <a:lnTo>
                      <a:pt x="0" y="75"/>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595" name="Freeform 3163">
                <a:extLst>
                  <a:ext uri="{FF2B5EF4-FFF2-40B4-BE49-F238E27FC236}">
                    <a16:creationId xmlns:a16="http://schemas.microsoft.com/office/drawing/2014/main" id="{93627C94-6326-4FD9-4B02-0EDCA555B5F3}"/>
                  </a:ext>
                </a:extLst>
              </p:cNvPr>
              <p:cNvSpPr>
                <a:spLocks/>
              </p:cNvSpPr>
              <p:nvPr/>
            </p:nvSpPr>
            <p:spPr bwMode="auto">
              <a:xfrm>
                <a:off x="2630" y="1709"/>
                <a:ext cx="449" cy="290"/>
              </a:xfrm>
              <a:custGeom>
                <a:avLst/>
                <a:gdLst>
                  <a:gd name="T0" fmla="*/ 206 w 357"/>
                  <a:gd name="T1" fmla="*/ 241 h 321"/>
                  <a:gd name="T2" fmla="*/ 357 w 357"/>
                  <a:gd name="T3" fmla="*/ 182 h 321"/>
                  <a:gd name="T4" fmla="*/ 357 w 357"/>
                  <a:gd name="T5" fmla="*/ 0 h 321"/>
                  <a:gd name="T6" fmla="*/ 1 w 357"/>
                  <a:gd name="T7" fmla="*/ 120 h 321"/>
                  <a:gd name="T8" fmla="*/ 0 w 357"/>
                  <a:gd name="T9" fmla="*/ 120 h 321"/>
                  <a:gd name="T10" fmla="*/ 0 w 357"/>
                  <a:gd name="T11" fmla="*/ 321 h 321"/>
                  <a:gd name="T12" fmla="*/ 204 w 357"/>
                  <a:gd name="T13" fmla="*/ 242 h 321"/>
                  <a:gd name="T14" fmla="*/ 206 w 357"/>
                  <a:gd name="T15" fmla="*/ 241 h 3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7" h="321">
                    <a:moveTo>
                      <a:pt x="206" y="241"/>
                    </a:moveTo>
                    <a:lnTo>
                      <a:pt x="357" y="182"/>
                    </a:lnTo>
                    <a:lnTo>
                      <a:pt x="357" y="0"/>
                    </a:lnTo>
                    <a:lnTo>
                      <a:pt x="1" y="120"/>
                    </a:lnTo>
                    <a:lnTo>
                      <a:pt x="0" y="120"/>
                    </a:lnTo>
                    <a:lnTo>
                      <a:pt x="0" y="321"/>
                    </a:lnTo>
                    <a:lnTo>
                      <a:pt x="204" y="242"/>
                    </a:lnTo>
                    <a:lnTo>
                      <a:pt x="206" y="241"/>
                    </a:lnTo>
                    <a:close/>
                  </a:path>
                </a:pathLst>
              </a:custGeom>
              <a:solidFill>
                <a:srgbClr val="FC95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596" name="Freeform 3164">
                <a:extLst>
                  <a:ext uri="{FF2B5EF4-FFF2-40B4-BE49-F238E27FC236}">
                    <a16:creationId xmlns:a16="http://schemas.microsoft.com/office/drawing/2014/main" id="{87532937-9242-4F49-3C30-C75BF1CC7FFF}"/>
                  </a:ext>
                </a:extLst>
              </p:cNvPr>
              <p:cNvSpPr>
                <a:spLocks/>
              </p:cNvSpPr>
              <p:nvPr/>
            </p:nvSpPr>
            <p:spPr bwMode="auto">
              <a:xfrm>
                <a:off x="2675" y="2056"/>
                <a:ext cx="419" cy="344"/>
              </a:xfrm>
              <a:custGeom>
                <a:avLst/>
                <a:gdLst>
                  <a:gd name="T0" fmla="*/ 333 w 333"/>
                  <a:gd name="T1" fmla="*/ 0 h 383"/>
                  <a:gd name="T2" fmla="*/ 168 w 333"/>
                  <a:gd name="T3" fmla="*/ 72 h 383"/>
                  <a:gd name="T4" fmla="*/ 0 w 333"/>
                  <a:gd name="T5" fmla="*/ 145 h 383"/>
                  <a:gd name="T6" fmla="*/ 0 w 333"/>
                  <a:gd name="T7" fmla="*/ 383 h 383"/>
                  <a:gd name="T8" fmla="*/ 183 w 333"/>
                  <a:gd name="T9" fmla="*/ 293 h 383"/>
                  <a:gd name="T10" fmla="*/ 186 w 333"/>
                  <a:gd name="T11" fmla="*/ 293 h 383"/>
                  <a:gd name="T12" fmla="*/ 333 w 333"/>
                  <a:gd name="T13" fmla="*/ 221 h 383"/>
                  <a:gd name="T14" fmla="*/ 333 w 333"/>
                  <a:gd name="T15" fmla="*/ 0 h 3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3" h="383">
                    <a:moveTo>
                      <a:pt x="333" y="0"/>
                    </a:moveTo>
                    <a:lnTo>
                      <a:pt x="168" y="72"/>
                    </a:lnTo>
                    <a:lnTo>
                      <a:pt x="0" y="145"/>
                    </a:lnTo>
                    <a:lnTo>
                      <a:pt x="0" y="383"/>
                    </a:lnTo>
                    <a:lnTo>
                      <a:pt x="183" y="293"/>
                    </a:lnTo>
                    <a:lnTo>
                      <a:pt x="186" y="293"/>
                    </a:lnTo>
                    <a:lnTo>
                      <a:pt x="333" y="221"/>
                    </a:lnTo>
                    <a:lnTo>
                      <a:pt x="333" y="0"/>
                    </a:lnTo>
                    <a:close/>
                  </a:path>
                </a:pathLst>
              </a:custGeom>
              <a:solidFill>
                <a:srgbClr val="FC950C"/>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597" name="Freeform 3165">
                <a:extLst>
                  <a:ext uri="{FF2B5EF4-FFF2-40B4-BE49-F238E27FC236}">
                    <a16:creationId xmlns:a16="http://schemas.microsoft.com/office/drawing/2014/main" id="{DA2847F4-7C98-3DBB-DB0E-9A4E843AC796}"/>
                  </a:ext>
                </a:extLst>
              </p:cNvPr>
              <p:cNvSpPr>
                <a:spLocks/>
              </p:cNvSpPr>
              <p:nvPr/>
            </p:nvSpPr>
            <p:spPr bwMode="auto">
              <a:xfrm>
                <a:off x="3094" y="1942"/>
                <a:ext cx="362" cy="312"/>
              </a:xfrm>
              <a:custGeom>
                <a:avLst/>
                <a:gdLst>
                  <a:gd name="T0" fmla="*/ 0 w 290"/>
                  <a:gd name="T1" fmla="*/ 126 h 347"/>
                  <a:gd name="T2" fmla="*/ 0 w 290"/>
                  <a:gd name="T3" fmla="*/ 347 h 347"/>
                  <a:gd name="T4" fmla="*/ 157 w 290"/>
                  <a:gd name="T5" fmla="*/ 270 h 347"/>
                  <a:gd name="T6" fmla="*/ 290 w 290"/>
                  <a:gd name="T7" fmla="*/ 205 h 347"/>
                  <a:gd name="T8" fmla="*/ 290 w 290"/>
                  <a:gd name="T9" fmla="*/ 0 h 347"/>
                  <a:gd name="T10" fmla="*/ 149 w 290"/>
                  <a:gd name="T11" fmla="*/ 61 h 347"/>
                  <a:gd name="T12" fmla="*/ 0 w 290"/>
                  <a:gd name="T13" fmla="*/ 126 h 347"/>
                </a:gdLst>
                <a:ahLst/>
                <a:cxnLst>
                  <a:cxn ang="0">
                    <a:pos x="T0" y="T1"/>
                  </a:cxn>
                  <a:cxn ang="0">
                    <a:pos x="T2" y="T3"/>
                  </a:cxn>
                  <a:cxn ang="0">
                    <a:pos x="T4" y="T5"/>
                  </a:cxn>
                  <a:cxn ang="0">
                    <a:pos x="T6" y="T7"/>
                  </a:cxn>
                  <a:cxn ang="0">
                    <a:pos x="T8" y="T9"/>
                  </a:cxn>
                  <a:cxn ang="0">
                    <a:pos x="T10" y="T11"/>
                  </a:cxn>
                  <a:cxn ang="0">
                    <a:pos x="T12" y="T13"/>
                  </a:cxn>
                </a:cxnLst>
                <a:rect l="0" t="0" r="r" b="b"/>
                <a:pathLst>
                  <a:path w="290" h="347">
                    <a:moveTo>
                      <a:pt x="0" y="126"/>
                    </a:moveTo>
                    <a:lnTo>
                      <a:pt x="0" y="347"/>
                    </a:lnTo>
                    <a:lnTo>
                      <a:pt x="157" y="270"/>
                    </a:lnTo>
                    <a:lnTo>
                      <a:pt x="290" y="205"/>
                    </a:lnTo>
                    <a:lnTo>
                      <a:pt x="290" y="0"/>
                    </a:lnTo>
                    <a:lnTo>
                      <a:pt x="149" y="61"/>
                    </a:lnTo>
                    <a:lnTo>
                      <a:pt x="0" y="126"/>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598" name="Freeform 3166">
                <a:extLst>
                  <a:ext uri="{FF2B5EF4-FFF2-40B4-BE49-F238E27FC236}">
                    <a16:creationId xmlns:a16="http://schemas.microsoft.com/office/drawing/2014/main" id="{8788D4D3-E3EE-29C2-AC80-1D3C7A50723C}"/>
                  </a:ext>
                </a:extLst>
              </p:cNvPr>
              <p:cNvSpPr>
                <a:spLocks/>
              </p:cNvSpPr>
              <p:nvPr/>
            </p:nvSpPr>
            <p:spPr bwMode="auto">
              <a:xfrm>
                <a:off x="3079" y="1622"/>
                <a:ext cx="358" cy="249"/>
              </a:xfrm>
              <a:custGeom>
                <a:avLst/>
                <a:gdLst>
                  <a:gd name="T0" fmla="*/ 0 w 286"/>
                  <a:gd name="T1" fmla="*/ 277 h 277"/>
                  <a:gd name="T2" fmla="*/ 161 w 286"/>
                  <a:gd name="T3" fmla="*/ 215 h 277"/>
                  <a:gd name="T4" fmla="*/ 286 w 286"/>
                  <a:gd name="T5" fmla="*/ 166 h 277"/>
                  <a:gd name="T6" fmla="*/ 286 w 286"/>
                  <a:gd name="T7" fmla="*/ 0 h 277"/>
                  <a:gd name="T8" fmla="*/ 0 w 286"/>
                  <a:gd name="T9" fmla="*/ 95 h 277"/>
                  <a:gd name="T10" fmla="*/ 0 w 286"/>
                  <a:gd name="T11" fmla="*/ 277 h 277"/>
                </a:gdLst>
                <a:ahLst/>
                <a:cxnLst>
                  <a:cxn ang="0">
                    <a:pos x="T0" y="T1"/>
                  </a:cxn>
                  <a:cxn ang="0">
                    <a:pos x="T2" y="T3"/>
                  </a:cxn>
                  <a:cxn ang="0">
                    <a:pos x="T4" y="T5"/>
                  </a:cxn>
                  <a:cxn ang="0">
                    <a:pos x="T6" y="T7"/>
                  </a:cxn>
                  <a:cxn ang="0">
                    <a:pos x="T8" y="T9"/>
                  </a:cxn>
                  <a:cxn ang="0">
                    <a:pos x="T10" y="T11"/>
                  </a:cxn>
                </a:cxnLst>
                <a:rect l="0" t="0" r="r" b="b"/>
                <a:pathLst>
                  <a:path w="286" h="277">
                    <a:moveTo>
                      <a:pt x="0" y="277"/>
                    </a:moveTo>
                    <a:lnTo>
                      <a:pt x="161" y="215"/>
                    </a:lnTo>
                    <a:lnTo>
                      <a:pt x="286" y="166"/>
                    </a:lnTo>
                    <a:lnTo>
                      <a:pt x="286" y="0"/>
                    </a:lnTo>
                    <a:lnTo>
                      <a:pt x="0" y="95"/>
                    </a:lnTo>
                    <a:lnTo>
                      <a:pt x="0" y="277"/>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599" name="Freeform 3167">
                <a:extLst>
                  <a:ext uri="{FF2B5EF4-FFF2-40B4-BE49-F238E27FC236}">
                    <a16:creationId xmlns:a16="http://schemas.microsoft.com/office/drawing/2014/main" id="{93C1CB6E-D6B3-5F46-353B-3995275A2DA7}"/>
                  </a:ext>
                </a:extLst>
              </p:cNvPr>
              <p:cNvSpPr>
                <a:spLocks/>
              </p:cNvSpPr>
              <p:nvPr/>
            </p:nvSpPr>
            <p:spPr bwMode="auto">
              <a:xfrm>
                <a:off x="2479" y="1926"/>
                <a:ext cx="407" cy="320"/>
              </a:xfrm>
              <a:custGeom>
                <a:avLst/>
                <a:gdLst>
                  <a:gd name="T0" fmla="*/ 322 w 322"/>
                  <a:gd name="T1" fmla="*/ 214 h 354"/>
                  <a:gd name="T2" fmla="*/ 322 w 322"/>
                  <a:gd name="T3" fmla="*/ 0 h 354"/>
                  <a:gd name="T4" fmla="*/ 118 w 322"/>
                  <a:gd name="T5" fmla="*/ 79 h 354"/>
                  <a:gd name="T6" fmla="*/ 0 w 322"/>
                  <a:gd name="T7" fmla="*/ 125 h 354"/>
                  <a:gd name="T8" fmla="*/ 0 w 322"/>
                  <a:gd name="T9" fmla="*/ 354 h 354"/>
                  <a:gd name="T10" fmla="*/ 154 w 322"/>
                  <a:gd name="T11" fmla="*/ 287 h 354"/>
                  <a:gd name="T12" fmla="*/ 322 w 322"/>
                  <a:gd name="T13" fmla="*/ 214 h 354"/>
                </a:gdLst>
                <a:ahLst/>
                <a:cxnLst>
                  <a:cxn ang="0">
                    <a:pos x="T0" y="T1"/>
                  </a:cxn>
                  <a:cxn ang="0">
                    <a:pos x="T2" y="T3"/>
                  </a:cxn>
                  <a:cxn ang="0">
                    <a:pos x="T4" y="T5"/>
                  </a:cxn>
                  <a:cxn ang="0">
                    <a:pos x="T6" y="T7"/>
                  </a:cxn>
                  <a:cxn ang="0">
                    <a:pos x="T8" y="T9"/>
                  </a:cxn>
                  <a:cxn ang="0">
                    <a:pos x="T10" y="T11"/>
                  </a:cxn>
                  <a:cxn ang="0">
                    <a:pos x="T12" y="T13"/>
                  </a:cxn>
                </a:cxnLst>
                <a:rect l="0" t="0" r="r" b="b"/>
                <a:pathLst>
                  <a:path w="322" h="354">
                    <a:moveTo>
                      <a:pt x="322" y="214"/>
                    </a:moveTo>
                    <a:lnTo>
                      <a:pt x="322" y="0"/>
                    </a:lnTo>
                    <a:lnTo>
                      <a:pt x="118" y="79"/>
                    </a:lnTo>
                    <a:lnTo>
                      <a:pt x="0" y="125"/>
                    </a:lnTo>
                    <a:lnTo>
                      <a:pt x="0" y="354"/>
                    </a:lnTo>
                    <a:lnTo>
                      <a:pt x="154" y="287"/>
                    </a:lnTo>
                    <a:lnTo>
                      <a:pt x="322" y="214"/>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00" name="Freeform 3168">
                <a:extLst>
                  <a:ext uri="{FF2B5EF4-FFF2-40B4-BE49-F238E27FC236}">
                    <a16:creationId xmlns:a16="http://schemas.microsoft.com/office/drawing/2014/main" id="{180B62E6-9DBA-C607-52F3-9AFEA46C6ECC}"/>
                  </a:ext>
                </a:extLst>
              </p:cNvPr>
              <p:cNvSpPr>
                <a:spLocks/>
              </p:cNvSpPr>
              <p:nvPr/>
            </p:nvSpPr>
            <p:spPr bwMode="auto">
              <a:xfrm>
                <a:off x="2905" y="2186"/>
                <a:ext cx="385" cy="317"/>
              </a:xfrm>
              <a:custGeom>
                <a:avLst/>
                <a:gdLst>
                  <a:gd name="T0" fmla="*/ 307 w 307"/>
                  <a:gd name="T1" fmla="*/ 0 h 351"/>
                  <a:gd name="T2" fmla="*/ 150 w 307"/>
                  <a:gd name="T3" fmla="*/ 77 h 351"/>
                  <a:gd name="T4" fmla="*/ 3 w 307"/>
                  <a:gd name="T5" fmla="*/ 149 h 351"/>
                  <a:gd name="T6" fmla="*/ 0 w 307"/>
                  <a:gd name="T7" fmla="*/ 149 h 351"/>
                  <a:gd name="T8" fmla="*/ 0 w 307"/>
                  <a:gd name="T9" fmla="*/ 351 h 351"/>
                  <a:gd name="T10" fmla="*/ 154 w 307"/>
                  <a:gd name="T11" fmla="*/ 271 h 351"/>
                  <a:gd name="T12" fmla="*/ 307 w 307"/>
                  <a:gd name="T13" fmla="*/ 193 h 351"/>
                  <a:gd name="T14" fmla="*/ 307 w 307"/>
                  <a:gd name="T15" fmla="*/ 0 h 3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51">
                    <a:moveTo>
                      <a:pt x="307" y="0"/>
                    </a:moveTo>
                    <a:lnTo>
                      <a:pt x="150" y="77"/>
                    </a:lnTo>
                    <a:lnTo>
                      <a:pt x="3" y="149"/>
                    </a:lnTo>
                    <a:lnTo>
                      <a:pt x="0" y="149"/>
                    </a:lnTo>
                    <a:lnTo>
                      <a:pt x="0" y="351"/>
                    </a:lnTo>
                    <a:lnTo>
                      <a:pt x="154" y="271"/>
                    </a:lnTo>
                    <a:lnTo>
                      <a:pt x="307" y="193"/>
                    </a:lnTo>
                    <a:lnTo>
                      <a:pt x="307" y="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01" name="Freeform 3169">
                <a:extLst>
                  <a:ext uri="{FF2B5EF4-FFF2-40B4-BE49-F238E27FC236}">
                    <a16:creationId xmlns:a16="http://schemas.microsoft.com/office/drawing/2014/main" id="{7C7ED465-4722-1583-2D4F-F5174D59A823}"/>
                  </a:ext>
                </a:extLst>
              </p:cNvPr>
              <p:cNvSpPr>
                <a:spLocks/>
              </p:cNvSpPr>
              <p:nvPr/>
            </p:nvSpPr>
            <p:spPr bwMode="auto">
              <a:xfrm>
                <a:off x="3456" y="1923"/>
                <a:ext cx="61" cy="203"/>
              </a:xfrm>
              <a:custGeom>
                <a:avLst/>
                <a:gdLst>
                  <a:gd name="T0" fmla="*/ 0 w 47"/>
                  <a:gd name="T1" fmla="*/ 226 h 226"/>
                  <a:gd name="T2" fmla="*/ 47 w 47"/>
                  <a:gd name="T3" fmla="*/ 203 h 226"/>
                  <a:gd name="T4" fmla="*/ 47 w 47"/>
                  <a:gd name="T5" fmla="*/ 0 h 226"/>
                  <a:gd name="T6" fmla="*/ 2 w 47"/>
                  <a:gd name="T7" fmla="*/ 20 h 226"/>
                  <a:gd name="T8" fmla="*/ 0 w 47"/>
                  <a:gd name="T9" fmla="*/ 21 h 226"/>
                  <a:gd name="T10" fmla="*/ 0 w 47"/>
                  <a:gd name="T11" fmla="*/ 226 h 226"/>
                </a:gdLst>
                <a:ahLst/>
                <a:cxnLst>
                  <a:cxn ang="0">
                    <a:pos x="T0" y="T1"/>
                  </a:cxn>
                  <a:cxn ang="0">
                    <a:pos x="T2" y="T3"/>
                  </a:cxn>
                  <a:cxn ang="0">
                    <a:pos x="T4" y="T5"/>
                  </a:cxn>
                  <a:cxn ang="0">
                    <a:pos x="T6" y="T7"/>
                  </a:cxn>
                  <a:cxn ang="0">
                    <a:pos x="T8" y="T9"/>
                  </a:cxn>
                  <a:cxn ang="0">
                    <a:pos x="T10" y="T11"/>
                  </a:cxn>
                </a:cxnLst>
                <a:rect l="0" t="0" r="r" b="b"/>
                <a:pathLst>
                  <a:path w="47" h="226">
                    <a:moveTo>
                      <a:pt x="0" y="226"/>
                    </a:moveTo>
                    <a:lnTo>
                      <a:pt x="47" y="203"/>
                    </a:lnTo>
                    <a:lnTo>
                      <a:pt x="47" y="0"/>
                    </a:lnTo>
                    <a:lnTo>
                      <a:pt x="2" y="20"/>
                    </a:lnTo>
                    <a:lnTo>
                      <a:pt x="0" y="21"/>
                    </a:lnTo>
                    <a:lnTo>
                      <a:pt x="0" y="226"/>
                    </a:lnTo>
                    <a:close/>
                  </a:path>
                </a:pathLst>
              </a:custGeom>
              <a:solidFill>
                <a:srgbClr val="FC950C"/>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02" name="Freeform 3170">
                <a:extLst>
                  <a:ext uri="{FF2B5EF4-FFF2-40B4-BE49-F238E27FC236}">
                    <a16:creationId xmlns:a16="http://schemas.microsoft.com/office/drawing/2014/main" id="{0B683CCE-DF1A-951B-BD8D-654DB3A40D78}"/>
                  </a:ext>
                </a:extLst>
              </p:cNvPr>
              <p:cNvSpPr>
                <a:spLocks/>
              </p:cNvSpPr>
              <p:nvPr/>
            </p:nvSpPr>
            <p:spPr bwMode="auto">
              <a:xfrm>
                <a:off x="3290" y="2105"/>
                <a:ext cx="227" cy="255"/>
              </a:xfrm>
              <a:custGeom>
                <a:avLst/>
                <a:gdLst>
                  <a:gd name="T0" fmla="*/ 180 w 180"/>
                  <a:gd name="T1" fmla="*/ 0 h 281"/>
                  <a:gd name="T2" fmla="*/ 133 w 180"/>
                  <a:gd name="T3" fmla="*/ 23 h 281"/>
                  <a:gd name="T4" fmla="*/ 0 w 180"/>
                  <a:gd name="T5" fmla="*/ 88 h 281"/>
                  <a:gd name="T6" fmla="*/ 0 w 180"/>
                  <a:gd name="T7" fmla="*/ 281 h 281"/>
                  <a:gd name="T8" fmla="*/ 133 w 180"/>
                  <a:gd name="T9" fmla="*/ 213 h 281"/>
                  <a:gd name="T10" fmla="*/ 180 w 180"/>
                  <a:gd name="T11" fmla="*/ 187 h 281"/>
                  <a:gd name="T12" fmla="*/ 180 w 180"/>
                  <a:gd name="T13" fmla="*/ 0 h 281"/>
                </a:gdLst>
                <a:ahLst/>
                <a:cxnLst>
                  <a:cxn ang="0">
                    <a:pos x="T0" y="T1"/>
                  </a:cxn>
                  <a:cxn ang="0">
                    <a:pos x="T2" y="T3"/>
                  </a:cxn>
                  <a:cxn ang="0">
                    <a:pos x="T4" y="T5"/>
                  </a:cxn>
                  <a:cxn ang="0">
                    <a:pos x="T6" y="T7"/>
                  </a:cxn>
                  <a:cxn ang="0">
                    <a:pos x="T8" y="T9"/>
                  </a:cxn>
                  <a:cxn ang="0">
                    <a:pos x="T10" y="T11"/>
                  </a:cxn>
                  <a:cxn ang="0">
                    <a:pos x="T12" y="T13"/>
                  </a:cxn>
                </a:cxnLst>
                <a:rect l="0" t="0" r="r" b="b"/>
                <a:pathLst>
                  <a:path w="180" h="281">
                    <a:moveTo>
                      <a:pt x="180" y="0"/>
                    </a:moveTo>
                    <a:lnTo>
                      <a:pt x="133" y="23"/>
                    </a:lnTo>
                    <a:lnTo>
                      <a:pt x="0" y="88"/>
                    </a:lnTo>
                    <a:lnTo>
                      <a:pt x="0" y="281"/>
                    </a:lnTo>
                    <a:lnTo>
                      <a:pt x="133" y="213"/>
                    </a:lnTo>
                    <a:lnTo>
                      <a:pt x="180" y="187"/>
                    </a:lnTo>
                    <a:lnTo>
                      <a:pt x="180" y="0"/>
                    </a:lnTo>
                    <a:close/>
                  </a:path>
                </a:pathLst>
              </a:custGeom>
              <a:solidFill>
                <a:srgbClr val="FC950C"/>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03" name="Freeform 3171">
                <a:extLst>
                  <a:ext uri="{FF2B5EF4-FFF2-40B4-BE49-F238E27FC236}">
                    <a16:creationId xmlns:a16="http://schemas.microsoft.com/office/drawing/2014/main" id="{6FBACFD1-3CF5-F467-F839-8BBEDB5DF88A}"/>
                  </a:ext>
                </a:extLst>
              </p:cNvPr>
              <p:cNvSpPr>
                <a:spLocks/>
              </p:cNvSpPr>
              <p:nvPr/>
            </p:nvSpPr>
            <p:spPr bwMode="auto">
              <a:xfrm>
                <a:off x="3456" y="2276"/>
                <a:ext cx="61" cy="165"/>
              </a:xfrm>
              <a:custGeom>
                <a:avLst/>
                <a:gdLst>
                  <a:gd name="T0" fmla="*/ 0 w 47"/>
                  <a:gd name="T1" fmla="*/ 26 h 185"/>
                  <a:gd name="T2" fmla="*/ 0 w 47"/>
                  <a:gd name="T3" fmla="*/ 185 h 185"/>
                  <a:gd name="T4" fmla="*/ 47 w 47"/>
                  <a:gd name="T5" fmla="*/ 159 h 185"/>
                  <a:gd name="T6" fmla="*/ 47 w 47"/>
                  <a:gd name="T7" fmla="*/ 0 h 185"/>
                  <a:gd name="T8" fmla="*/ 0 w 47"/>
                  <a:gd name="T9" fmla="*/ 26 h 185"/>
                </a:gdLst>
                <a:ahLst/>
                <a:cxnLst>
                  <a:cxn ang="0">
                    <a:pos x="T0" y="T1"/>
                  </a:cxn>
                  <a:cxn ang="0">
                    <a:pos x="T2" y="T3"/>
                  </a:cxn>
                  <a:cxn ang="0">
                    <a:pos x="T4" y="T5"/>
                  </a:cxn>
                  <a:cxn ang="0">
                    <a:pos x="T6" y="T7"/>
                  </a:cxn>
                  <a:cxn ang="0">
                    <a:pos x="T8" y="T9"/>
                  </a:cxn>
                </a:cxnLst>
                <a:rect l="0" t="0" r="r" b="b"/>
                <a:pathLst>
                  <a:path w="47" h="185">
                    <a:moveTo>
                      <a:pt x="0" y="26"/>
                    </a:moveTo>
                    <a:lnTo>
                      <a:pt x="0" y="185"/>
                    </a:lnTo>
                    <a:lnTo>
                      <a:pt x="47" y="159"/>
                    </a:lnTo>
                    <a:lnTo>
                      <a:pt x="47" y="0"/>
                    </a:lnTo>
                    <a:lnTo>
                      <a:pt x="0" y="26"/>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04" name="Freeform 3172">
                <a:extLst>
                  <a:ext uri="{FF2B5EF4-FFF2-40B4-BE49-F238E27FC236}">
                    <a16:creationId xmlns:a16="http://schemas.microsoft.com/office/drawing/2014/main" id="{16722231-FF03-32EF-D77C-3F1653A37CC5}"/>
                  </a:ext>
                </a:extLst>
              </p:cNvPr>
              <p:cNvSpPr>
                <a:spLocks/>
              </p:cNvSpPr>
              <p:nvPr/>
            </p:nvSpPr>
            <p:spPr bwMode="auto">
              <a:xfrm>
                <a:off x="3098" y="2297"/>
                <a:ext cx="358" cy="296"/>
              </a:xfrm>
              <a:custGeom>
                <a:avLst/>
                <a:gdLst>
                  <a:gd name="T0" fmla="*/ 286 w 286"/>
                  <a:gd name="T1" fmla="*/ 159 h 326"/>
                  <a:gd name="T2" fmla="*/ 286 w 286"/>
                  <a:gd name="T3" fmla="*/ 0 h 326"/>
                  <a:gd name="T4" fmla="*/ 153 w 286"/>
                  <a:gd name="T5" fmla="*/ 68 h 326"/>
                  <a:gd name="T6" fmla="*/ 0 w 286"/>
                  <a:gd name="T7" fmla="*/ 146 h 326"/>
                  <a:gd name="T8" fmla="*/ 0 w 286"/>
                  <a:gd name="T9" fmla="*/ 326 h 326"/>
                  <a:gd name="T10" fmla="*/ 286 w 286"/>
                  <a:gd name="T11" fmla="*/ 159 h 326"/>
                </a:gdLst>
                <a:ahLst/>
                <a:cxnLst>
                  <a:cxn ang="0">
                    <a:pos x="T0" y="T1"/>
                  </a:cxn>
                  <a:cxn ang="0">
                    <a:pos x="T2" y="T3"/>
                  </a:cxn>
                  <a:cxn ang="0">
                    <a:pos x="T4" y="T5"/>
                  </a:cxn>
                  <a:cxn ang="0">
                    <a:pos x="T6" y="T7"/>
                  </a:cxn>
                  <a:cxn ang="0">
                    <a:pos x="T8" y="T9"/>
                  </a:cxn>
                  <a:cxn ang="0">
                    <a:pos x="T10" y="T11"/>
                  </a:cxn>
                </a:cxnLst>
                <a:rect l="0" t="0" r="r" b="b"/>
                <a:pathLst>
                  <a:path w="286" h="326">
                    <a:moveTo>
                      <a:pt x="286" y="159"/>
                    </a:moveTo>
                    <a:lnTo>
                      <a:pt x="286" y="0"/>
                    </a:lnTo>
                    <a:lnTo>
                      <a:pt x="153" y="68"/>
                    </a:lnTo>
                    <a:lnTo>
                      <a:pt x="0" y="146"/>
                    </a:lnTo>
                    <a:lnTo>
                      <a:pt x="0" y="326"/>
                    </a:lnTo>
                    <a:lnTo>
                      <a:pt x="286" y="159"/>
                    </a:lnTo>
                    <a:close/>
                  </a:path>
                </a:pathLst>
              </a:custGeom>
              <a:solidFill>
                <a:srgbClr val="FDAB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05" name="Freeform 3173">
                <a:extLst>
                  <a:ext uri="{FF2B5EF4-FFF2-40B4-BE49-F238E27FC236}">
                    <a16:creationId xmlns:a16="http://schemas.microsoft.com/office/drawing/2014/main" id="{BE84B35E-5896-B8D4-EB7D-23CCFB6D726E}"/>
                  </a:ext>
                </a:extLst>
              </p:cNvPr>
              <p:cNvSpPr>
                <a:spLocks/>
              </p:cNvSpPr>
              <p:nvPr/>
            </p:nvSpPr>
            <p:spPr bwMode="auto">
              <a:xfrm>
                <a:off x="2690" y="2430"/>
                <a:ext cx="408" cy="334"/>
              </a:xfrm>
              <a:custGeom>
                <a:avLst/>
                <a:gdLst>
                  <a:gd name="T0" fmla="*/ 325 w 325"/>
                  <a:gd name="T1" fmla="*/ 180 h 368"/>
                  <a:gd name="T2" fmla="*/ 325 w 325"/>
                  <a:gd name="T3" fmla="*/ 0 h 368"/>
                  <a:gd name="T4" fmla="*/ 171 w 325"/>
                  <a:gd name="T5" fmla="*/ 80 h 368"/>
                  <a:gd name="T6" fmla="*/ 0 w 325"/>
                  <a:gd name="T7" fmla="*/ 169 h 368"/>
                  <a:gd name="T8" fmla="*/ 0 w 325"/>
                  <a:gd name="T9" fmla="*/ 368 h 368"/>
                  <a:gd name="T10" fmla="*/ 325 w 325"/>
                  <a:gd name="T11" fmla="*/ 180 h 368"/>
                </a:gdLst>
                <a:ahLst/>
                <a:cxnLst>
                  <a:cxn ang="0">
                    <a:pos x="T0" y="T1"/>
                  </a:cxn>
                  <a:cxn ang="0">
                    <a:pos x="T2" y="T3"/>
                  </a:cxn>
                  <a:cxn ang="0">
                    <a:pos x="T4" y="T5"/>
                  </a:cxn>
                  <a:cxn ang="0">
                    <a:pos x="T6" y="T7"/>
                  </a:cxn>
                  <a:cxn ang="0">
                    <a:pos x="T8" y="T9"/>
                  </a:cxn>
                  <a:cxn ang="0">
                    <a:pos x="T10" y="T11"/>
                  </a:cxn>
                </a:cxnLst>
                <a:rect l="0" t="0" r="r" b="b"/>
                <a:pathLst>
                  <a:path w="325" h="368">
                    <a:moveTo>
                      <a:pt x="325" y="180"/>
                    </a:moveTo>
                    <a:lnTo>
                      <a:pt x="325" y="0"/>
                    </a:lnTo>
                    <a:lnTo>
                      <a:pt x="171" y="80"/>
                    </a:lnTo>
                    <a:lnTo>
                      <a:pt x="0" y="169"/>
                    </a:lnTo>
                    <a:lnTo>
                      <a:pt x="0" y="368"/>
                    </a:lnTo>
                    <a:lnTo>
                      <a:pt x="325" y="180"/>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06" name="Freeform 3174">
                <a:extLst>
                  <a:ext uri="{FF2B5EF4-FFF2-40B4-BE49-F238E27FC236}">
                    <a16:creationId xmlns:a16="http://schemas.microsoft.com/office/drawing/2014/main" id="{ED2019EB-4130-C593-BFC6-A00D7E21F312}"/>
                  </a:ext>
                </a:extLst>
              </p:cNvPr>
              <p:cNvSpPr>
                <a:spLocks/>
              </p:cNvSpPr>
              <p:nvPr/>
            </p:nvSpPr>
            <p:spPr bwMode="auto">
              <a:xfrm>
                <a:off x="2501" y="2319"/>
                <a:ext cx="404" cy="334"/>
              </a:xfrm>
              <a:custGeom>
                <a:avLst/>
                <a:gdLst>
                  <a:gd name="T0" fmla="*/ 321 w 321"/>
                  <a:gd name="T1" fmla="*/ 202 h 368"/>
                  <a:gd name="T2" fmla="*/ 321 w 321"/>
                  <a:gd name="T3" fmla="*/ 0 h 368"/>
                  <a:gd name="T4" fmla="*/ 138 w 321"/>
                  <a:gd name="T5" fmla="*/ 90 h 368"/>
                  <a:gd name="T6" fmla="*/ 0 w 321"/>
                  <a:gd name="T7" fmla="*/ 157 h 368"/>
                  <a:gd name="T8" fmla="*/ 0 w 321"/>
                  <a:gd name="T9" fmla="*/ 368 h 368"/>
                  <a:gd name="T10" fmla="*/ 150 w 321"/>
                  <a:gd name="T11" fmla="*/ 291 h 368"/>
                  <a:gd name="T12" fmla="*/ 321 w 321"/>
                  <a:gd name="T13" fmla="*/ 202 h 368"/>
                </a:gdLst>
                <a:ahLst/>
                <a:cxnLst>
                  <a:cxn ang="0">
                    <a:pos x="T0" y="T1"/>
                  </a:cxn>
                  <a:cxn ang="0">
                    <a:pos x="T2" y="T3"/>
                  </a:cxn>
                  <a:cxn ang="0">
                    <a:pos x="T4" y="T5"/>
                  </a:cxn>
                  <a:cxn ang="0">
                    <a:pos x="T6" y="T7"/>
                  </a:cxn>
                  <a:cxn ang="0">
                    <a:pos x="T8" y="T9"/>
                  </a:cxn>
                  <a:cxn ang="0">
                    <a:pos x="T10" y="T11"/>
                  </a:cxn>
                  <a:cxn ang="0">
                    <a:pos x="T12" y="T13"/>
                  </a:cxn>
                </a:cxnLst>
                <a:rect l="0" t="0" r="r" b="b"/>
                <a:pathLst>
                  <a:path w="321" h="368">
                    <a:moveTo>
                      <a:pt x="321" y="202"/>
                    </a:moveTo>
                    <a:lnTo>
                      <a:pt x="321" y="0"/>
                    </a:lnTo>
                    <a:lnTo>
                      <a:pt x="138" y="90"/>
                    </a:lnTo>
                    <a:lnTo>
                      <a:pt x="0" y="157"/>
                    </a:lnTo>
                    <a:lnTo>
                      <a:pt x="0" y="368"/>
                    </a:lnTo>
                    <a:lnTo>
                      <a:pt x="150" y="291"/>
                    </a:lnTo>
                    <a:lnTo>
                      <a:pt x="321" y="202"/>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07" name="Freeform 3175">
                <a:extLst>
                  <a:ext uri="{FF2B5EF4-FFF2-40B4-BE49-F238E27FC236}">
                    <a16:creationId xmlns:a16="http://schemas.microsoft.com/office/drawing/2014/main" id="{7B59F512-064E-4D5E-B2F3-6BEB573AB196}"/>
                  </a:ext>
                </a:extLst>
              </p:cNvPr>
              <p:cNvSpPr>
                <a:spLocks/>
              </p:cNvSpPr>
              <p:nvPr/>
            </p:nvSpPr>
            <p:spPr bwMode="auto">
              <a:xfrm>
                <a:off x="2120" y="1874"/>
                <a:ext cx="132" cy="231"/>
              </a:xfrm>
              <a:custGeom>
                <a:avLst/>
                <a:gdLst>
                  <a:gd name="T0" fmla="*/ 0 w 105"/>
                  <a:gd name="T1" fmla="*/ 0 h 255"/>
                  <a:gd name="T2" fmla="*/ 1 w 105"/>
                  <a:gd name="T3" fmla="*/ 215 h 255"/>
                  <a:gd name="T4" fmla="*/ 105 w 105"/>
                  <a:gd name="T5" fmla="*/ 255 h 255"/>
                  <a:gd name="T6" fmla="*/ 105 w 105"/>
                  <a:gd name="T7" fmla="*/ 36 h 255"/>
                  <a:gd name="T8" fmla="*/ 0 w 105"/>
                  <a:gd name="T9" fmla="*/ 0 h 255"/>
                </a:gdLst>
                <a:ahLst/>
                <a:cxnLst>
                  <a:cxn ang="0">
                    <a:pos x="T0" y="T1"/>
                  </a:cxn>
                  <a:cxn ang="0">
                    <a:pos x="T2" y="T3"/>
                  </a:cxn>
                  <a:cxn ang="0">
                    <a:pos x="T4" y="T5"/>
                  </a:cxn>
                  <a:cxn ang="0">
                    <a:pos x="T6" y="T7"/>
                  </a:cxn>
                  <a:cxn ang="0">
                    <a:pos x="T8" y="T9"/>
                  </a:cxn>
                </a:cxnLst>
                <a:rect l="0" t="0" r="r" b="b"/>
                <a:pathLst>
                  <a:path w="105" h="255">
                    <a:moveTo>
                      <a:pt x="0" y="0"/>
                    </a:moveTo>
                    <a:lnTo>
                      <a:pt x="1" y="215"/>
                    </a:lnTo>
                    <a:lnTo>
                      <a:pt x="105" y="255"/>
                    </a:lnTo>
                    <a:lnTo>
                      <a:pt x="105" y="36"/>
                    </a:lnTo>
                    <a:lnTo>
                      <a:pt x="0" y="0"/>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08" name="Freeform 3176">
                <a:extLst>
                  <a:ext uri="{FF2B5EF4-FFF2-40B4-BE49-F238E27FC236}">
                    <a16:creationId xmlns:a16="http://schemas.microsoft.com/office/drawing/2014/main" id="{19B68CED-6B5B-21B2-182C-2A220DF10F68}"/>
                  </a:ext>
                </a:extLst>
              </p:cNvPr>
              <p:cNvSpPr>
                <a:spLocks/>
              </p:cNvSpPr>
              <p:nvPr/>
            </p:nvSpPr>
            <p:spPr bwMode="auto">
              <a:xfrm>
                <a:off x="2252" y="1817"/>
                <a:ext cx="378" cy="288"/>
              </a:xfrm>
              <a:custGeom>
                <a:avLst/>
                <a:gdLst>
                  <a:gd name="T0" fmla="*/ 298 w 298"/>
                  <a:gd name="T1" fmla="*/ 201 h 318"/>
                  <a:gd name="T2" fmla="*/ 298 w 298"/>
                  <a:gd name="T3" fmla="*/ 0 h 318"/>
                  <a:gd name="T4" fmla="*/ 0 w 298"/>
                  <a:gd name="T5" fmla="*/ 99 h 318"/>
                  <a:gd name="T6" fmla="*/ 0 w 298"/>
                  <a:gd name="T7" fmla="*/ 318 h 318"/>
                  <a:gd name="T8" fmla="*/ 180 w 298"/>
                  <a:gd name="T9" fmla="*/ 247 h 318"/>
                  <a:gd name="T10" fmla="*/ 298 w 298"/>
                  <a:gd name="T11" fmla="*/ 201 h 318"/>
                </a:gdLst>
                <a:ahLst/>
                <a:cxnLst>
                  <a:cxn ang="0">
                    <a:pos x="T0" y="T1"/>
                  </a:cxn>
                  <a:cxn ang="0">
                    <a:pos x="T2" y="T3"/>
                  </a:cxn>
                  <a:cxn ang="0">
                    <a:pos x="T4" y="T5"/>
                  </a:cxn>
                  <a:cxn ang="0">
                    <a:pos x="T6" y="T7"/>
                  </a:cxn>
                  <a:cxn ang="0">
                    <a:pos x="T8" y="T9"/>
                  </a:cxn>
                  <a:cxn ang="0">
                    <a:pos x="T10" y="T11"/>
                  </a:cxn>
                </a:cxnLst>
                <a:rect l="0" t="0" r="r" b="b"/>
                <a:pathLst>
                  <a:path w="298" h="318">
                    <a:moveTo>
                      <a:pt x="298" y="201"/>
                    </a:moveTo>
                    <a:lnTo>
                      <a:pt x="298" y="0"/>
                    </a:lnTo>
                    <a:lnTo>
                      <a:pt x="0" y="99"/>
                    </a:lnTo>
                    <a:lnTo>
                      <a:pt x="0" y="318"/>
                    </a:lnTo>
                    <a:lnTo>
                      <a:pt x="180" y="247"/>
                    </a:lnTo>
                    <a:lnTo>
                      <a:pt x="298" y="201"/>
                    </a:lnTo>
                    <a:close/>
                  </a:path>
                </a:pathLst>
              </a:custGeom>
              <a:solidFill>
                <a:srgbClr val="DC7F0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09" name="Freeform 3177">
                <a:extLst>
                  <a:ext uri="{FF2B5EF4-FFF2-40B4-BE49-F238E27FC236}">
                    <a16:creationId xmlns:a16="http://schemas.microsoft.com/office/drawing/2014/main" id="{30312C51-88A4-BD9C-B9C4-E907A32B2184}"/>
                  </a:ext>
                </a:extLst>
              </p:cNvPr>
              <p:cNvSpPr>
                <a:spLocks/>
              </p:cNvSpPr>
              <p:nvPr/>
            </p:nvSpPr>
            <p:spPr bwMode="auto">
              <a:xfrm>
                <a:off x="2252" y="2040"/>
                <a:ext cx="227" cy="276"/>
              </a:xfrm>
              <a:custGeom>
                <a:avLst/>
                <a:gdLst>
                  <a:gd name="T0" fmla="*/ 180 w 180"/>
                  <a:gd name="T1" fmla="*/ 0 h 307"/>
                  <a:gd name="T2" fmla="*/ 0 w 180"/>
                  <a:gd name="T3" fmla="*/ 71 h 307"/>
                  <a:gd name="T4" fmla="*/ 0 w 180"/>
                  <a:gd name="T5" fmla="*/ 306 h 307"/>
                  <a:gd name="T6" fmla="*/ 1 w 180"/>
                  <a:gd name="T7" fmla="*/ 307 h 307"/>
                  <a:gd name="T8" fmla="*/ 180 w 180"/>
                  <a:gd name="T9" fmla="*/ 229 h 307"/>
                  <a:gd name="T10" fmla="*/ 180 w 180"/>
                  <a:gd name="T11" fmla="*/ 0 h 307"/>
                </a:gdLst>
                <a:ahLst/>
                <a:cxnLst>
                  <a:cxn ang="0">
                    <a:pos x="T0" y="T1"/>
                  </a:cxn>
                  <a:cxn ang="0">
                    <a:pos x="T2" y="T3"/>
                  </a:cxn>
                  <a:cxn ang="0">
                    <a:pos x="T4" y="T5"/>
                  </a:cxn>
                  <a:cxn ang="0">
                    <a:pos x="T6" y="T7"/>
                  </a:cxn>
                  <a:cxn ang="0">
                    <a:pos x="T8" y="T9"/>
                  </a:cxn>
                  <a:cxn ang="0">
                    <a:pos x="T10" y="T11"/>
                  </a:cxn>
                </a:cxnLst>
                <a:rect l="0" t="0" r="r" b="b"/>
                <a:pathLst>
                  <a:path w="180" h="307">
                    <a:moveTo>
                      <a:pt x="180" y="0"/>
                    </a:moveTo>
                    <a:lnTo>
                      <a:pt x="0" y="71"/>
                    </a:lnTo>
                    <a:lnTo>
                      <a:pt x="0" y="306"/>
                    </a:lnTo>
                    <a:lnTo>
                      <a:pt x="1" y="307"/>
                    </a:lnTo>
                    <a:lnTo>
                      <a:pt x="180" y="229"/>
                    </a:lnTo>
                    <a:lnTo>
                      <a:pt x="180" y="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10" name="Freeform 3178">
                <a:extLst>
                  <a:ext uri="{FF2B5EF4-FFF2-40B4-BE49-F238E27FC236}">
                    <a16:creationId xmlns:a16="http://schemas.microsoft.com/office/drawing/2014/main" id="{36710443-6D30-EF13-B885-E1F4882EEAA0}"/>
                  </a:ext>
                </a:extLst>
              </p:cNvPr>
              <p:cNvSpPr>
                <a:spLocks/>
              </p:cNvSpPr>
              <p:nvPr/>
            </p:nvSpPr>
            <p:spPr bwMode="auto">
              <a:xfrm>
                <a:off x="2252" y="2186"/>
                <a:ext cx="423" cy="361"/>
              </a:xfrm>
              <a:custGeom>
                <a:avLst/>
                <a:gdLst>
                  <a:gd name="T0" fmla="*/ 334 w 334"/>
                  <a:gd name="T1" fmla="*/ 0 h 400"/>
                  <a:gd name="T2" fmla="*/ 180 w 334"/>
                  <a:gd name="T3" fmla="*/ 67 h 400"/>
                  <a:gd name="T4" fmla="*/ 1 w 334"/>
                  <a:gd name="T5" fmla="*/ 145 h 400"/>
                  <a:gd name="T6" fmla="*/ 0 w 334"/>
                  <a:gd name="T7" fmla="*/ 145 h 400"/>
                  <a:gd name="T8" fmla="*/ 0 w 334"/>
                  <a:gd name="T9" fmla="*/ 400 h 400"/>
                  <a:gd name="T10" fmla="*/ 196 w 334"/>
                  <a:gd name="T11" fmla="*/ 305 h 400"/>
                  <a:gd name="T12" fmla="*/ 334 w 334"/>
                  <a:gd name="T13" fmla="*/ 238 h 400"/>
                  <a:gd name="T14" fmla="*/ 334 w 334"/>
                  <a:gd name="T15" fmla="*/ 0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4" h="400">
                    <a:moveTo>
                      <a:pt x="334" y="0"/>
                    </a:moveTo>
                    <a:lnTo>
                      <a:pt x="180" y="67"/>
                    </a:lnTo>
                    <a:lnTo>
                      <a:pt x="1" y="145"/>
                    </a:lnTo>
                    <a:lnTo>
                      <a:pt x="0" y="145"/>
                    </a:lnTo>
                    <a:lnTo>
                      <a:pt x="0" y="400"/>
                    </a:lnTo>
                    <a:lnTo>
                      <a:pt x="196" y="305"/>
                    </a:lnTo>
                    <a:lnTo>
                      <a:pt x="334" y="238"/>
                    </a:lnTo>
                    <a:lnTo>
                      <a:pt x="334" y="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11" name="Freeform 3179">
                <a:extLst>
                  <a:ext uri="{FF2B5EF4-FFF2-40B4-BE49-F238E27FC236}">
                    <a16:creationId xmlns:a16="http://schemas.microsoft.com/office/drawing/2014/main" id="{B2235BC2-6400-CB87-E21F-92066CBBEA62}"/>
                  </a:ext>
                </a:extLst>
              </p:cNvPr>
              <p:cNvSpPr>
                <a:spLocks/>
              </p:cNvSpPr>
              <p:nvPr/>
            </p:nvSpPr>
            <p:spPr bwMode="auto">
              <a:xfrm>
                <a:off x="2124" y="2067"/>
                <a:ext cx="128" cy="249"/>
              </a:xfrm>
              <a:custGeom>
                <a:avLst/>
                <a:gdLst>
                  <a:gd name="T0" fmla="*/ 104 w 104"/>
                  <a:gd name="T1" fmla="*/ 40 h 275"/>
                  <a:gd name="T2" fmla="*/ 0 w 104"/>
                  <a:gd name="T3" fmla="*/ 0 h 275"/>
                  <a:gd name="T4" fmla="*/ 0 w 104"/>
                  <a:gd name="T5" fmla="*/ 235 h 275"/>
                  <a:gd name="T6" fmla="*/ 104 w 104"/>
                  <a:gd name="T7" fmla="*/ 275 h 275"/>
                  <a:gd name="T8" fmla="*/ 104 w 104"/>
                  <a:gd name="T9" fmla="*/ 40 h 275"/>
                </a:gdLst>
                <a:ahLst/>
                <a:cxnLst>
                  <a:cxn ang="0">
                    <a:pos x="T0" y="T1"/>
                  </a:cxn>
                  <a:cxn ang="0">
                    <a:pos x="T2" y="T3"/>
                  </a:cxn>
                  <a:cxn ang="0">
                    <a:pos x="T4" y="T5"/>
                  </a:cxn>
                  <a:cxn ang="0">
                    <a:pos x="T6" y="T7"/>
                  </a:cxn>
                  <a:cxn ang="0">
                    <a:pos x="T8" y="T9"/>
                  </a:cxn>
                </a:cxnLst>
                <a:rect l="0" t="0" r="r" b="b"/>
                <a:pathLst>
                  <a:path w="104" h="275">
                    <a:moveTo>
                      <a:pt x="104" y="40"/>
                    </a:moveTo>
                    <a:lnTo>
                      <a:pt x="0" y="0"/>
                    </a:lnTo>
                    <a:lnTo>
                      <a:pt x="0" y="235"/>
                    </a:lnTo>
                    <a:lnTo>
                      <a:pt x="104" y="275"/>
                    </a:lnTo>
                    <a:lnTo>
                      <a:pt x="104" y="4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12" name="Freeform 3180">
                <a:extLst>
                  <a:ext uri="{FF2B5EF4-FFF2-40B4-BE49-F238E27FC236}">
                    <a16:creationId xmlns:a16="http://schemas.microsoft.com/office/drawing/2014/main" id="{29D932C6-7208-609F-A4D7-DA03E7367570}"/>
                  </a:ext>
                </a:extLst>
              </p:cNvPr>
              <p:cNvSpPr>
                <a:spLocks/>
              </p:cNvSpPr>
              <p:nvPr/>
            </p:nvSpPr>
            <p:spPr bwMode="auto">
              <a:xfrm>
                <a:off x="2124" y="2281"/>
                <a:ext cx="128" cy="266"/>
              </a:xfrm>
              <a:custGeom>
                <a:avLst/>
                <a:gdLst>
                  <a:gd name="T0" fmla="*/ 104 w 104"/>
                  <a:gd name="T1" fmla="*/ 41 h 296"/>
                  <a:gd name="T2" fmla="*/ 104 w 104"/>
                  <a:gd name="T3" fmla="*/ 40 h 296"/>
                  <a:gd name="T4" fmla="*/ 0 w 104"/>
                  <a:gd name="T5" fmla="*/ 0 h 296"/>
                  <a:gd name="T6" fmla="*/ 0 w 104"/>
                  <a:gd name="T7" fmla="*/ 252 h 296"/>
                  <a:gd name="T8" fmla="*/ 104 w 104"/>
                  <a:gd name="T9" fmla="*/ 296 h 296"/>
                  <a:gd name="T10" fmla="*/ 104 w 104"/>
                  <a:gd name="T11" fmla="*/ 41 h 296"/>
                </a:gdLst>
                <a:ahLst/>
                <a:cxnLst>
                  <a:cxn ang="0">
                    <a:pos x="T0" y="T1"/>
                  </a:cxn>
                  <a:cxn ang="0">
                    <a:pos x="T2" y="T3"/>
                  </a:cxn>
                  <a:cxn ang="0">
                    <a:pos x="T4" y="T5"/>
                  </a:cxn>
                  <a:cxn ang="0">
                    <a:pos x="T6" y="T7"/>
                  </a:cxn>
                  <a:cxn ang="0">
                    <a:pos x="T8" y="T9"/>
                  </a:cxn>
                  <a:cxn ang="0">
                    <a:pos x="T10" y="T11"/>
                  </a:cxn>
                </a:cxnLst>
                <a:rect l="0" t="0" r="r" b="b"/>
                <a:pathLst>
                  <a:path w="104" h="296">
                    <a:moveTo>
                      <a:pt x="104" y="41"/>
                    </a:moveTo>
                    <a:lnTo>
                      <a:pt x="104" y="40"/>
                    </a:lnTo>
                    <a:lnTo>
                      <a:pt x="0" y="0"/>
                    </a:lnTo>
                    <a:lnTo>
                      <a:pt x="0" y="252"/>
                    </a:lnTo>
                    <a:lnTo>
                      <a:pt x="104" y="296"/>
                    </a:lnTo>
                    <a:lnTo>
                      <a:pt x="104" y="41"/>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13" name="Freeform 3181">
                <a:extLst>
                  <a:ext uri="{FF2B5EF4-FFF2-40B4-BE49-F238E27FC236}">
                    <a16:creationId xmlns:a16="http://schemas.microsoft.com/office/drawing/2014/main" id="{DCEAED99-BAD4-844C-5D18-FC51CAED4BF4}"/>
                  </a:ext>
                </a:extLst>
              </p:cNvPr>
              <p:cNvSpPr>
                <a:spLocks/>
              </p:cNvSpPr>
              <p:nvPr/>
            </p:nvSpPr>
            <p:spPr bwMode="auto">
              <a:xfrm>
                <a:off x="2252" y="2463"/>
                <a:ext cx="249" cy="282"/>
              </a:xfrm>
              <a:custGeom>
                <a:avLst/>
                <a:gdLst>
                  <a:gd name="T0" fmla="*/ 1 w 196"/>
                  <a:gd name="T1" fmla="*/ 312 h 312"/>
                  <a:gd name="T2" fmla="*/ 196 w 196"/>
                  <a:gd name="T3" fmla="*/ 211 h 312"/>
                  <a:gd name="T4" fmla="*/ 196 w 196"/>
                  <a:gd name="T5" fmla="*/ 0 h 312"/>
                  <a:gd name="T6" fmla="*/ 0 w 196"/>
                  <a:gd name="T7" fmla="*/ 95 h 312"/>
                  <a:gd name="T8" fmla="*/ 0 w 196"/>
                  <a:gd name="T9" fmla="*/ 309 h 312"/>
                  <a:gd name="T10" fmla="*/ 1 w 196"/>
                  <a:gd name="T11" fmla="*/ 312 h 312"/>
                </a:gdLst>
                <a:ahLst/>
                <a:cxnLst>
                  <a:cxn ang="0">
                    <a:pos x="T0" y="T1"/>
                  </a:cxn>
                  <a:cxn ang="0">
                    <a:pos x="T2" y="T3"/>
                  </a:cxn>
                  <a:cxn ang="0">
                    <a:pos x="T4" y="T5"/>
                  </a:cxn>
                  <a:cxn ang="0">
                    <a:pos x="T6" y="T7"/>
                  </a:cxn>
                  <a:cxn ang="0">
                    <a:pos x="T8" y="T9"/>
                  </a:cxn>
                  <a:cxn ang="0">
                    <a:pos x="T10" y="T11"/>
                  </a:cxn>
                </a:cxnLst>
                <a:rect l="0" t="0" r="r" b="b"/>
                <a:pathLst>
                  <a:path w="196" h="312">
                    <a:moveTo>
                      <a:pt x="1" y="312"/>
                    </a:moveTo>
                    <a:lnTo>
                      <a:pt x="196" y="211"/>
                    </a:lnTo>
                    <a:lnTo>
                      <a:pt x="196" y="0"/>
                    </a:lnTo>
                    <a:lnTo>
                      <a:pt x="0" y="95"/>
                    </a:lnTo>
                    <a:lnTo>
                      <a:pt x="0" y="309"/>
                    </a:lnTo>
                    <a:lnTo>
                      <a:pt x="1" y="312"/>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14" name="Freeform 3182">
                <a:extLst>
                  <a:ext uri="{FF2B5EF4-FFF2-40B4-BE49-F238E27FC236}">
                    <a16:creationId xmlns:a16="http://schemas.microsoft.com/office/drawing/2014/main" id="{749ACFDB-7C12-4D61-4E30-A1DA1DC8E01D}"/>
                  </a:ext>
                </a:extLst>
              </p:cNvPr>
              <p:cNvSpPr>
                <a:spLocks/>
              </p:cNvSpPr>
              <p:nvPr/>
            </p:nvSpPr>
            <p:spPr bwMode="auto">
              <a:xfrm>
                <a:off x="2124" y="2509"/>
                <a:ext cx="128" cy="233"/>
              </a:xfrm>
              <a:custGeom>
                <a:avLst/>
                <a:gdLst>
                  <a:gd name="T0" fmla="*/ 104 w 104"/>
                  <a:gd name="T1" fmla="*/ 258 h 258"/>
                  <a:gd name="T2" fmla="*/ 104 w 104"/>
                  <a:gd name="T3" fmla="*/ 44 h 258"/>
                  <a:gd name="T4" fmla="*/ 0 w 104"/>
                  <a:gd name="T5" fmla="*/ 0 h 258"/>
                  <a:gd name="T6" fmla="*/ 1 w 104"/>
                  <a:gd name="T7" fmla="*/ 209 h 258"/>
                  <a:gd name="T8" fmla="*/ 104 w 104"/>
                  <a:gd name="T9" fmla="*/ 258 h 258"/>
                </a:gdLst>
                <a:ahLst/>
                <a:cxnLst>
                  <a:cxn ang="0">
                    <a:pos x="T0" y="T1"/>
                  </a:cxn>
                  <a:cxn ang="0">
                    <a:pos x="T2" y="T3"/>
                  </a:cxn>
                  <a:cxn ang="0">
                    <a:pos x="T4" y="T5"/>
                  </a:cxn>
                  <a:cxn ang="0">
                    <a:pos x="T6" y="T7"/>
                  </a:cxn>
                  <a:cxn ang="0">
                    <a:pos x="T8" y="T9"/>
                  </a:cxn>
                </a:cxnLst>
                <a:rect l="0" t="0" r="r" b="b"/>
                <a:pathLst>
                  <a:path w="104" h="258">
                    <a:moveTo>
                      <a:pt x="104" y="258"/>
                    </a:moveTo>
                    <a:lnTo>
                      <a:pt x="104" y="44"/>
                    </a:lnTo>
                    <a:lnTo>
                      <a:pt x="0" y="0"/>
                    </a:lnTo>
                    <a:lnTo>
                      <a:pt x="1" y="209"/>
                    </a:lnTo>
                    <a:lnTo>
                      <a:pt x="104" y="258"/>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15" name="Line 3183">
                <a:extLst>
                  <a:ext uri="{FF2B5EF4-FFF2-40B4-BE49-F238E27FC236}">
                    <a16:creationId xmlns:a16="http://schemas.microsoft.com/office/drawing/2014/main" id="{34B18B57-DD7B-E300-B47F-A58C9B028B7A}"/>
                  </a:ext>
                </a:extLst>
              </p:cNvPr>
              <p:cNvSpPr>
                <a:spLocks noChangeShapeType="1"/>
              </p:cNvSpPr>
              <p:nvPr/>
            </p:nvSpPr>
            <p:spPr bwMode="auto">
              <a:xfrm flipH="1" flipV="1">
                <a:off x="2124" y="2696"/>
                <a:ext cx="128" cy="46"/>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16" name="Line 3184">
                <a:extLst>
                  <a:ext uri="{FF2B5EF4-FFF2-40B4-BE49-F238E27FC236}">
                    <a16:creationId xmlns:a16="http://schemas.microsoft.com/office/drawing/2014/main" id="{A9847167-BD70-E3E4-387D-73775942ED66}"/>
                  </a:ext>
                </a:extLst>
              </p:cNvPr>
              <p:cNvSpPr>
                <a:spLocks noChangeShapeType="1"/>
              </p:cNvSpPr>
              <p:nvPr/>
            </p:nvSpPr>
            <p:spPr bwMode="auto">
              <a:xfrm flipH="1" flipV="1">
                <a:off x="2124" y="2067"/>
                <a:ext cx="128" cy="38"/>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17" name="Line 3185">
                <a:extLst>
                  <a:ext uri="{FF2B5EF4-FFF2-40B4-BE49-F238E27FC236}">
                    <a16:creationId xmlns:a16="http://schemas.microsoft.com/office/drawing/2014/main" id="{64A861EA-37BC-F571-11A7-468B7A11CDC7}"/>
                  </a:ext>
                </a:extLst>
              </p:cNvPr>
              <p:cNvSpPr>
                <a:spLocks noChangeShapeType="1"/>
              </p:cNvSpPr>
              <p:nvPr/>
            </p:nvSpPr>
            <p:spPr bwMode="auto">
              <a:xfrm flipH="1" flipV="1">
                <a:off x="2124" y="2509"/>
                <a:ext cx="128" cy="38"/>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18" name="Line 3186">
                <a:extLst>
                  <a:ext uri="{FF2B5EF4-FFF2-40B4-BE49-F238E27FC236}">
                    <a16:creationId xmlns:a16="http://schemas.microsoft.com/office/drawing/2014/main" id="{6B95511F-BE9D-3086-FD0D-02C2A0798431}"/>
                  </a:ext>
                </a:extLst>
              </p:cNvPr>
              <p:cNvSpPr>
                <a:spLocks noChangeShapeType="1"/>
              </p:cNvSpPr>
              <p:nvPr/>
            </p:nvSpPr>
            <p:spPr bwMode="auto">
              <a:xfrm>
                <a:off x="2124" y="2281"/>
                <a:ext cx="128" cy="35"/>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19" name="Line 3187">
                <a:extLst>
                  <a:ext uri="{FF2B5EF4-FFF2-40B4-BE49-F238E27FC236}">
                    <a16:creationId xmlns:a16="http://schemas.microsoft.com/office/drawing/2014/main" id="{28B30D85-7B47-5ADA-7A48-F7EA822CA791}"/>
                  </a:ext>
                </a:extLst>
              </p:cNvPr>
              <p:cNvSpPr>
                <a:spLocks noChangeShapeType="1"/>
              </p:cNvSpPr>
              <p:nvPr/>
            </p:nvSpPr>
            <p:spPr bwMode="auto">
              <a:xfrm flipV="1">
                <a:off x="3094" y="2056"/>
                <a:ext cx="0" cy="198"/>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20" name="Line 3188">
                <a:extLst>
                  <a:ext uri="{FF2B5EF4-FFF2-40B4-BE49-F238E27FC236}">
                    <a16:creationId xmlns:a16="http://schemas.microsoft.com/office/drawing/2014/main" id="{820AE8E4-11C7-8034-47EF-7E0B1EEB3585}"/>
                  </a:ext>
                </a:extLst>
              </p:cNvPr>
              <p:cNvSpPr>
                <a:spLocks noChangeShapeType="1"/>
              </p:cNvSpPr>
              <p:nvPr/>
            </p:nvSpPr>
            <p:spPr bwMode="auto">
              <a:xfrm flipV="1">
                <a:off x="3079" y="1817"/>
                <a:ext cx="200" cy="5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21" name="Freeform 3189">
                <a:extLst>
                  <a:ext uri="{FF2B5EF4-FFF2-40B4-BE49-F238E27FC236}">
                    <a16:creationId xmlns:a16="http://schemas.microsoft.com/office/drawing/2014/main" id="{01A42589-D2BF-BCEA-7035-0D2404B7E661}"/>
                  </a:ext>
                </a:extLst>
              </p:cNvPr>
              <p:cNvSpPr>
                <a:spLocks/>
              </p:cNvSpPr>
              <p:nvPr/>
            </p:nvSpPr>
            <p:spPr bwMode="auto">
              <a:xfrm>
                <a:off x="2630" y="1926"/>
                <a:ext cx="256" cy="195"/>
              </a:xfrm>
              <a:custGeom>
                <a:avLst/>
                <a:gdLst>
                  <a:gd name="T0" fmla="*/ 204 w 204"/>
                  <a:gd name="T1" fmla="*/ 214 h 214"/>
                  <a:gd name="T2" fmla="*/ 204 w 204"/>
                  <a:gd name="T3" fmla="*/ 0 h 214"/>
                  <a:gd name="T4" fmla="*/ 0 w 204"/>
                  <a:gd name="T5" fmla="*/ 79 h 214"/>
                </a:gdLst>
                <a:ahLst/>
                <a:cxnLst>
                  <a:cxn ang="0">
                    <a:pos x="T0" y="T1"/>
                  </a:cxn>
                  <a:cxn ang="0">
                    <a:pos x="T2" y="T3"/>
                  </a:cxn>
                  <a:cxn ang="0">
                    <a:pos x="T4" y="T5"/>
                  </a:cxn>
                </a:cxnLst>
                <a:rect l="0" t="0" r="r" b="b"/>
                <a:pathLst>
                  <a:path w="204" h="214">
                    <a:moveTo>
                      <a:pt x="204" y="214"/>
                    </a:moveTo>
                    <a:lnTo>
                      <a:pt x="204" y="0"/>
                    </a:lnTo>
                    <a:lnTo>
                      <a:pt x="0" y="79"/>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22" name="Line 3190">
                <a:extLst>
                  <a:ext uri="{FF2B5EF4-FFF2-40B4-BE49-F238E27FC236}">
                    <a16:creationId xmlns:a16="http://schemas.microsoft.com/office/drawing/2014/main" id="{A7591A09-329E-C1AB-91F1-BFC4E9B5E883}"/>
                  </a:ext>
                </a:extLst>
              </p:cNvPr>
              <p:cNvSpPr>
                <a:spLocks noChangeShapeType="1"/>
              </p:cNvSpPr>
              <p:nvPr/>
            </p:nvSpPr>
            <p:spPr bwMode="auto">
              <a:xfrm flipH="1">
                <a:off x="3094" y="1996"/>
                <a:ext cx="185" cy="6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23" name="Line 3191">
                <a:extLst>
                  <a:ext uri="{FF2B5EF4-FFF2-40B4-BE49-F238E27FC236}">
                    <a16:creationId xmlns:a16="http://schemas.microsoft.com/office/drawing/2014/main" id="{B96D2872-C474-0965-57AF-33505769FBD7}"/>
                  </a:ext>
                </a:extLst>
              </p:cNvPr>
              <p:cNvSpPr>
                <a:spLocks noChangeShapeType="1"/>
              </p:cNvSpPr>
              <p:nvPr/>
            </p:nvSpPr>
            <p:spPr bwMode="auto">
              <a:xfrm flipH="1">
                <a:off x="3094" y="2186"/>
                <a:ext cx="196" cy="68"/>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24" name="Line 3192">
                <a:extLst>
                  <a:ext uri="{FF2B5EF4-FFF2-40B4-BE49-F238E27FC236}">
                    <a16:creationId xmlns:a16="http://schemas.microsoft.com/office/drawing/2014/main" id="{1549DFB8-0AAF-AF1B-78F9-96FAED15E2F4}"/>
                  </a:ext>
                </a:extLst>
              </p:cNvPr>
              <p:cNvSpPr>
                <a:spLocks noChangeShapeType="1"/>
              </p:cNvSpPr>
              <p:nvPr/>
            </p:nvSpPr>
            <p:spPr bwMode="auto">
              <a:xfrm flipH="1">
                <a:off x="3456" y="2105"/>
                <a:ext cx="61" cy="2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25" name="Line 3193">
                <a:extLst>
                  <a:ext uri="{FF2B5EF4-FFF2-40B4-BE49-F238E27FC236}">
                    <a16:creationId xmlns:a16="http://schemas.microsoft.com/office/drawing/2014/main" id="{4AB6EC60-65D8-6353-857C-EFD9346CD2F9}"/>
                  </a:ext>
                </a:extLst>
              </p:cNvPr>
              <p:cNvSpPr>
                <a:spLocks noChangeShapeType="1"/>
              </p:cNvSpPr>
              <p:nvPr/>
            </p:nvSpPr>
            <p:spPr bwMode="auto">
              <a:xfrm>
                <a:off x="2675" y="2186"/>
                <a:ext cx="0" cy="21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26" name="Line 3194">
                <a:extLst>
                  <a:ext uri="{FF2B5EF4-FFF2-40B4-BE49-F238E27FC236}">
                    <a16:creationId xmlns:a16="http://schemas.microsoft.com/office/drawing/2014/main" id="{14659DAA-7816-D789-7A59-5B6D43A74DB7}"/>
                  </a:ext>
                </a:extLst>
              </p:cNvPr>
              <p:cNvSpPr>
                <a:spLocks noChangeShapeType="1"/>
              </p:cNvSpPr>
              <p:nvPr/>
            </p:nvSpPr>
            <p:spPr bwMode="auto">
              <a:xfrm flipV="1">
                <a:off x="3460" y="1923"/>
                <a:ext cx="57" cy="16"/>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27" name="Freeform 3195">
                <a:extLst>
                  <a:ext uri="{FF2B5EF4-FFF2-40B4-BE49-F238E27FC236}">
                    <a16:creationId xmlns:a16="http://schemas.microsoft.com/office/drawing/2014/main" id="{02573404-A51F-B838-9179-6DE768DE05F5}"/>
                  </a:ext>
                </a:extLst>
              </p:cNvPr>
              <p:cNvSpPr>
                <a:spLocks/>
              </p:cNvSpPr>
              <p:nvPr/>
            </p:nvSpPr>
            <p:spPr bwMode="auto">
              <a:xfrm>
                <a:off x="3279" y="1942"/>
                <a:ext cx="177" cy="184"/>
              </a:xfrm>
              <a:custGeom>
                <a:avLst/>
                <a:gdLst>
                  <a:gd name="T0" fmla="*/ 0 w 141"/>
                  <a:gd name="T1" fmla="*/ 61 h 205"/>
                  <a:gd name="T2" fmla="*/ 141 w 141"/>
                  <a:gd name="T3" fmla="*/ 0 h 205"/>
                  <a:gd name="T4" fmla="*/ 141 w 141"/>
                  <a:gd name="T5" fmla="*/ 205 h 205"/>
                </a:gdLst>
                <a:ahLst/>
                <a:cxnLst>
                  <a:cxn ang="0">
                    <a:pos x="T0" y="T1"/>
                  </a:cxn>
                  <a:cxn ang="0">
                    <a:pos x="T2" y="T3"/>
                  </a:cxn>
                  <a:cxn ang="0">
                    <a:pos x="T4" y="T5"/>
                  </a:cxn>
                </a:cxnLst>
                <a:rect l="0" t="0" r="r" b="b"/>
                <a:pathLst>
                  <a:path w="141" h="205">
                    <a:moveTo>
                      <a:pt x="0" y="61"/>
                    </a:moveTo>
                    <a:lnTo>
                      <a:pt x="141" y="0"/>
                    </a:lnTo>
                    <a:lnTo>
                      <a:pt x="141" y="205"/>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28" name="Line 3196">
                <a:extLst>
                  <a:ext uri="{FF2B5EF4-FFF2-40B4-BE49-F238E27FC236}">
                    <a16:creationId xmlns:a16="http://schemas.microsoft.com/office/drawing/2014/main" id="{46163C3B-DDA7-8125-073A-D155F82853B3}"/>
                  </a:ext>
                </a:extLst>
              </p:cNvPr>
              <p:cNvSpPr>
                <a:spLocks noChangeShapeType="1"/>
              </p:cNvSpPr>
              <p:nvPr/>
            </p:nvSpPr>
            <p:spPr bwMode="auto">
              <a:xfrm>
                <a:off x="3079" y="1709"/>
                <a:ext cx="0" cy="16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29" name="Line 3197">
                <a:extLst>
                  <a:ext uri="{FF2B5EF4-FFF2-40B4-BE49-F238E27FC236}">
                    <a16:creationId xmlns:a16="http://schemas.microsoft.com/office/drawing/2014/main" id="{28A4D94E-4FE8-74FA-580B-D49A6367F909}"/>
                  </a:ext>
                </a:extLst>
              </p:cNvPr>
              <p:cNvSpPr>
                <a:spLocks noChangeShapeType="1"/>
              </p:cNvSpPr>
              <p:nvPr/>
            </p:nvSpPr>
            <p:spPr bwMode="auto">
              <a:xfrm flipH="1">
                <a:off x="3279" y="1771"/>
                <a:ext cx="158" cy="46"/>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30" name="Line 3198">
                <a:extLst>
                  <a:ext uri="{FF2B5EF4-FFF2-40B4-BE49-F238E27FC236}">
                    <a16:creationId xmlns:a16="http://schemas.microsoft.com/office/drawing/2014/main" id="{005B2DF9-85E7-6267-07E7-1AD68B64F508}"/>
                  </a:ext>
                </a:extLst>
              </p:cNvPr>
              <p:cNvSpPr>
                <a:spLocks noChangeShapeType="1"/>
              </p:cNvSpPr>
              <p:nvPr/>
            </p:nvSpPr>
            <p:spPr bwMode="auto">
              <a:xfrm flipH="1">
                <a:off x="3290" y="2126"/>
                <a:ext cx="166" cy="6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31" name="Line 3199">
                <a:extLst>
                  <a:ext uri="{FF2B5EF4-FFF2-40B4-BE49-F238E27FC236}">
                    <a16:creationId xmlns:a16="http://schemas.microsoft.com/office/drawing/2014/main" id="{BA5F5CB9-1D37-C124-967B-8EAD961B4932}"/>
                  </a:ext>
                </a:extLst>
              </p:cNvPr>
              <p:cNvSpPr>
                <a:spLocks noChangeShapeType="1"/>
              </p:cNvSpPr>
              <p:nvPr/>
            </p:nvSpPr>
            <p:spPr bwMode="auto">
              <a:xfrm flipH="1">
                <a:off x="3437" y="1749"/>
                <a:ext cx="80" cy="2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32" name="Line 3200">
                <a:extLst>
                  <a:ext uri="{FF2B5EF4-FFF2-40B4-BE49-F238E27FC236}">
                    <a16:creationId xmlns:a16="http://schemas.microsoft.com/office/drawing/2014/main" id="{18B06A0B-05D2-5C86-EC2C-05E4660DD07B}"/>
                  </a:ext>
                </a:extLst>
              </p:cNvPr>
              <p:cNvSpPr>
                <a:spLocks noChangeShapeType="1"/>
              </p:cNvSpPr>
              <p:nvPr/>
            </p:nvSpPr>
            <p:spPr bwMode="auto">
              <a:xfrm flipV="1">
                <a:off x="3437" y="1622"/>
                <a:ext cx="0" cy="149"/>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33" name="Line 3201">
                <a:extLst>
                  <a:ext uri="{FF2B5EF4-FFF2-40B4-BE49-F238E27FC236}">
                    <a16:creationId xmlns:a16="http://schemas.microsoft.com/office/drawing/2014/main" id="{374DC06D-6042-7F9B-60B9-42A2E1715E47}"/>
                  </a:ext>
                </a:extLst>
              </p:cNvPr>
              <p:cNvSpPr>
                <a:spLocks noChangeShapeType="1"/>
              </p:cNvSpPr>
              <p:nvPr/>
            </p:nvSpPr>
            <p:spPr bwMode="auto">
              <a:xfrm flipV="1">
                <a:off x="3456" y="2297"/>
                <a:ext cx="0" cy="14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34" name="Line 3202">
                <a:extLst>
                  <a:ext uri="{FF2B5EF4-FFF2-40B4-BE49-F238E27FC236}">
                    <a16:creationId xmlns:a16="http://schemas.microsoft.com/office/drawing/2014/main" id="{99AC3075-32B5-6DA1-3AA5-5EB276A2D475}"/>
                  </a:ext>
                </a:extLst>
              </p:cNvPr>
              <p:cNvSpPr>
                <a:spLocks noChangeShapeType="1"/>
              </p:cNvSpPr>
              <p:nvPr/>
            </p:nvSpPr>
            <p:spPr bwMode="auto">
              <a:xfrm flipV="1">
                <a:off x="3456" y="2276"/>
                <a:ext cx="61" cy="2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35" name="Line 3203">
                <a:extLst>
                  <a:ext uri="{FF2B5EF4-FFF2-40B4-BE49-F238E27FC236}">
                    <a16:creationId xmlns:a16="http://schemas.microsoft.com/office/drawing/2014/main" id="{2C92A1A8-BB8F-34A7-556C-2BE534F62082}"/>
                  </a:ext>
                </a:extLst>
              </p:cNvPr>
              <p:cNvSpPr>
                <a:spLocks noChangeShapeType="1"/>
              </p:cNvSpPr>
              <p:nvPr/>
            </p:nvSpPr>
            <p:spPr bwMode="auto">
              <a:xfrm>
                <a:off x="3098" y="2430"/>
                <a:ext cx="0" cy="16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36" name="Line 3204">
                <a:extLst>
                  <a:ext uri="{FF2B5EF4-FFF2-40B4-BE49-F238E27FC236}">
                    <a16:creationId xmlns:a16="http://schemas.microsoft.com/office/drawing/2014/main" id="{68F67C6E-E6F7-2C3B-F310-A224FB586006}"/>
                  </a:ext>
                </a:extLst>
              </p:cNvPr>
              <p:cNvSpPr>
                <a:spLocks noChangeShapeType="1"/>
              </p:cNvSpPr>
              <p:nvPr/>
            </p:nvSpPr>
            <p:spPr bwMode="auto">
              <a:xfrm flipH="1">
                <a:off x="2886" y="2056"/>
                <a:ext cx="208"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37" name="Line 3205">
                <a:extLst>
                  <a:ext uri="{FF2B5EF4-FFF2-40B4-BE49-F238E27FC236}">
                    <a16:creationId xmlns:a16="http://schemas.microsoft.com/office/drawing/2014/main" id="{0B52D8C6-531D-0071-1735-EB9F038C0B7E}"/>
                  </a:ext>
                </a:extLst>
              </p:cNvPr>
              <p:cNvSpPr>
                <a:spLocks noChangeShapeType="1"/>
              </p:cNvSpPr>
              <p:nvPr/>
            </p:nvSpPr>
            <p:spPr bwMode="auto">
              <a:xfrm flipH="1">
                <a:off x="2905" y="2430"/>
                <a:ext cx="193" cy="7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38" name="Freeform 3206">
                <a:extLst>
                  <a:ext uri="{FF2B5EF4-FFF2-40B4-BE49-F238E27FC236}">
                    <a16:creationId xmlns:a16="http://schemas.microsoft.com/office/drawing/2014/main" id="{3383B1C1-A8C9-128B-8271-8D1DF4985B06}"/>
                  </a:ext>
                </a:extLst>
              </p:cNvPr>
              <p:cNvSpPr>
                <a:spLocks/>
              </p:cNvSpPr>
              <p:nvPr/>
            </p:nvSpPr>
            <p:spPr bwMode="auto">
              <a:xfrm>
                <a:off x="2675" y="2319"/>
                <a:ext cx="230" cy="184"/>
              </a:xfrm>
              <a:custGeom>
                <a:avLst/>
                <a:gdLst>
                  <a:gd name="T0" fmla="*/ 183 w 183"/>
                  <a:gd name="T1" fmla="*/ 202 h 202"/>
                  <a:gd name="T2" fmla="*/ 183 w 183"/>
                  <a:gd name="T3" fmla="*/ 0 h 202"/>
                  <a:gd name="T4" fmla="*/ 0 w 183"/>
                  <a:gd name="T5" fmla="*/ 90 h 202"/>
                </a:gdLst>
                <a:ahLst/>
                <a:cxnLst>
                  <a:cxn ang="0">
                    <a:pos x="T0" y="T1"/>
                  </a:cxn>
                  <a:cxn ang="0">
                    <a:pos x="T2" y="T3"/>
                  </a:cxn>
                  <a:cxn ang="0">
                    <a:pos x="T4" y="T5"/>
                  </a:cxn>
                </a:cxnLst>
                <a:rect l="0" t="0" r="r" b="b"/>
                <a:pathLst>
                  <a:path w="183" h="202">
                    <a:moveTo>
                      <a:pt x="183" y="202"/>
                    </a:moveTo>
                    <a:lnTo>
                      <a:pt x="183" y="0"/>
                    </a:lnTo>
                    <a:lnTo>
                      <a:pt x="0" y="90"/>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39" name="Line 3207">
                <a:extLst>
                  <a:ext uri="{FF2B5EF4-FFF2-40B4-BE49-F238E27FC236}">
                    <a16:creationId xmlns:a16="http://schemas.microsoft.com/office/drawing/2014/main" id="{307A2BD2-BBB2-C3E2-B761-CD769E318D44}"/>
                  </a:ext>
                </a:extLst>
              </p:cNvPr>
              <p:cNvSpPr>
                <a:spLocks noChangeShapeType="1"/>
              </p:cNvSpPr>
              <p:nvPr/>
            </p:nvSpPr>
            <p:spPr bwMode="auto">
              <a:xfrm flipV="1">
                <a:off x="2690" y="2503"/>
                <a:ext cx="215" cy="79"/>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40" name="Line 3208">
                <a:extLst>
                  <a:ext uri="{FF2B5EF4-FFF2-40B4-BE49-F238E27FC236}">
                    <a16:creationId xmlns:a16="http://schemas.microsoft.com/office/drawing/2014/main" id="{C27F1D4A-D9A1-FAF7-509C-71C2840BD8BA}"/>
                  </a:ext>
                </a:extLst>
              </p:cNvPr>
              <p:cNvSpPr>
                <a:spLocks noChangeShapeType="1"/>
              </p:cNvSpPr>
              <p:nvPr/>
            </p:nvSpPr>
            <p:spPr bwMode="auto">
              <a:xfrm flipV="1">
                <a:off x="3290" y="2297"/>
                <a:ext cx="166" cy="6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41" name="Line 3209">
                <a:extLst>
                  <a:ext uri="{FF2B5EF4-FFF2-40B4-BE49-F238E27FC236}">
                    <a16:creationId xmlns:a16="http://schemas.microsoft.com/office/drawing/2014/main" id="{8635283A-1F1C-31B8-3916-E4D558C29EDB}"/>
                  </a:ext>
                </a:extLst>
              </p:cNvPr>
              <p:cNvSpPr>
                <a:spLocks noChangeShapeType="1"/>
              </p:cNvSpPr>
              <p:nvPr/>
            </p:nvSpPr>
            <p:spPr bwMode="auto">
              <a:xfrm flipV="1">
                <a:off x="2909" y="2254"/>
                <a:ext cx="185"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42" name="Line 3210">
                <a:extLst>
                  <a:ext uri="{FF2B5EF4-FFF2-40B4-BE49-F238E27FC236}">
                    <a16:creationId xmlns:a16="http://schemas.microsoft.com/office/drawing/2014/main" id="{A28E1879-40F5-8005-C458-7637845CEA07}"/>
                  </a:ext>
                </a:extLst>
              </p:cNvPr>
              <p:cNvSpPr>
                <a:spLocks noChangeShapeType="1"/>
              </p:cNvSpPr>
              <p:nvPr/>
            </p:nvSpPr>
            <p:spPr bwMode="auto">
              <a:xfrm>
                <a:off x="3290" y="2186"/>
                <a:ext cx="0" cy="17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43" name="Line 3211">
                <a:extLst>
                  <a:ext uri="{FF2B5EF4-FFF2-40B4-BE49-F238E27FC236}">
                    <a16:creationId xmlns:a16="http://schemas.microsoft.com/office/drawing/2014/main" id="{D0A67EED-919B-7B0F-DBD7-DC41AF9D685D}"/>
                  </a:ext>
                </a:extLst>
              </p:cNvPr>
              <p:cNvSpPr>
                <a:spLocks noChangeShapeType="1"/>
              </p:cNvSpPr>
              <p:nvPr/>
            </p:nvSpPr>
            <p:spPr bwMode="auto">
              <a:xfrm flipV="1">
                <a:off x="2630" y="1817"/>
                <a:ext cx="0" cy="18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44" name="Line 3212">
                <a:extLst>
                  <a:ext uri="{FF2B5EF4-FFF2-40B4-BE49-F238E27FC236}">
                    <a16:creationId xmlns:a16="http://schemas.microsoft.com/office/drawing/2014/main" id="{924DCA36-DECA-CA51-750E-4562BDAC832D}"/>
                  </a:ext>
                </a:extLst>
              </p:cNvPr>
              <p:cNvSpPr>
                <a:spLocks noChangeShapeType="1"/>
              </p:cNvSpPr>
              <p:nvPr/>
            </p:nvSpPr>
            <p:spPr bwMode="auto">
              <a:xfrm flipH="1">
                <a:off x="2252" y="2040"/>
                <a:ext cx="227"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45" name="Line 3213">
                <a:extLst>
                  <a:ext uri="{FF2B5EF4-FFF2-40B4-BE49-F238E27FC236}">
                    <a16:creationId xmlns:a16="http://schemas.microsoft.com/office/drawing/2014/main" id="{67AC8B85-34CD-4E9E-37EA-799A0098431E}"/>
                  </a:ext>
                </a:extLst>
              </p:cNvPr>
              <p:cNvSpPr>
                <a:spLocks noChangeShapeType="1"/>
              </p:cNvSpPr>
              <p:nvPr/>
            </p:nvSpPr>
            <p:spPr bwMode="auto">
              <a:xfrm flipH="1">
                <a:off x="2479" y="2186"/>
                <a:ext cx="196" cy="6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46" name="Line 3214">
                <a:extLst>
                  <a:ext uri="{FF2B5EF4-FFF2-40B4-BE49-F238E27FC236}">
                    <a16:creationId xmlns:a16="http://schemas.microsoft.com/office/drawing/2014/main" id="{A1D0150C-E6BF-64A6-3B61-64012D82B67F}"/>
                  </a:ext>
                </a:extLst>
              </p:cNvPr>
              <p:cNvSpPr>
                <a:spLocks noChangeShapeType="1"/>
              </p:cNvSpPr>
              <p:nvPr/>
            </p:nvSpPr>
            <p:spPr bwMode="auto">
              <a:xfrm flipV="1">
                <a:off x="2479" y="2040"/>
                <a:ext cx="0" cy="206"/>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47" name="Line 3215">
                <a:extLst>
                  <a:ext uri="{FF2B5EF4-FFF2-40B4-BE49-F238E27FC236}">
                    <a16:creationId xmlns:a16="http://schemas.microsoft.com/office/drawing/2014/main" id="{3FDD4E7C-C035-843A-C6C8-C31A31E1D1E6}"/>
                  </a:ext>
                </a:extLst>
              </p:cNvPr>
              <p:cNvSpPr>
                <a:spLocks noChangeShapeType="1"/>
              </p:cNvSpPr>
              <p:nvPr/>
            </p:nvSpPr>
            <p:spPr bwMode="auto">
              <a:xfrm flipV="1">
                <a:off x="2479" y="1999"/>
                <a:ext cx="151" cy="4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48" name="Line 3216">
                <a:extLst>
                  <a:ext uri="{FF2B5EF4-FFF2-40B4-BE49-F238E27FC236}">
                    <a16:creationId xmlns:a16="http://schemas.microsoft.com/office/drawing/2014/main" id="{50CAF4B0-3DA3-8EA3-064D-1E51011A7046}"/>
                  </a:ext>
                </a:extLst>
              </p:cNvPr>
              <p:cNvSpPr>
                <a:spLocks noChangeShapeType="1"/>
              </p:cNvSpPr>
              <p:nvPr/>
            </p:nvSpPr>
            <p:spPr bwMode="auto">
              <a:xfrm flipV="1">
                <a:off x="2886" y="1871"/>
                <a:ext cx="193" cy="5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49" name="Freeform 3217">
                <a:extLst>
                  <a:ext uri="{FF2B5EF4-FFF2-40B4-BE49-F238E27FC236}">
                    <a16:creationId xmlns:a16="http://schemas.microsoft.com/office/drawing/2014/main" id="{E2C98B1B-34A9-74C0-A962-A6C530F6B539}"/>
                  </a:ext>
                </a:extLst>
              </p:cNvPr>
              <p:cNvSpPr>
                <a:spLocks/>
              </p:cNvSpPr>
              <p:nvPr/>
            </p:nvSpPr>
            <p:spPr bwMode="auto">
              <a:xfrm>
                <a:off x="2252" y="2246"/>
                <a:ext cx="227" cy="70"/>
              </a:xfrm>
              <a:custGeom>
                <a:avLst/>
                <a:gdLst>
                  <a:gd name="T0" fmla="*/ 180 w 180"/>
                  <a:gd name="T1" fmla="*/ 0 h 78"/>
                  <a:gd name="T2" fmla="*/ 1 w 180"/>
                  <a:gd name="T3" fmla="*/ 78 h 78"/>
                  <a:gd name="T4" fmla="*/ 0 w 180"/>
                  <a:gd name="T5" fmla="*/ 78 h 78"/>
                </a:gdLst>
                <a:ahLst/>
                <a:cxnLst>
                  <a:cxn ang="0">
                    <a:pos x="T0" y="T1"/>
                  </a:cxn>
                  <a:cxn ang="0">
                    <a:pos x="T2" y="T3"/>
                  </a:cxn>
                  <a:cxn ang="0">
                    <a:pos x="T4" y="T5"/>
                  </a:cxn>
                </a:cxnLst>
                <a:rect l="0" t="0" r="r" b="b"/>
                <a:pathLst>
                  <a:path w="180" h="78">
                    <a:moveTo>
                      <a:pt x="180" y="0"/>
                    </a:moveTo>
                    <a:lnTo>
                      <a:pt x="1" y="78"/>
                    </a:lnTo>
                    <a:lnTo>
                      <a:pt x="0" y="78"/>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50" name="Freeform 3218">
                <a:extLst>
                  <a:ext uri="{FF2B5EF4-FFF2-40B4-BE49-F238E27FC236}">
                    <a16:creationId xmlns:a16="http://schemas.microsoft.com/office/drawing/2014/main" id="{C884BCBB-28F8-3443-5D5F-F5034048CD04}"/>
                  </a:ext>
                </a:extLst>
              </p:cNvPr>
              <p:cNvSpPr>
                <a:spLocks/>
              </p:cNvSpPr>
              <p:nvPr/>
            </p:nvSpPr>
            <p:spPr bwMode="auto">
              <a:xfrm>
                <a:off x="2252" y="2653"/>
                <a:ext cx="249" cy="92"/>
              </a:xfrm>
              <a:custGeom>
                <a:avLst/>
                <a:gdLst>
                  <a:gd name="T0" fmla="*/ 196 w 196"/>
                  <a:gd name="T1" fmla="*/ 0 h 101"/>
                  <a:gd name="T2" fmla="*/ 1 w 196"/>
                  <a:gd name="T3" fmla="*/ 101 h 101"/>
                  <a:gd name="T4" fmla="*/ 0 w 196"/>
                  <a:gd name="T5" fmla="*/ 101 h 101"/>
                </a:gdLst>
                <a:ahLst/>
                <a:cxnLst>
                  <a:cxn ang="0">
                    <a:pos x="T0" y="T1"/>
                  </a:cxn>
                  <a:cxn ang="0">
                    <a:pos x="T2" y="T3"/>
                  </a:cxn>
                  <a:cxn ang="0">
                    <a:pos x="T4" y="T5"/>
                  </a:cxn>
                </a:cxnLst>
                <a:rect l="0" t="0" r="r" b="b"/>
                <a:pathLst>
                  <a:path w="196" h="101">
                    <a:moveTo>
                      <a:pt x="196" y="0"/>
                    </a:moveTo>
                    <a:lnTo>
                      <a:pt x="1" y="101"/>
                    </a:lnTo>
                    <a:lnTo>
                      <a:pt x="0" y="101"/>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51" name="Line 3219">
                <a:extLst>
                  <a:ext uri="{FF2B5EF4-FFF2-40B4-BE49-F238E27FC236}">
                    <a16:creationId xmlns:a16="http://schemas.microsoft.com/office/drawing/2014/main" id="{3ED579AE-147E-E31E-0F58-9E75776CE484}"/>
                  </a:ext>
                </a:extLst>
              </p:cNvPr>
              <p:cNvSpPr>
                <a:spLocks noChangeShapeType="1"/>
              </p:cNvSpPr>
              <p:nvPr/>
            </p:nvSpPr>
            <p:spPr bwMode="auto">
              <a:xfrm flipV="1">
                <a:off x="2690" y="2582"/>
                <a:ext cx="0" cy="18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52" name="Line 3220">
                <a:extLst>
                  <a:ext uri="{FF2B5EF4-FFF2-40B4-BE49-F238E27FC236}">
                    <a16:creationId xmlns:a16="http://schemas.microsoft.com/office/drawing/2014/main" id="{BC4F66D1-00BA-7491-C347-C266D57A2C20}"/>
                  </a:ext>
                </a:extLst>
              </p:cNvPr>
              <p:cNvSpPr>
                <a:spLocks noChangeShapeType="1"/>
              </p:cNvSpPr>
              <p:nvPr/>
            </p:nvSpPr>
            <p:spPr bwMode="auto">
              <a:xfrm flipH="1">
                <a:off x="2501" y="2582"/>
                <a:ext cx="189" cy="7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53" name="Line 3221">
                <a:extLst>
                  <a:ext uri="{FF2B5EF4-FFF2-40B4-BE49-F238E27FC236}">
                    <a16:creationId xmlns:a16="http://schemas.microsoft.com/office/drawing/2014/main" id="{269C4827-9534-29A3-CF43-1CD5F6FAD336}"/>
                  </a:ext>
                </a:extLst>
              </p:cNvPr>
              <p:cNvSpPr>
                <a:spLocks noChangeShapeType="1"/>
              </p:cNvSpPr>
              <p:nvPr/>
            </p:nvSpPr>
            <p:spPr bwMode="auto">
              <a:xfrm flipV="1">
                <a:off x="2501" y="2400"/>
                <a:ext cx="174" cy="6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54" name="Line 3222">
                <a:extLst>
                  <a:ext uri="{FF2B5EF4-FFF2-40B4-BE49-F238E27FC236}">
                    <a16:creationId xmlns:a16="http://schemas.microsoft.com/office/drawing/2014/main" id="{7C3BC1A2-A876-E35F-B61B-BB1CC00391B0}"/>
                  </a:ext>
                </a:extLst>
              </p:cNvPr>
              <p:cNvSpPr>
                <a:spLocks noChangeShapeType="1"/>
              </p:cNvSpPr>
              <p:nvPr/>
            </p:nvSpPr>
            <p:spPr bwMode="auto">
              <a:xfrm>
                <a:off x="2501" y="2463"/>
                <a:ext cx="0" cy="19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55" name="Line 3223">
                <a:extLst>
                  <a:ext uri="{FF2B5EF4-FFF2-40B4-BE49-F238E27FC236}">
                    <a16:creationId xmlns:a16="http://schemas.microsoft.com/office/drawing/2014/main" id="{6D4809AE-36C7-DFA9-B535-569F7BFC8D5C}"/>
                  </a:ext>
                </a:extLst>
              </p:cNvPr>
              <p:cNvSpPr>
                <a:spLocks noChangeShapeType="1"/>
              </p:cNvSpPr>
              <p:nvPr/>
            </p:nvSpPr>
            <p:spPr bwMode="auto">
              <a:xfrm flipV="1">
                <a:off x="2252" y="2463"/>
                <a:ext cx="249" cy="8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56" name="Line 3224">
                <a:extLst>
                  <a:ext uri="{FF2B5EF4-FFF2-40B4-BE49-F238E27FC236}">
                    <a16:creationId xmlns:a16="http://schemas.microsoft.com/office/drawing/2014/main" id="{C67DA46A-1572-B8F5-CCAF-744D73BBC149}"/>
                  </a:ext>
                </a:extLst>
              </p:cNvPr>
              <p:cNvSpPr>
                <a:spLocks noChangeShapeType="1"/>
              </p:cNvSpPr>
              <p:nvPr/>
            </p:nvSpPr>
            <p:spPr bwMode="auto">
              <a:xfrm flipH="1">
                <a:off x="3098" y="2360"/>
                <a:ext cx="192" cy="7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57" name="Line 3225">
                <a:extLst>
                  <a:ext uri="{FF2B5EF4-FFF2-40B4-BE49-F238E27FC236}">
                    <a16:creationId xmlns:a16="http://schemas.microsoft.com/office/drawing/2014/main" id="{A1A5B25F-B581-1110-CD31-42C00D536314}"/>
                  </a:ext>
                </a:extLst>
              </p:cNvPr>
              <p:cNvSpPr>
                <a:spLocks noChangeShapeType="1"/>
              </p:cNvSpPr>
              <p:nvPr/>
            </p:nvSpPr>
            <p:spPr bwMode="auto">
              <a:xfrm>
                <a:off x="3279" y="1817"/>
                <a:ext cx="0" cy="179"/>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58" name="Line 3226">
                <a:extLst>
                  <a:ext uri="{FF2B5EF4-FFF2-40B4-BE49-F238E27FC236}">
                    <a16:creationId xmlns:a16="http://schemas.microsoft.com/office/drawing/2014/main" id="{96AD6C63-8A7F-155E-B85F-293D47B5D220}"/>
                  </a:ext>
                </a:extLst>
              </p:cNvPr>
              <p:cNvSpPr>
                <a:spLocks noChangeShapeType="1"/>
              </p:cNvSpPr>
              <p:nvPr/>
            </p:nvSpPr>
            <p:spPr bwMode="auto">
              <a:xfrm flipH="1">
                <a:off x="2675" y="2121"/>
                <a:ext cx="211"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59" name="Line 3227">
                <a:extLst>
                  <a:ext uri="{FF2B5EF4-FFF2-40B4-BE49-F238E27FC236}">
                    <a16:creationId xmlns:a16="http://schemas.microsoft.com/office/drawing/2014/main" id="{8A4945C4-8153-AF0E-D6C0-71D56CBB2D61}"/>
                  </a:ext>
                </a:extLst>
              </p:cNvPr>
              <p:cNvSpPr>
                <a:spLocks noChangeShapeType="1"/>
              </p:cNvSpPr>
              <p:nvPr/>
            </p:nvSpPr>
            <p:spPr bwMode="auto">
              <a:xfrm flipV="1">
                <a:off x="2886" y="1926"/>
                <a:ext cx="0" cy="0"/>
              </a:xfrm>
              <a:prstGeom prst="line">
                <a:avLst/>
              </a:prstGeom>
              <a:noFill/>
              <a:ln w="0">
                <a:solidFill>
                  <a:srgbClr val="C8C8C8"/>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60" name="Line 3228">
                <a:extLst>
                  <a:ext uri="{FF2B5EF4-FFF2-40B4-BE49-F238E27FC236}">
                    <a16:creationId xmlns:a16="http://schemas.microsoft.com/office/drawing/2014/main" id="{C8E977C1-9466-BD8B-A8EC-3D80CF3921F7}"/>
                  </a:ext>
                </a:extLst>
              </p:cNvPr>
              <p:cNvSpPr>
                <a:spLocks noChangeShapeType="1"/>
              </p:cNvSpPr>
              <p:nvPr/>
            </p:nvSpPr>
            <p:spPr bwMode="auto">
              <a:xfrm flipV="1">
                <a:off x="3456" y="1939"/>
                <a:ext cx="4" cy="3"/>
              </a:xfrm>
              <a:prstGeom prst="line">
                <a:avLst/>
              </a:prstGeom>
              <a:noFill/>
              <a:ln w="0">
                <a:solidFill>
                  <a:srgbClr val="C8C8C8"/>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61" name="Line 3229">
                <a:extLst>
                  <a:ext uri="{FF2B5EF4-FFF2-40B4-BE49-F238E27FC236}">
                    <a16:creationId xmlns:a16="http://schemas.microsoft.com/office/drawing/2014/main" id="{5BFCEB6A-6D37-E898-AD5F-5D8B791AD847}"/>
                  </a:ext>
                </a:extLst>
              </p:cNvPr>
              <p:cNvSpPr>
                <a:spLocks noChangeShapeType="1"/>
              </p:cNvSpPr>
              <p:nvPr/>
            </p:nvSpPr>
            <p:spPr bwMode="auto">
              <a:xfrm>
                <a:off x="2905" y="2319"/>
                <a:ext cx="4" cy="0"/>
              </a:xfrm>
              <a:prstGeom prst="line">
                <a:avLst/>
              </a:prstGeom>
              <a:noFill/>
              <a:ln w="0">
                <a:solidFill>
                  <a:srgbClr val="C8C8C8"/>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62" name="Freeform 3230">
                <a:extLst>
                  <a:ext uri="{FF2B5EF4-FFF2-40B4-BE49-F238E27FC236}">
                    <a16:creationId xmlns:a16="http://schemas.microsoft.com/office/drawing/2014/main" id="{8A445293-CCC9-FDF1-543E-09E3E5254D25}"/>
                  </a:ext>
                </a:extLst>
              </p:cNvPr>
              <p:cNvSpPr>
                <a:spLocks/>
              </p:cNvSpPr>
              <p:nvPr/>
            </p:nvSpPr>
            <p:spPr bwMode="auto">
              <a:xfrm>
                <a:off x="3619" y="1828"/>
                <a:ext cx="143" cy="122"/>
              </a:xfrm>
              <a:custGeom>
                <a:avLst/>
                <a:gdLst>
                  <a:gd name="T0" fmla="*/ 76 w 112"/>
                  <a:gd name="T1" fmla="*/ 111 h 137"/>
                  <a:gd name="T2" fmla="*/ 95 w 112"/>
                  <a:gd name="T3" fmla="*/ 47 h 137"/>
                  <a:gd name="T4" fmla="*/ 112 w 112"/>
                  <a:gd name="T5" fmla="*/ 0 h 137"/>
                  <a:gd name="T6" fmla="*/ 82 w 112"/>
                  <a:gd name="T7" fmla="*/ 13 h 137"/>
                  <a:gd name="T8" fmla="*/ 56 w 112"/>
                  <a:gd name="T9" fmla="*/ 32 h 137"/>
                  <a:gd name="T10" fmla="*/ 42 w 112"/>
                  <a:gd name="T11" fmla="*/ 43 h 137"/>
                  <a:gd name="T12" fmla="*/ 33 w 112"/>
                  <a:gd name="T13" fmla="*/ 56 h 137"/>
                  <a:gd name="T14" fmla="*/ 23 w 112"/>
                  <a:gd name="T15" fmla="*/ 69 h 137"/>
                  <a:gd name="T16" fmla="*/ 17 w 112"/>
                  <a:gd name="T17" fmla="*/ 86 h 137"/>
                  <a:gd name="T18" fmla="*/ 0 w 112"/>
                  <a:gd name="T19" fmla="*/ 133 h 137"/>
                  <a:gd name="T20" fmla="*/ 6 w 112"/>
                  <a:gd name="T21" fmla="*/ 123 h 137"/>
                  <a:gd name="T22" fmla="*/ 14 w 112"/>
                  <a:gd name="T23" fmla="*/ 116 h 137"/>
                  <a:gd name="T24" fmla="*/ 27 w 112"/>
                  <a:gd name="T25" fmla="*/ 105 h 137"/>
                  <a:gd name="T26" fmla="*/ 32 w 112"/>
                  <a:gd name="T27" fmla="*/ 101 h 137"/>
                  <a:gd name="T28" fmla="*/ 38 w 112"/>
                  <a:gd name="T29" fmla="*/ 98 h 137"/>
                  <a:gd name="T30" fmla="*/ 41 w 112"/>
                  <a:gd name="T31" fmla="*/ 97 h 137"/>
                  <a:gd name="T32" fmla="*/ 46 w 112"/>
                  <a:gd name="T33" fmla="*/ 98 h 137"/>
                  <a:gd name="T34" fmla="*/ 47 w 112"/>
                  <a:gd name="T35" fmla="*/ 98 h 137"/>
                  <a:gd name="T36" fmla="*/ 50 w 112"/>
                  <a:gd name="T37" fmla="*/ 101 h 137"/>
                  <a:gd name="T38" fmla="*/ 51 w 112"/>
                  <a:gd name="T39" fmla="*/ 103 h 137"/>
                  <a:gd name="T40" fmla="*/ 53 w 112"/>
                  <a:gd name="T41" fmla="*/ 108 h 137"/>
                  <a:gd name="T42" fmla="*/ 53 w 112"/>
                  <a:gd name="T43" fmla="*/ 113 h 137"/>
                  <a:gd name="T44" fmla="*/ 54 w 112"/>
                  <a:gd name="T45" fmla="*/ 120 h 137"/>
                  <a:gd name="T46" fmla="*/ 53 w 112"/>
                  <a:gd name="T47" fmla="*/ 127 h 137"/>
                  <a:gd name="T48" fmla="*/ 53 w 112"/>
                  <a:gd name="T49" fmla="*/ 137 h 137"/>
                  <a:gd name="T50" fmla="*/ 56 w 112"/>
                  <a:gd name="T51" fmla="*/ 135 h 137"/>
                  <a:gd name="T52" fmla="*/ 56 w 112"/>
                  <a:gd name="T53" fmla="*/ 134 h 137"/>
                  <a:gd name="T54" fmla="*/ 57 w 112"/>
                  <a:gd name="T55" fmla="*/ 134 h 137"/>
                  <a:gd name="T56" fmla="*/ 59 w 112"/>
                  <a:gd name="T57" fmla="*/ 134 h 137"/>
                  <a:gd name="T58" fmla="*/ 66 w 112"/>
                  <a:gd name="T59" fmla="*/ 129 h 137"/>
                  <a:gd name="T60" fmla="*/ 71 w 112"/>
                  <a:gd name="T61" fmla="*/ 121 h 137"/>
                  <a:gd name="T62" fmla="*/ 76 w 112"/>
                  <a:gd name="T63" fmla="*/ 11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 h="137">
                    <a:moveTo>
                      <a:pt x="76" y="111"/>
                    </a:moveTo>
                    <a:lnTo>
                      <a:pt x="95" y="47"/>
                    </a:lnTo>
                    <a:lnTo>
                      <a:pt x="112" y="0"/>
                    </a:lnTo>
                    <a:lnTo>
                      <a:pt x="82" y="13"/>
                    </a:lnTo>
                    <a:lnTo>
                      <a:pt x="56" y="32"/>
                    </a:lnTo>
                    <a:lnTo>
                      <a:pt x="42" y="43"/>
                    </a:lnTo>
                    <a:lnTo>
                      <a:pt x="33" y="56"/>
                    </a:lnTo>
                    <a:lnTo>
                      <a:pt x="23" y="69"/>
                    </a:lnTo>
                    <a:lnTo>
                      <a:pt x="17" y="86"/>
                    </a:lnTo>
                    <a:lnTo>
                      <a:pt x="0" y="133"/>
                    </a:lnTo>
                    <a:lnTo>
                      <a:pt x="6" y="123"/>
                    </a:lnTo>
                    <a:lnTo>
                      <a:pt x="14" y="116"/>
                    </a:lnTo>
                    <a:lnTo>
                      <a:pt x="27" y="105"/>
                    </a:lnTo>
                    <a:lnTo>
                      <a:pt x="32" y="101"/>
                    </a:lnTo>
                    <a:lnTo>
                      <a:pt x="38" y="98"/>
                    </a:lnTo>
                    <a:lnTo>
                      <a:pt x="41" y="97"/>
                    </a:lnTo>
                    <a:lnTo>
                      <a:pt x="46" y="98"/>
                    </a:lnTo>
                    <a:lnTo>
                      <a:pt x="47" y="98"/>
                    </a:lnTo>
                    <a:lnTo>
                      <a:pt x="50" y="101"/>
                    </a:lnTo>
                    <a:lnTo>
                      <a:pt x="51" y="103"/>
                    </a:lnTo>
                    <a:lnTo>
                      <a:pt x="53" y="108"/>
                    </a:lnTo>
                    <a:lnTo>
                      <a:pt x="53" y="113"/>
                    </a:lnTo>
                    <a:lnTo>
                      <a:pt x="54" y="120"/>
                    </a:lnTo>
                    <a:lnTo>
                      <a:pt x="53" y="127"/>
                    </a:lnTo>
                    <a:lnTo>
                      <a:pt x="53" y="137"/>
                    </a:lnTo>
                    <a:lnTo>
                      <a:pt x="56" y="135"/>
                    </a:lnTo>
                    <a:lnTo>
                      <a:pt x="56" y="134"/>
                    </a:lnTo>
                    <a:lnTo>
                      <a:pt x="57" y="134"/>
                    </a:lnTo>
                    <a:lnTo>
                      <a:pt x="59" y="134"/>
                    </a:lnTo>
                    <a:lnTo>
                      <a:pt x="66" y="129"/>
                    </a:lnTo>
                    <a:lnTo>
                      <a:pt x="71" y="121"/>
                    </a:lnTo>
                    <a:lnTo>
                      <a:pt x="76" y="111"/>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63" name="Freeform 3231">
                <a:extLst>
                  <a:ext uri="{FF2B5EF4-FFF2-40B4-BE49-F238E27FC236}">
                    <a16:creationId xmlns:a16="http://schemas.microsoft.com/office/drawing/2014/main" id="{BC9AC1AD-034D-A0E3-B473-3DD31F14FE22}"/>
                  </a:ext>
                </a:extLst>
              </p:cNvPr>
              <p:cNvSpPr>
                <a:spLocks/>
              </p:cNvSpPr>
              <p:nvPr/>
            </p:nvSpPr>
            <p:spPr bwMode="auto">
              <a:xfrm>
                <a:off x="3445" y="1975"/>
                <a:ext cx="253" cy="466"/>
              </a:xfrm>
              <a:custGeom>
                <a:avLst/>
                <a:gdLst>
                  <a:gd name="T0" fmla="*/ 61 w 203"/>
                  <a:gd name="T1" fmla="*/ 240 h 518"/>
                  <a:gd name="T2" fmla="*/ 46 w 203"/>
                  <a:gd name="T3" fmla="*/ 267 h 518"/>
                  <a:gd name="T4" fmla="*/ 34 w 203"/>
                  <a:gd name="T5" fmla="*/ 289 h 518"/>
                  <a:gd name="T6" fmla="*/ 23 w 203"/>
                  <a:gd name="T7" fmla="*/ 312 h 518"/>
                  <a:gd name="T8" fmla="*/ 5 w 203"/>
                  <a:gd name="T9" fmla="*/ 367 h 518"/>
                  <a:gd name="T10" fmla="*/ 0 w 203"/>
                  <a:gd name="T11" fmla="*/ 428 h 518"/>
                  <a:gd name="T12" fmla="*/ 6 w 203"/>
                  <a:gd name="T13" fmla="*/ 482 h 518"/>
                  <a:gd name="T14" fmla="*/ 11 w 203"/>
                  <a:gd name="T15" fmla="*/ 515 h 518"/>
                  <a:gd name="T16" fmla="*/ 28 w 203"/>
                  <a:gd name="T17" fmla="*/ 517 h 518"/>
                  <a:gd name="T18" fmla="*/ 46 w 203"/>
                  <a:gd name="T19" fmla="*/ 516 h 518"/>
                  <a:gd name="T20" fmla="*/ 67 w 203"/>
                  <a:gd name="T21" fmla="*/ 505 h 518"/>
                  <a:gd name="T22" fmla="*/ 92 w 203"/>
                  <a:gd name="T23" fmla="*/ 483 h 518"/>
                  <a:gd name="T24" fmla="*/ 120 w 203"/>
                  <a:gd name="T25" fmla="*/ 453 h 518"/>
                  <a:gd name="T26" fmla="*/ 151 w 203"/>
                  <a:gd name="T27" fmla="*/ 411 h 518"/>
                  <a:gd name="T28" fmla="*/ 175 w 203"/>
                  <a:gd name="T29" fmla="*/ 363 h 518"/>
                  <a:gd name="T30" fmla="*/ 182 w 203"/>
                  <a:gd name="T31" fmla="*/ 345 h 518"/>
                  <a:gd name="T32" fmla="*/ 188 w 203"/>
                  <a:gd name="T33" fmla="*/ 327 h 518"/>
                  <a:gd name="T34" fmla="*/ 198 w 203"/>
                  <a:gd name="T35" fmla="*/ 291 h 518"/>
                  <a:gd name="T36" fmla="*/ 203 w 203"/>
                  <a:gd name="T37" fmla="*/ 243 h 518"/>
                  <a:gd name="T38" fmla="*/ 202 w 203"/>
                  <a:gd name="T39" fmla="*/ 215 h 518"/>
                  <a:gd name="T40" fmla="*/ 194 w 203"/>
                  <a:gd name="T41" fmla="*/ 167 h 518"/>
                  <a:gd name="T42" fmla="*/ 179 w 203"/>
                  <a:gd name="T43" fmla="*/ 123 h 518"/>
                  <a:gd name="T44" fmla="*/ 155 w 203"/>
                  <a:gd name="T45" fmla="*/ 62 h 518"/>
                  <a:gd name="T46" fmla="*/ 133 w 203"/>
                  <a:gd name="T47" fmla="*/ 0 h 518"/>
                  <a:gd name="T48" fmla="*/ 130 w 203"/>
                  <a:gd name="T49" fmla="*/ 43 h 518"/>
                  <a:gd name="T50" fmla="*/ 128 w 203"/>
                  <a:gd name="T51" fmla="*/ 59 h 518"/>
                  <a:gd name="T52" fmla="*/ 120 w 203"/>
                  <a:gd name="T53" fmla="*/ 102 h 518"/>
                  <a:gd name="T54" fmla="*/ 109 w 203"/>
                  <a:gd name="T55" fmla="*/ 144 h 518"/>
                  <a:gd name="T56" fmla="*/ 106 w 203"/>
                  <a:gd name="T57" fmla="*/ 147 h 518"/>
                  <a:gd name="T58" fmla="*/ 103 w 203"/>
                  <a:gd name="T59" fmla="*/ 157 h 518"/>
                  <a:gd name="T60" fmla="*/ 85 w 203"/>
                  <a:gd name="T61" fmla="*/ 198 h 518"/>
                  <a:gd name="T62" fmla="*/ 72 w 203"/>
                  <a:gd name="T63" fmla="*/ 225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3" h="518">
                    <a:moveTo>
                      <a:pt x="72" y="225"/>
                    </a:moveTo>
                    <a:lnTo>
                      <a:pt x="61" y="240"/>
                    </a:lnTo>
                    <a:lnTo>
                      <a:pt x="53" y="254"/>
                    </a:lnTo>
                    <a:lnTo>
                      <a:pt x="46" y="267"/>
                    </a:lnTo>
                    <a:lnTo>
                      <a:pt x="40" y="279"/>
                    </a:lnTo>
                    <a:lnTo>
                      <a:pt x="34" y="289"/>
                    </a:lnTo>
                    <a:lnTo>
                      <a:pt x="29" y="297"/>
                    </a:lnTo>
                    <a:lnTo>
                      <a:pt x="23" y="312"/>
                    </a:lnTo>
                    <a:lnTo>
                      <a:pt x="12" y="338"/>
                    </a:lnTo>
                    <a:lnTo>
                      <a:pt x="5" y="367"/>
                    </a:lnTo>
                    <a:lnTo>
                      <a:pt x="1" y="397"/>
                    </a:lnTo>
                    <a:lnTo>
                      <a:pt x="0" y="428"/>
                    </a:lnTo>
                    <a:lnTo>
                      <a:pt x="1" y="456"/>
                    </a:lnTo>
                    <a:lnTo>
                      <a:pt x="6" y="482"/>
                    </a:lnTo>
                    <a:lnTo>
                      <a:pt x="8" y="498"/>
                    </a:lnTo>
                    <a:lnTo>
                      <a:pt x="11" y="515"/>
                    </a:lnTo>
                    <a:lnTo>
                      <a:pt x="22" y="517"/>
                    </a:lnTo>
                    <a:lnTo>
                      <a:pt x="28" y="517"/>
                    </a:lnTo>
                    <a:lnTo>
                      <a:pt x="36" y="518"/>
                    </a:lnTo>
                    <a:lnTo>
                      <a:pt x="46" y="516"/>
                    </a:lnTo>
                    <a:lnTo>
                      <a:pt x="56" y="512"/>
                    </a:lnTo>
                    <a:lnTo>
                      <a:pt x="67" y="505"/>
                    </a:lnTo>
                    <a:lnTo>
                      <a:pt x="80" y="497"/>
                    </a:lnTo>
                    <a:lnTo>
                      <a:pt x="92" y="483"/>
                    </a:lnTo>
                    <a:lnTo>
                      <a:pt x="106" y="470"/>
                    </a:lnTo>
                    <a:lnTo>
                      <a:pt x="120" y="453"/>
                    </a:lnTo>
                    <a:lnTo>
                      <a:pt x="136" y="435"/>
                    </a:lnTo>
                    <a:lnTo>
                      <a:pt x="151" y="411"/>
                    </a:lnTo>
                    <a:lnTo>
                      <a:pt x="164" y="387"/>
                    </a:lnTo>
                    <a:lnTo>
                      <a:pt x="175" y="363"/>
                    </a:lnTo>
                    <a:lnTo>
                      <a:pt x="180" y="351"/>
                    </a:lnTo>
                    <a:lnTo>
                      <a:pt x="182" y="345"/>
                    </a:lnTo>
                    <a:lnTo>
                      <a:pt x="186" y="341"/>
                    </a:lnTo>
                    <a:lnTo>
                      <a:pt x="188" y="327"/>
                    </a:lnTo>
                    <a:lnTo>
                      <a:pt x="192" y="315"/>
                    </a:lnTo>
                    <a:lnTo>
                      <a:pt x="198" y="291"/>
                    </a:lnTo>
                    <a:lnTo>
                      <a:pt x="202" y="267"/>
                    </a:lnTo>
                    <a:lnTo>
                      <a:pt x="203" y="243"/>
                    </a:lnTo>
                    <a:lnTo>
                      <a:pt x="202" y="228"/>
                    </a:lnTo>
                    <a:lnTo>
                      <a:pt x="202" y="215"/>
                    </a:lnTo>
                    <a:lnTo>
                      <a:pt x="199" y="189"/>
                    </a:lnTo>
                    <a:lnTo>
                      <a:pt x="194" y="167"/>
                    </a:lnTo>
                    <a:lnTo>
                      <a:pt x="190" y="147"/>
                    </a:lnTo>
                    <a:lnTo>
                      <a:pt x="179" y="123"/>
                    </a:lnTo>
                    <a:lnTo>
                      <a:pt x="170" y="102"/>
                    </a:lnTo>
                    <a:lnTo>
                      <a:pt x="155" y="62"/>
                    </a:lnTo>
                    <a:lnTo>
                      <a:pt x="142" y="27"/>
                    </a:lnTo>
                    <a:lnTo>
                      <a:pt x="133" y="0"/>
                    </a:lnTo>
                    <a:lnTo>
                      <a:pt x="132" y="29"/>
                    </a:lnTo>
                    <a:lnTo>
                      <a:pt x="130" y="43"/>
                    </a:lnTo>
                    <a:lnTo>
                      <a:pt x="128" y="50"/>
                    </a:lnTo>
                    <a:lnTo>
                      <a:pt x="128" y="59"/>
                    </a:lnTo>
                    <a:lnTo>
                      <a:pt x="124" y="87"/>
                    </a:lnTo>
                    <a:lnTo>
                      <a:pt x="120" y="102"/>
                    </a:lnTo>
                    <a:lnTo>
                      <a:pt x="118" y="117"/>
                    </a:lnTo>
                    <a:lnTo>
                      <a:pt x="109" y="144"/>
                    </a:lnTo>
                    <a:lnTo>
                      <a:pt x="107" y="146"/>
                    </a:lnTo>
                    <a:lnTo>
                      <a:pt x="106" y="147"/>
                    </a:lnTo>
                    <a:lnTo>
                      <a:pt x="106" y="150"/>
                    </a:lnTo>
                    <a:lnTo>
                      <a:pt x="103" y="157"/>
                    </a:lnTo>
                    <a:lnTo>
                      <a:pt x="98" y="171"/>
                    </a:lnTo>
                    <a:lnTo>
                      <a:pt x="85" y="198"/>
                    </a:lnTo>
                    <a:lnTo>
                      <a:pt x="78" y="211"/>
                    </a:lnTo>
                    <a:lnTo>
                      <a:pt x="72" y="225"/>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64" name="Freeform 3232">
                <a:extLst>
                  <a:ext uri="{FF2B5EF4-FFF2-40B4-BE49-F238E27FC236}">
                    <a16:creationId xmlns:a16="http://schemas.microsoft.com/office/drawing/2014/main" id="{E3E568C9-A7E0-3358-0BAB-5D1B3F397D2F}"/>
                  </a:ext>
                </a:extLst>
              </p:cNvPr>
              <p:cNvSpPr>
                <a:spLocks/>
              </p:cNvSpPr>
              <p:nvPr/>
            </p:nvSpPr>
            <p:spPr bwMode="auto">
              <a:xfrm>
                <a:off x="3445" y="1975"/>
                <a:ext cx="253" cy="466"/>
              </a:xfrm>
              <a:custGeom>
                <a:avLst/>
                <a:gdLst>
                  <a:gd name="T0" fmla="*/ 12 w 203"/>
                  <a:gd name="T1" fmla="*/ 338 h 518"/>
                  <a:gd name="T2" fmla="*/ 1 w 203"/>
                  <a:gd name="T3" fmla="*/ 397 h 518"/>
                  <a:gd name="T4" fmla="*/ 1 w 203"/>
                  <a:gd name="T5" fmla="*/ 456 h 518"/>
                  <a:gd name="T6" fmla="*/ 8 w 203"/>
                  <a:gd name="T7" fmla="*/ 498 h 518"/>
                  <a:gd name="T8" fmla="*/ 22 w 203"/>
                  <a:gd name="T9" fmla="*/ 517 h 518"/>
                  <a:gd name="T10" fmla="*/ 36 w 203"/>
                  <a:gd name="T11" fmla="*/ 518 h 518"/>
                  <a:gd name="T12" fmla="*/ 56 w 203"/>
                  <a:gd name="T13" fmla="*/ 512 h 518"/>
                  <a:gd name="T14" fmla="*/ 80 w 203"/>
                  <a:gd name="T15" fmla="*/ 497 h 518"/>
                  <a:gd name="T16" fmla="*/ 106 w 203"/>
                  <a:gd name="T17" fmla="*/ 470 h 518"/>
                  <a:gd name="T18" fmla="*/ 136 w 203"/>
                  <a:gd name="T19" fmla="*/ 435 h 518"/>
                  <a:gd name="T20" fmla="*/ 164 w 203"/>
                  <a:gd name="T21" fmla="*/ 387 h 518"/>
                  <a:gd name="T22" fmla="*/ 180 w 203"/>
                  <a:gd name="T23" fmla="*/ 351 h 518"/>
                  <a:gd name="T24" fmla="*/ 186 w 203"/>
                  <a:gd name="T25" fmla="*/ 341 h 518"/>
                  <a:gd name="T26" fmla="*/ 192 w 203"/>
                  <a:gd name="T27" fmla="*/ 315 h 518"/>
                  <a:gd name="T28" fmla="*/ 202 w 203"/>
                  <a:gd name="T29" fmla="*/ 267 h 518"/>
                  <a:gd name="T30" fmla="*/ 202 w 203"/>
                  <a:gd name="T31" fmla="*/ 228 h 518"/>
                  <a:gd name="T32" fmla="*/ 199 w 203"/>
                  <a:gd name="T33" fmla="*/ 189 h 518"/>
                  <a:gd name="T34" fmla="*/ 190 w 203"/>
                  <a:gd name="T35" fmla="*/ 147 h 518"/>
                  <a:gd name="T36" fmla="*/ 170 w 203"/>
                  <a:gd name="T37" fmla="*/ 102 h 518"/>
                  <a:gd name="T38" fmla="*/ 142 w 203"/>
                  <a:gd name="T39" fmla="*/ 27 h 518"/>
                  <a:gd name="T40" fmla="*/ 132 w 203"/>
                  <a:gd name="T41" fmla="*/ 29 h 518"/>
                  <a:gd name="T42" fmla="*/ 128 w 203"/>
                  <a:gd name="T43" fmla="*/ 50 h 518"/>
                  <a:gd name="T44" fmla="*/ 124 w 203"/>
                  <a:gd name="T45" fmla="*/ 87 h 518"/>
                  <a:gd name="T46" fmla="*/ 118 w 203"/>
                  <a:gd name="T47" fmla="*/ 117 h 518"/>
                  <a:gd name="T48" fmla="*/ 107 w 203"/>
                  <a:gd name="T49" fmla="*/ 146 h 518"/>
                  <a:gd name="T50" fmla="*/ 106 w 203"/>
                  <a:gd name="T51" fmla="*/ 150 h 518"/>
                  <a:gd name="T52" fmla="*/ 98 w 203"/>
                  <a:gd name="T53" fmla="*/ 171 h 518"/>
                  <a:gd name="T54" fmla="*/ 78 w 203"/>
                  <a:gd name="T55" fmla="*/ 211 h 518"/>
                  <a:gd name="T56" fmla="*/ 61 w 203"/>
                  <a:gd name="T57" fmla="*/ 240 h 518"/>
                  <a:gd name="T58" fmla="*/ 46 w 203"/>
                  <a:gd name="T59" fmla="*/ 267 h 518"/>
                  <a:gd name="T60" fmla="*/ 34 w 203"/>
                  <a:gd name="T61" fmla="*/ 289 h 518"/>
                  <a:gd name="T62" fmla="*/ 23 w 203"/>
                  <a:gd name="T63" fmla="*/ 312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3" h="518">
                    <a:moveTo>
                      <a:pt x="23" y="312"/>
                    </a:moveTo>
                    <a:lnTo>
                      <a:pt x="12" y="338"/>
                    </a:lnTo>
                    <a:lnTo>
                      <a:pt x="5" y="367"/>
                    </a:lnTo>
                    <a:lnTo>
                      <a:pt x="1" y="397"/>
                    </a:lnTo>
                    <a:lnTo>
                      <a:pt x="0" y="428"/>
                    </a:lnTo>
                    <a:lnTo>
                      <a:pt x="1" y="456"/>
                    </a:lnTo>
                    <a:lnTo>
                      <a:pt x="6" y="482"/>
                    </a:lnTo>
                    <a:lnTo>
                      <a:pt x="8" y="498"/>
                    </a:lnTo>
                    <a:lnTo>
                      <a:pt x="11" y="515"/>
                    </a:lnTo>
                    <a:lnTo>
                      <a:pt x="22" y="517"/>
                    </a:lnTo>
                    <a:lnTo>
                      <a:pt x="28" y="517"/>
                    </a:lnTo>
                    <a:lnTo>
                      <a:pt x="36" y="518"/>
                    </a:lnTo>
                    <a:lnTo>
                      <a:pt x="46" y="516"/>
                    </a:lnTo>
                    <a:lnTo>
                      <a:pt x="56" y="512"/>
                    </a:lnTo>
                    <a:lnTo>
                      <a:pt x="67" y="505"/>
                    </a:lnTo>
                    <a:lnTo>
                      <a:pt x="80" y="497"/>
                    </a:lnTo>
                    <a:lnTo>
                      <a:pt x="92" y="483"/>
                    </a:lnTo>
                    <a:lnTo>
                      <a:pt x="106" y="470"/>
                    </a:lnTo>
                    <a:lnTo>
                      <a:pt x="120" y="453"/>
                    </a:lnTo>
                    <a:lnTo>
                      <a:pt x="136" y="435"/>
                    </a:lnTo>
                    <a:lnTo>
                      <a:pt x="151" y="411"/>
                    </a:lnTo>
                    <a:lnTo>
                      <a:pt x="164" y="387"/>
                    </a:lnTo>
                    <a:lnTo>
                      <a:pt x="175" y="363"/>
                    </a:lnTo>
                    <a:lnTo>
                      <a:pt x="180" y="351"/>
                    </a:lnTo>
                    <a:lnTo>
                      <a:pt x="182" y="345"/>
                    </a:lnTo>
                    <a:lnTo>
                      <a:pt x="186" y="341"/>
                    </a:lnTo>
                    <a:lnTo>
                      <a:pt x="188" y="327"/>
                    </a:lnTo>
                    <a:lnTo>
                      <a:pt x="192" y="315"/>
                    </a:lnTo>
                    <a:lnTo>
                      <a:pt x="198" y="291"/>
                    </a:lnTo>
                    <a:lnTo>
                      <a:pt x="202" y="267"/>
                    </a:lnTo>
                    <a:lnTo>
                      <a:pt x="203" y="243"/>
                    </a:lnTo>
                    <a:lnTo>
                      <a:pt x="202" y="228"/>
                    </a:lnTo>
                    <a:lnTo>
                      <a:pt x="202" y="215"/>
                    </a:lnTo>
                    <a:lnTo>
                      <a:pt x="199" y="189"/>
                    </a:lnTo>
                    <a:lnTo>
                      <a:pt x="194" y="167"/>
                    </a:lnTo>
                    <a:lnTo>
                      <a:pt x="190" y="147"/>
                    </a:lnTo>
                    <a:lnTo>
                      <a:pt x="179" y="123"/>
                    </a:lnTo>
                    <a:lnTo>
                      <a:pt x="170" y="102"/>
                    </a:lnTo>
                    <a:lnTo>
                      <a:pt x="155" y="62"/>
                    </a:lnTo>
                    <a:lnTo>
                      <a:pt x="142" y="27"/>
                    </a:lnTo>
                    <a:lnTo>
                      <a:pt x="133" y="0"/>
                    </a:lnTo>
                    <a:lnTo>
                      <a:pt x="132" y="29"/>
                    </a:lnTo>
                    <a:lnTo>
                      <a:pt x="130" y="43"/>
                    </a:lnTo>
                    <a:lnTo>
                      <a:pt x="128" y="50"/>
                    </a:lnTo>
                    <a:lnTo>
                      <a:pt x="128" y="59"/>
                    </a:lnTo>
                    <a:lnTo>
                      <a:pt x="124" y="87"/>
                    </a:lnTo>
                    <a:lnTo>
                      <a:pt x="120" y="102"/>
                    </a:lnTo>
                    <a:lnTo>
                      <a:pt x="118" y="117"/>
                    </a:lnTo>
                    <a:lnTo>
                      <a:pt x="109" y="144"/>
                    </a:lnTo>
                    <a:lnTo>
                      <a:pt x="107" y="146"/>
                    </a:lnTo>
                    <a:lnTo>
                      <a:pt x="106" y="147"/>
                    </a:lnTo>
                    <a:lnTo>
                      <a:pt x="106" y="150"/>
                    </a:lnTo>
                    <a:lnTo>
                      <a:pt x="103" y="157"/>
                    </a:lnTo>
                    <a:lnTo>
                      <a:pt x="98" y="171"/>
                    </a:lnTo>
                    <a:lnTo>
                      <a:pt x="85" y="198"/>
                    </a:lnTo>
                    <a:lnTo>
                      <a:pt x="78" y="211"/>
                    </a:lnTo>
                    <a:lnTo>
                      <a:pt x="72" y="225"/>
                    </a:lnTo>
                    <a:lnTo>
                      <a:pt x="61" y="240"/>
                    </a:lnTo>
                    <a:lnTo>
                      <a:pt x="53" y="254"/>
                    </a:lnTo>
                    <a:lnTo>
                      <a:pt x="46" y="267"/>
                    </a:lnTo>
                    <a:lnTo>
                      <a:pt x="40" y="279"/>
                    </a:lnTo>
                    <a:lnTo>
                      <a:pt x="34" y="289"/>
                    </a:lnTo>
                    <a:lnTo>
                      <a:pt x="29" y="297"/>
                    </a:lnTo>
                    <a:lnTo>
                      <a:pt x="23" y="312"/>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65" name="Freeform 3233">
                <a:extLst>
                  <a:ext uri="{FF2B5EF4-FFF2-40B4-BE49-F238E27FC236}">
                    <a16:creationId xmlns:a16="http://schemas.microsoft.com/office/drawing/2014/main" id="{02BD8265-A55A-29F1-E40C-6A3AF57F340F}"/>
                  </a:ext>
                </a:extLst>
              </p:cNvPr>
              <p:cNvSpPr>
                <a:spLocks/>
              </p:cNvSpPr>
              <p:nvPr/>
            </p:nvSpPr>
            <p:spPr bwMode="auto">
              <a:xfrm>
                <a:off x="3619" y="1828"/>
                <a:ext cx="143" cy="122"/>
              </a:xfrm>
              <a:custGeom>
                <a:avLst/>
                <a:gdLst>
                  <a:gd name="T0" fmla="*/ 76 w 112"/>
                  <a:gd name="T1" fmla="*/ 111 h 137"/>
                  <a:gd name="T2" fmla="*/ 71 w 112"/>
                  <a:gd name="T3" fmla="*/ 121 h 137"/>
                  <a:gd name="T4" fmla="*/ 66 w 112"/>
                  <a:gd name="T5" fmla="*/ 129 h 137"/>
                  <a:gd name="T6" fmla="*/ 59 w 112"/>
                  <a:gd name="T7" fmla="*/ 134 h 137"/>
                  <a:gd name="T8" fmla="*/ 57 w 112"/>
                  <a:gd name="T9" fmla="*/ 134 h 137"/>
                  <a:gd name="T10" fmla="*/ 56 w 112"/>
                  <a:gd name="T11" fmla="*/ 134 h 137"/>
                  <a:gd name="T12" fmla="*/ 56 w 112"/>
                  <a:gd name="T13" fmla="*/ 135 h 137"/>
                  <a:gd name="T14" fmla="*/ 53 w 112"/>
                  <a:gd name="T15" fmla="*/ 137 h 137"/>
                  <a:gd name="T16" fmla="*/ 53 w 112"/>
                  <a:gd name="T17" fmla="*/ 127 h 137"/>
                  <a:gd name="T18" fmla="*/ 54 w 112"/>
                  <a:gd name="T19" fmla="*/ 120 h 137"/>
                  <a:gd name="T20" fmla="*/ 53 w 112"/>
                  <a:gd name="T21" fmla="*/ 113 h 137"/>
                  <a:gd name="T22" fmla="*/ 53 w 112"/>
                  <a:gd name="T23" fmla="*/ 108 h 137"/>
                  <a:gd name="T24" fmla="*/ 51 w 112"/>
                  <a:gd name="T25" fmla="*/ 103 h 137"/>
                  <a:gd name="T26" fmla="*/ 50 w 112"/>
                  <a:gd name="T27" fmla="*/ 101 h 137"/>
                  <a:gd name="T28" fmla="*/ 47 w 112"/>
                  <a:gd name="T29" fmla="*/ 98 h 137"/>
                  <a:gd name="T30" fmla="*/ 46 w 112"/>
                  <a:gd name="T31" fmla="*/ 98 h 137"/>
                  <a:gd name="T32" fmla="*/ 41 w 112"/>
                  <a:gd name="T33" fmla="*/ 97 h 137"/>
                  <a:gd name="T34" fmla="*/ 38 w 112"/>
                  <a:gd name="T35" fmla="*/ 98 h 137"/>
                  <a:gd name="T36" fmla="*/ 32 w 112"/>
                  <a:gd name="T37" fmla="*/ 101 h 137"/>
                  <a:gd name="T38" fmla="*/ 27 w 112"/>
                  <a:gd name="T39" fmla="*/ 105 h 137"/>
                  <a:gd name="T40" fmla="*/ 14 w 112"/>
                  <a:gd name="T41" fmla="*/ 116 h 137"/>
                  <a:gd name="T42" fmla="*/ 6 w 112"/>
                  <a:gd name="T43" fmla="*/ 123 h 137"/>
                  <a:gd name="T44" fmla="*/ 0 w 112"/>
                  <a:gd name="T45" fmla="*/ 133 h 137"/>
                  <a:gd name="T46" fmla="*/ 17 w 112"/>
                  <a:gd name="T47" fmla="*/ 86 h 137"/>
                  <a:gd name="T48" fmla="*/ 23 w 112"/>
                  <a:gd name="T49" fmla="*/ 69 h 137"/>
                  <a:gd name="T50" fmla="*/ 33 w 112"/>
                  <a:gd name="T51" fmla="*/ 56 h 137"/>
                  <a:gd name="T52" fmla="*/ 42 w 112"/>
                  <a:gd name="T53" fmla="*/ 43 h 137"/>
                  <a:gd name="T54" fmla="*/ 56 w 112"/>
                  <a:gd name="T55" fmla="*/ 32 h 137"/>
                  <a:gd name="T56" fmla="*/ 82 w 112"/>
                  <a:gd name="T57" fmla="*/ 13 h 137"/>
                  <a:gd name="T58" fmla="*/ 112 w 112"/>
                  <a:gd name="T59" fmla="*/ 0 h 137"/>
                  <a:gd name="T60" fmla="*/ 95 w 112"/>
                  <a:gd name="T61" fmla="*/ 47 h 137"/>
                  <a:gd name="T62" fmla="*/ 76 w 112"/>
                  <a:gd name="T63" fmla="*/ 11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 h="137">
                    <a:moveTo>
                      <a:pt x="76" y="111"/>
                    </a:moveTo>
                    <a:lnTo>
                      <a:pt x="71" y="121"/>
                    </a:lnTo>
                    <a:lnTo>
                      <a:pt x="66" y="129"/>
                    </a:lnTo>
                    <a:lnTo>
                      <a:pt x="59" y="134"/>
                    </a:lnTo>
                    <a:lnTo>
                      <a:pt x="57" y="134"/>
                    </a:lnTo>
                    <a:lnTo>
                      <a:pt x="56" y="134"/>
                    </a:lnTo>
                    <a:lnTo>
                      <a:pt x="56" y="135"/>
                    </a:lnTo>
                    <a:lnTo>
                      <a:pt x="53" y="137"/>
                    </a:lnTo>
                    <a:lnTo>
                      <a:pt x="53" y="127"/>
                    </a:lnTo>
                    <a:lnTo>
                      <a:pt x="54" y="120"/>
                    </a:lnTo>
                    <a:lnTo>
                      <a:pt x="53" y="113"/>
                    </a:lnTo>
                    <a:lnTo>
                      <a:pt x="53" y="108"/>
                    </a:lnTo>
                    <a:lnTo>
                      <a:pt x="51" y="103"/>
                    </a:lnTo>
                    <a:lnTo>
                      <a:pt x="50" y="101"/>
                    </a:lnTo>
                    <a:lnTo>
                      <a:pt x="47" y="98"/>
                    </a:lnTo>
                    <a:lnTo>
                      <a:pt x="46" y="98"/>
                    </a:lnTo>
                    <a:lnTo>
                      <a:pt x="41" y="97"/>
                    </a:lnTo>
                    <a:lnTo>
                      <a:pt x="38" y="98"/>
                    </a:lnTo>
                    <a:lnTo>
                      <a:pt x="32" y="101"/>
                    </a:lnTo>
                    <a:lnTo>
                      <a:pt x="27" y="105"/>
                    </a:lnTo>
                    <a:lnTo>
                      <a:pt x="14" y="116"/>
                    </a:lnTo>
                    <a:lnTo>
                      <a:pt x="6" y="123"/>
                    </a:lnTo>
                    <a:lnTo>
                      <a:pt x="0" y="133"/>
                    </a:lnTo>
                    <a:lnTo>
                      <a:pt x="17" y="86"/>
                    </a:lnTo>
                    <a:lnTo>
                      <a:pt x="23" y="69"/>
                    </a:lnTo>
                    <a:lnTo>
                      <a:pt x="33" y="56"/>
                    </a:lnTo>
                    <a:lnTo>
                      <a:pt x="42" y="43"/>
                    </a:lnTo>
                    <a:lnTo>
                      <a:pt x="56" y="32"/>
                    </a:lnTo>
                    <a:lnTo>
                      <a:pt x="82" y="13"/>
                    </a:lnTo>
                    <a:lnTo>
                      <a:pt x="112" y="0"/>
                    </a:lnTo>
                    <a:lnTo>
                      <a:pt x="95" y="47"/>
                    </a:lnTo>
                    <a:lnTo>
                      <a:pt x="76" y="111"/>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66" name="Freeform 3234">
                <a:extLst>
                  <a:ext uri="{FF2B5EF4-FFF2-40B4-BE49-F238E27FC236}">
                    <a16:creationId xmlns:a16="http://schemas.microsoft.com/office/drawing/2014/main" id="{B347CB83-3BAF-50C1-867F-577E02508E7C}"/>
                  </a:ext>
                </a:extLst>
              </p:cNvPr>
              <p:cNvSpPr>
                <a:spLocks/>
              </p:cNvSpPr>
              <p:nvPr/>
            </p:nvSpPr>
            <p:spPr bwMode="auto">
              <a:xfrm>
                <a:off x="3271" y="2129"/>
                <a:ext cx="83" cy="65"/>
              </a:xfrm>
              <a:custGeom>
                <a:avLst/>
                <a:gdLst>
                  <a:gd name="T0" fmla="*/ 8 w 68"/>
                  <a:gd name="T1" fmla="*/ 34 h 72"/>
                  <a:gd name="T2" fmla="*/ 8 w 68"/>
                  <a:gd name="T3" fmla="*/ 38 h 72"/>
                  <a:gd name="T4" fmla="*/ 8 w 68"/>
                  <a:gd name="T5" fmla="*/ 42 h 72"/>
                  <a:gd name="T6" fmla="*/ 8 w 68"/>
                  <a:gd name="T7" fmla="*/ 51 h 72"/>
                  <a:gd name="T8" fmla="*/ 8 w 68"/>
                  <a:gd name="T9" fmla="*/ 56 h 72"/>
                  <a:gd name="T10" fmla="*/ 11 w 68"/>
                  <a:gd name="T11" fmla="*/ 62 h 72"/>
                  <a:gd name="T12" fmla="*/ 18 w 68"/>
                  <a:gd name="T13" fmla="*/ 72 h 72"/>
                  <a:gd name="T14" fmla="*/ 20 w 68"/>
                  <a:gd name="T15" fmla="*/ 72 h 72"/>
                  <a:gd name="T16" fmla="*/ 23 w 68"/>
                  <a:gd name="T17" fmla="*/ 61 h 72"/>
                  <a:gd name="T18" fmla="*/ 24 w 68"/>
                  <a:gd name="T19" fmla="*/ 54 h 72"/>
                  <a:gd name="T20" fmla="*/ 28 w 68"/>
                  <a:gd name="T21" fmla="*/ 50 h 72"/>
                  <a:gd name="T22" fmla="*/ 31 w 68"/>
                  <a:gd name="T23" fmla="*/ 48 h 72"/>
                  <a:gd name="T24" fmla="*/ 37 w 68"/>
                  <a:gd name="T25" fmla="*/ 48 h 72"/>
                  <a:gd name="T26" fmla="*/ 42 w 68"/>
                  <a:gd name="T27" fmla="*/ 48 h 72"/>
                  <a:gd name="T28" fmla="*/ 49 w 68"/>
                  <a:gd name="T29" fmla="*/ 51 h 72"/>
                  <a:gd name="T30" fmla="*/ 58 w 68"/>
                  <a:gd name="T31" fmla="*/ 55 h 72"/>
                  <a:gd name="T32" fmla="*/ 68 w 68"/>
                  <a:gd name="T33" fmla="*/ 62 h 72"/>
                  <a:gd name="T34" fmla="*/ 61 w 68"/>
                  <a:gd name="T35" fmla="*/ 46 h 72"/>
                  <a:gd name="T36" fmla="*/ 54 w 68"/>
                  <a:gd name="T37" fmla="*/ 33 h 72"/>
                  <a:gd name="T38" fmla="*/ 46 w 68"/>
                  <a:gd name="T39" fmla="*/ 22 h 72"/>
                  <a:gd name="T40" fmla="*/ 38 w 68"/>
                  <a:gd name="T41" fmla="*/ 14 h 72"/>
                  <a:gd name="T42" fmla="*/ 29 w 68"/>
                  <a:gd name="T43" fmla="*/ 7 h 72"/>
                  <a:gd name="T44" fmla="*/ 20 w 68"/>
                  <a:gd name="T45" fmla="*/ 3 h 72"/>
                  <a:gd name="T46" fmla="*/ 10 w 68"/>
                  <a:gd name="T47" fmla="*/ 0 h 72"/>
                  <a:gd name="T48" fmla="*/ 0 w 68"/>
                  <a:gd name="T49" fmla="*/ 1 h 72"/>
                  <a:gd name="T50" fmla="*/ 2 w 68"/>
                  <a:gd name="T51" fmla="*/ 6 h 72"/>
                  <a:gd name="T52" fmla="*/ 6 w 68"/>
                  <a:gd name="T53" fmla="*/ 13 h 72"/>
                  <a:gd name="T54" fmla="*/ 8 w 68"/>
                  <a:gd name="T55" fmla="*/ 31 h 72"/>
                  <a:gd name="T56" fmla="*/ 8 w 68"/>
                  <a:gd name="T57"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 h="72">
                    <a:moveTo>
                      <a:pt x="8" y="34"/>
                    </a:moveTo>
                    <a:lnTo>
                      <a:pt x="8" y="38"/>
                    </a:lnTo>
                    <a:lnTo>
                      <a:pt x="8" y="42"/>
                    </a:lnTo>
                    <a:lnTo>
                      <a:pt x="8" y="51"/>
                    </a:lnTo>
                    <a:lnTo>
                      <a:pt x="8" y="56"/>
                    </a:lnTo>
                    <a:lnTo>
                      <a:pt x="11" y="62"/>
                    </a:lnTo>
                    <a:lnTo>
                      <a:pt x="18" y="72"/>
                    </a:lnTo>
                    <a:lnTo>
                      <a:pt x="20" y="72"/>
                    </a:lnTo>
                    <a:lnTo>
                      <a:pt x="23" y="61"/>
                    </a:lnTo>
                    <a:lnTo>
                      <a:pt x="24" y="54"/>
                    </a:lnTo>
                    <a:lnTo>
                      <a:pt x="28" y="50"/>
                    </a:lnTo>
                    <a:lnTo>
                      <a:pt x="31" y="48"/>
                    </a:lnTo>
                    <a:lnTo>
                      <a:pt x="37" y="48"/>
                    </a:lnTo>
                    <a:lnTo>
                      <a:pt x="42" y="48"/>
                    </a:lnTo>
                    <a:lnTo>
                      <a:pt x="49" y="51"/>
                    </a:lnTo>
                    <a:lnTo>
                      <a:pt x="58" y="55"/>
                    </a:lnTo>
                    <a:lnTo>
                      <a:pt x="68" y="62"/>
                    </a:lnTo>
                    <a:lnTo>
                      <a:pt x="61" y="46"/>
                    </a:lnTo>
                    <a:lnTo>
                      <a:pt x="54" y="33"/>
                    </a:lnTo>
                    <a:lnTo>
                      <a:pt x="46" y="22"/>
                    </a:lnTo>
                    <a:lnTo>
                      <a:pt x="38" y="14"/>
                    </a:lnTo>
                    <a:lnTo>
                      <a:pt x="29" y="7"/>
                    </a:lnTo>
                    <a:lnTo>
                      <a:pt x="20" y="3"/>
                    </a:lnTo>
                    <a:lnTo>
                      <a:pt x="10" y="0"/>
                    </a:lnTo>
                    <a:lnTo>
                      <a:pt x="0" y="1"/>
                    </a:lnTo>
                    <a:lnTo>
                      <a:pt x="2" y="6"/>
                    </a:lnTo>
                    <a:lnTo>
                      <a:pt x="6" y="13"/>
                    </a:lnTo>
                    <a:lnTo>
                      <a:pt x="8" y="31"/>
                    </a:lnTo>
                    <a:lnTo>
                      <a:pt x="8" y="34"/>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67" name="Freeform 3235">
                <a:extLst>
                  <a:ext uri="{FF2B5EF4-FFF2-40B4-BE49-F238E27FC236}">
                    <a16:creationId xmlns:a16="http://schemas.microsoft.com/office/drawing/2014/main" id="{4BA19A2C-E75F-F170-EE21-B5259C886A69}"/>
                  </a:ext>
                </a:extLst>
              </p:cNvPr>
              <p:cNvSpPr>
                <a:spLocks/>
              </p:cNvSpPr>
              <p:nvPr/>
            </p:nvSpPr>
            <p:spPr bwMode="auto">
              <a:xfrm>
                <a:off x="3392" y="2221"/>
                <a:ext cx="4" cy="3"/>
              </a:xfrm>
              <a:custGeom>
                <a:avLst/>
                <a:gdLst>
                  <a:gd name="T0" fmla="*/ 0 w 3"/>
                  <a:gd name="T1" fmla="*/ 0 h 4"/>
                  <a:gd name="T2" fmla="*/ 0 w 3"/>
                  <a:gd name="T3" fmla="*/ 4 h 4"/>
                  <a:gd name="T4" fmla="*/ 3 w 3"/>
                  <a:gd name="T5" fmla="*/ 3 h 4"/>
                  <a:gd name="T6" fmla="*/ 0 w 3"/>
                  <a:gd name="T7" fmla="*/ 0 h 4"/>
                </a:gdLst>
                <a:ahLst/>
                <a:cxnLst>
                  <a:cxn ang="0">
                    <a:pos x="T0" y="T1"/>
                  </a:cxn>
                  <a:cxn ang="0">
                    <a:pos x="T2" y="T3"/>
                  </a:cxn>
                  <a:cxn ang="0">
                    <a:pos x="T4" y="T5"/>
                  </a:cxn>
                  <a:cxn ang="0">
                    <a:pos x="T6" y="T7"/>
                  </a:cxn>
                </a:cxnLst>
                <a:rect l="0" t="0" r="r" b="b"/>
                <a:pathLst>
                  <a:path w="3" h="4">
                    <a:moveTo>
                      <a:pt x="0" y="0"/>
                    </a:moveTo>
                    <a:lnTo>
                      <a:pt x="0" y="4"/>
                    </a:lnTo>
                    <a:lnTo>
                      <a:pt x="3" y="3"/>
                    </a:lnTo>
                    <a:lnTo>
                      <a:pt x="0"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68" name="Freeform 3236">
                <a:extLst>
                  <a:ext uri="{FF2B5EF4-FFF2-40B4-BE49-F238E27FC236}">
                    <a16:creationId xmlns:a16="http://schemas.microsoft.com/office/drawing/2014/main" id="{A5D880C9-5CF1-6B4C-EB04-54106512FB60}"/>
                  </a:ext>
                </a:extLst>
              </p:cNvPr>
              <p:cNvSpPr>
                <a:spLocks/>
              </p:cNvSpPr>
              <p:nvPr/>
            </p:nvSpPr>
            <p:spPr bwMode="auto">
              <a:xfrm>
                <a:off x="3264" y="2224"/>
                <a:ext cx="222" cy="296"/>
              </a:xfrm>
              <a:custGeom>
                <a:avLst/>
                <a:gdLst>
                  <a:gd name="T0" fmla="*/ 104 w 176"/>
                  <a:gd name="T1" fmla="*/ 0 h 329"/>
                  <a:gd name="T2" fmla="*/ 101 w 176"/>
                  <a:gd name="T3" fmla="*/ 1 h 329"/>
                  <a:gd name="T4" fmla="*/ 101 w 176"/>
                  <a:gd name="T5" fmla="*/ 17 h 329"/>
                  <a:gd name="T6" fmla="*/ 101 w 176"/>
                  <a:gd name="T7" fmla="*/ 31 h 329"/>
                  <a:gd name="T8" fmla="*/ 104 w 176"/>
                  <a:gd name="T9" fmla="*/ 55 h 329"/>
                  <a:gd name="T10" fmla="*/ 101 w 176"/>
                  <a:gd name="T11" fmla="*/ 73 h 329"/>
                  <a:gd name="T12" fmla="*/ 98 w 176"/>
                  <a:gd name="T13" fmla="*/ 93 h 329"/>
                  <a:gd name="T14" fmla="*/ 89 w 176"/>
                  <a:gd name="T15" fmla="*/ 115 h 329"/>
                  <a:gd name="T16" fmla="*/ 80 w 176"/>
                  <a:gd name="T17" fmla="*/ 138 h 329"/>
                  <a:gd name="T18" fmla="*/ 64 w 176"/>
                  <a:gd name="T19" fmla="*/ 158 h 329"/>
                  <a:gd name="T20" fmla="*/ 52 w 176"/>
                  <a:gd name="T21" fmla="*/ 179 h 329"/>
                  <a:gd name="T22" fmla="*/ 40 w 176"/>
                  <a:gd name="T23" fmla="*/ 195 h 329"/>
                  <a:gd name="T24" fmla="*/ 32 w 176"/>
                  <a:gd name="T25" fmla="*/ 211 h 329"/>
                  <a:gd name="T26" fmla="*/ 23 w 176"/>
                  <a:gd name="T27" fmla="*/ 222 h 329"/>
                  <a:gd name="T28" fmla="*/ 17 w 176"/>
                  <a:gd name="T29" fmla="*/ 234 h 329"/>
                  <a:gd name="T30" fmla="*/ 8 w 176"/>
                  <a:gd name="T31" fmla="*/ 255 h 329"/>
                  <a:gd name="T32" fmla="*/ 2 w 176"/>
                  <a:gd name="T33" fmla="*/ 275 h 329"/>
                  <a:gd name="T34" fmla="*/ 0 w 176"/>
                  <a:gd name="T35" fmla="*/ 293 h 329"/>
                  <a:gd name="T36" fmla="*/ 3 w 176"/>
                  <a:gd name="T37" fmla="*/ 309 h 329"/>
                  <a:gd name="T38" fmla="*/ 10 w 176"/>
                  <a:gd name="T39" fmla="*/ 329 h 329"/>
                  <a:gd name="T40" fmla="*/ 17 w 176"/>
                  <a:gd name="T41" fmla="*/ 327 h 329"/>
                  <a:gd name="T42" fmla="*/ 26 w 176"/>
                  <a:gd name="T43" fmla="*/ 327 h 329"/>
                  <a:gd name="T44" fmla="*/ 42 w 176"/>
                  <a:gd name="T45" fmla="*/ 326 h 329"/>
                  <a:gd name="T46" fmla="*/ 50 w 176"/>
                  <a:gd name="T47" fmla="*/ 324 h 329"/>
                  <a:gd name="T48" fmla="*/ 50 w 176"/>
                  <a:gd name="T49" fmla="*/ 323 h 329"/>
                  <a:gd name="T50" fmla="*/ 51 w 176"/>
                  <a:gd name="T51" fmla="*/ 323 h 329"/>
                  <a:gd name="T52" fmla="*/ 53 w 176"/>
                  <a:gd name="T53" fmla="*/ 323 h 329"/>
                  <a:gd name="T54" fmla="*/ 58 w 176"/>
                  <a:gd name="T55" fmla="*/ 323 h 329"/>
                  <a:gd name="T56" fmla="*/ 75 w 176"/>
                  <a:gd name="T57" fmla="*/ 318 h 329"/>
                  <a:gd name="T58" fmla="*/ 81 w 176"/>
                  <a:gd name="T59" fmla="*/ 313 h 329"/>
                  <a:gd name="T60" fmla="*/ 88 w 176"/>
                  <a:gd name="T61" fmla="*/ 309 h 329"/>
                  <a:gd name="T62" fmla="*/ 102 w 176"/>
                  <a:gd name="T63" fmla="*/ 302 h 329"/>
                  <a:gd name="T64" fmla="*/ 114 w 176"/>
                  <a:gd name="T65" fmla="*/ 293 h 329"/>
                  <a:gd name="T66" fmla="*/ 126 w 176"/>
                  <a:gd name="T67" fmla="*/ 283 h 329"/>
                  <a:gd name="T68" fmla="*/ 136 w 176"/>
                  <a:gd name="T69" fmla="*/ 271 h 329"/>
                  <a:gd name="T70" fmla="*/ 146 w 176"/>
                  <a:gd name="T71" fmla="*/ 259 h 329"/>
                  <a:gd name="T72" fmla="*/ 149 w 176"/>
                  <a:gd name="T73" fmla="*/ 252 h 329"/>
                  <a:gd name="T74" fmla="*/ 154 w 176"/>
                  <a:gd name="T75" fmla="*/ 246 h 329"/>
                  <a:gd name="T76" fmla="*/ 158 w 176"/>
                  <a:gd name="T77" fmla="*/ 239 h 329"/>
                  <a:gd name="T78" fmla="*/ 162 w 176"/>
                  <a:gd name="T79" fmla="*/ 233 h 329"/>
                  <a:gd name="T80" fmla="*/ 168 w 176"/>
                  <a:gd name="T81" fmla="*/ 216 h 329"/>
                  <a:gd name="T82" fmla="*/ 172 w 176"/>
                  <a:gd name="T83" fmla="*/ 199 h 329"/>
                  <a:gd name="T84" fmla="*/ 174 w 176"/>
                  <a:gd name="T85" fmla="*/ 182 h 329"/>
                  <a:gd name="T86" fmla="*/ 176 w 176"/>
                  <a:gd name="T87" fmla="*/ 168 h 329"/>
                  <a:gd name="T88" fmla="*/ 174 w 176"/>
                  <a:gd name="T89" fmla="*/ 151 h 329"/>
                  <a:gd name="T90" fmla="*/ 172 w 176"/>
                  <a:gd name="T91" fmla="*/ 137 h 329"/>
                  <a:gd name="T92" fmla="*/ 167 w 176"/>
                  <a:gd name="T93" fmla="*/ 120 h 329"/>
                  <a:gd name="T94" fmla="*/ 161 w 176"/>
                  <a:gd name="T95" fmla="*/ 105 h 329"/>
                  <a:gd name="T96" fmla="*/ 134 w 176"/>
                  <a:gd name="T97" fmla="*/ 51 h 329"/>
                  <a:gd name="T98" fmla="*/ 104 w 176"/>
                  <a:gd name="T99"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6" h="329">
                    <a:moveTo>
                      <a:pt x="104" y="0"/>
                    </a:moveTo>
                    <a:lnTo>
                      <a:pt x="101" y="1"/>
                    </a:lnTo>
                    <a:lnTo>
                      <a:pt x="101" y="17"/>
                    </a:lnTo>
                    <a:lnTo>
                      <a:pt x="101" y="31"/>
                    </a:lnTo>
                    <a:lnTo>
                      <a:pt x="104" y="55"/>
                    </a:lnTo>
                    <a:lnTo>
                      <a:pt x="101" y="73"/>
                    </a:lnTo>
                    <a:lnTo>
                      <a:pt x="98" y="93"/>
                    </a:lnTo>
                    <a:lnTo>
                      <a:pt x="89" y="115"/>
                    </a:lnTo>
                    <a:lnTo>
                      <a:pt x="80" y="138"/>
                    </a:lnTo>
                    <a:lnTo>
                      <a:pt x="64" y="158"/>
                    </a:lnTo>
                    <a:lnTo>
                      <a:pt x="52" y="179"/>
                    </a:lnTo>
                    <a:lnTo>
                      <a:pt x="40" y="195"/>
                    </a:lnTo>
                    <a:lnTo>
                      <a:pt x="32" y="211"/>
                    </a:lnTo>
                    <a:lnTo>
                      <a:pt x="23" y="222"/>
                    </a:lnTo>
                    <a:lnTo>
                      <a:pt x="17" y="234"/>
                    </a:lnTo>
                    <a:lnTo>
                      <a:pt x="8" y="255"/>
                    </a:lnTo>
                    <a:lnTo>
                      <a:pt x="2" y="275"/>
                    </a:lnTo>
                    <a:lnTo>
                      <a:pt x="0" y="293"/>
                    </a:lnTo>
                    <a:lnTo>
                      <a:pt x="3" y="309"/>
                    </a:lnTo>
                    <a:lnTo>
                      <a:pt x="10" y="329"/>
                    </a:lnTo>
                    <a:lnTo>
                      <a:pt x="17" y="327"/>
                    </a:lnTo>
                    <a:lnTo>
                      <a:pt x="26" y="327"/>
                    </a:lnTo>
                    <a:lnTo>
                      <a:pt x="42" y="326"/>
                    </a:lnTo>
                    <a:lnTo>
                      <a:pt x="50" y="324"/>
                    </a:lnTo>
                    <a:lnTo>
                      <a:pt x="50" y="323"/>
                    </a:lnTo>
                    <a:lnTo>
                      <a:pt x="51" y="323"/>
                    </a:lnTo>
                    <a:lnTo>
                      <a:pt x="53" y="323"/>
                    </a:lnTo>
                    <a:lnTo>
                      <a:pt x="58" y="323"/>
                    </a:lnTo>
                    <a:lnTo>
                      <a:pt x="75" y="318"/>
                    </a:lnTo>
                    <a:lnTo>
                      <a:pt x="81" y="313"/>
                    </a:lnTo>
                    <a:lnTo>
                      <a:pt x="88" y="309"/>
                    </a:lnTo>
                    <a:lnTo>
                      <a:pt x="102" y="302"/>
                    </a:lnTo>
                    <a:lnTo>
                      <a:pt x="114" y="293"/>
                    </a:lnTo>
                    <a:lnTo>
                      <a:pt x="126" y="283"/>
                    </a:lnTo>
                    <a:lnTo>
                      <a:pt x="136" y="271"/>
                    </a:lnTo>
                    <a:lnTo>
                      <a:pt x="146" y="259"/>
                    </a:lnTo>
                    <a:lnTo>
                      <a:pt x="149" y="252"/>
                    </a:lnTo>
                    <a:lnTo>
                      <a:pt x="154" y="246"/>
                    </a:lnTo>
                    <a:lnTo>
                      <a:pt x="158" y="239"/>
                    </a:lnTo>
                    <a:lnTo>
                      <a:pt x="162" y="233"/>
                    </a:lnTo>
                    <a:lnTo>
                      <a:pt x="168" y="216"/>
                    </a:lnTo>
                    <a:lnTo>
                      <a:pt x="172" y="199"/>
                    </a:lnTo>
                    <a:lnTo>
                      <a:pt x="174" y="182"/>
                    </a:lnTo>
                    <a:lnTo>
                      <a:pt x="176" y="168"/>
                    </a:lnTo>
                    <a:lnTo>
                      <a:pt x="174" y="151"/>
                    </a:lnTo>
                    <a:lnTo>
                      <a:pt x="172" y="137"/>
                    </a:lnTo>
                    <a:lnTo>
                      <a:pt x="167" y="120"/>
                    </a:lnTo>
                    <a:lnTo>
                      <a:pt x="161" y="105"/>
                    </a:lnTo>
                    <a:lnTo>
                      <a:pt x="134" y="51"/>
                    </a:lnTo>
                    <a:lnTo>
                      <a:pt x="104" y="0"/>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69" name="Freeform 3237">
                <a:extLst>
                  <a:ext uri="{FF2B5EF4-FFF2-40B4-BE49-F238E27FC236}">
                    <a16:creationId xmlns:a16="http://schemas.microsoft.com/office/drawing/2014/main" id="{41C817F3-039B-8C2E-6D35-DB55734990A3}"/>
                  </a:ext>
                </a:extLst>
              </p:cNvPr>
              <p:cNvSpPr>
                <a:spLocks/>
              </p:cNvSpPr>
              <p:nvPr/>
            </p:nvSpPr>
            <p:spPr bwMode="auto">
              <a:xfrm>
                <a:off x="3264" y="2221"/>
                <a:ext cx="222" cy="299"/>
              </a:xfrm>
              <a:custGeom>
                <a:avLst/>
                <a:gdLst>
                  <a:gd name="T0" fmla="*/ 101 w 176"/>
                  <a:gd name="T1" fmla="*/ 0 h 332"/>
                  <a:gd name="T2" fmla="*/ 104 w 176"/>
                  <a:gd name="T3" fmla="*/ 3 h 332"/>
                  <a:gd name="T4" fmla="*/ 134 w 176"/>
                  <a:gd name="T5" fmla="*/ 54 h 332"/>
                  <a:gd name="T6" fmla="*/ 161 w 176"/>
                  <a:gd name="T7" fmla="*/ 108 h 332"/>
                  <a:gd name="T8" fmla="*/ 167 w 176"/>
                  <a:gd name="T9" fmla="*/ 123 h 332"/>
                  <a:gd name="T10" fmla="*/ 172 w 176"/>
                  <a:gd name="T11" fmla="*/ 140 h 332"/>
                  <a:gd name="T12" fmla="*/ 174 w 176"/>
                  <a:gd name="T13" fmla="*/ 154 h 332"/>
                  <a:gd name="T14" fmla="*/ 176 w 176"/>
                  <a:gd name="T15" fmla="*/ 171 h 332"/>
                  <a:gd name="T16" fmla="*/ 174 w 176"/>
                  <a:gd name="T17" fmla="*/ 185 h 332"/>
                  <a:gd name="T18" fmla="*/ 172 w 176"/>
                  <a:gd name="T19" fmla="*/ 202 h 332"/>
                  <a:gd name="T20" fmla="*/ 168 w 176"/>
                  <a:gd name="T21" fmla="*/ 219 h 332"/>
                  <a:gd name="T22" fmla="*/ 162 w 176"/>
                  <a:gd name="T23" fmla="*/ 236 h 332"/>
                  <a:gd name="T24" fmla="*/ 158 w 176"/>
                  <a:gd name="T25" fmla="*/ 242 h 332"/>
                  <a:gd name="T26" fmla="*/ 154 w 176"/>
                  <a:gd name="T27" fmla="*/ 249 h 332"/>
                  <a:gd name="T28" fmla="*/ 149 w 176"/>
                  <a:gd name="T29" fmla="*/ 255 h 332"/>
                  <a:gd name="T30" fmla="*/ 146 w 176"/>
                  <a:gd name="T31" fmla="*/ 262 h 332"/>
                  <a:gd name="T32" fmla="*/ 136 w 176"/>
                  <a:gd name="T33" fmla="*/ 274 h 332"/>
                  <a:gd name="T34" fmla="*/ 126 w 176"/>
                  <a:gd name="T35" fmla="*/ 286 h 332"/>
                  <a:gd name="T36" fmla="*/ 114 w 176"/>
                  <a:gd name="T37" fmla="*/ 296 h 332"/>
                  <a:gd name="T38" fmla="*/ 102 w 176"/>
                  <a:gd name="T39" fmla="*/ 305 h 332"/>
                  <a:gd name="T40" fmla="*/ 88 w 176"/>
                  <a:gd name="T41" fmla="*/ 312 h 332"/>
                  <a:gd name="T42" fmla="*/ 81 w 176"/>
                  <a:gd name="T43" fmla="*/ 316 h 332"/>
                  <a:gd name="T44" fmla="*/ 75 w 176"/>
                  <a:gd name="T45" fmla="*/ 321 h 332"/>
                  <a:gd name="T46" fmla="*/ 58 w 176"/>
                  <a:gd name="T47" fmla="*/ 326 h 332"/>
                  <a:gd name="T48" fmla="*/ 53 w 176"/>
                  <a:gd name="T49" fmla="*/ 326 h 332"/>
                  <a:gd name="T50" fmla="*/ 51 w 176"/>
                  <a:gd name="T51" fmla="*/ 326 h 332"/>
                  <a:gd name="T52" fmla="*/ 50 w 176"/>
                  <a:gd name="T53" fmla="*/ 326 h 332"/>
                  <a:gd name="T54" fmla="*/ 50 w 176"/>
                  <a:gd name="T55" fmla="*/ 327 h 332"/>
                  <a:gd name="T56" fmla="*/ 42 w 176"/>
                  <a:gd name="T57" fmla="*/ 329 h 332"/>
                  <a:gd name="T58" fmla="*/ 26 w 176"/>
                  <a:gd name="T59" fmla="*/ 330 h 332"/>
                  <a:gd name="T60" fmla="*/ 17 w 176"/>
                  <a:gd name="T61" fmla="*/ 330 h 332"/>
                  <a:gd name="T62" fmla="*/ 10 w 176"/>
                  <a:gd name="T63" fmla="*/ 332 h 332"/>
                  <a:gd name="T64" fmla="*/ 3 w 176"/>
                  <a:gd name="T65" fmla="*/ 312 h 332"/>
                  <a:gd name="T66" fmla="*/ 0 w 176"/>
                  <a:gd name="T67" fmla="*/ 296 h 332"/>
                  <a:gd name="T68" fmla="*/ 2 w 176"/>
                  <a:gd name="T69" fmla="*/ 278 h 332"/>
                  <a:gd name="T70" fmla="*/ 8 w 176"/>
                  <a:gd name="T71" fmla="*/ 258 h 332"/>
                  <a:gd name="T72" fmla="*/ 17 w 176"/>
                  <a:gd name="T73" fmla="*/ 237 h 332"/>
                  <a:gd name="T74" fmla="*/ 23 w 176"/>
                  <a:gd name="T75" fmla="*/ 225 h 332"/>
                  <a:gd name="T76" fmla="*/ 32 w 176"/>
                  <a:gd name="T77" fmla="*/ 214 h 332"/>
                  <a:gd name="T78" fmla="*/ 40 w 176"/>
                  <a:gd name="T79" fmla="*/ 198 h 332"/>
                  <a:gd name="T80" fmla="*/ 52 w 176"/>
                  <a:gd name="T81" fmla="*/ 182 h 332"/>
                  <a:gd name="T82" fmla="*/ 64 w 176"/>
                  <a:gd name="T83" fmla="*/ 161 h 332"/>
                  <a:gd name="T84" fmla="*/ 80 w 176"/>
                  <a:gd name="T85" fmla="*/ 141 h 332"/>
                  <a:gd name="T86" fmla="*/ 89 w 176"/>
                  <a:gd name="T87" fmla="*/ 118 h 332"/>
                  <a:gd name="T88" fmla="*/ 98 w 176"/>
                  <a:gd name="T89" fmla="*/ 96 h 332"/>
                  <a:gd name="T90" fmla="*/ 101 w 176"/>
                  <a:gd name="T91" fmla="*/ 76 h 332"/>
                  <a:gd name="T92" fmla="*/ 104 w 176"/>
                  <a:gd name="T93" fmla="*/ 58 h 332"/>
                  <a:gd name="T94" fmla="*/ 101 w 176"/>
                  <a:gd name="T95" fmla="*/ 34 h 332"/>
                  <a:gd name="T96" fmla="*/ 101 w 176"/>
                  <a:gd name="T97" fmla="*/ 20 h 332"/>
                  <a:gd name="T98" fmla="*/ 101 w 176"/>
                  <a:gd name="T99" fmla="*/ 4 h 332"/>
                  <a:gd name="T100" fmla="*/ 101 w 176"/>
                  <a:gd name="T10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6" h="332">
                    <a:moveTo>
                      <a:pt x="101" y="0"/>
                    </a:moveTo>
                    <a:lnTo>
                      <a:pt x="104" y="3"/>
                    </a:lnTo>
                    <a:lnTo>
                      <a:pt x="134" y="54"/>
                    </a:lnTo>
                    <a:lnTo>
                      <a:pt x="161" y="108"/>
                    </a:lnTo>
                    <a:lnTo>
                      <a:pt x="167" y="123"/>
                    </a:lnTo>
                    <a:lnTo>
                      <a:pt x="172" y="140"/>
                    </a:lnTo>
                    <a:lnTo>
                      <a:pt x="174" y="154"/>
                    </a:lnTo>
                    <a:lnTo>
                      <a:pt x="176" y="171"/>
                    </a:lnTo>
                    <a:lnTo>
                      <a:pt x="174" y="185"/>
                    </a:lnTo>
                    <a:lnTo>
                      <a:pt x="172" y="202"/>
                    </a:lnTo>
                    <a:lnTo>
                      <a:pt x="168" y="219"/>
                    </a:lnTo>
                    <a:lnTo>
                      <a:pt x="162" y="236"/>
                    </a:lnTo>
                    <a:lnTo>
                      <a:pt x="158" y="242"/>
                    </a:lnTo>
                    <a:lnTo>
                      <a:pt x="154" y="249"/>
                    </a:lnTo>
                    <a:lnTo>
                      <a:pt x="149" y="255"/>
                    </a:lnTo>
                    <a:lnTo>
                      <a:pt x="146" y="262"/>
                    </a:lnTo>
                    <a:lnTo>
                      <a:pt x="136" y="274"/>
                    </a:lnTo>
                    <a:lnTo>
                      <a:pt x="126" y="286"/>
                    </a:lnTo>
                    <a:lnTo>
                      <a:pt x="114" y="296"/>
                    </a:lnTo>
                    <a:lnTo>
                      <a:pt x="102" y="305"/>
                    </a:lnTo>
                    <a:lnTo>
                      <a:pt x="88" y="312"/>
                    </a:lnTo>
                    <a:lnTo>
                      <a:pt x="81" y="316"/>
                    </a:lnTo>
                    <a:lnTo>
                      <a:pt x="75" y="321"/>
                    </a:lnTo>
                    <a:lnTo>
                      <a:pt x="58" y="326"/>
                    </a:lnTo>
                    <a:lnTo>
                      <a:pt x="53" y="326"/>
                    </a:lnTo>
                    <a:lnTo>
                      <a:pt x="51" y="326"/>
                    </a:lnTo>
                    <a:lnTo>
                      <a:pt x="50" y="326"/>
                    </a:lnTo>
                    <a:lnTo>
                      <a:pt x="50" y="327"/>
                    </a:lnTo>
                    <a:lnTo>
                      <a:pt x="42" y="329"/>
                    </a:lnTo>
                    <a:lnTo>
                      <a:pt x="26" y="330"/>
                    </a:lnTo>
                    <a:lnTo>
                      <a:pt x="17" y="330"/>
                    </a:lnTo>
                    <a:lnTo>
                      <a:pt x="10" y="332"/>
                    </a:lnTo>
                    <a:lnTo>
                      <a:pt x="3" y="312"/>
                    </a:lnTo>
                    <a:lnTo>
                      <a:pt x="0" y="296"/>
                    </a:lnTo>
                    <a:lnTo>
                      <a:pt x="2" y="278"/>
                    </a:lnTo>
                    <a:lnTo>
                      <a:pt x="8" y="258"/>
                    </a:lnTo>
                    <a:lnTo>
                      <a:pt x="17" y="237"/>
                    </a:lnTo>
                    <a:lnTo>
                      <a:pt x="23" y="225"/>
                    </a:lnTo>
                    <a:lnTo>
                      <a:pt x="32" y="214"/>
                    </a:lnTo>
                    <a:lnTo>
                      <a:pt x="40" y="198"/>
                    </a:lnTo>
                    <a:lnTo>
                      <a:pt x="52" y="182"/>
                    </a:lnTo>
                    <a:lnTo>
                      <a:pt x="64" y="161"/>
                    </a:lnTo>
                    <a:lnTo>
                      <a:pt x="80" y="141"/>
                    </a:lnTo>
                    <a:lnTo>
                      <a:pt x="89" y="118"/>
                    </a:lnTo>
                    <a:lnTo>
                      <a:pt x="98" y="96"/>
                    </a:lnTo>
                    <a:lnTo>
                      <a:pt x="101" y="76"/>
                    </a:lnTo>
                    <a:lnTo>
                      <a:pt x="104" y="58"/>
                    </a:lnTo>
                    <a:lnTo>
                      <a:pt x="101" y="34"/>
                    </a:lnTo>
                    <a:lnTo>
                      <a:pt x="101" y="20"/>
                    </a:lnTo>
                    <a:lnTo>
                      <a:pt x="101" y="4"/>
                    </a:lnTo>
                    <a:lnTo>
                      <a:pt x="101" y="0"/>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70" name="Freeform 3238">
                <a:extLst>
                  <a:ext uri="{FF2B5EF4-FFF2-40B4-BE49-F238E27FC236}">
                    <a16:creationId xmlns:a16="http://schemas.microsoft.com/office/drawing/2014/main" id="{0667B4E9-ECF1-E25C-955F-EAACFAF4346C}"/>
                  </a:ext>
                </a:extLst>
              </p:cNvPr>
              <p:cNvSpPr>
                <a:spLocks/>
              </p:cNvSpPr>
              <p:nvPr/>
            </p:nvSpPr>
            <p:spPr bwMode="auto">
              <a:xfrm>
                <a:off x="3271" y="2129"/>
                <a:ext cx="83" cy="68"/>
              </a:xfrm>
              <a:custGeom>
                <a:avLst/>
                <a:gdLst>
                  <a:gd name="T0" fmla="*/ 8 w 68"/>
                  <a:gd name="T1" fmla="*/ 34 h 74"/>
                  <a:gd name="T2" fmla="*/ 8 w 68"/>
                  <a:gd name="T3" fmla="*/ 31 h 74"/>
                  <a:gd name="T4" fmla="*/ 6 w 68"/>
                  <a:gd name="T5" fmla="*/ 13 h 74"/>
                  <a:gd name="T6" fmla="*/ 2 w 68"/>
                  <a:gd name="T7" fmla="*/ 6 h 74"/>
                  <a:gd name="T8" fmla="*/ 0 w 68"/>
                  <a:gd name="T9" fmla="*/ 1 h 74"/>
                  <a:gd name="T10" fmla="*/ 10 w 68"/>
                  <a:gd name="T11" fmla="*/ 0 h 74"/>
                  <a:gd name="T12" fmla="*/ 20 w 68"/>
                  <a:gd name="T13" fmla="*/ 3 h 74"/>
                  <a:gd name="T14" fmla="*/ 29 w 68"/>
                  <a:gd name="T15" fmla="*/ 7 h 74"/>
                  <a:gd name="T16" fmla="*/ 38 w 68"/>
                  <a:gd name="T17" fmla="*/ 14 h 74"/>
                  <a:gd name="T18" fmla="*/ 46 w 68"/>
                  <a:gd name="T19" fmla="*/ 22 h 74"/>
                  <a:gd name="T20" fmla="*/ 54 w 68"/>
                  <a:gd name="T21" fmla="*/ 33 h 74"/>
                  <a:gd name="T22" fmla="*/ 61 w 68"/>
                  <a:gd name="T23" fmla="*/ 46 h 74"/>
                  <a:gd name="T24" fmla="*/ 68 w 68"/>
                  <a:gd name="T25" fmla="*/ 62 h 74"/>
                  <a:gd name="T26" fmla="*/ 58 w 68"/>
                  <a:gd name="T27" fmla="*/ 55 h 74"/>
                  <a:gd name="T28" fmla="*/ 49 w 68"/>
                  <a:gd name="T29" fmla="*/ 51 h 74"/>
                  <a:gd name="T30" fmla="*/ 42 w 68"/>
                  <a:gd name="T31" fmla="*/ 48 h 74"/>
                  <a:gd name="T32" fmla="*/ 37 w 68"/>
                  <a:gd name="T33" fmla="*/ 48 h 74"/>
                  <a:gd name="T34" fmla="*/ 31 w 68"/>
                  <a:gd name="T35" fmla="*/ 48 h 74"/>
                  <a:gd name="T36" fmla="*/ 28 w 68"/>
                  <a:gd name="T37" fmla="*/ 50 h 74"/>
                  <a:gd name="T38" fmla="*/ 24 w 68"/>
                  <a:gd name="T39" fmla="*/ 54 h 74"/>
                  <a:gd name="T40" fmla="*/ 23 w 68"/>
                  <a:gd name="T41" fmla="*/ 61 h 74"/>
                  <a:gd name="T42" fmla="*/ 20 w 68"/>
                  <a:gd name="T43" fmla="*/ 72 h 74"/>
                  <a:gd name="T44" fmla="*/ 20 w 68"/>
                  <a:gd name="T45" fmla="*/ 74 h 74"/>
                  <a:gd name="T46" fmla="*/ 18 w 68"/>
                  <a:gd name="T47" fmla="*/ 72 h 74"/>
                  <a:gd name="T48" fmla="*/ 11 w 68"/>
                  <a:gd name="T49" fmla="*/ 62 h 74"/>
                  <a:gd name="T50" fmla="*/ 8 w 68"/>
                  <a:gd name="T51" fmla="*/ 56 h 74"/>
                  <a:gd name="T52" fmla="*/ 8 w 68"/>
                  <a:gd name="T53" fmla="*/ 51 h 74"/>
                  <a:gd name="T54" fmla="*/ 8 w 68"/>
                  <a:gd name="T55" fmla="*/ 42 h 74"/>
                  <a:gd name="T56" fmla="*/ 8 w 68"/>
                  <a:gd name="T57" fmla="*/ 38 h 74"/>
                  <a:gd name="T58" fmla="*/ 8 w 68"/>
                  <a:gd name="T59" fmla="*/ 3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 h="74">
                    <a:moveTo>
                      <a:pt x="8" y="34"/>
                    </a:moveTo>
                    <a:lnTo>
                      <a:pt x="8" y="31"/>
                    </a:lnTo>
                    <a:lnTo>
                      <a:pt x="6" y="13"/>
                    </a:lnTo>
                    <a:lnTo>
                      <a:pt x="2" y="6"/>
                    </a:lnTo>
                    <a:lnTo>
                      <a:pt x="0" y="1"/>
                    </a:lnTo>
                    <a:lnTo>
                      <a:pt x="10" y="0"/>
                    </a:lnTo>
                    <a:lnTo>
                      <a:pt x="20" y="3"/>
                    </a:lnTo>
                    <a:lnTo>
                      <a:pt x="29" y="7"/>
                    </a:lnTo>
                    <a:lnTo>
                      <a:pt x="38" y="14"/>
                    </a:lnTo>
                    <a:lnTo>
                      <a:pt x="46" y="22"/>
                    </a:lnTo>
                    <a:lnTo>
                      <a:pt x="54" y="33"/>
                    </a:lnTo>
                    <a:lnTo>
                      <a:pt x="61" y="46"/>
                    </a:lnTo>
                    <a:lnTo>
                      <a:pt x="68" y="62"/>
                    </a:lnTo>
                    <a:lnTo>
                      <a:pt x="58" y="55"/>
                    </a:lnTo>
                    <a:lnTo>
                      <a:pt x="49" y="51"/>
                    </a:lnTo>
                    <a:lnTo>
                      <a:pt x="42" y="48"/>
                    </a:lnTo>
                    <a:lnTo>
                      <a:pt x="37" y="48"/>
                    </a:lnTo>
                    <a:lnTo>
                      <a:pt x="31" y="48"/>
                    </a:lnTo>
                    <a:lnTo>
                      <a:pt x="28" y="50"/>
                    </a:lnTo>
                    <a:lnTo>
                      <a:pt x="24" y="54"/>
                    </a:lnTo>
                    <a:lnTo>
                      <a:pt x="23" y="61"/>
                    </a:lnTo>
                    <a:lnTo>
                      <a:pt x="20" y="72"/>
                    </a:lnTo>
                    <a:lnTo>
                      <a:pt x="20" y="74"/>
                    </a:lnTo>
                    <a:lnTo>
                      <a:pt x="18" y="72"/>
                    </a:lnTo>
                    <a:lnTo>
                      <a:pt x="11" y="62"/>
                    </a:lnTo>
                    <a:lnTo>
                      <a:pt x="8" y="56"/>
                    </a:lnTo>
                    <a:lnTo>
                      <a:pt x="8" y="51"/>
                    </a:lnTo>
                    <a:lnTo>
                      <a:pt x="8" y="42"/>
                    </a:lnTo>
                    <a:lnTo>
                      <a:pt x="8" y="38"/>
                    </a:lnTo>
                    <a:lnTo>
                      <a:pt x="8" y="34"/>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71" name="Freeform 3239">
                <a:extLst>
                  <a:ext uri="{FF2B5EF4-FFF2-40B4-BE49-F238E27FC236}">
                    <a16:creationId xmlns:a16="http://schemas.microsoft.com/office/drawing/2014/main" id="{5B331B5A-231C-C36B-BDD4-B3830DA2A9AD}"/>
                  </a:ext>
                </a:extLst>
              </p:cNvPr>
              <p:cNvSpPr>
                <a:spLocks/>
              </p:cNvSpPr>
              <p:nvPr/>
            </p:nvSpPr>
            <p:spPr bwMode="auto">
              <a:xfrm>
                <a:off x="3052" y="2181"/>
                <a:ext cx="174" cy="425"/>
              </a:xfrm>
              <a:custGeom>
                <a:avLst/>
                <a:gdLst>
                  <a:gd name="T0" fmla="*/ 5 w 136"/>
                  <a:gd name="T1" fmla="*/ 12 h 472"/>
                  <a:gd name="T2" fmla="*/ 0 w 136"/>
                  <a:gd name="T3" fmla="*/ 41 h 472"/>
                  <a:gd name="T4" fmla="*/ 7 w 136"/>
                  <a:gd name="T5" fmla="*/ 76 h 472"/>
                  <a:gd name="T6" fmla="*/ 11 w 136"/>
                  <a:gd name="T7" fmla="*/ 90 h 472"/>
                  <a:gd name="T8" fmla="*/ 18 w 136"/>
                  <a:gd name="T9" fmla="*/ 113 h 472"/>
                  <a:gd name="T10" fmla="*/ 21 w 136"/>
                  <a:gd name="T11" fmla="*/ 121 h 472"/>
                  <a:gd name="T12" fmla="*/ 24 w 136"/>
                  <a:gd name="T13" fmla="*/ 128 h 472"/>
                  <a:gd name="T14" fmla="*/ 28 w 136"/>
                  <a:gd name="T15" fmla="*/ 146 h 472"/>
                  <a:gd name="T16" fmla="*/ 33 w 136"/>
                  <a:gd name="T17" fmla="*/ 161 h 472"/>
                  <a:gd name="T18" fmla="*/ 34 w 136"/>
                  <a:gd name="T19" fmla="*/ 164 h 472"/>
                  <a:gd name="T20" fmla="*/ 37 w 136"/>
                  <a:gd name="T21" fmla="*/ 182 h 472"/>
                  <a:gd name="T22" fmla="*/ 34 w 136"/>
                  <a:gd name="T23" fmla="*/ 210 h 472"/>
                  <a:gd name="T24" fmla="*/ 30 w 136"/>
                  <a:gd name="T25" fmla="*/ 234 h 472"/>
                  <a:gd name="T26" fmla="*/ 17 w 136"/>
                  <a:gd name="T27" fmla="*/ 305 h 472"/>
                  <a:gd name="T28" fmla="*/ 13 w 136"/>
                  <a:gd name="T29" fmla="*/ 365 h 472"/>
                  <a:gd name="T30" fmla="*/ 15 w 136"/>
                  <a:gd name="T31" fmla="*/ 402 h 472"/>
                  <a:gd name="T32" fmla="*/ 19 w 136"/>
                  <a:gd name="T33" fmla="*/ 432 h 472"/>
                  <a:gd name="T34" fmla="*/ 28 w 136"/>
                  <a:gd name="T35" fmla="*/ 455 h 472"/>
                  <a:gd name="T36" fmla="*/ 40 w 136"/>
                  <a:gd name="T37" fmla="*/ 472 h 472"/>
                  <a:gd name="T38" fmla="*/ 58 w 136"/>
                  <a:gd name="T39" fmla="*/ 467 h 472"/>
                  <a:gd name="T40" fmla="*/ 66 w 136"/>
                  <a:gd name="T41" fmla="*/ 463 h 472"/>
                  <a:gd name="T42" fmla="*/ 81 w 136"/>
                  <a:gd name="T43" fmla="*/ 451 h 472"/>
                  <a:gd name="T44" fmla="*/ 84 w 136"/>
                  <a:gd name="T45" fmla="*/ 444 h 472"/>
                  <a:gd name="T46" fmla="*/ 91 w 136"/>
                  <a:gd name="T47" fmla="*/ 433 h 472"/>
                  <a:gd name="T48" fmla="*/ 102 w 136"/>
                  <a:gd name="T49" fmla="*/ 407 h 472"/>
                  <a:gd name="T50" fmla="*/ 102 w 136"/>
                  <a:gd name="T51" fmla="*/ 400 h 472"/>
                  <a:gd name="T52" fmla="*/ 104 w 136"/>
                  <a:gd name="T53" fmla="*/ 398 h 472"/>
                  <a:gd name="T54" fmla="*/ 107 w 136"/>
                  <a:gd name="T55" fmla="*/ 374 h 472"/>
                  <a:gd name="T56" fmla="*/ 107 w 136"/>
                  <a:gd name="T57" fmla="*/ 335 h 472"/>
                  <a:gd name="T58" fmla="*/ 113 w 136"/>
                  <a:gd name="T59" fmla="*/ 296 h 472"/>
                  <a:gd name="T60" fmla="*/ 126 w 136"/>
                  <a:gd name="T61" fmla="*/ 266 h 472"/>
                  <a:gd name="T62" fmla="*/ 135 w 136"/>
                  <a:gd name="T63" fmla="*/ 234 h 472"/>
                  <a:gd name="T64" fmla="*/ 136 w 136"/>
                  <a:gd name="T65" fmla="*/ 218 h 472"/>
                  <a:gd name="T66" fmla="*/ 131 w 136"/>
                  <a:gd name="T67" fmla="*/ 182 h 472"/>
                  <a:gd name="T68" fmla="*/ 120 w 136"/>
                  <a:gd name="T69" fmla="*/ 150 h 472"/>
                  <a:gd name="T70" fmla="*/ 100 w 136"/>
                  <a:gd name="T71" fmla="*/ 119 h 472"/>
                  <a:gd name="T72" fmla="*/ 73 w 136"/>
                  <a:gd name="T73" fmla="*/ 90 h 472"/>
                  <a:gd name="T74" fmla="*/ 33 w 136"/>
                  <a:gd name="T75" fmla="*/ 44 h 472"/>
                  <a:gd name="T76" fmla="*/ 18 w 136"/>
                  <a:gd name="T77" fmla="*/ 22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472">
                    <a:moveTo>
                      <a:pt x="11" y="0"/>
                    </a:moveTo>
                    <a:lnTo>
                      <a:pt x="5" y="12"/>
                    </a:lnTo>
                    <a:lnTo>
                      <a:pt x="1" y="26"/>
                    </a:lnTo>
                    <a:lnTo>
                      <a:pt x="0" y="41"/>
                    </a:lnTo>
                    <a:lnTo>
                      <a:pt x="3" y="55"/>
                    </a:lnTo>
                    <a:lnTo>
                      <a:pt x="7" y="76"/>
                    </a:lnTo>
                    <a:lnTo>
                      <a:pt x="10" y="85"/>
                    </a:lnTo>
                    <a:lnTo>
                      <a:pt x="11" y="90"/>
                    </a:lnTo>
                    <a:lnTo>
                      <a:pt x="13" y="96"/>
                    </a:lnTo>
                    <a:lnTo>
                      <a:pt x="18" y="113"/>
                    </a:lnTo>
                    <a:lnTo>
                      <a:pt x="21" y="120"/>
                    </a:lnTo>
                    <a:lnTo>
                      <a:pt x="21" y="121"/>
                    </a:lnTo>
                    <a:lnTo>
                      <a:pt x="22" y="124"/>
                    </a:lnTo>
                    <a:lnTo>
                      <a:pt x="24" y="128"/>
                    </a:lnTo>
                    <a:lnTo>
                      <a:pt x="27" y="142"/>
                    </a:lnTo>
                    <a:lnTo>
                      <a:pt x="28" y="146"/>
                    </a:lnTo>
                    <a:lnTo>
                      <a:pt x="30" y="152"/>
                    </a:lnTo>
                    <a:lnTo>
                      <a:pt x="33" y="161"/>
                    </a:lnTo>
                    <a:lnTo>
                      <a:pt x="33" y="162"/>
                    </a:lnTo>
                    <a:lnTo>
                      <a:pt x="34" y="164"/>
                    </a:lnTo>
                    <a:lnTo>
                      <a:pt x="36" y="169"/>
                    </a:lnTo>
                    <a:lnTo>
                      <a:pt x="37" y="182"/>
                    </a:lnTo>
                    <a:lnTo>
                      <a:pt x="36" y="200"/>
                    </a:lnTo>
                    <a:lnTo>
                      <a:pt x="34" y="210"/>
                    </a:lnTo>
                    <a:lnTo>
                      <a:pt x="33" y="222"/>
                    </a:lnTo>
                    <a:lnTo>
                      <a:pt x="30" y="234"/>
                    </a:lnTo>
                    <a:lnTo>
                      <a:pt x="28" y="248"/>
                    </a:lnTo>
                    <a:lnTo>
                      <a:pt x="17" y="305"/>
                    </a:lnTo>
                    <a:lnTo>
                      <a:pt x="13" y="334"/>
                    </a:lnTo>
                    <a:lnTo>
                      <a:pt x="13" y="365"/>
                    </a:lnTo>
                    <a:lnTo>
                      <a:pt x="13" y="384"/>
                    </a:lnTo>
                    <a:lnTo>
                      <a:pt x="15" y="402"/>
                    </a:lnTo>
                    <a:lnTo>
                      <a:pt x="16" y="418"/>
                    </a:lnTo>
                    <a:lnTo>
                      <a:pt x="19" y="432"/>
                    </a:lnTo>
                    <a:lnTo>
                      <a:pt x="23" y="444"/>
                    </a:lnTo>
                    <a:lnTo>
                      <a:pt x="28" y="455"/>
                    </a:lnTo>
                    <a:lnTo>
                      <a:pt x="33" y="463"/>
                    </a:lnTo>
                    <a:lnTo>
                      <a:pt x="40" y="472"/>
                    </a:lnTo>
                    <a:lnTo>
                      <a:pt x="48" y="469"/>
                    </a:lnTo>
                    <a:lnTo>
                      <a:pt x="58" y="467"/>
                    </a:lnTo>
                    <a:lnTo>
                      <a:pt x="61" y="464"/>
                    </a:lnTo>
                    <a:lnTo>
                      <a:pt x="66" y="463"/>
                    </a:lnTo>
                    <a:lnTo>
                      <a:pt x="75" y="458"/>
                    </a:lnTo>
                    <a:lnTo>
                      <a:pt x="81" y="451"/>
                    </a:lnTo>
                    <a:lnTo>
                      <a:pt x="83" y="446"/>
                    </a:lnTo>
                    <a:lnTo>
                      <a:pt x="84" y="444"/>
                    </a:lnTo>
                    <a:lnTo>
                      <a:pt x="87" y="443"/>
                    </a:lnTo>
                    <a:lnTo>
                      <a:pt x="91" y="433"/>
                    </a:lnTo>
                    <a:lnTo>
                      <a:pt x="98" y="424"/>
                    </a:lnTo>
                    <a:lnTo>
                      <a:pt x="102" y="407"/>
                    </a:lnTo>
                    <a:lnTo>
                      <a:pt x="102" y="402"/>
                    </a:lnTo>
                    <a:lnTo>
                      <a:pt x="102" y="400"/>
                    </a:lnTo>
                    <a:lnTo>
                      <a:pt x="102" y="398"/>
                    </a:lnTo>
                    <a:lnTo>
                      <a:pt x="104" y="398"/>
                    </a:lnTo>
                    <a:lnTo>
                      <a:pt x="106" y="391"/>
                    </a:lnTo>
                    <a:lnTo>
                      <a:pt x="107" y="374"/>
                    </a:lnTo>
                    <a:lnTo>
                      <a:pt x="108" y="358"/>
                    </a:lnTo>
                    <a:lnTo>
                      <a:pt x="107" y="335"/>
                    </a:lnTo>
                    <a:lnTo>
                      <a:pt x="110" y="314"/>
                    </a:lnTo>
                    <a:lnTo>
                      <a:pt x="113" y="296"/>
                    </a:lnTo>
                    <a:lnTo>
                      <a:pt x="120" y="283"/>
                    </a:lnTo>
                    <a:lnTo>
                      <a:pt x="126" y="266"/>
                    </a:lnTo>
                    <a:lnTo>
                      <a:pt x="131" y="251"/>
                    </a:lnTo>
                    <a:lnTo>
                      <a:pt x="135" y="234"/>
                    </a:lnTo>
                    <a:lnTo>
                      <a:pt x="135" y="226"/>
                    </a:lnTo>
                    <a:lnTo>
                      <a:pt x="136" y="218"/>
                    </a:lnTo>
                    <a:lnTo>
                      <a:pt x="135" y="199"/>
                    </a:lnTo>
                    <a:lnTo>
                      <a:pt x="131" y="182"/>
                    </a:lnTo>
                    <a:lnTo>
                      <a:pt x="126" y="166"/>
                    </a:lnTo>
                    <a:lnTo>
                      <a:pt x="120" y="150"/>
                    </a:lnTo>
                    <a:lnTo>
                      <a:pt x="111" y="133"/>
                    </a:lnTo>
                    <a:lnTo>
                      <a:pt x="100" y="119"/>
                    </a:lnTo>
                    <a:lnTo>
                      <a:pt x="87" y="104"/>
                    </a:lnTo>
                    <a:lnTo>
                      <a:pt x="73" y="90"/>
                    </a:lnTo>
                    <a:lnTo>
                      <a:pt x="49" y="66"/>
                    </a:lnTo>
                    <a:lnTo>
                      <a:pt x="33" y="44"/>
                    </a:lnTo>
                    <a:lnTo>
                      <a:pt x="24" y="32"/>
                    </a:lnTo>
                    <a:lnTo>
                      <a:pt x="18" y="22"/>
                    </a:lnTo>
                    <a:lnTo>
                      <a:pt x="11" y="0"/>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72" name="Freeform 3240">
                <a:extLst>
                  <a:ext uri="{FF2B5EF4-FFF2-40B4-BE49-F238E27FC236}">
                    <a16:creationId xmlns:a16="http://schemas.microsoft.com/office/drawing/2014/main" id="{5F921D5F-A47F-16C6-13A6-144DFD3E978E}"/>
                  </a:ext>
                </a:extLst>
              </p:cNvPr>
              <p:cNvSpPr>
                <a:spLocks/>
              </p:cNvSpPr>
              <p:nvPr/>
            </p:nvSpPr>
            <p:spPr bwMode="auto">
              <a:xfrm>
                <a:off x="3052" y="2181"/>
                <a:ext cx="174" cy="425"/>
              </a:xfrm>
              <a:custGeom>
                <a:avLst/>
                <a:gdLst>
                  <a:gd name="T0" fmla="*/ 7 w 136"/>
                  <a:gd name="T1" fmla="*/ 76 h 472"/>
                  <a:gd name="T2" fmla="*/ 11 w 136"/>
                  <a:gd name="T3" fmla="*/ 90 h 472"/>
                  <a:gd name="T4" fmla="*/ 18 w 136"/>
                  <a:gd name="T5" fmla="*/ 113 h 472"/>
                  <a:gd name="T6" fmla="*/ 21 w 136"/>
                  <a:gd name="T7" fmla="*/ 121 h 472"/>
                  <a:gd name="T8" fmla="*/ 24 w 136"/>
                  <a:gd name="T9" fmla="*/ 128 h 472"/>
                  <a:gd name="T10" fmla="*/ 28 w 136"/>
                  <a:gd name="T11" fmla="*/ 146 h 472"/>
                  <a:gd name="T12" fmla="*/ 33 w 136"/>
                  <a:gd name="T13" fmla="*/ 161 h 472"/>
                  <a:gd name="T14" fmla="*/ 34 w 136"/>
                  <a:gd name="T15" fmla="*/ 164 h 472"/>
                  <a:gd name="T16" fmla="*/ 37 w 136"/>
                  <a:gd name="T17" fmla="*/ 182 h 472"/>
                  <a:gd name="T18" fmla="*/ 34 w 136"/>
                  <a:gd name="T19" fmla="*/ 210 h 472"/>
                  <a:gd name="T20" fmla="*/ 30 w 136"/>
                  <a:gd name="T21" fmla="*/ 234 h 472"/>
                  <a:gd name="T22" fmla="*/ 17 w 136"/>
                  <a:gd name="T23" fmla="*/ 305 h 472"/>
                  <a:gd name="T24" fmla="*/ 13 w 136"/>
                  <a:gd name="T25" fmla="*/ 365 h 472"/>
                  <a:gd name="T26" fmla="*/ 15 w 136"/>
                  <a:gd name="T27" fmla="*/ 402 h 472"/>
                  <a:gd name="T28" fmla="*/ 19 w 136"/>
                  <a:gd name="T29" fmla="*/ 432 h 472"/>
                  <a:gd name="T30" fmla="*/ 28 w 136"/>
                  <a:gd name="T31" fmla="*/ 455 h 472"/>
                  <a:gd name="T32" fmla="*/ 40 w 136"/>
                  <a:gd name="T33" fmla="*/ 472 h 472"/>
                  <a:gd name="T34" fmla="*/ 58 w 136"/>
                  <a:gd name="T35" fmla="*/ 467 h 472"/>
                  <a:gd name="T36" fmla="*/ 66 w 136"/>
                  <a:gd name="T37" fmla="*/ 463 h 472"/>
                  <a:gd name="T38" fmla="*/ 81 w 136"/>
                  <a:gd name="T39" fmla="*/ 451 h 472"/>
                  <a:gd name="T40" fmla="*/ 84 w 136"/>
                  <a:gd name="T41" fmla="*/ 444 h 472"/>
                  <a:gd name="T42" fmla="*/ 91 w 136"/>
                  <a:gd name="T43" fmla="*/ 433 h 472"/>
                  <a:gd name="T44" fmla="*/ 102 w 136"/>
                  <a:gd name="T45" fmla="*/ 407 h 472"/>
                  <a:gd name="T46" fmla="*/ 102 w 136"/>
                  <a:gd name="T47" fmla="*/ 400 h 472"/>
                  <a:gd name="T48" fmla="*/ 104 w 136"/>
                  <a:gd name="T49" fmla="*/ 398 h 472"/>
                  <a:gd name="T50" fmla="*/ 107 w 136"/>
                  <a:gd name="T51" fmla="*/ 374 h 472"/>
                  <a:gd name="T52" fmla="*/ 107 w 136"/>
                  <a:gd name="T53" fmla="*/ 335 h 472"/>
                  <a:gd name="T54" fmla="*/ 113 w 136"/>
                  <a:gd name="T55" fmla="*/ 296 h 472"/>
                  <a:gd name="T56" fmla="*/ 126 w 136"/>
                  <a:gd name="T57" fmla="*/ 266 h 472"/>
                  <a:gd name="T58" fmla="*/ 135 w 136"/>
                  <a:gd name="T59" fmla="*/ 234 h 472"/>
                  <a:gd name="T60" fmla="*/ 136 w 136"/>
                  <a:gd name="T61" fmla="*/ 218 h 472"/>
                  <a:gd name="T62" fmla="*/ 131 w 136"/>
                  <a:gd name="T63" fmla="*/ 182 h 472"/>
                  <a:gd name="T64" fmla="*/ 120 w 136"/>
                  <a:gd name="T65" fmla="*/ 150 h 472"/>
                  <a:gd name="T66" fmla="*/ 100 w 136"/>
                  <a:gd name="T67" fmla="*/ 119 h 472"/>
                  <a:gd name="T68" fmla="*/ 73 w 136"/>
                  <a:gd name="T69" fmla="*/ 90 h 472"/>
                  <a:gd name="T70" fmla="*/ 33 w 136"/>
                  <a:gd name="T71" fmla="*/ 44 h 472"/>
                  <a:gd name="T72" fmla="*/ 18 w 136"/>
                  <a:gd name="T73" fmla="*/ 22 h 472"/>
                  <a:gd name="T74" fmla="*/ 5 w 136"/>
                  <a:gd name="T75" fmla="*/ 12 h 472"/>
                  <a:gd name="T76" fmla="*/ 0 w 136"/>
                  <a:gd name="T77" fmla="*/ 41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472">
                    <a:moveTo>
                      <a:pt x="3" y="55"/>
                    </a:moveTo>
                    <a:lnTo>
                      <a:pt x="7" y="76"/>
                    </a:lnTo>
                    <a:lnTo>
                      <a:pt x="10" y="85"/>
                    </a:lnTo>
                    <a:lnTo>
                      <a:pt x="11" y="90"/>
                    </a:lnTo>
                    <a:lnTo>
                      <a:pt x="13" y="96"/>
                    </a:lnTo>
                    <a:lnTo>
                      <a:pt x="18" y="113"/>
                    </a:lnTo>
                    <a:lnTo>
                      <a:pt x="21" y="120"/>
                    </a:lnTo>
                    <a:lnTo>
                      <a:pt x="21" y="121"/>
                    </a:lnTo>
                    <a:lnTo>
                      <a:pt x="22" y="124"/>
                    </a:lnTo>
                    <a:lnTo>
                      <a:pt x="24" y="128"/>
                    </a:lnTo>
                    <a:lnTo>
                      <a:pt x="27" y="142"/>
                    </a:lnTo>
                    <a:lnTo>
                      <a:pt x="28" y="146"/>
                    </a:lnTo>
                    <a:lnTo>
                      <a:pt x="30" y="152"/>
                    </a:lnTo>
                    <a:lnTo>
                      <a:pt x="33" y="161"/>
                    </a:lnTo>
                    <a:lnTo>
                      <a:pt x="33" y="162"/>
                    </a:lnTo>
                    <a:lnTo>
                      <a:pt x="34" y="164"/>
                    </a:lnTo>
                    <a:lnTo>
                      <a:pt x="36" y="169"/>
                    </a:lnTo>
                    <a:lnTo>
                      <a:pt x="37" y="182"/>
                    </a:lnTo>
                    <a:lnTo>
                      <a:pt x="36" y="200"/>
                    </a:lnTo>
                    <a:lnTo>
                      <a:pt x="34" y="210"/>
                    </a:lnTo>
                    <a:lnTo>
                      <a:pt x="33" y="222"/>
                    </a:lnTo>
                    <a:lnTo>
                      <a:pt x="30" y="234"/>
                    </a:lnTo>
                    <a:lnTo>
                      <a:pt x="28" y="248"/>
                    </a:lnTo>
                    <a:lnTo>
                      <a:pt x="17" y="305"/>
                    </a:lnTo>
                    <a:lnTo>
                      <a:pt x="13" y="334"/>
                    </a:lnTo>
                    <a:lnTo>
                      <a:pt x="13" y="365"/>
                    </a:lnTo>
                    <a:lnTo>
                      <a:pt x="13" y="384"/>
                    </a:lnTo>
                    <a:lnTo>
                      <a:pt x="15" y="402"/>
                    </a:lnTo>
                    <a:lnTo>
                      <a:pt x="16" y="418"/>
                    </a:lnTo>
                    <a:lnTo>
                      <a:pt x="19" y="432"/>
                    </a:lnTo>
                    <a:lnTo>
                      <a:pt x="23" y="444"/>
                    </a:lnTo>
                    <a:lnTo>
                      <a:pt x="28" y="455"/>
                    </a:lnTo>
                    <a:lnTo>
                      <a:pt x="33" y="463"/>
                    </a:lnTo>
                    <a:lnTo>
                      <a:pt x="40" y="472"/>
                    </a:lnTo>
                    <a:lnTo>
                      <a:pt x="48" y="469"/>
                    </a:lnTo>
                    <a:lnTo>
                      <a:pt x="58" y="467"/>
                    </a:lnTo>
                    <a:lnTo>
                      <a:pt x="61" y="464"/>
                    </a:lnTo>
                    <a:lnTo>
                      <a:pt x="66" y="463"/>
                    </a:lnTo>
                    <a:lnTo>
                      <a:pt x="75" y="458"/>
                    </a:lnTo>
                    <a:lnTo>
                      <a:pt x="81" y="451"/>
                    </a:lnTo>
                    <a:lnTo>
                      <a:pt x="83" y="446"/>
                    </a:lnTo>
                    <a:lnTo>
                      <a:pt x="84" y="444"/>
                    </a:lnTo>
                    <a:lnTo>
                      <a:pt x="87" y="443"/>
                    </a:lnTo>
                    <a:lnTo>
                      <a:pt x="91" y="433"/>
                    </a:lnTo>
                    <a:lnTo>
                      <a:pt x="98" y="424"/>
                    </a:lnTo>
                    <a:lnTo>
                      <a:pt x="102" y="407"/>
                    </a:lnTo>
                    <a:lnTo>
                      <a:pt x="102" y="402"/>
                    </a:lnTo>
                    <a:lnTo>
                      <a:pt x="102" y="400"/>
                    </a:lnTo>
                    <a:lnTo>
                      <a:pt x="102" y="398"/>
                    </a:lnTo>
                    <a:lnTo>
                      <a:pt x="104" y="398"/>
                    </a:lnTo>
                    <a:lnTo>
                      <a:pt x="106" y="391"/>
                    </a:lnTo>
                    <a:lnTo>
                      <a:pt x="107" y="374"/>
                    </a:lnTo>
                    <a:lnTo>
                      <a:pt x="108" y="358"/>
                    </a:lnTo>
                    <a:lnTo>
                      <a:pt x="107" y="335"/>
                    </a:lnTo>
                    <a:lnTo>
                      <a:pt x="110" y="314"/>
                    </a:lnTo>
                    <a:lnTo>
                      <a:pt x="113" y="296"/>
                    </a:lnTo>
                    <a:lnTo>
                      <a:pt x="120" y="283"/>
                    </a:lnTo>
                    <a:lnTo>
                      <a:pt x="126" y="266"/>
                    </a:lnTo>
                    <a:lnTo>
                      <a:pt x="131" y="251"/>
                    </a:lnTo>
                    <a:lnTo>
                      <a:pt x="135" y="234"/>
                    </a:lnTo>
                    <a:lnTo>
                      <a:pt x="135" y="226"/>
                    </a:lnTo>
                    <a:lnTo>
                      <a:pt x="136" y="218"/>
                    </a:lnTo>
                    <a:lnTo>
                      <a:pt x="135" y="199"/>
                    </a:lnTo>
                    <a:lnTo>
                      <a:pt x="131" y="182"/>
                    </a:lnTo>
                    <a:lnTo>
                      <a:pt x="126" y="166"/>
                    </a:lnTo>
                    <a:lnTo>
                      <a:pt x="120" y="150"/>
                    </a:lnTo>
                    <a:lnTo>
                      <a:pt x="111" y="133"/>
                    </a:lnTo>
                    <a:lnTo>
                      <a:pt x="100" y="119"/>
                    </a:lnTo>
                    <a:lnTo>
                      <a:pt x="87" y="104"/>
                    </a:lnTo>
                    <a:lnTo>
                      <a:pt x="73" y="90"/>
                    </a:lnTo>
                    <a:lnTo>
                      <a:pt x="49" y="66"/>
                    </a:lnTo>
                    <a:lnTo>
                      <a:pt x="33" y="44"/>
                    </a:lnTo>
                    <a:lnTo>
                      <a:pt x="24" y="32"/>
                    </a:lnTo>
                    <a:lnTo>
                      <a:pt x="18" y="22"/>
                    </a:lnTo>
                    <a:lnTo>
                      <a:pt x="11" y="0"/>
                    </a:lnTo>
                    <a:lnTo>
                      <a:pt x="5" y="12"/>
                    </a:lnTo>
                    <a:lnTo>
                      <a:pt x="1" y="26"/>
                    </a:lnTo>
                    <a:lnTo>
                      <a:pt x="0" y="41"/>
                    </a:lnTo>
                    <a:lnTo>
                      <a:pt x="3" y="55"/>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73" name="Freeform 3241">
                <a:extLst>
                  <a:ext uri="{FF2B5EF4-FFF2-40B4-BE49-F238E27FC236}">
                    <a16:creationId xmlns:a16="http://schemas.microsoft.com/office/drawing/2014/main" id="{872F0DC3-7C27-2EAF-8E5F-4C524B0A67E2}"/>
                  </a:ext>
                </a:extLst>
              </p:cNvPr>
              <p:cNvSpPr>
                <a:spLocks/>
              </p:cNvSpPr>
              <p:nvPr/>
            </p:nvSpPr>
            <p:spPr bwMode="auto">
              <a:xfrm>
                <a:off x="2618" y="2083"/>
                <a:ext cx="129" cy="163"/>
              </a:xfrm>
              <a:custGeom>
                <a:avLst/>
                <a:gdLst>
                  <a:gd name="T0" fmla="*/ 100 w 100"/>
                  <a:gd name="T1" fmla="*/ 178 h 178"/>
                  <a:gd name="T2" fmla="*/ 75 w 100"/>
                  <a:gd name="T3" fmla="*/ 157 h 178"/>
                  <a:gd name="T4" fmla="*/ 60 w 100"/>
                  <a:gd name="T5" fmla="*/ 139 h 178"/>
                  <a:gd name="T6" fmla="*/ 51 w 100"/>
                  <a:gd name="T7" fmla="*/ 123 h 178"/>
                  <a:gd name="T8" fmla="*/ 50 w 100"/>
                  <a:gd name="T9" fmla="*/ 108 h 178"/>
                  <a:gd name="T10" fmla="*/ 51 w 100"/>
                  <a:gd name="T11" fmla="*/ 102 h 178"/>
                  <a:gd name="T12" fmla="*/ 55 w 100"/>
                  <a:gd name="T13" fmla="*/ 99 h 178"/>
                  <a:gd name="T14" fmla="*/ 64 w 100"/>
                  <a:gd name="T15" fmla="*/ 95 h 178"/>
                  <a:gd name="T16" fmla="*/ 69 w 100"/>
                  <a:gd name="T17" fmla="*/ 94 h 178"/>
                  <a:gd name="T18" fmla="*/ 76 w 100"/>
                  <a:gd name="T19" fmla="*/ 95 h 178"/>
                  <a:gd name="T20" fmla="*/ 92 w 100"/>
                  <a:gd name="T21" fmla="*/ 101 h 178"/>
                  <a:gd name="T22" fmla="*/ 86 w 100"/>
                  <a:gd name="T23" fmla="*/ 87 h 178"/>
                  <a:gd name="T24" fmla="*/ 80 w 100"/>
                  <a:gd name="T25" fmla="*/ 72 h 178"/>
                  <a:gd name="T26" fmla="*/ 69 w 100"/>
                  <a:gd name="T27" fmla="*/ 58 h 178"/>
                  <a:gd name="T28" fmla="*/ 58 w 100"/>
                  <a:gd name="T29" fmla="*/ 46 h 178"/>
                  <a:gd name="T30" fmla="*/ 45 w 100"/>
                  <a:gd name="T31" fmla="*/ 33 h 178"/>
                  <a:gd name="T32" fmla="*/ 36 w 100"/>
                  <a:gd name="T33" fmla="*/ 21 h 178"/>
                  <a:gd name="T34" fmla="*/ 28 w 100"/>
                  <a:gd name="T35" fmla="*/ 10 h 178"/>
                  <a:gd name="T36" fmla="*/ 26 w 100"/>
                  <a:gd name="T37" fmla="*/ 0 h 178"/>
                  <a:gd name="T38" fmla="*/ 25 w 100"/>
                  <a:gd name="T39" fmla="*/ 12 h 178"/>
                  <a:gd name="T40" fmla="*/ 22 w 100"/>
                  <a:gd name="T41" fmla="*/ 27 h 178"/>
                  <a:gd name="T42" fmla="*/ 19 w 100"/>
                  <a:gd name="T43" fmla="*/ 41 h 178"/>
                  <a:gd name="T44" fmla="*/ 14 w 100"/>
                  <a:gd name="T45" fmla="*/ 57 h 178"/>
                  <a:gd name="T46" fmla="*/ 7 w 100"/>
                  <a:gd name="T47" fmla="*/ 71 h 178"/>
                  <a:gd name="T48" fmla="*/ 3 w 100"/>
                  <a:gd name="T49" fmla="*/ 84 h 178"/>
                  <a:gd name="T50" fmla="*/ 0 w 100"/>
                  <a:gd name="T51" fmla="*/ 93 h 178"/>
                  <a:gd name="T52" fmla="*/ 0 w 100"/>
                  <a:gd name="T53" fmla="*/ 100 h 178"/>
                  <a:gd name="T54" fmla="*/ 0 w 100"/>
                  <a:gd name="T55" fmla="*/ 109 h 178"/>
                  <a:gd name="T56" fmla="*/ 3 w 100"/>
                  <a:gd name="T57" fmla="*/ 120 h 178"/>
                  <a:gd name="T58" fmla="*/ 10 w 100"/>
                  <a:gd name="T59" fmla="*/ 130 h 178"/>
                  <a:gd name="T60" fmla="*/ 15 w 100"/>
                  <a:gd name="T61" fmla="*/ 135 h 178"/>
                  <a:gd name="T62" fmla="*/ 22 w 100"/>
                  <a:gd name="T63" fmla="*/ 141 h 178"/>
                  <a:gd name="T64" fmla="*/ 36 w 100"/>
                  <a:gd name="T65" fmla="*/ 149 h 178"/>
                  <a:gd name="T66" fmla="*/ 54 w 100"/>
                  <a:gd name="T67" fmla="*/ 159 h 178"/>
                  <a:gd name="T68" fmla="*/ 75 w 100"/>
                  <a:gd name="T69" fmla="*/ 168 h 178"/>
                  <a:gd name="T70" fmla="*/ 100 w 100"/>
                  <a:gd name="T71"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8">
                    <a:moveTo>
                      <a:pt x="100" y="178"/>
                    </a:moveTo>
                    <a:lnTo>
                      <a:pt x="75" y="157"/>
                    </a:lnTo>
                    <a:lnTo>
                      <a:pt x="60" y="139"/>
                    </a:lnTo>
                    <a:lnTo>
                      <a:pt x="51" y="123"/>
                    </a:lnTo>
                    <a:lnTo>
                      <a:pt x="50" y="108"/>
                    </a:lnTo>
                    <a:lnTo>
                      <a:pt x="51" y="102"/>
                    </a:lnTo>
                    <a:lnTo>
                      <a:pt x="55" y="99"/>
                    </a:lnTo>
                    <a:lnTo>
                      <a:pt x="64" y="95"/>
                    </a:lnTo>
                    <a:lnTo>
                      <a:pt x="69" y="94"/>
                    </a:lnTo>
                    <a:lnTo>
                      <a:pt x="76" y="95"/>
                    </a:lnTo>
                    <a:lnTo>
                      <a:pt x="92" y="101"/>
                    </a:lnTo>
                    <a:lnTo>
                      <a:pt x="86" y="87"/>
                    </a:lnTo>
                    <a:lnTo>
                      <a:pt x="80" y="72"/>
                    </a:lnTo>
                    <a:lnTo>
                      <a:pt x="69" y="58"/>
                    </a:lnTo>
                    <a:lnTo>
                      <a:pt x="58" y="46"/>
                    </a:lnTo>
                    <a:lnTo>
                      <a:pt x="45" y="33"/>
                    </a:lnTo>
                    <a:lnTo>
                      <a:pt x="36" y="21"/>
                    </a:lnTo>
                    <a:lnTo>
                      <a:pt x="28" y="10"/>
                    </a:lnTo>
                    <a:lnTo>
                      <a:pt x="26" y="0"/>
                    </a:lnTo>
                    <a:lnTo>
                      <a:pt x="25" y="12"/>
                    </a:lnTo>
                    <a:lnTo>
                      <a:pt x="22" y="27"/>
                    </a:lnTo>
                    <a:lnTo>
                      <a:pt x="19" y="41"/>
                    </a:lnTo>
                    <a:lnTo>
                      <a:pt x="14" y="57"/>
                    </a:lnTo>
                    <a:lnTo>
                      <a:pt x="7" y="71"/>
                    </a:lnTo>
                    <a:lnTo>
                      <a:pt x="3" y="84"/>
                    </a:lnTo>
                    <a:lnTo>
                      <a:pt x="0" y="93"/>
                    </a:lnTo>
                    <a:lnTo>
                      <a:pt x="0" y="100"/>
                    </a:lnTo>
                    <a:lnTo>
                      <a:pt x="0" y="109"/>
                    </a:lnTo>
                    <a:lnTo>
                      <a:pt x="3" y="120"/>
                    </a:lnTo>
                    <a:lnTo>
                      <a:pt x="10" y="130"/>
                    </a:lnTo>
                    <a:lnTo>
                      <a:pt x="15" y="135"/>
                    </a:lnTo>
                    <a:lnTo>
                      <a:pt x="22" y="141"/>
                    </a:lnTo>
                    <a:lnTo>
                      <a:pt x="36" y="149"/>
                    </a:lnTo>
                    <a:lnTo>
                      <a:pt x="54" y="159"/>
                    </a:lnTo>
                    <a:lnTo>
                      <a:pt x="75" y="168"/>
                    </a:lnTo>
                    <a:lnTo>
                      <a:pt x="100" y="178"/>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74" name="Freeform 3242">
                <a:extLst>
                  <a:ext uri="{FF2B5EF4-FFF2-40B4-BE49-F238E27FC236}">
                    <a16:creationId xmlns:a16="http://schemas.microsoft.com/office/drawing/2014/main" id="{6E421B7C-EE9D-5B2F-0182-9EEB2CDB5FED}"/>
                  </a:ext>
                </a:extLst>
              </p:cNvPr>
              <p:cNvSpPr>
                <a:spLocks/>
              </p:cNvSpPr>
              <p:nvPr/>
            </p:nvSpPr>
            <p:spPr bwMode="auto">
              <a:xfrm>
                <a:off x="2630" y="2221"/>
                <a:ext cx="264" cy="551"/>
              </a:xfrm>
              <a:custGeom>
                <a:avLst/>
                <a:gdLst>
                  <a:gd name="T0" fmla="*/ 138 w 211"/>
                  <a:gd name="T1" fmla="*/ 132 h 608"/>
                  <a:gd name="T2" fmla="*/ 128 w 211"/>
                  <a:gd name="T3" fmla="*/ 174 h 608"/>
                  <a:gd name="T4" fmla="*/ 109 w 211"/>
                  <a:gd name="T5" fmla="*/ 217 h 608"/>
                  <a:gd name="T6" fmla="*/ 81 w 211"/>
                  <a:gd name="T7" fmla="*/ 264 h 608"/>
                  <a:gd name="T8" fmla="*/ 48 w 211"/>
                  <a:gd name="T9" fmla="*/ 310 h 608"/>
                  <a:gd name="T10" fmla="*/ 21 w 211"/>
                  <a:gd name="T11" fmla="*/ 361 h 608"/>
                  <a:gd name="T12" fmla="*/ 5 w 211"/>
                  <a:gd name="T13" fmla="*/ 414 h 608"/>
                  <a:gd name="T14" fmla="*/ 0 w 211"/>
                  <a:gd name="T15" fmla="*/ 469 h 608"/>
                  <a:gd name="T16" fmla="*/ 2 w 211"/>
                  <a:gd name="T17" fmla="*/ 528 h 608"/>
                  <a:gd name="T18" fmla="*/ 17 w 211"/>
                  <a:gd name="T19" fmla="*/ 583 h 608"/>
                  <a:gd name="T20" fmla="*/ 43 w 211"/>
                  <a:gd name="T21" fmla="*/ 601 h 608"/>
                  <a:gd name="T22" fmla="*/ 73 w 211"/>
                  <a:gd name="T23" fmla="*/ 585 h 608"/>
                  <a:gd name="T24" fmla="*/ 99 w 211"/>
                  <a:gd name="T25" fmla="*/ 567 h 608"/>
                  <a:gd name="T26" fmla="*/ 117 w 211"/>
                  <a:gd name="T27" fmla="*/ 552 h 608"/>
                  <a:gd name="T28" fmla="*/ 134 w 211"/>
                  <a:gd name="T29" fmla="*/ 537 h 608"/>
                  <a:gd name="T30" fmla="*/ 143 w 211"/>
                  <a:gd name="T31" fmla="*/ 524 h 608"/>
                  <a:gd name="T32" fmla="*/ 153 w 211"/>
                  <a:gd name="T33" fmla="*/ 505 h 608"/>
                  <a:gd name="T34" fmla="*/ 155 w 211"/>
                  <a:gd name="T35" fmla="*/ 501 h 608"/>
                  <a:gd name="T36" fmla="*/ 164 w 211"/>
                  <a:gd name="T37" fmla="*/ 486 h 608"/>
                  <a:gd name="T38" fmla="*/ 174 w 211"/>
                  <a:gd name="T39" fmla="*/ 454 h 608"/>
                  <a:gd name="T40" fmla="*/ 177 w 211"/>
                  <a:gd name="T41" fmla="*/ 433 h 608"/>
                  <a:gd name="T42" fmla="*/ 179 w 211"/>
                  <a:gd name="T43" fmla="*/ 429 h 608"/>
                  <a:gd name="T44" fmla="*/ 188 w 211"/>
                  <a:gd name="T45" fmla="*/ 355 h 608"/>
                  <a:gd name="T46" fmla="*/ 203 w 211"/>
                  <a:gd name="T47" fmla="*/ 241 h 608"/>
                  <a:gd name="T48" fmla="*/ 211 w 211"/>
                  <a:gd name="T49" fmla="*/ 193 h 608"/>
                  <a:gd name="T50" fmla="*/ 210 w 211"/>
                  <a:gd name="T51" fmla="*/ 157 h 608"/>
                  <a:gd name="T52" fmla="*/ 204 w 211"/>
                  <a:gd name="T53" fmla="*/ 122 h 608"/>
                  <a:gd name="T54" fmla="*/ 189 w 211"/>
                  <a:gd name="T55" fmla="*/ 85 h 608"/>
                  <a:gd name="T56" fmla="*/ 169 w 211"/>
                  <a:gd name="T57" fmla="*/ 49 h 608"/>
                  <a:gd name="T58" fmla="*/ 150 w 211"/>
                  <a:gd name="T59" fmla="*/ 24 h 608"/>
                  <a:gd name="T60" fmla="*/ 131 w 211"/>
                  <a:gd name="T61" fmla="*/ 7 h 608"/>
                  <a:gd name="T62" fmla="*/ 137 w 211"/>
                  <a:gd name="T63" fmla="*/ 28 h 608"/>
                  <a:gd name="T64" fmla="*/ 139 w 211"/>
                  <a:gd name="T65" fmla="*/ 57 h 608"/>
                  <a:gd name="T66" fmla="*/ 140 w 211"/>
                  <a:gd name="T67" fmla="*/ 92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1" h="608">
                    <a:moveTo>
                      <a:pt x="141" y="112"/>
                    </a:moveTo>
                    <a:lnTo>
                      <a:pt x="138" y="132"/>
                    </a:lnTo>
                    <a:lnTo>
                      <a:pt x="134" y="152"/>
                    </a:lnTo>
                    <a:lnTo>
                      <a:pt x="128" y="174"/>
                    </a:lnTo>
                    <a:lnTo>
                      <a:pt x="120" y="195"/>
                    </a:lnTo>
                    <a:lnTo>
                      <a:pt x="109" y="217"/>
                    </a:lnTo>
                    <a:lnTo>
                      <a:pt x="97" y="240"/>
                    </a:lnTo>
                    <a:lnTo>
                      <a:pt x="81" y="264"/>
                    </a:lnTo>
                    <a:lnTo>
                      <a:pt x="66" y="288"/>
                    </a:lnTo>
                    <a:lnTo>
                      <a:pt x="48" y="310"/>
                    </a:lnTo>
                    <a:lnTo>
                      <a:pt x="35" y="336"/>
                    </a:lnTo>
                    <a:lnTo>
                      <a:pt x="21" y="361"/>
                    </a:lnTo>
                    <a:lnTo>
                      <a:pt x="13" y="387"/>
                    </a:lnTo>
                    <a:lnTo>
                      <a:pt x="5" y="414"/>
                    </a:lnTo>
                    <a:lnTo>
                      <a:pt x="1" y="441"/>
                    </a:lnTo>
                    <a:lnTo>
                      <a:pt x="0" y="469"/>
                    </a:lnTo>
                    <a:lnTo>
                      <a:pt x="1" y="498"/>
                    </a:lnTo>
                    <a:lnTo>
                      <a:pt x="2" y="528"/>
                    </a:lnTo>
                    <a:lnTo>
                      <a:pt x="8" y="556"/>
                    </a:lnTo>
                    <a:lnTo>
                      <a:pt x="17" y="583"/>
                    </a:lnTo>
                    <a:lnTo>
                      <a:pt x="27" y="608"/>
                    </a:lnTo>
                    <a:lnTo>
                      <a:pt x="43" y="601"/>
                    </a:lnTo>
                    <a:lnTo>
                      <a:pt x="59" y="594"/>
                    </a:lnTo>
                    <a:lnTo>
                      <a:pt x="73" y="585"/>
                    </a:lnTo>
                    <a:lnTo>
                      <a:pt x="87" y="578"/>
                    </a:lnTo>
                    <a:lnTo>
                      <a:pt x="99" y="567"/>
                    </a:lnTo>
                    <a:lnTo>
                      <a:pt x="113" y="558"/>
                    </a:lnTo>
                    <a:lnTo>
                      <a:pt x="117" y="552"/>
                    </a:lnTo>
                    <a:lnTo>
                      <a:pt x="123" y="547"/>
                    </a:lnTo>
                    <a:lnTo>
                      <a:pt x="134" y="537"/>
                    </a:lnTo>
                    <a:lnTo>
                      <a:pt x="138" y="530"/>
                    </a:lnTo>
                    <a:lnTo>
                      <a:pt x="143" y="524"/>
                    </a:lnTo>
                    <a:lnTo>
                      <a:pt x="151" y="512"/>
                    </a:lnTo>
                    <a:lnTo>
                      <a:pt x="153" y="505"/>
                    </a:lnTo>
                    <a:lnTo>
                      <a:pt x="153" y="502"/>
                    </a:lnTo>
                    <a:lnTo>
                      <a:pt x="155" y="501"/>
                    </a:lnTo>
                    <a:lnTo>
                      <a:pt x="157" y="499"/>
                    </a:lnTo>
                    <a:lnTo>
                      <a:pt x="164" y="486"/>
                    </a:lnTo>
                    <a:lnTo>
                      <a:pt x="169" y="470"/>
                    </a:lnTo>
                    <a:lnTo>
                      <a:pt x="174" y="454"/>
                    </a:lnTo>
                    <a:lnTo>
                      <a:pt x="177" y="438"/>
                    </a:lnTo>
                    <a:lnTo>
                      <a:pt x="177" y="433"/>
                    </a:lnTo>
                    <a:lnTo>
                      <a:pt x="177" y="430"/>
                    </a:lnTo>
                    <a:lnTo>
                      <a:pt x="179" y="429"/>
                    </a:lnTo>
                    <a:lnTo>
                      <a:pt x="181" y="422"/>
                    </a:lnTo>
                    <a:lnTo>
                      <a:pt x="188" y="355"/>
                    </a:lnTo>
                    <a:lnTo>
                      <a:pt x="195" y="295"/>
                    </a:lnTo>
                    <a:lnTo>
                      <a:pt x="203" y="241"/>
                    </a:lnTo>
                    <a:lnTo>
                      <a:pt x="206" y="216"/>
                    </a:lnTo>
                    <a:lnTo>
                      <a:pt x="211" y="193"/>
                    </a:lnTo>
                    <a:lnTo>
                      <a:pt x="211" y="169"/>
                    </a:lnTo>
                    <a:lnTo>
                      <a:pt x="210" y="157"/>
                    </a:lnTo>
                    <a:lnTo>
                      <a:pt x="210" y="146"/>
                    </a:lnTo>
                    <a:lnTo>
                      <a:pt x="204" y="122"/>
                    </a:lnTo>
                    <a:lnTo>
                      <a:pt x="197" y="98"/>
                    </a:lnTo>
                    <a:lnTo>
                      <a:pt x="189" y="85"/>
                    </a:lnTo>
                    <a:lnTo>
                      <a:pt x="183" y="73"/>
                    </a:lnTo>
                    <a:lnTo>
                      <a:pt x="169" y="49"/>
                    </a:lnTo>
                    <a:lnTo>
                      <a:pt x="159" y="36"/>
                    </a:lnTo>
                    <a:lnTo>
                      <a:pt x="150" y="24"/>
                    </a:lnTo>
                    <a:lnTo>
                      <a:pt x="128" y="0"/>
                    </a:lnTo>
                    <a:lnTo>
                      <a:pt x="131" y="7"/>
                    </a:lnTo>
                    <a:lnTo>
                      <a:pt x="134" y="18"/>
                    </a:lnTo>
                    <a:lnTo>
                      <a:pt x="137" y="28"/>
                    </a:lnTo>
                    <a:lnTo>
                      <a:pt x="139" y="43"/>
                    </a:lnTo>
                    <a:lnTo>
                      <a:pt x="139" y="57"/>
                    </a:lnTo>
                    <a:lnTo>
                      <a:pt x="140" y="74"/>
                    </a:lnTo>
                    <a:lnTo>
                      <a:pt x="140" y="92"/>
                    </a:lnTo>
                    <a:lnTo>
                      <a:pt x="141" y="112"/>
                    </a:lnTo>
                    <a:close/>
                  </a:path>
                </a:pathLst>
              </a:custGeom>
              <a:gradFill rotWithShape="1">
                <a:gsLst>
                  <a:gs pos="0">
                    <a:srgbClr val="FF3300"/>
                  </a:gs>
                  <a:gs pos="100000">
                    <a:srgbClr val="FFFF0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75" name="Freeform 3243">
                <a:extLst>
                  <a:ext uri="{FF2B5EF4-FFF2-40B4-BE49-F238E27FC236}">
                    <a16:creationId xmlns:a16="http://schemas.microsoft.com/office/drawing/2014/main" id="{A37386C6-23AC-C8B8-F12A-BB6B78AD29F3}"/>
                  </a:ext>
                </a:extLst>
              </p:cNvPr>
              <p:cNvSpPr>
                <a:spLocks/>
              </p:cNvSpPr>
              <p:nvPr/>
            </p:nvSpPr>
            <p:spPr bwMode="auto">
              <a:xfrm>
                <a:off x="2630" y="2221"/>
                <a:ext cx="264" cy="551"/>
              </a:xfrm>
              <a:custGeom>
                <a:avLst/>
                <a:gdLst>
                  <a:gd name="T0" fmla="*/ 48 w 211"/>
                  <a:gd name="T1" fmla="*/ 310 h 608"/>
                  <a:gd name="T2" fmla="*/ 21 w 211"/>
                  <a:gd name="T3" fmla="*/ 361 h 608"/>
                  <a:gd name="T4" fmla="*/ 5 w 211"/>
                  <a:gd name="T5" fmla="*/ 414 h 608"/>
                  <a:gd name="T6" fmla="*/ 0 w 211"/>
                  <a:gd name="T7" fmla="*/ 469 h 608"/>
                  <a:gd name="T8" fmla="*/ 2 w 211"/>
                  <a:gd name="T9" fmla="*/ 528 h 608"/>
                  <a:gd name="T10" fmla="*/ 17 w 211"/>
                  <a:gd name="T11" fmla="*/ 583 h 608"/>
                  <a:gd name="T12" fmla="*/ 43 w 211"/>
                  <a:gd name="T13" fmla="*/ 601 h 608"/>
                  <a:gd name="T14" fmla="*/ 73 w 211"/>
                  <a:gd name="T15" fmla="*/ 585 h 608"/>
                  <a:gd name="T16" fmla="*/ 99 w 211"/>
                  <a:gd name="T17" fmla="*/ 567 h 608"/>
                  <a:gd name="T18" fmla="*/ 117 w 211"/>
                  <a:gd name="T19" fmla="*/ 552 h 608"/>
                  <a:gd name="T20" fmla="*/ 134 w 211"/>
                  <a:gd name="T21" fmla="*/ 537 h 608"/>
                  <a:gd name="T22" fmla="*/ 143 w 211"/>
                  <a:gd name="T23" fmla="*/ 524 h 608"/>
                  <a:gd name="T24" fmla="*/ 153 w 211"/>
                  <a:gd name="T25" fmla="*/ 505 h 608"/>
                  <a:gd name="T26" fmla="*/ 155 w 211"/>
                  <a:gd name="T27" fmla="*/ 501 h 608"/>
                  <a:gd name="T28" fmla="*/ 164 w 211"/>
                  <a:gd name="T29" fmla="*/ 486 h 608"/>
                  <a:gd name="T30" fmla="*/ 174 w 211"/>
                  <a:gd name="T31" fmla="*/ 454 h 608"/>
                  <a:gd name="T32" fmla="*/ 177 w 211"/>
                  <a:gd name="T33" fmla="*/ 433 h 608"/>
                  <a:gd name="T34" fmla="*/ 179 w 211"/>
                  <a:gd name="T35" fmla="*/ 429 h 608"/>
                  <a:gd name="T36" fmla="*/ 188 w 211"/>
                  <a:gd name="T37" fmla="*/ 355 h 608"/>
                  <a:gd name="T38" fmla="*/ 203 w 211"/>
                  <a:gd name="T39" fmla="*/ 241 h 608"/>
                  <a:gd name="T40" fmla="*/ 211 w 211"/>
                  <a:gd name="T41" fmla="*/ 193 h 608"/>
                  <a:gd name="T42" fmla="*/ 210 w 211"/>
                  <a:gd name="T43" fmla="*/ 157 h 608"/>
                  <a:gd name="T44" fmla="*/ 204 w 211"/>
                  <a:gd name="T45" fmla="*/ 122 h 608"/>
                  <a:gd name="T46" fmla="*/ 189 w 211"/>
                  <a:gd name="T47" fmla="*/ 85 h 608"/>
                  <a:gd name="T48" fmla="*/ 169 w 211"/>
                  <a:gd name="T49" fmla="*/ 49 h 608"/>
                  <a:gd name="T50" fmla="*/ 150 w 211"/>
                  <a:gd name="T51" fmla="*/ 24 h 608"/>
                  <a:gd name="T52" fmla="*/ 131 w 211"/>
                  <a:gd name="T53" fmla="*/ 7 h 608"/>
                  <a:gd name="T54" fmla="*/ 137 w 211"/>
                  <a:gd name="T55" fmla="*/ 28 h 608"/>
                  <a:gd name="T56" fmla="*/ 139 w 211"/>
                  <a:gd name="T57" fmla="*/ 57 h 608"/>
                  <a:gd name="T58" fmla="*/ 140 w 211"/>
                  <a:gd name="T59" fmla="*/ 92 h 608"/>
                  <a:gd name="T60" fmla="*/ 138 w 211"/>
                  <a:gd name="T61" fmla="*/ 132 h 608"/>
                  <a:gd name="T62" fmla="*/ 128 w 211"/>
                  <a:gd name="T63" fmla="*/ 174 h 608"/>
                  <a:gd name="T64" fmla="*/ 109 w 211"/>
                  <a:gd name="T65" fmla="*/ 217 h 608"/>
                  <a:gd name="T66" fmla="*/ 81 w 211"/>
                  <a:gd name="T67" fmla="*/ 264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1" h="608">
                    <a:moveTo>
                      <a:pt x="66" y="288"/>
                    </a:moveTo>
                    <a:lnTo>
                      <a:pt x="48" y="310"/>
                    </a:lnTo>
                    <a:lnTo>
                      <a:pt x="35" y="336"/>
                    </a:lnTo>
                    <a:lnTo>
                      <a:pt x="21" y="361"/>
                    </a:lnTo>
                    <a:lnTo>
                      <a:pt x="13" y="387"/>
                    </a:lnTo>
                    <a:lnTo>
                      <a:pt x="5" y="414"/>
                    </a:lnTo>
                    <a:lnTo>
                      <a:pt x="1" y="441"/>
                    </a:lnTo>
                    <a:lnTo>
                      <a:pt x="0" y="469"/>
                    </a:lnTo>
                    <a:lnTo>
                      <a:pt x="1" y="498"/>
                    </a:lnTo>
                    <a:lnTo>
                      <a:pt x="2" y="528"/>
                    </a:lnTo>
                    <a:lnTo>
                      <a:pt x="8" y="556"/>
                    </a:lnTo>
                    <a:lnTo>
                      <a:pt x="17" y="583"/>
                    </a:lnTo>
                    <a:lnTo>
                      <a:pt x="27" y="608"/>
                    </a:lnTo>
                    <a:lnTo>
                      <a:pt x="43" y="601"/>
                    </a:lnTo>
                    <a:lnTo>
                      <a:pt x="59" y="594"/>
                    </a:lnTo>
                    <a:lnTo>
                      <a:pt x="73" y="585"/>
                    </a:lnTo>
                    <a:lnTo>
                      <a:pt x="87" y="578"/>
                    </a:lnTo>
                    <a:lnTo>
                      <a:pt x="99" y="567"/>
                    </a:lnTo>
                    <a:lnTo>
                      <a:pt x="113" y="558"/>
                    </a:lnTo>
                    <a:lnTo>
                      <a:pt x="117" y="552"/>
                    </a:lnTo>
                    <a:lnTo>
                      <a:pt x="123" y="547"/>
                    </a:lnTo>
                    <a:lnTo>
                      <a:pt x="134" y="537"/>
                    </a:lnTo>
                    <a:lnTo>
                      <a:pt x="138" y="530"/>
                    </a:lnTo>
                    <a:lnTo>
                      <a:pt x="143" y="524"/>
                    </a:lnTo>
                    <a:lnTo>
                      <a:pt x="151" y="512"/>
                    </a:lnTo>
                    <a:lnTo>
                      <a:pt x="153" y="505"/>
                    </a:lnTo>
                    <a:lnTo>
                      <a:pt x="153" y="502"/>
                    </a:lnTo>
                    <a:lnTo>
                      <a:pt x="155" y="501"/>
                    </a:lnTo>
                    <a:lnTo>
                      <a:pt x="157" y="499"/>
                    </a:lnTo>
                    <a:lnTo>
                      <a:pt x="164" y="486"/>
                    </a:lnTo>
                    <a:lnTo>
                      <a:pt x="169" y="470"/>
                    </a:lnTo>
                    <a:lnTo>
                      <a:pt x="174" y="454"/>
                    </a:lnTo>
                    <a:lnTo>
                      <a:pt x="177" y="438"/>
                    </a:lnTo>
                    <a:lnTo>
                      <a:pt x="177" y="433"/>
                    </a:lnTo>
                    <a:lnTo>
                      <a:pt x="177" y="430"/>
                    </a:lnTo>
                    <a:lnTo>
                      <a:pt x="179" y="429"/>
                    </a:lnTo>
                    <a:lnTo>
                      <a:pt x="181" y="422"/>
                    </a:lnTo>
                    <a:lnTo>
                      <a:pt x="188" y="355"/>
                    </a:lnTo>
                    <a:lnTo>
                      <a:pt x="195" y="295"/>
                    </a:lnTo>
                    <a:lnTo>
                      <a:pt x="203" y="241"/>
                    </a:lnTo>
                    <a:lnTo>
                      <a:pt x="206" y="216"/>
                    </a:lnTo>
                    <a:lnTo>
                      <a:pt x="211" y="193"/>
                    </a:lnTo>
                    <a:lnTo>
                      <a:pt x="211" y="169"/>
                    </a:lnTo>
                    <a:lnTo>
                      <a:pt x="210" y="157"/>
                    </a:lnTo>
                    <a:lnTo>
                      <a:pt x="210" y="146"/>
                    </a:lnTo>
                    <a:lnTo>
                      <a:pt x="204" y="122"/>
                    </a:lnTo>
                    <a:lnTo>
                      <a:pt x="197" y="98"/>
                    </a:lnTo>
                    <a:lnTo>
                      <a:pt x="189" y="85"/>
                    </a:lnTo>
                    <a:lnTo>
                      <a:pt x="183" y="73"/>
                    </a:lnTo>
                    <a:lnTo>
                      <a:pt x="169" y="49"/>
                    </a:lnTo>
                    <a:lnTo>
                      <a:pt x="159" y="36"/>
                    </a:lnTo>
                    <a:lnTo>
                      <a:pt x="150" y="24"/>
                    </a:lnTo>
                    <a:lnTo>
                      <a:pt x="128" y="0"/>
                    </a:lnTo>
                    <a:lnTo>
                      <a:pt x="131" y="7"/>
                    </a:lnTo>
                    <a:lnTo>
                      <a:pt x="134" y="18"/>
                    </a:lnTo>
                    <a:lnTo>
                      <a:pt x="137" y="28"/>
                    </a:lnTo>
                    <a:lnTo>
                      <a:pt x="139" y="43"/>
                    </a:lnTo>
                    <a:lnTo>
                      <a:pt x="139" y="57"/>
                    </a:lnTo>
                    <a:lnTo>
                      <a:pt x="140" y="74"/>
                    </a:lnTo>
                    <a:lnTo>
                      <a:pt x="140" y="92"/>
                    </a:lnTo>
                    <a:lnTo>
                      <a:pt x="141" y="112"/>
                    </a:lnTo>
                    <a:lnTo>
                      <a:pt x="138" y="132"/>
                    </a:lnTo>
                    <a:lnTo>
                      <a:pt x="134" y="152"/>
                    </a:lnTo>
                    <a:lnTo>
                      <a:pt x="128" y="174"/>
                    </a:lnTo>
                    <a:lnTo>
                      <a:pt x="120" y="195"/>
                    </a:lnTo>
                    <a:lnTo>
                      <a:pt x="109" y="217"/>
                    </a:lnTo>
                    <a:lnTo>
                      <a:pt x="97" y="240"/>
                    </a:lnTo>
                    <a:lnTo>
                      <a:pt x="81" y="264"/>
                    </a:lnTo>
                    <a:lnTo>
                      <a:pt x="66" y="288"/>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76" name="Freeform 3244">
                <a:extLst>
                  <a:ext uri="{FF2B5EF4-FFF2-40B4-BE49-F238E27FC236}">
                    <a16:creationId xmlns:a16="http://schemas.microsoft.com/office/drawing/2014/main" id="{DA6C355C-E876-3CEE-FE60-0A5B4F6AF282}"/>
                  </a:ext>
                </a:extLst>
              </p:cNvPr>
              <p:cNvSpPr>
                <a:spLocks/>
              </p:cNvSpPr>
              <p:nvPr/>
            </p:nvSpPr>
            <p:spPr bwMode="auto">
              <a:xfrm>
                <a:off x="2618" y="2083"/>
                <a:ext cx="129" cy="163"/>
              </a:xfrm>
              <a:custGeom>
                <a:avLst/>
                <a:gdLst>
                  <a:gd name="T0" fmla="*/ 50 w 100"/>
                  <a:gd name="T1" fmla="*/ 108 h 178"/>
                  <a:gd name="T2" fmla="*/ 51 w 100"/>
                  <a:gd name="T3" fmla="*/ 102 h 178"/>
                  <a:gd name="T4" fmla="*/ 55 w 100"/>
                  <a:gd name="T5" fmla="*/ 99 h 178"/>
                  <a:gd name="T6" fmla="*/ 64 w 100"/>
                  <a:gd name="T7" fmla="*/ 95 h 178"/>
                  <a:gd name="T8" fmla="*/ 69 w 100"/>
                  <a:gd name="T9" fmla="*/ 94 h 178"/>
                  <a:gd name="T10" fmla="*/ 76 w 100"/>
                  <a:gd name="T11" fmla="*/ 95 h 178"/>
                  <a:gd name="T12" fmla="*/ 92 w 100"/>
                  <a:gd name="T13" fmla="*/ 101 h 178"/>
                  <a:gd name="T14" fmla="*/ 86 w 100"/>
                  <a:gd name="T15" fmla="*/ 87 h 178"/>
                  <a:gd name="T16" fmla="*/ 80 w 100"/>
                  <a:gd name="T17" fmla="*/ 72 h 178"/>
                  <a:gd name="T18" fmla="*/ 69 w 100"/>
                  <a:gd name="T19" fmla="*/ 58 h 178"/>
                  <a:gd name="T20" fmla="*/ 58 w 100"/>
                  <a:gd name="T21" fmla="*/ 46 h 178"/>
                  <a:gd name="T22" fmla="*/ 45 w 100"/>
                  <a:gd name="T23" fmla="*/ 33 h 178"/>
                  <a:gd name="T24" fmla="*/ 36 w 100"/>
                  <a:gd name="T25" fmla="*/ 21 h 178"/>
                  <a:gd name="T26" fmla="*/ 28 w 100"/>
                  <a:gd name="T27" fmla="*/ 10 h 178"/>
                  <a:gd name="T28" fmla="*/ 26 w 100"/>
                  <a:gd name="T29" fmla="*/ 0 h 178"/>
                  <a:gd name="T30" fmla="*/ 25 w 100"/>
                  <a:gd name="T31" fmla="*/ 12 h 178"/>
                  <a:gd name="T32" fmla="*/ 22 w 100"/>
                  <a:gd name="T33" fmla="*/ 27 h 178"/>
                  <a:gd name="T34" fmla="*/ 19 w 100"/>
                  <a:gd name="T35" fmla="*/ 41 h 178"/>
                  <a:gd name="T36" fmla="*/ 14 w 100"/>
                  <a:gd name="T37" fmla="*/ 57 h 178"/>
                  <a:gd name="T38" fmla="*/ 7 w 100"/>
                  <a:gd name="T39" fmla="*/ 71 h 178"/>
                  <a:gd name="T40" fmla="*/ 3 w 100"/>
                  <a:gd name="T41" fmla="*/ 84 h 178"/>
                  <a:gd name="T42" fmla="*/ 0 w 100"/>
                  <a:gd name="T43" fmla="*/ 93 h 178"/>
                  <a:gd name="T44" fmla="*/ 0 w 100"/>
                  <a:gd name="T45" fmla="*/ 100 h 178"/>
                  <a:gd name="T46" fmla="*/ 0 w 100"/>
                  <a:gd name="T47" fmla="*/ 109 h 178"/>
                  <a:gd name="T48" fmla="*/ 3 w 100"/>
                  <a:gd name="T49" fmla="*/ 120 h 178"/>
                  <a:gd name="T50" fmla="*/ 10 w 100"/>
                  <a:gd name="T51" fmla="*/ 130 h 178"/>
                  <a:gd name="T52" fmla="*/ 15 w 100"/>
                  <a:gd name="T53" fmla="*/ 135 h 178"/>
                  <a:gd name="T54" fmla="*/ 22 w 100"/>
                  <a:gd name="T55" fmla="*/ 141 h 178"/>
                  <a:gd name="T56" fmla="*/ 36 w 100"/>
                  <a:gd name="T57" fmla="*/ 149 h 178"/>
                  <a:gd name="T58" fmla="*/ 54 w 100"/>
                  <a:gd name="T59" fmla="*/ 159 h 178"/>
                  <a:gd name="T60" fmla="*/ 75 w 100"/>
                  <a:gd name="T61" fmla="*/ 168 h 178"/>
                  <a:gd name="T62" fmla="*/ 100 w 100"/>
                  <a:gd name="T63" fmla="*/ 178 h 178"/>
                  <a:gd name="T64" fmla="*/ 75 w 100"/>
                  <a:gd name="T65" fmla="*/ 157 h 178"/>
                  <a:gd name="T66" fmla="*/ 60 w 100"/>
                  <a:gd name="T67" fmla="*/ 139 h 178"/>
                  <a:gd name="T68" fmla="*/ 51 w 100"/>
                  <a:gd name="T69" fmla="*/ 123 h 178"/>
                  <a:gd name="T70" fmla="*/ 50 w 100"/>
                  <a:gd name="T71" fmla="*/ 10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8">
                    <a:moveTo>
                      <a:pt x="50" y="108"/>
                    </a:moveTo>
                    <a:lnTo>
                      <a:pt x="51" y="102"/>
                    </a:lnTo>
                    <a:lnTo>
                      <a:pt x="55" y="99"/>
                    </a:lnTo>
                    <a:lnTo>
                      <a:pt x="64" y="95"/>
                    </a:lnTo>
                    <a:lnTo>
                      <a:pt x="69" y="94"/>
                    </a:lnTo>
                    <a:lnTo>
                      <a:pt x="76" y="95"/>
                    </a:lnTo>
                    <a:lnTo>
                      <a:pt x="92" y="101"/>
                    </a:lnTo>
                    <a:lnTo>
                      <a:pt x="86" y="87"/>
                    </a:lnTo>
                    <a:lnTo>
                      <a:pt x="80" y="72"/>
                    </a:lnTo>
                    <a:lnTo>
                      <a:pt x="69" y="58"/>
                    </a:lnTo>
                    <a:lnTo>
                      <a:pt x="58" y="46"/>
                    </a:lnTo>
                    <a:lnTo>
                      <a:pt x="45" y="33"/>
                    </a:lnTo>
                    <a:lnTo>
                      <a:pt x="36" y="21"/>
                    </a:lnTo>
                    <a:lnTo>
                      <a:pt x="28" y="10"/>
                    </a:lnTo>
                    <a:lnTo>
                      <a:pt x="26" y="0"/>
                    </a:lnTo>
                    <a:lnTo>
                      <a:pt x="25" y="12"/>
                    </a:lnTo>
                    <a:lnTo>
                      <a:pt x="22" y="27"/>
                    </a:lnTo>
                    <a:lnTo>
                      <a:pt x="19" y="41"/>
                    </a:lnTo>
                    <a:lnTo>
                      <a:pt x="14" y="57"/>
                    </a:lnTo>
                    <a:lnTo>
                      <a:pt x="7" y="71"/>
                    </a:lnTo>
                    <a:lnTo>
                      <a:pt x="3" y="84"/>
                    </a:lnTo>
                    <a:lnTo>
                      <a:pt x="0" y="93"/>
                    </a:lnTo>
                    <a:lnTo>
                      <a:pt x="0" y="100"/>
                    </a:lnTo>
                    <a:lnTo>
                      <a:pt x="0" y="109"/>
                    </a:lnTo>
                    <a:lnTo>
                      <a:pt x="3" y="120"/>
                    </a:lnTo>
                    <a:lnTo>
                      <a:pt x="10" y="130"/>
                    </a:lnTo>
                    <a:lnTo>
                      <a:pt x="15" y="135"/>
                    </a:lnTo>
                    <a:lnTo>
                      <a:pt x="22" y="141"/>
                    </a:lnTo>
                    <a:lnTo>
                      <a:pt x="36" y="149"/>
                    </a:lnTo>
                    <a:lnTo>
                      <a:pt x="54" y="159"/>
                    </a:lnTo>
                    <a:lnTo>
                      <a:pt x="75" y="168"/>
                    </a:lnTo>
                    <a:lnTo>
                      <a:pt x="100" y="178"/>
                    </a:lnTo>
                    <a:lnTo>
                      <a:pt x="75" y="157"/>
                    </a:lnTo>
                    <a:lnTo>
                      <a:pt x="60" y="139"/>
                    </a:lnTo>
                    <a:lnTo>
                      <a:pt x="51" y="123"/>
                    </a:lnTo>
                    <a:lnTo>
                      <a:pt x="50" y="108"/>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77" name="Freeform 3245">
                <a:extLst>
                  <a:ext uri="{FF2B5EF4-FFF2-40B4-BE49-F238E27FC236}">
                    <a16:creationId xmlns:a16="http://schemas.microsoft.com/office/drawing/2014/main" id="{FB307C6B-59F9-DAE4-881A-8D1C8A65D7F9}"/>
                  </a:ext>
                </a:extLst>
              </p:cNvPr>
              <p:cNvSpPr>
                <a:spLocks/>
              </p:cNvSpPr>
              <p:nvPr/>
            </p:nvSpPr>
            <p:spPr bwMode="auto">
              <a:xfrm>
                <a:off x="2913" y="2406"/>
                <a:ext cx="158" cy="263"/>
              </a:xfrm>
              <a:custGeom>
                <a:avLst/>
                <a:gdLst>
                  <a:gd name="T0" fmla="*/ 116 w 126"/>
                  <a:gd name="T1" fmla="*/ 98 h 290"/>
                  <a:gd name="T2" fmla="*/ 97 w 126"/>
                  <a:gd name="T3" fmla="*/ 48 h 290"/>
                  <a:gd name="T4" fmla="*/ 85 w 126"/>
                  <a:gd name="T5" fmla="*/ 24 h 290"/>
                  <a:gd name="T6" fmla="*/ 72 w 126"/>
                  <a:gd name="T7" fmla="*/ 0 h 290"/>
                  <a:gd name="T8" fmla="*/ 67 w 126"/>
                  <a:gd name="T9" fmla="*/ 15 h 290"/>
                  <a:gd name="T10" fmla="*/ 62 w 126"/>
                  <a:gd name="T11" fmla="*/ 32 h 290"/>
                  <a:gd name="T12" fmla="*/ 20 w 126"/>
                  <a:gd name="T13" fmla="*/ 136 h 290"/>
                  <a:gd name="T14" fmla="*/ 8 w 126"/>
                  <a:gd name="T15" fmla="*/ 171 h 290"/>
                  <a:gd name="T16" fmla="*/ 1 w 126"/>
                  <a:gd name="T17" fmla="*/ 208 h 290"/>
                  <a:gd name="T18" fmla="*/ 0 w 126"/>
                  <a:gd name="T19" fmla="*/ 248 h 290"/>
                  <a:gd name="T20" fmla="*/ 4 w 126"/>
                  <a:gd name="T21" fmla="*/ 290 h 290"/>
                  <a:gd name="T22" fmla="*/ 21 w 126"/>
                  <a:gd name="T23" fmla="*/ 285 h 290"/>
                  <a:gd name="T24" fmla="*/ 28 w 126"/>
                  <a:gd name="T25" fmla="*/ 283 h 290"/>
                  <a:gd name="T26" fmla="*/ 28 w 126"/>
                  <a:gd name="T27" fmla="*/ 282 h 290"/>
                  <a:gd name="T28" fmla="*/ 30 w 126"/>
                  <a:gd name="T29" fmla="*/ 282 h 290"/>
                  <a:gd name="T30" fmla="*/ 32 w 126"/>
                  <a:gd name="T31" fmla="*/ 282 h 290"/>
                  <a:gd name="T32" fmla="*/ 37 w 126"/>
                  <a:gd name="T33" fmla="*/ 282 h 290"/>
                  <a:gd name="T34" fmla="*/ 51 w 126"/>
                  <a:gd name="T35" fmla="*/ 277 h 290"/>
                  <a:gd name="T36" fmla="*/ 57 w 126"/>
                  <a:gd name="T37" fmla="*/ 274 h 290"/>
                  <a:gd name="T38" fmla="*/ 64 w 126"/>
                  <a:gd name="T39" fmla="*/ 273 h 290"/>
                  <a:gd name="T40" fmla="*/ 74 w 126"/>
                  <a:gd name="T41" fmla="*/ 267 h 290"/>
                  <a:gd name="T42" fmla="*/ 82 w 126"/>
                  <a:gd name="T43" fmla="*/ 262 h 290"/>
                  <a:gd name="T44" fmla="*/ 90 w 126"/>
                  <a:gd name="T45" fmla="*/ 256 h 290"/>
                  <a:gd name="T46" fmla="*/ 96 w 126"/>
                  <a:gd name="T47" fmla="*/ 252 h 290"/>
                  <a:gd name="T48" fmla="*/ 106 w 126"/>
                  <a:gd name="T49" fmla="*/ 232 h 290"/>
                  <a:gd name="T50" fmla="*/ 115 w 126"/>
                  <a:gd name="T51" fmla="*/ 216 h 290"/>
                  <a:gd name="T52" fmla="*/ 121 w 126"/>
                  <a:gd name="T53" fmla="*/ 196 h 290"/>
                  <a:gd name="T54" fmla="*/ 122 w 126"/>
                  <a:gd name="T55" fmla="*/ 187 h 290"/>
                  <a:gd name="T56" fmla="*/ 124 w 126"/>
                  <a:gd name="T57" fmla="*/ 178 h 290"/>
                  <a:gd name="T58" fmla="*/ 124 w 126"/>
                  <a:gd name="T59" fmla="*/ 168 h 290"/>
                  <a:gd name="T60" fmla="*/ 126 w 126"/>
                  <a:gd name="T61" fmla="*/ 158 h 290"/>
                  <a:gd name="T62" fmla="*/ 124 w 126"/>
                  <a:gd name="T63" fmla="*/ 139 h 290"/>
                  <a:gd name="T64" fmla="*/ 121 w 126"/>
                  <a:gd name="T65" fmla="*/ 117 h 290"/>
                  <a:gd name="T66" fmla="*/ 116 w 126"/>
                  <a:gd name="T67" fmla="*/ 98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6" h="290">
                    <a:moveTo>
                      <a:pt x="116" y="98"/>
                    </a:moveTo>
                    <a:lnTo>
                      <a:pt x="97" y="48"/>
                    </a:lnTo>
                    <a:lnTo>
                      <a:pt x="85" y="24"/>
                    </a:lnTo>
                    <a:lnTo>
                      <a:pt x="72" y="0"/>
                    </a:lnTo>
                    <a:lnTo>
                      <a:pt x="67" y="15"/>
                    </a:lnTo>
                    <a:lnTo>
                      <a:pt x="62" y="32"/>
                    </a:lnTo>
                    <a:lnTo>
                      <a:pt x="20" y="136"/>
                    </a:lnTo>
                    <a:lnTo>
                      <a:pt x="8" y="171"/>
                    </a:lnTo>
                    <a:lnTo>
                      <a:pt x="1" y="208"/>
                    </a:lnTo>
                    <a:lnTo>
                      <a:pt x="0" y="248"/>
                    </a:lnTo>
                    <a:lnTo>
                      <a:pt x="4" y="290"/>
                    </a:lnTo>
                    <a:lnTo>
                      <a:pt x="21" y="285"/>
                    </a:lnTo>
                    <a:lnTo>
                      <a:pt x="28" y="283"/>
                    </a:lnTo>
                    <a:lnTo>
                      <a:pt x="28" y="282"/>
                    </a:lnTo>
                    <a:lnTo>
                      <a:pt x="30" y="282"/>
                    </a:lnTo>
                    <a:lnTo>
                      <a:pt x="32" y="282"/>
                    </a:lnTo>
                    <a:lnTo>
                      <a:pt x="37" y="282"/>
                    </a:lnTo>
                    <a:lnTo>
                      <a:pt x="51" y="277"/>
                    </a:lnTo>
                    <a:lnTo>
                      <a:pt x="57" y="274"/>
                    </a:lnTo>
                    <a:lnTo>
                      <a:pt x="64" y="273"/>
                    </a:lnTo>
                    <a:lnTo>
                      <a:pt x="74" y="267"/>
                    </a:lnTo>
                    <a:lnTo>
                      <a:pt x="82" y="262"/>
                    </a:lnTo>
                    <a:lnTo>
                      <a:pt x="90" y="256"/>
                    </a:lnTo>
                    <a:lnTo>
                      <a:pt x="96" y="252"/>
                    </a:lnTo>
                    <a:lnTo>
                      <a:pt x="106" y="232"/>
                    </a:lnTo>
                    <a:lnTo>
                      <a:pt x="115" y="216"/>
                    </a:lnTo>
                    <a:lnTo>
                      <a:pt x="121" y="196"/>
                    </a:lnTo>
                    <a:lnTo>
                      <a:pt x="122" y="187"/>
                    </a:lnTo>
                    <a:lnTo>
                      <a:pt x="124" y="178"/>
                    </a:lnTo>
                    <a:lnTo>
                      <a:pt x="124" y="168"/>
                    </a:lnTo>
                    <a:lnTo>
                      <a:pt x="126" y="158"/>
                    </a:lnTo>
                    <a:lnTo>
                      <a:pt x="124" y="139"/>
                    </a:lnTo>
                    <a:lnTo>
                      <a:pt x="121" y="117"/>
                    </a:lnTo>
                    <a:lnTo>
                      <a:pt x="116" y="98"/>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78" name="Freeform 3246">
                <a:extLst>
                  <a:ext uri="{FF2B5EF4-FFF2-40B4-BE49-F238E27FC236}">
                    <a16:creationId xmlns:a16="http://schemas.microsoft.com/office/drawing/2014/main" id="{F98A5C24-2013-7AE8-470A-4AD63F430138}"/>
                  </a:ext>
                </a:extLst>
              </p:cNvPr>
              <p:cNvSpPr>
                <a:spLocks/>
              </p:cNvSpPr>
              <p:nvPr/>
            </p:nvSpPr>
            <p:spPr bwMode="auto">
              <a:xfrm>
                <a:off x="2913" y="2406"/>
                <a:ext cx="158" cy="263"/>
              </a:xfrm>
              <a:custGeom>
                <a:avLst/>
                <a:gdLst>
                  <a:gd name="T0" fmla="*/ 72 w 126"/>
                  <a:gd name="T1" fmla="*/ 0 h 290"/>
                  <a:gd name="T2" fmla="*/ 67 w 126"/>
                  <a:gd name="T3" fmla="*/ 15 h 290"/>
                  <a:gd name="T4" fmla="*/ 62 w 126"/>
                  <a:gd name="T5" fmla="*/ 32 h 290"/>
                  <a:gd name="T6" fmla="*/ 20 w 126"/>
                  <a:gd name="T7" fmla="*/ 136 h 290"/>
                  <a:gd name="T8" fmla="*/ 8 w 126"/>
                  <a:gd name="T9" fmla="*/ 171 h 290"/>
                  <a:gd name="T10" fmla="*/ 1 w 126"/>
                  <a:gd name="T11" fmla="*/ 208 h 290"/>
                  <a:gd name="T12" fmla="*/ 0 w 126"/>
                  <a:gd name="T13" fmla="*/ 248 h 290"/>
                  <a:gd name="T14" fmla="*/ 4 w 126"/>
                  <a:gd name="T15" fmla="*/ 290 h 290"/>
                  <a:gd name="T16" fmla="*/ 21 w 126"/>
                  <a:gd name="T17" fmla="*/ 285 h 290"/>
                  <a:gd name="T18" fmla="*/ 28 w 126"/>
                  <a:gd name="T19" fmla="*/ 283 h 290"/>
                  <a:gd name="T20" fmla="*/ 28 w 126"/>
                  <a:gd name="T21" fmla="*/ 282 h 290"/>
                  <a:gd name="T22" fmla="*/ 30 w 126"/>
                  <a:gd name="T23" fmla="*/ 282 h 290"/>
                  <a:gd name="T24" fmla="*/ 32 w 126"/>
                  <a:gd name="T25" fmla="*/ 282 h 290"/>
                  <a:gd name="T26" fmla="*/ 37 w 126"/>
                  <a:gd name="T27" fmla="*/ 282 h 290"/>
                  <a:gd name="T28" fmla="*/ 51 w 126"/>
                  <a:gd name="T29" fmla="*/ 277 h 290"/>
                  <a:gd name="T30" fmla="*/ 57 w 126"/>
                  <a:gd name="T31" fmla="*/ 274 h 290"/>
                  <a:gd name="T32" fmla="*/ 64 w 126"/>
                  <a:gd name="T33" fmla="*/ 273 h 290"/>
                  <a:gd name="T34" fmla="*/ 74 w 126"/>
                  <a:gd name="T35" fmla="*/ 267 h 290"/>
                  <a:gd name="T36" fmla="*/ 82 w 126"/>
                  <a:gd name="T37" fmla="*/ 262 h 290"/>
                  <a:gd name="T38" fmla="*/ 90 w 126"/>
                  <a:gd name="T39" fmla="*/ 256 h 290"/>
                  <a:gd name="T40" fmla="*/ 96 w 126"/>
                  <a:gd name="T41" fmla="*/ 252 h 290"/>
                  <a:gd name="T42" fmla="*/ 106 w 126"/>
                  <a:gd name="T43" fmla="*/ 232 h 290"/>
                  <a:gd name="T44" fmla="*/ 115 w 126"/>
                  <a:gd name="T45" fmla="*/ 216 h 290"/>
                  <a:gd name="T46" fmla="*/ 121 w 126"/>
                  <a:gd name="T47" fmla="*/ 196 h 290"/>
                  <a:gd name="T48" fmla="*/ 122 w 126"/>
                  <a:gd name="T49" fmla="*/ 187 h 290"/>
                  <a:gd name="T50" fmla="*/ 124 w 126"/>
                  <a:gd name="T51" fmla="*/ 178 h 290"/>
                  <a:gd name="T52" fmla="*/ 124 w 126"/>
                  <a:gd name="T53" fmla="*/ 168 h 290"/>
                  <a:gd name="T54" fmla="*/ 126 w 126"/>
                  <a:gd name="T55" fmla="*/ 158 h 290"/>
                  <a:gd name="T56" fmla="*/ 124 w 126"/>
                  <a:gd name="T57" fmla="*/ 139 h 290"/>
                  <a:gd name="T58" fmla="*/ 121 w 126"/>
                  <a:gd name="T59" fmla="*/ 117 h 290"/>
                  <a:gd name="T60" fmla="*/ 116 w 126"/>
                  <a:gd name="T61" fmla="*/ 98 h 290"/>
                  <a:gd name="T62" fmla="*/ 97 w 126"/>
                  <a:gd name="T63" fmla="*/ 48 h 290"/>
                  <a:gd name="T64" fmla="*/ 85 w 126"/>
                  <a:gd name="T65" fmla="*/ 24 h 290"/>
                  <a:gd name="T66" fmla="*/ 72 w 126"/>
                  <a:gd name="T67"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6" h="290">
                    <a:moveTo>
                      <a:pt x="72" y="0"/>
                    </a:moveTo>
                    <a:lnTo>
                      <a:pt x="67" y="15"/>
                    </a:lnTo>
                    <a:lnTo>
                      <a:pt x="62" y="32"/>
                    </a:lnTo>
                    <a:lnTo>
                      <a:pt x="20" y="136"/>
                    </a:lnTo>
                    <a:lnTo>
                      <a:pt x="8" y="171"/>
                    </a:lnTo>
                    <a:lnTo>
                      <a:pt x="1" y="208"/>
                    </a:lnTo>
                    <a:lnTo>
                      <a:pt x="0" y="248"/>
                    </a:lnTo>
                    <a:lnTo>
                      <a:pt x="4" y="290"/>
                    </a:lnTo>
                    <a:lnTo>
                      <a:pt x="21" y="285"/>
                    </a:lnTo>
                    <a:lnTo>
                      <a:pt x="28" y="283"/>
                    </a:lnTo>
                    <a:lnTo>
                      <a:pt x="28" y="282"/>
                    </a:lnTo>
                    <a:lnTo>
                      <a:pt x="30" y="282"/>
                    </a:lnTo>
                    <a:lnTo>
                      <a:pt x="32" y="282"/>
                    </a:lnTo>
                    <a:lnTo>
                      <a:pt x="37" y="282"/>
                    </a:lnTo>
                    <a:lnTo>
                      <a:pt x="51" y="277"/>
                    </a:lnTo>
                    <a:lnTo>
                      <a:pt x="57" y="274"/>
                    </a:lnTo>
                    <a:lnTo>
                      <a:pt x="64" y="273"/>
                    </a:lnTo>
                    <a:lnTo>
                      <a:pt x="74" y="267"/>
                    </a:lnTo>
                    <a:lnTo>
                      <a:pt x="82" y="262"/>
                    </a:lnTo>
                    <a:lnTo>
                      <a:pt x="90" y="256"/>
                    </a:lnTo>
                    <a:lnTo>
                      <a:pt x="96" y="252"/>
                    </a:lnTo>
                    <a:lnTo>
                      <a:pt x="106" y="232"/>
                    </a:lnTo>
                    <a:lnTo>
                      <a:pt x="115" y="216"/>
                    </a:lnTo>
                    <a:lnTo>
                      <a:pt x="121" y="196"/>
                    </a:lnTo>
                    <a:lnTo>
                      <a:pt x="122" y="187"/>
                    </a:lnTo>
                    <a:lnTo>
                      <a:pt x="124" y="178"/>
                    </a:lnTo>
                    <a:lnTo>
                      <a:pt x="124" y="168"/>
                    </a:lnTo>
                    <a:lnTo>
                      <a:pt x="126" y="158"/>
                    </a:lnTo>
                    <a:lnTo>
                      <a:pt x="124" y="139"/>
                    </a:lnTo>
                    <a:lnTo>
                      <a:pt x="121" y="117"/>
                    </a:lnTo>
                    <a:lnTo>
                      <a:pt x="116" y="98"/>
                    </a:lnTo>
                    <a:lnTo>
                      <a:pt x="97" y="48"/>
                    </a:lnTo>
                    <a:lnTo>
                      <a:pt x="85" y="24"/>
                    </a:lnTo>
                    <a:lnTo>
                      <a:pt x="72" y="0"/>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79" name="Freeform 3247">
                <a:extLst>
                  <a:ext uri="{FF2B5EF4-FFF2-40B4-BE49-F238E27FC236}">
                    <a16:creationId xmlns:a16="http://schemas.microsoft.com/office/drawing/2014/main" id="{3DAAC1BE-E9AB-78D3-92EF-18C0B83D22A3}"/>
                  </a:ext>
                </a:extLst>
              </p:cNvPr>
              <p:cNvSpPr>
                <a:spLocks/>
              </p:cNvSpPr>
              <p:nvPr/>
            </p:nvSpPr>
            <p:spPr bwMode="auto">
              <a:xfrm>
                <a:off x="2501" y="2625"/>
                <a:ext cx="159" cy="169"/>
              </a:xfrm>
              <a:custGeom>
                <a:avLst/>
                <a:gdLst>
                  <a:gd name="T0" fmla="*/ 35 w 125"/>
                  <a:gd name="T1" fmla="*/ 11 h 187"/>
                  <a:gd name="T2" fmla="*/ 16 w 125"/>
                  <a:gd name="T3" fmla="*/ 50 h 187"/>
                  <a:gd name="T4" fmla="*/ 4 w 125"/>
                  <a:gd name="T5" fmla="*/ 92 h 187"/>
                  <a:gd name="T6" fmla="*/ 0 w 125"/>
                  <a:gd name="T7" fmla="*/ 115 h 187"/>
                  <a:gd name="T8" fmla="*/ 0 w 125"/>
                  <a:gd name="T9" fmla="*/ 139 h 187"/>
                  <a:gd name="T10" fmla="*/ 4 w 125"/>
                  <a:gd name="T11" fmla="*/ 154 h 187"/>
                  <a:gd name="T12" fmla="*/ 12 w 125"/>
                  <a:gd name="T13" fmla="*/ 166 h 187"/>
                  <a:gd name="T14" fmla="*/ 26 w 125"/>
                  <a:gd name="T15" fmla="*/ 175 h 187"/>
                  <a:gd name="T16" fmla="*/ 44 w 125"/>
                  <a:gd name="T17" fmla="*/ 182 h 187"/>
                  <a:gd name="T18" fmla="*/ 64 w 125"/>
                  <a:gd name="T19" fmla="*/ 185 h 187"/>
                  <a:gd name="T20" fmla="*/ 86 w 125"/>
                  <a:gd name="T21" fmla="*/ 184 h 187"/>
                  <a:gd name="T22" fmla="*/ 90 w 125"/>
                  <a:gd name="T23" fmla="*/ 187 h 187"/>
                  <a:gd name="T24" fmla="*/ 104 w 125"/>
                  <a:gd name="T25" fmla="*/ 182 h 187"/>
                  <a:gd name="T26" fmla="*/ 110 w 125"/>
                  <a:gd name="T27" fmla="*/ 178 h 187"/>
                  <a:gd name="T28" fmla="*/ 118 w 125"/>
                  <a:gd name="T29" fmla="*/ 174 h 187"/>
                  <a:gd name="T30" fmla="*/ 121 w 125"/>
                  <a:gd name="T31" fmla="*/ 167 h 187"/>
                  <a:gd name="T32" fmla="*/ 125 w 125"/>
                  <a:gd name="T33" fmla="*/ 160 h 187"/>
                  <a:gd name="T34" fmla="*/ 124 w 125"/>
                  <a:gd name="T35" fmla="*/ 152 h 187"/>
                  <a:gd name="T36" fmla="*/ 122 w 125"/>
                  <a:gd name="T37" fmla="*/ 145 h 187"/>
                  <a:gd name="T38" fmla="*/ 107 w 125"/>
                  <a:gd name="T39" fmla="*/ 116 h 187"/>
                  <a:gd name="T40" fmla="*/ 89 w 125"/>
                  <a:gd name="T41" fmla="*/ 90 h 187"/>
                  <a:gd name="T42" fmla="*/ 73 w 125"/>
                  <a:gd name="T43" fmla="*/ 68 h 187"/>
                  <a:gd name="T44" fmla="*/ 60 w 125"/>
                  <a:gd name="T45" fmla="*/ 47 h 187"/>
                  <a:gd name="T46" fmla="*/ 48 w 125"/>
                  <a:gd name="T47" fmla="*/ 23 h 187"/>
                  <a:gd name="T48" fmla="*/ 40 w 125"/>
                  <a:gd name="T49" fmla="*/ 0 h 187"/>
                  <a:gd name="T50" fmla="*/ 35 w 125"/>
                  <a:gd name="T51" fmla="*/ 11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5" h="187">
                    <a:moveTo>
                      <a:pt x="35" y="11"/>
                    </a:moveTo>
                    <a:lnTo>
                      <a:pt x="16" y="50"/>
                    </a:lnTo>
                    <a:lnTo>
                      <a:pt x="4" y="92"/>
                    </a:lnTo>
                    <a:lnTo>
                      <a:pt x="0" y="115"/>
                    </a:lnTo>
                    <a:lnTo>
                      <a:pt x="0" y="139"/>
                    </a:lnTo>
                    <a:lnTo>
                      <a:pt x="4" y="154"/>
                    </a:lnTo>
                    <a:lnTo>
                      <a:pt x="12" y="166"/>
                    </a:lnTo>
                    <a:lnTo>
                      <a:pt x="26" y="175"/>
                    </a:lnTo>
                    <a:lnTo>
                      <a:pt x="44" y="182"/>
                    </a:lnTo>
                    <a:lnTo>
                      <a:pt x="64" y="185"/>
                    </a:lnTo>
                    <a:lnTo>
                      <a:pt x="86" y="184"/>
                    </a:lnTo>
                    <a:lnTo>
                      <a:pt x="90" y="187"/>
                    </a:lnTo>
                    <a:lnTo>
                      <a:pt x="104" y="182"/>
                    </a:lnTo>
                    <a:lnTo>
                      <a:pt x="110" y="178"/>
                    </a:lnTo>
                    <a:lnTo>
                      <a:pt x="118" y="174"/>
                    </a:lnTo>
                    <a:lnTo>
                      <a:pt x="121" y="167"/>
                    </a:lnTo>
                    <a:lnTo>
                      <a:pt x="125" y="160"/>
                    </a:lnTo>
                    <a:lnTo>
                      <a:pt x="124" y="152"/>
                    </a:lnTo>
                    <a:lnTo>
                      <a:pt x="122" y="145"/>
                    </a:lnTo>
                    <a:lnTo>
                      <a:pt x="107" y="116"/>
                    </a:lnTo>
                    <a:lnTo>
                      <a:pt x="89" y="90"/>
                    </a:lnTo>
                    <a:lnTo>
                      <a:pt x="73" y="68"/>
                    </a:lnTo>
                    <a:lnTo>
                      <a:pt x="60" y="47"/>
                    </a:lnTo>
                    <a:lnTo>
                      <a:pt x="48" y="23"/>
                    </a:lnTo>
                    <a:lnTo>
                      <a:pt x="40" y="0"/>
                    </a:lnTo>
                    <a:lnTo>
                      <a:pt x="35" y="11"/>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80" name="Freeform 3248">
                <a:extLst>
                  <a:ext uri="{FF2B5EF4-FFF2-40B4-BE49-F238E27FC236}">
                    <a16:creationId xmlns:a16="http://schemas.microsoft.com/office/drawing/2014/main" id="{14026881-77A4-ADDB-2145-7F46C9BAD481}"/>
                  </a:ext>
                </a:extLst>
              </p:cNvPr>
              <p:cNvSpPr>
                <a:spLocks/>
              </p:cNvSpPr>
              <p:nvPr/>
            </p:nvSpPr>
            <p:spPr bwMode="auto">
              <a:xfrm>
                <a:off x="2501" y="2625"/>
                <a:ext cx="159" cy="169"/>
              </a:xfrm>
              <a:custGeom>
                <a:avLst/>
                <a:gdLst>
                  <a:gd name="T0" fmla="*/ 4 w 125"/>
                  <a:gd name="T1" fmla="*/ 92 h 187"/>
                  <a:gd name="T2" fmla="*/ 0 w 125"/>
                  <a:gd name="T3" fmla="*/ 115 h 187"/>
                  <a:gd name="T4" fmla="*/ 0 w 125"/>
                  <a:gd name="T5" fmla="*/ 139 h 187"/>
                  <a:gd name="T6" fmla="*/ 4 w 125"/>
                  <a:gd name="T7" fmla="*/ 154 h 187"/>
                  <a:gd name="T8" fmla="*/ 12 w 125"/>
                  <a:gd name="T9" fmla="*/ 166 h 187"/>
                  <a:gd name="T10" fmla="*/ 26 w 125"/>
                  <a:gd name="T11" fmla="*/ 175 h 187"/>
                  <a:gd name="T12" fmla="*/ 44 w 125"/>
                  <a:gd name="T13" fmla="*/ 182 h 187"/>
                  <a:gd name="T14" fmla="*/ 64 w 125"/>
                  <a:gd name="T15" fmla="*/ 185 h 187"/>
                  <a:gd name="T16" fmla="*/ 86 w 125"/>
                  <a:gd name="T17" fmla="*/ 184 h 187"/>
                  <a:gd name="T18" fmla="*/ 90 w 125"/>
                  <a:gd name="T19" fmla="*/ 187 h 187"/>
                  <a:gd name="T20" fmla="*/ 104 w 125"/>
                  <a:gd name="T21" fmla="*/ 182 h 187"/>
                  <a:gd name="T22" fmla="*/ 110 w 125"/>
                  <a:gd name="T23" fmla="*/ 178 h 187"/>
                  <a:gd name="T24" fmla="*/ 118 w 125"/>
                  <a:gd name="T25" fmla="*/ 174 h 187"/>
                  <a:gd name="T26" fmla="*/ 121 w 125"/>
                  <a:gd name="T27" fmla="*/ 167 h 187"/>
                  <a:gd name="T28" fmla="*/ 125 w 125"/>
                  <a:gd name="T29" fmla="*/ 160 h 187"/>
                  <a:gd name="T30" fmla="*/ 124 w 125"/>
                  <a:gd name="T31" fmla="*/ 152 h 187"/>
                  <a:gd name="T32" fmla="*/ 122 w 125"/>
                  <a:gd name="T33" fmla="*/ 145 h 187"/>
                  <a:gd name="T34" fmla="*/ 107 w 125"/>
                  <a:gd name="T35" fmla="*/ 116 h 187"/>
                  <a:gd name="T36" fmla="*/ 89 w 125"/>
                  <a:gd name="T37" fmla="*/ 90 h 187"/>
                  <a:gd name="T38" fmla="*/ 73 w 125"/>
                  <a:gd name="T39" fmla="*/ 68 h 187"/>
                  <a:gd name="T40" fmla="*/ 60 w 125"/>
                  <a:gd name="T41" fmla="*/ 47 h 187"/>
                  <a:gd name="T42" fmla="*/ 48 w 125"/>
                  <a:gd name="T43" fmla="*/ 23 h 187"/>
                  <a:gd name="T44" fmla="*/ 40 w 125"/>
                  <a:gd name="T45" fmla="*/ 0 h 187"/>
                  <a:gd name="T46" fmla="*/ 35 w 125"/>
                  <a:gd name="T47" fmla="*/ 11 h 187"/>
                  <a:gd name="T48" fmla="*/ 16 w 125"/>
                  <a:gd name="T49" fmla="*/ 50 h 187"/>
                  <a:gd name="T50" fmla="*/ 4 w 125"/>
                  <a:gd name="T51" fmla="*/ 9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5" h="187">
                    <a:moveTo>
                      <a:pt x="4" y="92"/>
                    </a:moveTo>
                    <a:lnTo>
                      <a:pt x="0" y="115"/>
                    </a:lnTo>
                    <a:lnTo>
                      <a:pt x="0" y="139"/>
                    </a:lnTo>
                    <a:lnTo>
                      <a:pt x="4" y="154"/>
                    </a:lnTo>
                    <a:lnTo>
                      <a:pt x="12" y="166"/>
                    </a:lnTo>
                    <a:lnTo>
                      <a:pt x="26" y="175"/>
                    </a:lnTo>
                    <a:lnTo>
                      <a:pt x="44" y="182"/>
                    </a:lnTo>
                    <a:lnTo>
                      <a:pt x="64" y="185"/>
                    </a:lnTo>
                    <a:lnTo>
                      <a:pt x="86" y="184"/>
                    </a:lnTo>
                    <a:lnTo>
                      <a:pt x="90" y="187"/>
                    </a:lnTo>
                    <a:lnTo>
                      <a:pt x="104" y="182"/>
                    </a:lnTo>
                    <a:lnTo>
                      <a:pt x="110" y="178"/>
                    </a:lnTo>
                    <a:lnTo>
                      <a:pt x="118" y="174"/>
                    </a:lnTo>
                    <a:lnTo>
                      <a:pt x="121" y="167"/>
                    </a:lnTo>
                    <a:lnTo>
                      <a:pt x="125" y="160"/>
                    </a:lnTo>
                    <a:lnTo>
                      <a:pt x="124" y="152"/>
                    </a:lnTo>
                    <a:lnTo>
                      <a:pt x="122" y="145"/>
                    </a:lnTo>
                    <a:lnTo>
                      <a:pt x="107" y="116"/>
                    </a:lnTo>
                    <a:lnTo>
                      <a:pt x="89" y="90"/>
                    </a:lnTo>
                    <a:lnTo>
                      <a:pt x="73" y="68"/>
                    </a:lnTo>
                    <a:lnTo>
                      <a:pt x="60" y="47"/>
                    </a:lnTo>
                    <a:lnTo>
                      <a:pt x="48" y="23"/>
                    </a:lnTo>
                    <a:lnTo>
                      <a:pt x="40" y="0"/>
                    </a:lnTo>
                    <a:lnTo>
                      <a:pt x="35" y="11"/>
                    </a:lnTo>
                    <a:lnTo>
                      <a:pt x="16" y="50"/>
                    </a:lnTo>
                    <a:lnTo>
                      <a:pt x="4" y="92"/>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81" name="Freeform 3249">
                <a:extLst>
                  <a:ext uri="{FF2B5EF4-FFF2-40B4-BE49-F238E27FC236}">
                    <a16:creationId xmlns:a16="http://schemas.microsoft.com/office/drawing/2014/main" id="{B7DFED17-C303-F0D9-E9D3-96A3FDFE6A0A}"/>
                  </a:ext>
                </a:extLst>
              </p:cNvPr>
              <p:cNvSpPr>
                <a:spLocks/>
              </p:cNvSpPr>
              <p:nvPr/>
            </p:nvSpPr>
            <p:spPr bwMode="auto">
              <a:xfrm>
                <a:off x="2222" y="2419"/>
                <a:ext cx="298" cy="437"/>
              </a:xfrm>
              <a:custGeom>
                <a:avLst/>
                <a:gdLst>
                  <a:gd name="T0" fmla="*/ 74 w 236"/>
                  <a:gd name="T1" fmla="*/ 59 h 483"/>
                  <a:gd name="T2" fmla="*/ 56 w 236"/>
                  <a:gd name="T3" fmla="*/ 47 h 483"/>
                  <a:gd name="T4" fmla="*/ 50 w 236"/>
                  <a:gd name="T5" fmla="*/ 43 h 483"/>
                  <a:gd name="T6" fmla="*/ 26 w 236"/>
                  <a:gd name="T7" fmla="*/ 27 h 483"/>
                  <a:gd name="T8" fmla="*/ 19 w 236"/>
                  <a:gd name="T9" fmla="*/ 18 h 483"/>
                  <a:gd name="T10" fmla="*/ 13 w 236"/>
                  <a:gd name="T11" fmla="*/ 0 h 483"/>
                  <a:gd name="T12" fmla="*/ 0 w 236"/>
                  <a:gd name="T13" fmla="*/ 37 h 483"/>
                  <a:gd name="T14" fmla="*/ 11 w 236"/>
                  <a:gd name="T15" fmla="*/ 84 h 483"/>
                  <a:gd name="T16" fmla="*/ 25 w 236"/>
                  <a:gd name="T17" fmla="*/ 115 h 483"/>
                  <a:gd name="T18" fmla="*/ 47 w 236"/>
                  <a:gd name="T19" fmla="*/ 157 h 483"/>
                  <a:gd name="T20" fmla="*/ 48 w 236"/>
                  <a:gd name="T21" fmla="*/ 169 h 483"/>
                  <a:gd name="T22" fmla="*/ 46 w 236"/>
                  <a:gd name="T23" fmla="*/ 193 h 483"/>
                  <a:gd name="T24" fmla="*/ 37 w 236"/>
                  <a:gd name="T25" fmla="*/ 227 h 483"/>
                  <a:gd name="T26" fmla="*/ 28 w 236"/>
                  <a:gd name="T27" fmla="*/ 253 h 483"/>
                  <a:gd name="T28" fmla="*/ 18 w 236"/>
                  <a:gd name="T29" fmla="*/ 300 h 483"/>
                  <a:gd name="T30" fmla="*/ 18 w 236"/>
                  <a:gd name="T31" fmla="*/ 352 h 483"/>
                  <a:gd name="T32" fmla="*/ 35 w 236"/>
                  <a:gd name="T33" fmla="*/ 402 h 483"/>
                  <a:gd name="T34" fmla="*/ 52 w 236"/>
                  <a:gd name="T35" fmla="*/ 426 h 483"/>
                  <a:gd name="T36" fmla="*/ 71 w 236"/>
                  <a:gd name="T37" fmla="*/ 444 h 483"/>
                  <a:gd name="T38" fmla="*/ 97 w 236"/>
                  <a:gd name="T39" fmla="*/ 459 h 483"/>
                  <a:gd name="T40" fmla="*/ 131 w 236"/>
                  <a:gd name="T41" fmla="*/ 471 h 483"/>
                  <a:gd name="T42" fmla="*/ 170 w 236"/>
                  <a:gd name="T43" fmla="*/ 479 h 483"/>
                  <a:gd name="T44" fmla="*/ 209 w 236"/>
                  <a:gd name="T45" fmla="*/ 465 h 483"/>
                  <a:gd name="T46" fmla="*/ 229 w 236"/>
                  <a:gd name="T47" fmla="*/ 431 h 483"/>
                  <a:gd name="T48" fmla="*/ 236 w 236"/>
                  <a:gd name="T49" fmla="*/ 397 h 483"/>
                  <a:gd name="T50" fmla="*/ 228 w 236"/>
                  <a:gd name="T51" fmla="*/ 366 h 483"/>
                  <a:gd name="T52" fmla="*/ 204 w 236"/>
                  <a:gd name="T53" fmla="*/ 336 h 483"/>
                  <a:gd name="T54" fmla="*/ 182 w 236"/>
                  <a:gd name="T55" fmla="*/ 312 h 483"/>
                  <a:gd name="T56" fmla="*/ 166 w 236"/>
                  <a:gd name="T57" fmla="*/ 289 h 483"/>
                  <a:gd name="T58" fmla="*/ 154 w 236"/>
                  <a:gd name="T59" fmla="*/ 264 h 483"/>
                  <a:gd name="T60" fmla="*/ 150 w 236"/>
                  <a:gd name="T61" fmla="*/ 221 h 483"/>
                  <a:gd name="T62" fmla="*/ 140 w 236"/>
                  <a:gd name="T63" fmla="*/ 163 h 483"/>
                  <a:gd name="T64" fmla="*/ 124 w 236"/>
                  <a:gd name="T65" fmla="*/ 118 h 483"/>
                  <a:gd name="T66" fmla="*/ 113 w 236"/>
                  <a:gd name="T67" fmla="*/ 99 h 483"/>
                  <a:gd name="T68" fmla="*/ 84 w 236"/>
                  <a:gd name="T69" fmla="*/ 67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6" h="483">
                    <a:moveTo>
                      <a:pt x="84" y="67"/>
                    </a:moveTo>
                    <a:lnTo>
                      <a:pt x="74" y="59"/>
                    </a:lnTo>
                    <a:lnTo>
                      <a:pt x="64" y="52"/>
                    </a:lnTo>
                    <a:lnTo>
                      <a:pt x="56" y="47"/>
                    </a:lnTo>
                    <a:lnTo>
                      <a:pt x="53" y="45"/>
                    </a:lnTo>
                    <a:lnTo>
                      <a:pt x="50" y="43"/>
                    </a:lnTo>
                    <a:lnTo>
                      <a:pt x="37" y="36"/>
                    </a:lnTo>
                    <a:lnTo>
                      <a:pt x="26" y="27"/>
                    </a:lnTo>
                    <a:lnTo>
                      <a:pt x="22" y="22"/>
                    </a:lnTo>
                    <a:lnTo>
                      <a:pt x="19" y="18"/>
                    </a:lnTo>
                    <a:lnTo>
                      <a:pt x="14" y="9"/>
                    </a:lnTo>
                    <a:lnTo>
                      <a:pt x="13" y="0"/>
                    </a:lnTo>
                    <a:lnTo>
                      <a:pt x="4" y="17"/>
                    </a:lnTo>
                    <a:lnTo>
                      <a:pt x="0" y="37"/>
                    </a:lnTo>
                    <a:lnTo>
                      <a:pt x="2" y="59"/>
                    </a:lnTo>
                    <a:lnTo>
                      <a:pt x="11" y="84"/>
                    </a:lnTo>
                    <a:lnTo>
                      <a:pt x="17" y="97"/>
                    </a:lnTo>
                    <a:lnTo>
                      <a:pt x="25" y="115"/>
                    </a:lnTo>
                    <a:lnTo>
                      <a:pt x="35" y="135"/>
                    </a:lnTo>
                    <a:lnTo>
                      <a:pt x="47" y="157"/>
                    </a:lnTo>
                    <a:lnTo>
                      <a:pt x="47" y="162"/>
                    </a:lnTo>
                    <a:lnTo>
                      <a:pt x="48" y="169"/>
                    </a:lnTo>
                    <a:lnTo>
                      <a:pt x="48" y="185"/>
                    </a:lnTo>
                    <a:lnTo>
                      <a:pt x="46" y="193"/>
                    </a:lnTo>
                    <a:lnTo>
                      <a:pt x="43" y="204"/>
                    </a:lnTo>
                    <a:lnTo>
                      <a:pt x="37" y="227"/>
                    </a:lnTo>
                    <a:lnTo>
                      <a:pt x="31" y="240"/>
                    </a:lnTo>
                    <a:lnTo>
                      <a:pt x="28" y="253"/>
                    </a:lnTo>
                    <a:lnTo>
                      <a:pt x="22" y="279"/>
                    </a:lnTo>
                    <a:lnTo>
                      <a:pt x="18" y="300"/>
                    </a:lnTo>
                    <a:lnTo>
                      <a:pt x="17" y="321"/>
                    </a:lnTo>
                    <a:lnTo>
                      <a:pt x="18" y="352"/>
                    </a:lnTo>
                    <a:lnTo>
                      <a:pt x="29" y="387"/>
                    </a:lnTo>
                    <a:lnTo>
                      <a:pt x="35" y="402"/>
                    </a:lnTo>
                    <a:lnTo>
                      <a:pt x="43" y="415"/>
                    </a:lnTo>
                    <a:lnTo>
                      <a:pt x="52" y="426"/>
                    </a:lnTo>
                    <a:lnTo>
                      <a:pt x="61" y="437"/>
                    </a:lnTo>
                    <a:lnTo>
                      <a:pt x="71" y="444"/>
                    </a:lnTo>
                    <a:lnTo>
                      <a:pt x="84" y="453"/>
                    </a:lnTo>
                    <a:lnTo>
                      <a:pt x="97" y="459"/>
                    </a:lnTo>
                    <a:lnTo>
                      <a:pt x="114" y="466"/>
                    </a:lnTo>
                    <a:lnTo>
                      <a:pt x="131" y="471"/>
                    </a:lnTo>
                    <a:lnTo>
                      <a:pt x="150" y="475"/>
                    </a:lnTo>
                    <a:lnTo>
                      <a:pt x="170" y="479"/>
                    </a:lnTo>
                    <a:lnTo>
                      <a:pt x="193" y="483"/>
                    </a:lnTo>
                    <a:lnTo>
                      <a:pt x="209" y="465"/>
                    </a:lnTo>
                    <a:lnTo>
                      <a:pt x="221" y="448"/>
                    </a:lnTo>
                    <a:lnTo>
                      <a:pt x="229" y="431"/>
                    </a:lnTo>
                    <a:lnTo>
                      <a:pt x="235" y="414"/>
                    </a:lnTo>
                    <a:lnTo>
                      <a:pt x="236" y="397"/>
                    </a:lnTo>
                    <a:lnTo>
                      <a:pt x="234" y="382"/>
                    </a:lnTo>
                    <a:lnTo>
                      <a:pt x="228" y="366"/>
                    </a:lnTo>
                    <a:lnTo>
                      <a:pt x="220" y="352"/>
                    </a:lnTo>
                    <a:lnTo>
                      <a:pt x="204" y="336"/>
                    </a:lnTo>
                    <a:lnTo>
                      <a:pt x="193" y="323"/>
                    </a:lnTo>
                    <a:lnTo>
                      <a:pt x="182" y="312"/>
                    </a:lnTo>
                    <a:lnTo>
                      <a:pt x="176" y="304"/>
                    </a:lnTo>
                    <a:lnTo>
                      <a:pt x="166" y="289"/>
                    </a:lnTo>
                    <a:lnTo>
                      <a:pt x="158" y="276"/>
                    </a:lnTo>
                    <a:lnTo>
                      <a:pt x="154" y="264"/>
                    </a:lnTo>
                    <a:lnTo>
                      <a:pt x="152" y="253"/>
                    </a:lnTo>
                    <a:lnTo>
                      <a:pt x="150" y="221"/>
                    </a:lnTo>
                    <a:lnTo>
                      <a:pt x="146" y="191"/>
                    </a:lnTo>
                    <a:lnTo>
                      <a:pt x="140" y="163"/>
                    </a:lnTo>
                    <a:lnTo>
                      <a:pt x="134" y="141"/>
                    </a:lnTo>
                    <a:lnTo>
                      <a:pt x="124" y="118"/>
                    </a:lnTo>
                    <a:lnTo>
                      <a:pt x="118" y="107"/>
                    </a:lnTo>
                    <a:lnTo>
                      <a:pt x="113" y="99"/>
                    </a:lnTo>
                    <a:lnTo>
                      <a:pt x="100" y="81"/>
                    </a:lnTo>
                    <a:lnTo>
                      <a:pt x="84" y="67"/>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82" name="Freeform 3250">
                <a:extLst>
                  <a:ext uri="{FF2B5EF4-FFF2-40B4-BE49-F238E27FC236}">
                    <a16:creationId xmlns:a16="http://schemas.microsoft.com/office/drawing/2014/main" id="{E099E2F7-8221-2ECD-DFED-C55132BF0873}"/>
                  </a:ext>
                </a:extLst>
              </p:cNvPr>
              <p:cNvSpPr>
                <a:spLocks/>
              </p:cNvSpPr>
              <p:nvPr/>
            </p:nvSpPr>
            <p:spPr bwMode="auto">
              <a:xfrm>
                <a:off x="2116" y="2286"/>
                <a:ext cx="102" cy="120"/>
              </a:xfrm>
              <a:custGeom>
                <a:avLst/>
                <a:gdLst>
                  <a:gd name="T0" fmla="*/ 4 w 79"/>
                  <a:gd name="T1" fmla="*/ 0 h 134"/>
                  <a:gd name="T2" fmla="*/ 4 w 79"/>
                  <a:gd name="T3" fmla="*/ 4 h 134"/>
                  <a:gd name="T4" fmla="*/ 5 w 79"/>
                  <a:gd name="T5" fmla="*/ 10 h 134"/>
                  <a:gd name="T6" fmla="*/ 5 w 79"/>
                  <a:gd name="T7" fmla="*/ 24 h 134"/>
                  <a:gd name="T8" fmla="*/ 4 w 79"/>
                  <a:gd name="T9" fmla="*/ 33 h 134"/>
                  <a:gd name="T10" fmla="*/ 4 w 79"/>
                  <a:gd name="T11" fmla="*/ 44 h 134"/>
                  <a:gd name="T12" fmla="*/ 1 w 79"/>
                  <a:gd name="T13" fmla="*/ 69 h 134"/>
                  <a:gd name="T14" fmla="*/ 0 w 79"/>
                  <a:gd name="T15" fmla="*/ 84 h 134"/>
                  <a:gd name="T16" fmla="*/ 1 w 79"/>
                  <a:gd name="T17" fmla="*/ 92 h 134"/>
                  <a:gd name="T18" fmla="*/ 5 w 79"/>
                  <a:gd name="T19" fmla="*/ 100 h 134"/>
                  <a:gd name="T20" fmla="*/ 13 w 79"/>
                  <a:gd name="T21" fmla="*/ 113 h 134"/>
                  <a:gd name="T22" fmla="*/ 28 w 79"/>
                  <a:gd name="T23" fmla="*/ 125 h 134"/>
                  <a:gd name="T24" fmla="*/ 28 w 79"/>
                  <a:gd name="T25" fmla="*/ 114 h 134"/>
                  <a:gd name="T26" fmla="*/ 30 w 79"/>
                  <a:gd name="T27" fmla="*/ 106 h 134"/>
                  <a:gd name="T28" fmla="*/ 31 w 79"/>
                  <a:gd name="T29" fmla="*/ 98 h 134"/>
                  <a:gd name="T30" fmla="*/ 35 w 79"/>
                  <a:gd name="T31" fmla="*/ 93 h 134"/>
                  <a:gd name="T32" fmla="*/ 39 w 79"/>
                  <a:gd name="T33" fmla="*/ 92 h 134"/>
                  <a:gd name="T34" fmla="*/ 46 w 79"/>
                  <a:gd name="T35" fmla="*/ 94 h 134"/>
                  <a:gd name="T36" fmla="*/ 52 w 79"/>
                  <a:gd name="T37" fmla="*/ 98 h 134"/>
                  <a:gd name="T38" fmla="*/ 60 w 79"/>
                  <a:gd name="T39" fmla="*/ 106 h 134"/>
                  <a:gd name="T40" fmla="*/ 69 w 79"/>
                  <a:gd name="T41" fmla="*/ 118 h 134"/>
                  <a:gd name="T42" fmla="*/ 79 w 79"/>
                  <a:gd name="T43" fmla="*/ 134 h 134"/>
                  <a:gd name="T44" fmla="*/ 71 w 79"/>
                  <a:gd name="T45" fmla="*/ 106 h 134"/>
                  <a:gd name="T46" fmla="*/ 64 w 79"/>
                  <a:gd name="T47" fmla="*/ 82 h 134"/>
                  <a:gd name="T48" fmla="*/ 55 w 79"/>
                  <a:gd name="T49" fmla="*/ 62 h 134"/>
                  <a:gd name="T50" fmla="*/ 47 w 79"/>
                  <a:gd name="T51" fmla="*/ 44 h 134"/>
                  <a:gd name="T52" fmla="*/ 36 w 79"/>
                  <a:gd name="T53" fmla="*/ 28 h 134"/>
                  <a:gd name="T54" fmla="*/ 27 w 79"/>
                  <a:gd name="T55" fmla="*/ 16 h 134"/>
                  <a:gd name="T56" fmla="*/ 15 w 79"/>
                  <a:gd name="T57" fmla="*/ 6 h 134"/>
                  <a:gd name="T58" fmla="*/ 4 w 79"/>
                  <a:gd name="T59"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134">
                    <a:moveTo>
                      <a:pt x="4" y="0"/>
                    </a:moveTo>
                    <a:lnTo>
                      <a:pt x="4" y="4"/>
                    </a:lnTo>
                    <a:lnTo>
                      <a:pt x="5" y="10"/>
                    </a:lnTo>
                    <a:lnTo>
                      <a:pt x="5" y="24"/>
                    </a:lnTo>
                    <a:lnTo>
                      <a:pt x="4" y="33"/>
                    </a:lnTo>
                    <a:lnTo>
                      <a:pt x="4" y="44"/>
                    </a:lnTo>
                    <a:lnTo>
                      <a:pt x="1" y="69"/>
                    </a:lnTo>
                    <a:lnTo>
                      <a:pt x="0" y="84"/>
                    </a:lnTo>
                    <a:lnTo>
                      <a:pt x="1" y="92"/>
                    </a:lnTo>
                    <a:lnTo>
                      <a:pt x="5" y="100"/>
                    </a:lnTo>
                    <a:lnTo>
                      <a:pt x="13" y="113"/>
                    </a:lnTo>
                    <a:lnTo>
                      <a:pt x="28" y="125"/>
                    </a:lnTo>
                    <a:lnTo>
                      <a:pt x="28" y="114"/>
                    </a:lnTo>
                    <a:lnTo>
                      <a:pt x="30" y="106"/>
                    </a:lnTo>
                    <a:lnTo>
                      <a:pt x="31" y="98"/>
                    </a:lnTo>
                    <a:lnTo>
                      <a:pt x="35" y="93"/>
                    </a:lnTo>
                    <a:lnTo>
                      <a:pt x="39" y="92"/>
                    </a:lnTo>
                    <a:lnTo>
                      <a:pt x="46" y="94"/>
                    </a:lnTo>
                    <a:lnTo>
                      <a:pt x="52" y="98"/>
                    </a:lnTo>
                    <a:lnTo>
                      <a:pt x="60" y="106"/>
                    </a:lnTo>
                    <a:lnTo>
                      <a:pt x="69" y="118"/>
                    </a:lnTo>
                    <a:lnTo>
                      <a:pt x="79" y="134"/>
                    </a:lnTo>
                    <a:lnTo>
                      <a:pt x="71" y="106"/>
                    </a:lnTo>
                    <a:lnTo>
                      <a:pt x="64" y="82"/>
                    </a:lnTo>
                    <a:lnTo>
                      <a:pt x="55" y="62"/>
                    </a:lnTo>
                    <a:lnTo>
                      <a:pt x="47" y="44"/>
                    </a:lnTo>
                    <a:lnTo>
                      <a:pt x="36" y="28"/>
                    </a:lnTo>
                    <a:lnTo>
                      <a:pt x="27" y="16"/>
                    </a:lnTo>
                    <a:lnTo>
                      <a:pt x="15" y="6"/>
                    </a:lnTo>
                    <a:lnTo>
                      <a:pt x="4" y="0"/>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83" name="Freeform 3251">
                <a:extLst>
                  <a:ext uri="{FF2B5EF4-FFF2-40B4-BE49-F238E27FC236}">
                    <a16:creationId xmlns:a16="http://schemas.microsoft.com/office/drawing/2014/main" id="{319A9B5C-63A4-1A9A-3554-9596D7F591CD}"/>
                  </a:ext>
                </a:extLst>
              </p:cNvPr>
              <p:cNvSpPr>
                <a:spLocks/>
              </p:cNvSpPr>
              <p:nvPr/>
            </p:nvSpPr>
            <p:spPr bwMode="auto">
              <a:xfrm>
                <a:off x="1920" y="2238"/>
                <a:ext cx="57" cy="92"/>
              </a:xfrm>
              <a:custGeom>
                <a:avLst/>
                <a:gdLst>
                  <a:gd name="T0" fmla="*/ 45 w 45"/>
                  <a:gd name="T1" fmla="*/ 74 h 104"/>
                  <a:gd name="T2" fmla="*/ 45 w 45"/>
                  <a:gd name="T3" fmla="*/ 59 h 104"/>
                  <a:gd name="T4" fmla="*/ 43 w 45"/>
                  <a:gd name="T5" fmla="*/ 53 h 104"/>
                  <a:gd name="T6" fmla="*/ 41 w 45"/>
                  <a:gd name="T7" fmla="*/ 48 h 104"/>
                  <a:gd name="T8" fmla="*/ 31 w 45"/>
                  <a:gd name="T9" fmla="*/ 40 h 104"/>
                  <a:gd name="T10" fmla="*/ 22 w 45"/>
                  <a:gd name="T11" fmla="*/ 32 h 104"/>
                  <a:gd name="T12" fmla="*/ 15 w 45"/>
                  <a:gd name="T13" fmla="*/ 23 h 104"/>
                  <a:gd name="T14" fmla="*/ 7 w 45"/>
                  <a:gd name="T15" fmla="*/ 12 h 104"/>
                  <a:gd name="T16" fmla="*/ 3 w 45"/>
                  <a:gd name="T17" fmla="*/ 0 h 104"/>
                  <a:gd name="T18" fmla="*/ 0 w 45"/>
                  <a:gd name="T19" fmla="*/ 4 h 104"/>
                  <a:gd name="T20" fmla="*/ 0 w 45"/>
                  <a:gd name="T21" fmla="*/ 12 h 104"/>
                  <a:gd name="T22" fmla="*/ 0 w 45"/>
                  <a:gd name="T23" fmla="*/ 33 h 104"/>
                  <a:gd name="T24" fmla="*/ 1 w 45"/>
                  <a:gd name="T25" fmla="*/ 53 h 104"/>
                  <a:gd name="T26" fmla="*/ 5 w 45"/>
                  <a:gd name="T27" fmla="*/ 74 h 104"/>
                  <a:gd name="T28" fmla="*/ 11 w 45"/>
                  <a:gd name="T29" fmla="*/ 89 h 104"/>
                  <a:gd name="T30" fmla="*/ 15 w 45"/>
                  <a:gd name="T31" fmla="*/ 96 h 104"/>
                  <a:gd name="T32" fmla="*/ 21 w 45"/>
                  <a:gd name="T33" fmla="*/ 104 h 104"/>
                  <a:gd name="T34" fmla="*/ 21 w 45"/>
                  <a:gd name="T35" fmla="*/ 86 h 104"/>
                  <a:gd name="T36" fmla="*/ 21 w 45"/>
                  <a:gd name="T37" fmla="*/ 65 h 104"/>
                  <a:gd name="T38" fmla="*/ 23 w 45"/>
                  <a:gd name="T39" fmla="*/ 54 h 104"/>
                  <a:gd name="T40" fmla="*/ 31 w 45"/>
                  <a:gd name="T41" fmla="*/ 57 h 104"/>
                  <a:gd name="T42" fmla="*/ 37 w 45"/>
                  <a:gd name="T43" fmla="*/ 62 h 104"/>
                  <a:gd name="T44" fmla="*/ 41 w 45"/>
                  <a:gd name="T45" fmla="*/ 66 h 104"/>
                  <a:gd name="T46" fmla="*/ 45 w 45"/>
                  <a:gd name="T47" fmla="*/ 7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5" h="104">
                    <a:moveTo>
                      <a:pt x="45" y="74"/>
                    </a:moveTo>
                    <a:lnTo>
                      <a:pt x="45" y="59"/>
                    </a:lnTo>
                    <a:lnTo>
                      <a:pt x="43" y="53"/>
                    </a:lnTo>
                    <a:lnTo>
                      <a:pt x="41" y="48"/>
                    </a:lnTo>
                    <a:lnTo>
                      <a:pt x="31" y="40"/>
                    </a:lnTo>
                    <a:lnTo>
                      <a:pt x="22" y="32"/>
                    </a:lnTo>
                    <a:lnTo>
                      <a:pt x="15" y="23"/>
                    </a:lnTo>
                    <a:lnTo>
                      <a:pt x="7" y="12"/>
                    </a:lnTo>
                    <a:lnTo>
                      <a:pt x="3" y="0"/>
                    </a:lnTo>
                    <a:lnTo>
                      <a:pt x="0" y="4"/>
                    </a:lnTo>
                    <a:lnTo>
                      <a:pt x="0" y="12"/>
                    </a:lnTo>
                    <a:lnTo>
                      <a:pt x="0" y="33"/>
                    </a:lnTo>
                    <a:lnTo>
                      <a:pt x="1" y="53"/>
                    </a:lnTo>
                    <a:lnTo>
                      <a:pt x="5" y="74"/>
                    </a:lnTo>
                    <a:lnTo>
                      <a:pt x="11" y="89"/>
                    </a:lnTo>
                    <a:lnTo>
                      <a:pt x="15" y="96"/>
                    </a:lnTo>
                    <a:lnTo>
                      <a:pt x="21" y="104"/>
                    </a:lnTo>
                    <a:lnTo>
                      <a:pt x="21" y="86"/>
                    </a:lnTo>
                    <a:lnTo>
                      <a:pt x="21" y="65"/>
                    </a:lnTo>
                    <a:lnTo>
                      <a:pt x="23" y="54"/>
                    </a:lnTo>
                    <a:lnTo>
                      <a:pt x="31" y="57"/>
                    </a:lnTo>
                    <a:lnTo>
                      <a:pt x="37" y="62"/>
                    </a:lnTo>
                    <a:lnTo>
                      <a:pt x="41" y="66"/>
                    </a:lnTo>
                    <a:lnTo>
                      <a:pt x="45" y="74"/>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84" name="Freeform 3252">
                <a:extLst>
                  <a:ext uri="{FF2B5EF4-FFF2-40B4-BE49-F238E27FC236}">
                    <a16:creationId xmlns:a16="http://schemas.microsoft.com/office/drawing/2014/main" id="{DFC8FCFE-9019-195B-627F-E8116894C5BD}"/>
                  </a:ext>
                </a:extLst>
              </p:cNvPr>
              <p:cNvSpPr>
                <a:spLocks/>
              </p:cNvSpPr>
              <p:nvPr/>
            </p:nvSpPr>
            <p:spPr bwMode="auto">
              <a:xfrm>
                <a:off x="2116" y="2286"/>
                <a:ext cx="102" cy="120"/>
              </a:xfrm>
              <a:custGeom>
                <a:avLst/>
                <a:gdLst>
                  <a:gd name="T0" fmla="*/ 1 w 79"/>
                  <a:gd name="T1" fmla="*/ 69 h 134"/>
                  <a:gd name="T2" fmla="*/ 0 w 79"/>
                  <a:gd name="T3" fmla="*/ 84 h 134"/>
                  <a:gd name="T4" fmla="*/ 1 w 79"/>
                  <a:gd name="T5" fmla="*/ 92 h 134"/>
                  <a:gd name="T6" fmla="*/ 5 w 79"/>
                  <a:gd name="T7" fmla="*/ 100 h 134"/>
                  <a:gd name="T8" fmla="*/ 13 w 79"/>
                  <a:gd name="T9" fmla="*/ 113 h 134"/>
                  <a:gd name="T10" fmla="*/ 28 w 79"/>
                  <a:gd name="T11" fmla="*/ 125 h 134"/>
                  <a:gd name="T12" fmla="*/ 28 w 79"/>
                  <a:gd name="T13" fmla="*/ 114 h 134"/>
                  <a:gd name="T14" fmla="*/ 30 w 79"/>
                  <a:gd name="T15" fmla="*/ 106 h 134"/>
                  <a:gd name="T16" fmla="*/ 31 w 79"/>
                  <a:gd name="T17" fmla="*/ 98 h 134"/>
                  <a:gd name="T18" fmla="*/ 35 w 79"/>
                  <a:gd name="T19" fmla="*/ 93 h 134"/>
                  <a:gd name="T20" fmla="*/ 39 w 79"/>
                  <a:gd name="T21" fmla="*/ 92 h 134"/>
                  <a:gd name="T22" fmla="*/ 46 w 79"/>
                  <a:gd name="T23" fmla="*/ 94 h 134"/>
                  <a:gd name="T24" fmla="*/ 52 w 79"/>
                  <a:gd name="T25" fmla="*/ 98 h 134"/>
                  <a:gd name="T26" fmla="*/ 60 w 79"/>
                  <a:gd name="T27" fmla="*/ 106 h 134"/>
                  <a:gd name="T28" fmla="*/ 69 w 79"/>
                  <a:gd name="T29" fmla="*/ 118 h 134"/>
                  <a:gd name="T30" fmla="*/ 79 w 79"/>
                  <a:gd name="T31" fmla="*/ 134 h 134"/>
                  <a:gd name="T32" fmla="*/ 71 w 79"/>
                  <a:gd name="T33" fmla="*/ 106 h 134"/>
                  <a:gd name="T34" fmla="*/ 64 w 79"/>
                  <a:gd name="T35" fmla="*/ 82 h 134"/>
                  <a:gd name="T36" fmla="*/ 55 w 79"/>
                  <a:gd name="T37" fmla="*/ 62 h 134"/>
                  <a:gd name="T38" fmla="*/ 47 w 79"/>
                  <a:gd name="T39" fmla="*/ 44 h 134"/>
                  <a:gd name="T40" fmla="*/ 36 w 79"/>
                  <a:gd name="T41" fmla="*/ 28 h 134"/>
                  <a:gd name="T42" fmla="*/ 27 w 79"/>
                  <a:gd name="T43" fmla="*/ 16 h 134"/>
                  <a:gd name="T44" fmla="*/ 15 w 79"/>
                  <a:gd name="T45" fmla="*/ 6 h 134"/>
                  <a:gd name="T46" fmla="*/ 4 w 79"/>
                  <a:gd name="T47" fmla="*/ 0 h 134"/>
                  <a:gd name="T48" fmla="*/ 4 w 79"/>
                  <a:gd name="T49" fmla="*/ 4 h 134"/>
                  <a:gd name="T50" fmla="*/ 5 w 79"/>
                  <a:gd name="T51" fmla="*/ 10 h 134"/>
                  <a:gd name="T52" fmla="*/ 5 w 79"/>
                  <a:gd name="T53" fmla="*/ 24 h 134"/>
                  <a:gd name="T54" fmla="*/ 4 w 79"/>
                  <a:gd name="T55" fmla="*/ 33 h 134"/>
                  <a:gd name="T56" fmla="*/ 4 w 79"/>
                  <a:gd name="T57" fmla="*/ 44 h 134"/>
                  <a:gd name="T58" fmla="*/ 1 w 79"/>
                  <a:gd name="T59" fmla="*/ 6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134">
                    <a:moveTo>
                      <a:pt x="1" y="69"/>
                    </a:moveTo>
                    <a:lnTo>
                      <a:pt x="0" y="84"/>
                    </a:lnTo>
                    <a:lnTo>
                      <a:pt x="1" y="92"/>
                    </a:lnTo>
                    <a:lnTo>
                      <a:pt x="5" y="100"/>
                    </a:lnTo>
                    <a:lnTo>
                      <a:pt x="13" y="113"/>
                    </a:lnTo>
                    <a:lnTo>
                      <a:pt x="28" y="125"/>
                    </a:lnTo>
                    <a:lnTo>
                      <a:pt x="28" y="114"/>
                    </a:lnTo>
                    <a:lnTo>
                      <a:pt x="30" y="106"/>
                    </a:lnTo>
                    <a:lnTo>
                      <a:pt x="31" y="98"/>
                    </a:lnTo>
                    <a:lnTo>
                      <a:pt x="35" y="93"/>
                    </a:lnTo>
                    <a:lnTo>
                      <a:pt x="39" y="92"/>
                    </a:lnTo>
                    <a:lnTo>
                      <a:pt x="46" y="94"/>
                    </a:lnTo>
                    <a:lnTo>
                      <a:pt x="52" y="98"/>
                    </a:lnTo>
                    <a:lnTo>
                      <a:pt x="60" y="106"/>
                    </a:lnTo>
                    <a:lnTo>
                      <a:pt x="69" y="118"/>
                    </a:lnTo>
                    <a:lnTo>
                      <a:pt x="79" y="134"/>
                    </a:lnTo>
                    <a:lnTo>
                      <a:pt x="71" y="106"/>
                    </a:lnTo>
                    <a:lnTo>
                      <a:pt x="64" y="82"/>
                    </a:lnTo>
                    <a:lnTo>
                      <a:pt x="55" y="62"/>
                    </a:lnTo>
                    <a:lnTo>
                      <a:pt x="47" y="44"/>
                    </a:lnTo>
                    <a:lnTo>
                      <a:pt x="36" y="28"/>
                    </a:lnTo>
                    <a:lnTo>
                      <a:pt x="27" y="16"/>
                    </a:lnTo>
                    <a:lnTo>
                      <a:pt x="15" y="6"/>
                    </a:lnTo>
                    <a:lnTo>
                      <a:pt x="4" y="0"/>
                    </a:lnTo>
                    <a:lnTo>
                      <a:pt x="4" y="4"/>
                    </a:lnTo>
                    <a:lnTo>
                      <a:pt x="5" y="10"/>
                    </a:lnTo>
                    <a:lnTo>
                      <a:pt x="5" y="24"/>
                    </a:lnTo>
                    <a:lnTo>
                      <a:pt x="4" y="33"/>
                    </a:lnTo>
                    <a:lnTo>
                      <a:pt x="4" y="44"/>
                    </a:lnTo>
                    <a:lnTo>
                      <a:pt x="1" y="69"/>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85" name="Freeform 3253">
                <a:extLst>
                  <a:ext uri="{FF2B5EF4-FFF2-40B4-BE49-F238E27FC236}">
                    <a16:creationId xmlns:a16="http://schemas.microsoft.com/office/drawing/2014/main" id="{7211A95B-67FE-3F22-7A32-29225E672482}"/>
                  </a:ext>
                </a:extLst>
              </p:cNvPr>
              <p:cNvSpPr>
                <a:spLocks/>
              </p:cNvSpPr>
              <p:nvPr/>
            </p:nvSpPr>
            <p:spPr bwMode="auto">
              <a:xfrm>
                <a:off x="1920" y="2238"/>
                <a:ext cx="57" cy="92"/>
              </a:xfrm>
              <a:custGeom>
                <a:avLst/>
                <a:gdLst>
                  <a:gd name="T0" fmla="*/ 45 w 45"/>
                  <a:gd name="T1" fmla="*/ 59 h 104"/>
                  <a:gd name="T2" fmla="*/ 43 w 45"/>
                  <a:gd name="T3" fmla="*/ 53 h 104"/>
                  <a:gd name="T4" fmla="*/ 41 w 45"/>
                  <a:gd name="T5" fmla="*/ 48 h 104"/>
                  <a:gd name="T6" fmla="*/ 31 w 45"/>
                  <a:gd name="T7" fmla="*/ 40 h 104"/>
                  <a:gd name="T8" fmla="*/ 22 w 45"/>
                  <a:gd name="T9" fmla="*/ 32 h 104"/>
                  <a:gd name="T10" fmla="*/ 15 w 45"/>
                  <a:gd name="T11" fmla="*/ 23 h 104"/>
                  <a:gd name="T12" fmla="*/ 7 w 45"/>
                  <a:gd name="T13" fmla="*/ 12 h 104"/>
                  <a:gd name="T14" fmla="*/ 3 w 45"/>
                  <a:gd name="T15" fmla="*/ 0 h 104"/>
                  <a:gd name="T16" fmla="*/ 0 w 45"/>
                  <a:gd name="T17" fmla="*/ 4 h 104"/>
                  <a:gd name="T18" fmla="*/ 0 w 45"/>
                  <a:gd name="T19" fmla="*/ 12 h 104"/>
                  <a:gd name="T20" fmla="*/ 0 w 45"/>
                  <a:gd name="T21" fmla="*/ 33 h 104"/>
                  <a:gd name="T22" fmla="*/ 1 w 45"/>
                  <a:gd name="T23" fmla="*/ 53 h 104"/>
                  <a:gd name="T24" fmla="*/ 5 w 45"/>
                  <a:gd name="T25" fmla="*/ 74 h 104"/>
                  <a:gd name="T26" fmla="*/ 11 w 45"/>
                  <a:gd name="T27" fmla="*/ 89 h 104"/>
                  <a:gd name="T28" fmla="*/ 15 w 45"/>
                  <a:gd name="T29" fmla="*/ 96 h 104"/>
                  <a:gd name="T30" fmla="*/ 21 w 45"/>
                  <a:gd name="T31" fmla="*/ 104 h 104"/>
                  <a:gd name="T32" fmla="*/ 21 w 45"/>
                  <a:gd name="T33" fmla="*/ 86 h 104"/>
                  <a:gd name="T34" fmla="*/ 21 w 45"/>
                  <a:gd name="T35" fmla="*/ 65 h 104"/>
                  <a:gd name="T36" fmla="*/ 23 w 45"/>
                  <a:gd name="T37" fmla="*/ 54 h 104"/>
                  <a:gd name="T38" fmla="*/ 31 w 45"/>
                  <a:gd name="T39" fmla="*/ 57 h 104"/>
                  <a:gd name="T40" fmla="*/ 37 w 45"/>
                  <a:gd name="T41" fmla="*/ 62 h 104"/>
                  <a:gd name="T42" fmla="*/ 41 w 45"/>
                  <a:gd name="T43" fmla="*/ 66 h 104"/>
                  <a:gd name="T44" fmla="*/ 45 w 45"/>
                  <a:gd name="T45" fmla="*/ 74 h 104"/>
                  <a:gd name="T46" fmla="*/ 45 w 45"/>
                  <a:gd name="T47" fmla="*/ 5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5" h="104">
                    <a:moveTo>
                      <a:pt x="45" y="59"/>
                    </a:moveTo>
                    <a:lnTo>
                      <a:pt x="43" y="53"/>
                    </a:lnTo>
                    <a:lnTo>
                      <a:pt x="41" y="48"/>
                    </a:lnTo>
                    <a:lnTo>
                      <a:pt x="31" y="40"/>
                    </a:lnTo>
                    <a:lnTo>
                      <a:pt x="22" y="32"/>
                    </a:lnTo>
                    <a:lnTo>
                      <a:pt x="15" y="23"/>
                    </a:lnTo>
                    <a:lnTo>
                      <a:pt x="7" y="12"/>
                    </a:lnTo>
                    <a:lnTo>
                      <a:pt x="3" y="0"/>
                    </a:lnTo>
                    <a:lnTo>
                      <a:pt x="0" y="4"/>
                    </a:lnTo>
                    <a:lnTo>
                      <a:pt x="0" y="12"/>
                    </a:lnTo>
                    <a:lnTo>
                      <a:pt x="0" y="33"/>
                    </a:lnTo>
                    <a:lnTo>
                      <a:pt x="1" y="53"/>
                    </a:lnTo>
                    <a:lnTo>
                      <a:pt x="5" y="74"/>
                    </a:lnTo>
                    <a:lnTo>
                      <a:pt x="11" y="89"/>
                    </a:lnTo>
                    <a:lnTo>
                      <a:pt x="15" y="96"/>
                    </a:lnTo>
                    <a:lnTo>
                      <a:pt x="21" y="104"/>
                    </a:lnTo>
                    <a:lnTo>
                      <a:pt x="21" y="86"/>
                    </a:lnTo>
                    <a:lnTo>
                      <a:pt x="21" y="65"/>
                    </a:lnTo>
                    <a:lnTo>
                      <a:pt x="23" y="54"/>
                    </a:lnTo>
                    <a:lnTo>
                      <a:pt x="31" y="57"/>
                    </a:lnTo>
                    <a:lnTo>
                      <a:pt x="37" y="62"/>
                    </a:lnTo>
                    <a:lnTo>
                      <a:pt x="41" y="66"/>
                    </a:lnTo>
                    <a:lnTo>
                      <a:pt x="45" y="74"/>
                    </a:lnTo>
                    <a:lnTo>
                      <a:pt x="45" y="59"/>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686" name="Freeform 3254">
                <a:extLst>
                  <a:ext uri="{FF2B5EF4-FFF2-40B4-BE49-F238E27FC236}">
                    <a16:creationId xmlns:a16="http://schemas.microsoft.com/office/drawing/2014/main" id="{77FBED65-0541-5CFF-A9DE-34F75D0DD9BF}"/>
                  </a:ext>
                </a:extLst>
              </p:cNvPr>
              <p:cNvSpPr>
                <a:spLocks/>
              </p:cNvSpPr>
              <p:nvPr/>
            </p:nvSpPr>
            <p:spPr bwMode="auto">
              <a:xfrm>
                <a:off x="2222" y="2419"/>
                <a:ext cx="298" cy="437"/>
              </a:xfrm>
              <a:custGeom>
                <a:avLst/>
                <a:gdLst>
                  <a:gd name="T0" fmla="*/ 26 w 236"/>
                  <a:gd name="T1" fmla="*/ 27 h 483"/>
                  <a:gd name="T2" fmla="*/ 19 w 236"/>
                  <a:gd name="T3" fmla="*/ 18 h 483"/>
                  <a:gd name="T4" fmla="*/ 13 w 236"/>
                  <a:gd name="T5" fmla="*/ 0 h 483"/>
                  <a:gd name="T6" fmla="*/ 0 w 236"/>
                  <a:gd name="T7" fmla="*/ 37 h 483"/>
                  <a:gd name="T8" fmla="*/ 11 w 236"/>
                  <a:gd name="T9" fmla="*/ 84 h 483"/>
                  <a:gd name="T10" fmla="*/ 25 w 236"/>
                  <a:gd name="T11" fmla="*/ 115 h 483"/>
                  <a:gd name="T12" fmla="*/ 47 w 236"/>
                  <a:gd name="T13" fmla="*/ 157 h 483"/>
                  <a:gd name="T14" fmla="*/ 48 w 236"/>
                  <a:gd name="T15" fmla="*/ 169 h 483"/>
                  <a:gd name="T16" fmla="*/ 46 w 236"/>
                  <a:gd name="T17" fmla="*/ 193 h 483"/>
                  <a:gd name="T18" fmla="*/ 37 w 236"/>
                  <a:gd name="T19" fmla="*/ 227 h 483"/>
                  <a:gd name="T20" fmla="*/ 28 w 236"/>
                  <a:gd name="T21" fmla="*/ 253 h 483"/>
                  <a:gd name="T22" fmla="*/ 18 w 236"/>
                  <a:gd name="T23" fmla="*/ 300 h 483"/>
                  <a:gd name="T24" fmla="*/ 18 w 236"/>
                  <a:gd name="T25" fmla="*/ 352 h 483"/>
                  <a:gd name="T26" fmla="*/ 35 w 236"/>
                  <a:gd name="T27" fmla="*/ 402 h 483"/>
                  <a:gd name="T28" fmla="*/ 52 w 236"/>
                  <a:gd name="T29" fmla="*/ 426 h 483"/>
                  <a:gd name="T30" fmla="*/ 71 w 236"/>
                  <a:gd name="T31" fmla="*/ 444 h 483"/>
                  <a:gd name="T32" fmla="*/ 97 w 236"/>
                  <a:gd name="T33" fmla="*/ 459 h 483"/>
                  <a:gd name="T34" fmla="*/ 131 w 236"/>
                  <a:gd name="T35" fmla="*/ 471 h 483"/>
                  <a:gd name="T36" fmla="*/ 170 w 236"/>
                  <a:gd name="T37" fmla="*/ 479 h 483"/>
                  <a:gd name="T38" fmla="*/ 209 w 236"/>
                  <a:gd name="T39" fmla="*/ 465 h 483"/>
                  <a:gd name="T40" fmla="*/ 229 w 236"/>
                  <a:gd name="T41" fmla="*/ 431 h 483"/>
                  <a:gd name="T42" fmla="*/ 236 w 236"/>
                  <a:gd name="T43" fmla="*/ 397 h 483"/>
                  <a:gd name="T44" fmla="*/ 228 w 236"/>
                  <a:gd name="T45" fmla="*/ 366 h 483"/>
                  <a:gd name="T46" fmla="*/ 204 w 236"/>
                  <a:gd name="T47" fmla="*/ 336 h 483"/>
                  <a:gd name="T48" fmla="*/ 182 w 236"/>
                  <a:gd name="T49" fmla="*/ 312 h 483"/>
                  <a:gd name="T50" fmla="*/ 166 w 236"/>
                  <a:gd name="T51" fmla="*/ 289 h 483"/>
                  <a:gd name="T52" fmla="*/ 154 w 236"/>
                  <a:gd name="T53" fmla="*/ 264 h 483"/>
                  <a:gd name="T54" fmla="*/ 150 w 236"/>
                  <a:gd name="T55" fmla="*/ 221 h 483"/>
                  <a:gd name="T56" fmla="*/ 140 w 236"/>
                  <a:gd name="T57" fmla="*/ 163 h 483"/>
                  <a:gd name="T58" fmla="*/ 124 w 236"/>
                  <a:gd name="T59" fmla="*/ 118 h 483"/>
                  <a:gd name="T60" fmla="*/ 113 w 236"/>
                  <a:gd name="T61" fmla="*/ 99 h 483"/>
                  <a:gd name="T62" fmla="*/ 84 w 236"/>
                  <a:gd name="T63" fmla="*/ 67 h 483"/>
                  <a:gd name="T64" fmla="*/ 64 w 236"/>
                  <a:gd name="T65" fmla="*/ 52 h 483"/>
                  <a:gd name="T66" fmla="*/ 53 w 236"/>
                  <a:gd name="T67" fmla="*/ 45 h 483"/>
                  <a:gd name="T68" fmla="*/ 37 w 236"/>
                  <a:gd name="T69" fmla="*/ 36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6" h="483">
                    <a:moveTo>
                      <a:pt x="37" y="36"/>
                    </a:moveTo>
                    <a:lnTo>
                      <a:pt x="26" y="27"/>
                    </a:lnTo>
                    <a:lnTo>
                      <a:pt x="22" y="22"/>
                    </a:lnTo>
                    <a:lnTo>
                      <a:pt x="19" y="18"/>
                    </a:lnTo>
                    <a:lnTo>
                      <a:pt x="14" y="9"/>
                    </a:lnTo>
                    <a:lnTo>
                      <a:pt x="13" y="0"/>
                    </a:lnTo>
                    <a:lnTo>
                      <a:pt x="4" y="17"/>
                    </a:lnTo>
                    <a:lnTo>
                      <a:pt x="0" y="37"/>
                    </a:lnTo>
                    <a:lnTo>
                      <a:pt x="2" y="59"/>
                    </a:lnTo>
                    <a:lnTo>
                      <a:pt x="11" y="84"/>
                    </a:lnTo>
                    <a:lnTo>
                      <a:pt x="17" y="97"/>
                    </a:lnTo>
                    <a:lnTo>
                      <a:pt x="25" y="115"/>
                    </a:lnTo>
                    <a:lnTo>
                      <a:pt x="35" y="135"/>
                    </a:lnTo>
                    <a:lnTo>
                      <a:pt x="47" y="157"/>
                    </a:lnTo>
                    <a:lnTo>
                      <a:pt x="47" y="162"/>
                    </a:lnTo>
                    <a:lnTo>
                      <a:pt x="48" y="169"/>
                    </a:lnTo>
                    <a:lnTo>
                      <a:pt x="48" y="185"/>
                    </a:lnTo>
                    <a:lnTo>
                      <a:pt x="46" y="193"/>
                    </a:lnTo>
                    <a:lnTo>
                      <a:pt x="43" y="204"/>
                    </a:lnTo>
                    <a:lnTo>
                      <a:pt x="37" y="227"/>
                    </a:lnTo>
                    <a:lnTo>
                      <a:pt x="31" y="240"/>
                    </a:lnTo>
                    <a:lnTo>
                      <a:pt x="28" y="253"/>
                    </a:lnTo>
                    <a:lnTo>
                      <a:pt x="22" y="279"/>
                    </a:lnTo>
                    <a:lnTo>
                      <a:pt x="18" y="300"/>
                    </a:lnTo>
                    <a:lnTo>
                      <a:pt x="17" y="321"/>
                    </a:lnTo>
                    <a:lnTo>
                      <a:pt x="18" y="352"/>
                    </a:lnTo>
                    <a:lnTo>
                      <a:pt x="29" y="387"/>
                    </a:lnTo>
                    <a:lnTo>
                      <a:pt x="35" y="402"/>
                    </a:lnTo>
                    <a:lnTo>
                      <a:pt x="43" y="415"/>
                    </a:lnTo>
                    <a:lnTo>
                      <a:pt x="52" y="426"/>
                    </a:lnTo>
                    <a:lnTo>
                      <a:pt x="61" y="437"/>
                    </a:lnTo>
                    <a:lnTo>
                      <a:pt x="71" y="444"/>
                    </a:lnTo>
                    <a:lnTo>
                      <a:pt x="84" y="453"/>
                    </a:lnTo>
                    <a:lnTo>
                      <a:pt x="97" y="459"/>
                    </a:lnTo>
                    <a:lnTo>
                      <a:pt x="114" y="466"/>
                    </a:lnTo>
                    <a:lnTo>
                      <a:pt x="131" y="471"/>
                    </a:lnTo>
                    <a:lnTo>
                      <a:pt x="150" y="475"/>
                    </a:lnTo>
                    <a:lnTo>
                      <a:pt x="170" y="479"/>
                    </a:lnTo>
                    <a:lnTo>
                      <a:pt x="193" y="483"/>
                    </a:lnTo>
                    <a:lnTo>
                      <a:pt x="209" y="465"/>
                    </a:lnTo>
                    <a:lnTo>
                      <a:pt x="221" y="448"/>
                    </a:lnTo>
                    <a:lnTo>
                      <a:pt x="229" y="431"/>
                    </a:lnTo>
                    <a:lnTo>
                      <a:pt x="235" y="414"/>
                    </a:lnTo>
                    <a:lnTo>
                      <a:pt x="236" y="397"/>
                    </a:lnTo>
                    <a:lnTo>
                      <a:pt x="234" y="382"/>
                    </a:lnTo>
                    <a:lnTo>
                      <a:pt x="228" y="366"/>
                    </a:lnTo>
                    <a:lnTo>
                      <a:pt x="220" y="352"/>
                    </a:lnTo>
                    <a:lnTo>
                      <a:pt x="204" y="336"/>
                    </a:lnTo>
                    <a:lnTo>
                      <a:pt x="193" y="323"/>
                    </a:lnTo>
                    <a:lnTo>
                      <a:pt x="182" y="312"/>
                    </a:lnTo>
                    <a:lnTo>
                      <a:pt x="176" y="304"/>
                    </a:lnTo>
                    <a:lnTo>
                      <a:pt x="166" y="289"/>
                    </a:lnTo>
                    <a:lnTo>
                      <a:pt x="158" y="276"/>
                    </a:lnTo>
                    <a:lnTo>
                      <a:pt x="154" y="264"/>
                    </a:lnTo>
                    <a:lnTo>
                      <a:pt x="152" y="253"/>
                    </a:lnTo>
                    <a:lnTo>
                      <a:pt x="150" y="221"/>
                    </a:lnTo>
                    <a:lnTo>
                      <a:pt x="146" y="191"/>
                    </a:lnTo>
                    <a:lnTo>
                      <a:pt x="140" y="163"/>
                    </a:lnTo>
                    <a:lnTo>
                      <a:pt x="134" y="141"/>
                    </a:lnTo>
                    <a:lnTo>
                      <a:pt x="124" y="118"/>
                    </a:lnTo>
                    <a:lnTo>
                      <a:pt x="118" y="107"/>
                    </a:lnTo>
                    <a:lnTo>
                      <a:pt x="113" y="99"/>
                    </a:lnTo>
                    <a:lnTo>
                      <a:pt x="100" y="81"/>
                    </a:lnTo>
                    <a:lnTo>
                      <a:pt x="84" y="67"/>
                    </a:lnTo>
                    <a:lnTo>
                      <a:pt x="74" y="59"/>
                    </a:lnTo>
                    <a:lnTo>
                      <a:pt x="64" y="52"/>
                    </a:lnTo>
                    <a:lnTo>
                      <a:pt x="56" y="47"/>
                    </a:lnTo>
                    <a:lnTo>
                      <a:pt x="53" y="45"/>
                    </a:lnTo>
                    <a:lnTo>
                      <a:pt x="50" y="43"/>
                    </a:lnTo>
                    <a:lnTo>
                      <a:pt x="37" y="36"/>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9687" name="Freeform 3255">
                <a:extLst>
                  <a:ext uri="{FF2B5EF4-FFF2-40B4-BE49-F238E27FC236}">
                    <a16:creationId xmlns:a16="http://schemas.microsoft.com/office/drawing/2014/main" id="{0B96B0EE-339E-9D3A-BCF7-13E8EA185F81}"/>
                  </a:ext>
                </a:extLst>
              </p:cNvPr>
              <p:cNvSpPr>
                <a:spLocks/>
              </p:cNvSpPr>
              <p:nvPr/>
            </p:nvSpPr>
            <p:spPr bwMode="auto">
              <a:xfrm>
                <a:off x="2445" y="2330"/>
                <a:ext cx="102" cy="108"/>
              </a:xfrm>
              <a:custGeom>
                <a:avLst/>
                <a:gdLst>
                  <a:gd name="T0" fmla="*/ 82 w 82"/>
                  <a:gd name="T1" fmla="*/ 77 h 120"/>
                  <a:gd name="T2" fmla="*/ 82 w 82"/>
                  <a:gd name="T3" fmla="*/ 68 h 120"/>
                  <a:gd name="T4" fmla="*/ 63 w 82"/>
                  <a:gd name="T5" fmla="*/ 57 h 120"/>
                  <a:gd name="T6" fmla="*/ 48 w 82"/>
                  <a:gd name="T7" fmla="*/ 51 h 120"/>
                  <a:gd name="T8" fmla="*/ 39 w 82"/>
                  <a:gd name="T9" fmla="*/ 45 h 120"/>
                  <a:gd name="T10" fmla="*/ 34 w 82"/>
                  <a:gd name="T11" fmla="*/ 42 h 120"/>
                  <a:gd name="T12" fmla="*/ 28 w 82"/>
                  <a:gd name="T13" fmla="*/ 34 h 120"/>
                  <a:gd name="T14" fmla="*/ 26 w 82"/>
                  <a:gd name="T15" fmla="*/ 24 h 120"/>
                  <a:gd name="T16" fmla="*/ 24 w 82"/>
                  <a:gd name="T17" fmla="*/ 14 h 120"/>
                  <a:gd name="T18" fmla="*/ 28 w 82"/>
                  <a:gd name="T19" fmla="*/ 0 h 120"/>
                  <a:gd name="T20" fmla="*/ 14 w 82"/>
                  <a:gd name="T21" fmla="*/ 0 h 120"/>
                  <a:gd name="T22" fmla="*/ 6 w 82"/>
                  <a:gd name="T23" fmla="*/ 9 h 120"/>
                  <a:gd name="T24" fmla="*/ 3 w 82"/>
                  <a:gd name="T25" fmla="*/ 17 h 120"/>
                  <a:gd name="T26" fmla="*/ 0 w 82"/>
                  <a:gd name="T27" fmla="*/ 24 h 120"/>
                  <a:gd name="T28" fmla="*/ 0 w 82"/>
                  <a:gd name="T29" fmla="*/ 32 h 120"/>
                  <a:gd name="T30" fmla="*/ 0 w 82"/>
                  <a:gd name="T31" fmla="*/ 48 h 120"/>
                  <a:gd name="T32" fmla="*/ 4 w 82"/>
                  <a:gd name="T33" fmla="*/ 64 h 120"/>
                  <a:gd name="T34" fmla="*/ 10 w 82"/>
                  <a:gd name="T35" fmla="*/ 78 h 120"/>
                  <a:gd name="T36" fmla="*/ 18 w 82"/>
                  <a:gd name="T37" fmla="*/ 93 h 120"/>
                  <a:gd name="T38" fmla="*/ 30 w 82"/>
                  <a:gd name="T39" fmla="*/ 106 h 120"/>
                  <a:gd name="T40" fmla="*/ 51 w 82"/>
                  <a:gd name="T41" fmla="*/ 120 h 120"/>
                  <a:gd name="T42" fmla="*/ 47 w 82"/>
                  <a:gd name="T43" fmla="*/ 108 h 120"/>
                  <a:gd name="T44" fmla="*/ 46 w 82"/>
                  <a:gd name="T45" fmla="*/ 100 h 120"/>
                  <a:gd name="T46" fmla="*/ 50 w 82"/>
                  <a:gd name="T47" fmla="*/ 90 h 120"/>
                  <a:gd name="T48" fmla="*/ 53 w 82"/>
                  <a:gd name="T49" fmla="*/ 86 h 120"/>
                  <a:gd name="T50" fmla="*/ 62 w 82"/>
                  <a:gd name="T51" fmla="*/ 83 h 120"/>
                  <a:gd name="T52" fmla="*/ 66 w 82"/>
                  <a:gd name="T53" fmla="*/ 80 h 120"/>
                  <a:gd name="T54" fmla="*/ 72 w 82"/>
                  <a:gd name="T55" fmla="*/ 78 h 120"/>
                  <a:gd name="T56" fmla="*/ 82 w 82"/>
                  <a:gd name="T57" fmla="*/ 77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 h="120">
                    <a:moveTo>
                      <a:pt x="82" y="77"/>
                    </a:moveTo>
                    <a:lnTo>
                      <a:pt x="82" y="68"/>
                    </a:lnTo>
                    <a:lnTo>
                      <a:pt x="63" y="57"/>
                    </a:lnTo>
                    <a:lnTo>
                      <a:pt x="48" y="51"/>
                    </a:lnTo>
                    <a:lnTo>
                      <a:pt x="39" y="45"/>
                    </a:lnTo>
                    <a:lnTo>
                      <a:pt x="34" y="42"/>
                    </a:lnTo>
                    <a:lnTo>
                      <a:pt x="28" y="34"/>
                    </a:lnTo>
                    <a:lnTo>
                      <a:pt x="26" y="24"/>
                    </a:lnTo>
                    <a:lnTo>
                      <a:pt x="24" y="14"/>
                    </a:lnTo>
                    <a:lnTo>
                      <a:pt x="28" y="0"/>
                    </a:lnTo>
                    <a:lnTo>
                      <a:pt x="14" y="0"/>
                    </a:lnTo>
                    <a:lnTo>
                      <a:pt x="6" y="9"/>
                    </a:lnTo>
                    <a:lnTo>
                      <a:pt x="3" y="17"/>
                    </a:lnTo>
                    <a:lnTo>
                      <a:pt x="0" y="24"/>
                    </a:lnTo>
                    <a:lnTo>
                      <a:pt x="0" y="32"/>
                    </a:lnTo>
                    <a:lnTo>
                      <a:pt x="0" y="48"/>
                    </a:lnTo>
                    <a:lnTo>
                      <a:pt x="4" y="64"/>
                    </a:lnTo>
                    <a:lnTo>
                      <a:pt x="10" y="78"/>
                    </a:lnTo>
                    <a:lnTo>
                      <a:pt x="18" y="93"/>
                    </a:lnTo>
                    <a:lnTo>
                      <a:pt x="30" y="106"/>
                    </a:lnTo>
                    <a:lnTo>
                      <a:pt x="51" y="120"/>
                    </a:lnTo>
                    <a:lnTo>
                      <a:pt x="47" y="108"/>
                    </a:lnTo>
                    <a:lnTo>
                      <a:pt x="46" y="100"/>
                    </a:lnTo>
                    <a:lnTo>
                      <a:pt x="50" y="90"/>
                    </a:lnTo>
                    <a:lnTo>
                      <a:pt x="53" y="86"/>
                    </a:lnTo>
                    <a:lnTo>
                      <a:pt x="62" y="83"/>
                    </a:lnTo>
                    <a:lnTo>
                      <a:pt x="66" y="80"/>
                    </a:lnTo>
                    <a:lnTo>
                      <a:pt x="72" y="78"/>
                    </a:lnTo>
                    <a:lnTo>
                      <a:pt x="82" y="77"/>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9688" name="Line 3256">
                <a:extLst>
                  <a:ext uri="{FF2B5EF4-FFF2-40B4-BE49-F238E27FC236}">
                    <a16:creationId xmlns:a16="http://schemas.microsoft.com/office/drawing/2014/main" id="{5C40AD40-937D-BAEF-7CE5-C48B02FA78B4}"/>
                  </a:ext>
                </a:extLst>
              </p:cNvPr>
              <p:cNvSpPr>
                <a:spLocks noChangeShapeType="1"/>
              </p:cNvSpPr>
              <p:nvPr/>
            </p:nvSpPr>
            <p:spPr bwMode="auto">
              <a:xfrm flipH="1" flipV="1">
                <a:off x="2509" y="2438"/>
                <a:ext cx="4" cy="8"/>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9689" name="Freeform 3257">
                <a:extLst>
                  <a:ext uri="{FF2B5EF4-FFF2-40B4-BE49-F238E27FC236}">
                    <a16:creationId xmlns:a16="http://schemas.microsoft.com/office/drawing/2014/main" id="{89D74080-948E-73FB-DBBA-57FC31238669}"/>
                  </a:ext>
                </a:extLst>
              </p:cNvPr>
              <p:cNvSpPr>
                <a:spLocks/>
              </p:cNvSpPr>
              <p:nvPr/>
            </p:nvSpPr>
            <p:spPr bwMode="auto">
              <a:xfrm>
                <a:off x="2445" y="2330"/>
                <a:ext cx="102" cy="108"/>
              </a:xfrm>
              <a:custGeom>
                <a:avLst/>
                <a:gdLst>
                  <a:gd name="T0" fmla="*/ 51 w 82"/>
                  <a:gd name="T1" fmla="*/ 120 h 120"/>
                  <a:gd name="T2" fmla="*/ 47 w 82"/>
                  <a:gd name="T3" fmla="*/ 108 h 120"/>
                  <a:gd name="T4" fmla="*/ 46 w 82"/>
                  <a:gd name="T5" fmla="*/ 100 h 120"/>
                  <a:gd name="T6" fmla="*/ 50 w 82"/>
                  <a:gd name="T7" fmla="*/ 90 h 120"/>
                  <a:gd name="T8" fmla="*/ 53 w 82"/>
                  <a:gd name="T9" fmla="*/ 86 h 120"/>
                  <a:gd name="T10" fmla="*/ 62 w 82"/>
                  <a:gd name="T11" fmla="*/ 83 h 120"/>
                  <a:gd name="T12" fmla="*/ 66 w 82"/>
                  <a:gd name="T13" fmla="*/ 80 h 120"/>
                  <a:gd name="T14" fmla="*/ 72 w 82"/>
                  <a:gd name="T15" fmla="*/ 78 h 120"/>
                  <a:gd name="T16" fmla="*/ 82 w 82"/>
                  <a:gd name="T17" fmla="*/ 77 h 120"/>
                  <a:gd name="T18" fmla="*/ 82 w 82"/>
                  <a:gd name="T19" fmla="*/ 68 h 120"/>
                  <a:gd name="T20" fmla="*/ 63 w 82"/>
                  <a:gd name="T21" fmla="*/ 57 h 120"/>
                  <a:gd name="T22" fmla="*/ 48 w 82"/>
                  <a:gd name="T23" fmla="*/ 51 h 120"/>
                  <a:gd name="T24" fmla="*/ 39 w 82"/>
                  <a:gd name="T25" fmla="*/ 45 h 120"/>
                  <a:gd name="T26" fmla="*/ 34 w 82"/>
                  <a:gd name="T27" fmla="*/ 42 h 120"/>
                  <a:gd name="T28" fmla="*/ 28 w 82"/>
                  <a:gd name="T29" fmla="*/ 34 h 120"/>
                  <a:gd name="T30" fmla="*/ 26 w 82"/>
                  <a:gd name="T31" fmla="*/ 24 h 120"/>
                  <a:gd name="T32" fmla="*/ 24 w 82"/>
                  <a:gd name="T33" fmla="*/ 14 h 120"/>
                  <a:gd name="T34" fmla="*/ 28 w 82"/>
                  <a:gd name="T35" fmla="*/ 0 h 120"/>
                  <a:gd name="T36" fmla="*/ 14 w 82"/>
                  <a:gd name="T37" fmla="*/ 0 h 120"/>
                  <a:gd name="T38" fmla="*/ 6 w 82"/>
                  <a:gd name="T39" fmla="*/ 9 h 120"/>
                  <a:gd name="T40" fmla="*/ 3 w 82"/>
                  <a:gd name="T41" fmla="*/ 17 h 120"/>
                  <a:gd name="T42" fmla="*/ 0 w 82"/>
                  <a:gd name="T43" fmla="*/ 24 h 120"/>
                  <a:gd name="T44" fmla="*/ 0 w 82"/>
                  <a:gd name="T45" fmla="*/ 32 h 120"/>
                  <a:gd name="T46" fmla="*/ 0 w 82"/>
                  <a:gd name="T47" fmla="*/ 48 h 120"/>
                  <a:gd name="T48" fmla="*/ 4 w 82"/>
                  <a:gd name="T49" fmla="*/ 64 h 120"/>
                  <a:gd name="T50" fmla="*/ 10 w 82"/>
                  <a:gd name="T51" fmla="*/ 78 h 120"/>
                  <a:gd name="T52" fmla="*/ 18 w 82"/>
                  <a:gd name="T53" fmla="*/ 93 h 120"/>
                  <a:gd name="T54" fmla="*/ 30 w 82"/>
                  <a:gd name="T55" fmla="*/ 106 h 120"/>
                  <a:gd name="T56" fmla="*/ 51 w 82"/>
                  <a:gd name="T57"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 h="120">
                    <a:moveTo>
                      <a:pt x="51" y="120"/>
                    </a:moveTo>
                    <a:lnTo>
                      <a:pt x="47" y="108"/>
                    </a:lnTo>
                    <a:lnTo>
                      <a:pt x="46" y="100"/>
                    </a:lnTo>
                    <a:lnTo>
                      <a:pt x="50" y="90"/>
                    </a:lnTo>
                    <a:lnTo>
                      <a:pt x="53" y="86"/>
                    </a:lnTo>
                    <a:lnTo>
                      <a:pt x="62" y="83"/>
                    </a:lnTo>
                    <a:lnTo>
                      <a:pt x="66" y="80"/>
                    </a:lnTo>
                    <a:lnTo>
                      <a:pt x="72" y="78"/>
                    </a:lnTo>
                    <a:lnTo>
                      <a:pt x="82" y="77"/>
                    </a:lnTo>
                    <a:lnTo>
                      <a:pt x="82" y="68"/>
                    </a:lnTo>
                    <a:lnTo>
                      <a:pt x="63" y="57"/>
                    </a:lnTo>
                    <a:lnTo>
                      <a:pt x="48" y="51"/>
                    </a:lnTo>
                    <a:lnTo>
                      <a:pt x="39" y="45"/>
                    </a:lnTo>
                    <a:lnTo>
                      <a:pt x="34" y="42"/>
                    </a:lnTo>
                    <a:lnTo>
                      <a:pt x="28" y="34"/>
                    </a:lnTo>
                    <a:lnTo>
                      <a:pt x="26" y="24"/>
                    </a:lnTo>
                    <a:lnTo>
                      <a:pt x="24" y="14"/>
                    </a:lnTo>
                    <a:lnTo>
                      <a:pt x="28" y="0"/>
                    </a:lnTo>
                    <a:lnTo>
                      <a:pt x="14" y="0"/>
                    </a:lnTo>
                    <a:lnTo>
                      <a:pt x="6" y="9"/>
                    </a:lnTo>
                    <a:lnTo>
                      <a:pt x="3" y="17"/>
                    </a:lnTo>
                    <a:lnTo>
                      <a:pt x="0" y="24"/>
                    </a:lnTo>
                    <a:lnTo>
                      <a:pt x="0" y="32"/>
                    </a:lnTo>
                    <a:lnTo>
                      <a:pt x="0" y="48"/>
                    </a:lnTo>
                    <a:lnTo>
                      <a:pt x="4" y="64"/>
                    </a:lnTo>
                    <a:lnTo>
                      <a:pt x="10" y="78"/>
                    </a:lnTo>
                    <a:lnTo>
                      <a:pt x="18" y="93"/>
                    </a:lnTo>
                    <a:lnTo>
                      <a:pt x="30" y="106"/>
                    </a:lnTo>
                    <a:lnTo>
                      <a:pt x="51" y="120"/>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grpSp>
      <p:grpSp>
        <p:nvGrpSpPr>
          <p:cNvPr id="149842" name="Group 3410">
            <a:extLst>
              <a:ext uri="{FF2B5EF4-FFF2-40B4-BE49-F238E27FC236}">
                <a16:creationId xmlns:a16="http://schemas.microsoft.com/office/drawing/2014/main" id="{EA88DDA7-0DAD-0D28-AD3A-55CA365798E7}"/>
              </a:ext>
            </a:extLst>
          </p:cNvPr>
          <p:cNvGrpSpPr>
            <a:grpSpLocks/>
          </p:cNvGrpSpPr>
          <p:nvPr/>
        </p:nvGrpSpPr>
        <p:grpSpPr bwMode="auto">
          <a:xfrm>
            <a:off x="3756025" y="3228975"/>
            <a:ext cx="1541463" cy="873125"/>
            <a:chOff x="2360" y="2081"/>
            <a:chExt cx="971" cy="550"/>
          </a:xfrm>
        </p:grpSpPr>
        <p:sp>
          <p:nvSpPr>
            <p:cNvPr id="149563" name="Oval 3131">
              <a:extLst>
                <a:ext uri="{FF2B5EF4-FFF2-40B4-BE49-F238E27FC236}">
                  <a16:creationId xmlns:a16="http://schemas.microsoft.com/office/drawing/2014/main" id="{642CD63E-E6CF-4621-312E-93F83132207E}"/>
                </a:ext>
              </a:extLst>
            </p:cNvPr>
            <p:cNvSpPr>
              <a:spLocks noChangeArrowheads="1"/>
            </p:cNvSpPr>
            <p:nvPr/>
          </p:nvSpPr>
          <p:spPr bwMode="auto">
            <a:xfrm>
              <a:off x="2360" y="2081"/>
              <a:ext cx="971" cy="550"/>
            </a:xfrm>
            <a:prstGeom prst="ellipse">
              <a:avLst/>
            </a:prstGeom>
            <a:solidFill>
              <a:schemeClr val="bg2"/>
            </a:solidFill>
            <a:ln w="25400" cap="rnd"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148288" name="Rectangle 1856">
              <a:extLst>
                <a:ext uri="{FF2B5EF4-FFF2-40B4-BE49-F238E27FC236}">
                  <a16:creationId xmlns:a16="http://schemas.microsoft.com/office/drawing/2014/main" id="{07799380-6BC2-0F71-D345-F375ABF3EC62}"/>
                </a:ext>
              </a:extLst>
            </p:cNvPr>
            <p:cNvSpPr>
              <a:spLocks noChangeArrowheads="1"/>
            </p:cNvSpPr>
            <p:nvPr/>
          </p:nvSpPr>
          <p:spPr bwMode="auto">
            <a:xfrm>
              <a:off x="2440" y="2238"/>
              <a:ext cx="839" cy="1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Security Zone E</a:t>
              </a:r>
            </a:p>
          </p:txBody>
        </p:sp>
        <p:sp>
          <p:nvSpPr>
            <p:cNvPr id="148289" name="Rectangle 1857">
              <a:extLst>
                <a:ext uri="{FF2B5EF4-FFF2-40B4-BE49-F238E27FC236}">
                  <a16:creationId xmlns:a16="http://schemas.microsoft.com/office/drawing/2014/main" id="{A6997CBD-4092-4190-4B49-C3E977703DE7}"/>
                </a:ext>
              </a:extLst>
            </p:cNvPr>
            <p:cNvSpPr>
              <a:spLocks noChangeArrowheads="1"/>
            </p:cNvSpPr>
            <p:nvPr/>
          </p:nvSpPr>
          <p:spPr bwMode="auto">
            <a:xfrm>
              <a:off x="2660" y="2355"/>
              <a:ext cx="394"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latin typeface="Verdana" panose="020B0604030504040204" pitchFamily="34" charset="0"/>
                  <a:ea typeface="宋体" panose="02010600030101010101" pitchFamily="2" charset="-122"/>
                </a:rPr>
                <a:t>Switch - </a:t>
              </a:r>
            </a:p>
          </p:txBody>
        </p:sp>
        <p:sp>
          <p:nvSpPr>
            <p:cNvPr id="148290" name="Rectangle 1858">
              <a:extLst>
                <a:ext uri="{FF2B5EF4-FFF2-40B4-BE49-F238E27FC236}">
                  <a16:creationId xmlns:a16="http://schemas.microsoft.com/office/drawing/2014/main" id="{64A511A9-C9D8-1A73-A272-1FD154650FA6}"/>
                </a:ext>
              </a:extLst>
            </p:cNvPr>
            <p:cNvSpPr>
              <a:spLocks noChangeArrowheads="1"/>
            </p:cNvSpPr>
            <p:nvPr/>
          </p:nvSpPr>
          <p:spPr bwMode="auto">
            <a:xfrm>
              <a:off x="2524" y="2441"/>
              <a:ext cx="661" cy="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latin typeface="Verdana" panose="020B0604030504040204" pitchFamily="34" charset="0"/>
                  <a:ea typeface="宋体" panose="02010600030101010101" pitchFamily="2" charset="-122"/>
                </a:rPr>
                <a:t>Switch/Router</a:t>
              </a:r>
            </a:p>
          </p:txBody>
        </p:sp>
      </p:grpSp>
      <p:pic>
        <p:nvPicPr>
          <p:cNvPr id="149572" name="Picture 3140">
            <a:extLst>
              <a:ext uri="{FF2B5EF4-FFF2-40B4-BE49-F238E27FC236}">
                <a16:creationId xmlns:a16="http://schemas.microsoft.com/office/drawing/2014/main" id="{F7E390D0-234F-BDBF-19DA-67185E5401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3581400"/>
            <a:ext cx="688975" cy="285750"/>
          </a:xfrm>
          <a:prstGeom prst="rect">
            <a:avLst/>
          </a:prstGeom>
          <a:noFill/>
          <a:extLst>
            <a:ext uri="{909E8E84-426E-40DD-AFC4-6F175D3DCCD1}">
              <a14:hiddenFill xmlns:a14="http://schemas.microsoft.com/office/drawing/2010/main">
                <a:solidFill>
                  <a:srgbClr val="FFFFFF"/>
                </a:solidFill>
              </a14:hiddenFill>
            </a:ext>
          </a:extLst>
        </p:spPr>
      </p:pic>
      <p:grpSp>
        <p:nvGrpSpPr>
          <p:cNvPr id="149795" name="Group 3363">
            <a:extLst>
              <a:ext uri="{FF2B5EF4-FFF2-40B4-BE49-F238E27FC236}">
                <a16:creationId xmlns:a16="http://schemas.microsoft.com/office/drawing/2014/main" id="{43A32441-346E-75AC-A3B9-263FB5304930}"/>
              </a:ext>
            </a:extLst>
          </p:cNvPr>
          <p:cNvGrpSpPr>
            <a:grpSpLocks/>
          </p:cNvGrpSpPr>
          <p:nvPr/>
        </p:nvGrpSpPr>
        <p:grpSpPr bwMode="auto">
          <a:xfrm>
            <a:off x="3252788" y="3581400"/>
            <a:ext cx="547687" cy="192088"/>
            <a:chOff x="2304" y="2976"/>
            <a:chExt cx="402" cy="147"/>
          </a:xfrm>
        </p:grpSpPr>
        <p:sp>
          <p:nvSpPr>
            <p:cNvPr id="149790" name="AutoShape 3358">
              <a:extLst>
                <a:ext uri="{FF2B5EF4-FFF2-40B4-BE49-F238E27FC236}">
                  <a16:creationId xmlns:a16="http://schemas.microsoft.com/office/drawing/2014/main" id="{F61C857D-DF24-7270-D1DE-D3AE7FBC3DC3}"/>
                </a:ext>
              </a:extLst>
            </p:cNvPr>
            <p:cNvSpPr>
              <a:spLocks noChangeAspect="1" noChangeArrowheads="1"/>
            </p:cNvSpPr>
            <p:nvPr/>
          </p:nvSpPr>
          <p:spPr bwMode="auto">
            <a:xfrm>
              <a:off x="2304" y="2976"/>
              <a:ext cx="402" cy="147"/>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149791" name="Freeform 3359">
              <a:extLst>
                <a:ext uri="{FF2B5EF4-FFF2-40B4-BE49-F238E27FC236}">
                  <a16:creationId xmlns:a16="http://schemas.microsoft.com/office/drawing/2014/main" id="{A66A842E-7391-A9D6-480E-68866051FBD5}"/>
                </a:ext>
              </a:extLst>
            </p:cNvPr>
            <p:cNvSpPr>
              <a:spLocks noChangeAspect="1"/>
            </p:cNvSpPr>
            <p:nvPr/>
          </p:nvSpPr>
          <p:spPr bwMode="auto">
            <a:xfrm>
              <a:off x="2354" y="3011"/>
              <a:ext cx="154"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9792" name="Freeform 3360">
              <a:extLst>
                <a:ext uri="{FF2B5EF4-FFF2-40B4-BE49-F238E27FC236}">
                  <a16:creationId xmlns:a16="http://schemas.microsoft.com/office/drawing/2014/main" id="{1026022F-412A-446E-E6A9-1E01ABF423CE}"/>
                </a:ext>
              </a:extLst>
            </p:cNvPr>
            <p:cNvSpPr>
              <a:spLocks noChangeAspect="1"/>
            </p:cNvSpPr>
            <p:nvPr/>
          </p:nvSpPr>
          <p:spPr bwMode="auto">
            <a:xfrm>
              <a:off x="2354" y="3062"/>
              <a:ext cx="154"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9793" name="Freeform 3361">
              <a:extLst>
                <a:ext uri="{FF2B5EF4-FFF2-40B4-BE49-F238E27FC236}">
                  <a16:creationId xmlns:a16="http://schemas.microsoft.com/office/drawing/2014/main" id="{68890019-8A1C-2BC6-434B-15582D709507}"/>
                </a:ext>
              </a:extLst>
            </p:cNvPr>
            <p:cNvSpPr>
              <a:spLocks noChangeAspect="1"/>
            </p:cNvSpPr>
            <p:nvPr/>
          </p:nvSpPr>
          <p:spPr bwMode="auto">
            <a:xfrm flipH="1">
              <a:off x="2507" y="3038"/>
              <a:ext cx="155"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9794" name="Freeform 3362">
              <a:extLst>
                <a:ext uri="{FF2B5EF4-FFF2-40B4-BE49-F238E27FC236}">
                  <a16:creationId xmlns:a16="http://schemas.microsoft.com/office/drawing/2014/main" id="{E415157A-13DE-1D4E-F786-F6CB6C84F55E}"/>
                </a:ext>
              </a:extLst>
            </p:cNvPr>
            <p:cNvSpPr>
              <a:spLocks noChangeAspect="1"/>
            </p:cNvSpPr>
            <p:nvPr/>
          </p:nvSpPr>
          <p:spPr bwMode="auto">
            <a:xfrm flipH="1">
              <a:off x="2507" y="3088"/>
              <a:ext cx="155"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49796" name="Group 3364">
            <a:extLst>
              <a:ext uri="{FF2B5EF4-FFF2-40B4-BE49-F238E27FC236}">
                <a16:creationId xmlns:a16="http://schemas.microsoft.com/office/drawing/2014/main" id="{6C9C244D-97F8-0084-F892-DDA3B1584C1D}"/>
              </a:ext>
            </a:extLst>
          </p:cNvPr>
          <p:cNvGrpSpPr>
            <a:grpSpLocks/>
          </p:cNvGrpSpPr>
          <p:nvPr/>
        </p:nvGrpSpPr>
        <p:grpSpPr bwMode="auto">
          <a:xfrm>
            <a:off x="4286250" y="4038600"/>
            <a:ext cx="546100" cy="192088"/>
            <a:chOff x="2304" y="2976"/>
            <a:chExt cx="402" cy="147"/>
          </a:xfrm>
        </p:grpSpPr>
        <p:sp>
          <p:nvSpPr>
            <p:cNvPr id="149797" name="AutoShape 3365">
              <a:extLst>
                <a:ext uri="{FF2B5EF4-FFF2-40B4-BE49-F238E27FC236}">
                  <a16:creationId xmlns:a16="http://schemas.microsoft.com/office/drawing/2014/main" id="{B8071800-D3F7-C721-A9B9-53E20561F699}"/>
                </a:ext>
              </a:extLst>
            </p:cNvPr>
            <p:cNvSpPr>
              <a:spLocks noChangeAspect="1" noChangeArrowheads="1"/>
            </p:cNvSpPr>
            <p:nvPr/>
          </p:nvSpPr>
          <p:spPr bwMode="auto">
            <a:xfrm>
              <a:off x="2304" y="2976"/>
              <a:ext cx="402" cy="147"/>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149798" name="Freeform 3366">
              <a:extLst>
                <a:ext uri="{FF2B5EF4-FFF2-40B4-BE49-F238E27FC236}">
                  <a16:creationId xmlns:a16="http://schemas.microsoft.com/office/drawing/2014/main" id="{C2F27458-91FF-DD94-90FC-606975D27FF4}"/>
                </a:ext>
              </a:extLst>
            </p:cNvPr>
            <p:cNvSpPr>
              <a:spLocks noChangeAspect="1"/>
            </p:cNvSpPr>
            <p:nvPr/>
          </p:nvSpPr>
          <p:spPr bwMode="auto">
            <a:xfrm>
              <a:off x="2354" y="3011"/>
              <a:ext cx="154"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9799" name="Freeform 3367">
              <a:extLst>
                <a:ext uri="{FF2B5EF4-FFF2-40B4-BE49-F238E27FC236}">
                  <a16:creationId xmlns:a16="http://schemas.microsoft.com/office/drawing/2014/main" id="{4F0C56DA-22E5-16D3-5EB3-9EB340305571}"/>
                </a:ext>
              </a:extLst>
            </p:cNvPr>
            <p:cNvSpPr>
              <a:spLocks noChangeAspect="1"/>
            </p:cNvSpPr>
            <p:nvPr/>
          </p:nvSpPr>
          <p:spPr bwMode="auto">
            <a:xfrm>
              <a:off x="2354" y="3062"/>
              <a:ext cx="154"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9800" name="Freeform 3368">
              <a:extLst>
                <a:ext uri="{FF2B5EF4-FFF2-40B4-BE49-F238E27FC236}">
                  <a16:creationId xmlns:a16="http://schemas.microsoft.com/office/drawing/2014/main" id="{8B089E0A-DF55-781D-8E89-D0190617EA4B}"/>
                </a:ext>
              </a:extLst>
            </p:cNvPr>
            <p:cNvSpPr>
              <a:spLocks noChangeAspect="1"/>
            </p:cNvSpPr>
            <p:nvPr/>
          </p:nvSpPr>
          <p:spPr bwMode="auto">
            <a:xfrm flipH="1">
              <a:off x="2507" y="3038"/>
              <a:ext cx="155"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9801" name="Freeform 3369">
              <a:extLst>
                <a:ext uri="{FF2B5EF4-FFF2-40B4-BE49-F238E27FC236}">
                  <a16:creationId xmlns:a16="http://schemas.microsoft.com/office/drawing/2014/main" id="{08B36B42-6476-D72C-C735-1DE740BF03A7}"/>
                </a:ext>
              </a:extLst>
            </p:cNvPr>
            <p:cNvSpPr>
              <a:spLocks noChangeAspect="1"/>
            </p:cNvSpPr>
            <p:nvPr/>
          </p:nvSpPr>
          <p:spPr bwMode="auto">
            <a:xfrm flipH="1">
              <a:off x="2507" y="3088"/>
              <a:ext cx="155"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49811" name="Group 3379">
            <a:extLst>
              <a:ext uri="{FF2B5EF4-FFF2-40B4-BE49-F238E27FC236}">
                <a16:creationId xmlns:a16="http://schemas.microsoft.com/office/drawing/2014/main" id="{913C01EC-F7C2-A2B3-EDE4-E4CEC80EC9C6}"/>
              </a:ext>
            </a:extLst>
          </p:cNvPr>
          <p:cNvGrpSpPr>
            <a:grpSpLocks/>
          </p:cNvGrpSpPr>
          <p:nvPr/>
        </p:nvGrpSpPr>
        <p:grpSpPr bwMode="auto">
          <a:xfrm>
            <a:off x="4267200" y="3048000"/>
            <a:ext cx="547688" cy="190500"/>
            <a:chOff x="2304" y="2976"/>
            <a:chExt cx="402" cy="147"/>
          </a:xfrm>
        </p:grpSpPr>
        <p:sp>
          <p:nvSpPr>
            <p:cNvPr id="149812" name="AutoShape 3380">
              <a:extLst>
                <a:ext uri="{FF2B5EF4-FFF2-40B4-BE49-F238E27FC236}">
                  <a16:creationId xmlns:a16="http://schemas.microsoft.com/office/drawing/2014/main" id="{90F27693-17C8-7D78-3579-0D476046364F}"/>
                </a:ext>
              </a:extLst>
            </p:cNvPr>
            <p:cNvSpPr>
              <a:spLocks noChangeAspect="1" noChangeArrowheads="1"/>
            </p:cNvSpPr>
            <p:nvPr/>
          </p:nvSpPr>
          <p:spPr bwMode="auto">
            <a:xfrm>
              <a:off x="2304" y="2976"/>
              <a:ext cx="402" cy="147"/>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149813" name="Freeform 3381">
              <a:extLst>
                <a:ext uri="{FF2B5EF4-FFF2-40B4-BE49-F238E27FC236}">
                  <a16:creationId xmlns:a16="http://schemas.microsoft.com/office/drawing/2014/main" id="{B1C29A7A-DC2B-D7D2-8057-74DF98C42BF1}"/>
                </a:ext>
              </a:extLst>
            </p:cNvPr>
            <p:cNvSpPr>
              <a:spLocks noChangeAspect="1"/>
            </p:cNvSpPr>
            <p:nvPr/>
          </p:nvSpPr>
          <p:spPr bwMode="auto">
            <a:xfrm>
              <a:off x="2354" y="3011"/>
              <a:ext cx="154"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9814" name="Freeform 3382">
              <a:extLst>
                <a:ext uri="{FF2B5EF4-FFF2-40B4-BE49-F238E27FC236}">
                  <a16:creationId xmlns:a16="http://schemas.microsoft.com/office/drawing/2014/main" id="{7CAA9DBA-EEA0-FBBB-2079-0137AEA0F022}"/>
                </a:ext>
              </a:extLst>
            </p:cNvPr>
            <p:cNvSpPr>
              <a:spLocks noChangeAspect="1"/>
            </p:cNvSpPr>
            <p:nvPr/>
          </p:nvSpPr>
          <p:spPr bwMode="auto">
            <a:xfrm>
              <a:off x="2354" y="3062"/>
              <a:ext cx="154"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9815" name="Freeform 3383">
              <a:extLst>
                <a:ext uri="{FF2B5EF4-FFF2-40B4-BE49-F238E27FC236}">
                  <a16:creationId xmlns:a16="http://schemas.microsoft.com/office/drawing/2014/main" id="{1314E206-3BC2-217D-7910-CA21ECB16405}"/>
                </a:ext>
              </a:extLst>
            </p:cNvPr>
            <p:cNvSpPr>
              <a:spLocks noChangeAspect="1"/>
            </p:cNvSpPr>
            <p:nvPr/>
          </p:nvSpPr>
          <p:spPr bwMode="auto">
            <a:xfrm flipH="1">
              <a:off x="2507" y="3038"/>
              <a:ext cx="155"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49816" name="Freeform 3384">
              <a:extLst>
                <a:ext uri="{FF2B5EF4-FFF2-40B4-BE49-F238E27FC236}">
                  <a16:creationId xmlns:a16="http://schemas.microsoft.com/office/drawing/2014/main" id="{EAC502E1-F3C5-F60A-8700-B356BEBA0D9C}"/>
                </a:ext>
              </a:extLst>
            </p:cNvPr>
            <p:cNvSpPr>
              <a:spLocks noChangeAspect="1"/>
            </p:cNvSpPr>
            <p:nvPr/>
          </p:nvSpPr>
          <p:spPr bwMode="auto">
            <a:xfrm flipH="1">
              <a:off x="2507" y="3088"/>
              <a:ext cx="155"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49851" name="Text Box 3419">
            <a:extLst>
              <a:ext uri="{FF2B5EF4-FFF2-40B4-BE49-F238E27FC236}">
                <a16:creationId xmlns:a16="http://schemas.microsoft.com/office/drawing/2014/main" id="{732C44F5-2E62-6F0D-6724-D9EF00ED4CC1}"/>
              </a:ext>
            </a:extLst>
          </p:cNvPr>
          <p:cNvSpPr txBox="1">
            <a:spLocks noChangeArrowheads="1"/>
          </p:cNvSpPr>
          <p:nvPr/>
        </p:nvSpPr>
        <p:spPr bwMode="auto">
          <a:xfrm>
            <a:off x="838200" y="5715000"/>
            <a:ext cx="7915275" cy="876300"/>
          </a:xfrm>
          <a:prstGeom prst="rect">
            <a:avLst/>
          </a:prstGeom>
          <a:solidFill>
            <a:srgbClr val="CCFFCC"/>
          </a:solidFill>
          <a:ln w="25400"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sz="1400" b="1">
                <a:solidFill>
                  <a:schemeClr val="tx2"/>
                </a:solidFill>
                <a:ea typeface="宋体" panose="02010600030101010101" pitchFamily="2" charset="-122"/>
              </a:rPr>
              <a:t>Protect the storage arrays on your SAN via:</a:t>
            </a:r>
          </a:p>
          <a:p>
            <a:pPr>
              <a:spcBef>
                <a:spcPct val="50000"/>
              </a:spcBef>
            </a:pPr>
            <a:r>
              <a:rPr lang="en-US" altLang="zh-CN" sz="1400" b="1">
                <a:solidFill>
                  <a:schemeClr val="tx2"/>
                </a:solidFill>
                <a:ea typeface="宋体" panose="02010600030101010101" pitchFamily="2" charset="-122"/>
              </a:rPr>
              <a:t>(a) WWPN-based LUN masking</a:t>
            </a:r>
          </a:p>
          <a:p>
            <a:pPr>
              <a:spcBef>
                <a:spcPct val="50000"/>
              </a:spcBef>
            </a:pPr>
            <a:r>
              <a:rPr lang="en-US" altLang="zh-CN" sz="1400" b="1">
                <a:solidFill>
                  <a:schemeClr val="tx2"/>
                </a:solidFill>
                <a:ea typeface="宋体" panose="02010600030101010101" pitchFamily="2" charset="-122"/>
              </a:rPr>
              <a:t>(b) S_ID locking: Masking based on source FCID (Fibre Channel ID/Address)</a:t>
            </a:r>
            <a:endParaRPr lang="en-US" altLang="zh-CN" sz="1400" b="1">
              <a:solidFill>
                <a:srgbClr val="003580"/>
              </a:solidFill>
              <a:ea typeface="宋体" panose="02010600030101010101" pitchFamily="2" charset="-122"/>
            </a:endParaRPr>
          </a:p>
        </p:txBody>
      </p:sp>
      <p:sp>
        <p:nvSpPr>
          <p:cNvPr id="149578" name="Freeform 3146">
            <a:extLst>
              <a:ext uri="{FF2B5EF4-FFF2-40B4-BE49-F238E27FC236}">
                <a16:creationId xmlns:a16="http://schemas.microsoft.com/office/drawing/2014/main" id="{AF817A49-0873-169B-6077-EF9CC48E0D47}"/>
              </a:ext>
            </a:extLst>
          </p:cNvPr>
          <p:cNvSpPr>
            <a:spLocks noChangeAspect="1"/>
          </p:cNvSpPr>
          <p:nvPr/>
        </p:nvSpPr>
        <p:spPr bwMode="auto">
          <a:xfrm>
            <a:off x="4138613" y="1119188"/>
            <a:ext cx="641350" cy="425450"/>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49840" name="Text Box 3408">
            <a:extLst>
              <a:ext uri="{FF2B5EF4-FFF2-40B4-BE49-F238E27FC236}">
                <a16:creationId xmlns:a16="http://schemas.microsoft.com/office/drawing/2014/main" id="{8EF654B8-0236-8704-23F5-86833943903D}"/>
              </a:ext>
            </a:extLst>
          </p:cNvPr>
          <p:cNvSpPr txBox="1">
            <a:spLocks noChangeArrowheads="1"/>
          </p:cNvSpPr>
          <p:nvPr/>
        </p:nvSpPr>
        <p:spPr bwMode="auto">
          <a:xfrm>
            <a:off x="838200" y="5638800"/>
            <a:ext cx="7924800" cy="1062038"/>
          </a:xfrm>
          <a:prstGeom prst="rect">
            <a:avLst/>
          </a:prstGeom>
          <a:solidFill>
            <a:srgbClr val="CC99FF"/>
          </a:solidFill>
          <a:ln w="25400"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chemeClr val="tx2"/>
                </a:solidFill>
                <a:ea typeface="宋体" panose="02010600030101010101" pitchFamily="2" charset="-122"/>
              </a:rPr>
              <a:t>ACL and Zoning</a:t>
            </a:r>
          </a:p>
          <a:p>
            <a:pPr>
              <a:spcBef>
                <a:spcPct val="50000"/>
              </a:spcBef>
            </a:pPr>
            <a:r>
              <a:rPr lang="en-US" altLang="zh-CN" sz="1200" b="1">
                <a:solidFill>
                  <a:schemeClr val="tx2"/>
                </a:solidFill>
                <a:ea typeface="宋体" panose="02010600030101010101" pitchFamily="2" charset="-122"/>
              </a:rPr>
              <a:t>Restrict FC access to legitimate hosts by:</a:t>
            </a:r>
          </a:p>
          <a:p>
            <a:pPr>
              <a:spcBef>
                <a:spcPct val="50000"/>
              </a:spcBef>
            </a:pPr>
            <a:r>
              <a:rPr lang="en-US" altLang="zh-CN" sz="1200" b="1">
                <a:solidFill>
                  <a:schemeClr val="tx2"/>
                </a:solidFill>
                <a:ea typeface="宋体" panose="02010600030101010101" pitchFamily="2" charset="-122"/>
              </a:rPr>
              <a:t>(a) Implementing ACLs: Known HBAs can connect on specific switch ports only</a:t>
            </a:r>
          </a:p>
          <a:p>
            <a:pPr>
              <a:spcBef>
                <a:spcPct val="50000"/>
              </a:spcBef>
            </a:pPr>
            <a:r>
              <a:rPr lang="en-US" altLang="zh-CN" sz="1200" b="1">
                <a:solidFill>
                  <a:schemeClr val="tx2"/>
                </a:solidFill>
                <a:ea typeface="宋体" panose="02010600030101010101" pitchFamily="2" charset="-122"/>
              </a:rPr>
              <a:t>(b) Implementing a secure zoning method such as port zoning (also known as hard zoning)</a:t>
            </a:r>
            <a:endParaRPr lang="en-US" altLang="zh-CN" sz="1200" b="1">
              <a:solidFill>
                <a:srgbClr val="003580"/>
              </a:solidFill>
              <a:ea typeface="宋体" panose="02010600030101010101" pitchFamily="2" charset="-122"/>
            </a:endParaRPr>
          </a:p>
        </p:txBody>
      </p:sp>
      <p:sp>
        <p:nvSpPr>
          <p:cNvPr id="149847" name="Text Box 3415">
            <a:extLst>
              <a:ext uri="{FF2B5EF4-FFF2-40B4-BE49-F238E27FC236}">
                <a16:creationId xmlns:a16="http://schemas.microsoft.com/office/drawing/2014/main" id="{972BFC39-8D77-95BD-40AC-85311133F9CB}"/>
              </a:ext>
            </a:extLst>
          </p:cNvPr>
          <p:cNvSpPr txBox="1">
            <a:spLocks noChangeArrowheads="1"/>
          </p:cNvSpPr>
          <p:nvPr/>
        </p:nvSpPr>
        <p:spPr bwMode="auto">
          <a:xfrm>
            <a:off x="838200" y="5638800"/>
            <a:ext cx="7924800" cy="876300"/>
          </a:xfrm>
          <a:prstGeom prst="rect">
            <a:avLst/>
          </a:prstGeom>
          <a:solidFill>
            <a:srgbClr val="99CCFF"/>
          </a:solidFill>
          <a:ln w="25400"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sz="1400" b="1">
                <a:solidFill>
                  <a:schemeClr val="tx2"/>
                </a:solidFill>
                <a:ea typeface="宋体" panose="02010600030101010101" pitchFamily="2" charset="-122"/>
              </a:rPr>
              <a:t>Implement encryption for in-flight data:</a:t>
            </a:r>
          </a:p>
          <a:p>
            <a:pPr>
              <a:spcBef>
                <a:spcPct val="50000"/>
              </a:spcBef>
            </a:pPr>
            <a:r>
              <a:rPr lang="en-US" altLang="zh-CN" sz="1400" b="1">
                <a:solidFill>
                  <a:schemeClr val="tx2"/>
                </a:solidFill>
                <a:ea typeface="宋体" panose="02010600030101010101" pitchFamily="2" charset="-122"/>
              </a:rPr>
              <a:t>(a) FCsec for long-distance FC extension</a:t>
            </a:r>
          </a:p>
          <a:p>
            <a:pPr>
              <a:spcBef>
                <a:spcPct val="50000"/>
              </a:spcBef>
            </a:pPr>
            <a:r>
              <a:rPr lang="en-US" altLang="zh-CN" sz="1400" b="1">
                <a:solidFill>
                  <a:schemeClr val="tx2"/>
                </a:solidFill>
                <a:ea typeface="宋体" panose="02010600030101010101" pitchFamily="2" charset="-122"/>
              </a:rPr>
              <a:t>(b) IPSec for SAN extension via FCIP</a:t>
            </a:r>
            <a:endParaRPr lang="en-US" altLang="zh-CN" sz="1400" b="1">
              <a:solidFill>
                <a:srgbClr val="003580"/>
              </a:solidFill>
              <a:ea typeface="宋体" panose="02010600030101010101" pitchFamily="2" charset="-122"/>
            </a:endParaRPr>
          </a:p>
        </p:txBody>
      </p:sp>
      <p:sp>
        <p:nvSpPr>
          <p:cNvPr id="149844" name="Text Box 3412">
            <a:extLst>
              <a:ext uri="{FF2B5EF4-FFF2-40B4-BE49-F238E27FC236}">
                <a16:creationId xmlns:a16="http://schemas.microsoft.com/office/drawing/2014/main" id="{895AABFD-5C57-9DC0-68CF-FAFD6EF40E2A}"/>
              </a:ext>
            </a:extLst>
          </p:cNvPr>
          <p:cNvSpPr txBox="1">
            <a:spLocks noChangeArrowheads="1"/>
          </p:cNvSpPr>
          <p:nvPr/>
        </p:nvSpPr>
        <p:spPr bwMode="auto">
          <a:xfrm>
            <a:off x="838200" y="5635625"/>
            <a:ext cx="7924800" cy="1031875"/>
          </a:xfrm>
          <a:prstGeom prst="rect">
            <a:avLst/>
          </a:prstGeom>
          <a:solidFill>
            <a:srgbClr val="C7BD8A"/>
          </a:solidFill>
          <a:ln w="25400"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sz="1200" b="1">
                <a:solidFill>
                  <a:schemeClr val="tx2"/>
                </a:solidFill>
                <a:ea typeface="宋体" panose="02010600030101010101" pitchFamily="2" charset="-122"/>
              </a:rPr>
              <a:t>Protect traffic on your fabric by:</a:t>
            </a:r>
          </a:p>
          <a:p>
            <a:pPr>
              <a:spcBef>
                <a:spcPct val="50000"/>
              </a:spcBef>
            </a:pPr>
            <a:r>
              <a:rPr lang="en-US" altLang="zh-CN" sz="1200" b="1">
                <a:solidFill>
                  <a:schemeClr val="tx2"/>
                </a:solidFill>
                <a:ea typeface="宋体" panose="02010600030101010101" pitchFamily="2" charset="-122"/>
              </a:rPr>
              <a:t>(a) Using E_Port authentication</a:t>
            </a:r>
          </a:p>
          <a:p>
            <a:pPr>
              <a:spcBef>
                <a:spcPct val="50000"/>
              </a:spcBef>
            </a:pPr>
            <a:r>
              <a:rPr lang="en-US" altLang="zh-CN" sz="1200" b="1">
                <a:solidFill>
                  <a:schemeClr val="tx2"/>
                </a:solidFill>
                <a:ea typeface="宋体" panose="02010600030101010101" pitchFamily="2" charset="-122"/>
              </a:rPr>
              <a:t>(b) Encrypting the traffic in transit</a:t>
            </a:r>
          </a:p>
          <a:p>
            <a:pPr>
              <a:spcBef>
                <a:spcPct val="50000"/>
              </a:spcBef>
            </a:pPr>
            <a:r>
              <a:rPr lang="en-US" altLang="zh-CN" sz="1200" b="1">
                <a:solidFill>
                  <a:schemeClr val="tx2"/>
                </a:solidFill>
                <a:ea typeface="宋体" panose="02010600030101010101" pitchFamily="2" charset="-122"/>
              </a:rPr>
              <a:t>(c) Implementing FC switch controls and port controls</a:t>
            </a:r>
            <a:endParaRPr lang="en-US" altLang="zh-CN" sz="1200" b="1">
              <a:solidFill>
                <a:srgbClr val="003580"/>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149809"/>
                                        </p:tgtEl>
                                        <p:attrNameLst>
                                          <p:attrName>style.visibility</p:attrName>
                                        </p:attrNameLst>
                                      </p:cBhvr>
                                      <p:to>
                                        <p:strVal val="visible"/>
                                      </p:to>
                                    </p:set>
                                    <p:animEffect transition="in" filter="wipe(right)">
                                      <p:cBhvr>
                                        <p:cTn id="7" dur="1000"/>
                                        <p:tgtEl>
                                          <p:spTgt spid="149809"/>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49828"/>
                                        </p:tgtEl>
                                        <p:attrNameLst>
                                          <p:attrName>style.visibility</p:attrName>
                                        </p:attrNameLst>
                                      </p:cBhvr>
                                      <p:to>
                                        <p:strVal val="visible"/>
                                      </p:to>
                                    </p:set>
                                    <p:animEffect transition="in" filter="fade">
                                      <p:cBhvr>
                                        <p:cTn id="11" dur="2000"/>
                                        <p:tgtEl>
                                          <p:spTgt spid="149828"/>
                                        </p:tgtEl>
                                      </p:cBhvr>
                                    </p:animEffect>
                                  </p:childTnLst>
                                </p:cTn>
                              </p:par>
                            </p:childTnLst>
                          </p:cTn>
                        </p:par>
                        <p:par>
                          <p:cTn id="12" fill="hold" nodeType="afterGroup">
                            <p:stCondLst>
                              <p:cond delay="3000"/>
                            </p:stCondLst>
                            <p:childTnLst>
                              <p:par>
                                <p:cTn id="13" presetID="1" presetClass="entr" presetSubtype="0" fill="hold" grpId="0" nodeType="afterEffect">
                                  <p:stCondLst>
                                    <p:cond delay="0"/>
                                  </p:stCondLst>
                                  <p:endCondLst>
                                    <p:cond evt="onNext" delay="0">
                                      <p:tgtEl>
                                        <p:sldTgt/>
                                      </p:tgtEl>
                                    </p:cond>
                                  </p:endCondLst>
                                  <p:childTnLst>
                                    <p:set>
                                      <p:cBhvr>
                                        <p:cTn id="14" dur="1" fill="hold">
                                          <p:stCondLst>
                                            <p:cond delay="0"/>
                                          </p:stCondLst>
                                        </p:cTn>
                                        <p:tgtEl>
                                          <p:spTgt spid="1498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49827"/>
                                        </p:tgtEl>
                                        <p:attrNameLst>
                                          <p:attrName>style.visibility</p:attrName>
                                        </p:attrNameLst>
                                      </p:cBhvr>
                                      <p:to>
                                        <p:strVal val="hidden"/>
                                      </p:to>
                                    </p:set>
                                  </p:childTnLst>
                                </p:cTn>
                              </p:par>
                            </p:childTnLst>
                          </p:cTn>
                        </p:par>
                        <p:par>
                          <p:cTn id="19" fill="hold" nodeType="afterGroup">
                            <p:stCondLst>
                              <p:cond delay="0"/>
                            </p:stCondLst>
                            <p:childTnLst>
                              <p:par>
                                <p:cTn id="20" presetID="22" presetClass="entr" presetSubtype="8" fill="hold" nodeType="afterEffect">
                                  <p:stCondLst>
                                    <p:cond delay="0"/>
                                  </p:stCondLst>
                                  <p:childTnLst>
                                    <p:set>
                                      <p:cBhvr>
                                        <p:cTn id="21" dur="1" fill="hold">
                                          <p:stCondLst>
                                            <p:cond delay="0"/>
                                          </p:stCondLst>
                                        </p:cTn>
                                        <p:tgtEl>
                                          <p:spTgt spid="149820"/>
                                        </p:tgtEl>
                                        <p:attrNameLst>
                                          <p:attrName>style.visibility</p:attrName>
                                        </p:attrNameLst>
                                      </p:cBhvr>
                                      <p:to>
                                        <p:strVal val="visible"/>
                                      </p:to>
                                    </p:set>
                                    <p:animEffect transition="in" filter="wipe(left)">
                                      <p:cBhvr>
                                        <p:cTn id="22" dur="1000"/>
                                        <p:tgtEl>
                                          <p:spTgt spid="149820"/>
                                        </p:tgtEl>
                                      </p:cBhvr>
                                    </p:animEffect>
                                  </p:childTnLst>
                                </p:cTn>
                              </p:par>
                            </p:childTnLst>
                          </p:cTn>
                        </p:par>
                        <p:par>
                          <p:cTn id="23" fill="hold" nodeType="afterGroup">
                            <p:stCondLst>
                              <p:cond delay="1000"/>
                            </p:stCondLst>
                            <p:childTnLst>
                              <p:par>
                                <p:cTn id="24" presetID="10" presetClass="entr" presetSubtype="0" fill="hold" nodeType="afterEffect">
                                  <p:stCondLst>
                                    <p:cond delay="0"/>
                                  </p:stCondLst>
                                  <p:childTnLst>
                                    <p:set>
                                      <p:cBhvr>
                                        <p:cTn id="25" dur="1" fill="hold">
                                          <p:stCondLst>
                                            <p:cond delay="0"/>
                                          </p:stCondLst>
                                        </p:cTn>
                                        <p:tgtEl>
                                          <p:spTgt spid="149829"/>
                                        </p:tgtEl>
                                        <p:attrNameLst>
                                          <p:attrName>style.visibility</p:attrName>
                                        </p:attrNameLst>
                                      </p:cBhvr>
                                      <p:to>
                                        <p:strVal val="visible"/>
                                      </p:to>
                                    </p:set>
                                    <p:animEffect transition="in" filter="fade">
                                      <p:cBhvr>
                                        <p:cTn id="26" dur="2000"/>
                                        <p:tgtEl>
                                          <p:spTgt spid="149829"/>
                                        </p:tgtEl>
                                      </p:cBhvr>
                                    </p:animEffect>
                                  </p:childTnLst>
                                </p:cTn>
                              </p:par>
                            </p:childTnLst>
                          </p:cTn>
                        </p:par>
                        <p:par>
                          <p:cTn id="27" fill="hold" nodeType="afterGroup">
                            <p:stCondLst>
                              <p:cond delay="3000"/>
                            </p:stCondLst>
                            <p:childTnLst>
                              <p:par>
                                <p:cTn id="28" presetID="1" presetClass="entr" presetSubtype="0" fill="hold" grpId="0" nodeType="afterEffect">
                                  <p:stCondLst>
                                    <p:cond delay="0"/>
                                  </p:stCondLst>
                                  <p:endCondLst>
                                    <p:cond evt="onNext" delay="0">
                                      <p:tgtEl>
                                        <p:sldTgt/>
                                      </p:tgtEl>
                                    </p:cond>
                                  </p:endCondLst>
                                  <p:childTnLst>
                                    <p:set>
                                      <p:cBhvr>
                                        <p:cTn id="29" dur="1" fill="hold">
                                          <p:stCondLst>
                                            <p:cond delay="0"/>
                                          </p:stCondLst>
                                        </p:cTn>
                                        <p:tgtEl>
                                          <p:spTgt spid="14983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149832"/>
                                        </p:tgtEl>
                                        <p:attrNameLst>
                                          <p:attrName>style.visibility</p:attrName>
                                        </p:attrNameLst>
                                      </p:cBhvr>
                                      <p:to>
                                        <p:strVal val="hidden"/>
                                      </p:to>
                                    </p:set>
                                  </p:childTnLst>
                                </p:cTn>
                              </p:par>
                            </p:childTnLst>
                          </p:cTn>
                        </p:par>
                        <p:par>
                          <p:cTn id="34" fill="hold" nodeType="afterGroup">
                            <p:stCondLst>
                              <p:cond delay="0"/>
                            </p:stCondLst>
                            <p:childTnLst>
                              <p:par>
                                <p:cTn id="35" presetID="22" presetClass="entr" presetSubtype="2" fill="hold" nodeType="afterEffect">
                                  <p:stCondLst>
                                    <p:cond delay="0"/>
                                  </p:stCondLst>
                                  <p:childTnLst>
                                    <p:set>
                                      <p:cBhvr>
                                        <p:cTn id="36" dur="1" fill="hold">
                                          <p:stCondLst>
                                            <p:cond delay="0"/>
                                          </p:stCondLst>
                                        </p:cTn>
                                        <p:tgtEl>
                                          <p:spTgt spid="149810"/>
                                        </p:tgtEl>
                                        <p:attrNameLst>
                                          <p:attrName>style.visibility</p:attrName>
                                        </p:attrNameLst>
                                      </p:cBhvr>
                                      <p:to>
                                        <p:strVal val="visible"/>
                                      </p:to>
                                    </p:set>
                                    <p:animEffect transition="in" filter="wipe(right)">
                                      <p:cBhvr>
                                        <p:cTn id="37" dur="1000"/>
                                        <p:tgtEl>
                                          <p:spTgt spid="149810"/>
                                        </p:tgtEl>
                                      </p:cBhvr>
                                    </p:animEffect>
                                  </p:childTnLst>
                                </p:cTn>
                              </p:par>
                            </p:childTnLst>
                          </p:cTn>
                        </p:par>
                        <p:par>
                          <p:cTn id="38" fill="hold" nodeType="afterGroup">
                            <p:stCondLst>
                              <p:cond delay="1000"/>
                            </p:stCondLst>
                            <p:childTnLst>
                              <p:par>
                                <p:cTn id="39" presetID="10" presetClass="entr" presetSubtype="0" fill="hold" nodeType="afterEffect">
                                  <p:stCondLst>
                                    <p:cond delay="0"/>
                                  </p:stCondLst>
                                  <p:childTnLst>
                                    <p:set>
                                      <p:cBhvr>
                                        <p:cTn id="40" dur="1" fill="hold">
                                          <p:stCondLst>
                                            <p:cond delay="0"/>
                                          </p:stCondLst>
                                        </p:cTn>
                                        <p:tgtEl>
                                          <p:spTgt spid="149835"/>
                                        </p:tgtEl>
                                        <p:attrNameLst>
                                          <p:attrName>style.visibility</p:attrName>
                                        </p:attrNameLst>
                                      </p:cBhvr>
                                      <p:to>
                                        <p:strVal val="visible"/>
                                      </p:to>
                                    </p:set>
                                    <p:animEffect transition="in" filter="fade">
                                      <p:cBhvr>
                                        <p:cTn id="41" dur="2000"/>
                                        <p:tgtEl>
                                          <p:spTgt spid="149835"/>
                                        </p:tgtEl>
                                      </p:cBhvr>
                                    </p:animEffect>
                                  </p:childTnLst>
                                </p:cTn>
                              </p:par>
                            </p:childTnLst>
                          </p:cTn>
                        </p:par>
                        <p:par>
                          <p:cTn id="42" fill="hold" nodeType="afterGroup">
                            <p:stCondLst>
                              <p:cond delay="3000"/>
                            </p:stCondLst>
                            <p:childTnLst>
                              <p:par>
                                <p:cTn id="43" presetID="1" presetClass="entr" presetSubtype="0" fill="hold" nodeType="afterEffect">
                                  <p:stCondLst>
                                    <p:cond delay="0"/>
                                  </p:stCondLst>
                                  <p:endCondLst>
                                    <p:cond evt="onNext" delay="0">
                                      <p:tgtEl>
                                        <p:sldTgt/>
                                      </p:tgtEl>
                                    </p:cond>
                                  </p:endCondLst>
                                  <p:childTnLst>
                                    <p:set>
                                      <p:cBhvr>
                                        <p:cTn id="44" dur="1" fill="hold">
                                          <p:stCondLst>
                                            <p:cond delay="0"/>
                                          </p:stCondLst>
                                        </p:cTn>
                                        <p:tgtEl>
                                          <p:spTgt spid="149834"/>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149834"/>
                                        </p:tgtEl>
                                        <p:attrNameLst>
                                          <p:attrName>style.visibility</p:attrName>
                                        </p:attrNameLst>
                                      </p:cBhvr>
                                      <p:to>
                                        <p:strVal val="hidden"/>
                                      </p:to>
                                    </p:set>
                                  </p:childTnLst>
                                </p:cTn>
                              </p:par>
                            </p:childTnLst>
                          </p:cTn>
                        </p:par>
                        <p:par>
                          <p:cTn id="49" fill="hold" nodeType="afterGroup">
                            <p:stCondLst>
                              <p:cond delay="0"/>
                            </p:stCondLst>
                            <p:childTnLst>
                              <p:par>
                                <p:cTn id="50" presetID="22" presetClass="entr" presetSubtype="1" fill="hold" nodeType="afterEffect">
                                  <p:stCondLst>
                                    <p:cond delay="0"/>
                                  </p:stCondLst>
                                  <p:childTnLst>
                                    <p:set>
                                      <p:cBhvr>
                                        <p:cTn id="51" dur="1" fill="hold">
                                          <p:stCondLst>
                                            <p:cond delay="0"/>
                                          </p:stCondLst>
                                        </p:cTn>
                                        <p:tgtEl>
                                          <p:spTgt spid="149837"/>
                                        </p:tgtEl>
                                        <p:attrNameLst>
                                          <p:attrName>style.visibility</p:attrName>
                                        </p:attrNameLst>
                                      </p:cBhvr>
                                      <p:to>
                                        <p:strVal val="visible"/>
                                      </p:to>
                                    </p:set>
                                    <p:animEffect transition="in" filter="wipe(up)">
                                      <p:cBhvr>
                                        <p:cTn id="52" dur="1000"/>
                                        <p:tgtEl>
                                          <p:spTgt spid="149837"/>
                                        </p:tgtEl>
                                      </p:cBhvr>
                                    </p:animEffect>
                                  </p:childTnLst>
                                </p:cTn>
                              </p:par>
                            </p:childTnLst>
                          </p:cTn>
                        </p:par>
                        <p:par>
                          <p:cTn id="53" fill="hold" nodeType="afterGroup">
                            <p:stCondLst>
                              <p:cond delay="1000"/>
                            </p:stCondLst>
                            <p:childTnLst>
                              <p:par>
                                <p:cTn id="54" presetID="10" presetClass="entr" presetSubtype="0" fill="hold" nodeType="afterEffect">
                                  <p:stCondLst>
                                    <p:cond delay="0"/>
                                  </p:stCondLst>
                                  <p:childTnLst>
                                    <p:set>
                                      <p:cBhvr>
                                        <p:cTn id="55" dur="1" fill="hold">
                                          <p:stCondLst>
                                            <p:cond delay="0"/>
                                          </p:stCondLst>
                                        </p:cTn>
                                        <p:tgtEl>
                                          <p:spTgt spid="149836"/>
                                        </p:tgtEl>
                                        <p:attrNameLst>
                                          <p:attrName>style.visibility</p:attrName>
                                        </p:attrNameLst>
                                      </p:cBhvr>
                                      <p:to>
                                        <p:strVal val="visible"/>
                                      </p:to>
                                    </p:set>
                                    <p:animEffect transition="in" filter="fade">
                                      <p:cBhvr>
                                        <p:cTn id="56" dur="2000"/>
                                        <p:tgtEl>
                                          <p:spTgt spid="149836"/>
                                        </p:tgtEl>
                                      </p:cBhvr>
                                    </p:animEffect>
                                  </p:childTnLst>
                                </p:cTn>
                              </p:par>
                            </p:childTnLst>
                          </p:cTn>
                        </p:par>
                        <p:par>
                          <p:cTn id="57" fill="hold" nodeType="afterGroup">
                            <p:stCondLst>
                              <p:cond delay="3000"/>
                            </p:stCondLst>
                            <p:childTnLst>
                              <p:par>
                                <p:cTn id="58" presetID="1" presetClass="entr" presetSubtype="0" fill="hold" grpId="0" nodeType="afterEffect">
                                  <p:stCondLst>
                                    <p:cond delay="0"/>
                                  </p:stCondLst>
                                  <p:childTnLst>
                                    <p:set>
                                      <p:cBhvr>
                                        <p:cTn id="59" dur="1" fill="hold">
                                          <p:stCondLst>
                                            <p:cond delay="0"/>
                                          </p:stCondLst>
                                        </p:cTn>
                                        <p:tgtEl>
                                          <p:spTgt spid="149840"/>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xit" presetSubtype="0" fill="hold" grpId="1" nodeType="clickEffect">
                                  <p:stCondLst>
                                    <p:cond delay="0"/>
                                  </p:stCondLst>
                                  <p:childTnLst>
                                    <p:set>
                                      <p:cBhvr>
                                        <p:cTn id="63" dur="1" fill="hold">
                                          <p:stCondLst>
                                            <p:cond delay="0"/>
                                          </p:stCondLst>
                                        </p:cTn>
                                        <p:tgtEl>
                                          <p:spTgt spid="149840"/>
                                        </p:tgtEl>
                                        <p:attrNameLst>
                                          <p:attrName>style.visibility</p:attrName>
                                        </p:attrNameLst>
                                      </p:cBhvr>
                                      <p:to>
                                        <p:strVal val="hidden"/>
                                      </p:to>
                                    </p:set>
                                  </p:childTnLst>
                                </p:cTn>
                              </p:par>
                            </p:childTnLst>
                          </p:cTn>
                        </p:par>
                        <p:par>
                          <p:cTn id="64" fill="hold" nodeType="afterGroup">
                            <p:stCondLst>
                              <p:cond delay="0"/>
                            </p:stCondLst>
                            <p:childTnLst>
                              <p:par>
                                <p:cTn id="65" presetID="10" presetClass="entr" presetSubtype="0" fill="hold" nodeType="afterEffect">
                                  <p:stCondLst>
                                    <p:cond delay="0"/>
                                  </p:stCondLst>
                                  <p:childTnLst>
                                    <p:set>
                                      <p:cBhvr>
                                        <p:cTn id="66" dur="1" fill="hold">
                                          <p:stCondLst>
                                            <p:cond delay="0"/>
                                          </p:stCondLst>
                                        </p:cTn>
                                        <p:tgtEl>
                                          <p:spTgt spid="149842"/>
                                        </p:tgtEl>
                                        <p:attrNameLst>
                                          <p:attrName>style.visibility</p:attrName>
                                        </p:attrNameLst>
                                      </p:cBhvr>
                                      <p:to>
                                        <p:strVal val="visible"/>
                                      </p:to>
                                    </p:set>
                                    <p:animEffect transition="in" filter="fade">
                                      <p:cBhvr>
                                        <p:cTn id="67" dur="2000"/>
                                        <p:tgtEl>
                                          <p:spTgt spid="149842"/>
                                        </p:tgtEl>
                                      </p:cBhvr>
                                    </p:animEffect>
                                  </p:childTnLst>
                                </p:cTn>
                              </p:par>
                            </p:childTnLst>
                          </p:cTn>
                        </p:par>
                        <p:par>
                          <p:cTn id="68" fill="hold" nodeType="afterGroup">
                            <p:stCondLst>
                              <p:cond delay="2000"/>
                            </p:stCondLst>
                            <p:childTnLst>
                              <p:par>
                                <p:cTn id="69" presetID="1" presetClass="entr" presetSubtype="0" fill="hold" grpId="0" nodeType="afterEffect">
                                  <p:stCondLst>
                                    <p:cond delay="0"/>
                                  </p:stCondLst>
                                  <p:childTnLst>
                                    <p:set>
                                      <p:cBhvr>
                                        <p:cTn id="70" dur="1" fill="hold">
                                          <p:stCondLst>
                                            <p:cond delay="0"/>
                                          </p:stCondLst>
                                        </p:cTn>
                                        <p:tgtEl>
                                          <p:spTgt spid="149844"/>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xit" presetSubtype="0" fill="hold" grpId="1" nodeType="clickEffect">
                                  <p:stCondLst>
                                    <p:cond delay="0"/>
                                  </p:stCondLst>
                                  <p:childTnLst>
                                    <p:set>
                                      <p:cBhvr>
                                        <p:cTn id="74" dur="1" fill="hold">
                                          <p:stCondLst>
                                            <p:cond delay="0"/>
                                          </p:stCondLst>
                                        </p:cTn>
                                        <p:tgtEl>
                                          <p:spTgt spid="149844"/>
                                        </p:tgtEl>
                                        <p:attrNameLst>
                                          <p:attrName>style.visibility</p:attrName>
                                        </p:attrNameLst>
                                      </p:cBhvr>
                                      <p:to>
                                        <p:strVal val="hidden"/>
                                      </p:to>
                                    </p:set>
                                  </p:childTnLst>
                                </p:cTn>
                              </p:par>
                            </p:childTnLst>
                          </p:cTn>
                        </p:par>
                        <p:par>
                          <p:cTn id="75" fill="hold" nodeType="afterGroup">
                            <p:stCondLst>
                              <p:cond delay="0"/>
                            </p:stCondLst>
                            <p:childTnLst>
                              <p:par>
                                <p:cTn id="76" presetID="10" presetClass="entr" presetSubtype="0" fill="hold" nodeType="afterEffect">
                                  <p:stCondLst>
                                    <p:cond delay="0"/>
                                  </p:stCondLst>
                                  <p:childTnLst>
                                    <p:set>
                                      <p:cBhvr>
                                        <p:cTn id="77" dur="1" fill="hold">
                                          <p:stCondLst>
                                            <p:cond delay="0"/>
                                          </p:stCondLst>
                                        </p:cTn>
                                        <p:tgtEl>
                                          <p:spTgt spid="149845"/>
                                        </p:tgtEl>
                                        <p:attrNameLst>
                                          <p:attrName>style.visibility</p:attrName>
                                        </p:attrNameLst>
                                      </p:cBhvr>
                                      <p:to>
                                        <p:strVal val="visible"/>
                                      </p:to>
                                    </p:set>
                                    <p:animEffect transition="in" filter="fade">
                                      <p:cBhvr>
                                        <p:cTn id="78" dur="2000"/>
                                        <p:tgtEl>
                                          <p:spTgt spid="149845"/>
                                        </p:tgtEl>
                                      </p:cBhvr>
                                    </p:animEffect>
                                  </p:childTnLst>
                                </p:cTn>
                              </p:par>
                            </p:childTnLst>
                          </p:cTn>
                        </p:par>
                        <p:par>
                          <p:cTn id="79" fill="hold" nodeType="afterGroup">
                            <p:stCondLst>
                              <p:cond delay="2000"/>
                            </p:stCondLst>
                            <p:childTnLst>
                              <p:par>
                                <p:cTn id="80" presetID="1" presetClass="entr" presetSubtype="0" fill="hold" grpId="0" nodeType="afterEffect">
                                  <p:stCondLst>
                                    <p:cond delay="0"/>
                                  </p:stCondLst>
                                  <p:childTnLst>
                                    <p:set>
                                      <p:cBhvr>
                                        <p:cTn id="81" dur="1" fill="hold">
                                          <p:stCondLst>
                                            <p:cond delay="0"/>
                                          </p:stCondLst>
                                        </p:cTn>
                                        <p:tgtEl>
                                          <p:spTgt spid="149847"/>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xit" presetSubtype="0" fill="hold" grpId="1" nodeType="clickEffect">
                                  <p:stCondLst>
                                    <p:cond delay="0"/>
                                  </p:stCondLst>
                                  <p:childTnLst>
                                    <p:set>
                                      <p:cBhvr>
                                        <p:cTn id="85" dur="1" fill="hold">
                                          <p:stCondLst>
                                            <p:cond delay="0"/>
                                          </p:stCondLst>
                                        </p:cTn>
                                        <p:tgtEl>
                                          <p:spTgt spid="149847"/>
                                        </p:tgtEl>
                                        <p:attrNameLst>
                                          <p:attrName>style.visibility</p:attrName>
                                        </p:attrNameLst>
                                      </p:cBhvr>
                                      <p:to>
                                        <p:strVal val="hidden"/>
                                      </p:to>
                                    </p:set>
                                  </p:childTnLst>
                                </p:cTn>
                              </p:par>
                            </p:childTnLst>
                          </p:cTn>
                        </p:par>
                        <p:par>
                          <p:cTn id="86" fill="hold" nodeType="afterGroup">
                            <p:stCondLst>
                              <p:cond delay="0"/>
                            </p:stCondLst>
                            <p:childTnLst>
                              <p:par>
                                <p:cTn id="87" presetID="10" presetClass="entr" presetSubtype="0" fill="hold" nodeType="afterEffect">
                                  <p:stCondLst>
                                    <p:cond delay="0"/>
                                  </p:stCondLst>
                                  <p:childTnLst>
                                    <p:set>
                                      <p:cBhvr>
                                        <p:cTn id="88" dur="1" fill="hold">
                                          <p:stCondLst>
                                            <p:cond delay="0"/>
                                          </p:stCondLst>
                                        </p:cTn>
                                        <p:tgtEl>
                                          <p:spTgt spid="149848"/>
                                        </p:tgtEl>
                                        <p:attrNameLst>
                                          <p:attrName>style.visibility</p:attrName>
                                        </p:attrNameLst>
                                      </p:cBhvr>
                                      <p:to>
                                        <p:strVal val="visible"/>
                                      </p:to>
                                    </p:set>
                                    <p:animEffect transition="in" filter="fade">
                                      <p:cBhvr>
                                        <p:cTn id="89" dur="2000"/>
                                        <p:tgtEl>
                                          <p:spTgt spid="149848"/>
                                        </p:tgtEl>
                                      </p:cBhvr>
                                    </p:animEffect>
                                  </p:childTnLst>
                                </p:cTn>
                              </p:par>
                            </p:childTnLst>
                          </p:cTn>
                        </p:par>
                        <p:par>
                          <p:cTn id="90" fill="hold" nodeType="afterGroup">
                            <p:stCondLst>
                              <p:cond delay="2000"/>
                            </p:stCondLst>
                            <p:childTnLst>
                              <p:par>
                                <p:cTn id="91" presetID="1" presetClass="entr" presetSubtype="0" fill="hold" grpId="0" nodeType="afterEffect">
                                  <p:stCondLst>
                                    <p:cond delay="0"/>
                                  </p:stCondLst>
                                  <p:childTnLst>
                                    <p:set>
                                      <p:cBhvr>
                                        <p:cTn id="92" dur="1" fill="hold">
                                          <p:stCondLst>
                                            <p:cond delay="0"/>
                                          </p:stCondLst>
                                        </p:cTn>
                                        <p:tgtEl>
                                          <p:spTgt spid="1498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827" grpId="0" animBg="1"/>
      <p:bldP spid="149827" grpId="1" animBg="1"/>
      <p:bldP spid="149832" grpId="0" animBg="1"/>
      <p:bldP spid="149832" grpId="1" animBg="1"/>
      <p:bldP spid="149834" grpId="1" animBg="1"/>
      <p:bldP spid="149851" grpId="0" animBg="1"/>
      <p:bldP spid="149840" grpId="0" animBg="1"/>
      <p:bldP spid="149840" grpId="1" animBg="1"/>
      <p:bldP spid="149847" grpId="0" animBg="1"/>
      <p:bldP spid="149847" grpId="1" animBg="1"/>
      <p:bldP spid="149844" grpId="0" animBg="1"/>
      <p:bldP spid="149844"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F46C81F6-2323-2A2A-6B61-3EE7EE5C4F31}"/>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65952111-F6E0-0353-5FC8-1DCEF796671F}"/>
              </a:ext>
            </a:extLst>
          </p:cNvPr>
          <p:cNvSpPr>
            <a:spLocks noGrp="1"/>
          </p:cNvSpPr>
          <p:nvPr>
            <p:ph type="sldNum" sz="quarter" idx="11"/>
          </p:nvPr>
        </p:nvSpPr>
        <p:spPr/>
        <p:txBody>
          <a:bodyPr/>
          <a:lstStyle/>
          <a:p>
            <a:r>
              <a:rPr lang="zh-CN" altLang="en-US"/>
              <a:t> </a:t>
            </a:r>
            <a:r>
              <a:rPr lang="en-US" altLang="zh-CN"/>
              <a:t>- </a:t>
            </a:r>
            <a:fld id="{18781A75-BC3E-4F68-A0EC-8B07D0718FD7}" type="slidenum">
              <a:rPr lang="en-US" altLang="zh-CN" sz="800"/>
              <a:pPr/>
              <a:t>27</a:t>
            </a:fld>
            <a:endParaRPr lang="en-US" altLang="zh-CN" sz="800"/>
          </a:p>
        </p:txBody>
      </p:sp>
      <p:sp>
        <p:nvSpPr>
          <p:cNvPr id="153602" name="Rectangle 2">
            <a:extLst>
              <a:ext uri="{FF2B5EF4-FFF2-40B4-BE49-F238E27FC236}">
                <a16:creationId xmlns:a16="http://schemas.microsoft.com/office/drawing/2014/main" id="{BC193960-C7DF-D5E8-984E-96DA0166F314}"/>
              </a:ext>
            </a:extLst>
          </p:cNvPr>
          <p:cNvSpPr>
            <a:spLocks noGrp="1" noChangeArrowheads="1"/>
          </p:cNvSpPr>
          <p:nvPr>
            <p:ph type="title"/>
          </p:nvPr>
        </p:nvSpPr>
        <p:spPr/>
        <p:txBody>
          <a:bodyPr/>
          <a:lstStyle/>
          <a:p>
            <a:r>
              <a:rPr lang="en-US" altLang="zh-CN">
                <a:ea typeface="宋体" panose="02010600030101010101" pitchFamily="2" charset="-122"/>
              </a:rPr>
              <a:t>Basic SAN Security Mechanism</a:t>
            </a:r>
          </a:p>
        </p:txBody>
      </p:sp>
      <p:sp>
        <p:nvSpPr>
          <p:cNvPr id="153603" name="Rectangle 3">
            <a:extLst>
              <a:ext uri="{FF2B5EF4-FFF2-40B4-BE49-F238E27FC236}">
                <a16:creationId xmlns:a16="http://schemas.microsoft.com/office/drawing/2014/main" id="{3B146691-FE39-A1EE-C653-51E22C589C2E}"/>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Security Mechanism in SAN is implemented in various ways:</a:t>
            </a:r>
          </a:p>
          <a:p>
            <a:r>
              <a:rPr lang="en-US" altLang="zh-CN">
                <a:ea typeface="宋体" panose="02010600030101010101" pitchFamily="2" charset="-122"/>
              </a:rPr>
              <a:t> Array-based Volume Access Control</a:t>
            </a:r>
          </a:p>
          <a:p>
            <a:r>
              <a:rPr lang="en-US" altLang="zh-CN">
                <a:ea typeface="宋体" panose="02010600030101010101" pitchFamily="2" charset="-122"/>
              </a:rPr>
              <a:t>Security on FC Switch Ports</a:t>
            </a:r>
          </a:p>
          <a:p>
            <a:r>
              <a:rPr lang="en-US" altLang="zh-CN">
                <a:ea typeface="宋体" panose="02010600030101010101" pitchFamily="2" charset="-122"/>
              </a:rPr>
              <a:t>Switch-wide and Fabric-wide Access Control</a:t>
            </a:r>
          </a:p>
          <a:p>
            <a:r>
              <a:rPr lang="en-US" altLang="zh-CN">
                <a:ea typeface="宋体" panose="02010600030101010101" pitchFamily="2" charset="-122"/>
              </a:rPr>
              <a:t>Logical Partitioning of a Fabric: VSAN</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108B4570-26B0-B413-9ED2-2897DC497673}"/>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8E2F94CD-6153-7DA0-A66F-019A9B22B111}"/>
              </a:ext>
            </a:extLst>
          </p:cNvPr>
          <p:cNvSpPr>
            <a:spLocks noGrp="1"/>
          </p:cNvSpPr>
          <p:nvPr>
            <p:ph type="sldNum" sz="quarter" idx="11"/>
          </p:nvPr>
        </p:nvSpPr>
        <p:spPr/>
        <p:txBody>
          <a:bodyPr/>
          <a:lstStyle/>
          <a:p>
            <a:r>
              <a:rPr lang="zh-CN" altLang="en-US"/>
              <a:t> </a:t>
            </a:r>
            <a:r>
              <a:rPr lang="en-US" altLang="zh-CN"/>
              <a:t>- </a:t>
            </a:r>
            <a:fld id="{EDD2B637-9CCA-41E2-9B19-AD23B322647A}" type="slidenum">
              <a:rPr lang="en-US" altLang="zh-CN" sz="800"/>
              <a:pPr/>
              <a:t>28</a:t>
            </a:fld>
            <a:endParaRPr lang="en-US" altLang="zh-CN" sz="800"/>
          </a:p>
        </p:txBody>
      </p:sp>
      <p:sp>
        <p:nvSpPr>
          <p:cNvPr id="81922" name="Rectangle 2">
            <a:extLst>
              <a:ext uri="{FF2B5EF4-FFF2-40B4-BE49-F238E27FC236}">
                <a16:creationId xmlns:a16="http://schemas.microsoft.com/office/drawing/2014/main" id="{C2659640-82D0-CB9A-9F53-6063638037A9}"/>
              </a:ext>
            </a:extLst>
          </p:cNvPr>
          <p:cNvSpPr>
            <a:spLocks noGrp="1" noChangeArrowheads="1"/>
          </p:cNvSpPr>
          <p:nvPr>
            <p:ph type="title"/>
          </p:nvPr>
        </p:nvSpPr>
        <p:spPr/>
        <p:txBody>
          <a:bodyPr/>
          <a:lstStyle/>
          <a:p>
            <a:r>
              <a:rPr lang="en-US" altLang="zh-CN">
                <a:ea typeface="宋体" panose="02010600030101010101" pitchFamily="2" charset="-122"/>
              </a:rPr>
              <a:t>Array-based Volume Access Control</a:t>
            </a:r>
          </a:p>
        </p:txBody>
      </p:sp>
      <p:sp>
        <p:nvSpPr>
          <p:cNvPr id="81923" name="Rectangle 3">
            <a:extLst>
              <a:ext uri="{FF2B5EF4-FFF2-40B4-BE49-F238E27FC236}">
                <a16:creationId xmlns:a16="http://schemas.microsoft.com/office/drawing/2014/main" id="{16174688-EC9D-A9E9-059B-3F8D342A16AB}"/>
              </a:ext>
            </a:extLst>
          </p:cNvPr>
          <p:cNvSpPr>
            <a:spLocks noGrp="1" noChangeArrowheads="1"/>
          </p:cNvSpPr>
          <p:nvPr>
            <p:ph type="body" idx="1"/>
          </p:nvPr>
        </p:nvSpPr>
        <p:spPr/>
        <p:txBody>
          <a:bodyPr/>
          <a:lstStyle/>
          <a:p>
            <a:r>
              <a:rPr lang="en-US" altLang="zh-CN">
                <a:ea typeface="宋体" panose="02010600030101010101" pitchFamily="2" charset="-122"/>
              </a:rPr>
              <a:t>LUN Masking</a:t>
            </a:r>
          </a:p>
          <a:p>
            <a:pPr lvl="1"/>
            <a:r>
              <a:rPr lang="en-US" altLang="zh-CN">
                <a:ea typeface="宋体" panose="02010600030101010101" pitchFamily="2" charset="-122"/>
              </a:rPr>
              <a:t>Filters the list of LUNS that an HBA can access</a:t>
            </a:r>
          </a:p>
          <a:p>
            <a:r>
              <a:rPr lang="en-US" altLang="zh-CN">
                <a:ea typeface="宋体" panose="02010600030101010101" pitchFamily="2" charset="-122"/>
              </a:rPr>
              <a:t>S_ID Lockdown (EMC Symmetrix arrays)</a:t>
            </a:r>
          </a:p>
          <a:p>
            <a:pPr lvl="1"/>
            <a:r>
              <a:rPr lang="en-US" altLang="zh-CN">
                <a:ea typeface="宋体" panose="02010600030101010101" pitchFamily="2" charset="-122"/>
              </a:rPr>
              <a:t>Stronger variant of masking</a:t>
            </a:r>
          </a:p>
          <a:p>
            <a:pPr lvl="1"/>
            <a:r>
              <a:rPr lang="en-US" altLang="zh-CN">
                <a:ea typeface="宋体" panose="02010600030101010101" pitchFamily="2" charset="-122"/>
              </a:rPr>
              <a:t>LUN access restricted to HBA with the specified 24-bit FC Address (Source ID)</a:t>
            </a:r>
          </a:p>
          <a:p>
            <a:r>
              <a:rPr lang="en-US" altLang="zh-CN">
                <a:ea typeface="宋体" panose="02010600030101010101" pitchFamily="2" charset="-122"/>
              </a:rPr>
              <a:t>Port zoning</a:t>
            </a:r>
          </a:p>
          <a:p>
            <a:pPr lvl="1"/>
            <a:r>
              <a:rPr lang="en-US" altLang="zh-CN">
                <a:ea typeface="宋体" panose="02010600030101010101" pitchFamily="2" charset="-122"/>
              </a:rPr>
              <a:t>Zone member is of the form {Switch_Domain_ID, Port_Number}</a:t>
            </a:r>
          </a:p>
          <a:p>
            <a:pPr lvl="1"/>
            <a:r>
              <a:rPr lang="en-US" altLang="zh-CN">
                <a:ea typeface="宋体" panose="02010600030101010101" pitchFamily="2" charset="-122"/>
              </a:rPr>
              <a:t>Mitigates against WWPN spoofing attacks and route-based attacks</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94ECE09-4A22-AD53-18CE-0BACE43F8638}"/>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BD22828E-A1F6-8089-BEB6-912F4E698163}"/>
              </a:ext>
            </a:extLst>
          </p:cNvPr>
          <p:cNvSpPr>
            <a:spLocks noGrp="1"/>
          </p:cNvSpPr>
          <p:nvPr>
            <p:ph type="sldNum" sz="quarter" idx="11"/>
          </p:nvPr>
        </p:nvSpPr>
        <p:spPr/>
        <p:txBody>
          <a:bodyPr/>
          <a:lstStyle/>
          <a:p>
            <a:r>
              <a:rPr lang="zh-CN" altLang="en-US"/>
              <a:t> </a:t>
            </a:r>
            <a:r>
              <a:rPr lang="en-US" altLang="zh-CN"/>
              <a:t>- </a:t>
            </a:r>
            <a:fld id="{6B4EFF4C-B991-4D59-B504-6439605F3C86}" type="slidenum">
              <a:rPr lang="en-US" altLang="zh-CN" sz="800"/>
              <a:pPr/>
              <a:t>29</a:t>
            </a:fld>
            <a:endParaRPr lang="en-US" altLang="zh-CN" sz="800"/>
          </a:p>
        </p:txBody>
      </p:sp>
      <p:sp>
        <p:nvSpPr>
          <p:cNvPr id="83970" name="Rectangle 2">
            <a:extLst>
              <a:ext uri="{FF2B5EF4-FFF2-40B4-BE49-F238E27FC236}">
                <a16:creationId xmlns:a16="http://schemas.microsoft.com/office/drawing/2014/main" id="{78619733-ED4C-14DE-B544-E6B7AB9FB17F}"/>
              </a:ext>
            </a:extLst>
          </p:cNvPr>
          <p:cNvSpPr>
            <a:spLocks noGrp="1" noChangeArrowheads="1"/>
          </p:cNvSpPr>
          <p:nvPr>
            <p:ph type="title"/>
          </p:nvPr>
        </p:nvSpPr>
        <p:spPr/>
        <p:txBody>
          <a:bodyPr/>
          <a:lstStyle/>
          <a:p>
            <a:r>
              <a:rPr lang="en-US" altLang="zh-CN">
                <a:ea typeface="宋体" panose="02010600030101010101" pitchFamily="2" charset="-122"/>
              </a:rPr>
              <a:t>Security on FC Switch Ports</a:t>
            </a:r>
          </a:p>
        </p:txBody>
      </p:sp>
      <p:sp>
        <p:nvSpPr>
          <p:cNvPr id="83971" name="Rectangle 3">
            <a:extLst>
              <a:ext uri="{FF2B5EF4-FFF2-40B4-BE49-F238E27FC236}">
                <a16:creationId xmlns:a16="http://schemas.microsoft.com/office/drawing/2014/main" id="{CA213070-D07C-9542-5180-F97FEF4BA1E3}"/>
              </a:ext>
            </a:extLst>
          </p:cNvPr>
          <p:cNvSpPr>
            <a:spLocks noGrp="1" noChangeArrowheads="1"/>
          </p:cNvSpPr>
          <p:nvPr>
            <p:ph type="body" idx="1"/>
          </p:nvPr>
        </p:nvSpPr>
        <p:spPr/>
        <p:txBody>
          <a:bodyPr/>
          <a:lstStyle/>
          <a:p>
            <a:r>
              <a:rPr lang="en-US" altLang="zh-CN" sz="2200">
                <a:ea typeface="宋体" panose="02010600030101010101" pitchFamily="2" charset="-122"/>
              </a:rPr>
              <a:t>Port Binding</a:t>
            </a:r>
          </a:p>
          <a:p>
            <a:pPr lvl="1"/>
            <a:r>
              <a:rPr lang="en-US" altLang="zh-CN" sz="1900">
                <a:ea typeface="宋体" panose="02010600030101010101" pitchFamily="2" charset="-122"/>
              </a:rPr>
              <a:t>Limits devices that can attach to a particular switch port</a:t>
            </a:r>
          </a:p>
          <a:p>
            <a:pPr lvl="1"/>
            <a:r>
              <a:rPr lang="en-US" altLang="zh-CN" sz="1900">
                <a:ea typeface="宋体" panose="02010600030101010101" pitchFamily="2" charset="-122"/>
              </a:rPr>
              <a:t>A node must be connected to its corresponding switch port for fabric access </a:t>
            </a:r>
          </a:p>
          <a:p>
            <a:pPr lvl="2"/>
            <a:r>
              <a:rPr lang="en-US" altLang="zh-CN" sz="1700">
                <a:ea typeface="宋体" panose="02010600030101010101" pitchFamily="2" charset="-122"/>
              </a:rPr>
              <a:t>Mitigates – but does not eliminate - WWPN spoofing</a:t>
            </a:r>
          </a:p>
          <a:p>
            <a:r>
              <a:rPr lang="en-US" altLang="zh-CN" sz="2200">
                <a:ea typeface="宋体" panose="02010600030101010101" pitchFamily="2" charset="-122"/>
              </a:rPr>
              <a:t>Port Lockdown, Port Lockout</a:t>
            </a:r>
          </a:p>
          <a:p>
            <a:pPr lvl="1"/>
            <a:r>
              <a:rPr lang="en-US" altLang="zh-CN" sz="1900">
                <a:ea typeface="宋体" panose="02010600030101010101" pitchFamily="2" charset="-122"/>
              </a:rPr>
              <a:t>Restricts the type of initialization of a switch port</a:t>
            </a:r>
          </a:p>
          <a:p>
            <a:pPr lvl="1"/>
            <a:r>
              <a:rPr lang="en-US" altLang="zh-CN" sz="1900">
                <a:ea typeface="宋体" panose="02010600030101010101" pitchFamily="2" charset="-122"/>
              </a:rPr>
              <a:t>Typical variants include:</a:t>
            </a:r>
          </a:p>
          <a:p>
            <a:pPr lvl="2"/>
            <a:r>
              <a:rPr lang="en-US" altLang="zh-CN" sz="1700">
                <a:ea typeface="宋体" panose="02010600030101010101" pitchFamily="2" charset="-122"/>
              </a:rPr>
              <a:t>Port cannot function as an E-Port; cannot be used for ISL, e.g. to a rogue switch</a:t>
            </a:r>
          </a:p>
          <a:p>
            <a:pPr lvl="2"/>
            <a:r>
              <a:rPr lang="en-US" altLang="zh-CN" sz="1700">
                <a:ea typeface="宋体" panose="02010600030101010101" pitchFamily="2" charset="-122"/>
              </a:rPr>
              <a:t>Port role is restricted to just FL-Port, F-Port, E-Port, or some combination</a:t>
            </a:r>
          </a:p>
          <a:p>
            <a:r>
              <a:rPr lang="en-US" altLang="zh-CN" sz="2200">
                <a:ea typeface="宋体" panose="02010600030101010101" pitchFamily="2" charset="-122"/>
              </a:rPr>
              <a:t>Persistent Port Disable</a:t>
            </a:r>
          </a:p>
          <a:p>
            <a:pPr lvl="1"/>
            <a:r>
              <a:rPr lang="en-US" altLang="zh-CN" sz="1900">
                <a:ea typeface="宋体" panose="02010600030101010101" pitchFamily="2" charset="-122"/>
              </a:rPr>
              <a:t>Prevents a switch port from being enabled, even after a switch reboot</a:t>
            </a:r>
          </a:p>
          <a:p>
            <a:endParaRPr lang="zh-CN" altLang="en-US" sz="2200">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CCC761BD-AD6B-23A6-942E-C20F0DD3C9AD}"/>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F51DC894-A9C1-6166-5B51-C1C627E16E84}"/>
              </a:ext>
            </a:extLst>
          </p:cNvPr>
          <p:cNvSpPr>
            <a:spLocks noGrp="1"/>
          </p:cNvSpPr>
          <p:nvPr>
            <p:ph type="sldNum" sz="quarter" idx="11"/>
          </p:nvPr>
        </p:nvSpPr>
        <p:spPr/>
        <p:txBody>
          <a:bodyPr/>
          <a:lstStyle/>
          <a:p>
            <a:r>
              <a:rPr lang="zh-CN" altLang="en-US"/>
              <a:t> </a:t>
            </a:r>
            <a:r>
              <a:rPr lang="en-US" altLang="zh-CN"/>
              <a:t>- </a:t>
            </a:r>
            <a:fld id="{45A807C6-239F-49FB-9C48-D684FC005BB7}" type="slidenum">
              <a:rPr lang="en-US" altLang="zh-CN" sz="800"/>
              <a:pPr/>
              <a:t>30</a:t>
            </a:fld>
            <a:endParaRPr lang="en-US" altLang="zh-CN" sz="800"/>
          </a:p>
        </p:txBody>
      </p:sp>
      <p:sp>
        <p:nvSpPr>
          <p:cNvPr id="86018" name="Rectangle 2">
            <a:extLst>
              <a:ext uri="{FF2B5EF4-FFF2-40B4-BE49-F238E27FC236}">
                <a16:creationId xmlns:a16="http://schemas.microsoft.com/office/drawing/2014/main" id="{4A57297A-981C-57D5-2495-65D460032AC3}"/>
              </a:ext>
            </a:extLst>
          </p:cNvPr>
          <p:cNvSpPr>
            <a:spLocks noGrp="1" noChangeArrowheads="1"/>
          </p:cNvSpPr>
          <p:nvPr>
            <p:ph type="title"/>
          </p:nvPr>
        </p:nvSpPr>
        <p:spPr/>
        <p:txBody>
          <a:bodyPr/>
          <a:lstStyle/>
          <a:p>
            <a:r>
              <a:rPr lang="en-US" altLang="zh-CN">
                <a:ea typeface="宋体" panose="02010600030101010101" pitchFamily="2" charset="-122"/>
              </a:rPr>
              <a:t>Switch-wide and Fabric-wide Access Control</a:t>
            </a:r>
          </a:p>
        </p:txBody>
      </p:sp>
      <p:sp>
        <p:nvSpPr>
          <p:cNvPr id="86019" name="Rectangle 3">
            <a:extLst>
              <a:ext uri="{FF2B5EF4-FFF2-40B4-BE49-F238E27FC236}">
                <a16:creationId xmlns:a16="http://schemas.microsoft.com/office/drawing/2014/main" id="{252BD2D1-59D3-1B18-FCD8-052A547D848D}"/>
              </a:ext>
            </a:extLst>
          </p:cNvPr>
          <p:cNvSpPr>
            <a:spLocks noGrp="1" noChangeArrowheads="1"/>
          </p:cNvSpPr>
          <p:nvPr>
            <p:ph type="body" idx="1"/>
          </p:nvPr>
        </p:nvSpPr>
        <p:spPr/>
        <p:txBody>
          <a:bodyPr/>
          <a:lstStyle/>
          <a:p>
            <a:r>
              <a:rPr lang="en-US" altLang="zh-CN">
                <a:ea typeface="宋体" panose="02010600030101010101" pitchFamily="2" charset="-122"/>
              </a:rPr>
              <a:t>Access Control Lists (ACLs)</a:t>
            </a:r>
          </a:p>
          <a:p>
            <a:pPr lvl="1"/>
            <a:r>
              <a:rPr lang="en-US" altLang="zh-CN">
                <a:ea typeface="宋体" panose="02010600030101010101" pitchFamily="2" charset="-122"/>
              </a:rPr>
              <a:t>Typically implemented policies may include</a:t>
            </a:r>
          </a:p>
          <a:p>
            <a:pPr lvl="2"/>
            <a:r>
              <a:rPr lang="en-US" altLang="zh-CN">
                <a:ea typeface="宋体" panose="02010600030101010101" pitchFamily="2" charset="-122"/>
              </a:rPr>
              <a:t>Device Connection Control</a:t>
            </a:r>
          </a:p>
          <a:p>
            <a:pPr lvl="3"/>
            <a:r>
              <a:rPr lang="en-US" altLang="zh-CN">
                <a:ea typeface="宋体" panose="02010600030101010101" pitchFamily="2" charset="-122"/>
              </a:rPr>
              <a:t>Prevents unauthorized devices (identified by WWPN) from accessing the fabric</a:t>
            </a:r>
          </a:p>
          <a:p>
            <a:pPr lvl="2"/>
            <a:r>
              <a:rPr lang="en-US" altLang="zh-CN">
                <a:ea typeface="宋体" panose="02010600030101010101" pitchFamily="2" charset="-122"/>
              </a:rPr>
              <a:t>Switch Connection Control</a:t>
            </a:r>
          </a:p>
          <a:p>
            <a:pPr lvl="3"/>
            <a:r>
              <a:rPr lang="en-US" altLang="zh-CN">
                <a:ea typeface="宋体" panose="02010600030101010101" pitchFamily="2" charset="-122"/>
              </a:rPr>
              <a:t>Prevents unauthorized switches (identified by WWN) from joining the fabric</a:t>
            </a:r>
          </a:p>
          <a:p>
            <a:r>
              <a:rPr lang="en-US" altLang="zh-CN">
                <a:ea typeface="宋体" panose="02010600030101010101" pitchFamily="2" charset="-122"/>
              </a:rPr>
              <a:t>Fabric Binding</a:t>
            </a:r>
          </a:p>
          <a:p>
            <a:pPr lvl="1"/>
            <a:r>
              <a:rPr lang="en-US" altLang="zh-CN">
                <a:ea typeface="宋体" panose="02010600030101010101" pitchFamily="2" charset="-122"/>
              </a:rPr>
              <a:t>Prevents unauthorized switch from joining any existing switch in the fabric</a:t>
            </a:r>
          </a:p>
          <a:p>
            <a:r>
              <a:rPr lang="en-US" altLang="zh-CN">
                <a:ea typeface="宋体" panose="02010600030101010101" pitchFamily="2" charset="-122"/>
              </a:rPr>
              <a:t>RBAC</a:t>
            </a:r>
          </a:p>
          <a:p>
            <a:pPr lvl="1"/>
            <a:r>
              <a:rPr lang="en-US" altLang="zh-CN">
                <a:ea typeface="宋体" panose="02010600030101010101" pitchFamily="2" charset="-122"/>
              </a:rPr>
              <a:t>Specifies which user can have access to which device in a fabric</a:t>
            </a:r>
          </a:p>
        </p:txBody>
      </p:sp>
      <p:sp>
        <p:nvSpPr>
          <p:cNvPr id="86023" name="AutoShape 7">
            <a:extLst>
              <a:ext uri="{FF2B5EF4-FFF2-40B4-BE49-F238E27FC236}">
                <a16:creationId xmlns:a16="http://schemas.microsoft.com/office/drawing/2014/main" id="{2932AC1D-0DFB-535F-4D76-8C2AC4AD7C16}"/>
              </a:ext>
            </a:extLst>
          </p:cNvPr>
          <p:cNvSpPr>
            <a:spLocks noChangeAspect="1" noChangeArrowheads="1" noTextEdit="1"/>
          </p:cNvSpPr>
          <p:nvPr/>
        </p:nvSpPr>
        <p:spPr bwMode="auto">
          <a:xfrm>
            <a:off x="4800600" y="5715000"/>
            <a:ext cx="3360738"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pic>
        <p:nvPicPr>
          <p:cNvPr id="86025" name="Picture 9">
            <a:extLst>
              <a:ext uri="{FF2B5EF4-FFF2-40B4-BE49-F238E27FC236}">
                <a16:creationId xmlns:a16="http://schemas.microsoft.com/office/drawing/2014/main" id="{FB2BEB79-64DB-8DC2-F242-EACE473E2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5715000"/>
            <a:ext cx="3368675"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4B593FA5-FB5D-8AEC-81CC-F7519812BFBD}"/>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5">
            <a:extLst>
              <a:ext uri="{FF2B5EF4-FFF2-40B4-BE49-F238E27FC236}">
                <a16:creationId xmlns:a16="http://schemas.microsoft.com/office/drawing/2014/main" id="{A765CF6B-C9BC-6ED7-544D-977BAAED1A5B}"/>
              </a:ext>
            </a:extLst>
          </p:cNvPr>
          <p:cNvSpPr>
            <a:spLocks noGrp="1"/>
          </p:cNvSpPr>
          <p:nvPr>
            <p:ph type="sldNum" sz="quarter" idx="11"/>
          </p:nvPr>
        </p:nvSpPr>
        <p:spPr/>
        <p:txBody>
          <a:bodyPr/>
          <a:lstStyle/>
          <a:p>
            <a:r>
              <a:rPr lang="zh-CN" altLang="en-US"/>
              <a:t> </a:t>
            </a:r>
            <a:r>
              <a:rPr lang="en-US" altLang="zh-CN"/>
              <a:t>- </a:t>
            </a:r>
            <a:fld id="{1270B3F2-D7C6-49DA-906F-D73BA1F9B554}" type="slidenum">
              <a:rPr lang="en-US" altLang="zh-CN" sz="800"/>
              <a:pPr/>
              <a:t>31</a:t>
            </a:fld>
            <a:endParaRPr lang="en-US" altLang="zh-CN" sz="800"/>
          </a:p>
        </p:txBody>
      </p:sp>
      <p:sp>
        <p:nvSpPr>
          <p:cNvPr id="88066" name="Rectangle 2">
            <a:extLst>
              <a:ext uri="{FF2B5EF4-FFF2-40B4-BE49-F238E27FC236}">
                <a16:creationId xmlns:a16="http://schemas.microsoft.com/office/drawing/2014/main" id="{5AB8CBDF-316F-360C-DB45-3B7A8A7EE7DB}"/>
              </a:ext>
            </a:extLst>
          </p:cNvPr>
          <p:cNvSpPr>
            <a:spLocks noGrp="1" noChangeArrowheads="1"/>
          </p:cNvSpPr>
          <p:nvPr>
            <p:ph type="title"/>
          </p:nvPr>
        </p:nvSpPr>
        <p:spPr/>
        <p:txBody>
          <a:bodyPr/>
          <a:lstStyle/>
          <a:p>
            <a:r>
              <a:rPr lang="en-US" altLang="zh-CN">
                <a:ea typeface="宋体" panose="02010600030101010101" pitchFamily="2" charset="-122"/>
              </a:rPr>
              <a:t>Logical Partitioning of a Fabric: VSAN</a:t>
            </a:r>
          </a:p>
        </p:txBody>
      </p:sp>
      <p:sp>
        <p:nvSpPr>
          <p:cNvPr id="88068" name="Rectangle 4">
            <a:extLst>
              <a:ext uri="{FF2B5EF4-FFF2-40B4-BE49-F238E27FC236}">
                <a16:creationId xmlns:a16="http://schemas.microsoft.com/office/drawing/2014/main" id="{E2FED5FF-B057-8525-2DA5-426B84451E84}"/>
              </a:ext>
            </a:extLst>
          </p:cNvPr>
          <p:cNvSpPr>
            <a:spLocks noGrp="1" noChangeArrowheads="1"/>
          </p:cNvSpPr>
          <p:nvPr>
            <p:ph type="body" sz="half" idx="1"/>
          </p:nvPr>
        </p:nvSpPr>
        <p:spPr/>
        <p:txBody>
          <a:bodyPr/>
          <a:lstStyle/>
          <a:p>
            <a:r>
              <a:rPr lang="en-US" altLang="zh-CN" sz="2300">
                <a:ea typeface="宋体" panose="02010600030101010101" pitchFamily="2" charset="-122"/>
              </a:rPr>
              <a:t>Dividing a physical topology into separate logical fabrics</a:t>
            </a:r>
          </a:p>
          <a:p>
            <a:pPr lvl="1"/>
            <a:r>
              <a:rPr lang="en-US" altLang="zh-CN" sz="1900">
                <a:ea typeface="宋体" panose="02010600030101010101" pitchFamily="2" charset="-122"/>
              </a:rPr>
              <a:t>Administrator allocates switch ports to different VSANs</a:t>
            </a:r>
          </a:p>
          <a:p>
            <a:pPr lvl="1"/>
            <a:r>
              <a:rPr lang="en-US" altLang="zh-CN" sz="1900">
                <a:ea typeface="宋体" panose="02010600030101010101" pitchFamily="2" charset="-122"/>
              </a:rPr>
              <a:t>A switch port (and the HBA or storage port connected to it) can be in only one VSAN at a time</a:t>
            </a:r>
          </a:p>
          <a:p>
            <a:pPr lvl="1"/>
            <a:r>
              <a:rPr lang="en-US" altLang="zh-CN" sz="1900">
                <a:ea typeface="宋体" panose="02010600030101010101" pitchFamily="2" charset="-122"/>
              </a:rPr>
              <a:t>Each VSAN has its own distinct active zone set and zones</a:t>
            </a:r>
          </a:p>
          <a:p>
            <a:r>
              <a:rPr lang="en-US" altLang="zh-CN" sz="2300">
                <a:ea typeface="宋体" panose="02010600030101010101" pitchFamily="2" charset="-122"/>
              </a:rPr>
              <a:t>Fabric Events (e.g. RSCNs) in one VSAN are not propagated to the others</a:t>
            </a:r>
            <a:endParaRPr lang="en-US" altLang="zh-CN" sz="2100">
              <a:ea typeface="宋体" panose="02010600030101010101" pitchFamily="2" charset="-122"/>
            </a:endParaRPr>
          </a:p>
          <a:p>
            <a:r>
              <a:rPr lang="en-US" altLang="zh-CN" sz="2300">
                <a:ea typeface="宋体" panose="02010600030101010101" pitchFamily="2" charset="-122"/>
              </a:rPr>
              <a:t>Role-based management</a:t>
            </a:r>
          </a:p>
          <a:p>
            <a:pPr lvl="1"/>
            <a:r>
              <a:rPr lang="en-US" altLang="zh-CN" sz="1900">
                <a:ea typeface="宋体" panose="02010600030101010101" pitchFamily="2" charset="-122"/>
              </a:rPr>
              <a:t>can be on a per-VSAN basis</a:t>
            </a:r>
          </a:p>
        </p:txBody>
      </p:sp>
      <p:grpSp>
        <p:nvGrpSpPr>
          <p:cNvPr id="88097" name="Group 33">
            <a:extLst>
              <a:ext uri="{FF2B5EF4-FFF2-40B4-BE49-F238E27FC236}">
                <a16:creationId xmlns:a16="http://schemas.microsoft.com/office/drawing/2014/main" id="{0D01F104-B481-FE92-CA8D-9EFEFDB82CE2}"/>
              </a:ext>
            </a:extLst>
          </p:cNvPr>
          <p:cNvGrpSpPr>
            <a:grpSpLocks/>
          </p:cNvGrpSpPr>
          <p:nvPr/>
        </p:nvGrpSpPr>
        <p:grpSpPr bwMode="auto">
          <a:xfrm>
            <a:off x="5032375" y="1066800"/>
            <a:ext cx="3814763" cy="5718175"/>
            <a:chOff x="3170" y="672"/>
            <a:chExt cx="2403" cy="3602"/>
          </a:xfrm>
        </p:grpSpPr>
        <p:sp>
          <p:nvSpPr>
            <p:cNvPr id="88073" name="AutoShape 9">
              <a:extLst>
                <a:ext uri="{FF2B5EF4-FFF2-40B4-BE49-F238E27FC236}">
                  <a16:creationId xmlns:a16="http://schemas.microsoft.com/office/drawing/2014/main" id="{95CF013D-7518-DD03-9AC7-1FEA7A942F6D}"/>
                </a:ext>
              </a:extLst>
            </p:cNvPr>
            <p:cNvSpPr>
              <a:spLocks noChangeArrowheads="1"/>
            </p:cNvSpPr>
            <p:nvPr/>
          </p:nvSpPr>
          <p:spPr bwMode="auto">
            <a:xfrm>
              <a:off x="3170" y="672"/>
              <a:ext cx="1136" cy="3364"/>
            </a:xfrm>
            <a:prstGeom prst="roundRect">
              <a:avLst>
                <a:gd name="adj" fmla="val 16667"/>
              </a:avLst>
            </a:prstGeom>
            <a:noFill/>
            <a:ln w="25400" cap="rnd">
              <a:solidFill>
                <a:srgbClr val="008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8074" name="AutoShape 10">
              <a:extLst>
                <a:ext uri="{FF2B5EF4-FFF2-40B4-BE49-F238E27FC236}">
                  <a16:creationId xmlns:a16="http://schemas.microsoft.com/office/drawing/2014/main" id="{3B4326E9-B950-BF83-16FA-3881F630AD6E}"/>
                </a:ext>
              </a:extLst>
            </p:cNvPr>
            <p:cNvSpPr>
              <a:spLocks noChangeArrowheads="1"/>
            </p:cNvSpPr>
            <p:nvPr/>
          </p:nvSpPr>
          <p:spPr bwMode="auto">
            <a:xfrm>
              <a:off x="4437" y="719"/>
              <a:ext cx="1136" cy="3317"/>
            </a:xfrm>
            <a:prstGeom prst="roundRect">
              <a:avLst>
                <a:gd name="adj" fmla="val 16667"/>
              </a:avLst>
            </a:prstGeom>
            <a:noFill/>
            <a:ln w="25400" cap="rnd">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8075" name="Line 11">
              <a:extLst>
                <a:ext uri="{FF2B5EF4-FFF2-40B4-BE49-F238E27FC236}">
                  <a16:creationId xmlns:a16="http://schemas.microsoft.com/office/drawing/2014/main" id="{4FF067B2-8FE3-2328-A575-23BA787A5C1D}"/>
                </a:ext>
              </a:extLst>
            </p:cNvPr>
            <p:cNvSpPr>
              <a:spLocks noChangeShapeType="1"/>
            </p:cNvSpPr>
            <p:nvPr/>
          </p:nvSpPr>
          <p:spPr bwMode="auto">
            <a:xfrm>
              <a:off x="3825" y="3382"/>
              <a:ext cx="1267" cy="0"/>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88076" name="Line 12">
              <a:extLst>
                <a:ext uri="{FF2B5EF4-FFF2-40B4-BE49-F238E27FC236}">
                  <a16:creationId xmlns:a16="http://schemas.microsoft.com/office/drawing/2014/main" id="{7F501C7A-EB01-9241-E285-29BCFC2E8D60}"/>
                </a:ext>
              </a:extLst>
            </p:cNvPr>
            <p:cNvSpPr>
              <a:spLocks noChangeShapeType="1"/>
            </p:cNvSpPr>
            <p:nvPr/>
          </p:nvSpPr>
          <p:spPr bwMode="auto">
            <a:xfrm>
              <a:off x="4219" y="2033"/>
              <a:ext cx="0" cy="1168"/>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88077" name="Line 13">
              <a:extLst>
                <a:ext uri="{FF2B5EF4-FFF2-40B4-BE49-F238E27FC236}">
                  <a16:creationId xmlns:a16="http://schemas.microsoft.com/office/drawing/2014/main" id="{CF4D427F-5927-9972-1406-987B4D0968AD}"/>
                </a:ext>
              </a:extLst>
            </p:cNvPr>
            <p:cNvSpPr>
              <a:spLocks noChangeShapeType="1"/>
            </p:cNvSpPr>
            <p:nvPr/>
          </p:nvSpPr>
          <p:spPr bwMode="auto">
            <a:xfrm>
              <a:off x="4524" y="2039"/>
              <a:ext cx="0" cy="1168"/>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88078" name="Line 14">
              <a:extLst>
                <a:ext uri="{FF2B5EF4-FFF2-40B4-BE49-F238E27FC236}">
                  <a16:creationId xmlns:a16="http://schemas.microsoft.com/office/drawing/2014/main" id="{3F1073C9-65F3-9302-A8CD-5BD8EE8B00BF}"/>
                </a:ext>
              </a:extLst>
            </p:cNvPr>
            <p:cNvSpPr>
              <a:spLocks noChangeShapeType="1"/>
            </p:cNvSpPr>
            <p:nvPr/>
          </p:nvSpPr>
          <p:spPr bwMode="auto">
            <a:xfrm flipH="1">
              <a:off x="4568" y="1653"/>
              <a:ext cx="699" cy="234"/>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88079" name="Line 15">
              <a:extLst>
                <a:ext uri="{FF2B5EF4-FFF2-40B4-BE49-F238E27FC236}">
                  <a16:creationId xmlns:a16="http://schemas.microsoft.com/office/drawing/2014/main" id="{53EF52E1-EA55-F62C-65CA-ECEBA3DEB8FD}"/>
                </a:ext>
              </a:extLst>
            </p:cNvPr>
            <p:cNvSpPr>
              <a:spLocks noChangeShapeType="1"/>
            </p:cNvSpPr>
            <p:nvPr/>
          </p:nvSpPr>
          <p:spPr bwMode="auto">
            <a:xfrm flipH="1">
              <a:off x="4568" y="1093"/>
              <a:ext cx="699" cy="700"/>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88080" name="Line 16">
              <a:extLst>
                <a:ext uri="{FF2B5EF4-FFF2-40B4-BE49-F238E27FC236}">
                  <a16:creationId xmlns:a16="http://schemas.microsoft.com/office/drawing/2014/main" id="{A6DB551D-0855-E740-6F1A-7F0ED7E10FD5}"/>
                </a:ext>
              </a:extLst>
            </p:cNvPr>
            <p:cNvSpPr>
              <a:spLocks noChangeShapeType="1"/>
            </p:cNvSpPr>
            <p:nvPr/>
          </p:nvSpPr>
          <p:spPr bwMode="auto">
            <a:xfrm flipV="1">
              <a:off x="3634" y="1934"/>
              <a:ext cx="541" cy="374"/>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88081" name="Line 17">
              <a:extLst>
                <a:ext uri="{FF2B5EF4-FFF2-40B4-BE49-F238E27FC236}">
                  <a16:creationId xmlns:a16="http://schemas.microsoft.com/office/drawing/2014/main" id="{312BC5DC-31B6-8B48-FF9B-7E473CE55D75}"/>
                </a:ext>
              </a:extLst>
            </p:cNvPr>
            <p:cNvSpPr>
              <a:spLocks noChangeShapeType="1"/>
            </p:cNvSpPr>
            <p:nvPr/>
          </p:nvSpPr>
          <p:spPr bwMode="auto">
            <a:xfrm>
              <a:off x="3651" y="1607"/>
              <a:ext cx="524" cy="280"/>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88082" name="Line 18">
              <a:extLst>
                <a:ext uri="{FF2B5EF4-FFF2-40B4-BE49-F238E27FC236}">
                  <a16:creationId xmlns:a16="http://schemas.microsoft.com/office/drawing/2014/main" id="{DE086C6D-2ADD-2A2C-12E4-33CBC28D6AEA}"/>
                </a:ext>
              </a:extLst>
            </p:cNvPr>
            <p:cNvSpPr>
              <a:spLocks noChangeShapeType="1"/>
            </p:cNvSpPr>
            <p:nvPr/>
          </p:nvSpPr>
          <p:spPr bwMode="auto">
            <a:xfrm>
              <a:off x="3651" y="952"/>
              <a:ext cx="524" cy="888"/>
            </a:xfrm>
            <a:prstGeom prst="line">
              <a:avLst/>
            </a:prstGeom>
            <a:noFill/>
            <a:ln w="38100">
              <a:solidFill>
                <a:srgbClr val="FF66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pic>
          <p:nvPicPr>
            <p:cNvPr id="88083" name="Picture 19">
              <a:extLst>
                <a:ext uri="{FF2B5EF4-FFF2-40B4-BE49-F238E27FC236}">
                  <a16:creationId xmlns:a16="http://schemas.microsoft.com/office/drawing/2014/main" id="{00EA882A-425B-A724-CB4D-7688CAE8C0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5" y="719"/>
              <a:ext cx="319" cy="580"/>
            </a:xfrm>
            <a:prstGeom prst="rect">
              <a:avLst/>
            </a:prstGeom>
            <a:noFill/>
            <a:extLst>
              <a:ext uri="{909E8E84-426E-40DD-AFC4-6F175D3DCCD1}">
                <a14:hiddenFill xmlns:a14="http://schemas.microsoft.com/office/drawing/2010/main">
                  <a:solidFill>
                    <a:srgbClr val="FFFFFF"/>
                  </a:solidFill>
                </a14:hiddenFill>
              </a:ext>
            </a:extLst>
          </p:spPr>
        </p:pic>
        <p:pic>
          <p:nvPicPr>
            <p:cNvPr id="88084" name="Picture 20">
              <a:extLst>
                <a:ext uri="{FF2B5EF4-FFF2-40B4-BE49-F238E27FC236}">
                  <a16:creationId xmlns:a16="http://schemas.microsoft.com/office/drawing/2014/main" id="{B250B1EB-B7C8-5D82-D589-0816F6F1B8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5" y="1980"/>
              <a:ext cx="319" cy="581"/>
            </a:xfrm>
            <a:prstGeom prst="rect">
              <a:avLst/>
            </a:prstGeom>
            <a:noFill/>
            <a:extLst>
              <a:ext uri="{909E8E84-426E-40DD-AFC4-6F175D3DCCD1}">
                <a14:hiddenFill xmlns:a14="http://schemas.microsoft.com/office/drawing/2010/main">
                  <a:solidFill>
                    <a:srgbClr val="FFFFFF"/>
                  </a:solidFill>
                </a14:hiddenFill>
              </a:ext>
            </a:extLst>
          </p:spPr>
        </p:pic>
        <p:pic>
          <p:nvPicPr>
            <p:cNvPr id="88085" name="Picture 21">
              <a:extLst>
                <a:ext uri="{FF2B5EF4-FFF2-40B4-BE49-F238E27FC236}">
                  <a16:creationId xmlns:a16="http://schemas.microsoft.com/office/drawing/2014/main" id="{51499400-6CC2-C771-47D6-69B9F47012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5" y="1373"/>
              <a:ext cx="319" cy="580"/>
            </a:xfrm>
            <a:prstGeom prst="rect">
              <a:avLst/>
            </a:prstGeom>
            <a:noFill/>
            <a:extLst>
              <a:ext uri="{909E8E84-426E-40DD-AFC4-6F175D3DCCD1}">
                <a14:hiddenFill xmlns:a14="http://schemas.microsoft.com/office/drawing/2010/main">
                  <a:solidFill>
                    <a:srgbClr val="FFFFFF"/>
                  </a:solidFill>
                </a14:hiddenFill>
              </a:ext>
            </a:extLst>
          </p:spPr>
        </p:pic>
        <p:pic>
          <p:nvPicPr>
            <p:cNvPr id="88086" name="Picture 22">
              <a:extLst>
                <a:ext uri="{FF2B5EF4-FFF2-40B4-BE49-F238E27FC236}">
                  <a16:creationId xmlns:a16="http://schemas.microsoft.com/office/drawing/2014/main" id="{78150761-ACF7-C54B-ADCF-45BCFE032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2" y="765"/>
              <a:ext cx="320" cy="581"/>
            </a:xfrm>
            <a:prstGeom prst="rect">
              <a:avLst/>
            </a:prstGeom>
            <a:noFill/>
            <a:extLst>
              <a:ext uri="{909E8E84-426E-40DD-AFC4-6F175D3DCCD1}">
                <a14:hiddenFill xmlns:a14="http://schemas.microsoft.com/office/drawing/2010/main">
                  <a:solidFill>
                    <a:srgbClr val="FFFFFF"/>
                  </a:solidFill>
                </a14:hiddenFill>
              </a:ext>
            </a:extLst>
          </p:spPr>
        </p:pic>
        <p:pic>
          <p:nvPicPr>
            <p:cNvPr id="88087" name="Picture 23">
              <a:extLst>
                <a:ext uri="{FF2B5EF4-FFF2-40B4-BE49-F238E27FC236}">
                  <a16:creationId xmlns:a16="http://schemas.microsoft.com/office/drawing/2014/main" id="{FC65DDAC-0FB1-FA5B-795D-467A8C9AA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2" y="1373"/>
              <a:ext cx="320" cy="580"/>
            </a:xfrm>
            <a:prstGeom prst="rect">
              <a:avLst/>
            </a:prstGeom>
            <a:noFill/>
            <a:extLst>
              <a:ext uri="{909E8E84-426E-40DD-AFC4-6F175D3DCCD1}">
                <a14:hiddenFill xmlns:a14="http://schemas.microsoft.com/office/drawing/2010/main">
                  <a:solidFill>
                    <a:srgbClr val="FFFFFF"/>
                  </a:solidFill>
                </a14:hiddenFill>
              </a:ext>
            </a:extLst>
          </p:spPr>
        </p:pic>
        <p:pic>
          <p:nvPicPr>
            <p:cNvPr id="88088" name="Picture 24">
              <a:extLst>
                <a:ext uri="{FF2B5EF4-FFF2-40B4-BE49-F238E27FC236}">
                  <a16:creationId xmlns:a16="http://schemas.microsoft.com/office/drawing/2014/main" id="{F89D4FBC-F7E0-0B9F-72BE-AB146E7AF2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1" y="1700"/>
              <a:ext cx="481" cy="439"/>
            </a:xfrm>
            <a:prstGeom prst="rect">
              <a:avLst/>
            </a:prstGeom>
            <a:noFill/>
            <a:extLst>
              <a:ext uri="{909E8E84-426E-40DD-AFC4-6F175D3DCCD1}">
                <a14:hiddenFill xmlns:a14="http://schemas.microsoft.com/office/drawing/2010/main">
                  <a:solidFill>
                    <a:srgbClr val="FFFFFF"/>
                  </a:solidFill>
                </a14:hiddenFill>
              </a:ext>
            </a:extLst>
          </p:spPr>
        </p:pic>
        <p:pic>
          <p:nvPicPr>
            <p:cNvPr id="88089" name="Picture 25">
              <a:extLst>
                <a:ext uri="{FF2B5EF4-FFF2-40B4-BE49-F238E27FC236}">
                  <a16:creationId xmlns:a16="http://schemas.microsoft.com/office/drawing/2014/main" id="{AFB3E655-3034-0327-9AC6-829A92E02E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1" y="3177"/>
              <a:ext cx="481" cy="439"/>
            </a:xfrm>
            <a:prstGeom prst="rect">
              <a:avLst/>
            </a:prstGeom>
            <a:noFill/>
            <a:extLst>
              <a:ext uri="{909E8E84-426E-40DD-AFC4-6F175D3DCCD1}">
                <a14:hiddenFill xmlns:a14="http://schemas.microsoft.com/office/drawing/2010/main">
                  <a:solidFill>
                    <a:srgbClr val="FFFFFF"/>
                  </a:solidFill>
                </a14:hiddenFill>
              </a:ext>
            </a:extLst>
          </p:spPr>
        </p:pic>
        <p:pic>
          <p:nvPicPr>
            <p:cNvPr id="88090" name="Picture 26">
              <a:extLst>
                <a:ext uri="{FF2B5EF4-FFF2-40B4-BE49-F238E27FC236}">
                  <a16:creationId xmlns:a16="http://schemas.microsoft.com/office/drawing/2014/main" id="{AC053F5D-B28F-DBF8-B9AE-805973EF7E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5" y="3131"/>
              <a:ext cx="578" cy="812"/>
            </a:xfrm>
            <a:prstGeom prst="rect">
              <a:avLst/>
            </a:prstGeom>
            <a:noFill/>
            <a:extLst>
              <a:ext uri="{909E8E84-426E-40DD-AFC4-6F175D3DCCD1}">
                <a14:hiddenFill xmlns:a14="http://schemas.microsoft.com/office/drawing/2010/main">
                  <a:solidFill>
                    <a:srgbClr val="FFFFFF"/>
                  </a:solidFill>
                </a14:hiddenFill>
              </a:ext>
            </a:extLst>
          </p:spPr>
        </p:pic>
        <p:pic>
          <p:nvPicPr>
            <p:cNvPr id="88091" name="Picture 27">
              <a:extLst>
                <a:ext uri="{FF2B5EF4-FFF2-40B4-BE49-F238E27FC236}">
                  <a16:creationId xmlns:a16="http://schemas.microsoft.com/office/drawing/2014/main" id="{D45457EE-3C60-D537-F4F8-5AB27C8B3E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4" y="3131"/>
              <a:ext cx="578" cy="812"/>
            </a:xfrm>
            <a:prstGeom prst="rect">
              <a:avLst/>
            </a:prstGeom>
            <a:noFill/>
            <a:extLst>
              <a:ext uri="{909E8E84-426E-40DD-AFC4-6F175D3DCCD1}">
                <a14:hiddenFill xmlns:a14="http://schemas.microsoft.com/office/drawing/2010/main">
                  <a:solidFill>
                    <a:srgbClr val="FFFFFF"/>
                  </a:solidFill>
                </a14:hiddenFill>
              </a:ext>
            </a:extLst>
          </p:spPr>
        </p:pic>
        <p:sp>
          <p:nvSpPr>
            <p:cNvPr id="88092" name="AutoShape 28">
              <a:extLst>
                <a:ext uri="{FF2B5EF4-FFF2-40B4-BE49-F238E27FC236}">
                  <a16:creationId xmlns:a16="http://schemas.microsoft.com/office/drawing/2014/main" id="{81EB7943-B5AE-2A6D-17A2-43024BB04183}"/>
                </a:ext>
              </a:extLst>
            </p:cNvPr>
            <p:cNvSpPr>
              <a:spLocks noChangeArrowheads="1"/>
            </p:cNvSpPr>
            <p:nvPr/>
          </p:nvSpPr>
          <p:spPr bwMode="auto">
            <a:xfrm>
              <a:off x="3782" y="1560"/>
              <a:ext cx="1223" cy="2710"/>
            </a:xfrm>
            <a:prstGeom prst="roundRect">
              <a:avLst>
                <a:gd name="adj" fmla="val 16667"/>
              </a:avLst>
            </a:prstGeom>
            <a:noFill/>
            <a:ln w="25400" cap="rnd">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8093" name="Text Box 29">
              <a:extLst>
                <a:ext uri="{FF2B5EF4-FFF2-40B4-BE49-F238E27FC236}">
                  <a16:creationId xmlns:a16="http://schemas.microsoft.com/office/drawing/2014/main" id="{F97AE94C-4683-472D-AEC4-6A9216471799}"/>
                </a:ext>
              </a:extLst>
            </p:cNvPr>
            <p:cNvSpPr txBox="1">
              <a:spLocks noChangeArrowheads="1"/>
            </p:cNvSpPr>
            <p:nvPr/>
          </p:nvSpPr>
          <p:spPr bwMode="auto">
            <a:xfrm>
              <a:off x="4088" y="4120"/>
              <a:ext cx="541"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ClrTx/>
                <a:buFontTx/>
                <a:buNone/>
              </a:pPr>
              <a:r>
                <a:rPr lang="en-US" altLang="zh-CN" sz="1000">
                  <a:solidFill>
                    <a:srgbClr val="FF0000"/>
                  </a:solidFill>
                  <a:ea typeface="宋体" panose="02010600030101010101" pitchFamily="2" charset="-122"/>
                </a:rPr>
                <a:t>VSAN 1 - IT</a:t>
              </a:r>
            </a:p>
          </p:txBody>
        </p:sp>
        <p:sp>
          <p:nvSpPr>
            <p:cNvPr id="88094" name="Text Box 30">
              <a:extLst>
                <a:ext uri="{FF2B5EF4-FFF2-40B4-BE49-F238E27FC236}">
                  <a16:creationId xmlns:a16="http://schemas.microsoft.com/office/drawing/2014/main" id="{8F8E1BD9-A008-A28A-E736-7F4434206B9B}"/>
                </a:ext>
              </a:extLst>
            </p:cNvPr>
            <p:cNvSpPr txBox="1">
              <a:spLocks noChangeArrowheads="1"/>
            </p:cNvSpPr>
            <p:nvPr/>
          </p:nvSpPr>
          <p:spPr bwMode="auto">
            <a:xfrm>
              <a:off x="4983" y="1968"/>
              <a:ext cx="58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ClrTx/>
                <a:buFontTx/>
                <a:buNone/>
              </a:pPr>
              <a:r>
                <a:rPr lang="en-US" altLang="zh-CN" sz="1000">
                  <a:solidFill>
                    <a:srgbClr val="0000FF"/>
                  </a:solidFill>
                  <a:ea typeface="宋体" panose="02010600030101010101" pitchFamily="2" charset="-122"/>
                </a:rPr>
                <a:t>VSAN 3 - HR</a:t>
              </a:r>
            </a:p>
          </p:txBody>
        </p:sp>
        <p:sp>
          <p:nvSpPr>
            <p:cNvPr id="88095" name="Text Box 31">
              <a:extLst>
                <a:ext uri="{FF2B5EF4-FFF2-40B4-BE49-F238E27FC236}">
                  <a16:creationId xmlns:a16="http://schemas.microsoft.com/office/drawing/2014/main" id="{D33C4F08-5D78-F726-FA63-C99E3026106C}"/>
                </a:ext>
              </a:extLst>
            </p:cNvPr>
            <p:cNvSpPr txBox="1">
              <a:spLocks noChangeArrowheads="1"/>
            </p:cNvSpPr>
            <p:nvPr/>
          </p:nvSpPr>
          <p:spPr bwMode="auto">
            <a:xfrm>
              <a:off x="3170" y="2604"/>
              <a:ext cx="5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0"/>
                </a:spcBef>
                <a:buClrTx/>
                <a:buFontTx/>
                <a:buNone/>
              </a:pPr>
              <a:r>
                <a:rPr lang="en-US" altLang="zh-CN" sz="1000">
                  <a:solidFill>
                    <a:srgbClr val="008000"/>
                  </a:solidFill>
                  <a:ea typeface="宋体" panose="02010600030101010101" pitchFamily="2" charset="-122"/>
                </a:rPr>
                <a:t>VSAN 2 –</a:t>
              </a:r>
            </a:p>
            <a:p>
              <a:pPr algn="l">
                <a:spcBef>
                  <a:spcPct val="0"/>
                </a:spcBef>
                <a:buClrTx/>
                <a:buFontTx/>
                <a:buNone/>
              </a:pPr>
              <a:r>
                <a:rPr lang="en-US" altLang="zh-CN" sz="1000">
                  <a:solidFill>
                    <a:srgbClr val="008000"/>
                  </a:solidFill>
                  <a:ea typeface="宋体" panose="02010600030101010101" pitchFamily="2" charset="-122"/>
                </a:rPr>
                <a:t>Engineering</a:t>
              </a: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1D769B02-A99C-66D8-C10C-80E654D6BA00}"/>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1A7B4694-8CE1-1177-84C7-A928B1BE2838}"/>
              </a:ext>
            </a:extLst>
          </p:cNvPr>
          <p:cNvSpPr>
            <a:spLocks noGrp="1"/>
          </p:cNvSpPr>
          <p:nvPr>
            <p:ph type="sldNum" sz="quarter" idx="11"/>
          </p:nvPr>
        </p:nvSpPr>
        <p:spPr/>
        <p:txBody>
          <a:bodyPr/>
          <a:lstStyle/>
          <a:p>
            <a:r>
              <a:rPr lang="zh-CN" altLang="en-US"/>
              <a:t> </a:t>
            </a:r>
            <a:r>
              <a:rPr lang="en-US" altLang="zh-CN"/>
              <a:t>- </a:t>
            </a:r>
            <a:fld id="{D29664FA-F388-4FC3-AE36-4EC80CD6FA15}" type="slidenum">
              <a:rPr lang="en-US" altLang="zh-CN" sz="800"/>
              <a:pPr/>
              <a:t>32</a:t>
            </a:fld>
            <a:endParaRPr lang="en-US" altLang="zh-CN" sz="800"/>
          </a:p>
        </p:txBody>
      </p:sp>
      <p:sp>
        <p:nvSpPr>
          <p:cNvPr id="92162" name="Rectangle 2">
            <a:extLst>
              <a:ext uri="{FF2B5EF4-FFF2-40B4-BE49-F238E27FC236}">
                <a16:creationId xmlns:a16="http://schemas.microsoft.com/office/drawing/2014/main" id="{554929FB-42F4-AB8D-6170-F0006C1FBFD0}"/>
              </a:ext>
            </a:extLst>
          </p:cNvPr>
          <p:cNvSpPr>
            <a:spLocks noGrp="1" noChangeArrowheads="1"/>
          </p:cNvSpPr>
          <p:nvPr>
            <p:ph type="title"/>
          </p:nvPr>
        </p:nvSpPr>
        <p:spPr/>
        <p:txBody>
          <a:bodyPr/>
          <a:lstStyle/>
          <a:p>
            <a:r>
              <a:rPr lang="en-US" altLang="zh-CN">
                <a:ea typeface="宋体" panose="02010600030101010101" pitchFamily="2" charset="-122"/>
              </a:rPr>
              <a:t>Security Implementation in NAS </a:t>
            </a:r>
          </a:p>
        </p:txBody>
      </p:sp>
      <p:sp>
        <p:nvSpPr>
          <p:cNvPr id="92163" name="Rectangle 3">
            <a:extLst>
              <a:ext uri="{FF2B5EF4-FFF2-40B4-BE49-F238E27FC236}">
                <a16:creationId xmlns:a16="http://schemas.microsoft.com/office/drawing/2014/main" id="{65E47142-BB9D-3554-60C9-8C034F4B3361}"/>
              </a:ext>
            </a:extLst>
          </p:cNvPr>
          <p:cNvSpPr>
            <a:spLocks noGrp="1" noChangeArrowheads="1"/>
          </p:cNvSpPr>
          <p:nvPr>
            <p:ph type="body" idx="1"/>
          </p:nvPr>
        </p:nvSpPr>
        <p:spPr/>
        <p:txBody>
          <a:bodyPr/>
          <a:lstStyle/>
          <a:p>
            <a:r>
              <a:rPr lang="en-US" altLang="zh-CN">
                <a:ea typeface="宋体" panose="02010600030101010101" pitchFamily="2" charset="-122"/>
              </a:rPr>
              <a:t>Permissions and ACLs</a:t>
            </a:r>
          </a:p>
          <a:p>
            <a:pPr lvl="1"/>
            <a:r>
              <a:rPr lang="en-US" altLang="zh-CN">
                <a:ea typeface="宋体" panose="02010600030101010101" pitchFamily="2" charset="-122"/>
              </a:rPr>
              <a:t>First level of protection</a:t>
            </a:r>
          </a:p>
          <a:p>
            <a:r>
              <a:rPr lang="en-US" altLang="zh-CN">
                <a:ea typeface="宋体" panose="02010600030101010101" pitchFamily="2" charset="-122"/>
              </a:rPr>
              <a:t>Authentication and authorization mechanisms</a:t>
            </a:r>
          </a:p>
          <a:p>
            <a:pPr lvl="1"/>
            <a:r>
              <a:rPr lang="en-US" altLang="zh-CN">
                <a:ea typeface="宋体" panose="02010600030101010101" pitchFamily="2" charset="-122"/>
              </a:rPr>
              <a:t>Kerberos and Directory services</a:t>
            </a:r>
          </a:p>
          <a:p>
            <a:pPr lvl="2"/>
            <a:r>
              <a:rPr lang="en-US" altLang="zh-CN">
                <a:ea typeface="宋体" panose="02010600030101010101" pitchFamily="2" charset="-122"/>
              </a:rPr>
              <a:t>Identity verification</a:t>
            </a:r>
          </a:p>
          <a:p>
            <a:pPr lvl="1"/>
            <a:r>
              <a:rPr lang="en-US" altLang="zh-CN">
                <a:ea typeface="宋体" panose="02010600030101010101" pitchFamily="2" charset="-122"/>
              </a:rPr>
              <a:t>Firewalls</a:t>
            </a:r>
          </a:p>
          <a:p>
            <a:pPr lvl="2"/>
            <a:r>
              <a:rPr lang="en-US" altLang="zh-CN">
                <a:ea typeface="宋体" panose="02010600030101010101" pitchFamily="2" charset="-122"/>
              </a:rPr>
              <a:t>Protection from unauthorized access and malicious attacks</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CBDCCEF-8DDD-2174-6748-DC52195D6454}"/>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13B2BD98-8992-3ED5-155F-18ADED2D7623}"/>
              </a:ext>
            </a:extLst>
          </p:cNvPr>
          <p:cNvSpPr>
            <a:spLocks noGrp="1"/>
          </p:cNvSpPr>
          <p:nvPr>
            <p:ph type="sldNum" sz="quarter" idx="11"/>
          </p:nvPr>
        </p:nvSpPr>
        <p:spPr/>
        <p:txBody>
          <a:bodyPr/>
          <a:lstStyle/>
          <a:p>
            <a:r>
              <a:rPr lang="zh-CN" altLang="en-US"/>
              <a:t> </a:t>
            </a:r>
            <a:r>
              <a:rPr lang="en-US" altLang="zh-CN"/>
              <a:t>- </a:t>
            </a:r>
            <a:fld id="{36BC637B-5DE5-4D2F-94D6-E91402F0B075}" type="slidenum">
              <a:rPr lang="en-US" altLang="zh-CN" sz="800"/>
              <a:pPr/>
              <a:t>33</a:t>
            </a:fld>
            <a:endParaRPr lang="en-US" altLang="zh-CN" sz="800"/>
          </a:p>
        </p:txBody>
      </p:sp>
      <p:sp>
        <p:nvSpPr>
          <p:cNvPr id="91138" name="Rectangle 2">
            <a:extLst>
              <a:ext uri="{FF2B5EF4-FFF2-40B4-BE49-F238E27FC236}">
                <a16:creationId xmlns:a16="http://schemas.microsoft.com/office/drawing/2014/main" id="{D06E0784-5174-ADF4-C657-AF929B05DBFB}"/>
              </a:ext>
            </a:extLst>
          </p:cNvPr>
          <p:cNvSpPr>
            <a:spLocks noGrp="1" noChangeArrowheads="1"/>
          </p:cNvSpPr>
          <p:nvPr>
            <p:ph type="title"/>
          </p:nvPr>
        </p:nvSpPr>
        <p:spPr/>
        <p:txBody>
          <a:bodyPr/>
          <a:lstStyle/>
          <a:p>
            <a:r>
              <a:rPr lang="en-US" altLang="zh-CN">
                <a:ea typeface="宋体" panose="02010600030101010101" pitchFamily="2" charset="-122"/>
              </a:rPr>
              <a:t>NAS File Sharing: Windows ACLs</a:t>
            </a:r>
          </a:p>
        </p:txBody>
      </p:sp>
      <p:sp>
        <p:nvSpPr>
          <p:cNvPr id="91139" name="Rectangle 3">
            <a:extLst>
              <a:ext uri="{FF2B5EF4-FFF2-40B4-BE49-F238E27FC236}">
                <a16:creationId xmlns:a16="http://schemas.microsoft.com/office/drawing/2014/main" id="{F9806F31-7756-C9B1-FFC7-EA73BCA05133}"/>
              </a:ext>
            </a:extLst>
          </p:cNvPr>
          <p:cNvSpPr>
            <a:spLocks noGrp="1" noChangeArrowheads="1"/>
          </p:cNvSpPr>
          <p:nvPr>
            <p:ph type="body" idx="1"/>
          </p:nvPr>
        </p:nvSpPr>
        <p:spPr/>
        <p:txBody>
          <a:bodyPr/>
          <a:lstStyle/>
          <a:p>
            <a:r>
              <a:rPr lang="en-US" altLang="zh-CN" sz="2200">
                <a:ea typeface="宋体" panose="02010600030101010101" pitchFamily="2" charset="-122"/>
              </a:rPr>
              <a:t>Types of ACLs</a:t>
            </a:r>
          </a:p>
          <a:p>
            <a:pPr lvl="1"/>
            <a:r>
              <a:rPr lang="en-US" altLang="zh-CN" sz="1900">
                <a:ea typeface="宋体" panose="02010600030101010101" pitchFamily="2" charset="-122"/>
              </a:rPr>
              <a:t>Discretionary access control lists (DACL)</a:t>
            </a:r>
          </a:p>
          <a:p>
            <a:pPr lvl="2"/>
            <a:r>
              <a:rPr lang="en-US" altLang="zh-CN" sz="1700">
                <a:ea typeface="宋体" panose="02010600030101010101" pitchFamily="2" charset="-122"/>
              </a:rPr>
              <a:t>Commonly referred to as  ACL</a:t>
            </a:r>
          </a:p>
          <a:p>
            <a:pPr lvl="2"/>
            <a:r>
              <a:rPr lang="en-US" altLang="zh-CN" sz="1700">
                <a:ea typeface="宋体" panose="02010600030101010101" pitchFamily="2" charset="-122"/>
              </a:rPr>
              <a:t>Used to determine access control</a:t>
            </a:r>
          </a:p>
          <a:p>
            <a:pPr lvl="1"/>
            <a:r>
              <a:rPr lang="en-US" altLang="zh-CN" sz="1900">
                <a:ea typeface="宋体" panose="02010600030101010101" pitchFamily="2" charset="-122"/>
              </a:rPr>
              <a:t>System access control lists (SACL)</a:t>
            </a:r>
          </a:p>
          <a:p>
            <a:pPr lvl="2"/>
            <a:r>
              <a:rPr lang="en-US" altLang="zh-CN" sz="1700">
                <a:ea typeface="宋体" panose="02010600030101010101" pitchFamily="2" charset="-122"/>
              </a:rPr>
              <a:t>Determines what accesses need to be audited if auditing is enabled</a:t>
            </a:r>
          </a:p>
          <a:p>
            <a:r>
              <a:rPr lang="en-US" altLang="zh-CN" sz="2200">
                <a:ea typeface="宋体" panose="02010600030101010101" pitchFamily="2" charset="-122"/>
              </a:rPr>
              <a:t>Object Ownership</a:t>
            </a:r>
          </a:p>
          <a:p>
            <a:pPr lvl="1"/>
            <a:r>
              <a:rPr lang="en-US" altLang="zh-CN" sz="1900">
                <a:ea typeface="宋体" panose="02010600030101010101" pitchFamily="2" charset="-122"/>
              </a:rPr>
              <a:t>Object owner has hard-coded rights to that object</a:t>
            </a:r>
          </a:p>
          <a:p>
            <a:pPr lvl="2"/>
            <a:r>
              <a:rPr lang="en-US" altLang="zh-CN" sz="1700">
                <a:ea typeface="宋体" panose="02010600030101010101" pitchFamily="2" charset="-122"/>
              </a:rPr>
              <a:t>Rights do not have to be explicitly granted in the SACL</a:t>
            </a:r>
          </a:p>
          <a:p>
            <a:pPr lvl="1"/>
            <a:r>
              <a:rPr lang="en-US" altLang="zh-CN" sz="1900">
                <a:ea typeface="宋体" panose="02010600030101010101" pitchFamily="2" charset="-122"/>
              </a:rPr>
              <a:t>Child objects within a parent object automatically inherit the ACLs</a:t>
            </a:r>
          </a:p>
          <a:p>
            <a:r>
              <a:rPr lang="en-US" altLang="zh-CN" sz="2200">
                <a:ea typeface="宋体" panose="02010600030101010101" pitchFamily="2" charset="-122"/>
              </a:rPr>
              <a:t>SIDs</a:t>
            </a:r>
          </a:p>
          <a:p>
            <a:pPr lvl="1"/>
            <a:r>
              <a:rPr lang="en-US" altLang="zh-CN" sz="1900">
                <a:ea typeface="宋体" panose="02010600030101010101" pitchFamily="2" charset="-122"/>
              </a:rPr>
              <a:t>ACLs applied to directory objects</a:t>
            </a:r>
          </a:p>
          <a:p>
            <a:pPr lvl="2"/>
            <a:r>
              <a:rPr lang="en-US" altLang="zh-CN" sz="1700">
                <a:ea typeface="宋体" panose="02010600030101010101" pitchFamily="2" charset="-122"/>
              </a:rPr>
              <a:t>User ID/Login ID is a textual representation of true SIDs</a:t>
            </a:r>
          </a:p>
          <a:p>
            <a:pPr lvl="1"/>
            <a:r>
              <a:rPr lang="en-US" altLang="zh-CN" sz="1900">
                <a:ea typeface="宋体" panose="02010600030101010101" pitchFamily="2" charset="-122"/>
              </a:rPr>
              <a:t>Automatically created when a user or group is created</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03B0221-C0A3-7709-A616-3D6071794FFB}"/>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B9688CA5-43E5-A84A-E4DE-E3A0568410A3}"/>
              </a:ext>
            </a:extLst>
          </p:cNvPr>
          <p:cNvSpPr>
            <a:spLocks noGrp="1"/>
          </p:cNvSpPr>
          <p:nvPr>
            <p:ph type="sldNum" sz="quarter" idx="11"/>
          </p:nvPr>
        </p:nvSpPr>
        <p:spPr/>
        <p:txBody>
          <a:bodyPr/>
          <a:lstStyle/>
          <a:p>
            <a:r>
              <a:rPr lang="zh-CN" altLang="en-US"/>
              <a:t> </a:t>
            </a:r>
            <a:r>
              <a:rPr lang="en-US" altLang="zh-CN"/>
              <a:t>- </a:t>
            </a:r>
            <a:fld id="{2438619E-2086-45F8-B202-75D9FAC66222}" type="slidenum">
              <a:rPr lang="en-US" altLang="zh-CN" sz="800"/>
              <a:pPr/>
              <a:t>34</a:t>
            </a:fld>
            <a:endParaRPr lang="en-US" altLang="zh-CN" sz="800"/>
          </a:p>
        </p:txBody>
      </p:sp>
      <p:sp>
        <p:nvSpPr>
          <p:cNvPr id="95234" name="Rectangle 2">
            <a:extLst>
              <a:ext uri="{FF2B5EF4-FFF2-40B4-BE49-F238E27FC236}">
                <a16:creationId xmlns:a16="http://schemas.microsoft.com/office/drawing/2014/main" id="{D2D64E44-8425-B86B-8D0D-509E812B1381}"/>
              </a:ext>
            </a:extLst>
          </p:cNvPr>
          <p:cNvSpPr>
            <a:spLocks noGrp="1" noChangeArrowheads="1"/>
          </p:cNvSpPr>
          <p:nvPr>
            <p:ph type="title"/>
          </p:nvPr>
        </p:nvSpPr>
        <p:spPr/>
        <p:txBody>
          <a:bodyPr/>
          <a:lstStyle/>
          <a:p>
            <a:r>
              <a:rPr lang="en-US" altLang="zh-CN">
                <a:ea typeface="宋体" panose="02010600030101010101" pitchFamily="2" charset="-122"/>
              </a:rPr>
              <a:t>NAS File Sharing: UNIX Permissions</a:t>
            </a:r>
          </a:p>
        </p:txBody>
      </p:sp>
      <p:sp>
        <p:nvSpPr>
          <p:cNvPr id="95235" name="Rectangle 3">
            <a:extLst>
              <a:ext uri="{FF2B5EF4-FFF2-40B4-BE49-F238E27FC236}">
                <a16:creationId xmlns:a16="http://schemas.microsoft.com/office/drawing/2014/main" id="{E4110BD7-12A8-166A-A377-9A4861F7B9CB}"/>
              </a:ext>
            </a:extLst>
          </p:cNvPr>
          <p:cNvSpPr>
            <a:spLocks noGrp="1" noChangeArrowheads="1"/>
          </p:cNvSpPr>
          <p:nvPr>
            <p:ph type="body" idx="1"/>
          </p:nvPr>
        </p:nvSpPr>
        <p:spPr/>
        <p:txBody>
          <a:bodyPr/>
          <a:lstStyle/>
          <a:p>
            <a:pPr>
              <a:lnSpc>
                <a:spcPct val="90000"/>
              </a:lnSpc>
            </a:pPr>
            <a:r>
              <a:rPr lang="en-US" altLang="zh-CN" sz="2200">
                <a:ea typeface="宋体" panose="02010600030101010101" pitchFamily="2" charset="-122"/>
              </a:rPr>
              <a:t>User</a:t>
            </a:r>
            <a:r>
              <a:rPr lang="en-US" altLang="zh-CN" sz="2200" i="1">
                <a:ea typeface="宋体" panose="02010600030101010101" pitchFamily="2" charset="-122"/>
              </a:rPr>
              <a:t> </a:t>
            </a:r>
          </a:p>
          <a:p>
            <a:pPr lvl="1">
              <a:lnSpc>
                <a:spcPct val="90000"/>
              </a:lnSpc>
            </a:pPr>
            <a:r>
              <a:rPr lang="en-US" altLang="zh-CN" sz="1900">
                <a:ea typeface="宋体" panose="02010600030101010101" pitchFamily="2" charset="-122"/>
              </a:rPr>
              <a:t>A logical entity for assignment of ownership and operation privileges</a:t>
            </a:r>
          </a:p>
          <a:p>
            <a:pPr lvl="1">
              <a:lnSpc>
                <a:spcPct val="90000"/>
              </a:lnSpc>
            </a:pPr>
            <a:r>
              <a:rPr lang="en-US" altLang="zh-CN" sz="1900">
                <a:ea typeface="宋体" panose="02010600030101010101" pitchFamily="2" charset="-122"/>
              </a:rPr>
              <a:t>Can be either a person or a system operation</a:t>
            </a:r>
          </a:p>
          <a:p>
            <a:pPr lvl="1">
              <a:lnSpc>
                <a:spcPct val="90000"/>
              </a:lnSpc>
            </a:pPr>
            <a:r>
              <a:rPr lang="en-US" altLang="zh-CN" sz="1900">
                <a:ea typeface="宋体" panose="02010600030101010101" pitchFamily="2" charset="-122"/>
              </a:rPr>
              <a:t>Can be organized into one or more groups</a:t>
            </a:r>
          </a:p>
          <a:p>
            <a:pPr>
              <a:lnSpc>
                <a:spcPct val="90000"/>
              </a:lnSpc>
            </a:pPr>
            <a:r>
              <a:rPr lang="en-US" altLang="zh-CN" sz="2200">
                <a:ea typeface="宋体" panose="02010600030101010101" pitchFamily="2" charset="-122"/>
              </a:rPr>
              <a:t>Permissions tell UNIX what can be done with that file and by whom</a:t>
            </a:r>
          </a:p>
          <a:p>
            <a:pPr>
              <a:lnSpc>
                <a:spcPct val="90000"/>
              </a:lnSpc>
            </a:pPr>
            <a:r>
              <a:rPr lang="en-US" altLang="zh-CN" sz="2200">
                <a:ea typeface="宋体" panose="02010600030101010101" pitchFamily="2" charset="-122"/>
              </a:rPr>
              <a:t>Common Permissions</a:t>
            </a:r>
          </a:p>
          <a:p>
            <a:pPr lvl="1">
              <a:lnSpc>
                <a:spcPct val="90000"/>
              </a:lnSpc>
            </a:pPr>
            <a:r>
              <a:rPr lang="en-US" altLang="zh-CN" sz="1900">
                <a:ea typeface="宋体" panose="02010600030101010101" pitchFamily="2" charset="-122"/>
              </a:rPr>
              <a:t>Read/Write/Execute</a:t>
            </a:r>
          </a:p>
          <a:p>
            <a:pPr>
              <a:lnSpc>
                <a:spcPct val="90000"/>
              </a:lnSpc>
            </a:pPr>
            <a:r>
              <a:rPr lang="en-US" altLang="zh-CN" sz="2200">
                <a:ea typeface="宋体" panose="02010600030101010101" pitchFamily="2" charset="-122"/>
              </a:rPr>
              <a:t>Every file and directory (folder) has three access permissions: </a:t>
            </a:r>
          </a:p>
          <a:p>
            <a:pPr lvl="1">
              <a:lnSpc>
                <a:spcPct val="90000"/>
              </a:lnSpc>
            </a:pPr>
            <a:r>
              <a:rPr lang="en-US" altLang="zh-CN" sz="1900">
                <a:ea typeface="宋体" panose="02010600030101010101" pitchFamily="2" charset="-122"/>
              </a:rPr>
              <a:t>rights for the file owner</a:t>
            </a:r>
          </a:p>
          <a:p>
            <a:pPr lvl="1">
              <a:lnSpc>
                <a:spcPct val="90000"/>
              </a:lnSpc>
            </a:pPr>
            <a:r>
              <a:rPr lang="en-US" altLang="zh-CN" sz="1900">
                <a:ea typeface="宋体" panose="02010600030101010101" pitchFamily="2" charset="-122"/>
              </a:rPr>
              <a:t>rights for the group you belong to</a:t>
            </a:r>
          </a:p>
          <a:p>
            <a:pPr lvl="1">
              <a:lnSpc>
                <a:spcPct val="90000"/>
              </a:lnSpc>
            </a:pPr>
            <a:r>
              <a:rPr lang="en-US" altLang="zh-CN" sz="1900">
                <a:ea typeface="宋体" panose="02010600030101010101" pitchFamily="2" charset="-122"/>
              </a:rPr>
              <a:t>rights for all others in the faculty</a:t>
            </a:r>
          </a:p>
          <a:p>
            <a:pPr>
              <a:lnSpc>
                <a:spcPct val="90000"/>
              </a:lnSpc>
            </a:pPr>
            <a:r>
              <a:rPr lang="en-US" altLang="zh-CN" sz="2200">
                <a:ea typeface="宋体" panose="02010600030101010101" pitchFamily="2" charset="-122"/>
              </a:rPr>
              <a:t>File or Directory permission looks:</a:t>
            </a:r>
          </a:p>
          <a:p>
            <a:pPr lvl="1">
              <a:lnSpc>
                <a:spcPct val="90000"/>
              </a:lnSpc>
            </a:pPr>
            <a:r>
              <a:rPr lang="en-US" altLang="zh-CN" sz="1900">
                <a:ea typeface="宋体" panose="02010600030101010101" pitchFamily="2" charset="-122"/>
              </a:rPr>
              <a:t># rwx rwx rwx (Owner, Group, Others)</a:t>
            </a:r>
          </a:p>
          <a:p>
            <a:pPr lvl="1">
              <a:lnSpc>
                <a:spcPct val="90000"/>
              </a:lnSpc>
            </a:pPr>
            <a:r>
              <a:rPr lang="en-US" altLang="zh-CN" sz="1900">
                <a:ea typeface="宋体" panose="02010600030101010101" pitchFamily="2" charset="-122"/>
              </a:rPr>
              <a:t># : d for directory, - for file</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6C1E8BF4-3CED-4D52-44B0-91C0AEEE350B}"/>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241EF608-CEB7-DBCC-D791-19821F25232B}"/>
              </a:ext>
            </a:extLst>
          </p:cNvPr>
          <p:cNvSpPr>
            <a:spLocks noGrp="1"/>
          </p:cNvSpPr>
          <p:nvPr>
            <p:ph type="sldNum" sz="quarter" idx="11"/>
          </p:nvPr>
        </p:nvSpPr>
        <p:spPr/>
        <p:txBody>
          <a:bodyPr/>
          <a:lstStyle/>
          <a:p>
            <a:r>
              <a:rPr lang="zh-CN" altLang="en-US"/>
              <a:t> </a:t>
            </a:r>
            <a:r>
              <a:rPr lang="en-US" altLang="zh-CN"/>
              <a:t>- </a:t>
            </a:r>
            <a:fld id="{5F9AABD5-6E71-4068-89AD-A1BD0772B11F}" type="slidenum">
              <a:rPr lang="en-US" altLang="zh-CN" sz="800"/>
              <a:pPr/>
              <a:t>35</a:t>
            </a:fld>
            <a:endParaRPr lang="en-US" altLang="zh-CN" sz="800"/>
          </a:p>
        </p:txBody>
      </p:sp>
      <p:pic>
        <p:nvPicPr>
          <p:cNvPr id="97309" name="Picture 35">
            <a:extLst>
              <a:ext uri="{FF2B5EF4-FFF2-40B4-BE49-F238E27FC236}">
                <a16:creationId xmlns:a16="http://schemas.microsoft.com/office/drawing/2014/main" id="{8684907C-3DFF-8333-604D-78EFBB4066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763" y="4079875"/>
            <a:ext cx="1222375" cy="1363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type="none" w="lg"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7338" name="Freeform 58">
            <a:extLst>
              <a:ext uri="{FF2B5EF4-FFF2-40B4-BE49-F238E27FC236}">
                <a16:creationId xmlns:a16="http://schemas.microsoft.com/office/drawing/2014/main" id="{6AC11A0B-35CB-DA86-FDA6-D00AC64F8DE5}"/>
              </a:ext>
            </a:extLst>
          </p:cNvPr>
          <p:cNvSpPr>
            <a:spLocks/>
          </p:cNvSpPr>
          <p:nvPr/>
        </p:nvSpPr>
        <p:spPr bwMode="auto">
          <a:xfrm>
            <a:off x="2393950" y="2930525"/>
            <a:ext cx="3016250" cy="1946275"/>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pic>
        <p:nvPicPr>
          <p:cNvPr id="97336" name="Picture 56">
            <a:extLst>
              <a:ext uri="{FF2B5EF4-FFF2-40B4-BE49-F238E27FC236}">
                <a16:creationId xmlns:a16="http://schemas.microsoft.com/office/drawing/2014/main" id="{B74DF23A-A834-ED81-21CC-B31CC6270D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4997450"/>
            <a:ext cx="557213" cy="946150"/>
          </a:xfrm>
          <a:prstGeom prst="rect">
            <a:avLst/>
          </a:prstGeom>
          <a:noFill/>
          <a:extLst>
            <a:ext uri="{909E8E84-426E-40DD-AFC4-6F175D3DCCD1}">
              <a14:hiddenFill xmlns:a14="http://schemas.microsoft.com/office/drawing/2010/main">
                <a:solidFill>
                  <a:srgbClr val="FFFFFF"/>
                </a:solidFill>
              </a14:hiddenFill>
            </a:ext>
          </a:extLst>
        </p:spPr>
      </p:pic>
      <p:pic>
        <p:nvPicPr>
          <p:cNvPr id="97335" name="Picture 55">
            <a:extLst>
              <a:ext uri="{FF2B5EF4-FFF2-40B4-BE49-F238E27FC236}">
                <a16:creationId xmlns:a16="http://schemas.microsoft.com/office/drawing/2014/main" id="{E52F7889-53DD-9E3C-F8C8-6622D11C19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2784475"/>
            <a:ext cx="1008063" cy="1358900"/>
          </a:xfrm>
          <a:prstGeom prst="rect">
            <a:avLst/>
          </a:prstGeom>
          <a:noFill/>
          <a:extLst>
            <a:ext uri="{909E8E84-426E-40DD-AFC4-6F175D3DCCD1}">
              <a14:hiddenFill xmlns:a14="http://schemas.microsoft.com/office/drawing/2010/main">
                <a:solidFill>
                  <a:srgbClr val="FFFFFF"/>
                </a:solidFill>
              </a14:hiddenFill>
            </a:ext>
          </a:extLst>
        </p:spPr>
      </p:pic>
      <p:pic>
        <p:nvPicPr>
          <p:cNvPr id="97332" name="Picture 52">
            <a:extLst>
              <a:ext uri="{FF2B5EF4-FFF2-40B4-BE49-F238E27FC236}">
                <a16:creationId xmlns:a16="http://schemas.microsoft.com/office/drawing/2014/main" id="{04026EA3-7912-D1CC-ECAD-6FA1AD80FA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7588" y="1981200"/>
            <a:ext cx="557212" cy="946150"/>
          </a:xfrm>
          <a:prstGeom prst="rect">
            <a:avLst/>
          </a:prstGeom>
          <a:noFill/>
          <a:extLst>
            <a:ext uri="{909E8E84-426E-40DD-AFC4-6F175D3DCCD1}">
              <a14:hiddenFill xmlns:a14="http://schemas.microsoft.com/office/drawing/2010/main">
                <a:solidFill>
                  <a:srgbClr val="FFFFFF"/>
                </a:solidFill>
              </a14:hiddenFill>
            </a:ext>
          </a:extLst>
        </p:spPr>
      </p:pic>
      <p:sp>
        <p:nvSpPr>
          <p:cNvPr id="97282" name="Rectangle 2">
            <a:extLst>
              <a:ext uri="{FF2B5EF4-FFF2-40B4-BE49-F238E27FC236}">
                <a16:creationId xmlns:a16="http://schemas.microsoft.com/office/drawing/2014/main" id="{BEE6A1A2-BC4E-4766-71A6-69555B3FEF1D}"/>
              </a:ext>
            </a:extLst>
          </p:cNvPr>
          <p:cNvSpPr>
            <a:spLocks noGrp="1" noChangeArrowheads="1"/>
          </p:cNvSpPr>
          <p:nvPr>
            <p:ph type="title"/>
          </p:nvPr>
        </p:nvSpPr>
        <p:spPr/>
        <p:txBody>
          <a:bodyPr/>
          <a:lstStyle/>
          <a:p>
            <a:r>
              <a:rPr lang="en-US" altLang="zh-CN">
                <a:ea typeface="宋体" panose="02010600030101010101" pitchFamily="2" charset="-122"/>
              </a:rPr>
              <a:t>Authentication and Authorization</a:t>
            </a:r>
          </a:p>
        </p:txBody>
      </p:sp>
      <p:sp>
        <p:nvSpPr>
          <p:cNvPr id="97283" name="Rectangle 3">
            <a:extLst>
              <a:ext uri="{FF2B5EF4-FFF2-40B4-BE49-F238E27FC236}">
                <a16:creationId xmlns:a16="http://schemas.microsoft.com/office/drawing/2014/main" id="{A8BEB762-5815-A75E-4DE2-655D6AE4BFAD}"/>
              </a:ext>
            </a:extLst>
          </p:cNvPr>
          <p:cNvSpPr>
            <a:spLocks noGrp="1" noChangeArrowheads="1"/>
          </p:cNvSpPr>
          <p:nvPr>
            <p:ph type="body" idx="1"/>
          </p:nvPr>
        </p:nvSpPr>
        <p:spPr/>
        <p:txBody>
          <a:bodyPr/>
          <a:lstStyle/>
          <a:p>
            <a:r>
              <a:rPr lang="en-US" altLang="zh-CN">
                <a:ea typeface="宋体" panose="02010600030101010101" pitchFamily="2" charset="-122"/>
              </a:rPr>
              <a:t>Windows and UNIX Considerations</a:t>
            </a:r>
          </a:p>
          <a:p>
            <a:pPr>
              <a:buFont typeface="Wingdings" panose="05000000000000000000" pitchFamily="2" charset="2"/>
              <a:buNone/>
            </a:pPr>
            <a:endParaRPr lang="zh-CN" altLang="en-US">
              <a:ea typeface="宋体" panose="02010600030101010101" pitchFamily="2" charset="-122"/>
            </a:endParaRPr>
          </a:p>
        </p:txBody>
      </p:sp>
      <p:pic>
        <p:nvPicPr>
          <p:cNvPr id="97308" name="Picture 35">
            <a:extLst>
              <a:ext uri="{FF2B5EF4-FFF2-40B4-BE49-F238E27FC236}">
                <a16:creationId xmlns:a16="http://schemas.microsoft.com/office/drawing/2014/main" id="{9EDCEC56-EA5E-36EA-8AB0-CEBD191AFA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9988" y="2238375"/>
            <a:ext cx="1222375" cy="1363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type="none" w="lg"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7314" name="Text Box 34">
            <a:extLst>
              <a:ext uri="{FF2B5EF4-FFF2-40B4-BE49-F238E27FC236}">
                <a16:creationId xmlns:a16="http://schemas.microsoft.com/office/drawing/2014/main" id="{B047DC5E-3E1F-C3A5-D27A-E2905C862EC8}"/>
              </a:ext>
            </a:extLst>
          </p:cNvPr>
          <p:cNvSpPr txBox="1">
            <a:spLocks noChangeArrowheads="1"/>
          </p:cNvSpPr>
          <p:nvPr/>
        </p:nvSpPr>
        <p:spPr bwMode="auto">
          <a:xfrm>
            <a:off x="2997200" y="4114800"/>
            <a:ext cx="1422400" cy="61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CCFFCC"/>
                </a:solidFill>
                <a:ea typeface="宋体" panose="02010600030101010101" pitchFamily="2" charset="-122"/>
              </a:rPr>
              <a:t>Windows </a:t>
            </a:r>
          </a:p>
          <a:p>
            <a:pPr algn="ctr">
              <a:spcBef>
                <a:spcPct val="50000"/>
              </a:spcBef>
            </a:pPr>
            <a:r>
              <a:rPr lang="en-US" altLang="zh-CN" sz="1600" b="1">
                <a:solidFill>
                  <a:srgbClr val="CCFFCC"/>
                </a:solidFill>
                <a:ea typeface="宋体" panose="02010600030101010101" pitchFamily="2" charset="-122"/>
              </a:rPr>
              <a:t>Authentication</a:t>
            </a:r>
          </a:p>
        </p:txBody>
      </p:sp>
      <p:sp>
        <p:nvSpPr>
          <p:cNvPr id="97315" name="Text Box 35">
            <a:extLst>
              <a:ext uri="{FF2B5EF4-FFF2-40B4-BE49-F238E27FC236}">
                <a16:creationId xmlns:a16="http://schemas.microsoft.com/office/drawing/2014/main" id="{3994F46A-05B0-BCEE-2312-A37DEF95B953}"/>
              </a:ext>
            </a:extLst>
          </p:cNvPr>
          <p:cNvSpPr txBox="1">
            <a:spLocks noChangeArrowheads="1"/>
          </p:cNvSpPr>
          <p:nvPr/>
        </p:nvSpPr>
        <p:spPr bwMode="auto">
          <a:xfrm>
            <a:off x="3313113" y="5943600"/>
            <a:ext cx="1881187"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a:solidFill>
                  <a:srgbClr val="003580"/>
                </a:solidFill>
                <a:ea typeface="宋体" panose="02010600030101010101" pitchFamily="2" charset="-122"/>
              </a:rPr>
              <a:t>Windows Domain Controller</a:t>
            </a:r>
          </a:p>
          <a:p>
            <a:pPr algn="ctr">
              <a:spcBef>
                <a:spcPct val="50000"/>
              </a:spcBef>
            </a:pPr>
            <a:r>
              <a:rPr lang="en-US" altLang="zh-CN" sz="1200">
                <a:solidFill>
                  <a:srgbClr val="003580"/>
                </a:solidFill>
                <a:ea typeface="宋体" panose="02010600030101010101" pitchFamily="2" charset="-122"/>
              </a:rPr>
              <a:t>Active Directory (LDAP)</a:t>
            </a:r>
          </a:p>
          <a:p>
            <a:pPr algn="ctr">
              <a:spcBef>
                <a:spcPct val="50000"/>
              </a:spcBef>
            </a:pPr>
            <a:r>
              <a:rPr lang="en-US" altLang="zh-CN" sz="1200">
                <a:solidFill>
                  <a:srgbClr val="003580"/>
                </a:solidFill>
                <a:ea typeface="宋体" panose="02010600030101010101" pitchFamily="2" charset="-122"/>
              </a:rPr>
              <a:t>Kerberos, CHAP</a:t>
            </a:r>
          </a:p>
        </p:txBody>
      </p:sp>
      <p:sp>
        <p:nvSpPr>
          <p:cNvPr id="97316" name="Text Box 36">
            <a:extLst>
              <a:ext uri="{FF2B5EF4-FFF2-40B4-BE49-F238E27FC236}">
                <a16:creationId xmlns:a16="http://schemas.microsoft.com/office/drawing/2014/main" id="{152DF18D-014F-256B-E61A-21C3A6AEF074}"/>
              </a:ext>
            </a:extLst>
          </p:cNvPr>
          <p:cNvSpPr txBox="1">
            <a:spLocks noChangeArrowheads="1"/>
          </p:cNvSpPr>
          <p:nvPr/>
        </p:nvSpPr>
        <p:spPr bwMode="auto">
          <a:xfrm>
            <a:off x="2751138" y="3046413"/>
            <a:ext cx="196373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FFFF66"/>
                </a:solidFill>
                <a:ea typeface="宋体" panose="02010600030101010101" pitchFamily="2" charset="-122"/>
              </a:rPr>
              <a:t>UNIX Authentication</a:t>
            </a:r>
          </a:p>
        </p:txBody>
      </p:sp>
      <p:sp>
        <p:nvSpPr>
          <p:cNvPr id="97317" name="Text Box 37">
            <a:extLst>
              <a:ext uri="{FF2B5EF4-FFF2-40B4-BE49-F238E27FC236}">
                <a16:creationId xmlns:a16="http://schemas.microsoft.com/office/drawing/2014/main" id="{1CF0FA7D-58BC-9483-C5F5-A558CAA1D0AA}"/>
              </a:ext>
            </a:extLst>
          </p:cNvPr>
          <p:cNvSpPr txBox="1">
            <a:spLocks noChangeArrowheads="1"/>
          </p:cNvSpPr>
          <p:nvPr/>
        </p:nvSpPr>
        <p:spPr bwMode="auto">
          <a:xfrm>
            <a:off x="3116263" y="1752600"/>
            <a:ext cx="744537"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a:solidFill>
                  <a:srgbClr val="003580"/>
                </a:solidFill>
                <a:ea typeface="宋体" panose="02010600030101010101" pitchFamily="2" charset="-122"/>
              </a:rPr>
              <a:t>NIS Server</a:t>
            </a:r>
          </a:p>
        </p:txBody>
      </p:sp>
      <p:sp>
        <p:nvSpPr>
          <p:cNvPr id="97318" name="AutoShape 38">
            <a:extLst>
              <a:ext uri="{FF2B5EF4-FFF2-40B4-BE49-F238E27FC236}">
                <a16:creationId xmlns:a16="http://schemas.microsoft.com/office/drawing/2014/main" id="{ACD09BDA-A442-E804-2AB4-381FF697E870}"/>
              </a:ext>
            </a:extLst>
          </p:cNvPr>
          <p:cNvSpPr>
            <a:spLocks noChangeArrowheads="1"/>
          </p:cNvSpPr>
          <p:nvPr/>
        </p:nvSpPr>
        <p:spPr bwMode="auto">
          <a:xfrm>
            <a:off x="6865938" y="1804988"/>
            <a:ext cx="1627187" cy="898525"/>
          </a:xfrm>
          <a:prstGeom prst="can">
            <a:avLst>
              <a:gd name="adj" fmla="val 25000"/>
            </a:avLst>
          </a:prstGeom>
          <a:solidFill>
            <a:srgbClr val="CCFFFF"/>
          </a:solidFill>
          <a:ln w="25400">
            <a:solidFill>
              <a:schemeClr val="tx1"/>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a:solidFill>
                  <a:srgbClr val="003580"/>
                </a:solidFill>
                <a:ea typeface="宋体" panose="02010600030101010101" pitchFamily="2" charset="-122"/>
              </a:rPr>
              <a:t>UNIX object</a:t>
            </a:r>
          </a:p>
          <a:p>
            <a:pPr algn="ctr">
              <a:spcBef>
                <a:spcPct val="50000"/>
              </a:spcBef>
            </a:pPr>
            <a:r>
              <a:rPr lang="en-US" altLang="zh-CN" sz="1400">
                <a:solidFill>
                  <a:srgbClr val="003580"/>
                </a:solidFill>
                <a:ea typeface="宋体" panose="02010600030101010101" pitchFamily="2" charset="-122"/>
              </a:rPr>
              <a:t>-rwxrwxrwx</a:t>
            </a:r>
          </a:p>
        </p:txBody>
      </p:sp>
      <p:sp>
        <p:nvSpPr>
          <p:cNvPr id="97319" name="AutoShape 39">
            <a:extLst>
              <a:ext uri="{FF2B5EF4-FFF2-40B4-BE49-F238E27FC236}">
                <a16:creationId xmlns:a16="http://schemas.microsoft.com/office/drawing/2014/main" id="{124AD708-C95A-8993-A7D2-FA53D0C49133}"/>
              </a:ext>
            </a:extLst>
          </p:cNvPr>
          <p:cNvSpPr>
            <a:spLocks noChangeArrowheads="1"/>
          </p:cNvSpPr>
          <p:nvPr/>
        </p:nvSpPr>
        <p:spPr bwMode="auto">
          <a:xfrm>
            <a:off x="6877050" y="2808288"/>
            <a:ext cx="1627188" cy="1827212"/>
          </a:xfrm>
          <a:prstGeom prst="can">
            <a:avLst>
              <a:gd name="adj" fmla="val 28073"/>
            </a:avLst>
          </a:prstGeom>
          <a:solidFill>
            <a:srgbClr val="CCFFFF"/>
          </a:solidFill>
          <a:ln w="25400">
            <a:solidFill>
              <a:schemeClr val="tx1"/>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zh-CN" altLang="en-US" sz="1200">
                <a:solidFill>
                  <a:srgbClr val="003580"/>
                </a:solidFill>
                <a:ea typeface="宋体" panose="02010600030101010101" pitchFamily="2" charset="-122"/>
              </a:rPr>
              <a:t>  </a:t>
            </a:r>
            <a:r>
              <a:rPr lang="en-US" altLang="zh-CN" sz="1400">
                <a:solidFill>
                  <a:srgbClr val="003580"/>
                </a:solidFill>
                <a:ea typeface="宋体" panose="02010600030101010101" pitchFamily="2" charset="-122"/>
              </a:rPr>
              <a:t>Windows object</a:t>
            </a:r>
          </a:p>
          <a:p>
            <a:pPr>
              <a:spcBef>
                <a:spcPct val="50000"/>
              </a:spcBef>
            </a:pPr>
            <a:r>
              <a:rPr lang="en-US" altLang="zh-CN" sz="1400">
                <a:solidFill>
                  <a:srgbClr val="003580"/>
                </a:solidFill>
                <a:ea typeface="宋体" panose="02010600030101010101" pitchFamily="2" charset="-122"/>
              </a:rPr>
              <a:t> ACL</a:t>
            </a:r>
          </a:p>
          <a:p>
            <a:pPr>
              <a:spcBef>
                <a:spcPct val="50000"/>
              </a:spcBef>
            </a:pPr>
            <a:r>
              <a:rPr lang="en-US" altLang="zh-CN" sz="1400">
                <a:solidFill>
                  <a:srgbClr val="003580"/>
                </a:solidFill>
                <a:ea typeface="宋体" panose="02010600030101010101" pitchFamily="2" charset="-122"/>
              </a:rPr>
              <a:t> SID abc deny write</a:t>
            </a:r>
          </a:p>
          <a:p>
            <a:pPr>
              <a:spcBef>
                <a:spcPct val="50000"/>
              </a:spcBef>
            </a:pPr>
            <a:r>
              <a:rPr lang="en-US" altLang="zh-CN" sz="1400">
                <a:solidFill>
                  <a:srgbClr val="003580"/>
                </a:solidFill>
                <a:ea typeface="宋体" panose="02010600030101010101" pitchFamily="2" charset="-122"/>
              </a:rPr>
              <a:t> SID xyz allow write</a:t>
            </a:r>
          </a:p>
        </p:txBody>
      </p:sp>
      <p:sp>
        <p:nvSpPr>
          <p:cNvPr id="97320" name="Text Box 40">
            <a:extLst>
              <a:ext uri="{FF2B5EF4-FFF2-40B4-BE49-F238E27FC236}">
                <a16:creationId xmlns:a16="http://schemas.microsoft.com/office/drawing/2014/main" id="{CD76437A-0D7B-C3F1-DBE6-95CF3C9F06FD}"/>
              </a:ext>
            </a:extLst>
          </p:cNvPr>
          <p:cNvSpPr txBox="1">
            <a:spLocks noChangeArrowheads="1"/>
          </p:cNvSpPr>
          <p:nvPr/>
        </p:nvSpPr>
        <p:spPr bwMode="auto">
          <a:xfrm>
            <a:off x="6877050" y="1487488"/>
            <a:ext cx="151606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zh-CN" altLang="en-US" sz="1200">
                <a:solidFill>
                  <a:srgbClr val="003580"/>
                </a:solidFill>
                <a:ea typeface="宋体" panose="02010600030101010101" pitchFamily="2" charset="-122"/>
              </a:rPr>
              <a:t> </a:t>
            </a:r>
            <a:r>
              <a:rPr lang="en-US" altLang="zh-CN" sz="1800" b="1">
                <a:solidFill>
                  <a:srgbClr val="0000FF"/>
                </a:solidFill>
                <a:ea typeface="宋体" panose="02010600030101010101" pitchFamily="2" charset="-122"/>
              </a:rPr>
              <a:t>Authorization</a:t>
            </a:r>
          </a:p>
        </p:txBody>
      </p:sp>
      <p:sp>
        <p:nvSpPr>
          <p:cNvPr id="97321" name="Text Box 41">
            <a:extLst>
              <a:ext uri="{FF2B5EF4-FFF2-40B4-BE49-F238E27FC236}">
                <a16:creationId xmlns:a16="http://schemas.microsoft.com/office/drawing/2014/main" id="{FA977A33-D5B1-EB23-9396-B38FC71DF123}"/>
              </a:ext>
            </a:extLst>
          </p:cNvPr>
          <p:cNvSpPr txBox="1">
            <a:spLocks noChangeArrowheads="1"/>
          </p:cNvSpPr>
          <p:nvPr/>
        </p:nvSpPr>
        <p:spPr bwMode="auto">
          <a:xfrm>
            <a:off x="3629025" y="3662363"/>
            <a:ext cx="9318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i="1">
                <a:solidFill>
                  <a:srgbClr val="FFCCCC"/>
                </a:solidFill>
                <a:ea typeface="宋体" panose="02010600030101010101" pitchFamily="2" charset="-122"/>
              </a:rPr>
              <a:t>Network</a:t>
            </a:r>
          </a:p>
        </p:txBody>
      </p:sp>
      <p:sp>
        <p:nvSpPr>
          <p:cNvPr id="97322" name="Text Box 42">
            <a:extLst>
              <a:ext uri="{FF2B5EF4-FFF2-40B4-BE49-F238E27FC236}">
                <a16:creationId xmlns:a16="http://schemas.microsoft.com/office/drawing/2014/main" id="{24CED021-0EEB-D8BA-E259-F244C4E34D35}"/>
              </a:ext>
            </a:extLst>
          </p:cNvPr>
          <p:cNvSpPr txBox="1">
            <a:spLocks noChangeArrowheads="1"/>
          </p:cNvSpPr>
          <p:nvPr/>
        </p:nvSpPr>
        <p:spPr bwMode="auto">
          <a:xfrm>
            <a:off x="1333500" y="5373688"/>
            <a:ext cx="998538"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a:solidFill>
                  <a:srgbClr val="003580"/>
                </a:solidFill>
                <a:ea typeface="宋体" panose="02010600030101010101" pitchFamily="2" charset="-122"/>
              </a:rPr>
              <a:t>User SID - abc</a:t>
            </a:r>
          </a:p>
        </p:txBody>
      </p:sp>
      <p:sp>
        <p:nvSpPr>
          <p:cNvPr id="97323" name="Text Box 43">
            <a:extLst>
              <a:ext uri="{FF2B5EF4-FFF2-40B4-BE49-F238E27FC236}">
                <a16:creationId xmlns:a16="http://schemas.microsoft.com/office/drawing/2014/main" id="{22A363E9-D630-310B-F531-93F04155760B}"/>
              </a:ext>
            </a:extLst>
          </p:cNvPr>
          <p:cNvSpPr txBox="1">
            <a:spLocks noChangeArrowheads="1"/>
          </p:cNvSpPr>
          <p:nvPr/>
        </p:nvSpPr>
        <p:spPr bwMode="auto">
          <a:xfrm>
            <a:off x="1066800" y="2362200"/>
            <a:ext cx="793750"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a:solidFill>
                  <a:srgbClr val="003580"/>
                </a:solidFill>
                <a:ea typeface="宋体" panose="02010600030101010101" pitchFamily="2" charset="-122"/>
              </a:rPr>
              <a:t>UNIX Client</a:t>
            </a:r>
          </a:p>
        </p:txBody>
      </p:sp>
      <p:sp>
        <p:nvSpPr>
          <p:cNvPr id="97324" name="Text Box 44">
            <a:extLst>
              <a:ext uri="{FF2B5EF4-FFF2-40B4-BE49-F238E27FC236}">
                <a16:creationId xmlns:a16="http://schemas.microsoft.com/office/drawing/2014/main" id="{60CD93EB-52F7-0BE4-EEBF-FDF7585A463B}"/>
              </a:ext>
            </a:extLst>
          </p:cNvPr>
          <p:cNvSpPr txBox="1">
            <a:spLocks noChangeArrowheads="1"/>
          </p:cNvSpPr>
          <p:nvPr/>
        </p:nvSpPr>
        <p:spPr bwMode="auto">
          <a:xfrm>
            <a:off x="933450" y="4240213"/>
            <a:ext cx="1046163"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a:solidFill>
                  <a:srgbClr val="003580"/>
                </a:solidFill>
                <a:ea typeface="宋体" panose="02010600030101010101" pitchFamily="2" charset="-122"/>
              </a:rPr>
              <a:t>Windows Client</a:t>
            </a:r>
          </a:p>
        </p:txBody>
      </p:sp>
      <p:sp>
        <p:nvSpPr>
          <p:cNvPr id="97325" name="Text Box 45">
            <a:extLst>
              <a:ext uri="{FF2B5EF4-FFF2-40B4-BE49-F238E27FC236}">
                <a16:creationId xmlns:a16="http://schemas.microsoft.com/office/drawing/2014/main" id="{C0BCD677-150D-5994-2259-752A2FD60230}"/>
              </a:ext>
            </a:extLst>
          </p:cNvPr>
          <p:cNvSpPr txBox="1">
            <a:spLocks noChangeArrowheads="1"/>
          </p:cNvSpPr>
          <p:nvPr/>
        </p:nvSpPr>
        <p:spPr bwMode="auto">
          <a:xfrm>
            <a:off x="1412875" y="3540125"/>
            <a:ext cx="625475"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a:solidFill>
                  <a:srgbClr val="003580"/>
                </a:solidFill>
                <a:ea typeface="宋体" panose="02010600030101010101" pitchFamily="2" charset="-122"/>
              </a:rPr>
              <a:t>User root</a:t>
            </a:r>
          </a:p>
        </p:txBody>
      </p:sp>
      <p:sp>
        <p:nvSpPr>
          <p:cNvPr id="97326" name="AutoShape 46">
            <a:extLst>
              <a:ext uri="{FF2B5EF4-FFF2-40B4-BE49-F238E27FC236}">
                <a16:creationId xmlns:a16="http://schemas.microsoft.com/office/drawing/2014/main" id="{0E16A395-9CD9-80C8-9814-855201159EE7}"/>
              </a:ext>
            </a:extLst>
          </p:cNvPr>
          <p:cNvSpPr>
            <a:spLocks noChangeArrowheads="1"/>
          </p:cNvSpPr>
          <p:nvPr/>
        </p:nvSpPr>
        <p:spPr bwMode="auto">
          <a:xfrm rot="3156921">
            <a:off x="4638675" y="3432176"/>
            <a:ext cx="485775" cy="2000250"/>
          </a:xfrm>
          <a:prstGeom prst="curvedRightArrow">
            <a:avLst>
              <a:gd name="adj1" fmla="val 20493"/>
              <a:gd name="adj2" fmla="val 102846"/>
              <a:gd name="adj3" fmla="val 33333"/>
            </a:avLst>
          </a:prstGeom>
          <a:solidFill>
            <a:srgbClr val="00FF00"/>
          </a:solidFill>
          <a:ln w="25400">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97327" name="Text Box 47">
            <a:extLst>
              <a:ext uri="{FF2B5EF4-FFF2-40B4-BE49-F238E27FC236}">
                <a16:creationId xmlns:a16="http://schemas.microsoft.com/office/drawing/2014/main" id="{FF79C63C-6F89-ABE7-9D32-522A9EF01369}"/>
              </a:ext>
            </a:extLst>
          </p:cNvPr>
          <p:cNvSpPr txBox="1">
            <a:spLocks noChangeArrowheads="1"/>
          </p:cNvSpPr>
          <p:nvPr/>
        </p:nvSpPr>
        <p:spPr bwMode="auto">
          <a:xfrm>
            <a:off x="5715000" y="4143375"/>
            <a:ext cx="819150" cy="18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a:solidFill>
                  <a:srgbClr val="003580"/>
                </a:solidFill>
                <a:ea typeface="宋体" panose="02010600030101010101" pitchFamily="2" charset="-122"/>
              </a:rPr>
              <a:t>NAS Device</a:t>
            </a:r>
          </a:p>
        </p:txBody>
      </p:sp>
      <p:sp>
        <p:nvSpPr>
          <p:cNvPr id="97328" name="AutoShape 48">
            <a:extLst>
              <a:ext uri="{FF2B5EF4-FFF2-40B4-BE49-F238E27FC236}">
                <a16:creationId xmlns:a16="http://schemas.microsoft.com/office/drawing/2014/main" id="{09FD541E-C9E9-C7F7-727F-B3743ECAA3F3}"/>
              </a:ext>
            </a:extLst>
          </p:cNvPr>
          <p:cNvSpPr>
            <a:spLocks noChangeArrowheads="1"/>
          </p:cNvSpPr>
          <p:nvPr/>
        </p:nvSpPr>
        <p:spPr bwMode="auto">
          <a:xfrm rot="4546740">
            <a:off x="3402806" y="1831182"/>
            <a:ext cx="485775" cy="4386262"/>
          </a:xfrm>
          <a:prstGeom prst="curvedRightArrow">
            <a:avLst>
              <a:gd name="adj1" fmla="val 44938"/>
              <a:gd name="adj2" fmla="val 225526"/>
              <a:gd name="adj3" fmla="val 33333"/>
            </a:avLst>
          </a:prstGeom>
          <a:solidFill>
            <a:srgbClr val="FF0000"/>
          </a:solidFill>
          <a:ln w="25400">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97329" name="AutoShape 49">
            <a:extLst>
              <a:ext uri="{FF2B5EF4-FFF2-40B4-BE49-F238E27FC236}">
                <a16:creationId xmlns:a16="http://schemas.microsoft.com/office/drawing/2014/main" id="{AE028AAA-3AD6-F212-FC4A-09E1D5589F38}"/>
              </a:ext>
            </a:extLst>
          </p:cNvPr>
          <p:cNvSpPr>
            <a:spLocks noChangeArrowheads="1"/>
          </p:cNvSpPr>
          <p:nvPr/>
        </p:nvSpPr>
        <p:spPr bwMode="auto">
          <a:xfrm rot="5144767">
            <a:off x="3323432" y="337343"/>
            <a:ext cx="768350" cy="4386263"/>
          </a:xfrm>
          <a:prstGeom prst="curvedRightArrow">
            <a:avLst>
              <a:gd name="adj1" fmla="val 28411"/>
              <a:gd name="adj2" fmla="val 142585"/>
              <a:gd name="adj3" fmla="val 33333"/>
            </a:avLst>
          </a:prstGeom>
          <a:solidFill>
            <a:srgbClr val="FF0000"/>
          </a:solidFill>
          <a:ln w="25400">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97330" name="AutoShape 50">
            <a:extLst>
              <a:ext uri="{FF2B5EF4-FFF2-40B4-BE49-F238E27FC236}">
                <a16:creationId xmlns:a16="http://schemas.microsoft.com/office/drawing/2014/main" id="{7663F3AF-D11E-F0E7-E050-B755DEC67F1C}"/>
              </a:ext>
            </a:extLst>
          </p:cNvPr>
          <p:cNvSpPr>
            <a:spLocks noChangeArrowheads="1"/>
          </p:cNvSpPr>
          <p:nvPr/>
        </p:nvSpPr>
        <p:spPr bwMode="auto">
          <a:xfrm rot="6972784">
            <a:off x="4609306" y="1507332"/>
            <a:ext cx="517525" cy="2363788"/>
          </a:xfrm>
          <a:prstGeom prst="curvedRightArrow">
            <a:avLst>
              <a:gd name="adj1" fmla="val 22732"/>
              <a:gd name="adj2" fmla="val 114081"/>
              <a:gd name="adj3" fmla="val 33333"/>
            </a:avLst>
          </a:prstGeom>
          <a:solidFill>
            <a:srgbClr val="9933FF"/>
          </a:solidFill>
          <a:ln w="25400">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97331" name="Text Box 51">
            <a:extLst>
              <a:ext uri="{FF2B5EF4-FFF2-40B4-BE49-F238E27FC236}">
                <a16:creationId xmlns:a16="http://schemas.microsoft.com/office/drawing/2014/main" id="{5DEF580B-8B76-2255-4B55-8D33EA43E00E}"/>
              </a:ext>
            </a:extLst>
          </p:cNvPr>
          <p:cNvSpPr txBox="1">
            <a:spLocks noChangeArrowheads="1"/>
          </p:cNvSpPr>
          <p:nvPr/>
        </p:nvSpPr>
        <p:spPr bwMode="auto">
          <a:xfrm>
            <a:off x="5118100" y="4856163"/>
            <a:ext cx="3970338" cy="61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sz="1600">
                <a:solidFill>
                  <a:srgbClr val="003580"/>
                </a:solidFill>
                <a:ea typeface="宋体" panose="02010600030101010101" pitchFamily="2" charset="-122"/>
              </a:rPr>
              <a:t>Validate DC/NIS connectivity and bandwidth</a:t>
            </a:r>
          </a:p>
          <a:p>
            <a:pPr>
              <a:spcBef>
                <a:spcPct val="50000"/>
              </a:spcBef>
            </a:pPr>
            <a:r>
              <a:rPr lang="en-US" altLang="zh-CN" sz="1600">
                <a:solidFill>
                  <a:srgbClr val="003580"/>
                </a:solidFill>
                <a:ea typeface="宋体" panose="02010600030101010101" pitchFamily="2" charset="-122"/>
              </a:rPr>
              <a:t>Multi-protocol considerations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7316"/>
                                        </p:tgtEl>
                                        <p:attrNameLst>
                                          <p:attrName>style.visibility</p:attrName>
                                        </p:attrNameLst>
                                      </p:cBhvr>
                                      <p:to>
                                        <p:strVal val="visible"/>
                                      </p:to>
                                    </p:set>
                                    <p:animEffect transition="in" filter="blinds(horizontal)">
                                      <p:cBhvr>
                                        <p:cTn id="7" dur="500"/>
                                        <p:tgtEl>
                                          <p:spTgt spid="973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97330"/>
                                        </p:tgtEl>
                                        <p:attrNameLst>
                                          <p:attrName>style.visibility</p:attrName>
                                        </p:attrNameLst>
                                      </p:cBhvr>
                                      <p:to>
                                        <p:strVal val="visible"/>
                                      </p:to>
                                    </p:set>
                                    <p:anim calcmode="lin" valueType="num">
                                      <p:cBhvr additive="base">
                                        <p:cTn id="12" dur="500" fill="hold"/>
                                        <p:tgtEl>
                                          <p:spTgt spid="97330"/>
                                        </p:tgtEl>
                                        <p:attrNameLst>
                                          <p:attrName>ppt_x</p:attrName>
                                        </p:attrNameLst>
                                      </p:cBhvr>
                                      <p:tavLst>
                                        <p:tav tm="0">
                                          <p:val>
                                            <p:strVal val="#ppt_x"/>
                                          </p:val>
                                        </p:tav>
                                        <p:tav tm="100000">
                                          <p:val>
                                            <p:strVal val="#ppt_x"/>
                                          </p:val>
                                        </p:tav>
                                      </p:tavLst>
                                    </p:anim>
                                    <p:anim calcmode="lin" valueType="num">
                                      <p:cBhvr additive="base">
                                        <p:cTn id="13" dur="500" fill="hold"/>
                                        <p:tgtEl>
                                          <p:spTgt spid="97330"/>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7314"/>
                                        </p:tgtEl>
                                        <p:attrNameLst>
                                          <p:attrName>style.visibility</p:attrName>
                                        </p:attrNameLst>
                                      </p:cBhvr>
                                      <p:to>
                                        <p:strVal val="visible"/>
                                      </p:to>
                                    </p:set>
                                    <p:animEffect transition="in" filter="blinds(horizontal)">
                                      <p:cBhvr>
                                        <p:cTn id="18" dur="500"/>
                                        <p:tgtEl>
                                          <p:spTgt spid="9731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97326"/>
                                        </p:tgtEl>
                                        <p:attrNameLst>
                                          <p:attrName>style.visibility</p:attrName>
                                        </p:attrNameLst>
                                      </p:cBhvr>
                                      <p:to>
                                        <p:strVal val="visible"/>
                                      </p:to>
                                    </p:set>
                                    <p:anim calcmode="lin" valueType="num">
                                      <p:cBhvr additive="base">
                                        <p:cTn id="23" dur="500" fill="hold"/>
                                        <p:tgtEl>
                                          <p:spTgt spid="97326"/>
                                        </p:tgtEl>
                                        <p:attrNameLst>
                                          <p:attrName>ppt_x</p:attrName>
                                        </p:attrNameLst>
                                      </p:cBhvr>
                                      <p:tavLst>
                                        <p:tav tm="0">
                                          <p:val>
                                            <p:strVal val="#ppt_x"/>
                                          </p:val>
                                        </p:tav>
                                        <p:tav tm="100000">
                                          <p:val>
                                            <p:strVal val="#ppt_x"/>
                                          </p:val>
                                        </p:tav>
                                      </p:tavLst>
                                    </p:anim>
                                    <p:anim calcmode="lin" valueType="num">
                                      <p:cBhvr additive="base">
                                        <p:cTn id="24" dur="500" fill="hold"/>
                                        <p:tgtEl>
                                          <p:spTgt spid="97326"/>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97329"/>
                                        </p:tgtEl>
                                        <p:attrNameLst>
                                          <p:attrName>style.visibility</p:attrName>
                                        </p:attrNameLst>
                                      </p:cBhvr>
                                      <p:to>
                                        <p:strVal val="visible"/>
                                      </p:to>
                                    </p:set>
                                    <p:anim calcmode="lin" valueType="num">
                                      <p:cBhvr additive="base">
                                        <p:cTn id="29" dur="500" fill="hold"/>
                                        <p:tgtEl>
                                          <p:spTgt spid="97329"/>
                                        </p:tgtEl>
                                        <p:attrNameLst>
                                          <p:attrName>ppt_x</p:attrName>
                                        </p:attrNameLst>
                                      </p:cBhvr>
                                      <p:tavLst>
                                        <p:tav tm="0">
                                          <p:val>
                                            <p:strVal val="#ppt_x"/>
                                          </p:val>
                                        </p:tav>
                                        <p:tav tm="100000">
                                          <p:val>
                                            <p:strVal val="#ppt_x"/>
                                          </p:val>
                                        </p:tav>
                                      </p:tavLst>
                                    </p:anim>
                                    <p:anim calcmode="lin" valueType="num">
                                      <p:cBhvr additive="base">
                                        <p:cTn id="30" dur="500" fill="hold"/>
                                        <p:tgtEl>
                                          <p:spTgt spid="97329"/>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97328"/>
                                        </p:tgtEl>
                                        <p:attrNameLst>
                                          <p:attrName>style.visibility</p:attrName>
                                        </p:attrNameLst>
                                      </p:cBhvr>
                                      <p:to>
                                        <p:strVal val="visible"/>
                                      </p:to>
                                    </p:set>
                                    <p:anim calcmode="lin" valueType="num">
                                      <p:cBhvr additive="base">
                                        <p:cTn id="33" dur="500" fill="hold"/>
                                        <p:tgtEl>
                                          <p:spTgt spid="97328"/>
                                        </p:tgtEl>
                                        <p:attrNameLst>
                                          <p:attrName>ppt_x</p:attrName>
                                        </p:attrNameLst>
                                      </p:cBhvr>
                                      <p:tavLst>
                                        <p:tav tm="0">
                                          <p:val>
                                            <p:strVal val="#ppt_x"/>
                                          </p:val>
                                        </p:tav>
                                        <p:tav tm="100000">
                                          <p:val>
                                            <p:strVal val="#ppt_x"/>
                                          </p:val>
                                        </p:tav>
                                      </p:tavLst>
                                    </p:anim>
                                    <p:anim calcmode="lin" valueType="num">
                                      <p:cBhvr additive="base">
                                        <p:cTn id="34" dur="500" fill="hold"/>
                                        <p:tgtEl>
                                          <p:spTgt spid="973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14" grpId="0"/>
      <p:bldP spid="973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0C1CAB7-1188-5224-75FB-0835E2746AC9}"/>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DBB9A8C8-BEDD-7DD6-8A1B-04D060DE5759}"/>
              </a:ext>
            </a:extLst>
          </p:cNvPr>
          <p:cNvSpPr>
            <a:spLocks noGrp="1"/>
          </p:cNvSpPr>
          <p:nvPr>
            <p:ph type="sldNum" sz="quarter" idx="11"/>
          </p:nvPr>
        </p:nvSpPr>
        <p:spPr/>
        <p:txBody>
          <a:bodyPr/>
          <a:lstStyle/>
          <a:p>
            <a:r>
              <a:rPr lang="zh-CN" altLang="en-US"/>
              <a:t> </a:t>
            </a:r>
            <a:r>
              <a:rPr lang="en-US" altLang="zh-CN"/>
              <a:t>- </a:t>
            </a:r>
            <a:fld id="{63C3C2E7-D6C4-4249-9319-92F25C7C8520}" type="slidenum">
              <a:rPr lang="en-US" altLang="zh-CN" sz="800"/>
              <a:pPr/>
              <a:t>36</a:t>
            </a:fld>
            <a:endParaRPr lang="en-US" altLang="zh-CN" sz="800"/>
          </a:p>
        </p:txBody>
      </p:sp>
      <p:sp>
        <p:nvSpPr>
          <p:cNvPr id="100354" name="Rectangle 2">
            <a:extLst>
              <a:ext uri="{FF2B5EF4-FFF2-40B4-BE49-F238E27FC236}">
                <a16:creationId xmlns:a16="http://schemas.microsoft.com/office/drawing/2014/main" id="{E5124C8D-890C-85E1-B5E2-360917560B02}"/>
              </a:ext>
            </a:extLst>
          </p:cNvPr>
          <p:cNvSpPr>
            <a:spLocks noGrp="1" noChangeArrowheads="1"/>
          </p:cNvSpPr>
          <p:nvPr>
            <p:ph type="title"/>
          </p:nvPr>
        </p:nvSpPr>
        <p:spPr/>
        <p:txBody>
          <a:bodyPr/>
          <a:lstStyle/>
          <a:p>
            <a:r>
              <a:rPr lang="en-US" altLang="zh-CN">
                <a:ea typeface="宋体" panose="02010600030101010101" pitchFamily="2" charset="-122"/>
              </a:rPr>
              <a:t>Kerberos</a:t>
            </a:r>
          </a:p>
        </p:txBody>
      </p:sp>
      <p:sp>
        <p:nvSpPr>
          <p:cNvPr id="100355" name="Rectangle 3">
            <a:extLst>
              <a:ext uri="{FF2B5EF4-FFF2-40B4-BE49-F238E27FC236}">
                <a16:creationId xmlns:a16="http://schemas.microsoft.com/office/drawing/2014/main" id="{548054C3-97B0-DFCC-A850-114152631D04}"/>
              </a:ext>
            </a:extLst>
          </p:cNvPr>
          <p:cNvSpPr>
            <a:spLocks noGrp="1" noChangeArrowheads="1"/>
          </p:cNvSpPr>
          <p:nvPr>
            <p:ph type="body" idx="1"/>
          </p:nvPr>
        </p:nvSpPr>
        <p:spPr/>
        <p:txBody>
          <a:bodyPr/>
          <a:lstStyle/>
          <a:p>
            <a:r>
              <a:rPr lang="en-US" altLang="zh-CN">
                <a:ea typeface="宋体" panose="02010600030101010101" pitchFamily="2" charset="-122"/>
              </a:rPr>
              <a:t>A network authentication protocol</a:t>
            </a:r>
          </a:p>
          <a:p>
            <a:pPr lvl="1"/>
            <a:r>
              <a:rPr lang="en-US" altLang="zh-CN">
                <a:ea typeface="宋体" panose="02010600030101010101" pitchFamily="2" charset="-122"/>
              </a:rPr>
              <a:t>Uses secret-key cryptography. </a:t>
            </a:r>
          </a:p>
          <a:p>
            <a:pPr lvl="1"/>
            <a:r>
              <a:rPr lang="en-US" altLang="zh-CN">
                <a:ea typeface="宋体" panose="02010600030101010101" pitchFamily="2" charset="-122"/>
              </a:rPr>
              <a:t>A client can prove its identity to a server (and vice versa) across an insecure network connection</a:t>
            </a:r>
          </a:p>
          <a:p>
            <a:pPr lvl="1"/>
            <a:r>
              <a:rPr lang="en-US" altLang="zh-CN">
                <a:ea typeface="宋体" panose="02010600030101010101" pitchFamily="2" charset="-122"/>
              </a:rPr>
              <a:t>Kerberos client</a:t>
            </a:r>
          </a:p>
          <a:p>
            <a:pPr lvl="2"/>
            <a:r>
              <a:rPr lang="en-US" altLang="zh-CN">
                <a:ea typeface="宋体" panose="02010600030101010101" pitchFamily="2" charset="-122"/>
              </a:rPr>
              <a:t>An entity that gets a service ticket for a Kerberos service. </a:t>
            </a:r>
          </a:p>
          <a:p>
            <a:pPr lvl="2"/>
            <a:r>
              <a:rPr lang="en-US" altLang="zh-CN">
                <a:ea typeface="宋体" panose="02010600030101010101" pitchFamily="2" charset="-122"/>
              </a:rPr>
              <a:t>A client is can be a user or host</a:t>
            </a:r>
          </a:p>
          <a:p>
            <a:pPr lvl="1"/>
            <a:r>
              <a:rPr lang="en-US" altLang="zh-CN">
                <a:ea typeface="宋体" panose="02010600030101010101" pitchFamily="2" charset="-122"/>
              </a:rPr>
              <a:t>Kerberos server</a:t>
            </a:r>
          </a:p>
          <a:p>
            <a:pPr lvl="2"/>
            <a:r>
              <a:rPr lang="en-US" altLang="zh-CN">
                <a:ea typeface="宋体" panose="02010600030101010101" pitchFamily="2" charset="-122"/>
              </a:rPr>
              <a:t>Refers to the Key Distribution Center</a:t>
            </a:r>
          </a:p>
          <a:p>
            <a:pPr lvl="2"/>
            <a:r>
              <a:rPr lang="en-US" altLang="zh-CN">
                <a:ea typeface="宋体" panose="02010600030101010101" pitchFamily="2" charset="-122"/>
              </a:rPr>
              <a:t>Implements the Authentication Service (AS) and the Ticket Granting Service (TGS)</a:t>
            </a:r>
          </a:p>
          <a:p>
            <a:pPr lvl="1"/>
            <a:r>
              <a:rPr lang="en-US" altLang="zh-CN">
                <a:ea typeface="宋体" panose="02010600030101010101" pitchFamily="2" charset="-122"/>
              </a:rPr>
              <a:t>Application can make use of Kerberos tickets to verify identity and/or encrypt data</a:t>
            </a:r>
          </a:p>
          <a:p>
            <a:endParaRPr lang="en-US" altLang="zh-CN">
              <a:ea typeface="宋体" panose="0201060003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EE0F0E97-0250-CB30-3EA4-ED91C64E061E}"/>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CF688309-D295-2F82-6D08-98EAE14B86F9}"/>
              </a:ext>
            </a:extLst>
          </p:cNvPr>
          <p:cNvSpPr>
            <a:spLocks noGrp="1"/>
          </p:cNvSpPr>
          <p:nvPr>
            <p:ph type="sldNum" sz="quarter" idx="11"/>
          </p:nvPr>
        </p:nvSpPr>
        <p:spPr/>
        <p:txBody>
          <a:bodyPr/>
          <a:lstStyle/>
          <a:p>
            <a:r>
              <a:rPr lang="zh-CN" altLang="en-US"/>
              <a:t> </a:t>
            </a:r>
            <a:r>
              <a:rPr lang="en-US" altLang="zh-CN"/>
              <a:t>- </a:t>
            </a:r>
            <a:fld id="{E2F8B746-2AD7-4236-9FC0-A24CB40CAE13}" type="slidenum">
              <a:rPr lang="en-US" altLang="zh-CN" sz="800"/>
              <a:pPr/>
              <a:t>37</a:t>
            </a:fld>
            <a:endParaRPr lang="en-US" altLang="zh-CN" sz="800"/>
          </a:p>
        </p:txBody>
      </p:sp>
      <p:sp>
        <p:nvSpPr>
          <p:cNvPr id="103426" name="Rectangle 2">
            <a:extLst>
              <a:ext uri="{FF2B5EF4-FFF2-40B4-BE49-F238E27FC236}">
                <a16:creationId xmlns:a16="http://schemas.microsoft.com/office/drawing/2014/main" id="{A886C55B-1F00-4158-7031-B0CD893B2B66}"/>
              </a:ext>
            </a:extLst>
          </p:cNvPr>
          <p:cNvSpPr>
            <a:spLocks noGrp="1" noChangeArrowheads="1"/>
          </p:cNvSpPr>
          <p:nvPr>
            <p:ph type="title"/>
          </p:nvPr>
        </p:nvSpPr>
        <p:spPr/>
        <p:txBody>
          <a:bodyPr/>
          <a:lstStyle/>
          <a:p>
            <a:r>
              <a:rPr lang="en-US" altLang="zh-CN">
                <a:ea typeface="宋体" panose="02010600030101010101" pitchFamily="2" charset="-122"/>
              </a:rPr>
              <a:t>Kerberos authorization</a:t>
            </a:r>
          </a:p>
        </p:txBody>
      </p:sp>
      <p:sp>
        <p:nvSpPr>
          <p:cNvPr id="103433" name="Freeform 9">
            <a:extLst>
              <a:ext uri="{FF2B5EF4-FFF2-40B4-BE49-F238E27FC236}">
                <a16:creationId xmlns:a16="http://schemas.microsoft.com/office/drawing/2014/main" id="{0BE37248-8911-9412-9A38-7267DB979980}"/>
              </a:ext>
            </a:extLst>
          </p:cNvPr>
          <p:cNvSpPr>
            <a:spLocks/>
          </p:cNvSpPr>
          <p:nvPr/>
        </p:nvSpPr>
        <p:spPr bwMode="auto">
          <a:xfrm>
            <a:off x="6457950" y="4208463"/>
            <a:ext cx="1352550" cy="1177925"/>
          </a:xfrm>
          <a:custGeom>
            <a:avLst/>
            <a:gdLst>
              <a:gd name="T0" fmla="*/ 1278 w 2555"/>
              <a:gd name="T1" fmla="*/ 0 h 2225"/>
              <a:gd name="T2" fmla="*/ 0 w 2555"/>
              <a:gd name="T3" fmla="*/ 2225 h 2225"/>
              <a:gd name="T4" fmla="*/ 2555 w 2555"/>
              <a:gd name="T5" fmla="*/ 2225 h 2225"/>
              <a:gd name="T6" fmla="*/ 1278 w 2555"/>
              <a:gd name="T7" fmla="*/ 0 h 2225"/>
            </a:gdLst>
            <a:ahLst/>
            <a:cxnLst>
              <a:cxn ang="0">
                <a:pos x="T0" y="T1"/>
              </a:cxn>
              <a:cxn ang="0">
                <a:pos x="T2" y="T3"/>
              </a:cxn>
              <a:cxn ang="0">
                <a:pos x="T4" y="T5"/>
              </a:cxn>
              <a:cxn ang="0">
                <a:pos x="T6" y="T7"/>
              </a:cxn>
            </a:cxnLst>
            <a:rect l="0" t="0" r="r" b="b"/>
            <a:pathLst>
              <a:path w="2555" h="2225">
                <a:moveTo>
                  <a:pt x="1278" y="0"/>
                </a:moveTo>
                <a:lnTo>
                  <a:pt x="0" y="2225"/>
                </a:lnTo>
                <a:lnTo>
                  <a:pt x="2555" y="2225"/>
                </a:lnTo>
                <a:lnTo>
                  <a:pt x="1278" y="0"/>
                </a:lnTo>
                <a:close/>
              </a:path>
            </a:pathLst>
          </a:cu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34" name="Freeform 10">
            <a:extLst>
              <a:ext uri="{FF2B5EF4-FFF2-40B4-BE49-F238E27FC236}">
                <a16:creationId xmlns:a16="http://schemas.microsoft.com/office/drawing/2014/main" id="{603D8554-5C7A-698F-6DC1-AD0DDB358560}"/>
              </a:ext>
            </a:extLst>
          </p:cNvPr>
          <p:cNvSpPr>
            <a:spLocks/>
          </p:cNvSpPr>
          <p:nvPr/>
        </p:nvSpPr>
        <p:spPr bwMode="auto">
          <a:xfrm>
            <a:off x="6457950" y="4208463"/>
            <a:ext cx="1352550" cy="1177925"/>
          </a:xfrm>
          <a:custGeom>
            <a:avLst/>
            <a:gdLst>
              <a:gd name="T0" fmla="*/ 0 w 2555"/>
              <a:gd name="T1" fmla="*/ 2225 h 2225"/>
              <a:gd name="T2" fmla="*/ 2555 w 2555"/>
              <a:gd name="T3" fmla="*/ 2225 h 2225"/>
              <a:gd name="T4" fmla="*/ 1278 w 2555"/>
              <a:gd name="T5" fmla="*/ 0 h 2225"/>
              <a:gd name="T6" fmla="*/ 0 w 2555"/>
              <a:gd name="T7" fmla="*/ 2225 h 2225"/>
            </a:gdLst>
            <a:ahLst/>
            <a:cxnLst>
              <a:cxn ang="0">
                <a:pos x="T0" y="T1"/>
              </a:cxn>
              <a:cxn ang="0">
                <a:pos x="T2" y="T3"/>
              </a:cxn>
              <a:cxn ang="0">
                <a:pos x="T4" y="T5"/>
              </a:cxn>
              <a:cxn ang="0">
                <a:pos x="T6" y="T7"/>
              </a:cxn>
            </a:cxnLst>
            <a:rect l="0" t="0" r="r" b="b"/>
            <a:pathLst>
              <a:path w="2555" h="2225">
                <a:moveTo>
                  <a:pt x="0" y="2225"/>
                </a:moveTo>
                <a:lnTo>
                  <a:pt x="2555" y="2225"/>
                </a:lnTo>
                <a:lnTo>
                  <a:pt x="1278" y="0"/>
                </a:lnTo>
                <a:lnTo>
                  <a:pt x="0" y="2225"/>
                </a:lnTo>
              </a:path>
            </a:pathLst>
          </a:custGeom>
          <a:noFill/>
          <a:ln w="254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35" name="Rectangle 11">
            <a:extLst>
              <a:ext uri="{FF2B5EF4-FFF2-40B4-BE49-F238E27FC236}">
                <a16:creationId xmlns:a16="http://schemas.microsoft.com/office/drawing/2014/main" id="{D4F8C9E2-CEC9-51A7-F788-8C5B0C55CBA9}"/>
              </a:ext>
            </a:extLst>
          </p:cNvPr>
          <p:cNvSpPr>
            <a:spLocks noChangeArrowheads="1"/>
          </p:cNvSpPr>
          <p:nvPr/>
        </p:nvSpPr>
        <p:spPr bwMode="auto">
          <a:xfrm>
            <a:off x="1512888" y="1727200"/>
            <a:ext cx="8350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Windows </a:t>
            </a:r>
            <a:endParaRPr lang="en-US" altLang="zh-CN" sz="1800">
              <a:solidFill>
                <a:schemeClr val="tx1"/>
              </a:solidFill>
              <a:ea typeface="宋体" panose="02010600030101010101" pitchFamily="2" charset="-122"/>
            </a:endParaRPr>
          </a:p>
        </p:txBody>
      </p:sp>
      <p:sp>
        <p:nvSpPr>
          <p:cNvPr id="103436" name="Rectangle 12">
            <a:extLst>
              <a:ext uri="{FF2B5EF4-FFF2-40B4-BE49-F238E27FC236}">
                <a16:creationId xmlns:a16="http://schemas.microsoft.com/office/drawing/2014/main" id="{9E02B82D-53BF-585A-B169-936CE951D5AE}"/>
              </a:ext>
            </a:extLst>
          </p:cNvPr>
          <p:cNvSpPr>
            <a:spLocks noChangeArrowheads="1"/>
          </p:cNvSpPr>
          <p:nvPr/>
        </p:nvSpPr>
        <p:spPr bwMode="auto">
          <a:xfrm>
            <a:off x="1657350" y="1936750"/>
            <a:ext cx="4937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Client</a:t>
            </a:r>
            <a:endParaRPr lang="en-US" altLang="zh-CN" sz="1800">
              <a:solidFill>
                <a:schemeClr val="tx1"/>
              </a:solidFill>
              <a:ea typeface="宋体" panose="02010600030101010101" pitchFamily="2" charset="-122"/>
            </a:endParaRPr>
          </a:p>
        </p:txBody>
      </p:sp>
      <p:sp>
        <p:nvSpPr>
          <p:cNvPr id="103437" name="Rectangle 13">
            <a:extLst>
              <a:ext uri="{FF2B5EF4-FFF2-40B4-BE49-F238E27FC236}">
                <a16:creationId xmlns:a16="http://schemas.microsoft.com/office/drawing/2014/main" id="{755A4D82-1D1B-C81A-9115-00FEF0B7548B}"/>
              </a:ext>
            </a:extLst>
          </p:cNvPr>
          <p:cNvSpPr>
            <a:spLocks noChangeArrowheads="1"/>
          </p:cNvSpPr>
          <p:nvPr/>
        </p:nvSpPr>
        <p:spPr bwMode="auto">
          <a:xfrm>
            <a:off x="6953250" y="1417638"/>
            <a:ext cx="3540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KDC</a:t>
            </a:r>
            <a:endParaRPr lang="en-US" altLang="zh-CN" sz="1800">
              <a:solidFill>
                <a:schemeClr val="tx1"/>
              </a:solidFill>
              <a:ea typeface="宋体" panose="02010600030101010101" pitchFamily="2" charset="-122"/>
            </a:endParaRPr>
          </a:p>
        </p:txBody>
      </p:sp>
      <p:sp>
        <p:nvSpPr>
          <p:cNvPr id="103438" name="Freeform 14">
            <a:extLst>
              <a:ext uri="{FF2B5EF4-FFF2-40B4-BE49-F238E27FC236}">
                <a16:creationId xmlns:a16="http://schemas.microsoft.com/office/drawing/2014/main" id="{CA337942-920F-3701-1A56-F62987E7C735}"/>
              </a:ext>
            </a:extLst>
          </p:cNvPr>
          <p:cNvSpPr>
            <a:spLocks/>
          </p:cNvSpPr>
          <p:nvPr/>
        </p:nvSpPr>
        <p:spPr bwMode="auto">
          <a:xfrm>
            <a:off x="6731000" y="2105025"/>
            <a:ext cx="612775" cy="55563"/>
          </a:xfrm>
          <a:custGeom>
            <a:avLst/>
            <a:gdLst>
              <a:gd name="T0" fmla="*/ 1156 w 1157"/>
              <a:gd name="T1" fmla="*/ 9 h 107"/>
              <a:gd name="T2" fmla="*/ 1156 w 1157"/>
              <a:gd name="T3" fmla="*/ 7 h 107"/>
              <a:gd name="T4" fmla="*/ 1156 w 1157"/>
              <a:gd name="T5" fmla="*/ 6 h 107"/>
              <a:gd name="T6" fmla="*/ 1157 w 1157"/>
              <a:gd name="T7" fmla="*/ 6 h 107"/>
              <a:gd name="T8" fmla="*/ 1156 w 1157"/>
              <a:gd name="T9" fmla="*/ 1 h 107"/>
              <a:gd name="T10" fmla="*/ 1152 w 1157"/>
              <a:gd name="T11" fmla="*/ 0 h 107"/>
              <a:gd name="T12" fmla="*/ 4 w 1157"/>
              <a:gd name="T13" fmla="*/ 0 h 107"/>
              <a:gd name="T14" fmla="*/ 2 w 1157"/>
              <a:gd name="T15" fmla="*/ 1 h 107"/>
              <a:gd name="T16" fmla="*/ 0 w 1157"/>
              <a:gd name="T17" fmla="*/ 6 h 107"/>
              <a:gd name="T18" fmla="*/ 0 w 1157"/>
              <a:gd name="T19" fmla="*/ 101 h 107"/>
              <a:gd name="T20" fmla="*/ 2 w 1157"/>
              <a:gd name="T21" fmla="*/ 106 h 107"/>
              <a:gd name="T22" fmla="*/ 4 w 1157"/>
              <a:gd name="T23" fmla="*/ 107 h 107"/>
              <a:gd name="T24" fmla="*/ 5 w 1157"/>
              <a:gd name="T25" fmla="*/ 107 h 107"/>
              <a:gd name="T26" fmla="*/ 8 w 1157"/>
              <a:gd name="T27" fmla="*/ 106 h 107"/>
              <a:gd name="T28" fmla="*/ 9 w 1157"/>
              <a:gd name="T29" fmla="*/ 101 h 107"/>
              <a:gd name="T30" fmla="*/ 9 w 1157"/>
              <a:gd name="T31" fmla="*/ 11 h 107"/>
              <a:gd name="T32" fmla="*/ 592 w 1157"/>
              <a:gd name="T33" fmla="*/ 11 h 107"/>
              <a:gd name="T34" fmla="*/ 592 w 1157"/>
              <a:gd name="T35" fmla="*/ 101 h 107"/>
              <a:gd name="T36" fmla="*/ 593 w 1157"/>
              <a:gd name="T37" fmla="*/ 106 h 107"/>
              <a:gd name="T38" fmla="*/ 596 w 1157"/>
              <a:gd name="T39" fmla="*/ 107 h 107"/>
              <a:gd name="T40" fmla="*/ 597 w 1157"/>
              <a:gd name="T41" fmla="*/ 107 h 107"/>
              <a:gd name="T42" fmla="*/ 599 w 1157"/>
              <a:gd name="T43" fmla="*/ 106 h 107"/>
              <a:gd name="T44" fmla="*/ 600 w 1157"/>
              <a:gd name="T45" fmla="*/ 101 h 107"/>
              <a:gd name="T46" fmla="*/ 600 w 1157"/>
              <a:gd name="T47" fmla="*/ 11 h 107"/>
              <a:gd name="T48" fmla="*/ 1152 w 1157"/>
              <a:gd name="T49" fmla="*/ 11 h 107"/>
              <a:gd name="T50" fmla="*/ 1152 w 1157"/>
              <a:gd name="T51" fmla="*/ 9 h 107"/>
              <a:gd name="T52" fmla="*/ 1153 w 1157"/>
              <a:gd name="T53" fmla="*/ 9 h 107"/>
              <a:gd name="T54" fmla="*/ 1156 w 1157"/>
              <a:gd name="T55" fmla="*/ 9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57" h="107">
                <a:moveTo>
                  <a:pt x="1156" y="9"/>
                </a:moveTo>
                <a:lnTo>
                  <a:pt x="1156" y="7"/>
                </a:lnTo>
                <a:lnTo>
                  <a:pt x="1156" y="6"/>
                </a:lnTo>
                <a:lnTo>
                  <a:pt x="1157" y="6"/>
                </a:lnTo>
                <a:lnTo>
                  <a:pt x="1156" y="1"/>
                </a:lnTo>
                <a:lnTo>
                  <a:pt x="1152" y="0"/>
                </a:lnTo>
                <a:lnTo>
                  <a:pt x="4" y="0"/>
                </a:lnTo>
                <a:lnTo>
                  <a:pt x="2" y="1"/>
                </a:lnTo>
                <a:lnTo>
                  <a:pt x="0" y="6"/>
                </a:lnTo>
                <a:lnTo>
                  <a:pt x="0" y="101"/>
                </a:lnTo>
                <a:lnTo>
                  <a:pt x="2" y="106"/>
                </a:lnTo>
                <a:lnTo>
                  <a:pt x="4" y="107"/>
                </a:lnTo>
                <a:lnTo>
                  <a:pt x="5" y="107"/>
                </a:lnTo>
                <a:lnTo>
                  <a:pt x="8" y="106"/>
                </a:lnTo>
                <a:lnTo>
                  <a:pt x="9" y="101"/>
                </a:lnTo>
                <a:lnTo>
                  <a:pt x="9" y="11"/>
                </a:lnTo>
                <a:lnTo>
                  <a:pt x="592" y="11"/>
                </a:lnTo>
                <a:lnTo>
                  <a:pt x="592" y="101"/>
                </a:lnTo>
                <a:lnTo>
                  <a:pt x="593" y="106"/>
                </a:lnTo>
                <a:lnTo>
                  <a:pt x="596" y="107"/>
                </a:lnTo>
                <a:lnTo>
                  <a:pt x="597" y="107"/>
                </a:lnTo>
                <a:lnTo>
                  <a:pt x="599" y="106"/>
                </a:lnTo>
                <a:lnTo>
                  <a:pt x="600" y="101"/>
                </a:lnTo>
                <a:lnTo>
                  <a:pt x="600" y="11"/>
                </a:lnTo>
                <a:lnTo>
                  <a:pt x="1152" y="11"/>
                </a:lnTo>
                <a:lnTo>
                  <a:pt x="1152" y="9"/>
                </a:lnTo>
                <a:lnTo>
                  <a:pt x="1153" y="9"/>
                </a:lnTo>
                <a:lnTo>
                  <a:pt x="1156"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39" name="Freeform 15">
            <a:extLst>
              <a:ext uri="{FF2B5EF4-FFF2-40B4-BE49-F238E27FC236}">
                <a16:creationId xmlns:a16="http://schemas.microsoft.com/office/drawing/2014/main" id="{5464A0AA-EBB0-B860-00F0-F49ED8620238}"/>
              </a:ext>
            </a:extLst>
          </p:cNvPr>
          <p:cNvSpPr>
            <a:spLocks/>
          </p:cNvSpPr>
          <p:nvPr/>
        </p:nvSpPr>
        <p:spPr bwMode="auto">
          <a:xfrm>
            <a:off x="1716088" y="2554288"/>
            <a:ext cx="450850" cy="19050"/>
          </a:xfrm>
          <a:custGeom>
            <a:avLst/>
            <a:gdLst>
              <a:gd name="T0" fmla="*/ 486 w 850"/>
              <a:gd name="T1" fmla="*/ 0 h 36"/>
              <a:gd name="T2" fmla="*/ 490 w 850"/>
              <a:gd name="T3" fmla="*/ 0 h 36"/>
              <a:gd name="T4" fmla="*/ 495 w 850"/>
              <a:gd name="T5" fmla="*/ 2 h 36"/>
              <a:gd name="T6" fmla="*/ 497 w 850"/>
              <a:gd name="T7" fmla="*/ 4 h 36"/>
              <a:gd name="T8" fmla="*/ 499 w 850"/>
              <a:gd name="T9" fmla="*/ 7 h 36"/>
              <a:gd name="T10" fmla="*/ 497 w 850"/>
              <a:gd name="T11" fmla="*/ 9 h 36"/>
              <a:gd name="T12" fmla="*/ 495 w 850"/>
              <a:gd name="T13" fmla="*/ 13 h 36"/>
              <a:gd name="T14" fmla="*/ 490 w 850"/>
              <a:gd name="T15" fmla="*/ 14 h 36"/>
              <a:gd name="T16" fmla="*/ 486 w 850"/>
              <a:gd name="T17" fmla="*/ 15 h 36"/>
              <a:gd name="T18" fmla="*/ 480 w 850"/>
              <a:gd name="T19" fmla="*/ 14 h 36"/>
              <a:gd name="T20" fmla="*/ 476 w 850"/>
              <a:gd name="T21" fmla="*/ 13 h 36"/>
              <a:gd name="T22" fmla="*/ 472 w 850"/>
              <a:gd name="T23" fmla="*/ 9 h 36"/>
              <a:gd name="T24" fmla="*/ 472 w 850"/>
              <a:gd name="T25" fmla="*/ 7 h 36"/>
              <a:gd name="T26" fmla="*/ 476 w 850"/>
              <a:gd name="T27" fmla="*/ 2 h 36"/>
              <a:gd name="T28" fmla="*/ 484 w 850"/>
              <a:gd name="T29" fmla="*/ 0 h 36"/>
              <a:gd name="T30" fmla="*/ 442 w 850"/>
              <a:gd name="T31" fmla="*/ 0 h 36"/>
              <a:gd name="T32" fmla="*/ 444 w 850"/>
              <a:gd name="T33" fmla="*/ 4 h 36"/>
              <a:gd name="T34" fmla="*/ 441 w 850"/>
              <a:gd name="T35" fmla="*/ 12 h 36"/>
              <a:gd name="T36" fmla="*/ 439 w 850"/>
              <a:gd name="T37" fmla="*/ 14 h 36"/>
              <a:gd name="T38" fmla="*/ 438 w 850"/>
              <a:gd name="T39" fmla="*/ 14 h 36"/>
              <a:gd name="T40" fmla="*/ 438 w 850"/>
              <a:gd name="T41" fmla="*/ 15 h 36"/>
              <a:gd name="T42" fmla="*/ 438 w 850"/>
              <a:gd name="T43" fmla="*/ 18 h 36"/>
              <a:gd name="T44" fmla="*/ 435 w 850"/>
              <a:gd name="T45" fmla="*/ 18 h 36"/>
              <a:gd name="T46" fmla="*/ 434 w 850"/>
              <a:gd name="T47" fmla="*/ 18 h 36"/>
              <a:gd name="T48" fmla="*/ 434 w 850"/>
              <a:gd name="T49" fmla="*/ 19 h 36"/>
              <a:gd name="T50" fmla="*/ 432 w 850"/>
              <a:gd name="T51" fmla="*/ 21 h 36"/>
              <a:gd name="T52" fmla="*/ 429 w 850"/>
              <a:gd name="T53" fmla="*/ 21 h 36"/>
              <a:gd name="T54" fmla="*/ 428 w 850"/>
              <a:gd name="T55" fmla="*/ 21 h 36"/>
              <a:gd name="T56" fmla="*/ 428 w 850"/>
              <a:gd name="T57" fmla="*/ 22 h 36"/>
              <a:gd name="T58" fmla="*/ 426 w 850"/>
              <a:gd name="T59" fmla="*/ 24 h 36"/>
              <a:gd name="T60" fmla="*/ 417 w 850"/>
              <a:gd name="T61" fmla="*/ 21 h 36"/>
              <a:gd name="T62" fmla="*/ 412 w 850"/>
              <a:gd name="T63" fmla="*/ 18 h 36"/>
              <a:gd name="T64" fmla="*/ 409 w 850"/>
              <a:gd name="T65" fmla="*/ 12 h 36"/>
              <a:gd name="T66" fmla="*/ 408 w 850"/>
              <a:gd name="T67" fmla="*/ 4 h 36"/>
              <a:gd name="T68" fmla="*/ 408 w 850"/>
              <a:gd name="T69" fmla="*/ 0 h 36"/>
              <a:gd name="T70" fmla="*/ 366 w 850"/>
              <a:gd name="T71" fmla="*/ 0 h 36"/>
              <a:gd name="T72" fmla="*/ 369 w 850"/>
              <a:gd name="T73" fmla="*/ 0 h 36"/>
              <a:gd name="T74" fmla="*/ 374 w 850"/>
              <a:gd name="T75" fmla="*/ 2 h 36"/>
              <a:gd name="T76" fmla="*/ 378 w 850"/>
              <a:gd name="T77" fmla="*/ 4 h 36"/>
              <a:gd name="T78" fmla="*/ 379 w 850"/>
              <a:gd name="T79" fmla="*/ 7 h 36"/>
              <a:gd name="T80" fmla="*/ 378 w 850"/>
              <a:gd name="T81" fmla="*/ 9 h 36"/>
              <a:gd name="T82" fmla="*/ 375 w 850"/>
              <a:gd name="T83" fmla="*/ 10 h 36"/>
              <a:gd name="T84" fmla="*/ 374 w 850"/>
              <a:gd name="T85" fmla="*/ 13 h 36"/>
              <a:gd name="T86" fmla="*/ 369 w 850"/>
              <a:gd name="T87" fmla="*/ 14 h 36"/>
              <a:gd name="T88" fmla="*/ 364 w 850"/>
              <a:gd name="T89" fmla="*/ 15 h 36"/>
              <a:gd name="T90" fmla="*/ 355 w 850"/>
              <a:gd name="T91" fmla="*/ 13 h 36"/>
              <a:gd name="T92" fmla="*/ 351 w 850"/>
              <a:gd name="T93" fmla="*/ 9 h 36"/>
              <a:gd name="T94" fmla="*/ 351 w 850"/>
              <a:gd name="T95" fmla="*/ 7 h 36"/>
              <a:gd name="T96" fmla="*/ 355 w 850"/>
              <a:gd name="T97" fmla="*/ 2 h 36"/>
              <a:gd name="T98" fmla="*/ 364 w 850"/>
              <a:gd name="T99" fmla="*/ 0 h 36"/>
              <a:gd name="T100" fmla="*/ 0 w 850"/>
              <a:gd name="T101" fmla="*/ 0 h 36"/>
              <a:gd name="T102" fmla="*/ 0 w 850"/>
              <a:gd name="T103" fmla="*/ 36 h 36"/>
              <a:gd name="T104" fmla="*/ 279 w 850"/>
              <a:gd name="T105" fmla="*/ 36 h 36"/>
              <a:gd name="T106" fmla="*/ 282 w 850"/>
              <a:gd name="T107" fmla="*/ 36 h 36"/>
              <a:gd name="T108" fmla="*/ 568 w 850"/>
              <a:gd name="T109" fmla="*/ 36 h 36"/>
              <a:gd name="T110" fmla="*/ 569 w 850"/>
              <a:gd name="T111" fmla="*/ 36 h 36"/>
              <a:gd name="T112" fmla="*/ 850 w 850"/>
              <a:gd name="T113" fmla="*/ 36 h 36"/>
              <a:gd name="T114" fmla="*/ 850 w 850"/>
              <a:gd name="T115" fmla="*/ 0 h 36"/>
              <a:gd name="T116" fmla="*/ 486 w 850"/>
              <a:gd name="T117"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50" h="36">
                <a:moveTo>
                  <a:pt x="486" y="0"/>
                </a:moveTo>
                <a:lnTo>
                  <a:pt x="490" y="0"/>
                </a:lnTo>
                <a:lnTo>
                  <a:pt x="495" y="2"/>
                </a:lnTo>
                <a:lnTo>
                  <a:pt x="497" y="4"/>
                </a:lnTo>
                <a:lnTo>
                  <a:pt x="499" y="7"/>
                </a:lnTo>
                <a:lnTo>
                  <a:pt x="497" y="9"/>
                </a:lnTo>
                <a:lnTo>
                  <a:pt x="495" y="13"/>
                </a:lnTo>
                <a:lnTo>
                  <a:pt x="490" y="14"/>
                </a:lnTo>
                <a:lnTo>
                  <a:pt x="486" y="15"/>
                </a:lnTo>
                <a:lnTo>
                  <a:pt x="480" y="14"/>
                </a:lnTo>
                <a:lnTo>
                  <a:pt x="476" y="13"/>
                </a:lnTo>
                <a:lnTo>
                  <a:pt x="472" y="9"/>
                </a:lnTo>
                <a:lnTo>
                  <a:pt x="472" y="7"/>
                </a:lnTo>
                <a:lnTo>
                  <a:pt x="476" y="2"/>
                </a:lnTo>
                <a:lnTo>
                  <a:pt x="484" y="0"/>
                </a:lnTo>
                <a:lnTo>
                  <a:pt x="442" y="0"/>
                </a:lnTo>
                <a:lnTo>
                  <a:pt x="444" y="4"/>
                </a:lnTo>
                <a:lnTo>
                  <a:pt x="441" y="12"/>
                </a:lnTo>
                <a:lnTo>
                  <a:pt x="439" y="14"/>
                </a:lnTo>
                <a:lnTo>
                  <a:pt x="438" y="14"/>
                </a:lnTo>
                <a:lnTo>
                  <a:pt x="438" y="15"/>
                </a:lnTo>
                <a:lnTo>
                  <a:pt x="438" y="18"/>
                </a:lnTo>
                <a:lnTo>
                  <a:pt x="435" y="18"/>
                </a:lnTo>
                <a:lnTo>
                  <a:pt x="434" y="18"/>
                </a:lnTo>
                <a:lnTo>
                  <a:pt x="434" y="19"/>
                </a:lnTo>
                <a:lnTo>
                  <a:pt x="432" y="21"/>
                </a:lnTo>
                <a:lnTo>
                  <a:pt x="429" y="21"/>
                </a:lnTo>
                <a:lnTo>
                  <a:pt x="428" y="21"/>
                </a:lnTo>
                <a:lnTo>
                  <a:pt x="428" y="22"/>
                </a:lnTo>
                <a:lnTo>
                  <a:pt x="426" y="24"/>
                </a:lnTo>
                <a:lnTo>
                  <a:pt x="417" y="21"/>
                </a:lnTo>
                <a:lnTo>
                  <a:pt x="412" y="18"/>
                </a:lnTo>
                <a:lnTo>
                  <a:pt x="409" y="12"/>
                </a:lnTo>
                <a:lnTo>
                  <a:pt x="408" y="4"/>
                </a:lnTo>
                <a:lnTo>
                  <a:pt x="408" y="0"/>
                </a:lnTo>
                <a:lnTo>
                  <a:pt x="366" y="0"/>
                </a:lnTo>
                <a:lnTo>
                  <a:pt x="369" y="0"/>
                </a:lnTo>
                <a:lnTo>
                  <a:pt x="374" y="2"/>
                </a:lnTo>
                <a:lnTo>
                  <a:pt x="378" y="4"/>
                </a:lnTo>
                <a:lnTo>
                  <a:pt x="379" y="7"/>
                </a:lnTo>
                <a:lnTo>
                  <a:pt x="378" y="9"/>
                </a:lnTo>
                <a:lnTo>
                  <a:pt x="375" y="10"/>
                </a:lnTo>
                <a:lnTo>
                  <a:pt x="374" y="13"/>
                </a:lnTo>
                <a:lnTo>
                  <a:pt x="369" y="14"/>
                </a:lnTo>
                <a:lnTo>
                  <a:pt x="364" y="15"/>
                </a:lnTo>
                <a:lnTo>
                  <a:pt x="355" y="13"/>
                </a:lnTo>
                <a:lnTo>
                  <a:pt x="351" y="9"/>
                </a:lnTo>
                <a:lnTo>
                  <a:pt x="351" y="7"/>
                </a:lnTo>
                <a:lnTo>
                  <a:pt x="355" y="2"/>
                </a:lnTo>
                <a:lnTo>
                  <a:pt x="364" y="0"/>
                </a:lnTo>
                <a:lnTo>
                  <a:pt x="0" y="0"/>
                </a:lnTo>
                <a:lnTo>
                  <a:pt x="0" y="36"/>
                </a:lnTo>
                <a:lnTo>
                  <a:pt x="279" y="36"/>
                </a:lnTo>
                <a:lnTo>
                  <a:pt x="282" y="36"/>
                </a:lnTo>
                <a:lnTo>
                  <a:pt x="568" y="36"/>
                </a:lnTo>
                <a:lnTo>
                  <a:pt x="569" y="36"/>
                </a:lnTo>
                <a:lnTo>
                  <a:pt x="850" y="36"/>
                </a:lnTo>
                <a:lnTo>
                  <a:pt x="850" y="0"/>
                </a:lnTo>
                <a:lnTo>
                  <a:pt x="486"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40" name="Freeform 16">
            <a:extLst>
              <a:ext uri="{FF2B5EF4-FFF2-40B4-BE49-F238E27FC236}">
                <a16:creationId xmlns:a16="http://schemas.microsoft.com/office/drawing/2014/main" id="{F887530C-4BB8-2449-40E4-394372C0BE8F}"/>
              </a:ext>
            </a:extLst>
          </p:cNvPr>
          <p:cNvSpPr>
            <a:spLocks/>
          </p:cNvSpPr>
          <p:nvPr/>
        </p:nvSpPr>
        <p:spPr bwMode="auto">
          <a:xfrm>
            <a:off x="1966913" y="2554288"/>
            <a:ext cx="14287" cy="7937"/>
          </a:xfrm>
          <a:custGeom>
            <a:avLst/>
            <a:gdLst>
              <a:gd name="T0" fmla="*/ 23 w 27"/>
              <a:gd name="T1" fmla="*/ 2 h 15"/>
              <a:gd name="T2" fmla="*/ 18 w 27"/>
              <a:gd name="T3" fmla="*/ 0 h 15"/>
              <a:gd name="T4" fmla="*/ 14 w 27"/>
              <a:gd name="T5" fmla="*/ 0 h 15"/>
              <a:gd name="T6" fmla="*/ 12 w 27"/>
              <a:gd name="T7" fmla="*/ 0 h 15"/>
              <a:gd name="T8" fmla="*/ 4 w 27"/>
              <a:gd name="T9" fmla="*/ 2 h 15"/>
              <a:gd name="T10" fmla="*/ 0 w 27"/>
              <a:gd name="T11" fmla="*/ 7 h 15"/>
              <a:gd name="T12" fmla="*/ 0 w 27"/>
              <a:gd name="T13" fmla="*/ 9 h 15"/>
              <a:gd name="T14" fmla="*/ 4 w 27"/>
              <a:gd name="T15" fmla="*/ 13 h 15"/>
              <a:gd name="T16" fmla="*/ 8 w 27"/>
              <a:gd name="T17" fmla="*/ 14 h 15"/>
              <a:gd name="T18" fmla="*/ 14 w 27"/>
              <a:gd name="T19" fmla="*/ 15 h 15"/>
              <a:gd name="T20" fmla="*/ 18 w 27"/>
              <a:gd name="T21" fmla="*/ 14 h 15"/>
              <a:gd name="T22" fmla="*/ 23 w 27"/>
              <a:gd name="T23" fmla="*/ 13 h 15"/>
              <a:gd name="T24" fmla="*/ 25 w 27"/>
              <a:gd name="T25" fmla="*/ 9 h 15"/>
              <a:gd name="T26" fmla="*/ 27 w 27"/>
              <a:gd name="T27" fmla="*/ 7 h 15"/>
              <a:gd name="T28" fmla="*/ 25 w 27"/>
              <a:gd name="T29" fmla="*/ 4 h 15"/>
              <a:gd name="T30" fmla="*/ 23 w 27"/>
              <a:gd name="T31"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15">
                <a:moveTo>
                  <a:pt x="23" y="2"/>
                </a:moveTo>
                <a:lnTo>
                  <a:pt x="18" y="0"/>
                </a:lnTo>
                <a:lnTo>
                  <a:pt x="14" y="0"/>
                </a:lnTo>
                <a:lnTo>
                  <a:pt x="12" y="0"/>
                </a:lnTo>
                <a:lnTo>
                  <a:pt x="4" y="2"/>
                </a:lnTo>
                <a:lnTo>
                  <a:pt x="0" y="7"/>
                </a:lnTo>
                <a:lnTo>
                  <a:pt x="0" y="9"/>
                </a:lnTo>
                <a:lnTo>
                  <a:pt x="4" y="13"/>
                </a:lnTo>
                <a:lnTo>
                  <a:pt x="8" y="14"/>
                </a:lnTo>
                <a:lnTo>
                  <a:pt x="14" y="15"/>
                </a:lnTo>
                <a:lnTo>
                  <a:pt x="18" y="14"/>
                </a:lnTo>
                <a:lnTo>
                  <a:pt x="23" y="13"/>
                </a:lnTo>
                <a:lnTo>
                  <a:pt x="25" y="9"/>
                </a:lnTo>
                <a:lnTo>
                  <a:pt x="27" y="7"/>
                </a:lnTo>
                <a:lnTo>
                  <a:pt x="25" y="4"/>
                </a:lnTo>
                <a:lnTo>
                  <a:pt x="23" y="2"/>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41" name="Freeform 17">
            <a:extLst>
              <a:ext uri="{FF2B5EF4-FFF2-40B4-BE49-F238E27FC236}">
                <a16:creationId xmlns:a16="http://schemas.microsoft.com/office/drawing/2014/main" id="{9DDC9C5F-BE38-71D1-21E1-07E8B3CD95C9}"/>
              </a:ext>
            </a:extLst>
          </p:cNvPr>
          <p:cNvSpPr>
            <a:spLocks/>
          </p:cNvSpPr>
          <p:nvPr/>
        </p:nvSpPr>
        <p:spPr bwMode="auto">
          <a:xfrm>
            <a:off x="1716088" y="2543175"/>
            <a:ext cx="450850" cy="11113"/>
          </a:xfrm>
          <a:custGeom>
            <a:avLst/>
            <a:gdLst>
              <a:gd name="T0" fmla="*/ 484 w 850"/>
              <a:gd name="T1" fmla="*/ 22 h 22"/>
              <a:gd name="T2" fmla="*/ 486 w 850"/>
              <a:gd name="T3" fmla="*/ 22 h 22"/>
              <a:gd name="T4" fmla="*/ 850 w 850"/>
              <a:gd name="T5" fmla="*/ 22 h 22"/>
              <a:gd name="T6" fmla="*/ 850 w 850"/>
              <a:gd name="T7" fmla="*/ 0 h 22"/>
              <a:gd name="T8" fmla="*/ 619 w 850"/>
              <a:gd name="T9" fmla="*/ 0 h 22"/>
              <a:gd name="T10" fmla="*/ 231 w 850"/>
              <a:gd name="T11" fmla="*/ 0 h 22"/>
              <a:gd name="T12" fmla="*/ 0 w 850"/>
              <a:gd name="T13" fmla="*/ 0 h 22"/>
              <a:gd name="T14" fmla="*/ 0 w 850"/>
              <a:gd name="T15" fmla="*/ 22 h 22"/>
              <a:gd name="T16" fmla="*/ 364 w 850"/>
              <a:gd name="T17" fmla="*/ 22 h 22"/>
              <a:gd name="T18" fmla="*/ 366 w 850"/>
              <a:gd name="T19" fmla="*/ 22 h 22"/>
              <a:gd name="T20" fmla="*/ 408 w 850"/>
              <a:gd name="T21" fmla="*/ 22 h 22"/>
              <a:gd name="T22" fmla="*/ 409 w 850"/>
              <a:gd name="T23" fmla="*/ 17 h 22"/>
              <a:gd name="T24" fmla="*/ 412 w 850"/>
              <a:gd name="T25" fmla="*/ 14 h 22"/>
              <a:gd name="T26" fmla="*/ 417 w 850"/>
              <a:gd name="T27" fmla="*/ 10 h 22"/>
              <a:gd name="T28" fmla="*/ 426 w 850"/>
              <a:gd name="T29" fmla="*/ 8 h 22"/>
              <a:gd name="T30" fmla="*/ 432 w 850"/>
              <a:gd name="T31" fmla="*/ 10 h 22"/>
              <a:gd name="T32" fmla="*/ 434 w 850"/>
              <a:gd name="T33" fmla="*/ 11 h 22"/>
              <a:gd name="T34" fmla="*/ 438 w 850"/>
              <a:gd name="T35" fmla="*/ 14 h 22"/>
              <a:gd name="T36" fmla="*/ 440 w 850"/>
              <a:gd name="T37" fmla="*/ 17 h 22"/>
              <a:gd name="T38" fmla="*/ 442 w 850"/>
              <a:gd name="T39" fmla="*/ 22 h 22"/>
              <a:gd name="T40" fmla="*/ 484 w 850"/>
              <a:gd name="T41"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50" h="22">
                <a:moveTo>
                  <a:pt x="484" y="22"/>
                </a:moveTo>
                <a:lnTo>
                  <a:pt x="486" y="22"/>
                </a:lnTo>
                <a:lnTo>
                  <a:pt x="850" y="22"/>
                </a:lnTo>
                <a:lnTo>
                  <a:pt x="850" y="0"/>
                </a:lnTo>
                <a:lnTo>
                  <a:pt x="619" y="0"/>
                </a:lnTo>
                <a:lnTo>
                  <a:pt x="231" y="0"/>
                </a:lnTo>
                <a:lnTo>
                  <a:pt x="0" y="0"/>
                </a:lnTo>
                <a:lnTo>
                  <a:pt x="0" y="22"/>
                </a:lnTo>
                <a:lnTo>
                  <a:pt x="364" y="22"/>
                </a:lnTo>
                <a:lnTo>
                  <a:pt x="366" y="22"/>
                </a:lnTo>
                <a:lnTo>
                  <a:pt x="408" y="22"/>
                </a:lnTo>
                <a:lnTo>
                  <a:pt x="409" y="17"/>
                </a:lnTo>
                <a:lnTo>
                  <a:pt x="412" y="14"/>
                </a:lnTo>
                <a:lnTo>
                  <a:pt x="417" y="10"/>
                </a:lnTo>
                <a:lnTo>
                  <a:pt x="426" y="8"/>
                </a:lnTo>
                <a:lnTo>
                  <a:pt x="432" y="10"/>
                </a:lnTo>
                <a:lnTo>
                  <a:pt x="434" y="11"/>
                </a:lnTo>
                <a:lnTo>
                  <a:pt x="438" y="14"/>
                </a:lnTo>
                <a:lnTo>
                  <a:pt x="440" y="17"/>
                </a:lnTo>
                <a:lnTo>
                  <a:pt x="442" y="22"/>
                </a:lnTo>
                <a:lnTo>
                  <a:pt x="484" y="22"/>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42" name="Freeform 18">
            <a:extLst>
              <a:ext uri="{FF2B5EF4-FFF2-40B4-BE49-F238E27FC236}">
                <a16:creationId xmlns:a16="http://schemas.microsoft.com/office/drawing/2014/main" id="{36633006-94FB-3682-5160-95802A60A2DB}"/>
              </a:ext>
            </a:extLst>
          </p:cNvPr>
          <p:cNvSpPr>
            <a:spLocks/>
          </p:cNvSpPr>
          <p:nvPr/>
        </p:nvSpPr>
        <p:spPr bwMode="auto">
          <a:xfrm>
            <a:off x="1865313" y="2573338"/>
            <a:ext cx="152400" cy="23812"/>
          </a:xfrm>
          <a:custGeom>
            <a:avLst/>
            <a:gdLst>
              <a:gd name="T0" fmla="*/ 271 w 286"/>
              <a:gd name="T1" fmla="*/ 12 h 46"/>
              <a:gd name="T2" fmla="*/ 278 w 286"/>
              <a:gd name="T3" fmla="*/ 6 h 46"/>
              <a:gd name="T4" fmla="*/ 286 w 286"/>
              <a:gd name="T5" fmla="*/ 1 h 46"/>
              <a:gd name="T6" fmla="*/ 286 w 286"/>
              <a:gd name="T7" fmla="*/ 0 h 46"/>
              <a:gd name="T8" fmla="*/ 0 w 286"/>
              <a:gd name="T9" fmla="*/ 0 h 46"/>
              <a:gd name="T10" fmla="*/ 0 w 286"/>
              <a:gd name="T11" fmla="*/ 1 h 46"/>
              <a:gd name="T12" fmla="*/ 8 w 286"/>
              <a:gd name="T13" fmla="*/ 7 h 46"/>
              <a:gd name="T14" fmla="*/ 19 w 286"/>
              <a:gd name="T15" fmla="*/ 14 h 46"/>
              <a:gd name="T16" fmla="*/ 49 w 286"/>
              <a:gd name="T17" fmla="*/ 28 h 46"/>
              <a:gd name="T18" fmla="*/ 81 w 286"/>
              <a:gd name="T19" fmla="*/ 39 h 46"/>
              <a:gd name="T20" fmla="*/ 108 w 286"/>
              <a:gd name="T21" fmla="*/ 44 h 46"/>
              <a:gd name="T22" fmla="*/ 142 w 286"/>
              <a:gd name="T23" fmla="*/ 46 h 46"/>
              <a:gd name="T24" fmla="*/ 159 w 286"/>
              <a:gd name="T25" fmla="*/ 44 h 46"/>
              <a:gd name="T26" fmla="*/ 159 w 286"/>
              <a:gd name="T27" fmla="*/ 43 h 46"/>
              <a:gd name="T28" fmla="*/ 160 w 286"/>
              <a:gd name="T29" fmla="*/ 43 h 46"/>
              <a:gd name="T30" fmla="*/ 163 w 286"/>
              <a:gd name="T31" fmla="*/ 43 h 46"/>
              <a:gd name="T32" fmla="*/ 168 w 286"/>
              <a:gd name="T33" fmla="*/ 43 h 46"/>
              <a:gd name="T34" fmla="*/ 177 w 286"/>
              <a:gd name="T35" fmla="*/ 43 h 46"/>
              <a:gd name="T36" fmla="*/ 211 w 286"/>
              <a:gd name="T37" fmla="*/ 37 h 46"/>
              <a:gd name="T38" fmla="*/ 225 w 286"/>
              <a:gd name="T39" fmla="*/ 31 h 46"/>
              <a:gd name="T40" fmla="*/ 241 w 286"/>
              <a:gd name="T41" fmla="*/ 26 h 46"/>
              <a:gd name="T42" fmla="*/ 255 w 286"/>
              <a:gd name="T43" fmla="*/ 19 h 46"/>
              <a:gd name="T44" fmla="*/ 271 w 286"/>
              <a:gd name="T45" fmla="*/ 1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 h="46">
                <a:moveTo>
                  <a:pt x="271" y="12"/>
                </a:moveTo>
                <a:lnTo>
                  <a:pt x="278" y="6"/>
                </a:lnTo>
                <a:lnTo>
                  <a:pt x="286" y="1"/>
                </a:lnTo>
                <a:lnTo>
                  <a:pt x="286" y="0"/>
                </a:lnTo>
                <a:lnTo>
                  <a:pt x="0" y="0"/>
                </a:lnTo>
                <a:lnTo>
                  <a:pt x="0" y="1"/>
                </a:lnTo>
                <a:lnTo>
                  <a:pt x="8" y="7"/>
                </a:lnTo>
                <a:lnTo>
                  <a:pt x="19" y="14"/>
                </a:lnTo>
                <a:lnTo>
                  <a:pt x="49" y="28"/>
                </a:lnTo>
                <a:lnTo>
                  <a:pt x="81" y="39"/>
                </a:lnTo>
                <a:lnTo>
                  <a:pt x="108" y="44"/>
                </a:lnTo>
                <a:lnTo>
                  <a:pt x="142" y="46"/>
                </a:lnTo>
                <a:lnTo>
                  <a:pt x="159" y="44"/>
                </a:lnTo>
                <a:lnTo>
                  <a:pt x="159" y="43"/>
                </a:lnTo>
                <a:lnTo>
                  <a:pt x="160" y="43"/>
                </a:lnTo>
                <a:lnTo>
                  <a:pt x="163" y="43"/>
                </a:lnTo>
                <a:lnTo>
                  <a:pt x="168" y="43"/>
                </a:lnTo>
                <a:lnTo>
                  <a:pt x="177" y="43"/>
                </a:lnTo>
                <a:lnTo>
                  <a:pt x="211" y="37"/>
                </a:lnTo>
                <a:lnTo>
                  <a:pt x="225" y="31"/>
                </a:lnTo>
                <a:lnTo>
                  <a:pt x="241" y="26"/>
                </a:lnTo>
                <a:lnTo>
                  <a:pt x="255" y="19"/>
                </a:lnTo>
                <a:lnTo>
                  <a:pt x="271" y="12"/>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43" name="Freeform 19">
            <a:extLst>
              <a:ext uri="{FF2B5EF4-FFF2-40B4-BE49-F238E27FC236}">
                <a16:creationId xmlns:a16="http://schemas.microsoft.com/office/drawing/2014/main" id="{CF0218C4-BB78-E8BB-CB35-5497FC2697FB}"/>
              </a:ext>
            </a:extLst>
          </p:cNvPr>
          <p:cNvSpPr>
            <a:spLocks/>
          </p:cNvSpPr>
          <p:nvPr/>
        </p:nvSpPr>
        <p:spPr bwMode="auto">
          <a:xfrm>
            <a:off x="1816100" y="2579688"/>
            <a:ext cx="250825" cy="33337"/>
          </a:xfrm>
          <a:custGeom>
            <a:avLst/>
            <a:gdLst>
              <a:gd name="T0" fmla="*/ 386 w 474"/>
              <a:gd name="T1" fmla="*/ 4 h 63"/>
              <a:gd name="T2" fmla="*/ 364 w 474"/>
              <a:gd name="T3" fmla="*/ 0 h 63"/>
              <a:gd name="T4" fmla="*/ 348 w 474"/>
              <a:gd name="T5" fmla="*/ 7 h 63"/>
              <a:gd name="T6" fmla="*/ 334 w 474"/>
              <a:gd name="T7" fmla="*/ 14 h 63"/>
              <a:gd name="T8" fmla="*/ 318 w 474"/>
              <a:gd name="T9" fmla="*/ 19 h 63"/>
              <a:gd name="T10" fmla="*/ 304 w 474"/>
              <a:gd name="T11" fmla="*/ 25 h 63"/>
              <a:gd name="T12" fmla="*/ 270 w 474"/>
              <a:gd name="T13" fmla="*/ 31 h 63"/>
              <a:gd name="T14" fmla="*/ 261 w 474"/>
              <a:gd name="T15" fmla="*/ 31 h 63"/>
              <a:gd name="T16" fmla="*/ 256 w 474"/>
              <a:gd name="T17" fmla="*/ 31 h 63"/>
              <a:gd name="T18" fmla="*/ 253 w 474"/>
              <a:gd name="T19" fmla="*/ 31 h 63"/>
              <a:gd name="T20" fmla="*/ 252 w 474"/>
              <a:gd name="T21" fmla="*/ 31 h 63"/>
              <a:gd name="T22" fmla="*/ 252 w 474"/>
              <a:gd name="T23" fmla="*/ 32 h 63"/>
              <a:gd name="T24" fmla="*/ 235 w 474"/>
              <a:gd name="T25" fmla="*/ 34 h 63"/>
              <a:gd name="T26" fmla="*/ 201 w 474"/>
              <a:gd name="T27" fmla="*/ 32 h 63"/>
              <a:gd name="T28" fmla="*/ 222 w 474"/>
              <a:gd name="T29" fmla="*/ 36 h 63"/>
              <a:gd name="T30" fmla="*/ 243 w 474"/>
              <a:gd name="T31" fmla="*/ 40 h 63"/>
              <a:gd name="T32" fmla="*/ 259 w 474"/>
              <a:gd name="T33" fmla="*/ 45 h 63"/>
              <a:gd name="T34" fmla="*/ 275 w 474"/>
              <a:gd name="T35" fmla="*/ 50 h 63"/>
              <a:gd name="T36" fmla="*/ 276 w 474"/>
              <a:gd name="T37" fmla="*/ 50 h 63"/>
              <a:gd name="T38" fmla="*/ 275 w 474"/>
              <a:gd name="T39" fmla="*/ 50 h 63"/>
              <a:gd name="T40" fmla="*/ 271 w 474"/>
              <a:gd name="T41" fmla="*/ 50 h 63"/>
              <a:gd name="T42" fmla="*/ 269 w 474"/>
              <a:gd name="T43" fmla="*/ 50 h 63"/>
              <a:gd name="T44" fmla="*/ 267 w 474"/>
              <a:gd name="T45" fmla="*/ 51 h 63"/>
              <a:gd name="T46" fmla="*/ 258 w 474"/>
              <a:gd name="T47" fmla="*/ 51 h 63"/>
              <a:gd name="T48" fmla="*/ 247 w 474"/>
              <a:gd name="T49" fmla="*/ 51 h 63"/>
              <a:gd name="T50" fmla="*/ 234 w 474"/>
              <a:gd name="T51" fmla="*/ 51 h 63"/>
              <a:gd name="T52" fmla="*/ 219 w 474"/>
              <a:gd name="T53" fmla="*/ 54 h 63"/>
              <a:gd name="T54" fmla="*/ 198 w 474"/>
              <a:gd name="T55" fmla="*/ 54 h 63"/>
              <a:gd name="T56" fmla="*/ 178 w 474"/>
              <a:gd name="T57" fmla="*/ 54 h 63"/>
              <a:gd name="T58" fmla="*/ 155 w 474"/>
              <a:gd name="T59" fmla="*/ 54 h 63"/>
              <a:gd name="T60" fmla="*/ 130 w 474"/>
              <a:gd name="T61" fmla="*/ 54 h 63"/>
              <a:gd name="T62" fmla="*/ 100 w 474"/>
              <a:gd name="T63" fmla="*/ 54 h 63"/>
              <a:gd name="T64" fmla="*/ 70 w 474"/>
              <a:gd name="T65" fmla="*/ 54 h 63"/>
              <a:gd name="T66" fmla="*/ 36 w 474"/>
              <a:gd name="T67" fmla="*/ 54 h 63"/>
              <a:gd name="T68" fmla="*/ 1 w 474"/>
              <a:gd name="T69" fmla="*/ 54 h 63"/>
              <a:gd name="T70" fmla="*/ 0 w 474"/>
              <a:gd name="T71" fmla="*/ 54 h 63"/>
              <a:gd name="T72" fmla="*/ 3 w 474"/>
              <a:gd name="T73" fmla="*/ 58 h 63"/>
              <a:gd name="T74" fmla="*/ 10 w 474"/>
              <a:gd name="T75" fmla="*/ 63 h 63"/>
              <a:gd name="T76" fmla="*/ 12 w 474"/>
              <a:gd name="T77" fmla="*/ 63 h 63"/>
              <a:gd name="T78" fmla="*/ 468 w 474"/>
              <a:gd name="T79" fmla="*/ 63 h 63"/>
              <a:gd name="T80" fmla="*/ 470 w 474"/>
              <a:gd name="T81" fmla="*/ 60 h 63"/>
              <a:gd name="T82" fmla="*/ 473 w 474"/>
              <a:gd name="T83" fmla="*/ 57 h 63"/>
              <a:gd name="T84" fmla="*/ 474 w 474"/>
              <a:gd name="T85" fmla="*/ 52 h 63"/>
              <a:gd name="T86" fmla="*/ 470 w 474"/>
              <a:gd name="T87" fmla="*/ 45 h 63"/>
              <a:gd name="T88" fmla="*/ 468 w 474"/>
              <a:gd name="T89" fmla="*/ 43 h 63"/>
              <a:gd name="T90" fmla="*/ 467 w 474"/>
              <a:gd name="T91" fmla="*/ 42 h 63"/>
              <a:gd name="T92" fmla="*/ 463 w 474"/>
              <a:gd name="T93" fmla="*/ 39 h 63"/>
              <a:gd name="T94" fmla="*/ 456 w 474"/>
              <a:gd name="T95" fmla="*/ 34 h 63"/>
              <a:gd name="T96" fmla="*/ 452 w 474"/>
              <a:gd name="T97" fmla="*/ 32 h 63"/>
              <a:gd name="T98" fmla="*/ 450 w 474"/>
              <a:gd name="T99" fmla="*/ 31 h 63"/>
              <a:gd name="T100" fmla="*/ 442 w 474"/>
              <a:gd name="T101" fmla="*/ 26 h 63"/>
              <a:gd name="T102" fmla="*/ 437 w 474"/>
              <a:gd name="T103" fmla="*/ 24 h 63"/>
              <a:gd name="T104" fmla="*/ 434 w 474"/>
              <a:gd name="T105" fmla="*/ 22 h 63"/>
              <a:gd name="T106" fmla="*/ 433 w 474"/>
              <a:gd name="T107" fmla="*/ 22 h 63"/>
              <a:gd name="T108" fmla="*/ 412 w 474"/>
              <a:gd name="T109" fmla="*/ 13 h 63"/>
              <a:gd name="T110" fmla="*/ 398 w 474"/>
              <a:gd name="T111" fmla="*/ 8 h 63"/>
              <a:gd name="T112" fmla="*/ 386 w 474"/>
              <a:gd name="T113" fmla="*/ 4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4" h="63">
                <a:moveTo>
                  <a:pt x="386" y="4"/>
                </a:moveTo>
                <a:lnTo>
                  <a:pt x="364" y="0"/>
                </a:lnTo>
                <a:lnTo>
                  <a:pt x="348" y="7"/>
                </a:lnTo>
                <a:lnTo>
                  <a:pt x="334" y="14"/>
                </a:lnTo>
                <a:lnTo>
                  <a:pt x="318" y="19"/>
                </a:lnTo>
                <a:lnTo>
                  <a:pt x="304" y="25"/>
                </a:lnTo>
                <a:lnTo>
                  <a:pt x="270" y="31"/>
                </a:lnTo>
                <a:lnTo>
                  <a:pt x="261" y="31"/>
                </a:lnTo>
                <a:lnTo>
                  <a:pt x="256" y="31"/>
                </a:lnTo>
                <a:lnTo>
                  <a:pt x="253" y="31"/>
                </a:lnTo>
                <a:lnTo>
                  <a:pt x="252" y="31"/>
                </a:lnTo>
                <a:lnTo>
                  <a:pt x="252" y="32"/>
                </a:lnTo>
                <a:lnTo>
                  <a:pt x="235" y="34"/>
                </a:lnTo>
                <a:lnTo>
                  <a:pt x="201" y="32"/>
                </a:lnTo>
                <a:lnTo>
                  <a:pt x="222" y="36"/>
                </a:lnTo>
                <a:lnTo>
                  <a:pt x="243" y="40"/>
                </a:lnTo>
                <a:lnTo>
                  <a:pt x="259" y="45"/>
                </a:lnTo>
                <a:lnTo>
                  <a:pt x="275" y="50"/>
                </a:lnTo>
                <a:lnTo>
                  <a:pt x="276" y="50"/>
                </a:lnTo>
                <a:lnTo>
                  <a:pt x="275" y="50"/>
                </a:lnTo>
                <a:lnTo>
                  <a:pt x="271" y="50"/>
                </a:lnTo>
                <a:lnTo>
                  <a:pt x="269" y="50"/>
                </a:lnTo>
                <a:lnTo>
                  <a:pt x="267" y="51"/>
                </a:lnTo>
                <a:lnTo>
                  <a:pt x="258" y="51"/>
                </a:lnTo>
                <a:lnTo>
                  <a:pt x="247" y="51"/>
                </a:lnTo>
                <a:lnTo>
                  <a:pt x="234" y="51"/>
                </a:lnTo>
                <a:lnTo>
                  <a:pt x="219" y="54"/>
                </a:lnTo>
                <a:lnTo>
                  <a:pt x="198" y="54"/>
                </a:lnTo>
                <a:lnTo>
                  <a:pt x="178" y="54"/>
                </a:lnTo>
                <a:lnTo>
                  <a:pt x="155" y="54"/>
                </a:lnTo>
                <a:lnTo>
                  <a:pt x="130" y="54"/>
                </a:lnTo>
                <a:lnTo>
                  <a:pt x="100" y="54"/>
                </a:lnTo>
                <a:lnTo>
                  <a:pt x="70" y="54"/>
                </a:lnTo>
                <a:lnTo>
                  <a:pt x="36" y="54"/>
                </a:lnTo>
                <a:lnTo>
                  <a:pt x="1" y="54"/>
                </a:lnTo>
                <a:lnTo>
                  <a:pt x="0" y="54"/>
                </a:lnTo>
                <a:lnTo>
                  <a:pt x="3" y="58"/>
                </a:lnTo>
                <a:lnTo>
                  <a:pt x="10" y="63"/>
                </a:lnTo>
                <a:lnTo>
                  <a:pt x="12" y="63"/>
                </a:lnTo>
                <a:lnTo>
                  <a:pt x="468" y="63"/>
                </a:lnTo>
                <a:lnTo>
                  <a:pt x="470" y="60"/>
                </a:lnTo>
                <a:lnTo>
                  <a:pt x="473" y="57"/>
                </a:lnTo>
                <a:lnTo>
                  <a:pt x="474" y="52"/>
                </a:lnTo>
                <a:lnTo>
                  <a:pt x="470" y="45"/>
                </a:lnTo>
                <a:lnTo>
                  <a:pt x="468" y="43"/>
                </a:lnTo>
                <a:lnTo>
                  <a:pt x="467" y="42"/>
                </a:lnTo>
                <a:lnTo>
                  <a:pt x="463" y="39"/>
                </a:lnTo>
                <a:lnTo>
                  <a:pt x="456" y="34"/>
                </a:lnTo>
                <a:lnTo>
                  <a:pt x="452" y="32"/>
                </a:lnTo>
                <a:lnTo>
                  <a:pt x="450" y="31"/>
                </a:lnTo>
                <a:lnTo>
                  <a:pt x="442" y="26"/>
                </a:lnTo>
                <a:lnTo>
                  <a:pt x="437" y="24"/>
                </a:lnTo>
                <a:lnTo>
                  <a:pt x="434" y="22"/>
                </a:lnTo>
                <a:lnTo>
                  <a:pt x="433" y="22"/>
                </a:lnTo>
                <a:lnTo>
                  <a:pt x="412" y="13"/>
                </a:lnTo>
                <a:lnTo>
                  <a:pt x="398" y="8"/>
                </a:lnTo>
                <a:lnTo>
                  <a:pt x="386" y="4"/>
                </a:lnTo>
                <a:close/>
              </a:path>
            </a:pathLst>
          </a:custGeom>
          <a:solidFill>
            <a:srgbClr val="7B7B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44" name="Freeform 20">
            <a:extLst>
              <a:ext uri="{FF2B5EF4-FFF2-40B4-BE49-F238E27FC236}">
                <a16:creationId xmlns:a16="http://schemas.microsoft.com/office/drawing/2014/main" id="{7D127FC4-6960-2D4E-BA17-38B3EE70BA62}"/>
              </a:ext>
            </a:extLst>
          </p:cNvPr>
          <p:cNvSpPr>
            <a:spLocks/>
          </p:cNvSpPr>
          <p:nvPr/>
        </p:nvSpPr>
        <p:spPr bwMode="auto">
          <a:xfrm>
            <a:off x="1931988" y="2546350"/>
            <a:ext cx="19050" cy="20638"/>
          </a:xfrm>
          <a:custGeom>
            <a:avLst/>
            <a:gdLst>
              <a:gd name="T0" fmla="*/ 0 w 36"/>
              <a:gd name="T1" fmla="*/ 14 h 38"/>
              <a:gd name="T2" fmla="*/ 0 w 36"/>
              <a:gd name="T3" fmla="*/ 18 h 38"/>
              <a:gd name="T4" fmla="*/ 1 w 36"/>
              <a:gd name="T5" fmla="*/ 26 h 38"/>
              <a:gd name="T6" fmla="*/ 4 w 36"/>
              <a:gd name="T7" fmla="*/ 32 h 38"/>
              <a:gd name="T8" fmla="*/ 9 w 36"/>
              <a:gd name="T9" fmla="*/ 35 h 38"/>
              <a:gd name="T10" fmla="*/ 18 w 36"/>
              <a:gd name="T11" fmla="*/ 38 h 38"/>
              <a:gd name="T12" fmla="*/ 20 w 36"/>
              <a:gd name="T13" fmla="*/ 36 h 38"/>
              <a:gd name="T14" fmla="*/ 20 w 36"/>
              <a:gd name="T15" fmla="*/ 35 h 38"/>
              <a:gd name="T16" fmla="*/ 21 w 36"/>
              <a:gd name="T17" fmla="*/ 35 h 38"/>
              <a:gd name="T18" fmla="*/ 24 w 36"/>
              <a:gd name="T19" fmla="*/ 35 h 38"/>
              <a:gd name="T20" fmla="*/ 26 w 36"/>
              <a:gd name="T21" fmla="*/ 33 h 38"/>
              <a:gd name="T22" fmla="*/ 26 w 36"/>
              <a:gd name="T23" fmla="*/ 32 h 38"/>
              <a:gd name="T24" fmla="*/ 27 w 36"/>
              <a:gd name="T25" fmla="*/ 32 h 38"/>
              <a:gd name="T26" fmla="*/ 30 w 36"/>
              <a:gd name="T27" fmla="*/ 32 h 38"/>
              <a:gd name="T28" fmla="*/ 30 w 36"/>
              <a:gd name="T29" fmla="*/ 29 h 38"/>
              <a:gd name="T30" fmla="*/ 30 w 36"/>
              <a:gd name="T31" fmla="*/ 28 h 38"/>
              <a:gd name="T32" fmla="*/ 31 w 36"/>
              <a:gd name="T33" fmla="*/ 28 h 38"/>
              <a:gd name="T34" fmla="*/ 33 w 36"/>
              <a:gd name="T35" fmla="*/ 26 h 38"/>
              <a:gd name="T36" fmla="*/ 36 w 36"/>
              <a:gd name="T37" fmla="*/ 18 h 38"/>
              <a:gd name="T38" fmla="*/ 34 w 36"/>
              <a:gd name="T39" fmla="*/ 14 h 38"/>
              <a:gd name="T40" fmla="*/ 32 w 36"/>
              <a:gd name="T41" fmla="*/ 9 h 38"/>
              <a:gd name="T42" fmla="*/ 30 w 36"/>
              <a:gd name="T43" fmla="*/ 6 h 38"/>
              <a:gd name="T44" fmla="*/ 26 w 36"/>
              <a:gd name="T45" fmla="*/ 3 h 38"/>
              <a:gd name="T46" fmla="*/ 24 w 36"/>
              <a:gd name="T47" fmla="*/ 2 h 38"/>
              <a:gd name="T48" fmla="*/ 18 w 36"/>
              <a:gd name="T49" fmla="*/ 0 h 38"/>
              <a:gd name="T50" fmla="*/ 9 w 36"/>
              <a:gd name="T51" fmla="*/ 2 h 38"/>
              <a:gd name="T52" fmla="*/ 4 w 36"/>
              <a:gd name="T53" fmla="*/ 6 h 38"/>
              <a:gd name="T54" fmla="*/ 1 w 36"/>
              <a:gd name="T55" fmla="*/ 9 h 38"/>
              <a:gd name="T56" fmla="*/ 0 w 36"/>
              <a:gd name="T57" fmla="*/ 1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8">
                <a:moveTo>
                  <a:pt x="0" y="14"/>
                </a:moveTo>
                <a:lnTo>
                  <a:pt x="0" y="18"/>
                </a:lnTo>
                <a:lnTo>
                  <a:pt x="1" y="26"/>
                </a:lnTo>
                <a:lnTo>
                  <a:pt x="4" y="32"/>
                </a:lnTo>
                <a:lnTo>
                  <a:pt x="9" y="35"/>
                </a:lnTo>
                <a:lnTo>
                  <a:pt x="18" y="38"/>
                </a:lnTo>
                <a:lnTo>
                  <a:pt x="20" y="36"/>
                </a:lnTo>
                <a:lnTo>
                  <a:pt x="20" y="35"/>
                </a:lnTo>
                <a:lnTo>
                  <a:pt x="21" y="35"/>
                </a:lnTo>
                <a:lnTo>
                  <a:pt x="24" y="35"/>
                </a:lnTo>
                <a:lnTo>
                  <a:pt x="26" y="33"/>
                </a:lnTo>
                <a:lnTo>
                  <a:pt x="26" y="32"/>
                </a:lnTo>
                <a:lnTo>
                  <a:pt x="27" y="32"/>
                </a:lnTo>
                <a:lnTo>
                  <a:pt x="30" y="32"/>
                </a:lnTo>
                <a:lnTo>
                  <a:pt x="30" y="29"/>
                </a:lnTo>
                <a:lnTo>
                  <a:pt x="30" y="28"/>
                </a:lnTo>
                <a:lnTo>
                  <a:pt x="31" y="28"/>
                </a:lnTo>
                <a:lnTo>
                  <a:pt x="33" y="26"/>
                </a:lnTo>
                <a:lnTo>
                  <a:pt x="36" y="18"/>
                </a:lnTo>
                <a:lnTo>
                  <a:pt x="34" y="14"/>
                </a:lnTo>
                <a:lnTo>
                  <a:pt x="32" y="9"/>
                </a:lnTo>
                <a:lnTo>
                  <a:pt x="30" y="6"/>
                </a:lnTo>
                <a:lnTo>
                  <a:pt x="26" y="3"/>
                </a:lnTo>
                <a:lnTo>
                  <a:pt x="24" y="2"/>
                </a:lnTo>
                <a:lnTo>
                  <a:pt x="18" y="0"/>
                </a:lnTo>
                <a:lnTo>
                  <a:pt x="9" y="2"/>
                </a:lnTo>
                <a:lnTo>
                  <a:pt x="4" y="6"/>
                </a:lnTo>
                <a:lnTo>
                  <a:pt x="1" y="9"/>
                </a:lnTo>
                <a:lnTo>
                  <a:pt x="0" y="14"/>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45" name="Freeform 21">
            <a:extLst>
              <a:ext uri="{FF2B5EF4-FFF2-40B4-BE49-F238E27FC236}">
                <a16:creationId xmlns:a16="http://schemas.microsoft.com/office/drawing/2014/main" id="{32D1BD54-B403-9CD3-1802-D2F729256745}"/>
              </a:ext>
            </a:extLst>
          </p:cNvPr>
          <p:cNvSpPr>
            <a:spLocks/>
          </p:cNvSpPr>
          <p:nvPr/>
        </p:nvSpPr>
        <p:spPr bwMode="auto">
          <a:xfrm>
            <a:off x="1901825" y="2554288"/>
            <a:ext cx="15875" cy="7937"/>
          </a:xfrm>
          <a:custGeom>
            <a:avLst/>
            <a:gdLst>
              <a:gd name="T0" fmla="*/ 0 w 28"/>
              <a:gd name="T1" fmla="*/ 7 h 15"/>
              <a:gd name="T2" fmla="*/ 0 w 28"/>
              <a:gd name="T3" fmla="*/ 9 h 15"/>
              <a:gd name="T4" fmla="*/ 4 w 28"/>
              <a:gd name="T5" fmla="*/ 13 h 15"/>
              <a:gd name="T6" fmla="*/ 13 w 28"/>
              <a:gd name="T7" fmla="*/ 15 h 15"/>
              <a:gd name="T8" fmla="*/ 18 w 28"/>
              <a:gd name="T9" fmla="*/ 14 h 15"/>
              <a:gd name="T10" fmla="*/ 23 w 28"/>
              <a:gd name="T11" fmla="*/ 13 h 15"/>
              <a:gd name="T12" fmla="*/ 24 w 28"/>
              <a:gd name="T13" fmla="*/ 10 h 15"/>
              <a:gd name="T14" fmla="*/ 27 w 28"/>
              <a:gd name="T15" fmla="*/ 9 h 15"/>
              <a:gd name="T16" fmla="*/ 28 w 28"/>
              <a:gd name="T17" fmla="*/ 7 h 15"/>
              <a:gd name="T18" fmla="*/ 27 w 28"/>
              <a:gd name="T19" fmla="*/ 4 h 15"/>
              <a:gd name="T20" fmla="*/ 23 w 28"/>
              <a:gd name="T21" fmla="*/ 2 h 15"/>
              <a:gd name="T22" fmla="*/ 18 w 28"/>
              <a:gd name="T23" fmla="*/ 0 h 15"/>
              <a:gd name="T24" fmla="*/ 15 w 28"/>
              <a:gd name="T25" fmla="*/ 0 h 15"/>
              <a:gd name="T26" fmla="*/ 13 w 28"/>
              <a:gd name="T27" fmla="*/ 0 h 15"/>
              <a:gd name="T28" fmla="*/ 4 w 28"/>
              <a:gd name="T29" fmla="*/ 2 h 15"/>
              <a:gd name="T30" fmla="*/ 0 w 28"/>
              <a:gd name="T31"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 h="15">
                <a:moveTo>
                  <a:pt x="0" y="7"/>
                </a:moveTo>
                <a:lnTo>
                  <a:pt x="0" y="9"/>
                </a:lnTo>
                <a:lnTo>
                  <a:pt x="4" y="13"/>
                </a:lnTo>
                <a:lnTo>
                  <a:pt x="13" y="15"/>
                </a:lnTo>
                <a:lnTo>
                  <a:pt x="18" y="14"/>
                </a:lnTo>
                <a:lnTo>
                  <a:pt x="23" y="13"/>
                </a:lnTo>
                <a:lnTo>
                  <a:pt x="24" y="10"/>
                </a:lnTo>
                <a:lnTo>
                  <a:pt x="27" y="9"/>
                </a:lnTo>
                <a:lnTo>
                  <a:pt x="28" y="7"/>
                </a:lnTo>
                <a:lnTo>
                  <a:pt x="27" y="4"/>
                </a:lnTo>
                <a:lnTo>
                  <a:pt x="23" y="2"/>
                </a:lnTo>
                <a:lnTo>
                  <a:pt x="18" y="0"/>
                </a:lnTo>
                <a:lnTo>
                  <a:pt x="15" y="0"/>
                </a:lnTo>
                <a:lnTo>
                  <a:pt x="13" y="0"/>
                </a:lnTo>
                <a:lnTo>
                  <a:pt x="4" y="2"/>
                </a:lnTo>
                <a:lnTo>
                  <a:pt x="0" y="7"/>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46" name="Freeform 22">
            <a:extLst>
              <a:ext uri="{FF2B5EF4-FFF2-40B4-BE49-F238E27FC236}">
                <a16:creationId xmlns:a16="http://schemas.microsoft.com/office/drawing/2014/main" id="{91BEFB22-9199-AA91-6FB8-F995379D815A}"/>
              </a:ext>
            </a:extLst>
          </p:cNvPr>
          <p:cNvSpPr>
            <a:spLocks/>
          </p:cNvSpPr>
          <p:nvPr/>
        </p:nvSpPr>
        <p:spPr bwMode="auto">
          <a:xfrm>
            <a:off x="1816100" y="2581275"/>
            <a:ext cx="146050" cy="26988"/>
          </a:xfrm>
          <a:custGeom>
            <a:avLst/>
            <a:gdLst>
              <a:gd name="T0" fmla="*/ 202 w 277"/>
              <a:gd name="T1" fmla="*/ 30 h 52"/>
              <a:gd name="T2" fmla="*/ 175 w 277"/>
              <a:gd name="T3" fmla="*/ 25 h 52"/>
              <a:gd name="T4" fmla="*/ 143 w 277"/>
              <a:gd name="T5" fmla="*/ 14 h 52"/>
              <a:gd name="T6" fmla="*/ 113 w 277"/>
              <a:gd name="T7" fmla="*/ 0 h 52"/>
              <a:gd name="T8" fmla="*/ 70 w 277"/>
              <a:gd name="T9" fmla="*/ 10 h 52"/>
              <a:gd name="T10" fmla="*/ 61 w 277"/>
              <a:gd name="T11" fmla="*/ 12 h 52"/>
              <a:gd name="T12" fmla="*/ 34 w 277"/>
              <a:gd name="T13" fmla="*/ 24 h 52"/>
              <a:gd name="T14" fmla="*/ 23 w 277"/>
              <a:gd name="T15" fmla="*/ 29 h 52"/>
              <a:gd name="T16" fmla="*/ 14 w 277"/>
              <a:gd name="T17" fmla="*/ 35 h 52"/>
              <a:gd name="T18" fmla="*/ 7 w 277"/>
              <a:gd name="T19" fmla="*/ 38 h 52"/>
              <a:gd name="T20" fmla="*/ 4 w 277"/>
              <a:gd name="T21" fmla="*/ 43 h 52"/>
              <a:gd name="T22" fmla="*/ 0 w 277"/>
              <a:gd name="T23" fmla="*/ 47 h 52"/>
              <a:gd name="T24" fmla="*/ 1 w 277"/>
              <a:gd name="T25" fmla="*/ 52 h 52"/>
              <a:gd name="T26" fmla="*/ 2 w 277"/>
              <a:gd name="T27" fmla="*/ 52 h 52"/>
              <a:gd name="T28" fmla="*/ 37 w 277"/>
              <a:gd name="T29" fmla="*/ 52 h 52"/>
              <a:gd name="T30" fmla="*/ 71 w 277"/>
              <a:gd name="T31" fmla="*/ 52 h 52"/>
              <a:gd name="T32" fmla="*/ 101 w 277"/>
              <a:gd name="T33" fmla="*/ 52 h 52"/>
              <a:gd name="T34" fmla="*/ 131 w 277"/>
              <a:gd name="T35" fmla="*/ 52 h 52"/>
              <a:gd name="T36" fmla="*/ 156 w 277"/>
              <a:gd name="T37" fmla="*/ 52 h 52"/>
              <a:gd name="T38" fmla="*/ 179 w 277"/>
              <a:gd name="T39" fmla="*/ 52 h 52"/>
              <a:gd name="T40" fmla="*/ 199 w 277"/>
              <a:gd name="T41" fmla="*/ 52 h 52"/>
              <a:gd name="T42" fmla="*/ 220 w 277"/>
              <a:gd name="T43" fmla="*/ 52 h 52"/>
              <a:gd name="T44" fmla="*/ 235 w 277"/>
              <a:gd name="T45" fmla="*/ 49 h 52"/>
              <a:gd name="T46" fmla="*/ 248 w 277"/>
              <a:gd name="T47" fmla="*/ 49 h 52"/>
              <a:gd name="T48" fmla="*/ 259 w 277"/>
              <a:gd name="T49" fmla="*/ 49 h 52"/>
              <a:gd name="T50" fmla="*/ 268 w 277"/>
              <a:gd name="T51" fmla="*/ 49 h 52"/>
              <a:gd name="T52" fmla="*/ 270 w 277"/>
              <a:gd name="T53" fmla="*/ 48 h 52"/>
              <a:gd name="T54" fmla="*/ 272 w 277"/>
              <a:gd name="T55" fmla="*/ 48 h 52"/>
              <a:gd name="T56" fmla="*/ 276 w 277"/>
              <a:gd name="T57" fmla="*/ 48 h 52"/>
              <a:gd name="T58" fmla="*/ 277 w 277"/>
              <a:gd name="T59" fmla="*/ 48 h 52"/>
              <a:gd name="T60" fmla="*/ 276 w 277"/>
              <a:gd name="T61" fmla="*/ 48 h 52"/>
              <a:gd name="T62" fmla="*/ 260 w 277"/>
              <a:gd name="T63" fmla="*/ 43 h 52"/>
              <a:gd name="T64" fmla="*/ 244 w 277"/>
              <a:gd name="T65" fmla="*/ 38 h 52"/>
              <a:gd name="T66" fmla="*/ 223 w 277"/>
              <a:gd name="T67" fmla="*/ 34 h 52"/>
              <a:gd name="T68" fmla="*/ 202 w 277"/>
              <a:gd name="T69" fmla="*/ 3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7" h="52">
                <a:moveTo>
                  <a:pt x="202" y="30"/>
                </a:moveTo>
                <a:lnTo>
                  <a:pt x="175" y="25"/>
                </a:lnTo>
                <a:lnTo>
                  <a:pt x="143" y="14"/>
                </a:lnTo>
                <a:lnTo>
                  <a:pt x="113" y="0"/>
                </a:lnTo>
                <a:lnTo>
                  <a:pt x="70" y="10"/>
                </a:lnTo>
                <a:lnTo>
                  <a:pt x="61" y="12"/>
                </a:lnTo>
                <a:lnTo>
                  <a:pt x="34" y="24"/>
                </a:lnTo>
                <a:lnTo>
                  <a:pt x="23" y="29"/>
                </a:lnTo>
                <a:lnTo>
                  <a:pt x="14" y="35"/>
                </a:lnTo>
                <a:lnTo>
                  <a:pt x="7" y="38"/>
                </a:lnTo>
                <a:lnTo>
                  <a:pt x="4" y="43"/>
                </a:lnTo>
                <a:lnTo>
                  <a:pt x="0" y="47"/>
                </a:lnTo>
                <a:lnTo>
                  <a:pt x="1" y="52"/>
                </a:lnTo>
                <a:lnTo>
                  <a:pt x="2" y="52"/>
                </a:lnTo>
                <a:lnTo>
                  <a:pt x="37" y="52"/>
                </a:lnTo>
                <a:lnTo>
                  <a:pt x="71" y="52"/>
                </a:lnTo>
                <a:lnTo>
                  <a:pt x="101" y="52"/>
                </a:lnTo>
                <a:lnTo>
                  <a:pt x="131" y="52"/>
                </a:lnTo>
                <a:lnTo>
                  <a:pt x="156" y="52"/>
                </a:lnTo>
                <a:lnTo>
                  <a:pt x="179" y="52"/>
                </a:lnTo>
                <a:lnTo>
                  <a:pt x="199" y="52"/>
                </a:lnTo>
                <a:lnTo>
                  <a:pt x="220" y="52"/>
                </a:lnTo>
                <a:lnTo>
                  <a:pt x="235" y="49"/>
                </a:lnTo>
                <a:lnTo>
                  <a:pt x="248" y="49"/>
                </a:lnTo>
                <a:lnTo>
                  <a:pt x="259" y="49"/>
                </a:lnTo>
                <a:lnTo>
                  <a:pt x="268" y="49"/>
                </a:lnTo>
                <a:lnTo>
                  <a:pt x="270" y="48"/>
                </a:lnTo>
                <a:lnTo>
                  <a:pt x="272" y="48"/>
                </a:lnTo>
                <a:lnTo>
                  <a:pt x="276" y="48"/>
                </a:lnTo>
                <a:lnTo>
                  <a:pt x="277" y="48"/>
                </a:lnTo>
                <a:lnTo>
                  <a:pt x="276" y="48"/>
                </a:lnTo>
                <a:lnTo>
                  <a:pt x="260" y="43"/>
                </a:lnTo>
                <a:lnTo>
                  <a:pt x="244" y="38"/>
                </a:lnTo>
                <a:lnTo>
                  <a:pt x="223" y="34"/>
                </a:lnTo>
                <a:lnTo>
                  <a:pt x="202" y="30"/>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47" name="Freeform 23">
            <a:extLst>
              <a:ext uri="{FF2B5EF4-FFF2-40B4-BE49-F238E27FC236}">
                <a16:creationId xmlns:a16="http://schemas.microsoft.com/office/drawing/2014/main" id="{DC420EC9-A426-EEC5-500C-45C35412FFD7}"/>
              </a:ext>
            </a:extLst>
          </p:cNvPr>
          <p:cNvSpPr>
            <a:spLocks noEditPoints="1"/>
          </p:cNvSpPr>
          <p:nvPr/>
        </p:nvSpPr>
        <p:spPr bwMode="auto">
          <a:xfrm>
            <a:off x="1679575" y="2139950"/>
            <a:ext cx="515938" cy="403225"/>
          </a:xfrm>
          <a:custGeom>
            <a:avLst/>
            <a:gdLst>
              <a:gd name="T0" fmla="*/ 921 w 975"/>
              <a:gd name="T1" fmla="*/ 760 h 760"/>
              <a:gd name="T2" fmla="*/ 975 w 975"/>
              <a:gd name="T3" fmla="*/ 760 h 760"/>
              <a:gd name="T4" fmla="*/ 975 w 975"/>
              <a:gd name="T5" fmla="*/ 0 h 760"/>
              <a:gd name="T6" fmla="*/ 0 w 975"/>
              <a:gd name="T7" fmla="*/ 0 h 760"/>
              <a:gd name="T8" fmla="*/ 0 w 975"/>
              <a:gd name="T9" fmla="*/ 760 h 760"/>
              <a:gd name="T10" fmla="*/ 71 w 975"/>
              <a:gd name="T11" fmla="*/ 760 h 760"/>
              <a:gd name="T12" fmla="*/ 71 w 975"/>
              <a:gd name="T13" fmla="*/ 759 h 760"/>
              <a:gd name="T14" fmla="*/ 302 w 975"/>
              <a:gd name="T15" fmla="*/ 759 h 760"/>
              <a:gd name="T16" fmla="*/ 690 w 975"/>
              <a:gd name="T17" fmla="*/ 759 h 760"/>
              <a:gd name="T18" fmla="*/ 921 w 975"/>
              <a:gd name="T19" fmla="*/ 759 h 760"/>
              <a:gd name="T20" fmla="*/ 921 w 975"/>
              <a:gd name="T21" fmla="*/ 760 h 760"/>
              <a:gd name="T22" fmla="*/ 938 w 975"/>
              <a:gd name="T23" fmla="*/ 46 h 760"/>
              <a:gd name="T24" fmla="*/ 938 w 975"/>
              <a:gd name="T25" fmla="*/ 680 h 760"/>
              <a:gd name="T26" fmla="*/ 42 w 975"/>
              <a:gd name="T27" fmla="*/ 680 h 760"/>
              <a:gd name="T28" fmla="*/ 42 w 975"/>
              <a:gd name="T29" fmla="*/ 672 h 760"/>
              <a:gd name="T30" fmla="*/ 42 w 975"/>
              <a:gd name="T31" fmla="*/ 46 h 760"/>
              <a:gd name="T32" fmla="*/ 938 w 975"/>
              <a:gd name="T33" fmla="*/ 46 h 760"/>
              <a:gd name="T34" fmla="*/ 41 w 975"/>
              <a:gd name="T35" fmla="*/ 706 h 760"/>
              <a:gd name="T36" fmla="*/ 133 w 975"/>
              <a:gd name="T37" fmla="*/ 706 h 760"/>
              <a:gd name="T38" fmla="*/ 133 w 975"/>
              <a:gd name="T39" fmla="*/ 736 h 760"/>
              <a:gd name="T40" fmla="*/ 41 w 975"/>
              <a:gd name="T41" fmla="*/ 736 h 760"/>
              <a:gd name="T42" fmla="*/ 41 w 975"/>
              <a:gd name="T43" fmla="*/ 706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75" h="760">
                <a:moveTo>
                  <a:pt x="921" y="760"/>
                </a:moveTo>
                <a:lnTo>
                  <a:pt x="975" y="760"/>
                </a:lnTo>
                <a:lnTo>
                  <a:pt x="975" y="0"/>
                </a:lnTo>
                <a:lnTo>
                  <a:pt x="0" y="0"/>
                </a:lnTo>
                <a:lnTo>
                  <a:pt x="0" y="760"/>
                </a:lnTo>
                <a:lnTo>
                  <a:pt x="71" y="760"/>
                </a:lnTo>
                <a:lnTo>
                  <a:pt x="71" y="759"/>
                </a:lnTo>
                <a:lnTo>
                  <a:pt x="302" y="759"/>
                </a:lnTo>
                <a:lnTo>
                  <a:pt x="690" y="759"/>
                </a:lnTo>
                <a:lnTo>
                  <a:pt x="921" y="759"/>
                </a:lnTo>
                <a:lnTo>
                  <a:pt x="921" y="760"/>
                </a:lnTo>
                <a:close/>
                <a:moveTo>
                  <a:pt x="938" y="46"/>
                </a:moveTo>
                <a:lnTo>
                  <a:pt x="938" y="680"/>
                </a:lnTo>
                <a:lnTo>
                  <a:pt x="42" y="680"/>
                </a:lnTo>
                <a:lnTo>
                  <a:pt x="42" y="672"/>
                </a:lnTo>
                <a:lnTo>
                  <a:pt x="42" y="46"/>
                </a:lnTo>
                <a:lnTo>
                  <a:pt x="938" y="46"/>
                </a:lnTo>
                <a:close/>
                <a:moveTo>
                  <a:pt x="41" y="706"/>
                </a:moveTo>
                <a:lnTo>
                  <a:pt x="133" y="706"/>
                </a:lnTo>
                <a:lnTo>
                  <a:pt x="133" y="736"/>
                </a:lnTo>
                <a:lnTo>
                  <a:pt x="41" y="736"/>
                </a:lnTo>
                <a:lnTo>
                  <a:pt x="41" y="706"/>
                </a:lnTo>
                <a:close/>
              </a:path>
            </a:pathLst>
          </a:custGeom>
          <a:solidFill>
            <a:srgbClr val="C4C4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48" name="Freeform 24">
            <a:extLst>
              <a:ext uri="{FF2B5EF4-FFF2-40B4-BE49-F238E27FC236}">
                <a16:creationId xmlns:a16="http://schemas.microsoft.com/office/drawing/2014/main" id="{22565CC3-F724-76DA-ECF7-3820603BF46A}"/>
              </a:ext>
            </a:extLst>
          </p:cNvPr>
          <p:cNvSpPr>
            <a:spLocks noEditPoints="1"/>
          </p:cNvSpPr>
          <p:nvPr/>
        </p:nvSpPr>
        <p:spPr bwMode="auto">
          <a:xfrm>
            <a:off x="1701800" y="2165350"/>
            <a:ext cx="473075" cy="334963"/>
          </a:xfrm>
          <a:custGeom>
            <a:avLst/>
            <a:gdLst>
              <a:gd name="T0" fmla="*/ 896 w 896"/>
              <a:gd name="T1" fmla="*/ 634 h 634"/>
              <a:gd name="T2" fmla="*/ 896 w 896"/>
              <a:gd name="T3" fmla="*/ 0 h 634"/>
              <a:gd name="T4" fmla="*/ 0 w 896"/>
              <a:gd name="T5" fmla="*/ 0 h 634"/>
              <a:gd name="T6" fmla="*/ 0 w 896"/>
              <a:gd name="T7" fmla="*/ 626 h 634"/>
              <a:gd name="T8" fmla="*/ 0 w 896"/>
              <a:gd name="T9" fmla="*/ 634 h 634"/>
              <a:gd name="T10" fmla="*/ 896 w 896"/>
              <a:gd name="T11" fmla="*/ 634 h 634"/>
              <a:gd name="T12" fmla="*/ 693 w 896"/>
              <a:gd name="T13" fmla="*/ 7 h 634"/>
              <a:gd name="T14" fmla="*/ 886 w 896"/>
              <a:gd name="T15" fmla="*/ 7 h 634"/>
              <a:gd name="T16" fmla="*/ 890 w 896"/>
              <a:gd name="T17" fmla="*/ 160 h 634"/>
              <a:gd name="T18" fmla="*/ 891 w 896"/>
              <a:gd name="T19" fmla="*/ 314 h 634"/>
              <a:gd name="T20" fmla="*/ 890 w 896"/>
              <a:gd name="T21" fmla="*/ 469 h 634"/>
              <a:gd name="T22" fmla="*/ 886 w 896"/>
              <a:gd name="T23" fmla="*/ 626 h 634"/>
              <a:gd name="T24" fmla="*/ 182 w 896"/>
              <a:gd name="T25" fmla="*/ 626 h 634"/>
              <a:gd name="T26" fmla="*/ 8 w 896"/>
              <a:gd name="T27" fmla="*/ 626 h 634"/>
              <a:gd name="T28" fmla="*/ 8 w 896"/>
              <a:gd name="T29" fmla="*/ 619 h 634"/>
              <a:gd name="T30" fmla="*/ 3 w 896"/>
              <a:gd name="T31" fmla="*/ 466 h 634"/>
              <a:gd name="T32" fmla="*/ 2 w 896"/>
              <a:gd name="T33" fmla="*/ 312 h 634"/>
              <a:gd name="T34" fmla="*/ 3 w 896"/>
              <a:gd name="T35" fmla="*/ 158 h 634"/>
              <a:gd name="T36" fmla="*/ 8 w 896"/>
              <a:gd name="T37" fmla="*/ 7 h 634"/>
              <a:gd name="T38" fmla="*/ 693 w 896"/>
              <a:gd name="T39" fmla="*/ 7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6" h="634">
                <a:moveTo>
                  <a:pt x="896" y="634"/>
                </a:moveTo>
                <a:lnTo>
                  <a:pt x="896" y="0"/>
                </a:lnTo>
                <a:lnTo>
                  <a:pt x="0" y="0"/>
                </a:lnTo>
                <a:lnTo>
                  <a:pt x="0" y="626"/>
                </a:lnTo>
                <a:lnTo>
                  <a:pt x="0" y="634"/>
                </a:lnTo>
                <a:lnTo>
                  <a:pt x="896" y="634"/>
                </a:lnTo>
                <a:close/>
                <a:moveTo>
                  <a:pt x="693" y="7"/>
                </a:moveTo>
                <a:lnTo>
                  <a:pt x="886" y="7"/>
                </a:lnTo>
                <a:lnTo>
                  <a:pt x="890" y="160"/>
                </a:lnTo>
                <a:lnTo>
                  <a:pt x="891" y="314"/>
                </a:lnTo>
                <a:lnTo>
                  <a:pt x="890" y="469"/>
                </a:lnTo>
                <a:lnTo>
                  <a:pt x="886" y="626"/>
                </a:lnTo>
                <a:lnTo>
                  <a:pt x="182" y="626"/>
                </a:lnTo>
                <a:lnTo>
                  <a:pt x="8" y="626"/>
                </a:lnTo>
                <a:lnTo>
                  <a:pt x="8" y="619"/>
                </a:lnTo>
                <a:lnTo>
                  <a:pt x="3" y="466"/>
                </a:lnTo>
                <a:lnTo>
                  <a:pt x="2" y="312"/>
                </a:lnTo>
                <a:lnTo>
                  <a:pt x="3" y="158"/>
                </a:lnTo>
                <a:lnTo>
                  <a:pt x="8" y="7"/>
                </a:lnTo>
                <a:lnTo>
                  <a:pt x="693" y="7"/>
                </a:lnTo>
                <a:close/>
              </a:path>
            </a:pathLst>
          </a:custGeom>
          <a:solidFill>
            <a:srgbClr val="9191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49" name="Freeform 25">
            <a:extLst>
              <a:ext uri="{FF2B5EF4-FFF2-40B4-BE49-F238E27FC236}">
                <a16:creationId xmlns:a16="http://schemas.microsoft.com/office/drawing/2014/main" id="{C9C2BC83-4874-E744-803E-A694D9DF5F61}"/>
              </a:ext>
            </a:extLst>
          </p:cNvPr>
          <p:cNvSpPr>
            <a:spLocks/>
          </p:cNvSpPr>
          <p:nvPr/>
        </p:nvSpPr>
        <p:spPr bwMode="auto">
          <a:xfrm>
            <a:off x="1797050" y="2168525"/>
            <a:ext cx="376238" cy="327025"/>
          </a:xfrm>
          <a:custGeom>
            <a:avLst/>
            <a:gdLst>
              <a:gd name="T0" fmla="*/ 511 w 709"/>
              <a:gd name="T1" fmla="*/ 0 h 619"/>
              <a:gd name="T2" fmla="*/ 527 w 709"/>
              <a:gd name="T3" fmla="*/ 37 h 619"/>
              <a:gd name="T4" fmla="*/ 533 w 709"/>
              <a:gd name="T5" fmla="*/ 55 h 619"/>
              <a:gd name="T6" fmla="*/ 552 w 709"/>
              <a:gd name="T7" fmla="*/ 109 h 619"/>
              <a:gd name="T8" fmla="*/ 559 w 709"/>
              <a:gd name="T9" fmla="*/ 135 h 619"/>
              <a:gd name="T10" fmla="*/ 570 w 709"/>
              <a:gd name="T11" fmla="*/ 177 h 619"/>
              <a:gd name="T12" fmla="*/ 576 w 709"/>
              <a:gd name="T13" fmla="*/ 209 h 619"/>
              <a:gd name="T14" fmla="*/ 580 w 709"/>
              <a:gd name="T15" fmla="*/ 239 h 619"/>
              <a:gd name="T16" fmla="*/ 581 w 709"/>
              <a:gd name="T17" fmla="*/ 275 h 619"/>
              <a:gd name="T18" fmla="*/ 581 w 709"/>
              <a:gd name="T19" fmla="*/ 297 h 619"/>
              <a:gd name="T20" fmla="*/ 574 w 709"/>
              <a:gd name="T21" fmla="*/ 349 h 619"/>
              <a:gd name="T22" fmla="*/ 568 w 709"/>
              <a:gd name="T23" fmla="*/ 375 h 619"/>
              <a:gd name="T24" fmla="*/ 554 w 709"/>
              <a:gd name="T25" fmla="*/ 402 h 619"/>
              <a:gd name="T26" fmla="*/ 547 w 709"/>
              <a:gd name="T27" fmla="*/ 420 h 619"/>
              <a:gd name="T28" fmla="*/ 536 w 709"/>
              <a:gd name="T29" fmla="*/ 435 h 619"/>
              <a:gd name="T30" fmla="*/ 527 w 709"/>
              <a:gd name="T31" fmla="*/ 450 h 619"/>
              <a:gd name="T32" fmla="*/ 521 w 709"/>
              <a:gd name="T33" fmla="*/ 461 h 619"/>
              <a:gd name="T34" fmla="*/ 503 w 709"/>
              <a:gd name="T35" fmla="*/ 479 h 619"/>
              <a:gd name="T36" fmla="*/ 462 w 709"/>
              <a:gd name="T37" fmla="*/ 513 h 619"/>
              <a:gd name="T38" fmla="*/ 444 w 709"/>
              <a:gd name="T39" fmla="*/ 523 h 619"/>
              <a:gd name="T40" fmla="*/ 432 w 709"/>
              <a:gd name="T41" fmla="*/ 531 h 619"/>
              <a:gd name="T42" fmla="*/ 414 w 709"/>
              <a:gd name="T43" fmla="*/ 541 h 619"/>
              <a:gd name="T44" fmla="*/ 386 w 709"/>
              <a:gd name="T45" fmla="*/ 555 h 619"/>
              <a:gd name="T46" fmla="*/ 356 w 709"/>
              <a:gd name="T47" fmla="*/ 565 h 619"/>
              <a:gd name="T48" fmla="*/ 317 w 709"/>
              <a:gd name="T49" fmla="*/ 579 h 619"/>
              <a:gd name="T50" fmla="*/ 292 w 709"/>
              <a:gd name="T51" fmla="*/ 586 h 619"/>
              <a:gd name="T52" fmla="*/ 274 w 709"/>
              <a:gd name="T53" fmla="*/ 589 h 619"/>
              <a:gd name="T54" fmla="*/ 238 w 709"/>
              <a:gd name="T55" fmla="*/ 597 h 619"/>
              <a:gd name="T56" fmla="*/ 220 w 709"/>
              <a:gd name="T57" fmla="*/ 600 h 619"/>
              <a:gd name="T58" fmla="*/ 180 w 709"/>
              <a:gd name="T59" fmla="*/ 606 h 619"/>
              <a:gd name="T60" fmla="*/ 138 w 709"/>
              <a:gd name="T61" fmla="*/ 610 h 619"/>
              <a:gd name="T62" fmla="*/ 115 w 709"/>
              <a:gd name="T63" fmla="*/ 611 h 619"/>
              <a:gd name="T64" fmla="*/ 47 w 709"/>
              <a:gd name="T65" fmla="*/ 616 h 619"/>
              <a:gd name="T66" fmla="*/ 0 w 709"/>
              <a:gd name="T67" fmla="*/ 619 h 619"/>
              <a:gd name="T68" fmla="*/ 708 w 709"/>
              <a:gd name="T69" fmla="*/ 462 h 619"/>
              <a:gd name="T70" fmla="*/ 708 w 709"/>
              <a:gd name="T71" fmla="*/ 153 h 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09" h="619">
                <a:moveTo>
                  <a:pt x="704" y="0"/>
                </a:moveTo>
                <a:lnTo>
                  <a:pt x="511" y="0"/>
                </a:lnTo>
                <a:lnTo>
                  <a:pt x="518" y="18"/>
                </a:lnTo>
                <a:lnTo>
                  <a:pt x="527" y="37"/>
                </a:lnTo>
                <a:lnTo>
                  <a:pt x="529" y="46"/>
                </a:lnTo>
                <a:lnTo>
                  <a:pt x="533" y="55"/>
                </a:lnTo>
                <a:lnTo>
                  <a:pt x="540" y="75"/>
                </a:lnTo>
                <a:lnTo>
                  <a:pt x="552" y="109"/>
                </a:lnTo>
                <a:lnTo>
                  <a:pt x="557" y="126"/>
                </a:lnTo>
                <a:lnTo>
                  <a:pt x="559" y="135"/>
                </a:lnTo>
                <a:lnTo>
                  <a:pt x="563" y="144"/>
                </a:lnTo>
                <a:lnTo>
                  <a:pt x="570" y="177"/>
                </a:lnTo>
                <a:lnTo>
                  <a:pt x="572" y="192"/>
                </a:lnTo>
                <a:lnTo>
                  <a:pt x="576" y="209"/>
                </a:lnTo>
                <a:lnTo>
                  <a:pt x="577" y="223"/>
                </a:lnTo>
                <a:lnTo>
                  <a:pt x="580" y="239"/>
                </a:lnTo>
                <a:lnTo>
                  <a:pt x="582" y="269"/>
                </a:lnTo>
                <a:lnTo>
                  <a:pt x="581" y="275"/>
                </a:lnTo>
                <a:lnTo>
                  <a:pt x="581" y="282"/>
                </a:lnTo>
                <a:lnTo>
                  <a:pt x="581" y="297"/>
                </a:lnTo>
                <a:lnTo>
                  <a:pt x="578" y="324"/>
                </a:lnTo>
                <a:lnTo>
                  <a:pt x="574" y="349"/>
                </a:lnTo>
                <a:lnTo>
                  <a:pt x="570" y="361"/>
                </a:lnTo>
                <a:lnTo>
                  <a:pt x="568" y="375"/>
                </a:lnTo>
                <a:lnTo>
                  <a:pt x="558" y="397"/>
                </a:lnTo>
                <a:lnTo>
                  <a:pt x="554" y="402"/>
                </a:lnTo>
                <a:lnTo>
                  <a:pt x="552" y="408"/>
                </a:lnTo>
                <a:lnTo>
                  <a:pt x="547" y="420"/>
                </a:lnTo>
                <a:lnTo>
                  <a:pt x="540" y="430"/>
                </a:lnTo>
                <a:lnTo>
                  <a:pt x="536" y="435"/>
                </a:lnTo>
                <a:lnTo>
                  <a:pt x="534" y="441"/>
                </a:lnTo>
                <a:lnTo>
                  <a:pt x="527" y="450"/>
                </a:lnTo>
                <a:lnTo>
                  <a:pt x="523" y="455"/>
                </a:lnTo>
                <a:lnTo>
                  <a:pt x="521" y="461"/>
                </a:lnTo>
                <a:lnTo>
                  <a:pt x="511" y="469"/>
                </a:lnTo>
                <a:lnTo>
                  <a:pt x="503" y="479"/>
                </a:lnTo>
                <a:lnTo>
                  <a:pt x="484" y="497"/>
                </a:lnTo>
                <a:lnTo>
                  <a:pt x="462" y="513"/>
                </a:lnTo>
                <a:lnTo>
                  <a:pt x="450" y="520"/>
                </a:lnTo>
                <a:lnTo>
                  <a:pt x="444" y="523"/>
                </a:lnTo>
                <a:lnTo>
                  <a:pt x="439" y="528"/>
                </a:lnTo>
                <a:lnTo>
                  <a:pt x="432" y="531"/>
                </a:lnTo>
                <a:lnTo>
                  <a:pt x="426" y="534"/>
                </a:lnTo>
                <a:lnTo>
                  <a:pt x="414" y="541"/>
                </a:lnTo>
                <a:lnTo>
                  <a:pt x="400" y="547"/>
                </a:lnTo>
                <a:lnTo>
                  <a:pt x="386" y="555"/>
                </a:lnTo>
                <a:lnTo>
                  <a:pt x="371" y="559"/>
                </a:lnTo>
                <a:lnTo>
                  <a:pt x="356" y="565"/>
                </a:lnTo>
                <a:lnTo>
                  <a:pt x="327" y="577"/>
                </a:lnTo>
                <a:lnTo>
                  <a:pt x="317" y="579"/>
                </a:lnTo>
                <a:lnTo>
                  <a:pt x="309" y="581"/>
                </a:lnTo>
                <a:lnTo>
                  <a:pt x="292" y="586"/>
                </a:lnTo>
                <a:lnTo>
                  <a:pt x="282" y="587"/>
                </a:lnTo>
                <a:lnTo>
                  <a:pt x="274" y="589"/>
                </a:lnTo>
                <a:lnTo>
                  <a:pt x="257" y="594"/>
                </a:lnTo>
                <a:lnTo>
                  <a:pt x="238" y="597"/>
                </a:lnTo>
                <a:lnTo>
                  <a:pt x="228" y="598"/>
                </a:lnTo>
                <a:lnTo>
                  <a:pt x="220" y="600"/>
                </a:lnTo>
                <a:lnTo>
                  <a:pt x="199" y="603"/>
                </a:lnTo>
                <a:lnTo>
                  <a:pt x="180" y="606"/>
                </a:lnTo>
                <a:lnTo>
                  <a:pt x="159" y="607"/>
                </a:lnTo>
                <a:lnTo>
                  <a:pt x="138" y="610"/>
                </a:lnTo>
                <a:lnTo>
                  <a:pt x="126" y="610"/>
                </a:lnTo>
                <a:lnTo>
                  <a:pt x="115" y="611"/>
                </a:lnTo>
                <a:lnTo>
                  <a:pt x="94" y="613"/>
                </a:lnTo>
                <a:lnTo>
                  <a:pt x="47" y="616"/>
                </a:lnTo>
                <a:lnTo>
                  <a:pt x="0" y="618"/>
                </a:lnTo>
                <a:lnTo>
                  <a:pt x="0" y="619"/>
                </a:lnTo>
                <a:lnTo>
                  <a:pt x="704" y="619"/>
                </a:lnTo>
                <a:lnTo>
                  <a:pt x="708" y="462"/>
                </a:lnTo>
                <a:lnTo>
                  <a:pt x="709" y="307"/>
                </a:lnTo>
                <a:lnTo>
                  <a:pt x="708" y="153"/>
                </a:lnTo>
                <a:lnTo>
                  <a:pt x="704" y="0"/>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50" name="Freeform 26">
            <a:extLst>
              <a:ext uri="{FF2B5EF4-FFF2-40B4-BE49-F238E27FC236}">
                <a16:creationId xmlns:a16="http://schemas.microsoft.com/office/drawing/2014/main" id="{D8A5C2D4-7B31-C61B-5B41-7DC061CF31E5}"/>
              </a:ext>
            </a:extLst>
          </p:cNvPr>
          <p:cNvSpPr>
            <a:spLocks/>
          </p:cNvSpPr>
          <p:nvPr/>
        </p:nvSpPr>
        <p:spPr bwMode="auto">
          <a:xfrm>
            <a:off x="1704975" y="2492375"/>
            <a:ext cx="92075" cy="3175"/>
          </a:xfrm>
          <a:custGeom>
            <a:avLst/>
            <a:gdLst>
              <a:gd name="T0" fmla="*/ 174 w 174"/>
              <a:gd name="T1" fmla="*/ 7 h 7"/>
              <a:gd name="T2" fmla="*/ 174 w 174"/>
              <a:gd name="T3" fmla="*/ 6 h 7"/>
              <a:gd name="T4" fmla="*/ 153 w 174"/>
              <a:gd name="T5" fmla="*/ 5 h 7"/>
              <a:gd name="T6" fmla="*/ 132 w 174"/>
              <a:gd name="T7" fmla="*/ 5 h 7"/>
              <a:gd name="T8" fmla="*/ 89 w 174"/>
              <a:gd name="T9" fmla="*/ 4 h 7"/>
              <a:gd name="T10" fmla="*/ 45 w 174"/>
              <a:gd name="T11" fmla="*/ 1 h 7"/>
              <a:gd name="T12" fmla="*/ 33 w 174"/>
              <a:gd name="T13" fmla="*/ 0 h 7"/>
              <a:gd name="T14" fmla="*/ 22 w 174"/>
              <a:gd name="T15" fmla="*/ 0 h 7"/>
              <a:gd name="T16" fmla="*/ 0 w 174"/>
              <a:gd name="T17" fmla="*/ 0 h 7"/>
              <a:gd name="T18" fmla="*/ 0 w 174"/>
              <a:gd name="T19" fmla="*/ 7 h 7"/>
              <a:gd name="T20" fmla="*/ 174 w 174"/>
              <a:gd name="T21"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4" h="7">
                <a:moveTo>
                  <a:pt x="174" y="7"/>
                </a:moveTo>
                <a:lnTo>
                  <a:pt x="174" y="6"/>
                </a:lnTo>
                <a:lnTo>
                  <a:pt x="153" y="5"/>
                </a:lnTo>
                <a:lnTo>
                  <a:pt x="132" y="5"/>
                </a:lnTo>
                <a:lnTo>
                  <a:pt x="89" y="4"/>
                </a:lnTo>
                <a:lnTo>
                  <a:pt x="45" y="1"/>
                </a:lnTo>
                <a:lnTo>
                  <a:pt x="33" y="0"/>
                </a:lnTo>
                <a:lnTo>
                  <a:pt x="22" y="0"/>
                </a:lnTo>
                <a:lnTo>
                  <a:pt x="0" y="0"/>
                </a:lnTo>
                <a:lnTo>
                  <a:pt x="0" y="7"/>
                </a:lnTo>
                <a:lnTo>
                  <a:pt x="174" y="7"/>
                </a:ln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51" name="Freeform 27">
            <a:extLst>
              <a:ext uri="{FF2B5EF4-FFF2-40B4-BE49-F238E27FC236}">
                <a16:creationId xmlns:a16="http://schemas.microsoft.com/office/drawing/2014/main" id="{72F3C663-5B92-AE74-6065-DA32827C45F0}"/>
              </a:ext>
            </a:extLst>
          </p:cNvPr>
          <p:cNvSpPr>
            <a:spLocks/>
          </p:cNvSpPr>
          <p:nvPr/>
        </p:nvSpPr>
        <p:spPr bwMode="auto">
          <a:xfrm>
            <a:off x="1701800" y="2168525"/>
            <a:ext cx="403225" cy="327025"/>
          </a:xfrm>
          <a:custGeom>
            <a:avLst/>
            <a:gdLst>
              <a:gd name="T0" fmla="*/ 28 w 762"/>
              <a:gd name="T1" fmla="*/ 612 h 618"/>
              <a:gd name="T2" fmla="*/ 51 w 762"/>
              <a:gd name="T3" fmla="*/ 613 h 618"/>
              <a:gd name="T4" fmla="*/ 138 w 762"/>
              <a:gd name="T5" fmla="*/ 617 h 618"/>
              <a:gd name="T6" fmla="*/ 180 w 762"/>
              <a:gd name="T7" fmla="*/ 618 h 618"/>
              <a:gd name="T8" fmla="*/ 274 w 762"/>
              <a:gd name="T9" fmla="*/ 613 h 618"/>
              <a:gd name="T10" fmla="*/ 306 w 762"/>
              <a:gd name="T11" fmla="*/ 610 h 618"/>
              <a:gd name="T12" fmla="*/ 339 w 762"/>
              <a:gd name="T13" fmla="*/ 607 h 618"/>
              <a:gd name="T14" fmla="*/ 379 w 762"/>
              <a:gd name="T15" fmla="*/ 603 h 618"/>
              <a:gd name="T16" fmla="*/ 408 w 762"/>
              <a:gd name="T17" fmla="*/ 598 h 618"/>
              <a:gd name="T18" fmla="*/ 437 w 762"/>
              <a:gd name="T19" fmla="*/ 594 h 618"/>
              <a:gd name="T20" fmla="*/ 462 w 762"/>
              <a:gd name="T21" fmla="*/ 587 h 618"/>
              <a:gd name="T22" fmla="*/ 489 w 762"/>
              <a:gd name="T23" fmla="*/ 581 h 618"/>
              <a:gd name="T24" fmla="*/ 507 w 762"/>
              <a:gd name="T25" fmla="*/ 577 h 618"/>
              <a:gd name="T26" fmla="*/ 551 w 762"/>
              <a:gd name="T27" fmla="*/ 559 h 618"/>
              <a:gd name="T28" fmla="*/ 580 w 762"/>
              <a:gd name="T29" fmla="*/ 547 h 618"/>
              <a:gd name="T30" fmla="*/ 606 w 762"/>
              <a:gd name="T31" fmla="*/ 534 h 618"/>
              <a:gd name="T32" fmla="*/ 619 w 762"/>
              <a:gd name="T33" fmla="*/ 528 h 618"/>
              <a:gd name="T34" fmla="*/ 630 w 762"/>
              <a:gd name="T35" fmla="*/ 520 h 618"/>
              <a:gd name="T36" fmla="*/ 664 w 762"/>
              <a:gd name="T37" fmla="*/ 497 h 618"/>
              <a:gd name="T38" fmla="*/ 691 w 762"/>
              <a:gd name="T39" fmla="*/ 469 h 618"/>
              <a:gd name="T40" fmla="*/ 703 w 762"/>
              <a:gd name="T41" fmla="*/ 455 h 618"/>
              <a:gd name="T42" fmla="*/ 714 w 762"/>
              <a:gd name="T43" fmla="*/ 441 h 618"/>
              <a:gd name="T44" fmla="*/ 720 w 762"/>
              <a:gd name="T45" fmla="*/ 430 h 618"/>
              <a:gd name="T46" fmla="*/ 732 w 762"/>
              <a:gd name="T47" fmla="*/ 408 h 618"/>
              <a:gd name="T48" fmla="*/ 738 w 762"/>
              <a:gd name="T49" fmla="*/ 397 h 618"/>
              <a:gd name="T50" fmla="*/ 750 w 762"/>
              <a:gd name="T51" fmla="*/ 361 h 618"/>
              <a:gd name="T52" fmla="*/ 758 w 762"/>
              <a:gd name="T53" fmla="*/ 324 h 618"/>
              <a:gd name="T54" fmla="*/ 761 w 762"/>
              <a:gd name="T55" fmla="*/ 282 h 618"/>
              <a:gd name="T56" fmla="*/ 762 w 762"/>
              <a:gd name="T57" fmla="*/ 269 h 618"/>
              <a:gd name="T58" fmla="*/ 757 w 762"/>
              <a:gd name="T59" fmla="*/ 223 h 618"/>
              <a:gd name="T60" fmla="*/ 752 w 762"/>
              <a:gd name="T61" fmla="*/ 192 h 618"/>
              <a:gd name="T62" fmla="*/ 743 w 762"/>
              <a:gd name="T63" fmla="*/ 144 h 618"/>
              <a:gd name="T64" fmla="*/ 737 w 762"/>
              <a:gd name="T65" fmla="*/ 126 h 618"/>
              <a:gd name="T66" fmla="*/ 720 w 762"/>
              <a:gd name="T67" fmla="*/ 75 h 618"/>
              <a:gd name="T68" fmla="*/ 709 w 762"/>
              <a:gd name="T69" fmla="*/ 46 h 618"/>
              <a:gd name="T70" fmla="*/ 698 w 762"/>
              <a:gd name="T71" fmla="*/ 18 h 618"/>
              <a:gd name="T72" fmla="*/ 6 w 762"/>
              <a:gd name="T73" fmla="*/ 0 h 618"/>
              <a:gd name="T74" fmla="*/ 0 w 762"/>
              <a:gd name="T75" fmla="*/ 305 h 618"/>
              <a:gd name="T76" fmla="*/ 6 w 762"/>
              <a:gd name="T77" fmla="*/ 61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62" h="618">
                <a:moveTo>
                  <a:pt x="6" y="612"/>
                </a:moveTo>
                <a:lnTo>
                  <a:pt x="28" y="612"/>
                </a:lnTo>
                <a:lnTo>
                  <a:pt x="39" y="612"/>
                </a:lnTo>
                <a:lnTo>
                  <a:pt x="51" y="613"/>
                </a:lnTo>
                <a:lnTo>
                  <a:pt x="95" y="616"/>
                </a:lnTo>
                <a:lnTo>
                  <a:pt x="138" y="617"/>
                </a:lnTo>
                <a:lnTo>
                  <a:pt x="159" y="617"/>
                </a:lnTo>
                <a:lnTo>
                  <a:pt x="180" y="618"/>
                </a:lnTo>
                <a:lnTo>
                  <a:pt x="227" y="616"/>
                </a:lnTo>
                <a:lnTo>
                  <a:pt x="274" y="613"/>
                </a:lnTo>
                <a:lnTo>
                  <a:pt x="295" y="611"/>
                </a:lnTo>
                <a:lnTo>
                  <a:pt x="306" y="610"/>
                </a:lnTo>
                <a:lnTo>
                  <a:pt x="318" y="610"/>
                </a:lnTo>
                <a:lnTo>
                  <a:pt x="339" y="607"/>
                </a:lnTo>
                <a:lnTo>
                  <a:pt x="360" y="606"/>
                </a:lnTo>
                <a:lnTo>
                  <a:pt x="379" y="603"/>
                </a:lnTo>
                <a:lnTo>
                  <a:pt x="400" y="600"/>
                </a:lnTo>
                <a:lnTo>
                  <a:pt x="408" y="598"/>
                </a:lnTo>
                <a:lnTo>
                  <a:pt x="418" y="597"/>
                </a:lnTo>
                <a:lnTo>
                  <a:pt x="437" y="594"/>
                </a:lnTo>
                <a:lnTo>
                  <a:pt x="454" y="589"/>
                </a:lnTo>
                <a:lnTo>
                  <a:pt x="462" y="587"/>
                </a:lnTo>
                <a:lnTo>
                  <a:pt x="472" y="586"/>
                </a:lnTo>
                <a:lnTo>
                  <a:pt x="489" y="581"/>
                </a:lnTo>
                <a:lnTo>
                  <a:pt x="497" y="579"/>
                </a:lnTo>
                <a:lnTo>
                  <a:pt x="507" y="577"/>
                </a:lnTo>
                <a:lnTo>
                  <a:pt x="536" y="565"/>
                </a:lnTo>
                <a:lnTo>
                  <a:pt x="551" y="559"/>
                </a:lnTo>
                <a:lnTo>
                  <a:pt x="566" y="555"/>
                </a:lnTo>
                <a:lnTo>
                  <a:pt x="580" y="547"/>
                </a:lnTo>
                <a:lnTo>
                  <a:pt x="594" y="541"/>
                </a:lnTo>
                <a:lnTo>
                  <a:pt x="606" y="534"/>
                </a:lnTo>
                <a:lnTo>
                  <a:pt x="612" y="531"/>
                </a:lnTo>
                <a:lnTo>
                  <a:pt x="619" y="528"/>
                </a:lnTo>
                <a:lnTo>
                  <a:pt x="624" y="523"/>
                </a:lnTo>
                <a:lnTo>
                  <a:pt x="630" y="520"/>
                </a:lnTo>
                <a:lnTo>
                  <a:pt x="642" y="513"/>
                </a:lnTo>
                <a:lnTo>
                  <a:pt x="664" y="497"/>
                </a:lnTo>
                <a:lnTo>
                  <a:pt x="683" y="479"/>
                </a:lnTo>
                <a:lnTo>
                  <a:pt x="691" y="469"/>
                </a:lnTo>
                <a:lnTo>
                  <a:pt x="701" y="461"/>
                </a:lnTo>
                <a:lnTo>
                  <a:pt x="703" y="455"/>
                </a:lnTo>
                <a:lnTo>
                  <a:pt x="707" y="450"/>
                </a:lnTo>
                <a:lnTo>
                  <a:pt x="714" y="441"/>
                </a:lnTo>
                <a:lnTo>
                  <a:pt x="716" y="435"/>
                </a:lnTo>
                <a:lnTo>
                  <a:pt x="720" y="430"/>
                </a:lnTo>
                <a:lnTo>
                  <a:pt x="727" y="420"/>
                </a:lnTo>
                <a:lnTo>
                  <a:pt x="732" y="408"/>
                </a:lnTo>
                <a:lnTo>
                  <a:pt x="734" y="402"/>
                </a:lnTo>
                <a:lnTo>
                  <a:pt x="738" y="397"/>
                </a:lnTo>
                <a:lnTo>
                  <a:pt x="748" y="375"/>
                </a:lnTo>
                <a:lnTo>
                  <a:pt x="750" y="361"/>
                </a:lnTo>
                <a:lnTo>
                  <a:pt x="754" y="349"/>
                </a:lnTo>
                <a:lnTo>
                  <a:pt x="758" y="324"/>
                </a:lnTo>
                <a:lnTo>
                  <a:pt x="761" y="297"/>
                </a:lnTo>
                <a:lnTo>
                  <a:pt x="761" y="282"/>
                </a:lnTo>
                <a:lnTo>
                  <a:pt x="761" y="275"/>
                </a:lnTo>
                <a:lnTo>
                  <a:pt x="762" y="269"/>
                </a:lnTo>
                <a:lnTo>
                  <a:pt x="760" y="239"/>
                </a:lnTo>
                <a:lnTo>
                  <a:pt x="757" y="223"/>
                </a:lnTo>
                <a:lnTo>
                  <a:pt x="756" y="209"/>
                </a:lnTo>
                <a:lnTo>
                  <a:pt x="752" y="192"/>
                </a:lnTo>
                <a:lnTo>
                  <a:pt x="750" y="177"/>
                </a:lnTo>
                <a:lnTo>
                  <a:pt x="743" y="144"/>
                </a:lnTo>
                <a:lnTo>
                  <a:pt x="739" y="135"/>
                </a:lnTo>
                <a:lnTo>
                  <a:pt x="737" y="126"/>
                </a:lnTo>
                <a:lnTo>
                  <a:pt x="732" y="109"/>
                </a:lnTo>
                <a:lnTo>
                  <a:pt x="720" y="75"/>
                </a:lnTo>
                <a:lnTo>
                  <a:pt x="713" y="55"/>
                </a:lnTo>
                <a:lnTo>
                  <a:pt x="709" y="46"/>
                </a:lnTo>
                <a:lnTo>
                  <a:pt x="707" y="37"/>
                </a:lnTo>
                <a:lnTo>
                  <a:pt x="698" y="18"/>
                </a:lnTo>
                <a:lnTo>
                  <a:pt x="691" y="0"/>
                </a:lnTo>
                <a:lnTo>
                  <a:pt x="6" y="0"/>
                </a:lnTo>
                <a:lnTo>
                  <a:pt x="1" y="151"/>
                </a:lnTo>
                <a:lnTo>
                  <a:pt x="0" y="305"/>
                </a:lnTo>
                <a:lnTo>
                  <a:pt x="1" y="459"/>
                </a:lnTo>
                <a:lnTo>
                  <a:pt x="6" y="612"/>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52" name="Rectangle 28">
            <a:extLst>
              <a:ext uri="{FF2B5EF4-FFF2-40B4-BE49-F238E27FC236}">
                <a16:creationId xmlns:a16="http://schemas.microsoft.com/office/drawing/2014/main" id="{E77D3DAB-CEC9-A6A4-D79B-39A6DF39CD80}"/>
              </a:ext>
            </a:extLst>
          </p:cNvPr>
          <p:cNvSpPr>
            <a:spLocks noChangeArrowheads="1"/>
          </p:cNvSpPr>
          <p:nvPr/>
        </p:nvSpPr>
        <p:spPr bwMode="auto">
          <a:xfrm>
            <a:off x="1700213" y="2514600"/>
            <a:ext cx="49212" cy="15875"/>
          </a:xfrm>
          <a:prstGeom prst="rect">
            <a:avLst/>
          </a:prstGeom>
          <a:solidFill>
            <a:srgbClr val="AEAEA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453" name="Line 29">
            <a:extLst>
              <a:ext uri="{FF2B5EF4-FFF2-40B4-BE49-F238E27FC236}">
                <a16:creationId xmlns:a16="http://schemas.microsoft.com/office/drawing/2014/main" id="{B36B149C-2FF5-C0CB-D65E-657781779B81}"/>
              </a:ext>
            </a:extLst>
          </p:cNvPr>
          <p:cNvSpPr>
            <a:spLocks noChangeShapeType="1"/>
          </p:cNvSpPr>
          <p:nvPr/>
        </p:nvSpPr>
        <p:spPr bwMode="auto">
          <a:xfrm>
            <a:off x="1822450" y="2613025"/>
            <a:ext cx="2413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54" name="Freeform 30">
            <a:extLst>
              <a:ext uri="{FF2B5EF4-FFF2-40B4-BE49-F238E27FC236}">
                <a16:creationId xmlns:a16="http://schemas.microsoft.com/office/drawing/2014/main" id="{29EA8CF9-92DA-4913-07A6-64EB028C4CEA}"/>
              </a:ext>
            </a:extLst>
          </p:cNvPr>
          <p:cNvSpPr>
            <a:spLocks/>
          </p:cNvSpPr>
          <p:nvPr/>
        </p:nvSpPr>
        <p:spPr bwMode="auto">
          <a:xfrm>
            <a:off x="1701800" y="2165350"/>
            <a:ext cx="473075" cy="334963"/>
          </a:xfrm>
          <a:custGeom>
            <a:avLst/>
            <a:gdLst>
              <a:gd name="T0" fmla="*/ 896 w 896"/>
              <a:gd name="T1" fmla="*/ 0 h 634"/>
              <a:gd name="T2" fmla="*/ 0 w 896"/>
              <a:gd name="T3" fmla="*/ 0 h 634"/>
              <a:gd name="T4" fmla="*/ 0 w 896"/>
              <a:gd name="T5" fmla="*/ 626 h 634"/>
              <a:gd name="T6" fmla="*/ 0 w 896"/>
              <a:gd name="T7" fmla="*/ 634 h 634"/>
            </a:gdLst>
            <a:ahLst/>
            <a:cxnLst>
              <a:cxn ang="0">
                <a:pos x="T0" y="T1"/>
              </a:cxn>
              <a:cxn ang="0">
                <a:pos x="T2" y="T3"/>
              </a:cxn>
              <a:cxn ang="0">
                <a:pos x="T4" y="T5"/>
              </a:cxn>
              <a:cxn ang="0">
                <a:pos x="T6" y="T7"/>
              </a:cxn>
            </a:cxnLst>
            <a:rect l="0" t="0" r="r" b="b"/>
            <a:pathLst>
              <a:path w="896" h="634">
                <a:moveTo>
                  <a:pt x="896" y="0"/>
                </a:moveTo>
                <a:lnTo>
                  <a:pt x="0" y="0"/>
                </a:lnTo>
                <a:lnTo>
                  <a:pt x="0" y="626"/>
                </a:lnTo>
                <a:lnTo>
                  <a:pt x="0" y="634"/>
                </a:lnTo>
              </a:path>
            </a:pathLst>
          </a:custGeom>
          <a:noFill/>
          <a:ln w="0">
            <a:solidFill>
              <a:srgbClr val="484848"/>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55" name="Freeform 31">
            <a:extLst>
              <a:ext uri="{FF2B5EF4-FFF2-40B4-BE49-F238E27FC236}">
                <a16:creationId xmlns:a16="http://schemas.microsoft.com/office/drawing/2014/main" id="{0D64E518-D633-F9DA-EE03-3B0279434CD0}"/>
              </a:ext>
            </a:extLst>
          </p:cNvPr>
          <p:cNvSpPr>
            <a:spLocks/>
          </p:cNvSpPr>
          <p:nvPr/>
        </p:nvSpPr>
        <p:spPr bwMode="auto">
          <a:xfrm>
            <a:off x="1700213" y="2514600"/>
            <a:ext cx="49212" cy="15875"/>
          </a:xfrm>
          <a:custGeom>
            <a:avLst/>
            <a:gdLst>
              <a:gd name="T0" fmla="*/ 0 w 92"/>
              <a:gd name="T1" fmla="*/ 30 h 30"/>
              <a:gd name="T2" fmla="*/ 92 w 92"/>
              <a:gd name="T3" fmla="*/ 30 h 30"/>
              <a:gd name="T4" fmla="*/ 92 w 92"/>
              <a:gd name="T5" fmla="*/ 0 h 30"/>
            </a:gdLst>
            <a:ahLst/>
            <a:cxnLst>
              <a:cxn ang="0">
                <a:pos x="T0" y="T1"/>
              </a:cxn>
              <a:cxn ang="0">
                <a:pos x="T2" y="T3"/>
              </a:cxn>
              <a:cxn ang="0">
                <a:pos x="T4" y="T5"/>
              </a:cxn>
            </a:cxnLst>
            <a:rect l="0" t="0" r="r" b="b"/>
            <a:pathLst>
              <a:path w="92" h="30">
                <a:moveTo>
                  <a:pt x="0" y="30"/>
                </a:moveTo>
                <a:lnTo>
                  <a:pt x="92" y="30"/>
                </a:lnTo>
                <a:lnTo>
                  <a:pt x="92" y="0"/>
                </a:lnTo>
              </a:path>
            </a:pathLst>
          </a:custGeom>
          <a:noFill/>
          <a:ln w="0">
            <a:solidFill>
              <a:srgbClr val="6666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56" name="Freeform 32">
            <a:extLst>
              <a:ext uri="{FF2B5EF4-FFF2-40B4-BE49-F238E27FC236}">
                <a16:creationId xmlns:a16="http://schemas.microsoft.com/office/drawing/2014/main" id="{07284E27-72BA-74D4-FB09-205C030802EA}"/>
              </a:ext>
            </a:extLst>
          </p:cNvPr>
          <p:cNvSpPr>
            <a:spLocks/>
          </p:cNvSpPr>
          <p:nvPr/>
        </p:nvSpPr>
        <p:spPr bwMode="auto">
          <a:xfrm>
            <a:off x="2009775" y="2579688"/>
            <a:ext cx="57150" cy="33337"/>
          </a:xfrm>
          <a:custGeom>
            <a:avLst/>
            <a:gdLst>
              <a:gd name="T0" fmla="*/ 104 w 110"/>
              <a:gd name="T1" fmla="*/ 63 h 63"/>
              <a:gd name="T2" fmla="*/ 106 w 110"/>
              <a:gd name="T3" fmla="*/ 60 h 63"/>
              <a:gd name="T4" fmla="*/ 109 w 110"/>
              <a:gd name="T5" fmla="*/ 57 h 63"/>
              <a:gd name="T6" fmla="*/ 110 w 110"/>
              <a:gd name="T7" fmla="*/ 52 h 63"/>
              <a:gd name="T8" fmla="*/ 106 w 110"/>
              <a:gd name="T9" fmla="*/ 45 h 63"/>
              <a:gd name="T10" fmla="*/ 104 w 110"/>
              <a:gd name="T11" fmla="*/ 43 h 63"/>
              <a:gd name="T12" fmla="*/ 103 w 110"/>
              <a:gd name="T13" fmla="*/ 42 h 63"/>
              <a:gd name="T14" fmla="*/ 99 w 110"/>
              <a:gd name="T15" fmla="*/ 39 h 63"/>
              <a:gd name="T16" fmla="*/ 92 w 110"/>
              <a:gd name="T17" fmla="*/ 34 h 63"/>
              <a:gd name="T18" fmla="*/ 88 w 110"/>
              <a:gd name="T19" fmla="*/ 32 h 63"/>
              <a:gd name="T20" fmla="*/ 86 w 110"/>
              <a:gd name="T21" fmla="*/ 31 h 63"/>
              <a:gd name="T22" fmla="*/ 78 w 110"/>
              <a:gd name="T23" fmla="*/ 26 h 63"/>
              <a:gd name="T24" fmla="*/ 73 w 110"/>
              <a:gd name="T25" fmla="*/ 24 h 63"/>
              <a:gd name="T26" fmla="*/ 70 w 110"/>
              <a:gd name="T27" fmla="*/ 22 h 63"/>
              <a:gd name="T28" fmla="*/ 69 w 110"/>
              <a:gd name="T29" fmla="*/ 22 h 63"/>
              <a:gd name="T30" fmla="*/ 48 w 110"/>
              <a:gd name="T31" fmla="*/ 13 h 63"/>
              <a:gd name="T32" fmla="*/ 34 w 110"/>
              <a:gd name="T33" fmla="*/ 8 h 63"/>
              <a:gd name="T34" fmla="*/ 22 w 110"/>
              <a:gd name="T35" fmla="*/ 4 h 63"/>
              <a:gd name="T36" fmla="*/ 0 w 110"/>
              <a:gd name="T37"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63">
                <a:moveTo>
                  <a:pt x="104" y="63"/>
                </a:moveTo>
                <a:lnTo>
                  <a:pt x="106" y="60"/>
                </a:lnTo>
                <a:lnTo>
                  <a:pt x="109" y="57"/>
                </a:lnTo>
                <a:lnTo>
                  <a:pt x="110" y="52"/>
                </a:lnTo>
                <a:lnTo>
                  <a:pt x="106" y="45"/>
                </a:lnTo>
                <a:lnTo>
                  <a:pt x="104" y="43"/>
                </a:lnTo>
                <a:lnTo>
                  <a:pt x="103" y="42"/>
                </a:lnTo>
                <a:lnTo>
                  <a:pt x="99" y="39"/>
                </a:lnTo>
                <a:lnTo>
                  <a:pt x="92" y="34"/>
                </a:lnTo>
                <a:lnTo>
                  <a:pt x="88" y="32"/>
                </a:lnTo>
                <a:lnTo>
                  <a:pt x="86" y="31"/>
                </a:lnTo>
                <a:lnTo>
                  <a:pt x="78" y="26"/>
                </a:lnTo>
                <a:lnTo>
                  <a:pt x="73" y="24"/>
                </a:lnTo>
                <a:lnTo>
                  <a:pt x="70" y="22"/>
                </a:lnTo>
                <a:lnTo>
                  <a:pt x="69" y="22"/>
                </a:lnTo>
                <a:lnTo>
                  <a:pt x="48" y="13"/>
                </a:lnTo>
                <a:lnTo>
                  <a:pt x="34" y="8"/>
                </a:lnTo>
                <a:lnTo>
                  <a:pt x="22" y="4"/>
                </a:lnTo>
                <a:lnTo>
                  <a:pt x="0" y="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57" name="Freeform 33">
            <a:extLst>
              <a:ext uri="{FF2B5EF4-FFF2-40B4-BE49-F238E27FC236}">
                <a16:creationId xmlns:a16="http://schemas.microsoft.com/office/drawing/2014/main" id="{F08306F9-BEF8-C71F-1146-9C1EC980D8D5}"/>
              </a:ext>
            </a:extLst>
          </p:cNvPr>
          <p:cNvSpPr>
            <a:spLocks/>
          </p:cNvSpPr>
          <p:nvPr/>
        </p:nvSpPr>
        <p:spPr bwMode="auto">
          <a:xfrm>
            <a:off x="1863725" y="2573338"/>
            <a:ext cx="153988" cy="0"/>
          </a:xfrm>
          <a:custGeom>
            <a:avLst/>
            <a:gdLst>
              <a:gd name="T0" fmla="*/ 290 w 290"/>
              <a:gd name="T1" fmla="*/ 289 w 290"/>
              <a:gd name="T2" fmla="*/ 3 w 290"/>
              <a:gd name="T3" fmla="*/ 0 w 290"/>
            </a:gdLst>
            <a:ahLst/>
            <a:cxnLst>
              <a:cxn ang="0">
                <a:pos x="T0" y="0"/>
              </a:cxn>
              <a:cxn ang="0">
                <a:pos x="T1" y="0"/>
              </a:cxn>
              <a:cxn ang="0">
                <a:pos x="T2" y="0"/>
              </a:cxn>
              <a:cxn ang="0">
                <a:pos x="T3" y="0"/>
              </a:cxn>
            </a:cxnLst>
            <a:rect l="0" t="0" r="r" b="b"/>
            <a:pathLst>
              <a:path w="290">
                <a:moveTo>
                  <a:pt x="290" y="0"/>
                </a:moveTo>
                <a:lnTo>
                  <a:pt x="289" y="0"/>
                </a:lnTo>
                <a:lnTo>
                  <a:pt x="3" y="0"/>
                </a:lnTo>
                <a:lnTo>
                  <a:pt x="0" y="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58" name="Line 34">
            <a:extLst>
              <a:ext uri="{FF2B5EF4-FFF2-40B4-BE49-F238E27FC236}">
                <a16:creationId xmlns:a16="http://schemas.microsoft.com/office/drawing/2014/main" id="{7A0F0F8F-83A8-039F-A448-F9516E0A666A}"/>
              </a:ext>
            </a:extLst>
          </p:cNvPr>
          <p:cNvSpPr>
            <a:spLocks noChangeShapeType="1"/>
          </p:cNvSpPr>
          <p:nvPr/>
        </p:nvSpPr>
        <p:spPr bwMode="auto">
          <a:xfrm>
            <a:off x="1838325" y="2543175"/>
            <a:ext cx="206375" cy="0"/>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59" name="Line 35">
            <a:extLst>
              <a:ext uri="{FF2B5EF4-FFF2-40B4-BE49-F238E27FC236}">
                <a16:creationId xmlns:a16="http://schemas.microsoft.com/office/drawing/2014/main" id="{4AA66B70-4AF3-B387-036B-863347A4A305}"/>
              </a:ext>
            </a:extLst>
          </p:cNvPr>
          <p:cNvSpPr>
            <a:spLocks noChangeShapeType="1"/>
          </p:cNvSpPr>
          <p:nvPr/>
        </p:nvSpPr>
        <p:spPr bwMode="auto">
          <a:xfrm>
            <a:off x="1716088" y="2543175"/>
            <a:ext cx="122237" cy="0"/>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60" name="Freeform 36">
            <a:extLst>
              <a:ext uri="{FF2B5EF4-FFF2-40B4-BE49-F238E27FC236}">
                <a16:creationId xmlns:a16="http://schemas.microsoft.com/office/drawing/2014/main" id="{7D3E4741-1581-15EF-E454-CDEB54CE7E1C}"/>
              </a:ext>
            </a:extLst>
          </p:cNvPr>
          <p:cNvSpPr>
            <a:spLocks/>
          </p:cNvSpPr>
          <p:nvPr/>
        </p:nvSpPr>
        <p:spPr bwMode="auto">
          <a:xfrm>
            <a:off x="1876425" y="2579688"/>
            <a:ext cx="133350" cy="17462"/>
          </a:xfrm>
          <a:custGeom>
            <a:avLst/>
            <a:gdLst>
              <a:gd name="T0" fmla="*/ 0 w 252"/>
              <a:gd name="T1" fmla="*/ 2 h 34"/>
              <a:gd name="T2" fmla="*/ 30 w 252"/>
              <a:gd name="T3" fmla="*/ 16 h 34"/>
              <a:gd name="T4" fmla="*/ 62 w 252"/>
              <a:gd name="T5" fmla="*/ 27 h 34"/>
              <a:gd name="T6" fmla="*/ 89 w 252"/>
              <a:gd name="T7" fmla="*/ 32 h 34"/>
              <a:gd name="T8" fmla="*/ 123 w 252"/>
              <a:gd name="T9" fmla="*/ 34 h 34"/>
              <a:gd name="T10" fmla="*/ 140 w 252"/>
              <a:gd name="T11" fmla="*/ 32 h 34"/>
              <a:gd name="T12" fmla="*/ 140 w 252"/>
              <a:gd name="T13" fmla="*/ 31 h 34"/>
              <a:gd name="T14" fmla="*/ 141 w 252"/>
              <a:gd name="T15" fmla="*/ 31 h 34"/>
              <a:gd name="T16" fmla="*/ 144 w 252"/>
              <a:gd name="T17" fmla="*/ 31 h 34"/>
              <a:gd name="T18" fmla="*/ 149 w 252"/>
              <a:gd name="T19" fmla="*/ 31 h 34"/>
              <a:gd name="T20" fmla="*/ 158 w 252"/>
              <a:gd name="T21" fmla="*/ 31 h 34"/>
              <a:gd name="T22" fmla="*/ 192 w 252"/>
              <a:gd name="T23" fmla="*/ 25 h 34"/>
              <a:gd name="T24" fmla="*/ 206 w 252"/>
              <a:gd name="T25" fmla="*/ 19 h 34"/>
              <a:gd name="T26" fmla="*/ 222 w 252"/>
              <a:gd name="T27" fmla="*/ 14 h 34"/>
              <a:gd name="T28" fmla="*/ 236 w 252"/>
              <a:gd name="T29" fmla="*/ 7 h 34"/>
              <a:gd name="T30" fmla="*/ 252 w 252"/>
              <a:gd name="T3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2" h="34">
                <a:moveTo>
                  <a:pt x="0" y="2"/>
                </a:moveTo>
                <a:lnTo>
                  <a:pt x="30" y="16"/>
                </a:lnTo>
                <a:lnTo>
                  <a:pt x="62" y="27"/>
                </a:lnTo>
                <a:lnTo>
                  <a:pt x="89" y="32"/>
                </a:lnTo>
                <a:lnTo>
                  <a:pt x="123" y="34"/>
                </a:lnTo>
                <a:lnTo>
                  <a:pt x="140" y="32"/>
                </a:lnTo>
                <a:lnTo>
                  <a:pt x="140" y="31"/>
                </a:lnTo>
                <a:lnTo>
                  <a:pt x="141" y="31"/>
                </a:lnTo>
                <a:lnTo>
                  <a:pt x="144" y="31"/>
                </a:lnTo>
                <a:lnTo>
                  <a:pt x="149" y="31"/>
                </a:lnTo>
                <a:lnTo>
                  <a:pt x="158" y="31"/>
                </a:lnTo>
                <a:lnTo>
                  <a:pt x="192" y="25"/>
                </a:lnTo>
                <a:lnTo>
                  <a:pt x="206" y="19"/>
                </a:lnTo>
                <a:lnTo>
                  <a:pt x="222" y="14"/>
                </a:lnTo>
                <a:lnTo>
                  <a:pt x="236" y="7"/>
                </a:lnTo>
                <a:lnTo>
                  <a:pt x="252" y="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61" name="Freeform 37">
            <a:extLst>
              <a:ext uri="{FF2B5EF4-FFF2-40B4-BE49-F238E27FC236}">
                <a16:creationId xmlns:a16="http://schemas.microsoft.com/office/drawing/2014/main" id="{95363C85-9E52-5359-07D0-4CCE72B77723}"/>
              </a:ext>
            </a:extLst>
          </p:cNvPr>
          <p:cNvSpPr>
            <a:spLocks/>
          </p:cNvSpPr>
          <p:nvPr/>
        </p:nvSpPr>
        <p:spPr bwMode="auto">
          <a:xfrm>
            <a:off x="1679575" y="2139950"/>
            <a:ext cx="515938" cy="403225"/>
          </a:xfrm>
          <a:custGeom>
            <a:avLst/>
            <a:gdLst>
              <a:gd name="T0" fmla="*/ 921 w 975"/>
              <a:gd name="T1" fmla="*/ 760 h 760"/>
              <a:gd name="T2" fmla="*/ 975 w 975"/>
              <a:gd name="T3" fmla="*/ 760 h 760"/>
              <a:gd name="T4" fmla="*/ 975 w 975"/>
              <a:gd name="T5" fmla="*/ 0 h 760"/>
              <a:gd name="T6" fmla="*/ 0 w 975"/>
              <a:gd name="T7" fmla="*/ 0 h 760"/>
              <a:gd name="T8" fmla="*/ 0 w 975"/>
              <a:gd name="T9" fmla="*/ 760 h 760"/>
              <a:gd name="T10" fmla="*/ 71 w 975"/>
              <a:gd name="T11" fmla="*/ 760 h 760"/>
            </a:gdLst>
            <a:ahLst/>
            <a:cxnLst>
              <a:cxn ang="0">
                <a:pos x="T0" y="T1"/>
              </a:cxn>
              <a:cxn ang="0">
                <a:pos x="T2" y="T3"/>
              </a:cxn>
              <a:cxn ang="0">
                <a:pos x="T4" y="T5"/>
              </a:cxn>
              <a:cxn ang="0">
                <a:pos x="T6" y="T7"/>
              </a:cxn>
              <a:cxn ang="0">
                <a:pos x="T8" y="T9"/>
              </a:cxn>
              <a:cxn ang="0">
                <a:pos x="T10" y="T11"/>
              </a:cxn>
            </a:cxnLst>
            <a:rect l="0" t="0" r="r" b="b"/>
            <a:pathLst>
              <a:path w="975" h="760">
                <a:moveTo>
                  <a:pt x="921" y="760"/>
                </a:moveTo>
                <a:lnTo>
                  <a:pt x="975" y="760"/>
                </a:lnTo>
                <a:lnTo>
                  <a:pt x="975" y="0"/>
                </a:lnTo>
                <a:lnTo>
                  <a:pt x="0" y="0"/>
                </a:lnTo>
                <a:lnTo>
                  <a:pt x="0" y="760"/>
                </a:lnTo>
                <a:lnTo>
                  <a:pt x="71" y="76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62" name="Freeform 38">
            <a:extLst>
              <a:ext uri="{FF2B5EF4-FFF2-40B4-BE49-F238E27FC236}">
                <a16:creationId xmlns:a16="http://schemas.microsoft.com/office/drawing/2014/main" id="{57AFA9D7-CFB7-60B5-B790-8B279182CF93}"/>
              </a:ext>
            </a:extLst>
          </p:cNvPr>
          <p:cNvSpPr>
            <a:spLocks/>
          </p:cNvSpPr>
          <p:nvPr/>
        </p:nvSpPr>
        <p:spPr bwMode="auto">
          <a:xfrm>
            <a:off x="2017713" y="2543175"/>
            <a:ext cx="149225" cy="30163"/>
          </a:xfrm>
          <a:custGeom>
            <a:avLst/>
            <a:gdLst>
              <a:gd name="T0" fmla="*/ 0 w 281"/>
              <a:gd name="T1" fmla="*/ 58 h 58"/>
              <a:gd name="T2" fmla="*/ 281 w 281"/>
              <a:gd name="T3" fmla="*/ 58 h 58"/>
              <a:gd name="T4" fmla="*/ 281 w 281"/>
              <a:gd name="T5" fmla="*/ 22 h 58"/>
              <a:gd name="T6" fmla="*/ 281 w 281"/>
              <a:gd name="T7" fmla="*/ 0 h 58"/>
            </a:gdLst>
            <a:ahLst/>
            <a:cxnLst>
              <a:cxn ang="0">
                <a:pos x="T0" y="T1"/>
              </a:cxn>
              <a:cxn ang="0">
                <a:pos x="T2" y="T3"/>
              </a:cxn>
              <a:cxn ang="0">
                <a:pos x="T4" y="T5"/>
              </a:cxn>
              <a:cxn ang="0">
                <a:pos x="T6" y="T7"/>
              </a:cxn>
            </a:cxnLst>
            <a:rect l="0" t="0" r="r" b="b"/>
            <a:pathLst>
              <a:path w="281" h="58">
                <a:moveTo>
                  <a:pt x="0" y="58"/>
                </a:moveTo>
                <a:lnTo>
                  <a:pt x="281" y="58"/>
                </a:lnTo>
                <a:lnTo>
                  <a:pt x="281" y="22"/>
                </a:lnTo>
                <a:lnTo>
                  <a:pt x="281" y="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63" name="Freeform 39">
            <a:extLst>
              <a:ext uri="{FF2B5EF4-FFF2-40B4-BE49-F238E27FC236}">
                <a16:creationId xmlns:a16="http://schemas.microsoft.com/office/drawing/2014/main" id="{B183702E-5DBB-9B1F-8434-953FA7AC73AA}"/>
              </a:ext>
            </a:extLst>
          </p:cNvPr>
          <p:cNvSpPr>
            <a:spLocks/>
          </p:cNvSpPr>
          <p:nvPr/>
        </p:nvSpPr>
        <p:spPr bwMode="auto">
          <a:xfrm>
            <a:off x="2009775" y="2573338"/>
            <a:ext cx="7938" cy="6350"/>
          </a:xfrm>
          <a:custGeom>
            <a:avLst/>
            <a:gdLst>
              <a:gd name="T0" fmla="*/ 0 w 16"/>
              <a:gd name="T1" fmla="*/ 12 h 12"/>
              <a:gd name="T2" fmla="*/ 7 w 16"/>
              <a:gd name="T3" fmla="*/ 6 h 12"/>
              <a:gd name="T4" fmla="*/ 15 w 16"/>
              <a:gd name="T5" fmla="*/ 1 h 12"/>
              <a:gd name="T6" fmla="*/ 16 w 16"/>
              <a:gd name="T7" fmla="*/ 0 h 12"/>
            </a:gdLst>
            <a:ahLst/>
            <a:cxnLst>
              <a:cxn ang="0">
                <a:pos x="T0" y="T1"/>
              </a:cxn>
              <a:cxn ang="0">
                <a:pos x="T2" y="T3"/>
              </a:cxn>
              <a:cxn ang="0">
                <a:pos x="T4" y="T5"/>
              </a:cxn>
              <a:cxn ang="0">
                <a:pos x="T6" y="T7"/>
              </a:cxn>
            </a:cxnLst>
            <a:rect l="0" t="0" r="r" b="b"/>
            <a:pathLst>
              <a:path w="16" h="12">
                <a:moveTo>
                  <a:pt x="0" y="12"/>
                </a:moveTo>
                <a:lnTo>
                  <a:pt x="7" y="6"/>
                </a:lnTo>
                <a:lnTo>
                  <a:pt x="15" y="1"/>
                </a:lnTo>
                <a:lnTo>
                  <a:pt x="16" y="0"/>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64" name="Line 40">
            <a:extLst>
              <a:ext uri="{FF2B5EF4-FFF2-40B4-BE49-F238E27FC236}">
                <a16:creationId xmlns:a16="http://schemas.microsoft.com/office/drawing/2014/main" id="{CDA10BDC-34D7-2A19-1A74-154A5DD6A241}"/>
              </a:ext>
            </a:extLst>
          </p:cNvPr>
          <p:cNvSpPr>
            <a:spLocks noChangeShapeType="1"/>
          </p:cNvSpPr>
          <p:nvPr/>
        </p:nvSpPr>
        <p:spPr bwMode="auto">
          <a:xfrm flipH="1">
            <a:off x="2044700" y="2543175"/>
            <a:ext cx="122238" cy="0"/>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65" name="Line 41">
            <a:extLst>
              <a:ext uri="{FF2B5EF4-FFF2-40B4-BE49-F238E27FC236}">
                <a16:creationId xmlns:a16="http://schemas.microsoft.com/office/drawing/2014/main" id="{176E2FAF-53B6-EF8B-44F6-1218942E271A}"/>
              </a:ext>
            </a:extLst>
          </p:cNvPr>
          <p:cNvSpPr>
            <a:spLocks noChangeShapeType="1"/>
          </p:cNvSpPr>
          <p:nvPr/>
        </p:nvSpPr>
        <p:spPr bwMode="auto">
          <a:xfrm flipV="1">
            <a:off x="2044700" y="2541588"/>
            <a:ext cx="0" cy="1587"/>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66" name="Line 42">
            <a:extLst>
              <a:ext uri="{FF2B5EF4-FFF2-40B4-BE49-F238E27FC236}">
                <a16:creationId xmlns:a16="http://schemas.microsoft.com/office/drawing/2014/main" id="{E203CEB9-6368-F70B-5166-5D4C2FD4489E}"/>
              </a:ext>
            </a:extLst>
          </p:cNvPr>
          <p:cNvSpPr>
            <a:spLocks noChangeShapeType="1"/>
          </p:cNvSpPr>
          <p:nvPr/>
        </p:nvSpPr>
        <p:spPr bwMode="auto">
          <a:xfrm flipH="1">
            <a:off x="1838325" y="2541588"/>
            <a:ext cx="206375" cy="0"/>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67" name="Freeform 43">
            <a:extLst>
              <a:ext uri="{FF2B5EF4-FFF2-40B4-BE49-F238E27FC236}">
                <a16:creationId xmlns:a16="http://schemas.microsoft.com/office/drawing/2014/main" id="{09FA1A21-8AA0-AA00-4431-43C0576AC672}"/>
              </a:ext>
            </a:extLst>
          </p:cNvPr>
          <p:cNvSpPr>
            <a:spLocks/>
          </p:cNvSpPr>
          <p:nvPr/>
        </p:nvSpPr>
        <p:spPr bwMode="auto">
          <a:xfrm>
            <a:off x="1716088" y="2541588"/>
            <a:ext cx="122237" cy="1587"/>
          </a:xfrm>
          <a:custGeom>
            <a:avLst/>
            <a:gdLst>
              <a:gd name="T0" fmla="*/ 231 w 231"/>
              <a:gd name="T1" fmla="*/ 0 h 1"/>
              <a:gd name="T2" fmla="*/ 0 w 231"/>
              <a:gd name="T3" fmla="*/ 0 h 1"/>
              <a:gd name="T4" fmla="*/ 0 w 231"/>
              <a:gd name="T5" fmla="*/ 1 h 1"/>
            </a:gdLst>
            <a:ahLst/>
            <a:cxnLst>
              <a:cxn ang="0">
                <a:pos x="T0" y="T1"/>
              </a:cxn>
              <a:cxn ang="0">
                <a:pos x="T2" y="T3"/>
              </a:cxn>
              <a:cxn ang="0">
                <a:pos x="T4" y="T5"/>
              </a:cxn>
            </a:cxnLst>
            <a:rect l="0" t="0" r="r" b="b"/>
            <a:pathLst>
              <a:path w="231" h="1">
                <a:moveTo>
                  <a:pt x="231" y="0"/>
                </a:moveTo>
                <a:lnTo>
                  <a:pt x="0" y="0"/>
                </a:lnTo>
                <a:lnTo>
                  <a:pt x="0" y="1"/>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68" name="Freeform 44">
            <a:extLst>
              <a:ext uri="{FF2B5EF4-FFF2-40B4-BE49-F238E27FC236}">
                <a16:creationId xmlns:a16="http://schemas.microsoft.com/office/drawing/2014/main" id="{B9115D12-A721-D959-8B12-DDB8378F0BCB}"/>
              </a:ext>
            </a:extLst>
          </p:cNvPr>
          <p:cNvSpPr>
            <a:spLocks/>
          </p:cNvSpPr>
          <p:nvPr/>
        </p:nvSpPr>
        <p:spPr bwMode="auto">
          <a:xfrm>
            <a:off x="1716088" y="2543175"/>
            <a:ext cx="147637" cy="30163"/>
          </a:xfrm>
          <a:custGeom>
            <a:avLst/>
            <a:gdLst>
              <a:gd name="T0" fmla="*/ 0 w 279"/>
              <a:gd name="T1" fmla="*/ 0 h 58"/>
              <a:gd name="T2" fmla="*/ 0 w 279"/>
              <a:gd name="T3" fmla="*/ 22 h 58"/>
              <a:gd name="T4" fmla="*/ 0 w 279"/>
              <a:gd name="T5" fmla="*/ 58 h 58"/>
              <a:gd name="T6" fmla="*/ 279 w 279"/>
              <a:gd name="T7" fmla="*/ 58 h 58"/>
            </a:gdLst>
            <a:ahLst/>
            <a:cxnLst>
              <a:cxn ang="0">
                <a:pos x="T0" y="T1"/>
              </a:cxn>
              <a:cxn ang="0">
                <a:pos x="T2" y="T3"/>
              </a:cxn>
              <a:cxn ang="0">
                <a:pos x="T4" y="T5"/>
              </a:cxn>
              <a:cxn ang="0">
                <a:pos x="T6" y="T7"/>
              </a:cxn>
            </a:cxnLst>
            <a:rect l="0" t="0" r="r" b="b"/>
            <a:pathLst>
              <a:path w="279" h="58">
                <a:moveTo>
                  <a:pt x="0" y="0"/>
                </a:moveTo>
                <a:lnTo>
                  <a:pt x="0" y="22"/>
                </a:lnTo>
                <a:lnTo>
                  <a:pt x="0" y="58"/>
                </a:lnTo>
                <a:lnTo>
                  <a:pt x="279" y="58"/>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69" name="Line 45">
            <a:extLst>
              <a:ext uri="{FF2B5EF4-FFF2-40B4-BE49-F238E27FC236}">
                <a16:creationId xmlns:a16="http://schemas.microsoft.com/office/drawing/2014/main" id="{1EEAF7B3-0848-6197-9B81-2EDB6874D39D}"/>
              </a:ext>
            </a:extLst>
          </p:cNvPr>
          <p:cNvSpPr>
            <a:spLocks noChangeShapeType="1"/>
          </p:cNvSpPr>
          <p:nvPr/>
        </p:nvSpPr>
        <p:spPr bwMode="auto">
          <a:xfrm>
            <a:off x="1838325" y="2541588"/>
            <a:ext cx="0" cy="1587"/>
          </a:xfrm>
          <a:prstGeom prst="line">
            <a:avLst/>
          </a:prstGeom>
          <a:noFill/>
          <a:ln w="0">
            <a:solidFill>
              <a:srgbClr val="6F6F6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70" name="Freeform 46">
            <a:extLst>
              <a:ext uri="{FF2B5EF4-FFF2-40B4-BE49-F238E27FC236}">
                <a16:creationId xmlns:a16="http://schemas.microsoft.com/office/drawing/2014/main" id="{2626C43A-499D-E69C-ABC6-1FF880FA0A5F}"/>
              </a:ext>
            </a:extLst>
          </p:cNvPr>
          <p:cNvSpPr>
            <a:spLocks/>
          </p:cNvSpPr>
          <p:nvPr/>
        </p:nvSpPr>
        <p:spPr bwMode="auto">
          <a:xfrm>
            <a:off x="1816100" y="2581275"/>
            <a:ext cx="60325" cy="31750"/>
          </a:xfrm>
          <a:custGeom>
            <a:avLst/>
            <a:gdLst>
              <a:gd name="T0" fmla="*/ 113 w 113"/>
              <a:gd name="T1" fmla="*/ 0 h 61"/>
              <a:gd name="T2" fmla="*/ 70 w 113"/>
              <a:gd name="T3" fmla="*/ 10 h 61"/>
              <a:gd name="T4" fmla="*/ 61 w 113"/>
              <a:gd name="T5" fmla="*/ 12 h 61"/>
              <a:gd name="T6" fmla="*/ 34 w 113"/>
              <a:gd name="T7" fmla="*/ 24 h 61"/>
              <a:gd name="T8" fmla="*/ 23 w 113"/>
              <a:gd name="T9" fmla="*/ 29 h 61"/>
              <a:gd name="T10" fmla="*/ 14 w 113"/>
              <a:gd name="T11" fmla="*/ 35 h 61"/>
              <a:gd name="T12" fmla="*/ 7 w 113"/>
              <a:gd name="T13" fmla="*/ 38 h 61"/>
              <a:gd name="T14" fmla="*/ 4 w 113"/>
              <a:gd name="T15" fmla="*/ 43 h 61"/>
              <a:gd name="T16" fmla="*/ 0 w 113"/>
              <a:gd name="T17" fmla="*/ 47 h 61"/>
              <a:gd name="T18" fmla="*/ 1 w 113"/>
              <a:gd name="T19" fmla="*/ 52 h 61"/>
              <a:gd name="T20" fmla="*/ 4 w 113"/>
              <a:gd name="T21" fmla="*/ 56 h 61"/>
              <a:gd name="T22" fmla="*/ 11 w 113"/>
              <a:gd name="T23" fmla="*/ 61 h 61"/>
              <a:gd name="T24" fmla="*/ 13 w 113"/>
              <a:gd name="T25" fmla="*/ 61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61">
                <a:moveTo>
                  <a:pt x="113" y="0"/>
                </a:moveTo>
                <a:lnTo>
                  <a:pt x="70" y="10"/>
                </a:lnTo>
                <a:lnTo>
                  <a:pt x="61" y="12"/>
                </a:lnTo>
                <a:lnTo>
                  <a:pt x="34" y="24"/>
                </a:lnTo>
                <a:lnTo>
                  <a:pt x="23" y="29"/>
                </a:lnTo>
                <a:lnTo>
                  <a:pt x="14" y="35"/>
                </a:lnTo>
                <a:lnTo>
                  <a:pt x="7" y="38"/>
                </a:lnTo>
                <a:lnTo>
                  <a:pt x="4" y="43"/>
                </a:lnTo>
                <a:lnTo>
                  <a:pt x="0" y="47"/>
                </a:lnTo>
                <a:lnTo>
                  <a:pt x="1" y="52"/>
                </a:lnTo>
                <a:lnTo>
                  <a:pt x="4" y="56"/>
                </a:lnTo>
                <a:lnTo>
                  <a:pt x="11" y="61"/>
                </a:lnTo>
                <a:lnTo>
                  <a:pt x="13" y="61"/>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71" name="Freeform 47">
            <a:extLst>
              <a:ext uri="{FF2B5EF4-FFF2-40B4-BE49-F238E27FC236}">
                <a16:creationId xmlns:a16="http://schemas.microsoft.com/office/drawing/2014/main" id="{B03CEA1C-05B3-B4C9-E061-5147ABFA6CD9}"/>
              </a:ext>
            </a:extLst>
          </p:cNvPr>
          <p:cNvSpPr>
            <a:spLocks/>
          </p:cNvSpPr>
          <p:nvPr/>
        </p:nvSpPr>
        <p:spPr bwMode="auto">
          <a:xfrm>
            <a:off x="1863725" y="2573338"/>
            <a:ext cx="12700" cy="7937"/>
          </a:xfrm>
          <a:custGeom>
            <a:avLst/>
            <a:gdLst>
              <a:gd name="T0" fmla="*/ 0 w 22"/>
              <a:gd name="T1" fmla="*/ 0 h 14"/>
              <a:gd name="T2" fmla="*/ 3 w 22"/>
              <a:gd name="T3" fmla="*/ 1 h 14"/>
              <a:gd name="T4" fmla="*/ 11 w 22"/>
              <a:gd name="T5" fmla="*/ 7 h 14"/>
              <a:gd name="T6" fmla="*/ 22 w 22"/>
              <a:gd name="T7" fmla="*/ 14 h 14"/>
            </a:gdLst>
            <a:ahLst/>
            <a:cxnLst>
              <a:cxn ang="0">
                <a:pos x="T0" y="T1"/>
              </a:cxn>
              <a:cxn ang="0">
                <a:pos x="T2" y="T3"/>
              </a:cxn>
              <a:cxn ang="0">
                <a:pos x="T4" y="T5"/>
              </a:cxn>
              <a:cxn ang="0">
                <a:pos x="T6" y="T7"/>
              </a:cxn>
            </a:cxnLst>
            <a:rect l="0" t="0" r="r" b="b"/>
            <a:pathLst>
              <a:path w="22" h="14">
                <a:moveTo>
                  <a:pt x="0" y="0"/>
                </a:moveTo>
                <a:lnTo>
                  <a:pt x="3" y="1"/>
                </a:lnTo>
                <a:lnTo>
                  <a:pt x="11" y="7"/>
                </a:lnTo>
                <a:lnTo>
                  <a:pt x="22" y="14"/>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72" name="Freeform 48">
            <a:extLst>
              <a:ext uri="{FF2B5EF4-FFF2-40B4-BE49-F238E27FC236}">
                <a16:creationId xmlns:a16="http://schemas.microsoft.com/office/drawing/2014/main" id="{D3E866B1-A59D-6F11-F9DA-36499B660649}"/>
              </a:ext>
            </a:extLst>
          </p:cNvPr>
          <p:cNvSpPr>
            <a:spLocks/>
          </p:cNvSpPr>
          <p:nvPr/>
        </p:nvSpPr>
        <p:spPr bwMode="auto">
          <a:xfrm>
            <a:off x="2044700" y="2541588"/>
            <a:ext cx="122238" cy="1587"/>
          </a:xfrm>
          <a:custGeom>
            <a:avLst/>
            <a:gdLst>
              <a:gd name="T0" fmla="*/ 0 w 231"/>
              <a:gd name="T1" fmla="*/ 0 h 1"/>
              <a:gd name="T2" fmla="*/ 231 w 231"/>
              <a:gd name="T3" fmla="*/ 0 h 1"/>
              <a:gd name="T4" fmla="*/ 231 w 231"/>
              <a:gd name="T5" fmla="*/ 1 h 1"/>
            </a:gdLst>
            <a:ahLst/>
            <a:cxnLst>
              <a:cxn ang="0">
                <a:pos x="T0" y="T1"/>
              </a:cxn>
              <a:cxn ang="0">
                <a:pos x="T2" y="T3"/>
              </a:cxn>
              <a:cxn ang="0">
                <a:pos x="T4" y="T5"/>
              </a:cxn>
            </a:cxnLst>
            <a:rect l="0" t="0" r="r" b="b"/>
            <a:pathLst>
              <a:path w="231" h="1">
                <a:moveTo>
                  <a:pt x="0" y="0"/>
                </a:moveTo>
                <a:lnTo>
                  <a:pt x="231" y="0"/>
                </a:lnTo>
                <a:lnTo>
                  <a:pt x="231" y="1"/>
                </a:lnTo>
              </a:path>
            </a:pathLst>
          </a:custGeom>
          <a:noFill/>
          <a:ln w="0">
            <a:solidFill>
              <a:srgbClr val="6F6F6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73" name="Freeform 49">
            <a:extLst>
              <a:ext uri="{FF2B5EF4-FFF2-40B4-BE49-F238E27FC236}">
                <a16:creationId xmlns:a16="http://schemas.microsoft.com/office/drawing/2014/main" id="{C16EBEC5-2B43-EAF7-7768-BF5358ADF4E8}"/>
              </a:ext>
            </a:extLst>
          </p:cNvPr>
          <p:cNvSpPr>
            <a:spLocks/>
          </p:cNvSpPr>
          <p:nvPr/>
        </p:nvSpPr>
        <p:spPr bwMode="auto">
          <a:xfrm>
            <a:off x="1701800" y="2165350"/>
            <a:ext cx="473075" cy="334963"/>
          </a:xfrm>
          <a:custGeom>
            <a:avLst/>
            <a:gdLst>
              <a:gd name="T0" fmla="*/ 0 w 896"/>
              <a:gd name="T1" fmla="*/ 634 h 634"/>
              <a:gd name="T2" fmla="*/ 896 w 896"/>
              <a:gd name="T3" fmla="*/ 634 h 634"/>
              <a:gd name="T4" fmla="*/ 896 w 896"/>
              <a:gd name="T5" fmla="*/ 0 h 634"/>
            </a:gdLst>
            <a:ahLst/>
            <a:cxnLst>
              <a:cxn ang="0">
                <a:pos x="T0" y="T1"/>
              </a:cxn>
              <a:cxn ang="0">
                <a:pos x="T2" y="T3"/>
              </a:cxn>
              <a:cxn ang="0">
                <a:pos x="T4" y="T5"/>
              </a:cxn>
            </a:cxnLst>
            <a:rect l="0" t="0" r="r" b="b"/>
            <a:pathLst>
              <a:path w="896" h="634">
                <a:moveTo>
                  <a:pt x="0" y="634"/>
                </a:moveTo>
                <a:lnTo>
                  <a:pt x="896" y="634"/>
                </a:lnTo>
                <a:lnTo>
                  <a:pt x="896" y="0"/>
                </a:lnTo>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74" name="Freeform 50">
            <a:extLst>
              <a:ext uri="{FF2B5EF4-FFF2-40B4-BE49-F238E27FC236}">
                <a16:creationId xmlns:a16="http://schemas.microsoft.com/office/drawing/2014/main" id="{35867E53-7B6C-1388-C2AD-DBE69657B9AA}"/>
              </a:ext>
            </a:extLst>
          </p:cNvPr>
          <p:cNvSpPr>
            <a:spLocks/>
          </p:cNvSpPr>
          <p:nvPr/>
        </p:nvSpPr>
        <p:spPr bwMode="auto">
          <a:xfrm>
            <a:off x="1700213" y="2514600"/>
            <a:ext cx="49212" cy="15875"/>
          </a:xfrm>
          <a:custGeom>
            <a:avLst/>
            <a:gdLst>
              <a:gd name="T0" fmla="*/ 92 w 92"/>
              <a:gd name="T1" fmla="*/ 0 h 30"/>
              <a:gd name="T2" fmla="*/ 0 w 92"/>
              <a:gd name="T3" fmla="*/ 0 h 30"/>
              <a:gd name="T4" fmla="*/ 0 w 92"/>
              <a:gd name="T5" fmla="*/ 30 h 30"/>
            </a:gdLst>
            <a:ahLst/>
            <a:cxnLst>
              <a:cxn ang="0">
                <a:pos x="T0" y="T1"/>
              </a:cxn>
              <a:cxn ang="0">
                <a:pos x="T2" y="T3"/>
              </a:cxn>
              <a:cxn ang="0">
                <a:pos x="T4" y="T5"/>
              </a:cxn>
            </a:cxnLst>
            <a:rect l="0" t="0" r="r" b="b"/>
            <a:pathLst>
              <a:path w="92" h="30">
                <a:moveTo>
                  <a:pt x="92" y="0"/>
                </a:moveTo>
                <a:lnTo>
                  <a:pt x="0" y="0"/>
                </a:lnTo>
                <a:lnTo>
                  <a:pt x="0" y="30"/>
                </a:lnTo>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75" name="Freeform 51">
            <a:extLst>
              <a:ext uri="{FF2B5EF4-FFF2-40B4-BE49-F238E27FC236}">
                <a16:creationId xmlns:a16="http://schemas.microsoft.com/office/drawing/2014/main" id="{DAC98BC5-3332-DCB7-1FD0-4AB40B3BE643}"/>
              </a:ext>
            </a:extLst>
          </p:cNvPr>
          <p:cNvSpPr>
            <a:spLocks/>
          </p:cNvSpPr>
          <p:nvPr/>
        </p:nvSpPr>
        <p:spPr bwMode="auto">
          <a:xfrm>
            <a:off x="1966913" y="2554288"/>
            <a:ext cx="14287" cy="7937"/>
          </a:xfrm>
          <a:custGeom>
            <a:avLst/>
            <a:gdLst>
              <a:gd name="T0" fmla="*/ 14 w 27"/>
              <a:gd name="T1" fmla="*/ 0 h 15"/>
              <a:gd name="T2" fmla="*/ 12 w 27"/>
              <a:gd name="T3" fmla="*/ 0 h 15"/>
              <a:gd name="T4" fmla="*/ 4 w 27"/>
              <a:gd name="T5" fmla="*/ 2 h 15"/>
              <a:gd name="T6" fmla="*/ 0 w 27"/>
              <a:gd name="T7" fmla="*/ 7 h 15"/>
              <a:gd name="T8" fmla="*/ 0 w 27"/>
              <a:gd name="T9" fmla="*/ 9 h 15"/>
              <a:gd name="T10" fmla="*/ 4 w 27"/>
              <a:gd name="T11" fmla="*/ 13 h 15"/>
              <a:gd name="T12" fmla="*/ 8 w 27"/>
              <a:gd name="T13" fmla="*/ 14 h 15"/>
              <a:gd name="T14" fmla="*/ 14 w 27"/>
              <a:gd name="T15" fmla="*/ 15 h 15"/>
              <a:gd name="T16" fmla="*/ 18 w 27"/>
              <a:gd name="T17" fmla="*/ 14 h 15"/>
              <a:gd name="T18" fmla="*/ 23 w 27"/>
              <a:gd name="T19" fmla="*/ 13 h 15"/>
              <a:gd name="T20" fmla="*/ 25 w 27"/>
              <a:gd name="T21" fmla="*/ 9 h 15"/>
              <a:gd name="T22" fmla="*/ 27 w 27"/>
              <a:gd name="T23" fmla="*/ 7 h 15"/>
              <a:gd name="T24" fmla="*/ 25 w 27"/>
              <a:gd name="T25" fmla="*/ 4 h 15"/>
              <a:gd name="T26" fmla="*/ 23 w 27"/>
              <a:gd name="T27" fmla="*/ 2 h 15"/>
              <a:gd name="T28" fmla="*/ 18 w 27"/>
              <a:gd name="T29" fmla="*/ 0 h 15"/>
              <a:gd name="T30" fmla="*/ 14 w 27"/>
              <a:gd name="T3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7" h="15">
                <a:moveTo>
                  <a:pt x="14" y="0"/>
                </a:moveTo>
                <a:lnTo>
                  <a:pt x="12" y="0"/>
                </a:lnTo>
                <a:lnTo>
                  <a:pt x="4" y="2"/>
                </a:lnTo>
                <a:lnTo>
                  <a:pt x="0" y="7"/>
                </a:lnTo>
                <a:lnTo>
                  <a:pt x="0" y="9"/>
                </a:lnTo>
                <a:lnTo>
                  <a:pt x="4" y="13"/>
                </a:lnTo>
                <a:lnTo>
                  <a:pt x="8" y="14"/>
                </a:lnTo>
                <a:lnTo>
                  <a:pt x="14" y="15"/>
                </a:lnTo>
                <a:lnTo>
                  <a:pt x="18" y="14"/>
                </a:lnTo>
                <a:lnTo>
                  <a:pt x="23" y="13"/>
                </a:lnTo>
                <a:lnTo>
                  <a:pt x="25" y="9"/>
                </a:lnTo>
                <a:lnTo>
                  <a:pt x="27" y="7"/>
                </a:lnTo>
                <a:lnTo>
                  <a:pt x="25" y="4"/>
                </a:lnTo>
                <a:lnTo>
                  <a:pt x="23" y="2"/>
                </a:lnTo>
                <a:lnTo>
                  <a:pt x="18" y="0"/>
                </a:lnTo>
                <a:lnTo>
                  <a:pt x="14" y="0"/>
                </a:lnTo>
              </a:path>
            </a:pathLst>
          </a:custGeom>
          <a:noFill/>
          <a:ln w="1588">
            <a:solidFill>
              <a:srgbClr val="6666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76" name="Freeform 52">
            <a:extLst>
              <a:ext uri="{FF2B5EF4-FFF2-40B4-BE49-F238E27FC236}">
                <a16:creationId xmlns:a16="http://schemas.microsoft.com/office/drawing/2014/main" id="{67B5F0D4-1AD8-8DF8-309F-5725FD32D07E}"/>
              </a:ext>
            </a:extLst>
          </p:cNvPr>
          <p:cNvSpPr>
            <a:spLocks/>
          </p:cNvSpPr>
          <p:nvPr/>
        </p:nvSpPr>
        <p:spPr bwMode="auto">
          <a:xfrm>
            <a:off x="1931988" y="2546350"/>
            <a:ext cx="19050" cy="20638"/>
          </a:xfrm>
          <a:custGeom>
            <a:avLst/>
            <a:gdLst>
              <a:gd name="T0" fmla="*/ 0 w 36"/>
              <a:gd name="T1" fmla="*/ 18 h 38"/>
              <a:gd name="T2" fmla="*/ 1 w 36"/>
              <a:gd name="T3" fmla="*/ 26 h 38"/>
              <a:gd name="T4" fmla="*/ 4 w 36"/>
              <a:gd name="T5" fmla="*/ 32 h 38"/>
              <a:gd name="T6" fmla="*/ 9 w 36"/>
              <a:gd name="T7" fmla="*/ 35 h 38"/>
              <a:gd name="T8" fmla="*/ 18 w 36"/>
              <a:gd name="T9" fmla="*/ 38 h 38"/>
              <a:gd name="T10" fmla="*/ 20 w 36"/>
              <a:gd name="T11" fmla="*/ 36 h 38"/>
              <a:gd name="T12" fmla="*/ 20 w 36"/>
              <a:gd name="T13" fmla="*/ 35 h 38"/>
              <a:gd name="T14" fmla="*/ 21 w 36"/>
              <a:gd name="T15" fmla="*/ 35 h 38"/>
              <a:gd name="T16" fmla="*/ 24 w 36"/>
              <a:gd name="T17" fmla="*/ 35 h 38"/>
              <a:gd name="T18" fmla="*/ 26 w 36"/>
              <a:gd name="T19" fmla="*/ 33 h 38"/>
              <a:gd name="T20" fmla="*/ 26 w 36"/>
              <a:gd name="T21" fmla="*/ 32 h 38"/>
              <a:gd name="T22" fmla="*/ 27 w 36"/>
              <a:gd name="T23" fmla="*/ 32 h 38"/>
              <a:gd name="T24" fmla="*/ 30 w 36"/>
              <a:gd name="T25" fmla="*/ 32 h 38"/>
              <a:gd name="T26" fmla="*/ 30 w 36"/>
              <a:gd name="T27" fmla="*/ 29 h 38"/>
              <a:gd name="T28" fmla="*/ 30 w 36"/>
              <a:gd name="T29" fmla="*/ 28 h 38"/>
              <a:gd name="T30" fmla="*/ 31 w 36"/>
              <a:gd name="T31" fmla="*/ 28 h 38"/>
              <a:gd name="T32" fmla="*/ 33 w 36"/>
              <a:gd name="T33" fmla="*/ 26 h 38"/>
              <a:gd name="T34" fmla="*/ 36 w 36"/>
              <a:gd name="T35" fmla="*/ 18 h 38"/>
              <a:gd name="T36" fmla="*/ 34 w 36"/>
              <a:gd name="T37" fmla="*/ 14 h 38"/>
              <a:gd name="T38" fmla="*/ 32 w 36"/>
              <a:gd name="T39" fmla="*/ 9 h 38"/>
              <a:gd name="T40" fmla="*/ 30 w 36"/>
              <a:gd name="T41" fmla="*/ 6 h 38"/>
              <a:gd name="T42" fmla="*/ 26 w 36"/>
              <a:gd name="T43" fmla="*/ 3 h 38"/>
              <a:gd name="T44" fmla="*/ 24 w 36"/>
              <a:gd name="T45" fmla="*/ 2 h 38"/>
              <a:gd name="T46" fmla="*/ 18 w 36"/>
              <a:gd name="T47" fmla="*/ 0 h 38"/>
              <a:gd name="T48" fmla="*/ 9 w 36"/>
              <a:gd name="T49" fmla="*/ 2 h 38"/>
              <a:gd name="T50" fmla="*/ 4 w 36"/>
              <a:gd name="T51" fmla="*/ 6 h 38"/>
              <a:gd name="T52" fmla="*/ 1 w 36"/>
              <a:gd name="T53" fmla="*/ 9 h 38"/>
              <a:gd name="T54" fmla="*/ 0 w 36"/>
              <a:gd name="T55" fmla="*/ 14 h 38"/>
              <a:gd name="T56" fmla="*/ 0 w 36"/>
              <a:gd name="T57" fmla="*/ 1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8">
                <a:moveTo>
                  <a:pt x="0" y="18"/>
                </a:moveTo>
                <a:lnTo>
                  <a:pt x="1" y="26"/>
                </a:lnTo>
                <a:lnTo>
                  <a:pt x="4" y="32"/>
                </a:lnTo>
                <a:lnTo>
                  <a:pt x="9" y="35"/>
                </a:lnTo>
                <a:lnTo>
                  <a:pt x="18" y="38"/>
                </a:lnTo>
                <a:lnTo>
                  <a:pt x="20" y="36"/>
                </a:lnTo>
                <a:lnTo>
                  <a:pt x="20" y="35"/>
                </a:lnTo>
                <a:lnTo>
                  <a:pt x="21" y="35"/>
                </a:lnTo>
                <a:lnTo>
                  <a:pt x="24" y="35"/>
                </a:lnTo>
                <a:lnTo>
                  <a:pt x="26" y="33"/>
                </a:lnTo>
                <a:lnTo>
                  <a:pt x="26" y="32"/>
                </a:lnTo>
                <a:lnTo>
                  <a:pt x="27" y="32"/>
                </a:lnTo>
                <a:lnTo>
                  <a:pt x="30" y="32"/>
                </a:lnTo>
                <a:lnTo>
                  <a:pt x="30" y="29"/>
                </a:lnTo>
                <a:lnTo>
                  <a:pt x="30" y="28"/>
                </a:lnTo>
                <a:lnTo>
                  <a:pt x="31" y="28"/>
                </a:lnTo>
                <a:lnTo>
                  <a:pt x="33" y="26"/>
                </a:lnTo>
                <a:lnTo>
                  <a:pt x="36" y="18"/>
                </a:lnTo>
                <a:lnTo>
                  <a:pt x="34" y="14"/>
                </a:lnTo>
                <a:lnTo>
                  <a:pt x="32" y="9"/>
                </a:lnTo>
                <a:lnTo>
                  <a:pt x="30" y="6"/>
                </a:lnTo>
                <a:lnTo>
                  <a:pt x="26" y="3"/>
                </a:lnTo>
                <a:lnTo>
                  <a:pt x="24" y="2"/>
                </a:lnTo>
                <a:lnTo>
                  <a:pt x="18" y="0"/>
                </a:lnTo>
                <a:lnTo>
                  <a:pt x="9" y="2"/>
                </a:lnTo>
                <a:lnTo>
                  <a:pt x="4" y="6"/>
                </a:lnTo>
                <a:lnTo>
                  <a:pt x="1" y="9"/>
                </a:lnTo>
                <a:lnTo>
                  <a:pt x="0" y="14"/>
                </a:lnTo>
                <a:lnTo>
                  <a:pt x="0" y="18"/>
                </a:lnTo>
              </a:path>
            </a:pathLst>
          </a:custGeom>
          <a:noFill/>
          <a:ln w="1588">
            <a:solidFill>
              <a:srgbClr val="6666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77" name="Freeform 53">
            <a:extLst>
              <a:ext uri="{FF2B5EF4-FFF2-40B4-BE49-F238E27FC236}">
                <a16:creationId xmlns:a16="http://schemas.microsoft.com/office/drawing/2014/main" id="{52F0DDCE-C5B5-4586-6BBC-DA363A76A65B}"/>
              </a:ext>
            </a:extLst>
          </p:cNvPr>
          <p:cNvSpPr>
            <a:spLocks/>
          </p:cNvSpPr>
          <p:nvPr/>
        </p:nvSpPr>
        <p:spPr bwMode="auto">
          <a:xfrm>
            <a:off x="1901825" y="2554288"/>
            <a:ext cx="15875" cy="7937"/>
          </a:xfrm>
          <a:custGeom>
            <a:avLst/>
            <a:gdLst>
              <a:gd name="T0" fmla="*/ 13 w 28"/>
              <a:gd name="T1" fmla="*/ 0 h 15"/>
              <a:gd name="T2" fmla="*/ 4 w 28"/>
              <a:gd name="T3" fmla="*/ 2 h 15"/>
              <a:gd name="T4" fmla="*/ 0 w 28"/>
              <a:gd name="T5" fmla="*/ 7 h 15"/>
              <a:gd name="T6" fmla="*/ 0 w 28"/>
              <a:gd name="T7" fmla="*/ 9 h 15"/>
              <a:gd name="T8" fmla="*/ 4 w 28"/>
              <a:gd name="T9" fmla="*/ 13 h 15"/>
              <a:gd name="T10" fmla="*/ 13 w 28"/>
              <a:gd name="T11" fmla="*/ 15 h 15"/>
              <a:gd name="T12" fmla="*/ 18 w 28"/>
              <a:gd name="T13" fmla="*/ 14 h 15"/>
              <a:gd name="T14" fmla="*/ 23 w 28"/>
              <a:gd name="T15" fmla="*/ 13 h 15"/>
              <a:gd name="T16" fmla="*/ 24 w 28"/>
              <a:gd name="T17" fmla="*/ 10 h 15"/>
              <a:gd name="T18" fmla="*/ 27 w 28"/>
              <a:gd name="T19" fmla="*/ 9 h 15"/>
              <a:gd name="T20" fmla="*/ 28 w 28"/>
              <a:gd name="T21" fmla="*/ 7 h 15"/>
              <a:gd name="T22" fmla="*/ 27 w 28"/>
              <a:gd name="T23" fmla="*/ 4 h 15"/>
              <a:gd name="T24" fmla="*/ 23 w 28"/>
              <a:gd name="T25" fmla="*/ 2 h 15"/>
              <a:gd name="T26" fmla="*/ 18 w 28"/>
              <a:gd name="T27" fmla="*/ 0 h 15"/>
              <a:gd name="T28" fmla="*/ 15 w 28"/>
              <a:gd name="T2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15">
                <a:moveTo>
                  <a:pt x="13" y="0"/>
                </a:moveTo>
                <a:lnTo>
                  <a:pt x="4" y="2"/>
                </a:lnTo>
                <a:lnTo>
                  <a:pt x="0" y="7"/>
                </a:lnTo>
                <a:lnTo>
                  <a:pt x="0" y="9"/>
                </a:lnTo>
                <a:lnTo>
                  <a:pt x="4" y="13"/>
                </a:lnTo>
                <a:lnTo>
                  <a:pt x="13" y="15"/>
                </a:lnTo>
                <a:lnTo>
                  <a:pt x="18" y="14"/>
                </a:lnTo>
                <a:lnTo>
                  <a:pt x="23" y="13"/>
                </a:lnTo>
                <a:lnTo>
                  <a:pt x="24" y="10"/>
                </a:lnTo>
                <a:lnTo>
                  <a:pt x="27" y="9"/>
                </a:lnTo>
                <a:lnTo>
                  <a:pt x="28" y="7"/>
                </a:lnTo>
                <a:lnTo>
                  <a:pt x="27" y="4"/>
                </a:lnTo>
                <a:lnTo>
                  <a:pt x="23" y="2"/>
                </a:lnTo>
                <a:lnTo>
                  <a:pt x="18" y="0"/>
                </a:lnTo>
                <a:lnTo>
                  <a:pt x="15" y="0"/>
                </a:lnTo>
              </a:path>
            </a:pathLst>
          </a:custGeom>
          <a:noFill/>
          <a:ln w="1588">
            <a:solidFill>
              <a:srgbClr val="6666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78" name="Freeform 54">
            <a:extLst>
              <a:ext uri="{FF2B5EF4-FFF2-40B4-BE49-F238E27FC236}">
                <a16:creationId xmlns:a16="http://schemas.microsoft.com/office/drawing/2014/main" id="{86CE1E71-F50A-9311-C7C4-233F864F327B}"/>
              </a:ext>
            </a:extLst>
          </p:cNvPr>
          <p:cNvSpPr>
            <a:spLocks/>
          </p:cNvSpPr>
          <p:nvPr/>
        </p:nvSpPr>
        <p:spPr bwMode="auto">
          <a:xfrm>
            <a:off x="2254250" y="2844800"/>
            <a:ext cx="88900" cy="65088"/>
          </a:xfrm>
          <a:custGeom>
            <a:avLst/>
            <a:gdLst>
              <a:gd name="T0" fmla="*/ 0 w 168"/>
              <a:gd name="T1" fmla="*/ 0 h 125"/>
              <a:gd name="T2" fmla="*/ 19 w 168"/>
              <a:gd name="T3" fmla="*/ 16 h 125"/>
              <a:gd name="T4" fmla="*/ 39 w 168"/>
              <a:gd name="T5" fmla="*/ 30 h 125"/>
              <a:gd name="T6" fmla="*/ 61 w 168"/>
              <a:gd name="T7" fmla="*/ 43 h 125"/>
              <a:gd name="T8" fmla="*/ 83 w 168"/>
              <a:gd name="T9" fmla="*/ 55 h 125"/>
              <a:gd name="T10" fmla="*/ 90 w 168"/>
              <a:gd name="T11" fmla="*/ 58 h 125"/>
              <a:gd name="T12" fmla="*/ 97 w 168"/>
              <a:gd name="T13" fmla="*/ 61 h 125"/>
              <a:gd name="T14" fmla="*/ 108 w 168"/>
              <a:gd name="T15" fmla="*/ 68 h 125"/>
              <a:gd name="T16" fmla="*/ 115 w 168"/>
              <a:gd name="T17" fmla="*/ 73 h 125"/>
              <a:gd name="T18" fmla="*/ 116 w 168"/>
              <a:gd name="T19" fmla="*/ 76 h 125"/>
              <a:gd name="T20" fmla="*/ 116 w 168"/>
              <a:gd name="T21" fmla="*/ 77 h 125"/>
              <a:gd name="T22" fmla="*/ 117 w 168"/>
              <a:gd name="T23" fmla="*/ 79 h 125"/>
              <a:gd name="T24" fmla="*/ 109 w 168"/>
              <a:gd name="T25" fmla="*/ 91 h 125"/>
              <a:gd name="T26" fmla="*/ 110 w 168"/>
              <a:gd name="T27" fmla="*/ 96 h 125"/>
              <a:gd name="T28" fmla="*/ 115 w 168"/>
              <a:gd name="T29" fmla="*/ 101 h 125"/>
              <a:gd name="T30" fmla="*/ 122 w 168"/>
              <a:gd name="T31" fmla="*/ 106 h 125"/>
              <a:gd name="T32" fmla="*/ 133 w 168"/>
              <a:gd name="T33" fmla="*/ 113 h 125"/>
              <a:gd name="T34" fmla="*/ 150 w 168"/>
              <a:gd name="T35" fmla="*/ 119 h 125"/>
              <a:gd name="T36" fmla="*/ 158 w 168"/>
              <a:gd name="T37" fmla="*/ 121 h 125"/>
              <a:gd name="T38" fmla="*/ 168 w 168"/>
              <a:gd name="T39"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68" h="125">
                <a:moveTo>
                  <a:pt x="0" y="0"/>
                </a:moveTo>
                <a:lnTo>
                  <a:pt x="19" y="16"/>
                </a:lnTo>
                <a:lnTo>
                  <a:pt x="39" y="30"/>
                </a:lnTo>
                <a:lnTo>
                  <a:pt x="61" y="43"/>
                </a:lnTo>
                <a:lnTo>
                  <a:pt x="83" y="55"/>
                </a:lnTo>
                <a:lnTo>
                  <a:pt x="90" y="58"/>
                </a:lnTo>
                <a:lnTo>
                  <a:pt x="97" y="61"/>
                </a:lnTo>
                <a:lnTo>
                  <a:pt x="108" y="68"/>
                </a:lnTo>
                <a:lnTo>
                  <a:pt x="115" y="73"/>
                </a:lnTo>
                <a:lnTo>
                  <a:pt x="116" y="76"/>
                </a:lnTo>
                <a:lnTo>
                  <a:pt x="116" y="77"/>
                </a:lnTo>
                <a:lnTo>
                  <a:pt x="117" y="79"/>
                </a:lnTo>
                <a:lnTo>
                  <a:pt x="109" y="91"/>
                </a:lnTo>
                <a:lnTo>
                  <a:pt x="110" y="96"/>
                </a:lnTo>
                <a:lnTo>
                  <a:pt x="115" y="101"/>
                </a:lnTo>
                <a:lnTo>
                  <a:pt x="122" y="106"/>
                </a:lnTo>
                <a:lnTo>
                  <a:pt x="133" y="113"/>
                </a:lnTo>
                <a:lnTo>
                  <a:pt x="150" y="119"/>
                </a:lnTo>
                <a:lnTo>
                  <a:pt x="158" y="121"/>
                </a:lnTo>
                <a:lnTo>
                  <a:pt x="168" y="125"/>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79" name="Rectangle 55">
            <a:extLst>
              <a:ext uri="{FF2B5EF4-FFF2-40B4-BE49-F238E27FC236}">
                <a16:creationId xmlns:a16="http://schemas.microsoft.com/office/drawing/2014/main" id="{688B496B-BD04-39AB-250D-ACBB83EB434E}"/>
              </a:ext>
            </a:extLst>
          </p:cNvPr>
          <p:cNvSpPr>
            <a:spLocks noChangeArrowheads="1"/>
          </p:cNvSpPr>
          <p:nvPr/>
        </p:nvSpPr>
        <p:spPr bwMode="auto">
          <a:xfrm>
            <a:off x="1992313" y="2625725"/>
            <a:ext cx="254000" cy="7938"/>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480" name="Freeform 56">
            <a:extLst>
              <a:ext uri="{FF2B5EF4-FFF2-40B4-BE49-F238E27FC236}">
                <a16:creationId xmlns:a16="http://schemas.microsoft.com/office/drawing/2014/main" id="{01DD62C3-97F7-7070-7A20-8A4CBF611271}"/>
              </a:ext>
            </a:extLst>
          </p:cNvPr>
          <p:cNvSpPr>
            <a:spLocks/>
          </p:cNvSpPr>
          <p:nvPr/>
        </p:nvSpPr>
        <p:spPr bwMode="auto">
          <a:xfrm>
            <a:off x="1568450" y="2625725"/>
            <a:ext cx="423863" cy="149225"/>
          </a:xfrm>
          <a:custGeom>
            <a:avLst/>
            <a:gdLst>
              <a:gd name="T0" fmla="*/ 801 w 801"/>
              <a:gd name="T1" fmla="*/ 15 h 281"/>
              <a:gd name="T2" fmla="*/ 801 w 801"/>
              <a:gd name="T3" fmla="*/ 0 h 281"/>
              <a:gd name="T4" fmla="*/ 0 w 801"/>
              <a:gd name="T5" fmla="*/ 0 h 281"/>
              <a:gd name="T6" fmla="*/ 0 w 801"/>
              <a:gd name="T7" fmla="*/ 15 h 281"/>
              <a:gd name="T8" fmla="*/ 798 w 801"/>
              <a:gd name="T9" fmla="*/ 15 h 281"/>
              <a:gd name="T10" fmla="*/ 798 w 801"/>
              <a:gd name="T11" fmla="*/ 281 h 281"/>
              <a:gd name="T12" fmla="*/ 801 w 801"/>
              <a:gd name="T13" fmla="*/ 281 h 281"/>
              <a:gd name="T14" fmla="*/ 801 w 801"/>
              <a:gd name="T15" fmla="*/ 277 h 281"/>
              <a:gd name="T16" fmla="*/ 801 w 801"/>
              <a:gd name="T17" fmla="*/ 15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1" h="281">
                <a:moveTo>
                  <a:pt x="801" y="15"/>
                </a:moveTo>
                <a:lnTo>
                  <a:pt x="801" y="0"/>
                </a:lnTo>
                <a:lnTo>
                  <a:pt x="0" y="0"/>
                </a:lnTo>
                <a:lnTo>
                  <a:pt x="0" y="15"/>
                </a:lnTo>
                <a:lnTo>
                  <a:pt x="798" y="15"/>
                </a:lnTo>
                <a:lnTo>
                  <a:pt x="798" y="281"/>
                </a:lnTo>
                <a:lnTo>
                  <a:pt x="801" y="281"/>
                </a:lnTo>
                <a:lnTo>
                  <a:pt x="801" y="277"/>
                </a:lnTo>
                <a:lnTo>
                  <a:pt x="801" y="15"/>
                </a:lnTo>
                <a:close/>
              </a:path>
            </a:pathLst>
          </a:custGeom>
          <a:solidFill>
            <a:srgbClr val="9D9D9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81" name="Rectangle 57">
            <a:extLst>
              <a:ext uri="{FF2B5EF4-FFF2-40B4-BE49-F238E27FC236}">
                <a16:creationId xmlns:a16="http://schemas.microsoft.com/office/drawing/2014/main" id="{7FF4F075-A0DB-AD87-7ADA-413D5ED89C3D}"/>
              </a:ext>
            </a:extLst>
          </p:cNvPr>
          <p:cNvSpPr>
            <a:spLocks noChangeArrowheads="1"/>
          </p:cNvSpPr>
          <p:nvPr/>
        </p:nvSpPr>
        <p:spPr bwMode="auto">
          <a:xfrm>
            <a:off x="2246313" y="2625725"/>
            <a:ext cx="58737" cy="7938"/>
          </a:xfrm>
          <a:prstGeom prst="rect">
            <a:avLst/>
          </a:prstGeom>
          <a:solidFill>
            <a:srgbClr val="888888"/>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482" name="Freeform 58">
            <a:extLst>
              <a:ext uri="{FF2B5EF4-FFF2-40B4-BE49-F238E27FC236}">
                <a16:creationId xmlns:a16="http://schemas.microsoft.com/office/drawing/2014/main" id="{C055BF2D-1BAB-E543-8F2E-0DAF65FEA764}"/>
              </a:ext>
            </a:extLst>
          </p:cNvPr>
          <p:cNvSpPr>
            <a:spLocks/>
          </p:cNvSpPr>
          <p:nvPr/>
        </p:nvSpPr>
        <p:spPr bwMode="auto">
          <a:xfrm>
            <a:off x="2246313" y="2633663"/>
            <a:ext cx="58737" cy="201612"/>
          </a:xfrm>
          <a:custGeom>
            <a:avLst/>
            <a:gdLst>
              <a:gd name="T0" fmla="*/ 112 w 112"/>
              <a:gd name="T1" fmla="*/ 0 h 380"/>
              <a:gd name="T2" fmla="*/ 0 w 112"/>
              <a:gd name="T3" fmla="*/ 0 h 380"/>
              <a:gd name="T4" fmla="*/ 0 w 112"/>
              <a:gd name="T5" fmla="*/ 262 h 380"/>
              <a:gd name="T6" fmla="*/ 0 w 112"/>
              <a:gd name="T7" fmla="*/ 266 h 380"/>
              <a:gd name="T8" fmla="*/ 0 w 112"/>
              <a:gd name="T9" fmla="*/ 380 h 380"/>
              <a:gd name="T10" fmla="*/ 112 w 112"/>
              <a:gd name="T11" fmla="*/ 380 h 380"/>
              <a:gd name="T12" fmla="*/ 112 w 112"/>
              <a:gd name="T13" fmla="*/ 0 h 380"/>
            </a:gdLst>
            <a:ahLst/>
            <a:cxnLst>
              <a:cxn ang="0">
                <a:pos x="T0" y="T1"/>
              </a:cxn>
              <a:cxn ang="0">
                <a:pos x="T2" y="T3"/>
              </a:cxn>
              <a:cxn ang="0">
                <a:pos x="T4" y="T5"/>
              </a:cxn>
              <a:cxn ang="0">
                <a:pos x="T6" y="T7"/>
              </a:cxn>
              <a:cxn ang="0">
                <a:pos x="T8" y="T9"/>
              </a:cxn>
              <a:cxn ang="0">
                <a:pos x="T10" y="T11"/>
              </a:cxn>
              <a:cxn ang="0">
                <a:pos x="T12" y="T13"/>
              </a:cxn>
            </a:cxnLst>
            <a:rect l="0" t="0" r="r" b="b"/>
            <a:pathLst>
              <a:path w="112" h="380">
                <a:moveTo>
                  <a:pt x="112" y="0"/>
                </a:moveTo>
                <a:lnTo>
                  <a:pt x="0" y="0"/>
                </a:lnTo>
                <a:lnTo>
                  <a:pt x="0" y="262"/>
                </a:lnTo>
                <a:lnTo>
                  <a:pt x="0" y="266"/>
                </a:lnTo>
                <a:lnTo>
                  <a:pt x="0" y="380"/>
                </a:lnTo>
                <a:lnTo>
                  <a:pt x="112" y="380"/>
                </a:lnTo>
                <a:lnTo>
                  <a:pt x="112" y="0"/>
                </a:lnTo>
                <a:close/>
              </a:path>
            </a:pathLst>
          </a:custGeom>
          <a:solidFill>
            <a:srgbClr val="A2A2A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83" name="Freeform 59">
            <a:extLst>
              <a:ext uri="{FF2B5EF4-FFF2-40B4-BE49-F238E27FC236}">
                <a16:creationId xmlns:a16="http://schemas.microsoft.com/office/drawing/2014/main" id="{FAAEB9DB-A3A4-A571-FE2E-A9C3423482E3}"/>
              </a:ext>
            </a:extLst>
          </p:cNvPr>
          <p:cNvSpPr>
            <a:spLocks/>
          </p:cNvSpPr>
          <p:nvPr/>
        </p:nvSpPr>
        <p:spPr bwMode="auto">
          <a:xfrm>
            <a:off x="1568450" y="2611438"/>
            <a:ext cx="736600" cy="14287"/>
          </a:xfrm>
          <a:custGeom>
            <a:avLst/>
            <a:gdLst>
              <a:gd name="T0" fmla="*/ 1281 w 1393"/>
              <a:gd name="T1" fmla="*/ 26 h 26"/>
              <a:gd name="T2" fmla="*/ 1393 w 1393"/>
              <a:gd name="T3" fmla="*/ 26 h 26"/>
              <a:gd name="T4" fmla="*/ 1393 w 1393"/>
              <a:gd name="T5" fmla="*/ 0 h 26"/>
              <a:gd name="T6" fmla="*/ 0 w 1393"/>
              <a:gd name="T7" fmla="*/ 0 h 26"/>
              <a:gd name="T8" fmla="*/ 0 w 1393"/>
              <a:gd name="T9" fmla="*/ 26 h 26"/>
              <a:gd name="T10" fmla="*/ 801 w 1393"/>
              <a:gd name="T11" fmla="*/ 26 h 26"/>
              <a:gd name="T12" fmla="*/ 1281 w 1393"/>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393" h="26">
                <a:moveTo>
                  <a:pt x="1281" y="26"/>
                </a:moveTo>
                <a:lnTo>
                  <a:pt x="1393" y="26"/>
                </a:lnTo>
                <a:lnTo>
                  <a:pt x="1393" y="0"/>
                </a:lnTo>
                <a:lnTo>
                  <a:pt x="0" y="0"/>
                </a:lnTo>
                <a:lnTo>
                  <a:pt x="0" y="26"/>
                </a:lnTo>
                <a:lnTo>
                  <a:pt x="801" y="26"/>
                </a:lnTo>
                <a:lnTo>
                  <a:pt x="1281" y="26"/>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84" name="Freeform 60">
            <a:extLst>
              <a:ext uri="{FF2B5EF4-FFF2-40B4-BE49-F238E27FC236}">
                <a16:creationId xmlns:a16="http://schemas.microsoft.com/office/drawing/2014/main" id="{293C9CC3-53E6-0C66-E6F8-3D0126A53AF7}"/>
              </a:ext>
            </a:extLst>
          </p:cNvPr>
          <p:cNvSpPr>
            <a:spLocks noEditPoints="1"/>
          </p:cNvSpPr>
          <p:nvPr/>
        </p:nvSpPr>
        <p:spPr bwMode="auto">
          <a:xfrm>
            <a:off x="1992313" y="2633663"/>
            <a:ext cx="254000" cy="138112"/>
          </a:xfrm>
          <a:custGeom>
            <a:avLst/>
            <a:gdLst>
              <a:gd name="T0" fmla="*/ 480 w 480"/>
              <a:gd name="T1" fmla="*/ 0 h 262"/>
              <a:gd name="T2" fmla="*/ 0 w 480"/>
              <a:gd name="T3" fmla="*/ 0 h 262"/>
              <a:gd name="T4" fmla="*/ 0 w 480"/>
              <a:gd name="T5" fmla="*/ 262 h 262"/>
              <a:gd name="T6" fmla="*/ 480 w 480"/>
              <a:gd name="T7" fmla="*/ 262 h 262"/>
              <a:gd name="T8" fmla="*/ 480 w 480"/>
              <a:gd name="T9" fmla="*/ 0 h 262"/>
              <a:gd name="T10" fmla="*/ 161 w 480"/>
              <a:gd name="T11" fmla="*/ 81 h 262"/>
              <a:gd name="T12" fmla="*/ 107 w 480"/>
              <a:gd name="T13" fmla="*/ 81 h 262"/>
              <a:gd name="T14" fmla="*/ 107 w 480"/>
              <a:gd name="T15" fmla="*/ 40 h 262"/>
              <a:gd name="T16" fmla="*/ 161 w 480"/>
              <a:gd name="T17" fmla="*/ 40 h 262"/>
              <a:gd name="T18" fmla="*/ 161 w 480"/>
              <a:gd name="T19" fmla="*/ 25 h 262"/>
              <a:gd name="T20" fmla="*/ 327 w 480"/>
              <a:gd name="T21" fmla="*/ 25 h 262"/>
              <a:gd name="T22" fmla="*/ 327 w 480"/>
              <a:gd name="T23" fmla="*/ 40 h 262"/>
              <a:gd name="T24" fmla="*/ 381 w 480"/>
              <a:gd name="T25" fmla="*/ 40 h 262"/>
              <a:gd name="T26" fmla="*/ 381 w 480"/>
              <a:gd name="T27" fmla="*/ 81 h 262"/>
              <a:gd name="T28" fmla="*/ 327 w 480"/>
              <a:gd name="T29" fmla="*/ 81 h 262"/>
              <a:gd name="T30" fmla="*/ 327 w 480"/>
              <a:gd name="T31" fmla="*/ 94 h 262"/>
              <a:gd name="T32" fmla="*/ 161 w 480"/>
              <a:gd name="T33" fmla="*/ 94 h 262"/>
              <a:gd name="T34" fmla="*/ 161 w 480"/>
              <a:gd name="T35" fmla="*/ 81 h 262"/>
              <a:gd name="T36" fmla="*/ 413 w 480"/>
              <a:gd name="T37" fmla="*/ 183 h 262"/>
              <a:gd name="T38" fmla="*/ 413 w 480"/>
              <a:gd name="T39" fmla="*/ 211 h 262"/>
              <a:gd name="T40" fmla="*/ 333 w 480"/>
              <a:gd name="T41" fmla="*/ 211 h 262"/>
              <a:gd name="T42" fmla="*/ 333 w 480"/>
              <a:gd name="T43" fmla="*/ 231 h 262"/>
              <a:gd name="T44" fmla="*/ 153 w 480"/>
              <a:gd name="T45" fmla="*/ 231 h 262"/>
              <a:gd name="T46" fmla="*/ 153 w 480"/>
              <a:gd name="T47" fmla="*/ 211 h 262"/>
              <a:gd name="T48" fmla="*/ 66 w 480"/>
              <a:gd name="T49" fmla="*/ 211 h 262"/>
              <a:gd name="T50" fmla="*/ 66 w 480"/>
              <a:gd name="T51" fmla="*/ 183 h 262"/>
              <a:gd name="T52" fmla="*/ 153 w 480"/>
              <a:gd name="T53" fmla="*/ 183 h 262"/>
              <a:gd name="T54" fmla="*/ 153 w 480"/>
              <a:gd name="T55" fmla="*/ 168 h 262"/>
              <a:gd name="T56" fmla="*/ 333 w 480"/>
              <a:gd name="T57" fmla="*/ 168 h 262"/>
              <a:gd name="T58" fmla="*/ 333 w 480"/>
              <a:gd name="T59" fmla="*/ 183 h 262"/>
              <a:gd name="T60" fmla="*/ 413 w 480"/>
              <a:gd name="T61" fmla="*/ 183 h 262"/>
              <a:gd name="T62" fmla="*/ 448 w 480"/>
              <a:gd name="T63" fmla="*/ 260 h 262"/>
              <a:gd name="T64" fmla="*/ 395 w 480"/>
              <a:gd name="T65" fmla="*/ 260 h 262"/>
              <a:gd name="T66" fmla="*/ 395 w 480"/>
              <a:gd name="T67" fmla="*/ 241 h 262"/>
              <a:gd name="T68" fmla="*/ 448 w 480"/>
              <a:gd name="T69" fmla="*/ 241 h 262"/>
              <a:gd name="T70" fmla="*/ 448 w 480"/>
              <a:gd name="T71" fmla="*/ 260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80" h="262">
                <a:moveTo>
                  <a:pt x="480" y="0"/>
                </a:moveTo>
                <a:lnTo>
                  <a:pt x="0" y="0"/>
                </a:lnTo>
                <a:lnTo>
                  <a:pt x="0" y="262"/>
                </a:lnTo>
                <a:lnTo>
                  <a:pt x="480" y="262"/>
                </a:lnTo>
                <a:lnTo>
                  <a:pt x="480" y="0"/>
                </a:lnTo>
                <a:close/>
                <a:moveTo>
                  <a:pt x="161" y="81"/>
                </a:moveTo>
                <a:lnTo>
                  <a:pt x="107" y="81"/>
                </a:lnTo>
                <a:lnTo>
                  <a:pt x="107" y="40"/>
                </a:lnTo>
                <a:lnTo>
                  <a:pt x="161" y="40"/>
                </a:lnTo>
                <a:lnTo>
                  <a:pt x="161" y="25"/>
                </a:lnTo>
                <a:lnTo>
                  <a:pt x="327" y="25"/>
                </a:lnTo>
                <a:lnTo>
                  <a:pt x="327" y="40"/>
                </a:lnTo>
                <a:lnTo>
                  <a:pt x="381" y="40"/>
                </a:lnTo>
                <a:lnTo>
                  <a:pt x="381" y="81"/>
                </a:lnTo>
                <a:lnTo>
                  <a:pt x="327" y="81"/>
                </a:lnTo>
                <a:lnTo>
                  <a:pt x="327" y="94"/>
                </a:lnTo>
                <a:lnTo>
                  <a:pt x="161" y="94"/>
                </a:lnTo>
                <a:lnTo>
                  <a:pt x="161" y="81"/>
                </a:lnTo>
                <a:close/>
                <a:moveTo>
                  <a:pt x="413" y="183"/>
                </a:moveTo>
                <a:lnTo>
                  <a:pt x="413" y="211"/>
                </a:lnTo>
                <a:lnTo>
                  <a:pt x="333" y="211"/>
                </a:lnTo>
                <a:lnTo>
                  <a:pt x="333" y="231"/>
                </a:lnTo>
                <a:lnTo>
                  <a:pt x="153" y="231"/>
                </a:lnTo>
                <a:lnTo>
                  <a:pt x="153" y="211"/>
                </a:lnTo>
                <a:lnTo>
                  <a:pt x="66" y="211"/>
                </a:lnTo>
                <a:lnTo>
                  <a:pt x="66" y="183"/>
                </a:lnTo>
                <a:lnTo>
                  <a:pt x="153" y="183"/>
                </a:lnTo>
                <a:lnTo>
                  <a:pt x="153" y="168"/>
                </a:lnTo>
                <a:lnTo>
                  <a:pt x="333" y="168"/>
                </a:lnTo>
                <a:lnTo>
                  <a:pt x="333" y="183"/>
                </a:lnTo>
                <a:lnTo>
                  <a:pt x="413" y="183"/>
                </a:lnTo>
                <a:close/>
                <a:moveTo>
                  <a:pt x="448" y="260"/>
                </a:moveTo>
                <a:lnTo>
                  <a:pt x="395" y="260"/>
                </a:lnTo>
                <a:lnTo>
                  <a:pt x="395" y="241"/>
                </a:lnTo>
                <a:lnTo>
                  <a:pt x="448" y="241"/>
                </a:lnTo>
                <a:lnTo>
                  <a:pt x="448" y="260"/>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85" name="Freeform 61">
            <a:extLst>
              <a:ext uri="{FF2B5EF4-FFF2-40B4-BE49-F238E27FC236}">
                <a16:creationId xmlns:a16="http://schemas.microsoft.com/office/drawing/2014/main" id="{F56A4E98-94E9-7B8C-C5B3-14D754A5EAF5}"/>
              </a:ext>
            </a:extLst>
          </p:cNvPr>
          <p:cNvSpPr>
            <a:spLocks/>
          </p:cNvSpPr>
          <p:nvPr/>
        </p:nvSpPr>
        <p:spPr bwMode="auto">
          <a:xfrm>
            <a:off x="2049463" y="2654300"/>
            <a:ext cx="144462" cy="22225"/>
          </a:xfrm>
          <a:custGeom>
            <a:avLst/>
            <a:gdLst>
              <a:gd name="T0" fmla="*/ 0 w 274"/>
              <a:gd name="T1" fmla="*/ 41 h 41"/>
              <a:gd name="T2" fmla="*/ 54 w 274"/>
              <a:gd name="T3" fmla="*/ 41 h 41"/>
              <a:gd name="T4" fmla="*/ 220 w 274"/>
              <a:gd name="T5" fmla="*/ 41 h 41"/>
              <a:gd name="T6" fmla="*/ 274 w 274"/>
              <a:gd name="T7" fmla="*/ 41 h 41"/>
              <a:gd name="T8" fmla="*/ 274 w 274"/>
              <a:gd name="T9" fmla="*/ 0 h 41"/>
              <a:gd name="T10" fmla="*/ 220 w 274"/>
              <a:gd name="T11" fmla="*/ 0 h 41"/>
              <a:gd name="T12" fmla="*/ 54 w 274"/>
              <a:gd name="T13" fmla="*/ 0 h 41"/>
              <a:gd name="T14" fmla="*/ 0 w 274"/>
              <a:gd name="T15" fmla="*/ 0 h 41"/>
              <a:gd name="T16" fmla="*/ 0 w 274"/>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4" h="41">
                <a:moveTo>
                  <a:pt x="0" y="41"/>
                </a:moveTo>
                <a:lnTo>
                  <a:pt x="54" y="41"/>
                </a:lnTo>
                <a:lnTo>
                  <a:pt x="220" y="41"/>
                </a:lnTo>
                <a:lnTo>
                  <a:pt x="274" y="41"/>
                </a:lnTo>
                <a:lnTo>
                  <a:pt x="274" y="0"/>
                </a:lnTo>
                <a:lnTo>
                  <a:pt x="220" y="0"/>
                </a:lnTo>
                <a:lnTo>
                  <a:pt x="54" y="0"/>
                </a:lnTo>
                <a:lnTo>
                  <a:pt x="0" y="0"/>
                </a:lnTo>
                <a:lnTo>
                  <a:pt x="0" y="41"/>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86" name="Rectangle 62">
            <a:extLst>
              <a:ext uri="{FF2B5EF4-FFF2-40B4-BE49-F238E27FC236}">
                <a16:creationId xmlns:a16="http://schemas.microsoft.com/office/drawing/2014/main" id="{A11E6954-5FDA-AEE2-01EA-994C969F46AB}"/>
              </a:ext>
            </a:extLst>
          </p:cNvPr>
          <p:cNvSpPr>
            <a:spLocks noChangeArrowheads="1"/>
          </p:cNvSpPr>
          <p:nvPr/>
        </p:nvSpPr>
        <p:spPr bwMode="auto">
          <a:xfrm>
            <a:off x="2078038" y="2676525"/>
            <a:ext cx="87312" cy="6350"/>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487" name="Rectangle 63">
            <a:extLst>
              <a:ext uri="{FF2B5EF4-FFF2-40B4-BE49-F238E27FC236}">
                <a16:creationId xmlns:a16="http://schemas.microsoft.com/office/drawing/2014/main" id="{9B9F9EE8-9621-C808-D181-F154F19B8AD8}"/>
              </a:ext>
            </a:extLst>
          </p:cNvPr>
          <p:cNvSpPr>
            <a:spLocks noChangeArrowheads="1"/>
          </p:cNvSpPr>
          <p:nvPr/>
        </p:nvSpPr>
        <p:spPr bwMode="auto">
          <a:xfrm>
            <a:off x="2078038" y="2646363"/>
            <a:ext cx="87312" cy="7937"/>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488" name="Freeform 64">
            <a:extLst>
              <a:ext uri="{FF2B5EF4-FFF2-40B4-BE49-F238E27FC236}">
                <a16:creationId xmlns:a16="http://schemas.microsoft.com/office/drawing/2014/main" id="{70F41E31-707E-3226-254C-DB717C59B00A}"/>
              </a:ext>
            </a:extLst>
          </p:cNvPr>
          <p:cNvSpPr>
            <a:spLocks/>
          </p:cNvSpPr>
          <p:nvPr/>
        </p:nvSpPr>
        <p:spPr bwMode="auto">
          <a:xfrm>
            <a:off x="2027238" y="2730500"/>
            <a:ext cx="184150" cy="14288"/>
          </a:xfrm>
          <a:custGeom>
            <a:avLst/>
            <a:gdLst>
              <a:gd name="T0" fmla="*/ 347 w 347"/>
              <a:gd name="T1" fmla="*/ 28 h 28"/>
              <a:gd name="T2" fmla="*/ 347 w 347"/>
              <a:gd name="T3" fmla="*/ 0 h 28"/>
              <a:gd name="T4" fmla="*/ 267 w 347"/>
              <a:gd name="T5" fmla="*/ 0 h 28"/>
              <a:gd name="T6" fmla="*/ 87 w 347"/>
              <a:gd name="T7" fmla="*/ 0 h 28"/>
              <a:gd name="T8" fmla="*/ 0 w 347"/>
              <a:gd name="T9" fmla="*/ 0 h 28"/>
              <a:gd name="T10" fmla="*/ 0 w 347"/>
              <a:gd name="T11" fmla="*/ 28 h 28"/>
              <a:gd name="T12" fmla="*/ 87 w 347"/>
              <a:gd name="T13" fmla="*/ 28 h 28"/>
              <a:gd name="T14" fmla="*/ 267 w 347"/>
              <a:gd name="T15" fmla="*/ 28 h 28"/>
              <a:gd name="T16" fmla="*/ 347 w 347"/>
              <a:gd name="T17"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7" h="28">
                <a:moveTo>
                  <a:pt x="347" y="28"/>
                </a:moveTo>
                <a:lnTo>
                  <a:pt x="347" y="0"/>
                </a:lnTo>
                <a:lnTo>
                  <a:pt x="267" y="0"/>
                </a:lnTo>
                <a:lnTo>
                  <a:pt x="87" y="0"/>
                </a:lnTo>
                <a:lnTo>
                  <a:pt x="0" y="0"/>
                </a:lnTo>
                <a:lnTo>
                  <a:pt x="0" y="28"/>
                </a:lnTo>
                <a:lnTo>
                  <a:pt x="87" y="28"/>
                </a:lnTo>
                <a:lnTo>
                  <a:pt x="267" y="28"/>
                </a:lnTo>
                <a:lnTo>
                  <a:pt x="347" y="28"/>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89" name="Rectangle 65">
            <a:extLst>
              <a:ext uri="{FF2B5EF4-FFF2-40B4-BE49-F238E27FC236}">
                <a16:creationId xmlns:a16="http://schemas.microsoft.com/office/drawing/2014/main" id="{AFCBB879-56E6-11D9-9618-32F65FF5D225}"/>
              </a:ext>
            </a:extLst>
          </p:cNvPr>
          <p:cNvSpPr>
            <a:spLocks noChangeArrowheads="1"/>
          </p:cNvSpPr>
          <p:nvPr/>
        </p:nvSpPr>
        <p:spPr bwMode="auto">
          <a:xfrm>
            <a:off x="2073275" y="2722563"/>
            <a:ext cx="95250" cy="7937"/>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490" name="Rectangle 66">
            <a:extLst>
              <a:ext uri="{FF2B5EF4-FFF2-40B4-BE49-F238E27FC236}">
                <a16:creationId xmlns:a16="http://schemas.microsoft.com/office/drawing/2014/main" id="{A69ED22D-E54E-BC50-112D-BE68BCDADC25}"/>
              </a:ext>
            </a:extLst>
          </p:cNvPr>
          <p:cNvSpPr>
            <a:spLocks noChangeArrowheads="1"/>
          </p:cNvSpPr>
          <p:nvPr/>
        </p:nvSpPr>
        <p:spPr bwMode="auto">
          <a:xfrm>
            <a:off x="2073275" y="2744788"/>
            <a:ext cx="95250" cy="11112"/>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491" name="Rectangle 67">
            <a:extLst>
              <a:ext uri="{FF2B5EF4-FFF2-40B4-BE49-F238E27FC236}">
                <a16:creationId xmlns:a16="http://schemas.microsoft.com/office/drawing/2014/main" id="{4DD2C38E-D6C1-63A5-D6BB-8872CF5585F1}"/>
              </a:ext>
            </a:extLst>
          </p:cNvPr>
          <p:cNvSpPr>
            <a:spLocks noChangeArrowheads="1"/>
          </p:cNvSpPr>
          <p:nvPr/>
        </p:nvSpPr>
        <p:spPr bwMode="auto">
          <a:xfrm>
            <a:off x="2201863" y="2760663"/>
            <a:ext cx="26987" cy="11112"/>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492" name="Freeform 68">
            <a:extLst>
              <a:ext uri="{FF2B5EF4-FFF2-40B4-BE49-F238E27FC236}">
                <a16:creationId xmlns:a16="http://schemas.microsoft.com/office/drawing/2014/main" id="{91C6DBAC-3424-9BF0-CE7E-2EE0D9075D0A}"/>
              </a:ext>
            </a:extLst>
          </p:cNvPr>
          <p:cNvSpPr>
            <a:spLocks/>
          </p:cNvSpPr>
          <p:nvPr/>
        </p:nvSpPr>
        <p:spPr bwMode="auto">
          <a:xfrm>
            <a:off x="1568450" y="2843213"/>
            <a:ext cx="736600" cy="7937"/>
          </a:xfrm>
          <a:custGeom>
            <a:avLst/>
            <a:gdLst>
              <a:gd name="T0" fmla="*/ 0 w 1393"/>
              <a:gd name="T1" fmla="*/ 0 h 16"/>
              <a:gd name="T2" fmla="*/ 0 w 1393"/>
              <a:gd name="T3" fmla="*/ 16 h 16"/>
              <a:gd name="T4" fmla="*/ 1393 w 1393"/>
              <a:gd name="T5" fmla="*/ 16 h 16"/>
              <a:gd name="T6" fmla="*/ 1393 w 1393"/>
              <a:gd name="T7" fmla="*/ 0 h 16"/>
              <a:gd name="T8" fmla="*/ 798 w 1393"/>
              <a:gd name="T9" fmla="*/ 0 h 16"/>
              <a:gd name="T10" fmla="*/ 0 w 1393"/>
              <a:gd name="T11" fmla="*/ 0 h 16"/>
            </a:gdLst>
            <a:ahLst/>
            <a:cxnLst>
              <a:cxn ang="0">
                <a:pos x="T0" y="T1"/>
              </a:cxn>
              <a:cxn ang="0">
                <a:pos x="T2" y="T3"/>
              </a:cxn>
              <a:cxn ang="0">
                <a:pos x="T4" y="T5"/>
              </a:cxn>
              <a:cxn ang="0">
                <a:pos x="T6" y="T7"/>
              </a:cxn>
              <a:cxn ang="0">
                <a:pos x="T8" y="T9"/>
              </a:cxn>
              <a:cxn ang="0">
                <a:pos x="T10" y="T11"/>
              </a:cxn>
            </a:cxnLst>
            <a:rect l="0" t="0" r="r" b="b"/>
            <a:pathLst>
              <a:path w="1393" h="16">
                <a:moveTo>
                  <a:pt x="0" y="0"/>
                </a:moveTo>
                <a:lnTo>
                  <a:pt x="0" y="16"/>
                </a:lnTo>
                <a:lnTo>
                  <a:pt x="1393" y="16"/>
                </a:lnTo>
                <a:lnTo>
                  <a:pt x="1393" y="0"/>
                </a:lnTo>
                <a:lnTo>
                  <a:pt x="798" y="0"/>
                </a:lnTo>
                <a:lnTo>
                  <a:pt x="0" y="0"/>
                </a:lnTo>
                <a:close/>
              </a:path>
            </a:pathLst>
          </a:custGeom>
          <a:solidFill>
            <a:srgbClr val="99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93" name="Rectangle 69">
            <a:extLst>
              <a:ext uri="{FF2B5EF4-FFF2-40B4-BE49-F238E27FC236}">
                <a16:creationId xmlns:a16="http://schemas.microsoft.com/office/drawing/2014/main" id="{30C559A0-0BE9-EDE2-BAE2-D7ADE7B1872E}"/>
              </a:ext>
            </a:extLst>
          </p:cNvPr>
          <p:cNvSpPr>
            <a:spLocks noChangeArrowheads="1"/>
          </p:cNvSpPr>
          <p:nvPr/>
        </p:nvSpPr>
        <p:spPr bwMode="auto">
          <a:xfrm>
            <a:off x="1992313" y="2771775"/>
            <a:ext cx="254000" cy="3175"/>
          </a:xfrm>
          <a:prstGeom prst="rect">
            <a:avLst/>
          </a:prstGeom>
          <a:solidFill>
            <a:srgbClr val="EEEEE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494" name="Freeform 70">
            <a:extLst>
              <a:ext uri="{FF2B5EF4-FFF2-40B4-BE49-F238E27FC236}">
                <a16:creationId xmlns:a16="http://schemas.microsoft.com/office/drawing/2014/main" id="{8A270B6A-8802-BE5E-8D19-8764278C68E4}"/>
              </a:ext>
            </a:extLst>
          </p:cNvPr>
          <p:cNvSpPr>
            <a:spLocks/>
          </p:cNvSpPr>
          <p:nvPr/>
        </p:nvSpPr>
        <p:spPr bwMode="auto">
          <a:xfrm>
            <a:off x="1990725" y="2774950"/>
            <a:ext cx="314325" cy="68263"/>
          </a:xfrm>
          <a:custGeom>
            <a:avLst/>
            <a:gdLst>
              <a:gd name="T0" fmla="*/ 595 w 595"/>
              <a:gd name="T1" fmla="*/ 130 h 130"/>
              <a:gd name="T2" fmla="*/ 595 w 595"/>
              <a:gd name="T3" fmla="*/ 114 h 130"/>
              <a:gd name="T4" fmla="*/ 483 w 595"/>
              <a:gd name="T5" fmla="*/ 114 h 130"/>
              <a:gd name="T6" fmla="*/ 483 w 595"/>
              <a:gd name="T7" fmla="*/ 0 h 130"/>
              <a:gd name="T8" fmla="*/ 3 w 595"/>
              <a:gd name="T9" fmla="*/ 0 h 130"/>
              <a:gd name="T10" fmla="*/ 0 w 595"/>
              <a:gd name="T11" fmla="*/ 0 h 130"/>
              <a:gd name="T12" fmla="*/ 0 w 595"/>
              <a:gd name="T13" fmla="*/ 130 h 130"/>
              <a:gd name="T14" fmla="*/ 595 w 595"/>
              <a:gd name="T15" fmla="*/ 130 h 1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5" h="130">
                <a:moveTo>
                  <a:pt x="595" y="130"/>
                </a:moveTo>
                <a:lnTo>
                  <a:pt x="595" y="114"/>
                </a:lnTo>
                <a:lnTo>
                  <a:pt x="483" y="114"/>
                </a:lnTo>
                <a:lnTo>
                  <a:pt x="483" y="0"/>
                </a:lnTo>
                <a:lnTo>
                  <a:pt x="3" y="0"/>
                </a:lnTo>
                <a:lnTo>
                  <a:pt x="0" y="0"/>
                </a:lnTo>
                <a:lnTo>
                  <a:pt x="0" y="130"/>
                </a:lnTo>
                <a:lnTo>
                  <a:pt x="595" y="130"/>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95" name="Freeform 71">
            <a:extLst>
              <a:ext uri="{FF2B5EF4-FFF2-40B4-BE49-F238E27FC236}">
                <a16:creationId xmlns:a16="http://schemas.microsoft.com/office/drawing/2014/main" id="{8B0AB0FB-099F-320D-38AF-25C494DB7DAF}"/>
              </a:ext>
            </a:extLst>
          </p:cNvPr>
          <p:cNvSpPr>
            <a:spLocks/>
          </p:cNvSpPr>
          <p:nvPr/>
        </p:nvSpPr>
        <p:spPr bwMode="auto">
          <a:xfrm>
            <a:off x="1568450" y="2633663"/>
            <a:ext cx="422275" cy="209550"/>
          </a:xfrm>
          <a:custGeom>
            <a:avLst/>
            <a:gdLst>
              <a:gd name="T0" fmla="*/ 798 w 798"/>
              <a:gd name="T1" fmla="*/ 396 h 396"/>
              <a:gd name="T2" fmla="*/ 798 w 798"/>
              <a:gd name="T3" fmla="*/ 266 h 396"/>
              <a:gd name="T4" fmla="*/ 798 w 798"/>
              <a:gd name="T5" fmla="*/ 0 h 396"/>
              <a:gd name="T6" fmla="*/ 0 w 798"/>
              <a:gd name="T7" fmla="*/ 0 h 396"/>
              <a:gd name="T8" fmla="*/ 0 w 798"/>
              <a:gd name="T9" fmla="*/ 396 h 396"/>
              <a:gd name="T10" fmla="*/ 798 w 798"/>
              <a:gd name="T11" fmla="*/ 396 h 396"/>
            </a:gdLst>
            <a:ahLst/>
            <a:cxnLst>
              <a:cxn ang="0">
                <a:pos x="T0" y="T1"/>
              </a:cxn>
              <a:cxn ang="0">
                <a:pos x="T2" y="T3"/>
              </a:cxn>
              <a:cxn ang="0">
                <a:pos x="T4" y="T5"/>
              </a:cxn>
              <a:cxn ang="0">
                <a:pos x="T6" y="T7"/>
              </a:cxn>
              <a:cxn ang="0">
                <a:pos x="T8" y="T9"/>
              </a:cxn>
              <a:cxn ang="0">
                <a:pos x="T10" y="T11"/>
              </a:cxn>
            </a:cxnLst>
            <a:rect l="0" t="0" r="r" b="b"/>
            <a:pathLst>
              <a:path w="798" h="396">
                <a:moveTo>
                  <a:pt x="798" y="396"/>
                </a:moveTo>
                <a:lnTo>
                  <a:pt x="798" y="266"/>
                </a:lnTo>
                <a:lnTo>
                  <a:pt x="798" y="0"/>
                </a:lnTo>
                <a:lnTo>
                  <a:pt x="0" y="0"/>
                </a:lnTo>
                <a:lnTo>
                  <a:pt x="0" y="396"/>
                </a:lnTo>
                <a:lnTo>
                  <a:pt x="798" y="39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496" name="Freeform 72">
            <a:extLst>
              <a:ext uri="{FF2B5EF4-FFF2-40B4-BE49-F238E27FC236}">
                <a16:creationId xmlns:a16="http://schemas.microsoft.com/office/drawing/2014/main" id="{BC35A804-540F-BC36-4DB7-1E156717DA65}"/>
              </a:ext>
            </a:extLst>
          </p:cNvPr>
          <p:cNvSpPr>
            <a:spLocks/>
          </p:cNvSpPr>
          <p:nvPr/>
        </p:nvSpPr>
        <p:spPr bwMode="auto">
          <a:xfrm>
            <a:off x="1568450" y="2625725"/>
            <a:ext cx="736600" cy="0"/>
          </a:xfrm>
          <a:custGeom>
            <a:avLst/>
            <a:gdLst>
              <a:gd name="T0" fmla="*/ 1393 w 1393"/>
              <a:gd name="T1" fmla="*/ 1281 w 1393"/>
              <a:gd name="T2" fmla="*/ 801 w 1393"/>
              <a:gd name="T3" fmla="*/ 0 w 1393"/>
            </a:gdLst>
            <a:ahLst/>
            <a:cxnLst>
              <a:cxn ang="0">
                <a:pos x="T0" y="0"/>
              </a:cxn>
              <a:cxn ang="0">
                <a:pos x="T1" y="0"/>
              </a:cxn>
              <a:cxn ang="0">
                <a:pos x="T2" y="0"/>
              </a:cxn>
              <a:cxn ang="0">
                <a:pos x="T3" y="0"/>
              </a:cxn>
            </a:cxnLst>
            <a:rect l="0" t="0" r="r" b="b"/>
            <a:pathLst>
              <a:path w="1393">
                <a:moveTo>
                  <a:pt x="1393" y="0"/>
                </a:moveTo>
                <a:lnTo>
                  <a:pt x="1281" y="0"/>
                </a:lnTo>
                <a:lnTo>
                  <a:pt x="801" y="0"/>
                </a:lnTo>
                <a:lnTo>
                  <a:pt x="0" y="0"/>
                </a:lnTo>
              </a:path>
            </a:pathLst>
          </a:custGeom>
          <a:noFill/>
          <a:ln w="0">
            <a:solidFill>
              <a:srgbClr val="66666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97" name="Freeform 73">
            <a:extLst>
              <a:ext uri="{FF2B5EF4-FFF2-40B4-BE49-F238E27FC236}">
                <a16:creationId xmlns:a16="http://schemas.microsoft.com/office/drawing/2014/main" id="{B700EA30-D44D-3A90-978D-030A80F37A68}"/>
              </a:ext>
            </a:extLst>
          </p:cNvPr>
          <p:cNvSpPr>
            <a:spLocks/>
          </p:cNvSpPr>
          <p:nvPr/>
        </p:nvSpPr>
        <p:spPr bwMode="auto">
          <a:xfrm>
            <a:off x="2049463" y="2654300"/>
            <a:ext cx="144462" cy="22225"/>
          </a:xfrm>
          <a:custGeom>
            <a:avLst/>
            <a:gdLst>
              <a:gd name="T0" fmla="*/ 274 w 274"/>
              <a:gd name="T1" fmla="*/ 0 h 41"/>
              <a:gd name="T2" fmla="*/ 220 w 274"/>
              <a:gd name="T3" fmla="*/ 0 h 41"/>
              <a:gd name="T4" fmla="*/ 54 w 274"/>
              <a:gd name="T5" fmla="*/ 0 h 41"/>
              <a:gd name="T6" fmla="*/ 0 w 274"/>
              <a:gd name="T7" fmla="*/ 0 h 41"/>
              <a:gd name="T8" fmla="*/ 0 w 274"/>
              <a:gd name="T9" fmla="*/ 41 h 41"/>
            </a:gdLst>
            <a:ahLst/>
            <a:cxnLst>
              <a:cxn ang="0">
                <a:pos x="T0" y="T1"/>
              </a:cxn>
              <a:cxn ang="0">
                <a:pos x="T2" y="T3"/>
              </a:cxn>
              <a:cxn ang="0">
                <a:pos x="T4" y="T5"/>
              </a:cxn>
              <a:cxn ang="0">
                <a:pos x="T6" y="T7"/>
              </a:cxn>
              <a:cxn ang="0">
                <a:pos x="T8" y="T9"/>
              </a:cxn>
            </a:cxnLst>
            <a:rect l="0" t="0" r="r" b="b"/>
            <a:pathLst>
              <a:path w="274" h="41">
                <a:moveTo>
                  <a:pt x="274" y="0"/>
                </a:moveTo>
                <a:lnTo>
                  <a:pt x="220" y="0"/>
                </a:lnTo>
                <a:lnTo>
                  <a:pt x="54" y="0"/>
                </a:lnTo>
                <a:lnTo>
                  <a:pt x="0" y="0"/>
                </a:lnTo>
                <a:lnTo>
                  <a:pt x="0" y="4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98" name="Freeform 74">
            <a:extLst>
              <a:ext uri="{FF2B5EF4-FFF2-40B4-BE49-F238E27FC236}">
                <a16:creationId xmlns:a16="http://schemas.microsoft.com/office/drawing/2014/main" id="{EE5E6597-B608-D751-7F00-E0846C0B6357}"/>
              </a:ext>
            </a:extLst>
          </p:cNvPr>
          <p:cNvSpPr>
            <a:spLocks/>
          </p:cNvSpPr>
          <p:nvPr/>
        </p:nvSpPr>
        <p:spPr bwMode="auto">
          <a:xfrm>
            <a:off x="2027238" y="2730500"/>
            <a:ext cx="184150" cy="14288"/>
          </a:xfrm>
          <a:custGeom>
            <a:avLst/>
            <a:gdLst>
              <a:gd name="T0" fmla="*/ 347 w 347"/>
              <a:gd name="T1" fmla="*/ 0 h 28"/>
              <a:gd name="T2" fmla="*/ 267 w 347"/>
              <a:gd name="T3" fmla="*/ 0 h 28"/>
              <a:gd name="T4" fmla="*/ 87 w 347"/>
              <a:gd name="T5" fmla="*/ 0 h 28"/>
              <a:gd name="T6" fmla="*/ 0 w 347"/>
              <a:gd name="T7" fmla="*/ 0 h 28"/>
              <a:gd name="T8" fmla="*/ 0 w 347"/>
              <a:gd name="T9" fmla="*/ 28 h 28"/>
            </a:gdLst>
            <a:ahLst/>
            <a:cxnLst>
              <a:cxn ang="0">
                <a:pos x="T0" y="T1"/>
              </a:cxn>
              <a:cxn ang="0">
                <a:pos x="T2" y="T3"/>
              </a:cxn>
              <a:cxn ang="0">
                <a:pos x="T4" y="T5"/>
              </a:cxn>
              <a:cxn ang="0">
                <a:pos x="T6" y="T7"/>
              </a:cxn>
              <a:cxn ang="0">
                <a:pos x="T8" y="T9"/>
              </a:cxn>
            </a:cxnLst>
            <a:rect l="0" t="0" r="r" b="b"/>
            <a:pathLst>
              <a:path w="347" h="28">
                <a:moveTo>
                  <a:pt x="347" y="0"/>
                </a:moveTo>
                <a:lnTo>
                  <a:pt x="267" y="0"/>
                </a:lnTo>
                <a:lnTo>
                  <a:pt x="87" y="0"/>
                </a:lnTo>
                <a:lnTo>
                  <a:pt x="0" y="0"/>
                </a:lnTo>
                <a:lnTo>
                  <a:pt x="0" y="2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499" name="Freeform 75">
            <a:extLst>
              <a:ext uri="{FF2B5EF4-FFF2-40B4-BE49-F238E27FC236}">
                <a16:creationId xmlns:a16="http://schemas.microsoft.com/office/drawing/2014/main" id="{856519B5-EB7B-957E-93D2-674EC310FD64}"/>
              </a:ext>
            </a:extLst>
          </p:cNvPr>
          <p:cNvSpPr>
            <a:spLocks/>
          </p:cNvSpPr>
          <p:nvPr/>
        </p:nvSpPr>
        <p:spPr bwMode="auto">
          <a:xfrm>
            <a:off x="2078038" y="2646363"/>
            <a:ext cx="87312" cy="7937"/>
          </a:xfrm>
          <a:custGeom>
            <a:avLst/>
            <a:gdLst>
              <a:gd name="T0" fmla="*/ 166 w 166"/>
              <a:gd name="T1" fmla="*/ 15 h 15"/>
              <a:gd name="T2" fmla="*/ 166 w 166"/>
              <a:gd name="T3" fmla="*/ 0 h 15"/>
              <a:gd name="T4" fmla="*/ 0 w 166"/>
              <a:gd name="T5" fmla="*/ 0 h 15"/>
              <a:gd name="T6" fmla="*/ 0 w 166"/>
              <a:gd name="T7" fmla="*/ 15 h 15"/>
            </a:gdLst>
            <a:ahLst/>
            <a:cxnLst>
              <a:cxn ang="0">
                <a:pos x="T0" y="T1"/>
              </a:cxn>
              <a:cxn ang="0">
                <a:pos x="T2" y="T3"/>
              </a:cxn>
              <a:cxn ang="0">
                <a:pos x="T4" y="T5"/>
              </a:cxn>
              <a:cxn ang="0">
                <a:pos x="T6" y="T7"/>
              </a:cxn>
            </a:cxnLst>
            <a:rect l="0" t="0" r="r" b="b"/>
            <a:pathLst>
              <a:path w="166" h="15">
                <a:moveTo>
                  <a:pt x="166" y="15"/>
                </a:moveTo>
                <a:lnTo>
                  <a:pt x="166" y="0"/>
                </a:lnTo>
                <a:lnTo>
                  <a:pt x="0" y="0"/>
                </a:lnTo>
                <a:lnTo>
                  <a:pt x="0" y="15"/>
                </a:lnTo>
              </a:path>
            </a:pathLst>
          </a:custGeom>
          <a:noFill/>
          <a:ln w="0">
            <a:solidFill>
              <a:srgbClr val="444444"/>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00" name="Freeform 76">
            <a:extLst>
              <a:ext uri="{FF2B5EF4-FFF2-40B4-BE49-F238E27FC236}">
                <a16:creationId xmlns:a16="http://schemas.microsoft.com/office/drawing/2014/main" id="{65C4522B-6629-5914-496F-5EA5BB12D174}"/>
              </a:ext>
            </a:extLst>
          </p:cNvPr>
          <p:cNvSpPr>
            <a:spLocks/>
          </p:cNvSpPr>
          <p:nvPr/>
        </p:nvSpPr>
        <p:spPr bwMode="auto">
          <a:xfrm>
            <a:off x="2073275" y="2722563"/>
            <a:ext cx="95250" cy="7937"/>
          </a:xfrm>
          <a:custGeom>
            <a:avLst/>
            <a:gdLst>
              <a:gd name="T0" fmla="*/ 180 w 180"/>
              <a:gd name="T1" fmla="*/ 15 h 15"/>
              <a:gd name="T2" fmla="*/ 180 w 180"/>
              <a:gd name="T3" fmla="*/ 0 h 15"/>
              <a:gd name="T4" fmla="*/ 0 w 180"/>
              <a:gd name="T5" fmla="*/ 0 h 15"/>
              <a:gd name="T6" fmla="*/ 0 w 180"/>
              <a:gd name="T7" fmla="*/ 15 h 15"/>
            </a:gdLst>
            <a:ahLst/>
            <a:cxnLst>
              <a:cxn ang="0">
                <a:pos x="T0" y="T1"/>
              </a:cxn>
              <a:cxn ang="0">
                <a:pos x="T2" y="T3"/>
              </a:cxn>
              <a:cxn ang="0">
                <a:pos x="T4" y="T5"/>
              </a:cxn>
              <a:cxn ang="0">
                <a:pos x="T6" y="T7"/>
              </a:cxn>
            </a:cxnLst>
            <a:rect l="0" t="0" r="r" b="b"/>
            <a:pathLst>
              <a:path w="180" h="15">
                <a:moveTo>
                  <a:pt x="180" y="15"/>
                </a:moveTo>
                <a:lnTo>
                  <a:pt x="180" y="0"/>
                </a:lnTo>
                <a:lnTo>
                  <a:pt x="0" y="0"/>
                </a:lnTo>
                <a:lnTo>
                  <a:pt x="0" y="15"/>
                </a:lnTo>
              </a:path>
            </a:pathLst>
          </a:custGeom>
          <a:noFill/>
          <a:ln w="0">
            <a:solidFill>
              <a:srgbClr val="444444"/>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01" name="Freeform 77">
            <a:extLst>
              <a:ext uri="{FF2B5EF4-FFF2-40B4-BE49-F238E27FC236}">
                <a16:creationId xmlns:a16="http://schemas.microsoft.com/office/drawing/2014/main" id="{8B502A7B-F65D-7CBD-1151-2E6A603EF480}"/>
              </a:ext>
            </a:extLst>
          </p:cNvPr>
          <p:cNvSpPr>
            <a:spLocks/>
          </p:cNvSpPr>
          <p:nvPr/>
        </p:nvSpPr>
        <p:spPr bwMode="auto">
          <a:xfrm>
            <a:off x="2073275" y="2744788"/>
            <a:ext cx="95250" cy="11112"/>
          </a:xfrm>
          <a:custGeom>
            <a:avLst/>
            <a:gdLst>
              <a:gd name="T0" fmla="*/ 0 w 180"/>
              <a:gd name="T1" fmla="*/ 0 h 20"/>
              <a:gd name="T2" fmla="*/ 0 w 180"/>
              <a:gd name="T3" fmla="*/ 20 h 20"/>
              <a:gd name="T4" fmla="*/ 180 w 180"/>
              <a:gd name="T5" fmla="*/ 20 h 20"/>
              <a:gd name="T6" fmla="*/ 180 w 180"/>
              <a:gd name="T7" fmla="*/ 0 h 20"/>
            </a:gdLst>
            <a:ahLst/>
            <a:cxnLst>
              <a:cxn ang="0">
                <a:pos x="T0" y="T1"/>
              </a:cxn>
              <a:cxn ang="0">
                <a:pos x="T2" y="T3"/>
              </a:cxn>
              <a:cxn ang="0">
                <a:pos x="T4" y="T5"/>
              </a:cxn>
              <a:cxn ang="0">
                <a:pos x="T6" y="T7"/>
              </a:cxn>
            </a:cxnLst>
            <a:rect l="0" t="0" r="r" b="b"/>
            <a:pathLst>
              <a:path w="180" h="20">
                <a:moveTo>
                  <a:pt x="0" y="0"/>
                </a:moveTo>
                <a:lnTo>
                  <a:pt x="0" y="20"/>
                </a:lnTo>
                <a:lnTo>
                  <a:pt x="180" y="20"/>
                </a:lnTo>
                <a:lnTo>
                  <a:pt x="180" y="0"/>
                </a:lnTo>
              </a:path>
            </a:pathLst>
          </a:custGeom>
          <a:noFill/>
          <a:ln w="0">
            <a:solidFill>
              <a:srgbClr val="444444"/>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02" name="Freeform 78">
            <a:extLst>
              <a:ext uri="{FF2B5EF4-FFF2-40B4-BE49-F238E27FC236}">
                <a16:creationId xmlns:a16="http://schemas.microsoft.com/office/drawing/2014/main" id="{868E0C03-D3D6-2C23-E798-485CF7E7B27D}"/>
              </a:ext>
            </a:extLst>
          </p:cNvPr>
          <p:cNvSpPr>
            <a:spLocks/>
          </p:cNvSpPr>
          <p:nvPr/>
        </p:nvSpPr>
        <p:spPr bwMode="auto">
          <a:xfrm>
            <a:off x="2078038" y="2676525"/>
            <a:ext cx="87312" cy="6350"/>
          </a:xfrm>
          <a:custGeom>
            <a:avLst/>
            <a:gdLst>
              <a:gd name="T0" fmla="*/ 0 w 166"/>
              <a:gd name="T1" fmla="*/ 0 h 13"/>
              <a:gd name="T2" fmla="*/ 0 w 166"/>
              <a:gd name="T3" fmla="*/ 13 h 13"/>
              <a:gd name="T4" fmla="*/ 166 w 166"/>
              <a:gd name="T5" fmla="*/ 13 h 13"/>
              <a:gd name="T6" fmla="*/ 166 w 166"/>
              <a:gd name="T7" fmla="*/ 0 h 13"/>
            </a:gdLst>
            <a:ahLst/>
            <a:cxnLst>
              <a:cxn ang="0">
                <a:pos x="T0" y="T1"/>
              </a:cxn>
              <a:cxn ang="0">
                <a:pos x="T2" y="T3"/>
              </a:cxn>
              <a:cxn ang="0">
                <a:pos x="T4" y="T5"/>
              </a:cxn>
              <a:cxn ang="0">
                <a:pos x="T6" y="T7"/>
              </a:cxn>
            </a:cxnLst>
            <a:rect l="0" t="0" r="r" b="b"/>
            <a:pathLst>
              <a:path w="166" h="13">
                <a:moveTo>
                  <a:pt x="0" y="0"/>
                </a:moveTo>
                <a:lnTo>
                  <a:pt x="0" y="13"/>
                </a:lnTo>
                <a:lnTo>
                  <a:pt x="166" y="13"/>
                </a:lnTo>
                <a:lnTo>
                  <a:pt x="166" y="0"/>
                </a:lnTo>
              </a:path>
            </a:pathLst>
          </a:custGeom>
          <a:noFill/>
          <a:ln w="0">
            <a:solidFill>
              <a:srgbClr val="444444"/>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03" name="Freeform 79">
            <a:extLst>
              <a:ext uri="{FF2B5EF4-FFF2-40B4-BE49-F238E27FC236}">
                <a16:creationId xmlns:a16="http://schemas.microsoft.com/office/drawing/2014/main" id="{07C7EA6D-1E80-F266-4680-D396756B36C1}"/>
              </a:ext>
            </a:extLst>
          </p:cNvPr>
          <p:cNvSpPr>
            <a:spLocks/>
          </p:cNvSpPr>
          <p:nvPr/>
        </p:nvSpPr>
        <p:spPr bwMode="auto">
          <a:xfrm>
            <a:off x="2201863" y="2760663"/>
            <a:ext cx="26987" cy="11112"/>
          </a:xfrm>
          <a:custGeom>
            <a:avLst/>
            <a:gdLst>
              <a:gd name="T0" fmla="*/ 0 w 53"/>
              <a:gd name="T1" fmla="*/ 19 h 19"/>
              <a:gd name="T2" fmla="*/ 53 w 53"/>
              <a:gd name="T3" fmla="*/ 19 h 19"/>
              <a:gd name="T4" fmla="*/ 53 w 53"/>
              <a:gd name="T5" fmla="*/ 0 h 19"/>
            </a:gdLst>
            <a:ahLst/>
            <a:cxnLst>
              <a:cxn ang="0">
                <a:pos x="T0" y="T1"/>
              </a:cxn>
              <a:cxn ang="0">
                <a:pos x="T2" y="T3"/>
              </a:cxn>
              <a:cxn ang="0">
                <a:pos x="T4" y="T5"/>
              </a:cxn>
            </a:cxnLst>
            <a:rect l="0" t="0" r="r" b="b"/>
            <a:pathLst>
              <a:path w="53" h="19">
                <a:moveTo>
                  <a:pt x="0" y="19"/>
                </a:moveTo>
                <a:lnTo>
                  <a:pt x="53" y="19"/>
                </a:lnTo>
                <a:lnTo>
                  <a:pt x="53" y="0"/>
                </a:lnTo>
              </a:path>
            </a:pathLst>
          </a:custGeom>
          <a:noFill/>
          <a:ln w="0">
            <a:solidFill>
              <a:srgbClr val="62626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04" name="Freeform 80">
            <a:extLst>
              <a:ext uri="{FF2B5EF4-FFF2-40B4-BE49-F238E27FC236}">
                <a16:creationId xmlns:a16="http://schemas.microsoft.com/office/drawing/2014/main" id="{AE2A7A50-DC08-AE74-953E-04E340EF563A}"/>
              </a:ext>
            </a:extLst>
          </p:cNvPr>
          <p:cNvSpPr>
            <a:spLocks/>
          </p:cNvSpPr>
          <p:nvPr/>
        </p:nvSpPr>
        <p:spPr bwMode="auto">
          <a:xfrm>
            <a:off x="2201863" y="2760663"/>
            <a:ext cx="26987" cy="11112"/>
          </a:xfrm>
          <a:custGeom>
            <a:avLst/>
            <a:gdLst>
              <a:gd name="T0" fmla="*/ 53 w 53"/>
              <a:gd name="T1" fmla="*/ 0 h 19"/>
              <a:gd name="T2" fmla="*/ 0 w 53"/>
              <a:gd name="T3" fmla="*/ 0 h 19"/>
              <a:gd name="T4" fmla="*/ 0 w 53"/>
              <a:gd name="T5" fmla="*/ 19 h 19"/>
            </a:gdLst>
            <a:ahLst/>
            <a:cxnLst>
              <a:cxn ang="0">
                <a:pos x="T0" y="T1"/>
              </a:cxn>
              <a:cxn ang="0">
                <a:pos x="T2" y="T3"/>
              </a:cxn>
              <a:cxn ang="0">
                <a:pos x="T4" y="T5"/>
              </a:cxn>
            </a:cxnLst>
            <a:rect l="0" t="0" r="r" b="b"/>
            <a:pathLst>
              <a:path w="53" h="19">
                <a:moveTo>
                  <a:pt x="53" y="0"/>
                </a:moveTo>
                <a:lnTo>
                  <a:pt x="0" y="0"/>
                </a:lnTo>
                <a:lnTo>
                  <a:pt x="0" y="19"/>
                </a:lnTo>
              </a:path>
            </a:pathLst>
          </a:custGeom>
          <a:noFill/>
          <a:ln w="0">
            <a:solidFill>
              <a:srgbClr val="EAEAEA"/>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05" name="Freeform 81">
            <a:extLst>
              <a:ext uri="{FF2B5EF4-FFF2-40B4-BE49-F238E27FC236}">
                <a16:creationId xmlns:a16="http://schemas.microsoft.com/office/drawing/2014/main" id="{D64719F8-BD8C-FC6D-B6D9-F6CC000566E2}"/>
              </a:ext>
            </a:extLst>
          </p:cNvPr>
          <p:cNvSpPr>
            <a:spLocks/>
          </p:cNvSpPr>
          <p:nvPr/>
        </p:nvSpPr>
        <p:spPr bwMode="auto">
          <a:xfrm>
            <a:off x="2027238" y="2730500"/>
            <a:ext cx="184150" cy="14288"/>
          </a:xfrm>
          <a:custGeom>
            <a:avLst/>
            <a:gdLst>
              <a:gd name="T0" fmla="*/ 0 w 347"/>
              <a:gd name="T1" fmla="*/ 28 h 28"/>
              <a:gd name="T2" fmla="*/ 87 w 347"/>
              <a:gd name="T3" fmla="*/ 28 h 28"/>
              <a:gd name="T4" fmla="*/ 267 w 347"/>
              <a:gd name="T5" fmla="*/ 28 h 28"/>
              <a:gd name="T6" fmla="*/ 347 w 347"/>
              <a:gd name="T7" fmla="*/ 28 h 28"/>
              <a:gd name="T8" fmla="*/ 347 w 347"/>
              <a:gd name="T9" fmla="*/ 0 h 28"/>
            </a:gdLst>
            <a:ahLst/>
            <a:cxnLst>
              <a:cxn ang="0">
                <a:pos x="T0" y="T1"/>
              </a:cxn>
              <a:cxn ang="0">
                <a:pos x="T2" y="T3"/>
              </a:cxn>
              <a:cxn ang="0">
                <a:pos x="T4" y="T5"/>
              </a:cxn>
              <a:cxn ang="0">
                <a:pos x="T6" y="T7"/>
              </a:cxn>
              <a:cxn ang="0">
                <a:pos x="T8" y="T9"/>
              </a:cxn>
            </a:cxnLst>
            <a:rect l="0" t="0" r="r" b="b"/>
            <a:pathLst>
              <a:path w="347" h="28">
                <a:moveTo>
                  <a:pt x="0" y="28"/>
                </a:moveTo>
                <a:lnTo>
                  <a:pt x="87" y="28"/>
                </a:lnTo>
                <a:lnTo>
                  <a:pt x="267" y="28"/>
                </a:lnTo>
                <a:lnTo>
                  <a:pt x="347" y="28"/>
                </a:lnTo>
                <a:lnTo>
                  <a:pt x="347" y="0"/>
                </a:lnTo>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06" name="Freeform 82">
            <a:extLst>
              <a:ext uri="{FF2B5EF4-FFF2-40B4-BE49-F238E27FC236}">
                <a16:creationId xmlns:a16="http://schemas.microsoft.com/office/drawing/2014/main" id="{9DE23C12-927C-FCC2-1CB2-21DEDAEDAD7D}"/>
              </a:ext>
            </a:extLst>
          </p:cNvPr>
          <p:cNvSpPr>
            <a:spLocks/>
          </p:cNvSpPr>
          <p:nvPr/>
        </p:nvSpPr>
        <p:spPr bwMode="auto">
          <a:xfrm>
            <a:off x="2049463" y="2654300"/>
            <a:ext cx="144462" cy="22225"/>
          </a:xfrm>
          <a:custGeom>
            <a:avLst/>
            <a:gdLst>
              <a:gd name="T0" fmla="*/ 0 w 274"/>
              <a:gd name="T1" fmla="*/ 41 h 41"/>
              <a:gd name="T2" fmla="*/ 54 w 274"/>
              <a:gd name="T3" fmla="*/ 41 h 41"/>
              <a:gd name="T4" fmla="*/ 220 w 274"/>
              <a:gd name="T5" fmla="*/ 41 h 41"/>
              <a:gd name="T6" fmla="*/ 274 w 274"/>
              <a:gd name="T7" fmla="*/ 41 h 41"/>
              <a:gd name="T8" fmla="*/ 274 w 274"/>
              <a:gd name="T9" fmla="*/ 0 h 41"/>
            </a:gdLst>
            <a:ahLst/>
            <a:cxnLst>
              <a:cxn ang="0">
                <a:pos x="T0" y="T1"/>
              </a:cxn>
              <a:cxn ang="0">
                <a:pos x="T2" y="T3"/>
              </a:cxn>
              <a:cxn ang="0">
                <a:pos x="T4" y="T5"/>
              </a:cxn>
              <a:cxn ang="0">
                <a:pos x="T6" y="T7"/>
              </a:cxn>
              <a:cxn ang="0">
                <a:pos x="T8" y="T9"/>
              </a:cxn>
            </a:cxnLst>
            <a:rect l="0" t="0" r="r" b="b"/>
            <a:pathLst>
              <a:path w="274" h="41">
                <a:moveTo>
                  <a:pt x="0" y="41"/>
                </a:moveTo>
                <a:lnTo>
                  <a:pt x="54" y="41"/>
                </a:lnTo>
                <a:lnTo>
                  <a:pt x="220" y="41"/>
                </a:lnTo>
                <a:lnTo>
                  <a:pt x="274" y="41"/>
                </a:lnTo>
                <a:lnTo>
                  <a:pt x="274" y="0"/>
                </a:lnTo>
              </a:path>
            </a:pathLst>
          </a:custGeom>
          <a:noFill/>
          <a:ln w="0">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07" name="Freeform 83">
            <a:extLst>
              <a:ext uri="{FF2B5EF4-FFF2-40B4-BE49-F238E27FC236}">
                <a16:creationId xmlns:a16="http://schemas.microsoft.com/office/drawing/2014/main" id="{A293BEA6-4FAD-5CFE-5EF7-25C52C037419}"/>
              </a:ext>
            </a:extLst>
          </p:cNvPr>
          <p:cNvSpPr>
            <a:spLocks/>
          </p:cNvSpPr>
          <p:nvPr/>
        </p:nvSpPr>
        <p:spPr bwMode="auto">
          <a:xfrm>
            <a:off x="1568450" y="2843213"/>
            <a:ext cx="736600" cy="0"/>
          </a:xfrm>
          <a:custGeom>
            <a:avLst/>
            <a:gdLst>
              <a:gd name="T0" fmla="*/ 1393 w 1393"/>
              <a:gd name="T1" fmla="*/ 798 w 1393"/>
              <a:gd name="T2" fmla="*/ 0 w 1393"/>
            </a:gdLst>
            <a:ahLst/>
            <a:cxnLst>
              <a:cxn ang="0">
                <a:pos x="T0" y="0"/>
              </a:cxn>
              <a:cxn ang="0">
                <a:pos x="T1" y="0"/>
              </a:cxn>
              <a:cxn ang="0">
                <a:pos x="T2" y="0"/>
              </a:cxn>
            </a:cxnLst>
            <a:rect l="0" t="0" r="r" b="b"/>
            <a:pathLst>
              <a:path w="1393">
                <a:moveTo>
                  <a:pt x="1393" y="0"/>
                </a:moveTo>
                <a:lnTo>
                  <a:pt x="798" y="0"/>
                </a:lnTo>
                <a:lnTo>
                  <a:pt x="0" y="0"/>
                </a:lnTo>
              </a:path>
            </a:pathLst>
          </a:custGeom>
          <a:noFill/>
          <a:ln w="1588">
            <a:solidFill>
              <a:srgbClr val="DDDDDD"/>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08" name="Freeform 84">
            <a:extLst>
              <a:ext uri="{FF2B5EF4-FFF2-40B4-BE49-F238E27FC236}">
                <a16:creationId xmlns:a16="http://schemas.microsoft.com/office/drawing/2014/main" id="{F07A085A-E84F-7012-1937-1900ECE25001}"/>
              </a:ext>
            </a:extLst>
          </p:cNvPr>
          <p:cNvSpPr>
            <a:spLocks/>
          </p:cNvSpPr>
          <p:nvPr/>
        </p:nvSpPr>
        <p:spPr bwMode="auto">
          <a:xfrm>
            <a:off x="1612900" y="2954338"/>
            <a:ext cx="669925" cy="7937"/>
          </a:xfrm>
          <a:custGeom>
            <a:avLst/>
            <a:gdLst>
              <a:gd name="T0" fmla="*/ 0 w 1267"/>
              <a:gd name="T1" fmla="*/ 0 h 14"/>
              <a:gd name="T2" fmla="*/ 6 w 1267"/>
              <a:gd name="T3" fmla="*/ 14 h 14"/>
              <a:gd name="T4" fmla="*/ 1264 w 1267"/>
              <a:gd name="T5" fmla="*/ 12 h 14"/>
              <a:gd name="T6" fmla="*/ 1267 w 1267"/>
              <a:gd name="T7" fmla="*/ 0 h 14"/>
              <a:gd name="T8" fmla="*/ 0 w 1267"/>
              <a:gd name="T9" fmla="*/ 0 h 14"/>
            </a:gdLst>
            <a:ahLst/>
            <a:cxnLst>
              <a:cxn ang="0">
                <a:pos x="T0" y="T1"/>
              </a:cxn>
              <a:cxn ang="0">
                <a:pos x="T2" y="T3"/>
              </a:cxn>
              <a:cxn ang="0">
                <a:pos x="T4" y="T5"/>
              </a:cxn>
              <a:cxn ang="0">
                <a:pos x="T6" y="T7"/>
              </a:cxn>
              <a:cxn ang="0">
                <a:pos x="T8" y="T9"/>
              </a:cxn>
            </a:cxnLst>
            <a:rect l="0" t="0" r="r" b="b"/>
            <a:pathLst>
              <a:path w="1267" h="14">
                <a:moveTo>
                  <a:pt x="0" y="0"/>
                </a:moveTo>
                <a:lnTo>
                  <a:pt x="6" y="14"/>
                </a:lnTo>
                <a:lnTo>
                  <a:pt x="1264" y="12"/>
                </a:lnTo>
                <a:lnTo>
                  <a:pt x="1267" y="0"/>
                </a:lnTo>
                <a:lnTo>
                  <a:pt x="0" y="0"/>
                </a:lnTo>
                <a:close/>
              </a:path>
            </a:pathLst>
          </a:custGeom>
          <a:solidFill>
            <a:srgbClr val="62626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09" name="Freeform 85">
            <a:extLst>
              <a:ext uri="{FF2B5EF4-FFF2-40B4-BE49-F238E27FC236}">
                <a16:creationId xmlns:a16="http://schemas.microsoft.com/office/drawing/2014/main" id="{7C6B96A6-B118-0058-E42F-64CB39EE84D9}"/>
              </a:ext>
            </a:extLst>
          </p:cNvPr>
          <p:cNvSpPr>
            <a:spLocks noEditPoints="1"/>
          </p:cNvSpPr>
          <p:nvPr/>
        </p:nvSpPr>
        <p:spPr bwMode="auto">
          <a:xfrm>
            <a:off x="1612900" y="2873375"/>
            <a:ext cx="669925" cy="80963"/>
          </a:xfrm>
          <a:custGeom>
            <a:avLst/>
            <a:gdLst>
              <a:gd name="T0" fmla="*/ 158 w 1267"/>
              <a:gd name="T1" fmla="*/ 0 h 155"/>
              <a:gd name="T2" fmla="*/ 0 w 1267"/>
              <a:gd name="T3" fmla="*/ 155 h 155"/>
              <a:gd name="T4" fmla="*/ 1267 w 1267"/>
              <a:gd name="T5" fmla="*/ 155 h 155"/>
              <a:gd name="T6" fmla="*/ 1111 w 1267"/>
              <a:gd name="T7" fmla="*/ 0 h 155"/>
              <a:gd name="T8" fmla="*/ 158 w 1267"/>
              <a:gd name="T9" fmla="*/ 0 h 155"/>
              <a:gd name="T10" fmla="*/ 630 w 1267"/>
              <a:gd name="T11" fmla="*/ 8 h 155"/>
              <a:gd name="T12" fmla="*/ 632 w 1267"/>
              <a:gd name="T13" fmla="*/ 28 h 155"/>
              <a:gd name="T14" fmla="*/ 479 w 1267"/>
              <a:gd name="T15" fmla="*/ 28 h 155"/>
              <a:gd name="T16" fmla="*/ 477 w 1267"/>
              <a:gd name="T17" fmla="*/ 8 h 155"/>
              <a:gd name="T18" fmla="*/ 630 w 1267"/>
              <a:gd name="T19" fmla="*/ 8 h 155"/>
              <a:gd name="T20" fmla="*/ 661 w 1267"/>
              <a:gd name="T21" fmla="*/ 28 h 155"/>
              <a:gd name="T22" fmla="*/ 656 w 1267"/>
              <a:gd name="T23" fmla="*/ 8 h 155"/>
              <a:gd name="T24" fmla="*/ 795 w 1267"/>
              <a:gd name="T25" fmla="*/ 8 h 155"/>
              <a:gd name="T26" fmla="*/ 807 w 1267"/>
              <a:gd name="T27" fmla="*/ 28 h 155"/>
              <a:gd name="T28" fmla="*/ 661 w 1267"/>
              <a:gd name="T29" fmla="*/ 28 h 155"/>
              <a:gd name="T30" fmla="*/ 223 w 1267"/>
              <a:gd name="T31" fmla="*/ 8 h 155"/>
              <a:gd name="T32" fmla="*/ 210 w 1267"/>
              <a:gd name="T33" fmla="*/ 28 h 155"/>
              <a:gd name="T34" fmla="*/ 153 w 1267"/>
              <a:gd name="T35" fmla="*/ 28 h 155"/>
              <a:gd name="T36" fmla="*/ 173 w 1267"/>
              <a:gd name="T37" fmla="*/ 8 h 155"/>
              <a:gd name="T38" fmla="*/ 223 w 1267"/>
              <a:gd name="T39" fmla="*/ 8 h 155"/>
              <a:gd name="T40" fmla="*/ 251 w 1267"/>
              <a:gd name="T41" fmla="*/ 28 h 155"/>
              <a:gd name="T42" fmla="*/ 261 w 1267"/>
              <a:gd name="T43" fmla="*/ 8 h 155"/>
              <a:gd name="T44" fmla="*/ 452 w 1267"/>
              <a:gd name="T45" fmla="*/ 8 h 155"/>
              <a:gd name="T46" fmla="*/ 452 w 1267"/>
              <a:gd name="T47" fmla="*/ 28 h 155"/>
              <a:gd name="T48" fmla="*/ 251 w 1267"/>
              <a:gd name="T49" fmla="*/ 28 h 155"/>
              <a:gd name="T50" fmla="*/ 618 w 1267"/>
              <a:gd name="T51" fmla="*/ 140 h 155"/>
              <a:gd name="T52" fmla="*/ 242 w 1267"/>
              <a:gd name="T53" fmla="*/ 140 h 155"/>
              <a:gd name="T54" fmla="*/ 43 w 1267"/>
              <a:gd name="T55" fmla="*/ 140 h 155"/>
              <a:gd name="T56" fmla="*/ 146 w 1267"/>
              <a:gd name="T57" fmla="*/ 35 h 155"/>
              <a:gd name="T58" fmla="*/ 812 w 1267"/>
              <a:gd name="T59" fmla="*/ 35 h 155"/>
              <a:gd name="T60" fmla="*/ 877 w 1267"/>
              <a:gd name="T61" fmla="*/ 140 h 155"/>
              <a:gd name="T62" fmla="*/ 618 w 1267"/>
              <a:gd name="T63" fmla="*/ 140 h 155"/>
              <a:gd name="T64" fmla="*/ 1100 w 1267"/>
              <a:gd name="T65" fmla="*/ 8 h 155"/>
              <a:gd name="T66" fmla="*/ 1119 w 1267"/>
              <a:gd name="T67" fmla="*/ 28 h 155"/>
              <a:gd name="T68" fmla="*/ 997 w 1267"/>
              <a:gd name="T69" fmla="*/ 28 h 155"/>
              <a:gd name="T70" fmla="*/ 982 w 1267"/>
              <a:gd name="T71" fmla="*/ 8 h 155"/>
              <a:gd name="T72" fmla="*/ 1100 w 1267"/>
              <a:gd name="T73" fmla="*/ 8 h 155"/>
              <a:gd name="T74" fmla="*/ 830 w 1267"/>
              <a:gd name="T75" fmla="*/ 28 h 155"/>
              <a:gd name="T76" fmla="*/ 817 w 1267"/>
              <a:gd name="T77" fmla="*/ 8 h 155"/>
              <a:gd name="T78" fmla="*/ 964 w 1267"/>
              <a:gd name="T79" fmla="*/ 8 h 155"/>
              <a:gd name="T80" fmla="*/ 978 w 1267"/>
              <a:gd name="T81" fmla="*/ 28 h 155"/>
              <a:gd name="T82" fmla="*/ 830 w 1267"/>
              <a:gd name="T83" fmla="*/ 28 h 155"/>
              <a:gd name="T84" fmla="*/ 835 w 1267"/>
              <a:gd name="T85" fmla="*/ 35 h 155"/>
              <a:gd name="T86" fmla="*/ 984 w 1267"/>
              <a:gd name="T87" fmla="*/ 35 h 155"/>
              <a:gd name="T88" fmla="*/ 1014 w 1267"/>
              <a:gd name="T89" fmla="*/ 77 h 155"/>
              <a:gd name="T90" fmla="*/ 865 w 1267"/>
              <a:gd name="T91" fmla="*/ 82 h 155"/>
              <a:gd name="T92" fmla="*/ 835 w 1267"/>
              <a:gd name="T93" fmla="*/ 35 h 155"/>
              <a:gd name="T94" fmla="*/ 1042 w 1267"/>
              <a:gd name="T95" fmla="*/ 115 h 155"/>
              <a:gd name="T96" fmla="*/ 1060 w 1267"/>
              <a:gd name="T97" fmla="*/ 140 h 155"/>
              <a:gd name="T98" fmla="*/ 904 w 1267"/>
              <a:gd name="T99" fmla="*/ 140 h 155"/>
              <a:gd name="T100" fmla="*/ 888 w 1267"/>
              <a:gd name="T101" fmla="*/ 115 h 155"/>
              <a:gd name="T102" fmla="*/ 943 w 1267"/>
              <a:gd name="T103" fmla="*/ 115 h 155"/>
              <a:gd name="T104" fmla="*/ 930 w 1267"/>
              <a:gd name="T105" fmla="*/ 91 h 155"/>
              <a:gd name="T106" fmla="*/ 972 w 1267"/>
              <a:gd name="T107" fmla="*/ 91 h 155"/>
              <a:gd name="T108" fmla="*/ 988 w 1267"/>
              <a:gd name="T109" fmla="*/ 115 h 155"/>
              <a:gd name="T110" fmla="*/ 1042 w 1267"/>
              <a:gd name="T111" fmla="*/ 115 h 155"/>
              <a:gd name="T112" fmla="*/ 1086 w 1267"/>
              <a:gd name="T113" fmla="*/ 140 h 155"/>
              <a:gd name="T114" fmla="*/ 1003 w 1267"/>
              <a:gd name="T115" fmla="*/ 35 h 155"/>
              <a:gd name="T116" fmla="*/ 1126 w 1267"/>
              <a:gd name="T117" fmla="*/ 35 h 155"/>
              <a:gd name="T118" fmla="*/ 1230 w 1267"/>
              <a:gd name="T119" fmla="*/ 140 h 155"/>
              <a:gd name="T120" fmla="*/ 1086 w 1267"/>
              <a:gd name="T121" fmla="*/ 140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67" h="155">
                <a:moveTo>
                  <a:pt x="158" y="0"/>
                </a:moveTo>
                <a:lnTo>
                  <a:pt x="0" y="155"/>
                </a:lnTo>
                <a:lnTo>
                  <a:pt x="1267" y="155"/>
                </a:lnTo>
                <a:lnTo>
                  <a:pt x="1111" y="0"/>
                </a:lnTo>
                <a:lnTo>
                  <a:pt x="158" y="0"/>
                </a:lnTo>
                <a:close/>
                <a:moveTo>
                  <a:pt x="630" y="8"/>
                </a:moveTo>
                <a:lnTo>
                  <a:pt x="632" y="28"/>
                </a:lnTo>
                <a:lnTo>
                  <a:pt x="479" y="28"/>
                </a:lnTo>
                <a:lnTo>
                  <a:pt x="477" y="8"/>
                </a:lnTo>
                <a:lnTo>
                  <a:pt x="630" y="8"/>
                </a:lnTo>
                <a:close/>
                <a:moveTo>
                  <a:pt x="661" y="28"/>
                </a:moveTo>
                <a:lnTo>
                  <a:pt x="656" y="8"/>
                </a:lnTo>
                <a:lnTo>
                  <a:pt x="795" y="8"/>
                </a:lnTo>
                <a:lnTo>
                  <a:pt x="807" y="28"/>
                </a:lnTo>
                <a:lnTo>
                  <a:pt x="661" y="28"/>
                </a:lnTo>
                <a:close/>
                <a:moveTo>
                  <a:pt x="223" y="8"/>
                </a:moveTo>
                <a:lnTo>
                  <a:pt x="210" y="28"/>
                </a:lnTo>
                <a:lnTo>
                  <a:pt x="153" y="28"/>
                </a:lnTo>
                <a:lnTo>
                  <a:pt x="173" y="8"/>
                </a:lnTo>
                <a:lnTo>
                  <a:pt x="223" y="8"/>
                </a:lnTo>
                <a:close/>
                <a:moveTo>
                  <a:pt x="251" y="28"/>
                </a:moveTo>
                <a:lnTo>
                  <a:pt x="261" y="8"/>
                </a:lnTo>
                <a:lnTo>
                  <a:pt x="452" y="8"/>
                </a:lnTo>
                <a:lnTo>
                  <a:pt x="452" y="28"/>
                </a:lnTo>
                <a:lnTo>
                  <a:pt x="251" y="28"/>
                </a:lnTo>
                <a:close/>
                <a:moveTo>
                  <a:pt x="618" y="140"/>
                </a:moveTo>
                <a:lnTo>
                  <a:pt x="242" y="140"/>
                </a:lnTo>
                <a:lnTo>
                  <a:pt x="43" y="140"/>
                </a:lnTo>
                <a:lnTo>
                  <a:pt x="146" y="35"/>
                </a:lnTo>
                <a:lnTo>
                  <a:pt x="812" y="35"/>
                </a:lnTo>
                <a:lnTo>
                  <a:pt x="877" y="140"/>
                </a:lnTo>
                <a:lnTo>
                  <a:pt x="618" y="140"/>
                </a:lnTo>
                <a:close/>
                <a:moveTo>
                  <a:pt x="1100" y="8"/>
                </a:moveTo>
                <a:lnTo>
                  <a:pt x="1119" y="28"/>
                </a:lnTo>
                <a:lnTo>
                  <a:pt x="997" y="28"/>
                </a:lnTo>
                <a:lnTo>
                  <a:pt x="982" y="8"/>
                </a:lnTo>
                <a:lnTo>
                  <a:pt x="1100" y="8"/>
                </a:lnTo>
                <a:close/>
                <a:moveTo>
                  <a:pt x="830" y="28"/>
                </a:moveTo>
                <a:lnTo>
                  <a:pt x="817" y="8"/>
                </a:lnTo>
                <a:lnTo>
                  <a:pt x="964" y="8"/>
                </a:lnTo>
                <a:lnTo>
                  <a:pt x="978" y="28"/>
                </a:lnTo>
                <a:lnTo>
                  <a:pt x="830" y="28"/>
                </a:lnTo>
                <a:close/>
                <a:moveTo>
                  <a:pt x="835" y="35"/>
                </a:moveTo>
                <a:lnTo>
                  <a:pt x="984" y="35"/>
                </a:lnTo>
                <a:lnTo>
                  <a:pt x="1014" y="77"/>
                </a:lnTo>
                <a:lnTo>
                  <a:pt x="865" y="82"/>
                </a:lnTo>
                <a:lnTo>
                  <a:pt x="835" y="35"/>
                </a:lnTo>
                <a:close/>
                <a:moveTo>
                  <a:pt x="1042" y="115"/>
                </a:moveTo>
                <a:lnTo>
                  <a:pt x="1060" y="140"/>
                </a:lnTo>
                <a:lnTo>
                  <a:pt x="904" y="140"/>
                </a:lnTo>
                <a:lnTo>
                  <a:pt x="888" y="115"/>
                </a:lnTo>
                <a:lnTo>
                  <a:pt x="943" y="115"/>
                </a:lnTo>
                <a:lnTo>
                  <a:pt x="930" y="91"/>
                </a:lnTo>
                <a:lnTo>
                  <a:pt x="972" y="91"/>
                </a:lnTo>
                <a:lnTo>
                  <a:pt x="988" y="115"/>
                </a:lnTo>
                <a:lnTo>
                  <a:pt x="1042" y="115"/>
                </a:lnTo>
                <a:close/>
                <a:moveTo>
                  <a:pt x="1086" y="140"/>
                </a:moveTo>
                <a:lnTo>
                  <a:pt x="1003" y="35"/>
                </a:lnTo>
                <a:lnTo>
                  <a:pt x="1126" y="35"/>
                </a:lnTo>
                <a:lnTo>
                  <a:pt x="1230" y="140"/>
                </a:lnTo>
                <a:lnTo>
                  <a:pt x="1086" y="140"/>
                </a:lnTo>
                <a:close/>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10" name="Freeform 86">
            <a:extLst>
              <a:ext uri="{FF2B5EF4-FFF2-40B4-BE49-F238E27FC236}">
                <a16:creationId xmlns:a16="http://schemas.microsoft.com/office/drawing/2014/main" id="{014B59E3-43D9-BEE6-A3A7-2938572CDDD3}"/>
              </a:ext>
            </a:extLst>
          </p:cNvPr>
          <p:cNvSpPr>
            <a:spLocks/>
          </p:cNvSpPr>
          <p:nvPr/>
        </p:nvSpPr>
        <p:spPr bwMode="auto">
          <a:xfrm>
            <a:off x="1865313" y="2876550"/>
            <a:ext cx="80962" cy="11113"/>
          </a:xfrm>
          <a:custGeom>
            <a:avLst/>
            <a:gdLst>
              <a:gd name="T0" fmla="*/ 155 w 155"/>
              <a:gd name="T1" fmla="*/ 20 h 20"/>
              <a:gd name="T2" fmla="*/ 153 w 155"/>
              <a:gd name="T3" fmla="*/ 0 h 20"/>
              <a:gd name="T4" fmla="*/ 0 w 155"/>
              <a:gd name="T5" fmla="*/ 0 h 20"/>
              <a:gd name="T6" fmla="*/ 2 w 155"/>
              <a:gd name="T7" fmla="*/ 20 h 20"/>
              <a:gd name="T8" fmla="*/ 155 w 155"/>
              <a:gd name="T9" fmla="*/ 20 h 20"/>
            </a:gdLst>
            <a:ahLst/>
            <a:cxnLst>
              <a:cxn ang="0">
                <a:pos x="T0" y="T1"/>
              </a:cxn>
              <a:cxn ang="0">
                <a:pos x="T2" y="T3"/>
              </a:cxn>
              <a:cxn ang="0">
                <a:pos x="T4" y="T5"/>
              </a:cxn>
              <a:cxn ang="0">
                <a:pos x="T6" y="T7"/>
              </a:cxn>
              <a:cxn ang="0">
                <a:pos x="T8" y="T9"/>
              </a:cxn>
            </a:cxnLst>
            <a:rect l="0" t="0" r="r" b="b"/>
            <a:pathLst>
              <a:path w="155" h="20">
                <a:moveTo>
                  <a:pt x="155" y="20"/>
                </a:moveTo>
                <a:lnTo>
                  <a:pt x="153" y="0"/>
                </a:lnTo>
                <a:lnTo>
                  <a:pt x="0" y="0"/>
                </a:lnTo>
                <a:lnTo>
                  <a:pt x="2" y="20"/>
                </a:lnTo>
                <a:lnTo>
                  <a:pt x="155" y="2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11" name="Freeform 87">
            <a:extLst>
              <a:ext uri="{FF2B5EF4-FFF2-40B4-BE49-F238E27FC236}">
                <a16:creationId xmlns:a16="http://schemas.microsoft.com/office/drawing/2014/main" id="{A14191F3-DF66-B47C-A03A-E27A9F5E3900}"/>
              </a:ext>
            </a:extLst>
          </p:cNvPr>
          <p:cNvSpPr>
            <a:spLocks/>
          </p:cNvSpPr>
          <p:nvPr/>
        </p:nvSpPr>
        <p:spPr bwMode="auto">
          <a:xfrm>
            <a:off x="1958975" y="2876550"/>
            <a:ext cx="80963" cy="11113"/>
          </a:xfrm>
          <a:custGeom>
            <a:avLst/>
            <a:gdLst>
              <a:gd name="T0" fmla="*/ 0 w 151"/>
              <a:gd name="T1" fmla="*/ 0 h 20"/>
              <a:gd name="T2" fmla="*/ 5 w 151"/>
              <a:gd name="T3" fmla="*/ 20 h 20"/>
              <a:gd name="T4" fmla="*/ 151 w 151"/>
              <a:gd name="T5" fmla="*/ 20 h 20"/>
              <a:gd name="T6" fmla="*/ 139 w 151"/>
              <a:gd name="T7" fmla="*/ 0 h 20"/>
              <a:gd name="T8" fmla="*/ 0 w 151"/>
              <a:gd name="T9" fmla="*/ 0 h 20"/>
            </a:gdLst>
            <a:ahLst/>
            <a:cxnLst>
              <a:cxn ang="0">
                <a:pos x="T0" y="T1"/>
              </a:cxn>
              <a:cxn ang="0">
                <a:pos x="T2" y="T3"/>
              </a:cxn>
              <a:cxn ang="0">
                <a:pos x="T4" y="T5"/>
              </a:cxn>
              <a:cxn ang="0">
                <a:pos x="T6" y="T7"/>
              </a:cxn>
              <a:cxn ang="0">
                <a:pos x="T8" y="T9"/>
              </a:cxn>
            </a:cxnLst>
            <a:rect l="0" t="0" r="r" b="b"/>
            <a:pathLst>
              <a:path w="151" h="20">
                <a:moveTo>
                  <a:pt x="0" y="0"/>
                </a:moveTo>
                <a:lnTo>
                  <a:pt x="5" y="20"/>
                </a:lnTo>
                <a:lnTo>
                  <a:pt x="151" y="20"/>
                </a:lnTo>
                <a:lnTo>
                  <a:pt x="139"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12" name="Freeform 88">
            <a:extLst>
              <a:ext uri="{FF2B5EF4-FFF2-40B4-BE49-F238E27FC236}">
                <a16:creationId xmlns:a16="http://schemas.microsoft.com/office/drawing/2014/main" id="{D819FE28-3B7F-1EF2-E228-2E0B62E6A19B}"/>
              </a:ext>
            </a:extLst>
          </p:cNvPr>
          <p:cNvSpPr>
            <a:spLocks/>
          </p:cNvSpPr>
          <p:nvPr/>
        </p:nvSpPr>
        <p:spPr bwMode="auto">
          <a:xfrm>
            <a:off x="1693863" y="2876550"/>
            <a:ext cx="36512" cy="11113"/>
          </a:xfrm>
          <a:custGeom>
            <a:avLst/>
            <a:gdLst>
              <a:gd name="T0" fmla="*/ 57 w 70"/>
              <a:gd name="T1" fmla="*/ 20 h 20"/>
              <a:gd name="T2" fmla="*/ 70 w 70"/>
              <a:gd name="T3" fmla="*/ 0 h 20"/>
              <a:gd name="T4" fmla="*/ 20 w 70"/>
              <a:gd name="T5" fmla="*/ 0 h 20"/>
              <a:gd name="T6" fmla="*/ 0 w 70"/>
              <a:gd name="T7" fmla="*/ 20 h 20"/>
              <a:gd name="T8" fmla="*/ 57 w 70"/>
              <a:gd name="T9" fmla="*/ 20 h 20"/>
            </a:gdLst>
            <a:ahLst/>
            <a:cxnLst>
              <a:cxn ang="0">
                <a:pos x="T0" y="T1"/>
              </a:cxn>
              <a:cxn ang="0">
                <a:pos x="T2" y="T3"/>
              </a:cxn>
              <a:cxn ang="0">
                <a:pos x="T4" y="T5"/>
              </a:cxn>
              <a:cxn ang="0">
                <a:pos x="T6" y="T7"/>
              </a:cxn>
              <a:cxn ang="0">
                <a:pos x="T8" y="T9"/>
              </a:cxn>
            </a:cxnLst>
            <a:rect l="0" t="0" r="r" b="b"/>
            <a:pathLst>
              <a:path w="70" h="20">
                <a:moveTo>
                  <a:pt x="57" y="20"/>
                </a:moveTo>
                <a:lnTo>
                  <a:pt x="70" y="0"/>
                </a:lnTo>
                <a:lnTo>
                  <a:pt x="20" y="0"/>
                </a:lnTo>
                <a:lnTo>
                  <a:pt x="0" y="20"/>
                </a:lnTo>
                <a:lnTo>
                  <a:pt x="57" y="2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13" name="Freeform 89">
            <a:extLst>
              <a:ext uri="{FF2B5EF4-FFF2-40B4-BE49-F238E27FC236}">
                <a16:creationId xmlns:a16="http://schemas.microsoft.com/office/drawing/2014/main" id="{ED4BDD42-5E6E-888B-F18C-12086C4B8CCB}"/>
              </a:ext>
            </a:extLst>
          </p:cNvPr>
          <p:cNvSpPr>
            <a:spLocks/>
          </p:cNvSpPr>
          <p:nvPr/>
        </p:nvSpPr>
        <p:spPr bwMode="auto">
          <a:xfrm>
            <a:off x="1744663" y="2876550"/>
            <a:ext cx="106362" cy="11113"/>
          </a:xfrm>
          <a:custGeom>
            <a:avLst/>
            <a:gdLst>
              <a:gd name="T0" fmla="*/ 10 w 201"/>
              <a:gd name="T1" fmla="*/ 0 h 20"/>
              <a:gd name="T2" fmla="*/ 0 w 201"/>
              <a:gd name="T3" fmla="*/ 20 h 20"/>
              <a:gd name="T4" fmla="*/ 201 w 201"/>
              <a:gd name="T5" fmla="*/ 20 h 20"/>
              <a:gd name="T6" fmla="*/ 201 w 201"/>
              <a:gd name="T7" fmla="*/ 0 h 20"/>
              <a:gd name="T8" fmla="*/ 10 w 201"/>
              <a:gd name="T9" fmla="*/ 0 h 20"/>
            </a:gdLst>
            <a:ahLst/>
            <a:cxnLst>
              <a:cxn ang="0">
                <a:pos x="T0" y="T1"/>
              </a:cxn>
              <a:cxn ang="0">
                <a:pos x="T2" y="T3"/>
              </a:cxn>
              <a:cxn ang="0">
                <a:pos x="T4" y="T5"/>
              </a:cxn>
              <a:cxn ang="0">
                <a:pos x="T6" y="T7"/>
              </a:cxn>
              <a:cxn ang="0">
                <a:pos x="T8" y="T9"/>
              </a:cxn>
            </a:cxnLst>
            <a:rect l="0" t="0" r="r" b="b"/>
            <a:pathLst>
              <a:path w="201" h="20">
                <a:moveTo>
                  <a:pt x="10" y="0"/>
                </a:moveTo>
                <a:lnTo>
                  <a:pt x="0" y="20"/>
                </a:lnTo>
                <a:lnTo>
                  <a:pt x="201" y="20"/>
                </a:lnTo>
                <a:lnTo>
                  <a:pt x="201" y="0"/>
                </a:lnTo>
                <a:lnTo>
                  <a:pt x="1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14" name="Freeform 90">
            <a:extLst>
              <a:ext uri="{FF2B5EF4-FFF2-40B4-BE49-F238E27FC236}">
                <a16:creationId xmlns:a16="http://schemas.microsoft.com/office/drawing/2014/main" id="{C16C25EF-4252-A1C0-AB0B-9D8F773A9D11}"/>
              </a:ext>
            </a:extLst>
          </p:cNvPr>
          <p:cNvSpPr>
            <a:spLocks/>
          </p:cNvSpPr>
          <p:nvPr/>
        </p:nvSpPr>
        <p:spPr bwMode="auto">
          <a:xfrm>
            <a:off x="1739900" y="2933700"/>
            <a:ext cx="200025" cy="12700"/>
          </a:xfrm>
          <a:custGeom>
            <a:avLst/>
            <a:gdLst>
              <a:gd name="T0" fmla="*/ 15 w 376"/>
              <a:gd name="T1" fmla="*/ 2 h 24"/>
              <a:gd name="T2" fmla="*/ 0 w 376"/>
              <a:gd name="T3" fmla="*/ 24 h 24"/>
              <a:gd name="T4" fmla="*/ 376 w 376"/>
              <a:gd name="T5" fmla="*/ 24 h 24"/>
              <a:gd name="T6" fmla="*/ 369 w 376"/>
              <a:gd name="T7" fmla="*/ 0 h 24"/>
              <a:gd name="T8" fmla="*/ 15 w 376"/>
              <a:gd name="T9" fmla="*/ 2 h 24"/>
            </a:gdLst>
            <a:ahLst/>
            <a:cxnLst>
              <a:cxn ang="0">
                <a:pos x="T0" y="T1"/>
              </a:cxn>
              <a:cxn ang="0">
                <a:pos x="T2" y="T3"/>
              </a:cxn>
              <a:cxn ang="0">
                <a:pos x="T4" y="T5"/>
              </a:cxn>
              <a:cxn ang="0">
                <a:pos x="T6" y="T7"/>
              </a:cxn>
              <a:cxn ang="0">
                <a:pos x="T8" y="T9"/>
              </a:cxn>
            </a:cxnLst>
            <a:rect l="0" t="0" r="r" b="b"/>
            <a:pathLst>
              <a:path w="376" h="24">
                <a:moveTo>
                  <a:pt x="15" y="2"/>
                </a:moveTo>
                <a:lnTo>
                  <a:pt x="0" y="24"/>
                </a:lnTo>
                <a:lnTo>
                  <a:pt x="376" y="24"/>
                </a:lnTo>
                <a:lnTo>
                  <a:pt x="369" y="0"/>
                </a:lnTo>
                <a:lnTo>
                  <a:pt x="15" y="2"/>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15" name="Freeform 91">
            <a:extLst>
              <a:ext uri="{FF2B5EF4-FFF2-40B4-BE49-F238E27FC236}">
                <a16:creationId xmlns:a16="http://schemas.microsoft.com/office/drawing/2014/main" id="{C5931FDE-BCA0-6993-0798-4BD91C090CD2}"/>
              </a:ext>
            </a:extLst>
          </p:cNvPr>
          <p:cNvSpPr>
            <a:spLocks/>
          </p:cNvSpPr>
          <p:nvPr/>
        </p:nvSpPr>
        <p:spPr bwMode="auto">
          <a:xfrm>
            <a:off x="1635125" y="2890838"/>
            <a:ext cx="441325" cy="55562"/>
          </a:xfrm>
          <a:custGeom>
            <a:avLst/>
            <a:gdLst>
              <a:gd name="T0" fmla="*/ 199 w 834"/>
              <a:gd name="T1" fmla="*/ 105 h 105"/>
              <a:gd name="T2" fmla="*/ 214 w 834"/>
              <a:gd name="T3" fmla="*/ 83 h 105"/>
              <a:gd name="T4" fmla="*/ 568 w 834"/>
              <a:gd name="T5" fmla="*/ 81 h 105"/>
              <a:gd name="T6" fmla="*/ 575 w 834"/>
              <a:gd name="T7" fmla="*/ 105 h 105"/>
              <a:gd name="T8" fmla="*/ 834 w 834"/>
              <a:gd name="T9" fmla="*/ 105 h 105"/>
              <a:gd name="T10" fmla="*/ 769 w 834"/>
              <a:gd name="T11" fmla="*/ 0 h 105"/>
              <a:gd name="T12" fmla="*/ 103 w 834"/>
              <a:gd name="T13" fmla="*/ 0 h 105"/>
              <a:gd name="T14" fmla="*/ 0 w 834"/>
              <a:gd name="T15" fmla="*/ 105 h 105"/>
              <a:gd name="T16" fmla="*/ 199 w 834"/>
              <a:gd name="T17"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4" h="105">
                <a:moveTo>
                  <a:pt x="199" y="105"/>
                </a:moveTo>
                <a:lnTo>
                  <a:pt x="214" y="83"/>
                </a:lnTo>
                <a:lnTo>
                  <a:pt x="568" y="81"/>
                </a:lnTo>
                <a:lnTo>
                  <a:pt x="575" y="105"/>
                </a:lnTo>
                <a:lnTo>
                  <a:pt x="834" y="105"/>
                </a:lnTo>
                <a:lnTo>
                  <a:pt x="769" y="0"/>
                </a:lnTo>
                <a:lnTo>
                  <a:pt x="103" y="0"/>
                </a:lnTo>
                <a:lnTo>
                  <a:pt x="0" y="105"/>
                </a:lnTo>
                <a:lnTo>
                  <a:pt x="199" y="105"/>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16" name="Freeform 92">
            <a:extLst>
              <a:ext uri="{FF2B5EF4-FFF2-40B4-BE49-F238E27FC236}">
                <a16:creationId xmlns:a16="http://schemas.microsoft.com/office/drawing/2014/main" id="{6568A165-098E-DFF2-76B3-2F6BD5A13B47}"/>
              </a:ext>
            </a:extLst>
          </p:cNvPr>
          <p:cNvSpPr>
            <a:spLocks/>
          </p:cNvSpPr>
          <p:nvPr/>
        </p:nvSpPr>
        <p:spPr bwMode="auto">
          <a:xfrm>
            <a:off x="2132013" y="2876550"/>
            <a:ext cx="73025" cy="11113"/>
          </a:xfrm>
          <a:custGeom>
            <a:avLst/>
            <a:gdLst>
              <a:gd name="T0" fmla="*/ 137 w 137"/>
              <a:gd name="T1" fmla="*/ 20 h 20"/>
              <a:gd name="T2" fmla="*/ 118 w 137"/>
              <a:gd name="T3" fmla="*/ 0 h 20"/>
              <a:gd name="T4" fmla="*/ 0 w 137"/>
              <a:gd name="T5" fmla="*/ 0 h 20"/>
              <a:gd name="T6" fmla="*/ 15 w 137"/>
              <a:gd name="T7" fmla="*/ 20 h 20"/>
              <a:gd name="T8" fmla="*/ 137 w 137"/>
              <a:gd name="T9" fmla="*/ 20 h 20"/>
            </a:gdLst>
            <a:ahLst/>
            <a:cxnLst>
              <a:cxn ang="0">
                <a:pos x="T0" y="T1"/>
              </a:cxn>
              <a:cxn ang="0">
                <a:pos x="T2" y="T3"/>
              </a:cxn>
              <a:cxn ang="0">
                <a:pos x="T4" y="T5"/>
              </a:cxn>
              <a:cxn ang="0">
                <a:pos x="T6" y="T7"/>
              </a:cxn>
              <a:cxn ang="0">
                <a:pos x="T8" y="T9"/>
              </a:cxn>
            </a:cxnLst>
            <a:rect l="0" t="0" r="r" b="b"/>
            <a:pathLst>
              <a:path w="137" h="20">
                <a:moveTo>
                  <a:pt x="137" y="20"/>
                </a:moveTo>
                <a:lnTo>
                  <a:pt x="118" y="0"/>
                </a:lnTo>
                <a:lnTo>
                  <a:pt x="0" y="0"/>
                </a:lnTo>
                <a:lnTo>
                  <a:pt x="15" y="20"/>
                </a:lnTo>
                <a:lnTo>
                  <a:pt x="137" y="2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17" name="Freeform 93">
            <a:extLst>
              <a:ext uri="{FF2B5EF4-FFF2-40B4-BE49-F238E27FC236}">
                <a16:creationId xmlns:a16="http://schemas.microsoft.com/office/drawing/2014/main" id="{D9C7F7C1-3E8D-16E2-B2C3-9E161512411B}"/>
              </a:ext>
            </a:extLst>
          </p:cNvPr>
          <p:cNvSpPr>
            <a:spLocks/>
          </p:cNvSpPr>
          <p:nvPr/>
        </p:nvSpPr>
        <p:spPr bwMode="auto">
          <a:xfrm>
            <a:off x="2044700" y="2876550"/>
            <a:ext cx="85725" cy="11113"/>
          </a:xfrm>
          <a:custGeom>
            <a:avLst/>
            <a:gdLst>
              <a:gd name="T0" fmla="*/ 0 w 161"/>
              <a:gd name="T1" fmla="*/ 0 h 20"/>
              <a:gd name="T2" fmla="*/ 13 w 161"/>
              <a:gd name="T3" fmla="*/ 20 h 20"/>
              <a:gd name="T4" fmla="*/ 161 w 161"/>
              <a:gd name="T5" fmla="*/ 20 h 20"/>
              <a:gd name="T6" fmla="*/ 147 w 161"/>
              <a:gd name="T7" fmla="*/ 0 h 20"/>
              <a:gd name="T8" fmla="*/ 0 w 161"/>
              <a:gd name="T9" fmla="*/ 0 h 20"/>
            </a:gdLst>
            <a:ahLst/>
            <a:cxnLst>
              <a:cxn ang="0">
                <a:pos x="T0" y="T1"/>
              </a:cxn>
              <a:cxn ang="0">
                <a:pos x="T2" y="T3"/>
              </a:cxn>
              <a:cxn ang="0">
                <a:pos x="T4" y="T5"/>
              </a:cxn>
              <a:cxn ang="0">
                <a:pos x="T6" y="T7"/>
              </a:cxn>
              <a:cxn ang="0">
                <a:pos x="T8" y="T9"/>
              </a:cxn>
            </a:cxnLst>
            <a:rect l="0" t="0" r="r" b="b"/>
            <a:pathLst>
              <a:path w="161" h="20">
                <a:moveTo>
                  <a:pt x="0" y="0"/>
                </a:moveTo>
                <a:lnTo>
                  <a:pt x="13" y="20"/>
                </a:lnTo>
                <a:lnTo>
                  <a:pt x="161" y="20"/>
                </a:lnTo>
                <a:lnTo>
                  <a:pt x="147"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18" name="Freeform 94">
            <a:extLst>
              <a:ext uri="{FF2B5EF4-FFF2-40B4-BE49-F238E27FC236}">
                <a16:creationId xmlns:a16="http://schemas.microsoft.com/office/drawing/2014/main" id="{7582C897-A6A9-3027-A8CF-84831E7D3C7D}"/>
              </a:ext>
            </a:extLst>
          </p:cNvPr>
          <p:cNvSpPr>
            <a:spLocks/>
          </p:cNvSpPr>
          <p:nvPr/>
        </p:nvSpPr>
        <p:spPr bwMode="auto">
          <a:xfrm>
            <a:off x="2054225" y="2890838"/>
            <a:ext cx="95250" cy="25400"/>
          </a:xfrm>
          <a:custGeom>
            <a:avLst/>
            <a:gdLst>
              <a:gd name="T0" fmla="*/ 149 w 179"/>
              <a:gd name="T1" fmla="*/ 0 h 47"/>
              <a:gd name="T2" fmla="*/ 0 w 179"/>
              <a:gd name="T3" fmla="*/ 0 h 47"/>
              <a:gd name="T4" fmla="*/ 30 w 179"/>
              <a:gd name="T5" fmla="*/ 47 h 47"/>
              <a:gd name="T6" fmla="*/ 179 w 179"/>
              <a:gd name="T7" fmla="*/ 42 h 47"/>
              <a:gd name="T8" fmla="*/ 149 w 179"/>
              <a:gd name="T9" fmla="*/ 0 h 47"/>
            </a:gdLst>
            <a:ahLst/>
            <a:cxnLst>
              <a:cxn ang="0">
                <a:pos x="T0" y="T1"/>
              </a:cxn>
              <a:cxn ang="0">
                <a:pos x="T2" y="T3"/>
              </a:cxn>
              <a:cxn ang="0">
                <a:pos x="T4" y="T5"/>
              </a:cxn>
              <a:cxn ang="0">
                <a:pos x="T6" y="T7"/>
              </a:cxn>
              <a:cxn ang="0">
                <a:pos x="T8" y="T9"/>
              </a:cxn>
            </a:cxnLst>
            <a:rect l="0" t="0" r="r" b="b"/>
            <a:pathLst>
              <a:path w="179" h="47">
                <a:moveTo>
                  <a:pt x="149" y="0"/>
                </a:moveTo>
                <a:lnTo>
                  <a:pt x="0" y="0"/>
                </a:lnTo>
                <a:lnTo>
                  <a:pt x="30" y="47"/>
                </a:lnTo>
                <a:lnTo>
                  <a:pt x="179" y="42"/>
                </a:lnTo>
                <a:lnTo>
                  <a:pt x="149"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19" name="Freeform 95">
            <a:extLst>
              <a:ext uri="{FF2B5EF4-FFF2-40B4-BE49-F238E27FC236}">
                <a16:creationId xmlns:a16="http://schemas.microsoft.com/office/drawing/2014/main" id="{083FE803-4BAC-4782-1C03-95C32AB04295}"/>
              </a:ext>
            </a:extLst>
          </p:cNvPr>
          <p:cNvSpPr>
            <a:spLocks/>
          </p:cNvSpPr>
          <p:nvPr/>
        </p:nvSpPr>
        <p:spPr bwMode="auto">
          <a:xfrm>
            <a:off x="2082800" y="2921000"/>
            <a:ext cx="90488" cy="25400"/>
          </a:xfrm>
          <a:custGeom>
            <a:avLst/>
            <a:gdLst>
              <a:gd name="T0" fmla="*/ 172 w 172"/>
              <a:gd name="T1" fmla="*/ 49 h 49"/>
              <a:gd name="T2" fmla="*/ 154 w 172"/>
              <a:gd name="T3" fmla="*/ 24 h 49"/>
              <a:gd name="T4" fmla="*/ 100 w 172"/>
              <a:gd name="T5" fmla="*/ 24 h 49"/>
              <a:gd name="T6" fmla="*/ 84 w 172"/>
              <a:gd name="T7" fmla="*/ 0 h 49"/>
              <a:gd name="T8" fmla="*/ 42 w 172"/>
              <a:gd name="T9" fmla="*/ 0 h 49"/>
              <a:gd name="T10" fmla="*/ 55 w 172"/>
              <a:gd name="T11" fmla="*/ 24 h 49"/>
              <a:gd name="T12" fmla="*/ 0 w 172"/>
              <a:gd name="T13" fmla="*/ 24 h 49"/>
              <a:gd name="T14" fmla="*/ 16 w 172"/>
              <a:gd name="T15" fmla="*/ 49 h 49"/>
              <a:gd name="T16" fmla="*/ 172 w 172"/>
              <a:gd name="T1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49">
                <a:moveTo>
                  <a:pt x="172" y="49"/>
                </a:moveTo>
                <a:lnTo>
                  <a:pt x="154" y="24"/>
                </a:lnTo>
                <a:lnTo>
                  <a:pt x="100" y="24"/>
                </a:lnTo>
                <a:lnTo>
                  <a:pt x="84" y="0"/>
                </a:lnTo>
                <a:lnTo>
                  <a:pt x="42" y="0"/>
                </a:lnTo>
                <a:lnTo>
                  <a:pt x="55" y="24"/>
                </a:lnTo>
                <a:lnTo>
                  <a:pt x="0" y="24"/>
                </a:lnTo>
                <a:lnTo>
                  <a:pt x="16" y="49"/>
                </a:lnTo>
                <a:lnTo>
                  <a:pt x="172" y="49"/>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20" name="Freeform 96">
            <a:extLst>
              <a:ext uri="{FF2B5EF4-FFF2-40B4-BE49-F238E27FC236}">
                <a16:creationId xmlns:a16="http://schemas.microsoft.com/office/drawing/2014/main" id="{94426ADD-7BA7-933A-C3DE-9CF006BF8D57}"/>
              </a:ext>
            </a:extLst>
          </p:cNvPr>
          <p:cNvSpPr>
            <a:spLocks/>
          </p:cNvSpPr>
          <p:nvPr/>
        </p:nvSpPr>
        <p:spPr bwMode="auto">
          <a:xfrm>
            <a:off x="2143125" y="2890838"/>
            <a:ext cx="120650" cy="55562"/>
          </a:xfrm>
          <a:custGeom>
            <a:avLst/>
            <a:gdLst>
              <a:gd name="T0" fmla="*/ 0 w 227"/>
              <a:gd name="T1" fmla="*/ 0 h 105"/>
              <a:gd name="T2" fmla="*/ 83 w 227"/>
              <a:gd name="T3" fmla="*/ 105 h 105"/>
              <a:gd name="T4" fmla="*/ 227 w 227"/>
              <a:gd name="T5" fmla="*/ 105 h 105"/>
              <a:gd name="T6" fmla="*/ 123 w 227"/>
              <a:gd name="T7" fmla="*/ 0 h 105"/>
              <a:gd name="T8" fmla="*/ 0 w 227"/>
              <a:gd name="T9" fmla="*/ 0 h 105"/>
            </a:gdLst>
            <a:ahLst/>
            <a:cxnLst>
              <a:cxn ang="0">
                <a:pos x="T0" y="T1"/>
              </a:cxn>
              <a:cxn ang="0">
                <a:pos x="T2" y="T3"/>
              </a:cxn>
              <a:cxn ang="0">
                <a:pos x="T4" y="T5"/>
              </a:cxn>
              <a:cxn ang="0">
                <a:pos x="T6" y="T7"/>
              </a:cxn>
              <a:cxn ang="0">
                <a:pos x="T8" y="T9"/>
              </a:cxn>
            </a:cxnLst>
            <a:rect l="0" t="0" r="r" b="b"/>
            <a:pathLst>
              <a:path w="227" h="105">
                <a:moveTo>
                  <a:pt x="0" y="0"/>
                </a:moveTo>
                <a:lnTo>
                  <a:pt x="83" y="105"/>
                </a:lnTo>
                <a:lnTo>
                  <a:pt x="227" y="105"/>
                </a:lnTo>
                <a:lnTo>
                  <a:pt x="123"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21" name="Freeform 97">
            <a:extLst>
              <a:ext uri="{FF2B5EF4-FFF2-40B4-BE49-F238E27FC236}">
                <a16:creationId xmlns:a16="http://schemas.microsoft.com/office/drawing/2014/main" id="{4983A426-9A97-945A-B55A-907A8B548A95}"/>
              </a:ext>
            </a:extLst>
          </p:cNvPr>
          <p:cNvSpPr>
            <a:spLocks/>
          </p:cNvSpPr>
          <p:nvPr/>
        </p:nvSpPr>
        <p:spPr bwMode="auto">
          <a:xfrm>
            <a:off x="1865313" y="2876550"/>
            <a:ext cx="80962" cy="11113"/>
          </a:xfrm>
          <a:custGeom>
            <a:avLst/>
            <a:gdLst>
              <a:gd name="T0" fmla="*/ 0 w 153"/>
              <a:gd name="T1" fmla="*/ 20 h 20"/>
              <a:gd name="T2" fmla="*/ 153 w 153"/>
              <a:gd name="T3" fmla="*/ 20 h 20"/>
              <a:gd name="T4" fmla="*/ 151 w 153"/>
              <a:gd name="T5" fmla="*/ 0 h 20"/>
            </a:gdLst>
            <a:ahLst/>
            <a:cxnLst>
              <a:cxn ang="0">
                <a:pos x="T0" y="T1"/>
              </a:cxn>
              <a:cxn ang="0">
                <a:pos x="T2" y="T3"/>
              </a:cxn>
              <a:cxn ang="0">
                <a:pos x="T4" y="T5"/>
              </a:cxn>
            </a:cxnLst>
            <a:rect l="0" t="0" r="r" b="b"/>
            <a:pathLst>
              <a:path w="153" h="20">
                <a:moveTo>
                  <a:pt x="0" y="20"/>
                </a:moveTo>
                <a:lnTo>
                  <a:pt x="153" y="20"/>
                </a:lnTo>
                <a:lnTo>
                  <a:pt x="151" y="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22" name="Freeform 98">
            <a:extLst>
              <a:ext uri="{FF2B5EF4-FFF2-40B4-BE49-F238E27FC236}">
                <a16:creationId xmlns:a16="http://schemas.microsoft.com/office/drawing/2014/main" id="{680E6B30-98A7-D26E-F6FC-1FBC83AADC3D}"/>
              </a:ext>
            </a:extLst>
          </p:cNvPr>
          <p:cNvSpPr>
            <a:spLocks/>
          </p:cNvSpPr>
          <p:nvPr/>
        </p:nvSpPr>
        <p:spPr bwMode="auto">
          <a:xfrm>
            <a:off x="1693863" y="2876550"/>
            <a:ext cx="36512" cy="11113"/>
          </a:xfrm>
          <a:custGeom>
            <a:avLst/>
            <a:gdLst>
              <a:gd name="T0" fmla="*/ 0 w 70"/>
              <a:gd name="T1" fmla="*/ 20 h 20"/>
              <a:gd name="T2" fmla="*/ 57 w 70"/>
              <a:gd name="T3" fmla="*/ 20 h 20"/>
              <a:gd name="T4" fmla="*/ 70 w 70"/>
              <a:gd name="T5" fmla="*/ 0 h 20"/>
            </a:gdLst>
            <a:ahLst/>
            <a:cxnLst>
              <a:cxn ang="0">
                <a:pos x="T0" y="T1"/>
              </a:cxn>
              <a:cxn ang="0">
                <a:pos x="T2" y="T3"/>
              </a:cxn>
              <a:cxn ang="0">
                <a:pos x="T4" y="T5"/>
              </a:cxn>
            </a:cxnLst>
            <a:rect l="0" t="0" r="r" b="b"/>
            <a:pathLst>
              <a:path w="70" h="20">
                <a:moveTo>
                  <a:pt x="0" y="20"/>
                </a:moveTo>
                <a:lnTo>
                  <a:pt x="57" y="20"/>
                </a:lnTo>
                <a:lnTo>
                  <a:pt x="70" y="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23" name="Freeform 99">
            <a:extLst>
              <a:ext uri="{FF2B5EF4-FFF2-40B4-BE49-F238E27FC236}">
                <a16:creationId xmlns:a16="http://schemas.microsoft.com/office/drawing/2014/main" id="{46348943-7076-5DE3-17F0-2DFA6DC57BC0}"/>
              </a:ext>
            </a:extLst>
          </p:cNvPr>
          <p:cNvSpPr>
            <a:spLocks/>
          </p:cNvSpPr>
          <p:nvPr/>
        </p:nvSpPr>
        <p:spPr bwMode="auto">
          <a:xfrm>
            <a:off x="1744663" y="2876550"/>
            <a:ext cx="106362" cy="11113"/>
          </a:xfrm>
          <a:custGeom>
            <a:avLst/>
            <a:gdLst>
              <a:gd name="T0" fmla="*/ 201 w 201"/>
              <a:gd name="T1" fmla="*/ 0 h 20"/>
              <a:gd name="T2" fmla="*/ 201 w 201"/>
              <a:gd name="T3" fmla="*/ 20 h 20"/>
              <a:gd name="T4" fmla="*/ 0 w 201"/>
              <a:gd name="T5" fmla="*/ 20 h 20"/>
            </a:gdLst>
            <a:ahLst/>
            <a:cxnLst>
              <a:cxn ang="0">
                <a:pos x="T0" y="T1"/>
              </a:cxn>
              <a:cxn ang="0">
                <a:pos x="T2" y="T3"/>
              </a:cxn>
              <a:cxn ang="0">
                <a:pos x="T4" y="T5"/>
              </a:cxn>
            </a:cxnLst>
            <a:rect l="0" t="0" r="r" b="b"/>
            <a:pathLst>
              <a:path w="201" h="20">
                <a:moveTo>
                  <a:pt x="201" y="0"/>
                </a:moveTo>
                <a:lnTo>
                  <a:pt x="201" y="20"/>
                </a:lnTo>
                <a:lnTo>
                  <a:pt x="0" y="2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24" name="Line 100">
            <a:extLst>
              <a:ext uri="{FF2B5EF4-FFF2-40B4-BE49-F238E27FC236}">
                <a16:creationId xmlns:a16="http://schemas.microsoft.com/office/drawing/2014/main" id="{7EA5620C-0F75-C69A-1E4F-6B3F7E80678B}"/>
              </a:ext>
            </a:extLst>
          </p:cNvPr>
          <p:cNvSpPr>
            <a:spLocks noChangeShapeType="1"/>
          </p:cNvSpPr>
          <p:nvPr/>
        </p:nvSpPr>
        <p:spPr bwMode="auto">
          <a:xfrm flipH="1">
            <a:off x="1635125" y="2946400"/>
            <a:ext cx="104775" cy="0"/>
          </a:xfrm>
          <a:prstGeom prst="line">
            <a:avLst/>
          </a:prstGeom>
          <a:noFill/>
          <a:ln w="1588">
            <a:solidFill>
              <a:srgbClr val="A6A6A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25" name="Freeform 101">
            <a:extLst>
              <a:ext uri="{FF2B5EF4-FFF2-40B4-BE49-F238E27FC236}">
                <a16:creationId xmlns:a16="http://schemas.microsoft.com/office/drawing/2014/main" id="{758F2404-5976-5690-F676-A5B752667048}"/>
              </a:ext>
            </a:extLst>
          </p:cNvPr>
          <p:cNvSpPr>
            <a:spLocks/>
          </p:cNvSpPr>
          <p:nvPr/>
        </p:nvSpPr>
        <p:spPr bwMode="auto">
          <a:xfrm>
            <a:off x="2044700" y="2876550"/>
            <a:ext cx="85725" cy="11113"/>
          </a:xfrm>
          <a:custGeom>
            <a:avLst/>
            <a:gdLst>
              <a:gd name="T0" fmla="*/ 161 w 161"/>
              <a:gd name="T1" fmla="*/ 20 h 20"/>
              <a:gd name="T2" fmla="*/ 13 w 161"/>
              <a:gd name="T3" fmla="*/ 20 h 20"/>
              <a:gd name="T4" fmla="*/ 0 w 161"/>
              <a:gd name="T5" fmla="*/ 0 h 20"/>
            </a:gdLst>
            <a:ahLst/>
            <a:cxnLst>
              <a:cxn ang="0">
                <a:pos x="T0" y="T1"/>
              </a:cxn>
              <a:cxn ang="0">
                <a:pos x="T2" y="T3"/>
              </a:cxn>
              <a:cxn ang="0">
                <a:pos x="T4" y="T5"/>
              </a:cxn>
            </a:cxnLst>
            <a:rect l="0" t="0" r="r" b="b"/>
            <a:pathLst>
              <a:path w="161" h="20">
                <a:moveTo>
                  <a:pt x="161" y="20"/>
                </a:moveTo>
                <a:lnTo>
                  <a:pt x="13" y="20"/>
                </a:lnTo>
                <a:lnTo>
                  <a:pt x="0" y="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26" name="Freeform 102">
            <a:extLst>
              <a:ext uri="{FF2B5EF4-FFF2-40B4-BE49-F238E27FC236}">
                <a16:creationId xmlns:a16="http://schemas.microsoft.com/office/drawing/2014/main" id="{BBC9BED4-35B1-D2B4-F027-123F13C2AAED}"/>
              </a:ext>
            </a:extLst>
          </p:cNvPr>
          <p:cNvSpPr>
            <a:spLocks/>
          </p:cNvSpPr>
          <p:nvPr/>
        </p:nvSpPr>
        <p:spPr bwMode="auto">
          <a:xfrm>
            <a:off x="1962150" y="2876550"/>
            <a:ext cx="77788" cy="11113"/>
          </a:xfrm>
          <a:custGeom>
            <a:avLst/>
            <a:gdLst>
              <a:gd name="T0" fmla="*/ 134 w 146"/>
              <a:gd name="T1" fmla="*/ 0 h 20"/>
              <a:gd name="T2" fmla="*/ 146 w 146"/>
              <a:gd name="T3" fmla="*/ 20 h 20"/>
              <a:gd name="T4" fmla="*/ 0 w 146"/>
              <a:gd name="T5" fmla="*/ 20 h 20"/>
            </a:gdLst>
            <a:ahLst/>
            <a:cxnLst>
              <a:cxn ang="0">
                <a:pos x="T0" y="T1"/>
              </a:cxn>
              <a:cxn ang="0">
                <a:pos x="T2" y="T3"/>
              </a:cxn>
              <a:cxn ang="0">
                <a:pos x="T4" y="T5"/>
              </a:cxn>
            </a:cxnLst>
            <a:rect l="0" t="0" r="r" b="b"/>
            <a:pathLst>
              <a:path w="146" h="20">
                <a:moveTo>
                  <a:pt x="134" y="0"/>
                </a:moveTo>
                <a:lnTo>
                  <a:pt x="146" y="20"/>
                </a:lnTo>
                <a:lnTo>
                  <a:pt x="0" y="2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27" name="Freeform 103">
            <a:extLst>
              <a:ext uri="{FF2B5EF4-FFF2-40B4-BE49-F238E27FC236}">
                <a16:creationId xmlns:a16="http://schemas.microsoft.com/office/drawing/2014/main" id="{F860BBC5-4D13-4FF6-AED1-88E8A7433259}"/>
              </a:ext>
            </a:extLst>
          </p:cNvPr>
          <p:cNvSpPr>
            <a:spLocks/>
          </p:cNvSpPr>
          <p:nvPr/>
        </p:nvSpPr>
        <p:spPr bwMode="auto">
          <a:xfrm>
            <a:off x="2132013" y="2876550"/>
            <a:ext cx="73025" cy="11113"/>
          </a:xfrm>
          <a:custGeom>
            <a:avLst/>
            <a:gdLst>
              <a:gd name="T0" fmla="*/ 0 w 137"/>
              <a:gd name="T1" fmla="*/ 0 h 20"/>
              <a:gd name="T2" fmla="*/ 15 w 137"/>
              <a:gd name="T3" fmla="*/ 20 h 20"/>
              <a:gd name="T4" fmla="*/ 137 w 137"/>
              <a:gd name="T5" fmla="*/ 20 h 20"/>
            </a:gdLst>
            <a:ahLst/>
            <a:cxnLst>
              <a:cxn ang="0">
                <a:pos x="T0" y="T1"/>
              </a:cxn>
              <a:cxn ang="0">
                <a:pos x="T2" y="T3"/>
              </a:cxn>
              <a:cxn ang="0">
                <a:pos x="T4" y="T5"/>
              </a:cxn>
            </a:cxnLst>
            <a:rect l="0" t="0" r="r" b="b"/>
            <a:pathLst>
              <a:path w="137" h="20">
                <a:moveTo>
                  <a:pt x="0" y="0"/>
                </a:moveTo>
                <a:lnTo>
                  <a:pt x="15" y="20"/>
                </a:lnTo>
                <a:lnTo>
                  <a:pt x="137" y="2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28" name="Freeform 104">
            <a:extLst>
              <a:ext uri="{FF2B5EF4-FFF2-40B4-BE49-F238E27FC236}">
                <a16:creationId xmlns:a16="http://schemas.microsoft.com/office/drawing/2014/main" id="{7B078005-76FF-23FD-22E6-3AA24964DEAA}"/>
              </a:ext>
            </a:extLst>
          </p:cNvPr>
          <p:cNvSpPr>
            <a:spLocks/>
          </p:cNvSpPr>
          <p:nvPr/>
        </p:nvSpPr>
        <p:spPr bwMode="auto">
          <a:xfrm>
            <a:off x="2082800" y="2933700"/>
            <a:ext cx="90488" cy="12700"/>
          </a:xfrm>
          <a:custGeom>
            <a:avLst/>
            <a:gdLst>
              <a:gd name="T0" fmla="*/ 0 w 172"/>
              <a:gd name="T1" fmla="*/ 0 h 25"/>
              <a:gd name="T2" fmla="*/ 16 w 172"/>
              <a:gd name="T3" fmla="*/ 25 h 25"/>
              <a:gd name="T4" fmla="*/ 172 w 172"/>
              <a:gd name="T5" fmla="*/ 25 h 25"/>
            </a:gdLst>
            <a:ahLst/>
            <a:cxnLst>
              <a:cxn ang="0">
                <a:pos x="T0" y="T1"/>
              </a:cxn>
              <a:cxn ang="0">
                <a:pos x="T2" y="T3"/>
              </a:cxn>
              <a:cxn ang="0">
                <a:pos x="T4" y="T5"/>
              </a:cxn>
            </a:cxnLst>
            <a:rect l="0" t="0" r="r" b="b"/>
            <a:pathLst>
              <a:path w="172" h="25">
                <a:moveTo>
                  <a:pt x="0" y="0"/>
                </a:moveTo>
                <a:lnTo>
                  <a:pt x="16" y="25"/>
                </a:lnTo>
                <a:lnTo>
                  <a:pt x="172" y="25"/>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29" name="Line 105">
            <a:extLst>
              <a:ext uri="{FF2B5EF4-FFF2-40B4-BE49-F238E27FC236}">
                <a16:creationId xmlns:a16="http://schemas.microsoft.com/office/drawing/2014/main" id="{7ECF7CB2-12D6-042B-AC78-03AFBDABA2D9}"/>
              </a:ext>
            </a:extLst>
          </p:cNvPr>
          <p:cNvSpPr>
            <a:spLocks noChangeShapeType="1"/>
          </p:cNvSpPr>
          <p:nvPr/>
        </p:nvSpPr>
        <p:spPr bwMode="auto">
          <a:xfrm>
            <a:off x="2105025" y="2921000"/>
            <a:ext cx="6350" cy="12700"/>
          </a:xfrm>
          <a:prstGeom prst="line">
            <a:avLst/>
          </a:prstGeom>
          <a:noFill/>
          <a:ln w="1588">
            <a:solidFill>
              <a:srgbClr val="A6A6A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30" name="Freeform 106">
            <a:extLst>
              <a:ext uri="{FF2B5EF4-FFF2-40B4-BE49-F238E27FC236}">
                <a16:creationId xmlns:a16="http://schemas.microsoft.com/office/drawing/2014/main" id="{70284F36-3417-65D0-B958-0BAA6E725452}"/>
              </a:ext>
            </a:extLst>
          </p:cNvPr>
          <p:cNvSpPr>
            <a:spLocks/>
          </p:cNvSpPr>
          <p:nvPr/>
        </p:nvSpPr>
        <p:spPr bwMode="auto">
          <a:xfrm>
            <a:off x="2054225" y="2890838"/>
            <a:ext cx="95250" cy="25400"/>
          </a:xfrm>
          <a:custGeom>
            <a:avLst/>
            <a:gdLst>
              <a:gd name="T0" fmla="*/ 0 w 179"/>
              <a:gd name="T1" fmla="*/ 0 h 47"/>
              <a:gd name="T2" fmla="*/ 30 w 179"/>
              <a:gd name="T3" fmla="*/ 47 h 47"/>
              <a:gd name="T4" fmla="*/ 179 w 179"/>
              <a:gd name="T5" fmla="*/ 42 h 47"/>
            </a:gdLst>
            <a:ahLst/>
            <a:cxnLst>
              <a:cxn ang="0">
                <a:pos x="T0" y="T1"/>
              </a:cxn>
              <a:cxn ang="0">
                <a:pos x="T2" y="T3"/>
              </a:cxn>
              <a:cxn ang="0">
                <a:pos x="T4" y="T5"/>
              </a:cxn>
            </a:cxnLst>
            <a:rect l="0" t="0" r="r" b="b"/>
            <a:pathLst>
              <a:path w="179" h="47">
                <a:moveTo>
                  <a:pt x="0" y="0"/>
                </a:moveTo>
                <a:lnTo>
                  <a:pt x="30" y="47"/>
                </a:lnTo>
                <a:lnTo>
                  <a:pt x="179" y="42"/>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31" name="Freeform 107">
            <a:extLst>
              <a:ext uri="{FF2B5EF4-FFF2-40B4-BE49-F238E27FC236}">
                <a16:creationId xmlns:a16="http://schemas.microsoft.com/office/drawing/2014/main" id="{0DA28955-F029-28AF-5C55-EB99373E81F1}"/>
              </a:ext>
            </a:extLst>
          </p:cNvPr>
          <p:cNvSpPr>
            <a:spLocks/>
          </p:cNvSpPr>
          <p:nvPr/>
        </p:nvSpPr>
        <p:spPr bwMode="auto">
          <a:xfrm>
            <a:off x="1939925" y="2890838"/>
            <a:ext cx="136525" cy="55562"/>
          </a:xfrm>
          <a:custGeom>
            <a:avLst/>
            <a:gdLst>
              <a:gd name="T0" fmla="*/ 0 w 259"/>
              <a:gd name="T1" fmla="*/ 105 h 105"/>
              <a:gd name="T2" fmla="*/ 259 w 259"/>
              <a:gd name="T3" fmla="*/ 105 h 105"/>
              <a:gd name="T4" fmla="*/ 194 w 259"/>
              <a:gd name="T5" fmla="*/ 0 h 105"/>
            </a:gdLst>
            <a:ahLst/>
            <a:cxnLst>
              <a:cxn ang="0">
                <a:pos x="T0" y="T1"/>
              </a:cxn>
              <a:cxn ang="0">
                <a:pos x="T2" y="T3"/>
              </a:cxn>
              <a:cxn ang="0">
                <a:pos x="T4" y="T5"/>
              </a:cxn>
            </a:cxnLst>
            <a:rect l="0" t="0" r="r" b="b"/>
            <a:pathLst>
              <a:path w="259" h="105">
                <a:moveTo>
                  <a:pt x="0" y="105"/>
                </a:moveTo>
                <a:lnTo>
                  <a:pt x="259" y="105"/>
                </a:lnTo>
                <a:lnTo>
                  <a:pt x="194" y="0"/>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32" name="Freeform 108">
            <a:extLst>
              <a:ext uri="{FF2B5EF4-FFF2-40B4-BE49-F238E27FC236}">
                <a16:creationId xmlns:a16="http://schemas.microsoft.com/office/drawing/2014/main" id="{33E38F35-C669-1F50-8714-C2E81803826D}"/>
              </a:ext>
            </a:extLst>
          </p:cNvPr>
          <p:cNvSpPr>
            <a:spLocks/>
          </p:cNvSpPr>
          <p:nvPr/>
        </p:nvSpPr>
        <p:spPr bwMode="auto">
          <a:xfrm>
            <a:off x="2143125" y="2890838"/>
            <a:ext cx="120650" cy="55562"/>
          </a:xfrm>
          <a:custGeom>
            <a:avLst/>
            <a:gdLst>
              <a:gd name="T0" fmla="*/ 0 w 227"/>
              <a:gd name="T1" fmla="*/ 0 h 105"/>
              <a:gd name="T2" fmla="*/ 83 w 227"/>
              <a:gd name="T3" fmla="*/ 105 h 105"/>
              <a:gd name="T4" fmla="*/ 227 w 227"/>
              <a:gd name="T5" fmla="*/ 105 h 105"/>
            </a:gdLst>
            <a:ahLst/>
            <a:cxnLst>
              <a:cxn ang="0">
                <a:pos x="T0" y="T1"/>
              </a:cxn>
              <a:cxn ang="0">
                <a:pos x="T2" y="T3"/>
              </a:cxn>
              <a:cxn ang="0">
                <a:pos x="T4" y="T5"/>
              </a:cxn>
            </a:cxnLst>
            <a:rect l="0" t="0" r="r" b="b"/>
            <a:pathLst>
              <a:path w="227" h="105">
                <a:moveTo>
                  <a:pt x="0" y="0"/>
                </a:moveTo>
                <a:lnTo>
                  <a:pt x="83" y="105"/>
                </a:lnTo>
                <a:lnTo>
                  <a:pt x="227" y="105"/>
                </a:lnTo>
              </a:path>
            </a:pathLst>
          </a:custGeom>
          <a:noFill/>
          <a:ln w="1588">
            <a:solidFill>
              <a:srgbClr val="A6A6A6"/>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33" name="Freeform 109">
            <a:extLst>
              <a:ext uri="{FF2B5EF4-FFF2-40B4-BE49-F238E27FC236}">
                <a16:creationId xmlns:a16="http://schemas.microsoft.com/office/drawing/2014/main" id="{BCB51338-CF5F-DC6D-D684-7C0503D4A099}"/>
              </a:ext>
            </a:extLst>
          </p:cNvPr>
          <p:cNvSpPr>
            <a:spLocks/>
          </p:cNvSpPr>
          <p:nvPr/>
        </p:nvSpPr>
        <p:spPr bwMode="auto">
          <a:xfrm>
            <a:off x="2333625" y="2908300"/>
            <a:ext cx="52388" cy="31750"/>
          </a:xfrm>
          <a:custGeom>
            <a:avLst/>
            <a:gdLst>
              <a:gd name="T0" fmla="*/ 66 w 97"/>
              <a:gd name="T1" fmla="*/ 5 h 61"/>
              <a:gd name="T2" fmla="*/ 66 w 97"/>
              <a:gd name="T3" fmla="*/ 4 h 61"/>
              <a:gd name="T4" fmla="*/ 49 w 97"/>
              <a:gd name="T5" fmla="*/ 0 h 61"/>
              <a:gd name="T6" fmla="*/ 36 w 97"/>
              <a:gd name="T7" fmla="*/ 1 h 61"/>
              <a:gd name="T8" fmla="*/ 25 w 97"/>
              <a:gd name="T9" fmla="*/ 2 h 61"/>
              <a:gd name="T10" fmla="*/ 16 w 97"/>
              <a:gd name="T11" fmla="*/ 8 h 61"/>
              <a:gd name="T12" fmla="*/ 7 w 97"/>
              <a:gd name="T13" fmla="*/ 17 h 61"/>
              <a:gd name="T14" fmla="*/ 0 w 97"/>
              <a:gd name="T15" fmla="*/ 28 h 61"/>
              <a:gd name="T16" fmla="*/ 14 w 97"/>
              <a:gd name="T17" fmla="*/ 38 h 61"/>
              <a:gd name="T18" fmla="*/ 22 w 97"/>
              <a:gd name="T19" fmla="*/ 43 h 61"/>
              <a:gd name="T20" fmla="*/ 30 w 97"/>
              <a:gd name="T21" fmla="*/ 48 h 61"/>
              <a:gd name="T22" fmla="*/ 36 w 97"/>
              <a:gd name="T23" fmla="*/ 50 h 61"/>
              <a:gd name="T24" fmla="*/ 43 w 97"/>
              <a:gd name="T25" fmla="*/ 54 h 61"/>
              <a:gd name="T26" fmla="*/ 49 w 97"/>
              <a:gd name="T27" fmla="*/ 56 h 61"/>
              <a:gd name="T28" fmla="*/ 56 w 97"/>
              <a:gd name="T29" fmla="*/ 60 h 61"/>
              <a:gd name="T30" fmla="*/ 61 w 97"/>
              <a:gd name="T31" fmla="*/ 60 h 61"/>
              <a:gd name="T32" fmla="*/ 64 w 97"/>
              <a:gd name="T33" fmla="*/ 60 h 61"/>
              <a:gd name="T34" fmla="*/ 65 w 97"/>
              <a:gd name="T35" fmla="*/ 60 h 61"/>
              <a:gd name="T36" fmla="*/ 67 w 97"/>
              <a:gd name="T37" fmla="*/ 61 h 61"/>
              <a:gd name="T38" fmla="*/ 72 w 97"/>
              <a:gd name="T39" fmla="*/ 61 h 61"/>
              <a:gd name="T40" fmla="*/ 78 w 97"/>
              <a:gd name="T41" fmla="*/ 61 h 61"/>
              <a:gd name="T42" fmla="*/ 88 w 97"/>
              <a:gd name="T43" fmla="*/ 58 h 61"/>
              <a:gd name="T44" fmla="*/ 97 w 97"/>
              <a:gd name="T45" fmla="*/ 53 h 61"/>
              <a:gd name="T46" fmla="*/ 89 w 97"/>
              <a:gd name="T47" fmla="*/ 37 h 61"/>
              <a:gd name="T48" fmla="*/ 82 w 97"/>
              <a:gd name="T49" fmla="*/ 24 h 61"/>
              <a:gd name="T50" fmla="*/ 73 w 97"/>
              <a:gd name="T51" fmla="*/ 13 h 61"/>
              <a:gd name="T52" fmla="*/ 66 w 97"/>
              <a:gd name="T53" fmla="*/ 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7" h="61">
                <a:moveTo>
                  <a:pt x="66" y="5"/>
                </a:moveTo>
                <a:lnTo>
                  <a:pt x="66" y="4"/>
                </a:lnTo>
                <a:lnTo>
                  <a:pt x="49" y="0"/>
                </a:lnTo>
                <a:lnTo>
                  <a:pt x="36" y="1"/>
                </a:lnTo>
                <a:lnTo>
                  <a:pt x="25" y="2"/>
                </a:lnTo>
                <a:lnTo>
                  <a:pt x="16" y="8"/>
                </a:lnTo>
                <a:lnTo>
                  <a:pt x="7" y="17"/>
                </a:lnTo>
                <a:lnTo>
                  <a:pt x="0" y="28"/>
                </a:lnTo>
                <a:lnTo>
                  <a:pt x="14" y="38"/>
                </a:lnTo>
                <a:lnTo>
                  <a:pt x="22" y="43"/>
                </a:lnTo>
                <a:lnTo>
                  <a:pt x="30" y="48"/>
                </a:lnTo>
                <a:lnTo>
                  <a:pt x="36" y="50"/>
                </a:lnTo>
                <a:lnTo>
                  <a:pt x="43" y="54"/>
                </a:lnTo>
                <a:lnTo>
                  <a:pt x="49" y="56"/>
                </a:lnTo>
                <a:lnTo>
                  <a:pt x="56" y="60"/>
                </a:lnTo>
                <a:lnTo>
                  <a:pt x="61" y="60"/>
                </a:lnTo>
                <a:lnTo>
                  <a:pt x="64" y="60"/>
                </a:lnTo>
                <a:lnTo>
                  <a:pt x="65" y="60"/>
                </a:lnTo>
                <a:lnTo>
                  <a:pt x="67" y="61"/>
                </a:lnTo>
                <a:lnTo>
                  <a:pt x="72" y="61"/>
                </a:lnTo>
                <a:lnTo>
                  <a:pt x="78" y="61"/>
                </a:lnTo>
                <a:lnTo>
                  <a:pt x="88" y="58"/>
                </a:lnTo>
                <a:lnTo>
                  <a:pt x="97" y="53"/>
                </a:lnTo>
                <a:lnTo>
                  <a:pt x="89" y="37"/>
                </a:lnTo>
                <a:lnTo>
                  <a:pt x="82" y="24"/>
                </a:lnTo>
                <a:lnTo>
                  <a:pt x="73" y="13"/>
                </a:lnTo>
                <a:lnTo>
                  <a:pt x="66" y="5"/>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34" name="Freeform 110">
            <a:extLst>
              <a:ext uri="{FF2B5EF4-FFF2-40B4-BE49-F238E27FC236}">
                <a16:creationId xmlns:a16="http://schemas.microsoft.com/office/drawing/2014/main" id="{A7626C27-A244-A3F0-419A-5BCF4B428984}"/>
              </a:ext>
            </a:extLst>
          </p:cNvPr>
          <p:cNvSpPr>
            <a:spLocks/>
          </p:cNvSpPr>
          <p:nvPr/>
        </p:nvSpPr>
        <p:spPr bwMode="auto">
          <a:xfrm>
            <a:off x="2324100" y="2903538"/>
            <a:ext cx="44450" cy="19050"/>
          </a:xfrm>
          <a:custGeom>
            <a:avLst/>
            <a:gdLst>
              <a:gd name="T0" fmla="*/ 48 w 86"/>
              <a:gd name="T1" fmla="*/ 7 h 36"/>
              <a:gd name="T2" fmla="*/ 56 w 86"/>
              <a:gd name="T3" fmla="*/ 9 h 36"/>
              <a:gd name="T4" fmla="*/ 69 w 86"/>
              <a:gd name="T5" fmla="*/ 8 h 36"/>
              <a:gd name="T6" fmla="*/ 86 w 86"/>
              <a:gd name="T7" fmla="*/ 12 h 36"/>
              <a:gd name="T8" fmla="*/ 79 w 86"/>
              <a:gd name="T9" fmla="*/ 7 h 36"/>
              <a:gd name="T10" fmla="*/ 73 w 86"/>
              <a:gd name="T11" fmla="*/ 4 h 36"/>
              <a:gd name="T12" fmla="*/ 61 w 86"/>
              <a:gd name="T13" fmla="*/ 1 h 36"/>
              <a:gd name="T14" fmla="*/ 46 w 86"/>
              <a:gd name="T15" fmla="*/ 0 h 36"/>
              <a:gd name="T16" fmla="*/ 33 w 86"/>
              <a:gd name="T17" fmla="*/ 1 h 36"/>
              <a:gd name="T18" fmla="*/ 31 w 86"/>
              <a:gd name="T19" fmla="*/ 2 h 36"/>
              <a:gd name="T20" fmla="*/ 30 w 86"/>
              <a:gd name="T21" fmla="*/ 2 h 36"/>
              <a:gd name="T22" fmla="*/ 13 w 86"/>
              <a:gd name="T23" fmla="*/ 7 h 36"/>
              <a:gd name="T24" fmla="*/ 0 w 86"/>
              <a:gd name="T25" fmla="*/ 18 h 36"/>
              <a:gd name="T26" fmla="*/ 9 w 86"/>
              <a:gd name="T27" fmla="*/ 26 h 36"/>
              <a:gd name="T28" fmla="*/ 20 w 86"/>
              <a:gd name="T29" fmla="*/ 36 h 36"/>
              <a:gd name="T30" fmla="*/ 27 w 86"/>
              <a:gd name="T31" fmla="*/ 25 h 36"/>
              <a:gd name="T32" fmla="*/ 36 w 86"/>
              <a:gd name="T33" fmla="*/ 16 h 36"/>
              <a:gd name="T34" fmla="*/ 45 w 86"/>
              <a:gd name="T35" fmla="*/ 10 h 36"/>
              <a:gd name="T36" fmla="*/ 56 w 86"/>
              <a:gd name="T37" fmla="*/ 9 h 36"/>
              <a:gd name="T38" fmla="*/ 48 w 86"/>
              <a:gd name="T39" fmla="*/ 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36">
                <a:moveTo>
                  <a:pt x="48" y="7"/>
                </a:moveTo>
                <a:lnTo>
                  <a:pt x="56" y="9"/>
                </a:lnTo>
                <a:lnTo>
                  <a:pt x="69" y="8"/>
                </a:lnTo>
                <a:lnTo>
                  <a:pt x="86" y="12"/>
                </a:lnTo>
                <a:lnTo>
                  <a:pt x="79" y="7"/>
                </a:lnTo>
                <a:lnTo>
                  <a:pt x="73" y="4"/>
                </a:lnTo>
                <a:lnTo>
                  <a:pt x="61" y="1"/>
                </a:lnTo>
                <a:lnTo>
                  <a:pt x="46" y="0"/>
                </a:lnTo>
                <a:lnTo>
                  <a:pt x="33" y="1"/>
                </a:lnTo>
                <a:lnTo>
                  <a:pt x="31" y="2"/>
                </a:lnTo>
                <a:lnTo>
                  <a:pt x="30" y="2"/>
                </a:lnTo>
                <a:lnTo>
                  <a:pt x="13" y="7"/>
                </a:lnTo>
                <a:lnTo>
                  <a:pt x="0" y="18"/>
                </a:lnTo>
                <a:lnTo>
                  <a:pt x="9" y="26"/>
                </a:lnTo>
                <a:lnTo>
                  <a:pt x="20" y="36"/>
                </a:lnTo>
                <a:lnTo>
                  <a:pt x="27" y="25"/>
                </a:lnTo>
                <a:lnTo>
                  <a:pt x="36" y="16"/>
                </a:lnTo>
                <a:lnTo>
                  <a:pt x="45" y="10"/>
                </a:lnTo>
                <a:lnTo>
                  <a:pt x="56" y="9"/>
                </a:lnTo>
                <a:lnTo>
                  <a:pt x="48" y="7"/>
                </a:lnTo>
                <a:close/>
              </a:path>
            </a:pathLst>
          </a:custGeom>
          <a:solidFill>
            <a:srgbClr val="C8C8C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35" name="Freeform 111">
            <a:extLst>
              <a:ext uri="{FF2B5EF4-FFF2-40B4-BE49-F238E27FC236}">
                <a16:creationId xmlns:a16="http://schemas.microsoft.com/office/drawing/2014/main" id="{3488FA1F-6B37-2053-BAE3-D1057154E534}"/>
              </a:ext>
            </a:extLst>
          </p:cNvPr>
          <p:cNvSpPr>
            <a:spLocks/>
          </p:cNvSpPr>
          <p:nvPr/>
        </p:nvSpPr>
        <p:spPr bwMode="auto">
          <a:xfrm>
            <a:off x="2324100" y="2913063"/>
            <a:ext cx="9525" cy="14287"/>
          </a:xfrm>
          <a:custGeom>
            <a:avLst/>
            <a:gdLst>
              <a:gd name="T0" fmla="*/ 20 w 20"/>
              <a:gd name="T1" fmla="*/ 18 h 27"/>
              <a:gd name="T2" fmla="*/ 9 w 20"/>
              <a:gd name="T3" fmla="*/ 8 h 27"/>
              <a:gd name="T4" fmla="*/ 0 w 20"/>
              <a:gd name="T5" fmla="*/ 0 h 27"/>
              <a:gd name="T6" fmla="*/ 2 w 20"/>
              <a:gd name="T7" fmla="*/ 10 h 27"/>
              <a:gd name="T8" fmla="*/ 20 w 20"/>
              <a:gd name="T9" fmla="*/ 27 h 27"/>
              <a:gd name="T10" fmla="*/ 20 w 20"/>
              <a:gd name="T11" fmla="*/ 18 h 27"/>
            </a:gdLst>
            <a:ahLst/>
            <a:cxnLst>
              <a:cxn ang="0">
                <a:pos x="T0" y="T1"/>
              </a:cxn>
              <a:cxn ang="0">
                <a:pos x="T2" y="T3"/>
              </a:cxn>
              <a:cxn ang="0">
                <a:pos x="T4" y="T5"/>
              </a:cxn>
              <a:cxn ang="0">
                <a:pos x="T6" y="T7"/>
              </a:cxn>
              <a:cxn ang="0">
                <a:pos x="T8" y="T9"/>
              </a:cxn>
              <a:cxn ang="0">
                <a:pos x="T10" y="T11"/>
              </a:cxn>
            </a:cxnLst>
            <a:rect l="0" t="0" r="r" b="b"/>
            <a:pathLst>
              <a:path w="20" h="27">
                <a:moveTo>
                  <a:pt x="20" y="18"/>
                </a:moveTo>
                <a:lnTo>
                  <a:pt x="9" y="8"/>
                </a:lnTo>
                <a:lnTo>
                  <a:pt x="0" y="0"/>
                </a:lnTo>
                <a:lnTo>
                  <a:pt x="2" y="10"/>
                </a:lnTo>
                <a:lnTo>
                  <a:pt x="20" y="27"/>
                </a:lnTo>
                <a:lnTo>
                  <a:pt x="20" y="18"/>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36" name="Freeform 112">
            <a:extLst>
              <a:ext uri="{FF2B5EF4-FFF2-40B4-BE49-F238E27FC236}">
                <a16:creationId xmlns:a16="http://schemas.microsoft.com/office/drawing/2014/main" id="{C5F8A1EC-FDC5-2A69-7969-D9D7C213E8D9}"/>
              </a:ext>
            </a:extLst>
          </p:cNvPr>
          <p:cNvSpPr>
            <a:spLocks/>
          </p:cNvSpPr>
          <p:nvPr/>
        </p:nvSpPr>
        <p:spPr bwMode="auto">
          <a:xfrm>
            <a:off x="2333625" y="2922588"/>
            <a:ext cx="52388" cy="23812"/>
          </a:xfrm>
          <a:custGeom>
            <a:avLst/>
            <a:gdLst>
              <a:gd name="T0" fmla="*/ 0 w 97"/>
              <a:gd name="T1" fmla="*/ 0 h 46"/>
              <a:gd name="T2" fmla="*/ 0 w 97"/>
              <a:gd name="T3" fmla="*/ 9 h 46"/>
              <a:gd name="T4" fmla="*/ 16 w 97"/>
              <a:gd name="T5" fmla="*/ 21 h 46"/>
              <a:gd name="T6" fmla="*/ 36 w 97"/>
              <a:gd name="T7" fmla="*/ 34 h 46"/>
              <a:gd name="T8" fmla="*/ 48 w 97"/>
              <a:gd name="T9" fmla="*/ 39 h 46"/>
              <a:gd name="T10" fmla="*/ 53 w 97"/>
              <a:gd name="T11" fmla="*/ 40 h 46"/>
              <a:gd name="T12" fmla="*/ 59 w 97"/>
              <a:gd name="T13" fmla="*/ 43 h 46"/>
              <a:gd name="T14" fmla="*/ 68 w 97"/>
              <a:gd name="T15" fmla="*/ 45 h 46"/>
              <a:gd name="T16" fmla="*/ 78 w 97"/>
              <a:gd name="T17" fmla="*/ 46 h 46"/>
              <a:gd name="T18" fmla="*/ 84 w 97"/>
              <a:gd name="T19" fmla="*/ 44 h 46"/>
              <a:gd name="T20" fmla="*/ 86 w 97"/>
              <a:gd name="T21" fmla="*/ 42 h 46"/>
              <a:gd name="T22" fmla="*/ 86 w 97"/>
              <a:gd name="T23" fmla="*/ 40 h 46"/>
              <a:gd name="T24" fmla="*/ 88 w 97"/>
              <a:gd name="T25" fmla="*/ 40 h 46"/>
              <a:gd name="T26" fmla="*/ 90 w 97"/>
              <a:gd name="T27" fmla="*/ 40 h 46"/>
              <a:gd name="T28" fmla="*/ 94 w 97"/>
              <a:gd name="T29" fmla="*/ 36 h 46"/>
              <a:gd name="T30" fmla="*/ 94 w 97"/>
              <a:gd name="T31" fmla="*/ 33 h 46"/>
              <a:gd name="T32" fmla="*/ 94 w 97"/>
              <a:gd name="T33" fmla="*/ 32 h 46"/>
              <a:gd name="T34" fmla="*/ 95 w 97"/>
              <a:gd name="T35" fmla="*/ 32 h 46"/>
              <a:gd name="T36" fmla="*/ 97 w 97"/>
              <a:gd name="T37" fmla="*/ 30 h 46"/>
              <a:gd name="T38" fmla="*/ 97 w 97"/>
              <a:gd name="T39" fmla="*/ 25 h 46"/>
              <a:gd name="T40" fmla="*/ 88 w 97"/>
              <a:gd name="T41" fmla="*/ 30 h 46"/>
              <a:gd name="T42" fmla="*/ 78 w 97"/>
              <a:gd name="T43" fmla="*/ 33 h 46"/>
              <a:gd name="T44" fmla="*/ 72 w 97"/>
              <a:gd name="T45" fmla="*/ 33 h 46"/>
              <a:gd name="T46" fmla="*/ 67 w 97"/>
              <a:gd name="T47" fmla="*/ 33 h 46"/>
              <a:gd name="T48" fmla="*/ 65 w 97"/>
              <a:gd name="T49" fmla="*/ 32 h 46"/>
              <a:gd name="T50" fmla="*/ 64 w 97"/>
              <a:gd name="T51" fmla="*/ 32 h 46"/>
              <a:gd name="T52" fmla="*/ 61 w 97"/>
              <a:gd name="T53" fmla="*/ 32 h 46"/>
              <a:gd name="T54" fmla="*/ 56 w 97"/>
              <a:gd name="T55" fmla="*/ 32 h 46"/>
              <a:gd name="T56" fmla="*/ 49 w 97"/>
              <a:gd name="T57" fmla="*/ 28 h 46"/>
              <a:gd name="T58" fmla="*/ 43 w 97"/>
              <a:gd name="T59" fmla="*/ 26 h 46"/>
              <a:gd name="T60" fmla="*/ 36 w 97"/>
              <a:gd name="T61" fmla="*/ 22 h 46"/>
              <a:gd name="T62" fmla="*/ 30 w 97"/>
              <a:gd name="T63" fmla="*/ 20 h 46"/>
              <a:gd name="T64" fmla="*/ 22 w 97"/>
              <a:gd name="T65" fmla="*/ 15 h 46"/>
              <a:gd name="T66" fmla="*/ 14 w 97"/>
              <a:gd name="T67" fmla="*/ 10 h 46"/>
              <a:gd name="T68" fmla="*/ 0 w 97"/>
              <a:gd name="T69"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7" h="46">
                <a:moveTo>
                  <a:pt x="0" y="0"/>
                </a:moveTo>
                <a:lnTo>
                  <a:pt x="0" y="9"/>
                </a:lnTo>
                <a:lnTo>
                  <a:pt x="16" y="21"/>
                </a:lnTo>
                <a:lnTo>
                  <a:pt x="36" y="34"/>
                </a:lnTo>
                <a:lnTo>
                  <a:pt x="48" y="39"/>
                </a:lnTo>
                <a:lnTo>
                  <a:pt x="53" y="40"/>
                </a:lnTo>
                <a:lnTo>
                  <a:pt x="59" y="43"/>
                </a:lnTo>
                <a:lnTo>
                  <a:pt x="68" y="45"/>
                </a:lnTo>
                <a:lnTo>
                  <a:pt x="78" y="46"/>
                </a:lnTo>
                <a:lnTo>
                  <a:pt x="84" y="44"/>
                </a:lnTo>
                <a:lnTo>
                  <a:pt x="86" y="42"/>
                </a:lnTo>
                <a:lnTo>
                  <a:pt x="86" y="40"/>
                </a:lnTo>
                <a:lnTo>
                  <a:pt x="88" y="40"/>
                </a:lnTo>
                <a:lnTo>
                  <a:pt x="90" y="40"/>
                </a:lnTo>
                <a:lnTo>
                  <a:pt x="94" y="36"/>
                </a:lnTo>
                <a:lnTo>
                  <a:pt x="94" y="33"/>
                </a:lnTo>
                <a:lnTo>
                  <a:pt x="94" y="32"/>
                </a:lnTo>
                <a:lnTo>
                  <a:pt x="95" y="32"/>
                </a:lnTo>
                <a:lnTo>
                  <a:pt x="97" y="30"/>
                </a:lnTo>
                <a:lnTo>
                  <a:pt x="97" y="25"/>
                </a:lnTo>
                <a:lnTo>
                  <a:pt x="88" y="30"/>
                </a:lnTo>
                <a:lnTo>
                  <a:pt x="78" y="33"/>
                </a:lnTo>
                <a:lnTo>
                  <a:pt x="72" y="33"/>
                </a:lnTo>
                <a:lnTo>
                  <a:pt x="67" y="33"/>
                </a:lnTo>
                <a:lnTo>
                  <a:pt x="65" y="32"/>
                </a:lnTo>
                <a:lnTo>
                  <a:pt x="64" y="32"/>
                </a:lnTo>
                <a:lnTo>
                  <a:pt x="61" y="32"/>
                </a:lnTo>
                <a:lnTo>
                  <a:pt x="56" y="32"/>
                </a:lnTo>
                <a:lnTo>
                  <a:pt x="49" y="28"/>
                </a:lnTo>
                <a:lnTo>
                  <a:pt x="43" y="26"/>
                </a:lnTo>
                <a:lnTo>
                  <a:pt x="36" y="22"/>
                </a:lnTo>
                <a:lnTo>
                  <a:pt x="30" y="20"/>
                </a:lnTo>
                <a:lnTo>
                  <a:pt x="22" y="15"/>
                </a:lnTo>
                <a:lnTo>
                  <a:pt x="14" y="10"/>
                </a:lnTo>
                <a:lnTo>
                  <a:pt x="0" y="0"/>
                </a:lnTo>
                <a:close/>
              </a:path>
            </a:pathLst>
          </a:cu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37" name="Freeform 113">
            <a:extLst>
              <a:ext uri="{FF2B5EF4-FFF2-40B4-BE49-F238E27FC236}">
                <a16:creationId xmlns:a16="http://schemas.microsoft.com/office/drawing/2014/main" id="{C7ED7474-8184-7B01-EEE0-8DFC90ADB329}"/>
              </a:ext>
            </a:extLst>
          </p:cNvPr>
          <p:cNvSpPr>
            <a:spLocks/>
          </p:cNvSpPr>
          <p:nvPr/>
        </p:nvSpPr>
        <p:spPr bwMode="auto">
          <a:xfrm>
            <a:off x="2324100" y="2913063"/>
            <a:ext cx="61913" cy="26987"/>
          </a:xfrm>
          <a:custGeom>
            <a:avLst/>
            <a:gdLst>
              <a:gd name="T0" fmla="*/ 0 w 117"/>
              <a:gd name="T1" fmla="*/ 0 h 51"/>
              <a:gd name="T2" fmla="*/ 9 w 117"/>
              <a:gd name="T3" fmla="*/ 8 h 51"/>
              <a:gd name="T4" fmla="*/ 20 w 117"/>
              <a:gd name="T5" fmla="*/ 18 h 51"/>
              <a:gd name="T6" fmla="*/ 34 w 117"/>
              <a:gd name="T7" fmla="*/ 28 h 51"/>
              <a:gd name="T8" fmla="*/ 42 w 117"/>
              <a:gd name="T9" fmla="*/ 33 h 51"/>
              <a:gd name="T10" fmla="*/ 50 w 117"/>
              <a:gd name="T11" fmla="*/ 38 h 51"/>
              <a:gd name="T12" fmla="*/ 56 w 117"/>
              <a:gd name="T13" fmla="*/ 40 h 51"/>
              <a:gd name="T14" fmla="*/ 63 w 117"/>
              <a:gd name="T15" fmla="*/ 44 h 51"/>
              <a:gd name="T16" fmla="*/ 69 w 117"/>
              <a:gd name="T17" fmla="*/ 46 h 51"/>
              <a:gd name="T18" fmla="*/ 76 w 117"/>
              <a:gd name="T19" fmla="*/ 50 h 51"/>
              <a:gd name="T20" fmla="*/ 81 w 117"/>
              <a:gd name="T21" fmla="*/ 50 h 51"/>
              <a:gd name="T22" fmla="*/ 84 w 117"/>
              <a:gd name="T23" fmla="*/ 50 h 51"/>
              <a:gd name="T24" fmla="*/ 85 w 117"/>
              <a:gd name="T25" fmla="*/ 50 h 51"/>
              <a:gd name="T26" fmla="*/ 87 w 117"/>
              <a:gd name="T27" fmla="*/ 51 h 51"/>
              <a:gd name="T28" fmla="*/ 92 w 117"/>
              <a:gd name="T29" fmla="*/ 51 h 51"/>
              <a:gd name="T30" fmla="*/ 98 w 117"/>
              <a:gd name="T31" fmla="*/ 51 h 51"/>
              <a:gd name="T32" fmla="*/ 108 w 117"/>
              <a:gd name="T33" fmla="*/ 48 h 51"/>
              <a:gd name="T34" fmla="*/ 117 w 117"/>
              <a:gd name="T35" fmla="*/ 4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7" h="51">
                <a:moveTo>
                  <a:pt x="0" y="0"/>
                </a:moveTo>
                <a:lnTo>
                  <a:pt x="9" y="8"/>
                </a:lnTo>
                <a:lnTo>
                  <a:pt x="20" y="18"/>
                </a:lnTo>
                <a:lnTo>
                  <a:pt x="34" y="28"/>
                </a:lnTo>
                <a:lnTo>
                  <a:pt x="42" y="33"/>
                </a:lnTo>
                <a:lnTo>
                  <a:pt x="50" y="38"/>
                </a:lnTo>
                <a:lnTo>
                  <a:pt x="56" y="40"/>
                </a:lnTo>
                <a:lnTo>
                  <a:pt x="63" y="44"/>
                </a:lnTo>
                <a:lnTo>
                  <a:pt x="69" y="46"/>
                </a:lnTo>
                <a:lnTo>
                  <a:pt x="76" y="50"/>
                </a:lnTo>
                <a:lnTo>
                  <a:pt x="81" y="50"/>
                </a:lnTo>
                <a:lnTo>
                  <a:pt x="84" y="50"/>
                </a:lnTo>
                <a:lnTo>
                  <a:pt x="85" y="50"/>
                </a:lnTo>
                <a:lnTo>
                  <a:pt x="87" y="51"/>
                </a:lnTo>
                <a:lnTo>
                  <a:pt x="92" y="51"/>
                </a:lnTo>
                <a:lnTo>
                  <a:pt x="98" y="51"/>
                </a:lnTo>
                <a:lnTo>
                  <a:pt x="108" y="48"/>
                </a:lnTo>
                <a:lnTo>
                  <a:pt x="117" y="43"/>
                </a:lnTo>
              </a:path>
            </a:pathLst>
          </a:custGeom>
          <a:noFill/>
          <a:ln w="0">
            <a:solidFill>
              <a:srgbClr val="59595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38" name="Line 114">
            <a:extLst>
              <a:ext uri="{FF2B5EF4-FFF2-40B4-BE49-F238E27FC236}">
                <a16:creationId xmlns:a16="http://schemas.microsoft.com/office/drawing/2014/main" id="{1E7C2560-3EC0-8D3B-78B6-290FFBB2B978}"/>
              </a:ext>
            </a:extLst>
          </p:cNvPr>
          <p:cNvSpPr>
            <a:spLocks noChangeShapeType="1"/>
          </p:cNvSpPr>
          <p:nvPr/>
        </p:nvSpPr>
        <p:spPr bwMode="auto">
          <a:xfrm flipV="1">
            <a:off x="2333625" y="2922588"/>
            <a:ext cx="0" cy="4762"/>
          </a:xfrm>
          <a:prstGeom prst="line">
            <a:avLst/>
          </a:prstGeom>
          <a:noFill/>
          <a:ln w="0">
            <a:solidFill>
              <a:srgbClr val="5E5E5E"/>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39" name="Freeform 115">
            <a:extLst>
              <a:ext uri="{FF2B5EF4-FFF2-40B4-BE49-F238E27FC236}">
                <a16:creationId xmlns:a16="http://schemas.microsoft.com/office/drawing/2014/main" id="{FCB0DBE7-1F34-8C4B-E593-83FB329E39E4}"/>
              </a:ext>
            </a:extLst>
          </p:cNvPr>
          <p:cNvSpPr>
            <a:spLocks/>
          </p:cNvSpPr>
          <p:nvPr/>
        </p:nvSpPr>
        <p:spPr bwMode="auto">
          <a:xfrm>
            <a:off x="2352675" y="2908300"/>
            <a:ext cx="15875" cy="1588"/>
          </a:xfrm>
          <a:custGeom>
            <a:avLst/>
            <a:gdLst>
              <a:gd name="T0" fmla="*/ 30 w 30"/>
              <a:gd name="T1" fmla="*/ 4 h 4"/>
              <a:gd name="T2" fmla="*/ 13 w 30"/>
              <a:gd name="T3" fmla="*/ 0 h 4"/>
              <a:gd name="T4" fmla="*/ 0 w 30"/>
              <a:gd name="T5" fmla="*/ 1 h 4"/>
            </a:gdLst>
            <a:ahLst/>
            <a:cxnLst>
              <a:cxn ang="0">
                <a:pos x="T0" y="T1"/>
              </a:cxn>
              <a:cxn ang="0">
                <a:pos x="T2" y="T3"/>
              </a:cxn>
              <a:cxn ang="0">
                <a:pos x="T4" y="T5"/>
              </a:cxn>
            </a:cxnLst>
            <a:rect l="0" t="0" r="r" b="b"/>
            <a:pathLst>
              <a:path w="30" h="4">
                <a:moveTo>
                  <a:pt x="30" y="4"/>
                </a:moveTo>
                <a:lnTo>
                  <a:pt x="13" y="0"/>
                </a:lnTo>
                <a:lnTo>
                  <a:pt x="0" y="1"/>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40" name="Freeform 116">
            <a:extLst>
              <a:ext uri="{FF2B5EF4-FFF2-40B4-BE49-F238E27FC236}">
                <a16:creationId xmlns:a16="http://schemas.microsoft.com/office/drawing/2014/main" id="{2C9B37EF-6E26-5065-AA89-6C70D6CF9CCB}"/>
              </a:ext>
            </a:extLst>
          </p:cNvPr>
          <p:cNvSpPr>
            <a:spLocks/>
          </p:cNvSpPr>
          <p:nvPr/>
        </p:nvSpPr>
        <p:spPr bwMode="auto">
          <a:xfrm>
            <a:off x="2333625" y="2908300"/>
            <a:ext cx="19050" cy="14288"/>
          </a:xfrm>
          <a:custGeom>
            <a:avLst/>
            <a:gdLst>
              <a:gd name="T0" fmla="*/ 0 w 36"/>
              <a:gd name="T1" fmla="*/ 27 h 27"/>
              <a:gd name="T2" fmla="*/ 7 w 36"/>
              <a:gd name="T3" fmla="*/ 16 h 27"/>
              <a:gd name="T4" fmla="*/ 16 w 36"/>
              <a:gd name="T5" fmla="*/ 7 h 27"/>
              <a:gd name="T6" fmla="*/ 25 w 36"/>
              <a:gd name="T7" fmla="*/ 1 h 27"/>
              <a:gd name="T8" fmla="*/ 36 w 36"/>
              <a:gd name="T9" fmla="*/ 0 h 27"/>
            </a:gdLst>
            <a:ahLst/>
            <a:cxnLst>
              <a:cxn ang="0">
                <a:pos x="T0" y="T1"/>
              </a:cxn>
              <a:cxn ang="0">
                <a:pos x="T2" y="T3"/>
              </a:cxn>
              <a:cxn ang="0">
                <a:pos x="T4" y="T5"/>
              </a:cxn>
              <a:cxn ang="0">
                <a:pos x="T6" y="T7"/>
              </a:cxn>
              <a:cxn ang="0">
                <a:pos x="T8" y="T9"/>
              </a:cxn>
            </a:cxnLst>
            <a:rect l="0" t="0" r="r" b="b"/>
            <a:pathLst>
              <a:path w="36" h="27">
                <a:moveTo>
                  <a:pt x="0" y="27"/>
                </a:moveTo>
                <a:lnTo>
                  <a:pt x="7" y="16"/>
                </a:lnTo>
                <a:lnTo>
                  <a:pt x="16" y="7"/>
                </a:lnTo>
                <a:lnTo>
                  <a:pt x="25" y="1"/>
                </a:lnTo>
                <a:lnTo>
                  <a:pt x="36" y="0"/>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41" name="Line 117">
            <a:extLst>
              <a:ext uri="{FF2B5EF4-FFF2-40B4-BE49-F238E27FC236}">
                <a16:creationId xmlns:a16="http://schemas.microsoft.com/office/drawing/2014/main" id="{B79C2AE6-8C3E-DDF7-DAD0-AA966AF47EA2}"/>
              </a:ext>
            </a:extLst>
          </p:cNvPr>
          <p:cNvSpPr>
            <a:spLocks noChangeShapeType="1"/>
          </p:cNvSpPr>
          <p:nvPr/>
        </p:nvSpPr>
        <p:spPr bwMode="auto">
          <a:xfrm flipH="1" flipV="1">
            <a:off x="2349500" y="2906713"/>
            <a:ext cx="3175" cy="1587"/>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42" name="Freeform 118">
            <a:extLst>
              <a:ext uri="{FF2B5EF4-FFF2-40B4-BE49-F238E27FC236}">
                <a16:creationId xmlns:a16="http://schemas.microsoft.com/office/drawing/2014/main" id="{FBDCBF3B-E8E9-C120-875F-07536372DBE4}"/>
              </a:ext>
            </a:extLst>
          </p:cNvPr>
          <p:cNvSpPr>
            <a:spLocks/>
          </p:cNvSpPr>
          <p:nvPr/>
        </p:nvSpPr>
        <p:spPr bwMode="auto">
          <a:xfrm>
            <a:off x="2339975" y="2903538"/>
            <a:ext cx="1588" cy="1587"/>
          </a:xfrm>
          <a:custGeom>
            <a:avLst/>
            <a:gdLst>
              <a:gd name="T0" fmla="*/ 3 w 3"/>
              <a:gd name="T1" fmla="*/ 0 h 1"/>
              <a:gd name="T2" fmla="*/ 1 w 3"/>
              <a:gd name="T3" fmla="*/ 1 h 1"/>
              <a:gd name="T4" fmla="*/ 0 w 3"/>
              <a:gd name="T5" fmla="*/ 1 h 1"/>
            </a:gdLst>
            <a:ahLst/>
            <a:cxnLst>
              <a:cxn ang="0">
                <a:pos x="T0" y="T1"/>
              </a:cxn>
              <a:cxn ang="0">
                <a:pos x="T2" y="T3"/>
              </a:cxn>
              <a:cxn ang="0">
                <a:pos x="T4" y="T5"/>
              </a:cxn>
            </a:cxnLst>
            <a:rect l="0" t="0" r="r" b="b"/>
            <a:pathLst>
              <a:path w="3" h="1">
                <a:moveTo>
                  <a:pt x="3" y="0"/>
                </a:moveTo>
                <a:lnTo>
                  <a:pt x="1" y="1"/>
                </a:lnTo>
                <a:lnTo>
                  <a:pt x="0" y="1"/>
                </a:lnTo>
              </a:path>
            </a:pathLst>
          </a:custGeom>
          <a:noFill/>
          <a:ln w="0">
            <a:solidFill>
              <a:srgbClr val="EEEEEE"/>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43" name="Freeform 119">
            <a:extLst>
              <a:ext uri="{FF2B5EF4-FFF2-40B4-BE49-F238E27FC236}">
                <a16:creationId xmlns:a16="http://schemas.microsoft.com/office/drawing/2014/main" id="{EAB9F6DE-44A6-28B5-3BD8-9AE60B79D2DE}"/>
              </a:ext>
            </a:extLst>
          </p:cNvPr>
          <p:cNvSpPr>
            <a:spLocks/>
          </p:cNvSpPr>
          <p:nvPr/>
        </p:nvSpPr>
        <p:spPr bwMode="auto">
          <a:xfrm>
            <a:off x="2339975" y="2903538"/>
            <a:ext cx="6350" cy="3175"/>
          </a:xfrm>
          <a:custGeom>
            <a:avLst/>
            <a:gdLst>
              <a:gd name="T0" fmla="*/ 0 w 13"/>
              <a:gd name="T1" fmla="*/ 2 h 6"/>
              <a:gd name="T2" fmla="*/ 13 w 13"/>
              <a:gd name="T3" fmla="*/ 6 h 6"/>
              <a:gd name="T4" fmla="*/ 9 w 13"/>
              <a:gd name="T5" fmla="*/ 1 h 6"/>
              <a:gd name="T6" fmla="*/ 7 w 13"/>
              <a:gd name="T7" fmla="*/ 0 h 6"/>
              <a:gd name="T8" fmla="*/ 0 w 13"/>
              <a:gd name="T9" fmla="*/ 2 h 6"/>
            </a:gdLst>
            <a:ahLst/>
            <a:cxnLst>
              <a:cxn ang="0">
                <a:pos x="T0" y="T1"/>
              </a:cxn>
              <a:cxn ang="0">
                <a:pos x="T2" y="T3"/>
              </a:cxn>
              <a:cxn ang="0">
                <a:pos x="T4" y="T5"/>
              </a:cxn>
              <a:cxn ang="0">
                <a:pos x="T6" y="T7"/>
              </a:cxn>
              <a:cxn ang="0">
                <a:pos x="T8" y="T9"/>
              </a:cxn>
            </a:cxnLst>
            <a:rect l="0" t="0" r="r" b="b"/>
            <a:pathLst>
              <a:path w="13" h="6">
                <a:moveTo>
                  <a:pt x="0" y="2"/>
                </a:moveTo>
                <a:lnTo>
                  <a:pt x="13" y="6"/>
                </a:lnTo>
                <a:lnTo>
                  <a:pt x="9" y="1"/>
                </a:lnTo>
                <a:lnTo>
                  <a:pt x="7" y="0"/>
                </a:lnTo>
                <a:lnTo>
                  <a:pt x="0" y="2"/>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44" name="Freeform 120">
            <a:extLst>
              <a:ext uri="{FF2B5EF4-FFF2-40B4-BE49-F238E27FC236}">
                <a16:creationId xmlns:a16="http://schemas.microsoft.com/office/drawing/2014/main" id="{A6E8E8A3-1EB3-69DF-578E-EFF432E71B42}"/>
              </a:ext>
            </a:extLst>
          </p:cNvPr>
          <p:cNvSpPr>
            <a:spLocks/>
          </p:cNvSpPr>
          <p:nvPr/>
        </p:nvSpPr>
        <p:spPr bwMode="auto">
          <a:xfrm>
            <a:off x="2339975" y="2903538"/>
            <a:ext cx="9525" cy="3175"/>
          </a:xfrm>
          <a:custGeom>
            <a:avLst/>
            <a:gdLst>
              <a:gd name="T0" fmla="*/ 0 w 17"/>
              <a:gd name="T1" fmla="*/ 3 h 7"/>
              <a:gd name="T2" fmla="*/ 7 w 17"/>
              <a:gd name="T3" fmla="*/ 1 h 7"/>
              <a:gd name="T4" fmla="*/ 9 w 17"/>
              <a:gd name="T5" fmla="*/ 2 h 7"/>
              <a:gd name="T6" fmla="*/ 13 w 17"/>
              <a:gd name="T7" fmla="*/ 7 h 7"/>
              <a:gd name="T8" fmla="*/ 15 w 17"/>
              <a:gd name="T9" fmla="*/ 6 h 7"/>
              <a:gd name="T10" fmla="*/ 17 w 17"/>
              <a:gd name="T11" fmla="*/ 6 h 7"/>
              <a:gd name="T12" fmla="*/ 12 w 17"/>
              <a:gd name="T13" fmla="*/ 1 h 7"/>
              <a:gd name="T14" fmla="*/ 8 w 17"/>
              <a:gd name="T15" fmla="*/ 0 h 7"/>
              <a:gd name="T16" fmla="*/ 0 w 17"/>
              <a:gd name="T17" fmla="*/ 3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7">
                <a:moveTo>
                  <a:pt x="0" y="3"/>
                </a:moveTo>
                <a:lnTo>
                  <a:pt x="7" y="1"/>
                </a:lnTo>
                <a:lnTo>
                  <a:pt x="9" y="2"/>
                </a:lnTo>
                <a:lnTo>
                  <a:pt x="13" y="7"/>
                </a:lnTo>
                <a:lnTo>
                  <a:pt x="15" y="6"/>
                </a:lnTo>
                <a:lnTo>
                  <a:pt x="17" y="6"/>
                </a:lnTo>
                <a:lnTo>
                  <a:pt x="12" y="1"/>
                </a:lnTo>
                <a:lnTo>
                  <a:pt x="8" y="0"/>
                </a:lnTo>
                <a:lnTo>
                  <a:pt x="0" y="3"/>
                </a:lnTo>
                <a:close/>
              </a:path>
            </a:pathLst>
          </a:custGeom>
          <a:solidFill>
            <a:srgbClr val="A6A6A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45" name="Rectangle 121">
            <a:extLst>
              <a:ext uri="{FF2B5EF4-FFF2-40B4-BE49-F238E27FC236}">
                <a16:creationId xmlns:a16="http://schemas.microsoft.com/office/drawing/2014/main" id="{18D66C40-F92F-18E5-6E7F-482B53E83FEE}"/>
              </a:ext>
            </a:extLst>
          </p:cNvPr>
          <p:cNvSpPr>
            <a:spLocks noChangeArrowheads="1"/>
          </p:cNvSpPr>
          <p:nvPr/>
        </p:nvSpPr>
        <p:spPr bwMode="auto">
          <a:xfrm>
            <a:off x="2517775" y="2422525"/>
            <a:ext cx="4111625" cy="63500"/>
          </a:xfrm>
          <a:prstGeom prst="rect">
            <a:avLst/>
          </a:prstGeom>
          <a:solidFill>
            <a:srgbClr val="FF99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3546" name="Freeform 122">
            <a:extLst>
              <a:ext uri="{FF2B5EF4-FFF2-40B4-BE49-F238E27FC236}">
                <a16:creationId xmlns:a16="http://schemas.microsoft.com/office/drawing/2014/main" id="{ED5A30DC-389A-71AA-53CB-6CC37B275694}"/>
              </a:ext>
            </a:extLst>
          </p:cNvPr>
          <p:cNvSpPr>
            <a:spLocks/>
          </p:cNvSpPr>
          <p:nvPr/>
        </p:nvSpPr>
        <p:spPr bwMode="auto">
          <a:xfrm>
            <a:off x="2449513" y="2362200"/>
            <a:ext cx="103187" cy="182563"/>
          </a:xfrm>
          <a:custGeom>
            <a:avLst/>
            <a:gdLst>
              <a:gd name="T0" fmla="*/ 0 w 199"/>
              <a:gd name="T1" fmla="*/ 153 h 305"/>
              <a:gd name="T2" fmla="*/ 199 w 199"/>
              <a:gd name="T3" fmla="*/ 305 h 305"/>
              <a:gd name="T4" fmla="*/ 199 w 199"/>
              <a:gd name="T5" fmla="*/ 0 h 305"/>
              <a:gd name="T6" fmla="*/ 0 w 199"/>
              <a:gd name="T7" fmla="*/ 153 h 305"/>
            </a:gdLst>
            <a:ahLst/>
            <a:cxnLst>
              <a:cxn ang="0">
                <a:pos x="T0" y="T1"/>
              </a:cxn>
              <a:cxn ang="0">
                <a:pos x="T2" y="T3"/>
              </a:cxn>
              <a:cxn ang="0">
                <a:pos x="T4" y="T5"/>
              </a:cxn>
              <a:cxn ang="0">
                <a:pos x="T6" y="T7"/>
              </a:cxn>
            </a:cxnLst>
            <a:rect l="0" t="0" r="r" b="b"/>
            <a:pathLst>
              <a:path w="199" h="305">
                <a:moveTo>
                  <a:pt x="0" y="153"/>
                </a:moveTo>
                <a:lnTo>
                  <a:pt x="199" y="305"/>
                </a:lnTo>
                <a:lnTo>
                  <a:pt x="199" y="0"/>
                </a:lnTo>
                <a:lnTo>
                  <a:pt x="0" y="153"/>
                </a:lnTo>
                <a:close/>
              </a:path>
            </a:pathLst>
          </a:custGeom>
          <a:solidFill>
            <a:srgbClr val="FF9900"/>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nvGrpSpPr>
          <p:cNvPr id="103625" name="Group 201">
            <a:extLst>
              <a:ext uri="{FF2B5EF4-FFF2-40B4-BE49-F238E27FC236}">
                <a16:creationId xmlns:a16="http://schemas.microsoft.com/office/drawing/2014/main" id="{B15DF22A-1A3D-11E8-5E1A-75DFA4DECC8A}"/>
              </a:ext>
            </a:extLst>
          </p:cNvPr>
          <p:cNvGrpSpPr>
            <a:grpSpLocks/>
          </p:cNvGrpSpPr>
          <p:nvPr/>
        </p:nvGrpSpPr>
        <p:grpSpPr bwMode="auto">
          <a:xfrm>
            <a:off x="2454275" y="2133600"/>
            <a:ext cx="4167188" cy="161925"/>
            <a:chOff x="1546" y="1355"/>
            <a:chExt cx="2625" cy="102"/>
          </a:xfrm>
        </p:grpSpPr>
        <p:sp>
          <p:nvSpPr>
            <p:cNvPr id="103547" name="Rectangle 123">
              <a:extLst>
                <a:ext uri="{FF2B5EF4-FFF2-40B4-BE49-F238E27FC236}">
                  <a16:creationId xmlns:a16="http://schemas.microsoft.com/office/drawing/2014/main" id="{A4456340-E37C-D702-44C9-A01BB7328F3D}"/>
                </a:ext>
              </a:extLst>
            </p:cNvPr>
            <p:cNvSpPr>
              <a:spLocks noChangeArrowheads="1"/>
            </p:cNvSpPr>
            <p:nvPr/>
          </p:nvSpPr>
          <p:spPr bwMode="auto">
            <a:xfrm>
              <a:off x="1546" y="1389"/>
              <a:ext cx="2582" cy="35"/>
            </a:xfrm>
            <a:prstGeom prst="rect">
              <a:avLst/>
            </a:prstGeom>
            <a:solidFill>
              <a:srgbClr val="FF99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3548" name="Freeform 124">
              <a:extLst>
                <a:ext uri="{FF2B5EF4-FFF2-40B4-BE49-F238E27FC236}">
                  <a16:creationId xmlns:a16="http://schemas.microsoft.com/office/drawing/2014/main" id="{CB4FEFB1-06AF-26A9-1DE1-C6C6C9BF45E6}"/>
                </a:ext>
              </a:extLst>
            </p:cNvPr>
            <p:cNvSpPr>
              <a:spLocks/>
            </p:cNvSpPr>
            <p:nvPr/>
          </p:nvSpPr>
          <p:spPr bwMode="auto">
            <a:xfrm>
              <a:off x="4104" y="1355"/>
              <a:ext cx="67" cy="102"/>
            </a:xfrm>
            <a:custGeom>
              <a:avLst/>
              <a:gdLst>
                <a:gd name="T0" fmla="*/ 200 w 200"/>
                <a:gd name="T1" fmla="*/ 153 h 305"/>
                <a:gd name="T2" fmla="*/ 0 w 200"/>
                <a:gd name="T3" fmla="*/ 305 h 305"/>
                <a:gd name="T4" fmla="*/ 0 w 200"/>
                <a:gd name="T5" fmla="*/ 0 h 305"/>
                <a:gd name="T6" fmla="*/ 200 w 200"/>
                <a:gd name="T7" fmla="*/ 153 h 305"/>
              </a:gdLst>
              <a:ahLst/>
              <a:cxnLst>
                <a:cxn ang="0">
                  <a:pos x="T0" y="T1"/>
                </a:cxn>
                <a:cxn ang="0">
                  <a:pos x="T2" y="T3"/>
                </a:cxn>
                <a:cxn ang="0">
                  <a:pos x="T4" y="T5"/>
                </a:cxn>
                <a:cxn ang="0">
                  <a:pos x="T6" y="T7"/>
                </a:cxn>
              </a:cxnLst>
              <a:rect l="0" t="0" r="r" b="b"/>
              <a:pathLst>
                <a:path w="200" h="305">
                  <a:moveTo>
                    <a:pt x="200" y="153"/>
                  </a:moveTo>
                  <a:lnTo>
                    <a:pt x="0" y="305"/>
                  </a:lnTo>
                  <a:lnTo>
                    <a:pt x="0" y="0"/>
                  </a:lnTo>
                  <a:lnTo>
                    <a:pt x="200" y="153"/>
                  </a:lnTo>
                  <a:close/>
                </a:path>
              </a:pathLst>
            </a:custGeom>
            <a:solidFill>
              <a:srgbClr val="FF9900"/>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sp>
        <p:nvSpPr>
          <p:cNvPr id="103550" name="Rectangle 126">
            <a:extLst>
              <a:ext uri="{FF2B5EF4-FFF2-40B4-BE49-F238E27FC236}">
                <a16:creationId xmlns:a16="http://schemas.microsoft.com/office/drawing/2014/main" id="{CB93D034-223F-5561-0FA9-47123A64974A}"/>
              </a:ext>
            </a:extLst>
          </p:cNvPr>
          <p:cNvSpPr>
            <a:spLocks noChangeArrowheads="1"/>
          </p:cNvSpPr>
          <p:nvPr/>
        </p:nvSpPr>
        <p:spPr bwMode="auto">
          <a:xfrm>
            <a:off x="3903663" y="2060575"/>
            <a:ext cx="1143000" cy="279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551" name="Rectangle 127">
            <a:extLst>
              <a:ext uri="{FF2B5EF4-FFF2-40B4-BE49-F238E27FC236}">
                <a16:creationId xmlns:a16="http://schemas.microsoft.com/office/drawing/2014/main" id="{22104BB2-D349-8597-7D41-20D06469EA34}"/>
              </a:ext>
            </a:extLst>
          </p:cNvPr>
          <p:cNvSpPr>
            <a:spLocks noChangeArrowheads="1"/>
          </p:cNvSpPr>
          <p:nvPr/>
        </p:nvSpPr>
        <p:spPr bwMode="auto">
          <a:xfrm>
            <a:off x="3979863" y="2111375"/>
            <a:ext cx="102076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ID Prrof (1)</a:t>
            </a:r>
            <a:endParaRPr lang="en-US" altLang="zh-CN" sz="1800">
              <a:solidFill>
                <a:schemeClr val="tx1"/>
              </a:solidFill>
              <a:ea typeface="宋体" panose="02010600030101010101" pitchFamily="2" charset="-122"/>
            </a:endParaRPr>
          </a:p>
        </p:txBody>
      </p:sp>
      <p:sp>
        <p:nvSpPr>
          <p:cNvPr id="103552" name="Rectangle 128">
            <a:extLst>
              <a:ext uri="{FF2B5EF4-FFF2-40B4-BE49-F238E27FC236}">
                <a16:creationId xmlns:a16="http://schemas.microsoft.com/office/drawing/2014/main" id="{3CC04AE1-BD68-9780-C9D5-090D915D4EB6}"/>
              </a:ext>
            </a:extLst>
          </p:cNvPr>
          <p:cNvSpPr>
            <a:spLocks noChangeArrowheads="1"/>
          </p:cNvSpPr>
          <p:nvPr/>
        </p:nvSpPr>
        <p:spPr bwMode="auto">
          <a:xfrm>
            <a:off x="2459038" y="2674938"/>
            <a:ext cx="4103687" cy="74612"/>
          </a:xfrm>
          <a:prstGeom prst="rect">
            <a:avLst/>
          </a:prstGeom>
          <a:solidFill>
            <a:srgbClr val="FF99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3553" name="Freeform 129">
            <a:extLst>
              <a:ext uri="{FF2B5EF4-FFF2-40B4-BE49-F238E27FC236}">
                <a16:creationId xmlns:a16="http://schemas.microsoft.com/office/drawing/2014/main" id="{5047C1FE-7EF2-6C83-692C-3C703B20B5E0}"/>
              </a:ext>
            </a:extLst>
          </p:cNvPr>
          <p:cNvSpPr>
            <a:spLocks/>
          </p:cNvSpPr>
          <p:nvPr/>
        </p:nvSpPr>
        <p:spPr bwMode="auto">
          <a:xfrm>
            <a:off x="6526213" y="2603500"/>
            <a:ext cx="103187" cy="215900"/>
          </a:xfrm>
          <a:custGeom>
            <a:avLst/>
            <a:gdLst>
              <a:gd name="T0" fmla="*/ 200 w 200"/>
              <a:gd name="T1" fmla="*/ 153 h 305"/>
              <a:gd name="T2" fmla="*/ 0 w 200"/>
              <a:gd name="T3" fmla="*/ 305 h 305"/>
              <a:gd name="T4" fmla="*/ 0 w 200"/>
              <a:gd name="T5" fmla="*/ 0 h 305"/>
              <a:gd name="T6" fmla="*/ 200 w 200"/>
              <a:gd name="T7" fmla="*/ 153 h 305"/>
            </a:gdLst>
            <a:ahLst/>
            <a:cxnLst>
              <a:cxn ang="0">
                <a:pos x="T0" y="T1"/>
              </a:cxn>
              <a:cxn ang="0">
                <a:pos x="T2" y="T3"/>
              </a:cxn>
              <a:cxn ang="0">
                <a:pos x="T4" y="T5"/>
              </a:cxn>
              <a:cxn ang="0">
                <a:pos x="T6" y="T7"/>
              </a:cxn>
            </a:cxnLst>
            <a:rect l="0" t="0" r="r" b="b"/>
            <a:pathLst>
              <a:path w="200" h="305">
                <a:moveTo>
                  <a:pt x="200" y="153"/>
                </a:moveTo>
                <a:lnTo>
                  <a:pt x="0" y="305"/>
                </a:lnTo>
                <a:lnTo>
                  <a:pt x="0" y="0"/>
                </a:lnTo>
                <a:lnTo>
                  <a:pt x="200" y="153"/>
                </a:lnTo>
                <a:close/>
              </a:path>
            </a:pathLst>
          </a:custGeom>
          <a:solidFill>
            <a:srgbClr val="FF9900"/>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3554" name="Rectangle 130">
            <a:extLst>
              <a:ext uri="{FF2B5EF4-FFF2-40B4-BE49-F238E27FC236}">
                <a16:creationId xmlns:a16="http://schemas.microsoft.com/office/drawing/2014/main" id="{3D7D18A6-003B-A5F3-60DA-49E2899A3E2D}"/>
              </a:ext>
            </a:extLst>
          </p:cNvPr>
          <p:cNvSpPr>
            <a:spLocks noChangeArrowheads="1"/>
          </p:cNvSpPr>
          <p:nvPr/>
        </p:nvSpPr>
        <p:spPr bwMode="auto">
          <a:xfrm>
            <a:off x="3408363" y="2517775"/>
            <a:ext cx="2133600" cy="279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03555" name="Rectangle 131">
            <a:extLst>
              <a:ext uri="{FF2B5EF4-FFF2-40B4-BE49-F238E27FC236}">
                <a16:creationId xmlns:a16="http://schemas.microsoft.com/office/drawing/2014/main" id="{10D85779-5152-83C4-08F5-331965A5B9C1}"/>
              </a:ext>
            </a:extLst>
          </p:cNvPr>
          <p:cNvSpPr>
            <a:spLocks noChangeArrowheads="1"/>
          </p:cNvSpPr>
          <p:nvPr/>
        </p:nvSpPr>
        <p:spPr bwMode="auto">
          <a:xfrm>
            <a:off x="3473450" y="2568575"/>
            <a:ext cx="19796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TGT + Server name (3)</a:t>
            </a:r>
            <a:endParaRPr lang="en-US" altLang="zh-CN" sz="1800">
              <a:solidFill>
                <a:schemeClr val="tx1"/>
              </a:solidFill>
              <a:ea typeface="宋体" panose="02010600030101010101" pitchFamily="2" charset="-122"/>
            </a:endParaRPr>
          </a:p>
        </p:txBody>
      </p:sp>
      <p:sp>
        <p:nvSpPr>
          <p:cNvPr id="103556" name="Freeform 132">
            <a:extLst>
              <a:ext uri="{FF2B5EF4-FFF2-40B4-BE49-F238E27FC236}">
                <a16:creationId xmlns:a16="http://schemas.microsoft.com/office/drawing/2014/main" id="{DA96CA5C-BB71-EE4D-CCE3-24E6E6587EBE}"/>
              </a:ext>
            </a:extLst>
          </p:cNvPr>
          <p:cNvSpPr>
            <a:spLocks/>
          </p:cNvSpPr>
          <p:nvPr/>
        </p:nvSpPr>
        <p:spPr bwMode="auto">
          <a:xfrm>
            <a:off x="4062413" y="2301875"/>
            <a:ext cx="825500" cy="279400"/>
          </a:xfrm>
          <a:custGeom>
            <a:avLst/>
            <a:gdLst>
              <a:gd name="T0" fmla="*/ 72 w 1560"/>
              <a:gd name="T1" fmla="*/ 480 h 528"/>
              <a:gd name="T2" fmla="*/ 0 w 1560"/>
              <a:gd name="T3" fmla="*/ 480 h 528"/>
              <a:gd name="T4" fmla="*/ 0 w 1560"/>
              <a:gd name="T5" fmla="*/ 528 h 528"/>
              <a:gd name="T6" fmla="*/ 1560 w 1560"/>
              <a:gd name="T7" fmla="*/ 528 h 528"/>
              <a:gd name="T8" fmla="*/ 1560 w 1560"/>
              <a:gd name="T9" fmla="*/ 0 h 528"/>
              <a:gd name="T10" fmla="*/ 72 w 1560"/>
              <a:gd name="T11" fmla="*/ 0 h 528"/>
              <a:gd name="T12" fmla="*/ 72 w 1560"/>
              <a:gd name="T13" fmla="*/ 480 h 528"/>
            </a:gdLst>
            <a:ahLst/>
            <a:cxnLst>
              <a:cxn ang="0">
                <a:pos x="T0" y="T1"/>
              </a:cxn>
              <a:cxn ang="0">
                <a:pos x="T2" y="T3"/>
              </a:cxn>
              <a:cxn ang="0">
                <a:pos x="T4" y="T5"/>
              </a:cxn>
              <a:cxn ang="0">
                <a:pos x="T6" y="T7"/>
              </a:cxn>
              <a:cxn ang="0">
                <a:pos x="T8" y="T9"/>
              </a:cxn>
              <a:cxn ang="0">
                <a:pos x="T10" y="T11"/>
              </a:cxn>
              <a:cxn ang="0">
                <a:pos x="T12" y="T13"/>
              </a:cxn>
            </a:cxnLst>
            <a:rect l="0" t="0" r="r" b="b"/>
            <a:pathLst>
              <a:path w="1560" h="528">
                <a:moveTo>
                  <a:pt x="72" y="480"/>
                </a:moveTo>
                <a:lnTo>
                  <a:pt x="0" y="480"/>
                </a:lnTo>
                <a:lnTo>
                  <a:pt x="0" y="528"/>
                </a:lnTo>
                <a:lnTo>
                  <a:pt x="1560" y="528"/>
                </a:lnTo>
                <a:lnTo>
                  <a:pt x="1560" y="0"/>
                </a:lnTo>
                <a:lnTo>
                  <a:pt x="72" y="0"/>
                </a:lnTo>
                <a:lnTo>
                  <a:pt x="72" y="4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57" name="Rectangle 133">
            <a:extLst>
              <a:ext uri="{FF2B5EF4-FFF2-40B4-BE49-F238E27FC236}">
                <a16:creationId xmlns:a16="http://schemas.microsoft.com/office/drawing/2014/main" id="{8FAE5914-C0CD-216B-24F6-597468035A2B}"/>
              </a:ext>
            </a:extLst>
          </p:cNvPr>
          <p:cNvSpPr>
            <a:spLocks noChangeArrowheads="1"/>
          </p:cNvSpPr>
          <p:nvPr/>
        </p:nvSpPr>
        <p:spPr bwMode="auto">
          <a:xfrm>
            <a:off x="4152900" y="2352675"/>
            <a:ext cx="6556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TGT (2)</a:t>
            </a:r>
            <a:endParaRPr lang="en-US" altLang="zh-CN" sz="1800">
              <a:solidFill>
                <a:schemeClr val="tx1"/>
              </a:solidFill>
              <a:ea typeface="宋体" panose="02010600030101010101" pitchFamily="2" charset="-122"/>
            </a:endParaRPr>
          </a:p>
        </p:txBody>
      </p:sp>
      <p:sp>
        <p:nvSpPr>
          <p:cNvPr id="103558" name="Rectangle 134">
            <a:extLst>
              <a:ext uri="{FF2B5EF4-FFF2-40B4-BE49-F238E27FC236}">
                <a16:creationId xmlns:a16="http://schemas.microsoft.com/office/drawing/2014/main" id="{8CDB07A6-9D53-9772-6C5E-783470A6DB7C}"/>
              </a:ext>
            </a:extLst>
          </p:cNvPr>
          <p:cNvSpPr>
            <a:spLocks noChangeArrowheads="1"/>
          </p:cNvSpPr>
          <p:nvPr/>
        </p:nvSpPr>
        <p:spPr bwMode="auto">
          <a:xfrm>
            <a:off x="2524125" y="2898775"/>
            <a:ext cx="4105275" cy="76200"/>
          </a:xfrm>
          <a:prstGeom prst="rect">
            <a:avLst/>
          </a:prstGeom>
          <a:solidFill>
            <a:srgbClr val="FF99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3559" name="Freeform 135">
            <a:extLst>
              <a:ext uri="{FF2B5EF4-FFF2-40B4-BE49-F238E27FC236}">
                <a16:creationId xmlns:a16="http://schemas.microsoft.com/office/drawing/2014/main" id="{EF03C795-4714-9129-FE12-7979B8D0E8EA}"/>
              </a:ext>
            </a:extLst>
          </p:cNvPr>
          <p:cNvSpPr>
            <a:spLocks/>
          </p:cNvSpPr>
          <p:nvPr/>
        </p:nvSpPr>
        <p:spPr bwMode="auto">
          <a:xfrm>
            <a:off x="2422525" y="2824163"/>
            <a:ext cx="106363" cy="223837"/>
          </a:xfrm>
          <a:custGeom>
            <a:avLst/>
            <a:gdLst>
              <a:gd name="T0" fmla="*/ 0 w 199"/>
              <a:gd name="T1" fmla="*/ 153 h 305"/>
              <a:gd name="T2" fmla="*/ 199 w 199"/>
              <a:gd name="T3" fmla="*/ 305 h 305"/>
              <a:gd name="T4" fmla="*/ 199 w 199"/>
              <a:gd name="T5" fmla="*/ 0 h 305"/>
              <a:gd name="T6" fmla="*/ 0 w 199"/>
              <a:gd name="T7" fmla="*/ 153 h 305"/>
            </a:gdLst>
            <a:ahLst/>
            <a:cxnLst>
              <a:cxn ang="0">
                <a:pos x="T0" y="T1"/>
              </a:cxn>
              <a:cxn ang="0">
                <a:pos x="T2" y="T3"/>
              </a:cxn>
              <a:cxn ang="0">
                <a:pos x="T4" y="T5"/>
              </a:cxn>
              <a:cxn ang="0">
                <a:pos x="T6" y="T7"/>
              </a:cxn>
            </a:cxnLst>
            <a:rect l="0" t="0" r="r" b="b"/>
            <a:pathLst>
              <a:path w="199" h="305">
                <a:moveTo>
                  <a:pt x="0" y="153"/>
                </a:moveTo>
                <a:lnTo>
                  <a:pt x="199" y="305"/>
                </a:lnTo>
                <a:lnTo>
                  <a:pt x="199" y="0"/>
                </a:lnTo>
                <a:lnTo>
                  <a:pt x="0" y="153"/>
                </a:lnTo>
                <a:close/>
              </a:path>
            </a:pathLst>
          </a:custGeom>
          <a:solidFill>
            <a:srgbClr val="FF9900"/>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3560" name="Freeform 136">
            <a:extLst>
              <a:ext uri="{FF2B5EF4-FFF2-40B4-BE49-F238E27FC236}">
                <a16:creationId xmlns:a16="http://schemas.microsoft.com/office/drawing/2014/main" id="{C47244D3-A332-1285-3470-711C33DFF969}"/>
              </a:ext>
            </a:extLst>
          </p:cNvPr>
          <p:cNvSpPr>
            <a:spLocks/>
          </p:cNvSpPr>
          <p:nvPr/>
        </p:nvSpPr>
        <p:spPr bwMode="auto">
          <a:xfrm>
            <a:off x="3433763" y="2759075"/>
            <a:ext cx="2082800" cy="279400"/>
          </a:xfrm>
          <a:custGeom>
            <a:avLst/>
            <a:gdLst>
              <a:gd name="T0" fmla="*/ 3936 w 3936"/>
              <a:gd name="T1" fmla="*/ 528 h 528"/>
              <a:gd name="T2" fmla="*/ 3936 w 3936"/>
              <a:gd name="T3" fmla="*/ 0 h 528"/>
              <a:gd name="T4" fmla="*/ 72 w 3936"/>
              <a:gd name="T5" fmla="*/ 0 h 528"/>
              <a:gd name="T6" fmla="*/ 72 w 3936"/>
              <a:gd name="T7" fmla="*/ 480 h 528"/>
              <a:gd name="T8" fmla="*/ 0 w 3936"/>
              <a:gd name="T9" fmla="*/ 480 h 528"/>
              <a:gd name="T10" fmla="*/ 0 w 3936"/>
              <a:gd name="T11" fmla="*/ 528 h 528"/>
              <a:gd name="T12" fmla="*/ 3936 w 3936"/>
              <a:gd name="T13" fmla="*/ 528 h 528"/>
            </a:gdLst>
            <a:ahLst/>
            <a:cxnLst>
              <a:cxn ang="0">
                <a:pos x="T0" y="T1"/>
              </a:cxn>
              <a:cxn ang="0">
                <a:pos x="T2" y="T3"/>
              </a:cxn>
              <a:cxn ang="0">
                <a:pos x="T4" y="T5"/>
              </a:cxn>
              <a:cxn ang="0">
                <a:pos x="T6" y="T7"/>
              </a:cxn>
              <a:cxn ang="0">
                <a:pos x="T8" y="T9"/>
              </a:cxn>
              <a:cxn ang="0">
                <a:pos x="T10" y="T11"/>
              </a:cxn>
              <a:cxn ang="0">
                <a:pos x="T12" y="T13"/>
              </a:cxn>
            </a:cxnLst>
            <a:rect l="0" t="0" r="r" b="b"/>
            <a:pathLst>
              <a:path w="3936" h="528">
                <a:moveTo>
                  <a:pt x="3936" y="528"/>
                </a:moveTo>
                <a:lnTo>
                  <a:pt x="3936" y="0"/>
                </a:lnTo>
                <a:lnTo>
                  <a:pt x="72" y="0"/>
                </a:lnTo>
                <a:lnTo>
                  <a:pt x="72" y="480"/>
                </a:lnTo>
                <a:lnTo>
                  <a:pt x="0" y="480"/>
                </a:lnTo>
                <a:lnTo>
                  <a:pt x="0" y="528"/>
                </a:lnTo>
                <a:lnTo>
                  <a:pt x="3936" y="5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61" name="Rectangle 137">
            <a:extLst>
              <a:ext uri="{FF2B5EF4-FFF2-40B4-BE49-F238E27FC236}">
                <a16:creationId xmlns:a16="http://schemas.microsoft.com/office/drawing/2014/main" id="{62EE2158-475E-0F39-E06B-E62E15B9BCA9}"/>
              </a:ext>
            </a:extLst>
          </p:cNvPr>
          <p:cNvSpPr>
            <a:spLocks noChangeArrowheads="1"/>
          </p:cNvSpPr>
          <p:nvPr/>
        </p:nvSpPr>
        <p:spPr bwMode="auto">
          <a:xfrm>
            <a:off x="3517900" y="2822575"/>
            <a:ext cx="19399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KerbC (KerbS TKT) (5)</a:t>
            </a:r>
            <a:endParaRPr lang="en-US" altLang="zh-CN" sz="1800">
              <a:solidFill>
                <a:schemeClr val="tx1"/>
              </a:solidFill>
              <a:ea typeface="宋体" panose="02010600030101010101" pitchFamily="2" charset="-122"/>
            </a:endParaRPr>
          </a:p>
        </p:txBody>
      </p:sp>
      <p:sp>
        <p:nvSpPr>
          <p:cNvPr id="103562" name="Rectangle 138">
            <a:extLst>
              <a:ext uri="{FF2B5EF4-FFF2-40B4-BE49-F238E27FC236}">
                <a16:creationId xmlns:a16="http://schemas.microsoft.com/office/drawing/2014/main" id="{6B310A33-245B-3824-59FA-25216F609767}"/>
              </a:ext>
            </a:extLst>
          </p:cNvPr>
          <p:cNvSpPr>
            <a:spLocks noChangeArrowheads="1"/>
          </p:cNvSpPr>
          <p:nvPr/>
        </p:nvSpPr>
        <p:spPr bwMode="auto">
          <a:xfrm>
            <a:off x="6869113" y="4892675"/>
            <a:ext cx="5302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Active</a:t>
            </a:r>
            <a:endParaRPr lang="en-US" altLang="zh-CN" sz="1800">
              <a:solidFill>
                <a:schemeClr val="tx1"/>
              </a:solidFill>
              <a:ea typeface="宋体" panose="02010600030101010101" pitchFamily="2" charset="-122"/>
            </a:endParaRPr>
          </a:p>
        </p:txBody>
      </p:sp>
      <p:sp>
        <p:nvSpPr>
          <p:cNvPr id="103563" name="Rectangle 139">
            <a:extLst>
              <a:ext uri="{FF2B5EF4-FFF2-40B4-BE49-F238E27FC236}">
                <a16:creationId xmlns:a16="http://schemas.microsoft.com/office/drawing/2014/main" id="{F2E54068-82B1-1DB7-2304-07CF9456B537}"/>
              </a:ext>
            </a:extLst>
          </p:cNvPr>
          <p:cNvSpPr>
            <a:spLocks noChangeArrowheads="1"/>
          </p:cNvSpPr>
          <p:nvPr/>
        </p:nvSpPr>
        <p:spPr bwMode="auto">
          <a:xfrm>
            <a:off x="6737350" y="5102225"/>
            <a:ext cx="7953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Directory</a:t>
            </a:r>
            <a:endParaRPr lang="en-US" altLang="zh-CN" sz="1800">
              <a:solidFill>
                <a:schemeClr val="tx1"/>
              </a:solidFill>
              <a:ea typeface="宋体" panose="02010600030101010101" pitchFamily="2" charset="-122"/>
            </a:endParaRPr>
          </a:p>
        </p:txBody>
      </p:sp>
      <p:grpSp>
        <p:nvGrpSpPr>
          <p:cNvPr id="103631" name="Group 207">
            <a:extLst>
              <a:ext uri="{FF2B5EF4-FFF2-40B4-BE49-F238E27FC236}">
                <a16:creationId xmlns:a16="http://schemas.microsoft.com/office/drawing/2014/main" id="{EF58300E-DB33-5783-FDD5-E8F5C555A863}"/>
              </a:ext>
            </a:extLst>
          </p:cNvPr>
          <p:cNvGrpSpPr>
            <a:grpSpLocks/>
          </p:cNvGrpSpPr>
          <p:nvPr/>
        </p:nvGrpSpPr>
        <p:grpSpPr bwMode="auto">
          <a:xfrm>
            <a:off x="7059613" y="3436938"/>
            <a:ext cx="161925" cy="1277937"/>
            <a:chOff x="4447" y="2165"/>
            <a:chExt cx="102" cy="805"/>
          </a:xfrm>
        </p:grpSpPr>
        <p:sp>
          <p:nvSpPr>
            <p:cNvPr id="103564" name="Rectangle 140">
              <a:extLst>
                <a:ext uri="{FF2B5EF4-FFF2-40B4-BE49-F238E27FC236}">
                  <a16:creationId xmlns:a16="http://schemas.microsoft.com/office/drawing/2014/main" id="{D19868B0-8ECD-FC63-429E-721CB11BB54F}"/>
                </a:ext>
              </a:extLst>
            </p:cNvPr>
            <p:cNvSpPr>
              <a:spLocks noChangeArrowheads="1"/>
            </p:cNvSpPr>
            <p:nvPr/>
          </p:nvSpPr>
          <p:spPr bwMode="auto">
            <a:xfrm>
              <a:off x="4478" y="2165"/>
              <a:ext cx="35" cy="738"/>
            </a:xfrm>
            <a:prstGeom prst="rect">
              <a:avLst/>
            </a:prstGeom>
            <a:solidFill>
              <a:srgbClr val="FF99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3565" name="Freeform 141">
              <a:extLst>
                <a:ext uri="{FF2B5EF4-FFF2-40B4-BE49-F238E27FC236}">
                  <a16:creationId xmlns:a16="http://schemas.microsoft.com/office/drawing/2014/main" id="{F5E3BE18-96D9-0535-D815-2B4E682EB241}"/>
                </a:ext>
              </a:extLst>
            </p:cNvPr>
            <p:cNvSpPr>
              <a:spLocks/>
            </p:cNvSpPr>
            <p:nvPr/>
          </p:nvSpPr>
          <p:spPr bwMode="auto">
            <a:xfrm>
              <a:off x="4447" y="2903"/>
              <a:ext cx="102" cy="67"/>
            </a:xfrm>
            <a:custGeom>
              <a:avLst/>
              <a:gdLst>
                <a:gd name="T0" fmla="*/ 153 w 305"/>
                <a:gd name="T1" fmla="*/ 199 h 199"/>
                <a:gd name="T2" fmla="*/ 305 w 305"/>
                <a:gd name="T3" fmla="*/ 0 h 199"/>
                <a:gd name="T4" fmla="*/ 0 w 305"/>
                <a:gd name="T5" fmla="*/ 0 h 199"/>
                <a:gd name="T6" fmla="*/ 153 w 305"/>
                <a:gd name="T7" fmla="*/ 199 h 199"/>
              </a:gdLst>
              <a:ahLst/>
              <a:cxnLst>
                <a:cxn ang="0">
                  <a:pos x="T0" y="T1"/>
                </a:cxn>
                <a:cxn ang="0">
                  <a:pos x="T2" y="T3"/>
                </a:cxn>
                <a:cxn ang="0">
                  <a:pos x="T4" y="T5"/>
                </a:cxn>
                <a:cxn ang="0">
                  <a:pos x="T6" y="T7"/>
                </a:cxn>
              </a:cxnLst>
              <a:rect l="0" t="0" r="r" b="b"/>
              <a:pathLst>
                <a:path w="305" h="199">
                  <a:moveTo>
                    <a:pt x="153" y="199"/>
                  </a:moveTo>
                  <a:lnTo>
                    <a:pt x="305" y="0"/>
                  </a:lnTo>
                  <a:lnTo>
                    <a:pt x="0" y="0"/>
                  </a:lnTo>
                  <a:lnTo>
                    <a:pt x="153" y="199"/>
                  </a:lnTo>
                  <a:close/>
                </a:path>
              </a:pathLst>
            </a:custGeom>
            <a:solidFill>
              <a:srgbClr val="FF9900"/>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sp>
        <p:nvSpPr>
          <p:cNvPr id="103566" name="Rectangle 142">
            <a:extLst>
              <a:ext uri="{FF2B5EF4-FFF2-40B4-BE49-F238E27FC236}">
                <a16:creationId xmlns:a16="http://schemas.microsoft.com/office/drawing/2014/main" id="{B3373C8B-5446-11DC-FF28-FEF967271DE0}"/>
              </a:ext>
            </a:extLst>
          </p:cNvPr>
          <p:cNvSpPr>
            <a:spLocks noChangeArrowheads="1"/>
          </p:cNvSpPr>
          <p:nvPr/>
        </p:nvSpPr>
        <p:spPr bwMode="auto">
          <a:xfrm>
            <a:off x="7189788" y="3622675"/>
            <a:ext cx="2730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(4)</a:t>
            </a:r>
            <a:endParaRPr lang="en-US" altLang="zh-CN" sz="1800">
              <a:solidFill>
                <a:schemeClr val="tx1"/>
              </a:solidFill>
              <a:ea typeface="宋体" panose="02010600030101010101" pitchFamily="2" charset="-122"/>
            </a:endParaRPr>
          </a:p>
        </p:txBody>
      </p:sp>
      <p:sp>
        <p:nvSpPr>
          <p:cNvPr id="103567" name="Freeform 143">
            <a:extLst>
              <a:ext uri="{FF2B5EF4-FFF2-40B4-BE49-F238E27FC236}">
                <a16:creationId xmlns:a16="http://schemas.microsoft.com/office/drawing/2014/main" id="{84D79E6A-49E8-4588-BD65-9E5207F95C1A}"/>
              </a:ext>
            </a:extLst>
          </p:cNvPr>
          <p:cNvSpPr>
            <a:spLocks/>
          </p:cNvSpPr>
          <p:nvPr/>
        </p:nvSpPr>
        <p:spPr bwMode="auto">
          <a:xfrm>
            <a:off x="1611313" y="4244975"/>
            <a:ext cx="3378200" cy="1143000"/>
          </a:xfrm>
          <a:custGeom>
            <a:avLst/>
            <a:gdLst>
              <a:gd name="T0" fmla="*/ 6382 w 6382"/>
              <a:gd name="T1" fmla="*/ 192 h 2161"/>
              <a:gd name="T2" fmla="*/ 6378 w 6382"/>
              <a:gd name="T3" fmla="*/ 147 h 2161"/>
              <a:gd name="T4" fmla="*/ 6370 w 6382"/>
              <a:gd name="T5" fmla="*/ 108 h 2161"/>
              <a:gd name="T6" fmla="*/ 6354 w 6382"/>
              <a:gd name="T7" fmla="*/ 75 h 2161"/>
              <a:gd name="T8" fmla="*/ 6334 w 6382"/>
              <a:gd name="T9" fmla="*/ 48 h 2161"/>
              <a:gd name="T10" fmla="*/ 6306 w 6382"/>
              <a:gd name="T11" fmla="*/ 27 h 2161"/>
              <a:gd name="T12" fmla="*/ 6274 w 6382"/>
              <a:gd name="T13" fmla="*/ 12 h 2161"/>
              <a:gd name="T14" fmla="*/ 6234 w 6382"/>
              <a:gd name="T15" fmla="*/ 3 h 2161"/>
              <a:gd name="T16" fmla="*/ 6190 w 6382"/>
              <a:gd name="T17" fmla="*/ 0 h 2161"/>
              <a:gd name="T18" fmla="*/ 5087 w 6382"/>
              <a:gd name="T19" fmla="*/ 0 h 2161"/>
              <a:gd name="T20" fmla="*/ 192 w 6382"/>
              <a:gd name="T21" fmla="*/ 0 h 2161"/>
              <a:gd name="T22" fmla="*/ 146 w 6382"/>
              <a:gd name="T23" fmla="*/ 3 h 2161"/>
              <a:gd name="T24" fmla="*/ 108 w 6382"/>
              <a:gd name="T25" fmla="*/ 12 h 2161"/>
              <a:gd name="T26" fmla="*/ 74 w 6382"/>
              <a:gd name="T27" fmla="*/ 27 h 2161"/>
              <a:gd name="T28" fmla="*/ 48 w 6382"/>
              <a:gd name="T29" fmla="*/ 48 h 2161"/>
              <a:gd name="T30" fmla="*/ 26 w 6382"/>
              <a:gd name="T31" fmla="*/ 75 h 2161"/>
              <a:gd name="T32" fmla="*/ 12 w 6382"/>
              <a:gd name="T33" fmla="*/ 108 h 2161"/>
              <a:gd name="T34" fmla="*/ 2 w 6382"/>
              <a:gd name="T35" fmla="*/ 147 h 2161"/>
              <a:gd name="T36" fmla="*/ 0 w 6382"/>
              <a:gd name="T37" fmla="*/ 192 h 2161"/>
              <a:gd name="T38" fmla="*/ 0 w 6382"/>
              <a:gd name="T39" fmla="*/ 1991 h 2161"/>
              <a:gd name="T40" fmla="*/ 6 w 6382"/>
              <a:gd name="T41" fmla="*/ 2033 h 2161"/>
              <a:gd name="T42" fmla="*/ 18 w 6382"/>
              <a:gd name="T43" fmla="*/ 2069 h 2161"/>
              <a:gd name="T44" fmla="*/ 36 w 6382"/>
              <a:gd name="T45" fmla="*/ 2099 h 2161"/>
              <a:gd name="T46" fmla="*/ 60 w 6382"/>
              <a:gd name="T47" fmla="*/ 2123 h 2161"/>
              <a:gd name="T48" fmla="*/ 90 w 6382"/>
              <a:gd name="T49" fmla="*/ 2141 h 2161"/>
              <a:gd name="T50" fmla="*/ 126 w 6382"/>
              <a:gd name="T51" fmla="*/ 2153 h 2161"/>
              <a:gd name="T52" fmla="*/ 168 w 6382"/>
              <a:gd name="T53" fmla="*/ 2159 h 2161"/>
              <a:gd name="T54" fmla="*/ 3047 w 6382"/>
              <a:gd name="T55" fmla="*/ 2161 h 2161"/>
              <a:gd name="T56" fmla="*/ 6195 w 6382"/>
              <a:gd name="T57" fmla="*/ 2159 h 2161"/>
              <a:gd name="T58" fmla="*/ 6213 w 6382"/>
              <a:gd name="T59" fmla="*/ 2159 h 2161"/>
              <a:gd name="T60" fmla="*/ 6244 w 6382"/>
              <a:gd name="T61" fmla="*/ 2155 h 2161"/>
              <a:gd name="T62" fmla="*/ 6255 w 6382"/>
              <a:gd name="T63" fmla="*/ 2153 h 2161"/>
              <a:gd name="T64" fmla="*/ 6291 w 6382"/>
              <a:gd name="T65" fmla="*/ 2141 h 2161"/>
              <a:gd name="T66" fmla="*/ 6301 w 6382"/>
              <a:gd name="T67" fmla="*/ 2134 h 2161"/>
              <a:gd name="T68" fmla="*/ 6321 w 6382"/>
              <a:gd name="T69" fmla="*/ 2123 h 2161"/>
              <a:gd name="T70" fmla="*/ 6327 w 6382"/>
              <a:gd name="T71" fmla="*/ 2117 h 2161"/>
              <a:gd name="T72" fmla="*/ 6339 w 6382"/>
              <a:gd name="T73" fmla="*/ 2105 h 2161"/>
              <a:gd name="T74" fmla="*/ 6345 w 6382"/>
              <a:gd name="T75" fmla="*/ 2099 h 2161"/>
              <a:gd name="T76" fmla="*/ 6355 w 6382"/>
              <a:gd name="T77" fmla="*/ 2080 h 2161"/>
              <a:gd name="T78" fmla="*/ 6363 w 6382"/>
              <a:gd name="T79" fmla="*/ 2069 h 2161"/>
              <a:gd name="T80" fmla="*/ 6375 w 6382"/>
              <a:gd name="T81" fmla="*/ 2033 h 2161"/>
              <a:gd name="T82" fmla="*/ 6376 w 6382"/>
              <a:gd name="T83" fmla="*/ 2023 h 2161"/>
              <a:gd name="T84" fmla="*/ 6381 w 6382"/>
              <a:gd name="T85" fmla="*/ 1991 h 2161"/>
              <a:gd name="T86" fmla="*/ 6381 w 6382"/>
              <a:gd name="T87" fmla="*/ 1973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82" h="2161">
                <a:moveTo>
                  <a:pt x="6382" y="1969"/>
                </a:moveTo>
                <a:lnTo>
                  <a:pt x="6382" y="192"/>
                </a:lnTo>
                <a:lnTo>
                  <a:pt x="6381" y="168"/>
                </a:lnTo>
                <a:lnTo>
                  <a:pt x="6378" y="147"/>
                </a:lnTo>
                <a:lnTo>
                  <a:pt x="6375" y="126"/>
                </a:lnTo>
                <a:lnTo>
                  <a:pt x="6370" y="108"/>
                </a:lnTo>
                <a:lnTo>
                  <a:pt x="6363" y="90"/>
                </a:lnTo>
                <a:lnTo>
                  <a:pt x="6354" y="75"/>
                </a:lnTo>
                <a:lnTo>
                  <a:pt x="6345" y="60"/>
                </a:lnTo>
                <a:lnTo>
                  <a:pt x="6334" y="48"/>
                </a:lnTo>
                <a:lnTo>
                  <a:pt x="6321" y="36"/>
                </a:lnTo>
                <a:lnTo>
                  <a:pt x="6306" y="27"/>
                </a:lnTo>
                <a:lnTo>
                  <a:pt x="6291" y="18"/>
                </a:lnTo>
                <a:lnTo>
                  <a:pt x="6274" y="12"/>
                </a:lnTo>
                <a:lnTo>
                  <a:pt x="6255" y="6"/>
                </a:lnTo>
                <a:lnTo>
                  <a:pt x="6234" y="3"/>
                </a:lnTo>
                <a:lnTo>
                  <a:pt x="6213" y="0"/>
                </a:lnTo>
                <a:lnTo>
                  <a:pt x="6190" y="0"/>
                </a:lnTo>
                <a:lnTo>
                  <a:pt x="5567" y="0"/>
                </a:lnTo>
                <a:lnTo>
                  <a:pt x="5087" y="0"/>
                </a:lnTo>
                <a:lnTo>
                  <a:pt x="3047" y="0"/>
                </a:lnTo>
                <a:lnTo>
                  <a:pt x="192" y="0"/>
                </a:lnTo>
                <a:lnTo>
                  <a:pt x="168" y="0"/>
                </a:lnTo>
                <a:lnTo>
                  <a:pt x="146" y="3"/>
                </a:lnTo>
                <a:lnTo>
                  <a:pt x="126" y="6"/>
                </a:lnTo>
                <a:lnTo>
                  <a:pt x="108" y="12"/>
                </a:lnTo>
                <a:lnTo>
                  <a:pt x="90" y="18"/>
                </a:lnTo>
                <a:lnTo>
                  <a:pt x="74" y="27"/>
                </a:lnTo>
                <a:lnTo>
                  <a:pt x="60" y="36"/>
                </a:lnTo>
                <a:lnTo>
                  <a:pt x="48" y="48"/>
                </a:lnTo>
                <a:lnTo>
                  <a:pt x="36" y="60"/>
                </a:lnTo>
                <a:lnTo>
                  <a:pt x="26" y="75"/>
                </a:lnTo>
                <a:lnTo>
                  <a:pt x="18" y="90"/>
                </a:lnTo>
                <a:lnTo>
                  <a:pt x="12" y="108"/>
                </a:lnTo>
                <a:lnTo>
                  <a:pt x="6" y="126"/>
                </a:lnTo>
                <a:lnTo>
                  <a:pt x="2" y="147"/>
                </a:lnTo>
                <a:lnTo>
                  <a:pt x="0" y="168"/>
                </a:lnTo>
                <a:lnTo>
                  <a:pt x="0" y="192"/>
                </a:lnTo>
                <a:lnTo>
                  <a:pt x="0" y="1969"/>
                </a:lnTo>
                <a:lnTo>
                  <a:pt x="0" y="1991"/>
                </a:lnTo>
                <a:lnTo>
                  <a:pt x="2" y="2013"/>
                </a:lnTo>
                <a:lnTo>
                  <a:pt x="6" y="2033"/>
                </a:lnTo>
                <a:lnTo>
                  <a:pt x="12" y="2053"/>
                </a:lnTo>
                <a:lnTo>
                  <a:pt x="18" y="2069"/>
                </a:lnTo>
                <a:lnTo>
                  <a:pt x="26" y="2085"/>
                </a:lnTo>
                <a:lnTo>
                  <a:pt x="36" y="2099"/>
                </a:lnTo>
                <a:lnTo>
                  <a:pt x="48" y="2113"/>
                </a:lnTo>
                <a:lnTo>
                  <a:pt x="60" y="2123"/>
                </a:lnTo>
                <a:lnTo>
                  <a:pt x="74" y="2133"/>
                </a:lnTo>
                <a:lnTo>
                  <a:pt x="90" y="2141"/>
                </a:lnTo>
                <a:lnTo>
                  <a:pt x="108" y="2149"/>
                </a:lnTo>
                <a:lnTo>
                  <a:pt x="126" y="2153"/>
                </a:lnTo>
                <a:lnTo>
                  <a:pt x="146" y="2157"/>
                </a:lnTo>
                <a:lnTo>
                  <a:pt x="168" y="2159"/>
                </a:lnTo>
                <a:lnTo>
                  <a:pt x="192" y="2161"/>
                </a:lnTo>
                <a:lnTo>
                  <a:pt x="3047" y="2161"/>
                </a:lnTo>
                <a:lnTo>
                  <a:pt x="6190" y="2161"/>
                </a:lnTo>
                <a:lnTo>
                  <a:pt x="6195" y="2159"/>
                </a:lnTo>
                <a:lnTo>
                  <a:pt x="6201" y="2159"/>
                </a:lnTo>
                <a:lnTo>
                  <a:pt x="6213" y="2159"/>
                </a:lnTo>
                <a:lnTo>
                  <a:pt x="6234" y="2157"/>
                </a:lnTo>
                <a:lnTo>
                  <a:pt x="6244" y="2155"/>
                </a:lnTo>
                <a:lnTo>
                  <a:pt x="6249" y="2153"/>
                </a:lnTo>
                <a:lnTo>
                  <a:pt x="6255" y="2153"/>
                </a:lnTo>
                <a:lnTo>
                  <a:pt x="6274" y="2149"/>
                </a:lnTo>
                <a:lnTo>
                  <a:pt x="6291" y="2141"/>
                </a:lnTo>
                <a:lnTo>
                  <a:pt x="6298" y="2137"/>
                </a:lnTo>
                <a:lnTo>
                  <a:pt x="6301" y="2134"/>
                </a:lnTo>
                <a:lnTo>
                  <a:pt x="6306" y="2133"/>
                </a:lnTo>
                <a:lnTo>
                  <a:pt x="6321" y="2123"/>
                </a:lnTo>
                <a:lnTo>
                  <a:pt x="6323" y="2120"/>
                </a:lnTo>
                <a:lnTo>
                  <a:pt x="6327" y="2117"/>
                </a:lnTo>
                <a:lnTo>
                  <a:pt x="6334" y="2113"/>
                </a:lnTo>
                <a:lnTo>
                  <a:pt x="6339" y="2105"/>
                </a:lnTo>
                <a:lnTo>
                  <a:pt x="6341" y="2102"/>
                </a:lnTo>
                <a:lnTo>
                  <a:pt x="6345" y="2099"/>
                </a:lnTo>
                <a:lnTo>
                  <a:pt x="6354" y="2085"/>
                </a:lnTo>
                <a:lnTo>
                  <a:pt x="6355" y="2080"/>
                </a:lnTo>
                <a:lnTo>
                  <a:pt x="6358" y="2077"/>
                </a:lnTo>
                <a:lnTo>
                  <a:pt x="6363" y="2069"/>
                </a:lnTo>
                <a:lnTo>
                  <a:pt x="6370" y="2053"/>
                </a:lnTo>
                <a:lnTo>
                  <a:pt x="6375" y="2033"/>
                </a:lnTo>
                <a:lnTo>
                  <a:pt x="6375" y="2027"/>
                </a:lnTo>
                <a:lnTo>
                  <a:pt x="6376" y="2023"/>
                </a:lnTo>
                <a:lnTo>
                  <a:pt x="6378" y="2013"/>
                </a:lnTo>
                <a:lnTo>
                  <a:pt x="6381" y="1991"/>
                </a:lnTo>
                <a:lnTo>
                  <a:pt x="6381" y="1979"/>
                </a:lnTo>
                <a:lnTo>
                  <a:pt x="6381" y="1973"/>
                </a:lnTo>
                <a:lnTo>
                  <a:pt x="6382" y="1969"/>
                </a:lnTo>
                <a:close/>
              </a:path>
            </a:pathLst>
          </a:cu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68" name="Freeform 144">
            <a:extLst>
              <a:ext uri="{FF2B5EF4-FFF2-40B4-BE49-F238E27FC236}">
                <a16:creationId xmlns:a16="http://schemas.microsoft.com/office/drawing/2014/main" id="{9FF0A690-C14C-FA2C-8CB0-C7D5157B2E0C}"/>
              </a:ext>
            </a:extLst>
          </p:cNvPr>
          <p:cNvSpPr>
            <a:spLocks/>
          </p:cNvSpPr>
          <p:nvPr/>
        </p:nvSpPr>
        <p:spPr bwMode="auto">
          <a:xfrm>
            <a:off x="1611313" y="4244975"/>
            <a:ext cx="1612900" cy="1143000"/>
          </a:xfrm>
          <a:custGeom>
            <a:avLst/>
            <a:gdLst>
              <a:gd name="T0" fmla="*/ 3047 w 3047"/>
              <a:gd name="T1" fmla="*/ 2161 h 2161"/>
              <a:gd name="T2" fmla="*/ 192 w 3047"/>
              <a:gd name="T3" fmla="*/ 2161 h 2161"/>
              <a:gd name="T4" fmla="*/ 168 w 3047"/>
              <a:gd name="T5" fmla="*/ 2159 h 2161"/>
              <a:gd name="T6" fmla="*/ 146 w 3047"/>
              <a:gd name="T7" fmla="*/ 2157 h 2161"/>
              <a:gd name="T8" fmla="*/ 126 w 3047"/>
              <a:gd name="T9" fmla="*/ 2153 h 2161"/>
              <a:gd name="T10" fmla="*/ 108 w 3047"/>
              <a:gd name="T11" fmla="*/ 2149 h 2161"/>
              <a:gd name="T12" fmla="*/ 90 w 3047"/>
              <a:gd name="T13" fmla="*/ 2141 h 2161"/>
              <a:gd name="T14" fmla="*/ 74 w 3047"/>
              <a:gd name="T15" fmla="*/ 2133 h 2161"/>
              <a:gd name="T16" fmla="*/ 60 w 3047"/>
              <a:gd name="T17" fmla="*/ 2123 h 2161"/>
              <a:gd name="T18" fmla="*/ 48 w 3047"/>
              <a:gd name="T19" fmla="*/ 2113 h 2161"/>
              <a:gd name="T20" fmla="*/ 36 w 3047"/>
              <a:gd name="T21" fmla="*/ 2099 h 2161"/>
              <a:gd name="T22" fmla="*/ 26 w 3047"/>
              <a:gd name="T23" fmla="*/ 2085 h 2161"/>
              <a:gd name="T24" fmla="*/ 18 w 3047"/>
              <a:gd name="T25" fmla="*/ 2069 h 2161"/>
              <a:gd name="T26" fmla="*/ 12 w 3047"/>
              <a:gd name="T27" fmla="*/ 2053 h 2161"/>
              <a:gd name="T28" fmla="*/ 6 w 3047"/>
              <a:gd name="T29" fmla="*/ 2033 h 2161"/>
              <a:gd name="T30" fmla="*/ 2 w 3047"/>
              <a:gd name="T31" fmla="*/ 2013 h 2161"/>
              <a:gd name="T32" fmla="*/ 0 w 3047"/>
              <a:gd name="T33" fmla="*/ 1991 h 2161"/>
              <a:gd name="T34" fmla="*/ 0 w 3047"/>
              <a:gd name="T35" fmla="*/ 1969 h 2161"/>
              <a:gd name="T36" fmla="*/ 0 w 3047"/>
              <a:gd name="T37" fmla="*/ 192 h 2161"/>
              <a:gd name="T38" fmla="*/ 0 w 3047"/>
              <a:gd name="T39" fmla="*/ 168 h 2161"/>
              <a:gd name="T40" fmla="*/ 2 w 3047"/>
              <a:gd name="T41" fmla="*/ 147 h 2161"/>
              <a:gd name="T42" fmla="*/ 6 w 3047"/>
              <a:gd name="T43" fmla="*/ 126 h 2161"/>
              <a:gd name="T44" fmla="*/ 12 w 3047"/>
              <a:gd name="T45" fmla="*/ 108 h 2161"/>
              <a:gd name="T46" fmla="*/ 18 w 3047"/>
              <a:gd name="T47" fmla="*/ 90 h 2161"/>
              <a:gd name="T48" fmla="*/ 26 w 3047"/>
              <a:gd name="T49" fmla="*/ 75 h 2161"/>
              <a:gd name="T50" fmla="*/ 36 w 3047"/>
              <a:gd name="T51" fmla="*/ 60 h 2161"/>
              <a:gd name="T52" fmla="*/ 48 w 3047"/>
              <a:gd name="T53" fmla="*/ 48 h 2161"/>
              <a:gd name="T54" fmla="*/ 60 w 3047"/>
              <a:gd name="T55" fmla="*/ 36 h 2161"/>
              <a:gd name="T56" fmla="*/ 74 w 3047"/>
              <a:gd name="T57" fmla="*/ 27 h 2161"/>
              <a:gd name="T58" fmla="*/ 90 w 3047"/>
              <a:gd name="T59" fmla="*/ 18 h 2161"/>
              <a:gd name="T60" fmla="*/ 108 w 3047"/>
              <a:gd name="T61" fmla="*/ 12 h 2161"/>
              <a:gd name="T62" fmla="*/ 126 w 3047"/>
              <a:gd name="T63" fmla="*/ 6 h 2161"/>
              <a:gd name="T64" fmla="*/ 146 w 3047"/>
              <a:gd name="T65" fmla="*/ 3 h 2161"/>
              <a:gd name="T66" fmla="*/ 168 w 3047"/>
              <a:gd name="T67" fmla="*/ 0 h 2161"/>
              <a:gd name="T68" fmla="*/ 192 w 3047"/>
              <a:gd name="T69" fmla="*/ 0 h 2161"/>
              <a:gd name="T70" fmla="*/ 3047 w 3047"/>
              <a:gd name="T71" fmla="*/ 0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47" h="2161">
                <a:moveTo>
                  <a:pt x="3047" y="2161"/>
                </a:moveTo>
                <a:lnTo>
                  <a:pt x="192" y="2161"/>
                </a:lnTo>
                <a:lnTo>
                  <a:pt x="168" y="2159"/>
                </a:lnTo>
                <a:lnTo>
                  <a:pt x="146" y="2157"/>
                </a:lnTo>
                <a:lnTo>
                  <a:pt x="126" y="2153"/>
                </a:lnTo>
                <a:lnTo>
                  <a:pt x="108" y="2149"/>
                </a:lnTo>
                <a:lnTo>
                  <a:pt x="90" y="2141"/>
                </a:lnTo>
                <a:lnTo>
                  <a:pt x="74" y="2133"/>
                </a:lnTo>
                <a:lnTo>
                  <a:pt x="60" y="2123"/>
                </a:lnTo>
                <a:lnTo>
                  <a:pt x="48" y="2113"/>
                </a:lnTo>
                <a:lnTo>
                  <a:pt x="36" y="2099"/>
                </a:lnTo>
                <a:lnTo>
                  <a:pt x="26" y="2085"/>
                </a:lnTo>
                <a:lnTo>
                  <a:pt x="18" y="2069"/>
                </a:lnTo>
                <a:lnTo>
                  <a:pt x="12" y="2053"/>
                </a:lnTo>
                <a:lnTo>
                  <a:pt x="6" y="2033"/>
                </a:lnTo>
                <a:lnTo>
                  <a:pt x="2" y="2013"/>
                </a:lnTo>
                <a:lnTo>
                  <a:pt x="0" y="1991"/>
                </a:lnTo>
                <a:lnTo>
                  <a:pt x="0" y="1969"/>
                </a:lnTo>
                <a:lnTo>
                  <a:pt x="0" y="192"/>
                </a:lnTo>
                <a:lnTo>
                  <a:pt x="0" y="168"/>
                </a:lnTo>
                <a:lnTo>
                  <a:pt x="2" y="147"/>
                </a:lnTo>
                <a:lnTo>
                  <a:pt x="6" y="126"/>
                </a:lnTo>
                <a:lnTo>
                  <a:pt x="12" y="108"/>
                </a:lnTo>
                <a:lnTo>
                  <a:pt x="18" y="90"/>
                </a:lnTo>
                <a:lnTo>
                  <a:pt x="26" y="75"/>
                </a:lnTo>
                <a:lnTo>
                  <a:pt x="36" y="60"/>
                </a:lnTo>
                <a:lnTo>
                  <a:pt x="48" y="48"/>
                </a:lnTo>
                <a:lnTo>
                  <a:pt x="60" y="36"/>
                </a:lnTo>
                <a:lnTo>
                  <a:pt x="74" y="27"/>
                </a:lnTo>
                <a:lnTo>
                  <a:pt x="90" y="18"/>
                </a:lnTo>
                <a:lnTo>
                  <a:pt x="108" y="12"/>
                </a:lnTo>
                <a:lnTo>
                  <a:pt x="126" y="6"/>
                </a:lnTo>
                <a:lnTo>
                  <a:pt x="146" y="3"/>
                </a:lnTo>
                <a:lnTo>
                  <a:pt x="168" y="0"/>
                </a:lnTo>
                <a:lnTo>
                  <a:pt x="192" y="0"/>
                </a:lnTo>
                <a:lnTo>
                  <a:pt x="3047"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69" name="Line 145">
            <a:extLst>
              <a:ext uri="{FF2B5EF4-FFF2-40B4-BE49-F238E27FC236}">
                <a16:creationId xmlns:a16="http://schemas.microsoft.com/office/drawing/2014/main" id="{BE1778BD-8E6D-853D-6DCD-353B24A10D3A}"/>
              </a:ext>
            </a:extLst>
          </p:cNvPr>
          <p:cNvSpPr>
            <a:spLocks noChangeShapeType="1"/>
          </p:cNvSpPr>
          <p:nvPr/>
        </p:nvSpPr>
        <p:spPr bwMode="auto">
          <a:xfrm>
            <a:off x="4303713" y="4244975"/>
            <a:ext cx="2540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70" name="Line 146">
            <a:extLst>
              <a:ext uri="{FF2B5EF4-FFF2-40B4-BE49-F238E27FC236}">
                <a16:creationId xmlns:a16="http://schemas.microsoft.com/office/drawing/2014/main" id="{43C413AF-5C40-E93E-3F2B-78AEAA6C3681}"/>
              </a:ext>
            </a:extLst>
          </p:cNvPr>
          <p:cNvSpPr>
            <a:spLocks noChangeShapeType="1"/>
          </p:cNvSpPr>
          <p:nvPr/>
        </p:nvSpPr>
        <p:spPr bwMode="auto">
          <a:xfrm>
            <a:off x="3224213" y="4244975"/>
            <a:ext cx="10795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71" name="Freeform 147">
            <a:extLst>
              <a:ext uri="{FF2B5EF4-FFF2-40B4-BE49-F238E27FC236}">
                <a16:creationId xmlns:a16="http://schemas.microsoft.com/office/drawing/2014/main" id="{49F2F019-9261-ABF6-82CD-A56E37CC63CD}"/>
              </a:ext>
            </a:extLst>
          </p:cNvPr>
          <p:cNvSpPr>
            <a:spLocks/>
          </p:cNvSpPr>
          <p:nvPr/>
        </p:nvSpPr>
        <p:spPr bwMode="auto">
          <a:xfrm>
            <a:off x="3224213" y="4244975"/>
            <a:ext cx="1765300" cy="1143000"/>
          </a:xfrm>
          <a:custGeom>
            <a:avLst/>
            <a:gdLst>
              <a:gd name="T0" fmla="*/ 2520 w 3335"/>
              <a:gd name="T1" fmla="*/ 0 h 2161"/>
              <a:gd name="T2" fmla="*/ 3143 w 3335"/>
              <a:gd name="T3" fmla="*/ 0 h 2161"/>
              <a:gd name="T4" fmla="*/ 3166 w 3335"/>
              <a:gd name="T5" fmla="*/ 0 h 2161"/>
              <a:gd name="T6" fmla="*/ 3187 w 3335"/>
              <a:gd name="T7" fmla="*/ 3 h 2161"/>
              <a:gd name="T8" fmla="*/ 3208 w 3335"/>
              <a:gd name="T9" fmla="*/ 6 h 2161"/>
              <a:gd name="T10" fmla="*/ 3227 w 3335"/>
              <a:gd name="T11" fmla="*/ 12 h 2161"/>
              <a:gd name="T12" fmla="*/ 3244 w 3335"/>
              <a:gd name="T13" fmla="*/ 18 h 2161"/>
              <a:gd name="T14" fmla="*/ 3259 w 3335"/>
              <a:gd name="T15" fmla="*/ 27 h 2161"/>
              <a:gd name="T16" fmla="*/ 3274 w 3335"/>
              <a:gd name="T17" fmla="*/ 36 h 2161"/>
              <a:gd name="T18" fmla="*/ 3287 w 3335"/>
              <a:gd name="T19" fmla="*/ 48 h 2161"/>
              <a:gd name="T20" fmla="*/ 3298 w 3335"/>
              <a:gd name="T21" fmla="*/ 60 h 2161"/>
              <a:gd name="T22" fmla="*/ 3307 w 3335"/>
              <a:gd name="T23" fmla="*/ 75 h 2161"/>
              <a:gd name="T24" fmla="*/ 3316 w 3335"/>
              <a:gd name="T25" fmla="*/ 90 h 2161"/>
              <a:gd name="T26" fmla="*/ 3323 w 3335"/>
              <a:gd name="T27" fmla="*/ 108 h 2161"/>
              <a:gd name="T28" fmla="*/ 3328 w 3335"/>
              <a:gd name="T29" fmla="*/ 126 h 2161"/>
              <a:gd name="T30" fmla="*/ 3331 w 3335"/>
              <a:gd name="T31" fmla="*/ 147 h 2161"/>
              <a:gd name="T32" fmla="*/ 3334 w 3335"/>
              <a:gd name="T33" fmla="*/ 168 h 2161"/>
              <a:gd name="T34" fmla="*/ 3335 w 3335"/>
              <a:gd name="T35" fmla="*/ 192 h 2161"/>
              <a:gd name="T36" fmla="*/ 3335 w 3335"/>
              <a:gd name="T37" fmla="*/ 1969 h 2161"/>
              <a:gd name="T38" fmla="*/ 3334 w 3335"/>
              <a:gd name="T39" fmla="*/ 1973 h 2161"/>
              <a:gd name="T40" fmla="*/ 3334 w 3335"/>
              <a:gd name="T41" fmla="*/ 1979 h 2161"/>
              <a:gd name="T42" fmla="*/ 3334 w 3335"/>
              <a:gd name="T43" fmla="*/ 1991 h 2161"/>
              <a:gd name="T44" fmla="*/ 3331 w 3335"/>
              <a:gd name="T45" fmla="*/ 2013 h 2161"/>
              <a:gd name="T46" fmla="*/ 3329 w 3335"/>
              <a:gd name="T47" fmla="*/ 2023 h 2161"/>
              <a:gd name="T48" fmla="*/ 3328 w 3335"/>
              <a:gd name="T49" fmla="*/ 2027 h 2161"/>
              <a:gd name="T50" fmla="*/ 3328 w 3335"/>
              <a:gd name="T51" fmla="*/ 2033 h 2161"/>
              <a:gd name="T52" fmla="*/ 3323 w 3335"/>
              <a:gd name="T53" fmla="*/ 2053 h 2161"/>
              <a:gd name="T54" fmla="*/ 3316 w 3335"/>
              <a:gd name="T55" fmla="*/ 2069 h 2161"/>
              <a:gd name="T56" fmla="*/ 3311 w 3335"/>
              <a:gd name="T57" fmla="*/ 2077 h 2161"/>
              <a:gd name="T58" fmla="*/ 3308 w 3335"/>
              <a:gd name="T59" fmla="*/ 2080 h 2161"/>
              <a:gd name="T60" fmla="*/ 3307 w 3335"/>
              <a:gd name="T61" fmla="*/ 2085 h 2161"/>
              <a:gd name="T62" fmla="*/ 3298 w 3335"/>
              <a:gd name="T63" fmla="*/ 2099 h 2161"/>
              <a:gd name="T64" fmla="*/ 3294 w 3335"/>
              <a:gd name="T65" fmla="*/ 2102 h 2161"/>
              <a:gd name="T66" fmla="*/ 3292 w 3335"/>
              <a:gd name="T67" fmla="*/ 2105 h 2161"/>
              <a:gd name="T68" fmla="*/ 3287 w 3335"/>
              <a:gd name="T69" fmla="*/ 2113 h 2161"/>
              <a:gd name="T70" fmla="*/ 3280 w 3335"/>
              <a:gd name="T71" fmla="*/ 2117 h 2161"/>
              <a:gd name="T72" fmla="*/ 3276 w 3335"/>
              <a:gd name="T73" fmla="*/ 2120 h 2161"/>
              <a:gd name="T74" fmla="*/ 3274 w 3335"/>
              <a:gd name="T75" fmla="*/ 2123 h 2161"/>
              <a:gd name="T76" fmla="*/ 3259 w 3335"/>
              <a:gd name="T77" fmla="*/ 2133 h 2161"/>
              <a:gd name="T78" fmla="*/ 3254 w 3335"/>
              <a:gd name="T79" fmla="*/ 2134 h 2161"/>
              <a:gd name="T80" fmla="*/ 3251 w 3335"/>
              <a:gd name="T81" fmla="*/ 2137 h 2161"/>
              <a:gd name="T82" fmla="*/ 3244 w 3335"/>
              <a:gd name="T83" fmla="*/ 2141 h 2161"/>
              <a:gd name="T84" fmla="*/ 3227 w 3335"/>
              <a:gd name="T85" fmla="*/ 2149 h 2161"/>
              <a:gd name="T86" fmla="*/ 3208 w 3335"/>
              <a:gd name="T87" fmla="*/ 2153 h 2161"/>
              <a:gd name="T88" fmla="*/ 3202 w 3335"/>
              <a:gd name="T89" fmla="*/ 2153 h 2161"/>
              <a:gd name="T90" fmla="*/ 3197 w 3335"/>
              <a:gd name="T91" fmla="*/ 2155 h 2161"/>
              <a:gd name="T92" fmla="*/ 3187 w 3335"/>
              <a:gd name="T93" fmla="*/ 2157 h 2161"/>
              <a:gd name="T94" fmla="*/ 3166 w 3335"/>
              <a:gd name="T95" fmla="*/ 2159 h 2161"/>
              <a:gd name="T96" fmla="*/ 3154 w 3335"/>
              <a:gd name="T97" fmla="*/ 2159 h 2161"/>
              <a:gd name="T98" fmla="*/ 3148 w 3335"/>
              <a:gd name="T99" fmla="*/ 2159 h 2161"/>
              <a:gd name="T100" fmla="*/ 3143 w 3335"/>
              <a:gd name="T101" fmla="*/ 2161 h 2161"/>
              <a:gd name="T102" fmla="*/ 0 w 3335"/>
              <a:gd name="T103" fmla="*/ 2161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35" h="2161">
                <a:moveTo>
                  <a:pt x="2520" y="0"/>
                </a:moveTo>
                <a:lnTo>
                  <a:pt x="3143" y="0"/>
                </a:lnTo>
                <a:lnTo>
                  <a:pt x="3166" y="0"/>
                </a:lnTo>
                <a:lnTo>
                  <a:pt x="3187" y="3"/>
                </a:lnTo>
                <a:lnTo>
                  <a:pt x="3208" y="6"/>
                </a:lnTo>
                <a:lnTo>
                  <a:pt x="3227" y="12"/>
                </a:lnTo>
                <a:lnTo>
                  <a:pt x="3244" y="18"/>
                </a:lnTo>
                <a:lnTo>
                  <a:pt x="3259" y="27"/>
                </a:lnTo>
                <a:lnTo>
                  <a:pt x="3274" y="36"/>
                </a:lnTo>
                <a:lnTo>
                  <a:pt x="3287" y="48"/>
                </a:lnTo>
                <a:lnTo>
                  <a:pt x="3298" y="60"/>
                </a:lnTo>
                <a:lnTo>
                  <a:pt x="3307" y="75"/>
                </a:lnTo>
                <a:lnTo>
                  <a:pt x="3316" y="90"/>
                </a:lnTo>
                <a:lnTo>
                  <a:pt x="3323" y="108"/>
                </a:lnTo>
                <a:lnTo>
                  <a:pt x="3328" y="126"/>
                </a:lnTo>
                <a:lnTo>
                  <a:pt x="3331" y="147"/>
                </a:lnTo>
                <a:lnTo>
                  <a:pt x="3334" y="168"/>
                </a:lnTo>
                <a:lnTo>
                  <a:pt x="3335" y="192"/>
                </a:lnTo>
                <a:lnTo>
                  <a:pt x="3335" y="1969"/>
                </a:lnTo>
                <a:lnTo>
                  <a:pt x="3334" y="1973"/>
                </a:lnTo>
                <a:lnTo>
                  <a:pt x="3334" y="1979"/>
                </a:lnTo>
                <a:lnTo>
                  <a:pt x="3334" y="1991"/>
                </a:lnTo>
                <a:lnTo>
                  <a:pt x="3331" y="2013"/>
                </a:lnTo>
                <a:lnTo>
                  <a:pt x="3329" y="2023"/>
                </a:lnTo>
                <a:lnTo>
                  <a:pt x="3328" y="2027"/>
                </a:lnTo>
                <a:lnTo>
                  <a:pt x="3328" y="2033"/>
                </a:lnTo>
                <a:lnTo>
                  <a:pt x="3323" y="2053"/>
                </a:lnTo>
                <a:lnTo>
                  <a:pt x="3316" y="2069"/>
                </a:lnTo>
                <a:lnTo>
                  <a:pt x="3311" y="2077"/>
                </a:lnTo>
                <a:lnTo>
                  <a:pt x="3308" y="2080"/>
                </a:lnTo>
                <a:lnTo>
                  <a:pt x="3307" y="2085"/>
                </a:lnTo>
                <a:lnTo>
                  <a:pt x="3298" y="2099"/>
                </a:lnTo>
                <a:lnTo>
                  <a:pt x="3294" y="2102"/>
                </a:lnTo>
                <a:lnTo>
                  <a:pt x="3292" y="2105"/>
                </a:lnTo>
                <a:lnTo>
                  <a:pt x="3287" y="2113"/>
                </a:lnTo>
                <a:lnTo>
                  <a:pt x="3280" y="2117"/>
                </a:lnTo>
                <a:lnTo>
                  <a:pt x="3276" y="2120"/>
                </a:lnTo>
                <a:lnTo>
                  <a:pt x="3274" y="2123"/>
                </a:lnTo>
                <a:lnTo>
                  <a:pt x="3259" y="2133"/>
                </a:lnTo>
                <a:lnTo>
                  <a:pt x="3254" y="2134"/>
                </a:lnTo>
                <a:lnTo>
                  <a:pt x="3251" y="2137"/>
                </a:lnTo>
                <a:lnTo>
                  <a:pt x="3244" y="2141"/>
                </a:lnTo>
                <a:lnTo>
                  <a:pt x="3227" y="2149"/>
                </a:lnTo>
                <a:lnTo>
                  <a:pt x="3208" y="2153"/>
                </a:lnTo>
                <a:lnTo>
                  <a:pt x="3202" y="2153"/>
                </a:lnTo>
                <a:lnTo>
                  <a:pt x="3197" y="2155"/>
                </a:lnTo>
                <a:lnTo>
                  <a:pt x="3187" y="2157"/>
                </a:lnTo>
                <a:lnTo>
                  <a:pt x="3166" y="2159"/>
                </a:lnTo>
                <a:lnTo>
                  <a:pt x="3154" y="2159"/>
                </a:lnTo>
                <a:lnTo>
                  <a:pt x="3148" y="2159"/>
                </a:lnTo>
                <a:lnTo>
                  <a:pt x="3143" y="2161"/>
                </a:lnTo>
                <a:lnTo>
                  <a:pt x="0" y="2161"/>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72" name="Rectangle 148">
            <a:extLst>
              <a:ext uri="{FF2B5EF4-FFF2-40B4-BE49-F238E27FC236}">
                <a16:creationId xmlns:a16="http://schemas.microsoft.com/office/drawing/2014/main" id="{D6BC328D-DADC-4F28-2DBE-C6F3D26B51AA}"/>
              </a:ext>
            </a:extLst>
          </p:cNvPr>
          <p:cNvSpPr>
            <a:spLocks noChangeArrowheads="1"/>
          </p:cNvSpPr>
          <p:nvPr/>
        </p:nvSpPr>
        <p:spPr bwMode="auto">
          <a:xfrm>
            <a:off x="1803400" y="4621213"/>
            <a:ext cx="355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chemeClr val="bg1"/>
                </a:solidFill>
                <a:latin typeface="Verdana" panose="020B0604030504040204" pitchFamily="34" charset="0"/>
                <a:ea typeface="宋体" panose="02010600030101010101" pitchFamily="2" charset="-122"/>
              </a:rPr>
              <a:t>NAS</a:t>
            </a:r>
            <a:endParaRPr lang="en-US" altLang="zh-CN" sz="1800">
              <a:solidFill>
                <a:schemeClr val="bg1"/>
              </a:solidFill>
              <a:ea typeface="宋体" panose="02010600030101010101" pitchFamily="2" charset="-122"/>
            </a:endParaRPr>
          </a:p>
        </p:txBody>
      </p:sp>
      <p:sp>
        <p:nvSpPr>
          <p:cNvPr id="103573" name="Rectangle 149">
            <a:extLst>
              <a:ext uri="{FF2B5EF4-FFF2-40B4-BE49-F238E27FC236}">
                <a16:creationId xmlns:a16="http://schemas.microsoft.com/office/drawing/2014/main" id="{77752A40-3A90-C31E-C3F2-C9A5773985BD}"/>
              </a:ext>
            </a:extLst>
          </p:cNvPr>
          <p:cNvSpPr>
            <a:spLocks noChangeArrowheads="1"/>
          </p:cNvSpPr>
          <p:nvPr/>
        </p:nvSpPr>
        <p:spPr bwMode="auto">
          <a:xfrm>
            <a:off x="1697038" y="4830763"/>
            <a:ext cx="56991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chemeClr val="bg1"/>
                </a:solidFill>
                <a:latin typeface="Verdana" panose="020B0604030504040204" pitchFamily="34" charset="0"/>
                <a:ea typeface="宋体" panose="02010600030101010101" pitchFamily="2" charset="-122"/>
              </a:rPr>
              <a:t>Device</a:t>
            </a:r>
            <a:endParaRPr lang="en-US" altLang="zh-CN" sz="1800">
              <a:solidFill>
                <a:schemeClr val="bg1"/>
              </a:solidFill>
              <a:ea typeface="宋体" panose="02010600030101010101" pitchFamily="2" charset="-122"/>
            </a:endParaRPr>
          </a:p>
        </p:txBody>
      </p:sp>
      <p:sp>
        <p:nvSpPr>
          <p:cNvPr id="103574" name="Freeform 150">
            <a:extLst>
              <a:ext uri="{FF2B5EF4-FFF2-40B4-BE49-F238E27FC236}">
                <a16:creationId xmlns:a16="http://schemas.microsoft.com/office/drawing/2014/main" id="{3B9BF5B2-3A96-60C7-EEED-2C564D8B4FCB}"/>
              </a:ext>
            </a:extLst>
          </p:cNvPr>
          <p:cNvSpPr>
            <a:spLocks/>
          </p:cNvSpPr>
          <p:nvPr/>
        </p:nvSpPr>
        <p:spPr bwMode="auto">
          <a:xfrm>
            <a:off x="2436813" y="4371975"/>
            <a:ext cx="2400300" cy="889000"/>
          </a:xfrm>
          <a:custGeom>
            <a:avLst/>
            <a:gdLst>
              <a:gd name="T0" fmla="*/ 168 w 4535"/>
              <a:gd name="T1" fmla="*/ 0 h 1681"/>
              <a:gd name="T2" fmla="*/ 126 w 4535"/>
              <a:gd name="T3" fmla="*/ 6 h 1681"/>
              <a:gd name="T4" fmla="*/ 90 w 4535"/>
              <a:gd name="T5" fmla="*/ 18 h 1681"/>
              <a:gd name="T6" fmla="*/ 60 w 4535"/>
              <a:gd name="T7" fmla="*/ 36 h 1681"/>
              <a:gd name="T8" fmla="*/ 36 w 4535"/>
              <a:gd name="T9" fmla="*/ 60 h 1681"/>
              <a:gd name="T10" fmla="*/ 18 w 4535"/>
              <a:gd name="T11" fmla="*/ 90 h 1681"/>
              <a:gd name="T12" fmla="*/ 6 w 4535"/>
              <a:gd name="T13" fmla="*/ 126 h 1681"/>
              <a:gd name="T14" fmla="*/ 0 w 4535"/>
              <a:gd name="T15" fmla="*/ 168 h 1681"/>
              <a:gd name="T16" fmla="*/ 0 w 4535"/>
              <a:gd name="T17" fmla="*/ 1489 h 1681"/>
              <a:gd name="T18" fmla="*/ 3 w 4535"/>
              <a:gd name="T19" fmla="*/ 1533 h 1681"/>
              <a:gd name="T20" fmla="*/ 12 w 4535"/>
              <a:gd name="T21" fmla="*/ 1573 h 1681"/>
              <a:gd name="T22" fmla="*/ 27 w 4535"/>
              <a:gd name="T23" fmla="*/ 1605 h 1681"/>
              <a:gd name="T24" fmla="*/ 48 w 4535"/>
              <a:gd name="T25" fmla="*/ 1633 h 1681"/>
              <a:gd name="T26" fmla="*/ 75 w 4535"/>
              <a:gd name="T27" fmla="*/ 1653 h 1681"/>
              <a:gd name="T28" fmla="*/ 108 w 4535"/>
              <a:gd name="T29" fmla="*/ 1669 h 1681"/>
              <a:gd name="T30" fmla="*/ 147 w 4535"/>
              <a:gd name="T31" fmla="*/ 1677 h 1681"/>
              <a:gd name="T32" fmla="*/ 192 w 4535"/>
              <a:gd name="T33" fmla="*/ 1681 h 1681"/>
              <a:gd name="T34" fmla="*/ 2712 w 4535"/>
              <a:gd name="T35" fmla="*/ 1681 h 1681"/>
              <a:gd name="T36" fmla="*/ 4348 w 4535"/>
              <a:gd name="T37" fmla="*/ 1679 h 1681"/>
              <a:gd name="T38" fmla="*/ 4366 w 4535"/>
              <a:gd name="T39" fmla="*/ 1679 h 1681"/>
              <a:gd name="T40" fmla="*/ 4397 w 4535"/>
              <a:gd name="T41" fmla="*/ 1675 h 1681"/>
              <a:gd name="T42" fmla="*/ 4408 w 4535"/>
              <a:gd name="T43" fmla="*/ 1673 h 1681"/>
              <a:gd name="T44" fmla="*/ 4444 w 4535"/>
              <a:gd name="T45" fmla="*/ 1661 h 1681"/>
              <a:gd name="T46" fmla="*/ 4454 w 4535"/>
              <a:gd name="T47" fmla="*/ 1654 h 1681"/>
              <a:gd name="T48" fmla="*/ 4474 w 4535"/>
              <a:gd name="T49" fmla="*/ 1643 h 1681"/>
              <a:gd name="T50" fmla="*/ 4480 w 4535"/>
              <a:gd name="T51" fmla="*/ 1637 h 1681"/>
              <a:gd name="T52" fmla="*/ 4492 w 4535"/>
              <a:gd name="T53" fmla="*/ 1625 h 1681"/>
              <a:gd name="T54" fmla="*/ 4498 w 4535"/>
              <a:gd name="T55" fmla="*/ 1619 h 1681"/>
              <a:gd name="T56" fmla="*/ 4508 w 4535"/>
              <a:gd name="T57" fmla="*/ 1600 h 1681"/>
              <a:gd name="T58" fmla="*/ 4516 w 4535"/>
              <a:gd name="T59" fmla="*/ 1589 h 1681"/>
              <a:gd name="T60" fmla="*/ 4528 w 4535"/>
              <a:gd name="T61" fmla="*/ 1553 h 1681"/>
              <a:gd name="T62" fmla="*/ 4529 w 4535"/>
              <a:gd name="T63" fmla="*/ 1543 h 1681"/>
              <a:gd name="T64" fmla="*/ 4534 w 4535"/>
              <a:gd name="T65" fmla="*/ 1511 h 1681"/>
              <a:gd name="T66" fmla="*/ 4534 w 4535"/>
              <a:gd name="T67" fmla="*/ 1493 h 1681"/>
              <a:gd name="T68" fmla="*/ 4535 w 4535"/>
              <a:gd name="T69" fmla="*/ 793 h 1681"/>
              <a:gd name="T70" fmla="*/ 4534 w 4535"/>
              <a:gd name="T71" fmla="*/ 168 h 1681"/>
              <a:gd name="T72" fmla="*/ 4528 w 4535"/>
              <a:gd name="T73" fmla="*/ 126 h 1681"/>
              <a:gd name="T74" fmla="*/ 4516 w 4535"/>
              <a:gd name="T75" fmla="*/ 90 h 1681"/>
              <a:gd name="T76" fmla="*/ 4498 w 4535"/>
              <a:gd name="T77" fmla="*/ 60 h 1681"/>
              <a:gd name="T78" fmla="*/ 4474 w 4535"/>
              <a:gd name="T79" fmla="*/ 36 h 1681"/>
              <a:gd name="T80" fmla="*/ 4444 w 4535"/>
              <a:gd name="T81" fmla="*/ 18 h 1681"/>
              <a:gd name="T82" fmla="*/ 4408 w 4535"/>
              <a:gd name="T83" fmla="*/ 6 h 1681"/>
              <a:gd name="T84" fmla="*/ 4366 w 4535"/>
              <a:gd name="T85" fmla="*/ 0 h 1681"/>
              <a:gd name="T86" fmla="*/ 3456 w 4535"/>
              <a:gd name="T87" fmla="*/ 0 h 1681"/>
              <a:gd name="T88" fmla="*/ 1992 w 4535"/>
              <a:gd name="T89" fmla="*/ 0 h 1681"/>
              <a:gd name="T90" fmla="*/ 912 w 4535"/>
              <a:gd name="T91" fmla="*/ 0 h 1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35" h="1681">
                <a:moveTo>
                  <a:pt x="192" y="0"/>
                </a:moveTo>
                <a:lnTo>
                  <a:pt x="168" y="0"/>
                </a:lnTo>
                <a:lnTo>
                  <a:pt x="147" y="3"/>
                </a:lnTo>
                <a:lnTo>
                  <a:pt x="126" y="6"/>
                </a:lnTo>
                <a:lnTo>
                  <a:pt x="108" y="12"/>
                </a:lnTo>
                <a:lnTo>
                  <a:pt x="90" y="18"/>
                </a:lnTo>
                <a:lnTo>
                  <a:pt x="75" y="27"/>
                </a:lnTo>
                <a:lnTo>
                  <a:pt x="60" y="36"/>
                </a:lnTo>
                <a:lnTo>
                  <a:pt x="48" y="48"/>
                </a:lnTo>
                <a:lnTo>
                  <a:pt x="36" y="60"/>
                </a:lnTo>
                <a:lnTo>
                  <a:pt x="27" y="75"/>
                </a:lnTo>
                <a:lnTo>
                  <a:pt x="18" y="90"/>
                </a:lnTo>
                <a:lnTo>
                  <a:pt x="12" y="108"/>
                </a:lnTo>
                <a:lnTo>
                  <a:pt x="6" y="126"/>
                </a:lnTo>
                <a:lnTo>
                  <a:pt x="3" y="147"/>
                </a:lnTo>
                <a:lnTo>
                  <a:pt x="0" y="168"/>
                </a:lnTo>
                <a:lnTo>
                  <a:pt x="0" y="192"/>
                </a:lnTo>
                <a:lnTo>
                  <a:pt x="0" y="1489"/>
                </a:lnTo>
                <a:lnTo>
                  <a:pt x="0" y="1511"/>
                </a:lnTo>
                <a:lnTo>
                  <a:pt x="3" y="1533"/>
                </a:lnTo>
                <a:lnTo>
                  <a:pt x="6" y="1553"/>
                </a:lnTo>
                <a:lnTo>
                  <a:pt x="12" y="1573"/>
                </a:lnTo>
                <a:lnTo>
                  <a:pt x="18" y="1589"/>
                </a:lnTo>
                <a:lnTo>
                  <a:pt x="27" y="1605"/>
                </a:lnTo>
                <a:lnTo>
                  <a:pt x="36" y="1619"/>
                </a:lnTo>
                <a:lnTo>
                  <a:pt x="48" y="1633"/>
                </a:lnTo>
                <a:lnTo>
                  <a:pt x="60" y="1643"/>
                </a:lnTo>
                <a:lnTo>
                  <a:pt x="75" y="1653"/>
                </a:lnTo>
                <a:lnTo>
                  <a:pt x="90" y="1661"/>
                </a:lnTo>
                <a:lnTo>
                  <a:pt x="108" y="1669"/>
                </a:lnTo>
                <a:lnTo>
                  <a:pt x="126" y="1673"/>
                </a:lnTo>
                <a:lnTo>
                  <a:pt x="147" y="1677"/>
                </a:lnTo>
                <a:lnTo>
                  <a:pt x="168" y="1679"/>
                </a:lnTo>
                <a:lnTo>
                  <a:pt x="192" y="1681"/>
                </a:lnTo>
                <a:lnTo>
                  <a:pt x="912" y="1681"/>
                </a:lnTo>
                <a:lnTo>
                  <a:pt x="2712" y="1681"/>
                </a:lnTo>
                <a:lnTo>
                  <a:pt x="4343" y="1681"/>
                </a:lnTo>
                <a:lnTo>
                  <a:pt x="4348" y="1679"/>
                </a:lnTo>
                <a:lnTo>
                  <a:pt x="4354" y="1679"/>
                </a:lnTo>
                <a:lnTo>
                  <a:pt x="4366" y="1679"/>
                </a:lnTo>
                <a:lnTo>
                  <a:pt x="4387" y="1677"/>
                </a:lnTo>
                <a:lnTo>
                  <a:pt x="4397" y="1675"/>
                </a:lnTo>
                <a:lnTo>
                  <a:pt x="4402" y="1673"/>
                </a:lnTo>
                <a:lnTo>
                  <a:pt x="4408" y="1673"/>
                </a:lnTo>
                <a:lnTo>
                  <a:pt x="4427" y="1669"/>
                </a:lnTo>
                <a:lnTo>
                  <a:pt x="4444" y="1661"/>
                </a:lnTo>
                <a:lnTo>
                  <a:pt x="4451" y="1657"/>
                </a:lnTo>
                <a:lnTo>
                  <a:pt x="4454" y="1654"/>
                </a:lnTo>
                <a:lnTo>
                  <a:pt x="4459" y="1653"/>
                </a:lnTo>
                <a:lnTo>
                  <a:pt x="4474" y="1643"/>
                </a:lnTo>
                <a:lnTo>
                  <a:pt x="4476" y="1640"/>
                </a:lnTo>
                <a:lnTo>
                  <a:pt x="4480" y="1637"/>
                </a:lnTo>
                <a:lnTo>
                  <a:pt x="4487" y="1633"/>
                </a:lnTo>
                <a:lnTo>
                  <a:pt x="4492" y="1625"/>
                </a:lnTo>
                <a:lnTo>
                  <a:pt x="4494" y="1622"/>
                </a:lnTo>
                <a:lnTo>
                  <a:pt x="4498" y="1619"/>
                </a:lnTo>
                <a:lnTo>
                  <a:pt x="4507" y="1605"/>
                </a:lnTo>
                <a:lnTo>
                  <a:pt x="4508" y="1600"/>
                </a:lnTo>
                <a:lnTo>
                  <a:pt x="4511" y="1597"/>
                </a:lnTo>
                <a:lnTo>
                  <a:pt x="4516" y="1589"/>
                </a:lnTo>
                <a:lnTo>
                  <a:pt x="4523" y="1573"/>
                </a:lnTo>
                <a:lnTo>
                  <a:pt x="4528" y="1553"/>
                </a:lnTo>
                <a:lnTo>
                  <a:pt x="4528" y="1547"/>
                </a:lnTo>
                <a:lnTo>
                  <a:pt x="4529" y="1543"/>
                </a:lnTo>
                <a:lnTo>
                  <a:pt x="4531" y="1533"/>
                </a:lnTo>
                <a:lnTo>
                  <a:pt x="4534" y="1511"/>
                </a:lnTo>
                <a:lnTo>
                  <a:pt x="4534" y="1499"/>
                </a:lnTo>
                <a:lnTo>
                  <a:pt x="4534" y="1493"/>
                </a:lnTo>
                <a:lnTo>
                  <a:pt x="4535" y="1489"/>
                </a:lnTo>
                <a:lnTo>
                  <a:pt x="4535" y="793"/>
                </a:lnTo>
                <a:lnTo>
                  <a:pt x="4535" y="192"/>
                </a:lnTo>
                <a:lnTo>
                  <a:pt x="4534" y="168"/>
                </a:lnTo>
                <a:lnTo>
                  <a:pt x="4531" y="147"/>
                </a:lnTo>
                <a:lnTo>
                  <a:pt x="4528" y="126"/>
                </a:lnTo>
                <a:lnTo>
                  <a:pt x="4523" y="108"/>
                </a:lnTo>
                <a:lnTo>
                  <a:pt x="4516" y="90"/>
                </a:lnTo>
                <a:lnTo>
                  <a:pt x="4507" y="75"/>
                </a:lnTo>
                <a:lnTo>
                  <a:pt x="4498" y="60"/>
                </a:lnTo>
                <a:lnTo>
                  <a:pt x="4487" y="48"/>
                </a:lnTo>
                <a:lnTo>
                  <a:pt x="4474" y="36"/>
                </a:lnTo>
                <a:lnTo>
                  <a:pt x="4459" y="27"/>
                </a:lnTo>
                <a:lnTo>
                  <a:pt x="4444" y="18"/>
                </a:lnTo>
                <a:lnTo>
                  <a:pt x="4427" y="12"/>
                </a:lnTo>
                <a:lnTo>
                  <a:pt x="4408" y="6"/>
                </a:lnTo>
                <a:lnTo>
                  <a:pt x="4387" y="3"/>
                </a:lnTo>
                <a:lnTo>
                  <a:pt x="4366" y="0"/>
                </a:lnTo>
                <a:lnTo>
                  <a:pt x="4343" y="0"/>
                </a:lnTo>
                <a:lnTo>
                  <a:pt x="3456" y="0"/>
                </a:lnTo>
                <a:lnTo>
                  <a:pt x="2232" y="0"/>
                </a:lnTo>
                <a:lnTo>
                  <a:pt x="1992" y="0"/>
                </a:lnTo>
                <a:lnTo>
                  <a:pt x="1632" y="0"/>
                </a:lnTo>
                <a:lnTo>
                  <a:pt x="912" y="0"/>
                </a:lnTo>
                <a:lnTo>
                  <a:pt x="192" y="0"/>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75" name="Freeform 151">
            <a:extLst>
              <a:ext uri="{FF2B5EF4-FFF2-40B4-BE49-F238E27FC236}">
                <a16:creationId xmlns:a16="http://schemas.microsoft.com/office/drawing/2014/main" id="{A046DC9F-C79E-98E7-2980-A7272F5CA7CC}"/>
              </a:ext>
            </a:extLst>
          </p:cNvPr>
          <p:cNvSpPr>
            <a:spLocks/>
          </p:cNvSpPr>
          <p:nvPr/>
        </p:nvSpPr>
        <p:spPr bwMode="auto">
          <a:xfrm>
            <a:off x="4265613" y="4371975"/>
            <a:ext cx="571500" cy="419100"/>
          </a:xfrm>
          <a:custGeom>
            <a:avLst/>
            <a:gdLst>
              <a:gd name="T0" fmla="*/ 0 w 1079"/>
              <a:gd name="T1" fmla="*/ 0 h 793"/>
              <a:gd name="T2" fmla="*/ 887 w 1079"/>
              <a:gd name="T3" fmla="*/ 0 h 793"/>
              <a:gd name="T4" fmla="*/ 910 w 1079"/>
              <a:gd name="T5" fmla="*/ 0 h 793"/>
              <a:gd name="T6" fmla="*/ 931 w 1079"/>
              <a:gd name="T7" fmla="*/ 3 h 793"/>
              <a:gd name="T8" fmla="*/ 952 w 1079"/>
              <a:gd name="T9" fmla="*/ 6 h 793"/>
              <a:gd name="T10" fmla="*/ 971 w 1079"/>
              <a:gd name="T11" fmla="*/ 12 h 793"/>
              <a:gd name="T12" fmla="*/ 988 w 1079"/>
              <a:gd name="T13" fmla="*/ 18 h 793"/>
              <a:gd name="T14" fmla="*/ 1003 w 1079"/>
              <a:gd name="T15" fmla="*/ 27 h 793"/>
              <a:gd name="T16" fmla="*/ 1018 w 1079"/>
              <a:gd name="T17" fmla="*/ 36 h 793"/>
              <a:gd name="T18" fmla="*/ 1031 w 1079"/>
              <a:gd name="T19" fmla="*/ 48 h 793"/>
              <a:gd name="T20" fmla="*/ 1042 w 1079"/>
              <a:gd name="T21" fmla="*/ 60 h 793"/>
              <a:gd name="T22" fmla="*/ 1051 w 1079"/>
              <a:gd name="T23" fmla="*/ 75 h 793"/>
              <a:gd name="T24" fmla="*/ 1060 w 1079"/>
              <a:gd name="T25" fmla="*/ 90 h 793"/>
              <a:gd name="T26" fmla="*/ 1067 w 1079"/>
              <a:gd name="T27" fmla="*/ 108 h 793"/>
              <a:gd name="T28" fmla="*/ 1072 w 1079"/>
              <a:gd name="T29" fmla="*/ 126 h 793"/>
              <a:gd name="T30" fmla="*/ 1075 w 1079"/>
              <a:gd name="T31" fmla="*/ 147 h 793"/>
              <a:gd name="T32" fmla="*/ 1078 w 1079"/>
              <a:gd name="T33" fmla="*/ 168 h 793"/>
              <a:gd name="T34" fmla="*/ 1079 w 1079"/>
              <a:gd name="T35" fmla="*/ 192 h 793"/>
              <a:gd name="T36" fmla="*/ 1079 w 1079"/>
              <a:gd name="T37" fmla="*/ 793 h 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79" h="793">
                <a:moveTo>
                  <a:pt x="0" y="0"/>
                </a:moveTo>
                <a:lnTo>
                  <a:pt x="887" y="0"/>
                </a:lnTo>
                <a:lnTo>
                  <a:pt x="910" y="0"/>
                </a:lnTo>
                <a:lnTo>
                  <a:pt x="931" y="3"/>
                </a:lnTo>
                <a:lnTo>
                  <a:pt x="952" y="6"/>
                </a:lnTo>
                <a:lnTo>
                  <a:pt x="971" y="12"/>
                </a:lnTo>
                <a:lnTo>
                  <a:pt x="988" y="18"/>
                </a:lnTo>
                <a:lnTo>
                  <a:pt x="1003" y="27"/>
                </a:lnTo>
                <a:lnTo>
                  <a:pt x="1018" y="36"/>
                </a:lnTo>
                <a:lnTo>
                  <a:pt x="1031" y="48"/>
                </a:lnTo>
                <a:lnTo>
                  <a:pt x="1042" y="60"/>
                </a:lnTo>
                <a:lnTo>
                  <a:pt x="1051" y="75"/>
                </a:lnTo>
                <a:lnTo>
                  <a:pt x="1060" y="90"/>
                </a:lnTo>
                <a:lnTo>
                  <a:pt x="1067" y="108"/>
                </a:lnTo>
                <a:lnTo>
                  <a:pt x="1072" y="126"/>
                </a:lnTo>
                <a:lnTo>
                  <a:pt x="1075" y="147"/>
                </a:lnTo>
                <a:lnTo>
                  <a:pt x="1078" y="168"/>
                </a:lnTo>
                <a:lnTo>
                  <a:pt x="1079" y="192"/>
                </a:lnTo>
                <a:lnTo>
                  <a:pt x="1079" y="793"/>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76" name="Line 152">
            <a:extLst>
              <a:ext uri="{FF2B5EF4-FFF2-40B4-BE49-F238E27FC236}">
                <a16:creationId xmlns:a16="http://schemas.microsoft.com/office/drawing/2014/main" id="{8FFE3D0A-156E-761F-95CF-292E33E65CB1}"/>
              </a:ext>
            </a:extLst>
          </p:cNvPr>
          <p:cNvSpPr>
            <a:spLocks noChangeShapeType="1"/>
          </p:cNvSpPr>
          <p:nvPr/>
        </p:nvSpPr>
        <p:spPr bwMode="auto">
          <a:xfrm>
            <a:off x="2919413" y="4371975"/>
            <a:ext cx="3810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77" name="Line 153">
            <a:extLst>
              <a:ext uri="{FF2B5EF4-FFF2-40B4-BE49-F238E27FC236}">
                <a16:creationId xmlns:a16="http://schemas.microsoft.com/office/drawing/2014/main" id="{35F314E7-628B-5FB1-E517-EA7221BDE8E0}"/>
              </a:ext>
            </a:extLst>
          </p:cNvPr>
          <p:cNvSpPr>
            <a:spLocks noChangeShapeType="1"/>
          </p:cNvSpPr>
          <p:nvPr/>
        </p:nvSpPr>
        <p:spPr bwMode="auto">
          <a:xfrm>
            <a:off x="3490913" y="4371975"/>
            <a:ext cx="1270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78" name="Line 154">
            <a:extLst>
              <a:ext uri="{FF2B5EF4-FFF2-40B4-BE49-F238E27FC236}">
                <a16:creationId xmlns:a16="http://schemas.microsoft.com/office/drawing/2014/main" id="{5B3536D5-4EED-8532-89E9-2692CCA48BF2}"/>
              </a:ext>
            </a:extLst>
          </p:cNvPr>
          <p:cNvSpPr>
            <a:spLocks noChangeShapeType="1"/>
          </p:cNvSpPr>
          <p:nvPr/>
        </p:nvSpPr>
        <p:spPr bwMode="auto">
          <a:xfrm>
            <a:off x="3300413" y="4371975"/>
            <a:ext cx="1905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79" name="Line 155">
            <a:extLst>
              <a:ext uri="{FF2B5EF4-FFF2-40B4-BE49-F238E27FC236}">
                <a16:creationId xmlns:a16="http://schemas.microsoft.com/office/drawing/2014/main" id="{F6D5BFD6-039B-40FC-8029-452A4DB5F42D}"/>
              </a:ext>
            </a:extLst>
          </p:cNvPr>
          <p:cNvSpPr>
            <a:spLocks noChangeShapeType="1"/>
          </p:cNvSpPr>
          <p:nvPr/>
        </p:nvSpPr>
        <p:spPr bwMode="auto">
          <a:xfrm flipH="1">
            <a:off x="2919413" y="5260975"/>
            <a:ext cx="9525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80" name="Freeform 156">
            <a:extLst>
              <a:ext uri="{FF2B5EF4-FFF2-40B4-BE49-F238E27FC236}">
                <a16:creationId xmlns:a16="http://schemas.microsoft.com/office/drawing/2014/main" id="{ADEBBDB4-379A-1322-4C6D-62A725A0D27E}"/>
              </a:ext>
            </a:extLst>
          </p:cNvPr>
          <p:cNvSpPr>
            <a:spLocks/>
          </p:cNvSpPr>
          <p:nvPr/>
        </p:nvSpPr>
        <p:spPr bwMode="auto">
          <a:xfrm>
            <a:off x="3871913" y="4791075"/>
            <a:ext cx="965200" cy="469900"/>
          </a:xfrm>
          <a:custGeom>
            <a:avLst/>
            <a:gdLst>
              <a:gd name="T0" fmla="*/ 1823 w 1823"/>
              <a:gd name="T1" fmla="*/ 0 h 888"/>
              <a:gd name="T2" fmla="*/ 1823 w 1823"/>
              <a:gd name="T3" fmla="*/ 696 h 888"/>
              <a:gd name="T4" fmla="*/ 1822 w 1823"/>
              <a:gd name="T5" fmla="*/ 700 h 888"/>
              <a:gd name="T6" fmla="*/ 1822 w 1823"/>
              <a:gd name="T7" fmla="*/ 706 h 888"/>
              <a:gd name="T8" fmla="*/ 1822 w 1823"/>
              <a:gd name="T9" fmla="*/ 718 h 888"/>
              <a:gd name="T10" fmla="*/ 1819 w 1823"/>
              <a:gd name="T11" fmla="*/ 740 h 888"/>
              <a:gd name="T12" fmla="*/ 1817 w 1823"/>
              <a:gd name="T13" fmla="*/ 750 h 888"/>
              <a:gd name="T14" fmla="*/ 1816 w 1823"/>
              <a:gd name="T15" fmla="*/ 754 h 888"/>
              <a:gd name="T16" fmla="*/ 1816 w 1823"/>
              <a:gd name="T17" fmla="*/ 760 h 888"/>
              <a:gd name="T18" fmla="*/ 1811 w 1823"/>
              <a:gd name="T19" fmla="*/ 780 h 888"/>
              <a:gd name="T20" fmla="*/ 1804 w 1823"/>
              <a:gd name="T21" fmla="*/ 796 h 888"/>
              <a:gd name="T22" fmla="*/ 1799 w 1823"/>
              <a:gd name="T23" fmla="*/ 804 h 888"/>
              <a:gd name="T24" fmla="*/ 1796 w 1823"/>
              <a:gd name="T25" fmla="*/ 807 h 888"/>
              <a:gd name="T26" fmla="*/ 1795 w 1823"/>
              <a:gd name="T27" fmla="*/ 812 h 888"/>
              <a:gd name="T28" fmla="*/ 1786 w 1823"/>
              <a:gd name="T29" fmla="*/ 826 h 888"/>
              <a:gd name="T30" fmla="*/ 1782 w 1823"/>
              <a:gd name="T31" fmla="*/ 829 h 888"/>
              <a:gd name="T32" fmla="*/ 1780 w 1823"/>
              <a:gd name="T33" fmla="*/ 832 h 888"/>
              <a:gd name="T34" fmla="*/ 1775 w 1823"/>
              <a:gd name="T35" fmla="*/ 840 h 888"/>
              <a:gd name="T36" fmla="*/ 1768 w 1823"/>
              <a:gd name="T37" fmla="*/ 844 h 888"/>
              <a:gd name="T38" fmla="*/ 1764 w 1823"/>
              <a:gd name="T39" fmla="*/ 847 h 888"/>
              <a:gd name="T40" fmla="*/ 1762 w 1823"/>
              <a:gd name="T41" fmla="*/ 850 h 888"/>
              <a:gd name="T42" fmla="*/ 1747 w 1823"/>
              <a:gd name="T43" fmla="*/ 860 h 888"/>
              <a:gd name="T44" fmla="*/ 1742 w 1823"/>
              <a:gd name="T45" fmla="*/ 861 h 888"/>
              <a:gd name="T46" fmla="*/ 1739 w 1823"/>
              <a:gd name="T47" fmla="*/ 864 h 888"/>
              <a:gd name="T48" fmla="*/ 1732 w 1823"/>
              <a:gd name="T49" fmla="*/ 868 h 888"/>
              <a:gd name="T50" fmla="*/ 1715 w 1823"/>
              <a:gd name="T51" fmla="*/ 876 h 888"/>
              <a:gd name="T52" fmla="*/ 1696 w 1823"/>
              <a:gd name="T53" fmla="*/ 880 h 888"/>
              <a:gd name="T54" fmla="*/ 1690 w 1823"/>
              <a:gd name="T55" fmla="*/ 880 h 888"/>
              <a:gd name="T56" fmla="*/ 1685 w 1823"/>
              <a:gd name="T57" fmla="*/ 882 h 888"/>
              <a:gd name="T58" fmla="*/ 1675 w 1823"/>
              <a:gd name="T59" fmla="*/ 884 h 888"/>
              <a:gd name="T60" fmla="*/ 1654 w 1823"/>
              <a:gd name="T61" fmla="*/ 886 h 888"/>
              <a:gd name="T62" fmla="*/ 1642 w 1823"/>
              <a:gd name="T63" fmla="*/ 886 h 888"/>
              <a:gd name="T64" fmla="*/ 1636 w 1823"/>
              <a:gd name="T65" fmla="*/ 886 h 888"/>
              <a:gd name="T66" fmla="*/ 1631 w 1823"/>
              <a:gd name="T67" fmla="*/ 888 h 888"/>
              <a:gd name="T68" fmla="*/ 0 w 1823"/>
              <a:gd name="T69" fmla="*/ 888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23" h="888">
                <a:moveTo>
                  <a:pt x="1823" y="0"/>
                </a:moveTo>
                <a:lnTo>
                  <a:pt x="1823" y="696"/>
                </a:lnTo>
                <a:lnTo>
                  <a:pt x="1822" y="700"/>
                </a:lnTo>
                <a:lnTo>
                  <a:pt x="1822" y="706"/>
                </a:lnTo>
                <a:lnTo>
                  <a:pt x="1822" y="718"/>
                </a:lnTo>
                <a:lnTo>
                  <a:pt x="1819" y="740"/>
                </a:lnTo>
                <a:lnTo>
                  <a:pt x="1817" y="750"/>
                </a:lnTo>
                <a:lnTo>
                  <a:pt x="1816" y="754"/>
                </a:lnTo>
                <a:lnTo>
                  <a:pt x="1816" y="760"/>
                </a:lnTo>
                <a:lnTo>
                  <a:pt x="1811" y="780"/>
                </a:lnTo>
                <a:lnTo>
                  <a:pt x="1804" y="796"/>
                </a:lnTo>
                <a:lnTo>
                  <a:pt x="1799" y="804"/>
                </a:lnTo>
                <a:lnTo>
                  <a:pt x="1796" y="807"/>
                </a:lnTo>
                <a:lnTo>
                  <a:pt x="1795" y="812"/>
                </a:lnTo>
                <a:lnTo>
                  <a:pt x="1786" y="826"/>
                </a:lnTo>
                <a:lnTo>
                  <a:pt x="1782" y="829"/>
                </a:lnTo>
                <a:lnTo>
                  <a:pt x="1780" y="832"/>
                </a:lnTo>
                <a:lnTo>
                  <a:pt x="1775" y="840"/>
                </a:lnTo>
                <a:lnTo>
                  <a:pt x="1768" y="844"/>
                </a:lnTo>
                <a:lnTo>
                  <a:pt x="1764" y="847"/>
                </a:lnTo>
                <a:lnTo>
                  <a:pt x="1762" y="850"/>
                </a:lnTo>
                <a:lnTo>
                  <a:pt x="1747" y="860"/>
                </a:lnTo>
                <a:lnTo>
                  <a:pt x="1742" y="861"/>
                </a:lnTo>
                <a:lnTo>
                  <a:pt x="1739" y="864"/>
                </a:lnTo>
                <a:lnTo>
                  <a:pt x="1732" y="868"/>
                </a:lnTo>
                <a:lnTo>
                  <a:pt x="1715" y="876"/>
                </a:lnTo>
                <a:lnTo>
                  <a:pt x="1696" y="880"/>
                </a:lnTo>
                <a:lnTo>
                  <a:pt x="1690" y="880"/>
                </a:lnTo>
                <a:lnTo>
                  <a:pt x="1685" y="882"/>
                </a:lnTo>
                <a:lnTo>
                  <a:pt x="1675" y="884"/>
                </a:lnTo>
                <a:lnTo>
                  <a:pt x="1654" y="886"/>
                </a:lnTo>
                <a:lnTo>
                  <a:pt x="1642" y="886"/>
                </a:lnTo>
                <a:lnTo>
                  <a:pt x="1636" y="886"/>
                </a:lnTo>
                <a:lnTo>
                  <a:pt x="1631" y="888"/>
                </a:lnTo>
                <a:lnTo>
                  <a:pt x="0" y="888"/>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81" name="Line 157">
            <a:extLst>
              <a:ext uri="{FF2B5EF4-FFF2-40B4-BE49-F238E27FC236}">
                <a16:creationId xmlns:a16="http://schemas.microsoft.com/office/drawing/2014/main" id="{F04B6139-0987-98D6-AE39-BA2A73016725}"/>
              </a:ext>
            </a:extLst>
          </p:cNvPr>
          <p:cNvSpPr>
            <a:spLocks noChangeShapeType="1"/>
          </p:cNvSpPr>
          <p:nvPr/>
        </p:nvSpPr>
        <p:spPr bwMode="auto">
          <a:xfrm>
            <a:off x="3617913" y="4371975"/>
            <a:ext cx="6477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82" name="Freeform 158">
            <a:extLst>
              <a:ext uri="{FF2B5EF4-FFF2-40B4-BE49-F238E27FC236}">
                <a16:creationId xmlns:a16="http://schemas.microsoft.com/office/drawing/2014/main" id="{FCA406CA-247A-DDD8-1CD4-55727BE6148D}"/>
              </a:ext>
            </a:extLst>
          </p:cNvPr>
          <p:cNvSpPr>
            <a:spLocks/>
          </p:cNvSpPr>
          <p:nvPr/>
        </p:nvSpPr>
        <p:spPr bwMode="auto">
          <a:xfrm>
            <a:off x="2436813" y="4371975"/>
            <a:ext cx="482600" cy="889000"/>
          </a:xfrm>
          <a:custGeom>
            <a:avLst/>
            <a:gdLst>
              <a:gd name="T0" fmla="*/ 912 w 912"/>
              <a:gd name="T1" fmla="*/ 1681 h 1681"/>
              <a:gd name="T2" fmla="*/ 192 w 912"/>
              <a:gd name="T3" fmla="*/ 1681 h 1681"/>
              <a:gd name="T4" fmla="*/ 168 w 912"/>
              <a:gd name="T5" fmla="*/ 1679 h 1681"/>
              <a:gd name="T6" fmla="*/ 147 w 912"/>
              <a:gd name="T7" fmla="*/ 1677 h 1681"/>
              <a:gd name="T8" fmla="*/ 126 w 912"/>
              <a:gd name="T9" fmla="*/ 1673 h 1681"/>
              <a:gd name="T10" fmla="*/ 108 w 912"/>
              <a:gd name="T11" fmla="*/ 1669 h 1681"/>
              <a:gd name="T12" fmla="*/ 90 w 912"/>
              <a:gd name="T13" fmla="*/ 1661 h 1681"/>
              <a:gd name="T14" fmla="*/ 75 w 912"/>
              <a:gd name="T15" fmla="*/ 1653 h 1681"/>
              <a:gd name="T16" fmla="*/ 60 w 912"/>
              <a:gd name="T17" fmla="*/ 1643 h 1681"/>
              <a:gd name="T18" fmla="*/ 48 w 912"/>
              <a:gd name="T19" fmla="*/ 1633 h 1681"/>
              <a:gd name="T20" fmla="*/ 36 w 912"/>
              <a:gd name="T21" fmla="*/ 1619 h 1681"/>
              <a:gd name="T22" fmla="*/ 27 w 912"/>
              <a:gd name="T23" fmla="*/ 1605 h 1681"/>
              <a:gd name="T24" fmla="*/ 18 w 912"/>
              <a:gd name="T25" fmla="*/ 1589 h 1681"/>
              <a:gd name="T26" fmla="*/ 12 w 912"/>
              <a:gd name="T27" fmla="*/ 1573 h 1681"/>
              <a:gd name="T28" fmla="*/ 6 w 912"/>
              <a:gd name="T29" fmla="*/ 1553 h 1681"/>
              <a:gd name="T30" fmla="*/ 3 w 912"/>
              <a:gd name="T31" fmla="*/ 1533 h 1681"/>
              <a:gd name="T32" fmla="*/ 0 w 912"/>
              <a:gd name="T33" fmla="*/ 1511 h 1681"/>
              <a:gd name="T34" fmla="*/ 0 w 912"/>
              <a:gd name="T35" fmla="*/ 1489 h 1681"/>
              <a:gd name="T36" fmla="*/ 0 w 912"/>
              <a:gd name="T37" fmla="*/ 192 h 1681"/>
              <a:gd name="T38" fmla="*/ 0 w 912"/>
              <a:gd name="T39" fmla="*/ 168 h 1681"/>
              <a:gd name="T40" fmla="*/ 3 w 912"/>
              <a:gd name="T41" fmla="*/ 147 h 1681"/>
              <a:gd name="T42" fmla="*/ 6 w 912"/>
              <a:gd name="T43" fmla="*/ 126 h 1681"/>
              <a:gd name="T44" fmla="*/ 12 w 912"/>
              <a:gd name="T45" fmla="*/ 108 h 1681"/>
              <a:gd name="T46" fmla="*/ 18 w 912"/>
              <a:gd name="T47" fmla="*/ 90 h 1681"/>
              <a:gd name="T48" fmla="*/ 27 w 912"/>
              <a:gd name="T49" fmla="*/ 75 h 1681"/>
              <a:gd name="T50" fmla="*/ 36 w 912"/>
              <a:gd name="T51" fmla="*/ 60 h 1681"/>
              <a:gd name="T52" fmla="*/ 48 w 912"/>
              <a:gd name="T53" fmla="*/ 48 h 1681"/>
              <a:gd name="T54" fmla="*/ 60 w 912"/>
              <a:gd name="T55" fmla="*/ 36 h 1681"/>
              <a:gd name="T56" fmla="*/ 75 w 912"/>
              <a:gd name="T57" fmla="*/ 27 h 1681"/>
              <a:gd name="T58" fmla="*/ 90 w 912"/>
              <a:gd name="T59" fmla="*/ 18 h 1681"/>
              <a:gd name="T60" fmla="*/ 108 w 912"/>
              <a:gd name="T61" fmla="*/ 12 h 1681"/>
              <a:gd name="T62" fmla="*/ 126 w 912"/>
              <a:gd name="T63" fmla="*/ 6 h 1681"/>
              <a:gd name="T64" fmla="*/ 147 w 912"/>
              <a:gd name="T65" fmla="*/ 3 h 1681"/>
              <a:gd name="T66" fmla="*/ 168 w 912"/>
              <a:gd name="T67" fmla="*/ 0 h 1681"/>
              <a:gd name="T68" fmla="*/ 192 w 912"/>
              <a:gd name="T69" fmla="*/ 0 h 1681"/>
              <a:gd name="T70" fmla="*/ 912 w 912"/>
              <a:gd name="T71" fmla="*/ 0 h 1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12" h="1681">
                <a:moveTo>
                  <a:pt x="912" y="1681"/>
                </a:moveTo>
                <a:lnTo>
                  <a:pt x="192" y="1681"/>
                </a:lnTo>
                <a:lnTo>
                  <a:pt x="168" y="1679"/>
                </a:lnTo>
                <a:lnTo>
                  <a:pt x="147" y="1677"/>
                </a:lnTo>
                <a:lnTo>
                  <a:pt x="126" y="1673"/>
                </a:lnTo>
                <a:lnTo>
                  <a:pt x="108" y="1669"/>
                </a:lnTo>
                <a:lnTo>
                  <a:pt x="90" y="1661"/>
                </a:lnTo>
                <a:lnTo>
                  <a:pt x="75" y="1653"/>
                </a:lnTo>
                <a:lnTo>
                  <a:pt x="60" y="1643"/>
                </a:lnTo>
                <a:lnTo>
                  <a:pt x="48" y="1633"/>
                </a:lnTo>
                <a:lnTo>
                  <a:pt x="36" y="1619"/>
                </a:lnTo>
                <a:lnTo>
                  <a:pt x="27" y="1605"/>
                </a:lnTo>
                <a:lnTo>
                  <a:pt x="18" y="1589"/>
                </a:lnTo>
                <a:lnTo>
                  <a:pt x="12" y="1573"/>
                </a:lnTo>
                <a:lnTo>
                  <a:pt x="6" y="1553"/>
                </a:lnTo>
                <a:lnTo>
                  <a:pt x="3" y="1533"/>
                </a:lnTo>
                <a:lnTo>
                  <a:pt x="0" y="1511"/>
                </a:lnTo>
                <a:lnTo>
                  <a:pt x="0" y="1489"/>
                </a:lnTo>
                <a:lnTo>
                  <a:pt x="0" y="192"/>
                </a:lnTo>
                <a:lnTo>
                  <a:pt x="0" y="168"/>
                </a:lnTo>
                <a:lnTo>
                  <a:pt x="3" y="147"/>
                </a:lnTo>
                <a:lnTo>
                  <a:pt x="6" y="126"/>
                </a:lnTo>
                <a:lnTo>
                  <a:pt x="12" y="108"/>
                </a:lnTo>
                <a:lnTo>
                  <a:pt x="18" y="90"/>
                </a:lnTo>
                <a:lnTo>
                  <a:pt x="27" y="75"/>
                </a:lnTo>
                <a:lnTo>
                  <a:pt x="36" y="60"/>
                </a:lnTo>
                <a:lnTo>
                  <a:pt x="48" y="48"/>
                </a:lnTo>
                <a:lnTo>
                  <a:pt x="60" y="36"/>
                </a:lnTo>
                <a:lnTo>
                  <a:pt x="75" y="27"/>
                </a:lnTo>
                <a:lnTo>
                  <a:pt x="90" y="18"/>
                </a:lnTo>
                <a:lnTo>
                  <a:pt x="108" y="12"/>
                </a:lnTo>
                <a:lnTo>
                  <a:pt x="126" y="6"/>
                </a:lnTo>
                <a:lnTo>
                  <a:pt x="147" y="3"/>
                </a:lnTo>
                <a:lnTo>
                  <a:pt x="168" y="0"/>
                </a:lnTo>
                <a:lnTo>
                  <a:pt x="192" y="0"/>
                </a:lnTo>
                <a:lnTo>
                  <a:pt x="912"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83" name="Rectangle 159">
            <a:extLst>
              <a:ext uri="{FF2B5EF4-FFF2-40B4-BE49-F238E27FC236}">
                <a16:creationId xmlns:a16="http://schemas.microsoft.com/office/drawing/2014/main" id="{F5730725-1E4F-EE7E-C89E-6BDB5FFE4A19}"/>
              </a:ext>
            </a:extLst>
          </p:cNvPr>
          <p:cNvSpPr>
            <a:spLocks noChangeArrowheads="1"/>
          </p:cNvSpPr>
          <p:nvPr/>
        </p:nvSpPr>
        <p:spPr bwMode="auto">
          <a:xfrm>
            <a:off x="2711450" y="4621213"/>
            <a:ext cx="3984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CIFS</a:t>
            </a:r>
            <a:endParaRPr lang="en-US" altLang="zh-CN" sz="1800">
              <a:solidFill>
                <a:schemeClr val="tx1"/>
              </a:solidFill>
              <a:ea typeface="宋体" panose="02010600030101010101" pitchFamily="2" charset="-122"/>
            </a:endParaRPr>
          </a:p>
        </p:txBody>
      </p:sp>
      <p:sp>
        <p:nvSpPr>
          <p:cNvPr id="103584" name="Rectangle 160">
            <a:extLst>
              <a:ext uri="{FF2B5EF4-FFF2-40B4-BE49-F238E27FC236}">
                <a16:creationId xmlns:a16="http://schemas.microsoft.com/office/drawing/2014/main" id="{96D3811E-E818-2C2E-3642-06EE3A6BC905}"/>
              </a:ext>
            </a:extLst>
          </p:cNvPr>
          <p:cNvSpPr>
            <a:spLocks noChangeArrowheads="1"/>
          </p:cNvSpPr>
          <p:nvPr/>
        </p:nvSpPr>
        <p:spPr bwMode="auto">
          <a:xfrm>
            <a:off x="2598738" y="4830763"/>
            <a:ext cx="6270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Service</a:t>
            </a:r>
            <a:endParaRPr lang="en-US" altLang="zh-CN" sz="1800">
              <a:solidFill>
                <a:schemeClr val="tx1"/>
              </a:solidFill>
              <a:ea typeface="宋体" panose="02010600030101010101" pitchFamily="2" charset="-122"/>
            </a:endParaRPr>
          </a:p>
        </p:txBody>
      </p:sp>
      <p:sp>
        <p:nvSpPr>
          <p:cNvPr id="103586" name="Line 162">
            <a:extLst>
              <a:ext uri="{FF2B5EF4-FFF2-40B4-BE49-F238E27FC236}">
                <a16:creationId xmlns:a16="http://schemas.microsoft.com/office/drawing/2014/main" id="{7F114B95-A8A0-0862-05A4-F776A31E205F}"/>
              </a:ext>
            </a:extLst>
          </p:cNvPr>
          <p:cNvSpPr>
            <a:spLocks noChangeShapeType="1"/>
          </p:cNvSpPr>
          <p:nvPr/>
        </p:nvSpPr>
        <p:spPr bwMode="auto">
          <a:xfrm flipH="1">
            <a:off x="4313238" y="4448175"/>
            <a:ext cx="63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nvGrpSpPr>
          <p:cNvPr id="103637" name="Group 213">
            <a:extLst>
              <a:ext uri="{FF2B5EF4-FFF2-40B4-BE49-F238E27FC236}">
                <a16:creationId xmlns:a16="http://schemas.microsoft.com/office/drawing/2014/main" id="{A63F04E0-1D31-AA1C-4C0C-DEB14FBF8854}"/>
              </a:ext>
            </a:extLst>
          </p:cNvPr>
          <p:cNvGrpSpPr>
            <a:grpSpLocks/>
          </p:cNvGrpSpPr>
          <p:nvPr/>
        </p:nvGrpSpPr>
        <p:grpSpPr bwMode="auto">
          <a:xfrm>
            <a:off x="3429000" y="4445000"/>
            <a:ext cx="1316038" cy="279400"/>
            <a:chOff x="2160" y="2800"/>
            <a:chExt cx="829" cy="176"/>
          </a:xfrm>
        </p:grpSpPr>
        <p:grpSp>
          <p:nvGrpSpPr>
            <p:cNvPr id="103636" name="Group 212">
              <a:extLst>
                <a:ext uri="{FF2B5EF4-FFF2-40B4-BE49-F238E27FC236}">
                  <a16:creationId xmlns:a16="http://schemas.microsoft.com/office/drawing/2014/main" id="{ED56F2E6-0B94-2328-6149-0221FA7697CC}"/>
                </a:ext>
              </a:extLst>
            </p:cNvPr>
            <p:cNvGrpSpPr>
              <a:grpSpLocks/>
            </p:cNvGrpSpPr>
            <p:nvPr/>
          </p:nvGrpSpPr>
          <p:grpSpPr bwMode="auto">
            <a:xfrm>
              <a:off x="2160" y="2800"/>
              <a:ext cx="566" cy="176"/>
              <a:chOff x="2160" y="2800"/>
              <a:chExt cx="566" cy="176"/>
            </a:xfrm>
          </p:grpSpPr>
          <p:grpSp>
            <p:nvGrpSpPr>
              <p:cNvPr id="103635" name="Group 211">
                <a:extLst>
                  <a:ext uri="{FF2B5EF4-FFF2-40B4-BE49-F238E27FC236}">
                    <a16:creationId xmlns:a16="http://schemas.microsoft.com/office/drawing/2014/main" id="{E3A63EC5-C35F-F617-1CB8-0A7950F50629}"/>
                  </a:ext>
                </a:extLst>
              </p:cNvPr>
              <p:cNvGrpSpPr>
                <a:grpSpLocks/>
              </p:cNvGrpSpPr>
              <p:nvPr/>
            </p:nvGrpSpPr>
            <p:grpSpPr bwMode="auto">
              <a:xfrm>
                <a:off x="2160" y="2800"/>
                <a:ext cx="566" cy="176"/>
                <a:chOff x="2160" y="2800"/>
                <a:chExt cx="566" cy="176"/>
              </a:xfrm>
            </p:grpSpPr>
            <p:sp>
              <p:nvSpPr>
                <p:cNvPr id="103589" name="Freeform 165">
                  <a:extLst>
                    <a:ext uri="{FF2B5EF4-FFF2-40B4-BE49-F238E27FC236}">
                      <a16:creationId xmlns:a16="http://schemas.microsoft.com/office/drawing/2014/main" id="{A05834E6-2200-0AB3-D1BF-3E226E0E3AB8}"/>
                    </a:ext>
                  </a:extLst>
                </p:cNvPr>
                <p:cNvSpPr>
                  <a:spLocks/>
                </p:cNvSpPr>
                <p:nvPr/>
              </p:nvSpPr>
              <p:spPr bwMode="auto">
                <a:xfrm>
                  <a:off x="2160" y="2800"/>
                  <a:ext cx="566" cy="176"/>
                </a:xfrm>
                <a:custGeom>
                  <a:avLst/>
                  <a:gdLst>
                    <a:gd name="T0" fmla="*/ 211 w 1699"/>
                    <a:gd name="T1" fmla="*/ 0 h 528"/>
                    <a:gd name="T2" fmla="*/ 168 w 1699"/>
                    <a:gd name="T3" fmla="*/ 5 h 528"/>
                    <a:gd name="T4" fmla="*/ 130 w 1699"/>
                    <a:gd name="T5" fmla="*/ 21 h 528"/>
                    <a:gd name="T6" fmla="*/ 94 w 1699"/>
                    <a:gd name="T7" fmla="*/ 44 h 528"/>
                    <a:gd name="T8" fmla="*/ 63 w 1699"/>
                    <a:gd name="T9" fmla="*/ 77 h 528"/>
                    <a:gd name="T10" fmla="*/ 24 w 1699"/>
                    <a:gd name="T11" fmla="*/ 138 h 528"/>
                    <a:gd name="T12" fmla="*/ 7 w 1699"/>
                    <a:gd name="T13" fmla="*/ 185 h 528"/>
                    <a:gd name="T14" fmla="*/ 0 w 1699"/>
                    <a:gd name="T15" fmla="*/ 264 h 528"/>
                    <a:gd name="T16" fmla="*/ 4 w 1699"/>
                    <a:gd name="T17" fmla="*/ 316 h 528"/>
                    <a:gd name="T18" fmla="*/ 16 w 1699"/>
                    <a:gd name="T19" fmla="*/ 365 h 528"/>
                    <a:gd name="T20" fmla="*/ 35 w 1699"/>
                    <a:gd name="T21" fmla="*/ 410 h 528"/>
                    <a:gd name="T22" fmla="*/ 63 w 1699"/>
                    <a:gd name="T23" fmla="*/ 450 h 528"/>
                    <a:gd name="T24" fmla="*/ 95 w 1699"/>
                    <a:gd name="T25" fmla="*/ 484 h 528"/>
                    <a:gd name="T26" fmla="*/ 132 w 1699"/>
                    <a:gd name="T27" fmla="*/ 508 h 528"/>
                    <a:gd name="T28" fmla="*/ 172 w 1699"/>
                    <a:gd name="T29" fmla="*/ 522 h 528"/>
                    <a:gd name="T30" fmla="*/ 216 w 1699"/>
                    <a:gd name="T31" fmla="*/ 528 h 528"/>
                    <a:gd name="T32" fmla="*/ 1699 w 1699"/>
                    <a:gd name="T33" fmla="*/ 528 h 528"/>
                    <a:gd name="T34" fmla="*/ 1656 w 1699"/>
                    <a:gd name="T35" fmla="*/ 521 h 528"/>
                    <a:gd name="T36" fmla="*/ 1618 w 1699"/>
                    <a:gd name="T37" fmla="*/ 507 h 528"/>
                    <a:gd name="T38" fmla="*/ 1582 w 1699"/>
                    <a:gd name="T39" fmla="*/ 483 h 528"/>
                    <a:gd name="T40" fmla="*/ 1550 w 1699"/>
                    <a:gd name="T41" fmla="*/ 450 h 528"/>
                    <a:gd name="T42" fmla="*/ 1523 w 1699"/>
                    <a:gd name="T43" fmla="*/ 410 h 528"/>
                    <a:gd name="T44" fmla="*/ 1504 w 1699"/>
                    <a:gd name="T45" fmla="*/ 365 h 528"/>
                    <a:gd name="T46" fmla="*/ 1492 w 1699"/>
                    <a:gd name="T47" fmla="*/ 316 h 528"/>
                    <a:gd name="T48" fmla="*/ 1488 w 1699"/>
                    <a:gd name="T49" fmla="*/ 264 h 528"/>
                    <a:gd name="T50" fmla="*/ 1495 w 1699"/>
                    <a:gd name="T51" fmla="*/ 185 h 528"/>
                    <a:gd name="T52" fmla="*/ 1512 w 1699"/>
                    <a:gd name="T53" fmla="*/ 138 h 528"/>
                    <a:gd name="T54" fmla="*/ 1550 w 1699"/>
                    <a:gd name="T55" fmla="*/ 77 h 528"/>
                    <a:gd name="T56" fmla="*/ 1582 w 1699"/>
                    <a:gd name="T57" fmla="*/ 44 h 528"/>
                    <a:gd name="T58" fmla="*/ 1618 w 1699"/>
                    <a:gd name="T59" fmla="*/ 21 h 528"/>
                    <a:gd name="T60" fmla="*/ 1656 w 1699"/>
                    <a:gd name="T61" fmla="*/ 5 h 528"/>
                    <a:gd name="T62" fmla="*/ 1699 w 1699"/>
                    <a:gd name="T63"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99" h="528">
                      <a:moveTo>
                        <a:pt x="936" y="0"/>
                      </a:moveTo>
                      <a:lnTo>
                        <a:pt x="211" y="0"/>
                      </a:lnTo>
                      <a:lnTo>
                        <a:pt x="189" y="2"/>
                      </a:lnTo>
                      <a:lnTo>
                        <a:pt x="168" y="5"/>
                      </a:lnTo>
                      <a:lnTo>
                        <a:pt x="148" y="11"/>
                      </a:lnTo>
                      <a:lnTo>
                        <a:pt x="130" y="21"/>
                      </a:lnTo>
                      <a:lnTo>
                        <a:pt x="111" y="30"/>
                      </a:lnTo>
                      <a:lnTo>
                        <a:pt x="94" y="44"/>
                      </a:lnTo>
                      <a:lnTo>
                        <a:pt x="77" y="59"/>
                      </a:lnTo>
                      <a:lnTo>
                        <a:pt x="63" y="77"/>
                      </a:lnTo>
                      <a:lnTo>
                        <a:pt x="35" y="117"/>
                      </a:lnTo>
                      <a:lnTo>
                        <a:pt x="24" y="138"/>
                      </a:lnTo>
                      <a:lnTo>
                        <a:pt x="16" y="162"/>
                      </a:lnTo>
                      <a:lnTo>
                        <a:pt x="7" y="185"/>
                      </a:lnTo>
                      <a:lnTo>
                        <a:pt x="4" y="210"/>
                      </a:lnTo>
                      <a:lnTo>
                        <a:pt x="0" y="264"/>
                      </a:lnTo>
                      <a:lnTo>
                        <a:pt x="0" y="290"/>
                      </a:lnTo>
                      <a:lnTo>
                        <a:pt x="4" y="316"/>
                      </a:lnTo>
                      <a:lnTo>
                        <a:pt x="7" y="340"/>
                      </a:lnTo>
                      <a:lnTo>
                        <a:pt x="16" y="365"/>
                      </a:lnTo>
                      <a:lnTo>
                        <a:pt x="24" y="387"/>
                      </a:lnTo>
                      <a:lnTo>
                        <a:pt x="35" y="410"/>
                      </a:lnTo>
                      <a:lnTo>
                        <a:pt x="47" y="430"/>
                      </a:lnTo>
                      <a:lnTo>
                        <a:pt x="63" y="450"/>
                      </a:lnTo>
                      <a:lnTo>
                        <a:pt x="78" y="468"/>
                      </a:lnTo>
                      <a:lnTo>
                        <a:pt x="95" y="484"/>
                      </a:lnTo>
                      <a:lnTo>
                        <a:pt x="113" y="497"/>
                      </a:lnTo>
                      <a:lnTo>
                        <a:pt x="132" y="508"/>
                      </a:lnTo>
                      <a:lnTo>
                        <a:pt x="151" y="516"/>
                      </a:lnTo>
                      <a:lnTo>
                        <a:pt x="172" y="522"/>
                      </a:lnTo>
                      <a:lnTo>
                        <a:pt x="193" y="526"/>
                      </a:lnTo>
                      <a:lnTo>
                        <a:pt x="216" y="528"/>
                      </a:lnTo>
                      <a:lnTo>
                        <a:pt x="222" y="528"/>
                      </a:lnTo>
                      <a:lnTo>
                        <a:pt x="1699" y="528"/>
                      </a:lnTo>
                      <a:lnTo>
                        <a:pt x="1676" y="525"/>
                      </a:lnTo>
                      <a:lnTo>
                        <a:pt x="1656" y="521"/>
                      </a:lnTo>
                      <a:lnTo>
                        <a:pt x="1636" y="515"/>
                      </a:lnTo>
                      <a:lnTo>
                        <a:pt x="1618" y="507"/>
                      </a:lnTo>
                      <a:lnTo>
                        <a:pt x="1598" y="496"/>
                      </a:lnTo>
                      <a:lnTo>
                        <a:pt x="1582" y="483"/>
                      </a:lnTo>
                      <a:lnTo>
                        <a:pt x="1565" y="467"/>
                      </a:lnTo>
                      <a:lnTo>
                        <a:pt x="1550" y="450"/>
                      </a:lnTo>
                      <a:lnTo>
                        <a:pt x="1535" y="430"/>
                      </a:lnTo>
                      <a:lnTo>
                        <a:pt x="1523" y="410"/>
                      </a:lnTo>
                      <a:lnTo>
                        <a:pt x="1512" y="387"/>
                      </a:lnTo>
                      <a:lnTo>
                        <a:pt x="1504" y="365"/>
                      </a:lnTo>
                      <a:lnTo>
                        <a:pt x="1495" y="340"/>
                      </a:lnTo>
                      <a:lnTo>
                        <a:pt x="1492" y="316"/>
                      </a:lnTo>
                      <a:lnTo>
                        <a:pt x="1488" y="290"/>
                      </a:lnTo>
                      <a:lnTo>
                        <a:pt x="1488" y="264"/>
                      </a:lnTo>
                      <a:lnTo>
                        <a:pt x="1492" y="210"/>
                      </a:lnTo>
                      <a:lnTo>
                        <a:pt x="1495" y="185"/>
                      </a:lnTo>
                      <a:lnTo>
                        <a:pt x="1504" y="162"/>
                      </a:lnTo>
                      <a:lnTo>
                        <a:pt x="1512" y="138"/>
                      </a:lnTo>
                      <a:lnTo>
                        <a:pt x="1523" y="117"/>
                      </a:lnTo>
                      <a:lnTo>
                        <a:pt x="1550" y="77"/>
                      </a:lnTo>
                      <a:lnTo>
                        <a:pt x="1565" y="59"/>
                      </a:lnTo>
                      <a:lnTo>
                        <a:pt x="1582" y="44"/>
                      </a:lnTo>
                      <a:lnTo>
                        <a:pt x="1598" y="30"/>
                      </a:lnTo>
                      <a:lnTo>
                        <a:pt x="1618" y="21"/>
                      </a:lnTo>
                      <a:lnTo>
                        <a:pt x="1636" y="11"/>
                      </a:lnTo>
                      <a:lnTo>
                        <a:pt x="1656" y="5"/>
                      </a:lnTo>
                      <a:lnTo>
                        <a:pt x="1676" y="2"/>
                      </a:lnTo>
                      <a:lnTo>
                        <a:pt x="1699" y="0"/>
                      </a:lnTo>
                    </a:path>
                  </a:pathLst>
                </a:custGeom>
                <a:solidFill>
                  <a:srgbClr val="FFCC00"/>
                </a:solidFill>
                <a:ln w="19050">
                  <a:solidFill>
                    <a:srgbClr val="000000"/>
                  </a:solidFill>
                  <a:prstDash val="solid"/>
                  <a:round/>
                  <a:headEnd/>
                  <a:tailEnd/>
                </a:ln>
              </p:spPr>
              <p:txBody>
                <a:bodyPr/>
                <a:lstStyle/>
                <a:p>
                  <a:endParaRPr lang="en-IN"/>
                </a:p>
              </p:txBody>
            </p:sp>
            <p:sp>
              <p:nvSpPr>
                <p:cNvPr id="103587" name="Line 163">
                  <a:extLst>
                    <a:ext uri="{FF2B5EF4-FFF2-40B4-BE49-F238E27FC236}">
                      <a16:creationId xmlns:a16="http://schemas.microsoft.com/office/drawing/2014/main" id="{36FD90EC-55A4-7E73-F8AC-5763D55BBE8D}"/>
                    </a:ext>
                  </a:extLst>
                </p:cNvPr>
                <p:cNvSpPr>
                  <a:spLocks noChangeShapeType="1"/>
                </p:cNvSpPr>
                <p:nvPr/>
              </p:nvSpPr>
              <p:spPr bwMode="auto">
                <a:xfrm flipH="1">
                  <a:off x="2472" y="2800"/>
                  <a:ext cx="6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88" name="Line 164">
                  <a:extLst>
                    <a:ext uri="{FF2B5EF4-FFF2-40B4-BE49-F238E27FC236}">
                      <a16:creationId xmlns:a16="http://schemas.microsoft.com/office/drawing/2014/main" id="{E1989EB4-D1D7-A6CD-559A-E68BF97FFEAE}"/>
                    </a:ext>
                  </a:extLst>
                </p:cNvPr>
                <p:cNvSpPr>
                  <a:spLocks noChangeShapeType="1"/>
                </p:cNvSpPr>
                <p:nvPr/>
              </p:nvSpPr>
              <p:spPr bwMode="auto">
                <a:xfrm flipH="1">
                  <a:off x="2535" y="2800"/>
                  <a:ext cx="19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03590" name="Rectangle 166">
                <a:extLst>
                  <a:ext uri="{FF2B5EF4-FFF2-40B4-BE49-F238E27FC236}">
                    <a16:creationId xmlns:a16="http://schemas.microsoft.com/office/drawing/2014/main" id="{3AA469D9-58A7-CC9F-39AB-21710234168D}"/>
                  </a:ext>
                </a:extLst>
              </p:cNvPr>
              <p:cNvSpPr>
                <a:spLocks noChangeArrowheads="1"/>
              </p:cNvSpPr>
              <p:nvPr/>
            </p:nvSpPr>
            <p:spPr bwMode="auto">
              <a:xfrm>
                <a:off x="2220" y="2833"/>
                <a:ext cx="3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Keytab</a:t>
                </a:r>
                <a:endParaRPr lang="en-US" altLang="zh-CN" sz="1800">
                  <a:solidFill>
                    <a:schemeClr val="tx1"/>
                  </a:solidFill>
                  <a:ea typeface="宋体" panose="02010600030101010101" pitchFamily="2" charset="-122"/>
                </a:endParaRPr>
              </a:p>
            </p:txBody>
          </p:sp>
        </p:grpSp>
        <p:sp>
          <p:nvSpPr>
            <p:cNvPr id="103591" name="Rectangle 167">
              <a:extLst>
                <a:ext uri="{FF2B5EF4-FFF2-40B4-BE49-F238E27FC236}">
                  <a16:creationId xmlns:a16="http://schemas.microsoft.com/office/drawing/2014/main" id="{9FA0550C-A90E-3368-78CE-F7B71654A94A}"/>
                </a:ext>
              </a:extLst>
            </p:cNvPr>
            <p:cNvSpPr>
              <a:spLocks noChangeArrowheads="1"/>
            </p:cNvSpPr>
            <p:nvPr/>
          </p:nvSpPr>
          <p:spPr bwMode="auto">
            <a:xfrm>
              <a:off x="2817" y="2833"/>
              <a:ext cx="17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(7)</a:t>
              </a:r>
              <a:endParaRPr lang="en-US" altLang="zh-CN" sz="1800">
                <a:solidFill>
                  <a:schemeClr val="tx1"/>
                </a:solidFill>
                <a:ea typeface="宋体" panose="02010600030101010101" pitchFamily="2" charset="-122"/>
              </a:endParaRPr>
            </a:p>
          </p:txBody>
        </p:sp>
      </p:grpSp>
      <p:sp>
        <p:nvSpPr>
          <p:cNvPr id="103592" name="Freeform 168">
            <a:extLst>
              <a:ext uri="{FF2B5EF4-FFF2-40B4-BE49-F238E27FC236}">
                <a16:creationId xmlns:a16="http://schemas.microsoft.com/office/drawing/2014/main" id="{0964479F-F361-C4BE-D7F6-5C280C5461ED}"/>
              </a:ext>
            </a:extLst>
          </p:cNvPr>
          <p:cNvSpPr>
            <a:spLocks/>
          </p:cNvSpPr>
          <p:nvPr/>
        </p:nvSpPr>
        <p:spPr bwMode="auto">
          <a:xfrm>
            <a:off x="3408363" y="4854575"/>
            <a:ext cx="1230312" cy="330200"/>
          </a:xfrm>
          <a:custGeom>
            <a:avLst/>
            <a:gdLst>
              <a:gd name="T0" fmla="*/ 0 w 2327"/>
              <a:gd name="T1" fmla="*/ 432 h 624"/>
              <a:gd name="T2" fmla="*/ 2 w 2327"/>
              <a:gd name="T3" fmla="*/ 476 h 624"/>
              <a:gd name="T4" fmla="*/ 12 w 2327"/>
              <a:gd name="T5" fmla="*/ 516 h 624"/>
              <a:gd name="T6" fmla="*/ 26 w 2327"/>
              <a:gd name="T7" fmla="*/ 548 h 624"/>
              <a:gd name="T8" fmla="*/ 48 w 2327"/>
              <a:gd name="T9" fmla="*/ 576 h 624"/>
              <a:gd name="T10" fmla="*/ 74 w 2327"/>
              <a:gd name="T11" fmla="*/ 596 h 624"/>
              <a:gd name="T12" fmla="*/ 108 w 2327"/>
              <a:gd name="T13" fmla="*/ 612 h 624"/>
              <a:gd name="T14" fmla="*/ 146 w 2327"/>
              <a:gd name="T15" fmla="*/ 620 h 624"/>
              <a:gd name="T16" fmla="*/ 192 w 2327"/>
              <a:gd name="T17" fmla="*/ 624 h 624"/>
              <a:gd name="T18" fmla="*/ 2139 w 2327"/>
              <a:gd name="T19" fmla="*/ 622 h 624"/>
              <a:gd name="T20" fmla="*/ 2157 w 2327"/>
              <a:gd name="T21" fmla="*/ 622 h 624"/>
              <a:gd name="T22" fmla="*/ 2189 w 2327"/>
              <a:gd name="T23" fmla="*/ 618 h 624"/>
              <a:gd name="T24" fmla="*/ 2199 w 2327"/>
              <a:gd name="T25" fmla="*/ 616 h 624"/>
              <a:gd name="T26" fmla="*/ 2235 w 2327"/>
              <a:gd name="T27" fmla="*/ 604 h 624"/>
              <a:gd name="T28" fmla="*/ 2246 w 2327"/>
              <a:gd name="T29" fmla="*/ 597 h 624"/>
              <a:gd name="T30" fmla="*/ 2265 w 2327"/>
              <a:gd name="T31" fmla="*/ 586 h 624"/>
              <a:gd name="T32" fmla="*/ 2271 w 2327"/>
              <a:gd name="T33" fmla="*/ 580 h 624"/>
              <a:gd name="T34" fmla="*/ 2283 w 2327"/>
              <a:gd name="T35" fmla="*/ 568 h 624"/>
              <a:gd name="T36" fmla="*/ 2289 w 2327"/>
              <a:gd name="T37" fmla="*/ 562 h 624"/>
              <a:gd name="T38" fmla="*/ 2300 w 2327"/>
              <a:gd name="T39" fmla="*/ 543 h 624"/>
              <a:gd name="T40" fmla="*/ 2307 w 2327"/>
              <a:gd name="T41" fmla="*/ 532 h 624"/>
              <a:gd name="T42" fmla="*/ 2319 w 2327"/>
              <a:gd name="T43" fmla="*/ 496 h 624"/>
              <a:gd name="T44" fmla="*/ 2321 w 2327"/>
              <a:gd name="T45" fmla="*/ 486 h 624"/>
              <a:gd name="T46" fmla="*/ 2325 w 2327"/>
              <a:gd name="T47" fmla="*/ 454 h 624"/>
              <a:gd name="T48" fmla="*/ 2325 w 2327"/>
              <a:gd name="T49" fmla="*/ 436 h 624"/>
              <a:gd name="T50" fmla="*/ 2327 w 2327"/>
              <a:gd name="T51" fmla="*/ 360 h 624"/>
              <a:gd name="T52" fmla="*/ 2327 w 2327"/>
              <a:gd name="T53" fmla="*/ 312 h 624"/>
              <a:gd name="T54" fmla="*/ 2325 w 2327"/>
              <a:gd name="T55" fmla="*/ 168 h 624"/>
              <a:gd name="T56" fmla="*/ 2319 w 2327"/>
              <a:gd name="T57" fmla="*/ 126 h 624"/>
              <a:gd name="T58" fmla="*/ 2307 w 2327"/>
              <a:gd name="T59" fmla="*/ 90 h 624"/>
              <a:gd name="T60" fmla="*/ 2289 w 2327"/>
              <a:gd name="T61" fmla="*/ 60 h 624"/>
              <a:gd name="T62" fmla="*/ 2265 w 2327"/>
              <a:gd name="T63" fmla="*/ 36 h 624"/>
              <a:gd name="T64" fmla="*/ 2235 w 2327"/>
              <a:gd name="T65" fmla="*/ 18 h 624"/>
              <a:gd name="T66" fmla="*/ 2199 w 2327"/>
              <a:gd name="T67" fmla="*/ 6 h 624"/>
              <a:gd name="T68" fmla="*/ 2157 w 2327"/>
              <a:gd name="T69" fmla="*/ 0 h 624"/>
              <a:gd name="T70" fmla="*/ 192 w 2327"/>
              <a:gd name="T71" fmla="*/ 0 h 624"/>
              <a:gd name="T72" fmla="*/ 146 w 2327"/>
              <a:gd name="T73" fmla="*/ 2 h 624"/>
              <a:gd name="T74" fmla="*/ 108 w 2327"/>
              <a:gd name="T75" fmla="*/ 12 h 624"/>
              <a:gd name="T76" fmla="*/ 74 w 2327"/>
              <a:gd name="T77" fmla="*/ 26 h 624"/>
              <a:gd name="T78" fmla="*/ 48 w 2327"/>
              <a:gd name="T79" fmla="*/ 48 h 624"/>
              <a:gd name="T80" fmla="*/ 26 w 2327"/>
              <a:gd name="T81" fmla="*/ 74 h 624"/>
              <a:gd name="T82" fmla="*/ 12 w 2327"/>
              <a:gd name="T83" fmla="*/ 108 h 624"/>
              <a:gd name="T84" fmla="*/ 2 w 2327"/>
              <a:gd name="T85" fmla="*/ 146 h 624"/>
              <a:gd name="T86" fmla="*/ 0 w 2327"/>
              <a:gd name="T87" fmla="*/ 192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27" h="624">
                <a:moveTo>
                  <a:pt x="0" y="192"/>
                </a:moveTo>
                <a:lnTo>
                  <a:pt x="0" y="432"/>
                </a:lnTo>
                <a:lnTo>
                  <a:pt x="0" y="454"/>
                </a:lnTo>
                <a:lnTo>
                  <a:pt x="2" y="476"/>
                </a:lnTo>
                <a:lnTo>
                  <a:pt x="6" y="496"/>
                </a:lnTo>
                <a:lnTo>
                  <a:pt x="12" y="516"/>
                </a:lnTo>
                <a:lnTo>
                  <a:pt x="18" y="532"/>
                </a:lnTo>
                <a:lnTo>
                  <a:pt x="26" y="548"/>
                </a:lnTo>
                <a:lnTo>
                  <a:pt x="36" y="562"/>
                </a:lnTo>
                <a:lnTo>
                  <a:pt x="48" y="576"/>
                </a:lnTo>
                <a:lnTo>
                  <a:pt x="60" y="586"/>
                </a:lnTo>
                <a:lnTo>
                  <a:pt x="74" y="596"/>
                </a:lnTo>
                <a:lnTo>
                  <a:pt x="90" y="604"/>
                </a:lnTo>
                <a:lnTo>
                  <a:pt x="108" y="612"/>
                </a:lnTo>
                <a:lnTo>
                  <a:pt x="126" y="616"/>
                </a:lnTo>
                <a:lnTo>
                  <a:pt x="146" y="620"/>
                </a:lnTo>
                <a:lnTo>
                  <a:pt x="168" y="622"/>
                </a:lnTo>
                <a:lnTo>
                  <a:pt x="192" y="624"/>
                </a:lnTo>
                <a:lnTo>
                  <a:pt x="2135" y="624"/>
                </a:lnTo>
                <a:lnTo>
                  <a:pt x="2139" y="622"/>
                </a:lnTo>
                <a:lnTo>
                  <a:pt x="2145" y="622"/>
                </a:lnTo>
                <a:lnTo>
                  <a:pt x="2157" y="622"/>
                </a:lnTo>
                <a:lnTo>
                  <a:pt x="2179" y="620"/>
                </a:lnTo>
                <a:lnTo>
                  <a:pt x="2189" y="618"/>
                </a:lnTo>
                <a:lnTo>
                  <a:pt x="2193" y="616"/>
                </a:lnTo>
                <a:lnTo>
                  <a:pt x="2199" y="616"/>
                </a:lnTo>
                <a:lnTo>
                  <a:pt x="2219" y="612"/>
                </a:lnTo>
                <a:lnTo>
                  <a:pt x="2235" y="604"/>
                </a:lnTo>
                <a:lnTo>
                  <a:pt x="2243" y="600"/>
                </a:lnTo>
                <a:lnTo>
                  <a:pt x="2246" y="597"/>
                </a:lnTo>
                <a:lnTo>
                  <a:pt x="2251" y="596"/>
                </a:lnTo>
                <a:lnTo>
                  <a:pt x="2265" y="586"/>
                </a:lnTo>
                <a:lnTo>
                  <a:pt x="2268" y="583"/>
                </a:lnTo>
                <a:lnTo>
                  <a:pt x="2271" y="580"/>
                </a:lnTo>
                <a:lnTo>
                  <a:pt x="2279" y="576"/>
                </a:lnTo>
                <a:lnTo>
                  <a:pt x="2283" y="568"/>
                </a:lnTo>
                <a:lnTo>
                  <a:pt x="2286" y="565"/>
                </a:lnTo>
                <a:lnTo>
                  <a:pt x="2289" y="562"/>
                </a:lnTo>
                <a:lnTo>
                  <a:pt x="2299" y="548"/>
                </a:lnTo>
                <a:lnTo>
                  <a:pt x="2300" y="543"/>
                </a:lnTo>
                <a:lnTo>
                  <a:pt x="2303" y="540"/>
                </a:lnTo>
                <a:lnTo>
                  <a:pt x="2307" y="532"/>
                </a:lnTo>
                <a:lnTo>
                  <a:pt x="2315" y="516"/>
                </a:lnTo>
                <a:lnTo>
                  <a:pt x="2319" y="496"/>
                </a:lnTo>
                <a:lnTo>
                  <a:pt x="2319" y="490"/>
                </a:lnTo>
                <a:lnTo>
                  <a:pt x="2321" y="486"/>
                </a:lnTo>
                <a:lnTo>
                  <a:pt x="2323" y="476"/>
                </a:lnTo>
                <a:lnTo>
                  <a:pt x="2325" y="454"/>
                </a:lnTo>
                <a:lnTo>
                  <a:pt x="2325" y="442"/>
                </a:lnTo>
                <a:lnTo>
                  <a:pt x="2325" y="436"/>
                </a:lnTo>
                <a:lnTo>
                  <a:pt x="2327" y="432"/>
                </a:lnTo>
                <a:lnTo>
                  <a:pt x="2327" y="360"/>
                </a:lnTo>
                <a:lnTo>
                  <a:pt x="2327" y="336"/>
                </a:lnTo>
                <a:lnTo>
                  <a:pt x="2327" y="312"/>
                </a:lnTo>
                <a:lnTo>
                  <a:pt x="2327" y="192"/>
                </a:lnTo>
                <a:lnTo>
                  <a:pt x="2325" y="168"/>
                </a:lnTo>
                <a:lnTo>
                  <a:pt x="2323" y="146"/>
                </a:lnTo>
                <a:lnTo>
                  <a:pt x="2319" y="126"/>
                </a:lnTo>
                <a:lnTo>
                  <a:pt x="2315" y="108"/>
                </a:lnTo>
                <a:lnTo>
                  <a:pt x="2307" y="90"/>
                </a:lnTo>
                <a:lnTo>
                  <a:pt x="2299" y="74"/>
                </a:lnTo>
                <a:lnTo>
                  <a:pt x="2289" y="60"/>
                </a:lnTo>
                <a:lnTo>
                  <a:pt x="2279" y="48"/>
                </a:lnTo>
                <a:lnTo>
                  <a:pt x="2265" y="36"/>
                </a:lnTo>
                <a:lnTo>
                  <a:pt x="2251" y="26"/>
                </a:lnTo>
                <a:lnTo>
                  <a:pt x="2235" y="18"/>
                </a:lnTo>
                <a:lnTo>
                  <a:pt x="2219" y="12"/>
                </a:lnTo>
                <a:lnTo>
                  <a:pt x="2199" y="6"/>
                </a:lnTo>
                <a:lnTo>
                  <a:pt x="2179" y="2"/>
                </a:lnTo>
                <a:lnTo>
                  <a:pt x="2157" y="0"/>
                </a:lnTo>
                <a:lnTo>
                  <a:pt x="2135" y="0"/>
                </a:lnTo>
                <a:lnTo>
                  <a:pt x="192" y="0"/>
                </a:lnTo>
                <a:lnTo>
                  <a:pt x="168" y="0"/>
                </a:lnTo>
                <a:lnTo>
                  <a:pt x="146" y="2"/>
                </a:lnTo>
                <a:lnTo>
                  <a:pt x="126" y="6"/>
                </a:lnTo>
                <a:lnTo>
                  <a:pt x="108" y="12"/>
                </a:lnTo>
                <a:lnTo>
                  <a:pt x="90" y="18"/>
                </a:lnTo>
                <a:lnTo>
                  <a:pt x="74" y="26"/>
                </a:lnTo>
                <a:lnTo>
                  <a:pt x="60" y="36"/>
                </a:lnTo>
                <a:lnTo>
                  <a:pt x="48" y="48"/>
                </a:lnTo>
                <a:lnTo>
                  <a:pt x="36" y="60"/>
                </a:lnTo>
                <a:lnTo>
                  <a:pt x="26" y="74"/>
                </a:lnTo>
                <a:lnTo>
                  <a:pt x="18" y="90"/>
                </a:lnTo>
                <a:lnTo>
                  <a:pt x="12" y="108"/>
                </a:lnTo>
                <a:lnTo>
                  <a:pt x="6" y="126"/>
                </a:lnTo>
                <a:lnTo>
                  <a:pt x="2" y="146"/>
                </a:lnTo>
                <a:lnTo>
                  <a:pt x="0" y="168"/>
                </a:lnTo>
                <a:lnTo>
                  <a:pt x="0" y="192"/>
                </a:lnTo>
                <a:close/>
              </a:path>
            </a:pathLst>
          </a:cu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593" name="Line 169">
            <a:extLst>
              <a:ext uri="{FF2B5EF4-FFF2-40B4-BE49-F238E27FC236}">
                <a16:creationId xmlns:a16="http://schemas.microsoft.com/office/drawing/2014/main" id="{D5866F5C-906E-1D82-7304-3923E45746F3}"/>
              </a:ext>
            </a:extLst>
          </p:cNvPr>
          <p:cNvSpPr>
            <a:spLocks noChangeShapeType="1"/>
          </p:cNvSpPr>
          <p:nvPr/>
        </p:nvSpPr>
        <p:spPr bwMode="auto">
          <a:xfrm>
            <a:off x="4638675" y="5019675"/>
            <a:ext cx="0" cy="127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594" name="Freeform 170">
            <a:extLst>
              <a:ext uri="{FF2B5EF4-FFF2-40B4-BE49-F238E27FC236}">
                <a16:creationId xmlns:a16="http://schemas.microsoft.com/office/drawing/2014/main" id="{490C4D39-59B2-42E3-04D0-E2B0C03432E3}"/>
              </a:ext>
            </a:extLst>
          </p:cNvPr>
          <p:cNvSpPr>
            <a:spLocks/>
          </p:cNvSpPr>
          <p:nvPr/>
        </p:nvSpPr>
        <p:spPr bwMode="auto">
          <a:xfrm>
            <a:off x="3408363" y="4854575"/>
            <a:ext cx="1230312" cy="330200"/>
          </a:xfrm>
          <a:custGeom>
            <a:avLst/>
            <a:gdLst>
              <a:gd name="T0" fmla="*/ 2327 w 2327"/>
              <a:gd name="T1" fmla="*/ 432 h 624"/>
              <a:gd name="T2" fmla="*/ 2325 w 2327"/>
              <a:gd name="T3" fmla="*/ 442 h 624"/>
              <a:gd name="T4" fmla="*/ 2323 w 2327"/>
              <a:gd name="T5" fmla="*/ 476 h 624"/>
              <a:gd name="T6" fmla="*/ 2319 w 2327"/>
              <a:gd name="T7" fmla="*/ 490 h 624"/>
              <a:gd name="T8" fmla="*/ 2315 w 2327"/>
              <a:gd name="T9" fmla="*/ 516 h 624"/>
              <a:gd name="T10" fmla="*/ 2303 w 2327"/>
              <a:gd name="T11" fmla="*/ 540 h 624"/>
              <a:gd name="T12" fmla="*/ 2299 w 2327"/>
              <a:gd name="T13" fmla="*/ 548 h 624"/>
              <a:gd name="T14" fmla="*/ 2286 w 2327"/>
              <a:gd name="T15" fmla="*/ 565 h 624"/>
              <a:gd name="T16" fmla="*/ 2279 w 2327"/>
              <a:gd name="T17" fmla="*/ 576 h 624"/>
              <a:gd name="T18" fmla="*/ 2268 w 2327"/>
              <a:gd name="T19" fmla="*/ 583 h 624"/>
              <a:gd name="T20" fmla="*/ 2251 w 2327"/>
              <a:gd name="T21" fmla="*/ 596 h 624"/>
              <a:gd name="T22" fmla="*/ 2243 w 2327"/>
              <a:gd name="T23" fmla="*/ 600 h 624"/>
              <a:gd name="T24" fmla="*/ 2219 w 2327"/>
              <a:gd name="T25" fmla="*/ 612 h 624"/>
              <a:gd name="T26" fmla="*/ 2193 w 2327"/>
              <a:gd name="T27" fmla="*/ 616 h 624"/>
              <a:gd name="T28" fmla="*/ 2179 w 2327"/>
              <a:gd name="T29" fmla="*/ 620 h 624"/>
              <a:gd name="T30" fmla="*/ 2145 w 2327"/>
              <a:gd name="T31" fmla="*/ 622 h 624"/>
              <a:gd name="T32" fmla="*/ 2135 w 2327"/>
              <a:gd name="T33" fmla="*/ 624 h 624"/>
              <a:gd name="T34" fmla="*/ 168 w 2327"/>
              <a:gd name="T35" fmla="*/ 622 h 624"/>
              <a:gd name="T36" fmla="*/ 126 w 2327"/>
              <a:gd name="T37" fmla="*/ 616 h 624"/>
              <a:gd name="T38" fmla="*/ 90 w 2327"/>
              <a:gd name="T39" fmla="*/ 604 h 624"/>
              <a:gd name="T40" fmla="*/ 60 w 2327"/>
              <a:gd name="T41" fmla="*/ 586 h 624"/>
              <a:gd name="T42" fmla="*/ 36 w 2327"/>
              <a:gd name="T43" fmla="*/ 562 h 624"/>
              <a:gd name="T44" fmla="*/ 18 w 2327"/>
              <a:gd name="T45" fmla="*/ 532 h 624"/>
              <a:gd name="T46" fmla="*/ 6 w 2327"/>
              <a:gd name="T47" fmla="*/ 496 h 624"/>
              <a:gd name="T48" fmla="*/ 0 w 2327"/>
              <a:gd name="T49" fmla="*/ 454 h 624"/>
              <a:gd name="T50" fmla="*/ 0 w 2327"/>
              <a:gd name="T51" fmla="*/ 192 h 624"/>
              <a:gd name="T52" fmla="*/ 2 w 2327"/>
              <a:gd name="T53" fmla="*/ 146 h 624"/>
              <a:gd name="T54" fmla="*/ 12 w 2327"/>
              <a:gd name="T55" fmla="*/ 108 h 624"/>
              <a:gd name="T56" fmla="*/ 26 w 2327"/>
              <a:gd name="T57" fmla="*/ 74 h 624"/>
              <a:gd name="T58" fmla="*/ 48 w 2327"/>
              <a:gd name="T59" fmla="*/ 48 h 624"/>
              <a:gd name="T60" fmla="*/ 74 w 2327"/>
              <a:gd name="T61" fmla="*/ 26 h 624"/>
              <a:gd name="T62" fmla="*/ 108 w 2327"/>
              <a:gd name="T63" fmla="*/ 12 h 624"/>
              <a:gd name="T64" fmla="*/ 146 w 2327"/>
              <a:gd name="T65" fmla="*/ 2 h 624"/>
              <a:gd name="T66" fmla="*/ 192 w 2327"/>
              <a:gd name="T67" fmla="*/ 0 h 624"/>
              <a:gd name="T68" fmla="*/ 2157 w 2327"/>
              <a:gd name="T69" fmla="*/ 0 h 624"/>
              <a:gd name="T70" fmla="*/ 2199 w 2327"/>
              <a:gd name="T71" fmla="*/ 6 h 624"/>
              <a:gd name="T72" fmla="*/ 2235 w 2327"/>
              <a:gd name="T73" fmla="*/ 18 h 624"/>
              <a:gd name="T74" fmla="*/ 2265 w 2327"/>
              <a:gd name="T75" fmla="*/ 36 h 624"/>
              <a:gd name="T76" fmla="*/ 2289 w 2327"/>
              <a:gd name="T77" fmla="*/ 60 h 624"/>
              <a:gd name="T78" fmla="*/ 2307 w 2327"/>
              <a:gd name="T79" fmla="*/ 90 h 624"/>
              <a:gd name="T80" fmla="*/ 2319 w 2327"/>
              <a:gd name="T81" fmla="*/ 126 h 624"/>
              <a:gd name="T82" fmla="*/ 2325 w 2327"/>
              <a:gd name="T83" fmla="*/ 168 h 624"/>
              <a:gd name="T84" fmla="*/ 2327 w 2327"/>
              <a:gd name="T85" fmla="*/ 312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27" h="624">
                <a:moveTo>
                  <a:pt x="2327" y="360"/>
                </a:moveTo>
                <a:lnTo>
                  <a:pt x="2327" y="432"/>
                </a:lnTo>
                <a:lnTo>
                  <a:pt x="2325" y="436"/>
                </a:lnTo>
                <a:lnTo>
                  <a:pt x="2325" y="442"/>
                </a:lnTo>
                <a:lnTo>
                  <a:pt x="2325" y="454"/>
                </a:lnTo>
                <a:lnTo>
                  <a:pt x="2323" y="476"/>
                </a:lnTo>
                <a:lnTo>
                  <a:pt x="2321" y="486"/>
                </a:lnTo>
                <a:lnTo>
                  <a:pt x="2319" y="490"/>
                </a:lnTo>
                <a:lnTo>
                  <a:pt x="2319" y="496"/>
                </a:lnTo>
                <a:lnTo>
                  <a:pt x="2315" y="516"/>
                </a:lnTo>
                <a:lnTo>
                  <a:pt x="2307" y="532"/>
                </a:lnTo>
                <a:lnTo>
                  <a:pt x="2303" y="540"/>
                </a:lnTo>
                <a:lnTo>
                  <a:pt x="2300" y="543"/>
                </a:lnTo>
                <a:lnTo>
                  <a:pt x="2299" y="548"/>
                </a:lnTo>
                <a:lnTo>
                  <a:pt x="2289" y="562"/>
                </a:lnTo>
                <a:lnTo>
                  <a:pt x="2286" y="565"/>
                </a:lnTo>
                <a:lnTo>
                  <a:pt x="2283" y="568"/>
                </a:lnTo>
                <a:lnTo>
                  <a:pt x="2279" y="576"/>
                </a:lnTo>
                <a:lnTo>
                  <a:pt x="2271" y="580"/>
                </a:lnTo>
                <a:lnTo>
                  <a:pt x="2268" y="583"/>
                </a:lnTo>
                <a:lnTo>
                  <a:pt x="2265" y="586"/>
                </a:lnTo>
                <a:lnTo>
                  <a:pt x="2251" y="596"/>
                </a:lnTo>
                <a:lnTo>
                  <a:pt x="2246" y="597"/>
                </a:lnTo>
                <a:lnTo>
                  <a:pt x="2243" y="600"/>
                </a:lnTo>
                <a:lnTo>
                  <a:pt x="2235" y="604"/>
                </a:lnTo>
                <a:lnTo>
                  <a:pt x="2219" y="612"/>
                </a:lnTo>
                <a:lnTo>
                  <a:pt x="2199" y="616"/>
                </a:lnTo>
                <a:lnTo>
                  <a:pt x="2193" y="616"/>
                </a:lnTo>
                <a:lnTo>
                  <a:pt x="2189" y="618"/>
                </a:lnTo>
                <a:lnTo>
                  <a:pt x="2179" y="620"/>
                </a:lnTo>
                <a:lnTo>
                  <a:pt x="2157" y="622"/>
                </a:lnTo>
                <a:lnTo>
                  <a:pt x="2145" y="622"/>
                </a:lnTo>
                <a:lnTo>
                  <a:pt x="2139" y="622"/>
                </a:lnTo>
                <a:lnTo>
                  <a:pt x="2135" y="624"/>
                </a:lnTo>
                <a:lnTo>
                  <a:pt x="192" y="624"/>
                </a:lnTo>
                <a:lnTo>
                  <a:pt x="168" y="622"/>
                </a:lnTo>
                <a:lnTo>
                  <a:pt x="146" y="620"/>
                </a:lnTo>
                <a:lnTo>
                  <a:pt x="126" y="616"/>
                </a:lnTo>
                <a:lnTo>
                  <a:pt x="108" y="612"/>
                </a:lnTo>
                <a:lnTo>
                  <a:pt x="90" y="604"/>
                </a:lnTo>
                <a:lnTo>
                  <a:pt x="74" y="596"/>
                </a:lnTo>
                <a:lnTo>
                  <a:pt x="60" y="586"/>
                </a:lnTo>
                <a:lnTo>
                  <a:pt x="48" y="576"/>
                </a:lnTo>
                <a:lnTo>
                  <a:pt x="36" y="562"/>
                </a:lnTo>
                <a:lnTo>
                  <a:pt x="26" y="548"/>
                </a:lnTo>
                <a:lnTo>
                  <a:pt x="18" y="532"/>
                </a:lnTo>
                <a:lnTo>
                  <a:pt x="12" y="516"/>
                </a:lnTo>
                <a:lnTo>
                  <a:pt x="6" y="496"/>
                </a:lnTo>
                <a:lnTo>
                  <a:pt x="2" y="476"/>
                </a:lnTo>
                <a:lnTo>
                  <a:pt x="0" y="454"/>
                </a:lnTo>
                <a:lnTo>
                  <a:pt x="0" y="432"/>
                </a:lnTo>
                <a:lnTo>
                  <a:pt x="0" y="192"/>
                </a:lnTo>
                <a:lnTo>
                  <a:pt x="0" y="168"/>
                </a:lnTo>
                <a:lnTo>
                  <a:pt x="2" y="146"/>
                </a:lnTo>
                <a:lnTo>
                  <a:pt x="6" y="126"/>
                </a:lnTo>
                <a:lnTo>
                  <a:pt x="12" y="108"/>
                </a:lnTo>
                <a:lnTo>
                  <a:pt x="18" y="90"/>
                </a:lnTo>
                <a:lnTo>
                  <a:pt x="26" y="74"/>
                </a:lnTo>
                <a:lnTo>
                  <a:pt x="36" y="60"/>
                </a:lnTo>
                <a:lnTo>
                  <a:pt x="48" y="48"/>
                </a:lnTo>
                <a:lnTo>
                  <a:pt x="60" y="36"/>
                </a:lnTo>
                <a:lnTo>
                  <a:pt x="74" y="26"/>
                </a:lnTo>
                <a:lnTo>
                  <a:pt x="90" y="18"/>
                </a:lnTo>
                <a:lnTo>
                  <a:pt x="108" y="12"/>
                </a:lnTo>
                <a:lnTo>
                  <a:pt x="126" y="6"/>
                </a:lnTo>
                <a:lnTo>
                  <a:pt x="146" y="2"/>
                </a:lnTo>
                <a:lnTo>
                  <a:pt x="168" y="0"/>
                </a:lnTo>
                <a:lnTo>
                  <a:pt x="192" y="0"/>
                </a:lnTo>
                <a:lnTo>
                  <a:pt x="2135" y="0"/>
                </a:lnTo>
                <a:lnTo>
                  <a:pt x="2157" y="0"/>
                </a:lnTo>
                <a:lnTo>
                  <a:pt x="2179" y="2"/>
                </a:lnTo>
                <a:lnTo>
                  <a:pt x="2199" y="6"/>
                </a:lnTo>
                <a:lnTo>
                  <a:pt x="2219" y="12"/>
                </a:lnTo>
                <a:lnTo>
                  <a:pt x="2235" y="18"/>
                </a:lnTo>
                <a:lnTo>
                  <a:pt x="2251" y="26"/>
                </a:lnTo>
                <a:lnTo>
                  <a:pt x="2265" y="36"/>
                </a:lnTo>
                <a:lnTo>
                  <a:pt x="2279" y="48"/>
                </a:lnTo>
                <a:lnTo>
                  <a:pt x="2289" y="60"/>
                </a:lnTo>
                <a:lnTo>
                  <a:pt x="2299" y="74"/>
                </a:lnTo>
                <a:lnTo>
                  <a:pt x="2307" y="90"/>
                </a:lnTo>
                <a:lnTo>
                  <a:pt x="2315" y="108"/>
                </a:lnTo>
                <a:lnTo>
                  <a:pt x="2319" y="126"/>
                </a:lnTo>
                <a:lnTo>
                  <a:pt x="2323" y="146"/>
                </a:lnTo>
                <a:lnTo>
                  <a:pt x="2325" y="168"/>
                </a:lnTo>
                <a:lnTo>
                  <a:pt x="2327" y="192"/>
                </a:lnTo>
                <a:lnTo>
                  <a:pt x="2327" y="312"/>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3595" name="Rectangle 171">
            <a:extLst>
              <a:ext uri="{FF2B5EF4-FFF2-40B4-BE49-F238E27FC236}">
                <a16:creationId xmlns:a16="http://schemas.microsoft.com/office/drawing/2014/main" id="{3B89F34C-EE37-4475-E08D-E7BB706BD8EC}"/>
              </a:ext>
            </a:extLst>
          </p:cNvPr>
          <p:cNvSpPr>
            <a:spLocks noChangeArrowheads="1"/>
          </p:cNvSpPr>
          <p:nvPr/>
        </p:nvSpPr>
        <p:spPr bwMode="auto">
          <a:xfrm>
            <a:off x="3492500" y="4918075"/>
            <a:ext cx="10128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200" b="1">
                <a:solidFill>
                  <a:srgbClr val="000000"/>
                </a:solidFill>
                <a:latin typeface="Verdana" panose="020B0604030504040204" pitchFamily="34" charset="0"/>
                <a:ea typeface="宋体" panose="02010600030101010101" pitchFamily="2" charset="-122"/>
              </a:rPr>
              <a:t>CIFS Server</a:t>
            </a:r>
            <a:endParaRPr lang="en-US" altLang="zh-CN" sz="1800">
              <a:solidFill>
                <a:schemeClr val="tx1"/>
              </a:solidFill>
              <a:ea typeface="宋体" panose="02010600030101010101" pitchFamily="2" charset="-122"/>
            </a:endParaRPr>
          </a:p>
        </p:txBody>
      </p:sp>
      <p:grpSp>
        <p:nvGrpSpPr>
          <p:cNvPr id="103629" name="Group 205">
            <a:extLst>
              <a:ext uri="{FF2B5EF4-FFF2-40B4-BE49-F238E27FC236}">
                <a16:creationId xmlns:a16="http://schemas.microsoft.com/office/drawing/2014/main" id="{D3B7FA02-6FB9-2722-0E17-7D2D13FC4810}"/>
              </a:ext>
            </a:extLst>
          </p:cNvPr>
          <p:cNvGrpSpPr>
            <a:grpSpLocks/>
          </p:cNvGrpSpPr>
          <p:nvPr/>
        </p:nvGrpSpPr>
        <p:grpSpPr bwMode="auto">
          <a:xfrm>
            <a:off x="2095500" y="3111500"/>
            <a:ext cx="1668463" cy="1306513"/>
            <a:chOff x="1320" y="1960"/>
            <a:chExt cx="1051" cy="823"/>
          </a:xfrm>
        </p:grpSpPr>
        <p:sp>
          <p:nvSpPr>
            <p:cNvPr id="103596" name="Freeform 172">
              <a:extLst>
                <a:ext uri="{FF2B5EF4-FFF2-40B4-BE49-F238E27FC236}">
                  <a16:creationId xmlns:a16="http://schemas.microsoft.com/office/drawing/2014/main" id="{E3180B50-8EFA-B92F-395D-FCF0DB6C9464}"/>
                </a:ext>
              </a:extLst>
            </p:cNvPr>
            <p:cNvSpPr>
              <a:spLocks/>
            </p:cNvSpPr>
            <p:nvPr/>
          </p:nvSpPr>
          <p:spPr bwMode="auto">
            <a:xfrm>
              <a:off x="1320" y="1960"/>
              <a:ext cx="1027" cy="810"/>
            </a:xfrm>
            <a:custGeom>
              <a:avLst/>
              <a:gdLst>
                <a:gd name="T0" fmla="*/ 0 w 3080"/>
                <a:gd name="T1" fmla="*/ 78 h 2430"/>
                <a:gd name="T2" fmla="*/ 361 w 3080"/>
                <a:gd name="T3" fmla="*/ 359 h 2430"/>
                <a:gd name="T4" fmla="*/ 359 w 3080"/>
                <a:gd name="T5" fmla="*/ 363 h 2430"/>
                <a:gd name="T6" fmla="*/ 3017 w 3080"/>
                <a:gd name="T7" fmla="*/ 2430 h 2430"/>
                <a:gd name="T8" fmla="*/ 3080 w 3080"/>
                <a:gd name="T9" fmla="*/ 2349 h 2430"/>
                <a:gd name="T10" fmla="*/ 2576 w 3080"/>
                <a:gd name="T11" fmla="*/ 1956 h 2430"/>
                <a:gd name="T12" fmla="*/ 2579 w 3080"/>
                <a:gd name="T13" fmla="*/ 1953 h 2430"/>
                <a:gd name="T14" fmla="*/ 70 w 3080"/>
                <a:gd name="T15" fmla="*/ 0 h 2430"/>
                <a:gd name="T16" fmla="*/ 0 w 3080"/>
                <a:gd name="T17" fmla="*/ 78 h 2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0" h="2430">
                  <a:moveTo>
                    <a:pt x="0" y="78"/>
                  </a:moveTo>
                  <a:lnTo>
                    <a:pt x="361" y="359"/>
                  </a:lnTo>
                  <a:lnTo>
                    <a:pt x="359" y="363"/>
                  </a:lnTo>
                  <a:lnTo>
                    <a:pt x="3017" y="2430"/>
                  </a:lnTo>
                  <a:lnTo>
                    <a:pt x="3080" y="2349"/>
                  </a:lnTo>
                  <a:lnTo>
                    <a:pt x="2576" y="1956"/>
                  </a:lnTo>
                  <a:lnTo>
                    <a:pt x="2579" y="1953"/>
                  </a:lnTo>
                  <a:lnTo>
                    <a:pt x="70" y="0"/>
                  </a:lnTo>
                  <a:lnTo>
                    <a:pt x="0" y="78"/>
                  </a:lnTo>
                  <a:close/>
                </a:path>
              </a:pathLst>
            </a:custGeom>
            <a:solidFill>
              <a:srgbClr val="FF9900"/>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3597" name="Freeform 173">
              <a:extLst>
                <a:ext uri="{FF2B5EF4-FFF2-40B4-BE49-F238E27FC236}">
                  <a16:creationId xmlns:a16="http://schemas.microsoft.com/office/drawing/2014/main" id="{2EB1DE27-26F4-CE7B-70FE-687B8BB51A09}"/>
                </a:ext>
              </a:extLst>
            </p:cNvPr>
            <p:cNvSpPr>
              <a:spLocks/>
            </p:cNvSpPr>
            <p:nvPr/>
          </p:nvSpPr>
          <p:spPr bwMode="auto">
            <a:xfrm>
              <a:off x="2287" y="2702"/>
              <a:ext cx="84" cy="81"/>
            </a:xfrm>
            <a:custGeom>
              <a:avLst/>
              <a:gdLst>
                <a:gd name="T0" fmla="*/ 250 w 250"/>
                <a:gd name="T1" fmla="*/ 243 h 243"/>
                <a:gd name="T2" fmla="*/ 0 w 250"/>
                <a:gd name="T3" fmla="*/ 240 h 243"/>
                <a:gd name="T4" fmla="*/ 186 w 250"/>
                <a:gd name="T5" fmla="*/ 0 h 243"/>
                <a:gd name="T6" fmla="*/ 250 w 250"/>
                <a:gd name="T7" fmla="*/ 243 h 243"/>
              </a:gdLst>
              <a:ahLst/>
              <a:cxnLst>
                <a:cxn ang="0">
                  <a:pos x="T0" y="T1"/>
                </a:cxn>
                <a:cxn ang="0">
                  <a:pos x="T2" y="T3"/>
                </a:cxn>
                <a:cxn ang="0">
                  <a:pos x="T4" y="T5"/>
                </a:cxn>
                <a:cxn ang="0">
                  <a:pos x="T6" y="T7"/>
                </a:cxn>
              </a:cxnLst>
              <a:rect l="0" t="0" r="r" b="b"/>
              <a:pathLst>
                <a:path w="250" h="243">
                  <a:moveTo>
                    <a:pt x="250" y="243"/>
                  </a:moveTo>
                  <a:lnTo>
                    <a:pt x="0" y="240"/>
                  </a:lnTo>
                  <a:lnTo>
                    <a:pt x="186" y="0"/>
                  </a:lnTo>
                  <a:lnTo>
                    <a:pt x="250" y="243"/>
                  </a:lnTo>
                  <a:close/>
                </a:path>
              </a:pathLst>
            </a:custGeom>
            <a:solidFill>
              <a:srgbClr val="FF9900"/>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grpSp>
        <p:nvGrpSpPr>
          <p:cNvPr id="103630" name="Group 206">
            <a:extLst>
              <a:ext uri="{FF2B5EF4-FFF2-40B4-BE49-F238E27FC236}">
                <a16:creationId xmlns:a16="http://schemas.microsoft.com/office/drawing/2014/main" id="{442262CE-0CE9-F7E0-E00F-3C9C4E3C988F}"/>
              </a:ext>
            </a:extLst>
          </p:cNvPr>
          <p:cNvGrpSpPr>
            <a:grpSpLocks/>
          </p:cNvGrpSpPr>
          <p:nvPr/>
        </p:nvGrpSpPr>
        <p:grpSpPr bwMode="auto">
          <a:xfrm>
            <a:off x="1762125" y="3116263"/>
            <a:ext cx="1689100" cy="1323975"/>
            <a:chOff x="1110" y="1963"/>
            <a:chExt cx="1064" cy="834"/>
          </a:xfrm>
        </p:grpSpPr>
        <p:sp>
          <p:nvSpPr>
            <p:cNvPr id="103598" name="Freeform 174">
              <a:extLst>
                <a:ext uri="{FF2B5EF4-FFF2-40B4-BE49-F238E27FC236}">
                  <a16:creationId xmlns:a16="http://schemas.microsoft.com/office/drawing/2014/main" id="{AD1FD89B-DAC9-EA8F-1FFB-377F498CC3D3}"/>
                </a:ext>
              </a:extLst>
            </p:cNvPr>
            <p:cNvSpPr>
              <a:spLocks/>
            </p:cNvSpPr>
            <p:nvPr/>
          </p:nvSpPr>
          <p:spPr bwMode="auto">
            <a:xfrm>
              <a:off x="1134" y="1976"/>
              <a:ext cx="1040" cy="821"/>
            </a:xfrm>
            <a:custGeom>
              <a:avLst/>
              <a:gdLst>
                <a:gd name="T0" fmla="*/ 133 w 3121"/>
                <a:gd name="T1" fmla="*/ 186 h 2463"/>
                <a:gd name="T2" fmla="*/ 132 w 3121"/>
                <a:gd name="T3" fmla="*/ 189 h 2463"/>
                <a:gd name="T4" fmla="*/ 3056 w 3121"/>
                <a:gd name="T5" fmla="*/ 2463 h 2463"/>
                <a:gd name="T6" fmla="*/ 3121 w 3121"/>
                <a:gd name="T7" fmla="*/ 2382 h 2463"/>
                <a:gd name="T8" fmla="*/ 2987 w 3121"/>
                <a:gd name="T9" fmla="*/ 2278 h 2463"/>
                <a:gd name="T10" fmla="*/ 2989 w 3121"/>
                <a:gd name="T11" fmla="*/ 2277 h 2463"/>
                <a:gd name="T12" fmla="*/ 65 w 3121"/>
                <a:gd name="T13" fmla="*/ 0 h 2463"/>
                <a:gd name="T14" fmla="*/ 0 w 3121"/>
                <a:gd name="T15" fmla="*/ 83 h 2463"/>
                <a:gd name="T16" fmla="*/ 133 w 3121"/>
                <a:gd name="T17" fmla="*/ 186 h 2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21" h="2463">
                  <a:moveTo>
                    <a:pt x="133" y="186"/>
                  </a:moveTo>
                  <a:lnTo>
                    <a:pt x="132" y="189"/>
                  </a:lnTo>
                  <a:lnTo>
                    <a:pt x="3056" y="2463"/>
                  </a:lnTo>
                  <a:lnTo>
                    <a:pt x="3121" y="2382"/>
                  </a:lnTo>
                  <a:lnTo>
                    <a:pt x="2987" y="2278"/>
                  </a:lnTo>
                  <a:lnTo>
                    <a:pt x="2989" y="2277"/>
                  </a:lnTo>
                  <a:lnTo>
                    <a:pt x="65" y="0"/>
                  </a:lnTo>
                  <a:lnTo>
                    <a:pt x="0" y="83"/>
                  </a:lnTo>
                  <a:lnTo>
                    <a:pt x="133" y="186"/>
                  </a:lnTo>
                  <a:close/>
                </a:path>
              </a:pathLst>
            </a:custGeom>
            <a:solidFill>
              <a:srgbClr val="FF9900"/>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3599" name="Freeform 175">
              <a:extLst>
                <a:ext uri="{FF2B5EF4-FFF2-40B4-BE49-F238E27FC236}">
                  <a16:creationId xmlns:a16="http://schemas.microsoft.com/office/drawing/2014/main" id="{3AA99E47-271E-503F-BFA9-D1F9723C1E5B}"/>
                </a:ext>
              </a:extLst>
            </p:cNvPr>
            <p:cNvSpPr>
              <a:spLocks/>
            </p:cNvSpPr>
            <p:nvPr/>
          </p:nvSpPr>
          <p:spPr bwMode="auto">
            <a:xfrm>
              <a:off x="1110" y="1963"/>
              <a:ext cx="83" cy="81"/>
            </a:xfrm>
            <a:custGeom>
              <a:avLst/>
              <a:gdLst>
                <a:gd name="T0" fmla="*/ 0 w 250"/>
                <a:gd name="T1" fmla="*/ 0 h 242"/>
                <a:gd name="T2" fmla="*/ 250 w 250"/>
                <a:gd name="T3" fmla="*/ 2 h 242"/>
                <a:gd name="T4" fmla="*/ 64 w 250"/>
                <a:gd name="T5" fmla="*/ 242 h 242"/>
                <a:gd name="T6" fmla="*/ 0 w 250"/>
                <a:gd name="T7" fmla="*/ 0 h 242"/>
              </a:gdLst>
              <a:ahLst/>
              <a:cxnLst>
                <a:cxn ang="0">
                  <a:pos x="T0" y="T1"/>
                </a:cxn>
                <a:cxn ang="0">
                  <a:pos x="T2" y="T3"/>
                </a:cxn>
                <a:cxn ang="0">
                  <a:pos x="T4" y="T5"/>
                </a:cxn>
                <a:cxn ang="0">
                  <a:pos x="T6" y="T7"/>
                </a:cxn>
              </a:cxnLst>
              <a:rect l="0" t="0" r="r" b="b"/>
              <a:pathLst>
                <a:path w="250" h="242">
                  <a:moveTo>
                    <a:pt x="0" y="0"/>
                  </a:moveTo>
                  <a:lnTo>
                    <a:pt x="250" y="2"/>
                  </a:lnTo>
                  <a:lnTo>
                    <a:pt x="64" y="242"/>
                  </a:lnTo>
                  <a:lnTo>
                    <a:pt x="0" y="0"/>
                  </a:lnTo>
                  <a:close/>
                </a:path>
              </a:pathLst>
            </a:custGeom>
            <a:solidFill>
              <a:srgbClr val="FF9900"/>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grpSp>
        <p:nvGrpSpPr>
          <p:cNvPr id="103632" name="Group 208">
            <a:extLst>
              <a:ext uri="{FF2B5EF4-FFF2-40B4-BE49-F238E27FC236}">
                <a16:creationId xmlns:a16="http://schemas.microsoft.com/office/drawing/2014/main" id="{16F2D49B-0698-8D89-91D3-CF22B4CA711B}"/>
              </a:ext>
            </a:extLst>
          </p:cNvPr>
          <p:cNvGrpSpPr>
            <a:grpSpLocks/>
          </p:cNvGrpSpPr>
          <p:nvPr/>
        </p:nvGrpSpPr>
        <p:grpSpPr bwMode="auto">
          <a:xfrm>
            <a:off x="2525713" y="3181350"/>
            <a:ext cx="981075" cy="820738"/>
            <a:chOff x="1591" y="2004"/>
            <a:chExt cx="618" cy="517"/>
          </a:xfrm>
        </p:grpSpPr>
        <p:sp>
          <p:nvSpPr>
            <p:cNvPr id="103600" name="Freeform 176">
              <a:extLst>
                <a:ext uri="{FF2B5EF4-FFF2-40B4-BE49-F238E27FC236}">
                  <a16:creationId xmlns:a16="http://schemas.microsoft.com/office/drawing/2014/main" id="{27A18F1C-D463-4801-66C6-84694F4BD56E}"/>
                </a:ext>
              </a:extLst>
            </p:cNvPr>
            <p:cNvSpPr>
              <a:spLocks/>
            </p:cNvSpPr>
            <p:nvPr/>
          </p:nvSpPr>
          <p:spPr bwMode="auto">
            <a:xfrm>
              <a:off x="1591" y="2004"/>
              <a:ext cx="93" cy="95"/>
            </a:xfrm>
            <a:custGeom>
              <a:avLst/>
              <a:gdLst>
                <a:gd name="T0" fmla="*/ 154 w 279"/>
                <a:gd name="T1" fmla="*/ 285 h 285"/>
                <a:gd name="T2" fmla="*/ 101 w 279"/>
                <a:gd name="T3" fmla="*/ 244 h 285"/>
                <a:gd name="T4" fmla="*/ 103 w 279"/>
                <a:gd name="T5" fmla="*/ 139 h 285"/>
                <a:gd name="T6" fmla="*/ 84 w 279"/>
                <a:gd name="T7" fmla="*/ 143 h 285"/>
                <a:gd name="T8" fmla="*/ 42 w 279"/>
                <a:gd name="T9" fmla="*/ 197 h 285"/>
                <a:gd name="T10" fmla="*/ 0 w 279"/>
                <a:gd name="T11" fmla="*/ 165 h 285"/>
                <a:gd name="T12" fmla="*/ 129 w 279"/>
                <a:gd name="T13" fmla="*/ 0 h 285"/>
                <a:gd name="T14" fmla="*/ 171 w 279"/>
                <a:gd name="T15" fmla="*/ 33 h 285"/>
                <a:gd name="T16" fmla="*/ 113 w 279"/>
                <a:gd name="T17" fmla="*/ 107 h 285"/>
                <a:gd name="T18" fmla="*/ 229 w 279"/>
                <a:gd name="T19" fmla="*/ 79 h 285"/>
                <a:gd name="T20" fmla="*/ 279 w 279"/>
                <a:gd name="T21" fmla="*/ 118 h 285"/>
                <a:gd name="T22" fmla="*/ 155 w 279"/>
                <a:gd name="T23" fmla="*/ 143 h 285"/>
                <a:gd name="T24" fmla="*/ 154 w 279"/>
                <a:gd name="T25"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9" h="285">
                  <a:moveTo>
                    <a:pt x="154" y="285"/>
                  </a:moveTo>
                  <a:lnTo>
                    <a:pt x="101" y="244"/>
                  </a:lnTo>
                  <a:lnTo>
                    <a:pt x="103" y="139"/>
                  </a:lnTo>
                  <a:lnTo>
                    <a:pt x="84" y="143"/>
                  </a:lnTo>
                  <a:lnTo>
                    <a:pt x="42" y="197"/>
                  </a:lnTo>
                  <a:lnTo>
                    <a:pt x="0" y="165"/>
                  </a:lnTo>
                  <a:lnTo>
                    <a:pt x="129" y="0"/>
                  </a:lnTo>
                  <a:lnTo>
                    <a:pt x="171" y="33"/>
                  </a:lnTo>
                  <a:lnTo>
                    <a:pt x="113" y="107"/>
                  </a:lnTo>
                  <a:lnTo>
                    <a:pt x="229" y="79"/>
                  </a:lnTo>
                  <a:lnTo>
                    <a:pt x="279" y="118"/>
                  </a:lnTo>
                  <a:lnTo>
                    <a:pt x="155" y="143"/>
                  </a:lnTo>
                  <a:lnTo>
                    <a:pt x="154" y="2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01" name="Freeform 177">
              <a:extLst>
                <a:ext uri="{FF2B5EF4-FFF2-40B4-BE49-F238E27FC236}">
                  <a16:creationId xmlns:a16="http://schemas.microsoft.com/office/drawing/2014/main" id="{208A4078-A59C-1711-2BAC-8421AEE6308A}"/>
                </a:ext>
              </a:extLst>
            </p:cNvPr>
            <p:cNvSpPr>
              <a:spLocks noEditPoints="1"/>
            </p:cNvSpPr>
            <p:nvPr/>
          </p:nvSpPr>
          <p:spPr bwMode="auto">
            <a:xfrm>
              <a:off x="1655" y="2069"/>
              <a:ext cx="58" cy="63"/>
            </a:xfrm>
            <a:custGeom>
              <a:avLst/>
              <a:gdLst>
                <a:gd name="T0" fmla="*/ 147 w 175"/>
                <a:gd name="T1" fmla="*/ 144 h 189"/>
                <a:gd name="T2" fmla="*/ 55 w 175"/>
                <a:gd name="T3" fmla="*/ 73 h 189"/>
                <a:gd name="T4" fmla="*/ 47 w 175"/>
                <a:gd name="T5" fmla="*/ 87 h 189"/>
                <a:gd name="T6" fmla="*/ 48 w 175"/>
                <a:gd name="T7" fmla="*/ 104 h 189"/>
                <a:gd name="T8" fmla="*/ 57 w 175"/>
                <a:gd name="T9" fmla="*/ 118 h 189"/>
                <a:gd name="T10" fmla="*/ 72 w 175"/>
                <a:gd name="T11" fmla="*/ 134 h 189"/>
                <a:gd name="T12" fmla="*/ 85 w 175"/>
                <a:gd name="T13" fmla="*/ 142 h 189"/>
                <a:gd name="T14" fmla="*/ 101 w 175"/>
                <a:gd name="T15" fmla="*/ 150 h 189"/>
                <a:gd name="T16" fmla="*/ 103 w 175"/>
                <a:gd name="T17" fmla="*/ 150 h 189"/>
                <a:gd name="T18" fmla="*/ 105 w 175"/>
                <a:gd name="T19" fmla="*/ 150 h 189"/>
                <a:gd name="T20" fmla="*/ 107 w 175"/>
                <a:gd name="T21" fmla="*/ 151 h 189"/>
                <a:gd name="T22" fmla="*/ 114 w 175"/>
                <a:gd name="T23" fmla="*/ 153 h 189"/>
                <a:gd name="T24" fmla="*/ 126 w 175"/>
                <a:gd name="T25" fmla="*/ 154 h 189"/>
                <a:gd name="T26" fmla="*/ 131 w 175"/>
                <a:gd name="T27" fmla="*/ 158 h 189"/>
                <a:gd name="T28" fmla="*/ 107 w 175"/>
                <a:gd name="T29" fmla="*/ 189 h 189"/>
                <a:gd name="T30" fmla="*/ 89 w 175"/>
                <a:gd name="T31" fmla="*/ 183 h 189"/>
                <a:gd name="T32" fmla="*/ 75 w 175"/>
                <a:gd name="T33" fmla="*/ 178 h 189"/>
                <a:gd name="T34" fmla="*/ 60 w 175"/>
                <a:gd name="T35" fmla="*/ 170 h 189"/>
                <a:gd name="T36" fmla="*/ 47 w 175"/>
                <a:gd name="T37" fmla="*/ 160 h 189"/>
                <a:gd name="T38" fmla="*/ 29 w 175"/>
                <a:gd name="T39" fmla="*/ 144 h 189"/>
                <a:gd name="T40" fmla="*/ 16 w 175"/>
                <a:gd name="T41" fmla="*/ 129 h 189"/>
                <a:gd name="T42" fmla="*/ 6 w 175"/>
                <a:gd name="T43" fmla="*/ 112 h 189"/>
                <a:gd name="T44" fmla="*/ 3 w 175"/>
                <a:gd name="T45" fmla="*/ 98 h 189"/>
                <a:gd name="T46" fmla="*/ 0 w 175"/>
                <a:gd name="T47" fmla="*/ 81 h 189"/>
                <a:gd name="T48" fmla="*/ 3 w 175"/>
                <a:gd name="T49" fmla="*/ 66 h 189"/>
                <a:gd name="T50" fmla="*/ 9 w 175"/>
                <a:gd name="T51" fmla="*/ 49 h 189"/>
                <a:gd name="T52" fmla="*/ 19 w 175"/>
                <a:gd name="T53" fmla="*/ 34 h 189"/>
                <a:gd name="T54" fmla="*/ 31 w 175"/>
                <a:gd name="T55" fmla="*/ 20 h 189"/>
                <a:gd name="T56" fmla="*/ 46 w 175"/>
                <a:gd name="T57" fmla="*/ 10 h 189"/>
                <a:gd name="T58" fmla="*/ 60 w 175"/>
                <a:gd name="T59" fmla="*/ 3 h 189"/>
                <a:gd name="T60" fmla="*/ 77 w 175"/>
                <a:gd name="T61" fmla="*/ 1 h 189"/>
                <a:gd name="T62" fmla="*/ 91 w 175"/>
                <a:gd name="T63" fmla="*/ 0 h 189"/>
                <a:gd name="T64" fmla="*/ 108 w 175"/>
                <a:gd name="T65" fmla="*/ 3 h 189"/>
                <a:gd name="T66" fmla="*/ 125 w 175"/>
                <a:gd name="T67" fmla="*/ 10 h 189"/>
                <a:gd name="T68" fmla="*/ 142 w 175"/>
                <a:gd name="T69" fmla="*/ 22 h 189"/>
                <a:gd name="T70" fmla="*/ 154 w 175"/>
                <a:gd name="T71" fmla="*/ 34 h 189"/>
                <a:gd name="T72" fmla="*/ 165 w 175"/>
                <a:gd name="T73" fmla="*/ 46 h 189"/>
                <a:gd name="T74" fmla="*/ 171 w 175"/>
                <a:gd name="T75" fmla="*/ 60 h 189"/>
                <a:gd name="T76" fmla="*/ 175 w 175"/>
                <a:gd name="T77" fmla="*/ 74 h 189"/>
                <a:gd name="T78" fmla="*/ 174 w 175"/>
                <a:gd name="T79" fmla="*/ 87 h 189"/>
                <a:gd name="T80" fmla="*/ 172 w 175"/>
                <a:gd name="T81" fmla="*/ 102 h 189"/>
                <a:gd name="T82" fmla="*/ 166 w 175"/>
                <a:gd name="T83" fmla="*/ 116 h 189"/>
                <a:gd name="T84" fmla="*/ 157 w 175"/>
                <a:gd name="T85" fmla="*/ 130 h 189"/>
                <a:gd name="T86" fmla="*/ 147 w 175"/>
                <a:gd name="T87" fmla="*/ 144 h 189"/>
                <a:gd name="T88" fmla="*/ 125 w 175"/>
                <a:gd name="T89" fmla="*/ 90 h 189"/>
                <a:gd name="T90" fmla="*/ 131 w 175"/>
                <a:gd name="T91" fmla="*/ 76 h 189"/>
                <a:gd name="T92" fmla="*/ 133 w 175"/>
                <a:gd name="T93" fmla="*/ 66 h 189"/>
                <a:gd name="T94" fmla="*/ 129 w 175"/>
                <a:gd name="T95" fmla="*/ 55 h 189"/>
                <a:gd name="T96" fmla="*/ 119 w 175"/>
                <a:gd name="T97" fmla="*/ 45 h 189"/>
                <a:gd name="T98" fmla="*/ 107 w 175"/>
                <a:gd name="T99" fmla="*/ 38 h 189"/>
                <a:gd name="T100" fmla="*/ 96 w 175"/>
                <a:gd name="T101" fmla="*/ 37 h 189"/>
                <a:gd name="T102" fmla="*/ 83 w 175"/>
                <a:gd name="T103" fmla="*/ 39 h 189"/>
                <a:gd name="T104" fmla="*/ 73 w 175"/>
                <a:gd name="T105" fmla="*/ 49 h 189"/>
                <a:gd name="T106" fmla="*/ 125 w 175"/>
                <a:gd name="T107" fmla="*/ 9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5" h="189">
                  <a:moveTo>
                    <a:pt x="147" y="144"/>
                  </a:moveTo>
                  <a:lnTo>
                    <a:pt x="55" y="73"/>
                  </a:lnTo>
                  <a:lnTo>
                    <a:pt x="47" y="87"/>
                  </a:lnTo>
                  <a:lnTo>
                    <a:pt x="48" y="104"/>
                  </a:lnTo>
                  <a:lnTo>
                    <a:pt x="57" y="118"/>
                  </a:lnTo>
                  <a:lnTo>
                    <a:pt x="72" y="134"/>
                  </a:lnTo>
                  <a:lnTo>
                    <a:pt x="85" y="142"/>
                  </a:lnTo>
                  <a:lnTo>
                    <a:pt x="101" y="150"/>
                  </a:lnTo>
                  <a:lnTo>
                    <a:pt x="103" y="150"/>
                  </a:lnTo>
                  <a:lnTo>
                    <a:pt x="105" y="150"/>
                  </a:lnTo>
                  <a:lnTo>
                    <a:pt x="107" y="151"/>
                  </a:lnTo>
                  <a:lnTo>
                    <a:pt x="114" y="153"/>
                  </a:lnTo>
                  <a:lnTo>
                    <a:pt x="126" y="154"/>
                  </a:lnTo>
                  <a:lnTo>
                    <a:pt x="131" y="158"/>
                  </a:lnTo>
                  <a:lnTo>
                    <a:pt x="107" y="189"/>
                  </a:lnTo>
                  <a:lnTo>
                    <a:pt x="89" y="183"/>
                  </a:lnTo>
                  <a:lnTo>
                    <a:pt x="75" y="178"/>
                  </a:lnTo>
                  <a:lnTo>
                    <a:pt x="60" y="170"/>
                  </a:lnTo>
                  <a:lnTo>
                    <a:pt x="47" y="160"/>
                  </a:lnTo>
                  <a:lnTo>
                    <a:pt x="29" y="144"/>
                  </a:lnTo>
                  <a:lnTo>
                    <a:pt x="16" y="129"/>
                  </a:lnTo>
                  <a:lnTo>
                    <a:pt x="6" y="112"/>
                  </a:lnTo>
                  <a:lnTo>
                    <a:pt x="3" y="98"/>
                  </a:lnTo>
                  <a:lnTo>
                    <a:pt x="0" y="81"/>
                  </a:lnTo>
                  <a:lnTo>
                    <a:pt x="3" y="66"/>
                  </a:lnTo>
                  <a:lnTo>
                    <a:pt x="9" y="49"/>
                  </a:lnTo>
                  <a:lnTo>
                    <a:pt x="19" y="34"/>
                  </a:lnTo>
                  <a:lnTo>
                    <a:pt x="31" y="20"/>
                  </a:lnTo>
                  <a:lnTo>
                    <a:pt x="46" y="10"/>
                  </a:lnTo>
                  <a:lnTo>
                    <a:pt x="60" y="3"/>
                  </a:lnTo>
                  <a:lnTo>
                    <a:pt x="77" y="1"/>
                  </a:lnTo>
                  <a:lnTo>
                    <a:pt x="91" y="0"/>
                  </a:lnTo>
                  <a:lnTo>
                    <a:pt x="108" y="3"/>
                  </a:lnTo>
                  <a:lnTo>
                    <a:pt x="125" y="10"/>
                  </a:lnTo>
                  <a:lnTo>
                    <a:pt x="142" y="22"/>
                  </a:lnTo>
                  <a:lnTo>
                    <a:pt x="154" y="34"/>
                  </a:lnTo>
                  <a:lnTo>
                    <a:pt x="165" y="46"/>
                  </a:lnTo>
                  <a:lnTo>
                    <a:pt x="171" y="60"/>
                  </a:lnTo>
                  <a:lnTo>
                    <a:pt x="175" y="74"/>
                  </a:lnTo>
                  <a:lnTo>
                    <a:pt x="174" y="87"/>
                  </a:lnTo>
                  <a:lnTo>
                    <a:pt x="172" y="102"/>
                  </a:lnTo>
                  <a:lnTo>
                    <a:pt x="166" y="116"/>
                  </a:lnTo>
                  <a:lnTo>
                    <a:pt x="157" y="130"/>
                  </a:lnTo>
                  <a:lnTo>
                    <a:pt x="147" y="144"/>
                  </a:lnTo>
                  <a:close/>
                  <a:moveTo>
                    <a:pt x="125" y="90"/>
                  </a:moveTo>
                  <a:lnTo>
                    <a:pt x="131" y="76"/>
                  </a:lnTo>
                  <a:lnTo>
                    <a:pt x="133" y="66"/>
                  </a:lnTo>
                  <a:lnTo>
                    <a:pt x="129" y="55"/>
                  </a:lnTo>
                  <a:lnTo>
                    <a:pt x="119" y="45"/>
                  </a:lnTo>
                  <a:lnTo>
                    <a:pt x="107" y="38"/>
                  </a:lnTo>
                  <a:lnTo>
                    <a:pt x="96" y="37"/>
                  </a:lnTo>
                  <a:lnTo>
                    <a:pt x="83" y="39"/>
                  </a:lnTo>
                  <a:lnTo>
                    <a:pt x="73" y="49"/>
                  </a:lnTo>
                  <a:lnTo>
                    <a:pt x="125"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02" name="Freeform 178">
              <a:extLst>
                <a:ext uri="{FF2B5EF4-FFF2-40B4-BE49-F238E27FC236}">
                  <a16:creationId xmlns:a16="http://schemas.microsoft.com/office/drawing/2014/main" id="{9BD7A7F5-FBCA-F789-9F0B-237915675625}"/>
                </a:ext>
              </a:extLst>
            </p:cNvPr>
            <p:cNvSpPr>
              <a:spLocks/>
            </p:cNvSpPr>
            <p:nvPr/>
          </p:nvSpPr>
          <p:spPr bwMode="auto">
            <a:xfrm>
              <a:off x="1698" y="2101"/>
              <a:ext cx="63" cy="52"/>
            </a:xfrm>
            <a:custGeom>
              <a:avLst/>
              <a:gdLst>
                <a:gd name="T0" fmla="*/ 157 w 187"/>
                <a:gd name="T1" fmla="*/ 109 h 156"/>
                <a:gd name="T2" fmla="*/ 154 w 187"/>
                <a:gd name="T3" fmla="*/ 105 h 156"/>
                <a:gd name="T4" fmla="*/ 151 w 187"/>
                <a:gd name="T5" fmla="*/ 103 h 156"/>
                <a:gd name="T6" fmla="*/ 150 w 187"/>
                <a:gd name="T7" fmla="*/ 102 h 156"/>
                <a:gd name="T8" fmla="*/ 148 w 187"/>
                <a:gd name="T9" fmla="*/ 99 h 156"/>
                <a:gd name="T10" fmla="*/ 146 w 187"/>
                <a:gd name="T11" fmla="*/ 98 h 156"/>
                <a:gd name="T12" fmla="*/ 140 w 187"/>
                <a:gd name="T13" fmla="*/ 93 h 156"/>
                <a:gd name="T14" fmla="*/ 137 w 187"/>
                <a:gd name="T15" fmla="*/ 91 h 156"/>
                <a:gd name="T16" fmla="*/ 122 w 187"/>
                <a:gd name="T17" fmla="*/ 79 h 156"/>
                <a:gd name="T18" fmla="*/ 104 w 187"/>
                <a:gd name="T19" fmla="*/ 73 h 156"/>
                <a:gd name="T20" fmla="*/ 40 w 187"/>
                <a:gd name="T21" fmla="*/ 156 h 156"/>
                <a:gd name="T22" fmla="*/ 0 w 187"/>
                <a:gd name="T23" fmla="*/ 124 h 156"/>
                <a:gd name="T24" fmla="*/ 97 w 187"/>
                <a:gd name="T25" fmla="*/ 0 h 156"/>
                <a:gd name="T26" fmla="*/ 137 w 187"/>
                <a:gd name="T27" fmla="*/ 31 h 156"/>
                <a:gd name="T28" fmla="*/ 122 w 187"/>
                <a:gd name="T29" fmla="*/ 50 h 156"/>
                <a:gd name="T30" fmla="*/ 142 w 187"/>
                <a:gd name="T31" fmla="*/ 49 h 156"/>
                <a:gd name="T32" fmla="*/ 157 w 187"/>
                <a:gd name="T33" fmla="*/ 52 h 156"/>
                <a:gd name="T34" fmla="*/ 168 w 187"/>
                <a:gd name="T35" fmla="*/ 56 h 156"/>
                <a:gd name="T36" fmla="*/ 178 w 187"/>
                <a:gd name="T37" fmla="*/ 63 h 156"/>
                <a:gd name="T38" fmla="*/ 182 w 187"/>
                <a:gd name="T39" fmla="*/ 67 h 156"/>
                <a:gd name="T40" fmla="*/ 187 w 187"/>
                <a:gd name="T41" fmla="*/ 70 h 156"/>
                <a:gd name="T42" fmla="*/ 157 w 187"/>
                <a:gd name="T43" fmla="*/ 109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7" h="156">
                  <a:moveTo>
                    <a:pt x="157" y="109"/>
                  </a:moveTo>
                  <a:lnTo>
                    <a:pt x="154" y="105"/>
                  </a:lnTo>
                  <a:lnTo>
                    <a:pt x="151" y="103"/>
                  </a:lnTo>
                  <a:lnTo>
                    <a:pt x="150" y="102"/>
                  </a:lnTo>
                  <a:lnTo>
                    <a:pt x="148" y="99"/>
                  </a:lnTo>
                  <a:lnTo>
                    <a:pt x="146" y="98"/>
                  </a:lnTo>
                  <a:lnTo>
                    <a:pt x="140" y="93"/>
                  </a:lnTo>
                  <a:lnTo>
                    <a:pt x="137" y="91"/>
                  </a:lnTo>
                  <a:lnTo>
                    <a:pt x="122" y="79"/>
                  </a:lnTo>
                  <a:lnTo>
                    <a:pt x="104" y="73"/>
                  </a:lnTo>
                  <a:lnTo>
                    <a:pt x="40" y="156"/>
                  </a:lnTo>
                  <a:lnTo>
                    <a:pt x="0" y="124"/>
                  </a:lnTo>
                  <a:lnTo>
                    <a:pt x="97" y="0"/>
                  </a:lnTo>
                  <a:lnTo>
                    <a:pt x="137" y="31"/>
                  </a:lnTo>
                  <a:lnTo>
                    <a:pt x="122" y="50"/>
                  </a:lnTo>
                  <a:lnTo>
                    <a:pt x="142" y="49"/>
                  </a:lnTo>
                  <a:lnTo>
                    <a:pt x="157" y="52"/>
                  </a:lnTo>
                  <a:lnTo>
                    <a:pt x="168" y="56"/>
                  </a:lnTo>
                  <a:lnTo>
                    <a:pt x="178" y="63"/>
                  </a:lnTo>
                  <a:lnTo>
                    <a:pt x="182" y="67"/>
                  </a:lnTo>
                  <a:lnTo>
                    <a:pt x="187" y="70"/>
                  </a:lnTo>
                  <a:lnTo>
                    <a:pt x="157" y="10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03" name="Freeform 179">
              <a:extLst>
                <a:ext uri="{FF2B5EF4-FFF2-40B4-BE49-F238E27FC236}">
                  <a16:creationId xmlns:a16="http://schemas.microsoft.com/office/drawing/2014/main" id="{F1E98963-2D6D-27BC-6FA3-252A78677844}"/>
                </a:ext>
              </a:extLst>
            </p:cNvPr>
            <p:cNvSpPr>
              <a:spLocks noEditPoints="1"/>
            </p:cNvSpPr>
            <p:nvPr/>
          </p:nvSpPr>
          <p:spPr bwMode="auto">
            <a:xfrm>
              <a:off x="1736" y="2114"/>
              <a:ext cx="68" cy="82"/>
            </a:xfrm>
            <a:custGeom>
              <a:avLst/>
              <a:gdLst>
                <a:gd name="T0" fmla="*/ 179 w 203"/>
                <a:gd name="T1" fmla="*/ 212 h 246"/>
                <a:gd name="T2" fmla="*/ 171 w 203"/>
                <a:gd name="T3" fmla="*/ 218 h 246"/>
                <a:gd name="T4" fmla="*/ 168 w 203"/>
                <a:gd name="T5" fmla="*/ 220 h 246"/>
                <a:gd name="T6" fmla="*/ 165 w 203"/>
                <a:gd name="T7" fmla="*/ 224 h 246"/>
                <a:gd name="T8" fmla="*/ 153 w 203"/>
                <a:gd name="T9" fmla="*/ 234 h 246"/>
                <a:gd name="T10" fmla="*/ 139 w 203"/>
                <a:gd name="T11" fmla="*/ 240 h 246"/>
                <a:gd name="T12" fmla="*/ 125 w 203"/>
                <a:gd name="T13" fmla="*/ 246 h 246"/>
                <a:gd name="T14" fmla="*/ 109 w 203"/>
                <a:gd name="T15" fmla="*/ 246 h 246"/>
                <a:gd name="T16" fmla="*/ 96 w 203"/>
                <a:gd name="T17" fmla="*/ 245 h 246"/>
                <a:gd name="T18" fmla="*/ 83 w 203"/>
                <a:gd name="T19" fmla="*/ 239 h 246"/>
                <a:gd name="T20" fmla="*/ 71 w 203"/>
                <a:gd name="T21" fmla="*/ 233 h 246"/>
                <a:gd name="T22" fmla="*/ 60 w 203"/>
                <a:gd name="T23" fmla="*/ 224 h 246"/>
                <a:gd name="T24" fmla="*/ 54 w 203"/>
                <a:gd name="T25" fmla="*/ 216 h 246"/>
                <a:gd name="T26" fmla="*/ 48 w 203"/>
                <a:gd name="T27" fmla="*/ 207 h 246"/>
                <a:gd name="T28" fmla="*/ 44 w 203"/>
                <a:gd name="T29" fmla="*/ 198 h 246"/>
                <a:gd name="T30" fmla="*/ 38 w 203"/>
                <a:gd name="T31" fmla="*/ 203 h 246"/>
                <a:gd name="T32" fmla="*/ 0 w 203"/>
                <a:gd name="T33" fmla="*/ 173 h 246"/>
                <a:gd name="T34" fmla="*/ 134 w 203"/>
                <a:gd name="T35" fmla="*/ 0 h 246"/>
                <a:gd name="T36" fmla="*/ 174 w 203"/>
                <a:gd name="T37" fmla="*/ 31 h 246"/>
                <a:gd name="T38" fmla="*/ 126 w 203"/>
                <a:gd name="T39" fmla="*/ 93 h 246"/>
                <a:gd name="T40" fmla="*/ 140 w 203"/>
                <a:gd name="T41" fmla="*/ 93 h 246"/>
                <a:gd name="T42" fmla="*/ 155 w 203"/>
                <a:gd name="T43" fmla="*/ 95 h 246"/>
                <a:gd name="T44" fmla="*/ 167 w 203"/>
                <a:gd name="T45" fmla="*/ 101 h 246"/>
                <a:gd name="T46" fmla="*/ 180 w 203"/>
                <a:gd name="T47" fmla="*/ 109 h 246"/>
                <a:gd name="T48" fmla="*/ 189 w 203"/>
                <a:gd name="T49" fmla="*/ 118 h 246"/>
                <a:gd name="T50" fmla="*/ 197 w 203"/>
                <a:gd name="T51" fmla="*/ 129 h 246"/>
                <a:gd name="T52" fmla="*/ 200 w 203"/>
                <a:gd name="T53" fmla="*/ 141 h 246"/>
                <a:gd name="T54" fmla="*/ 203 w 203"/>
                <a:gd name="T55" fmla="*/ 154 h 246"/>
                <a:gd name="T56" fmla="*/ 200 w 203"/>
                <a:gd name="T57" fmla="*/ 167 h 246"/>
                <a:gd name="T58" fmla="*/ 197 w 203"/>
                <a:gd name="T59" fmla="*/ 182 h 246"/>
                <a:gd name="T60" fmla="*/ 188 w 203"/>
                <a:gd name="T61" fmla="*/ 196 h 246"/>
                <a:gd name="T62" fmla="*/ 179 w 203"/>
                <a:gd name="T63" fmla="*/ 212 h 246"/>
                <a:gd name="T64" fmla="*/ 138 w 203"/>
                <a:gd name="T65" fmla="*/ 179 h 246"/>
                <a:gd name="T66" fmla="*/ 147 w 203"/>
                <a:gd name="T67" fmla="*/ 164 h 246"/>
                <a:gd name="T68" fmla="*/ 152 w 203"/>
                <a:gd name="T69" fmla="*/ 149 h 246"/>
                <a:gd name="T70" fmla="*/ 151 w 203"/>
                <a:gd name="T71" fmla="*/ 142 h 246"/>
                <a:gd name="T72" fmla="*/ 149 w 203"/>
                <a:gd name="T73" fmla="*/ 136 h 246"/>
                <a:gd name="T74" fmla="*/ 144 w 203"/>
                <a:gd name="T75" fmla="*/ 130 h 246"/>
                <a:gd name="T76" fmla="*/ 138 w 203"/>
                <a:gd name="T77" fmla="*/ 125 h 246"/>
                <a:gd name="T78" fmla="*/ 126 w 203"/>
                <a:gd name="T79" fmla="*/ 118 h 246"/>
                <a:gd name="T80" fmla="*/ 110 w 203"/>
                <a:gd name="T81" fmla="*/ 113 h 246"/>
                <a:gd name="T82" fmla="*/ 62 w 203"/>
                <a:gd name="T83" fmla="*/ 176 h 246"/>
                <a:gd name="T84" fmla="*/ 68 w 203"/>
                <a:gd name="T85" fmla="*/ 185 h 246"/>
                <a:gd name="T86" fmla="*/ 72 w 203"/>
                <a:gd name="T87" fmla="*/ 188 h 246"/>
                <a:gd name="T88" fmla="*/ 78 w 203"/>
                <a:gd name="T89" fmla="*/ 192 h 246"/>
                <a:gd name="T90" fmla="*/ 85 w 203"/>
                <a:gd name="T91" fmla="*/ 197 h 246"/>
                <a:gd name="T92" fmla="*/ 92 w 203"/>
                <a:gd name="T93" fmla="*/ 201 h 246"/>
                <a:gd name="T94" fmla="*/ 99 w 203"/>
                <a:gd name="T95" fmla="*/ 202 h 246"/>
                <a:gd name="T96" fmla="*/ 108 w 203"/>
                <a:gd name="T97" fmla="*/ 202 h 246"/>
                <a:gd name="T98" fmla="*/ 115 w 203"/>
                <a:gd name="T99" fmla="*/ 198 h 246"/>
                <a:gd name="T100" fmla="*/ 122 w 203"/>
                <a:gd name="T101" fmla="*/ 194 h 246"/>
                <a:gd name="T102" fmla="*/ 129 w 203"/>
                <a:gd name="T103" fmla="*/ 188 h 246"/>
                <a:gd name="T104" fmla="*/ 133 w 203"/>
                <a:gd name="T105" fmla="*/ 183 h 246"/>
                <a:gd name="T106" fmla="*/ 138 w 203"/>
                <a:gd name="T107" fmla="*/ 179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3" h="246">
                  <a:moveTo>
                    <a:pt x="179" y="212"/>
                  </a:moveTo>
                  <a:lnTo>
                    <a:pt x="171" y="218"/>
                  </a:lnTo>
                  <a:lnTo>
                    <a:pt x="168" y="220"/>
                  </a:lnTo>
                  <a:lnTo>
                    <a:pt x="165" y="224"/>
                  </a:lnTo>
                  <a:lnTo>
                    <a:pt x="153" y="234"/>
                  </a:lnTo>
                  <a:lnTo>
                    <a:pt x="139" y="240"/>
                  </a:lnTo>
                  <a:lnTo>
                    <a:pt x="125" y="246"/>
                  </a:lnTo>
                  <a:lnTo>
                    <a:pt x="109" y="246"/>
                  </a:lnTo>
                  <a:lnTo>
                    <a:pt x="96" y="245"/>
                  </a:lnTo>
                  <a:lnTo>
                    <a:pt x="83" y="239"/>
                  </a:lnTo>
                  <a:lnTo>
                    <a:pt x="71" y="233"/>
                  </a:lnTo>
                  <a:lnTo>
                    <a:pt x="60" y="224"/>
                  </a:lnTo>
                  <a:lnTo>
                    <a:pt x="54" y="216"/>
                  </a:lnTo>
                  <a:lnTo>
                    <a:pt x="48" y="207"/>
                  </a:lnTo>
                  <a:lnTo>
                    <a:pt x="44" y="198"/>
                  </a:lnTo>
                  <a:lnTo>
                    <a:pt x="38" y="203"/>
                  </a:lnTo>
                  <a:lnTo>
                    <a:pt x="0" y="173"/>
                  </a:lnTo>
                  <a:lnTo>
                    <a:pt x="134" y="0"/>
                  </a:lnTo>
                  <a:lnTo>
                    <a:pt x="174" y="31"/>
                  </a:lnTo>
                  <a:lnTo>
                    <a:pt x="126" y="93"/>
                  </a:lnTo>
                  <a:lnTo>
                    <a:pt x="140" y="93"/>
                  </a:lnTo>
                  <a:lnTo>
                    <a:pt x="155" y="95"/>
                  </a:lnTo>
                  <a:lnTo>
                    <a:pt x="167" y="101"/>
                  </a:lnTo>
                  <a:lnTo>
                    <a:pt x="180" y="109"/>
                  </a:lnTo>
                  <a:lnTo>
                    <a:pt x="189" y="118"/>
                  </a:lnTo>
                  <a:lnTo>
                    <a:pt x="197" y="129"/>
                  </a:lnTo>
                  <a:lnTo>
                    <a:pt x="200" y="141"/>
                  </a:lnTo>
                  <a:lnTo>
                    <a:pt x="203" y="154"/>
                  </a:lnTo>
                  <a:lnTo>
                    <a:pt x="200" y="167"/>
                  </a:lnTo>
                  <a:lnTo>
                    <a:pt x="197" y="182"/>
                  </a:lnTo>
                  <a:lnTo>
                    <a:pt x="188" y="196"/>
                  </a:lnTo>
                  <a:lnTo>
                    <a:pt x="179" y="212"/>
                  </a:lnTo>
                  <a:close/>
                  <a:moveTo>
                    <a:pt x="138" y="179"/>
                  </a:moveTo>
                  <a:lnTo>
                    <a:pt x="147" y="164"/>
                  </a:lnTo>
                  <a:lnTo>
                    <a:pt x="152" y="149"/>
                  </a:lnTo>
                  <a:lnTo>
                    <a:pt x="151" y="142"/>
                  </a:lnTo>
                  <a:lnTo>
                    <a:pt x="149" y="136"/>
                  </a:lnTo>
                  <a:lnTo>
                    <a:pt x="144" y="130"/>
                  </a:lnTo>
                  <a:lnTo>
                    <a:pt x="138" y="125"/>
                  </a:lnTo>
                  <a:lnTo>
                    <a:pt x="126" y="118"/>
                  </a:lnTo>
                  <a:lnTo>
                    <a:pt x="110" y="113"/>
                  </a:lnTo>
                  <a:lnTo>
                    <a:pt x="62" y="176"/>
                  </a:lnTo>
                  <a:lnTo>
                    <a:pt x="68" y="185"/>
                  </a:lnTo>
                  <a:lnTo>
                    <a:pt x="72" y="188"/>
                  </a:lnTo>
                  <a:lnTo>
                    <a:pt x="78" y="192"/>
                  </a:lnTo>
                  <a:lnTo>
                    <a:pt x="85" y="197"/>
                  </a:lnTo>
                  <a:lnTo>
                    <a:pt x="92" y="201"/>
                  </a:lnTo>
                  <a:lnTo>
                    <a:pt x="99" y="202"/>
                  </a:lnTo>
                  <a:lnTo>
                    <a:pt x="108" y="202"/>
                  </a:lnTo>
                  <a:lnTo>
                    <a:pt x="115" y="198"/>
                  </a:lnTo>
                  <a:lnTo>
                    <a:pt x="122" y="194"/>
                  </a:lnTo>
                  <a:lnTo>
                    <a:pt x="129" y="188"/>
                  </a:lnTo>
                  <a:lnTo>
                    <a:pt x="133" y="183"/>
                  </a:lnTo>
                  <a:lnTo>
                    <a:pt x="138" y="1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04" name="Freeform 180">
              <a:extLst>
                <a:ext uri="{FF2B5EF4-FFF2-40B4-BE49-F238E27FC236}">
                  <a16:creationId xmlns:a16="http://schemas.microsoft.com/office/drawing/2014/main" id="{7A27F318-EBD4-36FD-48F7-469DD842809E}"/>
                </a:ext>
              </a:extLst>
            </p:cNvPr>
            <p:cNvSpPr>
              <a:spLocks/>
            </p:cNvSpPr>
            <p:nvPr/>
          </p:nvSpPr>
          <p:spPr bwMode="auto">
            <a:xfrm>
              <a:off x="1789" y="2166"/>
              <a:ext cx="83" cy="73"/>
            </a:xfrm>
            <a:custGeom>
              <a:avLst/>
              <a:gdLst>
                <a:gd name="T0" fmla="*/ 169 w 250"/>
                <a:gd name="T1" fmla="*/ 199 h 219"/>
                <a:gd name="T2" fmla="*/ 153 w 250"/>
                <a:gd name="T3" fmla="*/ 213 h 219"/>
                <a:gd name="T4" fmla="*/ 133 w 250"/>
                <a:gd name="T5" fmla="*/ 216 h 219"/>
                <a:gd name="T6" fmla="*/ 130 w 250"/>
                <a:gd name="T7" fmla="*/ 216 h 219"/>
                <a:gd name="T8" fmla="*/ 123 w 250"/>
                <a:gd name="T9" fmla="*/ 219 h 219"/>
                <a:gd name="T10" fmla="*/ 89 w 250"/>
                <a:gd name="T11" fmla="*/ 210 h 219"/>
                <a:gd name="T12" fmla="*/ 55 w 250"/>
                <a:gd name="T13" fmla="*/ 190 h 219"/>
                <a:gd name="T14" fmla="*/ 22 w 250"/>
                <a:gd name="T15" fmla="*/ 159 h 219"/>
                <a:gd name="T16" fmla="*/ 0 w 250"/>
                <a:gd name="T17" fmla="*/ 127 h 219"/>
                <a:gd name="T18" fmla="*/ 36 w 250"/>
                <a:gd name="T19" fmla="*/ 91 h 219"/>
                <a:gd name="T20" fmla="*/ 54 w 250"/>
                <a:gd name="T21" fmla="*/ 130 h 219"/>
                <a:gd name="T22" fmla="*/ 81 w 250"/>
                <a:gd name="T23" fmla="*/ 160 h 219"/>
                <a:gd name="T24" fmla="*/ 96 w 250"/>
                <a:gd name="T25" fmla="*/ 171 h 219"/>
                <a:gd name="T26" fmla="*/ 115 w 250"/>
                <a:gd name="T27" fmla="*/ 175 h 219"/>
                <a:gd name="T28" fmla="*/ 125 w 250"/>
                <a:gd name="T29" fmla="*/ 168 h 219"/>
                <a:gd name="T30" fmla="*/ 126 w 250"/>
                <a:gd name="T31" fmla="*/ 162 h 219"/>
                <a:gd name="T32" fmla="*/ 125 w 250"/>
                <a:gd name="T33" fmla="*/ 150 h 219"/>
                <a:gd name="T34" fmla="*/ 124 w 250"/>
                <a:gd name="T35" fmla="*/ 147 h 219"/>
                <a:gd name="T36" fmla="*/ 102 w 250"/>
                <a:gd name="T37" fmla="*/ 120 h 219"/>
                <a:gd name="T38" fmla="*/ 78 w 250"/>
                <a:gd name="T39" fmla="*/ 88 h 219"/>
                <a:gd name="T40" fmla="*/ 71 w 250"/>
                <a:gd name="T41" fmla="*/ 66 h 219"/>
                <a:gd name="T42" fmla="*/ 73 w 250"/>
                <a:gd name="T43" fmla="*/ 39 h 219"/>
                <a:gd name="T44" fmla="*/ 93 w 250"/>
                <a:gd name="T45" fmla="*/ 11 h 219"/>
                <a:gd name="T46" fmla="*/ 118 w 250"/>
                <a:gd name="T47" fmla="*/ 0 h 219"/>
                <a:gd name="T48" fmla="*/ 149 w 250"/>
                <a:gd name="T49" fmla="*/ 1 h 219"/>
                <a:gd name="T50" fmla="*/ 181 w 250"/>
                <a:gd name="T51" fmla="*/ 15 h 219"/>
                <a:gd name="T52" fmla="*/ 214 w 250"/>
                <a:gd name="T53" fmla="*/ 40 h 219"/>
                <a:gd name="T54" fmla="*/ 239 w 250"/>
                <a:gd name="T55" fmla="*/ 70 h 219"/>
                <a:gd name="T56" fmla="*/ 220 w 250"/>
                <a:gd name="T57" fmla="*/ 123 h 219"/>
                <a:gd name="T58" fmla="*/ 209 w 250"/>
                <a:gd name="T59" fmla="*/ 102 h 219"/>
                <a:gd name="T60" fmla="*/ 205 w 250"/>
                <a:gd name="T61" fmla="*/ 95 h 219"/>
                <a:gd name="T62" fmla="*/ 202 w 250"/>
                <a:gd name="T63" fmla="*/ 87 h 219"/>
                <a:gd name="T64" fmla="*/ 175 w 250"/>
                <a:gd name="T65" fmla="*/ 58 h 219"/>
                <a:gd name="T66" fmla="*/ 153 w 250"/>
                <a:gd name="T67" fmla="*/ 46 h 219"/>
                <a:gd name="T68" fmla="*/ 136 w 250"/>
                <a:gd name="T69" fmla="*/ 46 h 219"/>
                <a:gd name="T70" fmla="*/ 129 w 250"/>
                <a:gd name="T71" fmla="*/ 57 h 219"/>
                <a:gd name="T72" fmla="*/ 133 w 250"/>
                <a:gd name="T73" fmla="*/ 72 h 219"/>
                <a:gd name="T74" fmla="*/ 159 w 250"/>
                <a:gd name="T75" fmla="*/ 103 h 219"/>
                <a:gd name="T76" fmla="*/ 178 w 250"/>
                <a:gd name="T77" fmla="*/ 131 h 219"/>
                <a:gd name="T78" fmla="*/ 187 w 250"/>
                <a:gd name="T79" fmla="*/ 161 h 219"/>
                <a:gd name="T80" fmla="*/ 184 w 250"/>
                <a:gd name="T81" fmla="*/ 178 h 219"/>
                <a:gd name="T82" fmla="*/ 175 w 250"/>
                <a:gd name="T83" fmla="*/ 195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0" h="219">
                  <a:moveTo>
                    <a:pt x="175" y="195"/>
                  </a:moveTo>
                  <a:lnTo>
                    <a:pt x="169" y="199"/>
                  </a:lnTo>
                  <a:lnTo>
                    <a:pt x="165" y="204"/>
                  </a:lnTo>
                  <a:lnTo>
                    <a:pt x="153" y="213"/>
                  </a:lnTo>
                  <a:lnTo>
                    <a:pt x="138" y="216"/>
                  </a:lnTo>
                  <a:lnTo>
                    <a:pt x="133" y="216"/>
                  </a:lnTo>
                  <a:lnTo>
                    <a:pt x="131" y="216"/>
                  </a:lnTo>
                  <a:lnTo>
                    <a:pt x="130" y="216"/>
                  </a:lnTo>
                  <a:lnTo>
                    <a:pt x="130" y="217"/>
                  </a:lnTo>
                  <a:lnTo>
                    <a:pt x="123" y="219"/>
                  </a:lnTo>
                  <a:lnTo>
                    <a:pt x="106" y="215"/>
                  </a:lnTo>
                  <a:lnTo>
                    <a:pt x="89" y="210"/>
                  </a:lnTo>
                  <a:lnTo>
                    <a:pt x="72" y="201"/>
                  </a:lnTo>
                  <a:lnTo>
                    <a:pt x="55" y="190"/>
                  </a:lnTo>
                  <a:lnTo>
                    <a:pt x="36" y="173"/>
                  </a:lnTo>
                  <a:lnTo>
                    <a:pt x="22" y="159"/>
                  </a:lnTo>
                  <a:lnTo>
                    <a:pt x="10" y="142"/>
                  </a:lnTo>
                  <a:lnTo>
                    <a:pt x="0" y="127"/>
                  </a:lnTo>
                  <a:lnTo>
                    <a:pt x="31" y="88"/>
                  </a:lnTo>
                  <a:lnTo>
                    <a:pt x="36" y="91"/>
                  </a:lnTo>
                  <a:lnTo>
                    <a:pt x="42" y="111"/>
                  </a:lnTo>
                  <a:lnTo>
                    <a:pt x="54" y="130"/>
                  </a:lnTo>
                  <a:lnTo>
                    <a:pt x="65" y="147"/>
                  </a:lnTo>
                  <a:lnTo>
                    <a:pt x="81" y="160"/>
                  </a:lnTo>
                  <a:lnTo>
                    <a:pt x="90" y="168"/>
                  </a:lnTo>
                  <a:lnTo>
                    <a:pt x="96" y="171"/>
                  </a:lnTo>
                  <a:lnTo>
                    <a:pt x="103" y="174"/>
                  </a:lnTo>
                  <a:lnTo>
                    <a:pt x="115" y="175"/>
                  </a:lnTo>
                  <a:lnTo>
                    <a:pt x="120" y="172"/>
                  </a:lnTo>
                  <a:lnTo>
                    <a:pt x="125" y="168"/>
                  </a:lnTo>
                  <a:lnTo>
                    <a:pt x="125" y="165"/>
                  </a:lnTo>
                  <a:lnTo>
                    <a:pt x="126" y="162"/>
                  </a:lnTo>
                  <a:lnTo>
                    <a:pt x="127" y="155"/>
                  </a:lnTo>
                  <a:lnTo>
                    <a:pt x="125" y="150"/>
                  </a:lnTo>
                  <a:lnTo>
                    <a:pt x="124" y="148"/>
                  </a:lnTo>
                  <a:lnTo>
                    <a:pt x="124" y="147"/>
                  </a:lnTo>
                  <a:lnTo>
                    <a:pt x="119" y="138"/>
                  </a:lnTo>
                  <a:lnTo>
                    <a:pt x="102" y="120"/>
                  </a:lnTo>
                  <a:lnTo>
                    <a:pt x="87" y="100"/>
                  </a:lnTo>
                  <a:lnTo>
                    <a:pt x="78" y="88"/>
                  </a:lnTo>
                  <a:lnTo>
                    <a:pt x="75" y="77"/>
                  </a:lnTo>
                  <a:lnTo>
                    <a:pt x="71" y="66"/>
                  </a:lnTo>
                  <a:lnTo>
                    <a:pt x="71" y="58"/>
                  </a:lnTo>
                  <a:lnTo>
                    <a:pt x="73" y="39"/>
                  </a:lnTo>
                  <a:lnTo>
                    <a:pt x="84" y="22"/>
                  </a:lnTo>
                  <a:lnTo>
                    <a:pt x="93" y="11"/>
                  </a:lnTo>
                  <a:lnTo>
                    <a:pt x="105" y="4"/>
                  </a:lnTo>
                  <a:lnTo>
                    <a:pt x="118" y="0"/>
                  </a:lnTo>
                  <a:lnTo>
                    <a:pt x="135" y="0"/>
                  </a:lnTo>
                  <a:lnTo>
                    <a:pt x="149" y="1"/>
                  </a:lnTo>
                  <a:lnTo>
                    <a:pt x="166" y="6"/>
                  </a:lnTo>
                  <a:lnTo>
                    <a:pt x="181" y="15"/>
                  </a:lnTo>
                  <a:lnTo>
                    <a:pt x="198" y="27"/>
                  </a:lnTo>
                  <a:lnTo>
                    <a:pt x="214" y="40"/>
                  </a:lnTo>
                  <a:lnTo>
                    <a:pt x="228" y="55"/>
                  </a:lnTo>
                  <a:lnTo>
                    <a:pt x="239" y="70"/>
                  </a:lnTo>
                  <a:lnTo>
                    <a:pt x="250" y="84"/>
                  </a:lnTo>
                  <a:lnTo>
                    <a:pt x="220" y="123"/>
                  </a:lnTo>
                  <a:lnTo>
                    <a:pt x="215" y="119"/>
                  </a:lnTo>
                  <a:lnTo>
                    <a:pt x="209" y="102"/>
                  </a:lnTo>
                  <a:lnTo>
                    <a:pt x="207" y="97"/>
                  </a:lnTo>
                  <a:lnTo>
                    <a:pt x="205" y="95"/>
                  </a:lnTo>
                  <a:lnTo>
                    <a:pt x="205" y="94"/>
                  </a:lnTo>
                  <a:lnTo>
                    <a:pt x="202" y="87"/>
                  </a:lnTo>
                  <a:lnTo>
                    <a:pt x="189" y="71"/>
                  </a:lnTo>
                  <a:lnTo>
                    <a:pt x="175" y="58"/>
                  </a:lnTo>
                  <a:lnTo>
                    <a:pt x="166" y="51"/>
                  </a:lnTo>
                  <a:lnTo>
                    <a:pt x="153" y="46"/>
                  </a:lnTo>
                  <a:lnTo>
                    <a:pt x="142" y="45"/>
                  </a:lnTo>
                  <a:lnTo>
                    <a:pt x="136" y="46"/>
                  </a:lnTo>
                  <a:lnTo>
                    <a:pt x="132" y="51"/>
                  </a:lnTo>
                  <a:lnTo>
                    <a:pt x="129" y="57"/>
                  </a:lnTo>
                  <a:lnTo>
                    <a:pt x="129" y="64"/>
                  </a:lnTo>
                  <a:lnTo>
                    <a:pt x="133" y="72"/>
                  </a:lnTo>
                  <a:lnTo>
                    <a:pt x="143" y="85"/>
                  </a:lnTo>
                  <a:lnTo>
                    <a:pt x="159" y="103"/>
                  </a:lnTo>
                  <a:lnTo>
                    <a:pt x="173" y="121"/>
                  </a:lnTo>
                  <a:lnTo>
                    <a:pt x="178" y="131"/>
                  </a:lnTo>
                  <a:lnTo>
                    <a:pt x="183" y="142"/>
                  </a:lnTo>
                  <a:lnTo>
                    <a:pt x="187" y="161"/>
                  </a:lnTo>
                  <a:lnTo>
                    <a:pt x="186" y="168"/>
                  </a:lnTo>
                  <a:lnTo>
                    <a:pt x="184" y="178"/>
                  </a:lnTo>
                  <a:lnTo>
                    <a:pt x="180" y="185"/>
                  </a:lnTo>
                  <a:lnTo>
                    <a:pt x="175" y="1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05" name="Freeform 181">
              <a:extLst>
                <a:ext uri="{FF2B5EF4-FFF2-40B4-BE49-F238E27FC236}">
                  <a16:creationId xmlns:a16="http://schemas.microsoft.com/office/drawing/2014/main" id="{3C285736-0390-DB52-F2D2-2FDF8E744E4E}"/>
                </a:ext>
              </a:extLst>
            </p:cNvPr>
            <p:cNvSpPr>
              <a:spLocks/>
            </p:cNvSpPr>
            <p:nvPr/>
          </p:nvSpPr>
          <p:spPr bwMode="auto">
            <a:xfrm>
              <a:off x="1881" y="2217"/>
              <a:ext cx="74" cy="79"/>
            </a:xfrm>
            <a:custGeom>
              <a:avLst/>
              <a:gdLst>
                <a:gd name="T0" fmla="*/ 197 w 222"/>
                <a:gd name="T1" fmla="*/ 144 h 237"/>
                <a:gd name="T2" fmla="*/ 145 w 222"/>
                <a:gd name="T3" fmla="*/ 104 h 237"/>
                <a:gd name="T4" fmla="*/ 42 w 222"/>
                <a:gd name="T5" fmla="*/ 237 h 237"/>
                <a:gd name="T6" fmla="*/ 0 w 222"/>
                <a:gd name="T7" fmla="*/ 204 h 237"/>
                <a:gd name="T8" fmla="*/ 103 w 222"/>
                <a:gd name="T9" fmla="*/ 70 h 237"/>
                <a:gd name="T10" fmla="*/ 52 w 222"/>
                <a:gd name="T11" fmla="*/ 31 h 237"/>
                <a:gd name="T12" fmla="*/ 77 w 222"/>
                <a:gd name="T13" fmla="*/ 0 h 237"/>
                <a:gd name="T14" fmla="*/ 222 w 222"/>
                <a:gd name="T15" fmla="*/ 112 h 237"/>
                <a:gd name="T16" fmla="*/ 197 w 222"/>
                <a:gd name="T17" fmla="*/ 144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237">
                  <a:moveTo>
                    <a:pt x="197" y="144"/>
                  </a:moveTo>
                  <a:lnTo>
                    <a:pt x="145" y="104"/>
                  </a:lnTo>
                  <a:lnTo>
                    <a:pt x="42" y="237"/>
                  </a:lnTo>
                  <a:lnTo>
                    <a:pt x="0" y="204"/>
                  </a:lnTo>
                  <a:lnTo>
                    <a:pt x="103" y="70"/>
                  </a:lnTo>
                  <a:lnTo>
                    <a:pt x="52" y="31"/>
                  </a:lnTo>
                  <a:lnTo>
                    <a:pt x="77" y="0"/>
                  </a:lnTo>
                  <a:lnTo>
                    <a:pt x="222" y="112"/>
                  </a:lnTo>
                  <a:lnTo>
                    <a:pt x="197" y="1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06" name="Freeform 182">
              <a:extLst>
                <a:ext uri="{FF2B5EF4-FFF2-40B4-BE49-F238E27FC236}">
                  <a16:creationId xmlns:a16="http://schemas.microsoft.com/office/drawing/2014/main" id="{656827EB-93FA-B948-1FD7-3EA2A6D72DC7}"/>
                </a:ext>
              </a:extLst>
            </p:cNvPr>
            <p:cNvSpPr>
              <a:spLocks/>
            </p:cNvSpPr>
            <p:nvPr/>
          </p:nvSpPr>
          <p:spPr bwMode="auto">
            <a:xfrm>
              <a:off x="1921" y="2261"/>
              <a:ext cx="92" cy="95"/>
            </a:xfrm>
            <a:custGeom>
              <a:avLst/>
              <a:gdLst>
                <a:gd name="T0" fmla="*/ 154 w 278"/>
                <a:gd name="T1" fmla="*/ 284 h 284"/>
                <a:gd name="T2" fmla="*/ 101 w 278"/>
                <a:gd name="T3" fmla="*/ 244 h 284"/>
                <a:gd name="T4" fmla="*/ 103 w 278"/>
                <a:gd name="T5" fmla="*/ 139 h 284"/>
                <a:gd name="T6" fmla="*/ 84 w 278"/>
                <a:gd name="T7" fmla="*/ 143 h 284"/>
                <a:gd name="T8" fmla="*/ 42 w 278"/>
                <a:gd name="T9" fmla="*/ 197 h 284"/>
                <a:gd name="T10" fmla="*/ 0 w 278"/>
                <a:gd name="T11" fmla="*/ 164 h 284"/>
                <a:gd name="T12" fmla="*/ 128 w 278"/>
                <a:gd name="T13" fmla="*/ 0 h 284"/>
                <a:gd name="T14" fmla="*/ 170 w 278"/>
                <a:gd name="T15" fmla="*/ 32 h 284"/>
                <a:gd name="T16" fmla="*/ 113 w 278"/>
                <a:gd name="T17" fmla="*/ 107 h 284"/>
                <a:gd name="T18" fmla="*/ 229 w 278"/>
                <a:gd name="T19" fmla="*/ 79 h 284"/>
                <a:gd name="T20" fmla="*/ 278 w 278"/>
                <a:gd name="T21" fmla="*/ 118 h 284"/>
                <a:gd name="T22" fmla="*/ 155 w 278"/>
                <a:gd name="T23" fmla="*/ 143 h 284"/>
                <a:gd name="T24" fmla="*/ 154 w 278"/>
                <a:gd name="T25"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8" h="284">
                  <a:moveTo>
                    <a:pt x="154" y="284"/>
                  </a:moveTo>
                  <a:lnTo>
                    <a:pt x="101" y="244"/>
                  </a:lnTo>
                  <a:lnTo>
                    <a:pt x="103" y="139"/>
                  </a:lnTo>
                  <a:lnTo>
                    <a:pt x="84" y="143"/>
                  </a:lnTo>
                  <a:lnTo>
                    <a:pt x="42" y="197"/>
                  </a:lnTo>
                  <a:lnTo>
                    <a:pt x="0" y="164"/>
                  </a:lnTo>
                  <a:lnTo>
                    <a:pt x="128" y="0"/>
                  </a:lnTo>
                  <a:lnTo>
                    <a:pt x="170" y="32"/>
                  </a:lnTo>
                  <a:lnTo>
                    <a:pt x="113" y="107"/>
                  </a:lnTo>
                  <a:lnTo>
                    <a:pt x="229" y="79"/>
                  </a:lnTo>
                  <a:lnTo>
                    <a:pt x="278" y="118"/>
                  </a:lnTo>
                  <a:lnTo>
                    <a:pt x="155" y="143"/>
                  </a:lnTo>
                  <a:lnTo>
                    <a:pt x="154" y="2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07" name="Freeform 183">
              <a:extLst>
                <a:ext uri="{FF2B5EF4-FFF2-40B4-BE49-F238E27FC236}">
                  <a16:creationId xmlns:a16="http://schemas.microsoft.com/office/drawing/2014/main" id="{5AA83BD4-7EFD-5CFA-04E5-9C4759FF5B97}"/>
                </a:ext>
              </a:extLst>
            </p:cNvPr>
            <p:cNvSpPr>
              <a:spLocks/>
            </p:cNvSpPr>
            <p:nvPr/>
          </p:nvSpPr>
          <p:spPr bwMode="auto">
            <a:xfrm>
              <a:off x="1991" y="2302"/>
              <a:ext cx="74" cy="79"/>
            </a:xfrm>
            <a:custGeom>
              <a:avLst/>
              <a:gdLst>
                <a:gd name="T0" fmla="*/ 197 w 222"/>
                <a:gd name="T1" fmla="*/ 144 h 238"/>
                <a:gd name="T2" fmla="*/ 145 w 222"/>
                <a:gd name="T3" fmla="*/ 105 h 238"/>
                <a:gd name="T4" fmla="*/ 42 w 222"/>
                <a:gd name="T5" fmla="*/ 238 h 238"/>
                <a:gd name="T6" fmla="*/ 0 w 222"/>
                <a:gd name="T7" fmla="*/ 204 h 238"/>
                <a:gd name="T8" fmla="*/ 103 w 222"/>
                <a:gd name="T9" fmla="*/ 71 h 238"/>
                <a:gd name="T10" fmla="*/ 52 w 222"/>
                <a:gd name="T11" fmla="*/ 32 h 238"/>
                <a:gd name="T12" fmla="*/ 77 w 222"/>
                <a:gd name="T13" fmla="*/ 0 h 238"/>
                <a:gd name="T14" fmla="*/ 222 w 222"/>
                <a:gd name="T15" fmla="*/ 113 h 238"/>
                <a:gd name="T16" fmla="*/ 197 w 222"/>
                <a:gd name="T17" fmla="*/ 14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238">
                  <a:moveTo>
                    <a:pt x="197" y="144"/>
                  </a:moveTo>
                  <a:lnTo>
                    <a:pt x="145" y="105"/>
                  </a:lnTo>
                  <a:lnTo>
                    <a:pt x="42" y="238"/>
                  </a:lnTo>
                  <a:lnTo>
                    <a:pt x="0" y="204"/>
                  </a:lnTo>
                  <a:lnTo>
                    <a:pt x="103" y="71"/>
                  </a:lnTo>
                  <a:lnTo>
                    <a:pt x="52" y="32"/>
                  </a:lnTo>
                  <a:lnTo>
                    <a:pt x="77" y="0"/>
                  </a:lnTo>
                  <a:lnTo>
                    <a:pt x="222" y="113"/>
                  </a:lnTo>
                  <a:lnTo>
                    <a:pt x="197" y="1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08" name="Freeform 184">
              <a:extLst>
                <a:ext uri="{FF2B5EF4-FFF2-40B4-BE49-F238E27FC236}">
                  <a16:creationId xmlns:a16="http://schemas.microsoft.com/office/drawing/2014/main" id="{55C790B8-E036-50E4-1EBE-FF2A94F872F3}"/>
                </a:ext>
              </a:extLst>
            </p:cNvPr>
            <p:cNvSpPr>
              <a:spLocks/>
            </p:cNvSpPr>
            <p:nvPr/>
          </p:nvSpPr>
          <p:spPr bwMode="auto">
            <a:xfrm>
              <a:off x="2058" y="2375"/>
              <a:ext cx="71" cy="84"/>
            </a:xfrm>
            <a:custGeom>
              <a:avLst/>
              <a:gdLst>
                <a:gd name="T0" fmla="*/ 42 w 212"/>
                <a:gd name="T1" fmla="*/ 251 h 251"/>
                <a:gd name="T2" fmla="*/ 1 w 212"/>
                <a:gd name="T3" fmla="*/ 218 h 251"/>
                <a:gd name="T4" fmla="*/ 0 w 212"/>
                <a:gd name="T5" fmla="*/ 197 h 251"/>
                <a:gd name="T6" fmla="*/ 2 w 212"/>
                <a:gd name="T7" fmla="*/ 177 h 251"/>
                <a:gd name="T8" fmla="*/ 9 w 212"/>
                <a:gd name="T9" fmla="*/ 143 h 251"/>
                <a:gd name="T10" fmla="*/ 23 w 212"/>
                <a:gd name="T11" fmla="*/ 108 h 251"/>
                <a:gd name="T12" fmla="*/ 44 w 212"/>
                <a:gd name="T13" fmla="*/ 77 h 251"/>
                <a:gd name="T14" fmla="*/ 69 w 212"/>
                <a:gd name="T15" fmla="*/ 48 h 251"/>
                <a:gd name="T16" fmla="*/ 99 w 212"/>
                <a:gd name="T17" fmla="*/ 27 h 251"/>
                <a:gd name="T18" fmla="*/ 115 w 212"/>
                <a:gd name="T19" fmla="*/ 18 h 251"/>
                <a:gd name="T20" fmla="*/ 133 w 212"/>
                <a:gd name="T21" fmla="*/ 11 h 251"/>
                <a:gd name="T22" fmla="*/ 151 w 212"/>
                <a:gd name="T23" fmla="*/ 3 h 251"/>
                <a:gd name="T24" fmla="*/ 171 w 212"/>
                <a:gd name="T25" fmla="*/ 0 h 251"/>
                <a:gd name="T26" fmla="*/ 212 w 212"/>
                <a:gd name="T27" fmla="*/ 32 h 251"/>
                <a:gd name="T28" fmla="*/ 210 w 212"/>
                <a:gd name="T29" fmla="*/ 36 h 251"/>
                <a:gd name="T30" fmla="*/ 194 w 212"/>
                <a:gd name="T31" fmla="*/ 37 h 251"/>
                <a:gd name="T32" fmla="*/ 179 w 212"/>
                <a:gd name="T33" fmla="*/ 41 h 251"/>
                <a:gd name="T34" fmla="*/ 145 w 212"/>
                <a:gd name="T35" fmla="*/ 53 h 251"/>
                <a:gd name="T36" fmla="*/ 128 w 212"/>
                <a:gd name="T37" fmla="*/ 61 h 251"/>
                <a:gd name="T38" fmla="*/ 111 w 212"/>
                <a:gd name="T39" fmla="*/ 74 h 251"/>
                <a:gd name="T40" fmla="*/ 95 w 212"/>
                <a:gd name="T41" fmla="*/ 87 h 251"/>
                <a:gd name="T42" fmla="*/ 80 w 212"/>
                <a:gd name="T43" fmla="*/ 104 h 251"/>
                <a:gd name="T44" fmla="*/ 67 w 212"/>
                <a:gd name="T45" fmla="*/ 123 h 251"/>
                <a:gd name="T46" fmla="*/ 57 w 212"/>
                <a:gd name="T47" fmla="*/ 143 h 251"/>
                <a:gd name="T48" fmla="*/ 50 w 212"/>
                <a:gd name="T49" fmla="*/ 161 h 251"/>
                <a:gd name="T50" fmla="*/ 47 w 212"/>
                <a:gd name="T51" fmla="*/ 180 h 251"/>
                <a:gd name="T52" fmla="*/ 43 w 212"/>
                <a:gd name="T53" fmla="*/ 197 h 251"/>
                <a:gd name="T54" fmla="*/ 42 w 212"/>
                <a:gd name="T55" fmla="*/ 216 h 251"/>
                <a:gd name="T56" fmla="*/ 44 w 212"/>
                <a:gd name="T57" fmla="*/ 247 h 251"/>
                <a:gd name="T58" fmla="*/ 42 w 212"/>
                <a:gd name="T5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2" h="251">
                  <a:moveTo>
                    <a:pt x="42" y="251"/>
                  </a:moveTo>
                  <a:lnTo>
                    <a:pt x="1" y="218"/>
                  </a:lnTo>
                  <a:lnTo>
                    <a:pt x="0" y="197"/>
                  </a:lnTo>
                  <a:lnTo>
                    <a:pt x="2" y="177"/>
                  </a:lnTo>
                  <a:lnTo>
                    <a:pt x="9" y="143"/>
                  </a:lnTo>
                  <a:lnTo>
                    <a:pt x="23" y="108"/>
                  </a:lnTo>
                  <a:lnTo>
                    <a:pt x="44" y="77"/>
                  </a:lnTo>
                  <a:lnTo>
                    <a:pt x="69" y="48"/>
                  </a:lnTo>
                  <a:lnTo>
                    <a:pt x="99" y="27"/>
                  </a:lnTo>
                  <a:lnTo>
                    <a:pt x="115" y="18"/>
                  </a:lnTo>
                  <a:lnTo>
                    <a:pt x="133" y="11"/>
                  </a:lnTo>
                  <a:lnTo>
                    <a:pt x="151" y="3"/>
                  </a:lnTo>
                  <a:lnTo>
                    <a:pt x="171" y="0"/>
                  </a:lnTo>
                  <a:lnTo>
                    <a:pt x="212" y="32"/>
                  </a:lnTo>
                  <a:lnTo>
                    <a:pt x="210" y="36"/>
                  </a:lnTo>
                  <a:lnTo>
                    <a:pt x="194" y="37"/>
                  </a:lnTo>
                  <a:lnTo>
                    <a:pt x="179" y="41"/>
                  </a:lnTo>
                  <a:lnTo>
                    <a:pt x="145" y="53"/>
                  </a:lnTo>
                  <a:lnTo>
                    <a:pt x="128" y="61"/>
                  </a:lnTo>
                  <a:lnTo>
                    <a:pt x="111" y="74"/>
                  </a:lnTo>
                  <a:lnTo>
                    <a:pt x="95" y="87"/>
                  </a:lnTo>
                  <a:lnTo>
                    <a:pt x="80" y="104"/>
                  </a:lnTo>
                  <a:lnTo>
                    <a:pt x="67" y="123"/>
                  </a:lnTo>
                  <a:lnTo>
                    <a:pt x="57" y="143"/>
                  </a:lnTo>
                  <a:lnTo>
                    <a:pt x="50" y="161"/>
                  </a:lnTo>
                  <a:lnTo>
                    <a:pt x="47" y="180"/>
                  </a:lnTo>
                  <a:lnTo>
                    <a:pt x="43" y="197"/>
                  </a:lnTo>
                  <a:lnTo>
                    <a:pt x="42" y="216"/>
                  </a:lnTo>
                  <a:lnTo>
                    <a:pt x="44" y="247"/>
                  </a:lnTo>
                  <a:lnTo>
                    <a:pt x="42" y="2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09" name="Freeform 185">
              <a:extLst>
                <a:ext uri="{FF2B5EF4-FFF2-40B4-BE49-F238E27FC236}">
                  <a16:creationId xmlns:a16="http://schemas.microsoft.com/office/drawing/2014/main" id="{23FF77E1-523A-039A-8E97-1E676A5894CF}"/>
                </a:ext>
              </a:extLst>
            </p:cNvPr>
            <p:cNvSpPr>
              <a:spLocks noEditPoints="1"/>
            </p:cNvSpPr>
            <p:nvPr/>
          </p:nvSpPr>
          <p:spPr bwMode="auto">
            <a:xfrm>
              <a:off x="2105" y="2409"/>
              <a:ext cx="73" cy="69"/>
            </a:xfrm>
            <a:custGeom>
              <a:avLst/>
              <a:gdLst>
                <a:gd name="T0" fmla="*/ 143 w 220"/>
                <a:gd name="T1" fmla="*/ 181 h 206"/>
                <a:gd name="T2" fmla="*/ 126 w 220"/>
                <a:gd name="T3" fmla="*/ 197 h 206"/>
                <a:gd name="T4" fmla="*/ 105 w 220"/>
                <a:gd name="T5" fmla="*/ 204 h 206"/>
                <a:gd name="T6" fmla="*/ 83 w 220"/>
                <a:gd name="T7" fmla="*/ 205 h 206"/>
                <a:gd name="T8" fmla="*/ 52 w 220"/>
                <a:gd name="T9" fmla="*/ 194 h 206"/>
                <a:gd name="T10" fmla="*/ 23 w 220"/>
                <a:gd name="T11" fmla="*/ 173 h 206"/>
                <a:gd name="T12" fmla="*/ 7 w 220"/>
                <a:gd name="T13" fmla="*/ 152 h 206"/>
                <a:gd name="T14" fmla="*/ 1 w 220"/>
                <a:gd name="T15" fmla="*/ 131 h 206"/>
                <a:gd name="T16" fmla="*/ 1 w 220"/>
                <a:gd name="T17" fmla="*/ 103 h 206"/>
                <a:gd name="T18" fmla="*/ 7 w 220"/>
                <a:gd name="T19" fmla="*/ 84 h 206"/>
                <a:gd name="T20" fmla="*/ 28 w 220"/>
                <a:gd name="T21" fmla="*/ 55 h 206"/>
                <a:gd name="T22" fmla="*/ 64 w 220"/>
                <a:gd name="T23" fmla="*/ 20 h 206"/>
                <a:gd name="T24" fmla="*/ 102 w 220"/>
                <a:gd name="T25" fmla="*/ 2 h 206"/>
                <a:gd name="T26" fmla="*/ 147 w 220"/>
                <a:gd name="T27" fmla="*/ 6 h 206"/>
                <a:gd name="T28" fmla="*/ 192 w 220"/>
                <a:gd name="T29" fmla="*/ 31 h 206"/>
                <a:gd name="T30" fmla="*/ 213 w 220"/>
                <a:gd name="T31" fmla="*/ 48 h 206"/>
                <a:gd name="T32" fmla="*/ 216 w 220"/>
                <a:gd name="T33" fmla="*/ 52 h 206"/>
                <a:gd name="T34" fmla="*/ 220 w 220"/>
                <a:gd name="T35" fmla="*/ 56 h 206"/>
                <a:gd name="T36" fmla="*/ 191 w 220"/>
                <a:gd name="T37" fmla="*/ 85 h 206"/>
                <a:gd name="T38" fmla="*/ 183 w 220"/>
                <a:gd name="T39" fmla="*/ 76 h 206"/>
                <a:gd name="T40" fmla="*/ 169 w 220"/>
                <a:gd name="T41" fmla="*/ 60 h 206"/>
                <a:gd name="T42" fmla="*/ 148 w 220"/>
                <a:gd name="T43" fmla="*/ 48 h 206"/>
                <a:gd name="T44" fmla="*/ 127 w 220"/>
                <a:gd name="T45" fmla="*/ 46 h 206"/>
                <a:gd name="T46" fmla="*/ 97 w 220"/>
                <a:gd name="T47" fmla="*/ 55 h 206"/>
                <a:gd name="T48" fmla="*/ 114 w 220"/>
                <a:gd name="T49" fmla="*/ 68 h 206"/>
                <a:gd name="T50" fmla="*/ 137 w 220"/>
                <a:gd name="T51" fmla="*/ 80 h 206"/>
                <a:gd name="T52" fmla="*/ 159 w 220"/>
                <a:gd name="T53" fmla="*/ 106 h 206"/>
                <a:gd name="T54" fmla="*/ 166 w 220"/>
                <a:gd name="T55" fmla="*/ 131 h 206"/>
                <a:gd name="T56" fmla="*/ 162 w 220"/>
                <a:gd name="T57" fmla="*/ 154 h 206"/>
                <a:gd name="T58" fmla="*/ 149 w 220"/>
                <a:gd name="T59" fmla="*/ 176 h 206"/>
                <a:gd name="T60" fmla="*/ 85 w 220"/>
                <a:gd name="T61" fmla="*/ 161 h 206"/>
                <a:gd name="T62" fmla="*/ 97 w 220"/>
                <a:gd name="T63" fmla="*/ 152 h 206"/>
                <a:gd name="T64" fmla="*/ 109 w 220"/>
                <a:gd name="T65" fmla="*/ 137 h 206"/>
                <a:gd name="T66" fmla="*/ 113 w 220"/>
                <a:gd name="T67" fmla="*/ 118 h 206"/>
                <a:gd name="T68" fmla="*/ 107 w 220"/>
                <a:gd name="T69" fmla="*/ 106 h 206"/>
                <a:gd name="T70" fmla="*/ 85 w 220"/>
                <a:gd name="T71" fmla="*/ 89 h 206"/>
                <a:gd name="T72" fmla="*/ 71 w 220"/>
                <a:gd name="T73" fmla="*/ 88 h 206"/>
                <a:gd name="T74" fmla="*/ 57 w 220"/>
                <a:gd name="T75" fmla="*/ 106 h 206"/>
                <a:gd name="T76" fmla="*/ 47 w 220"/>
                <a:gd name="T77" fmla="*/ 128 h 206"/>
                <a:gd name="T78" fmla="*/ 51 w 220"/>
                <a:gd name="T79" fmla="*/ 148 h 206"/>
                <a:gd name="T80" fmla="*/ 63 w 220"/>
                <a:gd name="T81" fmla="*/ 160 h 206"/>
                <a:gd name="T82" fmla="*/ 79 w 220"/>
                <a:gd name="T83" fmla="*/ 163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20" h="206">
                  <a:moveTo>
                    <a:pt x="149" y="176"/>
                  </a:moveTo>
                  <a:lnTo>
                    <a:pt x="143" y="181"/>
                  </a:lnTo>
                  <a:lnTo>
                    <a:pt x="138" y="187"/>
                  </a:lnTo>
                  <a:lnTo>
                    <a:pt x="126" y="197"/>
                  </a:lnTo>
                  <a:lnTo>
                    <a:pt x="112" y="203"/>
                  </a:lnTo>
                  <a:lnTo>
                    <a:pt x="105" y="204"/>
                  </a:lnTo>
                  <a:lnTo>
                    <a:pt x="99" y="206"/>
                  </a:lnTo>
                  <a:lnTo>
                    <a:pt x="83" y="205"/>
                  </a:lnTo>
                  <a:lnTo>
                    <a:pt x="69" y="202"/>
                  </a:lnTo>
                  <a:lnTo>
                    <a:pt x="52" y="194"/>
                  </a:lnTo>
                  <a:lnTo>
                    <a:pt x="37" y="185"/>
                  </a:lnTo>
                  <a:lnTo>
                    <a:pt x="23" y="173"/>
                  </a:lnTo>
                  <a:lnTo>
                    <a:pt x="12" y="161"/>
                  </a:lnTo>
                  <a:lnTo>
                    <a:pt x="7" y="152"/>
                  </a:lnTo>
                  <a:lnTo>
                    <a:pt x="5" y="145"/>
                  </a:lnTo>
                  <a:lnTo>
                    <a:pt x="1" y="131"/>
                  </a:lnTo>
                  <a:lnTo>
                    <a:pt x="0" y="113"/>
                  </a:lnTo>
                  <a:lnTo>
                    <a:pt x="1" y="103"/>
                  </a:lnTo>
                  <a:lnTo>
                    <a:pt x="5" y="95"/>
                  </a:lnTo>
                  <a:lnTo>
                    <a:pt x="7" y="84"/>
                  </a:lnTo>
                  <a:lnTo>
                    <a:pt x="13" y="74"/>
                  </a:lnTo>
                  <a:lnTo>
                    <a:pt x="28" y="55"/>
                  </a:lnTo>
                  <a:lnTo>
                    <a:pt x="45" y="35"/>
                  </a:lnTo>
                  <a:lnTo>
                    <a:pt x="64" y="20"/>
                  </a:lnTo>
                  <a:lnTo>
                    <a:pt x="82" y="8"/>
                  </a:lnTo>
                  <a:lnTo>
                    <a:pt x="102" y="2"/>
                  </a:lnTo>
                  <a:lnTo>
                    <a:pt x="123" y="0"/>
                  </a:lnTo>
                  <a:lnTo>
                    <a:pt x="147" y="6"/>
                  </a:lnTo>
                  <a:lnTo>
                    <a:pt x="168" y="14"/>
                  </a:lnTo>
                  <a:lnTo>
                    <a:pt x="192" y="31"/>
                  </a:lnTo>
                  <a:lnTo>
                    <a:pt x="209" y="46"/>
                  </a:lnTo>
                  <a:lnTo>
                    <a:pt x="213" y="48"/>
                  </a:lnTo>
                  <a:lnTo>
                    <a:pt x="214" y="49"/>
                  </a:lnTo>
                  <a:lnTo>
                    <a:pt x="216" y="52"/>
                  </a:lnTo>
                  <a:lnTo>
                    <a:pt x="217" y="54"/>
                  </a:lnTo>
                  <a:lnTo>
                    <a:pt x="220" y="56"/>
                  </a:lnTo>
                  <a:lnTo>
                    <a:pt x="195" y="89"/>
                  </a:lnTo>
                  <a:lnTo>
                    <a:pt x="191" y="85"/>
                  </a:lnTo>
                  <a:lnTo>
                    <a:pt x="187" y="80"/>
                  </a:lnTo>
                  <a:lnTo>
                    <a:pt x="183" y="76"/>
                  </a:lnTo>
                  <a:lnTo>
                    <a:pt x="177" y="67"/>
                  </a:lnTo>
                  <a:lnTo>
                    <a:pt x="169" y="60"/>
                  </a:lnTo>
                  <a:lnTo>
                    <a:pt x="157" y="52"/>
                  </a:lnTo>
                  <a:lnTo>
                    <a:pt x="148" y="48"/>
                  </a:lnTo>
                  <a:lnTo>
                    <a:pt x="137" y="44"/>
                  </a:lnTo>
                  <a:lnTo>
                    <a:pt x="127" y="46"/>
                  </a:lnTo>
                  <a:lnTo>
                    <a:pt x="107" y="49"/>
                  </a:lnTo>
                  <a:lnTo>
                    <a:pt x="97" y="55"/>
                  </a:lnTo>
                  <a:lnTo>
                    <a:pt x="90" y="64"/>
                  </a:lnTo>
                  <a:lnTo>
                    <a:pt x="114" y="68"/>
                  </a:lnTo>
                  <a:lnTo>
                    <a:pt x="125" y="72"/>
                  </a:lnTo>
                  <a:lnTo>
                    <a:pt x="137" y="80"/>
                  </a:lnTo>
                  <a:lnTo>
                    <a:pt x="154" y="97"/>
                  </a:lnTo>
                  <a:lnTo>
                    <a:pt x="159" y="106"/>
                  </a:lnTo>
                  <a:lnTo>
                    <a:pt x="163" y="116"/>
                  </a:lnTo>
                  <a:lnTo>
                    <a:pt x="166" y="131"/>
                  </a:lnTo>
                  <a:lnTo>
                    <a:pt x="165" y="146"/>
                  </a:lnTo>
                  <a:lnTo>
                    <a:pt x="162" y="154"/>
                  </a:lnTo>
                  <a:lnTo>
                    <a:pt x="159" y="161"/>
                  </a:lnTo>
                  <a:lnTo>
                    <a:pt x="149" y="176"/>
                  </a:lnTo>
                  <a:close/>
                  <a:moveTo>
                    <a:pt x="79" y="163"/>
                  </a:moveTo>
                  <a:lnTo>
                    <a:pt x="85" y="161"/>
                  </a:lnTo>
                  <a:lnTo>
                    <a:pt x="91" y="158"/>
                  </a:lnTo>
                  <a:lnTo>
                    <a:pt x="97" y="152"/>
                  </a:lnTo>
                  <a:lnTo>
                    <a:pt x="105" y="145"/>
                  </a:lnTo>
                  <a:lnTo>
                    <a:pt x="109" y="137"/>
                  </a:lnTo>
                  <a:lnTo>
                    <a:pt x="113" y="131"/>
                  </a:lnTo>
                  <a:lnTo>
                    <a:pt x="113" y="118"/>
                  </a:lnTo>
                  <a:lnTo>
                    <a:pt x="109" y="110"/>
                  </a:lnTo>
                  <a:lnTo>
                    <a:pt x="107" y="106"/>
                  </a:lnTo>
                  <a:lnTo>
                    <a:pt x="97" y="95"/>
                  </a:lnTo>
                  <a:lnTo>
                    <a:pt x="85" y="89"/>
                  </a:lnTo>
                  <a:lnTo>
                    <a:pt x="73" y="84"/>
                  </a:lnTo>
                  <a:lnTo>
                    <a:pt x="71" y="88"/>
                  </a:lnTo>
                  <a:lnTo>
                    <a:pt x="66" y="94"/>
                  </a:lnTo>
                  <a:lnTo>
                    <a:pt x="57" y="106"/>
                  </a:lnTo>
                  <a:lnTo>
                    <a:pt x="51" y="119"/>
                  </a:lnTo>
                  <a:lnTo>
                    <a:pt x="47" y="128"/>
                  </a:lnTo>
                  <a:lnTo>
                    <a:pt x="47" y="138"/>
                  </a:lnTo>
                  <a:lnTo>
                    <a:pt x="51" y="148"/>
                  </a:lnTo>
                  <a:lnTo>
                    <a:pt x="59" y="157"/>
                  </a:lnTo>
                  <a:lnTo>
                    <a:pt x="63" y="160"/>
                  </a:lnTo>
                  <a:lnTo>
                    <a:pt x="69" y="162"/>
                  </a:lnTo>
                  <a:lnTo>
                    <a:pt x="79" y="1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10" name="Freeform 186">
              <a:extLst>
                <a:ext uri="{FF2B5EF4-FFF2-40B4-BE49-F238E27FC236}">
                  <a16:creationId xmlns:a16="http://schemas.microsoft.com/office/drawing/2014/main" id="{91CC6990-E5BE-11E4-5FBE-CBFCD7C1632F}"/>
                </a:ext>
              </a:extLst>
            </p:cNvPr>
            <p:cNvSpPr>
              <a:spLocks/>
            </p:cNvSpPr>
            <p:nvPr/>
          </p:nvSpPr>
          <p:spPr bwMode="auto">
            <a:xfrm>
              <a:off x="2138" y="2437"/>
              <a:ext cx="71" cy="84"/>
            </a:xfrm>
            <a:custGeom>
              <a:avLst/>
              <a:gdLst>
                <a:gd name="T0" fmla="*/ 169 w 212"/>
                <a:gd name="T1" fmla="*/ 174 h 251"/>
                <a:gd name="T2" fmla="*/ 156 w 212"/>
                <a:gd name="T3" fmla="*/ 188 h 251"/>
                <a:gd name="T4" fmla="*/ 149 w 212"/>
                <a:gd name="T5" fmla="*/ 194 h 251"/>
                <a:gd name="T6" fmla="*/ 143 w 212"/>
                <a:gd name="T7" fmla="*/ 202 h 251"/>
                <a:gd name="T8" fmla="*/ 128 w 212"/>
                <a:gd name="T9" fmla="*/ 214 h 251"/>
                <a:gd name="T10" fmla="*/ 114 w 212"/>
                <a:gd name="T11" fmla="*/ 224 h 251"/>
                <a:gd name="T12" fmla="*/ 97 w 212"/>
                <a:gd name="T13" fmla="*/ 232 h 251"/>
                <a:gd name="T14" fmla="*/ 80 w 212"/>
                <a:gd name="T15" fmla="*/ 239 h 251"/>
                <a:gd name="T16" fmla="*/ 61 w 212"/>
                <a:gd name="T17" fmla="*/ 245 h 251"/>
                <a:gd name="T18" fmla="*/ 42 w 212"/>
                <a:gd name="T19" fmla="*/ 251 h 251"/>
                <a:gd name="T20" fmla="*/ 0 w 212"/>
                <a:gd name="T21" fmla="*/ 218 h 251"/>
                <a:gd name="T22" fmla="*/ 2 w 212"/>
                <a:gd name="T23" fmla="*/ 215 h 251"/>
                <a:gd name="T24" fmla="*/ 9 w 212"/>
                <a:gd name="T25" fmla="*/ 214 h 251"/>
                <a:gd name="T26" fmla="*/ 18 w 212"/>
                <a:gd name="T27" fmla="*/ 214 h 251"/>
                <a:gd name="T28" fmla="*/ 35 w 212"/>
                <a:gd name="T29" fmla="*/ 210 h 251"/>
                <a:gd name="T30" fmla="*/ 51 w 212"/>
                <a:gd name="T31" fmla="*/ 204 h 251"/>
                <a:gd name="T32" fmla="*/ 68 w 212"/>
                <a:gd name="T33" fmla="*/ 198 h 251"/>
                <a:gd name="T34" fmla="*/ 85 w 212"/>
                <a:gd name="T35" fmla="*/ 188 h 251"/>
                <a:gd name="T36" fmla="*/ 102 w 212"/>
                <a:gd name="T37" fmla="*/ 178 h 251"/>
                <a:gd name="T38" fmla="*/ 109 w 212"/>
                <a:gd name="T39" fmla="*/ 170 h 251"/>
                <a:gd name="T40" fmla="*/ 117 w 212"/>
                <a:gd name="T41" fmla="*/ 163 h 251"/>
                <a:gd name="T42" fmla="*/ 125 w 212"/>
                <a:gd name="T43" fmla="*/ 155 h 251"/>
                <a:gd name="T44" fmla="*/ 128 w 212"/>
                <a:gd name="T45" fmla="*/ 150 h 251"/>
                <a:gd name="T46" fmla="*/ 133 w 212"/>
                <a:gd name="T47" fmla="*/ 146 h 251"/>
                <a:gd name="T48" fmla="*/ 145 w 212"/>
                <a:gd name="T49" fmla="*/ 127 h 251"/>
                <a:gd name="T50" fmla="*/ 150 w 212"/>
                <a:gd name="T51" fmla="*/ 118 h 251"/>
                <a:gd name="T52" fmla="*/ 155 w 212"/>
                <a:gd name="T53" fmla="*/ 109 h 251"/>
                <a:gd name="T54" fmla="*/ 162 w 212"/>
                <a:gd name="T55" fmla="*/ 89 h 251"/>
                <a:gd name="T56" fmla="*/ 167 w 212"/>
                <a:gd name="T57" fmla="*/ 71 h 251"/>
                <a:gd name="T58" fmla="*/ 169 w 212"/>
                <a:gd name="T59" fmla="*/ 52 h 251"/>
                <a:gd name="T60" fmla="*/ 171 w 212"/>
                <a:gd name="T61" fmla="*/ 35 h 251"/>
                <a:gd name="T62" fmla="*/ 170 w 212"/>
                <a:gd name="T63" fmla="*/ 18 h 251"/>
                <a:gd name="T64" fmla="*/ 168 w 212"/>
                <a:gd name="T65" fmla="*/ 4 h 251"/>
                <a:gd name="T66" fmla="*/ 170 w 212"/>
                <a:gd name="T67" fmla="*/ 0 h 251"/>
                <a:gd name="T68" fmla="*/ 212 w 212"/>
                <a:gd name="T69" fmla="*/ 32 h 251"/>
                <a:gd name="T70" fmla="*/ 212 w 212"/>
                <a:gd name="T71" fmla="*/ 52 h 251"/>
                <a:gd name="T72" fmla="*/ 211 w 212"/>
                <a:gd name="T73" fmla="*/ 61 h 251"/>
                <a:gd name="T74" fmla="*/ 211 w 212"/>
                <a:gd name="T75" fmla="*/ 72 h 251"/>
                <a:gd name="T76" fmla="*/ 209 w 212"/>
                <a:gd name="T77" fmla="*/ 80 h 251"/>
                <a:gd name="T78" fmla="*/ 207 w 212"/>
                <a:gd name="T79" fmla="*/ 90 h 251"/>
                <a:gd name="T80" fmla="*/ 204 w 212"/>
                <a:gd name="T81" fmla="*/ 109 h 251"/>
                <a:gd name="T82" fmla="*/ 197 w 212"/>
                <a:gd name="T83" fmla="*/ 125 h 251"/>
                <a:gd name="T84" fmla="*/ 189 w 212"/>
                <a:gd name="T85" fmla="*/ 142 h 251"/>
                <a:gd name="T86" fmla="*/ 180 w 212"/>
                <a:gd name="T87" fmla="*/ 157 h 251"/>
                <a:gd name="T88" fmla="*/ 169 w 212"/>
                <a:gd name="T89" fmla="*/ 174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2" h="251">
                  <a:moveTo>
                    <a:pt x="169" y="174"/>
                  </a:moveTo>
                  <a:lnTo>
                    <a:pt x="156" y="188"/>
                  </a:lnTo>
                  <a:lnTo>
                    <a:pt x="149" y="194"/>
                  </a:lnTo>
                  <a:lnTo>
                    <a:pt x="143" y="202"/>
                  </a:lnTo>
                  <a:lnTo>
                    <a:pt x="128" y="214"/>
                  </a:lnTo>
                  <a:lnTo>
                    <a:pt x="114" y="224"/>
                  </a:lnTo>
                  <a:lnTo>
                    <a:pt x="97" y="232"/>
                  </a:lnTo>
                  <a:lnTo>
                    <a:pt x="80" y="239"/>
                  </a:lnTo>
                  <a:lnTo>
                    <a:pt x="61" y="245"/>
                  </a:lnTo>
                  <a:lnTo>
                    <a:pt x="42" y="251"/>
                  </a:lnTo>
                  <a:lnTo>
                    <a:pt x="0" y="218"/>
                  </a:lnTo>
                  <a:lnTo>
                    <a:pt x="2" y="215"/>
                  </a:lnTo>
                  <a:lnTo>
                    <a:pt x="9" y="214"/>
                  </a:lnTo>
                  <a:lnTo>
                    <a:pt x="18" y="214"/>
                  </a:lnTo>
                  <a:lnTo>
                    <a:pt x="35" y="210"/>
                  </a:lnTo>
                  <a:lnTo>
                    <a:pt x="51" y="204"/>
                  </a:lnTo>
                  <a:lnTo>
                    <a:pt x="68" y="198"/>
                  </a:lnTo>
                  <a:lnTo>
                    <a:pt x="85" y="188"/>
                  </a:lnTo>
                  <a:lnTo>
                    <a:pt x="102" y="178"/>
                  </a:lnTo>
                  <a:lnTo>
                    <a:pt x="109" y="170"/>
                  </a:lnTo>
                  <a:lnTo>
                    <a:pt x="117" y="163"/>
                  </a:lnTo>
                  <a:lnTo>
                    <a:pt x="125" y="155"/>
                  </a:lnTo>
                  <a:lnTo>
                    <a:pt x="128" y="150"/>
                  </a:lnTo>
                  <a:lnTo>
                    <a:pt x="133" y="146"/>
                  </a:lnTo>
                  <a:lnTo>
                    <a:pt x="145" y="127"/>
                  </a:lnTo>
                  <a:lnTo>
                    <a:pt x="150" y="118"/>
                  </a:lnTo>
                  <a:lnTo>
                    <a:pt x="155" y="109"/>
                  </a:lnTo>
                  <a:lnTo>
                    <a:pt x="162" y="89"/>
                  </a:lnTo>
                  <a:lnTo>
                    <a:pt x="167" y="71"/>
                  </a:lnTo>
                  <a:lnTo>
                    <a:pt x="169" y="52"/>
                  </a:lnTo>
                  <a:lnTo>
                    <a:pt x="171" y="35"/>
                  </a:lnTo>
                  <a:lnTo>
                    <a:pt x="170" y="18"/>
                  </a:lnTo>
                  <a:lnTo>
                    <a:pt x="168" y="4"/>
                  </a:lnTo>
                  <a:lnTo>
                    <a:pt x="170" y="0"/>
                  </a:lnTo>
                  <a:lnTo>
                    <a:pt x="212" y="32"/>
                  </a:lnTo>
                  <a:lnTo>
                    <a:pt x="212" y="52"/>
                  </a:lnTo>
                  <a:lnTo>
                    <a:pt x="211" y="61"/>
                  </a:lnTo>
                  <a:lnTo>
                    <a:pt x="211" y="72"/>
                  </a:lnTo>
                  <a:lnTo>
                    <a:pt x="209" y="80"/>
                  </a:lnTo>
                  <a:lnTo>
                    <a:pt x="207" y="90"/>
                  </a:lnTo>
                  <a:lnTo>
                    <a:pt x="204" y="109"/>
                  </a:lnTo>
                  <a:lnTo>
                    <a:pt x="197" y="125"/>
                  </a:lnTo>
                  <a:lnTo>
                    <a:pt x="189" y="142"/>
                  </a:lnTo>
                  <a:lnTo>
                    <a:pt x="180" y="157"/>
                  </a:lnTo>
                  <a:lnTo>
                    <a:pt x="169" y="1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103633" name="Group 209">
            <a:extLst>
              <a:ext uri="{FF2B5EF4-FFF2-40B4-BE49-F238E27FC236}">
                <a16:creationId xmlns:a16="http://schemas.microsoft.com/office/drawing/2014/main" id="{C11AE227-74DD-676A-F40B-1669928A1FA6}"/>
              </a:ext>
            </a:extLst>
          </p:cNvPr>
          <p:cNvGrpSpPr>
            <a:grpSpLocks/>
          </p:cNvGrpSpPr>
          <p:nvPr/>
        </p:nvGrpSpPr>
        <p:grpSpPr bwMode="auto">
          <a:xfrm>
            <a:off x="1792288" y="3348038"/>
            <a:ext cx="1006475" cy="828675"/>
            <a:chOff x="1129" y="2109"/>
            <a:chExt cx="634" cy="522"/>
          </a:xfrm>
        </p:grpSpPr>
        <p:sp>
          <p:nvSpPr>
            <p:cNvPr id="103611" name="Freeform 187">
              <a:extLst>
                <a:ext uri="{FF2B5EF4-FFF2-40B4-BE49-F238E27FC236}">
                  <a16:creationId xmlns:a16="http://schemas.microsoft.com/office/drawing/2014/main" id="{39077484-35D9-FCED-3477-510674B3D02D}"/>
                </a:ext>
              </a:extLst>
            </p:cNvPr>
            <p:cNvSpPr>
              <a:spLocks/>
            </p:cNvSpPr>
            <p:nvPr/>
          </p:nvSpPr>
          <p:spPr bwMode="auto">
            <a:xfrm>
              <a:off x="1129" y="2109"/>
              <a:ext cx="83" cy="73"/>
            </a:xfrm>
            <a:custGeom>
              <a:avLst/>
              <a:gdLst>
                <a:gd name="T0" fmla="*/ 170 w 250"/>
                <a:gd name="T1" fmla="*/ 199 h 218"/>
                <a:gd name="T2" fmla="*/ 153 w 250"/>
                <a:gd name="T3" fmla="*/ 212 h 218"/>
                <a:gd name="T4" fmla="*/ 134 w 250"/>
                <a:gd name="T5" fmla="*/ 216 h 218"/>
                <a:gd name="T6" fmla="*/ 130 w 250"/>
                <a:gd name="T7" fmla="*/ 216 h 218"/>
                <a:gd name="T8" fmla="*/ 123 w 250"/>
                <a:gd name="T9" fmla="*/ 218 h 218"/>
                <a:gd name="T10" fmla="*/ 89 w 250"/>
                <a:gd name="T11" fmla="*/ 210 h 218"/>
                <a:gd name="T12" fmla="*/ 56 w 250"/>
                <a:gd name="T13" fmla="*/ 190 h 218"/>
                <a:gd name="T14" fmla="*/ 22 w 250"/>
                <a:gd name="T15" fmla="*/ 158 h 218"/>
                <a:gd name="T16" fmla="*/ 0 w 250"/>
                <a:gd name="T17" fmla="*/ 127 h 218"/>
                <a:gd name="T18" fmla="*/ 36 w 250"/>
                <a:gd name="T19" fmla="*/ 91 h 218"/>
                <a:gd name="T20" fmla="*/ 54 w 250"/>
                <a:gd name="T21" fmla="*/ 129 h 218"/>
                <a:gd name="T22" fmla="*/ 81 w 250"/>
                <a:gd name="T23" fmla="*/ 160 h 218"/>
                <a:gd name="T24" fmla="*/ 96 w 250"/>
                <a:gd name="T25" fmla="*/ 170 h 218"/>
                <a:gd name="T26" fmla="*/ 116 w 250"/>
                <a:gd name="T27" fmla="*/ 175 h 218"/>
                <a:gd name="T28" fmla="*/ 125 w 250"/>
                <a:gd name="T29" fmla="*/ 168 h 218"/>
                <a:gd name="T30" fmla="*/ 126 w 250"/>
                <a:gd name="T31" fmla="*/ 162 h 218"/>
                <a:gd name="T32" fmla="*/ 125 w 250"/>
                <a:gd name="T33" fmla="*/ 150 h 218"/>
                <a:gd name="T34" fmla="*/ 124 w 250"/>
                <a:gd name="T35" fmla="*/ 146 h 218"/>
                <a:gd name="T36" fmla="*/ 102 w 250"/>
                <a:gd name="T37" fmla="*/ 120 h 218"/>
                <a:gd name="T38" fmla="*/ 78 w 250"/>
                <a:gd name="T39" fmla="*/ 87 h 218"/>
                <a:gd name="T40" fmla="*/ 71 w 250"/>
                <a:gd name="T41" fmla="*/ 66 h 218"/>
                <a:gd name="T42" fmla="*/ 74 w 250"/>
                <a:gd name="T43" fmla="*/ 38 h 218"/>
                <a:gd name="T44" fmla="*/ 93 w 250"/>
                <a:gd name="T45" fmla="*/ 11 h 218"/>
                <a:gd name="T46" fmla="*/ 118 w 250"/>
                <a:gd name="T47" fmla="*/ 0 h 218"/>
                <a:gd name="T48" fmla="*/ 149 w 250"/>
                <a:gd name="T49" fmla="*/ 1 h 218"/>
                <a:gd name="T50" fmla="*/ 182 w 250"/>
                <a:gd name="T51" fmla="*/ 14 h 218"/>
                <a:gd name="T52" fmla="*/ 214 w 250"/>
                <a:gd name="T53" fmla="*/ 39 h 218"/>
                <a:gd name="T54" fmla="*/ 239 w 250"/>
                <a:gd name="T55" fmla="*/ 69 h 218"/>
                <a:gd name="T56" fmla="*/ 220 w 250"/>
                <a:gd name="T57" fmla="*/ 122 h 218"/>
                <a:gd name="T58" fmla="*/ 209 w 250"/>
                <a:gd name="T59" fmla="*/ 102 h 218"/>
                <a:gd name="T60" fmla="*/ 206 w 250"/>
                <a:gd name="T61" fmla="*/ 95 h 218"/>
                <a:gd name="T62" fmla="*/ 202 w 250"/>
                <a:gd name="T63" fmla="*/ 86 h 218"/>
                <a:gd name="T64" fmla="*/ 176 w 250"/>
                <a:gd name="T65" fmla="*/ 57 h 218"/>
                <a:gd name="T66" fmla="*/ 153 w 250"/>
                <a:gd name="T67" fmla="*/ 45 h 218"/>
                <a:gd name="T68" fmla="*/ 136 w 250"/>
                <a:gd name="T69" fmla="*/ 45 h 218"/>
                <a:gd name="T70" fmla="*/ 129 w 250"/>
                <a:gd name="T71" fmla="*/ 56 h 218"/>
                <a:gd name="T72" fmla="*/ 134 w 250"/>
                <a:gd name="T73" fmla="*/ 72 h 218"/>
                <a:gd name="T74" fmla="*/ 159 w 250"/>
                <a:gd name="T75" fmla="*/ 103 h 218"/>
                <a:gd name="T76" fmla="*/ 178 w 250"/>
                <a:gd name="T77" fmla="*/ 131 h 218"/>
                <a:gd name="T78" fmla="*/ 188 w 250"/>
                <a:gd name="T79" fmla="*/ 161 h 218"/>
                <a:gd name="T80" fmla="*/ 184 w 250"/>
                <a:gd name="T81" fmla="*/ 178 h 218"/>
                <a:gd name="T82" fmla="*/ 176 w 250"/>
                <a:gd name="T83" fmla="*/ 194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0" h="218">
                  <a:moveTo>
                    <a:pt x="176" y="194"/>
                  </a:moveTo>
                  <a:lnTo>
                    <a:pt x="170" y="199"/>
                  </a:lnTo>
                  <a:lnTo>
                    <a:pt x="165" y="204"/>
                  </a:lnTo>
                  <a:lnTo>
                    <a:pt x="153" y="212"/>
                  </a:lnTo>
                  <a:lnTo>
                    <a:pt x="138" y="216"/>
                  </a:lnTo>
                  <a:lnTo>
                    <a:pt x="134" y="216"/>
                  </a:lnTo>
                  <a:lnTo>
                    <a:pt x="131" y="216"/>
                  </a:lnTo>
                  <a:lnTo>
                    <a:pt x="130" y="216"/>
                  </a:lnTo>
                  <a:lnTo>
                    <a:pt x="130" y="217"/>
                  </a:lnTo>
                  <a:lnTo>
                    <a:pt x="123" y="218"/>
                  </a:lnTo>
                  <a:lnTo>
                    <a:pt x="106" y="215"/>
                  </a:lnTo>
                  <a:lnTo>
                    <a:pt x="89" y="210"/>
                  </a:lnTo>
                  <a:lnTo>
                    <a:pt x="72" y="200"/>
                  </a:lnTo>
                  <a:lnTo>
                    <a:pt x="56" y="190"/>
                  </a:lnTo>
                  <a:lnTo>
                    <a:pt x="36" y="173"/>
                  </a:lnTo>
                  <a:lnTo>
                    <a:pt x="22" y="158"/>
                  </a:lnTo>
                  <a:lnTo>
                    <a:pt x="10" y="141"/>
                  </a:lnTo>
                  <a:lnTo>
                    <a:pt x="0" y="127"/>
                  </a:lnTo>
                  <a:lnTo>
                    <a:pt x="32" y="87"/>
                  </a:lnTo>
                  <a:lnTo>
                    <a:pt x="36" y="91"/>
                  </a:lnTo>
                  <a:lnTo>
                    <a:pt x="42" y="110"/>
                  </a:lnTo>
                  <a:lnTo>
                    <a:pt x="54" y="129"/>
                  </a:lnTo>
                  <a:lnTo>
                    <a:pt x="65" y="146"/>
                  </a:lnTo>
                  <a:lnTo>
                    <a:pt x="81" y="160"/>
                  </a:lnTo>
                  <a:lnTo>
                    <a:pt x="90" y="168"/>
                  </a:lnTo>
                  <a:lnTo>
                    <a:pt x="96" y="170"/>
                  </a:lnTo>
                  <a:lnTo>
                    <a:pt x="104" y="174"/>
                  </a:lnTo>
                  <a:lnTo>
                    <a:pt x="116" y="175"/>
                  </a:lnTo>
                  <a:lnTo>
                    <a:pt x="120" y="172"/>
                  </a:lnTo>
                  <a:lnTo>
                    <a:pt x="125" y="168"/>
                  </a:lnTo>
                  <a:lnTo>
                    <a:pt x="125" y="164"/>
                  </a:lnTo>
                  <a:lnTo>
                    <a:pt x="126" y="162"/>
                  </a:lnTo>
                  <a:lnTo>
                    <a:pt x="128" y="155"/>
                  </a:lnTo>
                  <a:lnTo>
                    <a:pt x="125" y="150"/>
                  </a:lnTo>
                  <a:lnTo>
                    <a:pt x="124" y="147"/>
                  </a:lnTo>
                  <a:lnTo>
                    <a:pt x="124" y="146"/>
                  </a:lnTo>
                  <a:lnTo>
                    <a:pt x="119" y="138"/>
                  </a:lnTo>
                  <a:lnTo>
                    <a:pt x="102" y="120"/>
                  </a:lnTo>
                  <a:lnTo>
                    <a:pt x="87" y="99"/>
                  </a:lnTo>
                  <a:lnTo>
                    <a:pt x="78" y="87"/>
                  </a:lnTo>
                  <a:lnTo>
                    <a:pt x="75" y="77"/>
                  </a:lnTo>
                  <a:lnTo>
                    <a:pt x="71" y="66"/>
                  </a:lnTo>
                  <a:lnTo>
                    <a:pt x="71" y="57"/>
                  </a:lnTo>
                  <a:lnTo>
                    <a:pt x="74" y="38"/>
                  </a:lnTo>
                  <a:lnTo>
                    <a:pt x="84" y="21"/>
                  </a:lnTo>
                  <a:lnTo>
                    <a:pt x="93" y="11"/>
                  </a:lnTo>
                  <a:lnTo>
                    <a:pt x="105" y="3"/>
                  </a:lnTo>
                  <a:lnTo>
                    <a:pt x="118" y="0"/>
                  </a:lnTo>
                  <a:lnTo>
                    <a:pt x="135" y="0"/>
                  </a:lnTo>
                  <a:lnTo>
                    <a:pt x="149" y="1"/>
                  </a:lnTo>
                  <a:lnTo>
                    <a:pt x="166" y="6"/>
                  </a:lnTo>
                  <a:lnTo>
                    <a:pt x="182" y="14"/>
                  </a:lnTo>
                  <a:lnTo>
                    <a:pt x="198" y="26"/>
                  </a:lnTo>
                  <a:lnTo>
                    <a:pt x="214" y="39"/>
                  </a:lnTo>
                  <a:lnTo>
                    <a:pt x="228" y="55"/>
                  </a:lnTo>
                  <a:lnTo>
                    <a:pt x="239" y="69"/>
                  </a:lnTo>
                  <a:lnTo>
                    <a:pt x="250" y="84"/>
                  </a:lnTo>
                  <a:lnTo>
                    <a:pt x="220" y="122"/>
                  </a:lnTo>
                  <a:lnTo>
                    <a:pt x="215" y="119"/>
                  </a:lnTo>
                  <a:lnTo>
                    <a:pt x="209" y="102"/>
                  </a:lnTo>
                  <a:lnTo>
                    <a:pt x="207" y="97"/>
                  </a:lnTo>
                  <a:lnTo>
                    <a:pt x="206" y="95"/>
                  </a:lnTo>
                  <a:lnTo>
                    <a:pt x="206" y="93"/>
                  </a:lnTo>
                  <a:lnTo>
                    <a:pt x="202" y="86"/>
                  </a:lnTo>
                  <a:lnTo>
                    <a:pt x="189" y="71"/>
                  </a:lnTo>
                  <a:lnTo>
                    <a:pt x="176" y="57"/>
                  </a:lnTo>
                  <a:lnTo>
                    <a:pt x="166" y="50"/>
                  </a:lnTo>
                  <a:lnTo>
                    <a:pt x="153" y="45"/>
                  </a:lnTo>
                  <a:lnTo>
                    <a:pt x="142" y="44"/>
                  </a:lnTo>
                  <a:lnTo>
                    <a:pt x="136" y="45"/>
                  </a:lnTo>
                  <a:lnTo>
                    <a:pt x="132" y="50"/>
                  </a:lnTo>
                  <a:lnTo>
                    <a:pt x="129" y="56"/>
                  </a:lnTo>
                  <a:lnTo>
                    <a:pt x="129" y="63"/>
                  </a:lnTo>
                  <a:lnTo>
                    <a:pt x="134" y="72"/>
                  </a:lnTo>
                  <a:lnTo>
                    <a:pt x="143" y="85"/>
                  </a:lnTo>
                  <a:lnTo>
                    <a:pt x="159" y="103"/>
                  </a:lnTo>
                  <a:lnTo>
                    <a:pt x="173" y="121"/>
                  </a:lnTo>
                  <a:lnTo>
                    <a:pt x="178" y="131"/>
                  </a:lnTo>
                  <a:lnTo>
                    <a:pt x="183" y="141"/>
                  </a:lnTo>
                  <a:lnTo>
                    <a:pt x="188" y="161"/>
                  </a:lnTo>
                  <a:lnTo>
                    <a:pt x="186" y="168"/>
                  </a:lnTo>
                  <a:lnTo>
                    <a:pt x="184" y="178"/>
                  </a:lnTo>
                  <a:lnTo>
                    <a:pt x="180" y="185"/>
                  </a:lnTo>
                  <a:lnTo>
                    <a:pt x="176" y="1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12" name="Freeform 188">
              <a:extLst>
                <a:ext uri="{FF2B5EF4-FFF2-40B4-BE49-F238E27FC236}">
                  <a16:creationId xmlns:a16="http://schemas.microsoft.com/office/drawing/2014/main" id="{D0443C39-E367-5C87-B1B3-0C0D06207ADE}"/>
                </a:ext>
              </a:extLst>
            </p:cNvPr>
            <p:cNvSpPr>
              <a:spLocks noEditPoints="1"/>
            </p:cNvSpPr>
            <p:nvPr/>
          </p:nvSpPr>
          <p:spPr bwMode="auto">
            <a:xfrm>
              <a:off x="1189" y="2164"/>
              <a:ext cx="59" cy="63"/>
            </a:xfrm>
            <a:custGeom>
              <a:avLst/>
              <a:gdLst>
                <a:gd name="T0" fmla="*/ 146 w 175"/>
                <a:gd name="T1" fmla="*/ 144 h 190"/>
                <a:gd name="T2" fmla="*/ 55 w 175"/>
                <a:gd name="T3" fmla="*/ 74 h 190"/>
                <a:gd name="T4" fmla="*/ 46 w 175"/>
                <a:gd name="T5" fmla="*/ 88 h 190"/>
                <a:gd name="T6" fmla="*/ 48 w 175"/>
                <a:gd name="T7" fmla="*/ 105 h 190"/>
                <a:gd name="T8" fmla="*/ 56 w 175"/>
                <a:gd name="T9" fmla="*/ 119 h 190"/>
                <a:gd name="T10" fmla="*/ 72 w 175"/>
                <a:gd name="T11" fmla="*/ 135 h 190"/>
                <a:gd name="T12" fmla="*/ 85 w 175"/>
                <a:gd name="T13" fmla="*/ 143 h 190"/>
                <a:gd name="T14" fmla="*/ 100 w 175"/>
                <a:gd name="T15" fmla="*/ 150 h 190"/>
                <a:gd name="T16" fmla="*/ 103 w 175"/>
                <a:gd name="T17" fmla="*/ 150 h 190"/>
                <a:gd name="T18" fmla="*/ 104 w 175"/>
                <a:gd name="T19" fmla="*/ 150 h 190"/>
                <a:gd name="T20" fmla="*/ 106 w 175"/>
                <a:gd name="T21" fmla="*/ 152 h 190"/>
                <a:gd name="T22" fmla="*/ 114 w 175"/>
                <a:gd name="T23" fmla="*/ 154 h 190"/>
                <a:gd name="T24" fmla="*/ 126 w 175"/>
                <a:gd name="T25" fmla="*/ 155 h 190"/>
                <a:gd name="T26" fmla="*/ 130 w 175"/>
                <a:gd name="T27" fmla="*/ 159 h 190"/>
                <a:gd name="T28" fmla="*/ 106 w 175"/>
                <a:gd name="T29" fmla="*/ 190 h 190"/>
                <a:gd name="T30" fmla="*/ 88 w 175"/>
                <a:gd name="T31" fmla="*/ 184 h 190"/>
                <a:gd name="T32" fmla="*/ 74 w 175"/>
                <a:gd name="T33" fmla="*/ 179 h 190"/>
                <a:gd name="T34" fmla="*/ 60 w 175"/>
                <a:gd name="T35" fmla="*/ 171 h 190"/>
                <a:gd name="T36" fmla="*/ 46 w 175"/>
                <a:gd name="T37" fmla="*/ 161 h 190"/>
                <a:gd name="T38" fmla="*/ 28 w 175"/>
                <a:gd name="T39" fmla="*/ 144 h 190"/>
                <a:gd name="T40" fmla="*/ 15 w 175"/>
                <a:gd name="T41" fmla="*/ 130 h 190"/>
                <a:gd name="T42" fmla="*/ 6 w 175"/>
                <a:gd name="T43" fmla="*/ 113 h 190"/>
                <a:gd name="T44" fmla="*/ 2 w 175"/>
                <a:gd name="T45" fmla="*/ 99 h 190"/>
                <a:gd name="T46" fmla="*/ 0 w 175"/>
                <a:gd name="T47" fmla="*/ 82 h 190"/>
                <a:gd name="T48" fmla="*/ 2 w 175"/>
                <a:gd name="T49" fmla="*/ 66 h 190"/>
                <a:gd name="T50" fmla="*/ 8 w 175"/>
                <a:gd name="T51" fmla="*/ 50 h 190"/>
                <a:gd name="T52" fmla="*/ 19 w 175"/>
                <a:gd name="T53" fmla="*/ 35 h 190"/>
                <a:gd name="T54" fmla="*/ 31 w 175"/>
                <a:gd name="T55" fmla="*/ 21 h 190"/>
                <a:gd name="T56" fmla="*/ 45 w 175"/>
                <a:gd name="T57" fmla="*/ 11 h 190"/>
                <a:gd name="T58" fmla="*/ 60 w 175"/>
                <a:gd name="T59" fmla="*/ 4 h 190"/>
                <a:gd name="T60" fmla="*/ 76 w 175"/>
                <a:gd name="T61" fmla="*/ 2 h 190"/>
                <a:gd name="T62" fmla="*/ 91 w 175"/>
                <a:gd name="T63" fmla="*/ 0 h 190"/>
                <a:gd name="T64" fmla="*/ 108 w 175"/>
                <a:gd name="T65" fmla="*/ 4 h 190"/>
                <a:gd name="T66" fmla="*/ 124 w 175"/>
                <a:gd name="T67" fmla="*/ 11 h 190"/>
                <a:gd name="T68" fmla="*/ 141 w 175"/>
                <a:gd name="T69" fmla="*/ 23 h 190"/>
                <a:gd name="T70" fmla="*/ 153 w 175"/>
                <a:gd name="T71" fmla="*/ 35 h 190"/>
                <a:gd name="T72" fmla="*/ 164 w 175"/>
                <a:gd name="T73" fmla="*/ 47 h 190"/>
                <a:gd name="T74" fmla="*/ 170 w 175"/>
                <a:gd name="T75" fmla="*/ 60 h 190"/>
                <a:gd name="T76" fmla="*/ 175 w 175"/>
                <a:gd name="T77" fmla="*/ 75 h 190"/>
                <a:gd name="T78" fmla="*/ 173 w 175"/>
                <a:gd name="T79" fmla="*/ 88 h 190"/>
                <a:gd name="T80" fmla="*/ 171 w 175"/>
                <a:gd name="T81" fmla="*/ 102 h 190"/>
                <a:gd name="T82" fmla="*/ 165 w 175"/>
                <a:gd name="T83" fmla="*/ 117 h 190"/>
                <a:gd name="T84" fmla="*/ 157 w 175"/>
                <a:gd name="T85" fmla="*/ 131 h 190"/>
                <a:gd name="T86" fmla="*/ 146 w 175"/>
                <a:gd name="T87" fmla="*/ 144 h 190"/>
                <a:gd name="T88" fmla="*/ 124 w 175"/>
                <a:gd name="T89" fmla="*/ 90 h 190"/>
                <a:gd name="T90" fmla="*/ 130 w 175"/>
                <a:gd name="T91" fmla="*/ 77 h 190"/>
                <a:gd name="T92" fmla="*/ 133 w 175"/>
                <a:gd name="T93" fmla="*/ 66 h 190"/>
                <a:gd name="T94" fmla="*/ 128 w 175"/>
                <a:gd name="T95" fmla="*/ 56 h 190"/>
                <a:gd name="T96" fmla="*/ 118 w 175"/>
                <a:gd name="T97" fmla="*/ 46 h 190"/>
                <a:gd name="T98" fmla="*/ 106 w 175"/>
                <a:gd name="T99" fmla="*/ 39 h 190"/>
                <a:gd name="T100" fmla="*/ 96 w 175"/>
                <a:gd name="T101" fmla="*/ 38 h 190"/>
                <a:gd name="T102" fmla="*/ 82 w 175"/>
                <a:gd name="T103" fmla="*/ 40 h 190"/>
                <a:gd name="T104" fmla="*/ 73 w 175"/>
                <a:gd name="T105" fmla="*/ 50 h 190"/>
                <a:gd name="T106" fmla="*/ 124 w 175"/>
                <a:gd name="T107" fmla="*/ 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5" h="190">
                  <a:moveTo>
                    <a:pt x="146" y="144"/>
                  </a:moveTo>
                  <a:lnTo>
                    <a:pt x="55" y="74"/>
                  </a:lnTo>
                  <a:lnTo>
                    <a:pt x="46" y="88"/>
                  </a:lnTo>
                  <a:lnTo>
                    <a:pt x="48" y="105"/>
                  </a:lnTo>
                  <a:lnTo>
                    <a:pt x="56" y="119"/>
                  </a:lnTo>
                  <a:lnTo>
                    <a:pt x="72" y="135"/>
                  </a:lnTo>
                  <a:lnTo>
                    <a:pt x="85" y="143"/>
                  </a:lnTo>
                  <a:lnTo>
                    <a:pt x="100" y="150"/>
                  </a:lnTo>
                  <a:lnTo>
                    <a:pt x="103" y="150"/>
                  </a:lnTo>
                  <a:lnTo>
                    <a:pt x="104" y="150"/>
                  </a:lnTo>
                  <a:lnTo>
                    <a:pt x="106" y="152"/>
                  </a:lnTo>
                  <a:lnTo>
                    <a:pt x="114" y="154"/>
                  </a:lnTo>
                  <a:lnTo>
                    <a:pt x="126" y="155"/>
                  </a:lnTo>
                  <a:lnTo>
                    <a:pt x="130" y="159"/>
                  </a:lnTo>
                  <a:lnTo>
                    <a:pt x="106" y="190"/>
                  </a:lnTo>
                  <a:lnTo>
                    <a:pt x="88" y="184"/>
                  </a:lnTo>
                  <a:lnTo>
                    <a:pt x="74" y="179"/>
                  </a:lnTo>
                  <a:lnTo>
                    <a:pt x="60" y="171"/>
                  </a:lnTo>
                  <a:lnTo>
                    <a:pt x="46" y="161"/>
                  </a:lnTo>
                  <a:lnTo>
                    <a:pt x="28" y="144"/>
                  </a:lnTo>
                  <a:lnTo>
                    <a:pt x="15" y="130"/>
                  </a:lnTo>
                  <a:lnTo>
                    <a:pt x="6" y="113"/>
                  </a:lnTo>
                  <a:lnTo>
                    <a:pt x="2" y="99"/>
                  </a:lnTo>
                  <a:lnTo>
                    <a:pt x="0" y="82"/>
                  </a:lnTo>
                  <a:lnTo>
                    <a:pt x="2" y="66"/>
                  </a:lnTo>
                  <a:lnTo>
                    <a:pt x="8" y="50"/>
                  </a:lnTo>
                  <a:lnTo>
                    <a:pt x="19" y="35"/>
                  </a:lnTo>
                  <a:lnTo>
                    <a:pt x="31" y="21"/>
                  </a:lnTo>
                  <a:lnTo>
                    <a:pt x="45" y="11"/>
                  </a:lnTo>
                  <a:lnTo>
                    <a:pt x="60" y="4"/>
                  </a:lnTo>
                  <a:lnTo>
                    <a:pt x="76" y="2"/>
                  </a:lnTo>
                  <a:lnTo>
                    <a:pt x="91" y="0"/>
                  </a:lnTo>
                  <a:lnTo>
                    <a:pt x="108" y="4"/>
                  </a:lnTo>
                  <a:lnTo>
                    <a:pt x="124" y="11"/>
                  </a:lnTo>
                  <a:lnTo>
                    <a:pt x="141" y="23"/>
                  </a:lnTo>
                  <a:lnTo>
                    <a:pt x="153" y="35"/>
                  </a:lnTo>
                  <a:lnTo>
                    <a:pt x="164" y="47"/>
                  </a:lnTo>
                  <a:lnTo>
                    <a:pt x="170" y="60"/>
                  </a:lnTo>
                  <a:lnTo>
                    <a:pt x="175" y="75"/>
                  </a:lnTo>
                  <a:lnTo>
                    <a:pt x="173" y="88"/>
                  </a:lnTo>
                  <a:lnTo>
                    <a:pt x="171" y="102"/>
                  </a:lnTo>
                  <a:lnTo>
                    <a:pt x="165" y="117"/>
                  </a:lnTo>
                  <a:lnTo>
                    <a:pt x="157" y="131"/>
                  </a:lnTo>
                  <a:lnTo>
                    <a:pt x="146" y="144"/>
                  </a:lnTo>
                  <a:close/>
                  <a:moveTo>
                    <a:pt x="124" y="90"/>
                  </a:moveTo>
                  <a:lnTo>
                    <a:pt x="130" y="77"/>
                  </a:lnTo>
                  <a:lnTo>
                    <a:pt x="133" y="66"/>
                  </a:lnTo>
                  <a:lnTo>
                    <a:pt x="128" y="56"/>
                  </a:lnTo>
                  <a:lnTo>
                    <a:pt x="118" y="46"/>
                  </a:lnTo>
                  <a:lnTo>
                    <a:pt x="106" y="39"/>
                  </a:lnTo>
                  <a:lnTo>
                    <a:pt x="96" y="38"/>
                  </a:lnTo>
                  <a:lnTo>
                    <a:pt x="82" y="40"/>
                  </a:lnTo>
                  <a:lnTo>
                    <a:pt x="73" y="50"/>
                  </a:lnTo>
                  <a:lnTo>
                    <a:pt x="124"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13" name="Freeform 189">
              <a:extLst>
                <a:ext uri="{FF2B5EF4-FFF2-40B4-BE49-F238E27FC236}">
                  <a16:creationId xmlns:a16="http://schemas.microsoft.com/office/drawing/2014/main" id="{81CD0FA7-4EA9-0B79-25E8-1EA14A11B237}"/>
                </a:ext>
              </a:extLst>
            </p:cNvPr>
            <p:cNvSpPr>
              <a:spLocks/>
            </p:cNvSpPr>
            <p:nvPr/>
          </p:nvSpPr>
          <p:spPr bwMode="auto">
            <a:xfrm>
              <a:off x="1232" y="2201"/>
              <a:ext cx="66" cy="57"/>
            </a:xfrm>
            <a:custGeom>
              <a:avLst/>
              <a:gdLst>
                <a:gd name="T0" fmla="*/ 133 w 198"/>
                <a:gd name="T1" fmla="*/ 162 h 172"/>
                <a:gd name="T2" fmla="*/ 111 w 198"/>
                <a:gd name="T3" fmla="*/ 171 h 172"/>
                <a:gd name="T4" fmla="*/ 85 w 198"/>
                <a:gd name="T5" fmla="*/ 169 h 172"/>
                <a:gd name="T6" fmla="*/ 75 w 198"/>
                <a:gd name="T7" fmla="*/ 165 h 172"/>
                <a:gd name="T8" fmla="*/ 72 w 198"/>
                <a:gd name="T9" fmla="*/ 165 h 172"/>
                <a:gd name="T10" fmla="*/ 50 w 198"/>
                <a:gd name="T11" fmla="*/ 152 h 172"/>
                <a:gd name="T12" fmla="*/ 29 w 198"/>
                <a:gd name="T13" fmla="*/ 134 h 172"/>
                <a:gd name="T14" fmla="*/ 17 w 198"/>
                <a:gd name="T15" fmla="*/ 121 h 172"/>
                <a:gd name="T16" fmla="*/ 0 w 198"/>
                <a:gd name="T17" fmla="*/ 98 h 172"/>
                <a:gd name="T18" fmla="*/ 30 w 198"/>
                <a:gd name="T19" fmla="*/ 67 h 172"/>
                <a:gd name="T20" fmla="*/ 35 w 198"/>
                <a:gd name="T21" fmla="*/ 84 h 172"/>
                <a:gd name="T22" fmla="*/ 50 w 198"/>
                <a:gd name="T23" fmla="*/ 106 h 172"/>
                <a:gd name="T24" fmla="*/ 66 w 198"/>
                <a:gd name="T25" fmla="*/ 122 h 172"/>
                <a:gd name="T26" fmla="*/ 85 w 198"/>
                <a:gd name="T27" fmla="*/ 133 h 172"/>
                <a:gd name="T28" fmla="*/ 91 w 198"/>
                <a:gd name="T29" fmla="*/ 132 h 172"/>
                <a:gd name="T30" fmla="*/ 93 w 198"/>
                <a:gd name="T31" fmla="*/ 129 h 172"/>
                <a:gd name="T32" fmla="*/ 97 w 198"/>
                <a:gd name="T33" fmla="*/ 129 h 172"/>
                <a:gd name="T34" fmla="*/ 98 w 198"/>
                <a:gd name="T35" fmla="*/ 121 h 172"/>
                <a:gd name="T36" fmla="*/ 94 w 198"/>
                <a:gd name="T37" fmla="*/ 115 h 172"/>
                <a:gd name="T38" fmla="*/ 84 w 198"/>
                <a:gd name="T39" fmla="*/ 102 h 172"/>
                <a:gd name="T40" fmla="*/ 67 w 198"/>
                <a:gd name="T41" fmla="*/ 81 h 172"/>
                <a:gd name="T42" fmla="*/ 52 w 198"/>
                <a:gd name="T43" fmla="*/ 49 h 172"/>
                <a:gd name="T44" fmla="*/ 62 w 198"/>
                <a:gd name="T45" fmla="*/ 18 h 172"/>
                <a:gd name="T46" fmla="*/ 79 w 198"/>
                <a:gd name="T47" fmla="*/ 3 h 172"/>
                <a:gd name="T48" fmla="*/ 102 w 198"/>
                <a:gd name="T49" fmla="*/ 1 h 172"/>
                <a:gd name="T50" fmla="*/ 129 w 198"/>
                <a:gd name="T51" fmla="*/ 8 h 172"/>
                <a:gd name="T52" fmla="*/ 158 w 198"/>
                <a:gd name="T53" fmla="*/ 26 h 172"/>
                <a:gd name="T54" fmla="*/ 182 w 198"/>
                <a:gd name="T55" fmla="*/ 50 h 172"/>
                <a:gd name="T56" fmla="*/ 190 w 198"/>
                <a:gd name="T57" fmla="*/ 61 h 172"/>
                <a:gd name="T58" fmla="*/ 195 w 198"/>
                <a:gd name="T59" fmla="*/ 68 h 172"/>
                <a:gd name="T60" fmla="*/ 174 w 198"/>
                <a:gd name="T61" fmla="*/ 103 h 172"/>
                <a:gd name="T62" fmla="*/ 164 w 198"/>
                <a:gd name="T63" fmla="*/ 86 h 172"/>
                <a:gd name="T64" fmla="*/ 148 w 198"/>
                <a:gd name="T65" fmla="*/ 62 h 172"/>
                <a:gd name="T66" fmla="*/ 128 w 198"/>
                <a:gd name="T67" fmla="*/ 46 h 172"/>
                <a:gd name="T68" fmla="*/ 111 w 198"/>
                <a:gd name="T69" fmla="*/ 42 h 172"/>
                <a:gd name="T70" fmla="*/ 104 w 198"/>
                <a:gd name="T71" fmla="*/ 50 h 172"/>
                <a:gd name="T72" fmla="*/ 108 w 198"/>
                <a:gd name="T73" fmla="*/ 61 h 172"/>
                <a:gd name="T74" fmla="*/ 115 w 198"/>
                <a:gd name="T75" fmla="*/ 70 h 172"/>
                <a:gd name="T76" fmla="*/ 138 w 198"/>
                <a:gd name="T77" fmla="*/ 96 h 172"/>
                <a:gd name="T78" fmla="*/ 147 w 198"/>
                <a:gd name="T79" fmla="*/ 111 h 172"/>
                <a:gd name="T80" fmla="*/ 151 w 198"/>
                <a:gd name="T81" fmla="*/ 128 h 172"/>
                <a:gd name="T82" fmla="*/ 146 w 198"/>
                <a:gd name="T83" fmla="*/ 147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8" h="172">
                  <a:moveTo>
                    <a:pt x="142" y="154"/>
                  </a:moveTo>
                  <a:lnTo>
                    <a:pt x="133" y="162"/>
                  </a:lnTo>
                  <a:lnTo>
                    <a:pt x="123" y="168"/>
                  </a:lnTo>
                  <a:lnTo>
                    <a:pt x="111" y="171"/>
                  </a:lnTo>
                  <a:lnTo>
                    <a:pt x="99" y="172"/>
                  </a:lnTo>
                  <a:lnTo>
                    <a:pt x="85" y="169"/>
                  </a:lnTo>
                  <a:lnTo>
                    <a:pt x="78" y="166"/>
                  </a:lnTo>
                  <a:lnTo>
                    <a:pt x="75" y="165"/>
                  </a:lnTo>
                  <a:lnTo>
                    <a:pt x="74" y="165"/>
                  </a:lnTo>
                  <a:lnTo>
                    <a:pt x="72" y="165"/>
                  </a:lnTo>
                  <a:lnTo>
                    <a:pt x="57" y="157"/>
                  </a:lnTo>
                  <a:lnTo>
                    <a:pt x="50" y="152"/>
                  </a:lnTo>
                  <a:lnTo>
                    <a:pt x="44" y="147"/>
                  </a:lnTo>
                  <a:lnTo>
                    <a:pt x="29" y="134"/>
                  </a:lnTo>
                  <a:lnTo>
                    <a:pt x="21" y="127"/>
                  </a:lnTo>
                  <a:lnTo>
                    <a:pt x="17" y="121"/>
                  </a:lnTo>
                  <a:lnTo>
                    <a:pt x="6" y="108"/>
                  </a:lnTo>
                  <a:lnTo>
                    <a:pt x="0" y="98"/>
                  </a:lnTo>
                  <a:lnTo>
                    <a:pt x="26" y="64"/>
                  </a:lnTo>
                  <a:lnTo>
                    <a:pt x="30" y="67"/>
                  </a:lnTo>
                  <a:lnTo>
                    <a:pt x="33" y="78"/>
                  </a:lnTo>
                  <a:lnTo>
                    <a:pt x="35" y="84"/>
                  </a:lnTo>
                  <a:lnTo>
                    <a:pt x="39" y="92"/>
                  </a:lnTo>
                  <a:lnTo>
                    <a:pt x="50" y="106"/>
                  </a:lnTo>
                  <a:lnTo>
                    <a:pt x="56" y="114"/>
                  </a:lnTo>
                  <a:lnTo>
                    <a:pt x="66" y="122"/>
                  </a:lnTo>
                  <a:lnTo>
                    <a:pt x="75" y="129"/>
                  </a:lnTo>
                  <a:lnTo>
                    <a:pt x="85" y="133"/>
                  </a:lnTo>
                  <a:lnTo>
                    <a:pt x="87" y="132"/>
                  </a:lnTo>
                  <a:lnTo>
                    <a:pt x="91" y="132"/>
                  </a:lnTo>
                  <a:lnTo>
                    <a:pt x="93" y="130"/>
                  </a:lnTo>
                  <a:lnTo>
                    <a:pt x="93" y="129"/>
                  </a:lnTo>
                  <a:lnTo>
                    <a:pt x="94" y="129"/>
                  </a:lnTo>
                  <a:lnTo>
                    <a:pt x="97" y="129"/>
                  </a:lnTo>
                  <a:lnTo>
                    <a:pt x="98" y="124"/>
                  </a:lnTo>
                  <a:lnTo>
                    <a:pt x="98" y="121"/>
                  </a:lnTo>
                  <a:lnTo>
                    <a:pt x="96" y="117"/>
                  </a:lnTo>
                  <a:lnTo>
                    <a:pt x="94" y="115"/>
                  </a:lnTo>
                  <a:lnTo>
                    <a:pt x="90" y="106"/>
                  </a:lnTo>
                  <a:lnTo>
                    <a:pt x="84" y="102"/>
                  </a:lnTo>
                  <a:lnTo>
                    <a:pt x="79" y="96"/>
                  </a:lnTo>
                  <a:lnTo>
                    <a:pt x="67" y="81"/>
                  </a:lnTo>
                  <a:lnTo>
                    <a:pt x="56" y="64"/>
                  </a:lnTo>
                  <a:lnTo>
                    <a:pt x="52" y="49"/>
                  </a:lnTo>
                  <a:lnTo>
                    <a:pt x="54" y="32"/>
                  </a:lnTo>
                  <a:lnTo>
                    <a:pt x="62" y="18"/>
                  </a:lnTo>
                  <a:lnTo>
                    <a:pt x="69" y="9"/>
                  </a:lnTo>
                  <a:lnTo>
                    <a:pt x="79" y="3"/>
                  </a:lnTo>
                  <a:lnTo>
                    <a:pt x="88" y="0"/>
                  </a:lnTo>
                  <a:lnTo>
                    <a:pt x="102" y="1"/>
                  </a:lnTo>
                  <a:lnTo>
                    <a:pt x="115" y="2"/>
                  </a:lnTo>
                  <a:lnTo>
                    <a:pt x="129" y="8"/>
                  </a:lnTo>
                  <a:lnTo>
                    <a:pt x="144" y="15"/>
                  </a:lnTo>
                  <a:lnTo>
                    <a:pt x="158" y="26"/>
                  </a:lnTo>
                  <a:lnTo>
                    <a:pt x="171" y="37"/>
                  </a:lnTo>
                  <a:lnTo>
                    <a:pt x="182" y="50"/>
                  </a:lnTo>
                  <a:lnTo>
                    <a:pt x="186" y="55"/>
                  </a:lnTo>
                  <a:lnTo>
                    <a:pt x="190" y="61"/>
                  </a:lnTo>
                  <a:lnTo>
                    <a:pt x="194" y="66"/>
                  </a:lnTo>
                  <a:lnTo>
                    <a:pt x="195" y="68"/>
                  </a:lnTo>
                  <a:lnTo>
                    <a:pt x="198" y="72"/>
                  </a:lnTo>
                  <a:lnTo>
                    <a:pt x="174" y="103"/>
                  </a:lnTo>
                  <a:lnTo>
                    <a:pt x="170" y="100"/>
                  </a:lnTo>
                  <a:lnTo>
                    <a:pt x="164" y="86"/>
                  </a:lnTo>
                  <a:lnTo>
                    <a:pt x="157" y="74"/>
                  </a:lnTo>
                  <a:lnTo>
                    <a:pt x="148" y="62"/>
                  </a:lnTo>
                  <a:lnTo>
                    <a:pt x="138" y="52"/>
                  </a:lnTo>
                  <a:lnTo>
                    <a:pt x="128" y="46"/>
                  </a:lnTo>
                  <a:lnTo>
                    <a:pt x="120" y="43"/>
                  </a:lnTo>
                  <a:lnTo>
                    <a:pt x="111" y="42"/>
                  </a:lnTo>
                  <a:lnTo>
                    <a:pt x="106" y="45"/>
                  </a:lnTo>
                  <a:lnTo>
                    <a:pt x="104" y="50"/>
                  </a:lnTo>
                  <a:lnTo>
                    <a:pt x="105" y="55"/>
                  </a:lnTo>
                  <a:lnTo>
                    <a:pt x="108" y="61"/>
                  </a:lnTo>
                  <a:lnTo>
                    <a:pt x="110" y="64"/>
                  </a:lnTo>
                  <a:lnTo>
                    <a:pt x="115" y="70"/>
                  </a:lnTo>
                  <a:lnTo>
                    <a:pt x="126" y="82"/>
                  </a:lnTo>
                  <a:lnTo>
                    <a:pt x="138" y="96"/>
                  </a:lnTo>
                  <a:lnTo>
                    <a:pt x="142" y="103"/>
                  </a:lnTo>
                  <a:lnTo>
                    <a:pt x="147" y="111"/>
                  </a:lnTo>
                  <a:lnTo>
                    <a:pt x="150" y="118"/>
                  </a:lnTo>
                  <a:lnTo>
                    <a:pt x="151" y="128"/>
                  </a:lnTo>
                  <a:lnTo>
                    <a:pt x="148" y="140"/>
                  </a:lnTo>
                  <a:lnTo>
                    <a:pt x="146" y="147"/>
                  </a:lnTo>
                  <a:lnTo>
                    <a:pt x="142" y="1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14" name="Freeform 190">
              <a:extLst>
                <a:ext uri="{FF2B5EF4-FFF2-40B4-BE49-F238E27FC236}">
                  <a16:creationId xmlns:a16="http://schemas.microsoft.com/office/drawing/2014/main" id="{729A36CC-0805-A5C2-063C-7BC263CACB84}"/>
                </a:ext>
              </a:extLst>
            </p:cNvPr>
            <p:cNvSpPr>
              <a:spLocks/>
            </p:cNvSpPr>
            <p:nvPr/>
          </p:nvSpPr>
          <p:spPr bwMode="auto">
            <a:xfrm>
              <a:off x="1276" y="2236"/>
              <a:ext cx="66" cy="57"/>
            </a:xfrm>
            <a:custGeom>
              <a:avLst/>
              <a:gdLst>
                <a:gd name="T0" fmla="*/ 133 w 198"/>
                <a:gd name="T1" fmla="*/ 162 h 173"/>
                <a:gd name="T2" fmla="*/ 112 w 198"/>
                <a:gd name="T3" fmla="*/ 172 h 173"/>
                <a:gd name="T4" fmla="*/ 85 w 198"/>
                <a:gd name="T5" fmla="*/ 169 h 173"/>
                <a:gd name="T6" fmla="*/ 76 w 198"/>
                <a:gd name="T7" fmla="*/ 166 h 173"/>
                <a:gd name="T8" fmla="*/ 72 w 198"/>
                <a:gd name="T9" fmla="*/ 166 h 173"/>
                <a:gd name="T10" fmla="*/ 50 w 198"/>
                <a:gd name="T11" fmla="*/ 153 h 173"/>
                <a:gd name="T12" fmla="*/ 29 w 198"/>
                <a:gd name="T13" fmla="*/ 135 h 173"/>
                <a:gd name="T14" fmla="*/ 17 w 198"/>
                <a:gd name="T15" fmla="*/ 121 h 173"/>
                <a:gd name="T16" fmla="*/ 0 w 198"/>
                <a:gd name="T17" fmla="*/ 99 h 173"/>
                <a:gd name="T18" fmla="*/ 30 w 198"/>
                <a:gd name="T19" fmla="*/ 67 h 173"/>
                <a:gd name="T20" fmla="*/ 35 w 198"/>
                <a:gd name="T21" fmla="*/ 84 h 173"/>
                <a:gd name="T22" fmla="*/ 50 w 198"/>
                <a:gd name="T23" fmla="*/ 107 h 173"/>
                <a:gd name="T24" fmla="*/ 66 w 198"/>
                <a:gd name="T25" fmla="*/ 123 h 173"/>
                <a:gd name="T26" fmla="*/ 85 w 198"/>
                <a:gd name="T27" fmla="*/ 133 h 173"/>
                <a:gd name="T28" fmla="*/ 91 w 198"/>
                <a:gd name="T29" fmla="*/ 132 h 173"/>
                <a:gd name="T30" fmla="*/ 94 w 198"/>
                <a:gd name="T31" fmla="*/ 130 h 173"/>
                <a:gd name="T32" fmla="*/ 97 w 198"/>
                <a:gd name="T33" fmla="*/ 130 h 173"/>
                <a:gd name="T34" fmla="*/ 98 w 198"/>
                <a:gd name="T35" fmla="*/ 121 h 173"/>
                <a:gd name="T36" fmla="*/ 95 w 198"/>
                <a:gd name="T37" fmla="*/ 115 h 173"/>
                <a:gd name="T38" fmla="*/ 84 w 198"/>
                <a:gd name="T39" fmla="*/ 102 h 173"/>
                <a:gd name="T40" fmla="*/ 67 w 198"/>
                <a:gd name="T41" fmla="*/ 82 h 173"/>
                <a:gd name="T42" fmla="*/ 53 w 198"/>
                <a:gd name="T43" fmla="*/ 49 h 173"/>
                <a:gd name="T44" fmla="*/ 62 w 198"/>
                <a:gd name="T45" fmla="*/ 18 h 173"/>
                <a:gd name="T46" fmla="*/ 79 w 198"/>
                <a:gd name="T47" fmla="*/ 4 h 173"/>
                <a:gd name="T48" fmla="*/ 102 w 198"/>
                <a:gd name="T49" fmla="*/ 1 h 173"/>
                <a:gd name="T50" fmla="*/ 130 w 198"/>
                <a:gd name="T51" fmla="*/ 9 h 173"/>
                <a:gd name="T52" fmla="*/ 158 w 198"/>
                <a:gd name="T53" fmla="*/ 27 h 173"/>
                <a:gd name="T54" fmla="*/ 182 w 198"/>
                <a:gd name="T55" fmla="*/ 51 h 173"/>
                <a:gd name="T56" fmla="*/ 191 w 198"/>
                <a:gd name="T57" fmla="*/ 61 h 173"/>
                <a:gd name="T58" fmla="*/ 196 w 198"/>
                <a:gd name="T59" fmla="*/ 69 h 173"/>
                <a:gd name="T60" fmla="*/ 174 w 198"/>
                <a:gd name="T61" fmla="*/ 103 h 173"/>
                <a:gd name="T62" fmla="*/ 164 w 198"/>
                <a:gd name="T63" fmla="*/ 87 h 173"/>
                <a:gd name="T64" fmla="*/ 149 w 198"/>
                <a:gd name="T65" fmla="*/ 63 h 173"/>
                <a:gd name="T66" fmla="*/ 128 w 198"/>
                <a:gd name="T67" fmla="*/ 47 h 173"/>
                <a:gd name="T68" fmla="*/ 112 w 198"/>
                <a:gd name="T69" fmla="*/ 42 h 173"/>
                <a:gd name="T70" fmla="*/ 104 w 198"/>
                <a:gd name="T71" fmla="*/ 51 h 173"/>
                <a:gd name="T72" fmla="*/ 108 w 198"/>
                <a:gd name="T73" fmla="*/ 61 h 173"/>
                <a:gd name="T74" fmla="*/ 115 w 198"/>
                <a:gd name="T75" fmla="*/ 71 h 173"/>
                <a:gd name="T76" fmla="*/ 138 w 198"/>
                <a:gd name="T77" fmla="*/ 96 h 173"/>
                <a:gd name="T78" fmla="*/ 148 w 198"/>
                <a:gd name="T79" fmla="*/ 112 h 173"/>
                <a:gd name="T80" fmla="*/ 151 w 198"/>
                <a:gd name="T81" fmla="*/ 129 h 173"/>
                <a:gd name="T82" fmla="*/ 146 w 198"/>
                <a:gd name="T83" fmla="*/ 14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8" h="173">
                  <a:moveTo>
                    <a:pt x="143" y="155"/>
                  </a:moveTo>
                  <a:lnTo>
                    <a:pt x="133" y="162"/>
                  </a:lnTo>
                  <a:lnTo>
                    <a:pt x="124" y="168"/>
                  </a:lnTo>
                  <a:lnTo>
                    <a:pt x="112" y="172"/>
                  </a:lnTo>
                  <a:lnTo>
                    <a:pt x="100" y="173"/>
                  </a:lnTo>
                  <a:lnTo>
                    <a:pt x="85" y="169"/>
                  </a:lnTo>
                  <a:lnTo>
                    <a:pt x="78" y="167"/>
                  </a:lnTo>
                  <a:lnTo>
                    <a:pt x="76" y="166"/>
                  </a:lnTo>
                  <a:lnTo>
                    <a:pt x="74" y="166"/>
                  </a:lnTo>
                  <a:lnTo>
                    <a:pt x="72" y="166"/>
                  </a:lnTo>
                  <a:lnTo>
                    <a:pt x="58" y="157"/>
                  </a:lnTo>
                  <a:lnTo>
                    <a:pt x="50" y="153"/>
                  </a:lnTo>
                  <a:lnTo>
                    <a:pt x="44" y="148"/>
                  </a:lnTo>
                  <a:lnTo>
                    <a:pt x="29" y="135"/>
                  </a:lnTo>
                  <a:lnTo>
                    <a:pt x="22" y="127"/>
                  </a:lnTo>
                  <a:lnTo>
                    <a:pt x="17" y="121"/>
                  </a:lnTo>
                  <a:lnTo>
                    <a:pt x="6" y="108"/>
                  </a:lnTo>
                  <a:lnTo>
                    <a:pt x="0" y="99"/>
                  </a:lnTo>
                  <a:lnTo>
                    <a:pt x="26" y="65"/>
                  </a:lnTo>
                  <a:lnTo>
                    <a:pt x="30" y="67"/>
                  </a:lnTo>
                  <a:lnTo>
                    <a:pt x="34" y="78"/>
                  </a:lnTo>
                  <a:lnTo>
                    <a:pt x="35" y="84"/>
                  </a:lnTo>
                  <a:lnTo>
                    <a:pt x="40" y="93"/>
                  </a:lnTo>
                  <a:lnTo>
                    <a:pt x="50" y="107"/>
                  </a:lnTo>
                  <a:lnTo>
                    <a:pt x="56" y="114"/>
                  </a:lnTo>
                  <a:lnTo>
                    <a:pt x="66" y="123"/>
                  </a:lnTo>
                  <a:lnTo>
                    <a:pt x="76" y="130"/>
                  </a:lnTo>
                  <a:lnTo>
                    <a:pt x="85" y="133"/>
                  </a:lnTo>
                  <a:lnTo>
                    <a:pt x="88" y="132"/>
                  </a:lnTo>
                  <a:lnTo>
                    <a:pt x="91" y="132"/>
                  </a:lnTo>
                  <a:lnTo>
                    <a:pt x="94" y="131"/>
                  </a:lnTo>
                  <a:lnTo>
                    <a:pt x="94" y="130"/>
                  </a:lnTo>
                  <a:lnTo>
                    <a:pt x="95" y="130"/>
                  </a:lnTo>
                  <a:lnTo>
                    <a:pt x="97" y="130"/>
                  </a:lnTo>
                  <a:lnTo>
                    <a:pt x="98" y="125"/>
                  </a:lnTo>
                  <a:lnTo>
                    <a:pt x="98" y="121"/>
                  </a:lnTo>
                  <a:lnTo>
                    <a:pt x="96" y="118"/>
                  </a:lnTo>
                  <a:lnTo>
                    <a:pt x="95" y="115"/>
                  </a:lnTo>
                  <a:lnTo>
                    <a:pt x="90" y="107"/>
                  </a:lnTo>
                  <a:lnTo>
                    <a:pt x="84" y="102"/>
                  </a:lnTo>
                  <a:lnTo>
                    <a:pt x="79" y="96"/>
                  </a:lnTo>
                  <a:lnTo>
                    <a:pt x="67" y="82"/>
                  </a:lnTo>
                  <a:lnTo>
                    <a:pt x="56" y="65"/>
                  </a:lnTo>
                  <a:lnTo>
                    <a:pt x="53" y="49"/>
                  </a:lnTo>
                  <a:lnTo>
                    <a:pt x="54" y="33"/>
                  </a:lnTo>
                  <a:lnTo>
                    <a:pt x="62" y="18"/>
                  </a:lnTo>
                  <a:lnTo>
                    <a:pt x="70" y="10"/>
                  </a:lnTo>
                  <a:lnTo>
                    <a:pt x="79" y="4"/>
                  </a:lnTo>
                  <a:lnTo>
                    <a:pt x="89" y="0"/>
                  </a:lnTo>
                  <a:lnTo>
                    <a:pt x="102" y="1"/>
                  </a:lnTo>
                  <a:lnTo>
                    <a:pt x="115" y="3"/>
                  </a:lnTo>
                  <a:lnTo>
                    <a:pt x="130" y="9"/>
                  </a:lnTo>
                  <a:lnTo>
                    <a:pt x="144" y="16"/>
                  </a:lnTo>
                  <a:lnTo>
                    <a:pt x="158" y="27"/>
                  </a:lnTo>
                  <a:lnTo>
                    <a:pt x="172" y="37"/>
                  </a:lnTo>
                  <a:lnTo>
                    <a:pt x="182" y="51"/>
                  </a:lnTo>
                  <a:lnTo>
                    <a:pt x="186" y="55"/>
                  </a:lnTo>
                  <a:lnTo>
                    <a:pt x="191" y="61"/>
                  </a:lnTo>
                  <a:lnTo>
                    <a:pt x="194" y="66"/>
                  </a:lnTo>
                  <a:lnTo>
                    <a:pt x="196" y="69"/>
                  </a:lnTo>
                  <a:lnTo>
                    <a:pt x="198" y="72"/>
                  </a:lnTo>
                  <a:lnTo>
                    <a:pt x="174" y="103"/>
                  </a:lnTo>
                  <a:lnTo>
                    <a:pt x="170" y="101"/>
                  </a:lnTo>
                  <a:lnTo>
                    <a:pt x="164" y="87"/>
                  </a:lnTo>
                  <a:lnTo>
                    <a:pt x="157" y="75"/>
                  </a:lnTo>
                  <a:lnTo>
                    <a:pt x="149" y="63"/>
                  </a:lnTo>
                  <a:lnTo>
                    <a:pt x="138" y="53"/>
                  </a:lnTo>
                  <a:lnTo>
                    <a:pt x="128" y="47"/>
                  </a:lnTo>
                  <a:lnTo>
                    <a:pt x="120" y="43"/>
                  </a:lnTo>
                  <a:lnTo>
                    <a:pt x="112" y="42"/>
                  </a:lnTo>
                  <a:lnTo>
                    <a:pt x="107" y="46"/>
                  </a:lnTo>
                  <a:lnTo>
                    <a:pt x="104" y="51"/>
                  </a:lnTo>
                  <a:lnTo>
                    <a:pt x="106" y="55"/>
                  </a:lnTo>
                  <a:lnTo>
                    <a:pt x="108" y="61"/>
                  </a:lnTo>
                  <a:lnTo>
                    <a:pt x="110" y="65"/>
                  </a:lnTo>
                  <a:lnTo>
                    <a:pt x="115" y="71"/>
                  </a:lnTo>
                  <a:lnTo>
                    <a:pt x="126" y="83"/>
                  </a:lnTo>
                  <a:lnTo>
                    <a:pt x="138" y="96"/>
                  </a:lnTo>
                  <a:lnTo>
                    <a:pt x="143" y="103"/>
                  </a:lnTo>
                  <a:lnTo>
                    <a:pt x="148" y="112"/>
                  </a:lnTo>
                  <a:lnTo>
                    <a:pt x="150" y="119"/>
                  </a:lnTo>
                  <a:lnTo>
                    <a:pt x="151" y="129"/>
                  </a:lnTo>
                  <a:lnTo>
                    <a:pt x="149" y="141"/>
                  </a:lnTo>
                  <a:lnTo>
                    <a:pt x="146" y="148"/>
                  </a:lnTo>
                  <a:lnTo>
                    <a:pt x="143" y="1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15" name="Freeform 191">
              <a:extLst>
                <a:ext uri="{FF2B5EF4-FFF2-40B4-BE49-F238E27FC236}">
                  <a16:creationId xmlns:a16="http://schemas.microsoft.com/office/drawing/2014/main" id="{3C279654-8A5E-F7E5-4303-52589BABBBBB}"/>
                </a:ext>
              </a:extLst>
            </p:cNvPr>
            <p:cNvSpPr>
              <a:spLocks noEditPoints="1"/>
            </p:cNvSpPr>
            <p:nvPr/>
          </p:nvSpPr>
          <p:spPr bwMode="auto">
            <a:xfrm>
              <a:off x="1322" y="2250"/>
              <a:ext cx="59" cy="68"/>
            </a:xfrm>
            <a:custGeom>
              <a:avLst/>
              <a:gdLst>
                <a:gd name="T0" fmla="*/ 40 w 175"/>
                <a:gd name="T1" fmla="*/ 204 h 204"/>
                <a:gd name="T2" fmla="*/ 0 w 175"/>
                <a:gd name="T3" fmla="*/ 173 h 204"/>
                <a:gd name="T4" fmla="*/ 97 w 175"/>
                <a:gd name="T5" fmla="*/ 48 h 204"/>
                <a:gd name="T6" fmla="*/ 137 w 175"/>
                <a:gd name="T7" fmla="*/ 79 h 204"/>
                <a:gd name="T8" fmla="*/ 40 w 175"/>
                <a:gd name="T9" fmla="*/ 204 h 204"/>
                <a:gd name="T10" fmla="*/ 151 w 175"/>
                <a:gd name="T11" fmla="*/ 64 h 204"/>
                <a:gd name="T12" fmla="*/ 109 w 175"/>
                <a:gd name="T13" fmla="*/ 31 h 204"/>
                <a:gd name="T14" fmla="*/ 133 w 175"/>
                <a:gd name="T15" fmla="*/ 0 h 204"/>
                <a:gd name="T16" fmla="*/ 175 w 175"/>
                <a:gd name="T17" fmla="*/ 33 h 204"/>
                <a:gd name="T18" fmla="*/ 151 w 175"/>
                <a:gd name="T19" fmla="*/ 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204">
                  <a:moveTo>
                    <a:pt x="40" y="204"/>
                  </a:moveTo>
                  <a:lnTo>
                    <a:pt x="0" y="173"/>
                  </a:lnTo>
                  <a:lnTo>
                    <a:pt x="97" y="48"/>
                  </a:lnTo>
                  <a:lnTo>
                    <a:pt x="137" y="79"/>
                  </a:lnTo>
                  <a:lnTo>
                    <a:pt x="40" y="204"/>
                  </a:lnTo>
                  <a:close/>
                  <a:moveTo>
                    <a:pt x="151" y="64"/>
                  </a:moveTo>
                  <a:lnTo>
                    <a:pt x="109" y="31"/>
                  </a:lnTo>
                  <a:lnTo>
                    <a:pt x="133" y="0"/>
                  </a:lnTo>
                  <a:lnTo>
                    <a:pt x="175" y="33"/>
                  </a:lnTo>
                  <a:lnTo>
                    <a:pt x="151"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16" name="Freeform 192">
              <a:extLst>
                <a:ext uri="{FF2B5EF4-FFF2-40B4-BE49-F238E27FC236}">
                  <a16:creationId xmlns:a16="http://schemas.microsoft.com/office/drawing/2014/main" id="{761281D1-93C6-61B9-C3E3-AD62D6AB2823}"/>
                </a:ext>
              </a:extLst>
            </p:cNvPr>
            <p:cNvSpPr>
              <a:spLocks noEditPoints="1"/>
            </p:cNvSpPr>
            <p:nvPr/>
          </p:nvSpPr>
          <p:spPr bwMode="auto">
            <a:xfrm>
              <a:off x="1354" y="2293"/>
              <a:ext cx="59" cy="58"/>
            </a:xfrm>
            <a:custGeom>
              <a:avLst/>
              <a:gdLst>
                <a:gd name="T0" fmla="*/ 150 w 177"/>
                <a:gd name="T1" fmla="*/ 147 h 176"/>
                <a:gd name="T2" fmla="*/ 137 w 177"/>
                <a:gd name="T3" fmla="*/ 159 h 176"/>
                <a:gd name="T4" fmla="*/ 131 w 177"/>
                <a:gd name="T5" fmla="*/ 165 h 176"/>
                <a:gd name="T6" fmla="*/ 102 w 177"/>
                <a:gd name="T7" fmla="*/ 176 h 176"/>
                <a:gd name="T8" fmla="*/ 68 w 177"/>
                <a:gd name="T9" fmla="*/ 171 h 176"/>
                <a:gd name="T10" fmla="*/ 37 w 177"/>
                <a:gd name="T11" fmla="*/ 154 h 176"/>
                <a:gd name="T12" fmla="*/ 11 w 177"/>
                <a:gd name="T13" fmla="*/ 127 h 176"/>
                <a:gd name="T14" fmla="*/ 1 w 177"/>
                <a:gd name="T15" fmla="*/ 98 h 176"/>
                <a:gd name="T16" fmla="*/ 3 w 177"/>
                <a:gd name="T17" fmla="*/ 66 h 176"/>
                <a:gd name="T18" fmla="*/ 20 w 177"/>
                <a:gd name="T19" fmla="*/ 34 h 176"/>
                <a:gd name="T20" fmla="*/ 45 w 177"/>
                <a:gd name="T21" fmla="*/ 10 h 176"/>
                <a:gd name="T22" fmla="*/ 77 w 177"/>
                <a:gd name="T23" fmla="*/ 1 h 176"/>
                <a:gd name="T24" fmla="*/ 108 w 177"/>
                <a:gd name="T25" fmla="*/ 3 h 176"/>
                <a:gd name="T26" fmla="*/ 140 w 177"/>
                <a:gd name="T27" fmla="*/ 22 h 176"/>
                <a:gd name="T28" fmla="*/ 165 w 177"/>
                <a:gd name="T29" fmla="*/ 49 h 176"/>
                <a:gd name="T30" fmla="*/ 177 w 177"/>
                <a:gd name="T31" fmla="*/ 79 h 176"/>
                <a:gd name="T32" fmla="*/ 174 w 177"/>
                <a:gd name="T33" fmla="*/ 110 h 176"/>
                <a:gd name="T34" fmla="*/ 157 w 177"/>
                <a:gd name="T35" fmla="*/ 141 h 176"/>
                <a:gd name="T36" fmla="*/ 99 w 177"/>
                <a:gd name="T37" fmla="*/ 127 h 176"/>
                <a:gd name="T38" fmla="*/ 115 w 177"/>
                <a:gd name="T39" fmla="*/ 109 h 176"/>
                <a:gd name="T40" fmla="*/ 128 w 177"/>
                <a:gd name="T41" fmla="*/ 90 h 176"/>
                <a:gd name="T42" fmla="*/ 132 w 177"/>
                <a:gd name="T43" fmla="*/ 73 h 176"/>
                <a:gd name="T44" fmla="*/ 128 w 177"/>
                <a:gd name="T45" fmla="*/ 61 h 176"/>
                <a:gd name="T46" fmla="*/ 119 w 177"/>
                <a:gd name="T47" fmla="*/ 50 h 176"/>
                <a:gd name="T48" fmla="*/ 101 w 177"/>
                <a:gd name="T49" fmla="*/ 42 h 176"/>
                <a:gd name="T50" fmla="*/ 89 w 177"/>
                <a:gd name="T51" fmla="*/ 43 h 176"/>
                <a:gd name="T52" fmla="*/ 78 w 177"/>
                <a:gd name="T53" fmla="*/ 51 h 176"/>
                <a:gd name="T54" fmla="*/ 66 w 177"/>
                <a:gd name="T55" fmla="*/ 61 h 176"/>
                <a:gd name="T56" fmla="*/ 55 w 177"/>
                <a:gd name="T57" fmla="*/ 76 h 176"/>
                <a:gd name="T58" fmla="*/ 47 w 177"/>
                <a:gd name="T59" fmla="*/ 94 h 176"/>
                <a:gd name="T60" fmla="*/ 47 w 177"/>
                <a:gd name="T61" fmla="*/ 109 h 176"/>
                <a:gd name="T62" fmla="*/ 54 w 177"/>
                <a:gd name="T63" fmla="*/ 121 h 176"/>
                <a:gd name="T64" fmla="*/ 72 w 177"/>
                <a:gd name="T65" fmla="*/ 134 h 176"/>
                <a:gd name="T66" fmla="*/ 85 w 177"/>
                <a:gd name="T67" fmla="*/ 13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7" h="176">
                  <a:moveTo>
                    <a:pt x="157" y="141"/>
                  </a:moveTo>
                  <a:lnTo>
                    <a:pt x="150" y="147"/>
                  </a:lnTo>
                  <a:lnTo>
                    <a:pt x="144" y="154"/>
                  </a:lnTo>
                  <a:lnTo>
                    <a:pt x="137" y="159"/>
                  </a:lnTo>
                  <a:lnTo>
                    <a:pt x="133" y="162"/>
                  </a:lnTo>
                  <a:lnTo>
                    <a:pt x="131" y="165"/>
                  </a:lnTo>
                  <a:lnTo>
                    <a:pt x="116" y="171"/>
                  </a:lnTo>
                  <a:lnTo>
                    <a:pt x="102" y="176"/>
                  </a:lnTo>
                  <a:lnTo>
                    <a:pt x="85" y="175"/>
                  </a:lnTo>
                  <a:lnTo>
                    <a:pt x="68" y="171"/>
                  </a:lnTo>
                  <a:lnTo>
                    <a:pt x="51" y="164"/>
                  </a:lnTo>
                  <a:lnTo>
                    <a:pt x="37" y="154"/>
                  </a:lnTo>
                  <a:lnTo>
                    <a:pt x="21" y="140"/>
                  </a:lnTo>
                  <a:lnTo>
                    <a:pt x="11" y="127"/>
                  </a:lnTo>
                  <a:lnTo>
                    <a:pt x="3" y="112"/>
                  </a:lnTo>
                  <a:lnTo>
                    <a:pt x="1" y="98"/>
                  </a:lnTo>
                  <a:lnTo>
                    <a:pt x="0" y="81"/>
                  </a:lnTo>
                  <a:lnTo>
                    <a:pt x="3" y="66"/>
                  </a:lnTo>
                  <a:lnTo>
                    <a:pt x="9" y="49"/>
                  </a:lnTo>
                  <a:lnTo>
                    <a:pt x="20" y="34"/>
                  </a:lnTo>
                  <a:lnTo>
                    <a:pt x="32" y="20"/>
                  </a:lnTo>
                  <a:lnTo>
                    <a:pt x="45" y="10"/>
                  </a:lnTo>
                  <a:lnTo>
                    <a:pt x="60" y="3"/>
                  </a:lnTo>
                  <a:lnTo>
                    <a:pt x="77" y="1"/>
                  </a:lnTo>
                  <a:lnTo>
                    <a:pt x="91" y="0"/>
                  </a:lnTo>
                  <a:lnTo>
                    <a:pt x="108" y="3"/>
                  </a:lnTo>
                  <a:lnTo>
                    <a:pt x="123" y="10"/>
                  </a:lnTo>
                  <a:lnTo>
                    <a:pt x="140" y="22"/>
                  </a:lnTo>
                  <a:lnTo>
                    <a:pt x="153" y="34"/>
                  </a:lnTo>
                  <a:lnTo>
                    <a:pt x="165" y="49"/>
                  </a:lnTo>
                  <a:lnTo>
                    <a:pt x="173" y="63"/>
                  </a:lnTo>
                  <a:lnTo>
                    <a:pt x="177" y="79"/>
                  </a:lnTo>
                  <a:lnTo>
                    <a:pt x="176" y="93"/>
                  </a:lnTo>
                  <a:lnTo>
                    <a:pt x="174" y="110"/>
                  </a:lnTo>
                  <a:lnTo>
                    <a:pt x="167" y="124"/>
                  </a:lnTo>
                  <a:lnTo>
                    <a:pt x="157" y="141"/>
                  </a:lnTo>
                  <a:close/>
                  <a:moveTo>
                    <a:pt x="85" y="133"/>
                  </a:moveTo>
                  <a:lnTo>
                    <a:pt x="99" y="127"/>
                  </a:lnTo>
                  <a:lnTo>
                    <a:pt x="107" y="118"/>
                  </a:lnTo>
                  <a:lnTo>
                    <a:pt x="115" y="109"/>
                  </a:lnTo>
                  <a:lnTo>
                    <a:pt x="122" y="98"/>
                  </a:lnTo>
                  <a:lnTo>
                    <a:pt x="128" y="90"/>
                  </a:lnTo>
                  <a:lnTo>
                    <a:pt x="131" y="80"/>
                  </a:lnTo>
                  <a:lnTo>
                    <a:pt x="132" y="73"/>
                  </a:lnTo>
                  <a:lnTo>
                    <a:pt x="131" y="66"/>
                  </a:lnTo>
                  <a:lnTo>
                    <a:pt x="128" y="61"/>
                  </a:lnTo>
                  <a:lnTo>
                    <a:pt x="123" y="54"/>
                  </a:lnTo>
                  <a:lnTo>
                    <a:pt x="119" y="50"/>
                  </a:lnTo>
                  <a:lnTo>
                    <a:pt x="107" y="44"/>
                  </a:lnTo>
                  <a:lnTo>
                    <a:pt x="101" y="42"/>
                  </a:lnTo>
                  <a:lnTo>
                    <a:pt x="93" y="43"/>
                  </a:lnTo>
                  <a:lnTo>
                    <a:pt x="89" y="43"/>
                  </a:lnTo>
                  <a:lnTo>
                    <a:pt x="85" y="45"/>
                  </a:lnTo>
                  <a:lnTo>
                    <a:pt x="78" y="51"/>
                  </a:lnTo>
                  <a:lnTo>
                    <a:pt x="71" y="57"/>
                  </a:lnTo>
                  <a:lnTo>
                    <a:pt x="66" y="61"/>
                  </a:lnTo>
                  <a:lnTo>
                    <a:pt x="62" y="67"/>
                  </a:lnTo>
                  <a:lnTo>
                    <a:pt x="55" y="76"/>
                  </a:lnTo>
                  <a:lnTo>
                    <a:pt x="50" y="86"/>
                  </a:lnTo>
                  <a:lnTo>
                    <a:pt x="47" y="94"/>
                  </a:lnTo>
                  <a:lnTo>
                    <a:pt x="47" y="103"/>
                  </a:lnTo>
                  <a:lnTo>
                    <a:pt x="47" y="109"/>
                  </a:lnTo>
                  <a:lnTo>
                    <a:pt x="50" y="116"/>
                  </a:lnTo>
                  <a:lnTo>
                    <a:pt x="54" y="121"/>
                  </a:lnTo>
                  <a:lnTo>
                    <a:pt x="60" y="127"/>
                  </a:lnTo>
                  <a:lnTo>
                    <a:pt x="72" y="134"/>
                  </a:lnTo>
                  <a:lnTo>
                    <a:pt x="78" y="134"/>
                  </a:lnTo>
                  <a:lnTo>
                    <a:pt x="85" y="1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17" name="Freeform 193">
              <a:extLst>
                <a:ext uri="{FF2B5EF4-FFF2-40B4-BE49-F238E27FC236}">
                  <a16:creationId xmlns:a16="http://schemas.microsoft.com/office/drawing/2014/main" id="{E5DF25AF-37E5-E463-4686-4599DA3C4904}"/>
                </a:ext>
              </a:extLst>
            </p:cNvPr>
            <p:cNvSpPr>
              <a:spLocks/>
            </p:cNvSpPr>
            <p:nvPr/>
          </p:nvSpPr>
          <p:spPr bwMode="auto">
            <a:xfrm>
              <a:off x="1400" y="2326"/>
              <a:ext cx="68" cy="74"/>
            </a:xfrm>
            <a:custGeom>
              <a:avLst/>
              <a:gdLst>
                <a:gd name="T0" fmla="*/ 125 w 203"/>
                <a:gd name="T1" fmla="*/ 222 h 222"/>
                <a:gd name="T2" fmla="*/ 84 w 203"/>
                <a:gd name="T3" fmla="*/ 191 h 222"/>
                <a:gd name="T4" fmla="*/ 132 w 203"/>
                <a:gd name="T5" fmla="*/ 130 h 222"/>
                <a:gd name="T6" fmla="*/ 144 w 203"/>
                <a:gd name="T7" fmla="*/ 114 h 222"/>
                <a:gd name="T8" fmla="*/ 147 w 203"/>
                <a:gd name="T9" fmla="*/ 106 h 222"/>
                <a:gd name="T10" fmla="*/ 150 w 203"/>
                <a:gd name="T11" fmla="*/ 101 h 222"/>
                <a:gd name="T12" fmla="*/ 149 w 203"/>
                <a:gd name="T13" fmla="*/ 95 h 222"/>
                <a:gd name="T14" fmla="*/ 147 w 203"/>
                <a:gd name="T15" fmla="*/ 90 h 222"/>
                <a:gd name="T16" fmla="*/ 143 w 203"/>
                <a:gd name="T17" fmla="*/ 83 h 222"/>
                <a:gd name="T18" fmla="*/ 137 w 203"/>
                <a:gd name="T19" fmla="*/ 78 h 222"/>
                <a:gd name="T20" fmla="*/ 125 w 203"/>
                <a:gd name="T21" fmla="*/ 72 h 222"/>
                <a:gd name="T22" fmla="*/ 116 w 203"/>
                <a:gd name="T23" fmla="*/ 69 h 222"/>
                <a:gd name="T24" fmla="*/ 108 w 203"/>
                <a:gd name="T25" fmla="*/ 69 h 222"/>
                <a:gd name="T26" fmla="*/ 39 w 203"/>
                <a:gd name="T27" fmla="*/ 156 h 222"/>
                <a:gd name="T28" fmla="*/ 0 w 203"/>
                <a:gd name="T29" fmla="*/ 125 h 222"/>
                <a:gd name="T30" fmla="*/ 97 w 203"/>
                <a:gd name="T31" fmla="*/ 0 h 222"/>
                <a:gd name="T32" fmla="*/ 137 w 203"/>
                <a:gd name="T33" fmla="*/ 32 h 222"/>
                <a:gd name="T34" fmla="*/ 126 w 203"/>
                <a:gd name="T35" fmla="*/ 46 h 222"/>
                <a:gd name="T36" fmla="*/ 141 w 203"/>
                <a:gd name="T37" fmla="*/ 46 h 222"/>
                <a:gd name="T38" fmla="*/ 156 w 203"/>
                <a:gd name="T39" fmla="*/ 48 h 222"/>
                <a:gd name="T40" fmla="*/ 168 w 203"/>
                <a:gd name="T41" fmla="*/ 54 h 222"/>
                <a:gd name="T42" fmla="*/ 181 w 203"/>
                <a:gd name="T43" fmla="*/ 63 h 222"/>
                <a:gd name="T44" fmla="*/ 189 w 203"/>
                <a:gd name="T45" fmla="*/ 70 h 222"/>
                <a:gd name="T46" fmla="*/ 195 w 203"/>
                <a:gd name="T47" fmla="*/ 78 h 222"/>
                <a:gd name="T48" fmla="*/ 199 w 203"/>
                <a:gd name="T49" fmla="*/ 88 h 222"/>
                <a:gd name="T50" fmla="*/ 203 w 203"/>
                <a:gd name="T51" fmla="*/ 98 h 222"/>
                <a:gd name="T52" fmla="*/ 201 w 203"/>
                <a:gd name="T53" fmla="*/ 107 h 222"/>
                <a:gd name="T54" fmla="*/ 200 w 203"/>
                <a:gd name="T55" fmla="*/ 118 h 222"/>
                <a:gd name="T56" fmla="*/ 194 w 203"/>
                <a:gd name="T57" fmla="*/ 130 h 222"/>
                <a:gd name="T58" fmla="*/ 188 w 203"/>
                <a:gd name="T59" fmla="*/ 142 h 222"/>
                <a:gd name="T60" fmla="*/ 125 w 203"/>
                <a:gd name="T61" fmla="*/ 222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3" h="222">
                  <a:moveTo>
                    <a:pt x="125" y="222"/>
                  </a:moveTo>
                  <a:lnTo>
                    <a:pt x="84" y="191"/>
                  </a:lnTo>
                  <a:lnTo>
                    <a:pt x="132" y="130"/>
                  </a:lnTo>
                  <a:lnTo>
                    <a:pt x="144" y="114"/>
                  </a:lnTo>
                  <a:lnTo>
                    <a:pt x="147" y="106"/>
                  </a:lnTo>
                  <a:lnTo>
                    <a:pt x="150" y="101"/>
                  </a:lnTo>
                  <a:lnTo>
                    <a:pt x="149" y="95"/>
                  </a:lnTo>
                  <a:lnTo>
                    <a:pt x="147" y="90"/>
                  </a:lnTo>
                  <a:lnTo>
                    <a:pt x="143" y="83"/>
                  </a:lnTo>
                  <a:lnTo>
                    <a:pt x="137" y="78"/>
                  </a:lnTo>
                  <a:lnTo>
                    <a:pt x="125" y="72"/>
                  </a:lnTo>
                  <a:lnTo>
                    <a:pt x="116" y="69"/>
                  </a:lnTo>
                  <a:lnTo>
                    <a:pt x="108" y="69"/>
                  </a:lnTo>
                  <a:lnTo>
                    <a:pt x="39" y="156"/>
                  </a:lnTo>
                  <a:lnTo>
                    <a:pt x="0" y="125"/>
                  </a:lnTo>
                  <a:lnTo>
                    <a:pt x="97" y="0"/>
                  </a:lnTo>
                  <a:lnTo>
                    <a:pt x="137" y="32"/>
                  </a:lnTo>
                  <a:lnTo>
                    <a:pt x="126" y="46"/>
                  </a:lnTo>
                  <a:lnTo>
                    <a:pt x="141" y="46"/>
                  </a:lnTo>
                  <a:lnTo>
                    <a:pt x="156" y="48"/>
                  </a:lnTo>
                  <a:lnTo>
                    <a:pt x="168" y="54"/>
                  </a:lnTo>
                  <a:lnTo>
                    <a:pt x="181" y="63"/>
                  </a:lnTo>
                  <a:lnTo>
                    <a:pt x="189" y="70"/>
                  </a:lnTo>
                  <a:lnTo>
                    <a:pt x="195" y="78"/>
                  </a:lnTo>
                  <a:lnTo>
                    <a:pt x="199" y="88"/>
                  </a:lnTo>
                  <a:lnTo>
                    <a:pt x="203" y="98"/>
                  </a:lnTo>
                  <a:lnTo>
                    <a:pt x="201" y="107"/>
                  </a:lnTo>
                  <a:lnTo>
                    <a:pt x="200" y="118"/>
                  </a:lnTo>
                  <a:lnTo>
                    <a:pt x="194" y="130"/>
                  </a:lnTo>
                  <a:lnTo>
                    <a:pt x="188" y="142"/>
                  </a:lnTo>
                  <a:lnTo>
                    <a:pt x="125" y="2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18" name="Freeform 194">
              <a:extLst>
                <a:ext uri="{FF2B5EF4-FFF2-40B4-BE49-F238E27FC236}">
                  <a16:creationId xmlns:a16="http://schemas.microsoft.com/office/drawing/2014/main" id="{B8284D77-498E-6976-DFA6-9E6090508A1A}"/>
                </a:ext>
              </a:extLst>
            </p:cNvPr>
            <p:cNvSpPr>
              <a:spLocks/>
            </p:cNvSpPr>
            <p:nvPr/>
          </p:nvSpPr>
          <p:spPr bwMode="auto">
            <a:xfrm>
              <a:off x="1478" y="2374"/>
              <a:ext cx="75" cy="80"/>
            </a:xfrm>
            <a:custGeom>
              <a:avLst/>
              <a:gdLst>
                <a:gd name="T0" fmla="*/ 97 w 225"/>
                <a:gd name="T1" fmla="*/ 240 h 240"/>
                <a:gd name="T2" fmla="*/ 0 w 225"/>
                <a:gd name="T3" fmla="*/ 165 h 240"/>
                <a:gd name="T4" fmla="*/ 22 w 225"/>
                <a:gd name="T5" fmla="*/ 136 h 240"/>
                <a:gd name="T6" fmla="*/ 50 w 225"/>
                <a:gd name="T7" fmla="*/ 156 h 240"/>
                <a:gd name="T8" fmla="*/ 133 w 225"/>
                <a:gd name="T9" fmla="*/ 49 h 240"/>
                <a:gd name="T10" fmla="*/ 105 w 225"/>
                <a:gd name="T11" fmla="*/ 29 h 240"/>
                <a:gd name="T12" fmla="*/ 128 w 225"/>
                <a:gd name="T13" fmla="*/ 0 h 240"/>
                <a:gd name="T14" fmla="*/ 225 w 225"/>
                <a:gd name="T15" fmla="*/ 76 h 240"/>
                <a:gd name="T16" fmla="*/ 202 w 225"/>
                <a:gd name="T17" fmla="*/ 105 h 240"/>
                <a:gd name="T18" fmla="*/ 175 w 225"/>
                <a:gd name="T19" fmla="*/ 83 h 240"/>
                <a:gd name="T20" fmla="*/ 92 w 225"/>
                <a:gd name="T21" fmla="*/ 190 h 240"/>
                <a:gd name="T22" fmla="*/ 120 w 225"/>
                <a:gd name="T23" fmla="*/ 211 h 240"/>
                <a:gd name="T24" fmla="*/ 97 w 225"/>
                <a:gd name="T25"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5" h="240">
                  <a:moveTo>
                    <a:pt x="97" y="240"/>
                  </a:moveTo>
                  <a:lnTo>
                    <a:pt x="0" y="165"/>
                  </a:lnTo>
                  <a:lnTo>
                    <a:pt x="22" y="136"/>
                  </a:lnTo>
                  <a:lnTo>
                    <a:pt x="50" y="156"/>
                  </a:lnTo>
                  <a:lnTo>
                    <a:pt x="133" y="49"/>
                  </a:lnTo>
                  <a:lnTo>
                    <a:pt x="105" y="29"/>
                  </a:lnTo>
                  <a:lnTo>
                    <a:pt x="128" y="0"/>
                  </a:lnTo>
                  <a:lnTo>
                    <a:pt x="225" y="76"/>
                  </a:lnTo>
                  <a:lnTo>
                    <a:pt x="202" y="105"/>
                  </a:lnTo>
                  <a:lnTo>
                    <a:pt x="175" y="83"/>
                  </a:lnTo>
                  <a:lnTo>
                    <a:pt x="92" y="190"/>
                  </a:lnTo>
                  <a:lnTo>
                    <a:pt x="120" y="211"/>
                  </a:lnTo>
                  <a:lnTo>
                    <a:pt x="97" y="2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19" name="Freeform 195">
              <a:extLst>
                <a:ext uri="{FF2B5EF4-FFF2-40B4-BE49-F238E27FC236}">
                  <a16:creationId xmlns:a16="http://schemas.microsoft.com/office/drawing/2014/main" id="{5B68F2AD-8497-D7ED-1820-9AE05E7D159A}"/>
                </a:ext>
              </a:extLst>
            </p:cNvPr>
            <p:cNvSpPr>
              <a:spLocks noEditPoints="1"/>
            </p:cNvSpPr>
            <p:nvPr/>
          </p:nvSpPr>
          <p:spPr bwMode="auto">
            <a:xfrm>
              <a:off x="1522" y="2408"/>
              <a:ext cx="80" cy="81"/>
            </a:xfrm>
            <a:custGeom>
              <a:avLst/>
              <a:gdLst>
                <a:gd name="T0" fmla="*/ 212 w 242"/>
                <a:gd name="T1" fmla="*/ 208 h 244"/>
                <a:gd name="T2" fmla="*/ 198 w 242"/>
                <a:gd name="T3" fmla="*/ 224 h 244"/>
                <a:gd name="T4" fmla="*/ 177 w 242"/>
                <a:gd name="T5" fmla="*/ 237 h 244"/>
                <a:gd name="T6" fmla="*/ 151 w 242"/>
                <a:gd name="T7" fmla="*/ 243 h 244"/>
                <a:gd name="T8" fmla="*/ 127 w 242"/>
                <a:gd name="T9" fmla="*/ 244 h 244"/>
                <a:gd name="T10" fmla="*/ 93 w 242"/>
                <a:gd name="T11" fmla="*/ 234 h 244"/>
                <a:gd name="T12" fmla="*/ 79 w 242"/>
                <a:gd name="T13" fmla="*/ 225 h 244"/>
                <a:gd name="T14" fmla="*/ 66 w 242"/>
                <a:gd name="T15" fmla="*/ 215 h 244"/>
                <a:gd name="T16" fmla="*/ 57 w 242"/>
                <a:gd name="T17" fmla="*/ 209 h 244"/>
                <a:gd name="T18" fmla="*/ 128 w 242"/>
                <a:gd name="T19" fmla="*/ 0 h 244"/>
                <a:gd name="T20" fmla="*/ 195 w 242"/>
                <a:gd name="T21" fmla="*/ 53 h 244"/>
                <a:gd name="T22" fmla="*/ 219 w 242"/>
                <a:gd name="T23" fmla="*/ 76 h 244"/>
                <a:gd name="T24" fmla="*/ 237 w 242"/>
                <a:gd name="T25" fmla="*/ 105 h 244"/>
                <a:gd name="T26" fmla="*/ 242 w 242"/>
                <a:gd name="T27" fmla="*/ 141 h 244"/>
                <a:gd name="T28" fmla="*/ 237 w 242"/>
                <a:gd name="T29" fmla="*/ 167 h 244"/>
                <a:gd name="T30" fmla="*/ 226 w 242"/>
                <a:gd name="T31" fmla="*/ 191 h 244"/>
                <a:gd name="T32" fmla="*/ 176 w 242"/>
                <a:gd name="T33" fmla="*/ 168 h 244"/>
                <a:gd name="T34" fmla="*/ 188 w 242"/>
                <a:gd name="T35" fmla="*/ 143 h 244"/>
                <a:gd name="T36" fmla="*/ 192 w 242"/>
                <a:gd name="T37" fmla="*/ 126 h 244"/>
                <a:gd name="T38" fmla="*/ 188 w 242"/>
                <a:gd name="T39" fmla="*/ 111 h 244"/>
                <a:gd name="T40" fmla="*/ 182 w 242"/>
                <a:gd name="T41" fmla="*/ 95 h 244"/>
                <a:gd name="T42" fmla="*/ 171 w 242"/>
                <a:gd name="T43" fmla="*/ 84 h 244"/>
                <a:gd name="T44" fmla="*/ 168 w 242"/>
                <a:gd name="T45" fmla="*/ 81 h 244"/>
                <a:gd name="T46" fmla="*/ 146 w 242"/>
                <a:gd name="T47" fmla="*/ 63 h 244"/>
                <a:gd name="T48" fmla="*/ 76 w 242"/>
                <a:gd name="T49" fmla="*/ 174 h 244"/>
                <a:gd name="T50" fmla="*/ 90 w 242"/>
                <a:gd name="T51" fmla="*/ 184 h 244"/>
                <a:gd name="T52" fmla="*/ 99 w 242"/>
                <a:gd name="T53" fmla="*/ 191 h 244"/>
                <a:gd name="T54" fmla="*/ 124 w 242"/>
                <a:gd name="T55" fmla="*/ 196 h 244"/>
                <a:gd name="T56" fmla="*/ 140 w 242"/>
                <a:gd name="T57" fmla="*/ 194 h 244"/>
                <a:gd name="T58" fmla="*/ 141 w 242"/>
                <a:gd name="T59" fmla="*/ 192 h 244"/>
                <a:gd name="T60" fmla="*/ 148 w 242"/>
                <a:gd name="T61" fmla="*/ 192 h 244"/>
                <a:gd name="T62" fmla="*/ 162 w 242"/>
                <a:gd name="T63" fmla="*/ 183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2" h="244">
                  <a:moveTo>
                    <a:pt x="218" y="203"/>
                  </a:moveTo>
                  <a:lnTo>
                    <a:pt x="212" y="208"/>
                  </a:lnTo>
                  <a:lnTo>
                    <a:pt x="207" y="214"/>
                  </a:lnTo>
                  <a:lnTo>
                    <a:pt x="198" y="224"/>
                  </a:lnTo>
                  <a:lnTo>
                    <a:pt x="187" y="231"/>
                  </a:lnTo>
                  <a:lnTo>
                    <a:pt x="177" y="237"/>
                  </a:lnTo>
                  <a:lnTo>
                    <a:pt x="163" y="240"/>
                  </a:lnTo>
                  <a:lnTo>
                    <a:pt x="151" y="243"/>
                  </a:lnTo>
                  <a:lnTo>
                    <a:pt x="139" y="244"/>
                  </a:lnTo>
                  <a:lnTo>
                    <a:pt x="127" y="244"/>
                  </a:lnTo>
                  <a:lnTo>
                    <a:pt x="110" y="240"/>
                  </a:lnTo>
                  <a:lnTo>
                    <a:pt x="93" y="234"/>
                  </a:lnTo>
                  <a:lnTo>
                    <a:pt x="84" y="228"/>
                  </a:lnTo>
                  <a:lnTo>
                    <a:pt x="79" y="225"/>
                  </a:lnTo>
                  <a:lnTo>
                    <a:pt x="75" y="222"/>
                  </a:lnTo>
                  <a:lnTo>
                    <a:pt x="66" y="215"/>
                  </a:lnTo>
                  <a:lnTo>
                    <a:pt x="61" y="212"/>
                  </a:lnTo>
                  <a:lnTo>
                    <a:pt x="57" y="209"/>
                  </a:lnTo>
                  <a:lnTo>
                    <a:pt x="0" y="165"/>
                  </a:lnTo>
                  <a:lnTo>
                    <a:pt x="128" y="0"/>
                  </a:lnTo>
                  <a:lnTo>
                    <a:pt x="187" y="46"/>
                  </a:lnTo>
                  <a:lnTo>
                    <a:pt x="195" y="53"/>
                  </a:lnTo>
                  <a:lnTo>
                    <a:pt x="205" y="62"/>
                  </a:lnTo>
                  <a:lnTo>
                    <a:pt x="219" y="76"/>
                  </a:lnTo>
                  <a:lnTo>
                    <a:pt x="230" y="90"/>
                  </a:lnTo>
                  <a:lnTo>
                    <a:pt x="237" y="105"/>
                  </a:lnTo>
                  <a:lnTo>
                    <a:pt x="242" y="129"/>
                  </a:lnTo>
                  <a:lnTo>
                    <a:pt x="242" y="141"/>
                  </a:lnTo>
                  <a:lnTo>
                    <a:pt x="241" y="155"/>
                  </a:lnTo>
                  <a:lnTo>
                    <a:pt x="237" y="167"/>
                  </a:lnTo>
                  <a:lnTo>
                    <a:pt x="232" y="179"/>
                  </a:lnTo>
                  <a:lnTo>
                    <a:pt x="226" y="191"/>
                  </a:lnTo>
                  <a:lnTo>
                    <a:pt x="218" y="203"/>
                  </a:lnTo>
                  <a:close/>
                  <a:moveTo>
                    <a:pt x="176" y="168"/>
                  </a:moveTo>
                  <a:lnTo>
                    <a:pt x="186" y="152"/>
                  </a:lnTo>
                  <a:lnTo>
                    <a:pt x="188" y="143"/>
                  </a:lnTo>
                  <a:lnTo>
                    <a:pt x="192" y="136"/>
                  </a:lnTo>
                  <a:lnTo>
                    <a:pt x="192" y="126"/>
                  </a:lnTo>
                  <a:lnTo>
                    <a:pt x="190" y="119"/>
                  </a:lnTo>
                  <a:lnTo>
                    <a:pt x="188" y="111"/>
                  </a:lnTo>
                  <a:lnTo>
                    <a:pt x="186" y="104"/>
                  </a:lnTo>
                  <a:lnTo>
                    <a:pt x="182" y="95"/>
                  </a:lnTo>
                  <a:lnTo>
                    <a:pt x="176" y="89"/>
                  </a:lnTo>
                  <a:lnTo>
                    <a:pt x="171" y="84"/>
                  </a:lnTo>
                  <a:lnTo>
                    <a:pt x="169" y="82"/>
                  </a:lnTo>
                  <a:lnTo>
                    <a:pt x="168" y="81"/>
                  </a:lnTo>
                  <a:lnTo>
                    <a:pt x="157" y="71"/>
                  </a:lnTo>
                  <a:lnTo>
                    <a:pt x="146" y="63"/>
                  </a:lnTo>
                  <a:lnTo>
                    <a:pt x="66" y="166"/>
                  </a:lnTo>
                  <a:lnTo>
                    <a:pt x="76" y="174"/>
                  </a:lnTo>
                  <a:lnTo>
                    <a:pt x="82" y="179"/>
                  </a:lnTo>
                  <a:lnTo>
                    <a:pt x="90" y="184"/>
                  </a:lnTo>
                  <a:lnTo>
                    <a:pt x="94" y="188"/>
                  </a:lnTo>
                  <a:lnTo>
                    <a:pt x="99" y="191"/>
                  </a:lnTo>
                  <a:lnTo>
                    <a:pt x="117" y="197"/>
                  </a:lnTo>
                  <a:lnTo>
                    <a:pt x="124" y="196"/>
                  </a:lnTo>
                  <a:lnTo>
                    <a:pt x="133" y="196"/>
                  </a:lnTo>
                  <a:lnTo>
                    <a:pt x="140" y="194"/>
                  </a:lnTo>
                  <a:lnTo>
                    <a:pt x="140" y="192"/>
                  </a:lnTo>
                  <a:lnTo>
                    <a:pt x="141" y="192"/>
                  </a:lnTo>
                  <a:lnTo>
                    <a:pt x="144" y="192"/>
                  </a:lnTo>
                  <a:lnTo>
                    <a:pt x="148" y="192"/>
                  </a:lnTo>
                  <a:lnTo>
                    <a:pt x="154" y="188"/>
                  </a:lnTo>
                  <a:lnTo>
                    <a:pt x="162" y="183"/>
                  </a:lnTo>
                  <a:lnTo>
                    <a:pt x="176" y="1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20" name="Freeform 196">
              <a:extLst>
                <a:ext uri="{FF2B5EF4-FFF2-40B4-BE49-F238E27FC236}">
                  <a16:creationId xmlns:a16="http://schemas.microsoft.com/office/drawing/2014/main" id="{15613A4F-9587-7A3B-F9A3-24BB86AFBC2B}"/>
                </a:ext>
              </a:extLst>
            </p:cNvPr>
            <p:cNvSpPr>
              <a:spLocks/>
            </p:cNvSpPr>
            <p:nvPr/>
          </p:nvSpPr>
          <p:spPr bwMode="auto">
            <a:xfrm>
              <a:off x="1612" y="2485"/>
              <a:ext cx="71" cy="84"/>
            </a:xfrm>
            <a:custGeom>
              <a:avLst/>
              <a:gdLst>
                <a:gd name="T0" fmla="*/ 42 w 212"/>
                <a:gd name="T1" fmla="*/ 251 h 251"/>
                <a:gd name="T2" fmla="*/ 1 w 212"/>
                <a:gd name="T3" fmla="*/ 218 h 251"/>
                <a:gd name="T4" fmla="*/ 0 w 212"/>
                <a:gd name="T5" fmla="*/ 197 h 251"/>
                <a:gd name="T6" fmla="*/ 2 w 212"/>
                <a:gd name="T7" fmla="*/ 177 h 251"/>
                <a:gd name="T8" fmla="*/ 9 w 212"/>
                <a:gd name="T9" fmla="*/ 143 h 251"/>
                <a:gd name="T10" fmla="*/ 23 w 212"/>
                <a:gd name="T11" fmla="*/ 108 h 251"/>
                <a:gd name="T12" fmla="*/ 44 w 212"/>
                <a:gd name="T13" fmla="*/ 77 h 251"/>
                <a:gd name="T14" fmla="*/ 69 w 212"/>
                <a:gd name="T15" fmla="*/ 48 h 251"/>
                <a:gd name="T16" fmla="*/ 99 w 212"/>
                <a:gd name="T17" fmla="*/ 27 h 251"/>
                <a:gd name="T18" fmla="*/ 115 w 212"/>
                <a:gd name="T19" fmla="*/ 18 h 251"/>
                <a:gd name="T20" fmla="*/ 133 w 212"/>
                <a:gd name="T21" fmla="*/ 11 h 251"/>
                <a:gd name="T22" fmla="*/ 151 w 212"/>
                <a:gd name="T23" fmla="*/ 3 h 251"/>
                <a:gd name="T24" fmla="*/ 171 w 212"/>
                <a:gd name="T25" fmla="*/ 0 h 251"/>
                <a:gd name="T26" fmla="*/ 212 w 212"/>
                <a:gd name="T27" fmla="*/ 32 h 251"/>
                <a:gd name="T28" fmla="*/ 210 w 212"/>
                <a:gd name="T29" fmla="*/ 36 h 251"/>
                <a:gd name="T30" fmla="*/ 194 w 212"/>
                <a:gd name="T31" fmla="*/ 37 h 251"/>
                <a:gd name="T32" fmla="*/ 179 w 212"/>
                <a:gd name="T33" fmla="*/ 41 h 251"/>
                <a:gd name="T34" fmla="*/ 145 w 212"/>
                <a:gd name="T35" fmla="*/ 53 h 251"/>
                <a:gd name="T36" fmla="*/ 128 w 212"/>
                <a:gd name="T37" fmla="*/ 61 h 251"/>
                <a:gd name="T38" fmla="*/ 111 w 212"/>
                <a:gd name="T39" fmla="*/ 74 h 251"/>
                <a:gd name="T40" fmla="*/ 95 w 212"/>
                <a:gd name="T41" fmla="*/ 87 h 251"/>
                <a:gd name="T42" fmla="*/ 80 w 212"/>
                <a:gd name="T43" fmla="*/ 104 h 251"/>
                <a:gd name="T44" fmla="*/ 67 w 212"/>
                <a:gd name="T45" fmla="*/ 123 h 251"/>
                <a:gd name="T46" fmla="*/ 57 w 212"/>
                <a:gd name="T47" fmla="*/ 143 h 251"/>
                <a:gd name="T48" fmla="*/ 50 w 212"/>
                <a:gd name="T49" fmla="*/ 161 h 251"/>
                <a:gd name="T50" fmla="*/ 47 w 212"/>
                <a:gd name="T51" fmla="*/ 180 h 251"/>
                <a:gd name="T52" fmla="*/ 43 w 212"/>
                <a:gd name="T53" fmla="*/ 197 h 251"/>
                <a:gd name="T54" fmla="*/ 42 w 212"/>
                <a:gd name="T55" fmla="*/ 216 h 251"/>
                <a:gd name="T56" fmla="*/ 44 w 212"/>
                <a:gd name="T57" fmla="*/ 247 h 251"/>
                <a:gd name="T58" fmla="*/ 42 w 212"/>
                <a:gd name="T5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12" h="251">
                  <a:moveTo>
                    <a:pt x="42" y="251"/>
                  </a:moveTo>
                  <a:lnTo>
                    <a:pt x="1" y="218"/>
                  </a:lnTo>
                  <a:lnTo>
                    <a:pt x="0" y="197"/>
                  </a:lnTo>
                  <a:lnTo>
                    <a:pt x="2" y="177"/>
                  </a:lnTo>
                  <a:lnTo>
                    <a:pt x="9" y="143"/>
                  </a:lnTo>
                  <a:lnTo>
                    <a:pt x="23" y="108"/>
                  </a:lnTo>
                  <a:lnTo>
                    <a:pt x="44" y="77"/>
                  </a:lnTo>
                  <a:lnTo>
                    <a:pt x="69" y="48"/>
                  </a:lnTo>
                  <a:lnTo>
                    <a:pt x="99" y="27"/>
                  </a:lnTo>
                  <a:lnTo>
                    <a:pt x="115" y="18"/>
                  </a:lnTo>
                  <a:lnTo>
                    <a:pt x="133" y="11"/>
                  </a:lnTo>
                  <a:lnTo>
                    <a:pt x="151" y="3"/>
                  </a:lnTo>
                  <a:lnTo>
                    <a:pt x="171" y="0"/>
                  </a:lnTo>
                  <a:lnTo>
                    <a:pt x="212" y="32"/>
                  </a:lnTo>
                  <a:lnTo>
                    <a:pt x="210" y="36"/>
                  </a:lnTo>
                  <a:lnTo>
                    <a:pt x="194" y="37"/>
                  </a:lnTo>
                  <a:lnTo>
                    <a:pt x="179" y="41"/>
                  </a:lnTo>
                  <a:lnTo>
                    <a:pt x="145" y="53"/>
                  </a:lnTo>
                  <a:lnTo>
                    <a:pt x="128" y="61"/>
                  </a:lnTo>
                  <a:lnTo>
                    <a:pt x="111" y="74"/>
                  </a:lnTo>
                  <a:lnTo>
                    <a:pt x="95" y="87"/>
                  </a:lnTo>
                  <a:lnTo>
                    <a:pt x="80" y="104"/>
                  </a:lnTo>
                  <a:lnTo>
                    <a:pt x="67" y="123"/>
                  </a:lnTo>
                  <a:lnTo>
                    <a:pt x="57" y="143"/>
                  </a:lnTo>
                  <a:lnTo>
                    <a:pt x="50" y="161"/>
                  </a:lnTo>
                  <a:lnTo>
                    <a:pt x="47" y="180"/>
                  </a:lnTo>
                  <a:lnTo>
                    <a:pt x="43" y="197"/>
                  </a:lnTo>
                  <a:lnTo>
                    <a:pt x="42" y="216"/>
                  </a:lnTo>
                  <a:lnTo>
                    <a:pt x="44" y="247"/>
                  </a:lnTo>
                  <a:lnTo>
                    <a:pt x="42" y="2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21" name="Freeform 197">
              <a:extLst>
                <a:ext uri="{FF2B5EF4-FFF2-40B4-BE49-F238E27FC236}">
                  <a16:creationId xmlns:a16="http://schemas.microsoft.com/office/drawing/2014/main" id="{44A610CF-D24A-B5C0-2712-692DEAD2A0C8}"/>
                </a:ext>
              </a:extLst>
            </p:cNvPr>
            <p:cNvSpPr>
              <a:spLocks noEditPoints="1"/>
            </p:cNvSpPr>
            <p:nvPr/>
          </p:nvSpPr>
          <p:spPr bwMode="auto">
            <a:xfrm>
              <a:off x="1655" y="2515"/>
              <a:ext cx="73" cy="74"/>
            </a:xfrm>
            <a:custGeom>
              <a:avLst/>
              <a:gdLst>
                <a:gd name="T0" fmla="*/ 143 w 220"/>
                <a:gd name="T1" fmla="*/ 211 h 224"/>
                <a:gd name="T2" fmla="*/ 140 w 220"/>
                <a:gd name="T3" fmla="*/ 211 h 224"/>
                <a:gd name="T4" fmla="*/ 137 w 220"/>
                <a:gd name="T5" fmla="*/ 214 h 224"/>
                <a:gd name="T6" fmla="*/ 120 w 220"/>
                <a:gd name="T7" fmla="*/ 222 h 224"/>
                <a:gd name="T8" fmla="*/ 110 w 220"/>
                <a:gd name="T9" fmla="*/ 223 h 224"/>
                <a:gd name="T10" fmla="*/ 90 w 220"/>
                <a:gd name="T11" fmla="*/ 220 h 224"/>
                <a:gd name="T12" fmla="*/ 59 w 220"/>
                <a:gd name="T13" fmla="*/ 207 h 224"/>
                <a:gd name="T14" fmla="*/ 28 w 220"/>
                <a:gd name="T15" fmla="*/ 182 h 224"/>
                <a:gd name="T16" fmla="*/ 6 w 220"/>
                <a:gd name="T17" fmla="*/ 154 h 224"/>
                <a:gd name="T18" fmla="*/ 0 w 220"/>
                <a:gd name="T19" fmla="*/ 128 h 224"/>
                <a:gd name="T20" fmla="*/ 5 w 220"/>
                <a:gd name="T21" fmla="*/ 104 h 224"/>
                <a:gd name="T22" fmla="*/ 23 w 220"/>
                <a:gd name="T23" fmla="*/ 84 h 224"/>
                <a:gd name="T24" fmla="*/ 44 w 220"/>
                <a:gd name="T25" fmla="*/ 76 h 224"/>
                <a:gd name="T26" fmla="*/ 63 w 220"/>
                <a:gd name="T27" fmla="*/ 78 h 224"/>
                <a:gd name="T28" fmla="*/ 76 w 220"/>
                <a:gd name="T29" fmla="*/ 80 h 224"/>
                <a:gd name="T30" fmla="*/ 66 w 220"/>
                <a:gd name="T31" fmla="*/ 46 h 224"/>
                <a:gd name="T32" fmla="*/ 80 w 220"/>
                <a:gd name="T33" fmla="*/ 19 h 224"/>
                <a:gd name="T34" fmla="*/ 96 w 220"/>
                <a:gd name="T35" fmla="*/ 3 h 224"/>
                <a:gd name="T36" fmla="*/ 122 w 220"/>
                <a:gd name="T37" fmla="*/ 1 h 224"/>
                <a:gd name="T38" fmla="*/ 150 w 220"/>
                <a:gd name="T39" fmla="*/ 7 h 224"/>
                <a:gd name="T40" fmla="*/ 179 w 220"/>
                <a:gd name="T41" fmla="*/ 24 h 224"/>
                <a:gd name="T42" fmla="*/ 204 w 220"/>
                <a:gd name="T43" fmla="*/ 48 h 224"/>
                <a:gd name="T44" fmla="*/ 218 w 220"/>
                <a:gd name="T45" fmla="*/ 74 h 224"/>
                <a:gd name="T46" fmla="*/ 219 w 220"/>
                <a:gd name="T47" fmla="*/ 81 h 224"/>
                <a:gd name="T48" fmla="*/ 220 w 220"/>
                <a:gd name="T49" fmla="*/ 85 h 224"/>
                <a:gd name="T50" fmla="*/ 216 w 220"/>
                <a:gd name="T51" fmla="*/ 106 h 224"/>
                <a:gd name="T52" fmla="*/ 212 w 220"/>
                <a:gd name="T53" fmla="*/ 117 h 224"/>
                <a:gd name="T54" fmla="*/ 201 w 220"/>
                <a:gd name="T55" fmla="*/ 127 h 224"/>
                <a:gd name="T56" fmla="*/ 192 w 220"/>
                <a:gd name="T57" fmla="*/ 129 h 224"/>
                <a:gd name="T58" fmla="*/ 191 w 220"/>
                <a:gd name="T59" fmla="*/ 130 h 224"/>
                <a:gd name="T60" fmla="*/ 180 w 220"/>
                <a:gd name="T61" fmla="*/ 133 h 224"/>
                <a:gd name="T62" fmla="*/ 162 w 220"/>
                <a:gd name="T63" fmla="*/ 132 h 224"/>
                <a:gd name="T64" fmla="*/ 153 w 220"/>
                <a:gd name="T65" fmla="*/ 132 h 224"/>
                <a:gd name="T66" fmla="*/ 161 w 220"/>
                <a:gd name="T67" fmla="*/ 151 h 224"/>
                <a:gd name="T68" fmla="*/ 165 w 220"/>
                <a:gd name="T69" fmla="*/ 169 h 224"/>
                <a:gd name="T70" fmla="*/ 161 w 220"/>
                <a:gd name="T71" fmla="*/ 186 h 224"/>
                <a:gd name="T72" fmla="*/ 153 w 220"/>
                <a:gd name="T73" fmla="*/ 202 h 224"/>
                <a:gd name="T74" fmla="*/ 171 w 220"/>
                <a:gd name="T75" fmla="*/ 80 h 224"/>
                <a:gd name="T76" fmla="*/ 171 w 220"/>
                <a:gd name="T77" fmla="*/ 72 h 224"/>
                <a:gd name="T78" fmla="*/ 156 w 220"/>
                <a:gd name="T79" fmla="*/ 52 h 224"/>
                <a:gd name="T80" fmla="*/ 138 w 220"/>
                <a:gd name="T81" fmla="*/ 44 h 224"/>
                <a:gd name="T82" fmla="*/ 122 w 220"/>
                <a:gd name="T83" fmla="*/ 50 h 224"/>
                <a:gd name="T84" fmla="*/ 118 w 220"/>
                <a:gd name="T85" fmla="*/ 63 h 224"/>
                <a:gd name="T86" fmla="*/ 124 w 220"/>
                <a:gd name="T87" fmla="*/ 80 h 224"/>
                <a:gd name="T88" fmla="*/ 140 w 220"/>
                <a:gd name="T89" fmla="*/ 105 h 224"/>
                <a:gd name="T90" fmla="*/ 148 w 220"/>
                <a:gd name="T91" fmla="*/ 102 h 224"/>
                <a:gd name="T92" fmla="*/ 160 w 220"/>
                <a:gd name="T93" fmla="*/ 96 h 224"/>
                <a:gd name="T94" fmla="*/ 166 w 220"/>
                <a:gd name="T95" fmla="*/ 90 h 224"/>
                <a:gd name="T96" fmla="*/ 113 w 220"/>
                <a:gd name="T97" fmla="*/ 163 h 224"/>
                <a:gd name="T98" fmla="*/ 113 w 220"/>
                <a:gd name="T99" fmla="*/ 151 h 224"/>
                <a:gd name="T100" fmla="*/ 108 w 220"/>
                <a:gd name="T101" fmla="*/ 139 h 224"/>
                <a:gd name="T102" fmla="*/ 104 w 220"/>
                <a:gd name="T103" fmla="*/ 129 h 224"/>
                <a:gd name="T104" fmla="*/ 98 w 220"/>
                <a:gd name="T105" fmla="*/ 121 h 224"/>
                <a:gd name="T106" fmla="*/ 72 w 220"/>
                <a:gd name="T107" fmla="*/ 111 h 224"/>
                <a:gd name="T108" fmla="*/ 58 w 220"/>
                <a:gd name="T109" fmla="*/ 122 h 224"/>
                <a:gd name="T110" fmla="*/ 52 w 220"/>
                <a:gd name="T111" fmla="*/ 147 h 224"/>
                <a:gd name="T112" fmla="*/ 69 w 220"/>
                <a:gd name="T113" fmla="*/ 171 h 224"/>
                <a:gd name="T114" fmla="*/ 89 w 220"/>
                <a:gd name="T115" fmla="*/ 178 h 224"/>
                <a:gd name="T116" fmla="*/ 105 w 220"/>
                <a:gd name="T117" fmla="*/ 175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0" h="224">
                  <a:moveTo>
                    <a:pt x="153" y="202"/>
                  </a:moveTo>
                  <a:lnTo>
                    <a:pt x="143" y="211"/>
                  </a:lnTo>
                  <a:lnTo>
                    <a:pt x="141" y="211"/>
                  </a:lnTo>
                  <a:lnTo>
                    <a:pt x="140" y="211"/>
                  </a:lnTo>
                  <a:lnTo>
                    <a:pt x="140" y="212"/>
                  </a:lnTo>
                  <a:lnTo>
                    <a:pt x="137" y="214"/>
                  </a:lnTo>
                  <a:lnTo>
                    <a:pt x="132" y="218"/>
                  </a:lnTo>
                  <a:lnTo>
                    <a:pt x="120" y="222"/>
                  </a:lnTo>
                  <a:lnTo>
                    <a:pt x="113" y="223"/>
                  </a:lnTo>
                  <a:lnTo>
                    <a:pt x="110" y="223"/>
                  </a:lnTo>
                  <a:lnTo>
                    <a:pt x="107" y="224"/>
                  </a:lnTo>
                  <a:lnTo>
                    <a:pt x="90" y="220"/>
                  </a:lnTo>
                  <a:lnTo>
                    <a:pt x="76" y="216"/>
                  </a:lnTo>
                  <a:lnTo>
                    <a:pt x="59" y="207"/>
                  </a:lnTo>
                  <a:lnTo>
                    <a:pt x="45" y="196"/>
                  </a:lnTo>
                  <a:lnTo>
                    <a:pt x="28" y="182"/>
                  </a:lnTo>
                  <a:lnTo>
                    <a:pt x="16" y="169"/>
                  </a:lnTo>
                  <a:lnTo>
                    <a:pt x="6" y="154"/>
                  </a:lnTo>
                  <a:lnTo>
                    <a:pt x="3" y="141"/>
                  </a:lnTo>
                  <a:lnTo>
                    <a:pt x="0" y="128"/>
                  </a:lnTo>
                  <a:lnTo>
                    <a:pt x="3" y="117"/>
                  </a:lnTo>
                  <a:lnTo>
                    <a:pt x="5" y="104"/>
                  </a:lnTo>
                  <a:lnTo>
                    <a:pt x="12" y="94"/>
                  </a:lnTo>
                  <a:lnTo>
                    <a:pt x="23" y="84"/>
                  </a:lnTo>
                  <a:lnTo>
                    <a:pt x="36" y="79"/>
                  </a:lnTo>
                  <a:lnTo>
                    <a:pt x="44" y="76"/>
                  </a:lnTo>
                  <a:lnTo>
                    <a:pt x="53" y="76"/>
                  </a:lnTo>
                  <a:lnTo>
                    <a:pt x="63" y="78"/>
                  </a:lnTo>
                  <a:lnTo>
                    <a:pt x="75" y="81"/>
                  </a:lnTo>
                  <a:lnTo>
                    <a:pt x="76" y="80"/>
                  </a:lnTo>
                  <a:lnTo>
                    <a:pt x="69" y="63"/>
                  </a:lnTo>
                  <a:lnTo>
                    <a:pt x="66" y="46"/>
                  </a:lnTo>
                  <a:lnTo>
                    <a:pt x="70" y="32"/>
                  </a:lnTo>
                  <a:lnTo>
                    <a:pt x="80" y="19"/>
                  </a:lnTo>
                  <a:lnTo>
                    <a:pt x="87" y="9"/>
                  </a:lnTo>
                  <a:lnTo>
                    <a:pt x="96" y="3"/>
                  </a:lnTo>
                  <a:lnTo>
                    <a:pt x="107" y="0"/>
                  </a:lnTo>
                  <a:lnTo>
                    <a:pt x="122" y="1"/>
                  </a:lnTo>
                  <a:lnTo>
                    <a:pt x="136" y="2"/>
                  </a:lnTo>
                  <a:lnTo>
                    <a:pt x="150" y="7"/>
                  </a:lnTo>
                  <a:lnTo>
                    <a:pt x="165" y="13"/>
                  </a:lnTo>
                  <a:lnTo>
                    <a:pt x="179" y="24"/>
                  </a:lnTo>
                  <a:lnTo>
                    <a:pt x="192" y="36"/>
                  </a:lnTo>
                  <a:lnTo>
                    <a:pt x="204" y="48"/>
                  </a:lnTo>
                  <a:lnTo>
                    <a:pt x="212" y="60"/>
                  </a:lnTo>
                  <a:lnTo>
                    <a:pt x="218" y="74"/>
                  </a:lnTo>
                  <a:lnTo>
                    <a:pt x="219" y="79"/>
                  </a:lnTo>
                  <a:lnTo>
                    <a:pt x="219" y="81"/>
                  </a:lnTo>
                  <a:lnTo>
                    <a:pt x="219" y="82"/>
                  </a:lnTo>
                  <a:lnTo>
                    <a:pt x="220" y="85"/>
                  </a:lnTo>
                  <a:lnTo>
                    <a:pt x="220" y="97"/>
                  </a:lnTo>
                  <a:lnTo>
                    <a:pt x="216" y="106"/>
                  </a:lnTo>
                  <a:lnTo>
                    <a:pt x="214" y="111"/>
                  </a:lnTo>
                  <a:lnTo>
                    <a:pt x="212" y="117"/>
                  </a:lnTo>
                  <a:lnTo>
                    <a:pt x="206" y="122"/>
                  </a:lnTo>
                  <a:lnTo>
                    <a:pt x="201" y="127"/>
                  </a:lnTo>
                  <a:lnTo>
                    <a:pt x="195" y="129"/>
                  </a:lnTo>
                  <a:lnTo>
                    <a:pt x="192" y="129"/>
                  </a:lnTo>
                  <a:lnTo>
                    <a:pt x="191" y="129"/>
                  </a:lnTo>
                  <a:lnTo>
                    <a:pt x="191" y="130"/>
                  </a:lnTo>
                  <a:lnTo>
                    <a:pt x="189" y="133"/>
                  </a:lnTo>
                  <a:lnTo>
                    <a:pt x="180" y="133"/>
                  </a:lnTo>
                  <a:lnTo>
                    <a:pt x="172" y="133"/>
                  </a:lnTo>
                  <a:lnTo>
                    <a:pt x="162" y="132"/>
                  </a:lnTo>
                  <a:lnTo>
                    <a:pt x="154" y="132"/>
                  </a:lnTo>
                  <a:lnTo>
                    <a:pt x="153" y="132"/>
                  </a:lnTo>
                  <a:lnTo>
                    <a:pt x="158" y="141"/>
                  </a:lnTo>
                  <a:lnTo>
                    <a:pt x="161" y="151"/>
                  </a:lnTo>
                  <a:lnTo>
                    <a:pt x="164" y="159"/>
                  </a:lnTo>
                  <a:lnTo>
                    <a:pt x="165" y="169"/>
                  </a:lnTo>
                  <a:lnTo>
                    <a:pt x="164" y="176"/>
                  </a:lnTo>
                  <a:lnTo>
                    <a:pt x="161" y="186"/>
                  </a:lnTo>
                  <a:lnTo>
                    <a:pt x="158" y="193"/>
                  </a:lnTo>
                  <a:lnTo>
                    <a:pt x="153" y="202"/>
                  </a:lnTo>
                  <a:close/>
                  <a:moveTo>
                    <a:pt x="166" y="90"/>
                  </a:moveTo>
                  <a:lnTo>
                    <a:pt x="171" y="80"/>
                  </a:lnTo>
                  <a:lnTo>
                    <a:pt x="171" y="75"/>
                  </a:lnTo>
                  <a:lnTo>
                    <a:pt x="171" y="72"/>
                  </a:lnTo>
                  <a:lnTo>
                    <a:pt x="165" y="61"/>
                  </a:lnTo>
                  <a:lnTo>
                    <a:pt x="156" y="52"/>
                  </a:lnTo>
                  <a:lnTo>
                    <a:pt x="149" y="48"/>
                  </a:lnTo>
                  <a:lnTo>
                    <a:pt x="138" y="44"/>
                  </a:lnTo>
                  <a:lnTo>
                    <a:pt x="130" y="45"/>
                  </a:lnTo>
                  <a:lnTo>
                    <a:pt x="122" y="50"/>
                  </a:lnTo>
                  <a:lnTo>
                    <a:pt x="118" y="56"/>
                  </a:lnTo>
                  <a:lnTo>
                    <a:pt x="118" y="63"/>
                  </a:lnTo>
                  <a:lnTo>
                    <a:pt x="119" y="69"/>
                  </a:lnTo>
                  <a:lnTo>
                    <a:pt x="124" y="80"/>
                  </a:lnTo>
                  <a:lnTo>
                    <a:pt x="130" y="90"/>
                  </a:lnTo>
                  <a:lnTo>
                    <a:pt x="140" y="105"/>
                  </a:lnTo>
                  <a:lnTo>
                    <a:pt x="143" y="103"/>
                  </a:lnTo>
                  <a:lnTo>
                    <a:pt x="148" y="102"/>
                  </a:lnTo>
                  <a:lnTo>
                    <a:pt x="155" y="99"/>
                  </a:lnTo>
                  <a:lnTo>
                    <a:pt x="160" y="96"/>
                  </a:lnTo>
                  <a:lnTo>
                    <a:pt x="162" y="92"/>
                  </a:lnTo>
                  <a:lnTo>
                    <a:pt x="166" y="90"/>
                  </a:lnTo>
                  <a:close/>
                  <a:moveTo>
                    <a:pt x="110" y="170"/>
                  </a:moveTo>
                  <a:lnTo>
                    <a:pt x="113" y="163"/>
                  </a:lnTo>
                  <a:lnTo>
                    <a:pt x="116" y="156"/>
                  </a:lnTo>
                  <a:lnTo>
                    <a:pt x="113" y="151"/>
                  </a:lnTo>
                  <a:lnTo>
                    <a:pt x="112" y="146"/>
                  </a:lnTo>
                  <a:lnTo>
                    <a:pt x="108" y="139"/>
                  </a:lnTo>
                  <a:lnTo>
                    <a:pt x="106" y="133"/>
                  </a:lnTo>
                  <a:lnTo>
                    <a:pt x="104" y="129"/>
                  </a:lnTo>
                  <a:lnTo>
                    <a:pt x="102" y="127"/>
                  </a:lnTo>
                  <a:lnTo>
                    <a:pt x="98" y="121"/>
                  </a:lnTo>
                  <a:lnTo>
                    <a:pt x="89" y="106"/>
                  </a:lnTo>
                  <a:lnTo>
                    <a:pt x="72" y="111"/>
                  </a:lnTo>
                  <a:lnTo>
                    <a:pt x="64" y="115"/>
                  </a:lnTo>
                  <a:lnTo>
                    <a:pt x="58" y="122"/>
                  </a:lnTo>
                  <a:lnTo>
                    <a:pt x="52" y="133"/>
                  </a:lnTo>
                  <a:lnTo>
                    <a:pt x="52" y="147"/>
                  </a:lnTo>
                  <a:lnTo>
                    <a:pt x="57" y="159"/>
                  </a:lnTo>
                  <a:lnTo>
                    <a:pt x="69" y="171"/>
                  </a:lnTo>
                  <a:lnTo>
                    <a:pt x="78" y="176"/>
                  </a:lnTo>
                  <a:lnTo>
                    <a:pt x="89" y="178"/>
                  </a:lnTo>
                  <a:lnTo>
                    <a:pt x="100" y="178"/>
                  </a:lnTo>
                  <a:lnTo>
                    <a:pt x="105" y="175"/>
                  </a:lnTo>
                  <a:lnTo>
                    <a:pt x="11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3622" name="Freeform 198">
              <a:extLst>
                <a:ext uri="{FF2B5EF4-FFF2-40B4-BE49-F238E27FC236}">
                  <a16:creationId xmlns:a16="http://schemas.microsoft.com/office/drawing/2014/main" id="{B6F9A481-A4D3-28C5-D69D-C0E9A54FAF07}"/>
                </a:ext>
              </a:extLst>
            </p:cNvPr>
            <p:cNvSpPr>
              <a:spLocks/>
            </p:cNvSpPr>
            <p:nvPr/>
          </p:nvSpPr>
          <p:spPr bwMode="auto">
            <a:xfrm>
              <a:off x="1692" y="2547"/>
              <a:ext cx="71" cy="84"/>
            </a:xfrm>
            <a:custGeom>
              <a:avLst/>
              <a:gdLst>
                <a:gd name="T0" fmla="*/ 169 w 212"/>
                <a:gd name="T1" fmla="*/ 174 h 251"/>
                <a:gd name="T2" fmla="*/ 156 w 212"/>
                <a:gd name="T3" fmla="*/ 188 h 251"/>
                <a:gd name="T4" fmla="*/ 149 w 212"/>
                <a:gd name="T5" fmla="*/ 194 h 251"/>
                <a:gd name="T6" fmla="*/ 143 w 212"/>
                <a:gd name="T7" fmla="*/ 202 h 251"/>
                <a:gd name="T8" fmla="*/ 128 w 212"/>
                <a:gd name="T9" fmla="*/ 214 h 251"/>
                <a:gd name="T10" fmla="*/ 114 w 212"/>
                <a:gd name="T11" fmla="*/ 224 h 251"/>
                <a:gd name="T12" fmla="*/ 97 w 212"/>
                <a:gd name="T13" fmla="*/ 232 h 251"/>
                <a:gd name="T14" fmla="*/ 80 w 212"/>
                <a:gd name="T15" fmla="*/ 239 h 251"/>
                <a:gd name="T16" fmla="*/ 61 w 212"/>
                <a:gd name="T17" fmla="*/ 245 h 251"/>
                <a:gd name="T18" fmla="*/ 42 w 212"/>
                <a:gd name="T19" fmla="*/ 251 h 251"/>
                <a:gd name="T20" fmla="*/ 0 w 212"/>
                <a:gd name="T21" fmla="*/ 218 h 251"/>
                <a:gd name="T22" fmla="*/ 2 w 212"/>
                <a:gd name="T23" fmla="*/ 215 h 251"/>
                <a:gd name="T24" fmla="*/ 9 w 212"/>
                <a:gd name="T25" fmla="*/ 214 h 251"/>
                <a:gd name="T26" fmla="*/ 18 w 212"/>
                <a:gd name="T27" fmla="*/ 214 h 251"/>
                <a:gd name="T28" fmla="*/ 35 w 212"/>
                <a:gd name="T29" fmla="*/ 210 h 251"/>
                <a:gd name="T30" fmla="*/ 51 w 212"/>
                <a:gd name="T31" fmla="*/ 204 h 251"/>
                <a:gd name="T32" fmla="*/ 68 w 212"/>
                <a:gd name="T33" fmla="*/ 198 h 251"/>
                <a:gd name="T34" fmla="*/ 85 w 212"/>
                <a:gd name="T35" fmla="*/ 188 h 251"/>
                <a:gd name="T36" fmla="*/ 102 w 212"/>
                <a:gd name="T37" fmla="*/ 178 h 251"/>
                <a:gd name="T38" fmla="*/ 109 w 212"/>
                <a:gd name="T39" fmla="*/ 170 h 251"/>
                <a:gd name="T40" fmla="*/ 117 w 212"/>
                <a:gd name="T41" fmla="*/ 163 h 251"/>
                <a:gd name="T42" fmla="*/ 125 w 212"/>
                <a:gd name="T43" fmla="*/ 155 h 251"/>
                <a:gd name="T44" fmla="*/ 128 w 212"/>
                <a:gd name="T45" fmla="*/ 150 h 251"/>
                <a:gd name="T46" fmla="*/ 133 w 212"/>
                <a:gd name="T47" fmla="*/ 146 h 251"/>
                <a:gd name="T48" fmla="*/ 145 w 212"/>
                <a:gd name="T49" fmla="*/ 127 h 251"/>
                <a:gd name="T50" fmla="*/ 150 w 212"/>
                <a:gd name="T51" fmla="*/ 118 h 251"/>
                <a:gd name="T52" fmla="*/ 155 w 212"/>
                <a:gd name="T53" fmla="*/ 109 h 251"/>
                <a:gd name="T54" fmla="*/ 162 w 212"/>
                <a:gd name="T55" fmla="*/ 89 h 251"/>
                <a:gd name="T56" fmla="*/ 167 w 212"/>
                <a:gd name="T57" fmla="*/ 71 h 251"/>
                <a:gd name="T58" fmla="*/ 169 w 212"/>
                <a:gd name="T59" fmla="*/ 52 h 251"/>
                <a:gd name="T60" fmla="*/ 171 w 212"/>
                <a:gd name="T61" fmla="*/ 35 h 251"/>
                <a:gd name="T62" fmla="*/ 170 w 212"/>
                <a:gd name="T63" fmla="*/ 18 h 251"/>
                <a:gd name="T64" fmla="*/ 168 w 212"/>
                <a:gd name="T65" fmla="*/ 4 h 251"/>
                <a:gd name="T66" fmla="*/ 170 w 212"/>
                <a:gd name="T67" fmla="*/ 0 h 251"/>
                <a:gd name="T68" fmla="*/ 212 w 212"/>
                <a:gd name="T69" fmla="*/ 32 h 251"/>
                <a:gd name="T70" fmla="*/ 212 w 212"/>
                <a:gd name="T71" fmla="*/ 52 h 251"/>
                <a:gd name="T72" fmla="*/ 211 w 212"/>
                <a:gd name="T73" fmla="*/ 61 h 251"/>
                <a:gd name="T74" fmla="*/ 211 w 212"/>
                <a:gd name="T75" fmla="*/ 72 h 251"/>
                <a:gd name="T76" fmla="*/ 209 w 212"/>
                <a:gd name="T77" fmla="*/ 80 h 251"/>
                <a:gd name="T78" fmla="*/ 207 w 212"/>
                <a:gd name="T79" fmla="*/ 90 h 251"/>
                <a:gd name="T80" fmla="*/ 204 w 212"/>
                <a:gd name="T81" fmla="*/ 109 h 251"/>
                <a:gd name="T82" fmla="*/ 197 w 212"/>
                <a:gd name="T83" fmla="*/ 125 h 251"/>
                <a:gd name="T84" fmla="*/ 189 w 212"/>
                <a:gd name="T85" fmla="*/ 142 h 251"/>
                <a:gd name="T86" fmla="*/ 180 w 212"/>
                <a:gd name="T87" fmla="*/ 157 h 251"/>
                <a:gd name="T88" fmla="*/ 169 w 212"/>
                <a:gd name="T89" fmla="*/ 174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12" h="251">
                  <a:moveTo>
                    <a:pt x="169" y="174"/>
                  </a:moveTo>
                  <a:lnTo>
                    <a:pt x="156" y="188"/>
                  </a:lnTo>
                  <a:lnTo>
                    <a:pt x="149" y="194"/>
                  </a:lnTo>
                  <a:lnTo>
                    <a:pt x="143" y="202"/>
                  </a:lnTo>
                  <a:lnTo>
                    <a:pt x="128" y="214"/>
                  </a:lnTo>
                  <a:lnTo>
                    <a:pt x="114" y="224"/>
                  </a:lnTo>
                  <a:lnTo>
                    <a:pt x="97" y="232"/>
                  </a:lnTo>
                  <a:lnTo>
                    <a:pt x="80" y="239"/>
                  </a:lnTo>
                  <a:lnTo>
                    <a:pt x="61" y="245"/>
                  </a:lnTo>
                  <a:lnTo>
                    <a:pt x="42" y="251"/>
                  </a:lnTo>
                  <a:lnTo>
                    <a:pt x="0" y="218"/>
                  </a:lnTo>
                  <a:lnTo>
                    <a:pt x="2" y="215"/>
                  </a:lnTo>
                  <a:lnTo>
                    <a:pt x="9" y="214"/>
                  </a:lnTo>
                  <a:lnTo>
                    <a:pt x="18" y="214"/>
                  </a:lnTo>
                  <a:lnTo>
                    <a:pt x="35" y="210"/>
                  </a:lnTo>
                  <a:lnTo>
                    <a:pt x="51" y="204"/>
                  </a:lnTo>
                  <a:lnTo>
                    <a:pt x="68" y="198"/>
                  </a:lnTo>
                  <a:lnTo>
                    <a:pt x="85" y="188"/>
                  </a:lnTo>
                  <a:lnTo>
                    <a:pt x="102" y="178"/>
                  </a:lnTo>
                  <a:lnTo>
                    <a:pt x="109" y="170"/>
                  </a:lnTo>
                  <a:lnTo>
                    <a:pt x="117" y="163"/>
                  </a:lnTo>
                  <a:lnTo>
                    <a:pt x="125" y="155"/>
                  </a:lnTo>
                  <a:lnTo>
                    <a:pt x="128" y="150"/>
                  </a:lnTo>
                  <a:lnTo>
                    <a:pt x="133" y="146"/>
                  </a:lnTo>
                  <a:lnTo>
                    <a:pt x="145" y="127"/>
                  </a:lnTo>
                  <a:lnTo>
                    <a:pt x="150" y="118"/>
                  </a:lnTo>
                  <a:lnTo>
                    <a:pt x="155" y="109"/>
                  </a:lnTo>
                  <a:lnTo>
                    <a:pt x="162" y="89"/>
                  </a:lnTo>
                  <a:lnTo>
                    <a:pt x="167" y="71"/>
                  </a:lnTo>
                  <a:lnTo>
                    <a:pt x="169" y="52"/>
                  </a:lnTo>
                  <a:lnTo>
                    <a:pt x="171" y="35"/>
                  </a:lnTo>
                  <a:lnTo>
                    <a:pt x="170" y="18"/>
                  </a:lnTo>
                  <a:lnTo>
                    <a:pt x="168" y="4"/>
                  </a:lnTo>
                  <a:lnTo>
                    <a:pt x="170" y="0"/>
                  </a:lnTo>
                  <a:lnTo>
                    <a:pt x="212" y="32"/>
                  </a:lnTo>
                  <a:lnTo>
                    <a:pt x="212" y="52"/>
                  </a:lnTo>
                  <a:lnTo>
                    <a:pt x="211" y="61"/>
                  </a:lnTo>
                  <a:lnTo>
                    <a:pt x="211" y="72"/>
                  </a:lnTo>
                  <a:lnTo>
                    <a:pt x="209" y="80"/>
                  </a:lnTo>
                  <a:lnTo>
                    <a:pt x="207" y="90"/>
                  </a:lnTo>
                  <a:lnTo>
                    <a:pt x="204" y="109"/>
                  </a:lnTo>
                  <a:lnTo>
                    <a:pt x="197" y="125"/>
                  </a:lnTo>
                  <a:lnTo>
                    <a:pt x="189" y="142"/>
                  </a:lnTo>
                  <a:lnTo>
                    <a:pt x="180" y="157"/>
                  </a:lnTo>
                  <a:lnTo>
                    <a:pt x="169" y="1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pic>
        <p:nvPicPr>
          <p:cNvPr id="103623" name="Picture 199">
            <a:extLst>
              <a:ext uri="{FF2B5EF4-FFF2-40B4-BE49-F238E27FC236}">
                <a16:creationId xmlns:a16="http://schemas.microsoft.com/office/drawing/2014/main" id="{6A8172EC-1542-8BDD-D84A-777559231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1300" y="1676400"/>
            <a:ext cx="1076325" cy="1828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3625"/>
                                        </p:tgtEl>
                                        <p:attrNameLst>
                                          <p:attrName>style.visibility</p:attrName>
                                        </p:attrNameLst>
                                      </p:cBhvr>
                                      <p:to>
                                        <p:strVal val="visible"/>
                                      </p:to>
                                    </p:set>
                                    <p:animEffect transition="in" filter="fade">
                                      <p:cBhvr>
                                        <p:cTn id="7" dur="2000"/>
                                        <p:tgtEl>
                                          <p:spTgt spid="1036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3551"/>
                                        </p:tgtEl>
                                        <p:attrNameLst>
                                          <p:attrName>style.visibility</p:attrName>
                                        </p:attrNameLst>
                                      </p:cBhvr>
                                      <p:to>
                                        <p:strVal val="visible"/>
                                      </p:to>
                                    </p:set>
                                    <p:animEffect transition="in" filter="fade">
                                      <p:cBhvr>
                                        <p:cTn id="10" dur="2000"/>
                                        <p:tgtEl>
                                          <p:spTgt spid="10355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3557"/>
                                        </p:tgtEl>
                                        <p:attrNameLst>
                                          <p:attrName>style.visibility</p:attrName>
                                        </p:attrNameLst>
                                      </p:cBhvr>
                                      <p:to>
                                        <p:strVal val="visible"/>
                                      </p:to>
                                    </p:set>
                                    <p:animEffect transition="in" filter="fade">
                                      <p:cBhvr>
                                        <p:cTn id="13" dur="2000"/>
                                        <p:tgtEl>
                                          <p:spTgt spid="10355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3555"/>
                                        </p:tgtEl>
                                        <p:attrNameLst>
                                          <p:attrName>style.visibility</p:attrName>
                                        </p:attrNameLst>
                                      </p:cBhvr>
                                      <p:to>
                                        <p:strVal val="visible"/>
                                      </p:to>
                                    </p:set>
                                    <p:animEffect transition="in" filter="fade">
                                      <p:cBhvr>
                                        <p:cTn id="18" dur="2000"/>
                                        <p:tgtEl>
                                          <p:spTgt spid="10355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3566"/>
                                        </p:tgtEl>
                                        <p:attrNameLst>
                                          <p:attrName>style.visibility</p:attrName>
                                        </p:attrNameLst>
                                      </p:cBhvr>
                                      <p:to>
                                        <p:strVal val="visible"/>
                                      </p:to>
                                    </p:set>
                                    <p:animEffect transition="in" filter="fade">
                                      <p:cBhvr>
                                        <p:cTn id="23" dur="2000"/>
                                        <p:tgtEl>
                                          <p:spTgt spid="103566"/>
                                        </p:tgtEl>
                                      </p:cBhvr>
                                    </p:animEffect>
                                  </p:childTnLst>
                                </p:cTn>
                              </p:par>
                              <p:par>
                                <p:cTn id="24" presetID="10" presetClass="entr" presetSubtype="0" fill="hold" nodeType="withEffect">
                                  <p:stCondLst>
                                    <p:cond delay="0"/>
                                  </p:stCondLst>
                                  <p:childTnLst>
                                    <p:set>
                                      <p:cBhvr>
                                        <p:cTn id="25" dur="1" fill="hold">
                                          <p:stCondLst>
                                            <p:cond delay="0"/>
                                          </p:stCondLst>
                                        </p:cTn>
                                        <p:tgtEl>
                                          <p:spTgt spid="103631"/>
                                        </p:tgtEl>
                                        <p:attrNameLst>
                                          <p:attrName>style.visibility</p:attrName>
                                        </p:attrNameLst>
                                      </p:cBhvr>
                                      <p:to>
                                        <p:strVal val="visible"/>
                                      </p:to>
                                    </p:set>
                                    <p:animEffect transition="in" filter="fade">
                                      <p:cBhvr>
                                        <p:cTn id="26" dur="2000"/>
                                        <p:tgtEl>
                                          <p:spTgt spid="10363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3561"/>
                                        </p:tgtEl>
                                        <p:attrNameLst>
                                          <p:attrName>style.visibility</p:attrName>
                                        </p:attrNameLst>
                                      </p:cBhvr>
                                      <p:to>
                                        <p:strVal val="visible"/>
                                      </p:to>
                                    </p:set>
                                    <p:animEffect transition="in" filter="fade">
                                      <p:cBhvr>
                                        <p:cTn id="29" dur="2000"/>
                                        <p:tgtEl>
                                          <p:spTgt spid="10356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nodeType="clickEffect">
                                  <p:stCondLst>
                                    <p:cond delay="0"/>
                                  </p:stCondLst>
                                  <p:childTnLst>
                                    <p:set>
                                      <p:cBhvr>
                                        <p:cTn id="33" dur="1" fill="hold">
                                          <p:stCondLst>
                                            <p:cond delay="0"/>
                                          </p:stCondLst>
                                        </p:cTn>
                                        <p:tgtEl>
                                          <p:spTgt spid="103632"/>
                                        </p:tgtEl>
                                        <p:attrNameLst>
                                          <p:attrName>style.visibility</p:attrName>
                                        </p:attrNameLst>
                                      </p:cBhvr>
                                      <p:to>
                                        <p:strVal val="visible"/>
                                      </p:to>
                                    </p:set>
                                    <p:animEffect transition="in" filter="fade">
                                      <p:cBhvr>
                                        <p:cTn id="34" dur="2000"/>
                                        <p:tgtEl>
                                          <p:spTgt spid="103632"/>
                                        </p:tgtEl>
                                      </p:cBhvr>
                                    </p:animEffect>
                                  </p:childTnLst>
                                </p:cTn>
                              </p:par>
                              <p:par>
                                <p:cTn id="35" presetID="10" presetClass="entr" presetSubtype="0" fill="hold" nodeType="withEffect">
                                  <p:stCondLst>
                                    <p:cond delay="0"/>
                                  </p:stCondLst>
                                  <p:childTnLst>
                                    <p:set>
                                      <p:cBhvr>
                                        <p:cTn id="36" dur="1" fill="hold">
                                          <p:stCondLst>
                                            <p:cond delay="0"/>
                                          </p:stCondLst>
                                        </p:cTn>
                                        <p:tgtEl>
                                          <p:spTgt spid="103629"/>
                                        </p:tgtEl>
                                        <p:attrNameLst>
                                          <p:attrName>style.visibility</p:attrName>
                                        </p:attrNameLst>
                                      </p:cBhvr>
                                      <p:to>
                                        <p:strVal val="visible"/>
                                      </p:to>
                                    </p:set>
                                    <p:animEffect transition="in" filter="fade">
                                      <p:cBhvr>
                                        <p:cTn id="37" dur="2000"/>
                                        <p:tgtEl>
                                          <p:spTgt spid="10362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103637"/>
                                        </p:tgtEl>
                                        <p:attrNameLst>
                                          <p:attrName>style.visibility</p:attrName>
                                        </p:attrNameLst>
                                      </p:cBhvr>
                                      <p:to>
                                        <p:strVal val="visible"/>
                                      </p:to>
                                    </p:set>
                                    <p:animEffect transition="in" filter="fade">
                                      <p:cBhvr>
                                        <p:cTn id="42" dur="2000"/>
                                        <p:tgtEl>
                                          <p:spTgt spid="10363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103633"/>
                                        </p:tgtEl>
                                        <p:attrNameLst>
                                          <p:attrName>style.visibility</p:attrName>
                                        </p:attrNameLst>
                                      </p:cBhvr>
                                      <p:to>
                                        <p:strVal val="visible"/>
                                      </p:to>
                                    </p:set>
                                    <p:animEffect transition="in" filter="fade">
                                      <p:cBhvr>
                                        <p:cTn id="47" dur="2000"/>
                                        <p:tgtEl>
                                          <p:spTgt spid="103633"/>
                                        </p:tgtEl>
                                      </p:cBhvr>
                                    </p:animEffect>
                                  </p:childTnLst>
                                </p:cTn>
                              </p:par>
                              <p:par>
                                <p:cTn id="48" presetID="10" presetClass="entr" presetSubtype="0" fill="hold" nodeType="withEffect">
                                  <p:stCondLst>
                                    <p:cond delay="0"/>
                                  </p:stCondLst>
                                  <p:childTnLst>
                                    <p:set>
                                      <p:cBhvr>
                                        <p:cTn id="49" dur="1" fill="hold">
                                          <p:stCondLst>
                                            <p:cond delay="0"/>
                                          </p:stCondLst>
                                        </p:cTn>
                                        <p:tgtEl>
                                          <p:spTgt spid="103630"/>
                                        </p:tgtEl>
                                        <p:attrNameLst>
                                          <p:attrName>style.visibility</p:attrName>
                                        </p:attrNameLst>
                                      </p:cBhvr>
                                      <p:to>
                                        <p:strVal val="visible"/>
                                      </p:to>
                                    </p:set>
                                    <p:animEffect transition="in" filter="fade">
                                      <p:cBhvr>
                                        <p:cTn id="50" dur="2000"/>
                                        <p:tgtEl>
                                          <p:spTgt spid="103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51" grpId="0"/>
      <p:bldP spid="103555" grpId="0"/>
      <p:bldP spid="103557" grpId="0"/>
      <p:bldP spid="103561" grpId="0"/>
      <p:bldP spid="10356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B891798E-0F9E-9F05-A5B8-2562595AD648}"/>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08BF6A2F-0DA9-4CCA-151D-0A7EBDB7F803}"/>
              </a:ext>
            </a:extLst>
          </p:cNvPr>
          <p:cNvSpPr>
            <a:spLocks noGrp="1"/>
          </p:cNvSpPr>
          <p:nvPr>
            <p:ph type="sldNum" sz="quarter" idx="11"/>
          </p:nvPr>
        </p:nvSpPr>
        <p:spPr/>
        <p:txBody>
          <a:bodyPr/>
          <a:lstStyle/>
          <a:p>
            <a:r>
              <a:rPr lang="zh-CN" altLang="en-US"/>
              <a:t> </a:t>
            </a:r>
            <a:r>
              <a:rPr lang="en-US" altLang="zh-CN"/>
              <a:t>- </a:t>
            </a:r>
            <a:fld id="{165B607B-9D2A-4BA9-BE04-D351AB1096D7}" type="slidenum">
              <a:rPr lang="en-US" altLang="zh-CN" sz="800"/>
              <a:pPr/>
              <a:t>38</a:t>
            </a:fld>
            <a:endParaRPr lang="en-US" altLang="zh-CN" sz="800"/>
          </a:p>
        </p:txBody>
      </p:sp>
      <p:sp>
        <p:nvSpPr>
          <p:cNvPr id="105474" name="Rectangle 2">
            <a:extLst>
              <a:ext uri="{FF2B5EF4-FFF2-40B4-BE49-F238E27FC236}">
                <a16:creationId xmlns:a16="http://schemas.microsoft.com/office/drawing/2014/main" id="{85F2540D-546A-66F9-E488-DCD930592257}"/>
              </a:ext>
            </a:extLst>
          </p:cNvPr>
          <p:cNvSpPr>
            <a:spLocks noGrp="1" noChangeArrowheads="1"/>
          </p:cNvSpPr>
          <p:nvPr>
            <p:ph type="title"/>
          </p:nvPr>
        </p:nvSpPr>
        <p:spPr/>
        <p:txBody>
          <a:bodyPr/>
          <a:lstStyle/>
          <a:p>
            <a:r>
              <a:rPr lang="en-US" altLang="zh-CN">
                <a:ea typeface="宋体" panose="02010600030101010101" pitchFamily="2" charset="-122"/>
              </a:rPr>
              <a:t>Network Layer Firewalls</a:t>
            </a:r>
          </a:p>
        </p:txBody>
      </p:sp>
      <p:sp>
        <p:nvSpPr>
          <p:cNvPr id="105475" name="Rectangle 3">
            <a:extLst>
              <a:ext uri="{FF2B5EF4-FFF2-40B4-BE49-F238E27FC236}">
                <a16:creationId xmlns:a16="http://schemas.microsoft.com/office/drawing/2014/main" id="{E3EB1482-D4DF-DF9B-7360-68C71F6DEB99}"/>
              </a:ext>
            </a:extLst>
          </p:cNvPr>
          <p:cNvSpPr>
            <a:spLocks noGrp="1" noChangeArrowheads="1"/>
          </p:cNvSpPr>
          <p:nvPr>
            <p:ph type="body" idx="1"/>
          </p:nvPr>
        </p:nvSpPr>
        <p:spPr/>
        <p:txBody>
          <a:bodyPr/>
          <a:lstStyle/>
          <a:p>
            <a:r>
              <a:rPr lang="en-US" altLang="zh-CN">
                <a:ea typeface="宋体" panose="02010600030101010101" pitchFamily="2" charset="-122"/>
              </a:rPr>
              <a:t>Implemented in NAS environments </a:t>
            </a:r>
          </a:p>
          <a:p>
            <a:pPr lvl="1"/>
            <a:r>
              <a:rPr lang="en-US" altLang="zh-CN">
                <a:ea typeface="宋体" panose="02010600030101010101" pitchFamily="2" charset="-122"/>
              </a:rPr>
              <a:t>To protect against IP security threats</a:t>
            </a:r>
          </a:p>
          <a:p>
            <a:r>
              <a:rPr lang="en-US" altLang="zh-CN">
                <a:ea typeface="宋体" panose="02010600030101010101" pitchFamily="2" charset="-122"/>
              </a:rPr>
              <a:t>Make decisions on traffic filtering </a:t>
            </a:r>
          </a:p>
          <a:p>
            <a:pPr lvl="1"/>
            <a:r>
              <a:rPr lang="en-US" altLang="zh-CN">
                <a:ea typeface="宋体" panose="02010600030101010101" pitchFamily="2" charset="-122"/>
              </a:rPr>
              <a:t>Comparing them to a set of configured security rules </a:t>
            </a:r>
          </a:p>
          <a:p>
            <a:pPr lvl="2"/>
            <a:r>
              <a:rPr lang="en-US" altLang="zh-CN">
                <a:ea typeface="宋体" panose="02010600030101010101" pitchFamily="2" charset="-122"/>
              </a:rPr>
              <a:t>Source address</a:t>
            </a:r>
          </a:p>
          <a:p>
            <a:pPr lvl="2"/>
            <a:r>
              <a:rPr lang="en-US" altLang="zh-CN">
                <a:ea typeface="宋体" panose="02010600030101010101" pitchFamily="2" charset="-122"/>
              </a:rPr>
              <a:t>Destination address</a:t>
            </a:r>
          </a:p>
          <a:p>
            <a:pPr lvl="2"/>
            <a:r>
              <a:rPr lang="en-US" altLang="zh-CN">
                <a:ea typeface="宋体" panose="02010600030101010101" pitchFamily="2" charset="-122"/>
              </a:rPr>
              <a:t>Ports used</a:t>
            </a:r>
          </a:p>
          <a:p>
            <a:pPr lvl="1"/>
            <a:r>
              <a:rPr lang="en-US" altLang="zh-CN">
                <a:ea typeface="宋体" panose="02010600030101010101" pitchFamily="2" charset="-122"/>
              </a:rPr>
              <a:t>DMZ is common firewall implementation</a:t>
            </a:r>
          </a:p>
        </p:txBody>
      </p:sp>
      <p:grpSp>
        <p:nvGrpSpPr>
          <p:cNvPr id="105801" name="Group 329">
            <a:extLst>
              <a:ext uri="{FF2B5EF4-FFF2-40B4-BE49-F238E27FC236}">
                <a16:creationId xmlns:a16="http://schemas.microsoft.com/office/drawing/2014/main" id="{FF4BFA2E-7A3B-EBC6-D93A-8BA36EBCEB97}"/>
              </a:ext>
            </a:extLst>
          </p:cNvPr>
          <p:cNvGrpSpPr>
            <a:grpSpLocks/>
          </p:cNvGrpSpPr>
          <p:nvPr/>
        </p:nvGrpSpPr>
        <p:grpSpPr bwMode="auto">
          <a:xfrm>
            <a:off x="190500" y="4724400"/>
            <a:ext cx="8724900" cy="1682750"/>
            <a:chOff x="108" y="3116"/>
            <a:chExt cx="5496" cy="1060"/>
          </a:xfrm>
        </p:grpSpPr>
        <p:sp>
          <p:nvSpPr>
            <p:cNvPr id="105795" name="Freeform 323">
              <a:extLst>
                <a:ext uri="{FF2B5EF4-FFF2-40B4-BE49-F238E27FC236}">
                  <a16:creationId xmlns:a16="http://schemas.microsoft.com/office/drawing/2014/main" id="{09D949E2-73D3-908C-2985-F129D93FA582}"/>
                </a:ext>
              </a:extLst>
            </p:cNvPr>
            <p:cNvSpPr>
              <a:spLocks/>
            </p:cNvSpPr>
            <p:nvPr/>
          </p:nvSpPr>
          <p:spPr bwMode="auto">
            <a:xfrm>
              <a:off x="4176" y="3116"/>
              <a:ext cx="1428" cy="916"/>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96" name="Rectangle 324">
              <a:extLst>
                <a:ext uri="{FF2B5EF4-FFF2-40B4-BE49-F238E27FC236}">
                  <a16:creationId xmlns:a16="http://schemas.microsoft.com/office/drawing/2014/main" id="{00693817-FECA-00D5-41BE-A960ED7B8ECE}"/>
                </a:ext>
              </a:extLst>
            </p:cNvPr>
            <p:cNvSpPr>
              <a:spLocks noChangeArrowheads="1"/>
            </p:cNvSpPr>
            <p:nvPr/>
          </p:nvSpPr>
          <p:spPr bwMode="auto">
            <a:xfrm>
              <a:off x="4464" y="3802"/>
              <a:ext cx="89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400">
                  <a:solidFill>
                    <a:schemeClr val="bg1"/>
                  </a:solidFill>
                  <a:latin typeface="Verdana" panose="020B0604030504040204" pitchFamily="34" charset="0"/>
                  <a:ea typeface="宋体" panose="02010600030101010101" pitchFamily="2" charset="-122"/>
                </a:rPr>
                <a:t>Private Network</a:t>
              </a:r>
              <a:endParaRPr lang="en-US" altLang="zh-CN" sz="2000">
                <a:solidFill>
                  <a:schemeClr val="bg1"/>
                </a:solidFill>
                <a:ea typeface="宋体" panose="02010600030101010101" pitchFamily="2" charset="-122"/>
              </a:endParaRPr>
            </a:p>
          </p:txBody>
        </p:sp>
        <p:sp>
          <p:nvSpPr>
            <p:cNvPr id="105793" name="Freeform 321">
              <a:extLst>
                <a:ext uri="{FF2B5EF4-FFF2-40B4-BE49-F238E27FC236}">
                  <a16:creationId xmlns:a16="http://schemas.microsoft.com/office/drawing/2014/main" id="{C152C3E1-CF6E-0853-DFD6-BC0CAA8A00CB}"/>
                </a:ext>
              </a:extLst>
            </p:cNvPr>
            <p:cNvSpPr>
              <a:spLocks/>
            </p:cNvSpPr>
            <p:nvPr/>
          </p:nvSpPr>
          <p:spPr bwMode="auto">
            <a:xfrm>
              <a:off x="108" y="3253"/>
              <a:ext cx="1140" cy="731"/>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94" name="Rectangle 322">
              <a:extLst>
                <a:ext uri="{FF2B5EF4-FFF2-40B4-BE49-F238E27FC236}">
                  <a16:creationId xmlns:a16="http://schemas.microsoft.com/office/drawing/2014/main" id="{C7969790-BE14-B432-66D5-A97080A5777C}"/>
                </a:ext>
              </a:extLst>
            </p:cNvPr>
            <p:cNvSpPr>
              <a:spLocks noChangeArrowheads="1"/>
            </p:cNvSpPr>
            <p:nvPr/>
          </p:nvSpPr>
          <p:spPr bwMode="auto">
            <a:xfrm>
              <a:off x="202" y="3552"/>
              <a:ext cx="9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spcBef>
                  <a:spcPct val="0"/>
                </a:spcBef>
                <a:buClrTx/>
                <a:buFontTx/>
                <a:buNone/>
              </a:pPr>
              <a:r>
                <a:rPr lang="en-US" altLang="zh-CN" sz="1400">
                  <a:solidFill>
                    <a:schemeClr val="bg1"/>
                  </a:solidFill>
                  <a:latin typeface="Verdana" panose="020B0604030504040204" pitchFamily="34" charset="0"/>
                  <a:ea typeface="宋体" panose="02010600030101010101" pitchFamily="2" charset="-122"/>
                </a:rPr>
                <a:t>External Network</a:t>
              </a:r>
              <a:endParaRPr lang="en-US" altLang="zh-CN" sz="2000">
                <a:solidFill>
                  <a:schemeClr val="bg1"/>
                </a:solidFill>
                <a:ea typeface="宋体" panose="02010600030101010101" pitchFamily="2" charset="-122"/>
              </a:endParaRPr>
            </a:p>
          </p:txBody>
        </p:sp>
        <p:pic>
          <p:nvPicPr>
            <p:cNvPr id="105481" name="Picture 9">
              <a:extLst>
                <a:ext uri="{FF2B5EF4-FFF2-40B4-BE49-F238E27FC236}">
                  <a16:creationId xmlns:a16="http://schemas.microsoft.com/office/drawing/2014/main" id="{B0C3C0F0-72C3-034A-FAE3-EBFC0ACF4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4" y="3210"/>
              <a:ext cx="480" cy="630"/>
            </a:xfrm>
            <a:prstGeom prst="rect">
              <a:avLst/>
            </a:prstGeom>
            <a:noFill/>
            <a:extLst>
              <a:ext uri="{909E8E84-426E-40DD-AFC4-6F175D3DCCD1}">
                <a14:hiddenFill xmlns:a14="http://schemas.microsoft.com/office/drawing/2010/main">
                  <a:solidFill>
                    <a:srgbClr val="FFFFFF"/>
                  </a:solidFill>
                </a14:hiddenFill>
              </a:ext>
            </a:extLst>
          </p:spPr>
        </p:pic>
        <p:pic>
          <p:nvPicPr>
            <p:cNvPr id="105482" name="Picture 10">
              <a:extLst>
                <a:ext uri="{FF2B5EF4-FFF2-40B4-BE49-F238E27FC236}">
                  <a16:creationId xmlns:a16="http://schemas.microsoft.com/office/drawing/2014/main" id="{AA3FD0D2-DE71-77EF-0CB1-B425B0EA62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4" y="3360"/>
              <a:ext cx="265" cy="450"/>
            </a:xfrm>
            <a:prstGeom prst="rect">
              <a:avLst/>
            </a:prstGeom>
            <a:noFill/>
            <a:extLst>
              <a:ext uri="{909E8E84-426E-40DD-AFC4-6F175D3DCCD1}">
                <a14:hiddenFill xmlns:a14="http://schemas.microsoft.com/office/drawing/2010/main">
                  <a:solidFill>
                    <a:srgbClr val="FFFFFF"/>
                  </a:solidFill>
                </a14:hiddenFill>
              </a:ext>
            </a:extLst>
          </p:spPr>
        </p:pic>
        <p:sp>
          <p:nvSpPr>
            <p:cNvPr id="105583" name="AutoShape 111">
              <a:extLst>
                <a:ext uri="{FF2B5EF4-FFF2-40B4-BE49-F238E27FC236}">
                  <a16:creationId xmlns:a16="http://schemas.microsoft.com/office/drawing/2014/main" id="{7822210F-5B37-AF27-1EE3-8D7087B98B0B}"/>
                </a:ext>
              </a:extLst>
            </p:cNvPr>
            <p:cNvSpPr>
              <a:spLocks noChangeArrowheads="1"/>
            </p:cNvSpPr>
            <p:nvPr/>
          </p:nvSpPr>
          <p:spPr bwMode="auto">
            <a:xfrm>
              <a:off x="2160" y="3504"/>
              <a:ext cx="336" cy="192"/>
            </a:xfrm>
            <a:prstGeom prst="leftRightArrow">
              <a:avLst>
                <a:gd name="adj1" fmla="val 50000"/>
                <a:gd name="adj2" fmla="val 35000"/>
              </a:avLst>
            </a:prstGeom>
            <a:solidFill>
              <a:schemeClr val="accent1"/>
            </a:solidFill>
            <a:ln w="25400" algn="ctr">
              <a:solidFill>
                <a:srgbClr val="FF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nvGrpSpPr>
            <p:cNvPr id="105584" name="Group 112">
              <a:extLst>
                <a:ext uri="{FF2B5EF4-FFF2-40B4-BE49-F238E27FC236}">
                  <a16:creationId xmlns:a16="http://schemas.microsoft.com/office/drawing/2014/main" id="{11C35E13-8BBC-6595-3D58-A32BFA2086A7}"/>
                </a:ext>
              </a:extLst>
            </p:cNvPr>
            <p:cNvGrpSpPr>
              <a:grpSpLocks/>
            </p:cNvGrpSpPr>
            <p:nvPr/>
          </p:nvGrpSpPr>
          <p:grpSpPr bwMode="auto">
            <a:xfrm>
              <a:off x="3264" y="3360"/>
              <a:ext cx="496" cy="498"/>
              <a:chOff x="1920" y="1584"/>
              <a:chExt cx="1842" cy="1272"/>
            </a:xfrm>
          </p:grpSpPr>
          <p:sp>
            <p:nvSpPr>
              <p:cNvPr id="105585" name="Freeform 113">
                <a:extLst>
                  <a:ext uri="{FF2B5EF4-FFF2-40B4-BE49-F238E27FC236}">
                    <a16:creationId xmlns:a16="http://schemas.microsoft.com/office/drawing/2014/main" id="{D47C5F3B-4D8E-D07D-BAC8-502ABC2C7316}"/>
                  </a:ext>
                </a:extLst>
              </p:cNvPr>
              <p:cNvSpPr>
                <a:spLocks/>
              </p:cNvSpPr>
              <p:nvPr/>
            </p:nvSpPr>
            <p:spPr bwMode="auto">
              <a:xfrm>
                <a:off x="3437" y="1603"/>
                <a:ext cx="80" cy="168"/>
              </a:xfrm>
              <a:custGeom>
                <a:avLst/>
                <a:gdLst>
                  <a:gd name="T0" fmla="*/ 63 w 63"/>
                  <a:gd name="T1" fmla="*/ 162 h 188"/>
                  <a:gd name="T2" fmla="*/ 63 w 63"/>
                  <a:gd name="T3" fmla="*/ 0 h 188"/>
                  <a:gd name="T4" fmla="*/ 0 w 63"/>
                  <a:gd name="T5" fmla="*/ 22 h 188"/>
                  <a:gd name="T6" fmla="*/ 0 w 63"/>
                  <a:gd name="T7" fmla="*/ 188 h 188"/>
                  <a:gd name="T8" fmla="*/ 63 w 63"/>
                  <a:gd name="T9" fmla="*/ 162 h 188"/>
                </a:gdLst>
                <a:ahLst/>
                <a:cxnLst>
                  <a:cxn ang="0">
                    <a:pos x="T0" y="T1"/>
                  </a:cxn>
                  <a:cxn ang="0">
                    <a:pos x="T2" y="T3"/>
                  </a:cxn>
                  <a:cxn ang="0">
                    <a:pos x="T4" y="T5"/>
                  </a:cxn>
                  <a:cxn ang="0">
                    <a:pos x="T6" y="T7"/>
                  </a:cxn>
                  <a:cxn ang="0">
                    <a:pos x="T8" y="T9"/>
                  </a:cxn>
                </a:cxnLst>
                <a:rect l="0" t="0" r="r" b="b"/>
                <a:pathLst>
                  <a:path w="63" h="188">
                    <a:moveTo>
                      <a:pt x="63" y="162"/>
                    </a:moveTo>
                    <a:lnTo>
                      <a:pt x="63" y="0"/>
                    </a:lnTo>
                    <a:lnTo>
                      <a:pt x="0" y="22"/>
                    </a:lnTo>
                    <a:lnTo>
                      <a:pt x="0" y="188"/>
                    </a:lnTo>
                    <a:lnTo>
                      <a:pt x="63" y="162"/>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86" name="Freeform 114">
                <a:extLst>
                  <a:ext uri="{FF2B5EF4-FFF2-40B4-BE49-F238E27FC236}">
                    <a16:creationId xmlns:a16="http://schemas.microsoft.com/office/drawing/2014/main" id="{4DAEA638-F6CE-3041-E62C-390106CCDB13}"/>
                  </a:ext>
                </a:extLst>
              </p:cNvPr>
              <p:cNvSpPr>
                <a:spLocks/>
              </p:cNvSpPr>
              <p:nvPr/>
            </p:nvSpPr>
            <p:spPr bwMode="auto">
              <a:xfrm>
                <a:off x="2120" y="1584"/>
                <a:ext cx="1397" cy="323"/>
              </a:xfrm>
              <a:custGeom>
                <a:avLst/>
                <a:gdLst>
                  <a:gd name="T0" fmla="*/ 1046 w 1109"/>
                  <a:gd name="T1" fmla="*/ 42 h 356"/>
                  <a:gd name="T2" fmla="*/ 1109 w 1109"/>
                  <a:gd name="T3" fmla="*/ 20 h 356"/>
                  <a:gd name="T4" fmla="*/ 1005 w 1109"/>
                  <a:gd name="T5" fmla="*/ 0 h 356"/>
                  <a:gd name="T6" fmla="*/ 0 w 1109"/>
                  <a:gd name="T7" fmla="*/ 320 h 356"/>
                  <a:gd name="T8" fmla="*/ 105 w 1109"/>
                  <a:gd name="T9" fmla="*/ 356 h 356"/>
                  <a:gd name="T10" fmla="*/ 403 w 1109"/>
                  <a:gd name="T11" fmla="*/ 257 h 356"/>
                  <a:gd name="T12" fmla="*/ 404 w 1109"/>
                  <a:gd name="T13" fmla="*/ 257 h 356"/>
                  <a:gd name="T14" fmla="*/ 760 w 1109"/>
                  <a:gd name="T15" fmla="*/ 137 h 356"/>
                  <a:gd name="T16" fmla="*/ 1046 w 1109"/>
                  <a:gd name="T17" fmla="*/ 4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9" h="356">
                    <a:moveTo>
                      <a:pt x="1046" y="42"/>
                    </a:moveTo>
                    <a:lnTo>
                      <a:pt x="1109" y="20"/>
                    </a:lnTo>
                    <a:lnTo>
                      <a:pt x="1005" y="0"/>
                    </a:lnTo>
                    <a:lnTo>
                      <a:pt x="0" y="320"/>
                    </a:lnTo>
                    <a:lnTo>
                      <a:pt x="105" y="356"/>
                    </a:lnTo>
                    <a:lnTo>
                      <a:pt x="403" y="257"/>
                    </a:lnTo>
                    <a:lnTo>
                      <a:pt x="404" y="257"/>
                    </a:lnTo>
                    <a:lnTo>
                      <a:pt x="760" y="137"/>
                    </a:lnTo>
                    <a:lnTo>
                      <a:pt x="1046" y="42"/>
                    </a:lnTo>
                    <a:close/>
                  </a:path>
                </a:pathLst>
              </a:custGeom>
              <a:solidFill>
                <a:srgbClr val="FED7A4"/>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87" name="Freeform 115">
                <a:extLst>
                  <a:ext uri="{FF2B5EF4-FFF2-40B4-BE49-F238E27FC236}">
                    <a16:creationId xmlns:a16="http://schemas.microsoft.com/office/drawing/2014/main" id="{3934BC11-F830-CE30-EE62-CC80DA32081C}"/>
                  </a:ext>
                </a:extLst>
              </p:cNvPr>
              <p:cNvSpPr>
                <a:spLocks/>
              </p:cNvSpPr>
              <p:nvPr/>
            </p:nvSpPr>
            <p:spPr bwMode="auto">
              <a:xfrm>
                <a:off x="2886" y="1817"/>
                <a:ext cx="393" cy="304"/>
              </a:xfrm>
              <a:custGeom>
                <a:avLst/>
                <a:gdLst>
                  <a:gd name="T0" fmla="*/ 314 w 314"/>
                  <a:gd name="T1" fmla="*/ 199 h 336"/>
                  <a:gd name="T2" fmla="*/ 314 w 314"/>
                  <a:gd name="T3" fmla="*/ 0 h 336"/>
                  <a:gd name="T4" fmla="*/ 153 w 314"/>
                  <a:gd name="T5" fmla="*/ 62 h 336"/>
                  <a:gd name="T6" fmla="*/ 2 w 314"/>
                  <a:gd name="T7" fmla="*/ 121 h 336"/>
                  <a:gd name="T8" fmla="*/ 0 w 314"/>
                  <a:gd name="T9" fmla="*/ 122 h 336"/>
                  <a:gd name="T10" fmla="*/ 0 w 314"/>
                  <a:gd name="T11" fmla="*/ 336 h 336"/>
                  <a:gd name="T12" fmla="*/ 165 w 314"/>
                  <a:gd name="T13" fmla="*/ 264 h 336"/>
                  <a:gd name="T14" fmla="*/ 314 w 314"/>
                  <a:gd name="T15" fmla="*/ 199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4" h="336">
                    <a:moveTo>
                      <a:pt x="314" y="199"/>
                    </a:moveTo>
                    <a:lnTo>
                      <a:pt x="314" y="0"/>
                    </a:lnTo>
                    <a:lnTo>
                      <a:pt x="153" y="62"/>
                    </a:lnTo>
                    <a:lnTo>
                      <a:pt x="2" y="121"/>
                    </a:lnTo>
                    <a:lnTo>
                      <a:pt x="0" y="122"/>
                    </a:lnTo>
                    <a:lnTo>
                      <a:pt x="0" y="336"/>
                    </a:lnTo>
                    <a:lnTo>
                      <a:pt x="165" y="264"/>
                    </a:lnTo>
                    <a:lnTo>
                      <a:pt x="314" y="199"/>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88" name="Freeform 116">
                <a:extLst>
                  <a:ext uri="{FF2B5EF4-FFF2-40B4-BE49-F238E27FC236}">
                    <a16:creationId xmlns:a16="http://schemas.microsoft.com/office/drawing/2014/main" id="{78A1B2ED-52EF-8571-F08D-93E43F0C3B7B}"/>
                  </a:ext>
                </a:extLst>
              </p:cNvPr>
              <p:cNvSpPr>
                <a:spLocks/>
              </p:cNvSpPr>
              <p:nvPr/>
            </p:nvSpPr>
            <p:spPr bwMode="auto">
              <a:xfrm>
                <a:off x="3279" y="1749"/>
                <a:ext cx="238" cy="247"/>
              </a:xfrm>
              <a:custGeom>
                <a:avLst/>
                <a:gdLst>
                  <a:gd name="T0" fmla="*/ 0 w 188"/>
                  <a:gd name="T1" fmla="*/ 75 h 274"/>
                  <a:gd name="T2" fmla="*/ 0 w 188"/>
                  <a:gd name="T3" fmla="*/ 274 h 274"/>
                  <a:gd name="T4" fmla="*/ 141 w 188"/>
                  <a:gd name="T5" fmla="*/ 213 h 274"/>
                  <a:gd name="T6" fmla="*/ 143 w 188"/>
                  <a:gd name="T7" fmla="*/ 212 h 274"/>
                  <a:gd name="T8" fmla="*/ 188 w 188"/>
                  <a:gd name="T9" fmla="*/ 192 h 274"/>
                  <a:gd name="T10" fmla="*/ 188 w 188"/>
                  <a:gd name="T11" fmla="*/ 0 h 274"/>
                  <a:gd name="T12" fmla="*/ 125 w 188"/>
                  <a:gd name="T13" fmla="*/ 26 h 274"/>
                  <a:gd name="T14" fmla="*/ 0 w 188"/>
                  <a:gd name="T15" fmla="*/ 75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8" h="274">
                    <a:moveTo>
                      <a:pt x="0" y="75"/>
                    </a:moveTo>
                    <a:lnTo>
                      <a:pt x="0" y="274"/>
                    </a:lnTo>
                    <a:lnTo>
                      <a:pt x="141" y="213"/>
                    </a:lnTo>
                    <a:lnTo>
                      <a:pt x="143" y="212"/>
                    </a:lnTo>
                    <a:lnTo>
                      <a:pt x="188" y="192"/>
                    </a:lnTo>
                    <a:lnTo>
                      <a:pt x="188" y="0"/>
                    </a:lnTo>
                    <a:lnTo>
                      <a:pt x="125" y="26"/>
                    </a:lnTo>
                    <a:lnTo>
                      <a:pt x="0" y="75"/>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89" name="Freeform 117">
                <a:extLst>
                  <a:ext uri="{FF2B5EF4-FFF2-40B4-BE49-F238E27FC236}">
                    <a16:creationId xmlns:a16="http://schemas.microsoft.com/office/drawing/2014/main" id="{0E3B51B2-ABD8-550C-FFA1-CB4D36EBE294}"/>
                  </a:ext>
                </a:extLst>
              </p:cNvPr>
              <p:cNvSpPr>
                <a:spLocks/>
              </p:cNvSpPr>
              <p:nvPr/>
            </p:nvSpPr>
            <p:spPr bwMode="auto">
              <a:xfrm>
                <a:off x="2630" y="1709"/>
                <a:ext cx="449" cy="290"/>
              </a:xfrm>
              <a:custGeom>
                <a:avLst/>
                <a:gdLst>
                  <a:gd name="T0" fmla="*/ 206 w 357"/>
                  <a:gd name="T1" fmla="*/ 241 h 321"/>
                  <a:gd name="T2" fmla="*/ 357 w 357"/>
                  <a:gd name="T3" fmla="*/ 182 h 321"/>
                  <a:gd name="T4" fmla="*/ 357 w 357"/>
                  <a:gd name="T5" fmla="*/ 0 h 321"/>
                  <a:gd name="T6" fmla="*/ 1 w 357"/>
                  <a:gd name="T7" fmla="*/ 120 h 321"/>
                  <a:gd name="T8" fmla="*/ 0 w 357"/>
                  <a:gd name="T9" fmla="*/ 120 h 321"/>
                  <a:gd name="T10" fmla="*/ 0 w 357"/>
                  <a:gd name="T11" fmla="*/ 321 h 321"/>
                  <a:gd name="T12" fmla="*/ 204 w 357"/>
                  <a:gd name="T13" fmla="*/ 242 h 321"/>
                  <a:gd name="T14" fmla="*/ 206 w 357"/>
                  <a:gd name="T15" fmla="*/ 241 h 3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7" h="321">
                    <a:moveTo>
                      <a:pt x="206" y="241"/>
                    </a:moveTo>
                    <a:lnTo>
                      <a:pt x="357" y="182"/>
                    </a:lnTo>
                    <a:lnTo>
                      <a:pt x="357" y="0"/>
                    </a:lnTo>
                    <a:lnTo>
                      <a:pt x="1" y="120"/>
                    </a:lnTo>
                    <a:lnTo>
                      <a:pt x="0" y="120"/>
                    </a:lnTo>
                    <a:lnTo>
                      <a:pt x="0" y="321"/>
                    </a:lnTo>
                    <a:lnTo>
                      <a:pt x="204" y="242"/>
                    </a:lnTo>
                    <a:lnTo>
                      <a:pt x="206" y="241"/>
                    </a:lnTo>
                    <a:close/>
                  </a:path>
                </a:pathLst>
              </a:custGeom>
              <a:solidFill>
                <a:srgbClr val="FC95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590" name="Freeform 118">
                <a:extLst>
                  <a:ext uri="{FF2B5EF4-FFF2-40B4-BE49-F238E27FC236}">
                    <a16:creationId xmlns:a16="http://schemas.microsoft.com/office/drawing/2014/main" id="{7A8FBD34-845A-4C2D-FF90-44ED9B452FF3}"/>
                  </a:ext>
                </a:extLst>
              </p:cNvPr>
              <p:cNvSpPr>
                <a:spLocks/>
              </p:cNvSpPr>
              <p:nvPr/>
            </p:nvSpPr>
            <p:spPr bwMode="auto">
              <a:xfrm>
                <a:off x="2675" y="2056"/>
                <a:ext cx="419" cy="344"/>
              </a:xfrm>
              <a:custGeom>
                <a:avLst/>
                <a:gdLst>
                  <a:gd name="T0" fmla="*/ 333 w 333"/>
                  <a:gd name="T1" fmla="*/ 0 h 383"/>
                  <a:gd name="T2" fmla="*/ 168 w 333"/>
                  <a:gd name="T3" fmla="*/ 72 h 383"/>
                  <a:gd name="T4" fmla="*/ 0 w 333"/>
                  <a:gd name="T5" fmla="*/ 145 h 383"/>
                  <a:gd name="T6" fmla="*/ 0 w 333"/>
                  <a:gd name="T7" fmla="*/ 383 h 383"/>
                  <a:gd name="T8" fmla="*/ 183 w 333"/>
                  <a:gd name="T9" fmla="*/ 293 h 383"/>
                  <a:gd name="T10" fmla="*/ 186 w 333"/>
                  <a:gd name="T11" fmla="*/ 293 h 383"/>
                  <a:gd name="T12" fmla="*/ 333 w 333"/>
                  <a:gd name="T13" fmla="*/ 221 h 383"/>
                  <a:gd name="T14" fmla="*/ 333 w 333"/>
                  <a:gd name="T15" fmla="*/ 0 h 3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3" h="383">
                    <a:moveTo>
                      <a:pt x="333" y="0"/>
                    </a:moveTo>
                    <a:lnTo>
                      <a:pt x="168" y="72"/>
                    </a:lnTo>
                    <a:lnTo>
                      <a:pt x="0" y="145"/>
                    </a:lnTo>
                    <a:lnTo>
                      <a:pt x="0" y="383"/>
                    </a:lnTo>
                    <a:lnTo>
                      <a:pt x="183" y="293"/>
                    </a:lnTo>
                    <a:lnTo>
                      <a:pt x="186" y="293"/>
                    </a:lnTo>
                    <a:lnTo>
                      <a:pt x="333" y="221"/>
                    </a:lnTo>
                    <a:lnTo>
                      <a:pt x="333" y="0"/>
                    </a:lnTo>
                    <a:close/>
                  </a:path>
                </a:pathLst>
              </a:custGeom>
              <a:solidFill>
                <a:srgbClr val="FC950C"/>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91" name="Freeform 119">
                <a:extLst>
                  <a:ext uri="{FF2B5EF4-FFF2-40B4-BE49-F238E27FC236}">
                    <a16:creationId xmlns:a16="http://schemas.microsoft.com/office/drawing/2014/main" id="{447ACA8F-5100-887D-8EA1-519CDC7F62CF}"/>
                  </a:ext>
                </a:extLst>
              </p:cNvPr>
              <p:cNvSpPr>
                <a:spLocks/>
              </p:cNvSpPr>
              <p:nvPr/>
            </p:nvSpPr>
            <p:spPr bwMode="auto">
              <a:xfrm>
                <a:off x="3094" y="1942"/>
                <a:ext cx="362" cy="312"/>
              </a:xfrm>
              <a:custGeom>
                <a:avLst/>
                <a:gdLst>
                  <a:gd name="T0" fmla="*/ 0 w 290"/>
                  <a:gd name="T1" fmla="*/ 126 h 347"/>
                  <a:gd name="T2" fmla="*/ 0 w 290"/>
                  <a:gd name="T3" fmla="*/ 347 h 347"/>
                  <a:gd name="T4" fmla="*/ 157 w 290"/>
                  <a:gd name="T5" fmla="*/ 270 h 347"/>
                  <a:gd name="T6" fmla="*/ 290 w 290"/>
                  <a:gd name="T7" fmla="*/ 205 h 347"/>
                  <a:gd name="T8" fmla="*/ 290 w 290"/>
                  <a:gd name="T9" fmla="*/ 0 h 347"/>
                  <a:gd name="T10" fmla="*/ 149 w 290"/>
                  <a:gd name="T11" fmla="*/ 61 h 347"/>
                  <a:gd name="T12" fmla="*/ 0 w 290"/>
                  <a:gd name="T13" fmla="*/ 126 h 347"/>
                </a:gdLst>
                <a:ahLst/>
                <a:cxnLst>
                  <a:cxn ang="0">
                    <a:pos x="T0" y="T1"/>
                  </a:cxn>
                  <a:cxn ang="0">
                    <a:pos x="T2" y="T3"/>
                  </a:cxn>
                  <a:cxn ang="0">
                    <a:pos x="T4" y="T5"/>
                  </a:cxn>
                  <a:cxn ang="0">
                    <a:pos x="T6" y="T7"/>
                  </a:cxn>
                  <a:cxn ang="0">
                    <a:pos x="T8" y="T9"/>
                  </a:cxn>
                  <a:cxn ang="0">
                    <a:pos x="T10" y="T11"/>
                  </a:cxn>
                  <a:cxn ang="0">
                    <a:pos x="T12" y="T13"/>
                  </a:cxn>
                </a:cxnLst>
                <a:rect l="0" t="0" r="r" b="b"/>
                <a:pathLst>
                  <a:path w="290" h="347">
                    <a:moveTo>
                      <a:pt x="0" y="126"/>
                    </a:moveTo>
                    <a:lnTo>
                      <a:pt x="0" y="347"/>
                    </a:lnTo>
                    <a:lnTo>
                      <a:pt x="157" y="270"/>
                    </a:lnTo>
                    <a:lnTo>
                      <a:pt x="290" y="205"/>
                    </a:lnTo>
                    <a:lnTo>
                      <a:pt x="290" y="0"/>
                    </a:lnTo>
                    <a:lnTo>
                      <a:pt x="149" y="61"/>
                    </a:lnTo>
                    <a:lnTo>
                      <a:pt x="0" y="126"/>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92" name="Freeform 120">
                <a:extLst>
                  <a:ext uri="{FF2B5EF4-FFF2-40B4-BE49-F238E27FC236}">
                    <a16:creationId xmlns:a16="http://schemas.microsoft.com/office/drawing/2014/main" id="{C4C16F23-8590-68DE-79D6-1C5138F2E214}"/>
                  </a:ext>
                </a:extLst>
              </p:cNvPr>
              <p:cNvSpPr>
                <a:spLocks/>
              </p:cNvSpPr>
              <p:nvPr/>
            </p:nvSpPr>
            <p:spPr bwMode="auto">
              <a:xfrm>
                <a:off x="3079" y="1622"/>
                <a:ext cx="358" cy="249"/>
              </a:xfrm>
              <a:custGeom>
                <a:avLst/>
                <a:gdLst>
                  <a:gd name="T0" fmla="*/ 0 w 286"/>
                  <a:gd name="T1" fmla="*/ 277 h 277"/>
                  <a:gd name="T2" fmla="*/ 161 w 286"/>
                  <a:gd name="T3" fmla="*/ 215 h 277"/>
                  <a:gd name="T4" fmla="*/ 286 w 286"/>
                  <a:gd name="T5" fmla="*/ 166 h 277"/>
                  <a:gd name="T6" fmla="*/ 286 w 286"/>
                  <a:gd name="T7" fmla="*/ 0 h 277"/>
                  <a:gd name="T8" fmla="*/ 0 w 286"/>
                  <a:gd name="T9" fmla="*/ 95 h 277"/>
                  <a:gd name="T10" fmla="*/ 0 w 286"/>
                  <a:gd name="T11" fmla="*/ 277 h 277"/>
                </a:gdLst>
                <a:ahLst/>
                <a:cxnLst>
                  <a:cxn ang="0">
                    <a:pos x="T0" y="T1"/>
                  </a:cxn>
                  <a:cxn ang="0">
                    <a:pos x="T2" y="T3"/>
                  </a:cxn>
                  <a:cxn ang="0">
                    <a:pos x="T4" y="T5"/>
                  </a:cxn>
                  <a:cxn ang="0">
                    <a:pos x="T6" y="T7"/>
                  </a:cxn>
                  <a:cxn ang="0">
                    <a:pos x="T8" y="T9"/>
                  </a:cxn>
                  <a:cxn ang="0">
                    <a:pos x="T10" y="T11"/>
                  </a:cxn>
                </a:cxnLst>
                <a:rect l="0" t="0" r="r" b="b"/>
                <a:pathLst>
                  <a:path w="286" h="277">
                    <a:moveTo>
                      <a:pt x="0" y="277"/>
                    </a:moveTo>
                    <a:lnTo>
                      <a:pt x="161" y="215"/>
                    </a:lnTo>
                    <a:lnTo>
                      <a:pt x="286" y="166"/>
                    </a:lnTo>
                    <a:lnTo>
                      <a:pt x="286" y="0"/>
                    </a:lnTo>
                    <a:lnTo>
                      <a:pt x="0" y="95"/>
                    </a:lnTo>
                    <a:lnTo>
                      <a:pt x="0" y="277"/>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93" name="Freeform 121">
                <a:extLst>
                  <a:ext uri="{FF2B5EF4-FFF2-40B4-BE49-F238E27FC236}">
                    <a16:creationId xmlns:a16="http://schemas.microsoft.com/office/drawing/2014/main" id="{6FD99FF6-C573-68E3-E0CB-D2961995EA26}"/>
                  </a:ext>
                </a:extLst>
              </p:cNvPr>
              <p:cNvSpPr>
                <a:spLocks/>
              </p:cNvSpPr>
              <p:nvPr/>
            </p:nvSpPr>
            <p:spPr bwMode="auto">
              <a:xfrm>
                <a:off x="2479" y="1926"/>
                <a:ext cx="407" cy="320"/>
              </a:xfrm>
              <a:custGeom>
                <a:avLst/>
                <a:gdLst>
                  <a:gd name="T0" fmla="*/ 322 w 322"/>
                  <a:gd name="T1" fmla="*/ 214 h 354"/>
                  <a:gd name="T2" fmla="*/ 322 w 322"/>
                  <a:gd name="T3" fmla="*/ 0 h 354"/>
                  <a:gd name="T4" fmla="*/ 118 w 322"/>
                  <a:gd name="T5" fmla="*/ 79 h 354"/>
                  <a:gd name="T6" fmla="*/ 0 w 322"/>
                  <a:gd name="T7" fmla="*/ 125 h 354"/>
                  <a:gd name="T8" fmla="*/ 0 w 322"/>
                  <a:gd name="T9" fmla="*/ 354 h 354"/>
                  <a:gd name="T10" fmla="*/ 154 w 322"/>
                  <a:gd name="T11" fmla="*/ 287 h 354"/>
                  <a:gd name="T12" fmla="*/ 322 w 322"/>
                  <a:gd name="T13" fmla="*/ 214 h 354"/>
                </a:gdLst>
                <a:ahLst/>
                <a:cxnLst>
                  <a:cxn ang="0">
                    <a:pos x="T0" y="T1"/>
                  </a:cxn>
                  <a:cxn ang="0">
                    <a:pos x="T2" y="T3"/>
                  </a:cxn>
                  <a:cxn ang="0">
                    <a:pos x="T4" y="T5"/>
                  </a:cxn>
                  <a:cxn ang="0">
                    <a:pos x="T6" y="T7"/>
                  </a:cxn>
                  <a:cxn ang="0">
                    <a:pos x="T8" y="T9"/>
                  </a:cxn>
                  <a:cxn ang="0">
                    <a:pos x="T10" y="T11"/>
                  </a:cxn>
                  <a:cxn ang="0">
                    <a:pos x="T12" y="T13"/>
                  </a:cxn>
                </a:cxnLst>
                <a:rect l="0" t="0" r="r" b="b"/>
                <a:pathLst>
                  <a:path w="322" h="354">
                    <a:moveTo>
                      <a:pt x="322" y="214"/>
                    </a:moveTo>
                    <a:lnTo>
                      <a:pt x="322" y="0"/>
                    </a:lnTo>
                    <a:lnTo>
                      <a:pt x="118" y="79"/>
                    </a:lnTo>
                    <a:lnTo>
                      <a:pt x="0" y="125"/>
                    </a:lnTo>
                    <a:lnTo>
                      <a:pt x="0" y="354"/>
                    </a:lnTo>
                    <a:lnTo>
                      <a:pt x="154" y="287"/>
                    </a:lnTo>
                    <a:lnTo>
                      <a:pt x="322" y="214"/>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94" name="Freeform 122">
                <a:extLst>
                  <a:ext uri="{FF2B5EF4-FFF2-40B4-BE49-F238E27FC236}">
                    <a16:creationId xmlns:a16="http://schemas.microsoft.com/office/drawing/2014/main" id="{75EE8D86-38D9-FA8E-848F-7A0D6FEABA01}"/>
                  </a:ext>
                </a:extLst>
              </p:cNvPr>
              <p:cNvSpPr>
                <a:spLocks/>
              </p:cNvSpPr>
              <p:nvPr/>
            </p:nvSpPr>
            <p:spPr bwMode="auto">
              <a:xfrm>
                <a:off x="2905" y="2186"/>
                <a:ext cx="385" cy="317"/>
              </a:xfrm>
              <a:custGeom>
                <a:avLst/>
                <a:gdLst>
                  <a:gd name="T0" fmla="*/ 307 w 307"/>
                  <a:gd name="T1" fmla="*/ 0 h 351"/>
                  <a:gd name="T2" fmla="*/ 150 w 307"/>
                  <a:gd name="T3" fmla="*/ 77 h 351"/>
                  <a:gd name="T4" fmla="*/ 3 w 307"/>
                  <a:gd name="T5" fmla="*/ 149 h 351"/>
                  <a:gd name="T6" fmla="*/ 0 w 307"/>
                  <a:gd name="T7" fmla="*/ 149 h 351"/>
                  <a:gd name="T8" fmla="*/ 0 w 307"/>
                  <a:gd name="T9" fmla="*/ 351 h 351"/>
                  <a:gd name="T10" fmla="*/ 154 w 307"/>
                  <a:gd name="T11" fmla="*/ 271 h 351"/>
                  <a:gd name="T12" fmla="*/ 307 w 307"/>
                  <a:gd name="T13" fmla="*/ 193 h 351"/>
                  <a:gd name="T14" fmla="*/ 307 w 307"/>
                  <a:gd name="T15" fmla="*/ 0 h 3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51">
                    <a:moveTo>
                      <a:pt x="307" y="0"/>
                    </a:moveTo>
                    <a:lnTo>
                      <a:pt x="150" y="77"/>
                    </a:lnTo>
                    <a:lnTo>
                      <a:pt x="3" y="149"/>
                    </a:lnTo>
                    <a:lnTo>
                      <a:pt x="0" y="149"/>
                    </a:lnTo>
                    <a:lnTo>
                      <a:pt x="0" y="351"/>
                    </a:lnTo>
                    <a:lnTo>
                      <a:pt x="154" y="271"/>
                    </a:lnTo>
                    <a:lnTo>
                      <a:pt x="307" y="193"/>
                    </a:lnTo>
                    <a:lnTo>
                      <a:pt x="307" y="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95" name="Freeform 123">
                <a:extLst>
                  <a:ext uri="{FF2B5EF4-FFF2-40B4-BE49-F238E27FC236}">
                    <a16:creationId xmlns:a16="http://schemas.microsoft.com/office/drawing/2014/main" id="{DFFF5F5C-6713-3DA1-8D49-818928466A1B}"/>
                  </a:ext>
                </a:extLst>
              </p:cNvPr>
              <p:cNvSpPr>
                <a:spLocks/>
              </p:cNvSpPr>
              <p:nvPr/>
            </p:nvSpPr>
            <p:spPr bwMode="auto">
              <a:xfrm>
                <a:off x="3456" y="1923"/>
                <a:ext cx="61" cy="203"/>
              </a:xfrm>
              <a:custGeom>
                <a:avLst/>
                <a:gdLst>
                  <a:gd name="T0" fmla="*/ 0 w 47"/>
                  <a:gd name="T1" fmla="*/ 226 h 226"/>
                  <a:gd name="T2" fmla="*/ 47 w 47"/>
                  <a:gd name="T3" fmla="*/ 203 h 226"/>
                  <a:gd name="T4" fmla="*/ 47 w 47"/>
                  <a:gd name="T5" fmla="*/ 0 h 226"/>
                  <a:gd name="T6" fmla="*/ 2 w 47"/>
                  <a:gd name="T7" fmla="*/ 20 h 226"/>
                  <a:gd name="T8" fmla="*/ 0 w 47"/>
                  <a:gd name="T9" fmla="*/ 21 h 226"/>
                  <a:gd name="T10" fmla="*/ 0 w 47"/>
                  <a:gd name="T11" fmla="*/ 226 h 226"/>
                </a:gdLst>
                <a:ahLst/>
                <a:cxnLst>
                  <a:cxn ang="0">
                    <a:pos x="T0" y="T1"/>
                  </a:cxn>
                  <a:cxn ang="0">
                    <a:pos x="T2" y="T3"/>
                  </a:cxn>
                  <a:cxn ang="0">
                    <a:pos x="T4" y="T5"/>
                  </a:cxn>
                  <a:cxn ang="0">
                    <a:pos x="T6" y="T7"/>
                  </a:cxn>
                  <a:cxn ang="0">
                    <a:pos x="T8" y="T9"/>
                  </a:cxn>
                  <a:cxn ang="0">
                    <a:pos x="T10" y="T11"/>
                  </a:cxn>
                </a:cxnLst>
                <a:rect l="0" t="0" r="r" b="b"/>
                <a:pathLst>
                  <a:path w="47" h="226">
                    <a:moveTo>
                      <a:pt x="0" y="226"/>
                    </a:moveTo>
                    <a:lnTo>
                      <a:pt x="47" y="203"/>
                    </a:lnTo>
                    <a:lnTo>
                      <a:pt x="47" y="0"/>
                    </a:lnTo>
                    <a:lnTo>
                      <a:pt x="2" y="20"/>
                    </a:lnTo>
                    <a:lnTo>
                      <a:pt x="0" y="21"/>
                    </a:lnTo>
                    <a:lnTo>
                      <a:pt x="0" y="226"/>
                    </a:lnTo>
                    <a:close/>
                  </a:path>
                </a:pathLst>
              </a:custGeom>
              <a:solidFill>
                <a:srgbClr val="FC950C"/>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96" name="Freeform 124">
                <a:extLst>
                  <a:ext uri="{FF2B5EF4-FFF2-40B4-BE49-F238E27FC236}">
                    <a16:creationId xmlns:a16="http://schemas.microsoft.com/office/drawing/2014/main" id="{9E67257D-C118-64F2-396B-A1AC9A4E0314}"/>
                  </a:ext>
                </a:extLst>
              </p:cNvPr>
              <p:cNvSpPr>
                <a:spLocks/>
              </p:cNvSpPr>
              <p:nvPr/>
            </p:nvSpPr>
            <p:spPr bwMode="auto">
              <a:xfrm>
                <a:off x="3290" y="2105"/>
                <a:ext cx="227" cy="255"/>
              </a:xfrm>
              <a:custGeom>
                <a:avLst/>
                <a:gdLst>
                  <a:gd name="T0" fmla="*/ 180 w 180"/>
                  <a:gd name="T1" fmla="*/ 0 h 281"/>
                  <a:gd name="T2" fmla="*/ 133 w 180"/>
                  <a:gd name="T3" fmla="*/ 23 h 281"/>
                  <a:gd name="T4" fmla="*/ 0 w 180"/>
                  <a:gd name="T5" fmla="*/ 88 h 281"/>
                  <a:gd name="T6" fmla="*/ 0 w 180"/>
                  <a:gd name="T7" fmla="*/ 281 h 281"/>
                  <a:gd name="T8" fmla="*/ 133 w 180"/>
                  <a:gd name="T9" fmla="*/ 213 h 281"/>
                  <a:gd name="T10" fmla="*/ 180 w 180"/>
                  <a:gd name="T11" fmla="*/ 187 h 281"/>
                  <a:gd name="T12" fmla="*/ 180 w 180"/>
                  <a:gd name="T13" fmla="*/ 0 h 281"/>
                </a:gdLst>
                <a:ahLst/>
                <a:cxnLst>
                  <a:cxn ang="0">
                    <a:pos x="T0" y="T1"/>
                  </a:cxn>
                  <a:cxn ang="0">
                    <a:pos x="T2" y="T3"/>
                  </a:cxn>
                  <a:cxn ang="0">
                    <a:pos x="T4" y="T5"/>
                  </a:cxn>
                  <a:cxn ang="0">
                    <a:pos x="T6" y="T7"/>
                  </a:cxn>
                  <a:cxn ang="0">
                    <a:pos x="T8" y="T9"/>
                  </a:cxn>
                  <a:cxn ang="0">
                    <a:pos x="T10" y="T11"/>
                  </a:cxn>
                  <a:cxn ang="0">
                    <a:pos x="T12" y="T13"/>
                  </a:cxn>
                </a:cxnLst>
                <a:rect l="0" t="0" r="r" b="b"/>
                <a:pathLst>
                  <a:path w="180" h="281">
                    <a:moveTo>
                      <a:pt x="180" y="0"/>
                    </a:moveTo>
                    <a:lnTo>
                      <a:pt x="133" y="23"/>
                    </a:lnTo>
                    <a:lnTo>
                      <a:pt x="0" y="88"/>
                    </a:lnTo>
                    <a:lnTo>
                      <a:pt x="0" y="281"/>
                    </a:lnTo>
                    <a:lnTo>
                      <a:pt x="133" y="213"/>
                    </a:lnTo>
                    <a:lnTo>
                      <a:pt x="180" y="187"/>
                    </a:lnTo>
                    <a:lnTo>
                      <a:pt x="180" y="0"/>
                    </a:lnTo>
                    <a:close/>
                  </a:path>
                </a:pathLst>
              </a:custGeom>
              <a:solidFill>
                <a:srgbClr val="FC950C"/>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597" name="Freeform 125">
                <a:extLst>
                  <a:ext uri="{FF2B5EF4-FFF2-40B4-BE49-F238E27FC236}">
                    <a16:creationId xmlns:a16="http://schemas.microsoft.com/office/drawing/2014/main" id="{EC2B0FD8-0C52-30C2-0944-4A0DDF48DDEE}"/>
                  </a:ext>
                </a:extLst>
              </p:cNvPr>
              <p:cNvSpPr>
                <a:spLocks/>
              </p:cNvSpPr>
              <p:nvPr/>
            </p:nvSpPr>
            <p:spPr bwMode="auto">
              <a:xfrm>
                <a:off x="3456" y="2276"/>
                <a:ext cx="61" cy="165"/>
              </a:xfrm>
              <a:custGeom>
                <a:avLst/>
                <a:gdLst>
                  <a:gd name="T0" fmla="*/ 0 w 47"/>
                  <a:gd name="T1" fmla="*/ 26 h 185"/>
                  <a:gd name="T2" fmla="*/ 0 w 47"/>
                  <a:gd name="T3" fmla="*/ 185 h 185"/>
                  <a:gd name="T4" fmla="*/ 47 w 47"/>
                  <a:gd name="T5" fmla="*/ 159 h 185"/>
                  <a:gd name="T6" fmla="*/ 47 w 47"/>
                  <a:gd name="T7" fmla="*/ 0 h 185"/>
                  <a:gd name="T8" fmla="*/ 0 w 47"/>
                  <a:gd name="T9" fmla="*/ 26 h 185"/>
                </a:gdLst>
                <a:ahLst/>
                <a:cxnLst>
                  <a:cxn ang="0">
                    <a:pos x="T0" y="T1"/>
                  </a:cxn>
                  <a:cxn ang="0">
                    <a:pos x="T2" y="T3"/>
                  </a:cxn>
                  <a:cxn ang="0">
                    <a:pos x="T4" y="T5"/>
                  </a:cxn>
                  <a:cxn ang="0">
                    <a:pos x="T6" y="T7"/>
                  </a:cxn>
                  <a:cxn ang="0">
                    <a:pos x="T8" y="T9"/>
                  </a:cxn>
                </a:cxnLst>
                <a:rect l="0" t="0" r="r" b="b"/>
                <a:pathLst>
                  <a:path w="47" h="185">
                    <a:moveTo>
                      <a:pt x="0" y="26"/>
                    </a:moveTo>
                    <a:lnTo>
                      <a:pt x="0" y="185"/>
                    </a:lnTo>
                    <a:lnTo>
                      <a:pt x="47" y="159"/>
                    </a:lnTo>
                    <a:lnTo>
                      <a:pt x="47" y="0"/>
                    </a:lnTo>
                    <a:lnTo>
                      <a:pt x="0" y="26"/>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598" name="Freeform 126">
                <a:extLst>
                  <a:ext uri="{FF2B5EF4-FFF2-40B4-BE49-F238E27FC236}">
                    <a16:creationId xmlns:a16="http://schemas.microsoft.com/office/drawing/2014/main" id="{D8C3B0F2-071A-8931-AAAB-22212B9E7E3F}"/>
                  </a:ext>
                </a:extLst>
              </p:cNvPr>
              <p:cNvSpPr>
                <a:spLocks/>
              </p:cNvSpPr>
              <p:nvPr/>
            </p:nvSpPr>
            <p:spPr bwMode="auto">
              <a:xfrm>
                <a:off x="3098" y="2297"/>
                <a:ext cx="358" cy="296"/>
              </a:xfrm>
              <a:custGeom>
                <a:avLst/>
                <a:gdLst>
                  <a:gd name="T0" fmla="*/ 286 w 286"/>
                  <a:gd name="T1" fmla="*/ 159 h 326"/>
                  <a:gd name="T2" fmla="*/ 286 w 286"/>
                  <a:gd name="T3" fmla="*/ 0 h 326"/>
                  <a:gd name="T4" fmla="*/ 153 w 286"/>
                  <a:gd name="T5" fmla="*/ 68 h 326"/>
                  <a:gd name="T6" fmla="*/ 0 w 286"/>
                  <a:gd name="T7" fmla="*/ 146 h 326"/>
                  <a:gd name="T8" fmla="*/ 0 w 286"/>
                  <a:gd name="T9" fmla="*/ 326 h 326"/>
                  <a:gd name="T10" fmla="*/ 286 w 286"/>
                  <a:gd name="T11" fmla="*/ 159 h 326"/>
                </a:gdLst>
                <a:ahLst/>
                <a:cxnLst>
                  <a:cxn ang="0">
                    <a:pos x="T0" y="T1"/>
                  </a:cxn>
                  <a:cxn ang="0">
                    <a:pos x="T2" y="T3"/>
                  </a:cxn>
                  <a:cxn ang="0">
                    <a:pos x="T4" y="T5"/>
                  </a:cxn>
                  <a:cxn ang="0">
                    <a:pos x="T6" y="T7"/>
                  </a:cxn>
                  <a:cxn ang="0">
                    <a:pos x="T8" y="T9"/>
                  </a:cxn>
                  <a:cxn ang="0">
                    <a:pos x="T10" y="T11"/>
                  </a:cxn>
                </a:cxnLst>
                <a:rect l="0" t="0" r="r" b="b"/>
                <a:pathLst>
                  <a:path w="286" h="326">
                    <a:moveTo>
                      <a:pt x="286" y="159"/>
                    </a:moveTo>
                    <a:lnTo>
                      <a:pt x="286" y="0"/>
                    </a:lnTo>
                    <a:lnTo>
                      <a:pt x="153" y="68"/>
                    </a:lnTo>
                    <a:lnTo>
                      <a:pt x="0" y="146"/>
                    </a:lnTo>
                    <a:lnTo>
                      <a:pt x="0" y="326"/>
                    </a:lnTo>
                    <a:lnTo>
                      <a:pt x="286" y="159"/>
                    </a:lnTo>
                    <a:close/>
                  </a:path>
                </a:pathLst>
              </a:custGeom>
              <a:solidFill>
                <a:srgbClr val="FDAB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599" name="Freeform 127">
                <a:extLst>
                  <a:ext uri="{FF2B5EF4-FFF2-40B4-BE49-F238E27FC236}">
                    <a16:creationId xmlns:a16="http://schemas.microsoft.com/office/drawing/2014/main" id="{F03CDF2F-0029-B41E-D57B-533F99B8CBA3}"/>
                  </a:ext>
                </a:extLst>
              </p:cNvPr>
              <p:cNvSpPr>
                <a:spLocks/>
              </p:cNvSpPr>
              <p:nvPr/>
            </p:nvSpPr>
            <p:spPr bwMode="auto">
              <a:xfrm>
                <a:off x="2690" y="2430"/>
                <a:ext cx="408" cy="334"/>
              </a:xfrm>
              <a:custGeom>
                <a:avLst/>
                <a:gdLst>
                  <a:gd name="T0" fmla="*/ 325 w 325"/>
                  <a:gd name="T1" fmla="*/ 180 h 368"/>
                  <a:gd name="T2" fmla="*/ 325 w 325"/>
                  <a:gd name="T3" fmla="*/ 0 h 368"/>
                  <a:gd name="T4" fmla="*/ 171 w 325"/>
                  <a:gd name="T5" fmla="*/ 80 h 368"/>
                  <a:gd name="T6" fmla="*/ 0 w 325"/>
                  <a:gd name="T7" fmla="*/ 169 h 368"/>
                  <a:gd name="T8" fmla="*/ 0 w 325"/>
                  <a:gd name="T9" fmla="*/ 368 h 368"/>
                  <a:gd name="T10" fmla="*/ 325 w 325"/>
                  <a:gd name="T11" fmla="*/ 180 h 368"/>
                </a:gdLst>
                <a:ahLst/>
                <a:cxnLst>
                  <a:cxn ang="0">
                    <a:pos x="T0" y="T1"/>
                  </a:cxn>
                  <a:cxn ang="0">
                    <a:pos x="T2" y="T3"/>
                  </a:cxn>
                  <a:cxn ang="0">
                    <a:pos x="T4" y="T5"/>
                  </a:cxn>
                  <a:cxn ang="0">
                    <a:pos x="T6" y="T7"/>
                  </a:cxn>
                  <a:cxn ang="0">
                    <a:pos x="T8" y="T9"/>
                  </a:cxn>
                  <a:cxn ang="0">
                    <a:pos x="T10" y="T11"/>
                  </a:cxn>
                </a:cxnLst>
                <a:rect l="0" t="0" r="r" b="b"/>
                <a:pathLst>
                  <a:path w="325" h="368">
                    <a:moveTo>
                      <a:pt x="325" y="180"/>
                    </a:moveTo>
                    <a:lnTo>
                      <a:pt x="325" y="0"/>
                    </a:lnTo>
                    <a:lnTo>
                      <a:pt x="171" y="80"/>
                    </a:lnTo>
                    <a:lnTo>
                      <a:pt x="0" y="169"/>
                    </a:lnTo>
                    <a:lnTo>
                      <a:pt x="0" y="368"/>
                    </a:lnTo>
                    <a:lnTo>
                      <a:pt x="325" y="180"/>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00" name="Freeform 128">
                <a:extLst>
                  <a:ext uri="{FF2B5EF4-FFF2-40B4-BE49-F238E27FC236}">
                    <a16:creationId xmlns:a16="http://schemas.microsoft.com/office/drawing/2014/main" id="{71F914D6-01FC-6487-F090-A443890BBC24}"/>
                  </a:ext>
                </a:extLst>
              </p:cNvPr>
              <p:cNvSpPr>
                <a:spLocks/>
              </p:cNvSpPr>
              <p:nvPr/>
            </p:nvSpPr>
            <p:spPr bwMode="auto">
              <a:xfrm>
                <a:off x="2501" y="2319"/>
                <a:ext cx="404" cy="334"/>
              </a:xfrm>
              <a:custGeom>
                <a:avLst/>
                <a:gdLst>
                  <a:gd name="T0" fmla="*/ 321 w 321"/>
                  <a:gd name="T1" fmla="*/ 202 h 368"/>
                  <a:gd name="T2" fmla="*/ 321 w 321"/>
                  <a:gd name="T3" fmla="*/ 0 h 368"/>
                  <a:gd name="T4" fmla="*/ 138 w 321"/>
                  <a:gd name="T5" fmla="*/ 90 h 368"/>
                  <a:gd name="T6" fmla="*/ 0 w 321"/>
                  <a:gd name="T7" fmla="*/ 157 h 368"/>
                  <a:gd name="T8" fmla="*/ 0 w 321"/>
                  <a:gd name="T9" fmla="*/ 368 h 368"/>
                  <a:gd name="T10" fmla="*/ 150 w 321"/>
                  <a:gd name="T11" fmla="*/ 291 h 368"/>
                  <a:gd name="T12" fmla="*/ 321 w 321"/>
                  <a:gd name="T13" fmla="*/ 202 h 368"/>
                </a:gdLst>
                <a:ahLst/>
                <a:cxnLst>
                  <a:cxn ang="0">
                    <a:pos x="T0" y="T1"/>
                  </a:cxn>
                  <a:cxn ang="0">
                    <a:pos x="T2" y="T3"/>
                  </a:cxn>
                  <a:cxn ang="0">
                    <a:pos x="T4" y="T5"/>
                  </a:cxn>
                  <a:cxn ang="0">
                    <a:pos x="T6" y="T7"/>
                  </a:cxn>
                  <a:cxn ang="0">
                    <a:pos x="T8" y="T9"/>
                  </a:cxn>
                  <a:cxn ang="0">
                    <a:pos x="T10" y="T11"/>
                  </a:cxn>
                  <a:cxn ang="0">
                    <a:pos x="T12" y="T13"/>
                  </a:cxn>
                </a:cxnLst>
                <a:rect l="0" t="0" r="r" b="b"/>
                <a:pathLst>
                  <a:path w="321" h="368">
                    <a:moveTo>
                      <a:pt x="321" y="202"/>
                    </a:moveTo>
                    <a:lnTo>
                      <a:pt x="321" y="0"/>
                    </a:lnTo>
                    <a:lnTo>
                      <a:pt x="138" y="90"/>
                    </a:lnTo>
                    <a:lnTo>
                      <a:pt x="0" y="157"/>
                    </a:lnTo>
                    <a:lnTo>
                      <a:pt x="0" y="368"/>
                    </a:lnTo>
                    <a:lnTo>
                      <a:pt x="150" y="291"/>
                    </a:lnTo>
                    <a:lnTo>
                      <a:pt x="321" y="202"/>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01" name="Freeform 129">
                <a:extLst>
                  <a:ext uri="{FF2B5EF4-FFF2-40B4-BE49-F238E27FC236}">
                    <a16:creationId xmlns:a16="http://schemas.microsoft.com/office/drawing/2014/main" id="{464FA967-C6A6-60C6-1FA1-14C7FF2E073E}"/>
                  </a:ext>
                </a:extLst>
              </p:cNvPr>
              <p:cNvSpPr>
                <a:spLocks/>
              </p:cNvSpPr>
              <p:nvPr/>
            </p:nvSpPr>
            <p:spPr bwMode="auto">
              <a:xfrm>
                <a:off x="2120" y="1874"/>
                <a:ext cx="132" cy="231"/>
              </a:xfrm>
              <a:custGeom>
                <a:avLst/>
                <a:gdLst>
                  <a:gd name="T0" fmla="*/ 0 w 105"/>
                  <a:gd name="T1" fmla="*/ 0 h 255"/>
                  <a:gd name="T2" fmla="*/ 1 w 105"/>
                  <a:gd name="T3" fmla="*/ 215 h 255"/>
                  <a:gd name="T4" fmla="*/ 105 w 105"/>
                  <a:gd name="T5" fmla="*/ 255 h 255"/>
                  <a:gd name="T6" fmla="*/ 105 w 105"/>
                  <a:gd name="T7" fmla="*/ 36 h 255"/>
                  <a:gd name="T8" fmla="*/ 0 w 105"/>
                  <a:gd name="T9" fmla="*/ 0 h 255"/>
                </a:gdLst>
                <a:ahLst/>
                <a:cxnLst>
                  <a:cxn ang="0">
                    <a:pos x="T0" y="T1"/>
                  </a:cxn>
                  <a:cxn ang="0">
                    <a:pos x="T2" y="T3"/>
                  </a:cxn>
                  <a:cxn ang="0">
                    <a:pos x="T4" y="T5"/>
                  </a:cxn>
                  <a:cxn ang="0">
                    <a:pos x="T6" y="T7"/>
                  </a:cxn>
                  <a:cxn ang="0">
                    <a:pos x="T8" y="T9"/>
                  </a:cxn>
                </a:cxnLst>
                <a:rect l="0" t="0" r="r" b="b"/>
                <a:pathLst>
                  <a:path w="105" h="255">
                    <a:moveTo>
                      <a:pt x="0" y="0"/>
                    </a:moveTo>
                    <a:lnTo>
                      <a:pt x="1" y="215"/>
                    </a:lnTo>
                    <a:lnTo>
                      <a:pt x="105" y="255"/>
                    </a:lnTo>
                    <a:lnTo>
                      <a:pt x="105" y="36"/>
                    </a:lnTo>
                    <a:lnTo>
                      <a:pt x="0" y="0"/>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02" name="Freeform 130">
                <a:extLst>
                  <a:ext uri="{FF2B5EF4-FFF2-40B4-BE49-F238E27FC236}">
                    <a16:creationId xmlns:a16="http://schemas.microsoft.com/office/drawing/2014/main" id="{0E5C6EE5-CB1F-098B-93B5-EB89F21D5324}"/>
                  </a:ext>
                </a:extLst>
              </p:cNvPr>
              <p:cNvSpPr>
                <a:spLocks/>
              </p:cNvSpPr>
              <p:nvPr/>
            </p:nvSpPr>
            <p:spPr bwMode="auto">
              <a:xfrm>
                <a:off x="2252" y="1817"/>
                <a:ext cx="378" cy="288"/>
              </a:xfrm>
              <a:custGeom>
                <a:avLst/>
                <a:gdLst>
                  <a:gd name="T0" fmla="*/ 298 w 298"/>
                  <a:gd name="T1" fmla="*/ 201 h 318"/>
                  <a:gd name="T2" fmla="*/ 298 w 298"/>
                  <a:gd name="T3" fmla="*/ 0 h 318"/>
                  <a:gd name="T4" fmla="*/ 0 w 298"/>
                  <a:gd name="T5" fmla="*/ 99 h 318"/>
                  <a:gd name="T6" fmla="*/ 0 w 298"/>
                  <a:gd name="T7" fmla="*/ 318 h 318"/>
                  <a:gd name="T8" fmla="*/ 180 w 298"/>
                  <a:gd name="T9" fmla="*/ 247 h 318"/>
                  <a:gd name="T10" fmla="*/ 298 w 298"/>
                  <a:gd name="T11" fmla="*/ 201 h 318"/>
                </a:gdLst>
                <a:ahLst/>
                <a:cxnLst>
                  <a:cxn ang="0">
                    <a:pos x="T0" y="T1"/>
                  </a:cxn>
                  <a:cxn ang="0">
                    <a:pos x="T2" y="T3"/>
                  </a:cxn>
                  <a:cxn ang="0">
                    <a:pos x="T4" y="T5"/>
                  </a:cxn>
                  <a:cxn ang="0">
                    <a:pos x="T6" y="T7"/>
                  </a:cxn>
                  <a:cxn ang="0">
                    <a:pos x="T8" y="T9"/>
                  </a:cxn>
                  <a:cxn ang="0">
                    <a:pos x="T10" y="T11"/>
                  </a:cxn>
                </a:cxnLst>
                <a:rect l="0" t="0" r="r" b="b"/>
                <a:pathLst>
                  <a:path w="298" h="318">
                    <a:moveTo>
                      <a:pt x="298" y="201"/>
                    </a:moveTo>
                    <a:lnTo>
                      <a:pt x="298" y="0"/>
                    </a:lnTo>
                    <a:lnTo>
                      <a:pt x="0" y="99"/>
                    </a:lnTo>
                    <a:lnTo>
                      <a:pt x="0" y="318"/>
                    </a:lnTo>
                    <a:lnTo>
                      <a:pt x="180" y="247"/>
                    </a:lnTo>
                    <a:lnTo>
                      <a:pt x="298" y="201"/>
                    </a:lnTo>
                    <a:close/>
                  </a:path>
                </a:pathLst>
              </a:custGeom>
              <a:solidFill>
                <a:srgbClr val="DC7F0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03" name="Freeform 131">
                <a:extLst>
                  <a:ext uri="{FF2B5EF4-FFF2-40B4-BE49-F238E27FC236}">
                    <a16:creationId xmlns:a16="http://schemas.microsoft.com/office/drawing/2014/main" id="{EC8BC738-A341-7DDF-0BEF-0F7A130B9585}"/>
                  </a:ext>
                </a:extLst>
              </p:cNvPr>
              <p:cNvSpPr>
                <a:spLocks/>
              </p:cNvSpPr>
              <p:nvPr/>
            </p:nvSpPr>
            <p:spPr bwMode="auto">
              <a:xfrm>
                <a:off x="2252" y="2040"/>
                <a:ext cx="227" cy="276"/>
              </a:xfrm>
              <a:custGeom>
                <a:avLst/>
                <a:gdLst>
                  <a:gd name="T0" fmla="*/ 180 w 180"/>
                  <a:gd name="T1" fmla="*/ 0 h 307"/>
                  <a:gd name="T2" fmla="*/ 0 w 180"/>
                  <a:gd name="T3" fmla="*/ 71 h 307"/>
                  <a:gd name="T4" fmla="*/ 0 w 180"/>
                  <a:gd name="T5" fmla="*/ 306 h 307"/>
                  <a:gd name="T6" fmla="*/ 1 w 180"/>
                  <a:gd name="T7" fmla="*/ 307 h 307"/>
                  <a:gd name="T8" fmla="*/ 180 w 180"/>
                  <a:gd name="T9" fmla="*/ 229 h 307"/>
                  <a:gd name="T10" fmla="*/ 180 w 180"/>
                  <a:gd name="T11" fmla="*/ 0 h 307"/>
                </a:gdLst>
                <a:ahLst/>
                <a:cxnLst>
                  <a:cxn ang="0">
                    <a:pos x="T0" y="T1"/>
                  </a:cxn>
                  <a:cxn ang="0">
                    <a:pos x="T2" y="T3"/>
                  </a:cxn>
                  <a:cxn ang="0">
                    <a:pos x="T4" y="T5"/>
                  </a:cxn>
                  <a:cxn ang="0">
                    <a:pos x="T6" y="T7"/>
                  </a:cxn>
                  <a:cxn ang="0">
                    <a:pos x="T8" y="T9"/>
                  </a:cxn>
                  <a:cxn ang="0">
                    <a:pos x="T10" y="T11"/>
                  </a:cxn>
                </a:cxnLst>
                <a:rect l="0" t="0" r="r" b="b"/>
                <a:pathLst>
                  <a:path w="180" h="307">
                    <a:moveTo>
                      <a:pt x="180" y="0"/>
                    </a:moveTo>
                    <a:lnTo>
                      <a:pt x="0" y="71"/>
                    </a:lnTo>
                    <a:lnTo>
                      <a:pt x="0" y="306"/>
                    </a:lnTo>
                    <a:lnTo>
                      <a:pt x="1" y="307"/>
                    </a:lnTo>
                    <a:lnTo>
                      <a:pt x="180" y="229"/>
                    </a:lnTo>
                    <a:lnTo>
                      <a:pt x="180" y="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04" name="Freeform 132">
                <a:extLst>
                  <a:ext uri="{FF2B5EF4-FFF2-40B4-BE49-F238E27FC236}">
                    <a16:creationId xmlns:a16="http://schemas.microsoft.com/office/drawing/2014/main" id="{89AF9F8C-B17B-CFE2-1CF9-97262E136AFE}"/>
                  </a:ext>
                </a:extLst>
              </p:cNvPr>
              <p:cNvSpPr>
                <a:spLocks/>
              </p:cNvSpPr>
              <p:nvPr/>
            </p:nvSpPr>
            <p:spPr bwMode="auto">
              <a:xfrm>
                <a:off x="2252" y="2186"/>
                <a:ext cx="423" cy="361"/>
              </a:xfrm>
              <a:custGeom>
                <a:avLst/>
                <a:gdLst>
                  <a:gd name="T0" fmla="*/ 334 w 334"/>
                  <a:gd name="T1" fmla="*/ 0 h 400"/>
                  <a:gd name="T2" fmla="*/ 180 w 334"/>
                  <a:gd name="T3" fmla="*/ 67 h 400"/>
                  <a:gd name="T4" fmla="*/ 1 w 334"/>
                  <a:gd name="T5" fmla="*/ 145 h 400"/>
                  <a:gd name="T6" fmla="*/ 0 w 334"/>
                  <a:gd name="T7" fmla="*/ 145 h 400"/>
                  <a:gd name="T8" fmla="*/ 0 w 334"/>
                  <a:gd name="T9" fmla="*/ 400 h 400"/>
                  <a:gd name="T10" fmla="*/ 196 w 334"/>
                  <a:gd name="T11" fmla="*/ 305 h 400"/>
                  <a:gd name="T12" fmla="*/ 334 w 334"/>
                  <a:gd name="T13" fmla="*/ 238 h 400"/>
                  <a:gd name="T14" fmla="*/ 334 w 334"/>
                  <a:gd name="T15" fmla="*/ 0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4" h="400">
                    <a:moveTo>
                      <a:pt x="334" y="0"/>
                    </a:moveTo>
                    <a:lnTo>
                      <a:pt x="180" y="67"/>
                    </a:lnTo>
                    <a:lnTo>
                      <a:pt x="1" y="145"/>
                    </a:lnTo>
                    <a:lnTo>
                      <a:pt x="0" y="145"/>
                    </a:lnTo>
                    <a:lnTo>
                      <a:pt x="0" y="400"/>
                    </a:lnTo>
                    <a:lnTo>
                      <a:pt x="196" y="305"/>
                    </a:lnTo>
                    <a:lnTo>
                      <a:pt x="334" y="238"/>
                    </a:lnTo>
                    <a:lnTo>
                      <a:pt x="334" y="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05" name="Freeform 133">
                <a:extLst>
                  <a:ext uri="{FF2B5EF4-FFF2-40B4-BE49-F238E27FC236}">
                    <a16:creationId xmlns:a16="http://schemas.microsoft.com/office/drawing/2014/main" id="{7F38B6B0-CF56-31C6-C66E-15A57298D816}"/>
                  </a:ext>
                </a:extLst>
              </p:cNvPr>
              <p:cNvSpPr>
                <a:spLocks/>
              </p:cNvSpPr>
              <p:nvPr/>
            </p:nvSpPr>
            <p:spPr bwMode="auto">
              <a:xfrm>
                <a:off x="2124" y="2067"/>
                <a:ext cx="128" cy="249"/>
              </a:xfrm>
              <a:custGeom>
                <a:avLst/>
                <a:gdLst>
                  <a:gd name="T0" fmla="*/ 104 w 104"/>
                  <a:gd name="T1" fmla="*/ 40 h 275"/>
                  <a:gd name="T2" fmla="*/ 0 w 104"/>
                  <a:gd name="T3" fmla="*/ 0 h 275"/>
                  <a:gd name="T4" fmla="*/ 0 w 104"/>
                  <a:gd name="T5" fmla="*/ 235 h 275"/>
                  <a:gd name="T6" fmla="*/ 104 w 104"/>
                  <a:gd name="T7" fmla="*/ 275 h 275"/>
                  <a:gd name="T8" fmla="*/ 104 w 104"/>
                  <a:gd name="T9" fmla="*/ 40 h 275"/>
                </a:gdLst>
                <a:ahLst/>
                <a:cxnLst>
                  <a:cxn ang="0">
                    <a:pos x="T0" y="T1"/>
                  </a:cxn>
                  <a:cxn ang="0">
                    <a:pos x="T2" y="T3"/>
                  </a:cxn>
                  <a:cxn ang="0">
                    <a:pos x="T4" y="T5"/>
                  </a:cxn>
                  <a:cxn ang="0">
                    <a:pos x="T6" y="T7"/>
                  </a:cxn>
                  <a:cxn ang="0">
                    <a:pos x="T8" y="T9"/>
                  </a:cxn>
                </a:cxnLst>
                <a:rect l="0" t="0" r="r" b="b"/>
                <a:pathLst>
                  <a:path w="104" h="275">
                    <a:moveTo>
                      <a:pt x="104" y="40"/>
                    </a:moveTo>
                    <a:lnTo>
                      <a:pt x="0" y="0"/>
                    </a:lnTo>
                    <a:lnTo>
                      <a:pt x="0" y="235"/>
                    </a:lnTo>
                    <a:lnTo>
                      <a:pt x="104" y="275"/>
                    </a:lnTo>
                    <a:lnTo>
                      <a:pt x="104" y="4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06" name="Freeform 134">
                <a:extLst>
                  <a:ext uri="{FF2B5EF4-FFF2-40B4-BE49-F238E27FC236}">
                    <a16:creationId xmlns:a16="http://schemas.microsoft.com/office/drawing/2014/main" id="{B388F0E5-4BDC-CC54-6FA2-BE4336844906}"/>
                  </a:ext>
                </a:extLst>
              </p:cNvPr>
              <p:cNvSpPr>
                <a:spLocks/>
              </p:cNvSpPr>
              <p:nvPr/>
            </p:nvSpPr>
            <p:spPr bwMode="auto">
              <a:xfrm>
                <a:off x="2124" y="2281"/>
                <a:ext cx="128" cy="266"/>
              </a:xfrm>
              <a:custGeom>
                <a:avLst/>
                <a:gdLst>
                  <a:gd name="T0" fmla="*/ 104 w 104"/>
                  <a:gd name="T1" fmla="*/ 41 h 296"/>
                  <a:gd name="T2" fmla="*/ 104 w 104"/>
                  <a:gd name="T3" fmla="*/ 40 h 296"/>
                  <a:gd name="T4" fmla="*/ 0 w 104"/>
                  <a:gd name="T5" fmla="*/ 0 h 296"/>
                  <a:gd name="T6" fmla="*/ 0 w 104"/>
                  <a:gd name="T7" fmla="*/ 252 h 296"/>
                  <a:gd name="T8" fmla="*/ 104 w 104"/>
                  <a:gd name="T9" fmla="*/ 296 h 296"/>
                  <a:gd name="T10" fmla="*/ 104 w 104"/>
                  <a:gd name="T11" fmla="*/ 41 h 296"/>
                </a:gdLst>
                <a:ahLst/>
                <a:cxnLst>
                  <a:cxn ang="0">
                    <a:pos x="T0" y="T1"/>
                  </a:cxn>
                  <a:cxn ang="0">
                    <a:pos x="T2" y="T3"/>
                  </a:cxn>
                  <a:cxn ang="0">
                    <a:pos x="T4" y="T5"/>
                  </a:cxn>
                  <a:cxn ang="0">
                    <a:pos x="T6" y="T7"/>
                  </a:cxn>
                  <a:cxn ang="0">
                    <a:pos x="T8" y="T9"/>
                  </a:cxn>
                  <a:cxn ang="0">
                    <a:pos x="T10" y="T11"/>
                  </a:cxn>
                </a:cxnLst>
                <a:rect l="0" t="0" r="r" b="b"/>
                <a:pathLst>
                  <a:path w="104" h="296">
                    <a:moveTo>
                      <a:pt x="104" y="41"/>
                    </a:moveTo>
                    <a:lnTo>
                      <a:pt x="104" y="40"/>
                    </a:lnTo>
                    <a:lnTo>
                      <a:pt x="0" y="0"/>
                    </a:lnTo>
                    <a:lnTo>
                      <a:pt x="0" y="252"/>
                    </a:lnTo>
                    <a:lnTo>
                      <a:pt x="104" y="296"/>
                    </a:lnTo>
                    <a:lnTo>
                      <a:pt x="104" y="41"/>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07" name="Freeform 135">
                <a:extLst>
                  <a:ext uri="{FF2B5EF4-FFF2-40B4-BE49-F238E27FC236}">
                    <a16:creationId xmlns:a16="http://schemas.microsoft.com/office/drawing/2014/main" id="{6887473F-64BA-5267-789E-F0D420724628}"/>
                  </a:ext>
                </a:extLst>
              </p:cNvPr>
              <p:cNvSpPr>
                <a:spLocks/>
              </p:cNvSpPr>
              <p:nvPr/>
            </p:nvSpPr>
            <p:spPr bwMode="auto">
              <a:xfrm>
                <a:off x="2252" y="2463"/>
                <a:ext cx="249" cy="282"/>
              </a:xfrm>
              <a:custGeom>
                <a:avLst/>
                <a:gdLst>
                  <a:gd name="T0" fmla="*/ 1 w 196"/>
                  <a:gd name="T1" fmla="*/ 312 h 312"/>
                  <a:gd name="T2" fmla="*/ 196 w 196"/>
                  <a:gd name="T3" fmla="*/ 211 h 312"/>
                  <a:gd name="T4" fmla="*/ 196 w 196"/>
                  <a:gd name="T5" fmla="*/ 0 h 312"/>
                  <a:gd name="T6" fmla="*/ 0 w 196"/>
                  <a:gd name="T7" fmla="*/ 95 h 312"/>
                  <a:gd name="T8" fmla="*/ 0 w 196"/>
                  <a:gd name="T9" fmla="*/ 309 h 312"/>
                  <a:gd name="T10" fmla="*/ 1 w 196"/>
                  <a:gd name="T11" fmla="*/ 312 h 312"/>
                </a:gdLst>
                <a:ahLst/>
                <a:cxnLst>
                  <a:cxn ang="0">
                    <a:pos x="T0" y="T1"/>
                  </a:cxn>
                  <a:cxn ang="0">
                    <a:pos x="T2" y="T3"/>
                  </a:cxn>
                  <a:cxn ang="0">
                    <a:pos x="T4" y="T5"/>
                  </a:cxn>
                  <a:cxn ang="0">
                    <a:pos x="T6" y="T7"/>
                  </a:cxn>
                  <a:cxn ang="0">
                    <a:pos x="T8" y="T9"/>
                  </a:cxn>
                  <a:cxn ang="0">
                    <a:pos x="T10" y="T11"/>
                  </a:cxn>
                </a:cxnLst>
                <a:rect l="0" t="0" r="r" b="b"/>
                <a:pathLst>
                  <a:path w="196" h="312">
                    <a:moveTo>
                      <a:pt x="1" y="312"/>
                    </a:moveTo>
                    <a:lnTo>
                      <a:pt x="196" y="211"/>
                    </a:lnTo>
                    <a:lnTo>
                      <a:pt x="196" y="0"/>
                    </a:lnTo>
                    <a:lnTo>
                      <a:pt x="0" y="95"/>
                    </a:lnTo>
                    <a:lnTo>
                      <a:pt x="0" y="309"/>
                    </a:lnTo>
                    <a:lnTo>
                      <a:pt x="1" y="312"/>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08" name="Freeform 136">
                <a:extLst>
                  <a:ext uri="{FF2B5EF4-FFF2-40B4-BE49-F238E27FC236}">
                    <a16:creationId xmlns:a16="http://schemas.microsoft.com/office/drawing/2014/main" id="{6805F953-4F41-7B49-E063-E839B2C7ED9D}"/>
                  </a:ext>
                </a:extLst>
              </p:cNvPr>
              <p:cNvSpPr>
                <a:spLocks/>
              </p:cNvSpPr>
              <p:nvPr/>
            </p:nvSpPr>
            <p:spPr bwMode="auto">
              <a:xfrm>
                <a:off x="2124" y="2509"/>
                <a:ext cx="128" cy="233"/>
              </a:xfrm>
              <a:custGeom>
                <a:avLst/>
                <a:gdLst>
                  <a:gd name="T0" fmla="*/ 104 w 104"/>
                  <a:gd name="T1" fmla="*/ 258 h 258"/>
                  <a:gd name="T2" fmla="*/ 104 w 104"/>
                  <a:gd name="T3" fmla="*/ 44 h 258"/>
                  <a:gd name="T4" fmla="*/ 0 w 104"/>
                  <a:gd name="T5" fmla="*/ 0 h 258"/>
                  <a:gd name="T6" fmla="*/ 1 w 104"/>
                  <a:gd name="T7" fmla="*/ 209 h 258"/>
                  <a:gd name="T8" fmla="*/ 104 w 104"/>
                  <a:gd name="T9" fmla="*/ 258 h 258"/>
                </a:gdLst>
                <a:ahLst/>
                <a:cxnLst>
                  <a:cxn ang="0">
                    <a:pos x="T0" y="T1"/>
                  </a:cxn>
                  <a:cxn ang="0">
                    <a:pos x="T2" y="T3"/>
                  </a:cxn>
                  <a:cxn ang="0">
                    <a:pos x="T4" y="T5"/>
                  </a:cxn>
                  <a:cxn ang="0">
                    <a:pos x="T6" y="T7"/>
                  </a:cxn>
                  <a:cxn ang="0">
                    <a:pos x="T8" y="T9"/>
                  </a:cxn>
                </a:cxnLst>
                <a:rect l="0" t="0" r="r" b="b"/>
                <a:pathLst>
                  <a:path w="104" h="258">
                    <a:moveTo>
                      <a:pt x="104" y="258"/>
                    </a:moveTo>
                    <a:lnTo>
                      <a:pt x="104" y="44"/>
                    </a:lnTo>
                    <a:lnTo>
                      <a:pt x="0" y="0"/>
                    </a:lnTo>
                    <a:lnTo>
                      <a:pt x="1" y="209"/>
                    </a:lnTo>
                    <a:lnTo>
                      <a:pt x="104" y="258"/>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09" name="Line 137">
                <a:extLst>
                  <a:ext uri="{FF2B5EF4-FFF2-40B4-BE49-F238E27FC236}">
                    <a16:creationId xmlns:a16="http://schemas.microsoft.com/office/drawing/2014/main" id="{64EA450B-9030-6C48-2112-A5E3595B49D1}"/>
                  </a:ext>
                </a:extLst>
              </p:cNvPr>
              <p:cNvSpPr>
                <a:spLocks noChangeShapeType="1"/>
              </p:cNvSpPr>
              <p:nvPr/>
            </p:nvSpPr>
            <p:spPr bwMode="auto">
              <a:xfrm flipH="1" flipV="1">
                <a:off x="2124" y="2696"/>
                <a:ext cx="128" cy="46"/>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10" name="Line 138">
                <a:extLst>
                  <a:ext uri="{FF2B5EF4-FFF2-40B4-BE49-F238E27FC236}">
                    <a16:creationId xmlns:a16="http://schemas.microsoft.com/office/drawing/2014/main" id="{905408F2-A396-7E11-2403-6C02C6D32738}"/>
                  </a:ext>
                </a:extLst>
              </p:cNvPr>
              <p:cNvSpPr>
                <a:spLocks noChangeShapeType="1"/>
              </p:cNvSpPr>
              <p:nvPr/>
            </p:nvSpPr>
            <p:spPr bwMode="auto">
              <a:xfrm flipH="1" flipV="1">
                <a:off x="2124" y="2067"/>
                <a:ext cx="128" cy="38"/>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11" name="Line 139">
                <a:extLst>
                  <a:ext uri="{FF2B5EF4-FFF2-40B4-BE49-F238E27FC236}">
                    <a16:creationId xmlns:a16="http://schemas.microsoft.com/office/drawing/2014/main" id="{8A565913-3747-9E0F-9CD1-7D9215762788}"/>
                  </a:ext>
                </a:extLst>
              </p:cNvPr>
              <p:cNvSpPr>
                <a:spLocks noChangeShapeType="1"/>
              </p:cNvSpPr>
              <p:nvPr/>
            </p:nvSpPr>
            <p:spPr bwMode="auto">
              <a:xfrm flipH="1" flipV="1">
                <a:off x="2124" y="2509"/>
                <a:ext cx="128" cy="38"/>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12" name="Line 140">
                <a:extLst>
                  <a:ext uri="{FF2B5EF4-FFF2-40B4-BE49-F238E27FC236}">
                    <a16:creationId xmlns:a16="http://schemas.microsoft.com/office/drawing/2014/main" id="{E14B4260-D402-0740-C3D2-82602654997D}"/>
                  </a:ext>
                </a:extLst>
              </p:cNvPr>
              <p:cNvSpPr>
                <a:spLocks noChangeShapeType="1"/>
              </p:cNvSpPr>
              <p:nvPr/>
            </p:nvSpPr>
            <p:spPr bwMode="auto">
              <a:xfrm>
                <a:off x="2124" y="2281"/>
                <a:ext cx="128" cy="35"/>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13" name="Line 141">
                <a:extLst>
                  <a:ext uri="{FF2B5EF4-FFF2-40B4-BE49-F238E27FC236}">
                    <a16:creationId xmlns:a16="http://schemas.microsoft.com/office/drawing/2014/main" id="{6BACFEF0-2F0B-1D35-2E8F-BA707D89F196}"/>
                  </a:ext>
                </a:extLst>
              </p:cNvPr>
              <p:cNvSpPr>
                <a:spLocks noChangeShapeType="1"/>
              </p:cNvSpPr>
              <p:nvPr/>
            </p:nvSpPr>
            <p:spPr bwMode="auto">
              <a:xfrm flipV="1">
                <a:off x="3094" y="2056"/>
                <a:ext cx="0" cy="198"/>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14" name="Line 142">
                <a:extLst>
                  <a:ext uri="{FF2B5EF4-FFF2-40B4-BE49-F238E27FC236}">
                    <a16:creationId xmlns:a16="http://schemas.microsoft.com/office/drawing/2014/main" id="{1E347C2C-E669-D23A-8D51-4874C79D9A44}"/>
                  </a:ext>
                </a:extLst>
              </p:cNvPr>
              <p:cNvSpPr>
                <a:spLocks noChangeShapeType="1"/>
              </p:cNvSpPr>
              <p:nvPr/>
            </p:nvSpPr>
            <p:spPr bwMode="auto">
              <a:xfrm flipV="1">
                <a:off x="3079" y="1817"/>
                <a:ext cx="200" cy="5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15" name="Freeform 143">
                <a:extLst>
                  <a:ext uri="{FF2B5EF4-FFF2-40B4-BE49-F238E27FC236}">
                    <a16:creationId xmlns:a16="http://schemas.microsoft.com/office/drawing/2014/main" id="{D0646312-D70F-D788-4B59-8EE0C636E22D}"/>
                  </a:ext>
                </a:extLst>
              </p:cNvPr>
              <p:cNvSpPr>
                <a:spLocks/>
              </p:cNvSpPr>
              <p:nvPr/>
            </p:nvSpPr>
            <p:spPr bwMode="auto">
              <a:xfrm>
                <a:off x="2630" y="1926"/>
                <a:ext cx="256" cy="195"/>
              </a:xfrm>
              <a:custGeom>
                <a:avLst/>
                <a:gdLst>
                  <a:gd name="T0" fmla="*/ 204 w 204"/>
                  <a:gd name="T1" fmla="*/ 214 h 214"/>
                  <a:gd name="T2" fmla="*/ 204 w 204"/>
                  <a:gd name="T3" fmla="*/ 0 h 214"/>
                  <a:gd name="T4" fmla="*/ 0 w 204"/>
                  <a:gd name="T5" fmla="*/ 79 h 214"/>
                </a:gdLst>
                <a:ahLst/>
                <a:cxnLst>
                  <a:cxn ang="0">
                    <a:pos x="T0" y="T1"/>
                  </a:cxn>
                  <a:cxn ang="0">
                    <a:pos x="T2" y="T3"/>
                  </a:cxn>
                  <a:cxn ang="0">
                    <a:pos x="T4" y="T5"/>
                  </a:cxn>
                </a:cxnLst>
                <a:rect l="0" t="0" r="r" b="b"/>
                <a:pathLst>
                  <a:path w="204" h="214">
                    <a:moveTo>
                      <a:pt x="204" y="214"/>
                    </a:moveTo>
                    <a:lnTo>
                      <a:pt x="204" y="0"/>
                    </a:lnTo>
                    <a:lnTo>
                      <a:pt x="0" y="79"/>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16" name="Line 144">
                <a:extLst>
                  <a:ext uri="{FF2B5EF4-FFF2-40B4-BE49-F238E27FC236}">
                    <a16:creationId xmlns:a16="http://schemas.microsoft.com/office/drawing/2014/main" id="{656F5FF0-6B4C-652B-8447-4D20371A37D9}"/>
                  </a:ext>
                </a:extLst>
              </p:cNvPr>
              <p:cNvSpPr>
                <a:spLocks noChangeShapeType="1"/>
              </p:cNvSpPr>
              <p:nvPr/>
            </p:nvSpPr>
            <p:spPr bwMode="auto">
              <a:xfrm flipH="1">
                <a:off x="3094" y="1996"/>
                <a:ext cx="185" cy="6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17" name="Line 145">
                <a:extLst>
                  <a:ext uri="{FF2B5EF4-FFF2-40B4-BE49-F238E27FC236}">
                    <a16:creationId xmlns:a16="http://schemas.microsoft.com/office/drawing/2014/main" id="{F90D7F81-0972-438E-F166-EA5BC6881375}"/>
                  </a:ext>
                </a:extLst>
              </p:cNvPr>
              <p:cNvSpPr>
                <a:spLocks noChangeShapeType="1"/>
              </p:cNvSpPr>
              <p:nvPr/>
            </p:nvSpPr>
            <p:spPr bwMode="auto">
              <a:xfrm flipH="1">
                <a:off x="3094" y="2186"/>
                <a:ext cx="196" cy="68"/>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18" name="Line 146">
                <a:extLst>
                  <a:ext uri="{FF2B5EF4-FFF2-40B4-BE49-F238E27FC236}">
                    <a16:creationId xmlns:a16="http://schemas.microsoft.com/office/drawing/2014/main" id="{CDEDADCE-0A31-1082-3748-52B74EAC02EE}"/>
                  </a:ext>
                </a:extLst>
              </p:cNvPr>
              <p:cNvSpPr>
                <a:spLocks noChangeShapeType="1"/>
              </p:cNvSpPr>
              <p:nvPr/>
            </p:nvSpPr>
            <p:spPr bwMode="auto">
              <a:xfrm flipH="1">
                <a:off x="3456" y="2105"/>
                <a:ext cx="61" cy="2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19" name="Line 147">
                <a:extLst>
                  <a:ext uri="{FF2B5EF4-FFF2-40B4-BE49-F238E27FC236}">
                    <a16:creationId xmlns:a16="http://schemas.microsoft.com/office/drawing/2014/main" id="{5BB7A2AE-8DEC-FA90-0B69-9B015653A246}"/>
                  </a:ext>
                </a:extLst>
              </p:cNvPr>
              <p:cNvSpPr>
                <a:spLocks noChangeShapeType="1"/>
              </p:cNvSpPr>
              <p:nvPr/>
            </p:nvSpPr>
            <p:spPr bwMode="auto">
              <a:xfrm>
                <a:off x="2675" y="2186"/>
                <a:ext cx="0" cy="21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20" name="Line 148">
                <a:extLst>
                  <a:ext uri="{FF2B5EF4-FFF2-40B4-BE49-F238E27FC236}">
                    <a16:creationId xmlns:a16="http://schemas.microsoft.com/office/drawing/2014/main" id="{1139162A-8939-77CE-B7C7-365517D3C8B1}"/>
                  </a:ext>
                </a:extLst>
              </p:cNvPr>
              <p:cNvSpPr>
                <a:spLocks noChangeShapeType="1"/>
              </p:cNvSpPr>
              <p:nvPr/>
            </p:nvSpPr>
            <p:spPr bwMode="auto">
              <a:xfrm flipV="1">
                <a:off x="3460" y="1923"/>
                <a:ext cx="57" cy="16"/>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21" name="Freeform 149">
                <a:extLst>
                  <a:ext uri="{FF2B5EF4-FFF2-40B4-BE49-F238E27FC236}">
                    <a16:creationId xmlns:a16="http://schemas.microsoft.com/office/drawing/2014/main" id="{B60F69FE-9DC2-DD70-8A1A-02FB12DEA7B2}"/>
                  </a:ext>
                </a:extLst>
              </p:cNvPr>
              <p:cNvSpPr>
                <a:spLocks/>
              </p:cNvSpPr>
              <p:nvPr/>
            </p:nvSpPr>
            <p:spPr bwMode="auto">
              <a:xfrm>
                <a:off x="3279" y="1942"/>
                <a:ext cx="177" cy="184"/>
              </a:xfrm>
              <a:custGeom>
                <a:avLst/>
                <a:gdLst>
                  <a:gd name="T0" fmla="*/ 0 w 141"/>
                  <a:gd name="T1" fmla="*/ 61 h 205"/>
                  <a:gd name="T2" fmla="*/ 141 w 141"/>
                  <a:gd name="T3" fmla="*/ 0 h 205"/>
                  <a:gd name="T4" fmla="*/ 141 w 141"/>
                  <a:gd name="T5" fmla="*/ 205 h 205"/>
                </a:gdLst>
                <a:ahLst/>
                <a:cxnLst>
                  <a:cxn ang="0">
                    <a:pos x="T0" y="T1"/>
                  </a:cxn>
                  <a:cxn ang="0">
                    <a:pos x="T2" y="T3"/>
                  </a:cxn>
                  <a:cxn ang="0">
                    <a:pos x="T4" y="T5"/>
                  </a:cxn>
                </a:cxnLst>
                <a:rect l="0" t="0" r="r" b="b"/>
                <a:pathLst>
                  <a:path w="141" h="205">
                    <a:moveTo>
                      <a:pt x="0" y="61"/>
                    </a:moveTo>
                    <a:lnTo>
                      <a:pt x="141" y="0"/>
                    </a:lnTo>
                    <a:lnTo>
                      <a:pt x="141" y="205"/>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22" name="Line 150">
                <a:extLst>
                  <a:ext uri="{FF2B5EF4-FFF2-40B4-BE49-F238E27FC236}">
                    <a16:creationId xmlns:a16="http://schemas.microsoft.com/office/drawing/2014/main" id="{2D62E655-E8CA-BFB3-6520-267E566F8082}"/>
                  </a:ext>
                </a:extLst>
              </p:cNvPr>
              <p:cNvSpPr>
                <a:spLocks noChangeShapeType="1"/>
              </p:cNvSpPr>
              <p:nvPr/>
            </p:nvSpPr>
            <p:spPr bwMode="auto">
              <a:xfrm>
                <a:off x="3079" y="1709"/>
                <a:ext cx="0" cy="16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23" name="Line 151">
                <a:extLst>
                  <a:ext uri="{FF2B5EF4-FFF2-40B4-BE49-F238E27FC236}">
                    <a16:creationId xmlns:a16="http://schemas.microsoft.com/office/drawing/2014/main" id="{1950D068-7B13-95B9-EE78-77F4285ABA31}"/>
                  </a:ext>
                </a:extLst>
              </p:cNvPr>
              <p:cNvSpPr>
                <a:spLocks noChangeShapeType="1"/>
              </p:cNvSpPr>
              <p:nvPr/>
            </p:nvSpPr>
            <p:spPr bwMode="auto">
              <a:xfrm flipH="1">
                <a:off x="3279" y="1771"/>
                <a:ext cx="158" cy="46"/>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24" name="Line 152">
                <a:extLst>
                  <a:ext uri="{FF2B5EF4-FFF2-40B4-BE49-F238E27FC236}">
                    <a16:creationId xmlns:a16="http://schemas.microsoft.com/office/drawing/2014/main" id="{0FC8483A-6DC7-178B-A0A3-467AFD619966}"/>
                  </a:ext>
                </a:extLst>
              </p:cNvPr>
              <p:cNvSpPr>
                <a:spLocks noChangeShapeType="1"/>
              </p:cNvSpPr>
              <p:nvPr/>
            </p:nvSpPr>
            <p:spPr bwMode="auto">
              <a:xfrm flipH="1">
                <a:off x="3290" y="2126"/>
                <a:ext cx="166" cy="6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25" name="Line 153">
                <a:extLst>
                  <a:ext uri="{FF2B5EF4-FFF2-40B4-BE49-F238E27FC236}">
                    <a16:creationId xmlns:a16="http://schemas.microsoft.com/office/drawing/2014/main" id="{3B909C82-9C27-6180-2B05-50E7A5B0B8F6}"/>
                  </a:ext>
                </a:extLst>
              </p:cNvPr>
              <p:cNvSpPr>
                <a:spLocks noChangeShapeType="1"/>
              </p:cNvSpPr>
              <p:nvPr/>
            </p:nvSpPr>
            <p:spPr bwMode="auto">
              <a:xfrm flipH="1">
                <a:off x="3437" y="1749"/>
                <a:ext cx="80" cy="2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26" name="Line 154">
                <a:extLst>
                  <a:ext uri="{FF2B5EF4-FFF2-40B4-BE49-F238E27FC236}">
                    <a16:creationId xmlns:a16="http://schemas.microsoft.com/office/drawing/2014/main" id="{F07F2473-23F2-E43C-5354-F4EC444B97D3}"/>
                  </a:ext>
                </a:extLst>
              </p:cNvPr>
              <p:cNvSpPr>
                <a:spLocks noChangeShapeType="1"/>
              </p:cNvSpPr>
              <p:nvPr/>
            </p:nvSpPr>
            <p:spPr bwMode="auto">
              <a:xfrm flipV="1">
                <a:off x="3437" y="1622"/>
                <a:ext cx="0" cy="149"/>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27" name="Line 155">
                <a:extLst>
                  <a:ext uri="{FF2B5EF4-FFF2-40B4-BE49-F238E27FC236}">
                    <a16:creationId xmlns:a16="http://schemas.microsoft.com/office/drawing/2014/main" id="{4055DD95-AB62-F60D-676C-48C01F44AA18}"/>
                  </a:ext>
                </a:extLst>
              </p:cNvPr>
              <p:cNvSpPr>
                <a:spLocks noChangeShapeType="1"/>
              </p:cNvSpPr>
              <p:nvPr/>
            </p:nvSpPr>
            <p:spPr bwMode="auto">
              <a:xfrm flipV="1">
                <a:off x="3456" y="2297"/>
                <a:ext cx="0" cy="14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28" name="Line 156">
                <a:extLst>
                  <a:ext uri="{FF2B5EF4-FFF2-40B4-BE49-F238E27FC236}">
                    <a16:creationId xmlns:a16="http://schemas.microsoft.com/office/drawing/2014/main" id="{450008AC-6F39-769E-33B9-02CC64E20288}"/>
                  </a:ext>
                </a:extLst>
              </p:cNvPr>
              <p:cNvSpPr>
                <a:spLocks noChangeShapeType="1"/>
              </p:cNvSpPr>
              <p:nvPr/>
            </p:nvSpPr>
            <p:spPr bwMode="auto">
              <a:xfrm flipV="1">
                <a:off x="3456" y="2276"/>
                <a:ext cx="61" cy="2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29" name="Line 157">
                <a:extLst>
                  <a:ext uri="{FF2B5EF4-FFF2-40B4-BE49-F238E27FC236}">
                    <a16:creationId xmlns:a16="http://schemas.microsoft.com/office/drawing/2014/main" id="{7C34ABE4-BD72-371C-7927-84239B265443}"/>
                  </a:ext>
                </a:extLst>
              </p:cNvPr>
              <p:cNvSpPr>
                <a:spLocks noChangeShapeType="1"/>
              </p:cNvSpPr>
              <p:nvPr/>
            </p:nvSpPr>
            <p:spPr bwMode="auto">
              <a:xfrm>
                <a:off x="3098" y="2430"/>
                <a:ext cx="0" cy="16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30" name="Line 158">
                <a:extLst>
                  <a:ext uri="{FF2B5EF4-FFF2-40B4-BE49-F238E27FC236}">
                    <a16:creationId xmlns:a16="http://schemas.microsoft.com/office/drawing/2014/main" id="{ED398CFD-E81B-5B55-6BA9-6AA2ECE0B4C8}"/>
                  </a:ext>
                </a:extLst>
              </p:cNvPr>
              <p:cNvSpPr>
                <a:spLocks noChangeShapeType="1"/>
              </p:cNvSpPr>
              <p:nvPr/>
            </p:nvSpPr>
            <p:spPr bwMode="auto">
              <a:xfrm flipH="1">
                <a:off x="2886" y="2056"/>
                <a:ext cx="208"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31" name="Line 159">
                <a:extLst>
                  <a:ext uri="{FF2B5EF4-FFF2-40B4-BE49-F238E27FC236}">
                    <a16:creationId xmlns:a16="http://schemas.microsoft.com/office/drawing/2014/main" id="{5FF0B5AE-4EA5-8665-7915-7F8D775A5039}"/>
                  </a:ext>
                </a:extLst>
              </p:cNvPr>
              <p:cNvSpPr>
                <a:spLocks noChangeShapeType="1"/>
              </p:cNvSpPr>
              <p:nvPr/>
            </p:nvSpPr>
            <p:spPr bwMode="auto">
              <a:xfrm flipH="1">
                <a:off x="2905" y="2430"/>
                <a:ext cx="193" cy="7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32" name="Freeform 160">
                <a:extLst>
                  <a:ext uri="{FF2B5EF4-FFF2-40B4-BE49-F238E27FC236}">
                    <a16:creationId xmlns:a16="http://schemas.microsoft.com/office/drawing/2014/main" id="{498D0047-562B-EA57-F284-AFA502E3456D}"/>
                  </a:ext>
                </a:extLst>
              </p:cNvPr>
              <p:cNvSpPr>
                <a:spLocks/>
              </p:cNvSpPr>
              <p:nvPr/>
            </p:nvSpPr>
            <p:spPr bwMode="auto">
              <a:xfrm>
                <a:off x="2675" y="2319"/>
                <a:ext cx="230" cy="184"/>
              </a:xfrm>
              <a:custGeom>
                <a:avLst/>
                <a:gdLst>
                  <a:gd name="T0" fmla="*/ 183 w 183"/>
                  <a:gd name="T1" fmla="*/ 202 h 202"/>
                  <a:gd name="T2" fmla="*/ 183 w 183"/>
                  <a:gd name="T3" fmla="*/ 0 h 202"/>
                  <a:gd name="T4" fmla="*/ 0 w 183"/>
                  <a:gd name="T5" fmla="*/ 90 h 202"/>
                </a:gdLst>
                <a:ahLst/>
                <a:cxnLst>
                  <a:cxn ang="0">
                    <a:pos x="T0" y="T1"/>
                  </a:cxn>
                  <a:cxn ang="0">
                    <a:pos x="T2" y="T3"/>
                  </a:cxn>
                  <a:cxn ang="0">
                    <a:pos x="T4" y="T5"/>
                  </a:cxn>
                </a:cxnLst>
                <a:rect l="0" t="0" r="r" b="b"/>
                <a:pathLst>
                  <a:path w="183" h="202">
                    <a:moveTo>
                      <a:pt x="183" y="202"/>
                    </a:moveTo>
                    <a:lnTo>
                      <a:pt x="183" y="0"/>
                    </a:lnTo>
                    <a:lnTo>
                      <a:pt x="0" y="90"/>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33" name="Line 161">
                <a:extLst>
                  <a:ext uri="{FF2B5EF4-FFF2-40B4-BE49-F238E27FC236}">
                    <a16:creationId xmlns:a16="http://schemas.microsoft.com/office/drawing/2014/main" id="{F9C794F2-5D9D-CC3E-C5B7-ED2A1F9F0975}"/>
                  </a:ext>
                </a:extLst>
              </p:cNvPr>
              <p:cNvSpPr>
                <a:spLocks noChangeShapeType="1"/>
              </p:cNvSpPr>
              <p:nvPr/>
            </p:nvSpPr>
            <p:spPr bwMode="auto">
              <a:xfrm flipV="1">
                <a:off x="2690" y="2503"/>
                <a:ext cx="215" cy="79"/>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34" name="Line 162">
                <a:extLst>
                  <a:ext uri="{FF2B5EF4-FFF2-40B4-BE49-F238E27FC236}">
                    <a16:creationId xmlns:a16="http://schemas.microsoft.com/office/drawing/2014/main" id="{921D0F2D-7E84-9671-CB31-A167FA995841}"/>
                  </a:ext>
                </a:extLst>
              </p:cNvPr>
              <p:cNvSpPr>
                <a:spLocks noChangeShapeType="1"/>
              </p:cNvSpPr>
              <p:nvPr/>
            </p:nvSpPr>
            <p:spPr bwMode="auto">
              <a:xfrm flipV="1">
                <a:off x="3290" y="2297"/>
                <a:ext cx="166" cy="6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35" name="Line 163">
                <a:extLst>
                  <a:ext uri="{FF2B5EF4-FFF2-40B4-BE49-F238E27FC236}">
                    <a16:creationId xmlns:a16="http://schemas.microsoft.com/office/drawing/2014/main" id="{AD0ED8EF-A9BF-7BAE-5E14-B6BF195001AD}"/>
                  </a:ext>
                </a:extLst>
              </p:cNvPr>
              <p:cNvSpPr>
                <a:spLocks noChangeShapeType="1"/>
              </p:cNvSpPr>
              <p:nvPr/>
            </p:nvSpPr>
            <p:spPr bwMode="auto">
              <a:xfrm flipV="1">
                <a:off x="2909" y="2254"/>
                <a:ext cx="185"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36" name="Line 164">
                <a:extLst>
                  <a:ext uri="{FF2B5EF4-FFF2-40B4-BE49-F238E27FC236}">
                    <a16:creationId xmlns:a16="http://schemas.microsoft.com/office/drawing/2014/main" id="{25478947-EB94-5CE5-9D34-0E18F6F230F2}"/>
                  </a:ext>
                </a:extLst>
              </p:cNvPr>
              <p:cNvSpPr>
                <a:spLocks noChangeShapeType="1"/>
              </p:cNvSpPr>
              <p:nvPr/>
            </p:nvSpPr>
            <p:spPr bwMode="auto">
              <a:xfrm>
                <a:off x="3290" y="2186"/>
                <a:ext cx="0" cy="17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37" name="Line 165">
                <a:extLst>
                  <a:ext uri="{FF2B5EF4-FFF2-40B4-BE49-F238E27FC236}">
                    <a16:creationId xmlns:a16="http://schemas.microsoft.com/office/drawing/2014/main" id="{FE5D9C97-1110-C97A-62A8-EF865FEB0002}"/>
                  </a:ext>
                </a:extLst>
              </p:cNvPr>
              <p:cNvSpPr>
                <a:spLocks noChangeShapeType="1"/>
              </p:cNvSpPr>
              <p:nvPr/>
            </p:nvSpPr>
            <p:spPr bwMode="auto">
              <a:xfrm flipV="1">
                <a:off x="2630" y="1817"/>
                <a:ext cx="0" cy="18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38" name="Line 166">
                <a:extLst>
                  <a:ext uri="{FF2B5EF4-FFF2-40B4-BE49-F238E27FC236}">
                    <a16:creationId xmlns:a16="http://schemas.microsoft.com/office/drawing/2014/main" id="{C9919A7E-1D36-C984-E3C6-866A1DD290B0}"/>
                  </a:ext>
                </a:extLst>
              </p:cNvPr>
              <p:cNvSpPr>
                <a:spLocks noChangeShapeType="1"/>
              </p:cNvSpPr>
              <p:nvPr/>
            </p:nvSpPr>
            <p:spPr bwMode="auto">
              <a:xfrm flipH="1">
                <a:off x="2252" y="2040"/>
                <a:ext cx="227"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39" name="Line 167">
                <a:extLst>
                  <a:ext uri="{FF2B5EF4-FFF2-40B4-BE49-F238E27FC236}">
                    <a16:creationId xmlns:a16="http://schemas.microsoft.com/office/drawing/2014/main" id="{DA8312FC-3CCA-3791-216B-7A83364F2FE4}"/>
                  </a:ext>
                </a:extLst>
              </p:cNvPr>
              <p:cNvSpPr>
                <a:spLocks noChangeShapeType="1"/>
              </p:cNvSpPr>
              <p:nvPr/>
            </p:nvSpPr>
            <p:spPr bwMode="auto">
              <a:xfrm flipH="1">
                <a:off x="2479" y="2186"/>
                <a:ext cx="196" cy="6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40" name="Line 168">
                <a:extLst>
                  <a:ext uri="{FF2B5EF4-FFF2-40B4-BE49-F238E27FC236}">
                    <a16:creationId xmlns:a16="http://schemas.microsoft.com/office/drawing/2014/main" id="{BEBCAA5B-1589-06C2-1616-00B9D707E343}"/>
                  </a:ext>
                </a:extLst>
              </p:cNvPr>
              <p:cNvSpPr>
                <a:spLocks noChangeShapeType="1"/>
              </p:cNvSpPr>
              <p:nvPr/>
            </p:nvSpPr>
            <p:spPr bwMode="auto">
              <a:xfrm flipV="1">
                <a:off x="2479" y="2040"/>
                <a:ext cx="0" cy="206"/>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41" name="Line 169">
                <a:extLst>
                  <a:ext uri="{FF2B5EF4-FFF2-40B4-BE49-F238E27FC236}">
                    <a16:creationId xmlns:a16="http://schemas.microsoft.com/office/drawing/2014/main" id="{517C8A09-FA00-B53D-7926-BC9AEFB3A8C8}"/>
                  </a:ext>
                </a:extLst>
              </p:cNvPr>
              <p:cNvSpPr>
                <a:spLocks noChangeShapeType="1"/>
              </p:cNvSpPr>
              <p:nvPr/>
            </p:nvSpPr>
            <p:spPr bwMode="auto">
              <a:xfrm flipV="1">
                <a:off x="2479" y="1999"/>
                <a:ext cx="151" cy="4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42" name="Line 170">
                <a:extLst>
                  <a:ext uri="{FF2B5EF4-FFF2-40B4-BE49-F238E27FC236}">
                    <a16:creationId xmlns:a16="http://schemas.microsoft.com/office/drawing/2014/main" id="{B9501005-6302-8270-A082-08F2937D5AAB}"/>
                  </a:ext>
                </a:extLst>
              </p:cNvPr>
              <p:cNvSpPr>
                <a:spLocks noChangeShapeType="1"/>
              </p:cNvSpPr>
              <p:nvPr/>
            </p:nvSpPr>
            <p:spPr bwMode="auto">
              <a:xfrm flipV="1">
                <a:off x="2886" y="1871"/>
                <a:ext cx="193" cy="5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43" name="Freeform 171">
                <a:extLst>
                  <a:ext uri="{FF2B5EF4-FFF2-40B4-BE49-F238E27FC236}">
                    <a16:creationId xmlns:a16="http://schemas.microsoft.com/office/drawing/2014/main" id="{90FD0FDE-1DC1-F2D6-5493-8C5DD38DC84B}"/>
                  </a:ext>
                </a:extLst>
              </p:cNvPr>
              <p:cNvSpPr>
                <a:spLocks/>
              </p:cNvSpPr>
              <p:nvPr/>
            </p:nvSpPr>
            <p:spPr bwMode="auto">
              <a:xfrm>
                <a:off x="2252" y="2246"/>
                <a:ext cx="227" cy="70"/>
              </a:xfrm>
              <a:custGeom>
                <a:avLst/>
                <a:gdLst>
                  <a:gd name="T0" fmla="*/ 180 w 180"/>
                  <a:gd name="T1" fmla="*/ 0 h 78"/>
                  <a:gd name="T2" fmla="*/ 1 w 180"/>
                  <a:gd name="T3" fmla="*/ 78 h 78"/>
                  <a:gd name="T4" fmla="*/ 0 w 180"/>
                  <a:gd name="T5" fmla="*/ 78 h 78"/>
                </a:gdLst>
                <a:ahLst/>
                <a:cxnLst>
                  <a:cxn ang="0">
                    <a:pos x="T0" y="T1"/>
                  </a:cxn>
                  <a:cxn ang="0">
                    <a:pos x="T2" y="T3"/>
                  </a:cxn>
                  <a:cxn ang="0">
                    <a:pos x="T4" y="T5"/>
                  </a:cxn>
                </a:cxnLst>
                <a:rect l="0" t="0" r="r" b="b"/>
                <a:pathLst>
                  <a:path w="180" h="78">
                    <a:moveTo>
                      <a:pt x="180" y="0"/>
                    </a:moveTo>
                    <a:lnTo>
                      <a:pt x="1" y="78"/>
                    </a:lnTo>
                    <a:lnTo>
                      <a:pt x="0" y="78"/>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44" name="Freeform 172">
                <a:extLst>
                  <a:ext uri="{FF2B5EF4-FFF2-40B4-BE49-F238E27FC236}">
                    <a16:creationId xmlns:a16="http://schemas.microsoft.com/office/drawing/2014/main" id="{BA7CD843-4FA5-70B4-CA0D-CECE339DD7C8}"/>
                  </a:ext>
                </a:extLst>
              </p:cNvPr>
              <p:cNvSpPr>
                <a:spLocks/>
              </p:cNvSpPr>
              <p:nvPr/>
            </p:nvSpPr>
            <p:spPr bwMode="auto">
              <a:xfrm>
                <a:off x="2252" y="2653"/>
                <a:ext cx="249" cy="92"/>
              </a:xfrm>
              <a:custGeom>
                <a:avLst/>
                <a:gdLst>
                  <a:gd name="T0" fmla="*/ 196 w 196"/>
                  <a:gd name="T1" fmla="*/ 0 h 101"/>
                  <a:gd name="T2" fmla="*/ 1 w 196"/>
                  <a:gd name="T3" fmla="*/ 101 h 101"/>
                  <a:gd name="T4" fmla="*/ 0 w 196"/>
                  <a:gd name="T5" fmla="*/ 101 h 101"/>
                </a:gdLst>
                <a:ahLst/>
                <a:cxnLst>
                  <a:cxn ang="0">
                    <a:pos x="T0" y="T1"/>
                  </a:cxn>
                  <a:cxn ang="0">
                    <a:pos x="T2" y="T3"/>
                  </a:cxn>
                  <a:cxn ang="0">
                    <a:pos x="T4" y="T5"/>
                  </a:cxn>
                </a:cxnLst>
                <a:rect l="0" t="0" r="r" b="b"/>
                <a:pathLst>
                  <a:path w="196" h="101">
                    <a:moveTo>
                      <a:pt x="196" y="0"/>
                    </a:moveTo>
                    <a:lnTo>
                      <a:pt x="1" y="101"/>
                    </a:lnTo>
                    <a:lnTo>
                      <a:pt x="0" y="101"/>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45" name="Line 173">
                <a:extLst>
                  <a:ext uri="{FF2B5EF4-FFF2-40B4-BE49-F238E27FC236}">
                    <a16:creationId xmlns:a16="http://schemas.microsoft.com/office/drawing/2014/main" id="{ADF1D2DC-44BE-1742-0EEA-59C34D8B2E82}"/>
                  </a:ext>
                </a:extLst>
              </p:cNvPr>
              <p:cNvSpPr>
                <a:spLocks noChangeShapeType="1"/>
              </p:cNvSpPr>
              <p:nvPr/>
            </p:nvSpPr>
            <p:spPr bwMode="auto">
              <a:xfrm flipV="1">
                <a:off x="2690" y="2582"/>
                <a:ext cx="0" cy="18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46" name="Line 174">
                <a:extLst>
                  <a:ext uri="{FF2B5EF4-FFF2-40B4-BE49-F238E27FC236}">
                    <a16:creationId xmlns:a16="http://schemas.microsoft.com/office/drawing/2014/main" id="{D8C94C98-5B04-5B30-0009-B676F90EA6B0}"/>
                  </a:ext>
                </a:extLst>
              </p:cNvPr>
              <p:cNvSpPr>
                <a:spLocks noChangeShapeType="1"/>
              </p:cNvSpPr>
              <p:nvPr/>
            </p:nvSpPr>
            <p:spPr bwMode="auto">
              <a:xfrm flipH="1">
                <a:off x="2501" y="2582"/>
                <a:ext cx="189" cy="7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47" name="Line 175">
                <a:extLst>
                  <a:ext uri="{FF2B5EF4-FFF2-40B4-BE49-F238E27FC236}">
                    <a16:creationId xmlns:a16="http://schemas.microsoft.com/office/drawing/2014/main" id="{07EBC1FF-0A23-35F3-F493-A1E7D3C91ECB}"/>
                  </a:ext>
                </a:extLst>
              </p:cNvPr>
              <p:cNvSpPr>
                <a:spLocks noChangeShapeType="1"/>
              </p:cNvSpPr>
              <p:nvPr/>
            </p:nvSpPr>
            <p:spPr bwMode="auto">
              <a:xfrm flipV="1">
                <a:off x="2501" y="2400"/>
                <a:ext cx="174" cy="6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48" name="Line 176">
                <a:extLst>
                  <a:ext uri="{FF2B5EF4-FFF2-40B4-BE49-F238E27FC236}">
                    <a16:creationId xmlns:a16="http://schemas.microsoft.com/office/drawing/2014/main" id="{404811FB-DE4F-DADB-0395-39E0F1D70716}"/>
                  </a:ext>
                </a:extLst>
              </p:cNvPr>
              <p:cNvSpPr>
                <a:spLocks noChangeShapeType="1"/>
              </p:cNvSpPr>
              <p:nvPr/>
            </p:nvSpPr>
            <p:spPr bwMode="auto">
              <a:xfrm>
                <a:off x="2501" y="2463"/>
                <a:ext cx="0" cy="19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49" name="Line 177">
                <a:extLst>
                  <a:ext uri="{FF2B5EF4-FFF2-40B4-BE49-F238E27FC236}">
                    <a16:creationId xmlns:a16="http://schemas.microsoft.com/office/drawing/2014/main" id="{C5E58BB6-1A37-953D-F5CA-E3219A80C8A1}"/>
                  </a:ext>
                </a:extLst>
              </p:cNvPr>
              <p:cNvSpPr>
                <a:spLocks noChangeShapeType="1"/>
              </p:cNvSpPr>
              <p:nvPr/>
            </p:nvSpPr>
            <p:spPr bwMode="auto">
              <a:xfrm flipV="1">
                <a:off x="2252" y="2463"/>
                <a:ext cx="249" cy="8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50" name="Line 178">
                <a:extLst>
                  <a:ext uri="{FF2B5EF4-FFF2-40B4-BE49-F238E27FC236}">
                    <a16:creationId xmlns:a16="http://schemas.microsoft.com/office/drawing/2014/main" id="{08FE755C-3737-4BD2-BED1-7D82DA0340DD}"/>
                  </a:ext>
                </a:extLst>
              </p:cNvPr>
              <p:cNvSpPr>
                <a:spLocks noChangeShapeType="1"/>
              </p:cNvSpPr>
              <p:nvPr/>
            </p:nvSpPr>
            <p:spPr bwMode="auto">
              <a:xfrm flipH="1">
                <a:off x="3098" y="2360"/>
                <a:ext cx="192" cy="7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51" name="Line 179">
                <a:extLst>
                  <a:ext uri="{FF2B5EF4-FFF2-40B4-BE49-F238E27FC236}">
                    <a16:creationId xmlns:a16="http://schemas.microsoft.com/office/drawing/2014/main" id="{1F1DD3CC-5543-ADCA-A173-15EF20EF0F26}"/>
                  </a:ext>
                </a:extLst>
              </p:cNvPr>
              <p:cNvSpPr>
                <a:spLocks noChangeShapeType="1"/>
              </p:cNvSpPr>
              <p:nvPr/>
            </p:nvSpPr>
            <p:spPr bwMode="auto">
              <a:xfrm>
                <a:off x="3279" y="1817"/>
                <a:ext cx="0" cy="179"/>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52" name="Line 180">
                <a:extLst>
                  <a:ext uri="{FF2B5EF4-FFF2-40B4-BE49-F238E27FC236}">
                    <a16:creationId xmlns:a16="http://schemas.microsoft.com/office/drawing/2014/main" id="{6FFE4947-CC96-F94C-808F-90352FF2CE2C}"/>
                  </a:ext>
                </a:extLst>
              </p:cNvPr>
              <p:cNvSpPr>
                <a:spLocks noChangeShapeType="1"/>
              </p:cNvSpPr>
              <p:nvPr/>
            </p:nvSpPr>
            <p:spPr bwMode="auto">
              <a:xfrm flipH="1">
                <a:off x="2675" y="2121"/>
                <a:ext cx="211"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53" name="Line 181">
                <a:extLst>
                  <a:ext uri="{FF2B5EF4-FFF2-40B4-BE49-F238E27FC236}">
                    <a16:creationId xmlns:a16="http://schemas.microsoft.com/office/drawing/2014/main" id="{66C97F11-2E11-B6BA-F262-C4043F04DC35}"/>
                  </a:ext>
                </a:extLst>
              </p:cNvPr>
              <p:cNvSpPr>
                <a:spLocks noChangeShapeType="1"/>
              </p:cNvSpPr>
              <p:nvPr/>
            </p:nvSpPr>
            <p:spPr bwMode="auto">
              <a:xfrm flipV="1">
                <a:off x="2886" y="1926"/>
                <a:ext cx="0" cy="0"/>
              </a:xfrm>
              <a:prstGeom prst="line">
                <a:avLst/>
              </a:prstGeom>
              <a:noFill/>
              <a:ln w="0">
                <a:solidFill>
                  <a:srgbClr val="C8C8C8"/>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54" name="Line 182">
                <a:extLst>
                  <a:ext uri="{FF2B5EF4-FFF2-40B4-BE49-F238E27FC236}">
                    <a16:creationId xmlns:a16="http://schemas.microsoft.com/office/drawing/2014/main" id="{03EA1664-D1C4-1068-8AAA-BDDC6EFA8A45}"/>
                  </a:ext>
                </a:extLst>
              </p:cNvPr>
              <p:cNvSpPr>
                <a:spLocks noChangeShapeType="1"/>
              </p:cNvSpPr>
              <p:nvPr/>
            </p:nvSpPr>
            <p:spPr bwMode="auto">
              <a:xfrm flipV="1">
                <a:off x="3456" y="1939"/>
                <a:ext cx="4" cy="3"/>
              </a:xfrm>
              <a:prstGeom prst="line">
                <a:avLst/>
              </a:prstGeom>
              <a:noFill/>
              <a:ln w="0">
                <a:solidFill>
                  <a:srgbClr val="C8C8C8"/>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55" name="Line 183">
                <a:extLst>
                  <a:ext uri="{FF2B5EF4-FFF2-40B4-BE49-F238E27FC236}">
                    <a16:creationId xmlns:a16="http://schemas.microsoft.com/office/drawing/2014/main" id="{1B4023D4-CF66-E5F2-DD94-CA469B230A24}"/>
                  </a:ext>
                </a:extLst>
              </p:cNvPr>
              <p:cNvSpPr>
                <a:spLocks noChangeShapeType="1"/>
              </p:cNvSpPr>
              <p:nvPr/>
            </p:nvSpPr>
            <p:spPr bwMode="auto">
              <a:xfrm>
                <a:off x="2905" y="2319"/>
                <a:ext cx="4" cy="0"/>
              </a:xfrm>
              <a:prstGeom prst="line">
                <a:avLst/>
              </a:prstGeom>
              <a:noFill/>
              <a:ln w="0">
                <a:solidFill>
                  <a:srgbClr val="C8C8C8"/>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56" name="Freeform 184">
                <a:extLst>
                  <a:ext uri="{FF2B5EF4-FFF2-40B4-BE49-F238E27FC236}">
                    <a16:creationId xmlns:a16="http://schemas.microsoft.com/office/drawing/2014/main" id="{7EE10124-E3C0-A69E-EEBC-CFBB56D78F65}"/>
                  </a:ext>
                </a:extLst>
              </p:cNvPr>
              <p:cNvSpPr>
                <a:spLocks/>
              </p:cNvSpPr>
              <p:nvPr/>
            </p:nvSpPr>
            <p:spPr bwMode="auto">
              <a:xfrm>
                <a:off x="3619" y="1828"/>
                <a:ext cx="143" cy="122"/>
              </a:xfrm>
              <a:custGeom>
                <a:avLst/>
                <a:gdLst>
                  <a:gd name="T0" fmla="*/ 76 w 112"/>
                  <a:gd name="T1" fmla="*/ 111 h 137"/>
                  <a:gd name="T2" fmla="*/ 95 w 112"/>
                  <a:gd name="T3" fmla="*/ 47 h 137"/>
                  <a:gd name="T4" fmla="*/ 112 w 112"/>
                  <a:gd name="T5" fmla="*/ 0 h 137"/>
                  <a:gd name="T6" fmla="*/ 82 w 112"/>
                  <a:gd name="T7" fmla="*/ 13 h 137"/>
                  <a:gd name="T8" fmla="*/ 56 w 112"/>
                  <a:gd name="T9" fmla="*/ 32 h 137"/>
                  <a:gd name="T10" fmla="*/ 42 w 112"/>
                  <a:gd name="T11" fmla="*/ 43 h 137"/>
                  <a:gd name="T12" fmla="*/ 33 w 112"/>
                  <a:gd name="T13" fmla="*/ 56 h 137"/>
                  <a:gd name="T14" fmla="*/ 23 w 112"/>
                  <a:gd name="T15" fmla="*/ 69 h 137"/>
                  <a:gd name="T16" fmla="*/ 17 w 112"/>
                  <a:gd name="T17" fmla="*/ 86 h 137"/>
                  <a:gd name="T18" fmla="*/ 0 w 112"/>
                  <a:gd name="T19" fmla="*/ 133 h 137"/>
                  <a:gd name="T20" fmla="*/ 6 w 112"/>
                  <a:gd name="T21" fmla="*/ 123 h 137"/>
                  <a:gd name="T22" fmla="*/ 14 w 112"/>
                  <a:gd name="T23" fmla="*/ 116 h 137"/>
                  <a:gd name="T24" fmla="*/ 27 w 112"/>
                  <a:gd name="T25" fmla="*/ 105 h 137"/>
                  <a:gd name="T26" fmla="*/ 32 w 112"/>
                  <a:gd name="T27" fmla="*/ 101 h 137"/>
                  <a:gd name="T28" fmla="*/ 38 w 112"/>
                  <a:gd name="T29" fmla="*/ 98 h 137"/>
                  <a:gd name="T30" fmla="*/ 41 w 112"/>
                  <a:gd name="T31" fmla="*/ 97 h 137"/>
                  <a:gd name="T32" fmla="*/ 46 w 112"/>
                  <a:gd name="T33" fmla="*/ 98 h 137"/>
                  <a:gd name="T34" fmla="*/ 47 w 112"/>
                  <a:gd name="T35" fmla="*/ 98 h 137"/>
                  <a:gd name="T36" fmla="*/ 50 w 112"/>
                  <a:gd name="T37" fmla="*/ 101 h 137"/>
                  <a:gd name="T38" fmla="*/ 51 w 112"/>
                  <a:gd name="T39" fmla="*/ 103 h 137"/>
                  <a:gd name="T40" fmla="*/ 53 w 112"/>
                  <a:gd name="T41" fmla="*/ 108 h 137"/>
                  <a:gd name="T42" fmla="*/ 53 w 112"/>
                  <a:gd name="T43" fmla="*/ 113 h 137"/>
                  <a:gd name="T44" fmla="*/ 54 w 112"/>
                  <a:gd name="T45" fmla="*/ 120 h 137"/>
                  <a:gd name="T46" fmla="*/ 53 w 112"/>
                  <a:gd name="T47" fmla="*/ 127 h 137"/>
                  <a:gd name="T48" fmla="*/ 53 w 112"/>
                  <a:gd name="T49" fmla="*/ 137 h 137"/>
                  <a:gd name="T50" fmla="*/ 56 w 112"/>
                  <a:gd name="T51" fmla="*/ 135 h 137"/>
                  <a:gd name="T52" fmla="*/ 56 w 112"/>
                  <a:gd name="T53" fmla="*/ 134 h 137"/>
                  <a:gd name="T54" fmla="*/ 57 w 112"/>
                  <a:gd name="T55" fmla="*/ 134 h 137"/>
                  <a:gd name="T56" fmla="*/ 59 w 112"/>
                  <a:gd name="T57" fmla="*/ 134 h 137"/>
                  <a:gd name="T58" fmla="*/ 66 w 112"/>
                  <a:gd name="T59" fmla="*/ 129 h 137"/>
                  <a:gd name="T60" fmla="*/ 71 w 112"/>
                  <a:gd name="T61" fmla="*/ 121 h 137"/>
                  <a:gd name="T62" fmla="*/ 76 w 112"/>
                  <a:gd name="T63" fmla="*/ 11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 h="137">
                    <a:moveTo>
                      <a:pt x="76" y="111"/>
                    </a:moveTo>
                    <a:lnTo>
                      <a:pt x="95" y="47"/>
                    </a:lnTo>
                    <a:lnTo>
                      <a:pt x="112" y="0"/>
                    </a:lnTo>
                    <a:lnTo>
                      <a:pt x="82" y="13"/>
                    </a:lnTo>
                    <a:lnTo>
                      <a:pt x="56" y="32"/>
                    </a:lnTo>
                    <a:lnTo>
                      <a:pt x="42" y="43"/>
                    </a:lnTo>
                    <a:lnTo>
                      <a:pt x="33" y="56"/>
                    </a:lnTo>
                    <a:lnTo>
                      <a:pt x="23" y="69"/>
                    </a:lnTo>
                    <a:lnTo>
                      <a:pt x="17" y="86"/>
                    </a:lnTo>
                    <a:lnTo>
                      <a:pt x="0" y="133"/>
                    </a:lnTo>
                    <a:lnTo>
                      <a:pt x="6" y="123"/>
                    </a:lnTo>
                    <a:lnTo>
                      <a:pt x="14" y="116"/>
                    </a:lnTo>
                    <a:lnTo>
                      <a:pt x="27" y="105"/>
                    </a:lnTo>
                    <a:lnTo>
                      <a:pt x="32" y="101"/>
                    </a:lnTo>
                    <a:lnTo>
                      <a:pt x="38" y="98"/>
                    </a:lnTo>
                    <a:lnTo>
                      <a:pt x="41" y="97"/>
                    </a:lnTo>
                    <a:lnTo>
                      <a:pt x="46" y="98"/>
                    </a:lnTo>
                    <a:lnTo>
                      <a:pt x="47" y="98"/>
                    </a:lnTo>
                    <a:lnTo>
                      <a:pt x="50" y="101"/>
                    </a:lnTo>
                    <a:lnTo>
                      <a:pt x="51" y="103"/>
                    </a:lnTo>
                    <a:lnTo>
                      <a:pt x="53" y="108"/>
                    </a:lnTo>
                    <a:lnTo>
                      <a:pt x="53" y="113"/>
                    </a:lnTo>
                    <a:lnTo>
                      <a:pt x="54" y="120"/>
                    </a:lnTo>
                    <a:lnTo>
                      <a:pt x="53" y="127"/>
                    </a:lnTo>
                    <a:lnTo>
                      <a:pt x="53" y="137"/>
                    </a:lnTo>
                    <a:lnTo>
                      <a:pt x="56" y="135"/>
                    </a:lnTo>
                    <a:lnTo>
                      <a:pt x="56" y="134"/>
                    </a:lnTo>
                    <a:lnTo>
                      <a:pt x="57" y="134"/>
                    </a:lnTo>
                    <a:lnTo>
                      <a:pt x="59" y="134"/>
                    </a:lnTo>
                    <a:lnTo>
                      <a:pt x="66" y="129"/>
                    </a:lnTo>
                    <a:lnTo>
                      <a:pt x="71" y="121"/>
                    </a:lnTo>
                    <a:lnTo>
                      <a:pt x="76" y="111"/>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57" name="Freeform 185">
                <a:extLst>
                  <a:ext uri="{FF2B5EF4-FFF2-40B4-BE49-F238E27FC236}">
                    <a16:creationId xmlns:a16="http://schemas.microsoft.com/office/drawing/2014/main" id="{55AB90D7-0180-2013-4A74-30E04E2F3FF2}"/>
                  </a:ext>
                </a:extLst>
              </p:cNvPr>
              <p:cNvSpPr>
                <a:spLocks/>
              </p:cNvSpPr>
              <p:nvPr/>
            </p:nvSpPr>
            <p:spPr bwMode="auto">
              <a:xfrm>
                <a:off x="3445" y="1975"/>
                <a:ext cx="253" cy="466"/>
              </a:xfrm>
              <a:custGeom>
                <a:avLst/>
                <a:gdLst>
                  <a:gd name="T0" fmla="*/ 61 w 203"/>
                  <a:gd name="T1" fmla="*/ 240 h 518"/>
                  <a:gd name="T2" fmla="*/ 46 w 203"/>
                  <a:gd name="T3" fmla="*/ 267 h 518"/>
                  <a:gd name="T4" fmla="*/ 34 w 203"/>
                  <a:gd name="T5" fmla="*/ 289 h 518"/>
                  <a:gd name="T6" fmla="*/ 23 w 203"/>
                  <a:gd name="T7" fmla="*/ 312 h 518"/>
                  <a:gd name="T8" fmla="*/ 5 w 203"/>
                  <a:gd name="T9" fmla="*/ 367 h 518"/>
                  <a:gd name="T10" fmla="*/ 0 w 203"/>
                  <a:gd name="T11" fmla="*/ 428 h 518"/>
                  <a:gd name="T12" fmla="*/ 6 w 203"/>
                  <a:gd name="T13" fmla="*/ 482 h 518"/>
                  <a:gd name="T14" fmla="*/ 11 w 203"/>
                  <a:gd name="T15" fmla="*/ 515 h 518"/>
                  <a:gd name="T16" fmla="*/ 28 w 203"/>
                  <a:gd name="T17" fmla="*/ 517 h 518"/>
                  <a:gd name="T18" fmla="*/ 46 w 203"/>
                  <a:gd name="T19" fmla="*/ 516 h 518"/>
                  <a:gd name="T20" fmla="*/ 67 w 203"/>
                  <a:gd name="T21" fmla="*/ 505 h 518"/>
                  <a:gd name="T22" fmla="*/ 92 w 203"/>
                  <a:gd name="T23" fmla="*/ 483 h 518"/>
                  <a:gd name="T24" fmla="*/ 120 w 203"/>
                  <a:gd name="T25" fmla="*/ 453 h 518"/>
                  <a:gd name="T26" fmla="*/ 151 w 203"/>
                  <a:gd name="T27" fmla="*/ 411 h 518"/>
                  <a:gd name="T28" fmla="*/ 175 w 203"/>
                  <a:gd name="T29" fmla="*/ 363 h 518"/>
                  <a:gd name="T30" fmla="*/ 182 w 203"/>
                  <a:gd name="T31" fmla="*/ 345 h 518"/>
                  <a:gd name="T32" fmla="*/ 188 w 203"/>
                  <a:gd name="T33" fmla="*/ 327 h 518"/>
                  <a:gd name="T34" fmla="*/ 198 w 203"/>
                  <a:gd name="T35" fmla="*/ 291 h 518"/>
                  <a:gd name="T36" fmla="*/ 203 w 203"/>
                  <a:gd name="T37" fmla="*/ 243 h 518"/>
                  <a:gd name="T38" fmla="*/ 202 w 203"/>
                  <a:gd name="T39" fmla="*/ 215 h 518"/>
                  <a:gd name="T40" fmla="*/ 194 w 203"/>
                  <a:gd name="T41" fmla="*/ 167 h 518"/>
                  <a:gd name="T42" fmla="*/ 179 w 203"/>
                  <a:gd name="T43" fmla="*/ 123 h 518"/>
                  <a:gd name="T44" fmla="*/ 155 w 203"/>
                  <a:gd name="T45" fmla="*/ 62 h 518"/>
                  <a:gd name="T46" fmla="*/ 133 w 203"/>
                  <a:gd name="T47" fmla="*/ 0 h 518"/>
                  <a:gd name="T48" fmla="*/ 130 w 203"/>
                  <a:gd name="T49" fmla="*/ 43 h 518"/>
                  <a:gd name="T50" fmla="*/ 128 w 203"/>
                  <a:gd name="T51" fmla="*/ 59 h 518"/>
                  <a:gd name="T52" fmla="*/ 120 w 203"/>
                  <a:gd name="T53" fmla="*/ 102 h 518"/>
                  <a:gd name="T54" fmla="*/ 109 w 203"/>
                  <a:gd name="T55" fmla="*/ 144 h 518"/>
                  <a:gd name="T56" fmla="*/ 106 w 203"/>
                  <a:gd name="T57" fmla="*/ 147 h 518"/>
                  <a:gd name="T58" fmla="*/ 103 w 203"/>
                  <a:gd name="T59" fmla="*/ 157 h 518"/>
                  <a:gd name="T60" fmla="*/ 85 w 203"/>
                  <a:gd name="T61" fmla="*/ 198 h 518"/>
                  <a:gd name="T62" fmla="*/ 72 w 203"/>
                  <a:gd name="T63" fmla="*/ 225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3" h="518">
                    <a:moveTo>
                      <a:pt x="72" y="225"/>
                    </a:moveTo>
                    <a:lnTo>
                      <a:pt x="61" y="240"/>
                    </a:lnTo>
                    <a:lnTo>
                      <a:pt x="53" y="254"/>
                    </a:lnTo>
                    <a:lnTo>
                      <a:pt x="46" y="267"/>
                    </a:lnTo>
                    <a:lnTo>
                      <a:pt x="40" y="279"/>
                    </a:lnTo>
                    <a:lnTo>
                      <a:pt x="34" y="289"/>
                    </a:lnTo>
                    <a:lnTo>
                      <a:pt x="29" y="297"/>
                    </a:lnTo>
                    <a:lnTo>
                      <a:pt x="23" y="312"/>
                    </a:lnTo>
                    <a:lnTo>
                      <a:pt x="12" y="338"/>
                    </a:lnTo>
                    <a:lnTo>
                      <a:pt x="5" y="367"/>
                    </a:lnTo>
                    <a:lnTo>
                      <a:pt x="1" y="397"/>
                    </a:lnTo>
                    <a:lnTo>
                      <a:pt x="0" y="428"/>
                    </a:lnTo>
                    <a:lnTo>
                      <a:pt x="1" y="456"/>
                    </a:lnTo>
                    <a:lnTo>
                      <a:pt x="6" y="482"/>
                    </a:lnTo>
                    <a:lnTo>
                      <a:pt x="8" y="498"/>
                    </a:lnTo>
                    <a:lnTo>
                      <a:pt x="11" y="515"/>
                    </a:lnTo>
                    <a:lnTo>
                      <a:pt x="22" y="517"/>
                    </a:lnTo>
                    <a:lnTo>
                      <a:pt x="28" y="517"/>
                    </a:lnTo>
                    <a:lnTo>
                      <a:pt x="36" y="518"/>
                    </a:lnTo>
                    <a:lnTo>
                      <a:pt x="46" y="516"/>
                    </a:lnTo>
                    <a:lnTo>
                      <a:pt x="56" y="512"/>
                    </a:lnTo>
                    <a:lnTo>
                      <a:pt x="67" y="505"/>
                    </a:lnTo>
                    <a:lnTo>
                      <a:pt x="80" y="497"/>
                    </a:lnTo>
                    <a:lnTo>
                      <a:pt x="92" y="483"/>
                    </a:lnTo>
                    <a:lnTo>
                      <a:pt x="106" y="470"/>
                    </a:lnTo>
                    <a:lnTo>
                      <a:pt x="120" y="453"/>
                    </a:lnTo>
                    <a:lnTo>
                      <a:pt x="136" y="435"/>
                    </a:lnTo>
                    <a:lnTo>
                      <a:pt x="151" y="411"/>
                    </a:lnTo>
                    <a:lnTo>
                      <a:pt x="164" y="387"/>
                    </a:lnTo>
                    <a:lnTo>
                      <a:pt x="175" y="363"/>
                    </a:lnTo>
                    <a:lnTo>
                      <a:pt x="180" y="351"/>
                    </a:lnTo>
                    <a:lnTo>
                      <a:pt x="182" y="345"/>
                    </a:lnTo>
                    <a:lnTo>
                      <a:pt x="186" y="341"/>
                    </a:lnTo>
                    <a:lnTo>
                      <a:pt x="188" y="327"/>
                    </a:lnTo>
                    <a:lnTo>
                      <a:pt x="192" y="315"/>
                    </a:lnTo>
                    <a:lnTo>
                      <a:pt x="198" y="291"/>
                    </a:lnTo>
                    <a:lnTo>
                      <a:pt x="202" y="267"/>
                    </a:lnTo>
                    <a:lnTo>
                      <a:pt x="203" y="243"/>
                    </a:lnTo>
                    <a:lnTo>
                      <a:pt x="202" y="228"/>
                    </a:lnTo>
                    <a:lnTo>
                      <a:pt x="202" y="215"/>
                    </a:lnTo>
                    <a:lnTo>
                      <a:pt x="199" y="189"/>
                    </a:lnTo>
                    <a:lnTo>
                      <a:pt x="194" y="167"/>
                    </a:lnTo>
                    <a:lnTo>
                      <a:pt x="190" y="147"/>
                    </a:lnTo>
                    <a:lnTo>
                      <a:pt x="179" y="123"/>
                    </a:lnTo>
                    <a:lnTo>
                      <a:pt x="170" y="102"/>
                    </a:lnTo>
                    <a:lnTo>
                      <a:pt x="155" y="62"/>
                    </a:lnTo>
                    <a:lnTo>
                      <a:pt x="142" y="27"/>
                    </a:lnTo>
                    <a:lnTo>
                      <a:pt x="133" y="0"/>
                    </a:lnTo>
                    <a:lnTo>
                      <a:pt x="132" y="29"/>
                    </a:lnTo>
                    <a:lnTo>
                      <a:pt x="130" y="43"/>
                    </a:lnTo>
                    <a:lnTo>
                      <a:pt x="128" y="50"/>
                    </a:lnTo>
                    <a:lnTo>
                      <a:pt x="128" y="59"/>
                    </a:lnTo>
                    <a:lnTo>
                      <a:pt x="124" y="87"/>
                    </a:lnTo>
                    <a:lnTo>
                      <a:pt x="120" y="102"/>
                    </a:lnTo>
                    <a:lnTo>
                      <a:pt x="118" y="117"/>
                    </a:lnTo>
                    <a:lnTo>
                      <a:pt x="109" y="144"/>
                    </a:lnTo>
                    <a:lnTo>
                      <a:pt x="107" y="146"/>
                    </a:lnTo>
                    <a:lnTo>
                      <a:pt x="106" y="147"/>
                    </a:lnTo>
                    <a:lnTo>
                      <a:pt x="106" y="150"/>
                    </a:lnTo>
                    <a:lnTo>
                      <a:pt x="103" y="157"/>
                    </a:lnTo>
                    <a:lnTo>
                      <a:pt x="98" y="171"/>
                    </a:lnTo>
                    <a:lnTo>
                      <a:pt x="85" y="198"/>
                    </a:lnTo>
                    <a:lnTo>
                      <a:pt x="78" y="211"/>
                    </a:lnTo>
                    <a:lnTo>
                      <a:pt x="72" y="225"/>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58" name="Freeform 186">
                <a:extLst>
                  <a:ext uri="{FF2B5EF4-FFF2-40B4-BE49-F238E27FC236}">
                    <a16:creationId xmlns:a16="http://schemas.microsoft.com/office/drawing/2014/main" id="{D30BDF02-3E78-0348-7BB7-16C92F3BA47D}"/>
                  </a:ext>
                </a:extLst>
              </p:cNvPr>
              <p:cNvSpPr>
                <a:spLocks/>
              </p:cNvSpPr>
              <p:nvPr/>
            </p:nvSpPr>
            <p:spPr bwMode="auto">
              <a:xfrm>
                <a:off x="3445" y="1975"/>
                <a:ext cx="253" cy="466"/>
              </a:xfrm>
              <a:custGeom>
                <a:avLst/>
                <a:gdLst>
                  <a:gd name="T0" fmla="*/ 12 w 203"/>
                  <a:gd name="T1" fmla="*/ 338 h 518"/>
                  <a:gd name="T2" fmla="*/ 1 w 203"/>
                  <a:gd name="T3" fmla="*/ 397 h 518"/>
                  <a:gd name="T4" fmla="*/ 1 w 203"/>
                  <a:gd name="T5" fmla="*/ 456 h 518"/>
                  <a:gd name="T6" fmla="*/ 8 w 203"/>
                  <a:gd name="T7" fmla="*/ 498 h 518"/>
                  <a:gd name="T8" fmla="*/ 22 w 203"/>
                  <a:gd name="T9" fmla="*/ 517 h 518"/>
                  <a:gd name="T10" fmla="*/ 36 w 203"/>
                  <a:gd name="T11" fmla="*/ 518 h 518"/>
                  <a:gd name="T12" fmla="*/ 56 w 203"/>
                  <a:gd name="T13" fmla="*/ 512 h 518"/>
                  <a:gd name="T14" fmla="*/ 80 w 203"/>
                  <a:gd name="T15" fmla="*/ 497 h 518"/>
                  <a:gd name="T16" fmla="*/ 106 w 203"/>
                  <a:gd name="T17" fmla="*/ 470 h 518"/>
                  <a:gd name="T18" fmla="*/ 136 w 203"/>
                  <a:gd name="T19" fmla="*/ 435 h 518"/>
                  <a:gd name="T20" fmla="*/ 164 w 203"/>
                  <a:gd name="T21" fmla="*/ 387 h 518"/>
                  <a:gd name="T22" fmla="*/ 180 w 203"/>
                  <a:gd name="T23" fmla="*/ 351 h 518"/>
                  <a:gd name="T24" fmla="*/ 186 w 203"/>
                  <a:gd name="T25" fmla="*/ 341 h 518"/>
                  <a:gd name="T26" fmla="*/ 192 w 203"/>
                  <a:gd name="T27" fmla="*/ 315 h 518"/>
                  <a:gd name="T28" fmla="*/ 202 w 203"/>
                  <a:gd name="T29" fmla="*/ 267 h 518"/>
                  <a:gd name="T30" fmla="*/ 202 w 203"/>
                  <a:gd name="T31" fmla="*/ 228 h 518"/>
                  <a:gd name="T32" fmla="*/ 199 w 203"/>
                  <a:gd name="T33" fmla="*/ 189 h 518"/>
                  <a:gd name="T34" fmla="*/ 190 w 203"/>
                  <a:gd name="T35" fmla="*/ 147 h 518"/>
                  <a:gd name="T36" fmla="*/ 170 w 203"/>
                  <a:gd name="T37" fmla="*/ 102 h 518"/>
                  <a:gd name="T38" fmla="*/ 142 w 203"/>
                  <a:gd name="T39" fmla="*/ 27 h 518"/>
                  <a:gd name="T40" fmla="*/ 132 w 203"/>
                  <a:gd name="T41" fmla="*/ 29 h 518"/>
                  <a:gd name="T42" fmla="*/ 128 w 203"/>
                  <a:gd name="T43" fmla="*/ 50 h 518"/>
                  <a:gd name="T44" fmla="*/ 124 w 203"/>
                  <a:gd name="T45" fmla="*/ 87 h 518"/>
                  <a:gd name="T46" fmla="*/ 118 w 203"/>
                  <a:gd name="T47" fmla="*/ 117 h 518"/>
                  <a:gd name="T48" fmla="*/ 107 w 203"/>
                  <a:gd name="T49" fmla="*/ 146 h 518"/>
                  <a:gd name="T50" fmla="*/ 106 w 203"/>
                  <a:gd name="T51" fmla="*/ 150 h 518"/>
                  <a:gd name="T52" fmla="*/ 98 w 203"/>
                  <a:gd name="T53" fmla="*/ 171 h 518"/>
                  <a:gd name="T54" fmla="*/ 78 w 203"/>
                  <a:gd name="T55" fmla="*/ 211 h 518"/>
                  <a:gd name="T56" fmla="*/ 61 w 203"/>
                  <a:gd name="T57" fmla="*/ 240 h 518"/>
                  <a:gd name="T58" fmla="*/ 46 w 203"/>
                  <a:gd name="T59" fmla="*/ 267 h 518"/>
                  <a:gd name="T60" fmla="*/ 34 w 203"/>
                  <a:gd name="T61" fmla="*/ 289 h 518"/>
                  <a:gd name="T62" fmla="*/ 23 w 203"/>
                  <a:gd name="T63" fmla="*/ 312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3" h="518">
                    <a:moveTo>
                      <a:pt x="23" y="312"/>
                    </a:moveTo>
                    <a:lnTo>
                      <a:pt x="12" y="338"/>
                    </a:lnTo>
                    <a:lnTo>
                      <a:pt x="5" y="367"/>
                    </a:lnTo>
                    <a:lnTo>
                      <a:pt x="1" y="397"/>
                    </a:lnTo>
                    <a:lnTo>
                      <a:pt x="0" y="428"/>
                    </a:lnTo>
                    <a:lnTo>
                      <a:pt x="1" y="456"/>
                    </a:lnTo>
                    <a:lnTo>
                      <a:pt x="6" y="482"/>
                    </a:lnTo>
                    <a:lnTo>
                      <a:pt x="8" y="498"/>
                    </a:lnTo>
                    <a:lnTo>
                      <a:pt x="11" y="515"/>
                    </a:lnTo>
                    <a:lnTo>
                      <a:pt x="22" y="517"/>
                    </a:lnTo>
                    <a:lnTo>
                      <a:pt x="28" y="517"/>
                    </a:lnTo>
                    <a:lnTo>
                      <a:pt x="36" y="518"/>
                    </a:lnTo>
                    <a:lnTo>
                      <a:pt x="46" y="516"/>
                    </a:lnTo>
                    <a:lnTo>
                      <a:pt x="56" y="512"/>
                    </a:lnTo>
                    <a:lnTo>
                      <a:pt x="67" y="505"/>
                    </a:lnTo>
                    <a:lnTo>
                      <a:pt x="80" y="497"/>
                    </a:lnTo>
                    <a:lnTo>
                      <a:pt x="92" y="483"/>
                    </a:lnTo>
                    <a:lnTo>
                      <a:pt x="106" y="470"/>
                    </a:lnTo>
                    <a:lnTo>
                      <a:pt x="120" y="453"/>
                    </a:lnTo>
                    <a:lnTo>
                      <a:pt x="136" y="435"/>
                    </a:lnTo>
                    <a:lnTo>
                      <a:pt x="151" y="411"/>
                    </a:lnTo>
                    <a:lnTo>
                      <a:pt x="164" y="387"/>
                    </a:lnTo>
                    <a:lnTo>
                      <a:pt x="175" y="363"/>
                    </a:lnTo>
                    <a:lnTo>
                      <a:pt x="180" y="351"/>
                    </a:lnTo>
                    <a:lnTo>
                      <a:pt x="182" y="345"/>
                    </a:lnTo>
                    <a:lnTo>
                      <a:pt x="186" y="341"/>
                    </a:lnTo>
                    <a:lnTo>
                      <a:pt x="188" y="327"/>
                    </a:lnTo>
                    <a:lnTo>
                      <a:pt x="192" y="315"/>
                    </a:lnTo>
                    <a:lnTo>
                      <a:pt x="198" y="291"/>
                    </a:lnTo>
                    <a:lnTo>
                      <a:pt x="202" y="267"/>
                    </a:lnTo>
                    <a:lnTo>
                      <a:pt x="203" y="243"/>
                    </a:lnTo>
                    <a:lnTo>
                      <a:pt x="202" y="228"/>
                    </a:lnTo>
                    <a:lnTo>
                      <a:pt x="202" y="215"/>
                    </a:lnTo>
                    <a:lnTo>
                      <a:pt x="199" y="189"/>
                    </a:lnTo>
                    <a:lnTo>
                      <a:pt x="194" y="167"/>
                    </a:lnTo>
                    <a:lnTo>
                      <a:pt x="190" y="147"/>
                    </a:lnTo>
                    <a:lnTo>
                      <a:pt x="179" y="123"/>
                    </a:lnTo>
                    <a:lnTo>
                      <a:pt x="170" y="102"/>
                    </a:lnTo>
                    <a:lnTo>
                      <a:pt x="155" y="62"/>
                    </a:lnTo>
                    <a:lnTo>
                      <a:pt x="142" y="27"/>
                    </a:lnTo>
                    <a:lnTo>
                      <a:pt x="133" y="0"/>
                    </a:lnTo>
                    <a:lnTo>
                      <a:pt x="132" y="29"/>
                    </a:lnTo>
                    <a:lnTo>
                      <a:pt x="130" y="43"/>
                    </a:lnTo>
                    <a:lnTo>
                      <a:pt x="128" y="50"/>
                    </a:lnTo>
                    <a:lnTo>
                      <a:pt x="128" y="59"/>
                    </a:lnTo>
                    <a:lnTo>
                      <a:pt x="124" y="87"/>
                    </a:lnTo>
                    <a:lnTo>
                      <a:pt x="120" y="102"/>
                    </a:lnTo>
                    <a:lnTo>
                      <a:pt x="118" y="117"/>
                    </a:lnTo>
                    <a:lnTo>
                      <a:pt x="109" y="144"/>
                    </a:lnTo>
                    <a:lnTo>
                      <a:pt x="107" y="146"/>
                    </a:lnTo>
                    <a:lnTo>
                      <a:pt x="106" y="147"/>
                    </a:lnTo>
                    <a:lnTo>
                      <a:pt x="106" y="150"/>
                    </a:lnTo>
                    <a:lnTo>
                      <a:pt x="103" y="157"/>
                    </a:lnTo>
                    <a:lnTo>
                      <a:pt x="98" y="171"/>
                    </a:lnTo>
                    <a:lnTo>
                      <a:pt x="85" y="198"/>
                    </a:lnTo>
                    <a:lnTo>
                      <a:pt x="78" y="211"/>
                    </a:lnTo>
                    <a:lnTo>
                      <a:pt x="72" y="225"/>
                    </a:lnTo>
                    <a:lnTo>
                      <a:pt x="61" y="240"/>
                    </a:lnTo>
                    <a:lnTo>
                      <a:pt x="53" y="254"/>
                    </a:lnTo>
                    <a:lnTo>
                      <a:pt x="46" y="267"/>
                    </a:lnTo>
                    <a:lnTo>
                      <a:pt x="40" y="279"/>
                    </a:lnTo>
                    <a:lnTo>
                      <a:pt x="34" y="289"/>
                    </a:lnTo>
                    <a:lnTo>
                      <a:pt x="29" y="297"/>
                    </a:lnTo>
                    <a:lnTo>
                      <a:pt x="23" y="312"/>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59" name="Freeform 187">
                <a:extLst>
                  <a:ext uri="{FF2B5EF4-FFF2-40B4-BE49-F238E27FC236}">
                    <a16:creationId xmlns:a16="http://schemas.microsoft.com/office/drawing/2014/main" id="{3B38D234-2048-FB9E-5DA8-654F402A9356}"/>
                  </a:ext>
                </a:extLst>
              </p:cNvPr>
              <p:cNvSpPr>
                <a:spLocks/>
              </p:cNvSpPr>
              <p:nvPr/>
            </p:nvSpPr>
            <p:spPr bwMode="auto">
              <a:xfrm>
                <a:off x="3619" y="1828"/>
                <a:ext cx="143" cy="122"/>
              </a:xfrm>
              <a:custGeom>
                <a:avLst/>
                <a:gdLst>
                  <a:gd name="T0" fmla="*/ 76 w 112"/>
                  <a:gd name="T1" fmla="*/ 111 h 137"/>
                  <a:gd name="T2" fmla="*/ 71 w 112"/>
                  <a:gd name="T3" fmla="*/ 121 h 137"/>
                  <a:gd name="T4" fmla="*/ 66 w 112"/>
                  <a:gd name="T5" fmla="*/ 129 h 137"/>
                  <a:gd name="T6" fmla="*/ 59 w 112"/>
                  <a:gd name="T7" fmla="*/ 134 h 137"/>
                  <a:gd name="T8" fmla="*/ 57 w 112"/>
                  <a:gd name="T9" fmla="*/ 134 h 137"/>
                  <a:gd name="T10" fmla="*/ 56 w 112"/>
                  <a:gd name="T11" fmla="*/ 134 h 137"/>
                  <a:gd name="T12" fmla="*/ 56 w 112"/>
                  <a:gd name="T13" fmla="*/ 135 h 137"/>
                  <a:gd name="T14" fmla="*/ 53 w 112"/>
                  <a:gd name="T15" fmla="*/ 137 h 137"/>
                  <a:gd name="T16" fmla="*/ 53 w 112"/>
                  <a:gd name="T17" fmla="*/ 127 h 137"/>
                  <a:gd name="T18" fmla="*/ 54 w 112"/>
                  <a:gd name="T19" fmla="*/ 120 h 137"/>
                  <a:gd name="T20" fmla="*/ 53 w 112"/>
                  <a:gd name="T21" fmla="*/ 113 h 137"/>
                  <a:gd name="T22" fmla="*/ 53 w 112"/>
                  <a:gd name="T23" fmla="*/ 108 h 137"/>
                  <a:gd name="T24" fmla="*/ 51 w 112"/>
                  <a:gd name="T25" fmla="*/ 103 h 137"/>
                  <a:gd name="T26" fmla="*/ 50 w 112"/>
                  <a:gd name="T27" fmla="*/ 101 h 137"/>
                  <a:gd name="T28" fmla="*/ 47 w 112"/>
                  <a:gd name="T29" fmla="*/ 98 h 137"/>
                  <a:gd name="T30" fmla="*/ 46 w 112"/>
                  <a:gd name="T31" fmla="*/ 98 h 137"/>
                  <a:gd name="T32" fmla="*/ 41 w 112"/>
                  <a:gd name="T33" fmla="*/ 97 h 137"/>
                  <a:gd name="T34" fmla="*/ 38 w 112"/>
                  <a:gd name="T35" fmla="*/ 98 h 137"/>
                  <a:gd name="T36" fmla="*/ 32 w 112"/>
                  <a:gd name="T37" fmla="*/ 101 h 137"/>
                  <a:gd name="T38" fmla="*/ 27 w 112"/>
                  <a:gd name="T39" fmla="*/ 105 h 137"/>
                  <a:gd name="T40" fmla="*/ 14 w 112"/>
                  <a:gd name="T41" fmla="*/ 116 h 137"/>
                  <a:gd name="T42" fmla="*/ 6 w 112"/>
                  <a:gd name="T43" fmla="*/ 123 h 137"/>
                  <a:gd name="T44" fmla="*/ 0 w 112"/>
                  <a:gd name="T45" fmla="*/ 133 h 137"/>
                  <a:gd name="T46" fmla="*/ 17 w 112"/>
                  <a:gd name="T47" fmla="*/ 86 h 137"/>
                  <a:gd name="T48" fmla="*/ 23 w 112"/>
                  <a:gd name="T49" fmla="*/ 69 h 137"/>
                  <a:gd name="T50" fmla="*/ 33 w 112"/>
                  <a:gd name="T51" fmla="*/ 56 h 137"/>
                  <a:gd name="T52" fmla="*/ 42 w 112"/>
                  <a:gd name="T53" fmla="*/ 43 h 137"/>
                  <a:gd name="T54" fmla="*/ 56 w 112"/>
                  <a:gd name="T55" fmla="*/ 32 h 137"/>
                  <a:gd name="T56" fmla="*/ 82 w 112"/>
                  <a:gd name="T57" fmla="*/ 13 h 137"/>
                  <a:gd name="T58" fmla="*/ 112 w 112"/>
                  <a:gd name="T59" fmla="*/ 0 h 137"/>
                  <a:gd name="T60" fmla="*/ 95 w 112"/>
                  <a:gd name="T61" fmla="*/ 47 h 137"/>
                  <a:gd name="T62" fmla="*/ 76 w 112"/>
                  <a:gd name="T63" fmla="*/ 11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 h="137">
                    <a:moveTo>
                      <a:pt x="76" y="111"/>
                    </a:moveTo>
                    <a:lnTo>
                      <a:pt x="71" y="121"/>
                    </a:lnTo>
                    <a:lnTo>
                      <a:pt x="66" y="129"/>
                    </a:lnTo>
                    <a:lnTo>
                      <a:pt x="59" y="134"/>
                    </a:lnTo>
                    <a:lnTo>
                      <a:pt x="57" y="134"/>
                    </a:lnTo>
                    <a:lnTo>
                      <a:pt x="56" y="134"/>
                    </a:lnTo>
                    <a:lnTo>
                      <a:pt x="56" y="135"/>
                    </a:lnTo>
                    <a:lnTo>
                      <a:pt x="53" y="137"/>
                    </a:lnTo>
                    <a:lnTo>
                      <a:pt x="53" y="127"/>
                    </a:lnTo>
                    <a:lnTo>
                      <a:pt x="54" y="120"/>
                    </a:lnTo>
                    <a:lnTo>
                      <a:pt x="53" y="113"/>
                    </a:lnTo>
                    <a:lnTo>
                      <a:pt x="53" y="108"/>
                    </a:lnTo>
                    <a:lnTo>
                      <a:pt x="51" y="103"/>
                    </a:lnTo>
                    <a:lnTo>
                      <a:pt x="50" y="101"/>
                    </a:lnTo>
                    <a:lnTo>
                      <a:pt x="47" y="98"/>
                    </a:lnTo>
                    <a:lnTo>
                      <a:pt x="46" y="98"/>
                    </a:lnTo>
                    <a:lnTo>
                      <a:pt x="41" y="97"/>
                    </a:lnTo>
                    <a:lnTo>
                      <a:pt x="38" y="98"/>
                    </a:lnTo>
                    <a:lnTo>
                      <a:pt x="32" y="101"/>
                    </a:lnTo>
                    <a:lnTo>
                      <a:pt x="27" y="105"/>
                    </a:lnTo>
                    <a:lnTo>
                      <a:pt x="14" y="116"/>
                    </a:lnTo>
                    <a:lnTo>
                      <a:pt x="6" y="123"/>
                    </a:lnTo>
                    <a:lnTo>
                      <a:pt x="0" y="133"/>
                    </a:lnTo>
                    <a:lnTo>
                      <a:pt x="17" y="86"/>
                    </a:lnTo>
                    <a:lnTo>
                      <a:pt x="23" y="69"/>
                    </a:lnTo>
                    <a:lnTo>
                      <a:pt x="33" y="56"/>
                    </a:lnTo>
                    <a:lnTo>
                      <a:pt x="42" y="43"/>
                    </a:lnTo>
                    <a:lnTo>
                      <a:pt x="56" y="32"/>
                    </a:lnTo>
                    <a:lnTo>
                      <a:pt x="82" y="13"/>
                    </a:lnTo>
                    <a:lnTo>
                      <a:pt x="112" y="0"/>
                    </a:lnTo>
                    <a:lnTo>
                      <a:pt x="95" y="47"/>
                    </a:lnTo>
                    <a:lnTo>
                      <a:pt x="76" y="111"/>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60" name="Freeform 188">
                <a:extLst>
                  <a:ext uri="{FF2B5EF4-FFF2-40B4-BE49-F238E27FC236}">
                    <a16:creationId xmlns:a16="http://schemas.microsoft.com/office/drawing/2014/main" id="{6C7E6CFD-2E20-C09B-91B8-689372747586}"/>
                  </a:ext>
                </a:extLst>
              </p:cNvPr>
              <p:cNvSpPr>
                <a:spLocks/>
              </p:cNvSpPr>
              <p:nvPr/>
            </p:nvSpPr>
            <p:spPr bwMode="auto">
              <a:xfrm>
                <a:off x="3271" y="2129"/>
                <a:ext cx="83" cy="65"/>
              </a:xfrm>
              <a:custGeom>
                <a:avLst/>
                <a:gdLst>
                  <a:gd name="T0" fmla="*/ 8 w 68"/>
                  <a:gd name="T1" fmla="*/ 34 h 72"/>
                  <a:gd name="T2" fmla="*/ 8 w 68"/>
                  <a:gd name="T3" fmla="*/ 38 h 72"/>
                  <a:gd name="T4" fmla="*/ 8 w 68"/>
                  <a:gd name="T5" fmla="*/ 42 h 72"/>
                  <a:gd name="T6" fmla="*/ 8 w 68"/>
                  <a:gd name="T7" fmla="*/ 51 h 72"/>
                  <a:gd name="T8" fmla="*/ 8 w 68"/>
                  <a:gd name="T9" fmla="*/ 56 h 72"/>
                  <a:gd name="T10" fmla="*/ 11 w 68"/>
                  <a:gd name="T11" fmla="*/ 62 h 72"/>
                  <a:gd name="T12" fmla="*/ 18 w 68"/>
                  <a:gd name="T13" fmla="*/ 72 h 72"/>
                  <a:gd name="T14" fmla="*/ 20 w 68"/>
                  <a:gd name="T15" fmla="*/ 72 h 72"/>
                  <a:gd name="T16" fmla="*/ 23 w 68"/>
                  <a:gd name="T17" fmla="*/ 61 h 72"/>
                  <a:gd name="T18" fmla="*/ 24 w 68"/>
                  <a:gd name="T19" fmla="*/ 54 h 72"/>
                  <a:gd name="T20" fmla="*/ 28 w 68"/>
                  <a:gd name="T21" fmla="*/ 50 h 72"/>
                  <a:gd name="T22" fmla="*/ 31 w 68"/>
                  <a:gd name="T23" fmla="*/ 48 h 72"/>
                  <a:gd name="T24" fmla="*/ 37 w 68"/>
                  <a:gd name="T25" fmla="*/ 48 h 72"/>
                  <a:gd name="T26" fmla="*/ 42 w 68"/>
                  <a:gd name="T27" fmla="*/ 48 h 72"/>
                  <a:gd name="T28" fmla="*/ 49 w 68"/>
                  <a:gd name="T29" fmla="*/ 51 h 72"/>
                  <a:gd name="T30" fmla="*/ 58 w 68"/>
                  <a:gd name="T31" fmla="*/ 55 h 72"/>
                  <a:gd name="T32" fmla="*/ 68 w 68"/>
                  <a:gd name="T33" fmla="*/ 62 h 72"/>
                  <a:gd name="T34" fmla="*/ 61 w 68"/>
                  <a:gd name="T35" fmla="*/ 46 h 72"/>
                  <a:gd name="T36" fmla="*/ 54 w 68"/>
                  <a:gd name="T37" fmla="*/ 33 h 72"/>
                  <a:gd name="T38" fmla="*/ 46 w 68"/>
                  <a:gd name="T39" fmla="*/ 22 h 72"/>
                  <a:gd name="T40" fmla="*/ 38 w 68"/>
                  <a:gd name="T41" fmla="*/ 14 h 72"/>
                  <a:gd name="T42" fmla="*/ 29 w 68"/>
                  <a:gd name="T43" fmla="*/ 7 h 72"/>
                  <a:gd name="T44" fmla="*/ 20 w 68"/>
                  <a:gd name="T45" fmla="*/ 3 h 72"/>
                  <a:gd name="T46" fmla="*/ 10 w 68"/>
                  <a:gd name="T47" fmla="*/ 0 h 72"/>
                  <a:gd name="T48" fmla="*/ 0 w 68"/>
                  <a:gd name="T49" fmla="*/ 1 h 72"/>
                  <a:gd name="T50" fmla="*/ 2 w 68"/>
                  <a:gd name="T51" fmla="*/ 6 h 72"/>
                  <a:gd name="T52" fmla="*/ 6 w 68"/>
                  <a:gd name="T53" fmla="*/ 13 h 72"/>
                  <a:gd name="T54" fmla="*/ 8 w 68"/>
                  <a:gd name="T55" fmla="*/ 31 h 72"/>
                  <a:gd name="T56" fmla="*/ 8 w 68"/>
                  <a:gd name="T57"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 h="72">
                    <a:moveTo>
                      <a:pt x="8" y="34"/>
                    </a:moveTo>
                    <a:lnTo>
                      <a:pt x="8" y="38"/>
                    </a:lnTo>
                    <a:lnTo>
                      <a:pt x="8" y="42"/>
                    </a:lnTo>
                    <a:lnTo>
                      <a:pt x="8" y="51"/>
                    </a:lnTo>
                    <a:lnTo>
                      <a:pt x="8" y="56"/>
                    </a:lnTo>
                    <a:lnTo>
                      <a:pt x="11" y="62"/>
                    </a:lnTo>
                    <a:lnTo>
                      <a:pt x="18" y="72"/>
                    </a:lnTo>
                    <a:lnTo>
                      <a:pt x="20" y="72"/>
                    </a:lnTo>
                    <a:lnTo>
                      <a:pt x="23" y="61"/>
                    </a:lnTo>
                    <a:lnTo>
                      <a:pt x="24" y="54"/>
                    </a:lnTo>
                    <a:lnTo>
                      <a:pt x="28" y="50"/>
                    </a:lnTo>
                    <a:lnTo>
                      <a:pt x="31" y="48"/>
                    </a:lnTo>
                    <a:lnTo>
                      <a:pt x="37" y="48"/>
                    </a:lnTo>
                    <a:lnTo>
                      <a:pt x="42" y="48"/>
                    </a:lnTo>
                    <a:lnTo>
                      <a:pt x="49" y="51"/>
                    </a:lnTo>
                    <a:lnTo>
                      <a:pt x="58" y="55"/>
                    </a:lnTo>
                    <a:lnTo>
                      <a:pt x="68" y="62"/>
                    </a:lnTo>
                    <a:lnTo>
                      <a:pt x="61" y="46"/>
                    </a:lnTo>
                    <a:lnTo>
                      <a:pt x="54" y="33"/>
                    </a:lnTo>
                    <a:lnTo>
                      <a:pt x="46" y="22"/>
                    </a:lnTo>
                    <a:lnTo>
                      <a:pt x="38" y="14"/>
                    </a:lnTo>
                    <a:lnTo>
                      <a:pt x="29" y="7"/>
                    </a:lnTo>
                    <a:lnTo>
                      <a:pt x="20" y="3"/>
                    </a:lnTo>
                    <a:lnTo>
                      <a:pt x="10" y="0"/>
                    </a:lnTo>
                    <a:lnTo>
                      <a:pt x="0" y="1"/>
                    </a:lnTo>
                    <a:lnTo>
                      <a:pt x="2" y="6"/>
                    </a:lnTo>
                    <a:lnTo>
                      <a:pt x="6" y="13"/>
                    </a:lnTo>
                    <a:lnTo>
                      <a:pt x="8" y="31"/>
                    </a:lnTo>
                    <a:lnTo>
                      <a:pt x="8" y="34"/>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61" name="Freeform 189">
                <a:extLst>
                  <a:ext uri="{FF2B5EF4-FFF2-40B4-BE49-F238E27FC236}">
                    <a16:creationId xmlns:a16="http://schemas.microsoft.com/office/drawing/2014/main" id="{4C76CA92-EF05-4F8E-1B10-1A1203DFCFE1}"/>
                  </a:ext>
                </a:extLst>
              </p:cNvPr>
              <p:cNvSpPr>
                <a:spLocks/>
              </p:cNvSpPr>
              <p:nvPr/>
            </p:nvSpPr>
            <p:spPr bwMode="auto">
              <a:xfrm>
                <a:off x="3392" y="2221"/>
                <a:ext cx="4" cy="3"/>
              </a:xfrm>
              <a:custGeom>
                <a:avLst/>
                <a:gdLst>
                  <a:gd name="T0" fmla="*/ 0 w 3"/>
                  <a:gd name="T1" fmla="*/ 0 h 4"/>
                  <a:gd name="T2" fmla="*/ 0 w 3"/>
                  <a:gd name="T3" fmla="*/ 4 h 4"/>
                  <a:gd name="T4" fmla="*/ 3 w 3"/>
                  <a:gd name="T5" fmla="*/ 3 h 4"/>
                  <a:gd name="T6" fmla="*/ 0 w 3"/>
                  <a:gd name="T7" fmla="*/ 0 h 4"/>
                </a:gdLst>
                <a:ahLst/>
                <a:cxnLst>
                  <a:cxn ang="0">
                    <a:pos x="T0" y="T1"/>
                  </a:cxn>
                  <a:cxn ang="0">
                    <a:pos x="T2" y="T3"/>
                  </a:cxn>
                  <a:cxn ang="0">
                    <a:pos x="T4" y="T5"/>
                  </a:cxn>
                  <a:cxn ang="0">
                    <a:pos x="T6" y="T7"/>
                  </a:cxn>
                </a:cxnLst>
                <a:rect l="0" t="0" r="r" b="b"/>
                <a:pathLst>
                  <a:path w="3" h="4">
                    <a:moveTo>
                      <a:pt x="0" y="0"/>
                    </a:moveTo>
                    <a:lnTo>
                      <a:pt x="0" y="4"/>
                    </a:lnTo>
                    <a:lnTo>
                      <a:pt x="3" y="3"/>
                    </a:lnTo>
                    <a:lnTo>
                      <a:pt x="0"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62" name="Freeform 190">
                <a:extLst>
                  <a:ext uri="{FF2B5EF4-FFF2-40B4-BE49-F238E27FC236}">
                    <a16:creationId xmlns:a16="http://schemas.microsoft.com/office/drawing/2014/main" id="{8F96B198-DEAC-BC83-294A-E8ADADFC4AA5}"/>
                  </a:ext>
                </a:extLst>
              </p:cNvPr>
              <p:cNvSpPr>
                <a:spLocks/>
              </p:cNvSpPr>
              <p:nvPr/>
            </p:nvSpPr>
            <p:spPr bwMode="auto">
              <a:xfrm>
                <a:off x="3264" y="2224"/>
                <a:ext cx="222" cy="296"/>
              </a:xfrm>
              <a:custGeom>
                <a:avLst/>
                <a:gdLst>
                  <a:gd name="T0" fmla="*/ 104 w 176"/>
                  <a:gd name="T1" fmla="*/ 0 h 329"/>
                  <a:gd name="T2" fmla="*/ 101 w 176"/>
                  <a:gd name="T3" fmla="*/ 1 h 329"/>
                  <a:gd name="T4" fmla="*/ 101 w 176"/>
                  <a:gd name="T5" fmla="*/ 17 h 329"/>
                  <a:gd name="T6" fmla="*/ 101 w 176"/>
                  <a:gd name="T7" fmla="*/ 31 h 329"/>
                  <a:gd name="T8" fmla="*/ 104 w 176"/>
                  <a:gd name="T9" fmla="*/ 55 h 329"/>
                  <a:gd name="T10" fmla="*/ 101 w 176"/>
                  <a:gd name="T11" fmla="*/ 73 h 329"/>
                  <a:gd name="T12" fmla="*/ 98 w 176"/>
                  <a:gd name="T13" fmla="*/ 93 h 329"/>
                  <a:gd name="T14" fmla="*/ 89 w 176"/>
                  <a:gd name="T15" fmla="*/ 115 h 329"/>
                  <a:gd name="T16" fmla="*/ 80 w 176"/>
                  <a:gd name="T17" fmla="*/ 138 h 329"/>
                  <a:gd name="T18" fmla="*/ 64 w 176"/>
                  <a:gd name="T19" fmla="*/ 158 h 329"/>
                  <a:gd name="T20" fmla="*/ 52 w 176"/>
                  <a:gd name="T21" fmla="*/ 179 h 329"/>
                  <a:gd name="T22" fmla="*/ 40 w 176"/>
                  <a:gd name="T23" fmla="*/ 195 h 329"/>
                  <a:gd name="T24" fmla="*/ 32 w 176"/>
                  <a:gd name="T25" fmla="*/ 211 h 329"/>
                  <a:gd name="T26" fmla="*/ 23 w 176"/>
                  <a:gd name="T27" fmla="*/ 222 h 329"/>
                  <a:gd name="T28" fmla="*/ 17 w 176"/>
                  <a:gd name="T29" fmla="*/ 234 h 329"/>
                  <a:gd name="T30" fmla="*/ 8 w 176"/>
                  <a:gd name="T31" fmla="*/ 255 h 329"/>
                  <a:gd name="T32" fmla="*/ 2 w 176"/>
                  <a:gd name="T33" fmla="*/ 275 h 329"/>
                  <a:gd name="T34" fmla="*/ 0 w 176"/>
                  <a:gd name="T35" fmla="*/ 293 h 329"/>
                  <a:gd name="T36" fmla="*/ 3 w 176"/>
                  <a:gd name="T37" fmla="*/ 309 h 329"/>
                  <a:gd name="T38" fmla="*/ 10 w 176"/>
                  <a:gd name="T39" fmla="*/ 329 h 329"/>
                  <a:gd name="T40" fmla="*/ 17 w 176"/>
                  <a:gd name="T41" fmla="*/ 327 h 329"/>
                  <a:gd name="T42" fmla="*/ 26 w 176"/>
                  <a:gd name="T43" fmla="*/ 327 h 329"/>
                  <a:gd name="T44" fmla="*/ 42 w 176"/>
                  <a:gd name="T45" fmla="*/ 326 h 329"/>
                  <a:gd name="T46" fmla="*/ 50 w 176"/>
                  <a:gd name="T47" fmla="*/ 324 h 329"/>
                  <a:gd name="T48" fmla="*/ 50 w 176"/>
                  <a:gd name="T49" fmla="*/ 323 h 329"/>
                  <a:gd name="T50" fmla="*/ 51 w 176"/>
                  <a:gd name="T51" fmla="*/ 323 h 329"/>
                  <a:gd name="T52" fmla="*/ 53 w 176"/>
                  <a:gd name="T53" fmla="*/ 323 h 329"/>
                  <a:gd name="T54" fmla="*/ 58 w 176"/>
                  <a:gd name="T55" fmla="*/ 323 h 329"/>
                  <a:gd name="T56" fmla="*/ 75 w 176"/>
                  <a:gd name="T57" fmla="*/ 318 h 329"/>
                  <a:gd name="T58" fmla="*/ 81 w 176"/>
                  <a:gd name="T59" fmla="*/ 313 h 329"/>
                  <a:gd name="T60" fmla="*/ 88 w 176"/>
                  <a:gd name="T61" fmla="*/ 309 h 329"/>
                  <a:gd name="T62" fmla="*/ 102 w 176"/>
                  <a:gd name="T63" fmla="*/ 302 h 329"/>
                  <a:gd name="T64" fmla="*/ 114 w 176"/>
                  <a:gd name="T65" fmla="*/ 293 h 329"/>
                  <a:gd name="T66" fmla="*/ 126 w 176"/>
                  <a:gd name="T67" fmla="*/ 283 h 329"/>
                  <a:gd name="T68" fmla="*/ 136 w 176"/>
                  <a:gd name="T69" fmla="*/ 271 h 329"/>
                  <a:gd name="T70" fmla="*/ 146 w 176"/>
                  <a:gd name="T71" fmla="*/ 259 h 329"/>
                  <a:gd name="T72" fmla="*/ 149 w 176"/>
                  <a:gd name="T73" fmla="*/ 252 h 329"/>
                  <a:gd name="T74" fmla="*/ 154 w 176"/>
                  <a:gd name="T75" fmla="*/ 246 h 329"/>
                  <a:gd name="T76" fmla="*/ 158 w 176"/>
                  <a:gd name="T77" fmla="*/ 239 h 329"/>
                  <a:gd name="T78" fmla="*/ 162 w 176"/>
                  <a:gd name="T79" fmla="*/ 233 h 329"/>
                  <a:gd name="T80" fmla="*/ 168 w 176"/>
                  <a:gd name="T81" fmla="*/ 216 h 329"/>
                  <a:gd name="T82" fmla="*/ 172 w 176"/>
                  <a:gd name="T83" fmla="*/ 199 h 329"/>
                  <a:gd name="T84" fmla="*/ 174 w 176"/>
                  <a:gd name="T85" fmla="*/ 182 h 329"/>
                  <a:gd name="T86" fmla="*/ 176 w 176"/>
                  <a:gd name="T87" fmla="*/ 168 h 329"/>
                  <a:gd name="T88" fmla="*/ 174 w 176"/>
                  <a:gd name="T89" fmla="*/ 151 h 329"/>
                  <a:gd name="T90" fmla="*/ 172 w 176"/>
                  <a:gd name="T91" fmla="*/ 137 h 329"/>
                  <a:gd name="T92" fmla="*/ 167 w 176"/>
                  <a:gd name="T93" fmla="*/ 120 h 329"/>
                  <a:gd name="T94" fmla="*/ 161 w 176"/>
                  <a:gd name="T95" fmla="*/ 105 h 329"/>
                  <a:gd name="T96" fmla="*/ 134 w 176"/>
                  <a:gd name="T97" fmla="*/ 51 h 329"/>
                  <a:gd name="T98" fmla="*/ 104 w 176"/>
                  <a:gd name="T99"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6" h="329">
                    <a:moveTo>
                      <a:pt x="104" y="0"/>
                    </a:moveTo>
                    <a:lnTo>
                      <a:pt x="101" y="1"/>
                    </a:lnTo>
                    <a:lnTo>
                      <a:pt x="101" y="17"/>
                    </a:lnTo>
                    <a:lnTo>
                      <a:pt x="101" y="31"/>
                    </a:lnTo>
                    <a:lnTo>
                      <a:pt x="104" y="55"/>
                    </a:lnTo>
                    <a:lnTo>
                      <a:pt x="101" y="73"/>
                    </a:lnTo>
                    <a:lnTo>
                      <a:pt x="98" y="93"/>
                    </a:lnTo>
                    <a:lnTo>
                      <a:pt x="89" y="115"/>
                    </a:lnTo>
                    <a:lnTo>
                      <a:pt x="80" y="138"/>
                    </a:lnTo>
                    <a:lnTo>
                      <a:pt x="64" y="158"/>
                    </a:lnTo>
                    <a:lnTo>
                      <a:pt x="52" y="179"/>
                    </a:lnTo>
                    <a:lnTo>
                      <a:pt x="40" y="195"/>
                    </a:lnTo>
                    <a:lnTo>
                      <a:pt x="32" y="211"/>
                    </a:lnTo>
                    <a:lnTo>
                      <a:pt x="23" y="222"/>
                    </a:lnTo>
                    <a:lnTo>
                      <a:pt x="17" y="234"/>
                    </a:lnTo>
                    <a:lnTo>
                      <a:pt x="8" y="255"/>
                    </a:lnTo>
                    <a:lnTo>
                      <a:pt x="2" y="275"/>
                    </a:lnTo>
                    <a:lnTo>
                      <a:pt x="0" y="293"/>
                    </a:lnTo>
                    <a:lnTo>
                      <a:pt x="3" y="309"/>
                    </a:lnTo>
                    <a:lnTo>
                      <a:pt x="10" y="329"/>
                    </a:lnTo>
                    <a:lnTo>
                      <a:pt x="17" y="327"/>
                    </a:lnTo>
                    <a:lnTo>
                      <a:pt x="26" y="327"/>
                    </a:lnTo>
                    <a:lnTo>
                      <a:pt x="42" y="326"/>
                    </a:lnTo>
                    <a:lnTo>
                      <a:pt x="50" y="324"/>
                    </a:lnTo>
                    <a:lnTo>
                      <a:pt x="50" y="323"/>
                    </a:lnTo>
                    <a:lnTo>
                      <a:pt x="51" y="323"/>
                    </a:lnTo>
                    <a:lnTo>
                      <a:pt x="53" y="323"/>
                    </a:lnTo>
                    <a:lnTo>
                      <a:pt x="58" y="323"/>
                    </a:lnTo>
                    <a:lnTo>
                      <a:pt x="75" y="318"/>
                    </a:lnTo>
                    <a:lnTo>
                      <a:pt x="81" y="313"/>
                    </a:lnTo>
                    <a:lnTo>
                      <a:pt x="88" y="309"/>
                    </a:lnTo>
                    <a:lnTo>
                      <a:pt x="102" y="302"/>
                    </a:lnTo>
                    <a:lnTo>
                      <a:pt x="114" y="293"/>
                    </a:lnTo>
                    <a:lnTo>
                      <a:pt x="126" y="283"/>
                    </a:lnTo>
                    <a:lnTo>
                      <a:pt x="136" y="271"/>
                    </a:lnTo>
                    <a:lnTo>
                      <a:pt x="146" y="259"/>
                    </a:lnTo>
                    <a:lnTo>
                      <a:pt x="149" y="252"/>
                    </a:lnTo>
                    <a:lnTo>
                      <a:pt x="154" y="246"/>
                    </a:lnTo>
                    <a:lnTo>
                      <a:pt x="158" y="239"/>
                    </a:lnTo>
                    <a:lnTo>
                      <a:pt x="162" y="233"/>
                    </a:lnTo>
                    <a:lnTo>
                      <a:pt x="168" y="216"/>
                    </a:lnTo>
                    <a:lnTo>
                      <a:pt x="172" y="199"/>
                    </a:lnTo>
                    <a:lnTo>
                      <a:pt x="174" y="182"/>
                    </a:lnTo>
                    <a:lnTo>
                      <a:pt x="176" y="168"/>
                    </a:lnTo>
                    <a:lnTo>
                      <a:pt x="174" y="151"/>
                    </a:lnTo>
                    <a:lnTo>
                      <a:pt x="172" y="137"/>
                    </a:lnTo>
                    <a:lnTo>
                      <a:pt x="167" y="120"/>
                    </a:lnTo>
                    <a:lnTo>
                      <a:pt x="161" y="105"/>
                    </a:lnTo>
                    <a:lnTo>
                      <a:pt x="134" y="51"/>
                    </a:lnTo>
                    <a:lnTo>
                      <a:pt x="104" y="0"/>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63" name="Freeform 191">
                <a:extLst>
                  <a:ext uri="{FF2B5EF4-FFF2-40B4-BE49-F238E27FC236}">
                    <a16:creationId xmlns:a16="http://schemas.microsoft.com/office/drawing/2014/main" id="{C6B60C97-8BB8-9D97-9BA8-D7CE078F7BE7}"/>
                  </a:ext>
                </a:extLst>
              </p:cNvPr>
              <p:cNvSpPr>
                <a:spLocks/>
              </p:cNvSpPr>
              <p:nvPr/>
            </p:nvSpPr>
            <p:spPr bwMode="auto">
              <a:xfrm>
                <a:off x="3264" y="2221"/>
                <a:ext cx="222" cy="299"/>
              </a:xfrm>
              <a:custGeom>
                <a:avLst/>
                <a:gdLst>
                  <a:gd name="T0" fmla="*/ 101 w 176"/>
                  <a:gd name="T1" fmla="*/ 0 h 332"/>
                  <a:gd name="T2" fmla="*/ 104 w 176"/>
                  <a:gd name="T3" fmla="*/ 3 h 332"/>
                  <a:gd name="T4" fmla="*/ 134 w 176"/>
                  <a:gd name="T5" fmla="*/ 54 h 332"/>
                  <a:gd name="T6" fmla="*/ 161 w 176"/>
                  <a:gd name="T7" fmla="*/ 108 h 332"/>
                  <a:gd name="T8" fmla="*/ 167 w 176"/>
                  <a:gd name="T9" fmla="*/ 123 h 332"/>
                  <a:gd name="T10" fmla="*/ 172 w 176"/>
                  <a:gd name="T11" fmla="*/ 140 h 332"/>
                  <a:gd name="T12" fmla="*/ 174 w 176"/>
                  <a:gd name="T13" fmla="*/ 154 h 332"/>
                  <a:gd name="T14" fmla="*/ 176 w 176"/>
                  <a:gd name="T15" fmla="*/ 171 h 332"/>
                  <a:gd name="T16" fmla="*/ 174 w 176"/>
                  <a:gd name="T17" fmla="*/ 185 h 332"/>
                  <a:gd name="T18" fmla="*/ 172 w 176"/>
                  <a:gd name="T19" fmla="*/ 202 h 332"/>
                  <a:gd name="T20" fmla="*/ 168 w 176"/>
                  <a:gd name="T21" fmla="*/ 219 h 332"/>
                  <a:gd name="T22" fmla="*/ 162 w 176"/>
                  <a:gd name="T23" fmla="*/ 236 h 332"/>
                  <a:gd name="T24" fmla="*/ 158 w 176"/>
                  <a:gd name="T25" fmla="*/ 242 h 332"/>
                  <a:gd name="T26" fmla="*/ 154 w 176"/>
                  <a:gd name="T27" fmla="*/ 249 h 332"/>
                  <a:gd name="T28" fmla="*/ 149 w 176"/>
                  <a:gd name="T29" fmla="*/ 255 h 332"/>
                  <a:gd name="T30" fmla="*/ 146 w 176"/>
                  <a:gd name="T31" fmla="*/ 262 h 332"/>
                  <a:gd name="T32" fmla="*/ 136 w 176"/>
                  <a:gd name="T33" fmla="*/ 274 h 332"/>
                  <a:gd name="T34" fmla="*/ 126 w 176"/>
                  <a:gd name="T35" fmla="*/ 286 h 332"/>
                  <a:gd name="T36" fmla="*/ 114 w 176"/>
                  <a:gd name="T37" fmla="*/ 296 h 332"/>
                  <a:gd name="T38" fmla="*/ 102 w 176"/>
                  <a:gd name="T39" fmla="*/ 305 h 332"/>
                  <a:gd name="T40" fmla="*/ 88 w 176"/>
                  <a:gd name="T41" fmla="*/ 312 h 332"/>
                  <a:gd name="T42" fmla="*/ 81 w 176"/>
                  <a:gd name="T43" fmla="*/ 316 h 332"/>
                  <a:gd name="T44" fmla="*/ 75 w 176"/>
                  <a:gd name="T45" fmla="*/ 321 h 332"/>
                  <a:gd name="T46" fmla="*/ 58 w 176"/>
                  <a:gd name="T47" fmla="*/ 326 h 332"/>
                  <a:gd name="T48" fmla="*/ 53 w 176"/>
                  <a:gd name="T49" fmla="*/ 326 h 332"/>
                  <a:gd name="T50" fmla="*/ 51 w 176"/>
                  <a:gd name="T51" fmla="*/ 326 h 332"/>
                  <a:gd name="T52" fmla="*/ 50 w 176"/>
                  <a:gd name="T53" fmla="*/ 326 h 332"/>
                  <a:gd name="T54" fmla="*/ 50 w 176"/>
                  <a:gd name="T55" fmla="*/ 327 h 332"/>
                  <a:gd name="T56" fmla="*/ 42 w 176"/>
                  <a:gd name="T57" fmla="*/ 329 h 332"/>
                  <a:gd name="T58" fmla="*/ 26 w 176"/>
                  <a:gd name="T59" fmla="*/ 330 h 332"/>
                  <a:gd name="T60" fmla="*/ 17 w 176"/>
                  <a:gd name="T61" fmla="*/ 330 h 332"/>
                  <a:gd name="T62" fmla="*/ 10 w 176"/>
                  <a:gd name="T63" fmla="*/ 332 h 332"/>
                  <a:gd name="T64" fmla="*/ 3 w 176"/>
                  <a:gd name="T65" fmla="*/ 312 h 332"/>
                  <a:gd name="T66" fmla="*/ 0 w 176"/>
                  <a:gd name="T67" fmla="*/ 296 h 332"/>
                  <a:gd name="T68" fmla="*/ 2 w 176"/>
                  <a:gd name="T69" fmla="*/ 278 h 332"/>
                  <a:gd name="T70" fmla="*/ 8 w 176"/>
                  <a:gd name="T71" fmla="*/ 258 h 332"/>
                  <a:gd name="T72" fmla="*/ 17 w 176"/>
                  <a:gd name="T73" fmla="*/ 237 h 332"/>
                  <a:gd name="T74" fmla="*/ 23 w 176"/>
                  <a:gd name="T75" fmla="*/ 225 h 332"/>
                  <a:gd name="T76" fmla="*/ 32 w 176"/>
                  <a:gd name="T77" fmla="*/ 214 h 332"/>
                  <a:gd name="T78" fmla="*/ 40 w 176"/>
                  <a:gd name="T79" fmla="*/ 198 h 332"/>
                  <a:gd name="T80" fmla="*/ 52 w 176"/>
                  <a:gd name="T81" fmla="*/ 182 h 332"/>
                  <a:gd name="T82" fmla="*/ 64 w 176"/>
                  <a:gd name="T83" fmla="*/ 161 h 332"/>
                  <a:gd name="T84" fmla="*/ 80 w 176"/>
                  <a:gd name="T85" fmla="*/ 141 h 332"/>
                  <a:gd name="T86" fmla="*/ 89 w 176"/>
                  <a:gd name="T87" fmla="*/ 118 h 332"/>
                  <a:gd name="T88" fmla="*/ 98 w 176"/>
                  <a:gd name="T89" fmla="*/ 96 h 332"/>
                  <a:gd name="T90" fmla="*/ 101 w 176"/>
                  <a:gd name="T91" fmla="*/ 76 h 332"/>
                  <a:gd name="T92" fmla="*/ 104 w 176"/>
                  <a:gd name="T93" fmla="*/ 58 h 332"/>
                  <a:gd name="T94" fmla="*/ 101 w 176"/>
                  <a:gd name="T95" fmla="*/ 34 h 332"/>
                  <a:gd name="T96" fmla="*/ 101 w 176"/>
                  <a:gd name="T97" fmla="*/ 20 h 332"/>
                  <a:gd name="T98" fmla="*/ 101 w 176"/>
                  <a:gd name="T99" fmla="*/ 4 h 332"/>
                  <a:gd name="T100" fmla="*/ 101 w 176"/>
                  <a:gd name="T10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6" h="332">
                    <a:moveTo>
                      <a:pt x="101" y="0"/>
                    </a:moveTo>
                    <a:lnTo>
                      <a:pt x="104" y="3"/>
                    </a:lnTo>
                    <a:lnTo>
                      <a:pt x="134" y="54"/>
                    </a:lnTo>
                    <a:lnTo>
                      <a:pt x="161" y="108"/>
                    </a:lnTo>
                    <a:lnTo>
                      <a:pt x="167" y="123"/>
                    </a:lnTo>
                    <a:lnTo>
                      <a:pt x="172" y="140"/>
                    </a:lnTo>
                    <a:lnTo>
                      <a:pt x="174" y="154"/>
                    </a:lnTo>
                    <a:lnTo>
                      <a:pt x="176" y="171"/>
                    </a:lnTo>
                    <a:lnTo>
                      <a:pt x="174" y="185"/>
                    </a:lnTo>
                    <a:lnTo>
                      <a:pt x="172" y="202"/>
                    </a:lnTo>
                    <a:lnTo>
                      <a:pt x="168" y="219"/>
                    </a:lnTo>
                    <a:lnTo>
                      <a:pt x="162" y="236"/>
                    </a:lnTo>
                    <a:lnTo>
                      <a:pt x="158" y="242"/>
                    </a:lnTo>
                    <a:lnTo>
                      <a:pt x="154" y="249"/>
                    </a:lnTo>
                    <a:lnTo>
                      <a:pt x="149" y="255"/>
                    </a:lnTo>
                    <a:lnTo>
                      <a:pt x="146" y="262"/>
                    </a:lnTo>
                    <a:lnTo>
                      <a:pt x="136" y="274"/>
                    </a:lnTo>
                    <a:lnTo>
                      <a:pt x="126" y="286"/>
                    </a:lnTo>
                    <a:lnTo>
                      <a:pt x="114" y="296"/>
                    </a:lnTo>
                    <a:lnTo>
                      <a:pt x="102" y="305"/>
                    </a:lnTo>
                    <a:lnTo>
                      <a:pt x="88" y="312"/>
                    </a:lnTo>
                    <a:lnTo>
                      <a:pt x="81" y="316"/>
                    </a:lnTo>
                    <a:lnTo>
                      <a:pt x="75" y="321"/>
                    </a:lnTo>
                    <a:lnTo>
                      <a:pt x="58" y="326"/>
                    </a:lnTo>
                    <a:lnTo>
                      <a:pt x="53" y="326"/>
                    </a:lnTo>
                    <a:lnTo>
                      <a:pt x="51" y="326"/>
                    </a:lnTo>
                    <a:lnTo>
                      <a:pt x="50" y="326"/>
                    </a:lnTo>
                    <a:lnTo>
                      <a:pt x="50" y="327"/>
                    </a:lnTo>
                    <a:lnTo>
                      <a:pt x="42" y="329"/>
                    </a:lnTo>
                    <a:lnTo>
                      <a:pt x="26" y="330"/>
                    </a:lnTo>
                    <a:lnTo>
                      <a:pt x="17" y="330"/>
                    </a:lnTo>
                    <a:lnTo>
                      <a:pt x="10" y="332"/>
                    </a:lnTo>
                    <a:lnTo>
                      <a:pt x="3" y="312"/>
                    </a:lnTo>
                    <a:lnTo>
                      <a:pt x="0" y="296"/>
                    </a:lnTo>
                    <a:lnTo>
                      <a:pt x="2" y="278"/>
                    </a:lnTo>
                    <a:lnTo>
                      <a:pt x="8" y="258"/>
                    </a:lnTo>
                    <a:lnTo>
                      <a:pt x="17" y="237"/>
                    </a:lnTo>
                    <a:lnTo>
                      <a:pt x="23" y="225"/>
                    </a:lnTo>
                    <a:lnTo>
                      <a:pt x="32" y="214"/>
                    </a:lnTo>
                    <a:lnTo>
                      <a:pt x="40" y="198"/>
                    </a:lnTo>
                    <a:lnTo>
                      <a:pt x="52" y="182"/>
                    </a:lnTo>
                    <a:lnTo>
                      <a:pt x="64" y="161"/>
                    </a:lnTo>
                    <a:lnTo>
                      <a:pt x="80" y="141"/>
                    </a:lnTo>
                    <a:lnTo>
                      <a:pt x="89" y="118"/>
                    </a:lnTo>
                    <a:lnTo>
                      <a:pt x="98" y="96"/>
                    </a:lnTo>
                    <a:lnTo>
                      <a:pt x="101" y="76"/>
                    </a:lnTo>
                    <a:lnTo>
                      <a:pt x="104" y="58"/>
                    </a:lnTo>
                    <a:lnTo>
                      <a:pt x="101" y="34"/>
                    </a:lnTo>
                    <a:lnTo>
                      <a:pt x="101" y="20"/>
                    </a:lnTo>
                    <a:lnTo>
                      <a:pt x="101" y="4"/>
                    </a:lnTo>
                    <a:lnTo>
                      <a:pt x="101" y="0"/>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64" name="Freeform 192">
                <a:extLst>
                  <a:ext uri="{FF2B5EF4-FFF2-40B4-BE49-F238E27FC236}">
                    <a16:creationId xmlns:a16="http://schemas.microsoft.com/office/drawing/2014/main" id="{E2135E6D-ACF7-1D48-042D-9870C66799DF}"/>
                  </a:ext>
                </a:extLst>
              </p:cNvPr>
              <p:cNvSpPr>
                <a:spLocks/>
              </p:cNvSpPr>
              <p:nvPr/>
            </p:nvSpPr>
            <p:spPr bwMode="auto">
              <a:xfrm>
                <a:off x="3271" y="2129"/>
                <a:ext cx="83" cy="68"/>
              </a:xfrm>
              <a:custGeom>
                <a:avLst/>
                <a:gdLst>
                  <a:gd name="T0" fmla="*/ 8 w 68"/>
                  <a:gd name="T1" fmla="*/ 34 h 74"/>
                  <a:gd name="T2" fmla="*/ 8 w 68"/>
                  <a:gd name="T3" fmla="*/ 31 h 74"/>
                  <a:gd name="T4" fmla="*/ 6 w 68"/>
                  <a:gd name="T5" fmla="*/ 13 h 74"/>
                  <a:gd name="T6" fmla="*/ 2 w 68"/>
                  <a:gd name="T7" fmla="*/ 6 h 74"/>
                  <a:gd name="T8" fmla="*/ 0 w 68"/>
                  <a:gd name="T9" fmla="*/ 1 h 74"/>
                  <a:gd name="T10" fmla="*/ 10 w 68"/>
                  <a:gd name="T11" fmla="*/ 0 h 74"/>
                  <a:gd name="T12" fmla="*/ 20 w 68"/>
                  <a:gd name="T13" fmla="*/ 3 h 74"/>
                  <a:gd name="T14" fmla="*/ 29 w 68"/>
                  <a:gd name="T15" fmla="*/ 7 h 74"/>
                  <a:gd name="T16" fmla="*/ 38 w 68"/>
                  <a:gd name="T17" fmla="*/ 14 h 74"/>
                  <a:gd name="T18" fmla="*/ 46 w 68"/>
                  <a:gd name="T19" fmla="*/ 22 h 74"/>
                  <a:gd name="T20" fmla="*/ 54 w 68"/>
                  <a:gd name="T21" fmla="*/ 33 h 74"/>
                  <a:gd name="T22" fmla="*/ 61 w 68"/>
                  <a:gd name="T23" fmla="*/ 46 h 74"/>
                  <a:gd name="T24" fmla="*/ 68 w 68"/>
                  <a:gd name="T25" fmla="*/ 62 h 74"/>
                  <a:gd name="T26" fmla="*/ 58 w 68"/>
                  <a:gd name="T27" fmla="*/ 55 h 74"/>
                  <a:gd name="T28" fmla="*/ 49 w 68"/>
                  <a:gd name="T29" fmla="*/ 51 h 74"/>
                  <a:gd name="T30" fmla="*/ 42 w 68"/>
                  <a:gd name="T31" fmla="*/ 48 h 74"/>
                  <a:gd name="T32" fmla="*/ 37 w 68"/>
                  <a:gd name="T33" fmla="*/ 48 h 74"/>
                  <a:gd name="T34" fmla="*/ 31 w 68"/>
                  <a:gd name="T35" fmla="*/ 48 h 74"/>
                  <a:gd name="T36" fmla="*/ 28 w 68"/>
                  <a:gd name="T37" fmla="*/ 50 h 74"/>
                  <a:gd name="T38" fmla="*/ 24 w 68"/>
                  <a:gd name="T39" fmla="*/ 54 h 74"/>
                  <a:gd name="T40" fmla="*/ 23 w 68"/>
                  <a:gd name="T41" fmla="*/ 61 h 74"/>
                  <a:gd name="T42" fmla="*/ 20 w 68"/>
                  <a:gd name="T43" fmla="*/ 72 h 74"/>
                  <a:gd name="T44" fmla="*/ 20 w 68"/>
                  <a:gd name="T45" fmla="*/ 74 h 74"/>
                  <a:gd name="T46" fmla="*/ 18 w 68"/>
                  <a:gd name="T47" fmla="*/ 72 h 74"/>
                  <a:gd name="T48" fmla="*/ 11 w 68"/>
                  <a:gd name="T49" fmla="*/ 62 h 74"/>
                  <a:gd name="T50" fmla="*/ 8 w 68"/>
                  <a:gd name="T51" fmla="*/ 56 h 74"/>
                  <a:gd name="T52" fmla="*/ 8 w 68"/>
                  <a:gd name="T53" fmla="*/ 51 h 74"/>
                  <a:gd name="T54" fmla="*/ 8 w 68"/>
                  <a:gd name="T55" fmla="*/ 42 h 74"/>
                  <a:gd name="T56" fmla="*/ 8 w 68"/>
                  <a:gd name="T57" fmla="*/ 38 h 74"/>
                  <a:gd name="T58" fmla="*/ 8 w 68"/>
                  <a:gd name="T59" fmla="*/ 3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 h="74">
                    <a:moveTo>
                      <a:pt x="8" y="34"/>
                    </a:moveTo>
                    <a:lnTo>
                      <a:pt x="8" y="31"/>
                    </a:lnTo>
                    <a:lnTo>
                      <a:pt x="6" y="13"/>
                    </a:lnTo>
                    <a:lnTo>
                      <a:pt x="2" y="6"/>
                    </a:lnTo>
                    <a:lnTo>
                      <a:pt x="0" y="1"/>
                    </a:lnTo>
                    <a:lnTo>
                      <a:pt x="10" y="0"/>
                    </a:lnTo>
                    <a:lnTo>
                      <a:pt x="20" y="3"/>
                    </a:lnTo>
                    <a:lnTo>
                      <a:pt x="29" y="7"/>
                    </a:lnTo>
                    <a:lnTo>
                      <a:pt x="38" y="14"/>
                    </a:lnTo>
                    <a:lnTo>
                      <a:pt x="46" y="22"/>
                    </a:lnTo>
                    <a:lnTo>
                      <a:pt x="54" y="33"/>
                    </a:lnTo>
                    <a:lnTo>
                      <a:pt x="61" y="46"/>
                    </a:lnTo>
                    <a:lnTo>
                      <a:pt x="68" y="62"/>
                    </a:lnTo>
                    <a:lnTo>
                      <a:pt x="58" y="55"/>
                    </a:lnTo>
                    <a:lnTo>
                      <a:pt x="49" y="51"/>
                    </a:lnTo>
                    <a:lnTo>
                      <a:pt x="42" y="48"/>
                    </a:lnTo>
                    <a:lnTo>
                      <a:pt x="37" y="48"/>
                    </a:lnTo>
                    <a:lnTo>
                      <a:pt x="31" y="48"/>
                    </a:lnTo>
                    <a:lnTo>
                      <a:pt x="28" y="50"/>
                    </a:lnTo>
                    <a:lnTo>
                      <a:pt x="24" y="54"/>
                    </a:lnTo>
                    <a:lnTo>
                      <a:pt x="23" y="61"/>
                    </a:lnTo>
                    <a:lnTo>
                      <a:pt x="20" y="72"/>
                    </a:lnTo>
                    <a:lnTo>
                      <a:pt x="20" y="74"/>
                    </a:lnTo>
                    <a:lnTo>
                      <a:pt x="18" y="72"/>
                    </a:lnTo>
                    <a:lnTo>
                      <a:pt x="11" y="62"/>
                    </a:lnTo>
                    <a:lnTo>
                      <a:pt x="8" y="56"/>
                    </a:lnTo>
                    <a:lnTo>
                      <a:pt x="8" y="51"/>
                    </a:lnTo>
                    <a:lnTo>
                      <a:pt x="8" y="42"/>
                    </a:lnTo>
                    <a:lnTo>
                      <a:pt x="8" y="38"/>
                    </a:lnTo>
                    <a:lnTo>
                      <a:pt x="8" y="34"/>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65" name="Freeform 193">
                <a:extLst>
                  <a:ext uri="{FF2B5EF4-FFF2-40B4-BE49-F238E27FC236}">
                    <a16:creationId xmlns:a16="http://schemas.microsoft.com/office/drawing/2014/main" id="{64592490-442B-A2BA-385B-4885352EB0C0}"/>
                  </a:ext>
                </a:extLst>
              </p:cNvPr>
              <p:cNvSpPr>
                <a:spLocks/>
              </p:cNvSpPr>
              <p:nvPr/>
            </p:nvSpPr>
            <p:spPr bwMode="auto">
              <a:xfrm>
                <a:off x="3052" y="2181"/>
                <a:ext cx="174" cy="425"/>
              </a:xfrm>
              <a:custGeom>
                <a:avLst/>
                <a:gdLst>
                  <a:gd name="T0" fmla="*/ 5 w 136"/>
                  <a:gd name="T1" fmla="*/ 12 h 472"/>
                  <a:gd name="T2" fmla="*/ 0 w 136"/>
                  <a:gd name="T3" fmla="*/ 41 h 472"/>
                  <a:gd name="T4" fmla="*/ 7 w 136"/>
                  <a:gd name="T5" fmla="*/ 76 h 472"/>
                  <a:gd name="T6" fmla="*/ 11 w 136"/>
                  <a:gd name="T7" fmla="*/ 90 h 472"/>
                  <a:gd name="T8" fmla="*/ 18 w 136"/>
                  <a:gd name="T9" fmla="*/ 113 h 472"/>
                  <a:gd name="T10" fmla="*/ 21 w 136"/>
                  <a:gd name="T11" fmla="*/ 121 h 472"/>
                  <a:gd name="T12" fmla="*/ 24 w 136"/>
                  <a:gd name="T13" fmla="*/ 128 h 472"/>
                  <a:gd name="T14" fmla="*/ 28 w 136"/>
                  <a:gd name="T15" fmla="*/ 146 h 472"/>
                  <a:gd name="T16" fmla="*/ 33 w 136"/>
                  <a:gd name="T17" fmla="*/ 161 h 472"/>
                  <a:gd name="T18" fmla="*/ 34 w 136"/>
                  <a:gd name="T19" fmla="*/ 164 h 472"/>
                  <a:gd name="T20" fmla="*/ 37 w 136"/>
                  <a:gd name="T21" fmla="*/ 182 h 472"/>
                  <a:gd name="T22" fmla="*/ 34 w 136"/>
                  <a:gd name="T23" fmla="*/ 210 h 472"/>
                  <a:gd name="T24" fmla="*/ 30 w 136"/>
                  <a:gd name="T25" fmla="*/ 234 h 472"/>
                  <a:gd name="T26" fmla="*/ 17 w 136"/>
                  <a:gd name="T27" fmla="*/ 305 h 472"/>
                  <a:gd name="T28" fmla="*/ 13 w 136"/>
                  <a:gd name="T29" fmla="*/ 365 h 472"/>
                  <a:gd name="T30" fmla="*/ 15 w 136"/>
                  <a:gd name="T31" fmla="*/ 402 h 472"/>
                  <a:gd name="T32" fmla="*/ 19 w 136"/>
                  <a:gd name="T33" fmla="*/ 432 h 472"/>
                  <a:gd name="T34" fmla="*/ 28 w 136"/>
                  <a:gd name="T35" fmla="*/ 455 h 472"/>
                  <a:gd name="T36" fmla="*/ 40 w 136"/>
                  <a:gd name="T37" fmla="*/ 472 h 472"/>
                  <a:gd name="T38" fmla="*/ 58 w 136"/>
                  <a:gd name="T39" fmla="*/ 467 h 472"/>
                  <a:gd name="T40" fmla="*/ 66 w 136"/>
                  <a:gd name="T41" fmla="*/ 463 h 472"/>
                  <a:gd name="T42" fmla="*/ 81 w 136"/>
                  <a:gd name="T43" fmla="*/ 451 h 472"/>
                  <a:gd name="T44" fmla="*/ 84 w 136"/>
                  <a:gd name="T45" fmla="*/ 444 h 472"/>
                  <a:gd name="T46" fmla="*/ 91 w 136"/>
                  <a:gd name="T47" fmla="*/ 433 h 472"/>
                  <a:gd name="T48" fmla="*/ 102 w 136"/>
                  <a:gd name="T49" fmla="*/ 407 h 472"/>
                  <a:gd name="T50" fmla="*/ 102 w 136"/>
                  <a:gd name="T51" fmla="*/ 400 h 472"/>
                  <a:gd name="T52" fmla="*/ 104 w 136"/>
                  <a:gd name="T53" fmla="*/ 398 h 472"/>
                  <a:gd name="T54" fmla="*/ 107 w 136"/>
                  <a:gd name="T55" fmla="*/ 374 h 472"/>
                  <a:gd name="T56" fmla="*/ 107 w 136"/>
                  <a:gd name="T57" fmla="*/ 335 h 472"/>
                  <a:gd name="T58" fmla="*/ 113 w 136"/>
                  <a:gd name="T59" fmla="*/ 296 h 472"/>
                  <a:gd name="T60" fmla="*/ 126 w 136"/>
                  <a:gd name="T61" fmla="*/ 266 h 472"/>
                  <a:gd name="T62" fmla="*/ 135 w 136"/>
                  <a:gd name="T63" fmla="*/ 234 h 472"/>
                  <a:gd name="T64" fmla="*/ 136 w 136"/>
                  <a:gd name="T65" fmla="*/ 218 h 472"/>
                  <a:gd name="T66" fmla="*/ 131 w 136"/>
                  <a:gd name="T67" fmla="*/ 182 h 472"/>
                  <a:gd name="T68" fmla="*/ 120 w 136"/>
                  <a:gd name="T69" fmla="*/ 150 h 472"/>
                  <a:gd name="T70" fmla="*/ 100 w 136"/>
                  <a:gd name="T71" fmla="*/ 119 h 472"/>
                  <a:gd name="T72" fmla="*/ 73 w 136"/>
                  <a:gd name="T73" fmla="*/ 90 h 472"/>
                  <a:gd name="T74" fmla="*/ 33 w 136"/>
                  <a:gd name="T75" fmla="*/ 44 h 472"/>
                  <a:gd name="T76" fmla="*/ 18 w 136"/>
                  <a:gd name="T77" fmla="*/ 22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472">
                    <a:moveTo>
                      <a:pt x="11" y="0"/>
                    </a:moveTo>
                    <a:lnTo>
                      <a:pt x="5" y="12"/>
                    </a:lnTo>
                    <a:lnTo>
                      <a:pt x="1" y="26"/>
                    </a:lnTo>
                    <a:lnTo>
                      <a:pt x="0" y="41"/>
                    </a:lnTo>
                    <a:lnTo>
                      <a:pt x="3" y="55"/>
                    </a:lnTo>
                    <a:lnTo>
                      <a:pt x="7" y="76"/>
                    </a:lnTo>
                    <a:lnTo>
                      <a:pt x="10" y="85"/>
                    </a:lnTo>
                    <a:lnTo>
                      <a:pt x="11" y="90"/>
                    </a:lnTo>
                    <a:lnTo>
                      <a:pt x="13" y="96"/>
                    </a:lnTo>
                    <a:lnTo>
                      <a:pt x="18" y="113"/>
                    </a:lnTo>
                    <a:lnTo>
                      <a:pt x="21" y="120"/>
                    </a:lnTo>
                    <a:lnTo>
                      <a:pt x="21" y="121"/>
                    </a:lnTo>
                    <a:lnTo>
                      <a:pt x="22" y="124"/>
                    </a:lnTo>
                    <a:lnTo>
                      <a:pt x="24" y="128"/>
                    </a:lnTo>
                    <a:lnTo>
                      <a:pt x="27" y="142"/>
                    </a:lnTo>
                    <a:lnTo>
                      <a:pt x="28" y="146"/>
                    </a:lnTo>
                    <a:lnTo>
                      <a:pt x="30" y="152"/>
                    </a:lnTo>
                    <a:lnTo>
                      <a:pt x="33" y="161"/>
                    </a:lnTo>
                    <a:lnTo>
                      <a:pt x="33" y="162"/>
                    </a:lnTo>
                    <a:lnTo>
                      <a:pt x="34" y="164"/>
                    </a:lnTo>
                    <a:lnTo>
                      <a:pt x="36" y="169"/>
                    </a:lnTo>
                    <a:lnTo>
                      <a:pt x="37" y="182"/>
                    </a:lnTo>
                    <a:lnTo>
                      <a:pt x="36" y="200"/>
                    </a:lnTo>
                    <a:lnTo>
                      <a:pt x="34" y="210"/>
                    </a:lnTo>
                    <a:lnTo>
                      <a:pt x="33" y="222"/>
                    </a:lnTo>
                    <a:lnTo>
                      <a:pt x="30" y="234"/>
                    </a:lnTo>
                    <a:lnTo>
                      <a:pt x="28" y="248"/>
                    </a:lnTo>
                    <a:lnTo>
                      <a:pt x="17" y="305"/>
                    </a:lnTo>
                    <a:lnTo>
                      <a:pt x="13" y="334"/>
                    </a:lnTo>
                    <a:lnTo>
                      <a:pt x="13" y="365"/>
                    </a:lnTo>
                    <a:lnTo>
                      <a:pt x="13" y="384"/>
                    </a:lnTo>
                    <a:lnTo>
                      <a:pt x="15" y="402"/>
                    </a:lnTo>
                    <a:lnTo>
                      <a:pt x="16" y="418"/>
                    </a:lnTo>
                    <a:lnTo>
                      <a:pt x="19" y="432"/>
                    </a:lnTo>
                    <a:lnTo>
                      <a:pt x="23" y="444"/>
                    </a:lnTo>
                    <a:lnTo>
                      <a:pt x="28" y="455"/>
                    </a:lnTo>
                    <a:lnTo>
                      <a:pt x="33" y="463"/>
                    </a:lnTo>
                    <a:lnTo>
                      <a:pt x="40" y="472"/>
                    </a:lnTo>
                    <a:lnTo>
                      <a:pt x="48" y="469"/>
                    </a:lnTo>
                    <a:lnTo>
                      <a:pt x="58" y="467"/>
                    </a:lnTo>
                    <a:lnTo>
                      <a:pt x="61" y="464"/>
                    </a:lnTo>
                    <a:lnTo>
                      <a:pt x="66" y="463"/>
                    </a:lnTo>
                    <a:lnTo>
                      <a:pt x="75" y="458"/>
                    </a:lnTo>
                    <a:lnTo>
                      <a:pt x="81" y="451"/>
                    </a:lnTo>
                    <a:lnTo>
                      <a:pt x="83" y="446"/>
                    </a:lnTo>
                    <a:lnTo>
                      <a:pt x="84" y="444"/>
                    </a:lnTo>
                    <a:lnTo>
                      <a:pt x="87" y="443"/>
                    </a:lnTo>
                    <a:lnTo>
                      <a:pt x="91" y="433"/>
                    </a:lnTo>
                    <a:lnTo>
                      <a:pt x="98" y="424"/>
                    </a:lnTo>
                    <a:lnTo>
                      <a:pt x="102" y="407"/>
                    </a:lnTo>
                    <a:lnTo>
                      <a:pt x="102" y="402"/>
                    </a:lnTo>
                    <a:lnTo>
                      <a:pt x="102" y="400"/>
                    </a:lnTo>
                    <a:lnTo>
                      <a:pt x="102" y="398"/>
                    </a:lnTo>
                    <a:lnTo>
                      <a:pt x="104" y="398"/>
                    </a:lnTo>
                    <a:lnTo>
                      <a:pt x="106" y="391"/>
                    </a:lnTo>
                    <a:lnTo>
                      <a:pt x="107" y="374"/>
                    </a:lnTo>
                    <a:lnTo>
                      <a:pt x="108" y="358"/>
                    </a:lnTo>
                    <a:lnTo>
                      <a:pt x="107" y="335"/>
                    </a:lnTo>
                    <a:lnTo>
                      <a:pt x="110" y="314"/>
                    </a:lnTo>
                    <a:lnTo>
                      <a:pt x="113" y="296"/>
                    </a:lnTo>
                    <a:lnTo>
                      <a:pt x="120" y="283"/>
                    </a:lnTo>
                    <a:lnTo>
                      <a:pt x="126" y="266"/>
                    </a:lnTo>
                    <a:lnTo>
                      <a:pt x="131" y="251"/>
                    </a:lnTo>
                    <a:lnTo>
                      <a:pt x="135" y="234"/>
                    </a:lnTo>
                    <a:lnTo>
                      <a:pt x="135" y="226"/>
                    </a:lnTo>
                    <a:lnTo>
                      <a:pt x="136" y="218"/>
                    </a:lnTo>
                    <a:lnTo>
                      <a:pt x="135" y="199"/>
                    </a:lnTo>
                    <a:lnTo>
                      <a:pt x="131" y="182"/>
                    </a:lnTo>
                    <a:lnTo>
                      <a:pt x="126" y="166"/>
                    </a:lnTo>
                    <a:lnTo>
                      <a:pt x="120" y="150"/>
                    </a:lnTo>
                    <a:lnTo>
                      <a:pt x="111" y="133"/>
                    </a:lnTo>
                    <a:lnTo>
                      <a:pt x="100" y="119"/>
                    </a:lnTo>
                    <a:lnTo>
                      <a:pt x="87" y="104"/>
                    </a:lnTo>
                    <a:lnTo>
                      <a:pt x="73" y="90"/>
                    </a:lnTo>
                    <a:lnTo>
                      <a:pt x="49" y="66"/>
                    </a:lnTo>
                    <a:lnTo>
                      <a:pt x="33" y="44"/>
                    </a:lnTo>
                    <a:lnTo>
                      <a:pt x="24" y="32"/>
                    </a:lnTo>
                    <a:lnTo>
                      <a:pt x="18" y="22"/>
                    </a:lnTo>
                    <a:lnTo>
                      <a:pt x="11" y="0"/>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66" name="Freeform 194">
                <a:extLst>
                  <a:ext uri="{FF2B5EF4-FFF2-40B4-BE49-F238E27FC236}">
                    <a16:creationId xmlns:a16="http://schemas.microsoft.com/office/drawing/2014/main" id="{59B576D3-36DD-DDD6-8468-3764838EA671}"/>
                  </a:ext>
                </a:extLst>
              </p:cNvPr>
              <p:cNvSpPr>
                <a:spLocks/>
              </p:cNvSpPr>
              <p:nvPr/>
            </p:nvSpPr>
            <p:spPr bwMode="auto">
              <a:xfrm>
                <a:off x="3052" y="2181"/>
                <a:ext cx="174" cy="425"/>
              </a:xfrm>
              <a:custGeom>
                <a:avLst/>
                <a:gdLst>
                  <a:gd name="T0" fmla="*/ 7 w 136"/>
                  <a:gd name="T1" fmla="*/ 76 h 472"/>
                  <a:gd name="T2" fmla="*/ 11 w 136"/>
                  <a:gd name="T3" fmla="*/ 90 h 472"/>
                  <a:gd name="T4" fmla="*/ 18 w 136"/>
                  <a:gd name="T5" fmla="*/ 113 h 472"/>
                  <a:gd name="T6" fmla="*/ 21 w 136"/>
                  <a:gd name="T7" fmla="*/ 121 h 472"/>
                  <a:gd name="T8" fmla="*/ 24 w 136"/>
                  <a:gd name="T9" fmla="*/ 128 h 472"/>
                  <a:gd name="T10" fmla="*/ 28 w 136"/>
                  <a:gd name="T11" fmla="*/ 146 h 472"/>
                  <a:gd name="T12" fmla="*/ 33 w 136"/>
                  <a:gd name="T13" fmla="*/ 161 h 472"/>
                  <a:gd name="T14" fmla="*/ 34 w 136"/>
                  <a:gd name="T15" fmla="*/ 164 h 472"/>
                  <a:gd name="T16" fmla="*/ 37 w 136"/>
                  <a:gd name="T17" fmla="*/ 182 h 472"/>
                  <a:gd name="T18" fmla="*/ 34 w 136"/>
                  <a:gd name="T19" fmla="*/ 210 h 472"/>
                  <a:gd name="T20" fmla="*/ 30 w 136"/>
                  <a:gd name="T21" fmla="*/ 234 h 472"/>
                  <a:gd name="T22" fmla="*/ 17 w 136"/>
                  <a:gd name="T23" fmla="*/ 305 h 472"/>
                  <a:gd name="T24" fmla="*/ 13 w 136"/>
                  <a:gd name="T25" fmla="*/ 365 h 472"/>
                  <a:gd name="T26" fmla="*/ 15 w 136"/>
                  <a:gd name="T27" fmla="*/ 402 h 472"/>
                  <a:gd name="T28" fmla="*/ 19 w 136"/>
                  <a:gd name="T29" fmla="*/ 432 h 472"/>
                  <a:gd name="T30" fmla="*/ 28 w 136"/>
                  <a:gd name="T31" fmla="*/ 455 h 472"/>
                  <a:gd name="T32" fmla="*/ 40 w 136"/>
                  <a:gd name="T33" fmla="*/ 472 h 472"/>
                  <a:gd name="T34" fmla="*/ 58 w 136"/>
                  <a:gd name="T35" fmla="*/ 467 h 472"/>
                  <a:gd name="T36" fmla="*/ 66 w 136"/>
                  <a:gd name="T37" fmla="*/ 463 h 472"/>
                  <a:gd name="T38" fmla="*/ 81 w 136"/>
                  <a:gd name="T39" fmla="*/ 451 h 472"/>
                  <a:gd name="T40" fmla="*/ 84 w 136"/>
                  <a:gd name="T41" fmla="*/ 444 h 472"/>
                  <a:gd name="T42" fmla="*/ 91 w 136"/>
                  <a:gd name="T43" fmla="*/ 433 h 472"/>
                  <a:gd name="T44" fmla="*/ 102 w 136"/>
                  <a:gd name="T45" fmla="*/ 407 h 472"/>
                  <a:gd name="T46" fmla="*/ 102 w 136"/>
                  <a:gd name="T47" fmla="*/ 400 h 472"/>
                  <a:gd name="T48" fmla="*/ 104 w 136"/>
                  <a:gd name="T49" fmla="*/ 398 h 472"/>
                  <a:gd name="T50" fmla="*/ 107 w 136"/>
                  <a:gd name="T51" fmla="*/ 374 h 472"/>
                  <a:gd name="T52" fmla="*/ 107 w 136"/>
                  <a:gd name="T53" fmla="*/ 335 h 472"/>
                  <a:gd name="T54" fmla="*/ 113 w 136"/>
                  <a:gd name="T55" fmla="*/ 296 h 472"/>
                  <a:gd name="T56" fmla="*/ 126 w 136"/>
                  <a:gd name="T57" fmla="*/ 266 h 472"/>
                  <a:gd name="T58" fmla="*/ 135 w 136"/>
                  <a:gd name="T59" fmla="*/ 234 h 472"/>
                  <a:gd name="T60" fmla="*/ 136 w 136"/>
                  <a:gd name="T61" fmla="*/ 218 h 472"/>
                  <a:gd name="T62" fmla="*/ 131 w 136"/>
                  <a:gd name="T63" fmla="*/ 182 h 472"/>
                  <a:gd name="T64" fmla="*/ 120 w 136"/>
                  <a:gd name="T65" fmla="*/ 150 h 472"/>
                  <a:gd name="T66" fmla="*/ 100 w 136"/>
                  <a:gd name="T67" fmla="*/ 119 h 472"/>
                  <a:gd name="T68" fmla="*/ 73 w 136"/>
                  <a:gd name="T69" fmla="*/ 90 h 472"/>
                  <a:gd name="T70" fmla="*/ 33 w 136"/>
                  <a:gd name="T71" fmla="*/ 44 h 472"/>
                  <a:gd name="T72" fmla="*/ 18 w 136"/>
                  <a:gd name="T73" fmla="*/ 22 h 472"/>
                  <a:gd name="T74" fmla="*/ 5 w 136"/>
                  <a:gd name="T75" fmla="*/ 12 h 472"/>
                  <a:gd name="T76" fmla="*/ 0 w 136"/>
                  <a:gd name="T77" fmla="*/ 41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472">
                    <a:moveTo>
                      <a:pt x="3" y="55"/>
                    </a:moveTo>
                    <a:lnTo>
                      <a:pt x="7" y="76"/>
                    </a:lnTo>
                    <a:lnTo>
                      <a:pt x="10" y="85"/>
                    </a:lnTo>
                    <a:lnTo>
                      <a:pt x="11" y="90"/>
                    </a:lnTo>
                    <a:lnTo>
                      <a:pt x="13" y="96"/>
                    </a:lnTo>
                    <a:lnTo>
                      <a:pt x="18" y="113"/>
                    </a:lnTo>
                    <a:lnTo>
                      <a:pt x="21" y="120"/>
                    </a:lnTo>
                    <a:lnTo>
                      <a:pt x="21" y="121"/>
                    </a:lnTo>
                    <a:lnTo>
                      <a:pt x="22" y="124"/>
                    </a:lnTo>
                    <a:lnTo>
                      <a:pt x="24" y="128"/>
                    </a:lnTo>
                    <a:lnTo>
                      <a:pt x="27" y="142"/>
                    </a:lnTo>
                    <a:lnTo>
                      <a:pt x="28" y="146"/>
                    </a:lnTo>
                    <a:lnTo>
                      <a:pt x="30" y="152"/>
                    </a:lnTo>
                    <a:lnTo>
                      <a:pt x="33" y="161"/>
                    </a:lnTo>
                    <a:lnTo>
                      <a:pt x="33" y="162"/>
                    </a:lnTo>
                    <a:lnTo>
                      <a:pt x="34" y="164"/>
                    </a:lnTo>
                    <a:lnTo>
                      <a:pt x="36" y="169"/>
                    </a:lnTo>
                    <a:lnTo>
                      <a:pt x="37" y="182"/>
                    </a:lnTo>
                    <a:lnTo>
                      <a:pt x="36" y="200"/>
                    </a:lnTo>
                    <a:lnTo>
                      <a:pt x="34" y="210"/>
                    </a:lnTo>
                    <a:lnTo>
                      <a:pt x="33" y="222"/>
                    </a:lnTo>
                    <a:lnTo>
                      <a:pt x="30" y="234"/>
                    </a:lnTo>
                    <a:lnTo>
                      <a:pt x="28" y="248"/>
                    </a:lnTo>
                    <a:lnTo>
                      <a:pt x="17" y="305"/>
                    </a:lnTo>
                    <a:lnTo>
                      <a:pt x="13" y="334"/>
                    </a:lnTo>
                    <a:lnTo>
                      <a:pt x="13" y="365"/>
                    </a:lnTo>
                    <a:lnTo>
                      <a:pt x="13" y="384"/>
                    </a:lnTo>
                    <a:lnTo>
                      <a:pt x="15" y="402"/>
                    </a:lnTo>
                    <a:lnTo>
                      <a:pt x="16" y="418"/>
                    </a:lnTo>
                    <a:lnTo>
                      <a:pt x="19" y="432"/>
                    </a:lnTo>
                    <a:lnTo>
                      <a:pt x="23" y="444"/>
                    </a:lnTo>
                    <a:lnTo>
                      <a:pt x="28" y="455"/>
                    </a:lnTo>
                    <a:lnTo>
                      <a:pt x="33" y="463"/>
                    </a:lnTo>
                    <a:lnTo>
                      <a:pt x="40" y="472"/>
                    </a:lnTo>
                    <a:lnTo>
                      <a:pt x="48" y="469"/>
                    </a:lnTo>
                    <a:lnTo>
                      <a:pt x="58" y="467"/>
                    </a:lnTo>
                    <a:lnTo>
                      <a:pt x="61" y="464"/>
                    </a:lnTo>
                    <a:lnTo>
                      <a:pt x="66" y="463"/>
                    </a:lnTo>
                    <a:lnTo>
                      <a:pt x="75" y="458"/>
                    </a:lnTo>
                    <a:lnTo>
                      <a:pt x="81" y="451"/>
                    </a:lnTo>
                    <a:lnTo>
                      <a:pt x="83" y="446"/>
                    </a:lnTo>
                    <a:lnTo>
                      <a:pt x="84" y="444"/>
                    </a:lnTo>
                    <a:lnTo>
                      <a:pt x="87" y="443"/>
                    </a:lnTo>
                    <a:lnTo>
                      <a:pt x="91" y="433"/>
                    </a:lnTo>
                    <a:lnTo>
                      <a:pt x="98" y="424"/>
                    </a:lnTo>
                    <a:lnTo>
                      <a:pt x="102" y="407"/>
                    </a:lnTo>
                    <a:lnTo>
                      <a:pt x="102" y="402"/>
                    </a:lnTo>
                    <a:lnTo>
                      <a:pt x="102" y="400"/>
                    </a:lnTo>
                    <a:lnTo>
                      <a:pt x="102" y="398"/>
                    </a:lnTo>
                    <a:lnTo>
                      <a:pt x="104" y="398"/>
                    </a:lnTo>
                    <a:lnTo>
                      <a:pt x="106" y="391"/>
                    </a:lnTo>
                    <a:lnTo>
                      <a:pt x="107" y="374"/>
                    </a:lnTo>
                    <a:lnTo>
                      <a:pt x="108" y="358"/>
                    </a:lnTo>
                    <a:lnTo>
                      <a:pt x="107" y="335"/>
                    </a:lnTo>
                    <a:lnTo>
                      <a:pt x="110" y="314"/>
                    </a:lnTo>
                    <a:lnTo>
                      <a:pt x="113" y="296"/>
                    </a:lnTo>
                    <a:lnTo>
                      <a:pt x="120" y="283"/>
                    </a:lnTo>
                    <a:lnTo>
                      <a:pt x="126" y="266"/>
                    </a:lnTo>
                    <a:lnTo>
                      <a:pt x="131" y="251"/>
                    </a:lnTo>
                    <a:lnTo>
                      <a:pt x="135" y="234"/>
                    </a:lnTo>
                    <a:lnTo>
                      <a:pt x="135" y="226"/>
                    </a:lnTo>
                    <a:lnTo>
                      <a:pt x="136" y="218"/>
                    </a:lnTo>
                    <a:lnTo>
                      <a:pt x="135" y="199"/>
                    </a:lnTo>
                    <a:lnTo>
                      <a:pt x="131" y="182"/>
                    </a:lnTo>
                    <a:lnTo>
                      <a:pt x="126" y="166"/>
                    </a:lnTo>
                    <a:lnTo>
                      <a:pt x="120" y="150"/>
                    </a:lnTo>
                    <a:lnTo>
                      <a:pt x="111" y="133"/>
                    </a:lnTo>
                    <a:lnTo>
                      <a:pt x="100" y="119"/>
                    </a:lnTo>
                    <a:lnTo>
                      <a:pt x="87" y="104"/>
                    </a:lnTo>
                    <a:lnTo>
                      <a:pt x="73" y="90"/>
                    </a:lnTo>
                    <a:lnTo>
                      <a:pt x="49" y="66"/>
                    </a:lnTo>
                    <a:lnTo>
                      <a:pt x="33" y="44"/>
                    </a:lnTo>
                    <a:lnTo>
                      <a:pt x="24" y="32"/>
                    </a:lnTo>
                    <a:lnTo>
                      <a:pt x="18" y="22"/>
                    </a:lnTo>
                    <a:lnTo>
                      <a:pt x="11" y="0"/>
                    </a:lnTo>
                    <a:lnTo>
                      <a:pt x="5" y="12"/>
                    </a:lnTo>
                    <a:lnTo>
                      <a:pt x="1" y="26"/>
                    </a:lnTo>
                    <a:lnTo>
                      <a:pt x="0" y="41"/>
                    </a:lnTo>
                    <a:lnTo>
                      <a:pt x="3" y="55"/>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67" name="Freeform 195">
                <a:extLst>
                  <a:ext uri="{FF2B5EF4-FFF2-40B4-BE49-F238E27FC236}">
                    <a16:creationId xmlns:a16="http://schemas.microsoft.com/office/drawing/2014/main" id="{64DD2C8D-6B84-06EF-963C-BD42BD8B2C33}"/>
                  </a:ext>
                </a:extLst>
              </p:cNvPr>
              <p:cNvSpPr>
                <a:spLocks/>
              </p:cNvSpPr>
              <p:nvPr/>
            </p:nvSpPr>
            <p:spPr bwMode="auto">
              <a:xfrm>
                <a:off x="2618" y="2083"/>
                <a:ext cx="129" cy="163"/>
              </a:xfrm>
              <a:custGeom>
                <a:avLst/>
                <a:gdLst>
                  <a:gd name="T0" fmla="*/ 100 w 100"/>
                  <a:gd name="T1" fmla="*/ 178 h 178"/>
                  <a:gd name="T2" fmla="*/ 75 w 100"/>
                  <a:gd name="T3" fmla="*/ 157 h 178"/>
                  <a:gd name="T4" fmla="*/ 60 w 100"/>
                  <a:gd name="T5" fmla="*/ 139 h 178"/>
                  <a:gd name="T6" fmla="*/ 51 w 100"/>
                  <a:gd name="T7" fmla="*/ 123 h 178"/>
                  <a:gd name="T8" fmla="*/ 50 w 100"/>
                  <a:gd name="T9" fmla="*/ 108 h 178"/>
                  <a:gd name="T10" fmla="*/ 51 w 100"/>
                  <a:gd name="T11" fmla="*/ 102 h 178"/>
                  <a:gd name="T12" fmla="*/ 55 w 100"/>
                  <a:gd name="T13" fmla="*/ 99 h 178"/>
                  <a:gd name="T14" fmla="*/ 64 w 100"/>
                  <a:gd name="T15" fmla="*/ 95 h 178"/>
                  <a:gd name="T16" fmla="*/ 69 w 100"/>
                  <a:gd name="T17" fmla="*/ 94 h 178"/>
                  <a:gd name="T18" fmla="*/ 76 w 100"/>
                  <a:gd name="T19" fmla="*/ 95 h 178"/>
                  <a:gd name="T20" fmla="*/ 92 w 100"/>
                  <a:gd name="T21" fmla="*/ 101 h 178"/>
                  <a:gd name="T22" fmla="*/ 86 w 100"/>
                  <a:gd name="T23" fmla="*/ 87 h 178"/>
                  <a:gd name="T24" fmla="*/ 80 w 100"/>
                  <a:gd name="T25" fmla="*/ 72 h 178"/>
                  <a:gd name="T26" fmla="*/ 69 w 100"/>
                  <a:gd name="T27" fmla="*/ 58 h 178"/>
                  <a:gd name="T28" fmla="*/ 58 w 100"/>
                  <a:gd name="T29" fmla="*/ 46 h 178"/>
                  <a:gd name="T30" fmla="*/ 45 w 100"/>
                  <a:gd name="T31" fmla="*/ 33 h 178"/>
                  <a:gd name="T32" fmla="*/ 36 w 100"/>
                  <a:gd name="T33" fmla="*/ 21 h 178"/>
                  <a:gd name="T34" fmla="*/ 28 w 100"/>
                  <a:gd name="T35" fmla="*/ 10 h 178"/>
                  <a:gd name="T36" fmla="*/ 26 w 100"/>
                  <a:gd name="T37" fmla="*/ 0 h 178"/>
                  <a:gd name="T38" fmla="*/ 25 w 100"/>
                  <a:gd name="T39" fmla="*/ 12 h 178"/>
                  <a:gd name="T40" fmla="*/ 22 w 100"/>
                  <a:gd name="T41" fmla="*/ 27 h 178"/>
                  <a:gd name="T42" fmla="*/ 19 w 100"/>
                  <a:gd name="T43" fmla="*/ 41 h 178"/>
                  <a:gd name="T44" fmla="*/ 14 w 100"/>
                  <a:gd name="T45" fmla="*/ 57 h 178"/>
                  <a:gd name="T46" fmla="*/ 7 w 100"/>
                  <a:gd name="T47" fmla="*/ 71 h 178"/>
                  <a:gd name="T48" fmla="*/ 3 w 100"/>
                  <a:gd name="T49" fmla="*/ 84 h 178"/>
                  <a:gd name="T50" fmla="*/ 0 w 100"/>
                  <a:gd name="T51" fmla="*/ 93 h 178"/>
                  <a:gd name="T52" fmla="*/ 0 w 100"/>
                  <a:gd name="T53" fmla="*/ 100 h 178"/>
                  <a:gd name="T54" fmla="*/ 0 w 100"/>
                  <a:gd name="T55" fmla="*/ 109 h 178"/>
                  <a:gd name="T56" fmla="*/ 3 w 100"/>
                  <a:gd name="T57" fmla="*/ 120 h 178"/>
                  <a:gd name="T58" fmla="*/ 10 w 100"/>
                  <a:gd name="T59" fmla="*/ 130 h 178"/>
                  <a:gd name="T60" fmla="*/ 15 w 100"/>
                  <a:gd name="T61" fmla="*/ 135 h 178"/>
                  <a:gd name="T62" fmla="*/ 22 w 100"/>
                  <a:gd name="T63" fmla="*/ 141 h 178"/>
                  <a:gd name="T64" fmla="*/ 36 w 100"/>
                  <a:gd name="T65" fmla="*/ 149 h 178"/>
                  <a:gd name="T66" fmla="*/ 54 w 100"/>
                  <a:gd name="T67" fmla="*/ 159 h 178"/>
                  <a:gd name="T68" fmla="*/ 75 w 100"/>
                  <a:gd name="T69" fmla="*/ 168 h 178"/>
                  <a:gd name="T70" fmla="*/ 100 w 100"/>
                  <a:gd name="T71"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8">
                    <a:moveTo>
                      <a:pt x="100" y="178"/>
                    </a:moveTo>
                    <a:lnTo>
                      <a:pt x="75" y="157"/>
                    </a:lnTo>
                    <a:lnTo>
                      <a:pt x="60" y="139"/>
                    </a:lnTo>
                    <a:lnTo>
                      <a:pt x="51" y="123"/>
                    </a:lnTo>
                    <a:lnTo>
                      <a:pt x="50" y="108"/>
                    </a:lnTo>
                    <a:lnTo>
                      <a:pt x="51" y="102"/>
                    </a:lnTo>
                    <a:lnTo>
                      <a:pt x="55" y="99"/>
                    </a:lnTo>
                    <a:lnTo>
                      <a:pt x="64" y="95"/>
                    </a:lnTo>
                    <a:lnTo>
                      <a:pt x="69" y="94"/>
                    </a:lnTo>
                    <a:lnTo>
                      <a:pt x="76" y="95"/>
                    </a:lnTo>
                    <a:lnTo>
                      <a:pt x="92" y="101"/>
                    </a:lnTo>
                    <a:lnTo>
                      <a:pt x="86" y="87"/>
                    </a:lnTo>
                    <a:lnTo>
                      <a:pt x="80" y="72"/>
                    </a:lnTo>
                    <a:lnTo>
                      <a:pt x="69" y="58"/>
                    </a:lnTo>
                    <a:lnTo>
                      <a:pt x="58" y="46"/>
                    </a:lnTo>
                    <a:lnTo>
                      <a:pt x="45" y="33"/>
                    </a:lnTo>
                    <a:lnTo>
                      <a:pt x="36" y="21"/>
                    </a:lnTo>
                    <a:lnTo>
                      <a:pt x="28" y="10"/>
                    </a:lnTo>
                    <a:lnTo>
                      <a:pt x="26" y="0"/>
                    </a:lnTo>
                    <a:lnTo>
                      <a:pt x="25" y="12"/>
                    </a:lnTo>
                    <a:lnTo>
                      <a:pt x="22" y="27"/>
                    </a:lnTo>
                    <a:lnTo>
                      <a:pt x="19" y="41"/>
                    </a:lnTo>
                    <a:lnTo>
                      <a:pt x="14" y="57"/>
                    </a:lnTo>
                    <a:lnTo>
                      <a:pt x="7" y="71"/>
                    </a:lnTo>
                    <a:lnTo>
                      <a:pt x="3" y="84"/>
                    </a:lnTo>
                    <a:lnTo>
                      <a:pt x="0" y="93"/>
                    </a:lnTo>
                    <a:lnTo>
                      <a:pt x="0" y="100"/>
                    </a:lnTo>
                    <a:lnTo>
                      <a:pt x="0" y="109"/>
                    </a:lnTo>
                    <a:lnTo>
                      <a:pt x="3" y="120"/>
                    </a:lnTo>
                    <a:lnTo>
                      <a:pt x="10" y="130"/>
                    </a:lnTo>
                    <a:lnTo>
                      <a:pt x="15" y="135"/>
                    </a:lnTo>
                    <a:lnTo>
                      <a:pt x="22" y="141"/>
                    </a:lnTo>
                    <a:lnTo>
                      <a:pt x="36" y="149"/>
                    </a:lnTo>
                    <a:lnTo>
                      <a:pt x="54" y="159"/>
                    </a:lnTo>
                    <a:lnTo>
                      <a:pt x="75" y="168"/>
                    </a:lnTo>
                    <a:lnTo>
                      <a:pt x="100" y="178"/>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68" name="Freeform 196">
                <a:extLst>
                  <a:ext uri="{FF2B5EF4-FFF2-40B4-BE49-F238E27FC236}">
                    <a16:creationId xmlns:a16="http://schemas.microsoft.com/office/drawing/2014/main" id="{01FFB469-179B-88A5-B815-114EA671DEBD}"/>
                  </a:ext>
                </a:extLst>
              </p:cNvPr>
              <p:cNvSpPr>
                <a:spLocks/>
              </p:cNvSpPr>
              <p:nvPr/>
            </p:nvSpPr>
            <p:spPr bwMode="auto">
              <a:xfrm>
                <a:off x="2630" y="2221"/>
                <a:ext cx="264" cy="551"/>
              </a:xfrm>
              <a:custGeom>
                <a:avLst/>
                <a:gdLst>
                  <a:gd name="T0" fmla="*/ 138 w 211"/>
                  <a:gd name="T1" fmla="*/ 132 h 608"/>
                  <a:gd name="T2" fmla="*/ 128 w 211"/>
                  <a:gd name="T3" fmla="*/ 174 h 608"/>
                  <a:gd name="T4" fmla="*/ 109 w 211"/>
                  <a:gd name="T5" fmla="*/ 217 h 608"/>
                  <a:gd name="T6" fmla="*/ 81 w 211"/>
                  <a:gd name="T7" fmla="*/ 264 h 608"/>
                  <a:gd name="T8" fmla="*/ 48 w 211"/>
                  <a:gd name="T9" fmla="*/ 310 h 608"/>
                  <a:gd name="T10" fmla="*/ 21 w 211"/>
                  <a:gd name="T11" fmla="*/ 361 h 608"/>
                  <a:gd name="T12" fmla="*/ 5 w 211"/>
                  <a:gd name="T13" fmla="*/ 414 h 608"/>
                  <a:gd name="T14" fmla="*/ 0 w 211"/>
                  <a:gd name="T15" fmla="*/ 469 h 608"/>
                  <a:gd name="T16" fmla="*/ 2 w 211"/>
                  <a:gd name="T17" fmla="*/ 528 h 608"/>
                  <a:gd name="T18" fmla="*/ 17 w 211"/>
                  <a:gd name="T19" fmla="*/ 583 h 608"/>
                  <a:gd name="T20" fmla="*/ 43 w 211"/>
                  <a:gd name="T21" fmla="*/ 601 h 608"/>
                  <a:gd name="T22" fmla="*/ 73 w 211"/>
                  <a:gd name="T23" fmla="*/ 585 h 608"/>
                  <a:gd name="T24" fmla="*/ 99 w 211"/>
                  <a:gd name="T25" fmla="*/ 567 h 608"/>
                  <a:gd name="T26" fmla="*/ 117 w 211"/>
                  <a:gd name="T27" fmla="*/ 552 h 608"/>
                  <a:gd name="T28" fmla="*/ 134 w 211"/>
                  <a:gd name="T29" fmla="*/ 537 h 608"/>
                  <a:gd name="T30" fmla="*/ 143 w 211"/>
                  <a:gd name="T31" fmla="*/ 524 h 608"/>
                  <a:gd name="T32" fmla="*/ 153 w 211"/>
                  <a:gd name="T33" fmla="*/ 505 h 608"/>
                  <a:gd name="T34" fmla="*/ 155 w 211"/>
                  <a:gd name="T35" fmla="*/ 501 h 608"/>
                  <a:gd name="T36" fmla="*/ 164 w 211"/>
                  <a:gd name="T37" fmla="*/ 486 h 608"/>
                  <a:gd name="T38" fmla="*/ 174 w 211"/>
                  <a:gd name="T39" fmla="*/ 454 h 608"/>
                  <a:gd name="T40" fmla="*/ 177 w 211"/>
                  <a:gd name="T41" fmla="*/ 433 h 608"/>
                  <a:gd name="T42" fmla="*/ 179 w 211"/>
                  <a:gd name="T43" fmla="*/ 429 h 608"/>
                  <a:gd name="T44" fmla="*/ 188 w 211"/>
                  <a:gd name="T45" fmla="*/ 355 h 608"/>
                  <a:gd name="T46" fmla="*/ 203 w 211"/>
                  <a:gd name="T47" fmla="*/ 241 h 608"/>
                  <a:gd name="T48" fmla="*/ 211 w 211"/>
                  <a:gd name="T49" fmla="*/ 193 h 608"/>
                  <a:gd name="T50" fmla="*/ 210 w 211"/>
                  <a:gd name="T51" fmla="*/ 157 h 608"/>
                  <a:gd name="T52" fmla="*/ 204 w 211"/>
                  <a:gd name="T53" fmla="*/ 122 h 608"/>
                  <a:gd name="T54" fmla="*/ 189 w 211"/>
                  <a:gd name="T55" fmla="*/ 85 h 608"/>
                  <a:gd name="T56" fmla="*/ 169 w 211"/>
                  <a:gd name="T57" fmla="*/ 49 h 608"/>
                  <a:gd name="T58" fmla="*/ 150 w 211"/>
                  <a:gd name="T59" fmla="*/ 24 h 608"/>
                  <a:gd name="T60" fmla="*/ 131 w 211"/>
                  <a:gd name="T61" fmla="*/ 7 h 608"/>
                  <a:gd name="T62" fmla="*/ 137 w 211"/>
                  <a:gd name="T63" fmla="*/ 28 h 608"/>
                  <a:gd name="T64" fmla="*/ 139 w 211"/>
                  <a:gd name="T65" fmla="*/ 57 h 608"/>
                  <a:gd name="T66" fmla="*/ 140 w 211"/>
                  <a:gd name="T67" fmla="*/ 92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1" h="608">
                    <a:moveTo>
                      <a:pt x="141" y="112"/>
                    </a:moveTo>
                    <a:lnTo>
                      <a:pt x="138" y="132"/>
                    </a:lnTo>
                    <a:lnTo>
                      <a:pt x="134" y="152"/>
                    </a:lnTo>
                    <a:lnTo>
                      <a:pt x="128" y="174"/>
                    </a:lnTo>
                    <a:lnTo>
                      <a:pt x="120" y="195"/>
                    </a:lnTo>
                    <a:lnTo>
                      <a:pt x="109" y="217"/>
                    </a:lnTo>
                    <a:lnTo>
                      <a:pt x="97" y="240"/>
                    </a:lnTo>
                    <a:lnTo>
                      <a:pt x="81" y="264"/>
                    </a:lnTo>
                    <a:lnTo>
                      <a:pt x="66" y="288"/>
                    </a:lnTo>
                    <a:lnTo>
                      <a:pt x="48" y="310"/>
                    </a:lnTo>
                    <a:lnTo>
                      <a:pt x="35" y="336"/>
                    </a:lnTo>
                    <a:lnTo>
                      <a:pt x="21" y="361"/>
                    </a:lnTo>
                    <a:lnTo>
                      <a:pt x="13" y="387"/>
                    </a:lnTo>
                    <a:lnTo>
                      <a:pt x="5" y="414"/>
                    </a:lnTo>
                    <a:lnTo>
                      <a:pt x="1" y="441"/>
                    </a:lnTo>
                    <a:lnTo>
                      <a:pt x="0" y="469"/>
                    </a:lnTo>
                    <a:lnTo>
                      <a:pt x="1" y="498"/>
                    </a:lnTo>
                    <a:lnTo>
                      <a:pt x="2" y="528"/>
                    </a:lnTo>
                    <a:lnTo>
                      <a:pt x="8" y="556"/>
                    </a:lnTo>
                    <a:lnTo>
                      <a:pt x="17" y="583"/>
                    </a:lnTo>
                    <a:lnTo>
                      <a:pt x="27" y="608"/>
                    </a:lnTo>
                    <a:lnTo>
                      <a:pt x="43" y="601"/>
                    </a:lnTo>
                    <a:lnTo>
                      <a:pt x="59" y="594"/>
                    </a:lnTo>
                    <a:lnTo>
                      <a:pt x="73" y="585"/>
                    </a:lnTo>
                    <a:lnTo>
                      <a:pt x="87" y="578"/>
                    </a:lnTo>
                    <a:lnTo>
                      <a:pt x="99" y="567"/>
                    </a:lnTo>
                    <a:lnTo>
                      <a:pt x="113" y="558"/>
                    </a:lnTo>
                    <a:lnTo>
                      <a:pt x="117" y="552"/>
                    </a:lnTo>
                    <a:lnTo>
                      <a:pt x="123" y="547"/>
                    </a:lnTo>
                    <a:lnTo>
                      <a:pt x="134" y="537"/>
                    </a:lnTo>
                    <a:lnTo>
                      <a:pt x="138" y="530"/>
                    </a:lnTo>
                    <a:lnTo>
                      <a:pt x="143" y="524"/>
                    </a:lnTo>
                    <a:lnTo>
                      <a:pt x="151" y="512"/>
                    </a:lnTo>
                    <a:lnTo>
                      <a:pt x="153" y="505"/>
                    </a:lnTo>
                    <a:lnTo>
                      <a:pt x="153" y="502"/>
                    </a:lnTo>
                    <a:lnTo>
                      <a:pt x="155" y="501"/>
                    </a:lnTo>
                    <a:lnTo>
                      <a:pt x="157" y="499"/>
                    </a:lnTo>
                    <a:lnTo>
                      <a:pt x="164" y="486"/>
                    </a:lnTo>
                    <a:lnTo>
                      <a:pt x="169" y="470"/>
                    </a:lnTo>
                    <a:lnTo>
                      <a:pt x="174" y="454"/>
                    </a:lnTo>
                    <a:lnTo>
                      <a:pt x="177" y="438"/>
                    </a:lnTo>
                    <a:lnTo>
                      <a:pt x="177" y="433"/>
                    </a:lnTo>
                    <a:lnTo>
                      <a:pt x="177" y="430"/>
                    </a:lnTo>
                    <a:lnTo>
                      <a:pt x="179" y="429"/>
                    </a:lnTo>
                    <a:lnTo>
                      <a:pt x="181" y="422"/>
                    </a:lnTo>
                    <a:lnTo>
                      <a:pt x="188" y="355"/>
                    </a:lnTo>
                    <a:lnTo>
                      <a:pt x="195" y="295"/>
                    </a:lnTo>
                    <a:lnTo>
                      <a:pt x="203" y="241"/>
                    </a:lnTo>
                    <a:lnTo>
                      <a:pt x="206" y="216"/>
                    </a:lnTo>
                    <a:lnTo>
                      <a:pt x="211" y="193"/>
                    </a:lnTo>
                    <a:lnTo>
                      <a:pt x="211" y="169"/>
                    </a:lnTo>
                    <a:lnTo>
                      <a:pt x="210" y="157"/>
                    </a:lnTo>
                    <a:lnTo>
                      <a:pt x="210" y="146"/>
                    </a:lnTo>
                    <a:lnTo>
                      <a:pt x="204" y="122"/>
                    </a:lnTo>
                    <a:lnTo>
                      <a:pt x="197" y="98"/>
                    </a:lnTo>
                    <a:lnTo>
                      <a:pt x="189" y="85"/>
                    </a:lnTo>
                    <a:lnTo>
                      <a:pt x="183" y="73"/>
                    </a:lnTo>
                    <a:lnTo>
                      <a:pt x="169" y="49"/>
                    </a:lnTo>
                    <a:lnTo>
                      <a:pt x="159" y="36"/>
                    </a:lnTo>
                    <a:lnTo>
                      <a:pt x="150" y="24"/>
                    </a:lnTo>
                    <a:lnTo>
                      <a:pt x="128" y="0"/>
                    </a:lnTo>
                    <a:lnTo>
                      <a:pt x="131" y="7"/>
                    </a:lnTo>
                    <a:lnTo>
                      <a:pt x="134" y="18"/>
                    </a:lnTo>
                    <a:lnTo>
                      <a:pt x="137" y="28"/>
                    </a:lnTo>
                    <a:lnTo>
                      <a:pt x="139" y="43"/>
                    </a:lnTo>
                    <a:lnTo>
                      <a:pt x="139" y="57"/>
                    </a:lnTo>
                    <a:lnTo>
                      <a:pt x="140" y="74"/>
                    </a:lnTo>
                    <a:lnTo>
                      <a:pt x="140" y="92"/>
                    </a:lnTo>
                    <a:lnTo>
                      <a:pt x="141" y="112"/>
                    </a:lnTo>
                    <a:close/>
                  </a:path>
                </a:pathLst>
              </a:custGeom>
              <a:gradFill rotWithShape="1">
                <a:gsLst>
                  <a:gs pos="0">
                    <a:srgbClr val="FF3300"/>
                  </a:gs>
                  <a:gs pos="100000">
                    <a:srgbClr val="FFFF0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69" name="Freeform 197">
                <a:extLst>
                  <a:ext uri="{FF2B5EF4-FFF2-40B4-BE49-F238E27FC236}">
                    <a16:creationId xmlns:a16="http://schemas.microsoft.com/office/drawing/2014/main" id="{D8BD51BF-1FC2-4D71-6C55-2BDB5670BE23}"/>
                  </a:ext>
                </a:extLst>
              </p:cNvPr>
              <p:cNvSpPr>
                <a:spLocks/>
              </p:cNvSpPr>
              <p:nvPr/>
            </p:nvSpPr>
            <p:spPr bwMode="auto">
              <a:xfrm>
                <a:off x="2630" y="2221"/>
                <a:ext cx="264" cy="551"/>
              </a:xfrm>
              <a:custGeom>
                <a:avLst/>
                <a:gdLst>
                  <a:gd name="T0" fmla="*/ 48 w 211"/>
                  <a:gd name="T1" fmla="*/ 310 h 608"/>
                  <a:gd name="T2" fmla="*/ 21 w 211"/>
                  <a:gd name="T3" fmla="*/ 361 h 608"/>
                  <a:gd name="T4" fmla="*/ 5 w 211"/>
                  <a:gd name="T5" fmla="*/ 414 h 608"/>
                  <a:gd name="T6" fmla="*/ 0 w 211"/>
                  <a:gd name="T7" fmla="*/ 469 h 608"/>
                  <a:gd name="T8" fmla="*/ 2 w 211"/>
                  <a:gd name="T9" fmla="*/ 528 h 608"/>
                  <a:gd name="T10" fmla="*/ 17 w 211"/>
                  <a:gd name="T11" fmla="*/ 583 h 608"/>
                  <a:gd name="T12" fmla="*/ 43 w 211"/>
                  <a:gd name="T13" fmla="*/ 601 h 608"/>
                  <a:gd name="T14" fmla="*/ 73 w 211"/>
                  <a:gd name="T15" fmla="*/ 585 h 608"/>
                  <a:gd name="T16" fmla="*/ 99 w 211"/>
                  <a:gd name="T17" fmla="*/ 567 h 608"/>
                  <a:gd name="T18" fmla="*/ 117 w 211"/>
                  <a:gd name="T19" fmla="*/ 552 h 608"/>
                  <a:gd name="T20" fmla="*/ 134 w 211"/>
                  <a:gd name="T21" fmla="*/ 537 h 608"/>
                  <a:gd name="T22" fmla="*/ 143 w 211"/>
                  <a:gd name="T23" fmla="*/ 524 h 608"/>
                  <a:gd name="T24" fmla="*/ 153 w 211"/>
                  <a:gd name="T25" fmla="*/ 505 h 608"/>
                  <a:gd name="T26" fmla="*/ 155 w 211"/>
                  <a:gd name="T27" fmla="*/ 501 h 608"/>
                  <a:gd name="T28" fmla="*/ 164 w 211"/>
                  <a:gd name="T29" fmla="*/ 486 h 608"/>
                  <a:gd name="T30" fmla="*/ 174 w 211"/>
                  <a:gd name="T31" fmla="*/ 454 h 608"/>
                  <a:gd name="T32" fmla="*/ 177 w 211"/>
                  <a:gd name="T33" fmla="*/ 433 h 608"/>
                  <a:gd name="T34" fmla="*/ 179 w 211"/>
                  <a:gd name="T35" fmla="*/ 429 h 608"/>
                  <a:gd name="T36" fmla="*/ 188 w 211"/>
                  <a:gd name="T37" fmla="*/ 355 h 608"/>
                  <a:gd name="T38" fmla="*/ 203 w 211"/>
                  <a:gd name="T39" fmla="*/ 241 h 608"/>
                  <a:gd name="T40" fmla="*/ 211 w 211"/>
                  <a:gd name="T41" fmla="*/ 193 h 608"/>
                  <a:gd name="T42" fmla="*/ 210 w 211"/>
                  <a:gd name="T43" fmla="*/ 157 h 608"/>
                  <a:gd name="T44" fmla="*/ 204 w 211"/>
                  <a:gd name="T45" fmla="*/ 122 h 608"/>
                  <a:gd name="T46" fmla="*/ 189 w 211"/>
                  <a:gd name="T47" fmla="*/ 85 h 608"/>
                  <a:gd name="T48" fmla="*/ 169 w 211"/>
                  <a:gd name="T49" fmla="*/ 49 h 608"/>
                  <a:gd name="T50" fmla="*/ 150 w 211"/>
                  <a:gd name="T51" fmla="*/ 24 h 608"/>
                  <a:gd name="T52" fmla="*/ 131 w 211"/>
                  <a:gd name="T53" fmla="*/ 7 h 608"/>
                  <a:gd name="T54" fmla="*/ 137 w 211"/>
                  <a:gd name="T55" fmla="*/ 28 h 608"/>
                  <a:gd name="T56" fmla="*/ 139 w 211"/>
                  <a:gd name="T57" fmla="*/ 57 h 608"/>
                  <a:gd name="T58" fmla="*/ 140 w 211"/>
                  <a:gd name="T59" fmla="*/ 92 h 608"/>
                  <a:gd name="T60" fmla="*/ 138 w 211"/>
                  <a:gd name="T61" fmla="*/ 132 h 608"/>
                  <a:gd name="T62" fmla="*/ 128 w 211"/>
                  <a:gd name="T63" fmla="*/ 174 h 608"/>
                  <a:gd name="T64" fmla="*/ 109 w 211"/>
                  <a:gd name="T65" fmla="*/ 217 h 608"/>
                  <a:gd name="T66" fmla="*/ 81 w 211"/>
                  <a:gd name="T67" fmla="*/ 264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1" h="608">
                    <a:moveTo>
                      <a:pt x="66" y="288"/>
                    </a:moveTo>
                    <a:lnTo>
                      <a:pt x="48" y="310"/>
                    </a:lnTo>
                    <a:lnTo>
                      <a:pt x="35" y="336"/>
                    </a:lnTo>
                    <a:lnTo>
                      <a:pt x="21" y="361"/>
                    </a:lnTo>
                    <a:lnTo>
                      <a:pt x="13" y="387"/>
                    </a:lnTo>
                    <a:lnTo>
                      <a:pt x="5" y="414"/>
                    </a:lnTo>
                    <a:lnTo>
                      <a:pt x="1" y="441"/>
                    </a:lnTo>
                    <a:lnTo>
                      <a:pt x="0" y="469"/>
                    </a:lnTo>
                    <a:lnTo>
                      <a:pt x="1" y="498"/>
                    </a:lnTo>
                    <a:lnTo>
                      <a:pt x="2" y="528"/>
                    </a:lnTo>
                    <a:lnTo>
                      <a:pt x="8" y="556"/>
                    </a:lnTo>
                    <a:lnTo>
                      <a:pt x="17" y="583"/>
                    </a:lnTo>
                    <a:lnTo>
                      <a:pt x="27" y="608"/>
                    </a:lnTo>
                    <a:lnTo>
                      <a:pt x="43" y="601"/>
                    </a:lnTo>
                    <a:lnTo>
                      <a:pt x="59" y="594"/>
                    </a:lnTo>
                    <a:lnTo>
                      <a:pt x="73" y="585"/>
                    </a:lnTo>
                    <a:lnTo>
                      <a:pt x="87" y="578"/>
                    </a:lnTo>
                    <a:lnTo>
                      <a:pt x="99" y="567"/>
                    </a:lnTo>
                    <a:lnTo>
                      <a:pt x="113" y="558"/>
                    </a:lnTo>
                    <a:lnTo>
                      <a:pt x="117" y="552"/>
                    </a:lnTo>
                    <a:lnTo>
                      <a:pt x="123" y="547"/>
                    </a:lnTo>
                    <a:lnTo>
                      <a:pt x="134" y="537"/>
                    </a:lnTo>
                    <a:lnTo>
                      <a:pt x="138" y="530"/>
                    </a:lnTo>
                    <a:lnTo>
                      <a:pt x="143" y="524"/>
                    </a:lnTo>
                    <a:lnTo>
                      <a:pt x="151" y="512"/>
                    </a:lnTo>
                    <a:lnTo>
                      <a:pt x="153" y="505"/>
                    </a:lnTo>
                    <a:lnTo>
                      <a:pt x="153" y="502"/>
                    </a:lnTo>
                    <a:lnTo>
                      <a:pt x="155" y="501"/>
                    </a:lnTo>
                    <a:lnTo>
                      <a:pt x="157" y="499"/>
                    </a:lnTo>
                    <a:lnTo>
                      <a:pt x="164" y="486"/>
                    </a:lnTo>
                    <a:lnTo>
                      <a:pt x="169" y="470"/>
                    </a:lnTo>
                    <a:lnTo>
                      <a:pt x="174" y="454"/>
                    </a:lnTo>
                    <a:lnTo>
                      <a:pt x="177" y="438"/>
                    </a:lnTo>
                    <a:lnTo>
                      <a:pt x="177" y="433"/>
                    </a:lnTo>
                    <a:lnTo>
                      <a:pt x="177" y="430"/>
                    </a:lnTo>
                    <a:lnTo>
                      <a:pt x="179" y="429"/>
                    </a:lnTo>
                    <a:lnTo>
                      <a:pt x="181" y="422"/>
                    </a:lnTo>
                    <a:lnTo>
                      <a:pt x="188" y="355"/>
                    </a:lnTo>
                    <a:lnTo>
                      <a:pt x="195" y="295"/>
                    </a:lnTo>
                    <a:lnTo>
                      <a:pt x="203" y="241"/>
                    </a:lnTo>
                    <a:lnTo>
                      <a:pt x="206" y="216"/>
                    </a:lnTo>
                    <a:lnTo>
                      <a:pt x="211" y="193"/>
                    </a:lnTo>
                    <a:lnTo>
                      <a:pt x="211" y="169"/>
                    </a:lnTo>
                    <a:lnTo>
                      <a:pt x="210" y="157"/>
                    </a:lnTo>
                    <a:lnTo>
                      <a:pt x="210" y="146"/>
                    </a:lnTo>
                    <a:lnTo>
                      <a:pt x="204" y="122"/>
                    </a:lnTo>
                    <a:lnTo>
                      <a:pt x="197" y="98"/>
                    </a:lnTo>
                    <a:lnTo>
                      <a:pt x="189" y="85"/>
                    </a:lnTo>
                    <a:lnTo>
                      <a:pt x="183" y="73"/>
                    </a:lnTo>
                    <a:lnTo>
                      <a:pt x="169" y="49"/>
                    </a:lnTo>
                    <a:lnTo>
                      <a:pt x="159" y="36"/>
                    </a:lnTo>
                    <a:lnTo>
                      <a:pt x="150" y="24"/>
                    </a:lnTo>
                    <a:lnTo>
                      <a:pt x="128" y="0"/>
                    </a:lnTo>
                    <a:lnTo>
                      <a:pt x="131" y="7"/>
                    </a:lnTo>
                    <a:lnTo>
                      <a:pt x="134" y="18"/>
                    </a:lnTo>
                    <a:lnTo>
                      <a:pt x="137" y="28"/>
                    </a:lnTo>
                    <a:lnTo>
                      <a:pt x="139" y="43"/>
                    </a:lnTo>
                    <a:lnTo>
                      <a:pt x="139" y="57"/>
                    </a:lnTo>
                    <a:lnTo>
                      <a:pt x="140" y="74"/>
                    </a:lnTo>
                    <a:lnTo>
                      <a:pt x="140" y="92"/>
                    </a:lnTo>
                    <a:lnTo>
                      <a:pt x="141" y="112"/>
                    </a:lnTo>
                    <a:lnTo>
                      <a:pt x="138" y="132"/>
                    </a:lnTo>
                    <a:lnTo>
                      <a:pt x="134" y="152"/>
                    </a:lnTo>
                    <a:lnTo>
                      <a:pt x="128" y="174"/>
                    </a:lnTo>
                    <a:lnTo>
                      <a:pt x="120" y="195"/>
                    </a:lnTo>
                    <a:lnTo>
                      <a:pt x="109" y="217"/>
                    </a:lnTo>
                    <a:lnTo>
                      <a:pt x="97" y="240"/>
                    </a:lnTo>
                    <a:lnTo>
                      <a:pt x="81" y="264"/>
                    </a:lnTo>
                    <a:lnTo>
                      <a:pt x="66" y="288"/>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70" name="Freeform 198">
                <a:extLst>
                  <a:ext uri="{FF2B5EF4-FFF2-40B4-BE49-F238E27FC236}">
                    <a16:creationId xmlns:a16="http://schemas.microsoft.com/office/drawing/2014/main" id="{BEE50CB5-F8A5-6E3A-8275-19A8F2DB4A1B}"/>
                  </a:ext>
                </a:extLst>
              </p:cNvPr>
              <p:cNvSpPr>
                <a:spLocks/>
              </p:cNvSpPr>
              <p:nvPr/>
            </p:nvSpPr>
            <p:spPr bwMode="auto">
              <a:xfrm>
                <a:off x="2618" y="2083"/>
                <a:ext cx="129" cy="163"/>
              </a:xfrm>
              <a:custGeom>
                <a:avLst/>
                <a:gdLst>
                  <a:gd name="T0" fmla="*/ 50 w 100"/>
                  <a:gd name="T1" fmla="*/ 108 h 178"/>
                  <a:gd name="T2" fmla="*/ 51 w 100"/>
                  <a:gd name="T3" fmla="*/ 102 h 178"/>
                  <a:gd name="T4" fmla="*/ 55 w 100"/>
                  <a:gd name="T5" fmla="*/ 99 h 178"/>
                  <a:gd name="T6" fmla="*/ 64 w 100"/>
                  <a:gd name="T7" fmla="*/ 95 h 178"/>
                  <a:gd name="T8" fmla="*/ 69 w 100"/>
                  <a:gd name="T9" fmla="*/ 94 h 178"/>
                  <a:gd name="T10" fmla="*/ 76 w 100"/>
                  <a:gd name="T11" fmla="*/ 95 h 178"/>
                  <a:gd name="T12" fmla="*/ 92 w 100"/>
                  <a:gd name="T13" fmla="*/ 101 h 178"/>
                  <a:gd name="T14" fmla="*/ 86 w 100"/>
                  <a:gd name="T15" fmla="*/ 87 h 178"/>
                  <a:gd name="T16" fmla="*/ 80 w 100"/>
                  <a:gd name="T17" fmla="*/ 72 h 178"/>
                  <a:gd name="T18" fmla="*/ 69 w 100"/>
                  <a:gd name="T19" fmla="*/ 58 h 178"/>
                  <a:gd name="T20" fmla="*/ 58 w 100"/>
                  <a:gd name="T21" fmla="*/ 46 h 178"/>
                  <a:gd name="T22" fmla="*/ 45 w 100"/>
                  <a:gd name="T23" fmla="*/ 33 h 178"/>
                  <a:gd name="T24" fmla="*/ 36 w 100"/>
                  <a:gd name="T25" fmla="*/ 21 h 178"/>
                  <a:gd name="T26" fmla="*/ 28 w 100"/>
                  <a:gd name="T27" fmla="*/ 10 h 178"/>
                  <a:gd name="T28" fmla="*/ 26 w 100"/>
                  <a:gd name="T29" fmla="*/ 0 h 178"/>
                  <a:gd name="T30" fmla="*/ 25 w 100"/>
                  <a:gd name="T31" fmla="*/ 12 h 178"/>
                  <a:gd name="T32" fmla="*/ 22 w 100"/>
                  <a:gd name="T33" fmla="*/ 27 h 178"/>
                  <a:gd name="T34" fmla="*/ 19 w 100"/>
                  <a:gd name="T35" fmla="*/ 41 h 178"/>
                  <a:gd name="T36" fmla="*/ 14 w 100"/>
                  <a:gd name="T37" fmla="*/ 57 h 178"/>
                  <a:gd name="T38" fmla="*/ 7 w 100"/>
                  <a:gd name="T39" fmla="*/ 71 h 178"/>
                  <a:gd name="T40" fmla="*/ 3 w 100"/>
                  <a:gd name="T41" fmla="*/ 84 h 178"/>
                  <a:gd name="T42" fmla="*/ 0 w 100"/>
                  <a:gd name="T43" fmla="*/ 93 h 178"/>
                  <a:gd name="T44" fmla="*/ 0 w 100"/>
                  <a:gd name="T45" fmla="*/ 100 h 178"/>
                  <a:gd name="T46" fmla="*/ 0 w 100"/>
                  <a:gd name="T47" fmla="*/ 109 h 178"/>
                  <a:gd name="T48" fmla="*/ 3 w 100"/>
                  <a:gd name="T49" fmla="*/ 120 h 178"/>
                  <a:gd name="T50" fmla="*/ 10 w 100"/>
                  <a:gd name="T51" fmla="*/ 130 h 178"/>
                  <a:gd name="T52" fmla="*/ 15 w 100"/>
                  <a:gd name="T53" fmla="*/ 135 h 178"/>
                  <a:gd name="T54" fmla="*/ 22 w 100"/>
                  <a:gd name="T55" fmla="*/ 141 h 178"/>
                  <a:gd name="T56" fmla="*/ 36 w 100"/>
                  <a:gd name="T57" fmla="*/ 149 h 178"/>
                  <a:gd name="T58" fmla="*/ 54 w 100"/>
                  <a:gd name="T59" fmla="*/ 159 h 178"/>
                  <a:gd name="T60" fmla="*/ 75 w 100"/>
                  <a:gd name="T61" fmla="*/ 168 h 178"/>
                  <a:gd name="T62" fmla="*/ 100 w 100"/>
                  <a:gd name="T63" fmla="*/ 178 h 178"/>
                  <a:gd name="T64" fmla="*/ 75 w 100"/>
                  <a:gd name="T65" fmla="*/ 157 h 178"/>
                  <a:gd name="T66" fmla="*/ 60 w 100"/>
                  <a:gd name="T67" fmla="*/ 139 h 178"/>
                  <a:gd name="T68" fmla="*/ 51 w 100"/>
                  <a:gd name="T69" fmla="*/ 123 h 178"/>
                  <a:gd name="T70" fmla="*/ 50 w 100"/>
                  <a:gd name="T71" fmla="*/ 10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8">
                    <a:moveTo>
                      <a:pt x="50" y="108"/>
                    </a:moveTo>
                    <a:lnTo>
                      <a:pt x="51" y="102"/>
                    </a:lnTo>
                    <a:lnTo>
                      <a:pt x="55" y="99"/>
                    </a:lnTo>
                    <a:lnTo>
                      <a:pt x="64" y="95"/>
                    </a:lnTo>
                    <a:lnTo>
                      <a:pt x="69" y="94"/>
                    </a:lnTo>
                    <a:lnTo>
                      <a:pt x="76" y="95"/>
                    </a:lnTo>
                    <a:lnTo>
                      <a:pt x="92" y="101"/>
                    </a:lnTo>
                    <a:lnTo>
                      <a:pt x="86" y="87"/>
                    </a:lnTo>
                    <a:lnTo>
                      <a:pt x="80" y="72"/>
                    </a:lnTo>
                    <a:lnTo>
                      <a:pt x="69" y="58"/>
                    </a:lnTo>
                    <a:lnTo>
                      <a:pt x="58" y="46"/>
                    </a:lnTo>
                    <a:lnTo>
                      <a:pt x="45" y="33"/>
                    </a:lnTo>
                    <a:lnTo>
                      <a:pt x="36" y="21"/>
                    </a:lnTo>
                    <a:lnTo>
                      <a:pt x="28" y="10"/>
                    </a:lnTo>
                    <a:lnTo>
                      <a:pt x="26" y="0"/>
                    </a:lnTo>
                    <a:lnTo>
                      <a:pt x="25" y="12"/>
                    </a:lnTo>
                    <a:lnTo>
                      <a:pt x="22" y="27"/>
                    </a:lnTo>
                    <a:lnTo>
                      <a:pt x="19" y="41"/>
                    </a:lnTo>
                    <a:lnTo>
                      <a:pt x="14" y="57"/>
                    </a:lnTo>
                    <a:lnTo>
                      <a:pt x="7" y="71"/>
                    </a:lnTo>
                    <a:lnTo>
                      <a:pt x="3" y="84"/>
                    </a:lnTo>
                    <a:lnTo>
                      <a:pt x="0" y="93"/>
                    </a:lnTo>
                    <a:lnTo>
                      <a:pt x="0" y="100"/>
                    </a:lnTo>
                    <a:lnTo>
                      <a:pt x="0" y="109"/>
                    </a:lnTo>
                    <a:lnTo>
                      <a:pt x="3" y="120"/>
                    </a:lnTo>
                    <a:lnTo>
                      <a:pt x="10" y="130"/>
                    </a:lnTo>
                    <a:lnTo>
                      <a:pt x="15" y="135"/>
                    </a:lnTo>
                    <a:lnTo>
                      <a:pt x="22" y="141"/>
                    </a:lnTo>
                    <a:lnTo>
                      <a:pt x="36" y="149"/>
                    </a:lnTo>
                    <a:lnTo>
                      <a:pt x="54" y="159"/>
                    </a:lnTo>
                    <a:lnTo>
                      <a:pt x="75" y="168"/>
                    </a:lnTo>
                    <a:lnTo>
                      <a:pt x="100" y="178"/>
                    </a:lnTo>
                    <a:lnTo>
                      <a:pt x="75" y="157"/>
                    </a:lnTo>
                    <a:lnTo>
                      <a:pt x="60" y="139"/>
                    </a:lnTo>
                    <a:lnTo>
                      <a:pt x="51" y="123"/>
                    </a:lnTo>
                    <a:lnTo>
                      <a:pt x="50" y="108"/>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71" name="Freeform 199">
                <a:extLst>
                  <a:ext uri="{FF2B5EF4-FFF2-40B4-BE49-F238E27FC236}">
                    <a16:creationId xmlns:a16="http://schemas.microsoft.com/office/drawing/2014/main" id="{77A90B53-FF6F-F844-8485-8492141002F0}"/>
                  </a:ext>
                </a:extLst>
              </p:cNvPr>
              <p:cNvSpPr>
                <a:spLocks/>
              </p:cNvSpPr>
              <p:nvPr/>
            </p:nvSpPr>
            <p:spPr bwMode="auto">
              <a:xfrm>
                <a:off x="2913" y="2406"/>
                <a:ext cx="158" cy="263"/>
              </a:xfrm>
              <a:custGeom>
                <a:avLst/>
                <a:gdLst>
                  <a:gd name="T0" fmla="*/ 116 w 126"/>
                  <a:gd name="T1" fmla="*/ 98 h 290"/>
                  <a:gd name="T2" fmla="*/ 97 w 126"/>
                  <a:gd name="T3" fmla="*/ 48 h 290"/>
                  <a:gd name="T4" fmla="*/ 85 w 126"/>
                  <a:gd name="T5" fmla="*/ 24 h 290"/>
                  <a:gd name="T6" fmla="*/ 72 w 126"/>
                  <a:gd name="T7" fmla="*/ 0 h 290"/>
                  <a:gd name="T8" fmla="*/ 67 w 126"/>
                  <a:gd name="T9" fmla="*/ 15 h 290"/>
                  <a:gd name="T10" fmla="*/ 62 w 126"/>
                  <a:gd name="T11" fmla="*/ 32 h 290"/>
                  <a:gd name="T12" fmla="*/ 20 w 126"/>
                  <a:gd name="T13" fmla="*/ 136 h 290"/>
                  <a:gd name="T14" fmla="*/ 8 w 126"/>
                  <a:gd name="T15" fmla="*/ 171 h 290"/>
                  <a:gd name="T16" fmla="*/ 1 w 126"/>
                  <a:gd name="T17" fmla="*/ 208 h 290"/>
                  <a:gd name="T18" fmla="*/ 0 w 126"/>
                  <a:gd name="T19" fmla="*/ 248 h 290"/>
                  <a:gd name="T20" fmla="*/ 4 w 126"/>
                  <a:gd name="T21" fmla="*/ 290 h 290"/>
                  <a:gd name="T22" fmla="*/ 21 w 126"/>
                  <a:gd name="T23" fmla="*/ 285 h 290"/>
                  <a:gd name="T24" fmla="*/ 28 w 126"/>
                  <a:gd name="T25" fmla="*/ 283 h 290"/>
                  <a:gd name="T26" fmla="*/ 28 w 126"/>
                  <a:gd name="T27" fmla="*/ 282 h 290"/>
                  <a:gd name="T28" fmla="*/ 30 w 126"/>
                  <a:gd name="T29" fmla="*/ 282 h 290"/>
                  <a:gd name="T30" fmla="*/ 32 w 126"/>
                  <a:gd name="T31" fmla="*/ 282 h 290"/>
                  <a:gd name="T32" fmla="*/ 37 w 126"/>
                  <a:gd name="T33" fmla="*/ 282 h 290"/>
                  <a:gd name="T34" fmla="*/ 51 w 126"/>
                  <a:gd name="T35" fmla="*/ 277 h 290"/>
                  <a:gd name="T36" fmla="*/ 57 w 126"/>
                  <a:gd name="T37" fmla="*/ 274 h 290"/>
                  <a:gd name="T38" fmla="*/ 64 w 126"/>
                  <a:gd name="T39" fmla="*/ 273 h 290"/>
                  <a:gd name="T40" fmla="*/ 74 w 126"/>
                  <a:gd name="T41" fmla="*/ 267 h 290"/>
                  <a:gd name="T42" fmla="*/ 82 w 126"/>
                  <a:gd name="T43" fmla="*/ 262 h 290"/>
                  <a:gd name="T44" fmla="*/ 90 w 126"/>
                  <a:gd name="T45" fmla="*/ 256 h 290"/>
                  <a:gd name="T46" fmla="*/ 96 w 126"/>
                  <a:gd name="T47" fmla="*/ 252 h 290"/>
                  <a:gd name="T48" fmla="*/ 106 w 126"/>
                  <a:gd name="T49" fmla="*/ 232 h 290"/>
                  <a:gd name="T50" fmla="*/ 115 w 126"/>
                  <a:gd name="T51" fmla="*/ 216 h 290"/>
                  <a:gd name="T52" fmla="*/ 121 w 126"/>
                  <a:gd name="T53" fmla="*/ 196 h 290"/>
                  <a:gd name="T54" fmla="*/ 122 w 126"/>
                  <a:gd name="T55" fmla="*/ 187 h 290"/>
                  <a:gd name="T56" fmla="*/ 124 w 126"/>
                  <a:gd name="T57" fmla="*/ 178 h 290"/>
                  <a:gd name="T58" fmla="*/ 124 w 126"/>
                  <a:gd name="T59" fmla="*/ 168 h 290"/>
                  <a:gd name="T60" fmla="*/ 126 w 126"/>
                  <a:gd name="T61" fmla="*/ 158 h 290"/>
                  <a:gd name="T62" fmla="*/ 124 w 126"/>
                  <a:gd name="T63" fmla="*/ 139 h 290"/>
                  <a:gd name="T64" fmla="*/ 121 w 126"/>
                  <a:gd name="T65" fmla="*/ 117 h 290"/>
                  <a:gd name="T66" fmla="*/ 116 w 126"/>
                  <a:gd name="T67" fmla="*/ 98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6" h="290">
                    <a:moveTo>
                      <a:pt x="116" y="98"/>
                    </a:moveTo>
                    <a:lnTo>
                      <a:pt x="97" y="48"/>
                    </a:lnTo>
                    <a:lnTo>
                      <a:pt x="85" y="24"/>
                    </a:lnTo>
                    <a:lnTo>
                      <a:pt x="72" y="0"/>
                    </a:lnTo>
                    <a:lnTo>
                      <a:pt x="67" y="15"/>
                    </a:lnTo>
                    <a:lnTo>
                      <a:pt x="62" y="32"/>
                    </a:lnTo>
                    <a:lnTo>
                      <a:pt x="20" y="136"/>
                    </a:lnTo>
                    <a:lnTo>
                      <a:pt x="8" y="171"/>
                    </a:lnTo>
                    <a:lnTo>
                      <a:pt x="1" y="208"/>
                    </a:lnTo>
                    <a:lnTo>
                      <a:pt x="0" y="248"/>
                    </a:lnTo>
                    <a:lnTo>
                      <a:pt x="4" y="290"/>
                    </a:lnTo>
                    <a:lnTo>
                      <a:pt x="21" y="285"/>
                    </a:lnTo>
                    <a:lnTo>
                      <a:pt x="28" y="283"/>
                    </a:lnTo>
                    <a:lnTo>
                      <a:pt x="28" y="282"/>
                    </a:lnTo>
                    <a:lnTo>
                      <a:pt x="30" y="282"/>
                    </a:lnTo>
                    <a:lnTo>
                      <a:pt x="32" y="282"/>
                    </a:lnTo>
                    <a:lnTo>
                      <a:pt x="37" y="282"/>
                    </a:lnTo>
                    <a:lnTo>
                      <a:pt x="51" y="277"/>
                    </a:lnTo>
                    <a:lnTo>
                      <a:pt x="57" y="274"/>
                    </a:lnTo>
                    <a:lnTo>
                      <a:pt x="64" y="273"/>
                    </a:lnTo>
                    <a:lnTo>
                      <a:pt x="74" y="267"/>
                    </a:lnTo>
                    <a:lnTo>
                      <a:pt x="82" y="262"/>
                    </a:lnTo>
                    <a:lnTo>
                      <a:pt x="90" y="256"/>
                    </a:lnTo>
                    <a:lnTo>
                      <a:pt x="96" y="252"/>
                    </a:lnTo>
                    <a:lnTo>
                      <a:pt x="106" y="232"/>
                    </a:lnTo>
                    <a:lnTo>
                      <a:pt x="115" y="216"/>
                    </a:lnTo>
                    <a:lnTo>
                      <a:pt x="121" y="196"/>
                    </a:lnTo>
                    <a:lnTo>
                      <a:pt x="122" y="187"/>
                    </a:lnTo>
                    <a:lnTo>
                      <a:pt x="124" y="178"/>
                    </a:lnTo>
                    <a:lnTo>
                      <a:pt x="124" y="168"/>
                    </a:lnTo>
                    <a:lnTo>
                      <a:pt x="126" y="158"/>
                    </a:lnTo>
                    <a:lnTo>
                      <a:pt x="124" y="139"/>
                    </a:lnTo>
                    <a:lnTo>
                      <a:pt x="121" y="117"/>
                    </a:lnTo>
                    <a:lnTo>
                      <a:pt x="116" y="98"/>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72" name="Freeform 200">
                <a:extLst>
                  <a:ext uri="{FF2B5EF4-FFF2-40B4-BE49-F238E27FC236}">
                    <a16:creationId xmlns:a16="http://schemas.microsoft.com/office/drawing/2014/main" id="{BC7DCBB9-0083-5A32-3A6B-6CF67BF258B2}"/>
                  </a:ext>
                </a:extLst>
              </p:cNvPr>
              <p:cNvSpPr>
                <a:spLocks/>
              </p:cNvSpPr>
              <p:nvPr/>
            </p:nvSpPr>
            <p:spPr bwMode="auto">
              <a:xfrm>
                <a:off x="2913" y="2406"/>
                <a:ext cx="158" cy="263"/>
              </a:xfrm>
              <a:custGeom>
                <a:avLst/>
                <a:gdLst>
                  <a:gd name="T0" fmla="*/ 72 w 126"/>
                  <a:gd name="T1" fmla="*/ 0 h 290"/>
                  <a:gd name="T2" fmla="*/ 67 w 126"/>
                  <a:gd name="T3" fmla="*/ 15 h 290"/>
                  <a:gd name="T4" fmla="*/ 62 w 126"/>
                  <a:gd name="T5" fmla="*/ 32 h 290"/>
                  <a:gd name="T6" fmla="*/ 20 w 126"/>
                  <a:gd name="T7" fmla="*/ 136 h 290"/>
                  <a:gd name="T8" fmla="*/ 8 w 126"/>
                  <a:gd name="T9" fmla="*/ 171 h 290"/>
                  <a:gd name="T10" fmla="*/ 1 w 126"/>
                  <a:gd name="T11" fmla="*/ 208 h 290"/>
                  <a:gd name="T12" fmla="*/ 0 w 126"/>
                  <a:gd name="T13" fmla="*/ 248 h 290"/>
                  <a:gd name="T14" fmla="*/ 4 w 126"/>
                  <a:gd name="T15" fmla="*/ 290 h 290"/>
                  <a:gd name="T16" fmla="*/ 21 w 126"/>
                  <a:gd name="T17" fmla="*/ 285 h 290"/>
                  <a:gd name="T18" fmla="*/ 28 w 126"/>
                  <a:gd name="T19" fmla="*/ 283 h 290"/>
                  <a:gd name="T20" fmla="*/ 28 w 126"/>
                  <a:gd name="T21" fmla="*/ 282 h 290"/>
                  <a:gd name="T22" fmla="*/ 30 w 126"/>
                  <a:gd name="T23" fmla="*/ 282 h 290"/>
                  <a:gd name="T24" fmla="*/ 32 w 126"/>
                  <a:gd name="T25" fmla="*/ 282 h 290"/>
                  <a:gd name="T26" fmla="*/ 37 w 126"/>
                  <a:gd name="T27" fmla="*/ 282 h 290"/>
                  <a:gd name="T28" fmla="*/ 51 w 126"/>
                  <a:gd name="T29" fmla="*/ 277 h 290"/>
                  <a:gd name="T30" fmla="*/ 57 w 126"/>
                  <a:gd name="T31" fmla="*/ 274 h 290"/>
                  <a:gd name="T32" fmla="*/ 64 w 126"/>
                  <a:gd name="T33" fmla="*/ 273 h 290"/>
                  <a:gd name="T34" fmla="*/ 74 w 126"/>
                  <a:gd name="T35" fmla="*/ 267 h 290"/>
                  <a:gd name="T36" fmla="*/ 82 w 126"/>
                  <a:gd name="T37" fmla="*/ 262 h 290"/>
                  <a:gd name="T38" fmla="*/ 90 w 126"/>
                  <a:gd name="T39" fmla="*/ 256 h 290"/>
                  <a:gd name="T40" fmla="*/ 96 w 126"/>
                  <a:gd name="T41" fmla="*/ 252 h 290"/>
                  <a:gd name="T42" fmla="*/ 106 w 126"/>
                  <a:gd name="T43" fmla="*/ 232 h 290"/>
                  <a:gd name="T44" fmla="*/ 115 w 126"/>
                  <a:gd name="T45" fmla="*/ 216 h 290"/>
                  <a:gd name="T46" fmla="*/ 121 w 126"/>
                  <a:gd name="T47" fmla="*/ 196 h 290"/>
                  <a:gd name="T48" fmla="*/ 122 w 126"/>
                  <a:gd name="T49" fmla="*/ 187 h 290"/>
                  <a:gd name="T50" fmla="*/ 124 w 126"/>
                  <a:gd name="T51" fmla="*/ 178 h 290"/>
                  <a:gd name="T52" fmla="*/ 124 w 126"/>
                  <a:gd name="T53" fmla="*/ 168 h 290"/>
                  <a:gd name="T54" fmla="*/ 126 w 126"/>
                  <a:gd name="T55" fmla="*/ 158 h 290"/>
                  <a:gd name="T56" fmla="*/ 124 w 126"/>
                  <a:gd name="T57" fmla="*/ 139 h 290"/>
                  <a:gd name="T58" fmla="*/ 121 w 126"/>
                  <a:gd name="T59" fmla="*/ 117 h 290"/>
                  <a:gd name="T60" fmla="*/ 116 w 126"/>
                  <a:gd name="T61" fmla="*/ 98 h 290"/>
                  <a:gd name="T62" fmla="*/ 97 w 126"/>
                  <a:gd name="T63" fmla="*/ 48 h 290"/>
                  <a:gd name="T64" fmla="*/ 85 w 126"/>
                  <a:gd name="T65" fmla="*/ 24 h 290"/>
                  <a:gd name="T66" fmla="*/ 72 w 126"/>
                  <a:gd name="T67"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6" h="290">
                    <a:moveTo>
                      <a:pt x="72" y="0"/>
                    </a:moveTo>
                    <a:lnTo>
                      <a:pt x="67" y="15"/>
                    </a:lnTo>
                    <a:lnTo>
                      <a:pt x="62" y="32"/>
                    </a:lnTo>
                    <a:lnTo>
                      <a:pt x="20" y="136"/>
                    </a:lnTo>
                    <a:lnTo>
                      <a:pt x="8" y="171"/>
                    </a:lnTo>
                    <a:lnTo>
                      <a:pt x="1" y="208"/>
                    </a:lnTo>
                    <a:lnTo>
                      <a:pt x="0" y="248"/>
                    </a:lnTo>
                    <a:lnTo>
                      <a:pt x="4" y="290"/>
                    </a:lnTo>
                    <a:lnTo>
                      <a:pt x="21" y="285"/>
                    </a:lnTo>
                    <a:lnTo>
                      <a:pt x="28" y="283"/>
                    </a:lnTo>
                    <a:lnTo>
                      <a:pt x="28" y="282"/>
                    </a:lnTo>
                    <a:lnTo>
                      <a:pt x="30" y="282"/>
                    </a:lnTo>
                    <a:lnTo>
                      <a:pt x="32" y="282"/>
                    </a:lnTo>
                    <a:lnTo>
                      <a:pt x="37" y="282"/>
                    </a:lnTo>
                    <a:lnTo>
                      <a:pt x="51" y="277"/>
                    </a:lnTo>
                    <a:lnTo>
                      <a:pt x="57" y="274"/>
                    </a:lnTo>
                    <a:lnTo>
                      <a:pt x="64" y="273"/>
                    </a:lnTo>
                    <a:lnTo>
                      <a:pt x="74" y="267"/>
                    </a:lnTo>
                    <a:lnTo>
                      <a:pt x="82" y="262"/>
                    </a:lnTo>
                    <a:lnTo>
                      <a:pt x="90" y="256"/>
                    </a:lnTo>
                    <a:lnTo>
                      <a:pt x="96" y="252"/>
                    </a:lnTo>
                    <a:lnTo>
                      <a:pt x="106" y="232"/>
                    </a:lnTo>
                    <a:lnTo>
                      <a:pt x="115" y="216"/>
                    </a:lnTo>
                    <a:lnTo>
                      <a:pt x="121" y="196"/>
                    </a:lnTo>
                    <a:lnTo>
                      <a:pt x="122" y="187"/>
                    </a:lnTo>
                    <a:lnTo>
                      <a:pt x="124" y="178"/>
                    </a:lnTo>
                    <a:lnTo>
                      <a:pt x="124" y="168"/>
                    </a:lnTo>
                    <a:lnTo>
                      <a:pt x="126" y="158"/>
                    </a:lnTo>
                    <a:lnTo>
                      <a:pt x="124" y="139"/>
                    </a:lnTo>
                    <a:lnTo>
                      <a:pt x="121" y="117"/>
                    </a:lnTo>
                    <a:lnTo>
                      <a:pt x="116" y="98"/>
                    </a:lnTo>
                    <a:lnTo>
                      <a:pt x="97" y="48"/>
                    </a:lnTo>
                    <a:lnTo>
                      <a:pt x="85" y="24"/>
                    </a:lnTo>
                    <a:lnTo>
                      <a:pt x="72" y="0"/>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73" name="Freeform 201">
                <a:extLst>
                  <a:ext uri="{FF2B5EF4-FFF2-40B4-BE49-F238E27FC236}">
                    <a16:creationId xmlns:a16="http://schemas.microsoft.com/office/drawing/2014/main" id="{445B39BD-E028-4F3B-E2E9-C76439E6BEEB}"/>
                  </a:ext>
                </a:extLst>
              </p:cNvPr>
              <p:cNvSpPr>
                <a:spLocks/>
              </p:cNvSpPr>
              <p:nvPr/>
            </p:nvSpPr>
            <p:spPr bwMode="auto">
              <a:xfrm>
                <a:off x="2501" y="2625"/>
                <a:ext cx="159" cy="169"/>
              </a:xfrm>
              <a:custGeom>
                <a:avLst/>
                <a:gdLst>
                  <a:gd name="T0" fmla="*/ 35 w 125"/>
                  <a:gd name="T1" fmla="*/ 11 h 187"/>
                  <a:gd name="T2" fmla="*/ 16 w 125"/>
                  <a:gd name="T3" fmla="*/ 50 h 187"/>
                  <a:gd name="T4" fmla="*/ 4 w 125"/>
                  <a:gd name="T5" fmla="*/ 92 h 187"/>
                  <a:gd name="T6" fmla="*/ 0 w 125"/>
                  <a:gd name="T7" fmla="*/ 115 h 187"/>
                  <a:gd name="T8" fmla="*/ 0 w 125"/>
                  <a:gd name="T9" fmla="*/ 139 h 187"/>
                  <a:gd name="T10" fmla="*/ 4 w 125"/>
                  <a:gd name="T11" fmla="*/ 154 h 187"/>
                  <a:gd name="T12" fmla="*/ 12 w 125"/>
                  <a:gd name="T13" fmla="*/ 166 h 187"/>
                  <a:gd name="T14" fmla="*/ 26 w 125"/>
                  <a:gd name="T15" fmla="*/ 175 h 187"/>
                  <a:gd name="T16" fmla="*/ 44 w 125"/>
                  <a:gd name="T17" fmla="*/ 182 h 187"/>
                  <a:gd name="T18" fmla="*/ 64 w 125"/>
                  <a:gd name="T19" fmla="*/ 185 h 187"/>
                  <a:gd name="T20" fmla="*/ 86 w 125"/>
                  <a:gd name="T21" fmla="*/ 184 h 187"/>
                  <a:gd name="T22" fmla="*/ 90 w 125"/>
                  <a:gd name="T23" fmla="*/ 187 h 187"/>
                  <a:gd name="T24" fmla="*/ 104 w 125"/>
                  <a:gd name="T25" fmla="*/ 182 h 187"/>
                  <a:gd name="T26" fmla="*/ 110 w 125"/>
                  <a:gd name="T27" fmla="*/ 178 h 187"/>
                  <a:gd name="T28" fmla="*/ 118 w 125"/>
                  <a:gd name="T29" fmla="*/ 174 h 187"/>
                  <a:gd name="T30" fmla="*/ 121 w 125"/>
                  <a:gd name="T31" fmla="*/ 167 h 187"/>
                  <a:gd name="T32" fmla="*/ 125 w 125"/>
                  <a:gd name="T33" fmla="*/ 160 h 187"/>
                  <a:gd name="T34" fmla="*/ 124 w 125"/>
                  <a:gd name="T35" fmla="*/ 152 h 187"/>
                  <a:gd name="T36" fmla="*/ 122 w 125"/>
                  <a:gd name="T37" fmla="*/ 145 h 187"/>
                  <a:gd name="T38" fmla="*/ 107 w 125"/>
                  <a:gd name="T39" fmla="*/ 116 h 187"/>
                  <a:gd name="T40" fmla="*/ 89 w 125"/>
                  <a:gd name="T41" fmla="*/ 90 h 187"/>
                  <a:gd name="T42" fmla="*/ 73 w 125"/>
                  <a:gd name="T43" fmla="*/ 68 h 187"/>
                  <a:gd name="T44" fmla="*/ 60 w 125"/>
                  <a:gd name="T45" fmla="*/ 47 h 187"/>
                  <a:gd name="T46" fmla="*/ 48 w 125"/>
                  <a:gd name="T47" fmla="*/ 23 h 187"/>
                  <a:gd name="T48" fmla="*/ 40 w 125"/>
                  <a:gd name="T49" fmla="*/ 0 h 187"/>
                  <a:gd name="T50" fmla="*/ 35 w 125"/>
                  <a:gd name="T51" fmla="*/ 11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5" h="187">
                    <a:moveTo>
                      <a:pt x="35" y="11"/>
                    </a:moveTo>
                    <a:lnTo>
                      <a:pt x="16" y="50"/>
                    </a:lnTo>
                    <a:lnTo>
                      <a:pt x="4" y="92"/>
                    </a:lnTo>
                    <a:lnTo>
                      <a:pt x="0" y="115"/>
                    </a:lnTo>
                    <a:lnTo>
                      <a:pt x="0" y="139"/>
                    </a:lnTo>
                    <a:lnTo>
                      <a:pt x="4" y="154"/>
                    </a:lnTo>
                    <a:lnTo>
                      <a:pt x="12" y="166"/>
                    </a:lnTo>
                    <a:lnTo>
                      <a:pt x="26" y="175"/>
                    </a:lnTo>
                    <a:lnTo>
                      <a:pt x="44" y="182"/>
                    </a:lnTo>
                    <a:lnTo>
                      <a:pt x="64" y="185"/>
                    </a:lnTo>
                    <a:lnTo>
                      <a:pt x="86" y="184"/>
                    </a:lnTo>
                    <a:lnTo>
                      <a:pt x="90" y="187"/>
                    </a:lnTo>
                    <a:lnTo>
                      <a:pt x="104" y="182"/>
                    </a:lnTo>
                    <a:lnTo>
                      <a:pt x="110" y="178"/>
                    </a:lnTo>
                    <a:lnTo>
                      <a:pt x="118" y="174"/>
                    </a:lnTo>
                    <a:lnTo>
                      <a:pt x="121" y="167"/>
                    </a:lnTo>
                    <a:lnTo>
                      <a:pt x="125" y="160"/>
                    </a:lnTo>
                    <a:lnTo>
                      <a:pt x="124" y="152"/>
                    </a:lnTo>
                    <a:lnTo>
                      <a:pt x="122" y="145"/>
                    </a:lnTo>
                    <a:lnTo>
                      <a:pt x="107" y="116"/>
                    </a:lnTo>
                    <a:lnTo>
                      <a:pt x="89" y="90"/>
                    </a:lnTo>
                    <a:lnTo>
                      <a:pt x="73" y="68"/>
                    </a:lnTo>
                    <a:lnTo>
                      <a:pt x="60" y="47"/>
                    </a:lnTo>
                    <a:lnTo>
                      <a:pt x="48" y="23"/>
                    </a:lnTo>
                    <a:lnTo>
                      <a:pt x="40" y="0"/>
                    </a:lnTo>
                    <a:lnTo>
                      <a:pt x="35" y="11"/>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74" name="Freeform 202">
                <a:extLst>
                  <a:ext uri="{FF2B5EF4-FFF2-40B4-BE49-F238E27FC236}">
                    <a16:creationId xmlns:a16="http://schemas.microsoft.com/office/drawing/2014/main" id="{2E0829FF-C362-4463-C94B-5988F3EFA60A}"/>
                  </a:ext>
                </a:extLst>
              </p:cNvPr>
              <p:cNvSpPr>
                <a:spLocks/>
              </p:cNvSpPr>
              <p:nvPr/>
            </p:nvSpPr>
            <p:spPr bwMode="auto">
              <a:xfrm>
                <a:off x="2501" y="2625"/>
                <a:ext cx="159" cy="169"/>
              </a:xfrm>
              <a:custGeom>
                <a:avLst/>
                <a:gdLst>
                  <a:gd name="T0" fmla="*/ 4 w 125"/>
                  <a:gd name="T1" fmla="*/ 92 h 187"/>
                  <a:gd name="T2" fmla="*/ 0 w 125"/>
                  <a:gd name="T3" fmla="*/ 115 h 187"/>
                  <a:gd name="T4" fmla="*/ 0 w 125"/>
                  <a:gd name="T5" fmla="*/ 139 h 187"/>
                  <a:gd name="T6" fmla="*/ 4 w 125"/>
                  <a:gd name="T7" fmla="*/ 154 h 187"/>
                  <a:gd name="T8" fmla="*/ 12 w 125"/>
                  <a:gd name="T9" fmla="*/ 166 h 187"/>
                  <a:gd name="T10" fmla="*/ 26 w 125"/>
                  <a:gd name="T11" fmla="*/ 175 h 187"/>
                  <a:gd name="T12" fmla="*/ 44 w 125"/>
                  <a:gd name="T13" fmla="*/ 182 h 187"/>
                  <a:gd name="T14" fmla="*/ 64 w 125"/>
                  <a:gd name="T15" fmla="*/ 185 h 187"/>
                  <a:gd name="T16" fmla="*/ 86 w 125"/>
                  <a:gd name="T17" fmla="*/ 184 h 187"/>
                  <a:gd name="T18" fmla="*/ 90 w 125"/>
                  <a:gd name="T19" fmla="*/ 187 h 187"/>
                  <a:gd name="T20" fmla="*/ 104 w 125"/>
                  <a:gd name="T21" fmla="*/ 182 h 187"/>
                  <a:gd name="T22" fmla="*/ 110 w 125"/>
                  <a:gd name="T23" fmla="*/ 178 h 187"/>
                  <a:gd name="T24" fmla="*/ 118 w 125"/>
                  <a:gd name="T25" fmla="*/ 174 h 187"/>
                  <a:gd name="T26" fmla="*/ 121 w 125"/>
                  <a:gd name="T27" fmla="*/ 167 h 187"/>
                  <a:gd name="T28" fmla="*/ 125 w 125"/>
                  <a:gd name="T29" fmla="*/ 160 h 187"/>
                  <a:gd name="T30" fmla="*/ 124 w 125"/>
                  <a:gd name="T31" fmla="*/ 152 h 187"/>
                  <a:gd name="T32" fmla="*/ 122 w 125"/>
                  <a:gd name="T33" fmla="*/ 145 h 187"/>
                  <a:gd name="T34" fmla="*/ 107 w 125"/>
                  <a:gd name="T35" fmla="*/ 116 h 187"/>
                  <a:gd name="T36" fmla="*/ 89 w 125"/>
                  <a:gd name="T37" fmla="*/ 90 h 187"/>
                  <a:gd name="T38" fmla="*/ 73 w 125"/>
                  <a:gd name="T39" fmla="*/ 68 h 187"/>
                  <a:gd name="T40" fmla="*/ 60 w 125"/>
                  <a:gd name="T41" fmla="*/ 47 h 187"/>
                  <a:gd name="T42" fmla="*/ 48 w 125"/>
                  <a:gd name="T43" fmla="*/ 23 h 187"/>
                  <a:gd name="T44" fmla="*/ 40 w 125"/>
                  <a:gd name="T45" fmla="*/ 0 h 187"/>
                  <a:gd name="T46" fmla="*/ 35 w 125"/>
                  <a:gd name="T47" fmla="*/ 11 h 187"/>
                  <a:gd name="T48" fmla="*/ 16 w 125"/>
                  <a:gd name="T49" fmla="*/ 50 h 187"/>
                  <a:gd name="T50" fmla="*/ 4 w 125"/>
                  <a:gd name="T51" fmla="*/ 9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5" h="187">
                    <a:moveTo>
                      <a:pt x="4" y="92"/>
                    </a:moveTo>
                    <a:lnTo>
                      <a:pt x="0" y="115"/>
                    </a:lnTo>
                    <a:lnTo>
                      <a:pt x="0" y="139"/>
                    </a:lnTo>
                    <a:lnTo>
                      <a:pt x="4" y="154"/>
                    </a:lnTo>
                    <a:lnTo>
                      <a:pt x="12" y="166"/>
                    </a:lnTo>
                    <a:lnTo>
                      <a:pt x="26" y="175"/>
                    </a:lnTo>
                    <a:lnTo>
                      <a:pt x="44" y="182"/>
                    </a:lnTo>
                    <a:lnTo>
                      <a:pt x="64" y="185"/>
                    </a:lnTo>
                    <a:lnTo>
                      <a:pt x="86" y="184"/>
                    </a:lnTo>
                    <a:lnTo>
                      <a:pt x="90" y="187"/>
                    </a:lnTo>
                    <a:lnTo>
                      <a:pt x="104" y="182"/>
                    </a:lnTo>
                    <a:lnTo>
                      <a:pt x="110" y="178"/>
                    </a:lnTo>
                    <a:lnTo>
                      <a:pt x="118" y="174"/>
                    </a:lnTo>
                    <a:lnTo>
                      <a:pt x="121" y="167"/>
                    </a:lnTo>
                    <a:lnTo>
                      <a:pt x="125" y="160"/>
                    </a:lnTo>
                    <a:lnTo>
                      <a:pt x="124" y="152"/>
                    </a:lnTo>
                    <a:lnTo>
                      <a:pt x="122" y="145"/>
                    </a:lnTo>
                    <a:lnTo>
                      <a:pt x="107" y="116"/>
                    </a:lnTo>
                    <a:lnTo>
                      <a:pt x="89" y="90"/>
                    </a:lnTo>
                    <a:lnTo>
                      <a:pt x="73" y="68"/>
                    </a:lnTo>
                    <a:lnTo>
                      <a:pt x="60" y="47"/>
                    </a:lnTo>
                    <a:lnTo>
                      <a:pt x="48" y="23"/>
                    </a:lnTo>
                    <a:lnTo>
                      <a:pt x="40" y="0"/>
                    </a:lnTo>
                    <a:lnTo>
                      <a:pt x="35" y="11"/>
                    </a:lnTo>
                    <a:lnTo>
                      <a:pt x="16" y="50"/>
                    </a:lnTo>
                    <a:lnTo>
                      <a:pt x="4" y="92"/>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75" name="Freeform 203">
                <a:extLst>
                  <a:ext uri="{FF2B5EF4-FFF2-40B4-BE49-F238E27FC236}">
                    <a16:creationId xmlns:a16="http://schemas.microsoft.com/office/drawing/2014/main" id="{7FCDE410-2185-BCB0-52B6-7457DCC54D4D}"/>
                  </a:ext>
                </a:extLst>
              </p:cNvPr>
              <p:cNvSpPr>
                <a:spLocks/>
              </p:cNvSpPr>
              <p:nvPr/>
            </p:nvSpPr>
            <p:spPr bwMode="auto">
              <a:xfrm>
                <a:off x="2222" y="2419"/>
                <a:ext cx="298" cy="437"/>
              </a:xfrm>
              <a:custGeom>
                <a:avLst/>
                <a:gdLst>
                  <a:gd name="T0" fmla="*/ 74 w 236"/>
                  <a:gd name="T1" fmla="*/ 59 h 483"/>
                  <a:gd name="T2" fmla="*/ 56 w 236"/>
                  <a:gd name="T3" fmla="*/ 47 h 483"/>
                  <a:gd name="T4" fmla="*/ 50 w 236"/>
                  <a:gd name="T5" fmla="*/ 43 h 483"/>
                  <a:gd name="T6" fmla="*/ 26 w 236"/>
                  <a:gd name="T7" fmla="*/ 27 h 483"/>
                  <a:gd name="T8" fmla="*/ 19 w 236"/>
                  <a:gd name="T9" fmla="*/ 18 h 483"/>
                  <a:gd name="T10" fmla="*/ 13 w 236"/>
                  <a:gd name="T11" fmla="*/ 0 h 483"/>
                  <a:gd name="T12" fmla="*/ 0 w 236"/>
                  <a:gd name="T13" fmla="*/ 37 h 483"/>
                  <a:gd name="T14" fmla="*/ 11 w 236"/>
                  <a:gd name="T15" fmla="*/ 84 h 483"/>
                  <a:gd name="T16" fmla="*/ 25 w 236"/>
                  <a:gd name="T17" fmla="*/ 115 h 483"/>
                  <a:gd name="T18" fmla="*/ 47 w 236"/>
                  <a:gd name="T19" fmla="*/ 157 h 483"/>
                  <a:gd name="T20" fmla="*/ 48 w 236"/>
                  <a:gd name="T21" fmla="*/ 169 h 483"/>
                  <a:gd name="T22" fmla="*/ 46 w 236"/>
                  <a:gd name="T23" fmla="*/ 193 h 483"/>
                  <a:gd name="T24" fmla="*/ 37 w 236"/>
                  <a:gd name="T25" fmla="*/ 227 h 483"/>
                  <a:gd name="T26" fmla="*/ 28 w 236"/>
                  <a:gd name="T27" fmla="*/ 253 h 483"/>
                  <a:gd name="T28" fmla="*/ 18 w 236"/>
                  <a:gd name="T29" fmla="*/ 300 h 483"/>
                  <a:gd name="T30" fmla="*/ 18 w 236"/>
                  <a:gd name="T31" fmla="*/ 352 h 483"/>
                  <a:gd name="T32" fmla="*/ 35 w 236"/>
                  <a:gd name="T33" fmla="*/ 402 h 483"/>
                  <a:gd name="T34" fmla="*/ 52 w 236"/>
                  <a:gd name="T35" fmla="*/ 426 h 483"/>
                  <a:gd name="T36" fmla="*/ 71 w 236"/>
                  <a:gd name="T37" fmla="*/ 444 h 483"/>
                  <a:gd name="T38" fmla="*/ 97 w 236"/>
                  <a:gd name="T39" fmla="*/ 459 h 483"/>
                  <a:gd name="T40" fmla="*/ 131 w 236"/>
                  <a:gd name="T41" fmla="*/ 471 h 483"/>
                  <a:gd name="T42" fmla="*/ 170 w 236"/>
                  <a:gd name="T43" fmla="*/ 479 h 483"/>
                  <a:gd name="T44" fmla="*/ 209 w 236"/>
                  <a:gd name="T45" fmla="*/ 465 h 483"/>
                  <a:gd name="T46" fmla="*/ 229 w 236"/>
                  <a:gd name="T47" fmla="*/ 431 h 483"/>
                  <a:gd name="T48" fmla="*/ 236 w 236"/>
                  <a:gd name="T49" fmla="*/ 397 h 483"/>
                  <a:gd name="T50" fmla="*/ 228 w 236"/>
                  <a:gd name="T51" fmla="*/ 366 h 483"/>
                  <a:gd name="T52" fmla="*/ 204 w 236"/>
                  <a:gd name="T53" fmla="*/ 336 h 483"/>
                  <a:gd name="T54" fmla="*/ 182 w 236"/>
                  <a:gd name="T55" fmla="*/ 312 h 483"/>
                  <a:gd name="T56" fmla="*/ 166 w 236"/>
                  <a:gd name="T57" fmla="*/ 289 h 483"/>
                  <a:gd name="T58" fmla="*/ 154 w 236"/>
                  <a:gd name="T59" fmla="*/ 264 h 483"/>
                  <a:gd name="T60" fmla="*/ 150 w 236"/>
                  <a:gd name="T61" fmla="*/ 221 h 483"/>
                  <a:gd name="T62" fmla="*/ 140 w 236"/>
                  <a:gd name="T63" fmla="*/ 163 h 483"/>
                  <a:gd name="T64" fmla="*/ 124 w 236"/>
                  <a:gd name="T65" fmla="*/ 118 h 483"/>
                  <a:gd name="T66" fmla="*/ 113 w 236"/>
                  <a:gd name="T67" fmla="*/ 99 h 483"/>
                  <a:gd name="T68" fmla="*/ 84 w 236"/>
                  <a:gd name="T69" fmla="*/ 67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6" h="483">
                    <a:moveTo>
                      <a:pt x="84" y="67"/>
                    </a:moveTo>
                    <a:lnTo>
                      <a:pt x="74" y="59"/>
                    </a:lnTo>
                    <a:lnTo>
                      <a:pt x="64" y="52"/>
                    </a:lnTo>
                    <a:lnTo>
                      <a:pt x="56" y="47"/>
                    </a:lnTo>
                    <a:lnTo>
                      <a:pt x="53" y="45"/>
                    </a:lnTo>
                    <a:lnTo>
                      <a:pt x="50" y="43"/>
                    </a:lnTo>
                    <a:lnTo>
                      <a:pt x="37" y="36"/>
                    </a:lnTo>
                    <a:lnTo>
                      <a:pt x="26" y="27"/>
                    </a:lnTo>
                    <a:lnTo>
                      <a:pt x="22" y="22"/>
                    </a:lnTo>
                    <a:lnTo>
                      <a:pt x="19" y="18"/>
                    </a:lnTo>
                    <a:lnTo>
                      <a:pt x="14" y="9"/>
                    </a:lnTo>
                    <a:lnTo>
                      <a:pt x="13" y="0"/>
                    </a:lnTo>
                    <a:lnTo>
                      <a:pt x="4" y="17"/>
                    </a:lnTo>
                    <a:lnTo>
                      <a:pt x="0" y="37"/>
                    </a:lnTo>
                    <a:lnTo>
                      <a:pt x="2" y="59"/>
                    </a:lnTo>
                    <a:lnTo>
                      <a:pt x="11" y="84"/>
                    </a:lnTo>
                    <a:lnTo>
                      <a:pt x="17" y="97"/>
                    </a:lnTo>
                    <a:lnTo>
                      <a:pt x="25" y="115"/>
                    </a:lnTo>
                    <a:lnTo>
                      <a:pt x="35" y="135"/>
                    </a:lnTo>
                    <a:lnTo>
                      <a:pt x="47" y="157"/>
                    </a:lnTo>
                    <a:lnTo>
                      <a:pt x="47" y="162"/>
                    </a:lnTo>
                    <a:lnTo>
                      <a:pt x="48" y="169"/>
                    </a:lnTo>
                    <a:lnTo>
                      <a:pt x="48" y="185"/>
                    </a:lnTo>
                    <a:lnTo>
                      <a:pt x="46" y="193"/>
                    </a:lnTo>
                    <a:lnTo>
                      <a:pt x="43" y="204"/>
                    </a:lnTo>
                    <a:lnTo>
                      <a:pt x="37" y="227"/>
                    </a:lnTo>
                    <a:lnTo>
                      <a:pt x="31" y="240"/>
                    </a:lnTo>
                    <a:lnTo>
                      <a:pt x="28" y="253"/>
                    </a:lnTo>
                    <a:lnTo>
                      <a:pt x="22" y="279"/>
                    </a:lnTo>
                    <a:lnTo>
                      <a:pt x="18" y="300"/>
                    </a:lnTo>
                    <a:lnTo>
                      <a:pt x="17" y="321"/>
                    </a:lnTo>
                    <a:lnTo>
                      <a:pt x="18" y="352"/>
                    </a:lnTo>
                    <a:lnTo>
                      <a:pt x="29" y="387"/>
                    </a:lnTo>
                    <a:lnTo>
                      <a:pt x="35" y="402"/>
                    </a:lnTo>
                    <a:lnTo>
                      <a:pt x="43" y="415"/>
                    </a:lnTo>
                    <a:lnTo>
                      <a:pt x="52" y="426"/>
                    </a:lnTo>
                    <a:lnTo>
                      <a:pt x="61" y="437"/>
                    </a:lnTo>
                    <a:lnTo>
                      <a:pt x="71" y="444"/>
                    </a:lnTo>
                    <a:lnTo>
                      <a:pt x="84" y="453"/>
                    </a:lnTo>
                    <a:lnTo>
                      <a:pt x="97" y="459"/>
                    </a:lnTo>
                    <a:lnTo>
                      <a:pt x="114" y="466"/>
                    </a:lnTo>
                    <a:lnTo>
                      <a:pt x="131" y="471"/>
                    </a:lnTo>
                    <a:lnTo>
                      <a:pt x="150" y="475"/>
                    </a:lnTo>
                    <a:lnTo>
                      <a:pt x="170" y="479"/>
                    </a:lnTo>
                    <a:lnTo>
                      <a:pt x="193" y="483"/>
                    </a:lnTo>
                    <a:lnTo>
                      <a:pt x="209" y="465"/>
                    </a:lnTo>
                    <a:lnTo>
                      <a:pt x="221" y="448"/>
                    </a:lnTo>
                    <a:lnTo>
                      <a:pt x="229" y="431"/>
                    </a:lnTo>
                    <a:lnTo>
                      <a:pt x="235" y="414"/>
                    </a:lnTo>
                    <a:lnTo>
                      <a:pt x="236" y="397"/>
                    </a:lnTo>
                    <a:lnTo>
                      <a:pt x="234" y="382"/>
                    </a:lnTo>
                    <a:lnTo>
                      <a:pt x="228" y="366"/>
                    </a:lnTo>
                    <a:lnTo>
                      <a:pt x="220" y="352"/>
                    </a:lnTo>
                    <a:lnTo>
                      <a:pt x="204" y="336"/>
                    </a:lnTo>
                    <a:lnTo>
                      <a:pt x="193" y="323"/>
                    </a:lnTo>
                    <a:lnTo>
                      <a:pt x="182" y="312"/>
                    </a:lnTo>
                    <a:lnTo>
                      <a:pt x="176" y="304"/>
                    </a:lnTo>
                    <a:lnTo>
                      <a:pt x="166" y="289"/>
                    </a:lnTo>
                    <a:lnTo>
                      <a:pt x="158" y="276"/>
                    </a:lnTo>
                    <a:lnTo>
                      <a:pt x="154" y="264"/>
                    </a:lnTo>
                    <a:lnTo>
                      <a:pt x="152" y="253"/>
                    </a:lnTo>
                    <a:lnTo>
                      <a:pt x="150" y="221"/>
                    </a:lnTo>
                    <a:lnTo>
                      <a:pt x="146" y="191"/>
                    </a:lnTo>
                    <a:lnTo>
                      <a:pt x="140" y="163"/>
                    </a:lnTo>
                    <a:lnTo>
                      <a:pt x="134" y="141"/>
                    </a:lnTo>
                    <a:lnTo>
                      <a:pt x="124" y="118"/>
                    </a:lnTo>
                    <a:lnTo>
                      <a:pt x="118" y="107"/>
                    </a:lnTo>
                    <a:lnTo>
                      <a:pt x="113" y="99"/>
                    </a:lnTo>
                    <a:lnTo>
                      <a:pt x="100" y="81"/>
                    </a:lnTo>
                    <a:lnTo>
                      <a:pt x="84" y="67"/>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76" name="Freeform 204">
                <a:extLst>
                  <a:ext uri="{FF2B5EF4-FFF2-40B4-BE49-F238E27FC236}">
                    <a16:creationId xmlns:a16="http://schemas.microsoft.com/office/drawing/2014/main" id="{146C4ED7-CB9E-5137-159F-411D97BC7768}"/>
                  </a:ext>
                </a:extLst>
              </p:cNvPr>
              <p:cNvSpPr>
                <a:spLocks/>
              </p:cNvSpPr>
              <p:nvPr/>
            </p:nvSpPr>
            <p:spPr bwMode="auto">
              <a:xfrm>
                <a:off x="2116" y="2286"/>
                <a:ext cx="102" cy="120"/>
              </a:xfrm>
              <a:custGeom>
                <a:avLst/>
                <a:gdLst>
                  <a:gd name="T0" fmla="*/ 4 w 79"/>
                  <a:gd name="T1" fmla="*/ 0 h 134"/>
                  <a:gd name="T2" fmla="*/ 4 w 79"/>
                  <a:gd name="T3" fmla="*/ 4 h 134"/>
                  <a:gd name="T4" fmla="*/ 5 w 79"/>
                  <a:gd name="T5" fmla="*/ 10 h 134"/>
                  <a:gd name="T6" fmla="*/ 5 w 79"/>
                  <a:gd name="T7" fmla="*/ 24 h 134"/>
                  <a:gd name="T8" fmla="*/ 4 w 79"/>
                  <a:gd name="T9" fmla="*/ 33 h 134"/>
                  <a:gd name="T10" fmla="*/ 4 w 79"/>
                  <a:gd name="T11" fmla="*/ 44 h 134"/>
                  <a:gd name="T12" fmla="*/ 1 w 79"/>
                  <a:gd name="T13" fmla="*/ 69 h 134"/>
                  <a:gd name="T14" fmla="*/ 0 w 79"/>
                  <a:gd name="T15" fmla="*/ 84 h 134"/>
                  <a:gd name="T16" fmla="*/ 1 w 79"/>
                  <a:gd name="T17" fmla="*/ 92 h 134"/>
                  <a:gd name="T18" fmla="*/ 5 w 79"/>
                  <a:gd name="T19" fmla="*/ 100 h 134"/>
                  <a:gd name="T20" fmla="*/ 13 w 79"/>
                  <a:gd name="T21" fmla="*/ 113 h 134"/>
                  <a:gd name="T22" fmla="*/ 28 w 79"/>
                  <a:gd name="T23" fmla="*/ 125 h 134"/>
                  <a:gd name="T24" fmla="*/ 28 w 79"/>
                  <a:gd name="T25" fmla="*/ 114 h 134"/>
                  <a:gd name="T26" fmla="*/ 30 w 79"/>
                  <a:gd name="T27" fmla="*/ 106 h 134"/>
                  <a:gd name="T28" fmla="*/ 31 w 79"/>
                  <a:gd name="T29" fmla="*/ 98 h 134"/>
                  <a:gd name="T30" fmla="*/ 35 w 79"/>
                  <a:gd name="T31" fmla="*/ 93 h 134"/>
                  <a:gd name="T32" fmla="*/ 39 w 79"/>
                  <a:gd name="T33" fmla="*/ 92 h 134"/>
                  <a:gd name="T34" fmla="*/ 46 w 79"/>
                  <a:gd name="T35" fmla="*/ 94 h 134"/>
                  <a:gd name="T36" fmla="*/ 52 w 79"/>
                  <a:gd name="T37" fmla="*/ 98 h 134"/>
                  <a:gd name="T38" fmla="*/ 60 w 79"/>
                  <a:gd name="T39" fmla="*/ 106 h 134"/>
                  <a:gd name="T40" fmla="*/ 69 w 79"/>
                  <a:gd name="T41" fmla="*/ 118 h 134"/>
                  <a:gd name="T42" fmla="*/ 79 w 79"/>
                  <a:gd name="T43" fmla="*/ 134 h 134"/>
                  <a:gd name="T44" fmla="*/ 71 w 79"/>
                  <a:gd name="T45" fmla="*/ 106 h 134"/>
                  <a:gd name="T46" fmla="*/ 64 w 79"/>
                  <a:gd name="T47" fmla="*/ 82 h 134"/>
                  <a:gd name="T48" fmla="*/ 55 w 79"/>
                  <a:gd name="T49" fmla="*/ 62 h 134"/>
                  <a:gd name="T50" fmla="*/ 47 w 79"/>
                  <a:gd name="T51" fmla="*/ 44 h 134"/>
                  <a:gd name="T52" fmla="*/ 36 w 79"/>
                  <a:gd name="T53" fmla="*/ 28 h 134"/>
                  <a:gd name="T54" fmla="*/ 27 w 79"/>
                  <a:gd name="T55" fmla="*/ 16 h 134"/>
                  <a:gd name="T56" fmla="*/ 15 w 79"/>
                  <a:gd name="T57" fmla="*/ 6 h 134"/>
                  <a:gd name="T58" fmla="*/ 4 w 79"/>
                  <a:gd name="T59"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134">
                    <a:moveTo>
                      <a:pt x="4" y="0"/>
                    </a:moveTo>
                    <a:lnTo>
                      <a:pt x="4" y="4"/>
                    </a:lnTo>
                    <a:lnTo>
                      <a:pt x="5" y="10"/>
                    </a:lnTo>
                    <a:lnTo>
                      <a:pt x="5" y="24"/>
                    </a:lnTo>
                    <a:lnTo>
                      <a:pt x="4" y="33"/>
                    </a:lnTo>
                    <a:lnTo>
                      <a:pt x="4" y="44"/>
                    </a:lnTo>
                    <a:lnTo>
                      <a:pt x="1" y="69"/>
                    </a:lnTo>
                    <a:lnTo>
                      <a:pt x="0" y="84"/>
                    </a:lnTo>
                    <a:lnTo>
                      <a:pt x="1" y="92"/>
                    </a:lnTo>
                    <a:lnTo>
                      <a:pt x="5" y="100"/>
                    </a:lnTo>
                    <a:lnTo>
                      <a:pt x="13" y="113"/>
                    </a:lnTo>
                    <a:lnTo>
                      <a:pt x="28" y="125"/>
                    </a:lnTo>
                    <a:lnTo>
                      <a:pt x="28" y="114"/>
                    </a:lnTo>
                    <a:lnTo>
                      <a:pt x="30" y="106"/>
                    </a:lnTo>
                    <a:lnTo>
                      <a:pt x="31" y="98"/>
                    </a:lnTo>
                    <a:lnTo>
                      <a:pt x="35" y="93"/>
                    </a:lnTo>
                    <a:lnTo>
                      <a:pt x="39" y="92"/>
                    </a:lnTo>
                    <a:lnTo>
                      <a:pt x="46" y="94"/>
                    </a:lnTo>
                    <a:lnTo>
                      <a:pt x="52" y="98"/>
                    </a:lnTo>
                    <a:lnTo>
                      <a:pt x="60" y="106"/>
                    </a:lnTo>
                    <a:lnTo>
                      <a:pt x="69" y="118"/>
                    </a:lnTo>
                    <a:lnTo>
                      <a:pt x="79" y="134"/>
                    </a:lnTo>
                    <a:lnTo>
                      <a:pt x="71" y="106"/>
                    </a:lnTo>
                    <a:lnTo>
                      <a:pt x="64" y="82"/>
                    </a:lnTo>
                    <a:lnTo>
                      <a:pt x="55" y="62"/>
                    </a:lnTo>
                    <a:lnTo>
                      <a:pt x="47" y="44"/>
                    </a:lnTo>
                    <a:lnTo>
                      <a:pt x="36" y="28"/>
                    </a:lnTo>
                    <a:lnTo>
                      <a:pt x="27" y="16"/>
                    </a:lnTo>
                    <a:lnTo>
                      <a:pt x="15" y="6"/>
                    </a:lnTo>
                    <a:lnTo>
                      <a:pt x="4" y="0"/>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77" name="Freeform 205">
                <a:extLst>
                  <a:ext uri="{FF2B5EF4-FFF2-40B4-BE49-F238E27FC236}">
                    <a16:creationId xmlns:a16="http://schemas.microsoft.com/office/drawing/2014/main" id="{92A8E259-3CE4-B2FB-3A1B-5ECCFB371A28}"/>
                  </a:ext>
                </a:extLst>
              </p:cNvPr>
              <p:cNvSpPr>
                <a:spLocks/>
              </p:cNvSpPr>
              <p:nvPr/>
            </p:nvSpPr>
            <p:spPr bwMode="auto">
              <a:xfrm>
                <a:off x="1920" y="2238"/>
                <a:ext cx="57" cy="92"/>
              </a:xfrm>
              <a:custGeom>
                <a:avLst/>
                <a:gdLst>
                  <a:gd name="T0" fmla="*/ 45 w 45"/>
                  <a:gd name="T1" fmla="*/ 74 h 104"/>
                  <a:gd name="T2" fmla="*/ 45 w 45"/>
                  <a:gd name="T3" fmla="*/ 59 h 104"/>
                  <a:gd name="T4" fmla="*/ 43 w 45"/>
                  <a:gd name="T5" fmla="*/ 53 h 104"/>
                  <a:gd name="T6" fmla="*/ 41 w 45"/>
                  <a:gd name="T7" fmla="*/ 48 h 104"/>
                  <a:gd name="T8" fmla="*/ 31 w 45"/>
                  <a:gd name="T9" fmla="*/ 40 h 104"/>
                  <a:gd name="T10" fmla="*/ 22 w 45"/>
                  <a:gd name="T11" fmla="*/ 32 h 104"/>
                  <a:gd name="T12" fmla="*/ 15 w 45"/>
                  <a:gd name="T13" fmla="*/ 23 h 104"/>
                  <a:gd name="T14" fmla="*/ 7 w 45"/>
                  <a:gd name="T15" fmla="*/ 12 h 104"/>
                  <a:gd name="T16" fmla="*/ 3 w 45"/>
                  <a:gd name="T17" fmla="*/ 0 h 104"/>
                  <a:gd name="T18" fmla="*/ 0 w 45"/>
                  <a:gd name="T19" fmla="*/ 4 h 104"/>
                  <a:gd name="T20" fmla="*/ 0 w 45"/>
                  <a:gd name="T21" fmla="*/ 12 h 104"/>
                  <a:gd name="T22" fmla="*/ 0 w 45"/>
                  <a:gd name="T23" fmla="*/ 33 h 104"/>
                  <a:gd name="T24" fmla="*/ 1 w 45"/>
                  <a:gd name="T25" fmla="*/ 53 h 104"/>
                  <a:gd name="T26" fmla="*/ 5 w 45"/>
                  <a:gd name="T27" fmla="*/ 74 h 104"/>
                  <a:gd name="T28" fmla="*/ 11 w 45"/>
                  <a:gd name="T29" fmla="*/ 89 h 104"/>
                  <a:gd name="T30" fmla="*/ 15 w 45"/>
                  <a:gd name="T31" fmla="*/ 96 h 104"/>
                  <a:gd name="T32" fmla="*/ 21 w 45"/>
                  <a:gd name="T33" fmla="*/ 104 h 104"/>
                  <a:gd name="T34" fmla="*/ 21 w 45"/>
                  <a:gd name="T35" fmla="*/ 86 h 104"/>
                  <a:gd name="T36" fmla="*/ 21 w 45"/>
                  <a:gd name="T37" fmla="*/ 65 h 104"/>
                  <a:gd name="T38" fmla="*/ 23 w 45"/>
                  <a:gd name="T39" fmla="*/ 54 h 104"/>
                  <a:gd name="T40" fmla="*/ 31 w 45"/>
                  <a:gd name="T41" fmla="*/ 57 h 104"/>
                  <a:gd name="T42" fmla="*/ 37 w 45"/>
                  <a:gd name="T43" fmla="*/ 62 h 104"/>
                  <a:gd name="T44" fmla="*/ 41 w 45"/>
                  <a:gd name="T45" fmla="*/ 66 h 104"/>
                  <a:gd name="T46" fmla="*/ 45 w 45"/>
                  <a:gd name="T47" fmla="*/ 7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5" h="104">
                    <a:moveTo>
                      <a:pt x="45" y="74"/>
                    </a:moveTo>
                    <a:lnTo>
                      <a:pt x="45" y="59"/>
                    </a:lnTo>
                    <a:lnTo>
                      <a:pt x="43" y="53"/>
                    </a:lnTo>
                    <a:lnTo>
                      <a:pt x="41" y="48"/>
                    </a:lnTo>
                    <a:lnTo>
                      <a:pt x="31" y="40"/>
                    </a:lnTo>
                    <a:lnTo>
                      <a:pt x="22" y="32"/>
                    </a:lnTo>
                    <a:lnTo>
                      <a:pt x="15" y="23"/>
                    </a:lnTo>
                    <a:lnTo>
                      <a:pt x="7" y="12"/>
                    </a:lnTo>
                    <a:lnTo>
                      <a:pt x="3" y="0"/>
                    </a:lnTo>
                    <a:lnTo>
                      <a:pt x="0" y="4"/>
                    </a:lnTo>
                    <a:lnTo>
                      <a:pt x="0" y="12"/>
                    </a:lnTo>
                    <a:lnTo>
                      <a:pt x="0" y="33"/>
                    </a:lnTo>
                    <a:lnTo>
                      <a:pt x="1" y="53"/>
                    </a:lnTo>
                    <a:lnTo>
                      <a:pt x="5" y="74"/>
                    </a:lnTo>
                    <a:lnTo>
                      <a:pt x="11" y="89"/>
                    </a:lnTo>
                    <a:lnTo>
                      <a:pt x="15" y="96"/>
                    </a:lnTo>
                    <a:lnTo>
                      <a:pt x="21" y="104"/>
                    </a:lnTo>
                    <a:lnTo>
                      <a:pt x="21" y="86"/>
                    </a:lnTo>
                    <a:lnTo>
                      <a:pt x="21" y="65"/>
                    </a:lnTo>
                    <a:lnTo>
                      <a:pt x="23" y="54"/>
                    </a:lnTo>
                    <a:lnTo>
                      <a:pt x="31" y="57"/>
                    </a:lnTo>
                    <a:lnTo>
                      <a:pt x="37" y="62"/>
                    </a:lnTo>
                    <a:lnTo>
                      <a:pt x="41" y="66"/>
                    </a:lnTo>
                    <a:lnTo>
                      <a:pt x="45" y="74"/>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78" name="Freeform 206">
                <a:extLst>
                  <a:ext uri="{FF2B5EF4-FFF2-40B4-BE49-F238E27FC236}">
                    <a16:creationId xmlns:a16="http://schemas.microsoft.com/office/drawing/2014/main" id="{A7567C44-6DAE-511B-B47C-69F89CBDFCA1}"/>
                  </a:ext>
                </a:extLst>
              </p:cNvPr>
              <p:cNvSpPr>
                <a:spLocks/>
              </p:cNvSpPr>
              <p:nvPr/>
            </p:nvSpPr>
            <p:spPr bwMode="auto">
              <a:xfrm>
                <a:off x="2116" y="2286"/>
                <a:ext cx="102" cy="120"/>
              </a:xfrm>
              <a:custGeom>
                <a:avLst/>
                <a:gdLst>
                  <a:gd name="T0" fmla="*/ 1 w 79"/>
                  <a:gd name="T1" fmla="*/ 69 h 134"/>
                  <a:gd name="T2" fmla="*/ 0 w 79"/>
                  <a:gd name="T3" fmla="*/ 84 h 134"/>
                  <a:gd name="T4" fmla="*/ 1 w 79"/>
                  <a:gd name="T5" fmla="*/ 92 h 134"/>
                  <a:gd name="T6" fmla="*/ 5 w 79"/>
                  <a:gd name="T7" fmla="*/ 100 h 134"/>
                  <a:gd name="T8" fmla="*/ 13 w 79"/>
                  <a:gd name="T9" fmla="*/ 113 h 134"/>
                  <a:gd name="T10" fmla="*/ 28 w 79"/>
                  <a:gd name="T11" fmla="*/ 125 h 134"/>
                  <a:gd name="T12" fmla="*/ 28 w 79"/>
                  <a:gd name="T13" fmla="*/ 114 h 134"/>
                  <a:gd name="T14" fmla="*/ 30 w 79"/>
                  <a:gd name="T15" fmla="*/ 106 h 134"/>
                  <a:gd name="T16" fmla="*/ 31 w 79"/>
                  <a:gd name="T17" fmla="*/ 98 h 134"/>
                  <a:gd name="T18" fmla="*/ 35 w 79"/>
                  <a:gd name="T19" fmla="*/ 93 h 134"/>
                  <a:gd name="T20" fmla="*/ 39 w 79"/>
                  <a:gd name="T21" fmla="*/ 92 h 134"/>
                  <a:gd name="T22" fmla="*/ 46 w 79"/>
                  <a:gd name="T23" fmla="*/ 94 h 134"/>
                  <a:gd name="T24" fmla="*/ 52 w 79"/>
                  <a:gd name="T25" fmla="*/ 98 h 134"/>
                  <a:gd name="T26" fmla="*/ 60 w 79"/>
                  <a:gd name="T27" fmla="*/ 106 h 134"/>
                  <a:gd name="T28" fmla="*/ 69 w 79"/>
                  <a:gd name="T29" fmla="*/ 118 h 134"/>
                  <a:gd name="T30" fmla="*/ 79 w 79"/>
                  <a:gd name="T31" fmla="*/ 134 h 134"/>
                  <a:gd name="T32" fmla="*/ 71 w 79"/>
                  <a:gd name="T33" fmla="*/ 106 h 134"/>
                  <a:gd name="T34" fmla="*/ 64 w 79"/>
                  <a:gd name="T35" fmla="*/ 82 h 134"/>
                  <a:gd name="T36" fmla="*/ 55 w 79"/>
                  <a:gd name="T37" fmla="*/ 62 h 134"/>
                  <a:gd name="T38" fmla="*/ 47 w 79"/>
                  <a:gd name="T39" fmla="*/ 44 h 134"/>
                  <a:gd name="T40" fmla="*/ 36 w 79"/>
                  <a:gd name="T41" fmla="*/ 28 h 134"/>
                  <a:gd name="T42" fmla="*/ 27 w 79"/>
                  <a:gd name="T43" fmla="*/ 16 h 134"/>
                  <a:gd name="T44" fmla="*/ 15 w 79"/>
                  <a:gd name="T45" fmla="*/ 6 h 134"/>
                  <a:gd name="T46" fmla="*/ 4 w 79"/>
                  <a:gd name="T47" fmla="*/ 0 h 134"/>
                  <a:gd name="T48" fmla="*/ 4 w 79"/>
                  <a:gd name="T49" fmla="*/ 4 h 134"/>
                  <a:gd name="T50" fmla="*/ 5 w 79"/>
                  <a:gd name="T51" fmla="*/ 10 h 134"/>
                  <a:gd name="T52" fmla="*/ 5 w 79"/>
                  <a:gd name="T53" fmla="*/ 24 h 134"/>
                  <a:gd name="T54" fmla="*/ 4 w 79"/>
                  <a:gd name="T55" fmla="*/ 33 h 134"/>
                  <a:gd name="T56" fmla="*/ 4 w 79"/>
                  <a:gd name="T57" fmla="*/ 44 h 134"/>
                  <a:gd name="T58" fmla="*/ 1 w 79"/>
                  <a:gd name="T59" fmla="*/ 6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134">
                    <a:moveTo>
                      <a:pt x="1" y="69"/>
                    </a:moveTo>
                    <a:lnTo>
                      <a:pt x="0" y="84"/>
                    </a:lnTo>
                    <a:lnTo>
                      <a:pt x="1" y="92"/>
                    </a:lnTo>
                    <a:lnTo>
                      <a:pt x="5" y="100"/>
                    </a:lnTo>
                    <a:lnTo>
                      <a:pt x="13" y="113"/>
                    </a:lnTo>
                    <a:lnTo>
                      <a:pt x="28" y="125"/>
                    </a:lnTo>
                    <a:lnTo>
                      <a:pt x="28" y="114"/>
                    </a:lnTo>
                    <a:lnTo>
                      <a:pt x="30" y="106"/>
                    </a:lnTo>
                    <a:lnTo>
                      <a:pt x="31" y="98"/>
                    </a:lnTo>
                    <a:lnTo>
                      <a:pt x="35" y="93"/>
                    </a:lnTo>
                    <a:lnTo>
                      <a:pt x="39" y="92"/>
                    </a:lnTo>
                    <a:lnTo>
                      <a:pt x="46" y="94"/>
                    </a:lnTo>
                    <a:lnTo>
                      <a:pt x="52" y="98"/>
                    </a:lnTo>
                    <a:lnTo>
                      <a:pt x="60" y="106"/>
                    </a:lnTo>
                    <a:lnTo>
                      <a:pt x="69" y="118"/>
                    </a:lnTo>
                    <a:lnTo>
                      <a:pt x="79" y="134"/>
                    </a:lnTo>
                    <a:lnTo>
                      <a:pt x="71" y="106"/>
                    </a:lnTo>
                    <a:lnTo>
                      <a:pt x="64" y="82"/>
                    </a:lnTo>
                    <a:lnTo>
                      <a:pt x="55" y="62"/>
                    </a:lnTo>
                    <a:lnTo>
                      <a:pt x="47" y="44"/>
                    </a:lnTo>
                    <a:lnTo>
                      <a:pt x="36" y="28"/>
                    </a:lnTo>
                    <a:lnTo>
                      <a:pt x="27" y="16"/>
                    </a:lnTo>
                    <a:lnTo>
                      <a:pt x="15" y="6"/>
                    </a:lnTo>
                    <a:lnTo>
                      <a:pt x="4" y="0"/>
                    </a:lnTo>
                    <a:lnTo>
                      <a:pt x="4" y="4"/>
                    </a:lnTo>
                    <a:lnTo>
                      <a:pt x="5" y="10"/>
                    </a:lnTo>
                    <a:lnTo>
                      <a:pt x="5" y="24"/>
                    </a:lnTo>
                    <a:lnTo>
                      <a:pt x="4" y="33"/>
                    </a:lnTo>
                    <a:lnTo>
                      <a:pt x="4" y="44"/>
                    </a:lnTo>
                    <a:lnTo>
                      <a:pt x="1" y="69"/>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79" name="Freeform 207">
                <a:extLst>
                  <a:ext uri="{FF2B5EF4-FFF2-40B4-BE49-F238E27FC236}">
                    <a16:creationId xmlns:a16="http://schemas.microsoft.com/office/drawing/2014/main" id="{FBD514E1-07A7-8E17-CB34-766AE75B0540}"/>
                  </a:ext>
                </a:extLst>
              </p:cNvPr>
              <p:cNvSpPr>
                <a:spLocks/>
              </p:cNvSpPr>
              <p:nvPr/>
            </p:nvSpPr>
            <p:spPr bwMode="auto">
              <a:xfrm>
                <a:off x="1920" y="2238"/>
                <a:ext cx="57" cy="92"/>
              </a:xfrm>
              <a:custGeom>
                <a:avLst/>
                <a:gdLst>
                  <a:gd name="T0" fmla="*/ 45 w 45"/>
                  <a:gd name="T1" fmla="*/ 59 h 104"/>
                  <a:gd name="T2" fmla="*/ 43 w 45"/>
                  <a:gd name="T3" fmla="*/ 53 h 104"/>
                  <a:gd name="T4" fmla="*/ 41 w 45"/>
                  <a:gd name="T5" fmla="*/ 48 h 104"/>
                  <a:gd name="T6" fmla="*/ 31 w 45"/>
                  <a:gd name="T7" fmla="*/ 40 h 104"/>
                  <a:gd name="T8" fmla="*/ 22 w 45"/>
                  <a:gd name="T9" fmla="*/ 32 h 104"/>
                  <a:gd name="T10" fmla="*/ 15 w 45"/>
                  <a:gd name="T11" fmla="*/ 23 h 104"/>
                  <a:gd name="T12" fmla="*/ 7 w 45"/>
                  <a:gd name="T13" fmla="*/ 12 h 104"/>
                  <a:gd name="T14" fmla="*/ 3 w 45"/>
                  <a:gd name="T15" fmla="*/ 0 h 104"/>
                  <a:gd name="T16" fmla="*/ 0 w 45"/>
                  <a:gd name="T17" fmla="*/ 4 h 104"/>
                  <a:gd name="T18" fmla="*/ 0 w 45"/>
                  <a:gd name="T19" fmla="*/ 12 h 104"/>
                  <a:gd name="T20" fmla="*/ 0 w 45"/>
                  <a:gd name="T21" fmla="*/ 33 h 104"/>
                  <a:gd name="T22" fmla="*/ 1 w 45"/>
                  <a:gd name="T23" fmla="*/ 53 h 104"/>
                  <a:gd name="T24" fmla="*/ 5 w 45"/>
                  <a:gd name="T25" fmla="*/ 74 h 104"/>
                  <a:gd name="T26" fmla="*/ 11 w 45"/>
                  <a:gd name="T27" fmla="*/ 89 h 104"/>
                  <a:gd name="T28" fmla="*/ 15 w 45"/>
                  <a:gd name="T29" fmla="*/ 96 h 104"/>
                  <a:gd name="T30" fmla="*/ 21 w 45"/>
                  <a:gd name="T31" fmla="*/ 104 h 104"/>
                  <a:gd name="T32" fmla="*/ 21 w 45"/>
                  <a:gd name="T33" fmla="*/ 86 h 104"/>
                  <a:gd name="T34" fmla="*/ 21 w 45"/>
                  <a:gd name="T35" fmla="*/ 65 h 104"/>
                  <a:gd name="T36" fmla="*/ 23 w 45"/>
                  <a:gd name="T37" fmla="*/ 54 h 104"/>
                  <a:gd name="T38" fmla="*/ 31 w 45"/>
                  <a:gd name="T39" fmla="*/ 57 h 104"/>
                  <a:gd name="T40" fmla="*/ 37 w 45"/>
                  <a:gd name="T41" fmla="*/ 62 h 104"/>
                  <a:gd name="T42" fmla="*/ 41 w 45"/>
                  <a:gd name="T43" fmla="*/ 66 h 104"/>
                  <a:gd name="T44" fmla="*/ 45 w 45"/>
                  <a:gd name="T45" fmla="*/ 74 h 104"/>
                  <a:gd name="T46" fmla="*/ 45 w 45"/>
                  <a:gd name="T47" fmla="*/ 5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5" h="104">
                    <a:moveTo>
                      <a:pt x="45" y="59"/>
                    </a:moveTo>
                    <a:lnTo>
                      <a:pt x="43" y="53"/>
                    </a:lnTo>
                    <a:lnTo>
                      <a:pt x="41" y="48"/>
                    </a:lnTo>
                    <a:lnTo>
                      <a:pt x="31" y="40"/>
                    </a:lnTo>
                    <a:lnTo>
                      <a:pt x="22" y="32"/>
                    </a:lnTo>
                    <a:lnTo>
                      <a:pt x="15" y="23"/>
                    </a:lnTo>
                    <a:lnTo>
                      <a:pt x="7" y="12"/>
                    </a:lnTo>
                    <a:lnTo>
                      <a:pt x="3" y="0"/>
                    </a:lnTo>
                    <a:lnTo>
                      <a:pt x="0" y="4"/>
                    </a:lnTo>
                    <a:lnTo>
                      <a:pt x="0" y="12"/>
                    </a:lnTo>
                    <a:lnTo>
                      <a:pt x="0" y="33"/>
                    </a:lnTo>
                    <a:lnTo>
                      <a:pt x="1" y="53"/>
                    </a:lnTo>
                    <a:lnTo>
                      <a:pt x="5" y="74"/>
                    </a:lnTo>
                    <a:lnTo>
                      <a:pt x="11" y="89"/>
                    </a:lnTo>
                    <a:lnTo>
                      <a:pt x="15" y="96"/>
                    </a:lnTo>
                    <a:lnTo>
                      <a:pt x="21" y="104"/>
                    </a:lnTo>
                    <a:lnTo>
                      <a:pt x="21" y="86"/>
                    </a:lnTo>
                    <a:lnTo>
                      <a:pt x="21" y="65"/>
                    </a:lnTo>
                    <a:lnTo>
                      <a:pt x="23" y="54"/>
                    </a:lnTo>
                    <a:lnTo>
                      <a:pt x="31" y="57"/>
                    </a:lnTo>
                    <a:lnTo>
                      <a:pt x="37" y="62"/>
                    </a:lnTo>
                    <a:lnTo>
                      <a:pt x="41" y="66"/>
                    </a:lnTo>
                    <a:lnTo>
                      <a:pt x="45" y="74"/>
                    </a:lnTo>
                    <a:lnTo>
                      <a:pt x="45" y="59"/>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80" name="Freeform 208">
                <a:extLst>
                  <a:ext uri="{FF2B5EF4-FFF2-40B4-BE49-F238E27FC236}">
                    <a16:creationId xmlns:a16="http://schemas.microsoft.com/office/drawing/2014/main" id="{3C942AB7-748A-58D0-BEDA-574CDE2991EB}"/>
                  </a:ext>
                </a:extLst>
              </p:cNvPr>
              <p:cNvSpPr>
                <a:spLocks/>
              </p:cNvSpPr>
              <p:nvPr/>
            </p:nvSpPr>
            <p:spPr bwMode="auto">
              <a:xfrm>
                <a:off x="2222" y="2419"/>
                <a:ext cx="298" cy="437"/>
              </a:xfrm>
              <a:custGeom>
                <a:avLst/>
                <a:gdLst>
                  <a:gd name="T0" fmla="*/ 26 w 236"/>
                  <a:gd name="T1" fmla="*/ 27 h 483"/>
                  <a:gd name="T2" fmla="*/ 19 w 236"/>
                  <a:gd name="T3" fmla="*/ 18 h 483"/>
                  <a:gd name="T4" fmla="*/ 13 w 236"/>
                  <a:gd name="T5" fmla="*/ 0 h 483"/>
                  <a:gd name="T6" fmla="*/ 0 w 236"/>
                  <a:gd name="T7" fmla="*/ 37 h 483"/>
                  <a:gd name="T8" fmla="*/ 11 w 236"/>
                  <a:gd name="T9" fmla="*/ 84 h 483"/>
                  <a:gd name="T10" fmla="*/ 25 w 236"/>
                  <a:gd name="T11" fmla="*/ 115 h 483"/>
                  <a:gd name="T12" fmla="*/ 47 w 236"/>
                  <a:gd name="T13" fmla="*/ 157 h 483"/>
                  <a:gd name="T14" fmla="*/ 48 w 236"/>
                  <a:gd name="T15" fmla="*/ 169 h 483"/>
                  <a:gd name="T16" fmla="*/ 46 w 236"/>
                  <a:gd name="T17" fmla="*/ 193 h 483"/>
                  <a:gd name="T18" fmla="*/ 37 w 236"/>
                  <a:gd name="T19" fmla="*/ 227 h 483"/>
                  <a:gd name="T20" fmla="*/ 28 w 236"/>
                  <a:gd name="T21" fmla="*/ 253 h 483"/>
                  <a:gd name="T22" fmla="*/ 18 w 236"/>
                  <a:gd name="T23" fmla="*/ 300 h 483"/>
                  <a:gd name="T24" fmla="*/ 18 w 236"/>
                  <a:gd name="T25" fmla="*/ 352 h 483"/>
                  <a:gd name="T26" fmla="*/ 35 w 236"/>
                  <a:gd name="T27" fmla="*/ 402 h 483"/>
                  <a:gd name="T28" fmla="*/ 52 w 236"/>
                  <a:gd name="T29" fmla="*/ 426 h 483"/>
                  <a:gd name="T30" fmla="*/ 71 w 236"/>
                  <a:gd name="T31" fmla="*/ 444 h 483"/>
                  <a:gd name="T32" fmla="*/ 97 w 236"/>
                  <a:gd name="T33" fmla="*/ 459 h 483"/>
                  <a:gd name="T34" fmla="*/ 131 w 236"/>
                  <a:gd name="T35" fmla="*/ 471 h 483"/>
                  <a:gd name="T36" fmla="*/ 170 w 236"/>
                  <a:gd name="T37" fmla="*/ 479 h 483"/>
                  <a:gd name="T38" fmla="*/ 209 w 236"/>
                  <a:gd name="T39" fmla="*/ 465 h 483"/>
                  <a:gd name="T40" fmla="*/ 229 w 236"/>
                  <a:gd name="T41" fmla="*/ 431 h 483"/>
                  <a:gd name="T42" fmla="*/ 236 w 236"/>
                  <a:gd name="T43" fmla="*/ 397 h 483"/>
                  <a:gd name="T44" fmla="*/ 228 w 236"/>
                  <a:gd name="T45" fmla="*/ 366 h 483"/>
                  <a:gd name="T46" fmla="*/ 204 w 236"/>
                  <a:gd name="T47" fmla="*/ 336 h 483"/>
                  <a:gd name="T48" fmla="*/ 182 w 236"/>
                  <a:gd name="T49" fmla="*/ 312 h 483"/>
                  <a:gd name="T50" fmla="*/ 166 w 236"/>
                  <a:gd name="T51" fmla="*/ 289 h 483"/>
                  <a:gd name="T52" fmla="*/ 154 w 236"/>
                  <a:gd name="T53" fmla="*/ 264 h 483"/>
                  <a:gd name="T54" fmla="*/ 150 w 236"/>
                  <a:gd name="T55" fmla="*/ 221 h 483"/>
                  <a:gd name="T56" fmla="*/ 140 w 236"/>
                  <a:gd name="T57" fmla="*/ 163 h 483"/>
                  <a:gd name="T58" fmla="*/ 124 w 236"/>
                  <a:gd name="T59" fmla="*/ 118 h 483"/>
                  <a:gd name="T60" fmla="*/ 113 w 236"/>
                  <a:gd name="T61" fmla="*/ 99 h 483"/>
                  <a:gd name="T62" fmla="*/ 84 w 236"/>
                  <a:gd name="T63" fmla="*/ 67 h 483"/>
                  <a:gd name="T64" fmla="*/ 64 w 236"/>
                  <a:gd name="T65" fmla="*/ 52 h 483"/>
                  <a:gd name="T66" fmla="*/ 53 w 236"/>
                  <a:gd name="T67" fmla="*/ 45 h 483"/>
                  <a:gd name="T68" fmla="*/ 37 w 236"/>
                  <a:gd name="T69" fmla="*/ 36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6" h="483">
                    <a:moveTo>
                      <a:pt x="37" y="36"/>
                    </a:moveTo>
                    <a:lnTo>
                      <a:pt x="26" y="27"/>
                    </a:lnTo>
                    <a:lnTo>
                      <a:pt x="22" y="22"/>
                    </a:lnTo>
                    <a:lnTo>
                      <a:pt x="19" y="18"/>
                    </a:lnTo>
                    <a:lnTo>
                      <a:pt x="14" y="9"/>
                    </a:lnTo>
                    <a:lnTo>
                      <a:pt x="13" y="0"/>
                    </a:lnTo>
                    <a:lnTo>
                      <a:pt x="4" y="17"/>
                    </a:lnTo>
                    <a:lnTo>
                      <a:pt x="0" y="37"/>
                    </a:lnTo>
                    <a:lnTo>
                      <a:pt x="2" y="59"/>
                    </a:lnTo>
                    <a:lnTo>
                      <a:pt x="11" y="84"/>
                    </a:lnTo>
                    <a:lnTo>
                      <a:pt x="17" y="97"/>
                    </a:lnTo>
                    <a:lnTo>
                      <a:pt x="25" y="115"/>
                    </a:lnTo>
                    <a:lnTo>
                      <a:pt x="35" y="135"/>
                    </a:lnTo>
                    <a:lnTo>
                      <a:pt x="47" y="157"/>
                    </a:lnTo>
                    <a:lnTo>
                      <a:pt x="47" y="162"/>
                    </a:lnTo>
                    <a:lnTo>
                      <a:pt x="48" y="169"/>
                    </a:lnTo>
                    <a:lnTo>
                      <a:pt x="48" y="185"/>
                    </a:lnTo>
                    <a:lnTo>
                      <a:pt x="46" y="193"/>
                    </a:lnTo>
                    <a:lnTo>
                      <a:pt x="43" y="204"/>
                    </a:lnTo>
                    <a:lnTo>
                      <a:pt x="37" y="227"/>
                    </a:lnTo>
                    <a:lnTo>
                      <a:pt x="31" y="240"/>
                    </a:lnTo>
                    <a:lnTo>
                      <a:pt x="28" y="253"/>
                    </a:lnTo>
                    <a:lnTo>
                      <a:pt x="22" y="279"/>
                    </a:lnTo>
                    <a:lnTo>
                      <a:pt x="18" y="300"/>
                    </a:lnTo>
                    <a:lnTo>
                      <a:pt x="17" y="321"/>
                    </a:lnTo>
                    <a:lnTo>
                      <a:pt x="18" y="352"/>
                    </a:lnTo>
                    <a:lnTo>
                      <a:pt x="29" y="387"/>
                    </a:lnTo>
                    <a:lnTo>
                      <a:pt x="35" y="402"/>
                    </a:lnTo>
                    <a:lnTo>
                      <a:pt x="43" y="415"/>
                    </a:lnTo>
                    <a:lnTo>
                      <a:pt x="52" y="426"/>
                    </a:lnTo>
                    <a:lnTo>
                      <a:pt x="61" y="437"/>
                    </a:lnTo>
                    <a:lnTo>
                      <a:pt x="71" y="444"/>
                    </a:lnTo>
                    <a:lnTo>
                      <a:pt x="84" y="453"/>
                    </a:lnTo>
                    <a:lnTo>
                      <a:pt x="97" y="459"/>
                    </a:lnTo>
                    <a:lnTo>
                      <a:pt x="114" y="466"/>
                    </a:lnTo>
                    <a:lnTo>
                      <a:pt x="131" y="471"/>
                    </a:lnTo>
                    <a:lnTo>
                      <a:pt x="150" y="475"/>
                    </a:lnTo>
                    <a:lnTo>
                      <a:pt x="170" y="479"/>
                    </a:lnTo>
                    <a:lnTo>
                      <a:pt x="193" y="483"/>
                    </a:lnTo>
                    <a:lnTo>
                      <a:pt x="209" y="465"/>
                    </a:lnTo>
                    <a:lnTo>
                      <a:pt x="221" y="448"/>
                    </a:lnTo>
                    <a:lnTo>
                      <a:pt x="229" y="431"/>
                    </a:lnTo>
                    <a:lnTo>
                      <a:pt x="235" y="414"/>
                    </a:lnTo>
                    <a:lnTo>
                      <a:pt x="236" y="397"/>
                    </a:lnTo>
                    <a:lnTo>
                      <a:pt x="234" y="382"/>
                    </a:lnTo>
                    <a:lnTo>
                      <a:pt x="228" y="366"/>
                    </a:lnTo>
                    <a:lnTo>
                      <a:pt x="220" y="352"/>
                    </a:lnTo>
                    <a:lnTo>
                      <a:pt x="204" y="336"/>
                    </a:lnTo>
                    <a:lnTo>
                      <a:pt x="193" y="323"/>
                    </a:lnTo>
                    <a:lnTo>
                      <a:pt x="182" y="312"/>
                    </a:lnTo>
                    <a:lnTo>
                      <a:pt x="176" y="304"/>
                    </a:lnTo>
                    <a:lnTo>
                      <a:pt x="166" y="289"/>
                    </a:lnTo>
                    <a:lnTo>
                      <a:pt x="158" y="276"/>
                    </a:lnTo>
                    <a:lnTo>
                      <a:pt x="154" y="264"/>
                    </a:lnTo>
                    <a:lnTo>
                      <a:pt x="152" y="253"/>
                    </a:lnTo>
                    <a:lnTo>
                      <a:pt x="150" y="221"/>
                    </a:lnTo>
                    <a:lnTo>
                      <a:pt x="146" y="191"/>
                    </a:lnTo>
                    <a:lnTo>
                      <a:pt x="140" y="163"/>
                    </a:lnTo>
                    <a:lnTo>
                      <a:pt x="134" y="141"/>
                    </a:lnTo>
                    <a:lnTo>
                      <a:pt x="124" y="118"/>
                    </a:lnTo>
                    <a:lnTo>
                      <a:pt x="118" y="107"/>
                    </a:lnTo>
                    <a:lnTo>
                      <a:pt x="113" y="99"/>
                    </a:lnTo>
                    <a:lnTo>
                      <a:pt x="100" y="81"/>
                    </a:lnTo>
                    <a:lnTo>
                      <a:pt x="84" y="67"/>
                    </a:lnTo>
                    <a:lnTo>
                      <a:pt x="74" y="59"/>
                    </a:lnTo>
                    <a:lnTo>
                      <a:pt x="64" y="52"/>
                    </a:lnTo>
                    <a:lnTo>
                      <a:pt x="56" y="47"/>
                    </a:lnTo>
                    <a:lnTo>
                      <a:pt x="53" y="45"/>
                    </a:lnTo>
                    <a:lnTo>
                      <a:pt x="50" y="43"/>
                    </a:lnTo>
                    <a:lnTo>
                      <a:pt x="37" y="36"/>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681" name="Freeform 209">
                <a:extLst>
                  <a:ext uri="{FF2B5EF4-FFF2-40B4-BE49-F238E27FC236}">
                    <a16:creationId xmlns:a16="http://schemas.microsoft.com/office/drawing/2014/main" id="{23F42AEC-9362-553F-B673-DA67A34611D7}"/>
                  </a:ext>
                </a:extLst>
              </p:cNvPr>
              <p:cNvSpPr>
                <a:spLocks/>
              </p:cNvSpPr>
              <p:nvPr/>
            </p:nvSpPr>
            <p:spPr bwMode="auto">
              <a:xfrm>
                <a:off x="2445" y="2330"/>
                <a:ext cx="102" cy="108"/>
              </a:xfrm>
              <a:custGeom>
                <a:avLst/>
                <a:gdLst>
                  <a:gd name="T0" fmla="*/ 82 w 82"/>
                  <a:gd name="T1" fmla="*/ 77 h 120"/>
                  <a:gd name="T2" fmla="*/ 82 w 82"/>
                  <a:gd name="T3" fmla="*/ 68 h 120"/>
                  <a:gd name="T4" fmla="*/ 63 w 82"/>
                  <a:gd name="T5" fmla="*/ 57 h 120"/>
                  <a:gd name="T6" fmla="*/ 48 w 82"/>
                  <a:gd name="T7" fmla="*/ 51 h 120"/>
                  <a:gd name="T8" fmla="*/ 39 w 82"/>
                  <a:gd name="T9" fmla="*/ 45 h 120"/>
                  <a:gd name="T10" fmla="*/ 34 w 82"/>
                  <a:gd name="T11" fmla="*/ 42 h 120"/>
                  <a:gd name="T12" fmla="*/ 28 w 82"/>
                  <a:gd name="T13" fmla="*/ 34 h 120"/>
                  <a:gd name="T14" fmla="*/ 26 w 82"/>
                  <a:gd name="T15" fmla="*/ 24 h 120"/>
                  <a:gd name="T16" fmla="*/ 24 w 82"/>
                  <a:gd name="T17" fmla="*/ 14 h 120"/>
                  <a:gd name="T18" fmla="*/ 28 w 82"/>
                  <a:gd name="T19" fmla="*/ 0 h 120"/>
                  <a:gd name="T20" fmla="*/ 14 w 82"/>
                  <a:gd name="T21" fmla="*/ 0 h 120"/>
                  <a:gd name="T22" fmla="*/ 6 w 82"/>
                  <a:gd name="T23" fmla="*/ 9 h 120"/>
                  <a:gd name="T24" fmla="*/ 3 w 82"/>
                  <a:gd name="T25" fmla="*/ 17 h 120"/>
                  <a:gd name="T26" fmla="*/ 0 w 82"/>
                  <a:gd name="T27" fmla="*/ 24 h 120"/>
                  <a:gd name="T28" fmla="*/ 0 w 82"/>
                  <a:gd name="T29" fmla="*/ 32 h 120"/>
                  <a:gd name="T30" fmla="*/ 0 w 82"/>
                  <a:gd name="T31" fmla="*/ 48 h 120"/>
                  <a:gd name="T32" fmla="*/ 4 w 82"/>
                  <a:gd name="T33" fmla="*/ 64 h 120"/>
                  <a:gd name="T34" fmla="*/ 10 w 82"/>
                  <a:gd name="T35" fmla="*/ 78 h 120"/>
                  <a:gd name="T36" fmla="*/ 18 w 82"/>
                  <a:gd name="T37" fmla="*/ 93 h 120"/>
                  <a:gd name="T38" fmla="*/ 30 w 82"/>
                  <a:gd name="T39" fmla="*/ 106 h 120"/>
                  <a:gd name="T40" fmla="*/ 51 w 82"/>
                  <a:gd name="T41" fmla="*/ 120 h 120"/>
                  <a:gd name="T42" fmla="*/ 47 w 82"/>
                  <a:gd name="T43" fmla="*/ 108 h 120"/>
                  <a:gd name="T44" fmla="*/ 46 w 82"/>
                  <a:gd name="T45" fmla="*/ 100 h 120"/>
                  <a:gd name="T46" fmla="*/ 50 w 82"/>
                  <a:gd name="T47" fmla="*/ 90 h 120"/>
                  <a:gd name="T48" fmla="*/ 53 w 82"/>
                  <a:gd name="T49" fmla="*/ 86 h 120"/>
                  <a:gd name="T50" fmla="*/ 62 w 82"/>
                  <a:gd name="T51" fmla="*/ 83 h 120"/>
                  <a:gd name="T52" fmla="*/ 66 w 82"/>
                  <a:gd name="T53" fmla="*/ 80 h 120"/>
                  <a:gd name="T54" fmla="*/ 72 w 82"/>
                  <a:gd name="T55" fmla="*/ 78 h 120"/>
                  <a:gd name="T56" fmla="*/ 82 w 82"/>
                  <a:gd name="T57" fmla="*/ 77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 h="120">
                    <a:moveTo>
                      <a:pt x="82" y="77"/>
                    </a:moveTo>
                    <a:lnTo>
                      <a:pt x="82" y="68"/>
                    </a:lnTo>
                    <a:lnTo>
                      <a:pt x="63" y="57"/>
                    </a:lnTo>
                    <a:lnTo>
                      <a:pt x="48" y="51"/>
                    </a:lnTo>
                    <a:lnTo>
                      <a:pt x="39" y="45"/>
                    </a:lnTo>
                    <a:lnTo>
                      <a:pt x="34" y="42"/>
                    </a:lnTo>
                    <a:lnTo>
                      <a:pt x="28" y="34"/>
                    </a:lnTo>
                    <a:lnTo>
                      <a:pt x="26" y="24"/>
                    </a:lnTo>
                    <a:lnTo>
                      <a:pt x="24" y="14"/>
                    </a:lnTo>
                    <a:lnTo>
                      <a:pt x="28" y="0"/>
                    </a:lnTo>
                    <a:lnTo>
                      <a:pt x="14" y="0"/>
                    </a:lnTo>
                    <a:lnTo>
                      <a:pt x="6" y="9"/>
                    </a:lnTo>
                    <a:lnTo>
                      <a:pt x="3" y="17"/>
                    </a:lnTo>
                    <a:lnTo>
                      <a:pt x="0" y="24"/>
                    </a:lnTo>
                    <a:lnTo>
                      <a:pt x="0" y="32"/>
                    </a:lnTo>
                    <a:lnTo>
                      <a:pt x="0" y="48"/>
                    </a:lnTo>
                    <a:lnTo>
                      <a:pt x="4" y="64"/>
                    </a:lnTo>
                    <a:lnTo>
                      <a:pt x="10" y="78"/>
                    </a:lnTo>
                    <a:lnTo>
                      <a:pt x="18" y="93"/>
                    </a:lnTo>
                    <a:lnTo>
                      <a:pt x="30" y="106"/>
                    </a:lnTo>
                    <a:lnTo>
                      <a:pt x="51" y="120"/>
                    </a:lnTo>
                    <a:lnTo>
                      <a:pt x="47" y="108"/>
                    </a:lnTo>
                    <a:lnTo>
                      <a:pt x="46" y="100"/>
                    </a:lnTo>
                    <a:lnTo>
                      <a:pt x="50" y="90"/>
                    </a:lnTo>
                    <a:lnTo>
                      <a:pt x="53" y="86"/>
                    </a:lnTo>
                    <a:lnTo>
                      <a:pt x="62" y="83"/>
                    </a:lnTo>
                    <a:lnTo>
                      <a:pt x="66" y="80"/>
                    </a:lnTo>
                    <a:lnTo>
                      <a:pt x="72" y="78"/>
                    </a:lnTo>
                    <a:lnTo>
                      <a:pt x="82" y="77"/>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82" name="Line 210">
                <a:extLst>
                  <a:ext uri="{FF2B5EF4-FFF2-40B4-BE49-F238E27FC236}">
                    <a16:creationId xmlns:a16="http://schemas.microsoft.com/office/drawing/2014/main" id="{AB8E0C81-E3FF-051A-727B-35B9E81F33DF}"/>
                  </a:ext>
                </a:extLst>
              </p:cNvPr>
              <p:cNvSpPr>
                <a:spLocks noChangeShapeType="1"/>
              </p:cNvSpPr>
              <p:nvPr/>
            </p:nvSpPr>
            <p:spPr bwMode="auto">
              <a:xfrm flipH="1" flipV="1">
                <a:off x="2509" y="2438"/>
                <a:ext cx="4" cy="8"/>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683" name="Freeform 211">
                <a:extLst>
                  <a:ext uri="{FF2B5EF4-FFF2-40B4-BE49-F238E27FC236}">
                    <a16:creationId xmlns:a16="http://schemas.microsoft.com/office/drawing/2014/main" id="{9E2A12B9-AA89-FCCF-831B-CF4B06642653}"/>
                  </a:ext>
                </a:extLst>
              </p:cNvPr>
              <p:cNvSpPr>
                <a:spLocks/>
              </p:cNvSpPr>
              <p:nvPr/>
            </p:nvSpPr>
            <p:spPr bwMode="auto">
              <a:xfrm>
                <a:off x="2445" y="2330"/>
                <a:ext cx="102" cy="108"/>
              </a:xfrm>
              <a:custGeom>
                <a:avLst/>
                <a:gdLst>
                  <a:gd name="T0" fmla="*/ 51 w 82"/>
                  <a:gd name="T1" fmla="*/ 120 h 120"/>
                  <a:gd name="T2" fmla="*/ 47 w 82"/>
                  <a:gd name="T3" fmla="*/ 108 h 120"/>
                  <a:gd name="T4" fmla="*/ 46 w 82"/>
                  <a:gd name="T5" fmla="*/ 100 h 120"/>
                  <a:gd name="T6" fmla="*/ 50 w 82"/>
                  <a:gd name="T7" fmla="*/ 90 h 120"/>
                  <a:gd name="T8" fmla="*/ 53 w 82"/>
                  <a:gd name="T9" fmla="*/ 86 h 120"/>
                  <a:gd name="T10" fmla="*/ 62 w 82"/>
                  <a:gd name="T11" fmla="*/ 83 h 120"/>
                  <a:gd name="T12" fmla="*/ 66 w 82"/>
                  <a:gd name="T13" fmla="*/ 80 h 120"/>
                  <a:gd name="T14" fmla="*/ 72 w 82"/>
                  <a:gd name="T15" fmla="*/ 78 h 120"/>
                  <a:gd name="T16" fmla="*/ 82 w 82"/>
                  <a:gd name="T17" fmla="*/ 77 h 120"/>
                  <a:gd name="T18" fmla="*/ 82 w 82"/>
                  <a:gd name="T19" fmla="*/ 68 h 120"/>
                  <a:gd name="T20" fmla="*/ 63 w 82"/>
                  <a:gd name="T21" fmla="*/ 57 h 120"/>
                  <a:gd name="T22" fmla="*/ 48 w 82"/>
                  <a:gd name="T23" fmla="*/ 51 h 120"/>
                  <a:gd name="T24" fmla="*/ 39 w 82"/>
                  <a:gd name="T25" fmla="*/ 45 h 120"/>
                  <a:gd name="T26" fmla="*/ 34 w 82"/>
                  <a:gd name="T27" fmla="*/ 42 h 120"/>
                  <a:gd name="T28" fmla="*/ 28 w 82"/>
                  <a:gd name="T29" fmla="*/ 34 h 120"/>
                  <a:gd name="T30" fmla="*/ 26 w 82"/>
                  <a:gd name="T31" fmla="*/ 24 h 120"/>
                  <a:gd name="T32" fmla="*/ 24 w 82"/>
                  <a:gd name="T33" fmla="*/ 14 h 120"/>
                  <a:gd name="T34" fmla="*/ 28 w 82"/>
                  <a:gd name="T35" fmla="*/ 0 h 120"/>
                  <a:gd name="T36" fmla="*/ 14 w 82"/>
                  <a:gd name="T37" fmla="*/ 0 h 120"/>
                  <a:gd name="T38" fmla="*/ 6 w 82"/>
                  <a:gd name="T39" fmla="*/ 9 h 120"/>
                  <a:gd name="T40" fmla="*/ 3 w 82"/>
                  <a:gd name="T41" fmla="*/ 17 h 120"/>
                  <a:gd name="T42" fmla="*/ 0 w 82"/>
                  <a:gd name="T43" fmla="*/ 24 h 120"/>
                  <a:gd name="T44" fmla="*/ 0 w 82"/>
                  <a:gd name="T45" fmla="*/ 32 h 120"/>
                  <a:gd name="T46" fmla="*/ 0 w 82"/>
                  <a:gd name="T47" fmla="*/ 48 h 120"/>
                  <a:gd name="T48" fmla="*/ 4 w 82"/>
                  <a:gd name="T49" fmla="*/ 64 h 120"/>
                  <a:gd name="T50" fmla="*/ 10 w 82"/>
                  <a:gd name="T51" fmla="*/ 78 h 120"/>
                  <a:gd name="T52" fmla="*/ 18 w 82"/>
                  <a:gd name="T53" fmla="*/ 93 h 120"/>
                  <a:gd name="T54" fmla="*/ 30 w 82"/>
                  <a:gd name="T55" fmla="*/ 106 h 120"/>
                  <a:gd name="T56" fmla="*/ 51 w 82"/>
                  <a:gd name="T57"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 h="120">
                    <a:moveTo>
                      <a:pt x="51" y="120"/>
                    </a:moveTo>
                    <a:lnTo>
                      <a:pt x="47" y="108"/>
                    </a:lnTo>
                    <a:lnTo>
                      <a:pt x="46" y="100"/>
                    </a:lnTo>
                    <a:lnTo>
                      <a:pt x="50" y="90"/>
                    </a:lnTo>
                    <a:lnTo>
                      <a:pt x="53" y="86"/>
                    </a:lnTo>
                    <a:lnTo>
                      <a:pt x="62" y="83"/>
                    </a:lnTo>
                    <a:lnTo>
                      <a:pt x="66" y="80"/>
                    </a:lnTo>
                    <a:lnTo>
                      <a:pt x="72" y="78"/>
                    </a:lnTo>
                    <a:lnTo>
                      <a:pt x="82" y="77"/>
                    </a:lnTo>
                    <a:lnTo>
                      <a:pt x="82" y="68"/>
                    </a:lnTo>
                    <a:lnTo>
                      <a:pt x="63" y="57"/>
                    </a:lnTo>
                    <a:lnTo>
                      <a:pt x="48" y="51"/>
                    </a:lnTo>
                    <a:lnTo>
                      <a:pt x="39" y="45"/>
                    </a:lnTo>
                    <a:lnTo>
                      <a:pt x="34" y="42"/>
                    </a:lnTo>
                    <a:lnTo>
                      <a:pt x="28" y="34"/>
                    </a:lnTo>
                    <a:lnTo>
                      <a:pt x="26" y="24"/>
                    </a:lnTo>
                    <a:lnTo>
                      <a:pt x="24" y="14"/>
                    </a:lnTo>
                    <a:lnTo>
                      <a:pt x="28" y="0"/>
                    </a:lnTo>
                    <a:lnTo>
                      <a:pt x="14" y="0"/>
                    </a:lnTo>
                    <a:lnTo>
                      <a:pt x="6" y="9"/>
                    </a:lnTo>
                    <a:lnTo>
                      <a:pt x="3" y="17"/>
                    </a:lnTo>
                    <a:lnTo>
                      <a:pt x="0" y="24"/>
                    </a:lnTo>
                    <a:lnTo>
                      <a:pt x="0" y="32"/>
                    </a:lnTo>
                    <a:lnTo>
                      <a:pt x="0" y="48"/>
                    </a:lnTo>
                    <a:lnTo>
                      <a:pt x="4" y="64"/>
                    </a:lnTo>
                    <a:lnTo>
                      <a:pt x="10" y="78"/>
                    </a:lnTo>
                    <a:lnTo>
                      <a:pt x="18" y="93"/>
                    </a:lnTo>
                    <a:lnTo>
                      <a:pt x="30" y="106"/>
                    </a:lnTo>
                    <a:lnTo>
                      <a:pt x="51" y="120"/>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grpSp>
          <p:nvGrpSpPr>
            <p:cNvPr id="105684" name="Group 212">
              <a:extLst>
                <a:ext uri="{FF2B5EF4-FFF2-40B4-BE49-F238E27FC236}">
                  <a16:creationId xmlns:a16="http://schemas.microsoft.com/office/drawing/2014/main" id="{EE93D0FF-31F3-9AC4-BC54-A791A5BEF3FC}"/>
                </a:ext>
              </a:extLst>
            </p:cNvPr>
            <p:cNvGrpSpPr>
              <a:grpSpLocks/>
            </p:cNvGrpSpPr>
            <p:nvPr/>
          </p:nvGrpSpPr>
          <p:grpSpPr bwMode="auto">
            <a:xfrm>
              <a:off x="1632" y="3360"/>
              <a:ext cx="496" cy="498"/>
              <a:chOff x="1920" y="1584"/>
              <a:chExt cx="1842" cy="1272"/>
            </a:xfrm>
          </p:grpSpPr>
          <p:sp>
            <p:nvSpPr>
              <p:cNvPr id="105685" name="Freeform 213">
                <a:extLst>
                  <a:ext uri="{FF2B5EF4-FFF2-40B4-BE49-F238E27FC236}">
                    <a16:creationId xmlns:a16="http://schemas.microsoft.com/office/drawing/2014/main" id="{1946D84E-10B5-97D9-66E4-9EE1F58A254C}"/>
                  </a:ext>
                </a:extLst>
              </p:cNvPr>
              <p:cNvSpPr>
                <a:spLocks/>
              </p:cNvSpPr>
              <p:nvPr/>
            </p:nvSpPr>
            <p:spPr bwMode="auto">
              <a:xfrm>
                <a:off x="3437" y="1603"/>
                <a:ext cx="80" cy="168"/>
              </a:xfrm>
              <a:custGeom>
                <a:avLst/>
                <a:gdLst>
                  <a:gd name="T0" fmla="*/ 63 w 63"/>
                  <a:gd name="T1" fmla="*/ 162 h 188"/>
                  <a:gd name="T2" fmla="*/ 63 w 63"/>
                  <a:gd name="T3" fmla="*/ 0 h 188"/>
                  <a:gd name="T4" fmla="*/ 0 w 63"/>
                  <a:gd name="T5" fmla="*/ 22 h 188"/>
                  <a:gd name="T6" fmla="*/ 0 w 63"/>
                  <a:gd name="T7" fmla="*/ 188 h 188"/>
                  <a:gd name="T8" fmla="*/ 63 w 63"/>
                  <a:gd name="T9" fmla="*/ 162 h 188"/>
                </a:gdLst>
                <a:ahLst/>
                <a:cxnLst>
                  <a:cxn ang="0">
                    <a:pos x="T0" y="T1"/>
                  </a:cxn>
                  <a:cxn ang="0">
                    <a:pos x="T2" y="T3"/>
                  </a:cxn>
                  <a:cxn ang="0">
                    <a:pos x="T4" y="T5"/>
                  </a:cxn>
                  <a:cxn ang="0">
                    <a:pos x="T6" y="T7"/>
                  </a:cxn>
                  <a:cxn ang="0">
                    <a:pos x="T8" y="T9"/>
                  </a:cxn>
                </a:cxnLst>
                <a:rect l="0" t="0" r="r" b="b"/>
                <a:pathLst>
                  <a:path w="63" h="188">
                    <a:moveTo>
                      <a:pt x="63" y="162"/>
                    </a:moveTo>
                    <a:lnTo>
                      <a:pt x="63" y="0"/>
                    </a:lnTo>
                    <a:lnTo>
                      <a:pt x="0" y="22"/>
                    </a:lnTo>
                    <a:lnTo>
                      <a:pt x="0" y="188"/>
                    </a:lnTo>
                    <a:lnTo>
                      <a:pt x="63" y="162"/>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86" name="Freeform 214">
                <a:extLst>
                  <a:ext uri="{FF2B5EF4-FFF2-40B4-BE49-F238E27FC236}">
                    <a16:creationId xmlns:a16="http://schemas.microsoft.com/office/drawing/2014/main" id="{E3D97A17-DB5D-48DF-0635-5D737C7199D1}"/>
                  </a:ext>
                </a:extLst>
              </p:cNvPr>
              <p:cNvSpPr>
                <a:spLocks/>
              </p:cNvSpPr>
              <p:nvPr/>
            </p:nvSpPr>
            <p:spPr bwMode="auto">
              <a:xfrm>
                <a:off x="2120" y="1584"/>
                <a:ext cx="1397" cy="323"/>
              </a:xfrm>
              <a:custGeom>
                <a:avLst/>
                <a:gdLst>
                  <a:gd name="T0" fmla="*/ 1046 w 1109"/>
                  <a:gd name="T1" fmla="*/ 42 h 356"/>
                  <a:gd name="T2" fmla="*/ 1109 w 1109"/>
                  <a:gd name="T3" fmla="*/ 20 h 356"/>
                  <a:gd name="T4" fmla="*/ 1005 w 1109"/>
                  <a:gd name="T5" fmla="*/ 0 h 356"/>
                  <a:gd name="T6" fmla="*/ 0 w 1109"/>
                  <a:gd name="T7" fmla="*/ 320 h 356"/>
                  <a:gd name="T8" fmla="*/ 105 w 1109"/>
                  <a:gd name="T9" fmla="*/ 356 h 356"/>
                  <a:gd name="T10" fmla="*/ 403 w 1109"/>
                  <a:gd name="T11" fmla="*/ 257 h 356"/>
                  <a:gd name="T12" fmla="*/ 404 w 1109"/>
                  <a:gd name="T13" fmla="*/ 257 h 356"/>
                  <a:gd name="T14" fmla="*/ 760 w 1109"/>
                  <a:gd name="T15" fmla="*/ 137 h 356"/>
                  <a:gd name="T16" fmla="*/ 1046 w 1109"/>
                  <a:gd name="T17" fmla="*/ 42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09" h="356">
                    <a:moveTo>
                      <a:pt x="1046" y="42"/>
                    </a:moveTo>
                    <a:lnTo>
                      <a:pt x="1109" y="20"/>
                    </a:lnTo>
                    <a:lnTo>
                      <a:pt x="1005" y="0"/>
                    </a:lnTo>
                    <a:lnTo>
                      <a:pt x="0" y="320"/>
                    </a:lnTo>
                    <a:lnTo>
                      <a:pt x="105" y="356"/>
                    </a:lnTo>
                    <a:lnTo>
                      <a:pt x="403" y="257"/>
                    </a:lnTo>
                    <a:lnTo>
                      <a:pt x="404" y="257"/>
                    </a:lnTo>
                    <a:lnTo>
                      <a:pt x="760" y="137"/>
                    </a:lnTo>
                    <a:lnTo>
                      <a:pt x="1046" y="42"/>
                    </a:lnTo>
                    <a:close/>
                  </a:path>
                </a:pathLst>
              </a:custGeom>
              <a:solidFill>
                <a:srgbClr val="FED7A4"/>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87" name="Freeform 215">
                <a:extLst>
                  <a:ext uri="{FF2B5EF4-FFF2-40B4-BE49-F238E27FC236}">
                    <a16:creationId xmlns:a16="http://schemas.microsoft.com/office/drawing/2014/main" id="{10AFE7C2-EFA1-04B2-5FDB-4F3437C6890E}"/>
                  </a:ext>
                </a:extLst>
              </p:cNvPr>
              <p:cNvSpPr>
                <a:spLocks/>
              </p:cNvSpPr>
              <p:nvPr/>
            </p:nvSpPr>
            <p:spPr bwMode="auto">
              <a:xfrm>
                <a:off x="2886" y="1817"/>
                <a:ext cx="393" cy="304"/>
              </a:xfrm>
              <a:custGeom>
                <a:avLst/>
                <a:gdLst>
                  <a:gd name="T0" fmla="*/ 314 w 314"/>
                  <a:gd name="T1" fmla="*/ 199 h 336"/>
                  <a:gd name="T2" fmla="*/ 314 w 314"/>
                  <a:gd name="T3" fmla="*/ 0 h 336"/>
                  <a:gd name="T4" fmla="*/ 153 w 314"/>
                  <a:gd name="T5" fmla="*/ 62 h 336"/>
                  <a:gd name="T6" fmla="*/ 2 w 314"/>
                  <a:gd name="T7" fmla="*/ 121 h 336"/>
                  <a:gd name="T8" fmla="*/ 0 w 314"/>
                  <a:gd name="T9" fmla="*/ 122 h 336"/>
                  <a:gd name="T10" fmla="*/ 0 w 314"/>
                  <a:gd name="T11" fmla="*/ 336 h 336"/>
                  <a:gd name="T12" fmla="*/ 165 w 314"/>
                  <a:gd name="T13" fmla="*/ 264 h 336"/>
                  <a:gd name="T14" fmla="*/ 314 w 314"/>
                  <a:gd name="T15" fmla="*/ 199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4" h="336">
                    <a:moveTo>
                      <a:pt x="314" y="199"/>
                    </a:moveTo>
                    <a:lnTo>
                      <a:pt x="314" y="0"/>
                    </a:lnTo>
                    <a:lnTo>
                      <a:pt x="153" y="62"/>
                    </a:lnTo>
                    <a:lnTo>
                      <a:pt x="2" y="121"/>
                    </a:lnTo>
                    <a:lnTo>
                      <a:pt x="0" y="122"/>
                    </a:lnTo>
                    <a:lnTo>
                      <a:pt x="0" y="336"/>
                    </a:lnTo>
                    <a:lnTo>
                      <a:pt x="165" y="264"/>
                    </a:lnTo>
                    <a:lnTo>
                      <a:pt x="314" y="199"/>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88" name="Freeform 216">
                <a:extLst>
                  <a:ext uri="{FF2B5EF4-FFF2-40B4-BE49-F238E27FC236}">
                    <a16:creationId xmlns:a16="http://schemas.microsoft.com/office/drawing/2014/main" id="{8D92DB2A-35F3-6A80-D2B8-7BC14F748417}"/>
                  </a:ext>
                </a:extLst>
              </p:cNvPr>
              <p:cNvSpPr>
                <a:spLocks/>
              </p:cNvSpPr>
              <p:nvPr/>
            </p:nvSpPr>
            <p:spPr bwMode="auto">
              <a:xfrm>
                <a:off x="3279" y="1749"/>
                <a:ext cx="238" cy="247"/>
              </a:xfrm>
              <a:custGeom>
                <a:avLst/>
                <a:gdLst>
                  <a:gd name="T0" fmla="*/ 0 w 188"/>
                  <a:gd name="T1" fmla="*/ 75 h 274"/>
                  <a:gd name="T2" fmla="*/ 0 w 188"/>
                  <a:gd name="T3" fmla="*/ 274 h 274"/>
                  <a:gd name="T4" fmla="*/ 141 w 188"/>
                  <a:gd name="T5" fmla="*/ 213 h 274"/>
                  <a:gd name="T6" fmla="*/ 143 w 188"/>
                  <a:gd name="T7" fmla="*/ 212 h 274"/>
                  <a:gd name="T8" fmla="*/ 188 w 188"/>
                  <a:gd name="T9" fmla="*/ 192 h 274"/>
                  <a:gd name="T10" fmla="*/ 188 w 188"/>
                  <a:gd name="T11" fmla="*/ 0 h 274"/>
                  <a:gd name="T12" fmla="*/ 125 w 188"/>
                  <a:gd name="T13" fmla="*/ 26 h 274"/>
                  <a:gd name="T14" fmla="*/ 0 w 188"/>
                  <a:gd name="T15" fmla="*/ 75 h 2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8" h="274">
                    <a:moveTo>
                      <a:pt x="0" y="75"/>
                    </a:moveTo>
                    <a:lnTo>
                      <a:pt x="0" y="274"/>
                    </a:lnTo>
                    <a:lnTo>
                      <a:pt x="141" y="213"/>
                    </a:lnTo>
                    <a:lnTo>
                      <a:pt x="143" y="212"/>
                    </a:lnTo>
                    <a:lnTo>
                      <a:pt x="188" y="192"/>
                    </a:lnTo>
                    <a:lnTo>
                      <a:pt x="188" y="0"/>
                    </a:lnTo>
                    <a:lnTo>
                      <a:pt x="125" y="26"/>
                    </a:lnTo>
                    <a:lnTo>
                      <a:pt x="0" y="75"/>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89" name="Freeform 217">
                <a:extLst>
                  <a:ext uri="{FF2B5EF4-FFF2-40B4-BE49-F238E27FC236}">
                    <a16:creationId xmlns:a16="http://schemas.microsoft.com/office/drawing/2014/main" id="{67FDC03A-4848-C6DB-23CE-CE7AD300DA02}"/>
                  </a:ext>
                </a:extLst>
              </p:cNvPr>
              <p:cNvSpPr>
                <a:spLocks/>
              </p:cNvSpPr>
              <p:nvPr/>
            </p:nvSpPr>
            <p:spPr bwMode="auto">
              <a:xfrm>
                <a:off x="2630" y="1709"/>
                <a:ext cx="449" cy="290"/>
              </a:xfrm>
              <a:custGeom>
                <a:avLst/>
                <a:gdLst>
                  <a:gd name="T0" fmla="*/ 206 w 357"/>
                  <a:gd name="T1" fmla="*/ 241 h 321"/>
                  <a:gd name="T2" fmla="*/ 357 w 357"/>
                  <a:gd name="T3" fmla="*/ 182 h 321"/>
                  <a:gd name="T4" fmla="*/ 357 w 357"/>
                  <a:gd name="T5" fmla="*/ 0 h 321"/>
                  <a:gd name="T6" fmla="*/ 1 w 357"/>
                  <a:gd name="T7" fmla="*/ 120 h 321"/>
                  <a:gd name="T8" fmla="*/ 0 w 357"/>
                  <a:gd name="T9" fmla="*/ 120 h 321"/>
                  <a:gd name="T10" fmla="*/ 0 w 357"/>
                  <a:gd name="T11" fmla="*/ 321 h 321"/>
                  <a:gd name="T12" fmla="*/ 204 w 357"/>
                  <a:gd name="T13" fmla="*/ 242 h 321"/>
                  <a:gd name="T14" fmla="*/ 206 w 357"/>
                  <a:gd name="T15" fmla="*/ 241 h 3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7" h="321">
                    <a:moveTo>
                      <a:pt x="206" y="241"/>
                    </a:moveTo>
                    <a:lnTo>
                      <a:pt x="357" y="182"/>
                    </a:lnTo>
                    <a:lnTo>
                      <a:pt x="357" y="0"/>
                    </a:lnTo>
                    <a:lnTo>
                      <a:pt x="1" y="120"/>
                    </a:lnTo>
                    <a:lnTo>
                      <a:pt x="0" y="120"/>
                    </a:lnTo>
                    <a:lnTo>
                      <a:pt x="0" y="321"/>
                    </a:lnTo>
                    <a:lnTo>
                      <a:pt x="204" y="242"/>
                    </a:lnTo>
                    <a:lnTo>
                      <a:pt x="206" y="241"/>
                    </a:lnTo>
                    <a:close/>
                  </a:path>
                </a:pathLst>
              </a:custGeom>
              <a:solidFill>
                <a:srgbClr val="FC950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90" name="Freeform 218">
                <a:extLst>
                  <a:ext uri="{FF2B5EF4-FFF2-40B4-BE49-F238E27FC236}">
                    <a16:creationId xmlns:a16="http://schemas.microsoft.com/office/drawing/2014/main" id="{34BD8604-5508-D82E-4934-571A269BAB18}"/>
                  </a:ext>
                </a:extLst>
              </p:cNvPr>
              <p:cNvSpPr>
                <a:spLocks/>
              </p:cNvSpPr>
              <p:nvPr/>
            </p:nvSpPr>
            <p:spPr bwMode="auto">
              <a:xfrm>
                <a:off x="2675" y="2056"/>
                <a:ext cx="419" cy="344"/>
              </a:xfrm>
              <a:custGeom>
                <a:avLst/>
                <a:gdLst>
                  <a:gd name="T0" fmla="*/ 333 w 333"/>
                  <a:gd name="T1" fmla="*/ 0 h 383"/>
                  <a:gd name="T2" fmla="*/ 168 w 333"/>
                  <a:gd name="T3" fmla="*/ 72 h 383"/>
                  <a:gd name="T4" fmla="*/ 0 w 333"/>
                  <a:gd name="T5" fmla="*/ 145 h 383"/>
                  <a:gd name="T6" fmla="*/ 0 w 333"/>
                  <a:gd name="T7" fmla="*/ 383 h 383"/>
                  <a:gd name="T8" fmla="*/ 183 w 333"/>
                  <a:gd name="T9" fmla="*/ 293 h 383"/>
                  <a:gd name="T10" fmla="*/ 186 w 333"/>
                  <a:gd name="T11" fmla="*/ 293 h 383"/>
                  <a:gd name="T12" fmla="*/ 333 w 333"/>
                  <a:gd name="T13" fmla="*/ 221 h 383"/>
                  <a:gd name="T14" fmla="*/ 333 w 333"/>
                  <a:gd name="T15" fmla="*/ 0 h 3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3" h="383">
                    <a:moveTo>
                      <a:pt x="333" y="0"/>
                    </a:moveTo>
                    <a:lnTo>
                      <a:pt x="168" y="72"/>
                    </a:lnTo>
                    <a:lnTo>
                      <a:pt x="0" y="145"/>
                    </a:lnTo>
                    <a:lnTo>
                      <a:pt x="0" y="383"/>
                    </a:lnTo>
                    <a:lnTo>
                      <a:pt x="183" y="293"/>
                    </a:lnTo>
                    <a:lnTo>
                      <a:pt x="186" y="293"/>
                    </a:lnTo>
                    <a:lnTo>
                      <a:pt x="333" y="221"/>
                    </a:lnTo>
                    <a:lnTo>
                      <a:pt x="333" y="0"/>
                    </a:lnTo>
                    <a:close/>
                  </a:path>
                </a:pathLst>
              </a:custGeom>
              <a:solidFill>
                <a:srgbClr val="FC950C"/>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91" name="Freeform 219">
                <a:extLst>
                  <a:ext uri="{FF2B5EF4-FFF2-40B4-BE49-F238E27FC236}">
                    <a16:creationId xmlns:a16="http://schemas.microsoft.com/office/drawing/2014/main" id="{96CE0D3E-227B-C884-39E0-8516DAD6808F}"/>
                  </a:ext>
                </a:extLst>
              </p:cNvPr>
              <p:cNvSpPr>
                <a:spLocks/>
              </p:cNvSpPr>
              <p:nvPr/>
            </p:nvSpPr>
            <p:spPr bwMode="auto">
              <a:xfrm>
                <a:off x="3094" y="1942"/>
                <a:ext cx="362" cy="312"/>
              </a:xfrm>
              <a:custGeom>
                <a:avLst/>
                <a:gdLst>
                  <a:gd name="T0" fmla="*/ 0 w 290"/>
                  <a:gd name="T1" fmla="*/ 126 h 347"/>
                  <a:gd name="T2" fmla="*/ 0 w 290"/>
                  <a:gd name="T3" fmla="*/ 347 h 347"/>
                  <a:gd name="T4" fmla="*/ 157 w 290"/>
                  <a:gd name="T5" fmla="*/ 270 h 347"/>
                  <a:gd name="T6" fmla="*/ 290 w 290"/>
                  <a:gd name="T7" fmla="*/ 205 h 347"/>
                  <a:gd name="T8" fmla="*/ 290 w 290"/>
                  <a:gd name="T9" fmla="*/ 0 h 347"/>
                  <a:gd name="T10" fmla="*/ 149 w 290"/>
                  <a:gd name="T11" fmla="*/ 61 h 347"/>
                  <a:gd name="T12" fmla="*/ 0 w 290"/>
                  <a:gd name="T13" fmla="*/ 126 h 347"/>
                </a:gdLst>
                <a:ahLst/>
                <a:cxnLst>
                  <a:cxn ang="0">
                    <a:pos x="T0" y="T1"/>
                  </a:cxn>
                  <a:cxn ang="0">
                    <a:pos x="T2" y="T3"/>
                  </a:cxn>
                  <a:cxn ang="0">
                    <a:pos x="T4" y="T5"/>
                  </a:cxn>
                  <a:cxn ang="0">
                    <a:pos x="T6" y="T7"/>
                  </a:cxn>
                  <a:cxn ang="0">
                    <a:pos x="T8" y="T9"/>
                  </a:cxn>
                  <a:cxn ang="0">
                    <a:pos x="T10" y="T11"/>
                  </a:cxn>
                  <a:cxn ang="0">
                    <a:pos x="T12" y="T13"/>
                  </a:cxn>
                </a:cxnLst>
                <a:rect l="0" t="0" r="r" b="b"/>
                <a:pathLst>
                  <a:path w="290" h="347">
                    <a:moveTo>
                      <a:pt x="0" y="126"/>
                    </a:moveTo>
                    <a:lnTo>
                      <a:pt x="0" y="347"/>
                    </a:lnTo>
                    <a:lnTo>
                      <a:pt x="157" y="270"/>
                    </a:lnTo>
                    <a:lnTo>
                      <a:pt x="290" y="205"/>
                    </a:lnTo>
                    <a:lnTo>
                      <a:pt x="290" y="0"/>
                    </a:lnTo>
                    <a:lnTo>
                      <a:pt x="149" y="61"/>
                    </a:lnTo>
                    <a:lnTo>
                      <a:pt x="0" y="126"/>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92" name="Freeform 220">
                <a:extLst>
                  <a:ext uri="{FF2B5EF4-FFF2-40B4-BE49-F238E27FC236}">
                    <a16:creationId xmlns:a16="http://schemas.microsoft.com/office/drawing/2014/main" id="{C9442837-15CE-2915-2175-D328231AD374}"/>
                  </a:ext>
                </a:extLst>
              </p:cNvPr>
              <p:cNvSpPr>
                <a:spLocks/>
              </p:cNvSpPr>
              <p:nvPr/>
            </p:nvSpPr>
            <p:spPr bwMode="auto">
              <a:xfrm>
                <a:off x="3079" y="1622"/>
                <a:ext cx="358" cy="249"/>
              </a:xfrm>
              <a:custGeom>
                <a:avLst/>
                <a:gdLst>
                  <a:gd name="T0" fmla="*/ 0 w 286"/>
                  <a:gd name="T1" fmla="*/ 277 h 277"/>
                  <a:gd name="T2" fmla="*/ 161 w 286"/>
                  <a:gd name="T3" fmla="*/ 215 h 277"/>
                  <a:gd name="T4" fmla="*/ 286 w 286"/>
                  <a:gd name="T5" fmla="*/ 166 h 277"/>
                  <a:gd name="T6" fmla="*/ 286 w 286"/>
                  <a:gd name="T7" fmla="*/ 0 h 277"/>
                  <a:gd name="T8" fmla="*/ 0 w 286"/>
                  <a:gd name="T9" fmla="*/ 95 h 277"/>
                  <a:gd name="T10" fmla="*/ 0 w 286"/>
                  <a:gd name="T11" fmla="*/ 277 h 277"/>
                </a:gdLst>
                <a:ahLst/>
                <a:cxnLst>
                  <a:cxn ang="0">
                    <a:pos x="T0" y="T1"/>
                  </a:cxn>
                  <a:cxn ang="0">
                    <a:pos x="T2" y="T3"/>
                  </a:cxn>
                  <a:cxn ang="0">
                    <a:pos x="T4" y="T5"/>
                  </a:cxn>
                  <a:cxn ang="0">
                    <a:pos x="T6" y="T7"/>
                  </a:cxn>
                  <a:cxn ang="0">
                    <a:pos x="T8" y="T9"/>
                  </a:cxn>
                  <a:cxn ang="0">
                    <a:pos x="T10" y="T11"/>
                  </a:cxn>
                </a:cxnLst>
                <a:rect l="0" t="0" r="r" b="b"/>
                <a:pathLst>
                  <a:path w="286" h="277">
                    <a:moveTo>
                      <a:pt x="0" y="277"/>
                    </a:moveTo>
                    <a:lnTo>
                      <a:pt x="161" y="215"/>
                    </a:lnTo>
                    <a:lnTo>
                      <a:pt x="286" y="166"/>
                    </a:lnTo>
                    <a:lnTo>
                      <a:pt x="286" y="0"/>
                    </a:lnTo>
                    <a:lnTo>
                      <a:pt x="0" y="95"/>
                    </a:lnTo>
                    <a:lnTo>
                      <a:pt x="0" y="277"/>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93" name="Freeform 221">
                <a:extLst>
                  <a:ext uri="{FF2B5EF4-FFF2-40B4-BE49-F238E27FC236}">
                    <a16:creationId xmlns:a16="http://schemas.microsoft.com/office/drawing/2014/main" id="{B9265D69-AAA9-2778-002A-20E5553FBC95}"/>
                  </a:ext>
                </a:extLst>
              </p:cNvPr>
              <p:cNvSpPr>
                <a:spLocks/>
              </p:cNvSpPr>
              <p:nvPr/>
            </p:nvSpPr>
            <p:spPr bwMode="auto">
              <a:xfrm>
                <a:off x="2479" y="1926"/>
                <a:ext cx="407" cy="320"/>
              </a:xfrm>
              <a:custGeom>
                <a:avLst/>
                <a:gdLst>
                  <a:gd name="T0" fmla="*/ 322 w 322"/>
                  <a:gd name="T1" fmla="*/ 214 h 354"/>
                  <a:gd name="T2" fmla="*/ 322 w 322"/>
                  <a:gd name="T3" fmla="*/ 0 h 354"/>
                  <a:gd name="T4" fmla="*/ 118 w 322"/>
                  <a:gd name="T5" fmla="*/ 79 h 354"/>
                  <a:gd name="T6" fmla="*/ 0 w 322"/>
                  <a:gd name="T7" fmla="*/ 125 h 354"/>
                  <a:gd name="T8" fmla="*/ 0 w 322"/>
                  <a:gd name="T9" fmla="*/ 354 h 354"/>
                  <a:gd name="T10" fmla="*/ 154 w 322"/>
                  <a:gd name="T11" fmla="*/ 287 h 354"/>
                  <a:gd name="T12" fmla="*/ 322 w 322"/>
                  <a:gd name="T13" fmla="*/ 214 h 354"/>
                </a:gdLst>
                <a:ahLst/>
                <a:cxnLst>
                  <a:cxn ang="0">
                    <a:pos x="T0" y="T1"/>
                  </a:cxn>
                  <a:cxn ang="0">
                    <a:pos x="T2" y="T3"/>
                  </a:cxn>
                  <a:cxn ang="0">
                    <a:pos x="T4" y="T5"/>
                  </a:cxn>
                  <a:cxn ang="0">
                    <a:pos x="T6" y="T7"/>
                  </a:cxn>
                  <a:cxn ang="0">
                    <a:pos x="T8" y="T9"/>
                  </a:cxn>
                  <a:cxn ang="0">
                    <a:pos x="T10" y="T11"/>
                  </a:cxn>
                  <a:cxn ang="0">
                    <a:pos x="T12" y="T13"/>
                  </a:cxn>
                </a:cxnLst>
                <a:rect l="0" t="0" r="r" b="b"/>
                <a:pathLst>
                  <a:path w="322" h="354">
                    <a:moveTo>
                      <a:pt x="322" y="214"/>
                    </a:moveTo>
                    <a:lnTo>
                      <a:pt x="322" y="0"/>
                    </a:lnTo>
                    <a:lnTo>
                      <a:pt x="118" y="79"/>
                    </a:lnTo>
                    <a:lnTo>
                      <a:pt x="0" y="125"/>
                    </a:lnTo>
                    <a:lnTo>
                      <a:pt x="0" y="354"/>
                    </a:lnTo>
                    <a:lnTo>
                      <a:pt x="154" y="287"/>
                    </a:lnTo>
                    <a:lnTo>
                      <a:pt x="322" y="214"/>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94" name="Freeform 222">
                <a:extLst>
                  <a:ext uri="{FF2B5EF4-FFF2-40B4-BE49-F238E27FC236}">
                    <a16:creationId xmlns:a16="http://schemas.microsoft.com/office/drawing/2014/main" id="{7D7D01CC-A1F7-B269-03B1-65AB61EF87E8}"/>
                  </a:ext>
                </a:extLst>
              </p:cNvPr>
              <p:cNvSpPr>
                <a:spLocks/>
              </p:cNvSpPr>
              <p:nvPr/>
            </p:nvSpPr>
            <p:spPr bwMode="auto">
              <a:xfrm>
                <a:off x="2905" y="2186"/>
                <a:ext cx="385" cy="317"/>
              </a:xfrm>
              <a:custGeom>
                <a:avLst/>
                <a:gdLst>
                  <a:gd name="T0" fmla="*/ 307 w 307"/>
                  <a:gd name="T1" fmla="*/ 0 h 351"/>
                  <a:gd name="T2" fmla="*/ 150 w 307"/>
                  <a:gd name="T3" fmla="*/ 77 h 351"/>
                  <a:gd name="T4" fmla="*/ 3 w 307"/>
                  <a:gd name="T5" fmla="*/ 149 h 351"/>
                  <a:gd name="T6" fmla="*/ 0 w 307"/>
                  <a:gd name="T7" fmla="*/ 149 h 351"/>
                  <a:gd name="T8" fmla="*/ 0 w 307"/>
                  <a:gd name="T9" fmla="*/ 351 h 351"/>
                  <a:gd name="T10" fmla="*/ 154 w 307"/>
                  <a:gd name="T11" fmla="*/ 271 h 351"/>
                  <a:gd name="T12" fmla="*/ 307 w 307"/>
                  <a:gd name="T13" fmla="*/ 193 h 351"/>
                  <a:gd name="T14" fmla="*/ 307 w 307"/>
                  <a:gd name="T15" fmla="*/ 0 h 3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51">
                    <a:moveTo>
                      <a:pt x="307" y="0"/>
                    </a:moveTo>
                    <a:lnTo>
                      <a:pt x="150" y="77"/>
                    </a:lnTo>
                    <a:lnTo>
                      <a:pt x="3" y="149"/>
                    </a:lnTo>
                    <a:lnTo>
                      <a:pt x="0" y="149"/>
                    </a:lnTo>
                    <a:lnTo>
                      <a:pt x="0" y="351"/>
                    </a:lnTo>
                    <a:lnTo>
                      <a:pt x="154" y="271"/>
                    </a:lnTo>
                    <a:lnTo>
                      <a:pt x="307" y="193"/>
                    </a:lnTo>
                    <a:lnTo>
                      <a:pt x="307" y="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95" name="Freeform 223">
                <a:extLst>
                  <a:ext uri="{FF2B5EF4-FFF2-40B4-BE49-F238E27FC236}">
                    <a16:creationId xmlns:a16="http://schemas.microsoft.com/office/drawing/2014/main" id="{63D84506-4D28-2FB3-01A7-3D15C8D373C5}"/>
                  </a:ext>
                </a:extLst>
              </p:cNvPr>
              <p:cNvSpPr>
                <a:spLocks/>
              </p:cNvSpPr>
              <p:nvPr/>
            </p:nvSpPr>
            <p:spPr bwMode="auto">
              <a:xfrm>
                <a:off x="3456" y="1923"/>
                <a:ext cx="61" cy="203"/>
              </a:xfrm>
              <a:custGeom>
                <a:avLst/>
                <a:gdLst>
                  <a:gd name="T0" fmla="*/ 0 w 47"/>
                  <a:gd name="T1" fmla="*/ 226 h 226"/>
                  <a:gd name="T2" fmla="*/ 47 w 47"/>
                  <a:gd name="T3" fmla="*/ 203 h 226"/>
                  <a:gd name="T4" fmla="*/ 47 w 47"/>
                  <a:gd name="T5" fmla="*/ 0 h 226"/>
                  <a:gd name="T6" fmla="*/ 2 w 47"/>
                  <a:gd name="T7" fmla="*/ 20 h 226"/>
                  <a:gd name="T8" fmla="*/ 0 w 47"/>
                  <a:gd name="T9" fmla="*/ 21 h 226"/>
                  <a:gd name="T10" fmla="*/ 0 w 47"/>
                  <a:gd name="T11" fmla="*/ 226 h 226"/>
                </a:gdLst>
                <a:ahLst/>
                <a:cxnLst>
                  <a:cxn ang="0">
                    <a:pos x="T0" y="T1"/>
                  </a:cxn>
                  <a:cxn ang="0">
                    <a:pos x="T2" y="T3"/>
                  </a:cxn>
                  <a:cxn ang="0">
                    <a:pos x="T4" y="T5"/>
                  </a:cxn>
                  <a:cxn ang="0">
                    <a:pos x="T6" y="T7"/>
                  </a:cxn>
                  <a:cxn ang="0">
                    <a:pos x="T8" y="T9"/>
                  </a:cxn>
                  <a:cxn ang="0">
                    <a:pos x="T10" y="T11"/>
                  </a:cxn>
                </a:cxnLst>
                <a:rect l="0" t="0" r="r" b="b"/>
                <a:pathLst>
                  <a:path w="47" h="226">
                    <a:moveTo>
                      <a:pt x="0" y="226"/>
                    </a:moveTo>
                    <a:lnTo>
                      <a:pt x="47" y="203"/>
                    </a:lnTo>
                    <a:lnTo>
                      <a:pt x="47" y="0"/>
                    </a:lnTo>
                    <a:lnTo>
                      <a:pt x="2" y="20"/>
                    </a:lnTo>
                    <a:lnTo>
                      <a:pt x="0" y="21"/>
                    </a:lnTo>
                    <a:lnTo>
                      <a:pt x="0" y="226"/>
                    </a:lnTo>
                    <a:close/>
                  </a:path>
                </a:pathLst>
              </a:custGeom>
              <a:solidFill>
                <a:srgbClr val="FC950C"/>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96" name="Freeform 224">
                <a:extLst>
                  <a:ext uri="{FF2B5EF4-FFF2-40B4-BE49-F238E27FC236}">
                    <a16:creationId xmlns:a16="http://schemas.microsoft.com/office/drawing/2014/main" id="{DA5CA826-D583-EB6C-CF2A-BEC5097705CF}"/>
                  </a:ext>
                </a:extLst>
              </p:cNvPr>
              <p:cNvSpPr>
                <a:spLocks/>
              </p:cNvSpPr>
              <p:nvPr/>
            </p:nvSpPr>
            <p:spPr bwMode="auto">
              <a:xfrm>
                <a:off x="3290" y="2105"/>
                <a:ext cx="227" cy="255"/>
              </a:xfrm>
              <a:custGeom>
                <a:avLst/>
                <a:gdLst>
                  <a:gd name="T0" fmla="*/ 180 w 180"/>
                  <a:gd name="T1" fmla="*/ 0 h 281"/>
                  <a:gd name="T2" fmla="*/ 133 w 180"/>
                  <a:gd name="T3" fmla="*/ 23 h 281"/>
                  <a:gd name="T4" fmla="*/ 0 w 180"/>
                  <a:gd name="T5" fmla="*/ 88 h 281"/>
                  <a:gd name="T6" fmla="*/ 0 w 180"/>
                  <a:gd name="T7" fmla="*/ 281 h 281"/>
                  <a:gd name="T8" fmla="*/ 133 w 180"/>
                  <a:gd name="T9" fmla="*/ 213 h 281"/>
                  <a:gd name="T10" fmla="*/ 180 w 180"/>
                  <a:gd name="T11" fmla="*/ 187 h 281"/>
                  <a:gd name="T12" fmla="*/ 180 w 180"/>
                  <a:gd name="T13" fmla="*/ 0 h 281"/>
                </a:gdLst>
                <a:ahLst/>
                <a:cxnLst>
                  <a:cxn ang="0">
                    <a:pos x="T0" y="T1"/>
                  </a:cxn>
                  <a:cxn ang="0">
                    <a:pos x="T2" y="T3"/>
                  </a:cxn>
                  <a:cxn ang="0">
                    <a:pos x="T4" y="T5"/>
                  </a:cxn>
                  <a:cxn ang="0">
                    <a:pos x="T6" y="T7"/>
                  </a:cxn>
                  <a:cxn ang="0">
                    <a:pos x="T8" y="T9"/>
                  </a:cxn>
                  <a:cxn ang="0">
                    <a:pos x="T10" y="T11"/>
                  </a:cxn>
                  <a:cxn ang="0">
                    <a:pos x="T12" y="T13"/>
                  </a:cxn>
                </a:cxnLst>
                <a:rect l="0" t="0" r="r" b="b"/>
                <a:pathLst>
                  <a:path w="180" h="281">
                    <a:moveTo>
                      <a:pt x="180" y="0"/>
                    </a:moveTo>
                    <a:lnTo>
                      <a:pt x="133" y="23"/>
                    </a:lnTo>
                    <a:lnTo>
                      <a:pt x="0" y="88"/>
                    </a:lnTo>
                    <a:lnTo>
                      <a:pt x="0" y="281"/>
                    </a:lnTo>
                    <a:lnTo>
                      <a:pt x="133" y="213"/>
                    </a:lnTo>
                    <a:lnTo>
                      <a:pt x="180" y="187"/>
                    </a:lnTo>
                    <a:lnTo>
                      <a:pt x="180" y="0"/>
                    </a:lnTo>
                    <a:close/>
                  </a:path>
                </a:pathLst>
              </a:custGeom>
              <a:solidFill>
                <a:srgbClr val="FC950C"/>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697" name="Freeform 225">
                <a:extLst>
                  <a:ext uri="{FF2B5EF4-FFF2-40B4-BE49-F238E27FC236}">
                    <a16:creationId xmlns:a16="http://schemas.microsoft.com/office/drawing/2014/main" id="{FAF67D19-BF3E-BBF1-FCC4-5DD5B0877B7E}"/>
                  </a:ext>
                </a:extLst>
              </p:cNvPr>
              <p:cNvSpPr>
                <a:spLocks/>
              </p:cNvSpPr>
              <p:nvPr/>
            </p:nvSpPr>
            <p:spPr bwMode="auto">
              <a:xfrm>
                <a:off x="3456" y="2276"/>
                <a:ext cx="61" cy="165"/>
              </a:xfrm>
              <a:custGeom>
                <a:avLst/>
                <a:gdLst>
                  <a:gd name="T0" fmla="*/ 0 w 47"/>
                  <a:gd name="T1" fmla="*/ 26 h 185"/>
                  <a:gd name="T2" fmla="*/ 0 w 47"/>
                  <a:gd name="T3" fmla="*/ 185 h 185"/>
                  <a:gd name="T4" fmla="*/ 47 w 47"/>
                  <a:gd name="T5" fmla="*/ 159 h 185"/>
                  <a:gd name="T6" fmla="*/ 47 w 47"/>
                  <a:gd name="T7" fmla="*/ 0 h 185"/>
                  <a:gd name="T8" fmla="*/ 0 w 47"/>
                  <a:gd name="T9" fmla="*/ 26 h 185"/>
                </a:gdLst>
                <a:ahLst/>
                <a:cxnLst>
                  <a:cxn ang="0">
                    <a:pos x="T0" y="T1"/>
                  </a:cxn>
                  <a:cxn ang="0">
                    <a:pos x="T2" y="T3"/>
                  </a:cxn>
                  <a:cxn ang="0">
                    <a:pos x="T4" y="T5"/>
                  </a:cxn>
                  <a:cxn ang="0">
                    <a:pos x="T6" y="T7"/>
                  </a:cxn>
                  <a:cxn ang="0">
                    <a:pos x="T8" y="T9"/>
                  </a:cxn>
                </a:cxnLst>
                <a:rect l="0" t="0" r="r" b="b"/>
                <a:pathLst>
                  <a:path w="47" h="185">
                    <a:moveTo>
                      <a:pt x="0" y="26"/>
                    </a:moveTo>
                    <a:lnTo>
                      <a:pt x="0" y="185"/>
                    </a:lnTo>
                    <a:lnTo>
                      <a:pt x="47" y="159"/>
                    </a:lnTo>
                    <a:lnTo>
                      <a:pt x="47" y="0"/>
                    </a:lnTo>
                    <a:lnTo>
                      <a:pt x="0" y="26"/>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98" name="Freeform 226">
                <a:extLst>
                  <a:ext uri="{FF2B5EF4-FFF2-40B4-BE49-F238E27FC236}">
                    <a16:creationId xmlns:a16="http://schemas.microsoft.com/office/drawing/2014/main" id="{E5719D78-2DE5-E2D0-08D4-E46F29543551}"/>
                  </a:ext>
                </a:extLst>
              </p:cNvPr>
              <p:cNvSpPr>
                <a:spLocks/>
              </p:cNvSpPr>
              <p:nvPr/>
            </p:nvSpPr>
            <p:spPr bwMode="auto">
              <a:xfrm>
                <a:off x="3098" y="2297"/>
                <a:ext cx="358" cy="296"/>
              </a:xfrm>
              <a:custGeom>
                <a:avLst/>
                <a:gdLst>
                  <a:gd name="T0" fmla="*/ 286 w 286"/>
                  <a:gd name="T1" fmla="*/ 159 h 326"/>
                  <a:gd name="T2" fmla="*/ 286 w 286"/>
                  <a:gd name="T3" fmla="*/ 0 h 326"/>
                  <a:gd name="T4" fmla="*/ 153 w 286"/>
                  <a:gd name="T5" fmla="*/ 68 h 326"/>
                  <a:gd name="T6" fmla="*/ 0 w 286"/>
                  <a:gd name="T7" fmla="*/ 146 h 326"/>
                  <a:gd name="T8" fmla="*/ 0 w 286"/>
                  <a:gd name="T9" fmla="*/ 326 h 326"/>
                  <a:gd name="T10" fmla="*/ 286 w 286"/>
                  <a:gd name="T11" fmla="*/ 159 h 326"/>
                </a:gdLst>
                <a:ahLst/>
                <a:cxnLst>
                  <a:cxn ang="0">
                    <a:pos x="T0" y="T1"/>
                  </a:cxn>
                  <a:cxn ang="0">
                    <a:pos x="T2" y="T3"/>
                  </a:cxn>
                  <a:cxn ang="0">
                    <a:pos x="T4" y="T5"/>
                  </a:cxn>
                  <a:cxn ang="0">
                    <a:pos x="T6" y="T7"/>
                  </a:cxn>
                  <a:cxn ang="0">
                    <a:pos x="T8" y="T9"/>
                  </a:cxn>
                  <a:cxn ang="0">
                    <a:pos x="T10" y="T11"/>
                  </a:cxn>
                </a:cxnLst>
                <a:rect l="0" t="0" r="r" b="b"/>
                <a:pathLst>
                  <a:path w="286" h="326">
                    <a:moveTo>
                      <a:pt x="286" y="159"/>
                    </a:moveTo>
                    <a:lnTo>
                      <a:pt x="286" y="0"/>
                    </a:lnTo>
                    <a:lnTo>
                      <a:pt x="153" y="68"/>
                    </a:lnTo>
                    <a:lnTo>
                      <a:pt x="0" y="146"/>
                    </a:lnTo>
                    <a:lnTo>
                      <a:pt x="0" y="326"/>
                    </a:lnTo>
                    <a:lnTo>
                      <a:pt x="286" y="159"/>
                    </a:lnTo>
                    <a:close/>
                  </a:path>
                </a:pathLst>
              </a:custGeom>
              <a:solidFill>
                <a:srgbClr val="FDAB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699" name="Freeform 227">
                <a:extLst>
                  <a:ext uri="{FF2B5EF4-FFF2-40B4-BE49-F238E27FC236}">
                    <a16:creationId xmlns:a16="http://schemas.microsoft.com/office/drawing/2014/main" id="{75F2604F-FA42-186A-6238-76C0CB5789DB}"/>
                  </a:ext>
                </a:extLst>
              </p:cNvPr>
              <p:cNvSpPr>
                <a:spLocks/>
              </p:cNvSpPr>
              <p:nvPr/>
            </p:nvSpPr>
            <p:spPr bwMode="auto">
              <a:xfrm>
                <a:off x="2690" y="2430"/>
                <a:ext cx="408" cy="334"/>
              </a:xfrm>
              <a:custGeom>
                <a:avLst/>
                <a:gdLst>
                  <a:gd name="T0" fmla="*/ 325 w 325"/>
                  <a:gd name="T1" fmla="*/ 180 h 368"/>
                  <a:gd name="T2" fmla="*/ 325 w 325"/>
                  <a:gd name="T3" fmla="*/ 0 h 368"/>
                  <a:gd name="T4" fmla="*/ 171 w 325"/>
                  <a:gd name="T5" fmla="*/ 80 h 368"/>
                  <a:gd name="T6" fmla="*/ 0 w 325"/>
                  <a:gd name="T7" fmla="*/ 169 h 368"/>
                  <a:gd name="T8" fmla="*/ 0 w 325"/>
                  <a:gd name="T9" fmla="*/ 368 h 368"/>
                  <a:gd name="T10" fmla="*/ 325 w 325"/>
                  <a:gd name="T11" fmla="*/ 180 h 368"/>
                </a:gdLst>
                <a:ahLst/>
                <a:cxnLst>
                  <a:cxn ang="0">
                    <a:pos x="T0" y="T1"/>
                  </a:cxn>
                  <a:cxn ang="0">
                    <a:pos x="T2" y="T3"/>
                  </a:cxn>
                  <a:cxn ang="0">
                    <a:pos x="T4" y="T5"/>
                  </a:cxn>
                  <a:cxn ang="0">
                    <a:pos x="T6" y="T7"/>
                  </a:cxn>
                  <a:cxn ang="0">
                    <a:pos x="T8" y="T9"/>
                  </a:cxn>
                  <a:cxn ang="0">
                    <a:pos x="T10" y="T11"/>
                  </a:cxn>
                </a:cxnLst>
                <a:rect l="0" t="0" r="r" b="b"/>
                <a:pathLst>
                  <a:path w="325" h="368">
                    <a:moveTo>
                      <a:pt x="325" y="180"/>
                    </a:moveTo>
                    <a:lnTo>
                      <a:pt x="325" y="0"/>
                    </a:lnTo>
                    <a:lnTo>
                      <a:pt x="171" y="80"/>
                    </a:lnTo>
                    <a:lnTo>
                      <a:pt x="0" y="169"/>
                    </a:lnTo>
                    <a:lnTo>
                      <a:pt x="0" y="368"/>
                    </a:lnTo>
                    <a:lnTo>
                      <a:pt x="325" y="180"/>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00" name="Freeform 228">
                <a:extLst>
                  <a:ext uri="{FF2B5EF4-FFF2-40B4-BE49-F238E27FC236}">
                    <a16:creationId xmlns:a16="http://schemas.microsoft.com/office/drawing/2014/main" id="{B4111237-C3F0-07B3-0477-41B7CC9D6360}"/>
                  </a:ext>
                </a:extLst>
              </p:cNvPr>
              <p:cNvSpPr>
                <a:spLocks/>
              </p:cNvSpPr>
              <p:nvPr/>
            </p:nvSpPr>
            <p:spPr bwMode="auto">
              <a:xfrm>
                <a:off x="2501" y="2319"/>
                <a:ext cx="404" cy="334"/>
              </a:xfrm>
              <a:custGeom>
                <a:avLst/>
                <a:gdLst>
                  <a:gd name="T0" fmla="*/ 321 w 321"/>
                  <a:gd name="T1" fmla="*/ 202 h 368"/>
                  <a:gd name="T2" fmla="*/ 321 w 321"/>
                  <a:gd name="T3" fmla="*/ 0 h 368"/>
                  <a:gd name="T4" fmla="*/ 138 w 321"/>
                  <a:gd name="T5" fmla="*/ 90 h 368"/>
                  <a:gd name="T6" fmla="*/ 0 w 321"/>
                  <a:gd name="T7" fmla="*/ 157 h 368"/>
                  <a:gd name="T8" fmla="*/ 0 w 321"/>
                  <a:gd name="T9" fmla="*/ 368 h 368"/>
                  <a:gd name="T10" fmla="*/ 150 w 321"/>
                  <a:gd name="T11" fmla="*/ 291 h 368"/>
                  <a:gd name="T12" fmla="*/ 321 w 321"/>
                  <a:gd name="T13" fmla="*/ 202 h 368"/>
                </a:gdLst>
                <a:ahLst/>
                <a:cxnLst>
                  <a:cxn ang="0">
                    <a:pos x="T0" y="T1"/>
                  </a:cxn>
                  <a:cxn ang="0">
                    <a:pos x="T2" y="T3"/>
                  </a:cxn>
                  <a:cxn ang="0">
                    <a:pos x="T4" y="T5"/>
                  </a:cxn>
                  <a:cxn ang="0">
                    <a:pos x="T6" y="T7"/>
                  </a:cxn>
                  <a:cxn ang="0">
                    <a:pos x="T8" y="T9"/>
                  </a:cxn>
                  <a:cxn ang="0">
                    <a:pos x="T10" y="T11"/>
                  </a:cxn>
                  <a:cxn ang="0">
                    <a:pos x="T12" y="T13"/>
                  </a:cxn>
                </a:cxnLst>
                <a:rect l="0" t="0" r="r" b="b"/>
                <a:pathLst>
                  <a:path w="321" h="368">
                    <a:moveTo>
                      <a:pt x="321" y="202"/>
                    </a:moveTo>
                    <a:lnTo>
                      <a:pt x="321" y="0"/>
                    </a:lnTo>
                    <a:lnTo>
                      <a:pt x="138" y="90"/>
                    </a:lnTo>
                    <a:lnTo>
                      <a:pt x="0" y="157"/>
                    </a:lnTo>
                    <a:lnTo>
                      <a:pt x="0" y="368"/>
                    </a:lnTo>
                    <a:lnTo>
                      <a:pt x="150" y="291"/>
                    </a:lnTo>
                    <a:lnTo>
                      <a:pt x="321" y="202"/>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01" name="Freeform 229">
                <a:extLst>
                  <a:ext uri="{FF2B5EF4-FFF2-40B4-BE49-F238E27FC236}">
                    <a16:creationId xmlns:a16="http://schemas.microsoft.com/office/drawing/2014/main" id="{9D299EBB-BCEF-C505-504D-97A3AFD156BF}"/>
                  </a:ext>
                </a:extLst>
              </p:cNvPr>
              <p:cNvSpPr>
                <a:spLocks/>
              </p:cNvSpPr>
              <p:nvPr/>
            </p:nvSpPr>
            <p:spPr bwMode="auto">
              <a:xfrm>
                <a:off x="2120" y="1874"/>
                <a:ext cx="132" cy="231"/>
              </a:xfrm>
              <a:custGeom>
                <a:avLst/>
                <a:gdLst>
                  <a:gd name="T0" fmla="*/ 0 w 105"/>
                  <a:gd name="T1" fmla="*/ 0 h 255"/>
                  <a:gd name="T2" fmla="*/ 1 w 105"/>
                  <a:gd name="T3" fmla="*/ 215 h 255"/>
                  <a:gd name="T4" fmla="*/ 105 w 105"/>
                  <a:gd name="T5" fmla="*/ 255 h 255"/>
                  <a:gd name="T6" fmla="*/ 105 w 105"/>
                  <a:gd name="T7" fmla="*/ 36 h 255"/>
                  <a:gd name="T8" fmla="*/ 0 w 105"/>
                  <a:gd name="T9" fmla="*/ 0 h 255"/>
                </a:gdLst>
                <a:ahLst/>
                <a:cxnLst>
                  <a:cxn ang="0">
                    <a:pos x="T0" y="T1"/>
                  </a:cxn>
                  <a:cxn ang="0">
                    <a:pos x="T2" y="T3"/>
                  </a:cxn>
                  <a:cxn ang="0">
                    <a:pos x="T4" y="T5"/>
                  </a:cxn>
                  <a:cxn ang="0">
                    <a:pos x="T6" y="T7"/>
                  </a:cxn>
                  <a:cxn ang="0">
                    <a:pos x="T8" y="T9"/>
                  </a:cxn>
                </a:cxnLst>
                <a:rect l="0" t="0" r="r" b="b"/>
                <a:pathLst>
                  <a:path w="105" h="255">
                    <a:moveTo>
                      <a:pt x="0" y="0"/>
                    </a:moveTo>
                    <a:lnTo>
                      <a:pt x="1" y="215"/>
                    </a:lnTo>
                    <a:lnTo>
                      <a:pt x="105" y="255"/>
                    </a:lnTo>
                    <a:lnTo>
                      <a:pt x="105" y="36"/>
                    </a:lnTo>
                    <a:lnTo>
                      <a:pt x="0" y="0"/>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02" name="Freeform 230">
                <a:extLst>
                  <a:ext uri="{FF2B5EF4-FFF2-40B4-BE49-F238E27FC236}">
                    <a16:creationId xmlns:a16="http://schemas.microsoft.com/office/drawing/2014/main" id="{6BF40159-EBF6-4084-C362-63C54A641314}"/>
                  </a:ext>
                </a:extLst>
              </p:cNvPr>
              <p:cNvSpPr>
                <a:spLocks/>
              </p:cNvSpPr>
              <p:nvPr/>
            </p:nvSpPr>
            <p:spPr bwMode="auto">
              <a:xfrm>
                <a:off x="2252" y="1817"/>
                <a:ext cx="378" cy="288"/>
              </a:xfrm>
              <a:custGeom>
                <a:avLst/>
                <a:gdLst>
                  <a:gd name="T0" fmla="*/ 298 w 298"/>
                  <a:gd name="T1" fmla="*/ 201 h 318"/>
                  <a:gd name="T2" fmla="*/ 298 w 298"/>
                  <a:gd name="T3" fmla="*/ 0 h 318"/>
                  <a:gd name="T4" fmla="*/ 0 w 298"/>
                  <a:gd name="T5" fmla="*/ 99 h 318"/>
                  <a:gd name="T6" fmla="*/ 0 w 298"/>
                  <a:gd name="T7" fmla="*/ 318 h 318"/>
                  <a:gd name="T8" fmla="*/ 180 w 298"/>
                  <a:gd name="T9" fmla="*/ 247 h 318"/>
                  <a:gd name="T10" fmla="*/ 298 w 298"/>
                  <a:gd name="T11" fmla="*/ 201 h 318"/>
                </a:gdLst>
                <a:ahLst/>
                <a:cxnLst>
                  <a:cxn ang="0">
                    <a:pos x="T0" y="T1"/>
                  </a:cxn>
                  <a:cxn ang="0">
                    <a:pos x="T2" y="T3"/>
                  </a:cxn>
                  <a:cxn ang="0">
                    <a:pos x="T4" y="T5"/>
                  </a:cxn>
                  <a:cxn ang="0">
                    <a:pos x="T6" y="T7"/>
                  </a:cxn>
                  <a:cxn ang="0">
                    <a:pos x="T8" y="T9"/>
                  </a:cxn>
                  <a:cxn ang="0">
                    <a:pos x="T10" y="T11"/>
                  </a:cxn>
                </a:cxnLst>
                <a:rect l="0" t="0" r="r" b="b"/>
                <a:pathLst>
                  <a:path w="298" h="318">
                    <a:moveTo>
                      <a:pt x="298" y="201"/>
                    </a:moveTo>
                    <a:lnTo>
                      <a:pt x="298" y="0"/>
                    </a:lnTo>
                    <a:lnTo>
                      <a:pt x="0" y="99"/>
                    </a:lnTo>
                    <a:lnTo>
                      <a:pt x="0" y="318"/>
                    </a:lnTo>
                    <a:lnTo>
                      <a:pt x="180" y="247"/>
                    </a:lnTo>
                    <a:lnTo>
                      <a:pt x="298" y="201"/>
                    </a:lnTo>
                    <a:close/>
                  </a:path>
                </a:pathLst>
              </a:custGeom>
              <a:solidFill>
                <a:srgbClr val="DC7F0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703" name="Freeform 231">
                <a:extLst>
                  <a:ext uri="{FF2B5EF4-FFF2-40B4-BE49-F238E27FC236}">
                    <a16:creationId xmlns:a16="http://schemas.microsoft.com/office/drawing/2014/main" id="{2497368D-8527-C185-DC8D-469175C7C220}"/>
                  </a:ext>
                </a:extLst>
              </p:cNvPr>
              <p:cNvSpPr>
                <a:spLocks/>
              </p:cNvSpPr>
              <p:nvPr/>
            </p:nvSpPr>
            <p:spPr bwMode="auto">
              <a:xfrm>
                <a:off x="2252" y="2040"/>
                <a:ext cx="227" cy="276"/>
              </a:xfrm>
              <a:custGeom>
                <a:avLst/>
                <a:gdLst>
                  <a:gd name="T0" fmla="*/ 180 w 180"/>
                  <a:gd name="T1" fmla="*/ 0 h 307"/>
                  <a:gd name="T2" fmla="*/ 0 w 180"/>
                  <a:gd name="T3" fmla="*/ 71 h 307"/>
                  <a:gd name="T4" fmla="*/ 0 w 180"/>
                  <a:gd name="T5" fmla="*/ 306 h 307"/>
                  <a:gd name="T6" fmla="*/ 1 w 180"/>
                  <a:gd name="T7" fmla="*/ 307 h 307"/>
                  <a:gd name="T8" fmla="*/ 180 w 180"/>
                  <a:gd name="T9" fmla="*/ 229 h 307"/>
                  <a:gd name="T10" fmla="*/ 180 w 180"/>
                  <a:gd name="T11" fmla="*/ 0 h 307"/>
                </a:gdLst>
                <a:ahLst/>
                <a:cxnLst>
                  <a:cxn ang="0">
                    <a:pos x="T0" y="T1"/>
                  </a:cxn>
                  <a:cxn ang="0">
                    <a:pos x="T2" y="T3"/>
                  </a:cxn>
                  <a:cxn ang="0">
                    <a:pos x="T4" y="T5"/>
                  </a:cxn>
                  <a:cxn ang="0">
                    <a:pos x="T6" y="T7"/>
                  </a:cxn>
                  <a:cxn ang="0">
                    <a:pos x="T8" y="T9"/>
                  </a:cxn>
                  <a:cxn ang="0">
                    <a:pos x="T10" y="T11"/>
                  </a:cxn>
                </a:cxnLst>
                <a:rect l="0" t="0" r="r" b="b"/>
                <a:pathLst>
                  <a:path w="180" h="307">
                    <a:moveTo>
                      <a:pt x="180" y="0"/>
                    </a:moveTo>
                    <a:lnTo>
                      <a:pt x="0" y="71"/>
                    </a:lnTo>
                    <a:lnTo>
                      <a:pt x="0" y="306"/>
                    </a:lnTo>
                    <a:lnTo>
                      <a:pt x="1" y="307"/>
                    </a:lnTo>
                    <a:lnTo>
                      <a:pt x="180" y="229"/>
                    </a:lnTo>
                    <a:lnTo>
                      <a:pt x="180" y="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04" name="Freeform 232">
                <a:extLst>
                  <a:ext uri="{FF2B5EF4-FFF2-40B4-BE49-F238E27FC236}">
                    <a16:creationId xmlns:a16="http://schemas.microsoft.com/office/drawing/2014/main" id="{977E6B8B-D0BA-28A1-2E9C-E594EE4F3C0C}"/>
                  </a:ext>
                </a:extLst>
              </p:cNvPr>
              <p:cNvSpPr>
                <a:spLocks/>
              </p:cNvSpPr>
              <p:nvPr/>
            </p:nvSpPr>
            <p:spPr bwMode="auto">
              <a:xfrm>
                <a:off x="2252" y="2186"/>
                <a:ext cx="423" cy="361"/>
              </a:xfrm>
              <a:custGeom>
                <a:avLst/>
                <a:gdLst>
                  <a:gd name="T0" fmla="*/ 334 w 334"/>
                  <a:gd name="T1" fmla="*/ 0 h 400"/>
                  <a:gd name="T2" fmla="*/ 180 w 334"/>
                  <a:gd name="T3" fmla="*/ 67 h 400"/>
                  <a:gd name="T4" fmla="*/ 1 w 334"/>
                  <a:gd name="T5" fmla="*/ 145 h 400"/>
                  <a:gd name="T6" fmla="*/ 0 w 334"/>
                  <a:gd name="T7" fmla="*/ 145 h 400"/>
                  <a:gd name="T8" fmla="*/ 0 w 334"/>
                  <a:gd name="T9" fmla="*/ 400 h 400"/>
                  <a:gd name="T10" fmla="*/ 196 w 334"/>
                  <a:gd name="T11" fmla="*/ 305 h 400"/>
                  <a:gd name="T12" fmla="*/ 334 w 334"/>
                  <a:gd name="T13" fmla="*/ 238 h 400"/>
                  <a:gd name="T14" fmla="*/ 334 w 334"/>
                  <a:gd name="T15" fmla="*/ 0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4" h="400">
                    <a:moveTo>
                      <a:pt x="334" y="0"/>
                    </a:moveTo>
                    <a:lnTo>
                      <a:pt x="180" y="67"/>
                    </a:lnTo>
                    <a:lnTo>
                      <a:pt x="1" y="145"/>
                    </a:lnTo>
                    <a:lnTo>
                      <a:pt x="0" y="145"/>
                    </a:lnTo>
                    <a:lnTo>
                      <a:pt x="0" y="400"/>
                    </a:lnTo>
                    <a:lnTo>
                      <a:pt x="196" y="305"/>
                    </a:lnTo>
                    <a:lnTo>
                      <a:pt x="334" y="238"/>
                    </a:lnTo>
                    <a:lnTo>
                      <a:pt x="334" y="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05" name="Freeform 233">
                <a:extLst>
                  <a:ext uri="{FF2B5EF4-FFF2-40B4-BE49-F238E27FC236}">
                    <a16:creationId xmlns:a16="http://schemas.microsoft.com/office/drawing/2014/main" id="{B146F166-FDC1-D25A-E57E-73111161800D}"/>
                  </a:ext>
                </a:extLst>
              </p:cNvPr>
              <p:cNvSpPr>
                <a:spLocks/>
              </p:cNvSpPr>
              <p:nvPr/>
            </p:nvSpPr>
            <p:spPr bwMode="auto">
              <a:xfrm>
                <a:off x="2124" y="2067"/>
                <a:ext cx="128" cy="249"/>
              </a:xfrm>
              <a:custGeom>
                <a:avLst/>
                <a:gdLst>
                  <a:gd name="T0" fmla="*/ 104 w 104"/>
                  <a:gd name="T1" fmla="*/ 40 h 275"/>
                  <a:gd name="T2" fmla="*/ 0 w 104"/>
                  <a:gd name="T3" fmla="*/ 0 h 275"/>
                  <a:gd name="T4" fmla="*/ 0 w 104"/>
                  <a:gd name="T5" fmla="*/ 235 h 275"/>
                  <a:gd name="T6" fmla="*/ 104 w 104"/>
                  <a:gd name="T7" fmla="*/ 275 h 275"/>
                  <a:gd name="T8" fmla="*/ 104 w 104"/>
                  <a:gd name="T9" fmla="*/ 40 h 275"/>
                </a:gdLst>
                <a:ahLst/>
                <a:cxnLst>
                  <a:cxn ang="0">
                    <a:pos x="T0" y="T1"/>
                  </a:cxn>
                  <a:cxn ang="0">
                    <a:pos x="T2" y="T3"/>
                  </a:cxn>
                  <a:cxn ang="0">
                    <a:pos x="T4" y="T5"/>
                  </a:cxn>
                  <a:cxn ang="0">
                    <a:pos x="T6" y="T7"/>
                  </a:cxn>
                  <a:cxn ang="0">
                    <a:pos x="T8" y="T9"/>
                  </a:cxn>
                </a:cxnLst>
                <a:rect l="0" t="0" r="r" b="b"/>
                <a:pathLst>
                  <a:path w="104" h="275">
                    <a:moveTo>
                      <a:pt x="104" y="40"/>
                    </a:moveTo>
                    <a:lnTo>
                      <a:pt x="0" y="0"/>
                    </a:lnTo>
                    <a:lnTo>
                      <a:pt x="0" y="235"/>
                    </a:lnTo>
                    <a:lnTo>
                      <a:pt x="104" y="275"/>
                    </a:lnTo>
                    <a:lnTo>
                      <a:pt x="104" y="40"/>
                    </a:lnTo>
                    <a:close/>
                  </a:path>
                </a:pathLst>
              </a:custGeom>
              <a:solidFill>
                <a:srgbClr val="FDB049"/>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06" name="Freeform 234">
                <a:extLst>
                  <a:ext uri="{FF2B5EF4-FFF2-40B4-BE49-F238E27FC236}">
                    <a16:creationId xmlns:a16="http://schemas.microsoft.com/office/drawing/2014/main" id="{BD52DD37-A1F8-740F-B1AE-B771C7F9E4DB}"/>
                  </a:ext>
                </a:extLst>
              </p:cNvPr>
              <p:cNvSpPr>
                <a:spLocks/>
              </p:cNvSpPr>
              <p:nvPr/>
            </p:nvSpPr>
            <p:spPr bwMode="auto">
              <a:xfrm>
                <a:off x="2124" y="2281"/>
                <a:ext cx="128" cy="266"/>
              </a:xfrm>
              <a:custGeom>
                <a:avLst/>
                <a:gdLst>
                  <a:gd name="T0" fmla="*/ 104 w 104"/>
                  <a:gd name="T1" fmla="*/ 41 h 296"/>
                  <a:gd name="T2" fmla="*/ 104 w 104"/>
                  <a:gd name="T3" fmla="*/ 40 h 296"/>
                  <a:gd name="T4" fmla="*/ 0 w 104"/>
                  <a:gd name="T5" fmla="*/ 0 h 296"/>
                  <a:gd name="T6" fmla="*/ 0 w 104"/>
                  <a:gd name="T7" fmla="*/ 252 h 296"/>
                  <a:gd name="T8" fmla="*/ 104 w 104"/>
                  <a:gd name="T9" fmla="*/ 296 h 296"/>
                  <a:gd name="T10" fmla="*/ 104 w 104"/>
                  <a:gd name="T11" fmla="*/ 41 h 296"/>
                </a:gdLst>
                <a:ahLst/>
                <a:cxnLst>
                  <a:cxn ang="0">
                    <a:pos x="T0" y="T1"/>
                  </a:cxn>
                  <a:cxn ang="0">
                    <a:pos x="T2" y="T3"/>
                  </a:cxn>
                  <a:cxn ang="0">
                    <a:pos x="T4" y="T5"/>
                  </a:cxn>
                  <a:cxn ang="0">
                    <a:pos x="T6" y="T7"/>
                  </a:cxn>
                  <a:cxn ang="0">
                    <a:pos x="T8" y="T9"/>
                  </a:cxn>
                  <a:cxn ang="0">
                    <a:pos x="T10" y="T11"/>
                  </a:cxn>
                </a:cxnLst>
                <a:rect l="0" t="0" r="r" b="b"/>
                <a:pathLst>
                  <a:path w="104" h="296">
                    <a:moveTo>
                      <a:pt x="104" y="41"/>
                    </a:moveTo>
                    <a:lnTo>
                      <a:pt x="104" y="40"/>
                    </a:lnTo>
                    <a:lnTo>
                      <a:pt x="0" y="0"/>
                    </a:lnTo>
                    <a:lnTo>
                      <a:pt x="0" y="252"/>
                    </a:lnTo>
                    <a:lnTo>
                      <a:pt x="104" y="296"/>
                    </a:lnTo>
                    <a:lnTo>
                      <a:pt x="104" y="41"/>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07" name="Freeform 235">
                <a:extLst>
                  <a:ext uri="{FF2B5EF4-FFF2-40B4-BE49-F238E27FC236}">
                    <a16:creationId xmlns:a16="http://schemas.microsoft.com/office/drawing/2014/main" id="{197C4A90-62C7-3BF2-FBAE-A8D90BD3B06A}"/>
                  </a:ext>
                </a:extLst>
              </p:cNvPr>
              <p:cNvSpPr>
                <a:spLocks/>
              </p:cNvSpPr>
              <p:nvPr/>
            </p:nvSpPr>
            <p:spPr bwMode="auto">
              <a:xfrm>
                <a:off x="2252" y="2463"/>
                <a:ext cx="249" cy="282"/>
              </a:xfrm>
              <a:custGeom>
                <a:avLst/>
                <a:gdLst>
                  <a:gd name="T0" fmla="*/ 1 w 196"/>
                  <a:gd name="T1" fmla="*/ 312 h 312"/>
                  <a:gd name="T2" fmla="*/ 196 w 196"/>
                  <a:gd name="T3" fmla="*/ 211 h 312"/>
                  <a:gd name="T4" fmla="*/ 196 w 196"/>
                  <a:gd name="T5" fmla="*/ 0 h 312"/>
                  <a:gd name="T6" fmla="*/ 0 w 196"/>
                  <a:gd name="T7" fmla="*/ 95 h 312"/>
                  <a:gd name="T8" fmla="*/ 0 w 196"/>
                  <a:gd name="T9" fmla="*/ 309 h 312"/>
                  <a:gd name="T10" fmla="*/ 1 w 196"/>
                  <a:gd name="T11" fmla="*/ 312 h 312"/>
                </a:gdLst>
                <a:ahLst/>
                <a:cxnLst>
                  <a:cxn ang="0">
                    <a:pos x="T0" y="T1"/>
                  </a:cxn>
                  <a:cxn ang="0">
                    <a:pos x="T2" y="T3"/>
                  </a:cxn>
                  <a:cxn ang="0">
                    <a:pos x="T4" y="T5"/>
                  </a:cxn>
                  <a:cxn ang="0">
                    <a:pos x="T6" y="T7"/>
                  </a:cxn>
                  <a:cxn ang="0">
                    <a:pos x="T8" y="T9"/>
                  </a:cxn>
                  <a:cxn ang="0">
                    <a:pos x="T10" y="T11"/>
                  </a:cxn>
                </a:cxnLst>
                <a:rect l="0" t="0" r="r" b="b"/>
                <a:pathLst>
                  <a:path w="196" h="312">
                    <a:moveTo>
                      <a:pt x="1" y="312"/>
                    </a:moveTo>
                    <a:lnTo>
                      <a:pt x="196" y="211"/>
                    </a:lnTo>
                    <a:lnTo>
                      <a:pt x="196" y="0"/>
                    </a:lnTo>
                    <a:lnTo>
                      <a:pt x="0" y="95"/>
                    </a:lnTo>
                    <a:lnTo>
                      <a:pt x="0" y="309"/>
                    </a:lnTo>
                    <a:lnTo>
                      <a:pt x="1" y="312"/>
                    </a:lnTo>
                    <a:close/>
                  </a:path>
                </a:pathLst>
              </a:custGeom>
              <a:solidFill>
                <a:srgbClr val="DC7F02"/>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08" name="Freeform 236">
                <a:extLst>
                  <a:ext uri="{FF2B5EF4-FFF2-40B4-BE49-F238E27FC236}">
                    <a16:creationId xmlns:a16="http://schemas.microsoft.com/office/drawing/2014/main" id="{DBC7294B-CBE4-5163-963C-D95D17C01E19}"/>
                  </a:ext>
                </a:extLst>
              </p:cNvPr>
              <p:cNvSpPr>
                <a:spLocks/>
              </p:cNvSpPr>
              <p:nvPr/>
            </p:nvSpPr>
            <p:spPr bwMode="auto">
              <a:xfrm>
                <a:off x="2124" y="2509"/>
                <a:ext cx="128" cy="233"/>
              </a:xfrm>
              <a:custGeom>
                <a:avLst/>
                <a:gdLst>
                  <a:gd name="T0" fmla="*/ 104 w 104"/>
                  <a:gd name="T1" fmla="*/ 258 h 258"/>
                  <a:gd name="T2" fmla="*/ 104 w 104"/>
                  <a:gd name="T3" fmla="*/ 44 h 258"/>
                  <a:gd name="T4" fmla="*/ 0 w 104"/>
                  <a:gd name="T5" fmla="*/ 0 h 258"/>
                  <a:gd name="T6" fmla="*/ 1 w 104"/>
                  <a:gd name="T7" fmla="*/ 209 h 258"/>
                  <a:gd name="T8" fmla="*/ 104 w 104"/>
                  <a:gd name="T9" fmla="*/ 258 h 258"/>
                </a:gdLst>
                <a:ahLst/>
                <a:cxnLst>
                  <a:cxn ang="0">
                    <a:pos x="T0" y="T1"/>
                  </a:cxn>
                  <a:cxn ang="0">
                    <a:pos x="T2" y="T3"/>
                  </a:cxn>
                  <a:cxn ang="0">
                    <a:pos x="T4" y="T5"/>
                  </a:cxn>
                  <a:cxn ang="0">
                    <a:pos x="T6" y="T7"/>
                  </a:cxn>
                  <a:cxn ang="0">
                    <a:pos x="T8" y="T9"/>
                  </a:cxn>
                </a:cxnLst>
                <a:rect l="0" t="0" r="r" b="b"/>
                <a:pathLst>
                  <a:path w="104" h="258">
                    <a:moveTo>
                      <a:pt x="104" y="258"/>
                    </a:moveTo>
                    <a:lnTo>
                      <a:pt x="104" y="44"/>
                    </a:lnTo>
                    <a:lnTo>
                      <a:pt x="0" y="0"/>
                    </a:lnTo>
                    <a:lnTo>
                      <a:pt x="1" y="209"/>
                    </a:lnTo>
                    <a:lnTo>
                      <a:pt x="104" y="258"/>
                    </a:lnTo>
                    <a:close/>
                  </a:path>
                </a:pathLst>
              </a:custGeom>
              <a:solidFill>
                <a:srgbClr val="FDC477"/>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09" name="Line 237">
                <a:extLst>
                  <a:ext uri="{FF2B5EF4-FFF2-40B4-BE49-F238E27FC236}">
                    <a16:creationId xmlns:a16="http://schemas.microsoft.com/office/drawing/2014/main" id="{76F0D1A3-8E8C-3DFB-F794-A4F94FA59D29}"/>
                  </a:ext>
                </a:extLst>
              </p:cNvPr>
              <p:cNvSpPr>
                <a:spLocks noChangeShapeType="1"/>
              </p:cNvSpPr>
              <p:nvPr/>
            </p:nvSpPr>
            <p:spPr bwMode="auto">
              <a:xfrm flipH="1" flipV="1">
                <a:off x="2124" y="2696"/>
                <a:ext cx="128" cy="46"/>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10" name="Line 238">
                <a:extLst>
                  <a:ext uri="{FF2B5EF4-FFF2-40B4-BE49-F238E27FC236}">
                    <a16:creationId xmlns:a16="http://schemas.microsoft.com/office/drawing/2014/main" id="{9067430E-46CA-049C-6D0D-C3B42BD93728}"/>
                  </a:ext>
                </a:extLst>
              </p:cNvPr>
              <p:cNvSpPr>
                <a:spLocks noChangeShapeType="1"/>
              </p:cNvSpPr>
              <p:nvPr/>
            </p:nvSpPr>
            <p:spPr bwMode="auto">
              <a:xfrm flipH="1" flipV="1">
                <a:off x="2124" y="2067"/>
                <a:ext cx="128" cy="38"/>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11" name="Line 239">
                <a:extLst>
                  <a:ext uri="{FF2B5EF4-FFF2-40B4-BE49-F238E27FC236}">
                    <a16:creationId xmlns:a16="http://schemas.microsoft.com/office/drawing/2014/main" id="{473DE6DF-E44B-82D3-107D-325B8329989C}"/>
                  </a:ext>
                </a:extLst>
              </p:cNvPr>
              <p:cNvSpPr>
                <a:spLocks noChangeShapeType="1"/>
              </p:cNvSpPr>
              <p:nvPr/>
            </p:nvSpPr>
            <p:spPr bwMode="auto">
              <a:xfrm flipH="1" flipV="1">
                <a:off x="2124" y="2509"/>
                <a:ext cx="128" cy="38"/>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12" name="Line 240">
                <a:extLst>
                  <a:ext uri="{FF2B5EF4-FFF2-40B4-BE49-F238E27FC236}">
                    <a16:creationId xmlns:a16="http://schemas.microsoft.com/office/drawing/2014/main" id="{BFE30DC9-E79F-09DC-7EB9-0348091C3F76}"/>
                  </a:ext>
                </a:extLst>
              </p:cNvPr>
              <p:cNvSpPr>
                <a:spLocks noChangeShapeType="1"/>
              </p:cNvSpPr>
              <p:nvPr/>
            </p:nvSpPr>
            <p:spPr bwMode="auto">
              <a:xfrm>
                <a:off x="2124" y="2281"/>
                <a:ext cx="128" cy="35"/>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13" name="Line 241">
                <a:extLst>
                  <a:ext uri="{FF2B5EF4-FFF2-40B4-BE49-F238E27FC236}">
                    <a16:creationId xmlns:a16="http://schemas.microsoft.com/office/drawing/2014/main" id="{62A11227-1487-984D-202F-2CBB1D7180FC}"/>
                  </a:ext>
                </a:extLst>
              </p:cNvPr>
              <p:cNvSpPr>
                <a:spLocks noChangeShapeType="1"/>
              </p:cNvSpPr>
              <p:nvPr/>
            </p:nvSpPr>
            <p:spPr bwMode="auto">
              <a:xfrm flipV="1">
                <a:off x="3094" y="2056"/>
                <a:ext cx="0" cy="198"/>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14" name="Line 242">
                <a:extLst>
                  <a:ext uri="{FF2B5EF4-FFF2-40B4-BE49-F238E27FC236}">
                    <a16:creationId xmlns:a16="http://schemas.microsoft.com/office/drawing/2014/main" id="{A8AFD89B-0CF9-878D-E4EC-7ED49275E599}"/>
                  </a:ext>
                </a:extLst>
              </p:cNvPr>
              <p:cNvSpPr>
                <a:spLocks noChangeShapeType="1"/>
              </p:cNvSpPr>
              <p:nvPr/>
            </p:nvSpPr>
            <p:spPr bwMode="auto">
              <a:xfrm flipV="1">
                <a:off x="3079" y="1817"/>
                <a:ext cx="200" cy="5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15" name="Freeform 243">
                <a:extLst>
                  <a:ext uri="{FF2B5EF4-FFF2-40B4-BE49-F238E27FC236}">
                    <a16:creationId xmlns:a16="http://schemas.microsoft.com/office/drawing/2014/main" id="{F54F4FBC-2A3A-9028-3A09-7548EE252414}"/>
                  </a:ext>
                </a:extLst>
              </p:cNvPr>
              <p:cNvSpPr>
                <a:spLocks/>
              </p:cNvSpPr>
              <p:nvPr/>
            </p:nvSpPr>
            <p:spPr bwMode="auto">
              <a:xfrm>
                <a:off x="2630" y="1926"/>
                <a:ext cx="256" cy="195"/>
              </a:xfrm>
              <a:custGeom>
                <a:avLst/>
                <a:gdLst>
                  <a:gd name="T0" fmla="*/ 204 w 204"/>
                  <a:gd name="T1" fmla="*/ 214 h 214"/>
                  <a:gd name="T2" fmla="*/ 204 w 204"/>
                  <a:gd name="T3" fmla="*/ 0 h 214"/>
                  <a:gd name="T4" fmla="*/ 0 w 204"/>
                  <a:gd name="T5" fmla="*/ 79 h 214"/>
                </a:gdLst>
                <a:ahLst/>
                <a:cxnLst>
                  <a:cxn ang="0">
                    <a:pos x="T0" y="T1"/>
                  </a:cxn>
                  <a:cxn ang="0">
                    <a:pos x="T2" y="T3"/>
                  </a:cxn>
                  <a:cxn ang="0">
                    <a:pos x="T4" y="T5"/>
                  </a:cxn>
                </a:cxnLst>
                <a:rect l="0" t="0" r="r" b="b"/>
                <a:pathLst>
                  <a:path w="204" h="214">
                    <a:moveTo>
                      <a:pt x="204" y="214"/>
                    </a:moveTo>
                    <a:lnTo>
                      <a:pt x="204" y="0"/>
                    </a:lnTo>
                    <a:lnTo>
                      <a:pt x="0" y="79"/>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16" name="Line 244">
                <a:extLst>
                  <a:ext uri="{FF2B5EF4-FFF2-40B4-BE49-F238E27FC236}">
                    <a16:creationId xmlns:a16="http://schemas.microsoft.com/office/drawing/2014/main" id="{38D07447-EF4F-AFCB-7728-C72F2CC71B71}"/>
                  </a:ext>
                </a:extLst>
              </p:cNvPr>
              <p:cNvSpPr>
                <a:spLocks noChangeShapeType="1"/>
              </p:cNvSpPr>
              <p:nvPr/>
            </p:nvSpPr>
            <p:spPr bwMode="auto">
              <a:xfrm flipH="1">
                <a:off x="3094" y="1996"/>
                <a:ext cx="185" cy="6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17" name="Line 245">
                <a:extLst>
                  <a:ext uri="{FF2B5EF4-FFF2-40B4-BE49-F238E27FC236}">
                    <a16:creationId xmlns:a16="http://schemas.microsoft.com/office/drawing/2014/main" id="{61B3A437-E7C5-38C7-71F4-DA892C72A733}"/>
                  </a:ext>
                </a:extLst>
              </p:cNvPr>
              <p:cNvSpPr>
                <a:spLocks noChangeShapeType="1"/>
              </p:cNvSpPr>
              <p:nvPr/>
            </p:nvSpPr>
            <p:spPr bwMode="auto">
              <a:xfrm flipH="1">
                <a:off x="3094" y="2186"/>
                <a:ext cx="196" cy="68"/>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18" name="Line 246">
                <a:extLst>
                  <a:ext uri="{FF2B5EF4-FFF2-40B4-BE49-F238E27FC236}">
                    <a16:creationId xmlns:a16="http://schemas.microsoft.com/office/drawing/2014/main" id="{76678C89-A186-503C-283E-B56223D2B822}"/>
                  </a:ext>
                </a:extLst>
              </p:cNvPr>
              <p:cNvSpPr>
                <a:spLocks noChangeShapeType="1"/>
              </p:cNvSpPr>
              <p:nvPr/>
            </p:nvSpPr>
            <p:spPr bwMode="auto">
              <a:xfrm flipH="1">
                <a:off x="3456" y="2105"/>
                <a:ext cx="61" cy="2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19" name="Line 247">
                <a:extLst>
                  <a:ext uri="{FF2B5EF4-FFF2-40B4-BE49-F238E27FC236}">
                    <a16:creationId xmlns:a16="http://schemas.microsoft.com/office/drawing/2014/main" id="{8BB0D9E7-3FF2-8CC3-EA94-FF7BC1F0BC8F}"/>
                  </a:ext>
                </a:extLst>
              </p:cNvPr>
              <p:cNvSpPr>
                <a:spLocks noChangeShapeType="1"/>
              </p:cNvSpPr>
              <p:nvPr/>
            </p:nvSpPr>
            <p:spPr bwMode="auto">
              <a:xfrm>
                <a:off x="2675" y="2186"/>
                <a:ext cx="0" cy="21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20" name="Line 248">
                <a:extLst>
                  <a:ext uri="{FF2B5EF4-FFF2-40B4-BE49-F238E27FC236}">
                    <a16:creationId xmlns:a16="http://schemas.microsoft.com/office/drawing/2014/main" id="{C088A42F-A754-30A0-15BC-68841163732E}"/>
                  </a:ext>
                </a:extLst>
              </p:cNvPr>
              <p:cNvSpPr>
                <a:spLocks noChangeShapeType="1"/>
              </p:cNvSpPr>
              <p:nvPr/>
            </p:nvSpPr>
            <p:spPr bwMode="auto">
              <a:xfrm flipV="1">
                <a:off x="3460" y="1923"/>
                <a:ext cx="57" cy="16"/>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21" name="Freeform 249">
                <a:extLst>
                  <a:ext uri="{FF2B5EF4-FFF2-40B4-BE49-F238E27FC236}">
                    <a16:creationId xmlns:a16="http://schemas.microsoft.com/office/drawing/2014/main" id="{3692C824-229A-52CF-85E2-D7E8927F8323}"/>
                  </a:ext>
                </a:extLst>
              </p:cNvPr>
              <p:cNvSpPr>
                <a:spLocks/>
              </p:cNvSpPr>
              <p:nvPr/>
            </p:nvSpPr>
            <p:spPr bwMode="auto">
              <a:xfrm>
                <a:off x="3279" y="1942"/>
                <a:ext cx="177" cy="184"/>
              </a:xfrm>
              <a:custGeom>
                <a:avLst/>
                <a:gdLst>
                  <a:gd name="T0" fmla="*/ 0 w 141"/>
                  <a:gd name="T1" fmla="*/ 61 h 205"/>
                  <a:gd name="T2" fmla="*/ 141 w 141"/>
                  <a:gd name="T3" fmla="*/ 0 h 205"/>
                  <a:gd name="T4" fmla="*/ 141 w 141"/>
                  <a:gd name="T5" fmla="*/ 205 h 205"/>
                </a:gdLst>
                <a:ahLst/>
                <a:cxnLst>
                  <a:cxn ang="0">
                    <a:pos x="T0" y="T1"/>
                  </a:cxn>
                  <a:cxn ang="0">
                    <a:pos x="T2" y="T3"/>
                  </a:cxn>
                  <a:cxn ang="0">
                    <a:pos x="T4" y="T5"/>
                  </a:cxn>
                </a:cxnLst>
                <a:rect l="0" t="0" r="r" b="b"/>
                <a:pathLst>
                  <a:path w="141" h="205">
                    <a:moveTo>
                      <a:pt x="0" y="61"/>
                    </a:moveTo>
                    <a:lnTo>
                      <a:pt x="141" y="0"/>
                    </a:lnTo>
                    <a:lnTo>
                      <a:pt x="141" y="205"/>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22" name="Line 250">
                <a:extLst>
                  <a:ext uri="{FF2B5EF4-FFF2-40B4-BE49-F238E27FC236}">
                    <a16:creationId xmlns:a16="http://schemas.microsoft.com/office/drawing/2014/main" id="{E62247AE-BC3E-FC5A-B736-22FCC59A7EDC}"/>
                  </a:ext>
                </a:extLst>
              </p:cNvPr>
              <p:cNvSpPr>
                <a:spLocks noChangeShapeType="1"/>
              </p:cNvSpPr>
              <p:nvPr/>
            </p:nvSpPr>
            <p:spPr bwMode="auto">
              <a:xfrm>
                <a:off x="3079" y="1709"/>
                <a:ext cx="0" cy="16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23" name="Line 251">
                <a:extLst>
                  <a:ext uri="{FF2B5EF4-FFF2-40B4-BE49-F238E27FC236}">
                    <a16:creationId xmlns:a16="http://schemas.microsoft.com/office/drawing/2014/main" id="{98A08FA7-64EB-0FBC-B279-10728F883AF1}"/>
                  </a:ext>
                </a:extLst>
              </p:cNvPr>
              <p:cNvSpPr>
                <a:spLocks noChangeShapeType="1"/>
              </p:cNvSpPr>
              <p:nvPr/>
            </p:nvSpPr>
            <p:spPr bwMode="auto">
              <a:xfrm flipH="1">
                <a:off x="3279" y="1771"/>
                <a:ext cx="158" cy="46"/>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24" name="Line 252">
                <a:extLst>
                  <a:ext uri="{FF2B5EF4-FFF2-40B4-BE49-F238E27FC236}">
                    <a16:creationId xmlns:a16="http://schemas.microsoft.com/office/drawing/2014/main" id="{65FAB98E-BA24-B2A5-62D4-B4CD89C3C1F3}"/>
                  </a:ext>
                </a:extLst>
              </p:cNvPr>
              <p:cNvSpPr>
                <a:spLocks noChangeShapeType="1"/>
              </p:cNvSpPr>
              <p:nvPr/>
            </p:nvSpPr>
            <p:spPr bwMode="auto">
              <a:xfrm flipH="1">
                <a:off x="3290" y="2126"/>
                <a:ext cx="166" cy="6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25" name="Line 253">
                <a:extLst>
                  <a:ext uri="{FF2B5EF4-FFF2-40B4-BE49-F238E27FC236}">
                    <a16:creationId xmlns:a16="http://schemas.microsoft.com/office/drawing/2014/main" id="{848F397F-2408-41A8-7234-0C2369D5F535}"/>
                  </a:ext>
                </a:extLst>
              </p:cNvPr>
              <p:cNvSpPr>
                <a:spLocks noChangeShapeType="1"/>
              </p:cNvSpPr>
              <p:nvPr/>
            </p:nvSpPr>
            <p:spPr bwMode="auto">
              <a:xfrm flipH="1">
                <a:off x="3437" y="1749"/>
                <a:ext cx="80" cy="2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26" name="Line 254">
                <a:extLst>
                  <a:ext uri="{FF2B5EF4-FFF2-40B4-BE49-F238E27FC236}">
                    <a16:creationId xmlns:a16="http://schemas.microsoft.com/office/drawing/2014/main" id="{AE075582-DEA6-D92A-9C95-AF84FC25A933}"/>
                  </a:ext>
                </a:extLst>
              </p:cNvPr>
              <p:cNvSpPr>
                <a:spLocks noChangeShapeType="1"/>
              </p:cNvSpPr>
              <p:nvPr/>
            </p:nvSpPr>
            <p:spPr bwMode="auto">
              <a:xfrm flipV="1">
                <a:off x="3437" y="1622"/>
                <a:ext cx="0" cy="149"/>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27" name="Line 255">
                <a:extLst>
                  <a:ext uri="{FF2B5EF4-FFF2-40B4-BE49-F238E27FC236}">
                    <a16:creationId xmlns:a16="http://schemas.microsoft.com/office/drawing/2014/main" id="{A29B48B7-DE95-BF56-FA7F-59B1A9AA48F8}"/>
                  </a:ext>
                </a:extLst>
              </p:cNvPr>
              <p:cNvSpPr>
                <a:spLocks noChangeShapeType="1"/>
              </p:cNvSpPr>
              <p:nvPr/>
            </p:nvSpPr>
            <p:spPr bwMode="auto">
              <a:xfrm flipV="1">
                <a:off x="3456" y="2297"/>
                <a:ext cx="0" cy="14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28" name="Line 256">
                <a:extLst>
                  <a:ext uri="{FF2B5EF4-FFF2-40B4-BE49-F238E27FC236}">
                    <a16:creationId xmlns:a16="http://schemas.microsoft.com/office/drawing/2014/main" id="{C3EE91F3-B377-FF25-CDFB-BF98BC9BF897}"/>
                  </a:ext>
                </a:extLst>
              </p:cNvPr>
              <p:cNvSpPr>
                <a:spLocks noChangeShapeType="1"/>
              </p:cNvSpPr>
              <p:nvPr/>
            </p:nvSpPr>
            <p:spPr bwMode="auto">
              <a:xfrm flipV="1">
                <a:off x="3456" y="2276"/>
                <a:ext cx="61" cy="2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29" name="Line 257">
                <a:extLst>
                  <a:ext uri="{FF2B5EF4-FFF2-40B4-BE49-F238E27FC236}">
                    <a16:creationId xmlns:a16="http://schemas.microsoft.com/office/drawing/2014/main" id="{E5C8CB61-C534-7D50-64BE-9B47A89C8A41}"/>
                  </a:ext>
                </a:extLst>
              </p:cNvPr>
              <p:cNvSpPr>
                <a:spLocks noChangeShapeType="1"/>
              </p:cNvSpPr>
              <p:nvPr/>
            </p:nvSpPr>
            <p:spPr bwMode="auto">
              <a:xfrm>
                <a:off x="3098" y="2430"/>
                <a:ext cx="0" cy="16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30" name="Line 258">
                <a:extLst>
                  <a:ext uri="{FF2B5EF4-FFF2-40B4-BE49-F238E27FC236}">
                    <a16:creationId xmlns:a16="http://schemas.microsoft.com/office/drawing/2014/main" id="{8B4296EB-4870-9A88-C662-21FEBA6EAEC9}"/>
                  </a:ext>
                </a:extLst>
              </p:cNvPr>
              <p:cNvSpPr>
                <a:spLocks noChangeShapeType="1"/>
              </p:cNvSpPr>
              <p:nvPr/>
            </p:nvSpPr>
            <p:spPr bwMode="auto">
              <a:xfrm flipH="1">
                <a:off x="2886" y="2056"/>
                <a:ext cx="208"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31" name="Line 259">
                <a:extLst>
                  <a:ext uri="{FF2B5EF4-FFF2-40B4-BE49-F238E27FC236}">
                    <a16:creationId xmlns:a16="http://schemas.microsoft.com/office/drawing/2014/main" id="{D42693DB-9E1F-AFF5-BA45-2F8D96715CA0}"/>
                  </a:ext>
                </a:extLst>
              </p:cNvPr>
              <p:cNvSpPr>
                <a:spLocks noChangeShapeType="1"/>
              </p:cNvSpPr>
              <p:nvPr/>
            </p:nvSpPr>
            <p:spPr bwMode="auto">
              <a:xfrm flipH="1">
                <a:off x="2905" y="2430"/>
                <a:ext cx="193" cy="7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32" name="Freeform 260">
                <a:extLst>
                  <a:ext uri="{FF2B5EF4-FFF2-40B4-BE49-F238E27FC236}">
                    <a16:creationId xmlns:a16="http://schemas.microsoft.com/office/drawing/2014/main" id="{7EAB7D86-BCCC-052F-58F3-2C1959BFA089}"/>
                  </a:ext>
                </a:extLst>
              </p:cNvPr>
              <p:cNvSpPr>
                <a:spLocks/>
              </p:cNvSpPr>
              <p:nvPr/>
            </p:nvSpPr>
            <p:spPr bwMode="auto">
              <a:xfrm>
                <a:off x="2675" y="2319"/>
                <a:ext cx="230" cy="184"/>
              </a:xfrm>
              <a:custGeom>
                <a:avLst/>
                <a:gdLst>
                  <a:gd name="T0" fmla="*/ 183 w 183"/>
                  <a:gd name="T1" fmla="*/ 202 h 202"/>
                  <a:gd name="T2" fmla="*/ 183 w 183"/>
                  <a:gd name="T3" fmla="*/ 0 h 202"/>
                  <a:gd name="T4" fmla="*/ 0 w 183"/>
                  <a:gd name="T5" fmla="*/ 90 h 202"/>
                </a:gdLst>
                <a:ahLst/>
                <a:cxnLst>
                  <a:cxn ang="0">
                    <a:pos x="T0" y="T1"/>
                  </a:cxn>
                  <a:cxn ang="0">
                    <a:pos x="T2" y="T3"/>
                  </a:cxn>
                  <a:cxn ang="0">
                    <a:pos x="T4" y="T5"/>
                  </a:cxn>
                </a:cxnLst>
                <a:rect l="0" t="0" r="r" b="b"/>
                <a:pathLst>
                  <a:path w="183" h="202">
                    <a:moveTo>
                      <a:pt x="183" y="202"/>
                    </a:moveTo>
                    <a:lnTo>
                      <a:pt x="183" y="0"/>
                    </a:lnTo>
                    <a:lnTo>
                      <a:pt x="0" y="90"/>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33" name="Line 261">
                <a:extLst>
                  <a:ext uri="{FF2B5EF4-FFF2-40B4-BE49-F238E27FC236}">
                    <a16:creationId xmlns:a16="http://schemas.microsoft.com/office/drawing/2014/main" id="{CBEE89A7-970D-E15B-0797-3DD0CCBEACB8}"/>
                  </a:ext>
                </a:extLst>
              </p:cNvPr>
              <p:cNvSpPr>
                <a:spLocks noChangeShapeType="1"/>
              </p:cNvSpPr>
              <p:nvPr/>
            </p:nvSpPr>
            <p:spPr bwMode="auto">
              <a:xfrm flipV="1">
                <a:off x="2690" y="2503"/>
                <a:ext cx="215" cy="79"/>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34" name="Line 262">
                <a:extLst>
                  <a:ext uri="{FF2B5EF4-FFF2-40B4-BE49-F238E27FC236}">
                    <a16:creationId xmlns:a16="http://schemas.microsoft.com/office/drawing/2014/main" id="{9992DD6C-EDFC-43C1-4C77-3E0E9AB97227}"/>
                  </a:ext>
                </a:extLst>
              </p:cNvPr>
              <p:cNvSpPr>
                <a:spLocks noChangeShapeType="1"/>
              </p:cNvSpPr>
              <p:nvPr/>
            </p:nvSpPr>
            <p:spPr bwMode="auto">
              <a:xfrm flipV="1">
                <a:off x="3290" y="2297"/>
                <a:ext cx="166" cy="6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35" name="Line 263">
                <a:extLst>
                  <a:ext uri="{FF2B5EF4-FFF2-40B4-BE49-F238E27FC236}">
                    <a16:creationId xmlns:a16="http://schemas.microsoft.com/office/drawing/2014/main" id="{0A8DBD6B-AF73-EFB3-008E-C94790ED39AD}"/>
                  </a:ext>
                </a:extLst>
              </p:cNvPr>
              <p:cNvSpPr>
                <a:spLocks noChangeShapeType="1"/>
              </p:cNvSpPr>
              <p:nvPr/>
            </p:nvSpPr>
            <p:spPr bwMode="auto">
              <a:xfrm flipV="1">
                <a:off x="2909" y="2254"/>
                <a:ext cx="185"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36" name="Line 264">
                <a:extLst>
                  <a:ext uri="{FF2B5EF4-FFF2-40B4-BE49-F238E27FC236}">
                    <a16:creationId xmlns:a16="http://schemas.microsoft.com/office/drawing/2014/main" id="{0C7B391D-08A7-EDA1-04A2-C7878D8B6595}"/>
                  </a:ext>
                </a:extLst>
              </p:cNvPr>
              <p:cNvSpPr>
                <a:spLocks noChangeShapeType="1"/>
              </p:cNvSpPr>
              <p:nvPr/>
            </p:nvSpPr>
            <p:spPr bwMode="auto">
              <a:xfrm>
                <a:off x="3290" y="2186"/>
                <a:ext cx="0" cy="17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37" name="Line 265">
                <a:extLst>
                  <a:ext uri="{FF2B5EF4-FFF2-40B4-BE49-F238E27FC236}">
                    <a16:creationId xmlns:a16="http://schemas.microsoft.com/office/drawing/2014/main" id="{A0228F00-5311-1F59-6857-A53CD2CA1986}"/>
                  </a:ext>
                </a:extLst>
              </p:cNvPr>
              <p:cNvSpPr>
                <a:spLocks noChangeShapeType="1"/>
              </p:cNvSpPr>
              <p:nvPr/>
            </p:nvSpPr>
            <p:spPr bwMode="auto">
              <a:xfrm flipV="1">
                <a:off x="2630" y="1817"/>
                <a:ext cx="0" cy="18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38" name="Line 266">
                <a:extLst>
                  <a:ext uri="{FF2B5EF4-FFF2-40B4-BE49-F238E27FC236}">
                    <a16:creationId xmlns:a16="http://schemas.microsoft.com/office/drawing/2014/main" id="{DC144B5F-8D48-A203-37C7-D25448ED1BAE}"/>
                  </a:ext>
                </a:extLst>
              </p:cNvPr>
              <p:cNvSpPr>
                <a:spLocks noChangeShapeType="1"/>
              </p:cNvSpPr>
              <p:nvPr/>
            </p:nvSpPr>
            <p:spPr bwMode="auto">
              <a:xfrm flipH="1">
                <a:off x="2252" y="2040"/>
                <a:ext cx="227"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39" name="Line 267">
                <a:extLst>
                  <a:ext uri="{FF2B5EF4-FFF2-40B4-BE49-F238E27FC236}">
                    <a16:creationId xmlns:a16="http://schemas.microsoft.com/office/drawing/2014/main" id="{73DFE41E-7D9C-CEF0-9E98-3C0AA6AC3D6D}"/>
                  </a:ext>
                </a:extLst>
              </p:cNvPr>
              <p:cNvSpPr>
                <a:spLocks noChangeShapeType="1"/>
              </p:cNvSpPr>
              <p:nvPr/>
            </p:nvSpPr>
            <p:spPr bwMode="auto">
              <a:xfrm flipH="1">
                <a:off x="2479" y="2186"/>
                <a:ext cx="196" cy="6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40" name="Line 268">
                <a:extLst>
                  <a:ext uri="{FF2B5EF4-FFF2-40B4-BE49-F238E27FC236}">
                    <a16:creationId xmlns:a16="http://schemas.microsoft.com/office/drawing/2014/main" id="{90739DFA-C653-46D9-8803-C8192F1A13F9}"/>
                  </a:ext>
                </a:extLst>
              </p:cNvPr>
              <p:cNvSpPr>
                <a:spLocks noChangeShapeType="1"/>
              </p:cNvSpPr>
              <p:nvPr/>
            </p:nvSpPr>
            <p:spPr bwMode="auto">
              <a:xfrm flipV="1">
                <a:off x="2479" y="2040"/>
                <a:ext cx="0" cy="206"/>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41" name="Line 269">
                <a:extLst>
                  <a:ext uri="{FF2B5EF4-FFF2-40B4-BE49-F238E27FC236}">
                    <a16:creationId xmlns:a16="http://schemas.microsoft.com/office/drawing/2014/main" id="{BED75183-B452-CADC-7A9F-F21D5C7E4091}"/>
                  </a:ext>
                </a:extLst>
              </p:cNvPr>
              <p:cNvSpPr>
                <a:spLocks noChangeShapeType="1"/>
              </p:cNvSpPr>
              <p:nvPr/>
            </p:nvSpPr>
            <p:spPr bwMode="auto">
              <a:xfrm flipV="1">
                <a:off x="2479" y="1999"/>
                <a:ext cx="151" cy="4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42" name="Line 270">
                <a:extLst>
                  <a:ext uri="{FF2B5EF4-FFF2-40B4-BE49-F238E27FC236}">
                    <a16:creationId xmlns:a16="http://schemas.microsoft.com/office/drawing/2014/main" id="{20AC4358-2834-2478-AD5B-996E33FC51F6}"/>
                  </a:ext>
                </a:extLst>
              </p:cNvPr>
              <p:cNvSpPr>
                <a:spLocks noChangeShapeType="1"/>
              </p:cNvSpPr>
              <p:nvPr/>
            </p:nvSpPr>
            <p:spPr bwMode="auto">
              <a:xfrm flipV="1">
                <a:off x="2886" y="1871"/>
                <a:ext cx="193" cy="5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43" name="Freeform 271">
                <a:extLst>
                  <a:ext uri="{FF2B5EF4-FFF2-40B4-BE49-F238E27FC236}">
                    <a16:creationId xmlns:a16="http://schemas.microsoft.com/office/drawing/2014/main" id="{0126C536-1952-DF7A-DE65-C36EAEC1AD9D}"/>
                  </a:ext>
                </a:extLst>
              </p:cNvPr>
              <p:cNvSpPr>
                <a:spLocks/>
              </p:cNvSpPr>
              <p:nvPr/>
            </p:nvSpPr>
            <p:spPr bwMode="auto">
              <a:xfrm>
                <a:off x="2252" y="2246"/>
                <a:ext cx="227" cy="70"/>
              </a:xfrm>
              <a:custGeom>
                <a:avLst/>
                <a:gdLst>
                  <a:gd name="T0" fmla="*/ 180 w 180"/>
                  <a:gd name="T1" fmla="*/ 0 h 78"/>
                  <a:gd name="T2" fmla="*/ 1 w 180"/>
                  <a:gd name="T3" fmla="*/ 78 h 78"/>
                  <a:gd name="T4" fmla="*/ 0 w 180"/>
                  <a:gd name="T5" fmla="*/ 78 h 78"/>
                </a:gdLst>
                <a:ahLst/>
                <a:cxnLst>
                  <a:cxn ang="0">
                    <a:pos x="T0" y="T1"/>
                  </a:cxn>
                  <a:cxn ang="0">
                    <a:pos x="T2" y="T3"/>
                  </a:cxn>
                  <a:cxn ang="0">
                    <a:pos x="T4" y="T5"/>
                  </a:cxn>
                </a:cxnLst>
                <a:rect l="0" t="0" r="r" b="b"/>
                <a:pathLst>
                  <a:path w="180" h="78">
                    <a:moveTo>
                      <a:pt x="180" y="0"/>
                    </a:moveTo>
                    <a:lnTo>
                      <a:pt x="1" y="78"/>
                    </a:lnTo>
                    <a:lnTo>
                      <a:pt x="0" y="78"/>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44" name="Freeform 272">
                <a:extLst>
                  <a:ext uri="{FF2B5EF4-FFF2-40B4-BE49-F238E27FC236}">
                    <a16:creationId xmlns:a16="http://schemas.microsoft.com/office/drawing/2014/main" id="{E9E44CE1-6830-E9BF-55E7-A630E4BAACD9}"/>
                  </a:ext>
                </a:extLst>
              </p:cNvPr>
              <p:cNvSpPr>
                <a:spLocks/>
              </p:cNvSpPr>
              <p:nvPr/>
            </p:nvSpPr>
            <p:spPr bwMode="auto">
              <a:xfrm>
                <a:off x="2252" y="2653"/>
                <a:ext cx="249" cy="92"/>
              </a:xfrm>
              <a:custGeom>
                <a:avLst/>
                <a:gdLst>
                  <a:gd name="T0" fmla="*/ 196 w 196"/>
                  <a:gd name="T1" fmla="*/ 0 h 101"/>
                  <a:gd name="T2" fmla="*/ 1 w 196"/>
                  <a:gd name="T3" fmla="*/ 101 h 101"/>
                  <a:gd name="T4" fmla="*/ 0 w 196"/>
                  <a:gd name="T5" fmla="*/ 101 h 101"/>
                </a:gdLst>
                <a:ahLst/>
                <a:cxnLst>
                  <a:cxn ang="0">
                    <a:pos x="T0" y="T1"/>
                  </a:cxn>
                  <a:cxn ang="0">
                    <a:pos x="T2" y="T3"/>
                  </a:cxn>
                  <a:cxn ang="0">
                    <a:pos x="T4" y="T5"/>
                  </a:cxn>
                </a:cxnLst>
                <a:rect l="0" t="0" r="r" b="b"/>
                <a:pathLst>
                  <a:path w="196" h="101">
                    <a:moveTo>
                      <a:pt x="196" y="0"/>
                    </a:moveTo>
                    <a:lnTo>
                      <a:pt x="1" y="101"/>
                    </a:lnTo>
                    <a:lnTo>
                      <a:pt x="0" y="101"/>
                    </a:lnTo>
                  </a:path>
                </a:pathLst>
              </a:custGeom>
              <a:noFill/>
              <a:ln w="0">
                <a:solidFill>
                  <a:srgbClr val="8C8C8C"/>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45" name="Line 273">
                <a:extLst>
                  <a:ext uri="{FF2B5EF4-FFF2-40B4-BE49-F238E27FC236}">
                    <a16:creationId xmlns:a16="http://schemas.microsoft.com/office/drawing/2014/main" id="{4D7DA823-8CAD-48D9-4BA0-08BBFC2CAF59}"/>
                  </a:ext>
                </a:extLst>
              </p:cNvPr>
              <p:cNvSpPr>
                <a:spLocks noChangeShapeType="1"/>
              </p:cNvSpPr>
              <p:nvPr/>
            </p:nvSpPr>
            <p:spPr bwMode="auto">
              <a:xfrm flipV="1">
                <a:off x="2690" y="2582"/>
                <a:ext cx="0" cy="182"/>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46" name="Line 274">
                <a:extLst>
                  <a:ext uri="{FF2B5EF4-FFF2-40B4-BE49-F238E27FC236}">
                    <a16:creationId xmlns:a16="http://schemas.microsoft.com/office/drawing/2014/main" id="{BD4D0AD2-9F29-28EA-FBAD-C1599281B67B}"/>
                  </a:ext>
                </a:extLst>
              </p:cNvPr>
              <p:cNvSpPr>
                <a:spLocks noChangeShapeType="1"/>
              </p:cNvSpPr>
              <p:nvPr/>
            </p:nvSpPr>
            <p:spPr bwMode="auto">
              <a:xfrm flipH="1">
                <a:off x="2501" y="2582"/>
                <a:ext cx="189" cy="71"/>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47" name="Line 275">
                <a:extLst>
                  <a:ext uri="{FF2B5EF4-FFF2-40B4-BE49-F238E27FC236}">
                    <a16:creationId xmlns:a16="http://schemas.microsoft.com/office/drawing/2014/main" id="{F0843B2F-1D83-4EDD-BD64-C26EBD7C9677}"/>
                  </a:ext>
                </a:extLst>
              </p:cNvPr>
              <p:cNvSpPr>
                <a:spLocks noChangeShapeType="1"/>
              </p:cNvSpPr>
              <p:nvPr/>
            </p:nvSpPr>
            <p:spPr bwMode="auto">
              <a:xfrm flipV="1">
                <a:off x="2501" y="2400"/>
                <a:ext cx="174" cy="63"/>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48" name="Line 276">
                <a:extLst>
                  <a:ext uri="{FF2B5EF4-FFF2-40B4-BE49-F238E27FC236}">
                    <a16:creationId xmlns:a16="http://schemas.microsoft.com/office/drawing/2014/main" id="{E8A811FA-2E47-7E60-5E92-D0E33D81E44F}"/>
                  </a:ext>
                </a:extLst>
              </p:cNvPr>
              <p:cNvSpPr>
                <a:spLocks noChangeShapeType="1"/>
              </p:cNvSpPr>
              <p:nvPr/>
            </p:nvSpPr>
            <p:spPr bwMode="auto">
              <a:xfrm>
                <a:off x="2501" y="2463"/>
                <a:ext cx="0" cy="19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49" name="Line 277">
                <a:extLst>
                  <a:ext uri="{FF2B5EF4-FFF2-40B4-BE49-F238E27FC236}">
                    <a16:creationId xmlns:a16="http://schemas.microsoft.com/office/drawing/2014/main" id="{49EB93C6-706A-5B78-675A-4A7832602773}"/>
                  </a:ext>
                </a:extLst>
              </p:cNvPr>
              <p:cNvSpPr>
                <a:spLocks noChangeShapeType="1"/>
              </p:cNvSpPr>
              <p:nvPr/>
            </p:nvSpPr>
            <p:spPr bwMode="auto">
              <a:xfrm flipV="1">
                <a:off x="2252" y="2463"/>
                <a:ext cx="249" cy="84"/>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50" name="Line 278">
                <a:extLst>
                  <a:ext uri="{FF2B5EF4-FFF2-40B4-BE49-F238E27FC236}">
                    <a16:creationId xmlns:a16="http://schemas.microsoft.com/office/drawing/2014/main" id="{8B19910F-AC49-4F91-FD75-03E164393FB0}"/>
                  </a:ext>
                </a:extLst>
              </p:cNvPr>
              <p:cNvSpPr>
                <a:spLocks noChangeShapeType="1"/>
              </p:cNvSpPr>
              <p:nvPr/>
            </p:nvSpPr>
            <p:spPr bwMode="auto">
              <a:xfrm flipH="1">
                <a:off x="3098" y="2360"/>
                <a:ext cx="192" cy="70"/>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51" name="Line 279">
                <a:extLst>
                  <a:ext uri="{FF2B5EF4-FFF2-40B4-BE49-F238E27FC236}">
                    <a16:creationId xmlns:a16="http://schemas.microsoft.com/office/drawing/2014/main" id="{1153F18D-50D9-973E-AA01-F70B328B8EFB}"/>
                  </a:ext>
                </a:extLst>
              </p:cNvPr>
              <p:cNvSpPr>
                <a:spLocks noChangeShapeType="1"/>
              </p:cNvSpPr>
              <p:nvPr/>
            </p:nvSpPr>
            <p:spPr bwMode="auto">
              <a:xfrm>
                <a:off x="3279" y="1817"/>
                <a:ext cx="0" cy="179"/>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52" name="Line 280">
                <a:extLst>
                  <a:ext uri="{FF2B5EF4-FFF2-40B4-BE49-F238E27FC236}">
                    <a16:creationId xmlns:a16="http://schemas.microsoft.com/office/drawing/2014/main" id="{36983F3C-3A7F-EDDA-077D-27323C3ECAB0}"/>
                  </a:ext>
                </a:extLst>
              </p:cNvPr>
              <p:cNvSpPr>
                <a:spLocks noChangeShapeType="1"/>
              </p:cNvSpPr>
              <p:nvPr/>
            </p:nvSpPr>
            <p:spPr bwMode="auto">
              <a:xfrm flipH="1">
                <a:off x="2675" y="2121"/>
                <a:ext cx="211" cy="65"/>
              </a:xfrm>
              <a:prstGeom prst="line">
                <a:avLst/>
              </a:prstGeom>
              <a:noFill/>
              <a:ln w="0">
                <a:solidFill>
                  <a:srgbClr val="8C8C8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53" name="Line 281">
                <a:extLst>
                  <a:ext uri="{FF2B5EF4-FFF2-40B4-BE49-F238E27FC236}">
                    <a16:creationId xmlns:a16="http://schemas.microsoft.com/office/drawing/2014/main" id="{5EF6AD0D-D0D0-B84C-3413-A7B25CDAAAB3}"/>
                  </a:ext>
                </a:extLst>
              </p:cNvPr>
              <p:cNvSpPr>
                <a:spLocks noChangeShapeType="1"/>
              </p:cNvSpPr>
              <p:nvPr/>
            </p:nvSpPr>
            <p:spPr bwMode="auto">
              <a:xfrm flipV="1">
                <a:off x="2886" y="1926"/>
                <a:ext cx="0" cy="0"/>
              </a:xfrm>
              <a:prstGeom prst="line">
                <a:avLst/>
              </a:prstGeom>
              <a:noFill/>
              <a:ln w="0">
                <a:solidFill>
                  <a:srgbClr val="C8C8C8"/>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54" name="Line 282">
                <a:extLst>
                  <a:ext uri="{FF2B5EF4-FFF2-40B4-BE49-F238E27FC236}">
                    <a16:creationId xmlns:a16="http://schemas.microsoft.com/office/drawing/2014/main" id="{B232EDDE-B52E-5464-9E7E-45C7C9149212}"/>
                  </a:ext>
                </a:extLst>
              </p:cNvPr>
              <p:cNvSpPr>
                <a:spLocks noChangeShapeType="1"/>
              </p:cNvSpPr>
              <p:nvPr/>
            </p:nvSpPr>
            <p:spPr bwMode="auto">
              <a:xfrm flipV="1">
                <a:off x="3456" y="1939"/>
                <a:ext cx="4" cy="3"/>
              </a:xfrm>
              <a:prstGeom prst="line">
                <a:avLst/>
              </a:prstGeom>
              <a:noFill/>
              <a:ln w="0">
                <a:solidFill>
                  <a:srgbClr val="C8C8C8"/>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55" name="Line 283">
                <a:extLst>
                  <a:ext uri="{FF2B5EF4-FFF2-40B4-BE49-F238E27FC236}">
                    <a16:creationId xmlns:a16="http://schemas.microsoft.com/office/drawing/2014/main" id="{58FF9444-DF13-8B3F-00CC-FCBFC2C7D750}"/>
                  </a:ext>
                </a:extLst>
              </p:cNvPr>
              <p:cNvSpPr>
                <a:spLocks noChangeShapeType="1"/>
              </p:cNvSpPr>
              <p:nvPr/>
            </p:nvSpPr>
            <p:spPr bwMode="auto">
              <a:xfrm>
                <a:off x="2905" y="2319"/>
                <a:ext cx="4" cy="0"/>
              </a:xfrm>
              <a:prstGeom prst="line">
                <a:avLst/>
              </a:prstGeom>
              <a:noFill/>
              <a:ln w="0">
                <a:solidFill>
                  <a:srgbClr val="C8C8C8"/>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56" name="Freeform 284">
                <a:extLst>
                  <a:ext uri="{FF2B5EF4-FFF2-40B4-BE49-F238E27FC236}">
                    <a16:creationId xmlns:a16="http://schemas.microsoft.com/office/drawing/2014/main" id="{F72705BE-99A1-160B-D66D-ECCB317E63BA}"/>
                  </a:ext>
                </a:extLst>
              </p:cNvPr>
              <p:cNvSpPr>
                <a:spLocks/>
              </p:cNvSpPr>
              <p:nvPr/>
            </p:nvSpPr>
            <p:spPr bwMode="auto">
              <a:xfrm>
                <a:off x="3619" y="1828"/>
                <a:ext cx="143" cy="122"/>
              </a:xfrm>
              <a:custGeom>
                <a:avLst/>
                <a:gdLst>
                  <a:gd name="T0" fmla="*/ 76 w 112"/>
                  <a:gd name="T1" fmla="*/ 111 h 137"/>
                  <a:gd name="T2" fmla="*/ 95 w 112"/>
                  <a:gd name="T3" fmla="*/ 47 h 137"/>
                  <a:gd name="T4" fmla="*/ 112 w 112"/>
                  <a:gd name="T5" fmla="*/ 0 h 137"/>
                  <a:gd name="T6" fmla="*/ 82 w 112"/>
                  <a:gd name="T7" fmla="*/ 13 h 137"/>
                  <a:gd name="T8" fmla="*/ 56 w 112"/>
                  <a:gd name="T9" fmla="*/ 32 h 137"/>
                  <a:gd name="T10" fmla="*/ 42 w 112"/>
                  <a:gd name="T11" fmla="*/ 43 h 137"/>
                  <a:gd name="T12" fmla="*/ 33 w 112"/>
                  <a:gd name="T13" fmla="*/ 56 h 137"/>
                  <a:gd name="T14" fmla="*/ 23 w 112"/>
                  <a:gd name="T15" fmla="*/ 69 h 137"/>
                  <a:gd name="T16" fmla="*/ 17 w 112"/>
                  <a:gd name="T17" fmla="*/ 86 h 137"/>
                  <a:gd name="T18" fmla="*/ 0 w 112"/>
                  <a:gd name="T19" fmla="*/ 133 h 137"/>
                  <a:gd name="T20" fmla="*/ 6 w 112"/>
                  <a:gd name="T21" fmla="*/ 123 h 137"/>
                  <a:gd name="T22" fmla="*/ 14 w 112"/>
                  <a:gd name="T23" fmla="*/ 116 h 137"/>
                  <a:gd name="T24" fmla="*/ 27 w 112"/>
                  <a:gd name="T25" fmla="*/ 105 h 137"/>
                  <a:gd name="T26" fmla="*/ 32 w 112"/>
                  <a:gd name="T27" fmla="*/ 101 h 137"/>
                  <a:gd name="T28" fmla="*/ 38 w 112"/>
                  <a:gd name="T29" fmla="*/ 98 h 137"/>
                  <a:gd name="T30" fmla="*/ 41 w 112"/>
                  <a:gd name="T31" fmla="*/ 97 h 137"/>
                  <a:gd name="T32" fmla="*/ 46 w 112"/>
                  <a:gd name="T33" fmla="*/ 98 h 137"/>
                  <a:gd name="T34" fmla="*/ 47 w 112"/>
                  <a:gd name="T35" fmla="*/ 98 h 137"/>
                  <a:gd name="T36" fmla="*/ 50 w 112"/>
                  <a:gd name="T37" fmla="*/ 101 h 137"/>
                  <a:gd name="T38" fmla="*/ 51 w 112"/>
                  <a:gd name="T39" fmla="*/ 103 h 137"/>
                  <a:gd name="T40" fmla="*/ 53 w 112"/>
                  <a:gd name="T41" fmla="*/ 108 h 137"/>
                  <a:gd name="T42" fmla="*/ 53 w 112"/>
                  <a:gd name="T43" fmla="*/ 113 h 137"/>
                  <a:gd name="T44" fmla="*/ 54 w 112"/>
                  <a:gd name="T45" fmla="*/ 120 h 137"/>
                  <a:gd name="T46" fmla="*/ 53 w 112"/>
                  <a:gd name="T47" fmla="*/ 127 h 137"/>
                  <a:gd name="T48" fmla="*/ 53 w 112"/>
                  <a:gd name="T49" fmla="*/ 137 h 137"/>
                  <a:gd name="T50" fmla="*/ 56 w 112"/>
                  <a:gd name="T51" fmla="*/ 135 h 137"/>
                  <a:gd name="T52" fmla="*/ 56 w 112"/>
                  <a:gd name="T53" fmla="*/ 134 h 137"/>
                  <a:gd name="T54" fmla="*/ 57 w 112"/>
                  <a:gd name="T55" fmla="*/ 134 h 137"/>
                  <a:gd name="T56" fmla="*/ 59 w 112"/>
                  <a:gd name="T57" fmla="*/ 134 h 137"/>
                  <a:gd name="T58" fmla="*/ 66 w 112"/>
                  <a:gd name="T59" fmla="*/ 129 h 137"/>
                  <a:gd name="T60" fmla="*/ 71 w 112"/>
                  <a:gd name="T61" fmla="*/ 121 h 137"/>
                  <a:gd name="T62" fmla="*/ 76 w 112"/>
                  <a:gd name="T63" fmla="*/ 11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 h="137">
                    <a:moveTo>
                      <a:pt x="76" y="111"/>
                    </a:moveTo>
                    <a:lnTo>
                      <a:pt x="95" y="47"/>
                    </a:lnTo>
                    <a:lnTo>
                      <a:pt x="112" y="0"/>
                    </a:lnTo>
                    <a:lnTo>
                      <a:pt x="82" y="13"/>
                    </a:lnTo>
                    <a:lnTo>
                      <a:pt x="56" y="32"/>
                    </a:lnTo>
                    <a:lnTo>
                      <a:pt x="42" y="43"/>
                    </a:lnTo>
                    <a:lnTo>
                      <a:pt x="33" y="56"/>
                    </a:lnTo>
                    <a:lnTo>
                      <a:pt x="23" y="69"/>
                    </a:lnTo>
                    <a:lnTo>
                      <a:pt x="17" y="86"/>
                    </a:lnTo>
                    <a:lnTo>
                      <a:pt x="0" y="133"/>
                    </a:lnTo>
                    <a:lnTo>
                      <a:pt x="6" y="123"/>
                    </a:lnTo>
                    <a:lnTo>
                      <a:pt x="14" y="116"/>
                    </a:lnTo>
                    <a:lnTo>
                      <a:pt x="27" y="105"/>
                    </a:lnTo>
                    <a:lnTo>
                      <a:pt x="32" y="101"/>
                    </a:lnTo>
                    <a:lnTo>
                      <a:pt x="38" y="98"/>
                    </a:lnTo>
                    <a:lnTo>
                      <a:pt x="41" y="97"/>
                    </a:lnTo>
                    <a:lnTo>
                      <a:pt x="46" y="98"/>
                    </a:lnTo>
                    <a:lnTo>
                      <a:pt x="47" y="98"/>
                    </a:lnTo>
                    <a:lnTo>
                      <a:pt x="50" y="101"/>
                    </a:lnTo>
                    <a:lnTo>
                      <a:pt x="51" y="103"/>
                    </a:lnTo>
                    <a:lnTo>
                      <a:pt x="53" y="108"/>
                    </a:lnTo>
                    <a:lnTo>
                      <a:pt x="53" y="113"/>
                    </a:lnTo>
                    <a:lnTo>
                      <a:pt x="54" y="120"/>
                    </a:lnTo>
                    <a:lnTo>
                      <a:pt x="53" y="127"/>
                    </a:lnTo>
                    <a:lnTo>
                      <a:pt x="53" y="137"/>
                    </a:lnTo>
                    <a:lnTo>
                      <a:pt x="56" y="135"/>
                    </a:lnTo>
                    <a:lnTo>
                      <a:pt x="56" y="134"/>
                    </a:lnTo>
                    <a:lnTo>
                      <a:pt x="57" y="134"/>
                    </a:lnTo>
                    <a:lnTo>
                      <a:pt x="59" y="134"/>
                    </a:lnTo>
                    <a:lnTo>
                      <a:pt x="66" y="129"/>
                    </a:lnTo>
                    <a:lnTo>
                      <a:pt x="71" y="121"/>
                    </a:lnTo>
                    <a:lnTo>
                      <a:pt x="76" y="111"/>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757" name="Freeform 285">
                <a:extLst>
                  <a:ext uri="{FF2B5EF4-FFF2-40B4-BE49-F238E27FC236}">
                    <a16:creationId xmlns:a16="http://schemas.microsoft.com/office/drawing/2014/main" id="{BD20CC49-FC73-D5F4-1D5E-A6F658359D47}"/>
                  </a:ext>
                </a:extLst>
              </p:cNvPr>
              <p:cNvSpPr>
                <a:spLocks/>
              </p:cNvSpPr>
              <p:nvPr/>
            </p:nvSpPr>
            <p:spPr bwMode="auto">
              <a:xfrm>
                <a:off x="3445" y="1975"/>
                <a:ext cx="253" cy="466"/>
              </a:xfrm>
              <a:custGeom>
                <a:avLst/>
                <a:gdLst>
                  <a:gd name="T0" fmla="*/ 61 w 203"/>
                  <a:gd name="T1" fmla="*/ 240 h 518"/>
                  <a:gd name="T2" fmla="*/ 46 w 203"/>
                  <a:gd name="T3" fmla="*/ 267 h 518"/>
                  <a:gd name="T4" fmla="*/ 34 w 203"/>
                  <a:gd name="T5" fmla="*/ 289 h 518"/>
                  <a:gd name="T6" fmla="*/ 23 w 203"/>
                  <a:gd name="T7" fmla="*/ 312 h 518"/>
                  <a:gd name="T8" fmla="*/ 5 w 203"/>
                  <a:gd name="T9" fmla="*/ 367 h 518"/>
                  <a:gd name="T10" fmla="*/ 0 w 203"/>
                  <a:gd name="T11" fmla="*/ 428 h 518"/>
                  <a:gd name="T12" fmla="*/ 6 w 203"/>
                  <a:gd name="T13" fmla="*/ 482 h 518"/>
                  <a:gd name="T14" fmla="*/ 11 w 203"/>
                  <a:gd name="T15" fmla="*/ 515 h 518"/>
                  <a:gd name="T16" fmla="*/ 28 w 203"/>
                  <a:gd name="T17" fmla="*/ 517 h 518"/>
                  <a:gd name="T18" fmla="*/ 46 w 203"/>
                  <a:gd name="T19" fmla="*/ 516 h 518"/>
                  <a:gd name="T20" fmla="*/ 67 w 203"/>
                  <a:gd name="T21" fmla="*/ 505 h 518"/>
                  <a:gd name="T22" fmla="*/ 92 w 203"/>
                  <a:gd name="T23" fmla="*/ 483 h 518"/>
                  <a:gd name="T24" fmla="*/ 120 w 203"/>
                  <a:gd name="T25" fmla="*/ 453 h 518"/>
                  <a:gd name="T26" fmla="*/ 151 w 203"/>
                  <a:gd name="T27" fmla="*/ 411 h 518"/>
                  <a:gd name="T28" fmla="*/ 175 w 203"/>
                  <a:gd name="T29" fmla="*/ 363 h 518"/>
                  <a:gd name="T30" fmla="*/ 182 w 203"/>
                  <a:gd name="T31" fmla="*/ 345 h 518"/>
                  <a:gd name="T32" fmla="*/ 188 w 203"/>
                  <a:gd name="T33" fmla="*/ 327 h 518"/>
                  <a:gd name="T34" fmla="*/ 198 w 203"/>
                  <a:gd name="T35" fmla="*/ 291 h 518"/>
                  <a:gd name="T36" fmla="*/ 203 w 203"/>
                  <a:gd name="T37" fmla="*/ 243 h 518"/>
                  <a:gd name="T38" fmla="*/ 202 w 203"/>
                  <a:gd name="T39" fmla="*/ 215 h 518"/>
                  <a:gd name="T40" fmla="*/ 194 w 203"/>
                  <a:gd name="T41" fmla="*/ 167 h 518"/>
                  <a:gd name="T42" fmla="*/ 179 w 203"/>
                  <a:gd name="T43" fmla="*/ 123 h 518"/>
                  <a:gd name="T44" fmla="*/ 155 w 203"/>
                  <a:gd name="T45" fmla="*/ 62 h 518"/>
                  <a:gd name="T46" fmla="*/ 133 w 203"/>
                  <a:gd name="T47" fmla="*/ 0 h 518"/>
                  <a:gd name="T48" fmla="*/ 130 w 203"/>
                  <a:gd name="T49" fmla="*/ 43 h 518"/>
                  <a:gd name="T50" fmla="*/ 128 w 203"/>
                  <a:gd name="T51" fmla="*/ 59 h 518"/>
                  <a:gd name="T52" fmla="*/ 120 w 203"/>
                  <a:gd name="T53" fmla="*/ 102 h 518"/>
                  <a:gd name="T54" fmla="*/ 109 w 203"/>
                  <a:gd name="T55" fmla="*/ 144 h 518"/>
                  <a:gd name="T56" fmla="*/ 106 w 203"/>
                  <a:gd name="T57" fmla="*/ 147 h 518"/>
                  <a:gd name="T58" fmla="*/ 103 w 203"/>
                  <a:gd name="T59" fmla="*/ 157 h 518"/>
                  <a:gd name="T60" fmla="*/ 85 w 203"/>
                  <a:gd name="T61" fmla="*/ 198 h 518"/>
                  <a:gd name="T62" fmla="*/ 72 w 203"/>
                  <a:gd name="T63" fmla="*/ 225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3" h="518">
                    <a:moveTo>
                      <a:pt x="72" y="225"/>
                    </a:moveTo>
                    <a:lnTo>
                      <a:pt x="61" y="240"/>
                    </a:lnTo>
                    <a:lnTo>
                      <a:pt x="53" y="254"/>
                    </a:lnTo>
                    <a:lnTo>
                      <a:pt x="46" y="267"/>
                    </a:lnTo>
                    <a:lnTo>
                      <a:pt x="40" y="279"/>
                    </a:lnTo>
                    <a:lnTo>
                      <a:pt x="34" y="289"/>
                    </a:lnTo>
                    <a:lnTo>
                      <a:pt x="29" y="297"/>
                    </a:lnTo>
                    <a:lnTo>
                      <a:pt x="23" y="312"/>
                    </a:lnTo>
                    <a:lnTo>
                      <a:pt x="12" y="338"/>
                    </a:lnTo>
                    <a:lnTo>
                      <a:pt x="5" y="367"/>
                    </a:lnTo>
                    <a:lnTo>
                      <a:pt x="1" y="397"/>
                    </a:lnTo>
                    <a:lnTo>
                      <a:pt x="0" y="428"/>
                    </a:lnTo>
                    <a:lnTo>
                      <a:pt x="1" y="456"/>
                    </a:lnTo>
                    <a:lnTo>
                      <a:pt x="6" y="482"/>
                    </a:lnTo>
                    <a:lnTo>
                      <a:pt x="8" y="498"/>
                    </a:lnTo>
                    <a:lnTo>
                      <a:pt x="11" y="515"/>
                    </a:lnTo>
                    <a:lnTo>
                      <a:pt x="22" y="517"/>
                    </a:lnTo>
                    <a:lnTo>
                      <a:pt x="28" y="517"/>
                    </a:lnTo>
                    <a:lnTo>
                      <a:pt x="36" y="518"/>
                    </a:lnTo>
                    <a:lnTo>
                      <a:pt x="46" y="516"/>
                    </a:lnTo>
                    <a:lnTo>
                      <a:pt x="56" y="512"/>
                    </a:lnTo>
                    <a:lnTo>
                      <a:pt x="67" y="505"/>
                    </a:lnTo>
                    <a:lnTo>
                      <a:pt x="80" y="497"/>
                    </a:lnTo>
                    <a:lnTo>
                      <a:pt x="92" y="483"/>
                    </a:lnTo>
                    <a:lnTo>
                      <a:pt x="106" y="470"/>
                    </a:lnTo>
                    <a:lnTo>
                      <a:pt x="120" y="453"/>
                    </a:lnTo>
                    <a:lnTo>
                      <a:pt x="136" y="435"/>
                    </a:lnTo>
                    <a:lnTo>
                      <a:pt x="151" y="411"/>
                    </a:lnTo>
                    <a:lnTo>
                      <a:pt x="164" y="387"/>
                    </a:lnTo>
                    <a:lnTo>
                      <a:pt x="175" y="363"/>
                    </a:lnTo>
                    <a:lnTo>
                      <a:pt x="180" y="351"/>
                    </a:lnTo>
                    <a:lnTo>
                      <a:pt x="182" y="345"/>
                    </a:lnTo>
                    <a:lnTo>
                      <a:pt x="186" y="341"/>
                    </a:lnTo>
                    <a:lnTo>
                      <a:pt x="188" y="327"/>
                    </a:lnTo>
                    <a:lnTo>
                      <a:pt x="192" y="315"/>
                    </a:lnTo>
                    <a:lnTo>
                      <a:pt x="198" y="291"/>
                    </a:lnTo>
                    <a:lnTo>
                      <a:pt x="202" y="267"/>
                    </a:lnTo>
                    <a:lnTo>
                      <a:pt x="203" y="243"/>
                    </a:lnTo>
                    <a:lnTo>
                      <a:pt x="202" y="228"/>
                    </a:lnTo>
                    <a:lnTo>
                      <a:pt x="202" y="215"/>
                    </a:lnTo>
                    <a:lnTo>
                      <a:pt x="199" y="189"/>
                    </a:lnTo>
                    <a:lnTo>
                      <a:pt x="194" y="167"/>
                    </a:lnTo>
                    <a:lnTo>
                      <a:pt x="190" y="147"/>
                    </a:lnTo>
                    <a:lnTo>
                      <a:pt x="179" y="123"/>
                    </a:lnTo>
                    <a:lnTo>
                      <a:pt x="170" y="102"/>
                    </a:lnTo>
                    <a:lnTo>
                      <a:pt x="155" y="62"/>
                    </a:lnTo>
                    <a:lnTo>
                      <a:pt x="142" y="27"/>
                    </a:lnTo>
                    <a:lnTo>
                      <a:pt x="133" y="0"/>
                    </a:lnTo>
                    <a:lnTo>
                      <a:pt x="132" y="29"/>
                    </a:lnTo>
                    <a:lnTo>
                      <a:pt x="130" y="43"/>
                    </a:lnTo>
                    <a:lnTo>
                      <a:pt x="128" y="50"/>
                    </a:lnTo>
                    <a:lnTo>
                      <a:pt x="128" y="59"/>
                    </a:lnTo>
                    <a:lnTo>
                      <a:pt x="124" y="87"/>
                    </a:lnTo>
                    <a:lnTo>
                      <a:pt x="120" y="102"/>
                    </a:lnTo>
                    <a:lnTo>
                      <a:pt x="118" y="117"/>
                    </a:lnTo>
                    <a:lnTo>
                      <a:pt x="109" y="144"/>
                    </a:lnTo>
                    <a:lnTo>
                      <a:pt x="107" y="146"/>
                    </a:lnTo>
                    <a:lnTo>
                      <a:pt x="106" y="147"/>
                    </a:lnTo>
                    <a:lnTo>
                      <a:pt x="106" y="150"/>
                    </a:lnTo>
                    <a:lnTo>
                      <a:pt x="103" y="157"/>
                    </a:lnTo>
                    <a:lnTo>
                      <a:pt x="98" y="171"/>
                    </a:lnTo>
                    <a:lnTo>
                      <a:pt x="85" y="198"/>
                    </a:lnTo>
                    <a:lnTo>
                      <a:pt x="78" y="211"/>
                    </a:lnTo>
                    <a:lnTo>
                      <a:pt x="72" y="225"/>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58" name="Freeform 286">
                <a:extLst>
                  <a:ext uri="{FF2B5EF4-FFF2-40B4-BE49-F238E27FC236}">
                    <a16:creationId xmlns:a16="http://schemas.microsoft.com/office/drawing/2014/main" id="{45AFE40E-752B-55E4-1B87-D56259460539}"/>
                  </a:ext>
                </a:extLst>
              </p:cNvPr>
              <p:cNvSpPr>
                <a:spLocks/>
              </p:cNvSpPr>
              <p:nvPr/>
            </p:nvSpPr>
            <p:spPr bwMode="auto">
              <a:xfrm>
                <a:off x="3445" y="1975"/>
                <a:ext cx="253" cy="466"/>
              </a:xfrm>
              <a:custGeom>
                <a:avLst/>
                <a:gdLst>
                  <a:gd name="T0" fmla="*/ 12 w 203"/>
                  <a:gd name="T1" fmla="*/ 338 h 518"/>
                  <a:gd name="T2" fmla="*/ 1 w 203"/>
                  <a:gd name="T3" fmla="*/ 397 h 518"/>
                  <a:gd name="T4" fmla="*/ 1 w 203"/>
                  <a:gd name="T5" fmla="*/ 456 h 518"/>
                  <a:gd name="T6" fmla="*/ 8 w 203"/>
                  <a:gd name="T7" fmla="*/ 498 h 518"/>
                  <a:gd name="T8" fmla="*/ 22 w 203"/>
                  <a:gd name="T9" fmla="*/ 517 h 518"/>
                  <a:gd name="T10" fmla="*/ 36 w 203"/>
                  <a:gd name="T11" fmla="*/ 518 h 518"/>
                  <a:gd name="T12" fmla="*/ 56 w 203"/>
                  <a:gd name="T13" fmla="*/ 512 h 518"/>
                  <a:gd name="T14" fmla="*/ 80 w 203"/>
                  <a:gd name="T15" fmla="*/ 497 h 518"/>
                  <a:gd name="T16" fmla="*/ 106 w 203"/>
                  <a:gd name="T17" fmla="*/ 470 h 518"/>
                  <a:gd name="T18" fmla="*/ 136 w 203"/>
                  <a:gd name="T19" fmla="*/ 435 h 518"/>
                  <a:gd name="T20" fmla="*/ 164 w 203"/>
                  <a:gd name="T21" fmla="*/ 387 h 518"/>
                  <a:gd name="T22" fmla="*/ 180 w 203"/>
                  <a:gd name="T23" fmla="*/ 351 h 518"/>
                  <a:gd name="T24" fmla="*/ 186 w 203"/>
                  <a:gd name="T25" fmla="*/ 341 h 518"/>
                  <a:gd name="T26" fmla="*/ 192 w 203"/>
                  <a:gd name="T27" fmla="*/ 315 h 518"/>
                  <a:gd name="T28" fmla="*/ 202 w 203"/>
                  <a:gd name="T29" fmla="*/ 267 h 518"/>
                  <a:gd name="T30" fmla="*/ 202 w 203"/>
                  <a:gd name="T31" fmla="*/ 228 h 518"/>
                  <a:gd name="T32" fmla="*/ 199 w 203"/>
                  <a:gd name="T33" fmla="*/ 189 h 518"/>
                  <a:gd name="T34" fmla="*/ 190 w 203"/>
                  <a:gd name="T35" fmla="*/ 147 h 518"/>
                  <a:gd name="T36" fmla="*/ 170 w 203"/>
                  <a:gd name="T37" fmla="*/ 102 h 518"/>
                  <a:gd name="T38" fmla="*/ 142 w 203"/>
                  <a:gd name="T39" fmla="*/ 27 h 518"/>
                  <a:gd name="T40" fmla="*/ 132 w 203"/>
                  <a:gd name="T41" fmla="*/ 29 h 518"/>
                  <a:gd name="T42" fmla="*/ 128 w 203"/>
                  <a:gd name="T43" fmla="*/ 50 h 518"/>
                  <a:gd name="T44" fmla="*/ 124 w 203"/>
                  <a:gd name="T45" fmla="*/ 87 h 518"/>
                  <a:gd name="T46" fmla="*/ 118 w 203"/>
                  <a:gd name="T47" fmla="*/ 117 h 518"/>
                  <a:gd name="T48" fmla="*/ 107 w 203"/>
                  <a:gd name="T49" fmla="*/ 146 h 518"/>
                  <a:gd name="T50" fmla="*/ 106 w 203"/>
                  <a:gd name="T51" fmla="*/ 150 h 518"/>
                  <a:gd name="T52" fmla="*/ 98 w 203"/>
                  <a:gd name="T53" fmla="*/ 171 h 518"/>
                  <a:gd name="T54" fmla="*/ 78 w 203"/>
                  <a:gd name="T55" fmla="*/ 211 h 518"/>
                  <a:gd name="T56" fmla="*/ 61 w 203"/>
                  <a:gd name="T57" fmla="*/ 240 h 518"/>
                  <a:gd name="T58" fmla="*/ 46 w 203"/>
                  <a:gd name="T59" fmla="*/ 267 h 518"/>
                  <a:gd name="T60" fmla="*/ 34 w 203"/>
                  <a:gd name="T61" fmla="*/ 289 h 518"/>
                  <a:gd name="T62" fmla="*/ 23 w 203"/>
                  <a:gd name="T63" fmla="*/ 312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3" h="518">
                    <a:moveTo>
                      <a:pt x="23" y="312"/>
                    </a:moveTo>
                    <a:lnTo>
                      <a:pt x="12" y="338"/>
                    </a:lnTo>
                    <a:lnTo>
                      <a:pt x="5" y="367"/>
                    </a:lnTo>
                    <a:lnTo>
                      <a:pt x="1" y="397"/>
                    </a:lnTo>
                    <a:lnTo>
                      <a:pt x="0" y="428"/>
                    </a:lnTo>
                    <a:lnTo>
                      <a:pt x="1" y="456"/>
                    </a:lnTo>
                    <a:lnTo>
                      <a:pt x="6" y="482"/>
                    </a:lnTo>
                    <a:lnTo>
                      <a:pt x="8" y="498"/>
                    </a:lnTo>
                    <a:lnTo>
                      <a:pt x="11" y="515"/>
                    </a:lnTo>
                    <a:lnTo>
                      <a:pt x="22" y="517"/>
                    </a:lnTo>
                    <a:lnTo>
                      <a:pt x="28" y="517"/>
                    </a:lnTo>
                    <a:lnTo>
                      <a:pt x="36" y="518"/>
                    </a:lnTo>
                    <a:lnTo>
                      <a:pt x="46" y="516"/>
                    </a:lnTo>
                    <a:lnTo>
                      <a:pt x="56" y="512"/>
                    </a:lnTo>
                    <a:lnTo>
                      <a:pt x="67" y="505"/>
                    </a:lnTo>
                    <a:lnTo>
                      <a:pt x="80" y="497"/>
                    </a:lnTo>
                    <a:lnTo>
                      <a:pt x="92" y="483"/>
                    </a:lnTo>
                    <a:lnTo>
                      <a:pt x="106" y="470"/>
                    </a:lnTo>
                    <a:lnTo>
                      <a:pt x="120" y="453"/>
                    </a:lnTo>
                    <a:lnTo>
                      <a:pt x="136" y="435"/>
                    </a:lnTo>
                    <a:lnTo>
                      <a:pt x="151" y="411"/>
                    </a:lnTo>
                    <a:lnTo>
                      <a:pt x="164" y="387"/>
                    </a:lnTo>
                    <a:lnTo>
                      <a:pt x="175" y="363"/>
                    </a:lnTo>
                    <a:lnTo>
                      <a:pt x="180" y="351"/>
                    </a:lnTo>
                    <a:lnTo>
                      <a:pt x="182" y="345"/>
                    </a:lnTo>
                    <a:lnTo>
                      <a:pt x="186" y="341"/>
                    </a:lnTo>
                    <a:lnTo>
                      <a:pt x="188" y="327"/>
                    </a:lnTo>
                    <a:lnTo>
                      <a:pt x="192" y="315"/>
                    </a:lnTo>
                    <a:lnTo>
                      <a:pt x="198" y="291"/>
                    </a:lnTo>
                    <a:lnTo>
                      <a:pt x="202" y="267"/>
                    </a:lnTo>
                    <a:lnTo>
                      <a:pt x="203" y="243"/>
                    </a:lnTo>
                    <a:lnTo>
                      <a:pt x="202" y="228"/>
                    </a:lnTo>
                    <a:lnTo>
                      <a:pt x="202" y="215"/>
                    </a:lnTo>
                    <a:lnTo>
                      <a:pt x="199" y="189"/>
                    </a:lnTo>
                    <a:lnTo>
                      <a:pt x="194" y="167"/>
                    </a:lnTo>
                    <a:lnTo>
                      <a:pt x="190" y="147"/>
                    </a:lnTo>
                    <a:lnTo>
                      <a:pt x="179" y="123"/>
                    </a:lnTo>
                    <a:lnTo>
                      <a:pt x="170" y="102"/>
                    </a:lnTo>
                    <a:lnTo>
                      <a:pt x="155" y="62"/>
                    </a:lnTo>
                    <a:lnTo>
                      <a:pt x="142" y="27"/>
                    </a:lnTo>
                    <a:lnTo>
                      <a:pt x="133" y="0"/>
                    </a:lnTo>
                    <a:lnTo>
                      <a:pt x="132" y="29"/>
                    </a:lnTo>
                    <a:lnTo>
                      <a:pt x="130" y="43"/>
                    </a:lnTo>
                    <a:lnTo>
                      <a:pt x="128" y="50"/>
                    </a:lnTo>
                    <a:lnTo>
                      <a:pt x="128" y="59"/>
                    </a:lnTo>
                    <a:lnTo>
                      <a:pt x="124" y="87"/>
                    </a:lnTo>
                    <a:lnTo>
                      <a:pt x="120" y="102"/>
                    </a:lnTo>
                    <a:lnTo>
                      <a:pt x="118" y="117"/>
                    </a:lnTo>
                    <a:lnTo>
                      <a:pt x="109" y="144"/>
                    </a:lnTo>
                    <a:lnTo>
                      <a:pt x="107" y="146"/>
                    </a:lnTo>
                    <a:lnTo>
                      <a:pt x="106" y="147"/>
                    </a:lnTo>
                    <a:lnTo>
                      <a:pt x="106" y="150"/>
                    </a:lnTo>
                    <a:lnTo>
                      <a:pt x="103" y="157"/>
                    </a:lnTo>
                    <a:lnTo>
                      <a:pt x="98" y="171"/>
                    </a:lnTo>
                    <a:lnTo>
                      <a:pt x="85" y="198"/>
                    </a:lnTo>
                    <a:lnTo>
                      <a:pt x="78" y="211"/>
                    </a:lnTo>
                    <a:lnTo>
                      <a:pt x="72" y="225"/>
                    </a:lnTo>
                    <a:lnTo>
                      <a:pt x="61" y="240"/>
                    </a:lnTo>
                    <a:lnTo>
                      <a:pt x="53" y="254"/>
                    </a:lnTo>
                    <a:lnTo>
                      <a:pt x="46" y="267"/>
                    </a:lnTo>
                    <a:lnTo>
                      <a:pt x="40" y="279"/>
                    </a:lnTo>
                    <a:lnTo>
                      <a:pt x="34" y="289"/>
                    </a:lnTo>
                    <a:lnTo>
                      <a:pt x="29" y="297"/>
                    </a:lnTo>
                    <a:lnTo>
                      <a:pt x="23" y="312"/>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59" name="Freeform 287">
                <a:extLst>
                  <a:ext uri="{FF2B5EF4-FFF2-40B4-BE49-F238E27FC236}">
                    <a16:creationId xmlns:a16="http://schemas.microsoft.com/office/drawing/2014/main" id="{3E25BD62-E298-D9DC-8B7C-11D1425ABCA1}"/>
                  </a:ext>
                </a:extLst>
              </p:cNvPr>
              <p:cNvSpPr>
                <a:spLocks/>
              </p:cNvSpPr>
              <p:nvPr/>
            </p:nvSpPr>
            <p:spPr bwMode="auto">
              <a:xfrm>
                <a:off x="3619" y="1828"/>
                <a:ext cx="143" cy="122"/>
              </a:xfrm>
              <a:custGeom>
                <a:avLst/>
                <a:gdLst>
                  <a:gd name="T0" fmla="*/ 76 w 112"/>
                  <a:gd name="T1" fmla="*/ 111 h 137"/>
                  <a:gd name="T2" fmla="*/ 71 w 112"/>
                  <a:gd name="T3" fmla="*/ 121 h 137"/>
                  <a:gd name="T4" fmla="*/ 66 w 112"/>
                  <a:gd name="T5" fmla="*/ 129 h 137"/>
                  <a:gd name="T6" fmla="*/ 59 w 112"/>
                  <a:gd name="T7" fmla="*/ 134 h 137"/>
                  <a:gd name="T8" fmla="*/ 57 w 112"/>
                  <a:gd name="T9" fmla="*/ 134 h 137"/>
                  <a:gd name="T10" fmla="*/ 56 w 112"/>
                  <a:gd name="T11" fmla="*/ 134 h 137"/>
                  <a:gd name="T12" fmla="*/ 56 w 112"/>
                  <a:gd name="T13" fmla="*/ 135 h 137"/>
                  <a:gd name="T14" fmla="*/ 53 w 112"/>
                  <a:gd name="T15" fmla="*/ 137 h 137"/>
                  <a:gd name="T16" fmla="*/ 53 w 112"/>
                  <a:gd name="T17" fmla="*/ 127 h 137"/>
                  <a:gd name="T18" fmla="*/ 54 w 112"/>
                  <a:gd name="T19" fmla="*/ 120 h 137"/>
                  <a:gd name="T20" fmla="*/ 53 w 112"/>
                  <a:gd name="T21" fmla="*/ 113 h 137"/>
                  <a:gd name="T22" fmla="*/ 53 w 112"/>
                  <a:gd name="T23" fmla="*/ 108 h 137"/>
                  <a:gd name="T24" fmla="*/ 51 w 112"/>
                  <a:gd name="T25" fmla="*/ 103 h 137"/>
                  <a:gd name="T26" fmla="*/ 50 w 112"/>
                  <a:gd name="T27" fmla="*/ 101 h 137"/>
                  <a:gd name="T28" fmla="*/ 47 w 112"/>
                  <a:gd name="T29" fmla="*/ 98 h 137"/>
                  <a:gd name="T30" fmla="*/ 46 w 112"/>
                  <a:gd name="T31" fmla="*/ 98 h 137"/>
                  <a:gd name="T32" fmla="*/ 41 w 112"/>
                  <a:gd name="T33" fmla="*/ 97 h 137"/>
                  <a:gd name="T34" fmla="*/ 38 w 112"/>
                  <a:gd name="T35" fmla="*/ 98 h 137"/>
                  <a:gd name="T36" fmla="*/ 32 w 112"/>
                  <a:gd name="T37" fmla="*/ 101 h 137"/>
                  <a:gd name="T38" fmla="*/ 27 w 112"/>
                  <a:gd name="T39" fmla="*/ 105 h 137"/>
                  <a:gd name="T40" fmla="*/ 14 w 112"/>
                  <a:gd name="T41" fmla="*/ 116 h 137"/>
                  <a:gd name="T42" fmla="*/ 6 w 112"/>
                  <a:gd name="T43" fmla="*/ 123 h 137"/>
                  <a:gd name="T44" fmla="*/ 0 w 112"/>
                  <a:gd name="T45" fmla="*/ 133 h 137"/>
                  <a:gd name="T46" fmla="*/ 17 w 112"/>
                  <a:gd name="T47" fmla="*/ 86 h 137"/>
                  <a:gd name="T48" fmla="*/ 23 w 112"/>
                  <a:gd name="T49" fmla="*/ 69 h 137"/>
                  <a:gd name="T50" fmla="*/ 33 w 112"/>
                  <a:gd name="T51" fmla="*/ 56 h 137"/>
                  <a:gd name="T52" fmla="*/ 42 w 112"/>
                  <a:gd name="T53" fmla="*/ 43 h 137"/>
                  <a:gd name="T54" fmla="*/ 56 w 112"/>
                  <a:gd name="T55" fmla="*/ 32 h 137"/>
                  <a:gd name="T56" fmla="*/ 82 w 112"/>
                  <a:gd name="T57" fmla="*/ 13 h 137"/>
                  <a:gd name="T58" fmla="*/ 112 w 112"/>
                  <a:gd name="T59" fmla="*/ 0 h 137"/>
                  <a:gd name="T60" fmla="*/ 95 w 112"/>
                  <a:gd name="T61" fmla="*/ 47 h 137"/>
                  <a:gd name="T62" fmla="*/ 76 w 112"/>
                  <a:gd name="T63" fmla="*/ 11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2" h="137">
                    <a:moveTo>
                      <a:pt x="76" y="111"/>
                    </a:moveTo>
                    <a:lnTo>
                      <a:pt x="71" y="121"/>
                    </a:lnTo>
                    <a:lnTo>
                      <a:pt x="66" y="129"/>
                    </a:lnTo>
                    <a:lnTo>
                      <a:pt x="59" y="134"/>
                    </a:lnTo>
                    <a:lnTo>
                      <a:pt x="57" y="134"/>
                    </a:lnTo>
                    <a:lnTo>
                      <a:pt x="56" y="134"/>
                    </a:lnTo>
                    <a:lnTo>
                      <a:pt x="56" y="135"/>
                    </a:lnTo>
                    <a:lnTo>
                      <a:pt x="53" y="137"/>
                    </a:lnTo>
                    <a:lnTo>
                      <a:pt x="53" y="127"/>
                    </a:lnTo>
                    <a:lnTo>
                      <a:pt x="54" y="120"/>
                    </a:lnTo>
                    <a:lnTo>
                      <a:pt x="53" y="113"/>
                    </a:lnTo>
                    <a:lnTo>
                      <a:pt x="53" y="108"/>
                    </a:lnTo>
                    <a:lnTo>
                      <a:pt x="51" y="103"/>
                    </a:lnTo>
                    <a:lnTo>
                      <a:pt x="50" y="101"/>
                    </a:lnTo>
                    <a:lnTo>
                      <a:pt x="47" y="98"/>
                    </a:lnTo>
                    <a:lnTo>
                      <a:pt x="46" y="98"/>
                    </a:lnTo>
                    <a:lnTo>
                      <a:pt x="41" y="97"/>
                    </a:lnTo>
                    <a:lnTo>
                      <a:pt x="38" y="98"/>
                    </a:lnTo>
                    <a:lnTo>
                      <a:pt x="32" y="101"/>
                    </a:lnTo>
                    <a:lnTo>
                      <a:pt x="27" y="105"/>
                    </a:lnTo>
                    <a:lnTo>
                      <a:pt x="14" y="116"/>
                    </a:lnTo>
                    <a:lnTo>
                      <a:pt x="6" y="123"/>
                    </a:lnTo>
                    <a:lnTo>
                      <a:pt x="0" y="133"/>
                    </a:lnTo>
                    <a:lnTo>
                      <a:pt x="17" y="86"/>
                    </a:lnTo>
                    <a:lnTo>
                      <a:pt x="23" y="69"/>
                    </a:lnTo>
                    <a:lnTo>
                      <a:pt x="33" y="56"/>
                    </a:lnTo>
                    <a:lnTo>
                      <a:pt x="42" y="43"/>
                    </a:lnTo>
                    <a:lnTo>
                      <a:pt x="56" y="32"/>
                    </a:lnTo>
                    <a:lnTo>
                      <a:pt x="82" y="13"/>
                    </a:lnTo>
                    <a:lnTo>
                      <a:pt x="112" y="0"/>
                    </a:lnTo>
                    <a:lnTo>
                      <a:pt x="95" y="47"/>
                    </a:lnTo>
                    <a:lnTo>
                      <a:pt x="76" y="111"/>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60" name="Freeform 288">
                <a:extLst>
                  <a:ext uri="{FF2B5EF4-FFF2-40B4-BE49-F238E27FC236}">
                    <a16:creationId xmlns:a16="http://schemas.microsoft.com/office/drawing/2014/main" id="{E87ADFA0-AFFA-FC4F-D221-019A9CF02C2B}"/>
                  </a:ext>
                </a:extLst>
              </p:cNvPr>
              <p:cNvSpPr>
                <a:spLocks/>
              </p:cNvSpPr>
              <p:nvPr/>
            </p:nvSpPr>
            <p:spPr bwMode="auto">
              <a:xfrm>
                <a:off x="3271" y="2129"/>
                <a:ext cx="83" cy="65"/>
              </a:xfrm>
              <a:custGeom>
                <a:avLst/>
                <a:gdLst>
                  <a:gd name="T0" fmla="*/ 8 w 68"/>
                  <a:gd name="T1" fmla="*/ 34 h 72"/>
                  <a:gd name="T2" fmla="*/ 8 w 68"/>
                  <a:gd name="T3" fmla="*/ 38 h 72"/>
                  <a:gd name="T4" fmla="*/ 8 w 68"/>
                  <a:gd name="T5" fmla="*/ 42 h 72"/>
                  <a:gd name="T6" fmla="*/ 8 w 68"/>
                  <a:gd name="T7" fmla="*/ 51 h 72"/>
                  <a:gd name="T8" fmla="*/ 8 w 68"/>
                  <a:gd name="T9" fmla="*/ 56 h 72"/>
                  <a:gd name="T10" fmla="*/ 11 w 68"/>
                  <a:gd name="T11" fmla="*/ 62 h 72"/>
                  <a:gd name="T12" fmla="*/ 18 w 68"/>
                  <a:gd name="T13" fmla="*/ 72 h 72"/>
                  <a:gd name="T14" fmla="*/ 20 w 68"/>
                  <a:gd name="T15" fmla="*/ 72 h 72"/>
                  <a:gd name="T16" fmla="*/ 23 w 68"/>
                  <a:gd name="T17" fmla="*/ 61 h 72"/>
                  <a:gd name="T18" fmla="*/ 24 w 68"/>
                  <a:gd name="T19" fmla="*/ 54 h 72"/>
                  <a:gd name="T20" fmla="*/ 28 w 68"/>
                  <a:gd name="T21" fmla="*/ 50 h 72"/>
                  <a:gd name="T22" fmla="*/ 31 w 68"/>
                  <a:gd name="T23" fmla="*/ 48 h 72"/>
                  <a:gd name="T24" fmla="*/ 37 w 68"/>
                  <a:gd name="T25" fmla="*/ 48 h 72"/>
                  <a:gd name="T26" fmla="*/ 42 w 68"/>
                  <a:gd name="T27" fmla="*/ 48 h 72"/>
                  <a:gd name="T28" fmla="*/ 49 w 68"/>
                  <a:gd name="T29" fmla="*/ 51 h 72"/>
                  <a:gd name="T30" fmla="*/ 58 w 68"/>
                  <a:gd name="T31" fmla="*/ 55 h 72"/>
                  <a:gd name="T32" fmla="*/ 68 w 68"/>
                  <a:gd name="T33" fmla="*/ 62 h 72"/>
                  <a:gd name="T34" fmla="*/ 61 w 68"/>
                  <a:gd name="T35" fmla="*/ 46 h 72"/>
                  <a:gd name="T36" fmla="*/ 54 w 68"/>
                  <a:gd name="T37" fmla="*/ 33 h 72"/>
                  <a:gd name="T38" fmla="*/ 46 w 68"/>
                  <a:gd name="T39" fmla="*/ 22 h 72"/>
                  <a:gd name="T40" fmla="*/ 38 w 68"/>
                  <a:gd name="T41" fmla="*/ 14 h 72"/>
                  <a:gd name="T42" fmla="*/ 29 w 68"/>
                  <a:gd name="T43" fmla="*/ 7 h 72"/>
                  <a:gd name="T44" fmla="*/ 20 w 68"/>
                  <a:gd name="T45" fmla="*/ 3 h 72"/>
                  <a:gd name="T46" fmla="*/ 10 w 68"/>
                  <a:gd name="T47" fmla="*/ 0 h 72"/>
                  <a:gd name="T48" fmla="*/ 0 w 68"/>
                  <a:gd name="T49" fmla="*/ 1 h 72"/>
                  <a:gd name="T50" fmla="*/ 2 w 68"/>
                  <a:gd name="T51" fmla="*/ 6 h 72"/>
                  <a:gd name="T52" fmla="*/ 6 w 68"/>
                  <a:gd name="T53" fmla="*/ 13 h 72"/>
                  <a:gd name="T54" fmla="*/ 8 w 68"/>
                  <a:gd name="T55" fmla="*/ 31 h 72"/>
                  <a:gd name="T56" fmla="*/ 8 w 68"/>
                  <a:gd name="T57"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 h="72">
                    <a:moveTo>
                      <a:pt x="8" y="34"/>
                    </a:moveTo>
                    <a:lnTo>
                      <a:pt x="8" y="38"/>
                    </a:lnTo>
                    <a:lnTo>
                      <a:pt x="8" y="42"/>
                    </a:lnTo>
                    <a:lnTo>
                      <a:pt x="8" y="51"/>
                    </a:lnTo>
                    <a:lnTo>
                      <a:pt x="8" y="56"/>
                    </a:lnTo>
                    <a:lnTo>
                      <a:pt x="11" y="62"/>
                    </a:lnTo>
                    <a:lnTo>
                      <a:pt x="18" y="72"/>
                    </a:lnTo>
                    <a:lnTo>
                      <a:pt x="20" y="72"/>
                    </a:lnTo>
                    <a:lnTo>
                      <a:pt x="23" y="61"/>
                    </a:lnTo>
                    <a:lnTo>
                      <a:pt x="24" y="54"/>
                    </a:lnTo>
                    <a:lnTo>
                      <a:pt x="28" y="50"/>
                    </a:lnTo>
                    <a:lnTo>
                      <a:pt x="31" y="48"/>
                    </a:lnTo>
                    <a:lnTo>
                      <a:pt x="37" y="48"/>
                    </a:lnTo>
                    <a:lnTo>
                      <a:pt x="42" y="48"/>
                    </a:lnTo>
                    <a:lnTo>
                      <a:pt x="49" y="51"/>
                    </a:lnTo>
                    <a:lnTo>
                      <a:pt x="58" y="55"/>
                    </a:lnTo>
                    <a:lnTo>
                      <a:pt x="68" y="62"/>
                    </a:lnTo>
                    <a:lnTo>
                      <a:pt x="61" y="46"/>
                    </a:lnTo>
                    <a:lnTo>
                      <a:pt x="54" y="33"/>
                    </a:lnTo>
                    <a:lnTo>
                      <a:pt x="46" y="22"/>
                    </a:lnTo>
                    <a:lnTo>
                      <a:pt x="38" y="14"/>
                    </a:lnTo>
                    <a:lnTo>
                      <a:pt x="29" y="7"/>
                    </a:lnTo>
                    <a:lnTo>
                      <a:pt x="20" y="3"/>
                    </a:lnTo>
                    <a:lnTo>
                      <a:pt x="10" y="0"/>
                    </a:lnTo>
                    <a:lnTo>
                      <a:pt x="0" y="1"/>
                    </a:lnTo>
                    <a:lnTo>
                      <a:pt x="2" y="6"/>
                    </a:lnTo>
                    <a:lnTo>
                      <a:pt x="6" y="13"/>
                    </a:lnTo>
                    <a:lnTo>
                      <a:pt x="8" y="31"/>
                    </a:lnTo>
                    <a:lnTo>
                      <a:pt x="8" y="34"/>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761" name="Freeform 289">
                <a:extLst>
                  <a:ext uri="{FF2B5EF4-FFF2-40B4-BE49-F238E27FC236}">
                    <a16:creationId xmlns:a16="http://schemas.microsoft.com/office/drawing/2014/main" id="{9C42851D-2D68-888E-EC9A-E1DDDEA0A85A}"/>
                  </a:ext>
                </a:extLst>
              </p:cNvPr>
              <p:cNvSpPr>
                <a:spLocks/>
              </p:cNvSpPr>
              <p:nvPr/>
            </p:nvSpPr>
            <p:spPr bwMode="auto">
              <a:xfrm>
                <a:off x="3392" y="2221"/>
                <a:ext cx="4" cy="3"/>
              </a:xfrm>
              <a:custGeom>
                <a:avLst/>
                <a:gdLst>
                  <a:gd name="T0" fmla="*/ 0 w 3"/>
                  <a:gd name="T1" fmla="*/ 0 h 4"/>
                  <a:gd name="T2" fmla="*/ 0 w 3"/>
                  <a:gd name="T3" fmla="*/ 4 h 4"/>
                  <a:gd name="T4" fmla="*/ 3 w 3"/>
                  <a:gd name="T5" fmla="*/ 3 h 4"/>
                  <a:gd name="T6" fmla="*/ 0 w 3"/>
                  <a:gd name="T7" fmla="*/ 0 h 4"/>
                </a:gdLst>
                <a:ahLst/>
                <a:cxnLst>
                  <a:cxn ang="0">
                    <a:pos x="T0" y="T1"/>
                  </a:cxn>
                  <a:cxn ang="0">
                    <a:pos x="T2" y="T3"/>
                  </a:cxn>
                  <a:cxn ang="0">
                    <a:pos x="T4" y="T5"/>
                  </a:cxn>
                  <a:cxn ang="0">
                    <a:pos x="T6" y="T7"/>
                  </a:cxn>
                </a:cxnLst>
                <a:rect l="0" t="0" r="r" b="b"/>
                <a:pathLst>
                  <a:path w="3" h="4">
                    <a:moveTo>
                      <a:pt x="0" y="0"/>
                    </a:moveTo>
                    <a:lnTo>
                      <a:pt x="0" y="4"/>
                    </a:lnTo>
                    <a:lnTo>
                      <a:pt x="3" y="3"/>
                    </a:lnTo>
                    <a:lnTo>
                      <a:pt x="0" y="0"/>
                    </a:ln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762" name="Freeform 290">
                <a:extLst>
                  <a:ext uri="{FF2B5EF4-FFF2-40B4-BE49-F238E27FC236}">
                    <a16:creationId xmlns:a16="http://schemas.microsoft.com/office/drawing/2014/main" id="{A12605FB-F9FE-9358-20E0-195596B80E9C}"/>
                  </a:ext>
                </a:extLst>
              </p:cNvPr>
              <p:cNvSpPr>
                <a:spLocks/>
              </p:cNvSpPr>
              <p:nvPr/>
            </p:nvSpPr>
            <p:spPr bwMode="auto">
              <a:xfrm>
                <a:off x="3264" y="2224"/>
                <a:ext cx="222" cy="296"/>
              </a:xfrm>
              <a:custGeom>
                <a:avLst/>
                <a:gdLst>
                  <a:gd name="T0" fmla="*/ 104 w 176"/>
                  <a:gd name="T1" fmla="*/ 0 h 329"/>
                  <a:gd name="T2" fmla="*/ 101 w 176"/>
                  <a:gd name="T3" fmla="*/ 1 h 329"/>
                  <a:gd name="T4" fmla="*/ 101 w 176"/>
                  <a:gd name="T5" fmla="*/ 17 h 329"/>
                  <a:gd name="T6" fmla="*/ 101 w 176"/>
                  <a:gd name="T7" fmla="*/ 31 h 329"/>
                  <a:gd name="T8" fmla="*/ 104 w 176"/>
                  <a:gd name="T9" fmla="*/ 55 h 329"/>
                  <a:gd name="T10" fmla="*/ 101 w 176"/>
                  <a:gd name="T11" fmla="*/ 73 h 329"/>
                  <a:gd name="T12" fmla="*/ 98 w 176"/>
                  <a:gd name="T13" fmla="*/ 93 h 329"/>
                  <a:gd name="T14" fmla="*/ 89 w 176"/>
                  <a:gd name="T15" fmla="*/ 115 h 329"/>
                  <a:gd name="T16" fmla="*/ 80 w 176"/>
                  <a:gd name="T17" fmla="*/ 138 h 329"/>
                  <a:gd name="T18" fmla="*/ 64 w 176"/>
                  <a:gd name="T19" fmla="*/ 158 h 329"/>
                  <a:gd name="T20" fmla="*/ 52 w 176"/>
                  <a:gd name="T21" fmla="*/ 179 h 329"/>
                  <a:gd name="T22" fmla="*/ 40 w 176"/>
                  <a:gd name="T23" fmla="*/ 195 h 329"/>
                  <a:gd name="T24" fmla="*/ 32 w 176"/>
                  <a:gd name="T25" fmla="*/ 211 h 329"/>
                  <a:gd name="T26" fmla="*/ 23 w 176"/>
                  <a:gd name="T27" fmla="*/ 222 h 329"/>
                  <a:gd name="T28" fmla="*/ 17 w 176"/>
                  <a:gd name="T29" fmla="*/ 234 h 329"/>
                  <a:gd name="T30" fmla="*/ 8 w 176"/>
                  <a:gd name="T31" fmla="*/ 255 h 329"/>
                  <a:gd name="T32" fmla="*/ 2 w 176"/>
                  <a:gd name="T33" fmla="*/ 275 h 329"/>
                  <a:gd name="T34" fmla="*/ 0 w 176"/>
                  <a:gd name="T35" fmla="*/ 293 h 329"/>
                  <a:gd name="T36" fmla="*/ 3 w 176"/>
                  <a:gd name="T37" fmla="*/ 309 h 329"/>
                  <a:gd name="T38" fmla="*/ 10 w 176"/>
                  <a:gd name="T39" fmla="*/ 329 h 329"/>
                  <a:gd name="T40" fmla="*/ 17 w 176"/>
                  <a:gd name="T41" fmla="*/ 327 h 329"/>
                  <a:gd name="T42" fmla="*/ 26 w 176"/>
                  <a:gd name="T43" fmla="*/ 327 h 329"/>
                  <a:gd name="T44" fmla="*/ 42 w 176"/>
                  <a:gd name="T45" fmla="*/ 326 h 329"/>
                  <a:gd name="T46" fmla="*/ 50 w 176"/>
                  <a:gd name="T47" fmla="*/ 324 h 329"/>
                  <a:gd name="T48" fmla="*/ 50 w 176"/>
                  <a:gd name="T49" fmla="*/ 323 h 329"/>
                  <a:gd name="T50" fmla="*/ 51 w 176"/>
                  <a:gd name="T51" fmla="*/ 323 h 329"/>
                  <a:gd name="T52" fmla="*/ 53 w 176"/>
                  <a:gd name="T53" fmla="*/ 323 h 329"/>
                  <a:gd name="T54" fmla="*/ 58 w 176"/>
                  <a:gd name="T55" fmla="*/ 323 h 329"/>
                  <a:gd name="T56" fmla="*/ 75 w 176"/>
                  <a:gd name="T57" fmla="*/ 318 h 329"/>
                  <a:gd name="T58" fmla="*/ 81 w 176"/>
                  <a:gd name="T59" fmla="*/ 313 h 329"/>
                  <a:gd name="T60" fmla="*/ 88 w 176"/>
                  <a:gd name="T61" fmla="*/ 309 h 329"/>
                  <a:gd name="T62" fmla="*/ 102 w 176"/>
                  <a:gd name="T63" fmla="*/ 302 h 329"/>
                  <a:gd name="T64" fmla="*/ 114 w 176"/>
                  <a:gd name="T65" fmla="*/ 293 h 329"/>
                  <a:gd name="T66" fmla="*/ 126 w 176"/>
                  <a:gd name="T67" fmla="*/ 283 h 329"/>
                  <a:gd name="T68" fmla="*/ 136 w 176"/>
                  <a:gd name="T69" fmla="*/ 271 h 329"/>
                  <a:gd name="T70" fmla="*/ 146 w 176"/>
                  <a:gd name="T71" fmla="*/ 259 h 329"/>
                  <a:gd name="T72" fmla="*/ 149 w 176"/>
                  <a:gd name="T73" fmla="*/ 252 h 329"/>
                  <a:gd name="T74" fmla="*/ 154 w 176"/>
                  <a:gd name="T75" fmla="*/ 246 h 329"/>
                  <a:gd name="T76" fmla="*/ 158 w 176"/>
                  <a:gd name="T77" fmla="*/ 239 h 329"/>
                  <a:gd name="T78" fmla="*/ 162 w 176"/>
                  <a:gd name="T79" fmla="*/ 233 h 329"/>
                  <a:gd name="T80" fmla="*/ 168 w 176"/>
                  <a:gd name="T81" fmla="*/ 216 h 329"/>
                  <a:gd name="T82" fmla="*/ 172 w 176"/>
                  <a:gd name="T83" fmla="*/ 199 h 329"/>
                  <a:gd name="T84" fmla="*/ 174 w 176"/>
                  <a:gd name="T85" fmla="*/ 182 h 329"/>
                  <a:gd name="T86" fmla="*/ 176 w 176"/>
                  <a:gd name="T87" fmla="*/ 168 h 329"/>
                  <a:gd name="T88" fmla="*/ 174 w 176"/>
                  <a:gd name="T89" fmla="*/ 151 h 329"/>
                  <a:gd name="T90" fmla="*/ 172 w 176"/>
                  <a:gd name="T91" fmla="*/ 137 h 329"/>
                  <a:gd name="T92" fmla="*/ 167 w 176"/>
                  <a:gd name="T93" fmla="*/ 120 h 329"/>
                  <a:gd name="T94" fmla="*/ 161 w 176"/>
                  <a:gd name="T95" fmla="*/ 105 h 329"/>
                  <a:gd name="T96" fmla="*/ 134 w 176"/>
                  <a:gd name="T97" fmla="*/ 51 h 329"/>
                  <a:gd name="T98" fmla="*/ 104 w 176"/>
                  <a:gd name="T99"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6" h="329">
                    <a:moveTo>
                      <a:pt x="104" y="0"/>
                    </a:moveTo>
                    <a:lnTo>
                      <a:pt x="101" y="1"/>
                    </a:lnTo>
                    <a:lnTo>
                      <a:pt x="101" y="17"/>
                    </a:lnTo>
                    <a:lnTo>
                      <a:pt x="101" y="31"/>
                    </a:lnTo>
                    <a:lnTo>
                      <a:pt x="104" y="55"/>
                    </a:lnTo>
                    <a:lnTo>
                      <a:pt x="101" y="73"/>
                    </a:lnTo>
                    <a:lnTo>
                      <a:pt x="98" y="93"/>
                    </a:lnTo>
                    <a:lnTo>
                      <a:pt x="89" y="115"/>
                    </a:lnTo>
                    <a:lnTo>
                      <a:pt x="80" y="138"/>
                    </a:lnTo>
                    <a:lnTo>
                      <a:pt x="64" y="158"/>
                    </a:lnTo>
                    <a:lnTo>
                      <a:pt x="52" y="179"/>
                    </a:lnTo>
                    <a:lnTo>
                      <a:pt x="40" y="195"/>
                    </a:lnTo>
                    <a:lnTo>
                      <a:pt x="32" y="211"/>
                    </a:lnTo>
                    <a:lnTo>
                      <a:pt x="23" y="222"/>
                    </a:lnTo>
                    <a:lnTo>
                      <a:pt x="17" y="234"/>
                    </a:lnTo>
                    <a:lnTo>
                      <a:pt x="8" y="255"/>
                    </a:lnTo>
                    <a:lnTo>
                      <a:pt x="2" y="275"/>
                    </a:lnTo>
                    <a:lnTo>
                      <a:pt x="0" y="293"/>
                    </a:lnTo>
                    <a:lnTo>
                      <a:pt x="3" y="309"/>
                    </a:lnTo>
                    <a:lnTo>
                      <a:pt x="10" y="329"/>
                    </a:lnTo>
                    <a:lnTo>
                      <a:pt x="17" y="327"/>
                    </a:lnTo>
                    <a:lnTo>
                      <a:pt x="26" y="327"/>
                    </a:lnTo>
                    <a:lnTo>
                      <a:pt x="42" y="326"/>
                    </a:lnTo>
                    <a:lnTo>
                      <a:pt x="50" y="324"/>
                    </a:lnTo>
                    <a:lnTo>
                      <a:pt x="50" y="323"/>
                    </a:lnTo>
                    <a:lnTo>
                      <a:pt x="51" y="323"/>
                    </a:lnTo>
                    <a:lnTo>
                      <a:pt x="53" y="323"/>
                    </a:lnTo>
                    <a:lnTo>
                      <a:pt x="58" y="323"/>
                    </a:lnTo>
                    <a:lnTo>
                      <a:pt x="75" y="318"/>
                    </a:lnTo>
                    <a:lnTo>
                      <a:pt x="81" y="313"/>
                    </a:lnTo>
                    <a:lnTo>
                      <a:pt x="88" y="309"/>
                    </a:lnTo>
                    <a:lnTo>
                      <a:pt x="102" y="302"/>
                    </a:lnTo>
                    <a:lnTo>
                      <a:pt x="114" y="293"/>
                    </a:lnTo>
                    <a:lnTo>
                      <a:pt x="126" y="283"/>
                    </a:lnTo>
                    <a:lnTo>
                      <a:pt x="136" y="271"/>
                    </a:lnTo>
                    <a:lnTo>
                      <a:pt x="146" y="259"/>
                    </a:lnTo>
                    <a:lnTo>
                      <a:pt x="149" y="252"/>
                    </a:lnTo>
                    <a:lnTo>
                      <a:pt x="154" y="246"/>
                    </a:lnTo>
                    <a:lnTo>
                      <a:pt x="158" y="239"/>
                    </a:lnTo>
                    <a:lnTo>
                      <a:pt x="162" y="233"/>
                    </a:lnTo>
                    <a:lnTo>
                      <a:pt x="168" y="216"/>
                    </a:lnTo>
                    <a:lnTo>
                      <a:pt x="172" y="199"/>
                    </a:lnTo>
                    <a:lnTo>
                      <a:pt x="174" y="182"/>
                    </a:lnTo>
                    <a:lnTo>
                      <a:pt x="176" y="168"/>
                    </a:lnTo>
                    <a:lnTo>
                      <a:pt x="174" y="151"/>
                    </a:lnTo>
                    <a:lnTo>
                      <a:pt x="172" y="137"/>
                    </a:lnTo>
                    <a:lnTo>
                      <a:pt x="167" y="120"/>
                    </a:lnTo>
                    <a:lnTo>
                      <a:pt x="161" y="105"/>
                    </a:lnTo>
                    <a:lnTo>
                      <a:pt x="134" y="51"/>
                    </a:lnTo>
                    <a:lnTo>
                      <a:pt x="104" y="0"/>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63" name="Freeform 291">
                <a:extLst>
                  <a:ext uri="{FF2B5EF4-FFF2-40B4-BE49-F238E27FC236}">
                    <a16:creationId xmlns:a16="http://schemas.microsoft.com/office/drawing/2014/main" id="{927D59DF-D5CD-E527-B77F-F940A4812DD8}"/>
                  </a:ext>
                </a:extLst>
              </p:cNvPr>
              <p:cNvSpPr>
                <a:spLocks/>
              </p:cNvSpPr>
              <p:nvPr/>
            </p:nvSpPr>
            <p:spPr bwMode="auto">
              <a:xfrm>
                <a:off x="3264" y="2221"/>
                <a:ext cx="222" cy="299"/>
              </a:xfrm>
              <a:custGeom>
                <a:avLst/>
                <a:gdLst>
                  <a:gd name="T0" fmla="*/ 101 w 176"/>
                  <a:gd name="T1" fmla="*/ 0 h 332"/>
                  <a:gd name="T2" fmla="*/ 104 w 176"/>
                  <a:gd name="T3" fmla="*/ 3 h 332"/>
                  <a:gd name="T4" fmla="*/ 134 w 176"/>
                  <a:gd name="T5" fmla="*/ 54 h 332"/>
                  <a:gd name="T6" fmla="*/ 161 w 176"/>
                  <a:gd name="T7" fmla="*/ 108 h 332"/>
                  <a:gd name="T8" fmla="*/ 167 w 176"/>
                  <a:gd name="T9" fmla="*/ 123 h 332"/>
                  <a:gd name="T10" fmla="*/ 172 w 176"/>
                  <a:gd name="T11" fmla="*/ 140 h 332"/>
                  <a:gd name="T12" fmla="*/ 174 w 176"/>
                  <a:gd name="T13" fmla="*/ 154 h 332"/>
                  <a:gd name="T14" fmla="*/ 176 w 176"/>
                  <a:gd name="T15" fmla="*/ 171 h 332"/>
                  <a:gd name="T16" fmla="*/ 174 w 176"/>
                  <a:gd name="T17" fmla="*/ 185 h 332"/>
                  <a:gd name="T18" fmla="*/ 172 w 176"/>
                  <a:gd name="T19" fmla="*/ 202 h 332"/>
                  <a:gd name="T20" fmla="*/ 168 w 176"/>
                  <a:gd name="T21" fmla="*/ 219 h 332"/>
                  <a:gd name="T22" fmla="*/ 162 w 176"/>
                  <a:gd name="T23" fmla="*/ 236 h 332"/>
                  <a:gd name="T24" fmla="*/ 158 w 176"/>
                  <a:gd name="T25" fmla="*/ 242 h 332"/>
                  <a:gd name="T26" fmla="*/ 154 w 176"/>
                  <a:gd name="T27" fmla="*/ 249 h 332"/>
                  <a:gd name="T28" fmla="*/ 149 w 176"/>
                  <a:gd name="T29" fmla="*/ 255 h 332"/>
                  <a:gd name="T30" fmla="*/ 146 w 176"/>
                  <a:gd name="T31" fmla="*/ 262 h 332"/>
                  <a:gd name="T32" fmla="*/ 136 w 176"/>
                  <a:gd name="T33" fmla="*/ 274 h 332"/>
                  <a:gd name="T34" fmla="*/ 126 w 176"/>
                  <a:gd name="T35" fmla="*/ 286 h 332"/>
                  <a:gd name="T36" fmla="*/ 114 w 176"/>
                  <a:gd name="T37" fmla="*/ 296 h 332"/>
                  <a:gd name="T38" fmla="*/ 102 w 176"/>
                  <a:gd name="T39" fmla="*/ 305 h 332"/>
                  <a:gd name="T40" fmla="*/ 88 w 176"/>
                  <a:gd name="T41" fmla="*/ 312 h 332"/>
                  <a:gd name="T42" fmla="*/ 81 w 176"/>
                  <a:gd name="T43" fmla="*/ 316 h 332"/>
                  <a:gd name="T44" fmla="*/ 75 w 176"/>
                  <a:gd name="T45" fmla="*/ 321 h 332"/>
                  <a:gd name="T46" fmla="*/ 58 w 176"/>
                  <a:gd name="T47" fmla="*/ 326 h 332"/>
                  <a:gd name="T48" fmla="*/ 53 w 176"/>
                  <a:gd name="T49" fmla="*/ 326 h 332"/>
                  <a:gd name="T50" fmla="*/ 51 w 176"/>
                  <a:gd name="T51" fmla="*/ 326 h 332"/>
                  <a:gd name="T52" fmla="*/ 50 w 176"/>
                  <a:gd name="T53" fmla="*/ 326 h 332"/>
                  <a:gd name="T54" fmla="*/ 50 w 176"/>
                  <a:gd name="T55" fmla="*/ 327 h 332"/>
                  <a:gd name="T56" fmla="*/ 42 w 176"/>
                  <a:gd name="T57" fmla="*/ 329 h 332"/>
                  <a:gd name="T58" fmla="*/ 26 w 176"/>
                  <a:gd name="T59" fmla="*/ 330 h 332"/>
                  <a:gd name="T60" fmla="*/ 17 w 176"/>
                  <a:gd name="T61" fmla="*/ 330 h 332"/>
                  <a:gd name="T62" fmla="*/ 10 w 176"/>
                  <a:gd name="T63" fmla="*/ 332 h 332"/>
                  <a:gd name="T64" fmla="*/ 3 w 176"/>
                  <a:gd name="T65" fmla="*/ 312 h 332"/>
                  <a:gd name="T66" fmla="*/ 0 w 176"/>
                  <a:gd name="T67" fmla="*/ 296 h 332"/>
                  <a:gd name="T68" fmla="*/ 2 w 176"/>
                  <a:gd name="T69" fmla="*/ 278 h 332"/>
                  <a:gd name="T70" fmla="*/ 8 w 176"/>
                  <a:gd name="T71" fmla="*/ 258 h 332"/>
                  <a:gd name="T72" fmla="*/ 17 w 176"/>
                  <a:gd name="T73" fmla="*/ 237 h 332"/>
                  <a:gd name="T74" fmla="*/ 23 w 176"/>
                  <a:gd name="T75" fmla="*/ 225 h 332"/>
                  <a:gd name="T76" fmla="*/ 32 w 176"/>
                  <a:gd name="T77" fmla="*/ 214 h 332"/>
                  <a:gd name="T78" fmla="*/ 40 w 176"/>
                  <a:gd name="T79" fmla="*/ 198 h 332"/>
                  <a:gd name="T80" fmla="*/ 52 w 176"/>
                  <a:gd name="T81" fmla="*/ 182 h 332"/>
                  <a:gd name="T82" fmla="*/ 64 w 176"/>
                  <a:gd name="T83" fmla="*/ 161 h 332"/>
                  <a:gd name="T84" fmla="*/ 80 w 176"/>
                  <a:gd name="T85" fmla="*/ 141 h 332"/>
                  <a:gd name="T86" fmla="*/ 89 w 176"/>
                  <a:gd name="T87" fmla="*/ 118 h 332"/>
                  <a:gd name="T88" fmla="*/ 98 w 176"/>
                  <a:gd name="T89" fmla="*/ 96 h 332"/>
                  <a:gd name="T90" fmla="*/ 101 w 176"/>
                  <a:gd name="T91" fmla="*/ 76 h 332"/>
                  <a:gd name="T92" fmla="*/ 104 w 176"/>
                  <a:gd name="T93" fmla="*/ 58 h 332"/>
                  <a:gd name="T94" fmla="*/ 101 w 176"/>
                  <a:gd name="T95" fmla="*/ 34 h 332"/>
                  <a:gd name="T96" fmla="*/ 101 w 176"/>
                  <a:gd name="T97" fmla="*/ 20 h 332"/>
                  <a:gd name="T98" fmla="*/ 101 w 176"/>
                  <a:gd name="T99" fmla="*/ 4 h 332"/>
                  <a:gd name="T100" fmla="*/ 101 w 176"/>
                  <a:gd name="T101" fmla="*/ 0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6" h="332">
                    <a:moveTo>
                      <a:pt x="101" y="0"/>
                    </a:moveTo>
                    <a:lnTo>
                      <a:pt x="104" y="3"/>
                    </a:lnTo>
                    <a:lnTo>
                      <a:pt x="134" y="54"/>
                    </a:lnTo>
                    <a:lnTo>
                      <a:pt x="161" y="108"/>
                    </a:lnTo>
                    <a:lnTo>
                      <a:pt x="167" y="123"/>
                    </a:lnTo>
                    <a:lnTo>
                      <a:pt x="172" y="140"/>
                    </a:lnTo>
                    <a:lnTo>
                      <a:pt x="174" y="154"/>
                    </a:lnTo>
                    <a:lnTo>
                      <a:pt x="176" y="171"/>
                    </a:lnTo>
                    <a:lnTo>
                      <a:pt x="174" y="185"/>
                    </a:lnTo>
                    <a:lnTo>
                      <a:pt x="172" y="202"/>
                    </a:lnTo>
                    <a:lnTo>
                      <a:pt x="168" y="219"/>
                    </a:lnTo>
                    <a:lnTo>
                      <a:pt x="162" y="236"/>
                    </a:lnTo>
                    <a:lnTo>
                      <a:pt x="158" y="242"/>
                    </a:lnTo>
                    <a:lnTo>
                      <a:pt x="154" y="249"/>
                    </a:lnTo>
                    <a:lnTo>
                      <a:pt x="149" y="255"/>
                    </a:lnTo>
                    <a:lnTo>
                      <a:pt x="146" y="262"/>
                    </a:lnTo>
                    <a:lnTo>
                      <a:pt x="136" y="274"/>
                    </a:lnTo>
                    <a:lnTo>
                      <a:pt x="126" y="286"/>
                    </a:lnTo>
                    <a:lnTo>
                      <a:pt x="114" y="296"/>
                    </a:lnTo>
                    <a:lnTo>
                      <a:pt x="102" y="305"/>
                    </a:lnTo>
                    <a:lnTo>
                      <a:pt x="88" y="312"/>
                    </a:lnTo>
                    <a:lnTo>
                      <a:pt x="81" y="316"/>
                    </a:lnTo>
                    <a:lnTo>
                      <a:pt x="75" y="321"/>
                    </a:lnTo>
                    <a:lnTo>
                      <a:pt x="58" y="326"/>
                    </a:lnTo>
                    <a:lnTo>
                      <a:pt x="53" y="326"/>
                    </a:lnTo>
                    <a:lnTo>
                      <a:pt x="51" y="326"/>
                    </a:lnTo>
                    <a:lnTo>
                      <a:pt x="50" y="326"/>
                    </a:lnTo>
                    <a:lnTo>
                      <a:pt x="50" y="327"/>
                    </a:lnTo>
                    <a:lnTo>
                      <a:pt x="42" y="329"/>
                    </a:lnTo>
                    <a:lnTo>
                      <a:pt x="26" y="330"/>
                    </a:lnTo>
                    <a:lnTo>
                      <a:pt x="17" y="330"/>
                    </a:lnTo>
                    <a:lnTo>
                      <a:pt x="10" y="332"/>
                    </a:lnTo>
                    <a:lnTo>
                      <a:pt x="3" y="312"/>
                    </a:lnTo>
                    <a:lnTo>
                      <a:pt x="0" y="296"/>
                    </a:lnTo>
                    <a:lnTo>
                      <a:pt x="2" y="278"/>
                    </a:lnTo>
                    <a:lnTo>
                      <a:pt x="8" y="258"/>
                    </a:lnTo>
                    <a:lnTo>
                      <a:pt x="17" y="237"/>
                    </a:lnTo>
                    <a:lnTo>
                      <a:pt x="23" y="225"/>
                    </a:lnTo>
                    <a:lnTo>
                      <a:pt x="32" y="214"/>
                    </a:lnTo>
                    <a:lnTo>
                      <a:pt x="40" y="198"/>
                    </a:lnTo>
                    <a:lnTo>
                      <a:pt x="52" y="182"/>
                    </a:lnTo>
                    <a:lnTo>
                      <a:pt x="64" y="161"/>
                    </a:lnTo>
                    <a:lnTo>
                      <a:pt x="80" y="141"/>
                    </a:lnTo>
                    <a:lnTo>
                      <a:pt x="89" y="118"/>
                    </a:lnTo>
                    <a:lnTo>
                      <a:pt x="98" y="96"/>
                    </a:lnTo>
                    <a:lnTo>
                      <a:pt x="101" y="76"/>
                    </a:lnTo>
                    <a:lnTo>
                      <a:pt x="104" y="58"/>
                    </a:lnTo>
                    <a:lnTo>
                      <a:pt x="101" y="34"/>
                    </a:lnTo>
                    <a:lnTo>
                      <a:pt x="101" y="20"/>
                    </a:lnTo>
                    <a:lnTo>
                      <a:pt x="101" y="4"/>
                    </a:lnTo>
                    <a:lnTo>
                      <a:pt x="101" y="0"/>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64" name="Freeform 292">
                <a:extLst>
                  <a:ext uri="{FF2B5EF4-FFF2-40B4-BE49-F238E27FC236}">
                    <a16:creationId xmlns:a16="http://schemas.microsoft.com/office/drawing/2014/main" id="{092A1570-7A77-224F-432C-B3DE451465E4}"/>
                  </a:ext>
                </a:extLst>
              </p:cNvPr>
              <p:cNvSpPr>
                <a:spLocks/>
              </p:cNvSpPr>
              <p:nvPr/>
            </p:nvSpPr>
            <p:spPr bwMode="auto">
              <a:xfrm>
                <a:off x="3271" y="2129"/>
                <a:ext cx="83" cy="68"/>
              </a:xfrm>
              <a:custGeom>
                <a:avLst/>
                <a:gdLst>
                  <a:gd name="T0" fmla="*/ 8 w 68"/>
                  <a:gd name="T1" fmla="*/ 34 h 74"/>
                  <a:gd name="T2" fmla="*/ 8 w 68"/>
                  <a:gd name="T3" fmla="*/ 31 h 74"/>
                  <a:gd name="T4" fmla="*/ 6 w 68"/>
                  <a:gd name="T5" fmla="*/ 13 h 74"/>
                  <a:gd name="T6" fmla="*/ 2 w 68"/>
                  <a:gd name="T7" fmla="*/ 6 h 74"/>
                  <a:gd name="T8" fmla="*/ 0 w 68"/>
                  <a:gd name="T9" fmla="*/ 1 h 74"/>
                  <a:gd name="T10" fmla="*/ 10 w 68"/>
                  <a:gd name="T11" fmla="*/ 0 h 74"/>
                  <a:gd name="T12" fmla="*/ 20 w 68"/>
                  <a:gd name="T13" fmla="*/ 3 h 74"/>
                  <a:gd name="T14" fmla="*/ 29 w 68"/>
                  <a:gd name="T15" fmla="*/ 7 h 74"/>
                  <a:gd name="T16" fmla="*/ 38 w 68"/>
                  <a:gd name="T17" fmla="*/ 14 h 74"/>
                  <a:gd name="T18" fmla="*/ 46 w 68"/>
                  <a:gd name="T19" fmla="*/ 22 h 74"/>
                  <a:gd name="T20" fmla="*/ 54 w 68"/>
                  <a:gd name="T21" fmla="*/ 33 h 74"/>
                  <a:gd name="T22" fmla="*/ 61 w 68"/>
                  <a:gd name="T23" fmla="*/ 46 h 74"/>
                  <a:gd name="T24" fmla="*/ 68 w 68"/>
                  <a:gd name="T25" fmla="*/ 62 h 74"/>
                  <a:gd name="T26" fmla="*/ 58 w 68"/>
                  <a:gd name="T27" fmla="*/ 55 h 74"/>
                  <a:gd name="T28" fmla="*/ 49 w 68"/>
                  <a:gd name="T29" fmla="*/ 51 h 74"/>
                  <a:gd name="T30" fmla="*/ 42 w 68"/>
                  <a:gd name="T31" fmla="*/ 48 h 74"/>
                  <a:gd name="T32" fmla="*/ 37 w 68"/>
                  <a:gd name="T33" fmla="*/ 48 h 74"/>
                  <a:gd name="T34" fmla="*/ 31 w 68"/>
                  <a:gd name="T35" fmla="*/ 48 h 74"/>
                  <a:gd name="T36" fmla="*/ 28 w 68"/>
                  <a:gd name="T37" fmla="*/ 50 h 74"/>
                  <a:gd name="T38" fmla="*/ 24 w 68"/>
                  <a:gd name="T39" fmla="*/ 54 h 74"/>
                  <a:gd name="T40" fmla="*/ 23 w 68"/>
                  <a:gd name="T41" fmla="*/ 61 h 74"/>
                  <a:gd name="T42" fmla="*/ 20 w 68"/>
                  <a:gd name="T43" fmla="*/ 72 h 74"/>
                  <a:gd name="T44" fmla="*/ 20 w 68"/>
                  <a:gd name="T45" fmla="*/ 74 h 74"/>
                  <a:gd name="T46" fmla="*/ 18 w 68"/>
                  <a:gd name="T47" fmla="*/ 72 h 74"/>
                  <a:gd name="T48" fmla="*/ 11 w 68"/>
                  <a:gd name="T49" fmla="*/ 62 h 74"/>
                  <a:gd name="T50" fmla="*/ 8 w 68"/>
                  <a:gd name="T51" fmla="*/ 56 h 74"/>
                  <a:gd name="T52" fmla="*/ 8 w 68"/>
                  <a:gd name="T53" fmla="*/ 51 h 74"/>
                  <a:gd name="T54" fmla="*/ 8 w 68"/>
                  <a:gd name="T55" fmla="*/ 42 h 74"/>
                  <a:gd name="T56" fmla="*/ 8 w 68"/>
                  <a:gd name="T57" fmla="*/ 38 h 74"/>
                  <a:gd name="T58" fmla="*/ 8 w 68"/>
                  <a:gd name="T59" fmla="*/ 3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 h="74">
                    <a:moveTo>
                      <a:pt x="8" y="34"/>
                    </a:moveTo>
                    <a:lnTo>
                      <a:pt x="8" y="31"/>
                    </a:lnTo>
                    <a:lnTo>
                      <a:pt x="6" y="13"/>
                    </a:lnTo>
                    <a:lnTo>
                      <a:pt x="2" y="6"/>
                    </a:lnTo>
                    <a:lnTo>
                      <a:pt x="0" y="1"/>
                    </a:lnTo>
                    <a:lnTo>
                      <a:pt x="10" y="0"/>
                    </a:lnTo>
                    <a:lnTo>
                      <a:pt x="20" y="3"/>
                    </a:lnTo>
                    <a:lnTo>
                      <a:pt x="29" y="7"/>
                    </a:lnTo>
                    <a:lnTo>
                      <a:pt x="38" y="14"/>
                    </a:lnTo>
                    <a:lnTo>
                      <a:pt x="46" y="22"/>
                    </a:lnTo>
                    <a:lnTo>
                      <a:pt x="54" y="33"/>
                    </a:lnTo>
                    <a:lnTo>
                      <a:pt x="61" y="46"/>
                    </a:lnTo>
                    <a:lnTo>
                      <a:pt x="68" y="62"/>
                    </a:lnTo>
                    <a:lnTo>
                      <a:pt x="58" y="55"/>
                    </a:lnTo>
                    <a:lnTo>
                      <a:pt x="49" y="51"/>
                    </a:lnTo>
                    <a:lnTo>
                      <a:pt x="42" y="48"/>
                    </a:lnTo>
                    <a:lnTo>
                      <a:pt x="37" y="48"/>
                    </a:lnTo>
                    <a:lnTo>
                      <a:pt x="31" y="48"/>
                    </a:lnTo>
                    <a:lnTo>
                      <a:pt x="28" y="50"/>
                    </a:lnTo>
                    <a:lnTo>
                      <a:pt x="24" y="54"/>
                    </a:lnTo>
                    <a:lnTo>
                      <a:pt x="23" y="61"/>
                    </a:lnTo>
                    <a:lnTo>
                      <a:pt x="20" y="72"/>
                    </a:lnTo>
                    <a:lnTo>
                      <a:pt x="20" y="74"/>
                    </a:lnTo>
                    <a:lnTo>
                      <a:pt x="18" y="72"/>
                    </a:lnTo>
                    <a:lnTo>
                      <a:pt x="11" y="62"/>
                    </a:lnTo>
                    <a:lnTo>
                      <a:pt x="8" y="56"/>
                    </a:lnTo>
                    <a:lnTo>
                      <a:pt x="8" y="51"/>
                    </a:lnTo>
                    <a:lnTo>
                      <a:pt x="8" y="42"/>
                    </a:lnTo>
                    <a:lnTo>
                      <a:pt x="8" y="38"/>
                    </a:lnTo>
                    <a:lnTo>
                      <a:pt x="8" y="34"/>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65" name="Freeform 293">
                <a:extLst>
                  <a:ext uri="{FF2B5EF4-FFF2-40B4-BE49-F238E27FC236}">
                    <a16:creationId xmlns:a16="http://schemas.microsoft.com/office/drawing/2014/main" id="{27C56548-A118-D383-B0AE-D50E237D3EC3}"/>
                  </a:ext>
                </a:extLst>
              </p:cNvPr>
              <p:cNvSpPr>
                <a:spLocks/>
              </p:cNvSpPr>
              <p:nvPr/>
            </p:nvSpPr>
            <p:spPr bwMode="auto">
              <a:xfrm>
                <a:off x="3052" y="2181"/>
                <a:ext cx="174" cy="425"/>
              </a:xfrm>
              <a:custGeom>
                <a:avLst/>
                <a:gdLst>
                  <a:gd name="T0" fmla="*/ 5 w 136"/>
                  <a:gd name="T1" fmla="*/ 12 h 472"/>
                  <a:gd name="T2" fmla="*/ 0 w 136"/>
                  <a:gd name="T3" fmla="*/ 41 h 472"/>
                  <a:gd name="T4" fmla="*/ 7 w 136"/>
                  <a:gd name="T5" fmla="*/ 76 h 472"/>
                  <a:gd name="T6" fmla="*/ 11 w 136"/>
                  <a:gd name="T7" fmla="*/ 90 h 472"/>
                  <a:gd name="T8" fmla="*/ 18 w 136"/>
                  <a:gd name="T9" fmla="*/ 113 h 472"/>
                  <a:gd name="T10" fmla="*/ 21 w 136"/>
                  <a:gd name="T11" fmla="*/ 121 h 472"/>
                  <a:gd name="T12" fmla="*/ 24 w 136"/>
                  <a:gd name="T13" fmla="*/ 128 h 472"/>
                  <a:gd name="T14" fmla="*/ 28 w 136"/>
                  <a:gd name="T15" fmla="*/ 146 h 472"/>
                  <a:gd name="T16" fmla="*/ 33 w 136"/>
                  <a:gd name="T17" fmla="*/ 161 h 472"/>
                  <a:gd name="T18" fmla="*/ 34 w 136"/>
                  <a:gd name="T19" fmla="*/ 164 h 472"/>
                  <a:gd name="T20" fmla="*/ 37 w 136"/>
                  <a:gd name="T21" fmla="*/ 182 h 472"/>
                  <a:gd name="T22" fmla="*/ 34 w 136"/>
                  <a:gd name="T23" fmla="*/ 210 h 472"/>
                  <a:gd name="T24" fmla="*/ 30 w 136"/>
                  <a:gd name="T25" fmla="*/ 234 h 472"/>
                  <a:gd name="T26" fmla="*/ 17 w 136"/>
                  <a:gd name="T27" fmla="*/ 305 h 472"/>
                  <a:gd name="T28" fmla="*/ 13 w 136"/>
                  <a:gd name="T29" fmla="*/ 365 h 472"/>
                  <a:gd name="T30" fmla="*/ 15 w 136"/>
                  <a:gd name="T31" fmla="*/ 402 h 472"/>
                  <a:gd name="T32" fmla="*/ 19 w 136"/>
                  <a:gd name="T33" fmla="*/ 432 h 472"/>
                  <a:gd name="T34" fmla="*/ 28 w 136"/>
                  <a:gd name="T35" fmla="*/ 455 h 472"/>
                  <a:gd name="T36" fmla="*/ 40 w 136"/>
                  <a:gd name="T37" fmla="*/ 472 h 472"/>
                  <a:gd name="T38" fmla="*/ 58 w 136"/>
                  <a:gd name="T39" fmla="*/ 467 h 472"/>
                  <a:gd name="T40" fmla="*/ 66 w 136"/>
                  <a:gd name="T41" fmla="*/ 463 h 472"/>
                  <a:gd name="T42" fmla="*/ 81 w 136"/>
                  <a:gd name="T43" fmla="*/ 451 h 472"/>
                  <a:gd name="T44" fmla="*/ 84 w 136"/>
                  <a:gd name="T45" fmla="*/ 444 h 472"/>
                  <a:gd name="T46" fmla="*/ 91 w 136"/>
                  <a:gd name="T47" fmla="*/ 433 h 472"/>
                  <a:gd name="T48" fmla="*/ 102 w 136"/>
                  <a:gd name="T49" fmla="*/ 407 h 472"/>
                  <a:gd name="T50" fmla="*/ 102 w 136"/>
                  <a:gd name="T51" fmla="*/ 400 h 472"/>
                  <a:gd name="T52" fmla="*/ 104 w 136"/>
                  <a:gd name="T53" fmla="*/ 398 h 472"/>
                  <a:gd name="T54" fmla="*/ 107 w 136"/>
                  <a:gd name="T55" fmla="*/ 374 h 472"/>
                  <a:gd name="T56" fmla="*/ 107 w 136"/>
                  <a:gd name="T57" fmla="*/ 335 h 472"/>
                  <a:gd name="T58" fmla="*/ 113 w 136"/>
                  <a:gd name="T59" fmla="*/ 296 h 472"/>
                  <a:gd name="T60" fmla="*/ 126 w 136"/>
                  <a:gd name="T61" fmla="*/ 266 h 472"/>
                  <a:gd name="T62" fmla="*/ 135 w 136"/>
                  <a:gd name="T63" fmla="*/ 234 h 472"/>
                  <a:gd name="T64" fmla="*/ 136 w 136"/>
                  <a:gd name="T65" fmla="*/ 218 h 472"/>
                  <a:gd name="T66" fmla="*/ 131 w 136"/>
                  <a:gd name="T67" fmla="*/ 182 h 472"/>
                  <a:gd name="T68" fmla="*/ 120 w 136"/>
                  <a:gd name="T69" fmla="*/ 150 h 472"/>
                  <a:gd name="T70" fmla="*/ 100 w 136"/>
                  <a:gd name="T71" fmla="*/ 119 h 472"/>
                  <a:gd name="T72" fmla="*/ 73 w 136"/>
                  <a:gd name="T73" fmla="*/ 90 h 472"/>
                  <a:gd name="T74" fmla="*/ 33 w 136"/>
                  <a:gd name="T75" fmla="*/ 44 h 472"/>
                  <a:gd name="T76" fmla="*/ 18 w 136"/>
                  <a:gd name="T77" fmla="*/ 22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472">
                    <a:moveTo>
                      <a:pt x="11" y="0"/>
                    </a:moveTo>
                    <a:lnTo>
                      <a:pt x="5" y="12"/>
                    </a:lnTo>
                    <a:lnTo>
                      <a:pt x="1" y="26"/>
                    </a:lnTo>
                    <a:lnTo>
                      <a:pt x="0" y="41"/>
                    </a:lnTo>
                    <a:lnTo>
                      <a:pt x="3" y="55"/>
                    </a:lnTo>
                    <a:lnTo>
                      <a:pt x="7" y="76"/>
                    </a:lnTo>
                    <a:lnTo>
                      <a:pt x="10" y="85"/>
                    </a:lnTo>
                    <a:lnTo>
                      <a:pt x="11" y="90"/>
                    </a:lnTo>
                    <a:lnTo>
                      <a:pt x="13" y="96"/>
                    </a:lnTo>
                    <a:lnTo>
                      <a:pt x="18" y="113"/>
                    </a:lnTo>
                    <a:lnTo>
                      <a:pt x="21" y="120"/>
                    </a:lnTo>
                    <a:lnTo>
                      <a:pt x="21" y="121"/>
                    </a:lnTo>
                    <a:lnTo>
                      <a:pt x="22" y="124"/>
                    </a:lnTo>
                    <a:lnTo>
                      <a:pt x="24" y="128"/>
                    </a:lnTo>
                    <a:lnTo>
                      <a:pt x="27" y="142"/>
                    </a:lnTo>
                    <a:lnTo>
                      <a:pt x="28" y="146"/>
                    </a:lnTo>
                    <a:lnTo>
                      <a:pt x="30" y="152"/>
                    </a:lnTo>
                    <a:lnTo>
                      <a:pt x="33" y="161"/>
                    </a:lnTo>
                    <a:lnTo>
                      <a:pt x="33" y="162"/>
                    </a:lnTo>
                    <a:lnTo>
                      <a:pt x="34" y="164"/>
                    </a:lnTo>
                    <a:lnTo>
                      <a:pt x="36" y="169"/>
                    </a:lnTo>
                    <a:lnTo>
                      <a:pt x="37" y="182"/>
                    </a:lnTo>
                    <a:lnTo>
                      <a:pt x="36" y="200"/>
                    </a:lnTo>
                    <a:lnTo>
                      <a:pt x="34" y="210"/>
                    </a:lnTo>
                    <a:lnTo>
                      <a:pt x="33" y="222"/>
                    </a:lnTo>
                    <a:lnTo>
                      <a:pt x="30" y="234"/>
                    </a:lnTo>
                    <a:lnTo>
                      <a:pt x="28" y="248"/>
                    </a:lnTo>
                    <a:lnTo>
                      <a:pt x="17" y="305"/>
                    </a:lnTo>
                    <a:lnTo>
                      <a:pt x="13" y="334"/>
                    </a:lnTo>
                    <a:lnTo>
                      <a:pt x="13" y="365"/>
                    </a:lnTo>
                    <a:lnTo>
                      <a:pt x="13" y="384"/>
                    </a:lnTo>
                    <a:lnTo>
                      <a:pt x="15" y="402"/>
                    </a:lnTo>
                    <a:lnTo>
                      <a:pt x="16" y="418"/>
                    </a:lnTo>
                    <a:lnTo>
                      <a:pt x="19" y="432"/>
                    </a:lnTo>
                    <a:lnTo>
                      <a:pt x="23" y="444"/>
                    </a:lnTo>
                    <a:lnTo>
                      <a:pt x="28" y="455"/>
                    </a:lnTo>
                    <a:lnTo>
                      <a:pt x="33" y="463"/>
                    </a:lnTo>
                    <a:lnTo>
                      <a:pt x="40" y="472"/>
                    </a:lnTo>
                    <a:lnTo>
                      <a:pt x="48" y="469"/>
                    </a:lnTo>
                    <a:lnTo>
                      <a:pt x="58" y="467"/>
                    </a:lnTo>
                    <a:lnTo>
                      <a:pt x="61" y="464"/>
                    </a:lnTo>
                    <a:lnTo>
                      <a:pt x="66" y="463"/>
                    </a:lnTo>
                    <a:lnTo>
                      <a:pt x="75" y="458"/>
                    </a:lnTo>
                    <a:lnTo>
                      <a:pt x="81" y="451"/>
                    </a:lnTo>
                    <a:lnTo>
                      <a:pt x="83" y="446"/>
                    </a:lnTo>
                    <a:lnTo>
                      <a:pt x="84" y="444"/>
                    </a:lnTo>
                    <a:lnTo>
                      <a:pt x="87" y="443"/>
                    </a:lnTo>
                    <a:lnTo>
                      <a:pt x="91" y="433"/>
                    </a:lnTo>
                    <a:lnTo>
                      <a:pt x="98" y="424"/>
                    </a:lnTo>
                    <a:lnTo>
                      <a:pt x="102" y="407"/>
                    </a:lnTo>
                    <a:lnTo>
                      <a:pt x="102" y="402"/>
                    </a:lnTo>
                    <a:lnTo>
                      <a:pt x="102" y="400"/>
                    </a:lnTo>
                    <a:lnTo>
                      <a:pt x="102" y="398"/>
                    </a:lnTo>
                    <a:lnTo>
                      <a:pt x="104" y="398"/>
                    </a:lnTo>
                    <a:lnTo>
                      <a:pt x="106" y="391"/>
                    </a:lnTo>
                    <a:lnTo>
                      <a:pt x="107" y="374"/>
                    </a:lnTo>
                    <a:lnTo>
                      <a:pt x="108" y="358"/>
                    </a:lnTo>
                    <a:lnTo>
                      <a:pt x="107" y="335"/>
                    </a:lnTo>
                    <a:lnTo>
                      <a:pt x="110" y="314"/>
                    </a:lnTo>
                    <a:lnTo>
                      <a:pt x="113" y="296"/>
                    </a:lnTo>
                    <a:lnTo>
                      <a:pt x="120" y="283"/>
                    </a:lnTo>
                    <a:lnTo>
                      <a:pt x="126" y="266"/>
                    </a:lnTo>
                    <a:lnTo>
                      <a:pt x="131" y="251"/>
                    </a:lnTo>
                    <a:lnTo>
                      <a:pt x="135" y="234"/>
                    </a:lnTo>
                    <a:lnTo>
                      <a:pt x="135" y="226"/>
                    </a:lnTo>
                    <a:lnTo>
                      <a:pt x="136" y="218"/>
                    </a:lnTo>
                    <a:lnTo>
                      <a:pt x="135" y="199"/>
                    </a:lnTo>
                    <a:lnTo>
                      <a:pt x="131" y="182"/>
                    </a:lnTo>
                    <a:lnTo>
                      <a:pt x="126" y="166"/>
                    </a:lnTo>
                    <a:lnTo>
                      <a:pt x="120" y="150"/>
                    </a:lnTo>
                    <a:lnTo>
                      <a:pt x="111" y="133"/>
                    </a:lnTo>
                    <a:lnTo>
                      <a:pt x="100" y="119"/>
                    </a:lnTo>
                    <a:lnTo>
                      <a:pt x="87" y="104"/>
                    </a:lnTo>
                    <a:lnTo>
                      <a:pt x="73" y="90"/>
                    </a:lnTo>
                    <a:lnTo>
                      <a:pt x="49" y="66"/>
                    </a:lnTo>
                    <a:lnTo>
                      <a:pt x="33" y="44"/>
                    </a:lnTo>
                    <a:lnTo>
                      <a:pt x="24" y="32"/>
                    </a:lnTo>
                    <a:lnTo>
                      <a:pt x="18" y="22"/>
                    </a:lnTo>
                    <a:lnTo>
                      <a:pt x="11" y="0"/>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66" name="Freeform 294">
                <a:extLst>
                  <a:ext uri="{FF2B5EF4-FFF2-40B4-BE49-F238E27FC236}">
                    <a16:creationId xmlns:a16="http://schemas.microsoft.com/office/drawing/2014/main" id="{FD8CCE15-B83D-4548-5C44-57E64F127CBD}"/>
                  </a:ext>
                </a:extLst>
              </p:cNvPr>
              <p:cNvSpPr>
                <a:spLocks/>
              </p:cNvSpPr>
              <p:nvPr/>
            </p:nvSpPr>
            <p:spPr bwMode="auto">
              <a:xfrm>
                <a:off x="3052" y="2181"/>
                <a:ext cx="174" cy="425"/>
              </a:xfrm>
              <a:custGeom>
                <a:avLst/>
                <a:gdLst>
                  <a:gd name="T0" fmla="*/ 7 w 136"/>
                  <a:gd name="T1" fmla="*/ 76 h 472"/>
                  <a:gd name="T2" fmla="*/ 11 w 136"/>
                  <a:gd name="T3" fmla="*/ 90 h 472"/>
                  <a:gd name="T4" fmla="*/ 18 w 136"/>
                  <a:gd name="T5" fmla="*/ 113 h 472"/>
                  <a:gd name="T6" fmla="*/ 21 w 136"/>
                  <a:gd name="T7" fmla="*/ 121 h 472"/>
                  <a:gd name="T8" fmla="*/ 24 w 136"/>
                  <a:gd name="T9" fmla="*/ 128 h 472"/>
                  <a:gd name="T10" fmla="*/ 28 w 136"/>
                  <a:gd name="T11" fmla="*/ 146 h 472"/>
                  <a:gd name="T12" fmla="*/ 33 w 136"/>
                  <a:gd name="T13" fmla="*/ 161 h 472"/>
                  <a:gd name="T14" fmla="*/ 34 w 136"/>
                  <a:gd name="T15" fmla="*/ 164 h 472"/>
                  <a:gd name="T16" fmla="*/ 37 w 136"/>
                  <a:gd name="T17" fmla="*/ 182 h 472"/>
                  <a:gd name="T18" fmla="*/ 34 w 136"/>
                  <a:gd name="T19" fmla="*/ 210 h 472"/>
                  <a:gd name="T20" fmla="*/ 30 w 136"/>
                  <a:gd name="T21" fmla="*/ 234 h 472"/>
                  <a:gd name="T22" fmla="*/ 17 w 136"/>
                  <a:gd name="T23" fmla="*/ 305 h 472"/>
                  <a:gd name="T24" fmla="*/ 13 w 136"/>
                  <a:gd name="T25" fmla="*/ 365 h 472"/>
                  <a:gd name="T26" fmla="*/ 15 w 136"/>
                  <a:gd name="T27" fmla="*/ 402 h 472"/>
                  <a:gd name="T28" fmla="*/ 19 w 136"/>
                  <a:gd name="T29" fmla="*/ 432 h 472"/>
                  <a:gd name="T30" fmla="*/ 28 w 136"/>
                  <a:gd name="T31" fmla="*/ 455 h 472"/>
                  <a:gd name="T32" fmla="*/ 40 w 136"/>
                  <a:gd name="T33" fmla="*/ 472 h 472"/>
                  <a:gd name="T34" fmla="*/ 58 w 136"/>
                  <a:gd name="T35" fmla="*/ 467 h 472"/>
                  <a:gd name="T36" fmla="*/ 66 w 136"/>
                  <a:gd name="T37" fmla="*/ 463 h 472"/>
                  <a:gd name="T38" fmla="*/ 81 w 136"/>
                  <a:gd name="T39" fmla="*/ 451 h 472"/>
                  <a:gd name="T40" fmla="*/ 84 w 136"/>
                  <a:gd name="T41" fmla="*/ 444 h 472"/>
                  <a:gd name="T42" fmla="*/ 91 w 136"/>
                  <a:gd name="T43" fmla="*/ 433 h 472"/>
                  <a:gd name="T44" fmla="*/ 102 w 136"/>
                  <a:gd name="T45" fmla="*/ 407 h 472"/>
                  <a:gd name="T46" fmla="*/ 102 w 136"/>
                  <a:gd name="T47" fmla="*/ 400 h 472"/>
                  <a:gd name="T48" fmla="*/ 104 w 136"/>
                  <a:gd name="T49" fmla="*/ 398 h 472"/>
                  <a:gd name="T50" fmla="*/ 107 w 136"/>
                  <a:gd name="T51" fmla="*/ 374 h 472"/>
                  <a:gd name="T52" fmla="*/ 107 w 136"/>
                  <a:gd name="T53" fmla="*/ 335 h 472"/>
                  <a:gd name="T54" fmla="*/ 113 w 136"/>
                  <a:gd name="T55" fmla="*/ 296 h 472"/>
                  <a:gd name="T56" fmla="*/ 126 w 136"/>
                  <a:gd name="T57" fmla="*/ 266 h 472"/>
                  <a:gd name="T58" fmla="*/ 135 w 136"/>
                  <a:gd name="T59" fmla="*/ 234 h 472"/>
                  <a:gd name="T60" fmla="*/ 136 w 136"/>
                  <a:gd name="T61" fmla="*/ 218 h 472"/>
                  <a:gd name="T62" fmla="*/ 131 w 136"/>
                  <a:gd name="T63" fmla="*/ 182 h 472"/>
                  <a:gd name="T64" fmla="*/ 120 w 136"/>
                  <a:gd name="T65" fmla="*/ 150 h 472"/>
                  <a:gd name="T66" fmla="*/ 100 w 136"/>
                  <a:gd name="T67" fmla="*/ 119 h 472"/>
                  <a:gd name="T68" fmla="*/ 73 w 136"/>
                  <a:gd name="T69" fmla="*/ 90 h 472"/>
                  <a:gd name="T70" fmla="*/ 33 w 136"/>
                  <a:gd name="T71" fmla="*/ 44 h 472"/>
                  <a:gd name="T72" fmla="*/ 18 w 136"/>
                  <a:gd name="T73" fmla="*/ 22 h 472"/>
                  <a:gd name="T74" fmla="*/ 5 w 136"/>
                  <a:gd name="T75" fmla="*/ 12 h 472"/>
                  <a:gd name="T76" fmla="*/ 0 w 136"/>
                  <a:gd name="T77" fmla="*/ 41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6" h="472">
                    <a:moveTo>
                      <a:pt x="3" y="55"/>
                    </a:moveTo>
                    <a:lnTo>
                      <a:pt x="7" y="76"/>
                    </a:lnTo>
                    <a:lnTo>
                      <a:pt x="10" y="85"/>
                    </a:lnTo>
                    <a:lnTo>
                      <a:pt x="11" y="90"/>
                    </a:lnTo>
                    <a:lnTo>
                      <a:pt x="13" y="96"/>
                    </a:lnTo>
                    <a:lnTo>
                      <a:pt x="18" y="113"/>
                    </a:lnTo>
                    <a:lnTo>
                      <a:pt x="21" y="120"/>
                    </a:lnTo>
                    <a:lnTo>
                      <a:pt x="21" y="121"/>
                    </a:lnTo>
                    <a:lnTo>
                      <a:pt x="22" y="124"/>
                    </a:lnTo>
                    <a:lnTo>
                      <a:pt x="24" y="128"/>
                    </a:lnTo>
                    <a:lnTo>
                      <a:pt x="27" y="142"/>
                    </a:lnTo>
                    <a:lnTo>
                      <a:pt x="28" y="146"/>
                    </a:lnTo>
                    <a:lnTo>
                      <a:pt x="30" y="152"/>
                    </a:lnTo>
                    <a:lnTo>
                      <a:pt x="33" y="161"/>
                    </a:lnTo>
                    <a:lnTo>
                      <a:pt x="33" y="162"/>
                    </a:lnTo>
                    <a:lnTo>
                      <a:pt x="34" y="164"/>
                    </a:lnTo>
                    <a:lnTo>
                      <a:pt x="36" y="169"/>
                    </a:lnTo>
                    <a:lnTo>
                      <a:pt x="37" y="182"/>
                    </a:lnTo>
                    <a:lnTo>
                      <a:pt x="36" y="200"/>
                    </a:lnTo>
                    <a:lnTo>
                      <a:pt x="34" y="210"/>
                    </a:lnTo>
                    <a:lnTo>
                      <a:pt x="33" y="222"/>
                    </a:lnTo>
                    <a:lnTo>
                      <a:pt x="30" y="234"/>
                    </a:lnTo>
                    <a:lnTo>
                      <a:pt x="28" y="248"/>
                    </a:lnTo>
                    <a:lnTo>
                      <a:pt x="17" y="305"/>
                    </a:lnTo>
                    <a:lnTo>
                      <a:pt x="13" y="334"/>
                    </a:lnTo>
                    <a:lnTo>
                      <a:pt x="13" y="365"/>
                    </a:lnTo>
                    <a:lnTo>
                      <a:pt x="13" y="384"/>
                    </a:lnTo>
                    <a:lnTo>
                      <a:pt x="15" y="402"/>
                    </a:lnTo>
                    <a:lnTo>
                      <a:pt x="16" y="418"/>
                    </a:lnTo>
                    <a:lnTo>
                      <a:pt x="19" y="432"/>
                    </a:lnTo>
                    <a:lnTo>
                      <a:pt x="23" y="444"/>
                    </a:lnTo>
                    <a:lnTo>
                      <a:pt x="28" y="455"/>
                    </a:lnTo>
                    <a:lnTo>
                      <a:pt x="33" y="463"/>
                    </a:lnTo>
                    <a:lnTo>
                      <a:pt x="40" y="472"/>
                    </a:lnTo>
                    <a:lnTo>
                      <a:pt x="48" y="469"/>
                    </a:lnTo>
                    <a:lnTo>
                      <a:pt x="58" y="467"/>
                    </a:lnTo>
                    <a:lnTo>
                      <a:pt x="61" y="464"/>
                    </a:lnTo>
                    <a:lnTo>
                      <a:pt x="66" y="463"/>
                    </a:lnTo>
                    <a:lnTo>
                      <a:pt x="75" y="458"/>
                    </a:lnTo>
                    <a:lnTo>
                      <a:pt x="81" y="451"/>
                    </a:lnTo>
                    <a:lnTo>
                      <a:pt x="83" y="446"/>
                    </a:lnTo>
                    <a:lnTo>
                      <a:pt x="84" y="444"/>
                    </a:lnTo>
                    <a:lnTo>
                      <a:pt x="87" y="443"/>
                    </a:lnTo>
                    <a:lnTo>
                      <a:pt x="91" y="433"/>
                    </a:lnTo>
                    <a:lnTo>
                      <a:pt x="98" y="424"/>
                    </a:lnTo>
                    <a:lnTo>
                      <a:pt x="102" y="407"/>
                    </a:lnTo>
                    <a:lnTo>
                      <a:pt x="102" y="402"/>
                    </a:lnTo>
                    <a:lnTo>
                      <a:pt x="102" y="400"/>
                    </a:lnTo>
                    <a:lnTo>
                      <a:pt x="102" y="398"/>
                    </a:lnTo>
                    <a:lnTo>
                      <a:pt x="104" y="398"/>
                    </a:lnTo>
                    <a:lnTo>
                      <a:pt x="106" y="391"/>
                    </a:lnTo>
                    <a:lnTo>
                      <a:pt x="107" y="374"/>
                    </a:lnTo>
                    <a:lnTo>
                      <a:pt x="108" y="358"/>
                    </a:lnTo>
                    <a:lnTo>
                      <a:pt x="107" y="335"/>
                    </a:lnTo>
                    <a:lnTo>
                      <a:pt x="110" y="314"/>
                    </a:lnTo>
                    <a:lnTo>
                      <a:pt x="113" y="296"/>
                    </a:lnTo>
                    <a:lnTo>
                      <a:pt x="120" y="283"/>
                    </a:lnTo>
                    <a:lnTo>
                      <a:pt x="126" y="266"/>
                    </a:lnTo>
                    <a:lnTo>
                      <a:pt x="131" y="251"/>
                    </a:lnTo>
                    <a:lnTo>
                      <a:pt x="135" y="234"/>
                    </a:lnTo>
                    <a:lnTo>
                      <a:pt x="135" y="226"/>
                    </a:lnTo>
                    <a:lnTo>
                      <a:pt x="136" y="218"/>
                    </a:lnTo>
                    <a:lnTo>
                      <a:pt x="135" y="199"/>
                    </a:lnTo>
                    <a:lnTo>
                      <a:pt x="131" y="182"/>
                    </a:lnTo>
                    <a:lnTo>
                      <a:pt x="126" y="166"/>
                    </a:lnTo>
                    <a:lnTo>
                      <a:pt x="120" y="150"/>
                    </a:lnTo>
                    <a:lnTo>
                      <a:pt x="111" y="133"/>
                    </a:lnTo>
                    <a:lnTo>
                      <a:pt x="100" y="119"/>
                    </a:lnTo>
                    <a:lnTo>
                      <a:pt x="87" y="104"/>
                    </a:lnTo>
                    <a:lnTo>
                      <a:pt x="73" y="90"/>
                    </a:lnTo>
                    <a:lnTo>
                      <a:pt x="49" y="66"/>
                    </a:lnTo>
                    <a:lnTo>
                      <a:pt x="33" y="44"/>
                    </a:lnTo>
                    <a:lnTo>
                      <a:pt x="24" y="32"/>
                    </a:lnTo>
                    <a:lnTo>
                      <a:pt x="18" y="22"/>
                    </a:lnTo>
                    <a:lnTo>
                      <a:pt x="11" y="0"/>
                    </a:lnTo>
                    <a:lnTo>
                      <a:pt x="5" y="12"/>
                    </a:lnTo>
                    <a:lnTo>
                      <a:pt x="1" y="26"/>
                    </a:lnTo>
                    <a:lnTo>
                      <a:pt x="0" y="41"/>
                    </a:lnTo>
                    <a:lnTo>
                      <a:pt x="3" y="55"/>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67" name="Freeform 295">
                <a:extLst>
                  <a:ext uri="{FF2B5EF4-FFF2-40B4-BE49-F238E27FC236}">
                    <a16:creationId xmlns:a16="http://schemas.microsoft.com/office/drawing/2014/main" id="{6F0FC7C7-F774-9FA2-F062-4D736376F07E}"/>
                  </a:ext>
                </a:extLst>
              </p:cNvPr>
              <p:cNvSpPr>
                <a:spLocks/>
              </p:cNvSpPr>
              <p:nvPr/>
            </p:nvSpPr>
            <p:spPr bwMode="auto">
              <a:xfrm>
                <a:off x="2618" y="2083"/>
                <a:ext cx="129" cy="163"/>
              </a:xfrm>
              <a:custGeom>
                <a:avLst/>
                <a:gdLst>
                  <a:gd name="T0" fmla="*/ 100 w 100"/>
                  <a:gd name="T1" fmla="*/ 178 h 178"/>
                  <a:gd name="T2" fmla="*/ 75 w 100"/>
                  <a:gd name="T3" fmla="*/ 157 h 178"/>
                  <a:gd name="T4" fmla="*/ 60 w 100"/>
                  <a:gd name="T5" fmla="*/ 139 h 178"/>
                  <a:gd name="T6" fmla="*/ 51 w 100"/>
                  <a:gd name="T7" fmla="*/ 123 h 178"/>
                  <a:gd name="T8" fmla="*/ 50 w 100"/>
                  <a:gd name="T9" fmla="*/ 108 h 178"/>
                  <a:gd name="T10" fmla="*/ 51 w 100"/>
                  <a:gd name="T11" fmla="*/ 102 h 178"/>
                  <a:gd name="T12" fmla="*/ 55 w 100"/>
                  <a:gd name="T13" fmla="*/ 99 h 178"/>
                  <a:gd name="T14" fmla="*/ 64 w 100"/>
                  <a:gd name="T15" fmla="*/ 95 h 178"/>
                  <a:gd name="T16" fmla="*/ 69 w 100"/>
                  <a:gd name="T17" fmla="*/ 94 h 178"/>
                  <a:gd name="T18" fmla="*/ 76 w 100"/>
                  <a:gd name="T19" fmla="*/ 95 h 178"/>
                  <a:gd name="T20" fmla="*/ 92 w 100"/>
                  <a:gd name="T21" fmla="*/ 101 h 178"/>
                  <a:gd name="T22" fmla="*/ 86 w 100"/>
                  <a:gd name="T23" fmla="*/ 87 h 178"/>
                  <a:gd name="T24" fmla="*/ 80 w 100"/>
                  <a:gd name="T25" fmla="*/ 72 h 178"/>
                  <a:gd name="T26" fmla="*/ 69 w 100"/>
                  <a:gd name="T27" fmla="*/ 58 h 178"/>
                  <a:gd name="T28" fmla="*/ 58 w 100"/>
                  <a:gd name="T29" fmla="*/ 46 h 178"/>
                  <a:gd name="T30" fmla="*/ 45 w 100"/>
                  <a:gd name="T31" fmla="*/ 33 h 178"/>
                  <a:gd name="T32" fmla="*/ 36 w 100"/>
                  <a:gd name="T33" fmla="*/ 21 h 178"/>
                  <a:gd name="T34" fmla="*/ 28 w 100"/>
                  <a:gd name="T35" fmla="*/ 10 h 178"/>
                  <a:gd name="T36" fmla="*/ 26 w 100"/>
                  <a:gd name="T37" fmla="*/ 0 h 178"/>
                  <a:gd name="T38" fmla="*/ 25 w 100"/>
                  <a:gd name="T39" fmla="*/ 12 h 178"/>
                  <a:gd name="T40" fmla="*/ 22 w 100"/>
                  <a:gd name="T41" fmla="*/ 27 h 178"/>
                  <a:gd name="T42" fmla="*/ 19 w 100"/>
                  <a:gd name="T43" fmla="*/ 41 h 178"/>
                  <a:gd name="T44" fmla="*/ 14 w 100"/>
                  <a:gd name="T45" fmla="*/ 57 h 178"/>
                  <a:gd name="T46" fmla="*/ 7 w 100"/>
                  <a:gd name="T47" fmla="*/ 71 h 178"/>
                  <a:gd name="T48" fmla="*/ 3 w 100"/>
                  <a:gd name="T49" fmla="*/ 84 h 178"/>
                  <a:gd name="T50" fmla="*/ 0 w 100"/>
                  <a:gd name="T51" fmla="*/ 93 h 178"/>
                  <a:gd name="T52" fmla="*/ 0 w 100"/>
                  <a:gd name="T53" fmla="*/ 100 h 178"/>
                  <a:gd name="T54" fmla="*/ 0 w 100"/>
                  <a:gd name="T55" fmla="*/ 109 h 178"/>
                  <a:gd name="T56" fmla="*/ 3 w 100"/>
                  <a:gd name="T57" fmla="*/ 120 h 178"/>
                  <a:gd name="T58" fmla="*/ 10 w 100"/>
                  <a:gd name="T59" fmla="*/ 130 h 178"/>
                  <a:gd name="T60" fmla="*/ 15 w 100"/>
                  <a:gd name="T61" fmla="*/ 135 h 178"/>
                  <a:gd name="T62" fmla="*/ 22 w 100"/>
                  <a:gd name="T63" fmla="*/ 141 h 178"/>
                  <a:gd name="T64" fmla="*/ 36 w 100"/>
                  <a:gd name="T65" fmla="*/ 149 h 178"/>
                  <a:gd name="T66" fmla="*/ 54 w 100"/>
                  <a:gd name="T67" fmla="*/ 159 h 178"/>
                  <a:gd name="T68" fmla="*/ 75 w 100"/>
                  <a:gd name="T69" fmla="*/ 168 h 178"/>
                  <a:gd name="T70" fmla="*/ 100 w 100"/>
                  <a:gd name="T71" fmla="*/ 17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8">
                    <a:moveTo>
                      <a:pt x="100" y="178"/>
                    </a:moveTo>
                    <a:lnTo>
                      <a:pt x="75" y="157"/>
                    </a:lnTo>
                    <a:lnTo>
                      <a:pt x="60" y="139"/>
                    </a:lnTo>
                    <a:lnTo>
                      <a:pt x="51" y="123"/>
                    </a:lnTo>
                    <a:lnTo>
                      <a:pt x="50" y="108"/>
                    </a:lnTo>
                    <a:lnTo>
                      <a:pt x="51" y="102"/>
                    </a:lnTo>
                    <a:lnTo>
                      <a:pt x="55" y="99"/>
                    </a:lnTo>
                    <a:lnTo>
                      <a:pt x="64" y="95"/>
                    </a:lnTo>
                    <a:lnTo>
                      <a:pt x="69" y="94"/>
                    </a:lnTo>
                    <a:lnTo>
                      <a:pt x="76" y="95"/>
                    </a:lnTo>
                    <a:lnTo>
                      <a:pt x="92" y="101"/>
                    </a:lnTo>
                    <a:lnTo>
                      <a:pt x="86" y="87"/>
                    </a:lnTo>
                    <a:lnTo>
                      <a:pt x="80" y="72"/>
                    </a:lnTo>
                    <a:lnTo>
                      <a:pt x="69" y="58"/>
                    </a:lnTo>
                    <a:lnTo>
                      <a:pt x="58" y="46"/>
                    </a:lnTo>
                    <a:lnTo>
                      <a:pt x="45" y="33"/>
                    </a:lnTo>
                    <a:lnTo>
                      <a:pt x="36" y="21"/>
                    </a:lnTo>
                    <a:lnTo>
                      <a:pt x="28" y="10"/>
                    </a:lnTo>
                    <a:lnTo>
                      <a:pt x="26" y="0"/>
                    </a:lnTo>
                    <a:lnTo>
                      <a:pt x="25" y="12"/>
                    </a:lnTo>
                    <a:lnTo>
                      <a:pt x="22" y="27"/>
                    </a:lnTo>
                    <a:lnTo>
                      <a:pt x="19" y="41"/>
                    </a:lnTo>
                    <a:lnTo>
                      <a:pt x="14" y="57"/>
                    </a:lnTo>
                    <a:lnTo>
                      <a:pt x="7" y="71"/>
                    </a:lnTo>
                    <a:lnTo>
                      <a:pt x="3" y="84"/>
                    </a:lnTo>
                    <a:lnTo>
                      <a:pt x="0" y="93"/>
                    </a:lnTo>
                    <a:lnTo>
                      <a:pt x="0" y="100"/>
                    </a:lnTo>
                    <a:lnTo>
                      <a:pt x="0" y="109"/>
                    </a:lnTo>
                    <a:lnTo>
                      <a:pt x="3" y="120"/>
                    </a:lnTo>
                    <a:lnTo>
                      <a:pt x="10" y="130"/>
                    </a:lnTo>
                    <a:lnTo>
                      <a:pt x="15" y="135"/>
                    </a:lnTo>
                    <a:lnTo>
                      <a:pt x="22" y="141"/>
                    </a:lnTo>
                    <a:lnTo>
                      <a:pt x="36" y="149"/>
                    </a:lnTo>
                    <a:lnTo>
                      <a:pt x="54" y="159"/>
                    </a:lnTo>
                    <a:lnTo>
                      <a:pt x="75" y="168"/>
                    </a:lnTo>
                    <a:lnTo>
                      <a:pt x="100" y="178"/>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768" name="Freeform 296">
                <a:extLst>
                  <a:ext uri="{FF2B5EF4-FFF2-40B4-BE49-F238E27FC236}">
                    <a16:creationId xmlns:a16="http://schemas.microsoft.com/office/drawing/2014/main" id="{D1B04143-B3CF-E078-21CD-A6431B130B7D}"/>
                  </a:ext>
                </a:extLst>
              </p:cNvPr>
              <p:cNvSpPr>
                <a:spLocks/>
              </p:cNvSpPr>
              <p:nvPr/>
            </p:nvSpPr>
            <p:spPr bwMode="auto">
              <a:xfrm>
                <a:off x="2630" y="2221"/>
                <a:ext cx="264" cy="551"/>
              </a:xfrm>
              <a:custGeom>
                <a:avLst/>
                <a:gdLst>
                  <a:gd name="T0" fmla="*/ 138 w 211"/>
                  <a:gd name="T1" fmla="*/ 132 h 608"/>
                  <a:gd name="T2" fmla="*/ 128 w 211"/>
                  <a:gd name="T3" fmla="*/ 174 h 608"/>
                  <a:gd name="T4" fmla="*/ 109 w 211"/>
                  <a:gd name="T5" fmla="*/ 217 h 608"/>
                  <a:gd name="T6" fmla="*/ 81 w 211"/>
                  <a:gd name="T7" fmla="*/ 264 h 608"/>
                  <a:gd name="T8" fmla="*/ 48 w 211"/>
                  <a:gd name="T9" fmla="*/ 310 h 608"/>
                  <a:gd name="T10" fmla="*/ 21 w 211"/>
                  <a:gd name="T11" fmla="*/ 361 h 608"/>
                  <a:gd name="T12" fmla="*/ 5 w 211"/>
                  <a:gd name="T13" fmla="*/ 414 h 608"/>
                  <a:gd name="T14" fmla="*/ 0 w 211"/>
                  <a:gd name="T15" fmla="*/ 469 h 608"/>
                  <a:gd name="T16" fmla="*/ 2 w 211"/>
                  <a:gd name="T17" fmla="*/ 528 h 608"/>
                  <a:gd name="T18" fmla="*/ 17 w 211"/>
                  <a:gd name="T19" fmla="*/ 583 h 608"/>
                  <a:gd name="T20" fmla="*/ 43 w 211"/>
                  <a:gd name="T21" fmla="*/ 601 h 608"/>
                  <a:gd name="T22" fmla="*/ 73 w 211"/>
                  <a:gd name="T23" fmla="*/ 585 h 608"/>
                  <a:gd name="T24" fmla="*/ 99 w 211"/>
                  <a:gd name="T25" fmla="*/ 567 h 608"/>
                  <a:gd name="T26" fmla="*/ 117 w 211"/>
                  <a:gd name="T27" fmla="*/ 552 h 608"/>
                  <a:gd name="T28" fmla="*/ 134 w 211"/>
                  <a:gd name="T29" fmla="*/ 537 h 608"/>
                  <a:gd name="T30" fmla="*/ 143 w 211"/>
                  <a:gd name="T31" fmla="*/ 524 h 608"/>
                  <a:gd name="T32" fmla="*/ 153 w 211"/>
                  <a:gd name="T33" fmla="*/ 505 h 608"/>
                  <a:gd name="T34" fmla="*/ 155 w 211"/>
                  <a:gd name="T35" fmla="*/ 501 h 608"/>
                  <a:gd name="T36" fmla="*/ 164 w 211"/>
                  <a:gd name="T37" fmla="*/ 486 h 608"/>
                  <a:gd name="T38" fmla="*/ 174 w 211"/>
                  <a:gd name="T39" fmla="*/ 454 h 608"/>
                  <a:gd name="T40" fmla="*/ 177 w 211"/>
                  <a:gd name="T41" fmla="*/ 433 h 608"/>
                  <a:gd name="T42" fmla="*/ 179 w 211"/>
                  <a:gd name="T43" fmla="*/ 429 h 608"/>
                  <a:gd name="T44" fmla="*/ 188 w 211"/>
                  <a:gd name="T45" fmla="*/ 355 h 608"/>
                  <a:gd name="T46" fmla="*/ 203 w 211"/>
                  <a:gd name="T47" fmla="*/ 241 h 608"/>
                  <a:gd name="T48" fmla="*/ 211 w 211"/>
                  <a:gd name="T49" fmla="*/ 193 h 608"/>
                  <a:gd name="T50" fmla="*/ 210 w 211"/>
                  <a:gd name="T51" fmla="*/ 157 h 608"/>
                  <a:gd name="T52" fmla="*/ 204 w 211"/>
                  <a:gd name="T53" fmla="*/ 122 h 608"/>
                  <a:gd name="T54" fmla="*/ 189 w 211"/>
                  <a:gd name="T55" fmla="*/ 85 h 608"/>
                  <a:gd name="T56" fmla="*/ 169 w 211"/>
                  <a:gd name="T57" fmla="*/ 49 h 608"/>
                  <a:gd name="T58" fmla="*/ 150 w 211"/>
                  <a:gd name="T59" fmla="*/ 24 h 608"/>
                  <a:gd name="T60" fmla="*/ 131 w 211"/>
                  <a:gd name="T61" fmla="*/ 7 h 608"/>
                  <a:gd name="T62" fmla="*/ 137 w 211"/>
                  <a:gd name="T63" fmla="*/ 28 h 608"/>
                  <a:gd name="T64" fmla="*/ 139 w 211"/>
                  <a:gd name="T65" fmla="*/ 57 h 608"/>
                  <a:gd name="T66" fmla="*/ 140 w 211"/>
                  <a:gd name="T67" fmla="*/ 92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1" h="608">
                    <a:moveTo>
                      <a:pt x="141" y="112"/>
                    </a:moveTo>
                    <a:lnTo>
                      <a:pt x="138" y="132"/>
                    </a:lnTo>
                    <a:lnTo>
                      <a:pt x="134" y="152"/>
                    </a:lnTo>
                    <a:lnTo>
                      <a:pt x="128" y="174"/>
                    </a:lnTo>
                    <a:lnTo>
                      <a:pt x="120" y="195"/>
                    </a:lnTo>
                    <a:lnTo>
                      <a:pt x="109" y="217"/>
                    </a:lnTo>
                    <a:lnTo>
                      <a:pt x="97" y="240"/>
                    </a:lnTo>
                    <a:lnTo>
                      <a:pt x="81" y="264"/>
                    </a:lnTo>
                    <a:lnTo>
                      <a:pt x="66" y="288"/>
                    </a:lnTo>
                    <a:lnTo>
                      <a:pt x="48" y="310"/>
                    </a:lnTo>
                    <a:lnTo>
                      <a:pt x="35" y="336"/>
                    </a:lnTo>
                    <a:lnTo>
                      <a:pt x="21" y="361"/>
                    </a:lnTo>
                    <a:lnTo>
                      <a:pt x="13" y="387"/>
                    </a:lnTo>
                    <a:lnTo>
                      <a:pt x="5" y="414"/>
                    </a:lnTo>
                    <a:lnTo>
                      <a:pt x="1" y="441"/>
                    </a:lnTo>
                    <a:lnTo>
                      <a:pt x="0" y="469"/>
                    </a:lnTo>
                    <a:lnTo>
                      <a:pt x="1" y="498"/>
                    </a:lnTo>
                    <a:lnTo>
                      <a:pt x="2" y="528"/>
                    </a:lnTo>
                    <a:lnTo>
                      <a:pt x="8" y="556"/>
                    </a:lnTo>
                    <a:lnTo>
                      <a:pt x="17" y="583"/>
                    </a:lnTo>
                    <a:lnTo>
                      <a:pt x="27" y="608"/>
                    </a:lnTo>
                    <a:lnTo>
                      <a:pt x="43" y="601"/>
                    </a:lnTo>
                    <a:lnTo>
                      <a:pt x="59" y="594"/>
                    </a:lnTo>
                    <a:lnTo>
                      <a:pt x="73" y="585"/>
                    </a:lnTo>
                    <a:lnTo>
                      <a:pt x="87" y="578"/>
                    </a:lnTo>
                    <a:lnTo>
                      <a:pt x="99" y="567"/>
                    </a:lnTo>
                    <a:lnTo>
                      <a:pt x="113" y="558"/>
                    </a:lnTo>
                    <a:lnTo>
                      <a:pt x="117" y="552"/>
                    </a:lnTo>
                    <a:lnTo>
                      <a:pt x="123" y="547"/>
                    </a:lnTo>
                    <a:lnTo>
                      <a:pt x="134" y="537"/>
                    </a:lnTo>
                    <a:lnTo>
                      <a:pt x="138" y="530"/>
                    </a:lnTo>
                    <a:lnTo>
                      <a:pt x="143" y="524"/>
                    </a:lnTo>
                    <a:lnTo>
                      <a:pt x="151" y="512"/>
                    </a:lnTo>
                    <a:lnTo>
                      <a:pt x="153" y="505"/>
                    </a:lnTo>
                    <a:lnTo>
                      <a:pt x="153" y="502"/>
                    </a:lnTo>
                    <a:lnTo>
                      <a:pt x="155" y="501"/>
                    </a:lnTo>
                    <a:lnTo>
                      <a:pt x="157" y="499"/>
                    </a:lnTo>
                    <a:lnTo>
                      <a:pt x="164" y="486"/>
                    </a:lnTo>
                    <a:lnTo>
                      <a:pt x="169" y="470"/>
                    </a:lnTo>
                    <a:lnTo>
                      <a:pt x="174" y="454"/>
                    </a:lnTo>
                    <a:lnTo>
                      <a:pt x="177" y="438"/>
                    </a:lnTo>
                    <a:lnTo>
                      <a:pt x="177" y="433"/>
                    </a:lnTo>
                    <a:lnTo>
                      <a:pt x="177" y="430"/>
                    </a:lnTo>
                    <a:lnTo>
                      <a:pt x="179" y="429"/>
                    </a:lnTo>
                    <a:lnTo>
                      <a:pt x="181" y="422"/>
                    </a:lnTo>
                    <a:lnTo>
                      <a:pt x="188" y="355"/>
                    </a:lnTo>
                    <a:lnTo>
                      <a:pt x="195" y="295"/>
                    </a:lnTo>
                    <a:lnTo>
                      <a:pt x="203" y="241"/>
                    </a:lnTo>
                    <a:lnTo>
                      <a:pt x="206" y="216"/>
                    </a:lnTo>
                    <a:lnTo>
                      <a:pt x="211" y="193"/>
                    </a:lnTo>
                    <a:lnTo>
                      <a:pt x="211" y="169"/>
                    </a:lnTo>
                    <a:lnTo>
                      <a:pt x="210" y="157"/>
                    </a:lnTo>
                    <a:lnTo>
                      <a:pt x="210" y="146"/>
                    </a:lnTo>
                    <a:lnTo>
                      <a:pt x="204" y="122"/>
                    </a:lnTo>
                    <a:lnTo>
                      <a:pt x="197" y="98"/>
                    </a:lnTo>
                    <a:lnTo>
                      <a:pt x="189" y="85"/>
                    </a:lnTo>
                    <a:lnTo>
                      <a:pt x="183" y="73"/>
                    </a:lnTo>
                    <a:lnTo>
                      <a:pt x="169" y="49"/>
                    </a:lnTo>
                    <a:lnTo>
                      <a:pt x="159" y="36"/>
                    </a:lnTo>
                    <a:lnTo>
                      <a:pt x="150" y="24"/>
                    </a:lnTo>
                    <a:lnTo>
                      <a:pt x="128" y="0"/>
                    </a:lnTo>
                    <a:lnTo>
                      <a:pt x="131" y="7"/>
                    </a:lnTo>
                    <a:lnTo>
                      <a:pt x="134" y="18"/>
                    </a:lnTo>
                    <a:lnTo>
                      <a:pt x="137" y="28"/>
                    </a:lnTo>
                    <a:lnTo>
                      <a:pt x="139" y="43"/>
                    </a:lnTo>
                    <a:lnTo>
                      <a:pt x="139" y="57"/>
                    </a:lnTo>
                    <a:lnTo>
                      <a:pt x="140" y="74"/>
                    </a:lnTo>
                    <a:lnTo>
                      <a:pt x="140" y="92"/>
                    </a:lnTo>
                    <a:lnTo>
                      <a:pt x="141" y="112"/>
                    </a:lnTo>
                    <a:close/>
                  </a:path>
                </a:pathLst>
              </a:custGeom>
              <a:gradFill rotWithShape="1">
                <a:gsLst>
                  <a:gs pos="0">
                    <a:srgbClr val="FF3300"/>
                  </a:gs>
                  <a:gs pos="100000">
                    <a:srgbClr val="FFFF0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769" name="Freeform 297">
                <a:extLst>
                  <a:ext uri="{FF2B5EF4-FFF2-40B4-BE49-F238E27FC236}">
                    <a16:creationId xmlns:a16="http://schemas.microsoft.com/office/drawing/2014/main" id="{438570F5-F4D1-5318-A708-8CBA08325E9A}"/>
                  </a:ext>
                </a:extLst>
              </p:cNvPr>
              <p:cNvSpPr>
                <a:spLocks/>
              </p:cNvSpPr>
              <p:nvPr/>
            </p:nvSpPr>
            <p:spPr bwMode="auto">
              <a:xfrm>
                <a:off x="2630" y="2221"/>
                <a:ext cx="264" cy="551"/>
              </a:xfrm>
              <a:custGeom>
                <a:avLst/>
                <a:gdLst>
                  <a:gd name="T0" fmla="*/ 48 w 211"/>
                  <a:gd name="T1" fmla="*/ 310 h 608"/>
                  <a:gd name="T2" fmla="*/ 21 w 211"/>
                  <a:gd name="T3" fmla="*/ 361 h 608"/>
                  <a:gd name="T4" fmla="*/ 5 w 211"/>
                  <a:gd name="T5" fmla="*/ 414 h 608"/>
                  <a:gd name="T6" fmla="*/ 0 w 211"/>
                  <a:gd name="T7" fmla="*/ 469 h 608"/>
                  <a:gd name="T8" fmla="*/ 2 w 211"/>
                  <a:gd name="T9" fmla="*/ 528 h 608"/>
                  <a:gd name="T10" fmla="*/ 17 w 211"/>
                  <a:gd name="T11" fmla="*/ 583 h 608"/>
                  <a:gd name="T12" fmla="*/ 43 w 211"/>
                  <a:gd name="T13" fmla="*/ 601 h 608"/>
                  <a:gd name="T14" fmla="*/ 73 w 211"/>
                  <a:gd name="T15" fmla="*/ 585 h 608"/>
                  <a:gd name="T16" fmla="*/ 99 w 211"/>
                  <a:gd name="T17" fmla="*/ 567 h 608"/>
                  <a:gd name="T18" fmla="*/ 117 w 211"/>
                  <a:gd name="T19" fmla="*/ 552 h 608"/>
                  <a:gd name="T20" fmla="*/ 134 w 211"/>
                  <a:gd name="T21" fmla="*/ 537 h 608"/>
                  <a:gd name="T22" fmla="*/ 143 w 211"/>
                  <a:gd name="T23" fmla="*/ 524 h 608"/>
                  <a:gd name="T24" fmla="*/ 153 w 211"/>
                  <a:gd name="T25" fmla="*/ 505 h 608"/>
                  <a:gd name="T26" fmla="*/ 155 w 211"/>
                  <a:gd name="T27" fmla="*/ 501 h 608"/>
                  <a:gd name="T28" fmla="*/ 164 w 211"/>
                  <a:gd name="T29" fmla="*/ 486 h 608"/>
                  <a:gd name="T30" fmla="*/ 174 w 211"/>
                  <a:gd name="T31" fmla="*/ 454 h 608"/>
                  <a:gd name="T32" fmla="*/ 177 w 211"/>
                  <a:gd name="T33" fmla="*/ 433 h 608"/>
                  <a:gd name="T34" fmla="*/ 179 w 211"/>
                  <a:gd name="T35" fmla="*/ 429 h 608"/>
                  <a:gd name="T36" fmla="*/ 188 w 211"/>
                  <a:gd name="T37" fmla="*/ 355 h 608"/>
                  <a:gd name="T38" fmla="*/ 203 w 211"/>
                  <a:gd name="T39" fmla="*/ 241 h 608"/>
                  <a:gd name="T40" fmla="*/ 211 w 211"/>
                  <a:gd name="T41" fmla="*/ 193 h 608"/>
                  <a:gd name="T42" fmla="*/ 210 w 211"/>
                  <a:gd name="T43" fmla="*/ 157 h 608"/>
                  <a:gd name="T44" fmla="*/ 204 w 211"/>
                  <a:gd name="T45" fmla="*/ 122 h 608"/>
                  <a:gd name="T46" fmla="*/ 189 w 211"/>
                  <a:gd name="T47" fmla="*/ 85 h 608"/>
                  <a:gd name="T48" fmla="*/ 169 w 211"/>
                  <a:gd name="T49" fmla="*/ 49 h 608"/>
                  <a:gd name="T50" fmla="*/ 150 w 211"/>
                  <a:gd name="T51" fmla="*/ 24 h 608"/>
                  <a:gd name="T52" fmla="*/ 131 w 211"/>
                  <a:gd name="T53" fmla="*/ 7 h 608"/>
                  <a:gd name="T54" fmla="*/ 137 w 211"/>
                  <a:gd name="T55" fmla="*/ 28 h 608"/>
                  <a:gd name="T56" fmla="*/ 139 w 211"/>
                  <a:gd name="T57" fmla="*/ 57 h 608"/>
                  <a:gd name="T58" fmla="*/ 140 w 211"/>
                  <a:gd name="T59" fmla="*/ 92 h 608"/>
                  <a:gd name="T60" fmla="*/ 138 w 211"/>
                  <a:gd name="T61" fmla="*/ 132 h 608"/>
                  <a:gd name="T62" fmla="*/ 128 w 211"/>
                  <a:gd name="T63" fmla="*/ 174 h 608"/>
                  <a:gd name="T64" fmla="*/ 109 w 211"/>
                  <a:gd name="T65" fmla="*/ 217 h 608"/>
                  <a:gd name="T66" fmla="*/ 81 w 211"/>
                  <a:gd name="T67" fmla="*/ 264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1" h="608">
                    <a:moveTo>
                      <a:pt x="66" y="288"/>
                    </a:moveTo>
                    <a:lnTo>
                      <a:pt x="48" y="310"/>
                    </a:lnTo>
                    <a:lnTo>
                      <a:pt x="35" y="336"/>
                    </a:lnTo>
                    <a:lnTo>
                      <a:pt x="21" y="361"/>
                    </a:lnTo>
                    <a:lnTo>
                      <a:pt x="13" y="387"/>
                    </a:lnTo>
                    <a:lnTo>
                      <a:pt x="5" y="414"/>
                    </a:lnTo>
                    <a:lnTo>
                      <a:pt x="1" y="441"/>
                    </a:lnTo>
                    <a:lnTo>
                      <a:pt x="0" y="469"/>
                    </a:lnTo>
                    <a:lnTo>
                      <a:pt x="1" y="498"/>
                    </a:lnTo>
                    <a:lnTo>
                      <a:pt x="2" y="528"/>
                    </a:lnTo>
                    <a:lnTo>
                      <a:pt x="8" y="556"/>
                    </a:lnTo>
                    <a:lnTo>
                      <a:pt x="17" y="583"/>
                    </a:lnTo>
                    <a:lnTo>
                      <a:pt x="27" y="608"/>
                    </a:lnTo>
                    <a:lnTo>
                      <a:pt x="43" y="601"/>
                    </a:lnTo>
                    <a:lnTo>
                      <a:pt x="59" y="594"/>
                    </a:lnTo>
                    <a:lnTo>
                      <a:pt x="73" y="585"/>
                    </a:lnTo>
                    <a:lnTo>
                      <a:pt x="87" y="578"/>
                    </a:lnTo>
                    <a:lnTo>
                      <a:pt x="99" y="567"/>
                    </a:lnTo>
                    <a:lnTo>
                      <a:pt x="113" y="558"/>
                    </a:lnTo>
                    <a:lnTo>
                      <a:pt x="117" y="552"/>
                    </a:lnTo>
                    <a:lnTo>
                      <a:pt x="123" y="547"/>
                    </a:lnTo>
                    <a:lnTo>
                      <a:pt x="134" y="537"/>
                    </a:lnTo>
                    <a:lnTo>
                      <a:pt x="138" y="530"/>
                    </a:lnTo>
                    <a:lnTo>
                      <a:pt x="143" y="524"/>
                    </a:lnTo>
                    <a:lnTo>
                      <a:pt x="151" y="512"/>
                    </a:lnTo>
                    <a:lnTo>
                      <a:pt x="153" y="505"/>
                    </a:lnTo>
                    <a:lnTo>
                      <a:pt x="153" y="502"/>
                    </a:lnTo>
                    <a:lnTo>
                      <a:pt x="155" y="501"/>
                    </a:lnTo>
                    <a:lnTo>
                      <a:pt x="157" y="499"/>
                    </a:lnTo>
                    <a:lnTo>
                      <a:pt x="164" y="486"/>
                    </a:lnTo>
                    <a:lnTo>
                      <a:pt x="169" y="470"/>
                    </a:lnTo>
                    <a:lnTo>
                      <a:pt x="174" y="454"/>
                    </a:lnTo>
                    <a:lnTo>
                      <a:pt x="177" y="438"/>
                    </a:lnTo>
                    <a:lnTo>
                      <a:pt x="177" y="433"/>
                    </a:lnTo>
                    <a:lnTo>
                      <a:pt x="177" y="430"/>
                    </a:lnTo>
                    <a:lnTo>
                      <a:pt x="179" y="429"/>
                    </a:lnTo>
                    <a:lnTo>
                      <a:pt x="181" y="422"/>
                    </a:lnTo>
                    <a:lnTo>
                      <a:pt x="188" y="355"/>
                    </a:lnTo>
                    <a:lnTo>
                      <a:pt x="195" y="295"/>
                    </a:lnTo>
                    <a:lnTo>
                      <a:pt x="203" y="241"/>
                    </a:lnTo>
                    <a:lnTo>
                      <a:pt x="206" y="216"/>
                    </a:lnTo>
                    <a:lnTo>
                      <a:pt x="211" y="193"/>
                    </a:lnTo>
                    <a:lnTo>
                      <a:pt x="211" y="169"/>
                    </a:lnTo>
                    <a:lnTo>
                      <a:pt x="210" y="157"/>
                    </a:lnTo>
                    <a:lnTo>
                      <a:pt x="210" y="146"/>
                    </a:lnTo>
                    <a:lnTo>
                      <a:pt x="204" y="122"/>
                    </a:lnTo>
                    <a:lnTo>
                      <a:pt x="197" y="98"/>
                    </a:lnTo>
                    <a:lnTo>
                      <a:pt x="189" y="85"/>
                    </a:lnTo>
                    <a:lnTo>
                      <a:pt x="183" y="73"/>
                    </a:lnTo>
                    <a:lnTo>
                      <a:pt x="169" y="49"/>
                    </a:lnTo>
                    <a:lnTo>
                      <a:pt x="159" y="36"/>
                    </a:lnTo>
                    <a:lnTo>
                      <a:pt x="150" y="24"/>
                    </a:lnTo>
                    <a:lnTo>
                      <a:pt x="128" y="0"/>
                    </a:lnTo>
                    <a:lnTo>
                      <a:pt x="131" y="7"/>
                    </a:lnTo>
                    <a:lnTo>
                      <a:pt x="134" y="18"/>
                    </a:lnTo>
                    <a:lnTo>
                      <a:pt x="137" y="28"/>
                    </a:lnTo>
                    <a:lnTo>
                      <a:pt x="139" y="43"/>
                    </a:lnTo>
                    <a:lnTo>
                      <a:pt x="139" y="57"/>
                    </a:lnTo>
                    <a:lnTo>
                      <a:pt x="140" y="74"/>
                    </a:lnTo>
                    <a:lnTo>
                      <a:pt x="140" y="92"/>
                    </a:lnTo>
                    <a:lnTo>
                      <a:pt x="141" y="112"/>
                    </a:lnTo>
                    <a:lnTo>
                      <a:pt x="138" y="132"/>
                    </a:lnTo>
                    <a:lnTo>
                      <a:pt x="134" y="152"/>
                    </a:lnTo>
                    <a:lnTo>
                      <a:pt x="128" y="174"/>
                    </a:lnTo>
                    <a:lnTo>
                      <a:pt x="120" y="195"/>
                    </a:lnTo>
                    <a:lnTo>
                      <a:pt x="109" y="217"/>
                    </a:lnTo>
                    <a:lnTo>
                      <a:pt x="97" y="240"/>
                    </a:lnTo>
                    <a:lnTo>
                      <a:pt x="81" y="264"/>
                    </a:lnTo>
                    <a:lnTo>
                      <a:pt x="66" y="288"/>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70" name="Freeform 298">
                <a:extLst>
                  <a:ext uri="{FF2B5EF4-FFF2-40B4-BE49-F238E27FC236}">
                    <a16:creationId xmlns:a16="http://schemas.microsoft.com/office/drawing/2014/main" id="{598B5340-F2D6-4FD8-C91F-B701EC9D0E47}"/>
                  </a:ext>
                </a:extLst>
              </p:cNvPr>
              <p:cNvSpPr>
                <a:spLocks/>
              </p:cNvSpPr>
              <p:nvPr/>
            </p:nvSpPr>
            <p:spPr bwMode="auto">
              <a:xfrm>
                <a:off x="2618" y="2083"/>
                <a:ext cx="129" cy="163"/>
              </a:xfrm>
              <a:custGeom>
                <a:avLst/>
                <a:gdLst>
                  <a:gd name="T0" fmla="*/ 50 w 100"/>
                  <a:gd name="T1" fmla="*/ 108 h 178"/>
                  <a:gd name="T2" fmla="*/ 51 w 100"/>
                  <a:gd name="T3" fmla="*/ 102 h 178"/>
                  <a:gd name="T4" fmla="*/ 55 w 100"/>
                  <a:gd name="T5" fmla="*/ 99 h 178"/>
                  <a:gd name="T6" fmla="*/ 64 w 100"/>
                  <a:gd name="T7" fmla="*/ 95 h 178"/>
                  <a:gd name="T8" fmla="*/ 69 w 100"/>
                  <a:gd name="T9" fmla="*/ 94 h 178"/>
                  <a:gd name="T10" fmla="*/ 76 w 100"/>
                  <a:gd name="T11" fmla="*/ 95 h 178"/>
                  <a:gd name="T12" fmla="*/ 92 w 100"/>
                  <a:gd name="T13" fmla="*/ 101 h 178"/>
                  <a:gd name="T14" fmla="*/ 86 w 100"/>
                  <a:gd name="T15" fmla="*/ 87 h 178"/>
                  <a:gd name="T16" fmla="*/ 80 w 100"/>
                  <a:gd name="T17" fmla="*/ 72 h 178"/>
                  <a:gd name="T18" fmla="*/ 69 w 100"/>
                  <a:gd name="T19" fmla="*/ 58 h 178"/>
                  <a:gd name="T20" fmla="*/ 58 w 100"/>
                  <a:gd name="T21" fmla="*/ 46 h 178"/>
                  <a:gd name="T22" fmla="*/ 45 w 100"/>
                  <a:gd name="T23" fmla="*/ 33 h 178"/>
                  <a:gd name="T24" fmla="*/ 36 w 100"/>
                  <a:gd name="T25" fmla="*/ 21 h 178"/>
                  <a:gd name="T26" fmla="*/ 28 w 100"/>
                  <a:gd name="T27" fmla="*/ 10 h 178"/>
                  <a:gd name="T28" fmla="*/ 26 w 100"/>
                  <a:gd name="T29" fmla="*/ 0 h 178"/>
                  <a:gd name="T30" fmla="*/ 25 w 100"/>
                  <a:gd name="T31" fmla="*/ 12 h 178"/>
                  <a:gd name="T32" fmla="*/ 22 w 100"/>
                  <a:gd name="T33" fmla="*/ 27 h 178"/>
                  <a:gd name="T34" fmla="*/ 19 w 100"/>
                  <a:gd name="T35" fmla="*/ 41 h 178"/>
                  <a:gd name="T36" fmla="*/ 14 w 100"/>
                  <a:gd name="T37" fmla="*/ 57 h 178"/>
                  <a:gd name="T38" fmla="*/ 7 w 100"/>
                  <a:gd name="T39" fmla="*/ 71 h 178"/>
                  <a:gd name="T40" fmla="*/ 3 w 100"/>
                  <a:gd name="T41" fmla="*/ 84 h 178"/>
                  <a:gd name="T42" fmla="*/ 0 w 100"/>
                  <a:gd name="T43" fmla="*/ 93 h 178"/>
                  <a:gd name="T44" fmla="*/ 0 w 100"/>
                  <a:gd name="T45" fmla="*/ 100 h 178"/>
                  <a:gd name="T46" fmla="*/ 0 w 100"/>
                  <a:gd name="T47" fmla="*/ 109 h 178"/>
                  <a:gd name="T48" fmla="*/ 3 w 100"/>
                  <a:gd name="T49" fmla="*/ 120 h 178"/>
                  <a:gd name="T50" fmla="*/ 10 w 100"/>
                  <a:gd name="T51" fmla="*/ 130 h 178"/>
                  <a:gd name="T52" fmla="*/ 15 w 100"/>
                  <a:gd name="T53" fmla="*/ 135 h 178"/>
                  <a:gd name="T54" fmla="*/ 22 w 100"/>
                  <a:gd name="T55" fmla="*/ 141 h 178"/>
                  <a:gd name="T56" fmla="*/ 36 w 100"/>
                  <a:gd name="T57" fmla="*/ 149 h 178"/>
                  <a:gd name="T58" fmla="*/ 54 w 100"/>
                  <a:gd name="T59" fmla="*/ 159 h 178"/>
                  <a:gd name="T60" fmla="*/ 75 w 100"/>
                  <a:gd name="T61" fmla="*/ 168 h 178"/>
                  <a:gd name="T62" fmla="*/ 100 w 100"/>
                  <a:gd name="T63" fmla="*/ 178 h 178"/>
                  <a:gd name="T64" fmla="*/ 75 w 100"/>
                  <a:gd name="T65" fmla="*/ 157 h 178"/>
                  <a:gd name="T66" fmla="*/ 60 w 100"/>
                  <a:gd name="T67" fmla="*/ 139 h 178"/>
                  <a:gd name="T68" fmla="*/ 51 w 100"/>
                  <a:gd name="T69" fmla="*/ 123 h 178"/>
                  <a:gd name="T70" fmla="*/ 50 w 100"/>
                  <a:gd name="T71" fmla="*/ 10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0" h="178">
                    <a:moveTo>
                      <a:pt x="50" y="108"/>
                    </a:moveTo>
                    <a:lnTo>
                      <a:pt x="51" y="102"/>
                    </a:lnTo>
                    <a:lnTo>
                      <a:pt x="55" y="99"/>
                    </a:lnTo>
                    <a:lnTo>
                      <a:pt x="64" y="95"/>
                    </a:lnTo>
                    <a:lnTo>
                      <a:pt x="69" y="94"/>
                    </a:lnTo>
                    <a:lnTo>
                      <a:pt x="76" y="95"/>
                    </a:lnTo>
                    <a:lnTo>
                      <a:pt x="92" y="101"/>
                    </a:lnTo>
                    <a:lnTo>
                      <a:pt x="86" y="87"/>
                    </a:lnTo>
                    <a:lnTo>
                      <a:pt x="80" y="72"/>
                    </a:lnTo>
                    <a:lnTo>
                      <a:pt x="69" y="58"/>
                    </a:lnTo>
                    <a:lnTo>
                      <a:pt x="58" y="46"/>
                    </a:lnTo>
                    <a:lnTo>
                      <a:pt x="45" y="33"/>
                    </a:lnTo>
                    <a:lnTo>
                      <a:pt x="36" y="21"/>
                    </a:lnTo>
                    <a:lnTo>
                      <a:pt x="28" y="10"/>
                    </a:lnTo>
                    <a:lnTo>
                      <a:pt x="26" y="0"/>
                    </a:lnTo>
                    <a:lnTo>
                      <a:pt x="25" y="12"/>
                    </a:lnTo>
                    <a:lnTo>
                      <a:pt x="22" y="27"/>
                    </a:lnTo>
                    <a:lnTo>
                      <a:pt x="19" y="41"/>
                    </a:lnTo>
                    <a:lnTo>
                      <a:pt x="14" y="57"/>
                    </a:lnTo>
                    <a:lnTo>
                      <a:pt x="7" y="71"/>
                    </a:lnTo>
                    <a:lnTo>
                      <a:pt x="3" y="84"/>
                    </a:lnTo>
                    <a:lnTo>
                      <a:pt x="0" y="93"/>
                    </a:lnTo>
                    <a:lnTo>
                      <a:pt x="0" y="100"/>
                    </a:lnTo>
                    <a:lnTo>
                      <a:pt x="0" y="109"/>
                    </a:lnTo>
                    <a:lnTo>
                      <a:pt x="3" y="120"/>
                    </a:lnTo>
                    <a:lnTo>
                      <a:pt x="10" y="130"/>
                    </a:lnTo>
                    <a:lnTo>
                      <a:pt x="15" y="135"/>
                    </a:lnTo>
                    <a:lnTo>
                      <a:pt x="22" y="141"/>
                    </a:lnTo>
                    <a:lnTo>
                      <a:pt x="36" y="149"/>
                    </a:lnTo>
                    <a:lnTo>
                      <a:pt x="54" y="159"/>
                    </a:lnTo>
                    <a:lnTo>
                      <a:pt x="75" y="168"/>
                    </a:lnTo>
                    <a:lnTo>
                      <a:pt x="100" y="178"/>
                    </a:lnTo>
                    <a:lnTo>
                      <a:pt x="75" y="157"/>
                    </a:lnTo>
                    <a:lnTo>
                      <a:pt x="60" y="139"/>
                    </a:lnTo>
                    <a:lnTo>
                      <a:pt x="51" y="123"/>
                    </a:lnTo>
                    <a:lnTo>
                      <a:pt x="50" y="108"/>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71" name="Freeform 299">
                <a:extLst>
                  <a:ext uri="{FF2B5EF4-FFF2-40B4-BE49-F238E27FC236}">
                    <a16:creationId xmlns:a16="http://schemas.microsoft.com/office/drawing/2014/main" id="{3B6EAA30-0FCA-5C32-4DD2-461C9D54A1E5}"/>
                  </a:ext>
                </a:extLst>
              </p:cNvPr>
              <p:cNvSpPr>
                <a:spLocks/>
              </p:cNvSpPr>
              <p:nvPr/>
            </p:nvSpPr>
            <p:spPr bwMode="auto">
              <a:xfrm>
                <a:off x="2913" y="2406"/>
                <a:ext cx="158" cy="263"/>
              </a:xfrm>
              <a:custGeom>
                <a:avLst/>
                <a:gdLst>
                  <a:gd name="T0" fmla="*/ 116 w 126"/>
                  <a:gd name="T1" fmla="*/ 98 h 290"/>
                  <a:gd name="T2" fmla="*/ 97 w 126"/>
                  <a:gd name="T3" fmla="*/ 48 h 290"/>
                  <a:gd name="T4" fmla="*/ 85 w 126"/>
                  <a:gd name="T5" fmla="*/ 24 h 290"/>
                  <a:gd name="T6" fmla="*/ 72 w 126"/>
                  <a:gd name="T7" fmla="*/ 0 h 290"/>
                  <a:gd name="T8" fmla="*/ 67 w 126"/>
                  <a:gd name="T9" fmla="*/ 15 h 290"/>
                  <a:gd name="T10" fmla="*/ 62 w 126"/>
                  <a:gd name="T11" fmla="*/ 32 h 290"/>
                  <a:gd name="T12" fmla="*/ 20 w 126"/>
                  <a:gd name="T13" fmla="*/ 136 h 290"/>
                  <a:gd name="T14" fmla="*/ 8 w 126"/>
                  <a:gd name="T15" fmla="*/ 171 h 290"/>
                  <a:gd name="T16" fmla="*/ 1 w 126"/>
                  <a:gd name="T17" fmla="*/ 208 h 290"/>
                  <a:gd name="T18" fmla="*/ 0 w 126"/>
                  <a:gd name="T19" fmla="*/ 248 h 290"/>
                  <a:gd name="T20" fmla="*/ 4 w 126"/>
                  <a:gd name="T21" fmla="*/ 290 h 290"/>
                  <a:gd name="T22" fmla="*/ 21 w 126"/>
                  <a:gd name="T23" fmla="*/ 285 h 290"/>
                  <a:gd name="T24" fmla="*/ 28 w 126"/>
                  <a:gd name="T25" fmla="*/ 283 h 290"/>
                  <a:gd name="T26" fmla="*/ 28 w 126"/>
                  <a:gd name="T27" fmla="*/ 282 h 290"/>
                  <a:gd name="T28" fmla="*/ 30 w 126"/>
                  <a:gd name="T29" fmla="*/ 282 h 290"/>
                  <a:gd name="T30" fmla="*/ 32 w 126"/>
                  <a:gd name="T31" fmla="*/ 282 h 290"/>
                  <a:gd name="T32" fmla="*/ 37 w 126"/>
                  <a:gd name="T33" fmla="*/ 282 h 290"/>
                  <a:gd name="T34" fmla="*/ 51 w 126"/>
                  <a:gd name="T35" fmla="*/ 277 h 290"/>
                  <a:gd name="T36" fmla="*/ 57 w 126"/>
                  <a:gd name="T37" fmla="*/ 274 h 290"/>
                  <a:gd name="T38" fmla="*/ 64 w 126"/>
                  <a:gd name="T39" fmla="*/ 273 h 290"/>
                  <a:gd name="T40" fmla="*/ 74 w 126"/>
                  <a:gd name="T41" fmla="*/ 267 h 290"/>
                  <a:gd name="T42" fmla="*/ 82 w 126"/>
                  <a:gd name="T43" fmla="*/ 262 h 290"/>
                  <a:gd name="T44" fmla="*/ 90 w 126"/>
                  <a:gd name="T45" fmla="*/ 256 h 290"/>
                  <a:gd name="T46" fmla="*/ 96 w 126"/>
                  <a:gd name="T47" fmla="*/ 252 h 290"/>
                  <a:gd name="T48" fmla="*/ 106 w 126"/>
                  <a:gd name="T49" fmla="*/ 232 h 290"/>
                  <a:gd name="T50" fmla="*/ 115 w 126"/>
                  <a:gd name="T51" fmla="*/ 216 h 290"/>
                  <a:gd name="T52" fmla="*/ 121 w 126"/>
                  <a:gd name="T53" fmla="*/ 196 h 290"/>
                  <a:gd name="T54" fmla="*/ 122 w 126"/>
                  <a:gd name="T55" fmla="*/ 187 h 290"/>
                  <a:gd name="T56" fmla="*/ 124 w 126"/>
                  <a:gd name="T57" fmla="*/ 178 h 290"/>
                  <a:gd name="T58" fmla="*/ 124 w 126"/>
                  <a:gd name="T59" fmla="*/ 168 h 290"/>
                  <a:gd name="T60" fmla="*/ 126 w 126"/>
                  <a:gd name="T61" fmla="*/ 158 h 290"/>
                  <a:gd name="T62" fmla="*/ 124 w 126"/>
                  <a:gd name="T63" fmla="*/ 139 h 290"/>
                  <a:gd name="T64" fmla="*/ 121 w 126"/>
                  <a:gd name="T65" fmla="*/ 117 h 290"/>
                  <a:gd name="T66" fmla="*/ 116 w 126"/>
                  <a:gd name="T67" fmla="*/ 98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6" h="290">
                    <a:moveTo>
                      <a:pt x="116" y="98"/>
                    </a:moveTo>
                    <a:lnTo>
                      <a:pt x="97" y="48"/>
                    </a:lnTo>
                    <a:lnTo>
                      <a:pt x="85" y="24"/>
                    </a:lnTo>
                    <a:lnTo>
                      <a:pt x="72" y="0"/>
                    </a:lnTo>
                    <a:lnTo>
                      <a:pt x="67" y="15"/>
                    </a:lnTo>
                    <a:lnTo>
                      <a:pt x="62" y="32"/>
                    </a:lnTo>
                    <a:lnTo>
                      <a:pt x="20" y="136"/>
                    </a:lnTo>
                    <a:lnTo>
                      <a:pt x="8" y="171"/>
                    </a:lnTo>
                    <a:lnTo>
                      <a:pt x="1" y="208"/>
                    </a:lnTo>
                    <a:lnTo>
                      <a:pt x="0" y="248"/>
                    </a:lnTo>
                    <a:lnTo>
                      <a:pt x="4" y="290"/>
                    </a:lnTo>
                    <a:lnTo>
                      <a:pt x="21" y="285"/>
                    </a:lnTo>
                    <a:lnTo>
                      <a:pt x="28" y="283"/>
                    </a:lnTo>
                    <a:lnTo>
                      <a:pt x="28" y="282"/>
                    </a:lnTo>
                    <a:lnTo>
                      <a:pt x="30" y="282"/>
                    </a:lnTo>
                    <a:lnTo>
                      <a:pt x="32" y="282"/>
                    </a:lnTo>
                    <a:lnTo>
                      <a:pt x="37" y="282"/>
                    </a:lnTo>
                    <a:lnTo>
                      <a:pt x="51" y="277"/>
                    </a:lnTo>
                    <a:lnTo>
                      <a:pt x="57" y="274"/>
                    </a:lnTo>
                    <a:lnTo>
                      <a:pt x="64" y="273"/>
                    </a:lnTo>
                    <a:lnTo>
                      <a:pt x="74" y="267"/>
                    </a:lnTo>
                    <a:lnTo>
                      <a:pt x="82" y="262"/>
                    </a:lnTo>
                    <a:lnTo>
                      <a:pt x="90" y="256"/>
                    </a:lnTo>
                    <a:lnTo>
                      <a:pt x="96" y="252"/>
                    </a:lnTo>
                    <a:lnTo>
                      <a:pt x="106" y="232"/>
                    </a:lnTo>
                    <a:lnTo>
                      <a:pt x="115" y="216"/>
                    </a:lnTo>
                    <a:lnTo>
                      <a:pt x="121" y="196"/>
                    </a:lnTo>
                    <a:lnTo>
                      <a:pt x="122" y="187"/>
                    </a:lnTo>
                    <a:lnTo>
                      <a:pt x="124" y="178"/>
                    </a:lnTo>
                    <a:lnTo>
                      <a:pt x="124" y="168"/>
                    </a:lnTo>
                    <a:lnTo>
                      <a:pt x="126" y="158"/>
                    </a:lnTo>
                    <a:lnTo>
                      <a:pt x="124" y="139"/>
                    </a:lnTo>
                    <a:lnTo>
                      <a:pt x="121" y="117"/>
                    </a:lnTo>
                    <a:lnTo>
                      <a:pt x="116" y="98"/>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72" name="Freeform 300">
                <a:extLst>
                  <a:ext uri="{FF2B5EF4-FFF2-40B4-BE49-F238E27FC236}">
                    <a16:creationId xmlns:a16="http://schemas.microsoft.com/office/drawing/2014/main" id="{2BFCD688-2EE0-D8AD-C839-54ACDEC42DA5}"/>
                  </a:ext>
                </a:extLst>
              </p:cNvPr>
              <p:cNvSpPr>
                <a:spLocks/>
              </p:cNvSpPr>
              <p:nvPr/>
            </p:nvSpPr>
            <p:spPr bwMode="auto">
              <a:xfrm>
                <a:off x="2913" y="2406"/>
                <a:ext cx="158" cy="263"/>
              </a:xfrm>
              <a:custGeom>
                <a:avLst/>
                <a:gdLst>
                  <a:gd name="T0" fmla="*/ 72 w 126"/>
                  <a:gd name="T1" fmla="*/ 0 h 290"/>
                  <a:gd name="T2" fmla="*/ 67 w 126"/>
                  <a:gd name="T3" fmla="*/ 15 h 290"/>
                  <a:gd name="T4" fmla="*/ 62 w 126"/>
                  <a:gd name="T5" fmla="*/ 32 h 290"/>
                  <a:gd name="T6" fmla="*/ 20 w 126"/>
                  <a:gd name="T7" fmla="*/ 136 h 290"/>
                  <a:gd name="T8" fmla="*/ 8 w 126"/>
                  <a:gd name="T9" fmla="*/ 171 h 290"/>
                  <a:gd name="T10" fmla="*/ 1 w 126"/>
                  <a:gd name="T11" fmla="*/ 208 h 290"/>
                  <a:gd name="T12" fmla="*/ 0 w 126"/>
                  <a:gd name="T13" fmla="*/ 248 h 290"/>
                  <a:gd name="T14" fmla="*/ 4 w 126"/>
                  <a:gd name="T15" fmla="*/ 290 h 290"/>
                  <a:gd name="T16" fmla="*/ 21 w 126"/>
                  <a:gd name="T17" fmla="*/ 285 h 290"/>
                  <a:gd name="T18" fmla="*/ 28 w 126"/>
                  <a:gd name="T19" fmla="*/ 283 h 290"/>
                  <a:gd name="T20" fmla="*/ 28 w 126"/>
                  <a:gd name="T21" fmla="*/ 282 h 290"/>
                  <a:gd name="T22" fmla="*/ 30 w 126"/>
                  <a:gd name="T23" fmla="*/ 282 h 290"/>
                  <a:gd name="T24" fmla="*/ 32 w 126"/>
                  <a:gd name="T25" fmla="*/ 282 h 290"/>
                  <a:gd name="T26" fmla="*/ 37 w 126"/>
                  <a:gd name="T27" fmla="*/ 282 h 290"/>
                  <a:gd name="T28" fmla="*/ 51 w 126"/>
                  <a:gd name="T29" fmla="*/ 277 h 290"/>
                  <a:gd name="T30" fmla="*/ 57 w 126"/>
                  <a:gd name="T31" fmla="*/ 274 h 290"/>
                  <a:gd name="T32" fmla="*/ 64 w 126"/>
                  <a:gd name="T33" fmla="*/ 273 h 290"/>
                  <a:gd name="T34" fmla="*/ 74 w 126"/>
                  <a:gd name="T35" fmla="*/ 267 h 290"/>
                  <a:gd name="T36" fmla="*/ 82 w 126"/>
                  <a:gd name="T37" fmla="*/ 262 h 290"/>
                  <a:gd name="T38" fmla="*/ 90 w 126"/>
                  <a:gd name="T39" fmla="*/ 256 h 290"/>
                  <a:gd name="T40" fmla="*/ 96 w 126"/>
                  <a:gd name="T41" fmla="*/ 252 h 290"/>
                  <a:gd name="T42" fmla="*/ 106 w 126"/>
                  <a:gd name="T43" fmla="*/ 232 h 290"/>
                  <a:gd name="T44" fmla="*/ 115 w 126"/>
                  <a:gd name="T45" fmla="*/ 216 h 290"/>
                  <a:gd name="T46" fmla="*/ 121 w 126"/>
                  <a:gd name="T47" fmla="*/ 196 h 290"/>
                  <a:gd name="T48" fmla="*/ 122 w 126"/>
                  <a:gd name="T49" fmla="*/ 187 h 290"/>
                  <a:gd name="T50" fmla="*/ 124 w 126"/>
                  <a:gd name="T51" fmla="*/ 178 h 290"/>
                  <a:gd name="T52" fmla="*/ 124 w 126"/>
                  <a:gd name="T53" fmla="*/ 168 h 290"/>
                  <a:gd name="T54" fmla="*/ 126 w 126"/>
                  <a:gd name="T55" fmla="*/ 158 h 290"/>
                  <a:gd name="T56" fmla="*/ 124 w 126"/>
                  <a:gd name="T57" fmla="*/ 139 h 290"/>
                  <a:gd name="T58" fmla="*/ 121 w 126"/>
                  <a:gd name="T59" fmla="*/ 117 h 290"/>
                  <a:gd name="T60" fmla="*/ 116 w 126"/>
                  <a:gd name="T61" fmla="*/ 98 h 290"/>
                  <a:gd name="T62" fmla="*/ 97 w 126"/>
                  <a:gd name="T63" fmla="*/ 48 h 290"/>
                  <a:gd name="T64" fmla="*/ 85 w 126"/>
                  <a:gd name="T65" fmla="*/ 24 h 290"/>
                  <a:gd name="T66" fmla="*/ 72 w 126"/>
                  <a:gd name="T67"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6" h="290">
                    <a:moveTo>
                      <a:pt x="72" y="0"/>
                    </a:moveTo>
                    <a:lnTo>
                      <a:pt x="67" y="15"/>
                    </a:lnTo>
                    <a:lnTo>
                      <a:pt x="62" y="32"/>
                    </a:lnTo>
                    <a:lnTo>
                      <a:pt x="20" y="136"/>
                    </a:lnTo>
                    <a:lnTo>
                      <a:pt x="8" y="171"/>
                    </a:lnTo>
                    <a:lnTo>
                      <a:pt x="1" y="208"/>
                    </a:lnTo>
                    <a:lnTo>
                      <a:pt x="0" y="248"/>
                    </a:lnTo>
                    <a:lnTo>
                      <a:pt x="4" y="290"/>
                    </a:lnTo>
                    <a:lnTo>
                      <a:pt x="21" y="285"/>
                    </a:lnTo>
                    <a:lnTo>
                      <a:pt x="28" y="283"/>
                    </a:lnTo>
                    <a:lnTo>
                      <a:pt x="28" y="282"/>
                    </a:lnTo>
                    <a:lnTo>
                      <a:pt x="30" y="282"/>
                    </a:lnTo>
                    <a:lnTo>
                      <a:pt x="32" y="282"/>
                    </a:lnTo>
                    <a:lnTo>
                      <a:pt x="37" y="282"/>
                    </a:lnTo>
                    <a:lnTo>
                      <a:pt x="51" y="277"/>
                    </a:lnTo>
                    <a:lnTo>
                      <a:pt x="57" y="274"/>
                    </a:lnTo>
                    <a:lnTo>
                      <a:pt x="64" y="273"/>
                    </a:lnTo>
                    <a:lnTo>
                      <a:pt x="74" y="267"/>
                    </a:lnTo>
                    <a:lnTo>
                      <a:pt x="82" y="262"/>
                    </a:lnTo>
                    <a:lnTo>
                      <a:pt x="90" y="256"/>
                    </a:lnTo>
                    <a:lnTo>
                      <a:pt x="96" y="252"/>
                    </a:lnTo>
                    <a:lnTo>
                      <a:pt x="106" y="232"/>
                    </a:lnTo>
                    <a:lnTo>
                      <a:pt x="115" y="216"/>
                    </a:lnTo>
                    <a:lnTo>
                      <a:pt x="121" y="196"/>
                    </a:lnTo>
                    <a:lnTo>
                      <a:pt x="122" y="187"/>
                    </a:lnTo>
                    <a:lnTo>
                      <a:pt x="124" y="178"/>
                    </a:lnTo>
                    <a:lnTo>
                      <a:pt x="124" y="168"/>
                    </a:lnTo>
                    <a:lnTo>
                      <a:pt x="126" y="158"/>
                    </a:lnTo>
                    <a:lnTo>
                      <a:pt x="124" y="139"/>
                    </a:lnTo>
                    <a:lnTo>
                      <a:pt x="121" y="117"/>
                    </a:lnTo>
                    <a:lnTo>
                      <a:pt x="116" y="98"/>
                    </a:lnTo>
                    <a:lnTo>
                      <a:pt x="97" y="48"/>
                    </a:lnTo>
                    <a:lnTo>
                      <a:pt x="85" y="24"/>
                    </a:lnTo>
                    <a:lnTo>
                      <a:pt x="72" y="0"/>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73" name="Freeform 301">
                <a:extLst>
                  <a:ext uri="{FF2B5EF4-FFF2-40B4-BE49-F238E27FC236}">
                    <a16:creationId xmlns:a16="http://schemas.microsoft.com/office/drawing/2014/main" id="{EA4C7AD1-4F6F-0A7B-C622-49669B89536F}"/>
                  </a:ext>
                </a:extLst>
              </p:cNvPr>
              <p:cNvSpPr>
                <a:spLocks/>
              </p:cNvSpPr>
              <p:nvPr/>
            </p:nvSpPr>
            <p:spPr bwMode="auto">
              <a:xfrm>
                <a:off x="2501" y="2625"/>
                <a:ext cx="159" cy="169"/>
              </a:xfrm>
              <a:custGeom>
                <a:avLst/>
                <a:gdLst>
                  <a:gd name="T0" fmla="*/ 35 w 125"/>
                  <a:gd name="T1" fmla="*/ 11 h 187"/>
                  <a:gd name="T2" fmla="*/ 16 w 125"/>
                  <a:gd name="T3" fmla="*/ 50 h 187"/>
                  <a:gd name="T4" fmla="*/ 4 w 125"/>
                  <a:gd name="T5" fmla="*/ 92 h 187"/>
                  <a:gd name="T6" fmla="*/ 0 w 125"/>
                  <a:gd name="T7" fmla="*/ 115 h 187"/>
                  <a:gd name="T8" fmla="*/ 0 w 125"/>
                  <a:gd name="T9" fmla="*/ 139 h 187"/>
                  <a:gd name="T10" fmla="*/ 4 w 125"/>
                  <a:gd name="T11" fmla="*/ 154 h 187"/>
                  <a:gd name="T12" fmla="*/ 12 w 125"/>
                  <a:gd name="T13" fmla="*/ 166 h 187"/>
                  <a:gd name="T14" fmla="*/ 26 w 125"/>
                  <a:gd name="T15" fmla="*/ 175 h 187"/>
                  <a:gd name="T16" fmla="*/ 44 w 125"/>
                  <a:gd name="T17" fmla="*/ 182 h 187"/>
                  <a:gd name="T18" fmla="*/ 64 w 125"/>
                  <a:gd name="T19" fmla="*/ 185 h 187"/>
                  <a:gd name="T20" fmla="*/ 86 w 125"/>
                  <a:gd name="T21" fmla="*/ 184 h 187"/>
                  <a:gd name="T22" fmla="*/ 90 w 125"/>
                  <a:gd name="T23" fmla="*/ 187 h 187"/>
                  <a:gd name="T24" fmla="*/ 104 w 125"/>
                  <a:gd name="T25" fmla="*/ 182 h 187"/>
                  <a:gd name="T26" fmla="*/ 110 w 125"/>
                  <a:gd name="T27" fmla="*/ 178 h 187"/>
                  <a:gd name="T28" fmla="*/ 118 w 125"/>
                  <a:gd name="T29" fmla="*/ 174 h 187"/>
                  <a:gd name="T30" fmla="*/ 121 w 125"/>
                  <a:gd name="T31" fmla="*/ 167 h 187"/>
                  <a:gd name="T32" fmla="*/ 125 w 125"/>
                  <a:gd name="T33" fmla="*/ 160 h 187"/>
                  <a:gd name="T34" fmla="*/ 124 w 125"/>
                  <a:gd name="T35" fmla="*/ 152 h 187"/>
                  <a:gd name="T36" fmla="*/ 122 w 125"/>
                  <a:gd name="T37" fmla="*/ 145 h 187"/>
                  <a:gd name="T38" fmla="*/ 107 w 125"/>
                  <a:gd name="T39" fmla="*/ 116 h 187"/>
                  <a:gd name="T40" fmla="*/ 89 w 125"/>
                  <a:gd name="T41" fmla="*/ 90 h 187"/>
                  <a:gd name="T42" fmla="*/ 73 w 125"/>
                  <a:gd name="T43" fmla="*/ 68 h 187"/>
                  <a:gd name="T44" fmla="*/ 60 w 125"/>
                  <a:gd name="T45" fmla="*/ 47 h 187"/>
                  <a:gd name="T46" fmla="*/ 48 w 125"/>
                  <a:gd name="T47" fmla="*/ 23 h 187"/>
                  <a:gd name="T48" fmla="*/ 40 w 125"/>
                  <a:gd name="T49" fmla="*/ 0 h 187"/>
                  <a:gd name="T50" fmla="*/ 35 w 125"/>
                  <a:gd name="T51" fmla="*/ 11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5" h="187">
                    <a:moveTo>
                      <a:pt x="35" y="11"/>
                    </a:moveTo>
                    <a:lnTo>
                      <a:pt x="16" y="50"/>
                    </a:lnTo>
                    <a:lnTo>
                      <a:pt x="4" y="92"/>
                    </a:lnTo>
                    <a:lnTo>
                      <a:pt x="0" y="115"/>
                    </a:lnTo>
                    <a:lnTo>
                      <a:pt x="0" y="139"/>
                    </a:lnTo>
                    <a:lnTo>
                      <a:pt x="4" y="154"/>
                    </a:lnTo>
                    <a:lnTo>
                      <a:pt x="12" y="166"/>
                    </a:lnTo>
                    <a:lnTo>
                      <a:pt x="26" y="175"/>
                    </a:lnTo>
                    <a:lnTo>
                      <a:pt x="44" y="182"/>
                    </a:lnTo>
                    <a:lnTo>
                      <a:pt x="64" y="185"/>
                    </a:lnTo>
                    <a:lnTo>
                      <a:pt x="86" y="184"/>
                    </a:lnTo>
                    <a:lnTo>
                      <a:pt x="90" y="187"/>
                    </a:lnTo>
                    <a:lnTo>
                      <a:pt x="104" y="182"/>
                    </a:lnTo>
                    <a:lnTo>
                      <a:pt x="110" y="178"/>
                    </a:lnTo>
                    <a:lnTo>
                      <a:pt x="118" y="174"/>
                    </a:lnTo>
                    <a:lnTo>
                      <a:pt x="121" y="167"/>
                    </a:lnTo>
                    <a:lnTo>
                      <a:pt x="125" y="160"/>
                    </a:lnTo>
                    <a:lnTo>
                      <a:pt x="124" y="152"/>
                    </a:lnTo>
                    <a:lnTo>
                      <a:pt x="122" y="145"/>
                    </a:lnTo>
                    <a:lnTo>
                      <a:pt x="107" y="116"/>
                    </a:lnTo>
                    <a:lnTo>
                      <a:pt x="89" y="90"/>
                    </a:lnTo>
                    <a:lnTo>
                      <a:pt x="73" y="68"/>
                    </a:lnTo>
                    <a:lnTo>
                      <a:pt x="60" y="47"/>
                    </a:lnTo>
                    <a:lnTo>
                      <a:pt x="48" y="23"/>
                    </a:lnTo>
                    <a:lnTo>
                      <a:pt x="40" y="0"/>
                    </a:lnTo>
                    <a:lnTo>
                      <a:pt x="35" y="11"/>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74" name="Freeform 302">
                <a:extLst>
                  <a:ext uri="{FF2B5EF4-FFF2-40B4-BE49-F238E27FC236}">
                    <a16:creationId xmlns:a16="http://schemas.microsoft.com/office/drawing/2014/main" id="{9285DE11-53A7-4CE2-D3A8-A0584F10B003}"/>
                  </a:ext>
                </a:extLst>
              </p:cNvPr>
              <p:cNvSpPr>
                <a:spLocks/>
              </p:cNvSpPr>
              <p:nvPr/>
            </p:nvSpPr>
            <p:spPr bwMode="auto">
              <a:xfrm>
                <a:off x="2501" y="2625"/>
                <a:ext cx="159" cy="169"/>
              </a:xfrm>
              <a:custGeom>
                <a:avLst/>
                <a:gdLst>
                  <a:gd name="T0" fmla="*/ 4 w 125"/>
                  <a:gd name="T1" fmla="*/ 92 h 187"/>
                  <a:gd name="T2" fmla="*/ 0 w 125"/>
                  <a:gd name="T3" fmla="*/ 115 h 187"/>
                  <a:gd name="T4" fmla="*/ 0 w 125"/>
                  <a:gd name="T5" fmla="*/ 139 h 187"/>
                  <a:gd name="T6" fmla="*/ 4 w 125"/>
                  <a:gd name="T7" fmla="*/ 154 h 187"/>
                  <a:gd name="T8" fmla="*/ 12 w 125"/>
                  <a:gd name="T9" fmla="*/ 166 h 187"/>
                  <a:gd name="T10" fmla="*/ 26 w 125"/>
                  <a:gd name="T11" fmla="*/ 175 h 187"/>
                  <a:gd name="T12" fmla="*/ 44 w 125"/>
                  <a:gd name="T13" fmla="*/ 182 h 187"/>
                  <a:gd name="T14" fmla="*/ 64 w 125"/>
                  <a:gd name="T15" fmla="*/ 185 h 187"/>
                  <a:gd name="T16" fmla="*/ 86 w 125"/>
                  <a:gd name="T17" fmla="*/ 184 h 187"/>
                  <a:gd name="T18" fmla="*/ 90 w 125"/>
                  <a:gd name="T19" fmla="*/ 187 h 187"/>
                  <a:gd name="T20" fmla="*/ 104 w 125"/>
                  <a:gd name="T21" fmla="*/ 182 h 187"/>
                  <a:gd name="T22" fmla="*/ 110 w 125"/>
                  <a:gd name="T23" fmla="*/ 178 h 187"/>
                  <a:gd name="T24" fmla="*/ 118 w 125"/>
                  <a:gd name="T25" fmla="*/ 174 h 187"/>
                  <a:gd name="T26" fmla="*/ 121 w 125"/>
                  <a:gd name="T27" fmla="*/ 167 h 187"/>
                  <a:gd name="T28" fmla="*/ 125 w 125"/>
                  <a:gd name="T29" fmla="*/ 160 h 187"/>
                  <a:gd name="T30" fmla="*/ 124 w 125"/>
                  <a:gd name="T31" fmla="*/ 152 h 187"/>
                  <a:gd name="T32" fmla="*/ 122 w 125"/>
                  <a:gd name="T33" fmla="*/ 145 h 187"/>
                  <a:gd name="T34" fmla="*/ 107 w 125"/>
                  <a:gd name="T35" fmla="*/ 116 h 187"/>
                  <a:gd name="T36" fmla="*/ 89 w 125"/>
                  <a:gd name="T37" fmla="*/ 90 h 187"/>
                  <a:gd name="T38" fmla="*/ 73 w 125"/>
                  <a:gd name="T39" fmla="*/ 68 h 187"/>
                  <a:gd name="T40" fmla="*/ 60 w 125"/>
                  <a:gd name="T41" fmla="*/ 47 h 187"/>
                  <a:gd name="T42" fmla="*/ 48 w 125"/>
                  <a:gd name="T43" fmla="*/ 23 h 187"/>
                  <a:gd name="T44" fmla="*/ 40 w 125"/>
                  <a:gd name="T45" fmla="*/ 0 h 187"/>
                  <a:gd name="T46" fmla="*/ 35 w 125"/>
                  <a:gd name="T47" fmla="*/ 11 h 187"/>
                  <a:gd name="T48" fmla="*/ 16 w 125"/>
                  <a:gd name="T49" fmla="*/ 50 h 187"/>
                  <a:gd name="T50" fmla="*/ 4 w 125"/>
                  <a:gd name="T51" fmla="*/ 9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5" h="187">
                    <a:moveTo>
                      <a:pt x="4" y="92"/>
                    </a:moveTo>
                    <a:lnTo>
                      <a:pt x="0" y="115"/>
                    </a:lnTo>
                    <a:lnTo>
                      <a:pt x="0" y="139"/>
                    </a:lnTo>
                    <a:lnTo>
                      <a:pt x="4" y="154"/>
                    </a:lnTo>
                    <a:lnTo>
                      <a:pt x="12" y="166"/>
                    </a:lnTo>
                    <a:lnTo>
                      <a:pt x="26" y="175"/>
                    </a:lnTo>
                    <a:lnTo>
                      <a:pt x="44" y="182"/>
                    </a:lnTo>
                    <a:lnTo>
                      <a:pt x="64" y="185"/>
                    </a:lnTo>
                    <a:lnTo>
                      <a:pt x="86" y="184"/>
                    </a:lnTo>
                    <a:lnTo>
                      <a:pt x="90" y="187"/>
                    </a:lnTo>
                    <a:lnTo>
                      <a:pt x="104" y="182"/>
                    </a:lnTo>
                    <a:lnTo>
                      <a:pt x="110" y="178"/>
                    </a:lnTo>
                    <a:lnTo>
                      <a:pt x="118" y="174"/>
                    </a:lnTo>
                    <a:lnTo>
                      <a:pt x="121" y="167"/>
                    </a:lnTo>
                    <a:lnTo>
                      <a:pt x="125" y="160"/>
                    </a:lnTo>
                    <a:lnTo>
                      <a:pt x="124" y="152"/>
                    </a:lnTo>
                    <a:lnTo>
                      <a:pt x="122" y="145"/>
                    </a:lnTo>
                    <a:lnTo>
                      <a:pt x="107" y="116"/>
                    </a:lnTo>
                    <a:lnTo>
                      <a:pt x="89" y="90"/>
                    </a:lnTo>
                    <a:lnTo>
                      <a:pt x="73" y="68"/>
                    </a:lnTo>
                    <a:lnTo>
                      <a:pt x="60" y="47"/>
                    </a:lnTo>
                    <a:lnTo>
                      <a:pt x="48" y="23"/>
                    </a:lnTo>
                    <a:lnTo>
                      <a:pt x="40" y="0"/>
                    </a:lnTo>
                    <a:lnTo>
                      <a:pt x="35" y="11"/>
                    </a:lnTo>
                    <a:lnTo>
                      <a:pt x="16" y="50"/>
                    </a:lnTo>
                    <a:lnTo>
                      <a:pt x="4" y="92"/>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75" name="Freeform 303">
                <a:extLst>
                  <a:ext uri="{FF2B5EF4-FFF2-40B4-BE49-F238E27FC236}">
                    <a16:creationId xmlns:a16="http://schemas.microsoft.com/office/drawing/2014/main" id="{B250C88D-37AE-58CD-5A7D-1572D7F425F3}"/>
                  </a:ext>
                </a:extLst>
              </p:cNvPr>
              <p:cNvSpPr>
                <a:spLocks/>
              </p:cNvSpPr>
              <p:nvPr/>
            </p:nvSpPr>
            <p:spPr bwMode="auto">
              <a:xfrm>
                <a:off x="2222" y="2419"/>
                <a:ext cx="298" cy="437"/>
              </a:xfrm>
              <a:custGeom>
                <a:avLst/>
                <a:gdLst>
                  <a:gd name="T0" fmla="*/ 74 w 236"/>
                  <a:gd name="T1" fmla="*/ 59 h 483"/>
                  <a:gd name="T2" fmla="*/ 56 w 236"/>
                  <a:gd name="T3" fmla="*/ 47 h 483"/>
                  <a:gd name="T4" fmla="*/ 50 w 236"/>
                  <a:gd name="T5" fmla="*/ 43 h 483"/>
                  <a:gd name="T6" fmla="*/ 26 w 236"/>
                  <a:gd name="T7" fmla="*/ 27 h 483"/>
                  <a:gd name="T8" fmla="*/ 19 w 236"/>
                  <a:gd name="T9" fmla="*/ 18 h 483"/>
                  <a:gd name="T10" fmla="*/ 13 w 236"/>
                  <a:gd name="T11" fmla="*/ 0 h 483"/>
                  <a:gd name="T12" fmla="*/ 0 w 236"/>
                  <a:gd name="T13" fmla="*/ 37 h 483"/>
                  <a:gd name="T14" fmla="*/ 11 w 236"/>
                  <a:gd name="T15" fmla="*/ 84 h 483"/>
                  <a:gd name="T16" fmla="*/ 25 w 236"/>
                  <a:gd name="T17" fmla="*/ 115 h 483"/>
                  <a:gd name="T18" fmla="*/ 47 w 236"/>
                  <a:gd name="T19" fmla="*/ 157 h 483"/>
                  <a:gd name="T20" fmla="*/ 48 w 236"/>
                  <a:gd name="T21" fmla="*/ 169 h 483"/>
                  <a:gd name="T22" fmla="*/ 46 w 236"/>
                  <a:gd name="T23" fmla="*/ 193 h 483"/>
                  <a:gd name="T24" fmla="*/ 37 w 236"/>
                  <a:gd name="T25" fmla="*/ 227 h 483"/>
                  <a:gd name="T26" fmla="*/ 28 w 236"/>
                  <a:gd name="T27" fmla="*/ 253 h 483"/>
                  <a:gd name="T28" fmla="*/ 18 w 236"/>
                  <a:gd name="T29" fmla="*/ 300 h 483"/>
                  <a:gd name="T30" fmla="*/ 18 w 236"/>
                  <a:gd name="T31" fmla="*/ 352 h 483"/>
                  <a:gd name="T32" fmla="*/ 35 w 236"/>
                  <a:gd name="T33" fmla="*/ 402 h 483"/>
                  <a:gd name="T34" fmla="*/ 52 w 236"/>
                  <a:gd name="T35" fmla="*/ 426 h 483"/>
                  <a:gd name="T36" fmla="*/ 71 w 236"/>
                  <a:gd name="T37" fmla="*/ 444 h 483"/>
                  <a:gd name="T38" fmla="*/ 97 w 236"/>
                  <a:gd name="T39" fmla="*/ 459 h 483"/>
                  <a:gd name="T40" fmla="*/ 131 w 236"/>
                  <a:gd name="T41" fmla="*/ 471 h 483"/>
                  <a:gd name="T42" fmla="*/ 170 w 236"/>
                  <a:gd name="T43" fmla="*/ 479 h 483"/>
                  <a:gd name="T44" fmla="*/ 209 w 236"/>
                  <a:gd name="T45" fmla="*/ 465 h 483"/>
                  <a:gd name="T46" fmla="*/ 229 w 236"/>
                  <a:gd name="T47" fmla="*/ 431 h 483"/>
                  <a:gd name="T48" fmla="*/ 236 w 236"/>
                  <a:gd name="T49" fmla="*/ 397 h 483"/>
                  <a:gd name="T50" fmla="*/ 228 w 236"/>
                  <a:gd name="T51" fmla="*/ 366 h 483"/>
                  <a:gd name="T52" fmla="*/ 204 w 236"/>
                  <a:gd name="T53" fmla="*/ 336 h 483"/>
                  <a:gd name="T54" fmla="*/ 182 w 236"/>
                  <a:gd name="T55" fmla="*/ 312 h 483"/>
                  <a:gd name="T56" fmla="*/ 166 w 236"/>
                  <a:gd name="T57" fmla="*/ 289 h 483"/>
                  <a:gd name="T58" fmla="*/ 154 w 236"/>
                  <a:gd name="T59" fmla="*/ 264 h 483"/>
                  <a:gd name="T60" fmla="*/ 150 w 236"/>
                  <a:gd name="T61" fmla="*/ 221 h 483"/>
                  <a:gd name="T62" fmla="*/ 140 w 236"/>
                  <a:gd name="T63" fmla="*/ 163 h 483"/>
                  <a:gd name="T64" fmla="*/ 124 w 236"/>
                  <a:gd name="T65" fmla="*/ 118 h 483"/>
                  <a:gd name="T66" fmla="*/ 113 w 236"/>
                  <a:gd name="T67" fmla="*/ 99 h 483"/>
                  <a:gd name="T68" fmla="*/ 84 w 236"/>
                  <a:gd name="T69" fmla="*/ 67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6" h="483">
                    <a:moveTo>
                      <a:pt x="84" y="67"/>
                    </a:moveTo>
                    <a:lnTo>
                      <a:pt x="74" y="59"/>
                    </a:lnTo>
                    <a:lnTo>
                      <a:pt x="64" y="52"/>
                    </a:lnTo>
                    <a:lnTo>
                      <a:pt x="56" y="47"/>
                    </a:lnTo>
                    <a:lnTo>
                      <a:pt x="53" y="45"/>
                    </a:lnTo>
                    <a:lnTo>
                      <a:pt x="50" y="43"/>
                    </a:lnTo>
                    <a:lnTo>
                      <a:pt x="37" y="36"/>
                    </a:lnTo>
                    <a:lnTo>
                      <a:pt x="26" y="27"/>
                    </a:lnTo>
                    <a:lnTo>
                      <a:pt x="22" y="22"/>
                    </a:lnTo>
                    <a:lnTo>
                      <a:pt x="19" y="18"/>
                    </a:lnTo>
                    <a:lnTo>
                      <a:pt x="14" y="9"/>
                    </a:lnTo>
                    <a:lnTo>
                      <a:pt x="13" y="0"/>
                    </a:lnTo>
                    <a:lnTo>
                      <a:pt x="4" y="17"/>
                    </a:lnTo>
                    <a:lnTo>
                      <a:pt x="0" y="37"/>
                    </a:lnTo>
                    <a:lnTo>
                      <a:pt x="2" y="59"/>
                    </a:lnTo>
                    <a:lnTo>
                      <a:pt x="11" y="84"/>
                    </a:lnTo>
                    <a:lnTo>
                      <a:pt x="17" y="97"/>
                    </a:lnTo>
                    <a:lnTo>
                      <a:pt x="25" y="115"/>
                    </a:lnTo>
                    <a:lnTo>
                      <a:pt x="35" y="135"/>
                    </a:lnTo>
                    <a:lnTo>
                      <a:pt x="47" y="157"/>
                    </a:lnTo>
                    <a:lnTo>
                      <a:pt x="47" y="162"/>
                    </a:lnTo>
                    <a:lnTo>
                      <a:pt x="48" y="169"/>
                    </a:lnTo>
                    <a:lnTo>
                      <a:pt x="48" y="185"/>
                    </a:lnTo>
                    <a:lnTo>
                      <a:pt x="46" y="193"/>
                    </a:lnTo>
                    <a:lnTo>
                      <a:pt x="43" y="204"/>
                    </a:lnTo>
                    <a:lnTo>
                      <a:pt x="37" y="227"/>
                    </a:lnTo>
                    <a:lnTo>
                      <a:pt x="31" y="240"/>
                    </a:lnTo>
                    <a:lnTo>
                      <a:pt x="28" y="253"/>
                    </a:lnTo>
                    <a:lnTo>
                      <a:pt x="22" y="279"/>
                    </a:lnTo>
                    <a:lnTo>
                      <a:pt x="18" y="300"/>
                    </a:lnTo>
                    <a:lnTo>
                      <a:pt x="17" y="321"/>
                    </a:lnTo>
                    <a:lnTo>
                      <a:pt x="18" y="352"/>
                    </a:lnTo>
                    <a:lnTo>
                      <a:pt x="29" y="387"/>
                    </a:lnTo>
                    <a:lnTo>
                      <a:pt x="35" y="402"/>
                    </a:lnTo>
                    <a:lnTo>
                      <a:pt x="43" y="415"/>
                    </a:lnTo>
                    <a:lnTo>
                      <a:pt x="52" y="426"/>
                    </a:lnTo>
                    <a:lnTo>
                      <a:pt x="61" y="437"/>
                    </a:lnTo>
                    <a:lnTo>
                      <a:pt x="71" y="444"/>
                    </a:lnTo>
                    <a:lnTo>
                      <a:pt x="84" y="453"/>
                    </a:lnTo>
                    <a:lnTo>
                      <a:pt x="97" y="459"/>
                    </a:lnTo>
                    <a:lnTo>
                      <a:pt x="114" y="466"/>
                    </a:lnTo>
                    <a:lnTo>
                      <a:pt x="131" y="471"/>
                    </a:lnTo>
                    <a:lnTo>
                      <a:pt x="150" y="475"/>
                    </a:lnTo>
                    <a:lnTo>
                      <a:pt x="170" y="479"/>
                    </a:lnTo>
                    <a:lnTo>
                      <a:pt x="193" y="483"/>
                    </a:lnTo>
                    <a:lnTo>
                      <a:pt x="209" y="465"/>
                    </a:lnTo>
                    <a:lnTo>
                      <a:pt x="221" y="448"/>
                    </a:lnTo>
                    <a:lnTo>
                      <a:pt x="229" y="431"/>
                    </a:lnTo>
                    <a:lnTo>
                      <a:pt x="235" y="414"/>
                    </a:lnTo>
                    <a:lnTo>
                      <a:pt x="236" y="397"/>
                    </a:lnTo>
                    <a:lnTo>
                      <a:pt x="234" y="382"/>
                    </a:lnTo>
                    <a:lnTo>
                      <a:pt x="228" y="366"/>
                    </a:lnTo>
                    <a:lnTo>
                      <a:pt x="220" y="352"/>
                    </a:lnTo>
                    <a:lnTo>
                      <a:pt x="204" y="336"/>
                    </a:lnTo>
                    <a:lnTo>
                      <a:pt x="193" y="323"/>
                    </a:lnTo>
                    <a:lnTo>
                      <a:pt x="182" y="312"/>
                    </a:lnTo>
                    <a:lnTo>
                      <a:pt x="176" y="304"/>
                    </a:lnTo>
                    <a:lnTo>
                      <a:pt x="166" y="289"/>
                    </a:lnTo>
                    <a:lnTo>
                      <a:pt x="158" y="276"/>
                    </a:lnTo>
                    <a:lnTo>
                      <a:pt x="154" y="264"/>
                    </a:lnTo>
                    <a:lnTo>
                      <a:pt x="152" y="253"/>
                    </a:lnTo>
                    <a:lnTo>
                      <a:pt x="150" y="221"/>
                    </a:lnTo>
                    <a:lnTo>
                      <a:pt x="146" y="191"/>
                    </a:lnTo>
                    <a:lnTo>
                      <a:pt x="140" y="163"/>
                    </a:lnTo>
                    <a:lnTo>
                      <a:pt x="134" y="141"/>
                    </a:lnTo>
                    <a:lnTo>
                      <a:pt x="124" y="118"/>
                    </a:lnTo>
                    <a:lnTo>
                      <a:pt x="118" y="107"/>
                    </a:lnTo>
                    <a:lnTo>
                      <a:pt x="113" y="99"/>
                    </a:lnTo>
                    <a:lnTo>
                      <a:pt x="100" y="81"/>
                    </a:lnTo>
                    <a:lnTo>
                      <a:pt x="84" y="67"/>
                    </a:lnTo>
                    <a:close/>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76" name="Freeform 304">
                <a:extLst>
                  <a:ext uri="{FF2B5EF4-FFF2-40B4-BE49-F238E27FC236}">
                    <a16:creationId xmlns:a16="http://schemas.microsoft.com/office/drawing/2014/main" id="{65CAADCD-C87E-21A6-AEE8-5023320DC7EA}"/>
                  </a:ext>
                </a:extLst>
              </p:cNvPr>
              <p:cNvSpPr>
                <a:spLocks/>
              </p:cNvSpPr>
              <p:nvPr/>
            </p:nvSpPr>
            <p:spPr bwMode="auto">
              <a:xfrm>
                <a:off x="2116" y="2286"/>
                <a:ext cx="102" cy="120"/>
              </a:xfrm>
              <a:custGeom>
                <a:avLst/>
                <a:gdLst>
                  <a:gd name="T0" fmla="*/ 4 w 79"/>
                  <a:gd name="T1" fmla="*/ 0 h 134"/>
                  <a:gd name="T2" fmla="*/ 4 w 79"/>
                  <a:gd name="T3" fmla="*/ 4 h 134"/>
                  <a:gd name="T4" fmla="*/ 5 w 79"/>
                  <a:gd name="T5" fmla="*/ 10 h 134"/>
                  <a:gd name="T6" fmla="*/ 5 w 79"/>
                  <a:gd name="T7" fmla="*/ 24 h 134"/>
                  <a:gd name="T8" fmla="*/ 4 w 79"/>
                  <a:gd name="T9" fmla="*/ 33 h 134"/>
                  <a:gd name="T10" fmla="*/ 4 w 79"/>
                  <a:gd name="T11" fmla="*/ 44 h 134"/>
                  <a:gd name="T12" fmla="*/ 1 w 79"/>
                  <a:gd name="T13" fmla="*/ 69 h 134"/>
                  <a:gd name="T14" fmla="*/ 0 w 79"/>
                  <a:gd name="T15" fmla="*/ 84 h 134"/>
                  <a:gd name="T16" fmla="*/ 1 w 79"/>
                  <a:gd name="T17" fmla="*/ 92 h 134"/>
                  <a:gd name="T18" fmla="*/ 5 w 79"/>
                  <a:gd name="T19" fmla="*/ 100 h 134"/>
                  <a:gd name="T20" fmla="*/ 13 w 79"/>
                  <a:gd name="T21" fmla="*/ 113 h 134"/>
                  <a:gd name="T22" fmla="*/ 28 w 79"/>
                  <a:gd name="T23" fmla="*/ 125 h 134"/>
                  <a:gd name="T24" fmla="*/ 28 w 79"/>
                  <a:gd name="T25" fmla="*/ 114 h 134"/>
                  <a:gd name="T26" fmla="*/ 30 w 79"/>
                  <a:gd name="T27" fmla="*/ 106 h 134"/>
                  <a:gd name="T28" fmla="*/ 31 w 79"/>
                  <a:gd name="T29" fmla="*/ 98 h 134"/>
                  <a:gd name="T30" fmla="*/ 35 w 79"/>
                  <a:gd name="T31" fmla="*/ 93 h 134"/>
                  <a:gd name="T32" fmla="*/ 39 w 79"/>
                  <a:gd name="T33" fmla="*/ 92 h 134"/>
                  <a:gd name="T34" fmla="*/ 46 w 79"/>
                  <a:gd name="T35" fmla="*/ 94 h 134"/>
                  <a:gd name="T36" fmla="*/ 52 w 79"/>
                  <a:gd name="T37" fmla="*/ 98 h 134"/>
                  <a:gd name="T38" fmla="*/ 60 w 79"/>
                  <a:gd name="T39" fmla="*/ 106 h 134"/>
                  <a:gd name="T40" fmla="*/ 69 w 79"/>
                  <a:gd name="T41" fmla="*/ 118 h 134"/>
                  <a:gd name="T42" fmla="*/ 79 w 79"/>
                  <a:gd name="T43" fmla="*/ 134 h 134"/>
                  <a:gd name="T44" fmla="*/ 71 w 79"/>
                  <a:gd name="T45" fmla="*/ 106 h 134"/>
                  <a:gd name="T46" fmla="*/ 64 w 79"/>
                  <a:gd name="T47" fmla="*/ 82 h 134"/>
                  <a:gd name="T48" fmla="*/ 55 w 79"/>
                  <a:gd name="T49" fmla="*/ 62 h 134"/>
                  <a:gd name="T50" fmla="*/ 47 w 79"/>
                  <a:gd name="T51" fmla="*/ 44 h 134"/>
                  <a:gd name="T52" fmla="*/ 36 w 79"/>
                  <a:gd name="T53" fmla="*/ 28 h 134"/>
                  <a:gd name="T54" fmla="*/ 27 w 79"/>
                  <a:gd name="T55" fmla="*/ 16 h 134"/>
                  <a:gd name="T56" fmla="*/ 15 w 79"/>
                  <a:gd name="T57" fmla="*/ 6 h 134"/>
                  <a:gd name="T58" fmla="*/ 4 w 79"/>
                  <a:gd name="T59" fmla="*/ 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134">
                    <a:moveTo>
                      <a:pt x="4" y="0"/>
                    </a:moveTo>
                    <a:lnTo>
                      <a:pt x="4" y="4"/>
                    </a:lnTo>
                    <a:lnTo>
                      <a:pt x="5" y="10"/>
                    </a:lnTo>
                    <a:lnTo>
                      <a:pt x="5" y="24"/>
                    </a:lnTo>
                    <a:lnTo>
                      <a:pt x="4" y="33"/>
                    </a:lnTo>
                    <a:lnTo>
                      <a:pt x="4" y="44"/>
                    </a:lnTo>
                    <a:lnTo>
                      <a:pt x="1" y="69"/>
                    </a:lnTo>
                    <a:lnTo>
                      <a:pt x="0" y="84"/>
                    </a:lnTo>
                    <a:lnTo>
                      <a:pt x="1" y="92"/>
                    </a:lnTo>
                    <a:lnTo>
                      <a:pt x="5" y="100"/>
                    </a:lnTo>
                    <a:lnTo>
                      <a:pt x="13" y="113"/>
                    </a:lnTo>
                    <a:lnTo>
                      <a:pt x="28" y="125"/>
                    </a:lnTo>
                    <a:lnTo>
                      <a:pt x="28" y="114"/>
                    </a:lnTo>
                    <a:lnTo>
                      <a:pt x="30" y="106"/>
                    </a:lnTo>
                    <a:lnTo>
                      <a:pt x="31" y="98"/>
                    </a:lnTo>
                    <a:lnTo>
                      <a:pt x="35" y="93"/>
                    </a:lnTo>
                    <a:lnTo>
                      <a:pt x="39" y="92"/>
                    </a:lnTo>
                    <a:lnTo>
                      <a:pt x="46" y="94"/>
                    </a:lnTo>
                    <a:lnTo>
                      <a:pt x="52" y="98"/>
                    </a:lnTo>
                    <a:lnTo>
                      <a:pt x="60" y="106"/>
                    </a:lnTo>
                    <a:lnTo>
                      <a:pt x="69" y="118"/>
                    </a:lnTo>
                    <a:lnTo>
                      <a:pt x="79" y="134"/>
                    </a:lnTo>
                    <a:lnTo>
                      <a:pt x="71" y="106"/>
                    </a:lnTo>
                    <a:lnTo>
                      <a:pt x="64" y="82"/>
                    </a:lnTo>
                    <a:lnTo>
                      <a:pt x="55" y="62"/>
                    </a:lnTo>
                    <a:lnTo>
                      <a:pt x="47" y="44"/>
                    </a:lnTo>
                    <a:lnTo>
                      <a:pt x="36" y="28"/>
                    </a:lnTo>
                    <a:lnTo>
                      <a:pt x="27" y="16"/>
                    </a:lnTo>
                    <a:lnTo>
                      <a:pt x="15" y="6"/>
                    </a:lnTo>
                    <a:lnTo>
                      <a:pt x="4" y="0"/>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777" name="Freeform 305">
                <a:extLst>
                  <a:ext uri="{FF2B5EF4-FFF2-40B4-BE49-F238E27FC236}">
                    <a16:creationId xmlns:a16="http://schemas.microsoft.com/office/drawing/2014/main" id="{0A16BFF6-918F-D460-BB62-070256D6F7C7}"/>
                  </a:ext>
                </a:extLst>
              </p:cNvPr>
              <p:cNvSpPr>
                <a:spLocks/>
              </p:cNvSpPr>
              <p:nvPr/>
            </p:nvSpPr>
            <p:spPr bwMode="auto">
              <a:xfrm>
                <a:off x="1920" y="2238"/>
                <a:ext cx="57" cy="92"/>
              </a:xfrm>
              <a:custGeom>
                <a:avLst/>
                <a:gdLst>
                  <a:gd name="T0" fmla="*/ 45 w 45"/>
                  <a:gd name="T1" fmla="*/ 74 h 104"/>
                  <a:gd name="T2" fmla="*/ 45 w 45"/>
                  <a:gd name="T3" fmla="*/ 59 h 104"/>
                  <a:gd name="T4" fmla="*/ 43 w 45"/>
                  <a:gd name="T5" fmla="*/ 53 h 104"/>
                  <a:gd name="T6" fmla="*/ 41 w 45"/>
                  <a:gd name="T7" fmla="*/ 48 h 104"/>
                  <a:gd name="T8" fmla="*/ 31 w 45"/>
                  <a:gd name="T9" fmla="*/ 40 h 104"/>
                  <a:gd name="T10" fmla="*/ 22 w 45"/>
                  <a:gd name="T11" fmla="*/ 32 h 104"/>
                  <a:gd name="T12" fmla="*/ 15 w 45"/>
                  <a:gd name="T13" fmla="*/ 23 h 104"/>
                  <a:gd name="T14" fmla="*/ 7 w 45"/>
                  <a:gd name="T15" fmla="*/ 12 h 104"/>
                  <a:gd name="T16" fmla="*/ 3 w 45"/>
                  <a:gd name="T17" fmla="*/ 0 h 104"/>
                  <a:gd name="T18" fmla="*/ 0 w 45"/>
                  <a:gd name="T19" fmla="*/ 4 h 104"/>
                  <a:gd name="T20" fmla="*/ 0 w 45"/>
                  <a:gd name="T21" fmla="*/ 12 h 104"/>
                  <a:gd name="T22" fmla="*/ 0 w 45"/>
                  <a:gd name="T23" fmla="*/ 33 h 104"/>
                  <a:gd name="T24" fmla="*/ 1 w 45"/>
                  <a:gd name="T25" fmla="*/ 53 h 104"/>
                  <a:gd name="T26" fmla="*/ 5 w 45"/>
                  <a:gd name="T27" fmla="*/ 74 h 104"/>
                  <a:gd name="T28" fmla="*/ 11 w 45"/>
                  <a:gd name="T29" fmla="*/ 89 h 104"/>
                  <a:gd name="T30" fmla="*/ 15 w 45"/>
                  <a:gd name="T31" fmla="*/ 96 h 104"/>
                  <a:gd name="T32" fmla="*/ 21 w 45"/>
                  <a:gd name="T33" fmla="*/ 104 h 104"/>
                  <a:gd name="T34" fmla="*/ 21 w 45"/>
                  <a:gd name="T35" fmla="*/ 86 h 104"/>
                  <a:gd name="T36" fmla="*/ 21 w 45"/>
                  <a:gd name="T37" fmla="*/ 65 h 104"/>
                  <a:gd name="T38" fmla="*/ 23 w 45"/>
                  <a:gd name="T39" fmla="*/ 54 h 104"/>
                  <a:gd name="T40" fmla="*/ 31 w 45"/>
                  <a:gd name="T41" fmla="*/ 57 h 104"/>
                  <a:gd name="T42" fmla="*/ 37 w 45"/>
                  <a:gd name="T43" fmla="*/ 62 h 104"/>
                  <a:gd name="T44" fmla="*/ 41 w 45"/>
                  <a:gd name="T45" fmla="*/ 66 h 104"/>
                  <a:gd name="T46" fmla="*/ 45 w 45"/>
                  <a:gd name="T47" fmla="*/ 7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5" h="104">
                    <a:moveTo>
                      <a:pt x="45" y="74"/>
                    </a:moveTo>
                    <a:lnTo>
                      <a:pt x="45" y="59"/>
                    </a:lnTo>
                    <a:lnTo>
                      <a:pt x="43" y="53"/>
                    </a:lnTo>
                    <a:lnTo>
                      <a:pt x="41" y="48"/>
                    </a:lnTo>
                    <a:lnTo>
                      <a:pt x="31" y="40"/>
                    </a:lnTo>
                    <a:lnTo>
                      <a:pt x="22" y="32"/>
                    </a:lnTo>
                    <a:lnTo>
                      <a:pt x="15" y="23"/>
                    </a:lnTo>
                    <a:lnTo>
                      <a:pt x="7" y="12"/>
                    </a:lnTo>
                    <a:lnTo>
                      <a:pt x="3" y="0"/>
                    </a:lnTo>
                    <a:lnTo>
                      <a:pt x="0" y="4"/>
                    </a:lnTo>
                    <a:lnTo>
                      <a:pt x="0" y="12"/>
                    </a:lnTo>
                    <a:lnTo>
                      <a:pt x="0" y="33"/>
                    </a:lnTo>
                    <a:lnTo>
                      <a:pt x="1" y="53"/>
                    </a:lnTo>
                    <a:lnTo>
                      <a:pt x="5" y="74"/>
                    </a:lnTo>
                    <a:lnTo>
                      <a:pt x="11" y="89"/>
                    </a:lnTo>
                    <a:lnTo>
                      <a:pt x="15" y="96"/>
                    </a:lnTo>
                    <a:lnTo>
                      <a:pt x="21" y="104"/>
                    </a:lnTo>
                    <a:lnTo>
                      <a:pt x="21" y="86"/>
                    </a:lnTo>
                    <a:lnTo>
                      <a:pt x="21" y="65"/>
                    </a:lnTo>
                    <a:lnTo>
                      <a:pt x="23" y="54"/>
                    </a:lnTo>
                    <a:lnTo>
                      <a:pt x="31" y="57"/>
                    </a:lnTo>
                    <a:lnTo>
                      <a:pt x="37" y="62"/>
                    </a:lnTo>
                    <a:lnTo>
                      <a:pt x="41" y="66"/>
                    </a:lnTo>
                    <a:lnTo>
                      <a:pt x="45" y="74"/>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778" name="Freeform 306">
                <a:extLst>
                  <a:ext uri="{FF2B5EF4-FFF2-40B4-BE49-F238E27FC236}">
                    <a16:creationId xmlns:a16="http://schemas.microsoft.com/office/drawing/2014/main" id="{9D2D416F-7C0F-3486-47B7-E8DFAC12495D}"/>
                  </a:ext>
                </a:extLst>
              </p:cNvPr>
              <p:cNvSpPr>
                <a:spLocks/>
              </p:cNvSpPr>
              <p:nvPr/>
            </p:nvSpPr>
            <p:spPr bwMode="auto">
              <a:xfrm>
                <a:off x="2116" y="2286"/>
                <a:ext cx="102" cy="120"/>
              </a:xfrm>
              <a:custGeom>
                <a:avLst/>
                <a:gdLst>
                  <a:gd name="T0" fmla="*/ 1 w 79"/>
                  <a:gd name="T1" fmla="*/ 69 h 134"/>
                  <a:gd name="T2" fmla="*/ 0 w 79"/>
                  <a:gd name="T3" fmla="*/ 84 h 134"/>
                  <a:gd name="T4" fmla="*/ 1 w 79"/>
                  <a:gd name="T5" fmla="*/ 92 h 134"/>
                  <a:gd name="T6" fmla="*/ 5 w 79"/>
                  <a:gd name="T7" fmla="*/ 100 h 134"/>
                  <a:gd name="T8" fmla="*/ 13 w 79"/>
                  <a:gd name="T9" fmla="*/ 113 h 134"/>
                  <a:gd name="T10" fmla="*/ 28 w 79"/>
                  <a:gd name="T11" fmla="*/ 125 h 134"/>
                  <a:gd name="T12" fmla="*/ 28 w 79"/>
                  <a:gd name="T13" fmla="*/ 114 h 134"/>
                  <a:gd name="T14" fmla="*/ 30 w 79"/>
                  <a:gd name="T15" fmla="*/ 106 h 134"/>
                  <a:gd name="T16" fmla="*/ 31 w 79"/>
                  <a:gd name="T17" fmla="*/ 98 h 134"/>
                  <a:gd name="T18" fmla="*/ 35 w 79"/>
                  <a:gd name="T19" fmla="*/ 93 h 134"/>
                  <a:gd name="T20" fmla="*/ 39 w 79"/>
                  <a:gd name="T21" fmla="*/ 92 h 134"/>
                  <a:gd name="T22" fmla="*/ 46 w 79"/>
                  <a:gd name="T23" fmla="*/ 94 h 134"/>
                  <a:gd name="T24" fmla="*/ 52 w 79"/>
                  <a:gd name="T25" fmla="*/ 98 h 134"/>
                  <a:gd name="T26" fmla="*/ 60 w 79"/>
                  <a:gd name="T27" fmla="*/ 106 h 134"/>
                  <a:gd name="T28" fmla="*/ 69 w 79"/>
                  <a:gd name="T29" fmla="*/ 118 h 134"/>
                  <a:gd name="T30" fmla="*/ 79 w 79"/>
                  <a:gd name="T31" fmla="*/ 134 h 134"/>
                  <a:gd name="T32" fmla="*/ 71 w 79"/>
                  <a:gd name="T33" fmla="*/ 106 h 134"/>
                  <a:gd name="T34" fmla="*/ 64 w 79"/>
                  <a:gd name="T35" fmla="*/ 82 h 134"/>
                  <a:gd name="T36" fmla="*/ 55 w 79"/>
                  <a:gd name="T37" fmla="*/ 62 h 134"/>
                  <a:gd name="T38" fmla="*/ 47 w 79"/>
                  <a:gd name="T39" fmla="*/ 44 h 134"/>
                  <a:gd name="T40" fmla="*/ 36 w 79"/>
                  <a:gd name="T41" fmla="*/ 28 h 134"/>
                  <a:gd name="T42" fmla="*/ 27 w 79"/>
                  <a:gd name="T43" fmla="*/ 16 h 134"/>
                  <a:gd name="T44" fmla="*/ 15 w 79"/>
                  <a:gd name="T45" fmla="*/ 6 h 134"/>
                  <a:gd name="T46" fmla="*/ 4 w 79"/>
                  <a:gd name="T47" fmla="*/ 0 h 134"/>
                  <a:gd name="T48" fmla="*/ 4 w 79"/>
                  <a:gd name="T49" fmla="*/ 4 h 134"/>
                  <a:gd name="T50" fmla="*/ 5 w 79"/>
                  <a:gd name="T51" fmla="*/ 10 h 134"/>
                  <a:gd name="T52" fmla="*/ 5 w 79"/>
                  <a:gd name="T53" fmla="*/ 24 h 134"/>
                  <a:gd name="T54" fmla="*/ 4 w 79"/>
                  <a:gd name="T55" fmla="*/ 33 h 134"/>
                  <a:gd name="T56" fmla="*/ 4 w 79"/>
                  <a:gd name="T57" fmla="*/ 44 h 134"/>
                  <a:gd name="T58" fmla="*/ 1 w 79"/>
                  <a:gd name="T59" fmla="*/ 6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134">
                    <a:moveTo>
                      <a:pt x="1" y="69"/>
                    </a:moveTo>
                    <a:lnTo>
                      <a:pt x="0" y="84"/>
                    </a:lnTo>
                    <a:lnTo>
                      <a:pt x="1" y="92"/>
                    </a:lnTo>
                    <a:lnTo>
                      <a:pt x="5" y="100"/>
                    </a:lnTo>
                    <a:lnTo>
                      <a:pt x="13" y="113"/>
                    </a:lnTo>
                    <a:lnTo>
                      <a:pt x="28" y="125"/>
                    </a:lnTo>
                    <a:lnTo>
                      <a:pt x="28" y="114"/>
                    </a:lnTo>
                    <a:lnTo>
                      <a:pt x="30" y="106"/>
                    </a:lnTo>
                    <a:lnTo>
                      <a:pt x="31" y="98"/>
                    </a:lnTo>
                    <a:lnTo>
                      <a:pt x="35" y="93"/>
                    </a:lnTo>
                    <a:lnTo>
                      <a:pt x="39" y="92"/>
                    </a:lnTo>
                    <a:lnTo>
                      <a:pt x="46" y="94"/>
                    </a:lnTo>
                    <a:lnTo>
                      <a:pt x="52" y="98"/>
                    </a:lnTo>
                    <a:lnTo>
                      <a:pt x="60" y="106"/>
                    </a:lnTo>
                    <a:lnTo>
                      <a:pt x="69" y="118"/>
                    </a:lnTo>
                    <a:lnTo>
                      <a:pt x="79" y="134"/>
                    </a:lnTo>
                    <a:lnTo>
                      <a:pt x="71" y="106"/>
                    </a:lnTo>
                    <a:lnTo>
                      <a:pt x="64" y="82"/>
                    </a:lnTo>
                    <a:lnTo>
                      <a:pt x="55" y="62"/>
                    </a:lnTo>
                    <a:lnTo>
                      <a:pt x="47" y="44"/>
                    </a:lnTo>
                    <a:lnTo>
                      <a:pt x="36" y="28"/>
                    </a:lnTo>
                    <a:lnTo>
                      <a:pt x="27" y="16"/>
                    </a:lnTo>
                    <a:lnTo>
                      <a:pt x="15" y="6"/>
                    </a:lnTo>
                    <a:lnTo>
                      <a:pt x="4" y="0"/>
                    </a:lnTo>
                    <a:lnTo>
                      <a:pt x="4" y="4"/>
                    </a:lnTo>
                    <a:lnTo>
                      <a:pt x="5" y="10"/>
                    </a:lnTo>
                    <a:lnTo>
                      <a:pt x="5" y="24"/>
                    </a:lnTo>
                    <a:lnTo>
                      <a:pt x="4" y="33"/>
                    </a:lnTo>
                    <a:lnTo>
                      <a:pt x="4" y="44"/>
                    </a:lnTo>
                    <a:lnTo>
                      <a:pt x="1" y="69"/>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79" name="Freeform 307">
                <a:extLst>
                  <a:ext uri="{FF2B5EF4-FFF2-40B4-BE49-F238E27FC236}">
                    <a16:creationId xmlns:a16="http://schemas.microsoft.com/office/drawing/2014/main" id="{42CEE6BB-32A9-2582-A174-C16F975D7C6F}"/>
                  </a:ext>
                </a:extLst>
              </p:cNvPr>
              <p:cNvSpPr>
                <a:spLocks/>
              </p:cNvSpPr>
              <p:nvPr/>
            </p:nvSpPr>
            <p:spPr bwMode="auto">
              <a:xfrm>
                <a:off x="1920" y="2238"/>
                <a:ext cx="57" cy="92"/>
              </a:xfrm>
              <a:custGeom>
                <a:avLst/>
                <a:gdLst>
                  <a:gd name="T0" fmla="*/ 45 w 45"/>
                  <a:gd name="T1" fmla="*/ 59 h 104"/>
                  <a:gd name="T2" fmla="*/ 43 w 45"/>
                  <a:gd name="T3" fmla="*/ 53 h 104"/>
                  <a:gd name="T4" fmla="*/ 41 w 45"/>
                  <a:gd name="T5" fmla="*/ 48 h 104"/>
                  <a:gd name="T6" fmla="*/ 31 w 45"/>
                  <a:gd name="T7" fmla="*/ 40 h 104"/>
                  <a:gd name="T8" fmla="*/ 22 w 45"/>
                  <a:gd name="T9" fmla="*/ 32 h 104"/>
                  <a:gd name="T10" fmla="*/ 15 w 45"/>
                  <a:gd name="T11" fmla="*/ 23 h 104"/>
                  <a:gd name="T12" fmla="*/ 7 w 45"/>
                  <a:gd name="T13" fmla="*/ 12 h 104"/>
                  <a:gd name="T14" fmla="*/ 3 w 45"/>
                  <a:gd name="T15" fmla="*/ 0 h 104"/>
                  <a:gd name="T16" fmla="*/ 0 w 45"/>
                  <a:gd name="T17" fmla="*/ 4 h 104"/>
                  <a:gd name="T18" fmla="*/ 0 w 45"/>
                  <a:gd name="T19" fmla="*/ 12 h 104"/>
                  <a:gd name="T20" fmla="*/ 0 w 45"/>
                  <a:gd name="T21" fmla="*/ 33 h 104"/>
                  <a:gd name="T22" fmla="*/ 1 w 45"/>
                  <a:gd name="T23" fmla="*/ 53 h 104"/>
                  <a:gd name="T24" fmla="*/ 5 w 45"/>
                  <a:gd name="T25" fmla="*/ 74 h 104"/>
                  <a:gd name="T26" fmla="*/ 11 w 45"/>
                  <a:gd name="T27" fmla="*/ 89 h 104"/>
                  <a:gd name="T28" fmla="*/ 15 w 45"/>
                  <a:gd name="T29" fmla="*/ 96 h 104"/>
                  <a:gd name="T30" fmla="*/ 21 w 45"/>
                  <a:gd name="T31" fmla="*/ 104 h 104"/>
                  <a:gd name="T32" fmla="*/ 21 w 45"/>
                  <a:gd name="T33" fmla="*/ 86 h 104"/>
                  <a:gd name="T34" fmla="*/ 21 w 45"/>
                  <a:gd name="T35" fmla="*/ 65 h 104"/>
                  <a:gd name="T36" fmla="*/ 23 w 45"/>
                  <a:gd name="T37" fmla="*/ 54 h 104"/>
                  <a:gd name="T38" fmla="*/ 31 w 45"/>
                  <a:gd name="T39" fmla="*/ 57 h 104"/>
                  <a:gd name="T40" fmla="*/ 37 w 45"/>
                  <a:gd name="T41" fmla="*/ 62 h 104"/>
                  <a:gd name="T42" fmla="*/ 41 w 45"/>
                  <a:gd name="T43" fmla="*/ 66 h 104"/>
                  <a:gd name="T44" fmla="*/ 45 w 45"/>
                  <a:gd name="T45" fmla="*/ 74 h 104"/>
                  <a:gd name="T46" fmla="*/ 45 w 45"/>
                  <a:gd name="T47" fmla="*/ 5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5" h="104">
                    <a:moveTo>
                      <a:pt x="45" y="59"/>
                    </a:moveTo>
                    <a:lnTo>
                      <a:pt x="43" y="53"/>
                    </a:lnTo>
                    <a:lnTo>
                      <a:pt x="41" y="48"/>
                    </a:lnTo>
                    <a:lnTo>
                      <a:pt x="31" y="40"/>
                    </a:lnTo>
                    <a:lnTo>
                      <a:pt x="22" y="32"/>
                    </a:lnTo>
                    <a:lnTo>
                      <a:pt x="15" y="23"/>
                    </a:lnTo>
                    <a:lnTo>
                      <a:pt x="7" y="12"/>
                    </a:lnTo>
                    <a:lnTo>
                      <a:pt x="3" y="0"/>
                    </a:lnTo>
                    <a:lnTo>
                      <a:pt x="0" y="4"/>
                    </a:lnTo>
                    <a:lnTo>
                      <a:pt x="0" y="12"/>
                    </a:lnTo>
                    <a:lnTo>
                      <a:pt x="0" y="33"/>
                    </a:lnTo>
                    <a:lnTo>
                      <a:pt x="1" y="53"/>
                    </a:lnTo>
                    <a:lnTo>
                      <a:pt x="5" y="74"/>
                    </a:lnTo>
                    <a:lnTo>
                      <a:pt x="11" y="89"/>
                    </a:lnTo>
                    <a:lnTo>
                      <a:pt x="15" y="96"/>
                    </a:lnTo>
                    <a:lnTo>
                      <a:pt x="21" y="104"/>
                    </a:lnTo>
                    <a:lnTo>
                      <a:pt x="21" y="86"/>
                    </a:lnTo>
                    <a:lnTo>
                      <a:pt x="21" y="65"/>
                    </a:lnTo>
                    <a:lnTo>
                      <a:pt x="23" y="54"/>
                    </a:lnTo>
                    <a:lnTo>
                      <a:pt x="31" y="57"/>
                    </a:lnTo>
                    <a:lnTo>
                      <a:pt x="37" y="62"/>
                    </a:lnTo>
                    <a:lnTo>
                      <a:pt x="41" y="66"/>
                    </a:lnTo>
                    <a:lnTo>
                      <a:pt x="45" y="74"/>
                    </a:lnTo>
                    <a:lnTo>
                      <a:pt x="45" y="59"/>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05780" name="Freeform 308">
                <a:extLst>
                  <a:ext uri="{FF2B5EF4-FFF2-40B4-BE49-F238E27FC236}">
                    <a16:creationId xmlns:a16="http://schemas.microsoft.com/office/drawing/2014/main" id="{2921B3DB-2FEE-72D1-B1BB-F0B962614874}"/>
                  </a:ext>
                </a:extLst>
              </p:cNvPr>
              <p:cNvSpPr>
                <a:spLocks/>
              </p:cNvSpPr>
              <p:nvPr/>
            </p:nvSpPr>
            <p:spPr bwMode="auto">
              <a:xfrm>
                <a:off x="2222" y="2419"/>
                <a:ext cx="298" cy="437"/>
              </a:xfrm>
              <a:custGeom>
                <a:avLst/>
                <a:gdLst>
                  <a:gd name="T0" fmla="*/ 26 w 236"/>
                  <a:gd name="T1" fmla="*/ 27 h 483"/>
                  <a:gd name="T2" fmla="*/ 19 w 236"/>
                  <a:gd name="T3" fmla="*/ 18 h 483"/>
                  <a:gd name="T4" fmla="*/ 13 w 236"/>
                  <a:gd name="T5" fmla="*/ 0 h 483"/>
                  <a:gd name="T6" fmla="*/ 0 w 236"/>
                  <a:gd name="T7" fmla="*/ 37 h 483"/>
                  <a:gd name="T8" fmla="*/ 11 w 236"/>
                  <a:gd name="T9" fmla="*/ 84 h 483"/>
                  <a:gd name="T10" fmla="*/ 25 w 236"/>
                  <a:gd name="T11" fmla="*/ 115 h 483"/>
                  <a:gd name="T12" fmla="*/ 47 w 236"/>
                  <a:gd name="T13" fmla="*/ 157 h 483"/>
                  <a:gd name="T14" fmla="*/ 48 w 236"/>
                  <a:gd name="T15" fmla="*/ 169 h 483"/>
                  <a:gd name="T16" fmla="*/ 46 w 236"/>
                  <a:gd name="T17" fmla="*/ 193 h 483"/>
                  <a:gd name="T18" fmla="*/ 37 w 236"/>
                  <a:gd name="T19" fmla="*/ 227 h 483"/>
                  <a:gd name="T20" fmla="*/ 28 w 236"/>
                  <a:gd name="T21" fmla="*/ 253 h 483"/>
                  <a:gd name="T22" fmla="*/ 18 w 236"/>
                  <a:gd name="T23" fmla="*/ 300 h 483"/>
                  <a:gd name="T24" fmla="*/ 18 w 236"/>
                  <a:gd name="T25" fmla="*/ 352 h 483"/>
                  <a:gd name="T26" fmla="*/ 35 w 236"/>
                  <a:gd name="T27" fmla="*/ 402 h 483"/>
                  <a:gd name="T28" fmla="*/ 52 w 236"/>
                  <a:gd name="T29" fmla="*/ 426 h 483"/>
                  <a:gd name="T30" fmla="*/ 71 w 236"/>
                  <a:gd name="T31" fmla="*/ 444 h 483"/>
                  <a:gd name="T32" fmla="*/ 97 w 236"/>
                  <a:gd name="T33" fmla="*/ 459 h 483"/>
                  <a:gd name="T34" fmla="*/ 131 w 236"/>
                  <a:gd name="T35" fmla="*/ 471 h 483"/>
                  <a:gd name="T36" fmla="*/ 170 w 236"/>
                  <a:gd name="T37" fmla="*/ 479 h 483"/>
                  <a:gd name="T38" fmla="*/ 209 w 236"/>
                  <a:gd name="T39" fmla="*/ 465 h 483"/>
                  <a:gd name="T40" fmla="*/ 229 w 236"/>
                  <a:gd name="T41" fmla="*/ 431 h 483"/>
                  <a:gd name="T42" fmla="*/ 236 w 236"/>
                  <a:gd name="T43" fmla="*/ 397 h 483"/>
                  <a:gd name="T44" fmla="*/ 228 w 236"/>
                  <a:gd name="T45" fmla="*/ 366 h 483"/>
                  <a:gd name="T46" fmla="*/ 204 w 236"/>
                  <a:gd name="T47" fmla="*/ 336 h 483"/>
                  <a:gd name="T48" fmla="*/ 182 w 236"/>
                  <a:gd name="T49" fmla="*/ 312 h 483"/>
                  <a:gd name="T50" fmla="*/ 166 w 236"/>
                  <a:gd name="T51" fmla="*/ 289 h 483"/>
                  <a:gd name="T52" fmla="*/ 154 w 236"/>
                  <a:gd name="T53" fmla="*/ 264 h 483"/>
                  <a:gd name="T54" fmla="*/ 150 w 236"/>
                  <a:gd name="T55" fmla="*/ 221 h 483"/>
                  <a:gd name="T56" fmla="*/ 140 w 236"/>
                  <a:gd name="T57" fmla="*/ 163 h 483"/>
                  <a:gd name="T58" fmla="*/ 124 w 236"/>
                  <a:gd name="T59" fmla="*/ 118 h 483"/>
                  <a:gd name="T60" fmla="*/ 113 w 236"/>
                  <a:gd name="T61" fmla="*/ 99 h 483"/>
                  <a:gd name="T62" fmla="*/ 84 w 236"/>
                  <a:gd name="T63" fmla="*/ 67 h 483"/>
                  <a:gd name="T64" fmla="*/ 64 w 236"/>
                  <a:gd name="T65" fmla="*/ 52 h 483"/>
                  <a:gd name="T66" fmla="*/ 53 w 236"/>
                  <a:gd name="T67" fmla="*/ 45 h 483"/>
                  <a:gd name="T68" fmla="*/ 37 w 236"/>
                  <a:gd name="T69" fmla="*/ 36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6" h="483">
                    <a:moveTo>
                      <a:pt x="37" y="36"/>
                    </a:moveTo>
                    <a:lnTo>
                      <a:pt x="26" y="27"/>
                    </a:lnTo>
                    <a:lnTo>
                      <a:pt x="22" y="22"/>
                    </a:lnTo>
                    <a:lnTo>
                      <a:pt x="19" y="18"/>
                    </a:lnTo>
                    <a:lnTo>
                      <a:pt x="14" y="9"/>
                    </a:lnTo>
                    <a:lnTo>
                      <a:pt x="13" y="0"/>
                    </a:lnTo>
                    <a:lnTo>
                      <a:pt x="4" y="17"/>
                    </a:lnTo>
                    <a:lnTo>
                      <a:pt x="0" y="37"/>
                    </a:lnTo>
                    <a:lnTo>
                      <a:pt x="2" y="59"/>
                    </a:lnTo>
                    <a:lnTo>
                      <a:pt x="11" y="84"/>
                    </a:lnTo>
                    <a:lnTo>
                      <a:pt x="17" y="97"/>
                    </a:lnTo>
                    <a:lnTo>
                      <a:pt x="25" y="115"/>
                    </a:lnTo>
                    <a:lnTo>
                      <a:pt x="35" y="135"/>
                    </a:lnTo>
                    <a:lnTo>
                      <a:pt x="47" y="157"/>
                    </a:lnTo>
                    <a:lnTo>
                      <a:pt x="47" y="162"/>
                    </a:lnTo>
                    <a:lnTo>
                      <a:pt x="48" y="169"/>
                    </a:lnTo>
                    <a:lnTo>
                      <a:pt x="48" y="185"/>
                    </a:lnTo>
                    <a:lnTo>
                      <a:pt x="46" y="193"/>
                    </a:lnTo>
                    <a:lnTo>
                      <a:pt x="43" y="204"/>
                    </a:lnTo>
                    <a:lnTo>
                      <a:pt x="37" y="227"/>
                    </a:lnTo>
                    <a:lnTo>
                      <a:pt x="31" y="240"/>
                    </a:lnTo>
                    <a:lnTo>
                      <a:pt x="28" y="253"/>
                    </a:lnTo>
                    <a:lnTo>
                      <a:pt x="22" y="279"/>
                    </a:lnTo>
                    <a:lnTo>
                      <a:pt x="18" y="300"/>
                    </a:lnTo>
                    <a:lnTo>
                      <a:pt x="17" y="321"/>
                    </a:lnTo>
                    <a:lnTo>
                      <a:pt x="18" y="352"/>
                    </a:lnTo>
                    <a:lnTo>
                      <a:pt x="29" y="387"/>
                    </a:lnTo>
                    <a:lnTo>
                      <a:pt x="35" y="402"/>
                    </a:lnTo>
                    <a:lnTo>
                      <a:pt x="43" y="415"/>
                    </a:lnTo>
                    <a:lnTo>
                      <a:pt x="52" y="426"/>
                    </a:lnTo>
                    <a:lnTo>
                      <a:pt x="61" y="437"/>
                    </a:lnTo>
                    <a:lnTo>
                      <a:pt x="71" y="444"/>
                    </a:lnTo>
                    <a:lnTo>
                      <a:pt x="84" y="453"/>
                    </a:lnTo>
                    <a:lnTo>
                      <a:pt x="97" y="459"/>
                    </a:lnTo>
                    <a:lnTo>
                      <a:pt x="114" y="466"/>
                    </a:lnTo>
                    <a:lnTo>
                      <a:pt x="131" y="471"/>
                    </a:lnTo>
                    <a:lnTo>
                      <a:pt x="150" y="475"/>
                    </a:lnTo>
                    <a:lnTo>
                      <a:pt x="170" y="479"/>
                    </a:lnTo>
                    <a:lnTo>
                      <a:pt x="193" y="483"/>
                    </a:lnTo>
                    <a:lnTo>
                      <a:pt x="209" y="465"/>
                    </a:lnTo>
                    <a:lnTo>
                      <a:pt x="221" y="448"/>
                    </a:lnTo>
                    <a:lnTo>
                      <a:pt x="229" y="431"/>
                    </a:lnTo>
                    <a:lnTo>
                      <a:pt x="235" y="414"/>
                    </a:lnTo>
                    <a:lnTo>
                      <a:pt x="236" y="397"/>
                    </a:lnTo>
                    <a:lnTo>
                      <a:pt x="234" y="382"/>
                    </a:lnTo>
                    <a:lnTo>
                      <a:pt x="228" y="366"/>
                    </a:lnTo>
                    <a:lnTo>
                      <a:pt x="220" y="352"/>
                    </a:lnTo>
                    <a:lnTo>
                      <a:pt x="204" y="336"/>
                    </a:lnTo>
                    <a:lnTo>
                      <a:pt x="193" y="323"/>
                    </a:lnTo>
                    <a:lnTo>
                      <a:pt x="182" y="312"/>
                    </a:lnTo>
                    <a:lnTo>
                      <a:pt x="176" y="304"/>
                    </a:lnTo>
                    <a:lnTo>
                      <a:pt x="166" y="289"/>
                    </a:lnTo>
                    <a:lnTo>
                      <a:pt x="158" y="276"/>
                    </a:lnTo>
                    <a:lnTo>
                      <a:pt x="154" y="264"/>
                    </a:lnTo>
                    <a:lnTo>
                      <a:pt x="152" y="253"/>
                    </a:lnTo>
                    <a:lnTo>
                      <a:pt x="150" y="221"/>
                    </a:lnTo>
                    <a:lnTo>
                      <a:pt x="146" y="191"/>
                    </a:lnTo>
                    <a:lnTo>
                      <a:pt x="140" y="163"/>
                    </a:lnTo>
                    <a:lnTo>
                      <a:pt x="134" y="141"/>
                    </a:lnTo>
                    <a:lnTo>
                      <a:pt x="124" y="118"/>
                    </a:lnTo>
                    <a:lnTo>
                      <a:pt x="118" y="107"/>
                    </a:lnTo>
                    <a:lnTo>
                      <a:pt x="113" y="99"/>
                    </a:lnTo>
                    <a:lnTo>
                      <a:pt x="100" y="81"/>
                    </a:lnTo>
                    <a:lnTo>
                      <a:pt x="84" y="67"/>
                    </a:lnTo>
                    <a:lnTo>
                      <a:pt x="74" y="59"/>
                    </a:lnTo>
                    <a:lnTo>
                      <a:pt x="64" y="52"/>
                    </a:lnTo>
                    <a:lnTo>
                      <a:pt x="56" y="47"/>
                    </a:lnTo>
                    <a:lnTo>
                      <a:pt x="53" y="45"/>
                    </a:lnTo>
                    <a:lnTo>
                      <a:pt x="50" y="43"/>
                    </a:lnTo>
                    <a:lnTo>
                      <a:pt x="37" y="36"/>
                    </a:lnTo>
                  </a:path>
                </a:pathLst>
              </a:custGeom>
              <a:noFill/>
              <a:ln w="0">
                <a:solidFill>
                  <a:srgbClr val="77777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05781" name="Freeform 309">
                <a:extLst>
                  <a:ext uri="{FF2B5EF4-FFF2-40B4-BE49-F238E27FC236}">
                    <a16:creationId xmlns:a16="http://schemas.microsoft.com/office/drawing/2014/main" id="{2D5C2A03-010D-5477-A714-E5974DD2A330}"/>
                  </a:ext>
                </a:extLst>
              </p:cNvPr>
              <p:cNvSpPr>
                <a:spLocks/>
              </p:cNvSpPr>
              <p:nvPr/>
            </p:nvSpPr>
            <p:spPr bwMode="auto">
              <a:xfrm>
                <a:off x="2445" y="2330"/>
                <a:ext cx="102" cy="108"/>
              </a:xfrm>
              <a:custGeom>
                <a:avLst/>
                <a:gdLst>
                  <a:gd name="T0" fmla="*/ 82 w 82"/>
                  <a:gd name="T1" fmla="*/ 77 h 120"/>
                  <a:gd name="T2" fmla="*/ 82 w 82"/>
                  <a:gd name="T3" fmla="*/ 68 h 120"/>
                  <a:gd name="T4" fmla="*/ 63 w 82"/>
                  <a:gd name="T5" fmla="*/ 57 h 120"/>
                  <a:gd name="T6" fmla="*/ 48 w 82"/>
                  <a:gd name="T7" fmla="*/ 51 h 120"/>
                  <a:gd name="T8" fmla="*/ 39 w 82"/>
                  <a:gd name="T9" fmla="*/ 45 h 120"/>
                  <a:gd name="T10" fmla="*/ 34 w 82"/>
                  <a:gd name="T11" fmla="*/ 42 h 120"/>
                  <a:gd name="T12" fmla="*/ 28 w 82"/>
                  <a:gd name="T13" fmla="*/ 34 h 120"/>
                  <a:gd name="T14" fmla="*/ 26 w 82"/>
                  <a:gd name="T15" fmla="*/ 24 h 120"/>
                  <a:gd name="T16" fmla="*/ 24 w 82"/>
                  <a:gd name="T17" fmla="*/ 14 h 120"/>
                  <a:gd name="T18" fmla="*/ 28 w 82"/>
                  <a:gd name="T19" fmla="*/ 0 h 120"/>
                  <a:gd name="T20" fmla="*/ 14 w 82"/>
                  <a:gd name="T21" fmla="*/ 0 h 120"/>
                  <a:gd name="T22" fmla="*/ 6 w 82"/>
                  <a:gd name="T23" fmla="*/ 9 h 120"/>
                  <a:gd name="T24" fmla="*/ 3 w 82"/>
                  <a:gd name="T25" fmla="*/ 17 h 120"/>
                  <a:gd name="T26" fmla="*/ 0 w 82"/>
                  <a:gd name="T27" fmla="*/ 24 h 120"/>
                  <a:gd name="T28" fmla="*/ 0 w 82"/>
                  <a:gd name="T29" fmla="*/ 32 h 120"/>
                  <a:gd name="T30" fmla="*/ 0 w 82"/>
                  <a:gd name="T31" fmla="*/ 48 h 120"/>
                  <a:gd name="T32" fmla="*/ 4 w 82"/>
                  <a:gd name="T33" fmla="*/ 64 h 120"/>
                  <a:gd name="T34" fmla="*/ 10 w 82"/>
                  <a:gd name="T35" fmla="*/ 78 h 120"/>
                  <a:gd name="T36" fmla="*/ 18 w 82"/>
                  <a:gd name="T37" fmla="*/ 93 h 120"/>
                  <a:gd name="T38" fmla="*/ 30 w 82"/>
                  <a:gd name="T39" fmla="*/ 106 h 120"/>
                  <a:gd name="T40" fmla="*/ 51 w 82"/>
                  <a:gd name="T41" fmla="*/ 120 h 120"/>
                  <a:gd name="T42" fmla="*/ 47 w 82"/>
                  <a:gd name="T43" fmla="*/ 108 h 120"/>
                  <a:gd name="T44" fmla="*/ 46 w 82"/>
                  <a:gd name="T45" fmla="*/ 100 h 120"/>
                  <a:gd name="T46" fmla="*/ 50 w 82"/>
                  <a:gd name="T47" fmla="*/ 90 h 120"/>
                  <a:gd name="T48" fmla="*/ 53 w 82"/>
                  <a:gd name="T49" fmla="*/ 86 h 120"/>
                  <a:gd name="T50" fmla="*/ 62 w 82"/>
                  <a:gd name="T51" fmla="*/ 83 h 120"/>
                  <a:gd name="T52" fmla="*/ 66 w 82"/>
                  <a:gd name="T53" fmla="*/ 80 h 120"/>
                  <a:gd name="T54" fmla="*/ 72 w 82"/>
                  <a:gd name="T55" fmla="*/ 78 h 120"/>
                  <a:gd name="T56" fmla="*/ 82 w 82"/>
                  <a:gd name="T57" fmla="*/ 77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 h="120">
                    <a:moveTo>
                      <a:pt x="82" y="77"/>
                    </a:moveTo>
                    <a:lnTo>
                      <a:pt x="82" y="68"/>
                    </a:lnTo>
                    <a:lnTo>
                      <a:pt x="63" y="57"/>
                    </a:lnTo>
                    <a:lnTo>
                      <a:pt x="48" y="51"/>
                    </a:lnTo>
                    <a:lnTo>
                      <a:pt x="39" y="45"/>
                    </a:lnTo>
                    <a:lnTo>
                      <a:pt x="34" y="42"/>
                    </a:lnTo>
                    <a:lnTo>
                      <a:pt x="28" y="34"/>
                    </a:lnTo>
                    <a:lnTo>
                      <a:pt x="26" y="24"/>
                    </a:lnTo>
                    <a:lnTo>
                      <a:pt x="24" y="14"/>
                    </a:lnTo>
                    <a:lnTo>
                      <a:pt x="28" y="0"/>
                    </a:lnTo>
                    <a:lnTo>
                      <a:pt x="14" y="0"/>
                    </a:lnTo>
                    <a:lnTo>
                      <a:pt x="6" y="9"/>
                    </a:lnTo>
                    <a:lnTo>
                      <a:pt x="3" y="17"/>
                    </a:lnTo>
                    <a:lnTo>
                      <a:pt x="0" y="24"/>
                    </a:lnTo>
                    <a:lnTo>
                      <a:pt x="0" y="32"/>
                    </a:lnTo>
                    <a:lnTo>
                      <a:pt x="0" y="48"/>
                    </a:lnTo>
                    <a:lnTo>
                      <a:pt x="4" y="64"/>
                    </a:lnTo>
                    <a:lnTo>
                      <a:pt x="10" y="78"/>
                    </a:lnTo>
                    <a:lnTo>
                      <a:pt x="18" y="93"/>
                    </a:lnTo>
                    <a:lnTo>
                      <a:pt x="30" y="106"/>
                    </a:lnTo>
                    <a:lnTo>
                      <a:pt x="51" y="120"/>
                    </a:lnTo>
                    <a:lnTo>
                      <a:pt x="47" y="108"/>
                    </a:lnTo>
                    <a:lnTo>
                      <a:pt x="46" y="100"/>
                    </a:lnTo>
                    <a:lnTo>
                      <a:pt x="50" y="90"/>
                    </a:lnTo>
                    <a:lnTo>
                      <a:pt x="53" y="86"/>
                    </a:lnTo>
                    <a:lnTo>
                      <a:pt x="62" y="83"/>
                    </a:lnTo>
                    <a:lnTo>
                      <a:pt x="66" y="80"/>
                    </a:lnTo>
                    <a:lnTo>
                      <a:pt x="72" y="78"/>
                    </a:lnTo>
                    <a:lnTo>
                      <a:pt x="82" y="77"/>
                    </a:lnTo>
                    <a:close/>
                  </a:path>
                </a:pathLst>
              </a:custGeom>
              <a:solidFill>
                <a:srgbClr val="B7B7B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5782" name="Line 310">
                <a:extLst>
                  <a:ext uri="{FF2B5EF4-FFF2-40B4-BE49-F238E27FC236}">
                    <a16:creationId xmlns:a16="http://schemas.microsoft.com/office/drawing/2014/main" id="{64C350DD-75FC-002C-8E77-6D97F26ADB96}"/>
                  </a:ext>
                </a:extLst>
              </p:cNvPr>
              <p:cNvSpPr>
                <a:spLocks noChangeShapeType="1"/>
              </p:cNvSpPr>
              <p:nvPr/>
            </p:nvSpPr>
            <p:spPr bwMode="auto">
              <a:xfrm flipH="1" flipV="1">
                <a:off x="2509" y="2438"/>
                <a:ext cx="4" cy="8"/>
              </a:xfrm>
              <a:prstGeom prst="line">
                <a:avLst/>
              </a:prstGeom>
              <a:noFill/>
              <a:ln w="0">
                <a:solidFill>
                  <a:srgbClr val="777777"/>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783" name="Freeform 311">
                <a:extLst>
                  <a:ext uri="{FF2B5EF4-FFF2-40B4-BE49-F238E27FC236}">
                    <a16:creationId xmlns:a16="http://schemas.microsoft.com/office/drawing/2014/main" id="{2FB5A69D-7CCC-CEA4-4775-C27AC956F58D}"/>
                  </a:ext>
                </a:extLst>
              </p:cNvPr>
              <p:cNvSpPr>
                <a:spLocks/>
              </p:cNvSpPr>
              <p:nvPr/>
            </p:nvSpPr>
            <p:spPr bwMode="auto">
              <a:xfrm>
                <a:off x="2445" y="2330"/>
                <a:ext cx="102" cy="108"/>
              </a:xfrm>
              <a:custGeom>
                <a:avLst/>
                <a:gdLst>
                  <a:gd name="T0" fmla="*/ 51 w 82"/>
                  <a:gd name="T1" fmla="*/ 120 h 120"/>
                  <a:gd name="T2" fmla="*/ 47 w 82"/>
                  <a:gd name="T3" fmla="*/ 108 h 120"/>
                  <a:gd name="T4" fmla="*/ 46 w 82"/>
                  <a:gd name="T5" fmla="*/ 100 h 120"/>
                  <a:gd name="T6" fmla="*/ 50 w 82"/>
                  <a:gd name="T7" fmla="*/ 90 h 120"/>
                  <a:gd name="T8" fmla="*/ 53 w 82"/>
                  <a:gd name="T9" fmla="*/ 86 h 120"/>
                  <a:gd name="T10" fmla="*/ 62 w 82"/>
                  <a:gd name="T11" fmla="*/ 83 h 120"/>
                  <a:gd name="T12" fmla="*/ 66 w 82"/>
                  <a:gd name="T13" fmla="*/ 80 h 120"/>
                  <a:gd name="T14" fmla="*/ 72 w 82"/>
                  <a:gd name="T15" fmla="*/ 78 h 120"/>
                  <a:gd name="T16" fmla="*/ 82 w 82"/>
                  <a:gd name="T17" fmla="*/ 77 h 120"/>
                  <a:gd name="T18" fmla="*/ 82 w 82"/>
                  <a:gd name="T19" fmla="*/ 68 h 120"/>
                  <a:gd name="T20" fmla="*/ 63 w 82"/>
                  <a:gd name="T21" fmla="*/ 57 h 120"/>
                  <a:gd name="T22" fmla="*/ 48 w 82"/>
                  <a:gd name="T23" fmla="*/ 51 h 120"/>
                  <a:gd name="T24" fmla="*/ 39 w 82"/>
                  <a:gd name="T25" fmla="*/ 45 h 120"/>
                  <a:gd name="T26" fmla="*/ 34 w 82"/>
                  <a:gd name="T27" fmla="*/ 42 h 120"/>
                  <a:gd name="T28" fmla="*/ 28 w 82"/>
                  <a:gd name="T29" fmla="*/ 34 h 120"/>
                  <a:gd name="T30" fmla="*/ 26 w 82"/>
                  <a:gd name="T31" fmla="*/ 24 h 120"/>
                  <a:gd name="T32" fmla="*/ 24 w 82"/>
                  <a:gd name="T33" fmla="*/ 14 h 120"/>
                  <a:gd name="T34" fmla="*/ 28 w 82"/>
                  <a:gd name="T35" fmla="*/ 0 h 120"/>
                  <a:gd name="T36" fmla="*/ 14 w 82"/>
                  <a:gd name="T37" fmla="*/ 0 h 120"/>
                  <a:gd name="T38" fmla="*/ 6 w 82"/>
                  <a:gd name="T39" fmla="*/ 9 h 120"/>
                  <a:gd name="T40" fmla="*/ 3 w 82"/>
                  <a:gd name="T41" fmla="*/ 17 h 120"/>
                  <a:gd name="T42" fmla="*/ 0 w 82"/>
                  <a:gd name="T43" fmla="*/ 24 h 120"/>
                  <a:gd name="T44" fmla="*/ 0 w 82"/>
                  <a:gd name="T45" fmla="*/ 32 h 120"/>
                  <a:gd name="T46" fmla="*/ 0 w 82"/>
                  <a:gd name="T47" fmla="*/ 48 h 120"/>
                  <a:gd name="T48" fmla="*/ 4 w 82"/>
                  <a:gd name="T49" fmla="*/ 64 h 120"/>
                  <a:gd name="T50" fmla="*/ 10 w 82"/>
                  <a:gd name="T51" fmla="*/ 78 h 120"/>
                  <a:gd name="T52" fmla="*/ 18 w 82"/>
                  <a:gd name="T53" fmla="*/ 93 h 120"/>
                  <a:gd name="T54" fmla="*/ 30 w 82"/>
                  <a:gd name="T55" fmla="*/ 106 h 120"/>
                  <a:gd name="T56" fmla="*/ 51 w 82"/>
                  <a:gd name="T57"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2" h="120">
                    <a:moveTo>
                      <a:pt x="51" y="120"/>
                    </a:moveTo>
                    <a:lnTo>
                      <a:pt x="47" y="108"/>
                    </a:lnTo>
                    <a:lnTo>
                      <a:pt x="46" y="100"/>
                    </a:lnTo>
                    <a:lnTo>
                      <a:pt x="50" y="90"/>
                    </a:lnTo>
                    <a:lnTo>
                      <a:pt x="53" y="86"/>
                    </a:lnTo>
                    <a:lnTo>
                      <a:pt x="62" y="83"/>
                    </a:lnTo>
                    <a:lnTo>
                      <a:pt x="66" y="80"/>
                    </a:lnTo>
                    <a:lnTo>
                      <a:pt x="72" y="78"/>
                    </a:lnTo>
                    <a:lnTo>
                      <a:pt x="82" y="77"/>
                    </a:lnTo>
                    <a:lnTo>
                      <a:pt x="82" y="68"/>
                    </a:lnTo>
                    <a:lnTo>
                      <a:pt x="63" y="57"/>
                    </a:lnTo>
                    <a:lnTo>
                      <a:pt x="48" y="51"/>
                    </a:lnTo>
                    <a:lnTo>
                      <a:pt x="39" y="45"/>
                    </a:lnTo>
                    <a:lnTo>
                      <a:pt x="34" y="42"/>
                    </a:lnTo>
                    <a:lnTo>
                      <a:pt x="28" y="34"/>
                    </a:lnTo>
                    <a:lnTo>
                      <a:pt x="26" y="24"/>
                    </a:lnTo>
                    <a:lnTo>
                      <a:pt x="24" y="14"/>
                    </a:lnTo>
                    <a:lnTo>
                      <a:pt x="28" y="0"/>
                    </a:lnTo>
                    <a:lnTo>
                      <a:pt x="14" y="0"/>
                    </a:lnTo>
                    <a:lnTo>
                      <a:pt x="6" y="9"/>
                    </a:lnTo>
                    <a:lnTo>
                      <a:pt x="3" y="17"/>
                    </a:lnTo>
                    <a:lnTo>
                      <a:pt x="0" y="24"/>
                    </a:lnTo>
                    <a:lnTo>
                      <a:pt x="0" y="32"/>
                    </a:lnTo>
                    <a:lnTo>
                      <a:pt x="0" y="48"/>
                    </a:lnTo>
                    <a:lnTo>
                      <a:pt x="4" y="64"/>
                    </a:lnTo>
                    <a:lnTo>
                      <a:pt x="10" y="78"/>
                    </a:lnTo>
                    <a:lnTo>
                      <a:pt x="18" y="93"/>
                    </a:lnTo>
                    <a:lnTo>
                      <a:pt x="30" y="106"/>
                    </a:lnTo>
                    <a:lnTo>
                      <a:pt x="51" y="120"/>
                    </a:lnTo>
                  </a:path>
                </a:pathLst>
              </a:custGeom>
              <a:gradFill rotWithShape="1">
                <a:gsLst>
                  <a:gs pos="0">
                    <a:srgbClr val="FF3300"/>
                  </a:gs>
                  <a:gs pos="100000">
                    <a:srgbClr val="FFFF00"/>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sp>
          <p:nvSpPr>
            <p:cNvPr id="105784" name="AutoShape 312">
              <a:extLst>
                <a:ext uri="{FF2B5EF4-FFF2-40B4-BE49-F238E27FC236}">
                  <a16:creationId xmlns:a16="http://schemas.microsoft.com/office/drawing/2014/main" id="{20AB8666-F305-E9DF-23ED-1315D5E66D58}"/>
                </a:ext>
              </a:extLst>
            </p:cNvPr>
            <p:cNvSpPr>
              <a:spLocks noChangeArrowheads="1"/>
            </p:cNvSpPr>
            <p:nvPr/>
          </p:nvSpPr>
          <p:spPr bwMode="auto">
            <a:xfrm>
              <a:off x="2880" y="3504"/>
              <a:ext cx="336" cy="192"/>
            </a:xfrm>
            <a:prstGeom prst="leftRightArrow">
              <a:avLst>
                <a:gd name="adj1" fmla="val 50000"/>
                <a:gd name="adj2" fmla="val 35000"/>
              </a:avLst>
            </a:prstGeom>
            <a:solidFill>
              <a:schemeClr val="accent1"/>
            </a:solidFill>
            <a:ln w="25400" algn="ctr">
              <a:solidFill>
                <a:srgbClr val="FF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105785" name="AutoShape 313">
              <a:extLst>
                <a:ext uri="{FF2B5EF4-FFF2-40B4-BE49-F238E27FC236}">
                  <a16:creationId xmlns:a16="http://schemas.microsoft.com/office/drawing/2014/main" id="{A33FDDC3-511D-9055-4921-76ED4E168530}"/>
                </a:ext>
              </a:extLst>
            </p:cNvPr>
            <p:cNvSpPr>
              <a:spLocks noChangeArrowheads="1"/>
            </p:cNvSpPr>
            <p:nvPr/>
          </p:nvSpPr>
          <p:spPr bwMode="auto">
            <a:xfrm>
              <a:off x="3792" y="3518"/>
              <a:ext cx="336" cy="192"/>
            </a:xfrm>
            <a:prstGeom prst="leftRightArrow">
              <a:avLst>
                <a:gd name="adj1" fmla="val 50000"/>
                <a:gd name="adj2" fmla="val 35000"/>
              </a:avLst>
            </a:prstGeom>
            <a:solidFill>
              <a:schemeClr val="accent1"/>
            </a:solidFill>
            <a:ln w="25400" algn="ctr">
              <a:solidFill>
                <a:srgbClr val="FF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105786" name="AutoShape 314">
              <a:extLst>
                <a:ext uri="{FF2B5EF4-FFF2-40B4-BE49-F238E27FC236}">
                  <a16:creationId xmlns:a16="http://schemas.microsoft.com/office/drawing/2014/main" id="{432ADF4B-E166-4393-FD37-9D18C3EE2E43}"/>
                </a:ext>
              </a:extLst>
            </p:cNvPr>
            <p:cNvSpPr>
              <a:spLocks noChangeArrowheads="1"/>
            </p:cNvSpPr>
            <p:nvPr/>
          </p:nvSpPr>
          <p:spPr bwMode="auto">
            <a:xfrm>
              <a:off x="1296" y="3518"/>
              <a:ext cx="336" cy="192"/>
            </a:xfrm>
            <a:prstGeom prst="leftRightArrow">
              <a:avLst>
                <a:gd name="adj1" fmla="val 50000"/>
                <a:gd name="adj2" fmla="val 35000"/>
              </a:avLst>
            </a:prstGeom>
            <a:solidFill>
              <a:schemeClr val="accent1"/>
            </a:solidFill>
            <a:ln w="25400" algn="ctr">
              <a:solidFill>
                <a:srgbClr val="FF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105799" name="Text Box 327">
              <a:extLst>
                <a:ext uri="{FF2B5EF4-FFF2-40B4-BE49-F238E27FC236}">
                  <a16:creationId xmlns:a16="http://schemas.microsoft.com/office/drawing/2014/main" id="{515BE09E-BF3D-8DD3-8943-850AA6C91711}"/>
                </a:ext>
              </a:extLst>
            </p:cNvPr>
            <p:cNvSpPr txBox="1">
              <a:spLocks noChangeArrowheads="1"/>
            </p:cNvSpPr>
            <p:nvPr/>
          </p:nvSpPr>
          <p:spPr bwMode="auto">
            <a:xfrm>
              <a:off x="2296" y="3842"/>
              <a:ext cx="776" cy="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a:solidFill>
                    <a:srgbClr val="000000"/>
                  </a:solidFill>
                  <a:ea typeface="宋体" panose="02010600030101010101" pitchFamily="2" charset="-122"/>
                </a:rPr>
                <a:t>Application Server</a:t>
              </a:r>
            </a:p>
          </p:txBody>
        </p:sp>
        <p:sp>
          <p:nvSpPr>
            <p:cNvPr id="105800" name="Text Box 328">
              <a:extLst>
                <a:ext uri="{FF2B5EF4-FFF2-40B4-BE49-F238E27FC236}">
                  <a16:creationId xmlns:a16="http://schemas.microsoft.com/office/drawing/2014/main" id="{2272B09C-8462-07C2-CB7F-3732E5740654}"/>
                </a:ext>
              </a:extLst>
            </p:cNvPr>
            <p:cNvSpPr txBox="1">
              <a:spLocks noChangeArrowheads="1"/>
            </p:cNvSpPr>
            <p:nvPr/>
          </p:nvSpPr>
          <p:spPr bwMode="auto">
            <a:xfrm>
              <a:off x="2300" y="4061"/>
              <a:ext cx="797" cy="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a:solidFill>
                    <a:srgbClr val="000000"/>
                  </a:solidFill>
                  <a:ea typeface="宋体" panose="02010600030101010101" pitchFamily="2" charset="-122"/>
                </a:rPr>
                <a:t>Demilitarized Zone</a:t>
              </a: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7D04458-D719-4525-1B3E-E63AC12FE522}"/>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58285855-6784-A001-1421-A9A1D3FDEACB}"/>
              </a:ext>
            </a:extLst>
          </p:cNvPr>
          <p:cNvSpPr>
            <a:spLocks noGrp="1"/>
          </p:cNvSpPr>
          <p:nvPr>
            <p:ph type="sldNum" sz="quarter" idx="11"/>
          </p:nvPr>
        </p:nvSpPr>
        <p:spPr/>
        <p:txBody>
          <a:bodyPr/>
          <a:lstStyle/>
          <a:p>
            <a:r>
              <a:rPr lang="zh-CN" altLang="en-US"/>
              <a:t> </a:t>
            </a:r>
            <a:r>
              <a:rPr lang="en-US" altLang="zh-CN"/>
              <a:t>- </a:t>
            </a:r>
            <a:fld id="{5EAD8CE8-987A-4897-8E99-ACE15767F0FA}" type="slidenum">
              <a:rPr lang="en-US" altLang="zh-CN" sz="800"/>
              <a:pPr/>
              <a:t>39</a:t>
            </a:fld>
            <a:endParaRPr lang="en-US" altLang="zh-CN" sz="800"/>
          </a:p>
        </p:txBody>
      </p:sp>
      <p:sp>
        <p:nvSpPr>
          <p:cNvPr id="109570" name="Rectangle 2">
            <a:extLst>
              <a:ext uri="{FF2B5EF4-FFF2-40B4-BE49-F238E27FC236}">
                <a16:creationId xmlns:a16="http://schemas.microsoft.com/office/drawing/2014/main" id="{35737F29-8AA7-BCEF-5AE6-B544391D6DBF}"/>
              </a:ext>
            </a:extLst>
          </p:cNvPr>
          <p:cNvSpPr>
            <a:spLocks noGrp="1" noChangeArrowheads="1"/>
          </p:cNvSpPr>
          <p:nvPr>
            <p:ph type="title"/>
          </p:nvPr>
        </p:nvSpPr>
        <p:spPr/>
        <p:txBody>
          <a:bodyPr/>
          <a:lstStyle/>
          <a:p>
            <a:r>
              <a:rPr lang="en-US" altLang="zh-CN">
                <a:ea typeface="宋体" panose="02010600030101010101" pitchFamily="2" charset="-122"/>
              </a:rPr>
              <a:t>Securing Implementation in IP SAN</a:t>
            </a:r>
          </a:p>
        </p:txBody>
      </p:sp>
      <p:sp>
        <p:nvSpPr>
          <p:cNvPr id="109571" name="Rectangle 3">
            <a:extLst>
              <a:ext uri="{FF2B5EF4-FFF2-40B4-BE49-F238E27FC236}">
                <a16:creationId xmlns:a16="http://schemas.microsoft.com/office/drawing/2014/main" id="{0332AE56-D32C-ABDD-ADBA-108F5A04F99F}"/>
              </a:ext>
            </a:extLst>
          </p:cNvPr>
          <p:cNvSpPr>
            <a:spLocks noGrp="1" noChangeArrowheads="1"/>
          </p:cNvSpPr>
          <p:nvPr>
            <p:ph type="body" idx="1"/>
          </p:nvPr>
        </p:nvSpPr>
        <p:spPr/>
        <p:txBody>
          <a:bodyPr/>
          <a:lstStyle/>
          <a:p>
            <a:r>
              <a:rPr lang="en-US" altLang="zh-CN">
                <a:ea typeface="宋体" panose="02010600030101010101" pitchFamily="2" charset="-122"/>
              </a:rPr>
              <a:t>Challenge-Handshake Authentication Protocol (CHAP) </a:t>
            </a:r>
          </a:p>
          <a:p>
            <a:pPr lvl="1"/>
            <a:r>
              <a:rPr lang="en-US" altLang="zh-CN">
                <a:ea typeface="宋体" panose="02010600030101010101" pitchFamily="2" charset="-122"/>
              </a:rPr>
              <a:t>Basic Authentication Mechanism</a:t>
            </a:r>
          </a:p>
          <a:p>
            <a:pPr lvl="1"/>
            <a:r>
              <a:rPr lang="en-US" altLang="zh-CN">
                <a:ea typeface="宋体" panose="02010600030101010101" pitchFamily="2" charset="-122"/>
              </a:rPr>
              <a:t>Authenticates a user to a network resource</a:t>
            </a:r>
          </a:p>
          <a:p>
            <a:pPr lvl="1"/>
            <a:r>
              <a:rPr lang="en-US" altLang="zh-CN">
                <a:ea typeface="宋体" panose="02010600030101010101" pitchFamily="2" charset="-122"/>
              </a:rPr>
              <a:t>Implemented as: </a:t>
            </a:r>
          </a:p>
          <a:p>
            <a:pPr lvl="2"/>
            <a:r>
              <a:rPr lang="en-US" altLang="zh-CN">
                <a:ea typeface="宋体" panose="02010600030101010101" pitchFamily="2" charset="-122"/>
              </a:rPr>
              <a:t>One way </a:t>
            </a:r>
          </a:p>
          <a:p>
            <a:pPr lvl="3"/>
            <a:r>
              <a:rPr lang="en-US" altLang="zh-CN">
                <a:ea typeface="宋体" panose="02010600030101010101" pitchFamily="2" charset="-122"/>
              </a:rPr>
              <a:t>Authentication password configured on only one side of the connection</a:t>
            </a:r>
            <a:endParaRPr lang="en-US" altLang="zh-CN" b="1" i="1">
              <a:ea typeface="宋体" panose="02010600030101010101" pitchFamily="2" charset="-122"/>
            </a:endParaRPr>
          </a:p>
          <a:p>
            <a:pPr lvl="2"/>
            <a:r>
              <a:rPr lang="en-US" altLang="zh-CN">
                <a:ea typeface="宋体" panose="02010600030101010101" pitchFamily="2" charset="-122"/>
              </a:rPr>
              <a:t>Two way</a:t>
            </a:r>
          </a:p>
          <a:p>
            <a:pPr lvl="3"/>
            <a:r>
              <a:rPr lang="en-US" altLang="zh-CN">
                <a:ea typeface="宋体" panose="02010600030101010101" pitchFamily="2" charset="-122"/>
              </a:rPr>
              <a:t>Authentication password configured on both sides of the connection, requiring both nodes to validate the connection e.g. mutual authentication</a:t>
            </a:r>
          </a:p>
          <a:p>
            <a:endParaRPr lang="en-US" altLang="zh-CN">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4972909-CCD4-EB0D-2802-FBBD4A05DBDD}"/>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FABEFE9D-FAA3-5C23-81CB-CD7A862FB2EC}"/>
              </a:ext>
            </a:extLst>
          </p:cNvPr>
          <p:cNvSpPr>
            <a:spLocks noGrp="1"/>
          </p:cNvSpPr>
          <p:nvPr>
            <p:ph type="sldNum" sz="quarter" idx="11"/>
          </p:nvPr>
        </p:nvSpPr>
        <p:spPr/>
        <p:txBody>
          <a:bodyPr/>
          <a:lstStyle/>
          <a:p>
            <a:r>
              <a:rPr lang="zh-CN" altLang="en-US"/>
              <a:t> </a:t>
            </a:r>
            <a:r>
              <a:rPr lang="en-US" altLang="zh-CN"/>
              <a:t>- </a:t>
            </a:r>
            <a:fld id="{8CE3A3AE-8C02-4116-BB96-03A094F4EBD0}" type="slidenum">
              <a:rPr lang="en-US" altLang="zh-CN" sz="800"/>
              <a:pPr/>
              <a:t>40</a:t>
            </a:fld>
            <a:endParaRPr lang="en-US" altLang="zh-CN" sz="800"/>
          </a:p>
        </p:txBody>
      </p:sp>
      <p:sp>
        <p:nvSpPr>
          <p:cNvPr id="111618" name="Rectangle 2">
            <a:extLst>
              <a:ext uri="{FF2B5EF4-FFF2-40B4-BE49-F238E27FC236}">
                <a16:creationId xmlns:a16="http://schemas.microsoft.com/office/drawing/2014/main" id="{A2AED2ED-009A-A370-901B-06EA43A8AFCD}"/>
              </a:ext>
            </a:extLst>
          </p:cNvPr>
          <p:cNvSpPr>
            <a:spLocks noGrp="1" noChangeArrowheads="1"/>
          </p:cNvSpPr>
          <p:nvPr>
            <p:ph type="title"/>
          </p:nvPr>
        </p:nvSpPr>
        <p:spPr/>
        <p:txBody>
          <a:bodyPr/>
          <a:lstStyle/>
          <a:p>
            <a:r>
              <a:rPr lang="en-US" altLang="zh-CN">
                <a:ea typeface="宋体" panose="02010600030101010101" pitchFamily="2" charset="-122"/>
              </a:rPr>
              <a:t>One-Way CHAP Authentication</a:t>
            </a:r>
          </a:p>
        </p:txBody>
      </p:sp>
      <p:sp>
        <p:nvSpPr>
          <p:cNvPr id="111633" name="AutoShape 17">
            <a:extLst>
              <a:ext uri="{FF2B5EF4-FFF2-40B4-BE49-F238E27FC236}">
                <a16:creationId xmlns:a16="http://schemas.microsoft.com/office/drawing/2014/main" id="{926E416A-5AE4-B9C2-A949-A58A8CF8A5F1}"/>
              </a:ext>
            </a:extLst>
          </p:cNvPr>
          <p:cNvSpPr>
            <a:spLocks noChangeArrowheads="1"/>
          </p:cNvSpPr>
          <p:nvPr/>
        </p:nvSpPr>
        <p:spPr bwMode="auto">
          <a:xfrm>
            <a:off x="3124200" y="2895600"/>
            <a:ext cx="3733800" cy="685800"/>
          </a:xfrm>
          <a:prstGeom prst="rightArrow">
            <a:avLst>
              <a:gd name="adj1" fmla="val 50000"/>
              <a:gd name="adj2" fmla="val 82398"/>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2.</a:t>
            </a:r>
            <a:r>
              <a:rPr lang="en-US" altLang="zh-CN" sz="1400">
                <a:ea typeface="宋体" panose="02010600030101010101" pitchFamily="2" charset="-122"/>
              </a:rPr>
              <a:t> CHAP Challenge sent to Initiator</a:t>
            </a:r>
          </a:p>
        </p:txBody>
      </p:sp>
      <p:sp>
        <p:nvSpPr>
          <p:cNvPr id="111634" name="Text Box 18">
            <a:extLst>
              <a:ext uri="{FF2B5EF4-FFF2-40B4-BE49-F238E27FC236}">
                <a16:creationId xmlns:a16="http://schemas.microsoft.com/office/drawing/2014/main" id="{6FAA1662-BA55-6415-A04D-BEA2E7A748BE}"/>
              </a:ext>
            </a:extLst>
          </p:cNvPr>
          <p:cNvSpPr txBox="1">
            <a:spLocks noChangeArrowheads="1"/>
          </p:cNvSpPr>
          <p:nvPr/>
        </p:nvSpPr>
        <p:spPr bwMode="auto">
          <a:xfrm>
            <a:off x="2362200" y="1447800"/>
            <a:ext cx="4787900" cy="439738"/>
          </a:xfrm>
          <a:prstGeom prst="rect">
            <a:avLst/>
          </a:prstGeom>
          <a:solidFill>
            <a:srgbClr val="FFCC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a:ea typeface="宋体" panose="02010600030101010101" pitchFamily="2" charset="-122"/>
              </a:rPr>
              <a:t>One-Way CHAP Authentication</a:t>
            </a:r>
          </a:p>
        </p:txBody>
      </p:sp>
      <p:sp>
        <p:nvSpPr>
          <p:cNvPr id="111635" name="AutoShape 19">
            <a:extLst>
              <a:ext uri="{FF2B5EF4-FFF2-40B4-BE49-F238E27FC236}">
                <a16:creationId xmlns:a16="http://schemas.microsoft.com/office/drawing/2014/main" id="{8A1CDD47-8160-09B8-1DD0-61F91FCA3E91}"/>
              </a:ext>
            </a:extLst>
          </p:cNvPr>
          <p:cNvSpPr>
            <a:spLocks noChangeArrowheads="1"/>
          </p:cNvSpPr>
          <p:nvPr/>
        </p:nvSpPr>
        <p:spPr bwMode="auto">
          <a:xfrm>
            <a:off x="3048000" y="2209800"/>
            <a:ext cx="3657600" cy="685800"/>
          </a:xfrm>
          <a:prstGeom prst="leftArrow">
            <a:avLst>
              <a:gd name="adj1" fmla="val 45833"/>
              <a:gd name="adj2" fmla="val 83802"/>
            </a:avLst>
          </a:prstGeom>
          <a:solidFill>
            <a:srgbClr val="00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1.</a:t>
            </a:r>
            <a:r>
              <a:rPr lang="en-US" altLang="zh-CN" sz="1400">
                <a:ea typeface="宋体" panose="02010600030101010101" pitchFamily="2" charset="-122"/>
              </a:rPr>
              <a:t> Initiates a logon to the target</a:t>
            </a:r>
          </a:p>
        </p:txBody>
      </p:sp>
      <p:sp>
        <p:nvSpPr>
          <p:cNvPr id="111636" name="Text Box 20">
            <a:extLst>
              <a:ext uri="{FF2B5EF4-FFF2-40B4-BE49-F238E27FC236}">
                <a16:creationId xmlns:a16="http://schemas.microsoft.com/office/drawing/2014/main" id="{60D755CB-79B1-0357-1F99-DC1AA442B8AC}"/>
              </a:ext>
            </a:extLst>
          </p:cNvPr>
          <p:cNvSpPr txBox="1">
            <a:spLocks noChangeArrowheads="1"/>
          </p:cNvSpPr>
          <p:nvPr/>
        </p:nvSpPr>
        <p:spPr bwMode="auto">
          <a:xfrm>
            <a:off x="5257800" y="3733800"/>
            <a:ext cx="1882775" cy="660400"/>
          </a:xfrm>
          <a:prstGeom prst="rect">
            <a:avLst/>
          </a:prstGeom>
          <a:solidFill>
            <a:srgbClr val="00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5000"/>
              </a:lnSpc>
              <a:spcBef>
                <a:spcPct val="25000"/>
              </a:spcBef>
              <a:buClr>
                <a:srgbClr val="4A73D0"/>
              </a:buClr>
              <a:buSzPct val="85000"/>
              <a:buFont typeface="Times New Roman" panose="02020603050405020304" pitchFamily="18" charset="0"/>
              <a:buNone/>
            </a:pPr>
            <a:r>
              <a:rPr lang="en-US" altLang="zh-CN" sz="1200" b="1">
                <a:ea typeface="宋体" panose="02010600030101010101" pitchFamily="2" charset="-122"/>
              </a:rPr>
              <a:t>3.</a:t>
            </a:r>
            <a:r>
              <a:rPr lang="en-US" altLang="zh-CN" sz="1200">
                <a:ea typeface="宋体" panose="02010600030101010101" pitchFamily="2" charset="-122"/>
              </a:rPr>
              <a:t> Takes shared secret</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calculates value using</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 a one-way hash function</a:t>
            </a:r>
          </a:p>
        </p:txBody>
      </p:sp>
      <p:sp>
        <p:nvSpPr>
          <p:cNvPr id="111637" name="AutoShape 21">
            <a:extLst>
              <a:ext uri="{FF2B5EF4-FFF2-40B4-BE49-F238E27FC236}">
                <a16:creationId xmlns:a16="http://schemas.microsoft.com/office/drawing/2014/main" id="{F52C571A-CE34-B83D-97DC-16266A503008}"/>
              </a:ext>
            </a:extLst>
          </p:cNvPr>
          <p:cNvSpPr>
            <a:spLocks noChangeArrowheads="1"/>
          </p:cNvSpPr>
          <p:nvPr/>
        </p:nvSpPr>
        <p:spPr bwMode="auto">
          <a:xfrm>
            <a:off x="3124200" y="4495800"/>
            <a:ext cx="3657600" cy="685800"/>
          </a:xfrm>
          <a:prstGeom prst="leftArrow">
            <a:avLst>
              <a:gd name="adj1" fmla="val 45833"/>
              <a:gd name="adj2" fmla="val 83802"/>
            </a:avLst>
          </a:prstGeom>
          <a:solidFill>
            <a:srgbClr val="00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4. </a:t>
            </a:r>
            <a:r>
              <a:rPr lang="en-US" altLang="zh-CN" sz="1400">
                <a:ea typeface="宋体" panose="02010600030101010101" pitchFamily="2" charset="-122"/>
              </a:rPr>
              <a:t>Returns hash value to target</a:t>
            </a:r>
          </a:p>
        </p:txBody>
      </p:sp>
      <p:sp>
        <p:nvSpPr>
          <p:cNvPr id="111638" name="Text Box 22">
            <a:extLst>
              <a:ext uri="{FF2B5EF4-FFF2-40B4-BE49-F238E27FC236}">
                <a16:creationId xmlns:a16="http://schemas.microsoft.com/office/drawing/2014/main" id="{14472986-7F24-FB64-9434-7382A6A757BF}"/>
              </a:ext>
            </a:extLst>
          </p:cNvPr>
          <p:cNvSpPr txBox="1">
            <a:spLocks noChangeArrowheads="1"/>
          </p:cNvSpPr>
          <p:nvPr/>
        </p:nvSpPr>
        <p:spPr bwMode="auto">
          <a:xfrm>
            <a:off x="2590800" y="5257800"/>
            <a:ext cx="2744788" cy="660400"/>
          </a:xfrm>
          <a:prstGeom prst="rect">
            <a:avLst/>
          </a:prstGeom>
          <a:solidFill>
            <a:srgbClr val="CCFFFF">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5000"/>
              </a:lnSpc>
              <a:spcBef>
                <a:spcPct val="25000"/>
              </a:spcBef>
              <a:buClr>
                <a:srgbClr val="4A73D0"/>
              </a:buClr>
              <a:buSzPct val="85000"/>
              <a:buFont typeface="Times New Roman" panose="02020603050405020304" pitchFamily="18" charset="0"/>
              <a:buNone/>
            </a:pPr>
            <a:r>
              <a:rPr lang="en-US" altLang="zh-CN" sz="1200" b="1">
                <a:ea typeface="宋体" panose="02010600030101010101" pitchFamily="2" charset="-122"/>
              </a:rPr>
              <a:t>5. </a:t>
            </a:r>
            <a:r>
              <a:rPr lang="en-US" altLang="zh-CN" sz="1200">
                <a:ea typeface="宋体" panose="02010600030101010101" pitchFamily="2" charset="-122"/>
              </a:rPr>
              <a:t>Computes the expected hash value</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from the shared secret. Compares</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to value received from initiator.</a:t>
            </a:r>
          </a:p>
        </p:txBody>
      </p:sp>
      <p:sp>
        <p:nvSpPr>
          <p:cNvPr id="111639" name="AutoShape 23">
            <a:extLst>
              <a:ext uri="{FF2B5EF4-FFF2-40B4-BE49-F238E27FC236}">
                <a16:creationId xmlns:a16="http://schemas.microsoft.com/office/drawing/2014/main" id="{CBBB3454-4970-5859-FBF7-65A51121C267}"/>
              </a:ext>
            </a:extLst>
          </p:cNvPr>
          <p:cNvSpPr>
            <a:spLocks noChangeArrowheads="1"/>
          </p:cNvSpPr>
          <p:nvPr/>
        </p:nvSpPr>
        <p:spPr bwMode="auto">
          <a:xfrm>
            <a:off x="2971800" y="6019800"/>
            <a:ext cx="4191000" cy="685800"/>
          </a:xfrm>
          <a:prstGeom prst="rightArrow">
            <a:avLst>
              <a:gd name="adj1" fmla="val 50000"/>
              <a:gd name="adj2" fmla="val 92487"/>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6. </a:t>
            </a:r>
            <a:r>
              <a:rPr lang="en-US" altLang="zh-CN" sz="1400">
                <a:ea typeface="宋体" panose="02010600030101010101" pitchFamily="2" charset="-122"/>
              </a:rPr>
              <a:t>If values match, authentication acknowledged</a:t>
            </a:r>
          </a:p>
        </p:txBody>
      </p:sp>
      <p:sp>
        <p:nvSpPr>
          <p:cNvPr id="111640" name="Text Box 24">
            <a:extLst>
              <a:ext uri="{FF2B5EF4-FFF2-40B4-BE49-F238E27FC236}">
                <a16:creationId xmlns:a16="http://schemas.microsoft.com/office/drawing/2014/main" id="{685ED878-99C8-2029-B9FB-5532E80F0054}"/>
              </a:ext>
            </a:extLst>
          </p:cNvPr>
          <p:cNvSpPr txBox="1">
            <a:spLocks noChangeArrowheads="1"/>
          </p:cNvSpPr>
          <p:nvPr/>
        </p:nvSpPr>
        <p:spPr bwMode="auto">
          <a:xfrm>
            <a:off x="1143000" y="2851150"/>
            <a:ext cx="725488"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i="1">
                <a:ea typeface="宋体" panose="02010600030101010101" pitchFamily="2" charset="-122"/>
              </a:rPr>
              <a:t>Target</a:t>
            </a:r>
          </a:p>
        </p:txBody>
      </p:sp>
      <p:sp>
        <p:nvSpPr>
          <p:cNvPr id="111641" name="Text Box 25">
            <a:extLst>
              <a:ext uri="{FF2B5EF4-FFF2-40B4-BE49-F238E27FC236}">
                <a16:creationId xmlns:a16="http://schemas.microsoft.com/office/drawing/2014/main" id="{D58618F9-53A9-878C-B963-FB169FDAD3A9}"/>
              </a:ext>
            </a:extLst>
          </p:cNvPr>
          <p:cNvSpPr txBox="1">
            <a:spLocks noChangeArrowheads="1"/>
          </p:cNvSpPr>
          <p:nvPr/>
        </p:nvSpPr>
        <p:spPr bwMode="auto">
          <a:xfrm>
            <a:off x="7642225" y="3276600"/>
            <a:ext cx="833438"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i="1">
                <a:ea typeface="宋体" panose="02010600030101010101" pitchFamily="2" charset="-122"/>
              </a:rPr>
              <a:t>Initiator</a:t>
            </a:r>
          </a:p>
        </p:txBody>
      </p:sp>
      <p:pic>
        <p:nvPicPr>
          <p:cNvPr id="111642" name="Picture 26">
            <a:extLst>
              <a:ext uri="{FF2B5EF4-FFF2-40B4-BE49-F238E27FC236}">
                <a16:creationId xmlns:a16="http://schemas.microsoft.com/office/drawing/2014/main" id="{1E5B4C5D-0CE1-9F2A-625A-EDB27E9FAD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200400"/>
            <a:ext cx="1882775"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11643" name="Picture 27">
            <a:extLst>
              <a:ext uri="{FF2B5EF4-FFF2-40B4-BE49-F238E27FC236}">
                <a16:creationId xmlns:a16="http://schemas.microsoft.com/office/drawing/2014/main" id="{49402445-5D42-FA8D-E9CA-8B68F1293B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2238" y="3606800"/>
            <a:ext cx="769937" cy="1270000"/>
          </a:xfrm>
          <a:prstGeom prst="rect">
            <a:avLst/>
          </a:prstGeom>
          <a:noFill/>
          <a:extLst>
            <a:ext uri="{909E8E84-426E-40DD-AFC4-6F175D3DCCD1}">
              <a14:hiddenFill xmlns:a14="http://schemas.microsoft.com/office/drawing/2010/main">
                <a:solidFill>
                  <a:srgbClr val="FFFFFF"/>
                </a:solidFill>
              </a14:hiddenFill>
            </a:ext>
          </a:extLst>
        </p:spPr>
      </p:pic>
      <p:sp>
        <p:nvSpPr>
          <p:cNvPr id="111644" name="AutoShape 28">
            <a:extLst>
              <a:ext uri="{FF2B5EF4-FFF2-40B4-BE49-F238E27FC236}">
                <a16:creationId xmlns:a16="http://schemas.microsoft.com/office/drawing/2014/main" id="{4052CFB0-4D46-83EA-52BC-AD533CDF249E}"/>
              </a:ext>
            </a:extLst>
          </p:cNvPr>
          <p:cNvSpPr>
            <a:spLocks noChangeArrowheads="1"/>
          </p:cNvSpPr>
          <p:nvPr/>
        </p:nvSpPr>
        <p:spPr bwMode="auto">
          <a:xfrm>
            <a:off x="7315200" y="1981200"/>
            <a:ext cx="1447800" cy="4648200"/>
          </a:xfrm>
          <a:prstGeom prst="roundRect">
            <a:avLst>
              <a:gd name="adj" fmla="val 16667"/>
            </a:avLst>
          </a:prstGeom>
          <a:noFill/>
          <a:ln w="25400" cap="rnd" algn="ctr">
            <a:solidFill>
              <a:srgbClr val="000000"/>
            </a:solidFill>
            <a:prstDash val="sysDot"/>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111645" name="AutoShape 29">
            <a:extLst>
              <a:ext uri="{FF2B5EF4-FFF2-40B4-BE49-F238E27FC236}">
                <a16:creationId xmlns:a16="http://schemas.microsoft.com/office/drawing/2014/main" id="{61C33254-E804-C90C-D9E7-F39DA89B22AE}"/>
              </a:ext>
            </a:extLst>
          </p:cNvPr>
          <p:cNvSpPr>
            <a:spLocks noChangeArrowheads="1"/>
          </p:cNvSpPr>
          <p:nvPr/>
        </p:nvSpPr>
        <p:spPr bwMode="auto">
          <a:xfrm>
            <a:off x="457200" y="1981200"/>
            <a:ext cx="2057400" cy="4648200"/>
          </a:xfrm>
          <a:prstGeom prst="roundRect">
            <a:avLst>
              <a:gd name="adj" fmla="val 16667"/>
            </a:avLst>
          </a:prstGeom>
          <a:noFill/>
          <a:ln w="25400" cap="rnd" algn="ctr">
            <a:solidFill>
              <a:srgbClr val="000000"/>
            </a:solidFill>
            <a:prstDash val="sysDot"/>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1635"/>
                                        </p:tgtEl>
                                        <p:attrNameLst>
                                          <p:attrName>style.visibility</p:attrName>
                                        </p:attrNameLst>
                                      </p:cBhvr>
                                      <p:to>
                                        <p:strVal val="visible"/>
                                      </p:to>
                                    </p:set>
                                    <p:anim calcmode="lin" valueType="num">
                                      <p:cBhvr additive="base">
                                        <p:cTn id="7" dur="1000" fill="hold"/>
                                        <p:tgtEl>
                                          <p:spTgt spid="111635"/>
                                        </p:tgtEl>
                                        <p:attrNameLst>
                                          <p:attrName>ppt_x</p:attrName>
                                        </p:attrNameLst>
                                      </p:cBhvr>
                                      <p:tavLst>
                                        <p:tav tm="0">
                                          <p:val>
                                            <p:strVal val="1+#ppt_w/2"/>
                                          </p:val>
                                        </p:tav>
                                        <p:tav tm="100000">
                                          <p:val>
                                            <p:strVal val="#ppt_x"/>
                                          </p:val>
                                        </p:tav>
                                      </p:tavLst>
                                    </p:anim>
                                    <p:anim calcmode="lin" valueType="num">
                                      <p:cBhvr additive="base">
                                        <p:cTn id="8" dur="1000" fill="hold"/>
                                        <p:tgtEl>
                                          <p:spTgt spid="11163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1633"/>
                                        </p:tgtEl>
                                        <p:attrNameLst>
                                          <p:attrName>style.visibility</p:attrName>
                                        </p:attrNameLst>
                                      </p:cBhvr>
                                      <p:to>
                                        <p:strVal val="visible"/>
                                      </p:to>
                                    </p:set>
                                    <p:anim calcmode="lin" valueType="num">
                                      <p:cBhvr additive="base">
                                        <p:cTn id="13" dur="1000" fill="hold"/>
                                        <p:tgtEl>
                                          <p:spTgt spid="111633"/>
                                        </p:tgtEl>
                                        <p:attrNameLst>
                                          <p:attrName>ppt_x</p:attrName>
                                        </p:attrNameLst>
                                      </p:cBhvr>
                                      <p:tavLst>
                                        <p:tav tm="0">
                                          <p:val>
                                            <p:strVal val="0-#ppt_w/2"/>
                                          </p:val>
                                        </p:tav>
                                        <p:tav tm="100000">
                                          <p:val>
                                            <p:strVal val="#ppt_x"/>
                                          </p:val>
                                        </p:tav>
                                      </p:tavLst>
                                    </p:anim>
                                    <p:anim calcmode="lin" valueType="num">
                                      <p:cBhvr additive="base">
                                        <p:cTn id="14" dur="1000" fill="hold"/>
                                        <p:tgtEl>
                                          <p:spTgt spid="11163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11636"/>
                                        </p:tgtEl>
                                        <p:attrNameLst>
                                          <p:attrName>style.visibility</p:attrName>
                                        </p:attrNameLst>
                                      </p:cBhvr>
                                      <p:to>
                                        <p:strVal val="visible"/>
                                      </p:to>
                                    </p:set>
                                    <p:anim calcmode="lin" valueType="num">
                                      <p:cBhvr additive="base">
                                        <p:cTn id="19" dur="1000" fill="hold"/>
                                        <p:tgtEl>
                                          <p:spTgt spid="111636"/>
                                        </p:tgtEl>
                                        <p:attrNameLst>
                                          <p:attrName>ppt_x</p:attrName>
                                        </p:attrNameLst>
                                      </p:cBhvr>
                                      <p:tavLst>
                                        <p:tav tm="0">
                                          <p:val>
                                            <p:strVal val="1+#ppt_w/2"/>
                                          </p:val>
                                        </p:tav>
                                        <p:tav tm="100000">
                                          <p:val>
                                            <p:strVal val="#ppt_x"/>
                                          </p:val>
                                        </p:tav>
                                      </p:tavLst>
                                    </p:anim>
                                    <p:anim calcmode="lin" valueType="num">
                                      <p:cBhvr additive="base">
                                        <p:cTn id="20" dur="1000" fill="hold"/>
                                        <p:tgtEl>
                                          <p:spTgt spid="11163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1637"/>
                                        </p:tgtEl>
                                        <p:attrNameLst>
                                          <p:attrName>style.visibility</p:attrName>
                                        </p:attrNameLst>
                                      </p:cBhvr>
                                      <p:to>
                                        <p:strVal val="visible"/>
                                      </p:to>
                                    </p:set>
                                    <p:anim calcmode="lin" valueType="num">
                                      <p:cBhvr additive="base">
                                        <p:cTn id="25" dur="1000" fill="hold"/>
                                        <p:tgtEl>
                                          <p:spTgt spid="111637"/>
                                        </p:tgtEl>
                                        <p:attrNameLst>
                                          <p:attrName>ppt_x</p:attrName>
                                        </p:attrNameLst>
                                      </p:cBhvr>
                                      <p:tavLst>
                                        <p:tav tm="0">
                                          <p:val>
                                            <p:strVal val="1+#ppt_w/2"/>
                                          </p:val>
                                        </p:tav>
                                        <p:tav tm="100000">
                                          <p:val>
                                            <p:strVal val="#ppt_x"/>
                                          </p:val>
                                        </p:tav>
                                      </p:tavLst>
                                    </p:anim>
                                    <p:anim calcmode="lin" valueType="num">
                                      <p:cBhvr additive="base">
                                        <p:cTn id="26" dur="1000" fill="hold"/>
                                        <p:tgtEl>
                                          <p:spTgt spid="11163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1638"/>
                                        </p:tgtEl>
                                        <p:attrNameLst>
                                          <p:attrName>style.visibility</p:attrName>
                                        </p:attrNameLst>
                                      </p:cBhvr>
                                      <p:to>
                                        <p:strVal val="visible"/>
                                      </p:to>
                                    </p:set>
                                    <p:anim calcmode="lin" valueType="num">
                                      <p:cBhvr additive="base">
                                        <p:cTn id="31" dur="1000" fill="hold"/>
                                        <p:tgtEl>
                                          <p:spTgt spid="111638"/>
                                        </p:tgtEl>
                                        <p:attrNameLst>
                                          <p:attrName>ppt_x</p:attrName>
                                        </p:attrNameLst>
                                      </p:cBhvr>
                                      <p:tavLst>
                                        <p:tav tm="0">
                                          <p:val>
                                            <p:strVal val="0-#ppt_w/2"/>
                                          </p:val>
                                        </p:tav>
                                        <p:tav tm="100000">
                                          <p:val>
                                            <p:strVal val="#ppt_x"/>
                                          </p:val>
                                        </p:tav>
                                      </p:tavLst>
                                    </p:anim>
                                    <p:anim calcmode="lin" valueType="num">
                                      <p:cBhvr additive="base">
                                        <p:cTn id="32" dur="1000" fill="hold"/>
                                        <p:tgtEl>
                                          <p:spTgt spid="11163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1639"/>
                                        </p:tgtEl>
                                        <p:attrNameLst>
                                          <p:attrName>style.visibility</p:attrName>
                                        </p:attrNameLst>
                                      </p:cBhvr>
                                      <p:to>
                                        <p:strVal val="visible"/>
                                      </p:to>
                                    </p:set>
                                    <p:anim calcmode="lin" valueType="num">
                                      <p:cBhvr additive="base">
                                        <p:cTn id="37" dur="1000" fill="hold"/>
                                        <p:tgtEl>
                                          <p:spTgt spid="111639"/>
                                        </p:tgtEl>
                                        <p:attrNameLst>
                                          <p:attrName>ppt_x</p:attrName>
                                        </p:attrNameLst>
                                      </p:cBhvr>
                                      <p:tavLst>
                                        <p:tav tm="0">
                                          <p:val>
                                            <p:strVal val="0-#ppt_w/2"/>
                                          </p:val>
                                        </p:tav>
                                        <p:tav tm="100000">
                                          <p:val>
                                            <p:strVal val="#ppt_x"/>
                                          </p:val>
                                        </p:tav>
                                      </p:tavLst>
                                    </p:anim>
                                    <p:anim calcmode="lin" valueType="num">
                                      <p:cBhvr additive="base">
                                        <p:cTn id="38" dur="1000" fill="hold"/>
                                        <p:tgtEl>
                                          <p:spTgt spid="1116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33" grpId="0" animBg="1"/>
      <p:bldP spid="111635" grpId="0" animBg="1"/>
      <p:bldP spid="111636" grpId="0" animBg="1"/>
      <p:bldP spid="111637" grpId="0" animBg="1"/>
      <p:bldP spid="111638" grpId="0" animBg="1"/>
      <p:bldP spid="11163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AF5737E-BC07-1337-0D57-345F7413CFCB}"/>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ABDA0B55-A014-394E-2903-F25B4D2E290A}"/>
              </a:ext>
            </a:extLst>
          </p:cNvPr>
          <p:cNvSpPr>
            <a:spLocks noGrp="1"/>
          </p:cNvSpPr>
          <p:nvPr>
            <p:ph type="sldNum" sz="quarter" idx="11"/>
          </p:nvPr>
        </p:nvSpPr>
        <p:spPr/>
        <p:txBody>
          <a:bodyPr/>
          <a:lstStyle/>
          <a:p>
            <a:r>
              <a:rPr lang="zh-CN" altLang="en-US"/>
              <a:t> </a:t>
            </a:r>
            <a:r>
              <a:rPr lang="en-US" altLang="zh-CN"/>
              <a:t>- </a:t>
            </a:r>
            <a:fld id="{0DA87BCB-74EF-4C15-97A9-BFECCD4697C4}" type="slidenum">
              <a:rPr lang="en-US" altLang="zh-CN" sz="800"/>
              <a:pPr/>
              <a:t>41</a:t>
            </a:fld>
            <a:endParaRPr lang="en-US" altLang="zh-CN" sz="800"/>
          </a:p>
        </p:txBody>
      </p:sp>
      <p:sp>
        <p:nvSpPr>
          <p:cNvPr id="115714" name="Rectangle 2">
            <a:extLst>
              <a:ext uri="{FF2B5EF4-FFF2-40B4-BE49-F238E27FC236}">
                <a16:creationId xmlns:a16="http://schemas.microsoft.com/office/drawing/2014/main" id="{9E0AEDA2-1975-D058-7348-87BA25AB4D7B}"/>
              </a:ext>
            </a:extLst>
          </p:cNvPr>
          <p:cNvSpPr>
            <a:spLocks noGrp="1" noChangeArrowheads="1"/>
          </p:cNvSpPr>
          <p:nvPr>
            <p:ph type="title"/>
          </p:nvPr>
        </p:nvSpPr>
        <p:spPr/>
        <p:txBody>
          <a:bodyPr/>
          <a:lstStyle/>
          <a:p>
            <a:r>
              <a:rPr lang="en-US" altLang="zh-CN">
                <a:ea typeface="宋体" panose="02010600030101010101" pitchFamily="2" charset="-122"/>
              </a:rPr>
              <a:t>Two-Way CHAP Authentication</a:t>
            </a:r>
          </a:p>
        </p:txBody>
      </p:sp>
      <p:sp>
        <p:nvSpPr>
          <p:cNvPr id="115718" name="AutoShape 6">
            <a:extLst>
              <a:ext uri="{FF2B5EF4-FFF2-40B4-BE49-F238E27FC236}">
                <a16:creationId xmlns:a16="http://schemas.microsoft.com/office/drawing/2014/main" id="{A38E9C0E-3A23-63B3-CC35-D67A35B78AC9}"/>
              </a:ext>
            </a:extLst>
          </p:cNvPr>
          <p:cNvSpPr>
            <a:spLocks noChangeArrowheads="1"/>
          </p:cNvSpPr>
          <p:nvPr/>
        </p:nvSpPr>
        <p:spPr bwMode="auto">
          <a:xfrm>
            <a:off x="2819400" y="2895600"/>
            <a:ext cx="3733800" cy="685800"/>
          </a:xfrm>
          <a:prstGeom prst="rightArrow">
            <a:avLst>
              <a:gd name="adj1" fmla="val 50000"/>
              <a:gd name="adj2" fmla="val 82398"/>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2.</a:t>
            </a:r>
            <a:r>
              <a:rPr lang="en-US" altLang="zh-CN" sz="1400">
                <a:ea typeface="宋体" panose="02010600030101010101" pitchFamily="2" charset="-122"/>
              </a:rPr>
              <a:t> CHAP Challenge sent to Initiator</a:t>
            </a:r>
          </a:p>
        </p:txBody>
      </p:sp>
      <p:sp>
        <p:nvSpPr>
          <p:cNvPr id="115719" name="Text Box 7">
            <a:extLst>
              <a:ext uri="{FF2B5EF4-FFF2-40B4-BE49-F238E27FC236}">
                <a16:creationId xmlns:a16="http://schemas.microsoft.com/office/drawing/2014/main" id="{2AA105B2-355D-B138-3BAE-219D626529B5}"/>
              </a:ext>
            </a:extLst>
          </p:cNvPr>
          <p:cNvSpPr txBox="1">
            <a:spLocks noChangeArrowheads="1"/>
          </p:cNvSpPr>
          <p:nvPr/>
        </p:nvSpPr>
        <p:spPr bwMode="auto">
          <a:xfrm>
            <a:off x="2057400" y="1447800"/>
            <a:ext cx="4786313" cy="439738"/>
          </a:xfrm>
          <a:prstGeom prst="rect">
            <a:avLst/>
          </a:prstGeom>
          <a:solidFill>
            <a:srgbClr val="FFCC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a:ea typeface="宋体" panose="02010600030101010101" pitchFamily="2" charset="-122"/>
              </a:rPr>
              <a:t>Two-Way CHAP Authentication</a:t>
            </a:r>
          </a:p>
        </p:txBody>
      </p:sp>
      <p:sp>
        <p:nvSpPr>
          <p:cNvPr id="115720" name="AutoShape 8">
            <a:extLst>
              <a:ext uri="{FF2B5EF4-FFF2-40B4-BE49-F238E27FC236}">
                <a16:creationId xmlns:a16="http://schemas.microsoft.com/office/drawing/2014/main" id="{53183678-C8F4-B4A4-C4B9-5854278DEBCD}"/>
              </a:ext>
            </a:extLst>
          </p:cNvPr>
          <p:cNvSpPr>
            <a:spLocks noChangeArrowheads="1"/>
          </p:cNvSpPr>
          <p:nvPr/>
        </p:nvSpPr>
        <p:spPr bwMode="auto">
          <a:xfrm>
            <a:off x="2743200" y="2209800"/>
            <a:ext cx="3657600" cy="685800"/>
          </a:xfrm>
          <a:prstGeom prst="leftArrow">
            <a:avLst>
              <a:gd name="adj1" fmla="val 45833"/>
              <a:gd name="adj2" fmla="val 83802"/>
            </a:avLst>
          </a:prstGeom>
          <a:solidFill>
            <a:srgbClr val="00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1.</a:t>
            </a:r>
            <a:r>
              <a:rPr lang="en-US" altLang="zh-CN" sz="1400">
                <a:ea typeface="宋体" panose="02010600030101010101" pitchFamily="2" charset="-122"/>
              </a:rPr>
              <a:t> Initiates a logon to the target</a:t>
            </a:r>
          </a:p>
        </p:txBody>
      </p:sp>
      <p:sp>
        <p:nvSpPr>
          <p:cNvPr id="115721" name="Text Box 9">
            <a:extLst>
              <a:ext uri="{FF2B5EF4-FFF2-40B4-BE49-F238E27FC236}">
                <a16:creationId xmlns:a16="http://schemas.microsoft.com/office/drawing/2014/main" id="{8DD4B7E9-6B4E-CDCE-F5B9-2319EF296275}"/>
              </a:ext>
            </a:extLst>
          </p:cNvPr>
          <p:cNvSpPr txBox="1">
            <a:spLocks noChangeArrowheads="1"/>
          </p:cNvSpPr>
          <p:nvPr/>
        </p:nvSpPr>
        <p:spPr bwMode="auto">
          <a:xfrm>
            <a:off x="4953000" y="3733800"/>
            <a:ext cx="1882775" cy="660400"/>
          </a:xfrm>
          <a:prstGeom prst="rect">
            <a:avLst/>
          </a:prstGeom>
          <a:solidFill>
            <a:srgbClr val="00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5000"/>
              </a:lnSpc>
              <a:spcBef>
                <a:spcPct val="25000"/>
              </a:spcBef>
              <a:buClr>
                <a:srgbClr val="4A73D0"/>
              </a:buClr>
              <a:buSzPct val="85000"/>
              <a:buFont typeface="Times New Roman" panose="02020603050405020304" pitchFamily="18" charset="0"/>
              <a:buNone/>
            </a:pPr>
            <a:r>
              <a:rPr lang="en-US" altLang="zh-CN" sz="1200" b="1">
                <a:ea typeface="宋体" panose="02010600030101010101" pitchFamily="2" charset="-122"/>
              </a:rPr>
              <a:t>3.</a:t>
            </a:r>
            <a:r>
              <a:rPr lang="en-US" altLang="zh-CN" sz="1200">
                <a:ea typeface="宋体" panose="02010600030101010101" pitchFamily="2" charset="-122"/>
              </a:rPr>
              <a:t> Takes shared secret</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calculates value using</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 a one-way hash function</a:t>
            </a:r>
          </a:p>
        </p:txBody>
      </p:sp>
      <p:sp>
        <p:nvSpPr>
          <p:cNvPr id="115722" name="AutoShape 10">
            <a:extLst>
              <a:ext uri="{FF2B5EF4-FFF2-40B4-BE49-F238E27FC236}">
                <a16:creationId xmlns:a16="http://schemas.microsoft.com/office/drawing/2014/main" id="{12891246-CBBC-5DE5-5CDB-984B65F136A2}"/>
              </a:ext>
            </a:extLst>
          </p:cNvPr>
          <p:cNvSpPr>
            <a:spLocks noChangeArrowheads="1"/>
          </p:cNvSpPr>
          <p:nvPr/>
        </p:nvSpPr>
        <p:spPr bwMode="auto">
          <a:xfrm>
            <a:off x="2819400" y="4495800"/>
            <a:ext cx="3657600" cy="685800"/>
          </a:xfrm>
          <a:prstGeom prst="leftArrow">
            <a:avLst>
              <a:gd name="adj1" fmla="val 45833"/>
              <a:gd name="adj2" fmla="val 83802"/>
            </a:avLst>
          </a:prstGeom>
          <a:solidFill>
            <a:srgbClr val="00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4. </a:t>
            </a:r>
            <a:r>
              <a:rPr lang="en-US" altLang="zh-CN" sz="1400">
                <a:ea typeface="宋体" panose="02010600030101010101" pitchFamily="2" charset="-122"/>
              </a:rPr>
              <a:t>Returns hash value to target</a:t>
            </a:r>
          </a:p>
        </p:txBody>
      </p:sp>
      <p:sp>
        <p:nvSpPr>
          <p:cNvPr id="115723" name="Text Box 11">
            <a:extLst>
              <a:ext uri="{FF2B5EF4-FFF2-40B4-BE49-F238E27FC236}">
                <a16:creationId xmlns:a16="http://schemas.microsoft.com/office/drawing/2014/main" id="{8E0BB70B-3D23-8BB3-FD32-66D997AA17B7}"/>
              </a:ext>
            </a:extLst>
          </p:cNvPr>
          <p:cNvSpPr txBox="1">
            <a:spLocks noChangeArrowheads="1"/>
          </p:cNvSpPr>
          <p:nvPr/>
        </p:nvSpPr>
        <p:spPr bwMode="auto">
          <a:xfrm>
            <a:off x="2286000" y="5257800"/>
            <a:ext cx="2744788" cy="660400"/>
          </a:xfrm>
          <a:prstGeom prst="rect">
            <a:avLst/>
          </a:prstGeom>
          <a:solidFill>
            <a:srgbClr val="CCFFFF">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5000"/>
              </a:lnSpc>
              <a:spcBef>
                <a:spcPct val="25000"/>
              </a:spcBef>
              <a:buClr>
                <a:srgbClr val="4A73D0"/>
              </a:buClr>
              <a:buSzPct val="85000"/>
              <a:buFont typeface="Times New Roman" panose="02020603050405020304" pitchFamily="18" charset="0"/>
              <a:buNone/>
            </a:pPr>
            <a:r>
              <a:rPr lang="en-US" altLang="zh-CN" sz="1200" b="1">
                <a:ea typeface="宋体" panose="02010600030101010101" pitchFamily="2" charset="-122"/>
              </a:rPr>
              <a:t>5. </a:t>
            </a:r>
            <a:r>
              <a:rPr lang="en-US" altLang="zh-CN" sz="1200">
                <a:ea typeface="宋体" panose="02010600030101010101" pitchFamily="2" charset="-122"/>
              </a:rPr>
              <a:t>Computes the expected hash value</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from the shared secret. Compares</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to value received from initiator.</a:t>
            </a:r>
          </a:p>
        </p:txBody>
      </p:sp>
      <p:sp>
        <p:nvSpPr>
          <p:cNvPr id="115724" name="AutoShape 12">
            <a:extLst>
              <a:ext uri="{FF2B5EF4-FFF2-40B4-BE49-F238E27FC236}">
                <a16:creationId xmlns:a16="http://schemas.microsoft.com/office/drawing/2014/main" id="{CC106DD9-7321-2955-F37A-E6ABA9F39C63}"/>
              </a:ext>
            </a:extLst>
          </p:cNvPr>
          <p:cNvSpPr>
            <a:spLocks noChangeArrowheads="1"/>
          </p:cNvSpPr>
          <p:nvPr/>
        </p:nvSpPr>
        <p:spPr bwMode="auto">
          <a:xfrm>
            <a:off x="2667000" y="6019800"/>
            <a:ext cx="4191000" cy="685800"/>
          </a:xfrm>
          <a:prstGeom prst="rightArrow">
            <a:avLst>
              <a:gd name="adj1" fmla="val 50000"/>
              <a:gd name="adj2" fmla="val 92487"/>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6. </a:t>
            </a:r>
            <a:r>
              <a:rPr lang="en-US" altLang="zh-CN" sz="1400">
                <a:ea typeface="宋体" panose="02010600030101010101" pitchFamily="2" charset="-122"/>
              </a:rPr>
              <a:t>If values match, authentication acknowledged</a:t>
            </a:r>
          </a:p>
        </p:txBody>
      </p:sp>
      <p:sp>
        <p:nvSpPr>
          <p:cNvPr id="115727" name="AutoShape 15">
            <a:extLst>
              <a:ext uri="{FF2B5EF4-FFF2-40B4-BE49-F238E27FC236}">
                <a16:creationId xmlns:a16="http://schemas.microsoft.com/office/drawing/2014/main" id="{3B57BC35-7E28-7D27-0BE8-83F93525FA24}"/>
              </a:ext>
            </a:extLst>
          </p:cNvPr>
          <p:cNvSpPr>
            <a:spLocks noChangeArrowheads="1"/>
          </p:cNvSpPr>
          <p:nvPr/>
        </p:nvSpPr>
        <p:spPr bwMode="auto">
          <a:xfrm>
            <a:off x="2895600" y="2362200"/>
            <a:ext cx="3657600" cy="685800"/>
          </a:xfrm>
          <a:prstGeom prst="leftArrow">
            <a:avLst>
              <a:gd name="adj1" fmla="val 45833"/>
              <a:gd name="adj2" fmla="val 83802"/>
            </a:avLst>
          </a:prstGeom>
          <a:solidFill>
            <a:srgbClr val="00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7.</a:t>
            </a:r>
            <a:r>
              <a:rPr lang="en-US" altLang="zh-CN" sz="1400">
                <a:ea typeface="宋体" panose="02010600030101010101" pitchFamily="2" charset="-122"/>
              </a:rPr>
              <a:t> CHAP Challenge sent to Target</a:t>
            </a:r>
          </a:p>
        </p:txBody>
      </p:sp>
      <p:sp>
        <p:nvSpPr>
          <p:cNvPr id="115728" name="AutoShape 16">
            <a:extLst>
              <a:ext uri="{FF2B5EF4-FFF2-40B4-BE49-F238E27FC236}">
                <a16:creationId xmlns:a16="http://schemas.microsoft.com/office/drawing/2014/main" id="{08EF2030-111C-C913-5D54-74E624ACB112}"/>
              </a:ext>
            </a:extLst>
          </p:cNvPr>
          <p:cNvSpPr>
            <a:spLocks noChangeArrowheads="1"/>
          </p:cNvSpPr>
          <p:nvPr/>
        </p:nvSpPr>
        <p:spPr bwMode="auto">
          <a:xfrm>
            <a:off x="2476500" y="4022725"/>
            <a:ext cx="3733800" cy="685800"/>
          </a:xfrm>
          <a:prstGeom prst="rightArrow">
            <a:avLst>
              <a:gd name="adj1" fmla="val 50000"/>
              <a:gd name="adj2" fmla="val 82398"/>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9.</a:t>
            </a:r>
            <a:r>
              <a:rPr lang="en-US" altLang="zh-CN" sz="1400">
                <a:ea typeface="宋体" panose="02010600030101010101" pitchFamily="2" charset="-122"/>
              </a:rPr>
              <a:t> Returns hash value to Initiator</a:t>
            </a:r>
          </a:p>
        </p:txBody>
      </p:sp>
      <p:sp>
        <p:nvSpPr>
          <p:cNvPr id="115729" name="Text Box 17">
            <a:extLst>
              <a:ext uri="{FF2B5EF4-FFF2-40B4-BE49-F238E27FC236}">
                <a16:creationId xmlns:a16="http://schemas.microsoft.com/office/drawing/2014/main" id="{0F758E76-ACDB-9D4E-98BB-96BF1A2874D4}"/>
              </a:ext>
            </a:extLst>
          </p:cNvPr>
          <p:cNvSpPr txBox="1">
            <a:spLocks noChangeArrowheads="1"/>
          </p:cNvSpPr>
          <p:nvPr/>
        </p:nvSpPr>
        <p:spPr bwMode="auto">
          <a:xfrm>
            <a:off x="2362200" y="3421063"/>
            <a:ext cx="1882775" cy="660400"/>
          </a:xfrm>
          <a:prstGeom prst="rect">
            <a:avLst/>
          </a:prstGeom>
          <a:solidFill>
            <a:srgbClr val="00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5000"/>
              </a:lnSpc>
              <a:spcBef>
                <a:spcPct val="25000"/>
              </a:spcBef>
              <a:buClr>
                <a:srgbClr val="4A73D0"/>
              </a:buClr>
              <a:buSzPct val="85000"/>
              <a:buFont typeface="Times New Roman" panose="02020603050405020304" pitchFamily="18" charset="0"/>
              <a:buNone/>
            </a:pPr>
            <a:r>
              <a:rPr lang="en-US" altLang="zh-CN" sz="1200" b="1">
                <a:ea typeface="宋体" panose="02010600030101010101" pitchFamily="2" charset="-122"/>
              </a:rPr>
              <a:t>8.</a:t>
            </a:r>
            <a:r>
              <a:rPr lang="en-US" altLang="zh-CN" sz="1200">
                <a:ea typeface="宋体" panose="02010600030101010101" pitchFamily="2" charset="-122"/>
              </a:rPr>
              <a:t> Takes shared secret</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calculates value using</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 a one-way hash function</a:t>
            </a:r>
          </a:p>
        </p:txBody>
      </p:sp>
      <p:sp>
        <p:nvSpPr>
          <p:cNvPr id="115730" name="AutoShape 18">
            <a:extLst>
              <a:ext uri="{FF2B5EF4-FFF2-40B4-BE49-F238E27FC236}">
                <a16:creationId xmlns:a16="http://schemas.microsoft.com/office/drawing/2014/main" id="{8292F880-337C-A55D-7489-00AEF64E0864}"/>
              </a:ext>
            </a:extLst>
          </p:cNvPr>
          <p:cNvSpPr>
            <a:spLocks noChangeArrowheads="1"/>
          </p:cNvSpPr>
          <p:nvPr/>
        </p:nvSpPr>
        <p:spPr bwMode="auto">
          <a:xfrm>
            <a:off x="2520950" y="5649913"/>
            <a:ext cx="4295775" cy="685800"/>
          </a:xfrm>
          <a:prstGeom prst="leftArrow">
            <a:avLst>
              <a:gd name="adj1" fmla="val 45833"/>
              <a:gd name="adj2" fmla="val 98424"/>
            </a:avLst>
          </a:prstGeom>
          <a:solidFill>
            <a:srgbClr val="00FF00">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a:ea typeface="宋体" panose="02010600030101010101" pitchFamily="2" charset="-122"/>
              </a:rPr>
              <a:t>11. </a:t>
            </a:r>
            <a:r>
              <a:rPr lang="en-US" altLang="zh-CN" sz="1400">
                <a:ea typeface="宋体" panose="02010600030101010101" pitchFamily="2" charset="-122"/>
              </a:rPr>
              <a:t>If values match, authentication acknowledged</a:t>
            </a:r>
          </a:p>
        </p:txBody>
      </p:sp>
      <p:sp>
        <p:nvSpPr>
          <p:cNvPr id="115731" name="Text Box 19">
            <a:extLst>
              <a:ext uri="{FF2B5EF4-FFF2-40B4-BE49-F238E27FC236}">
                <a16:creationId xmlns:a16="http://schemas.microsoft.com/office/drawing/2014/main" id="{99D1F206-AAC6-229F-DF19-A1FA327F1C37}"/>
              </a:ext>
            </a:extLst>
          </p:cNvPr>
          <p:cNvSpPr txBox="1">
            <a:spLocks noChangeArrowheads="1"/>
          </p:cNvSpPr>
          <p:nvPr/>
        </p:nvSpPr>
        <p:spPr bwMode="auto">
          <a:xfrm>
            <a:off x="5283200" y="5149850"/>
            <a:ext cx="2828925" cy="660400"/>
          </a:xfrm>
          <a:prstGeom prst="rect">
            <a:avLst/>
          </a:prstGeom>
          <a:solidFill>
            <a:srgbClr val="CCFFFF">
              <a:alpha val="50000"/>
            </a:srgbClr>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85000"/>
              </a:lnSpc>
              <a:spcBef>
                <a:spcPct val="25000"/>
              </a:spcBef>
              <a:buClr>
                <a:srgbClr val="4A73D0"/>
              </a:buClr>
              <a:buSzPct val="85000"/>
              <a:buFont typeface="Times New Roman" panose="02020603050405020304" pitchFamily="18" charset="0"/>
              <a:buNone/>
            </a:pPr>
            <a:r>
              <a:rPr lang="en-US" altLang="zh-CN" sz="1200" b="1">
                <a:ea typeface="宋体" panose="02010600030101010101" pitchFamily="2" charset="-122"/>
              </a:rPr>
              <a:t>10. </a:t>
            </a:r>
            <a:r>
              <a:rPr lang="en-US" altLang="zh-CN" sz="1200">
                <a:ea typeface="宋体" panose="02010600030101010101" pitchFamily="2" charset="-122"/>
              </a:rPr>
              <a:t>Computes the expected hash value</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from the shared secret. Compares</a:t>
            </a:r>
          </a:p>
          <a:p>
            <a:pPr>
              <a:lnSpc>
                <a:spcPct val="85000"/>
              </a:lnSpc>
              <a:spcBef>
                <a:spcPct val="25000"/>
              </a:spcBef>
              <a:buClr>
                <a:srgbClr val="4A73D0"/>
              </a:buClr>
              <a:buSzPct val="85000"/>
              <a:buFont typeface="Times New Roman" panose="02020603050405020304" pitchFamily="18" charset="0"/>
              <a:buNone/>
            </a:pPr>
            <a:r>
              <a:rPr lang="en-US" altLang="zh-CN" sz="1200">
                <a:ea typeface="宋体" panose="02010600030101010101" pitchFamily="2" charset="-122"/>
              </a:rPr>
              <a:t>to value received from target.</a:t>
            </a:r>
          </a:p>
        </p:txBody>
      </p:sp>
      <p:sp>
        <p:nvSpPr>
          <p:cNvPr id="115732" name="Text Box 20">
            <a:extLst>
              <a:ext uri="{FF2B5EF4-FFF2-40B4-BE49-F238E27FC236}">
                <a16:creationId xmlns:a16="http://schemas.microsoft.com/office/drawing/2014/main" id="{069A15C1-1F3A-D8AC-C8F6-CFB72679B9EF}"/>
              </a:ext>
            </a:extLst>
          </p:cNvPr>
          <p:cNvSpPr txBox="1">
            <a:spLocks noChangeArrowheads="1"/>
          </p:cNvSpPr>
          <p:nvPr/>
        </p:nvSpPr>
        <p:spPr bwMode="auto">
          <a:xfrm>
            <a:off x="838200" y="2851150"/>
            <a:ext cx="725488"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i="1">
                <a:ea typeface="宋体" panose="02010600030101010101" pitchFamily="2" charset="-122"/>
              </a:rPr>
              <a:t>Target</a:t>
            </a:r>
          </a:p>
        </p:txBody>
      </p:sp>
      <p:sp>
        <p:nvSpPr>
          <p:cNvPr id="115733" name="Text Box 21">
            <a:extLst>
              <a:ext uri="{FF2B5EF4-FFF2-40B4-BE49-F238E27FC236}">
                <a16:creationId xmlns:a16="http://schemas.microsoft.com/office/drawing/2014/main" id="{B510E254-AD5C-ABA0-5D59-F6F43024FAC3}"/>
              </a:ext>
            </a:extLst>
          </p:cNvPr>
          <p:cNvSpPr txBox="1">
            <a:spLocks noChangeArrowheads="1"/>
          </p:cNvSpPr>
          <p:nvPr/>
        </p:nvSpPr>
        <p:spPr bwMode="auto">
          <a:xfrm>
            <a:off x="7959725" y="3276600"/>
            <a:ext cx="833438"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95300" indent="-495300" algn="l">
              <a:spcBef>
                <a:spcPct val="0"/>
              </a:spcBef>
              <a:defRPr>
                <a:solidFill>
                  <a:schemeClr val="tx1"/>
                </a:solidFill>
                <a:latin typeface="Arial" panose="020B0604020202020204" pitchFamily="34" charset="0"/>
                <a:cs typeface="Arial" panose="020B0604020202020204" pitchFamily="34" charset="0"/>
              </a:defRPr>
            </a:lvl1pPr>
            <a:lvl2pPr algn="l">
              <a:spcBef>
                <a:spcPct val="0"/>
              </a:spcBef>
              <a:defRPr>
                <a:solidFill>
                  <a:schemeClr val="tx1"/>
                </a:solidFill>
                <a:latin typeface="Arial" panose="020B0604020202020204" pitchFamily="34" charset="0"/>
                <a:cs typeface="Arial" panose="020B0604020202020204" pitchFamily="34" charset="0"/>
              </a:defRPr>
            </a:lvl2pPr>
            <a:lvl3pPr algn="l">
              <a:spcBef>
                <a:spcPct val="0"/>
              </a:spcBef>
              <a:defRPr>
                <a:solidFill>
                  <a:schemeClr val="tx1"/>
                </a:solidFill>
                <a:latin typeface="Arial" panose="020B0604020202020204" pitchFamily="34" charset="0"/>
                <a:cs typeface="Arial" panose="020B0604020202020204" pitchFamily="34" charset="0"/>
              </a:defRPr>
            </a:lvl3pPr>
            <a:lvl4pPr algn="l">
              <a:spcBef>
                <a:spcPct val="0"/>
              </a:spcBef>
              <a:defRPr>
                <a:solidFill>
                  <a:schemeClr val="tx1"/>
                </a:solidFill>
                <a:latin typeface="Arial" panose="020B0604020202020204" pitchFamily="34" charset="0"/>
                <a:cs typeface="Arial" panose="020B0604020202020204" pitchFamily="34" charset="0"/>
              </a:defRPr>
            </a:lvl4pPr>
            <a:lvl5pPr algn="l">
              <a:spcBef>
                <a:spcPct val="0"/>
              </a:spcBef>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85000"/>
              </a:lnSpc>
              <a:spcBef>
                <a:spcPct val="25000"/>
              </a:spcBef>
              <a:buClr>
                <a:srgbClr val="4A73D0"/>
              </a:buClr>
              <a:buSzPct val="85000"/>
              <a:buFont typeface="Times New Roman" panose="02020603050405020304" pitchFamily="18" charset="0"/>
              <a:buNone/>
            </a:pPr>
            <a:r>
              <a:rPr lang="en-US" altLang="zh-CN" sz="1400" b="1" i="1">
                <a:ea typeface="宋体" panose="02010600030101010101" pitchFamily="2" charset="-122"/>
              </a:rPr>
              <a:t>Initiator</a:t>
            </a:r>
          </a:p>
        </p:txBody>
      </p:sp>
      <p:pic>
        <p:nvPicPr>
          <p:cNvPr id="115734" name="Picture 22">
            <a:extLst>
              <a:ext uri="{FF2B5EF4-FFF2-40B4-BE49-F238E27FC236}">
                <a16:creationId xmlns:a16="http://schemas.microsoft.com/office/drawing/2014/main" id="{F593CD4C-662A-46F1-B575-4E86AEC3D5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200400"/>
            <a:ext cx="1882775"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15735" name="Picture 23">
            <a:extLst>
              <a:ext uri="{FF2B5EF4-FFF2-40B4-BE49-F238E27FC236}">
                <a16:creationId xmlns:a16="http://schemas.microsoft.com/office/drawing/2014/main" id="{471D9A24-EB0E-4F23-F058-1B421D9FC4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74000" y="3657600"/>
            <a:ext cx="955675" cy="1574800"/>
          </a:xfrm>
          <a:prstGeom prst="rect">
            <a:avLst/>
          </a:prstGeom>
          <a:noFill/>
          <a:extLst>
            <a:ext uri="{909E8E84-426E-40DD-AFC4-6F175D3DCCD1}">
              <a14:hiddenFill xmlns:a14="http://schemas.microsoft.com/office/drawing/2010/main">
                <a:solidFill>
                  <a:srgbClr val="FFFFFF"/>
                </a:solidFill>
              </a14:hiddenFill>
            </a:ext>
          </a:extLst>
        </p:spPr>
      </p:pic>
      <p:sp>
        <p:nvSpPr>
          <p:cNvPr id="115736" name="AutoShape 24">
            <a:extLst>
              <a:ext uri="{FF2B5EF4-FFF2-40B4-BE49-F238E27FC236}">
                <a16:creationId xmlns:a16="http://schemas.microsoft.com/office/drawing/2014/main" id="{3F271569-00A5-F659-FDB2-3C73261192D2}"/>
              </a:ext>
            </a:extLst>
          </p:cNvPr>
          <p:cNvSpPr>
            <a:spLocks noChangeArrowheads="1"/>
          </p:cNvSpPr>
          <p:nvPr/>
        </p:nvSpPr>
        <p:spPr bwMode="auto">
          <a:xfrm>
            <a:off x="7632700" y="1981200"/>
            <a:ext cx="1447800" cy="4648200"/>
          </a:xfrm>
          <a:prstGeom prst="roundRect">
            <a:avLst>
              <a:gd name="adj" fmla="val 16667"/>
            </a:avLst>
          </a:prstGeom>
          <a:noFill/>
          <a:ln w="25400" cap="rnd" algn="ctr">
            <a:solidFill>
              <a:srgbClr val="000000"/>
            </a:solidFill>
            <a:prstDash val="sysDot"/>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115737" name="AutoShape 25">
            <a:extLst>
              <a:ext uri="{FF2B5EF4-FFF2-40B4-BE49-F238E27FC236}">
                <a16:creationId xmlns:a16="http://schemas.microsoft.com/office/drawing/2014/main" id="{46F4B22F-3F03-977A-F898-7BCE3CDB5B75}"/>
              </a:ext>
            </a:extLst>
          </p:cNvPr>
          <p:cNvSpPr>
            <a:spLocks noChangeArrowheads="1"/>
          </p:cNvSpPr>
          <p:nvPr/>
        </p:nvSpPr>
        <p:spPr bwMode="auto">
          <a:xfrm>
            <a:off x="152400" y="1981200"/>
            <a:ext cx="2057400" cy="4648200"/>
          </a:xfrm>
          <a:prstGeom prst="roundRect">
            <a:avLst>
              <a:gd name="adj" fmla="val 16667"/>
            </a:avLst>
          </a:prstGeom>
          <a:noFill/>
          <a:ln w="25400" cap="rnd" algn="ctr">
            <a:solidFill>
              <a:srgbClr val="000000"/>
            </a:solidFill>
            <a:prstDash val="sysDot"/>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5720"/>
                                        </p:tgtEl>
                                        <p:attrNameLst>
                                          <p:attrName>style.visibility</p:attrName>
                                        </p:attrNameLst>
                                      </p:cBhvr>
                                      <p:to>
                                        <p:strVal val="visible"/>
                                      </p:to>
                                    </p:set>
                                    <p:anim calcmode="lin" valueType="num">
                                      <p:cBhvr additive="base">
                                        <p:cTn id="7" dur="1000" fill="hold"/>
                                        <p:tgtEl>
                                          <p:spTgt spid="115720"/>
                                        </p:tgtEl>
                                        <p:attrNameLst>
                                          <p:attrName>ppt_x</p:attrName>
                                        </p:attrNameLst>
                                      </p:cBhvr>
                                      <p:tavLst>
                                        <p:tav tm="0">
                                          <p:val>
                                            <p:strVal val="1+#ppt_w/2"/>
                                          </p:val>
                                        </p:tav>
                                        <p:tav tm="100000">
                                          <p:val>
                                            <p:strVal val="#ppt_x"/>
                                          </p:val>
                                        </p:tav>
                                      </p:tavLst>
                                    </p:anim>
                                    <p:anim calcmode="lin" valueType="num">
                                      <p:cBhvr additive="base">
                                        <p:cTn id="8" dur="1000" fill="hold"/>
                                        <p:tgtEl>
                                          <p:spTgt spid="11572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5718"/>
                                        </p:tgtEl>
                                        <p:attrNameLst>
                                          <p:attrName>style.visibility</p:attrName>
                                        </p:attrNameLst>
                                      </p:cBhvr>
                                      <p:to>
                                        <p:strVal val="visible"/>
                                      </p:to>
                                    </p:set>
                                    <p:anim calcmode="lin" valueType="num">
                                      <p:cBhvr additive="base">
                                        <p:cTn id="13" dur="1000" fill="hold"/>
                                        <p:tgtEl>
                                          <p:spTgt spid="115718"/>
                                        </p:tgtEl>
                                        <p:attrNameLst>
                                          <p:attrName>ppt_x</p:attrName>
                                        </p:attrNameLst>
                                      </p:cBhvr>
                                      <p:tavLst>
                                        <p:tav tm="0">
                                          <p:val>
                                            <p:strVal val="0-#ppt_w/2"/>
                                          </p:val>
                                        </p:tav>
                                        <p:tav tm="100000">
                                          <p:val>
                                            <p:strVal val="#ppt_x"/>
                                          </p:val>
                                        </p:tav>
                                      </p:tavLst>
                                    </p:anim>
                                    <p:anim calcmode="lin" valueType="num">
                                      <p:cBhvr additive="base">
                                        <p:cTn id="14" dur="1000" fill="hold"/>
                                        <p:tgtEl>
                                          <p:spTgt spid="11571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15721"/>
                                        </p:tgtEl>
                                        <p:attrNameLst>
                                          <p:attrName>style.visibility</p:attrName>
                                        </p:attrNameLst>
                                      </p:cBhvr>
                                      <p:to>
                                        <p:strVal val="visible"/>
                                      </p:to>
                                    </p:set>
                                    <p:anim calcmode="lin" valueType="num">
                                      <p:cBhvr additive="base">
                                        <p:cTn id="19" dur="1000" fill="hold"/>
                                        <p:tgtEl>
                                          <p:spTgt spid="115721"/>
                                        </p:tgtEl>
                                        <p:attrNameLst>
                                          <p:attrName>ppt_x</p:attrName>
                                        </p:attrNameLst>
                                      </p:cBhvr>
                                      <p:tavLst>
                                        <p:tav tm="0">
                                          <p:val>
                                            <p:strVal val="1+#ppt_w/2"/>
                                          </p:val>
                                        </p:tav>
                                        <p:tav tm="100000">
                                          <p:val>
                                            <p:strVal val="#ppt_x"/>
                                          </p:val>
                                        </p:tav>
                                      </p:tavLst>
                                    </p:anim>
                                    <p:anim calcmode="lin" valueType="num">
                                      <p:cBhvr additive="base">
                                        <p:cTn id="20" dur="1000" fill="hold"/>
                                        <p:tgtEl>
                                          <p:spTgt spid="11572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5722"/>
                                        </p:tgtEl>
                                        <p:attrNameLst>
                                          <p:attrName>style.visibility</p:attrName>
                                        </p:attrNameLst>
                                      </p:cBhvr>
                                      <p:to>
                                        <p:strVal val="visible"/>
                                      </p:to>
                                    </p:set>
                                    <p:anim calcmode="lin" valueType="num">
                                      <p:cBhvr additive="base">
                                        <p:cTn id="25" dur="1000" fill="hold"/>
                                        <p:tgtEl>
                                          <p:spTgt spid="115722"/>
                                        </p:tgtEl>
                                        <p:attrNameLst>
                                          <p:attrName>ppt_x</p:attrName>
                                        </p:attrNameLst>
                                      </p:cBhvr>
                                      <p:tavLst>
                                        <p:tav tm="0">
                                          <p:val>
                                            <p:strVal val="1+#ppt_w/2"/>
                                          </p:val>
                                        </p:tav>
                                        <p:tav tm="100000">
                                          <p:val>
                                            <p:strVal val="#ppt_x"/>
                                          </p:val>
                                        </p:tav>
                                      </p:tavLst>
                                    </p:anim>
                                    <p:anim calcmode="lin" valueType="num">
                                      <p:cBhvr additive="base">
                                        <p:cTn id="26" dur="1000" fill="hold"/>
                                        <p:tgtEl>
                                          <p:spTgt spid="11572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5723"/>
                                        </p:tgtEl>
                                        <p:attrNameLst>
                                          <p:attrName>style.visibility</p:attrName>
                                        </p:attrNameLst>
                                      </p:cBhvr>
                                      <p:to>
                                        <p:strVal val="visible"/>
                                      </p:to>
                                    </p:set>
                                    <p:anim calcmode="lin" valueType="num">
                                      <p:cBhvr additive="base">
                                        <p:cTn id="31" dur="1000" fill="hold"/>
                                        <p:tgtEl>
                                          <p:spTgt spid="115723"/>
                                        </p:tgtEl>
                                        <p:attrNameLst>
                                          <p:attrName>ppt_x</p:attrName>
                                        </p:attrNameLst>
                                      </p:cBhvr>
                                      <p:tavLst>
                                        <p:tav tm="0">
                                          <p:val>
                                            <p:strVal val="0-#ppt_w/2"/>
                                          </p:val>
                                        </p:tav>
                                        <p:tav tm="100000">
                                          <p:val>
                                            <p:strVal val="#ppt_x"/>
                                          </p:val>
                                        </p:tav>
                                      </p:tavLst>
                                    </p:anim>
                                    <p:anim calcmode="lin" valueType="num">
                                      <p:cBhvr additive="base">
                                        <p:cTn id="32" dur="1000" fill="hold"/>
                                        <p:tgtEl>
                                          <p:spTgt spid="115723"/>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5724"/>
                                        </p:tgtEl>
                                        <p:attrNameLst>
                                          <p:attrName>style.visibility</p:attrName>
                                        </p:attrNameLst>
                                      </p:cBhvr>
                                      <p:to>
                                        <p:strVal val="visible"/>
                                      </p:to>
                                    </p:set>
                                    <p:anim calcmode="lin" valueType="num">
                                      <p:cBhvr additive="base">
                                        <p:cTn id="37" dur="1000" fill="hold"/>
                                        <p:tgtEl>
                                          <p:spTgt spid="115724"/>
                                        </p:tgtEl>
                                        <p:attrNameLst>
                                          <p:attrName>ppt_x</p:attrName>
                                        </p:attrNameLst>
                                      </p:cBhvr>
                                      <p:tavLst>
                                        <p:tav tm="0">
                                          <p:val>
                                            <p:strVal val="0-#ppt_w/2"/>
                                          </p:val>
                                        </p:tav>
                                        <p:tav tm="100000">
                                          <p:val>
                                            <p:strVal val="#ppt_x"/>
                                          </p:val>
                                        </p:tav>
                                      </p:tavLst>
                                    </p:anim>
                                    <p:anim calcmode="lin" valueType="num">
                                      <p:cBhvr additive="base">
                                        <p:cTn id="38" dur="1000" fill="hold"/>
                                        <p:tgtEl>
                                          <p:spTgt spid="115724"/>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xit" presetSubtype="4" fill="hold" grpId="1" nodeType="clickEffect">
                                  <p:stCondLst>
                                    <p:cond delay="0"/>
                                  </p:stCondLst>
                                  <p:childTnLst>
                                    <p:anim calcmode="lin" valueType="num">
                                      <p:cBhvr additive="base">
                                        <p:cTn id="42" dur="500"/>
                                        <p:tgtEl>
                                          <p:spTgt spid="115720"/>
                                        </p:tgtEl>
                                        <p:attrNameLst>
                                          <p:attrName>ppt_x</p:attrName>
                                        </p:attrNameLst>
                                      </p:cBhvr>
                                      <p:tavLst>
                                        <p:tav tm="0">
                                          <p:val>
                                            <p:strVal val="ppt_x"/>
                                          </p:val>
                                        </p:tav>
                                        <p:tav tm="100000">
                                          <p:val>
                                            <p:strVal val="ppt_x"/>
                                          </p:val>
                                        </p:tav>
                                      </p:tavLst>
                                    </p:anim>
                                    <p:anim calcmode="lin" valueType="num">
                                      <p:cBhvr additive="base">
                                        <p:cTn id="43" dur="500"/>
                                        <p:tgtEl>
                                          <p:spTgt spid="115720"/>
                                        </p:tgtEl>
                                        <p:attrNameLst>
                                          <p:attrName>ppt_y</p:attrName>
                                        </p:attrNameLst>
                                      </p:cBhvr>
                                      <p:tavLst>
                                        <p:tav tm="0">
                                          <p:val>
                                            <p:strVal val="ppt_y"/>
                                          </p:val>
                                        </p:tav>
                                        <p:tav tm="100000">
                                          <p:val>
                                            <p:strVal val="1+ppt_h/2"/>
                                          </p:val>
                                        </p:tav>
                                      </p:tavLst>
                                    </p:anim>
                                    <p:set>
                                      <p:cBhvr>
                                        <p:cTn id="44" dur="1" fill="hold">
                                          <p:stCondLst>
                                            <p:cond delay="499"/>
                                          </p:stCondLst>
                                        </p:cTn>
                                        <p:tgtEl>
                                          <p:spTgt spid="115720"/>
                                        </p:tgtEl>
                                        <p:attrNameLst>
                                          <p:attrName>style.visibility</p:attrName>
                                        </p:attrNameLst>
                                      </p:cBhvr>
                                      <p:to>
                                        <p:strVal val="hidden"/>
                                      </p:to>
                                    </p:set>
                                  </p:childTnLst>
                                </p:cTn>
                              </p:par>
                              <p:par>
                                <p:cTn id="45" presetID="2" presetClass="exit" presetSubtype="4" fill="hold" grpId="1" nodeType="withEffect">
                                  <p:stCondLst>
                                    <p:cond delay="0"/>
                                  </p:stCondLst>
                                  <p:childTnLst>
                                    <p:anim calcmode="lin" valueType="num">
                                      <p:cBhvr additive="base">
                                        <p:cTn id="46" dur="500"/>
                                        <p:tgtEl>
                                          <p:spTgt spid="115718"/>
                                        </p:tgtEl>
                                        <p:attrNameLst>
                                          <p:attrName>ppt_x</p:attrName>
                                        </p:attrNameLst>
                                      </p:cBhvr>
                                      <p:tavLst>
                                        <p:tav tm="0">
                                          <p:val>
                                            <p:strVal val="ppt_x"/>
                                          </p:val>
                                        </p:tav>
                                        <p:tav tm="100000">
                                          <p:val>
                                            <p:strVal val="ppt_x"/>
                                          </p:val>
                                        </p:tav>
                                      </p:tavLst>
                                    </p:anim>
                                    <p:anim calcmode="lin" valueType="num">
                                      <p:cBhvr additive="base">
                                        <p:cTn id="47" dur="500"/>
                                        <p:tgtEl>
                                          <p:spTgt spid="115718"/>
                                        </p:tgtEl>
                                        <p:attrNameLst>
                                          <p:attrName>ppt_y</p:attrName>
                                        </p:attrNameLst>
                                      </p:cBhvr>
                                      <p:tavLst>
                                        <p:tav tm="0">
                                          <p:val>
                                            <p:strVal val="ppt_y"/>
                                          </p:val>
                                        </p:tav>
                                        <p:tav tm="100000">
                                          <p:val>
                                            <p:strVal val="1+ppt_h/2"/>
                                          </p:val>
                                        </p:tav>
                                      </p:tavLst>
                                    </p:anim>
                                    <p:set>
                                      <p:cBhvr>
                                        <p:cTn id="48" dur="1" fill="hold">
                                          <p:stCondLst>
                                            <p:cond delay="499"/>
                                          </p:stCondLst>
                                        </p:cTn>
                                        <p:tgtEl>
                                          <p:spTgt spid="115718"/>
                                        </p:tgtEl>
                                        <p:attrNameLst>
                                          <p:attrName>style.visibility</p:attrName>
                                        </p:attrNameLst>
                                      </p:cBhvr>
                                      <p:to>
                                        <p:strVal val="hidden"/>
                                      </p:to>
                                    </p:set>
                                  </p:childTnLst>
                                </p:cTn>
                              </p:par>
                              <p:par>
                                <p:cTn id="49" presetID="2" presetClass="exit" presetSubtype="4" fill="hold" grpId="1" nodeType="withEffect">
                                  <p:stCondLst>
                                    <p:cond delay="0"/>
                                  </p:stCondLst>
                                  <p:childTnLst>
                                    <p:anim calcmode="lin" valueType="num">
                                      <p:cBhvr additive="base">
                                        <p:cTn id="50" dur="500"/>
                                        <p:tgtEl>
                                          <p:spTgt spid="115721"/>
                                        </p:tgtEl>
                                        <p:attrNameLst>
                                          <p:attrName>ppt_x</p:attrName>
                                        </p:attrNameLst>
                                      </p:cBhvr>
                                      <p:tavLst>
                                        <p:tav tm="0">
                                          <p:val>
                                            <p:strVal val="ppt_x"/>
                                          </p:val>
                                        </p:tav>
                                        <p:tav tm="100000">
                                          <p:val>
                                            <p:strVal val="ppt_x"/>
                                          </p:val>
                                        </p:tav>
                                      </p:tavLst>
                                    </p:anim>
                                    <p:anim calcmode="lin" valueType="num">
                                      <p:cBhvr additive="base">
                                        <p:cTn id="51" dur="500"/>
                                        <p:tgtEl>
                                          <p:spTgt spid="115721"/>
                                        </p:tgtEl>
                                        <p:attrNameLst>
                                          <p:attrName>ppt_y</p:attrName>
                                        </p:attrNameLst>
                                      </p:cBhvr>
                                      <p:tavLst>
                                        <p:tav tm="0">
                                          <p:val>
                                            <p:strVal val="ppt_y"/>
                                          </p:val>
                                        </p:tav>
                                        <p:tav tm="100000">
                                          <p:val>
                                            <p:strVal val="1+ppt_h/2"/>
                                          </p:val>
                                        </p:tav>
                                      </p:tavLst>
                                    </p:anim>
                                    <p:set>
                                      <p:cBhvr>
                                        <p:cTn id="52" dur="1" fill="hold">
                                          <p:stCondLst>
                                            <p:cond delay="499"/>
                                          </p:stCondLst>
                                        </p:cTn>
                                        <p:tgtEl>
                                          <p:spTgt spid="115721"/>
                                        </p:tgtEl>
                                        <p:attrNameLst>
                                          <p:attrName>style.visibility</p:attrName>
                                        </p:attrNameLst>
                                      </p:cBhvr>
                                      <p:to>
                                        <p:strVal val="hidden"/>
                                      </p:to>
                                    </p:set>
                                  </p:childTnLst>
                                </p:cTn>
                              </p:par>
                              <p:par>
                                <p:cTn id="53" presetID="2" presetClass="exit" presetSubtype="4" fill="hold" grpId="1" nodeType="withEffect">
                                  <p:stCondLst>
                                    <p:cond delay="0"/>
                                  </p:stCondLst>
                                  <p:childTnLst>
                                    <p:anim calcmode="lin" valueType="num">
                                      <p:cBhvr additive="base">
                                        <p:cTn id="54" dur="500"/>
                                        <p:tgtEl>
                                          <p:spTgt spid="115722"/>
                                        </p:tgtEl>
                                        <p:attrNameLst>
                                          <p:attrName>ppt_x</p:attrName>
                                        </p:attrNameLst>
                                      </p:cBhvr>
                                      <p:tavLst>
                                        <p:tav tm="0">
                                          <p:val>
                                            <p:strVal val="ppt_x"/>
                                          </p:val>
                                        </p:tav>
                                        <p:tav tm="100000">
                                          <p:val>
                                            <p:strVal val="ppt_x"/>
                                          </p:val>
                                        </p:tav>
                                      </p:tavLst>
                                    </p:anim>
                                    <p:anim calcmode="lin" valueType="num">
                                      <p:cBhvr additive="base">
                                        <p:cTn id="55" dur="500"/>
                                        <p:tgtEl>
                                          <p:spTgt spid="115722"/>
                                        </p:tgtEl>
                                        <p:attrNameLst>
                                          <p:attrName>ppt_y</p:attrName>
                                        </p:attrNameLst>
                                      </p:cBhvr>
                                      <p:tavLst>
                                        <p:tav tm="0">
                                          <p:val>
                                            <p:strVal val="ppt_y"/>
                                          </p:val>
                                        </p:tav>
                                        <p:tav tm="100000">
                                          <p:val>
                                            <p:strVal val="1+ppt_h/2"/>
                                          </p:val>
                                        </p:tav>
                                      </p:tavLst>
                                    </p:anim>
                                    <p:set>
                                      <p:cBhvr>
                                        <p:cTn id="56" dur="1" fill="hold">
                                          <p:stCondLst>
                                            <p:cond delay="499"/>
                                          </p:stCondLst>
                                        </p:cTn>
                                        <p:tgtEl>
                                          <p:spTgt spid="115722"/>
                                        </p:tgtEl>
                                        <p:attrNameLst>
                                          <p:attrName>style.visibility</p:attrName>
                                        </p:attrNameLst>
                                      </p:cBhvr>
                                      <p:to>
                                        <p:strVal val="hidden"/>
                                      </p:to>
                                    </p:set>
                                  </p:childTnLst>
                                </p:cTn>
                              </p:par>
                              <p:par>
                                <p:cTn id="57" presetID="2" presetClass="exit" presetSubtype="4" fill="hold" grpId="1" nodeType="withEffect">
                                  <p:stCondLst>
                                    <p:cond delay="0"/>
                                  </p:stCondLst>
                                  <p:childTnLst>
                                    <p:anim calcmode="lin" valueType="num">
                                      <p:cBhvr additive="base">
                                        <p:cTn id="58" dur="500"/>
                                        <p:tgtEl>
                                          <p:spTgt spid="115723"/>
                                        </p:tgtEl>
                                        <p:attrNameLst>
                                          <p:attrName>ppt_x</p:attrName>
                                        </p:attrNameLst>
                                      </p:cBhvr>
                                      <p:tavLst>
                                        <p:tav tm="0">
                                          <p:val>
                                            <p:strVal val="ppt_x"/>
                                          </p:val>
                                        </p:tav>
                                        <p:tav tm="100000">
                                          <p:val>
                                            <p:strVal val="ppt_x"/>
                                          </p:val>
                                        </p:tav>
                                      </p:tavLst>
                                    </p:anim>
                                    <p:anim calcmode="lin" valueType="num">
                                      <p:cBhvr additive="base">
                                        <p:cTn id="59" dur="500"/>
                                        <p:tgtEl>
                                          <p:spTgt spid="115723"/>
                                        </p:tgtEl>
                                        <p:attrNameLst>
                                          <p:attrName>ppt_y</p:attrName>
                                        </p:attrNameLst>
                                      </p:cBhvr>
                                      <p:tavLst>
                                        <p:tav tm="0">
                                          <p:val>
                                            <p:strVal val="ppt_y"/>
                                          </p:val>
                                        </p:tav>
                                        <p:tav tm="100000">
                                          <p:val>
                                            <p:strVal val="1+ppt_h/2"/>
                                          </p:val>
                                        </p:tav>
                                      </p:tavLst>
                                    </p:anim>
                                    <p:set>
                                      <p:cBhvr>
                                        <p:cTn id="60" dur="1" fill="hold">
                                          <p:stCondLst>
                                            <p:cond delay="499"/>
                                          </p:stCondLst>
                                        </p:cTn>
                                        <p:tgtEl>
                                          <p:spTgt spid="115723"/>
                                        </p:tgtEl>
                                        <p:attrNameLst>
                                          <p:attrName>style.visibility</p:attrName>
                                        </p:attrNameLst>
                                      </p:cBhvr>
                                      <p:to>
                                        <p:strVal val="hidden"/>
                                      </p:to>
                                    </p:set>
                                  </p:childTnLst>
                                </p:cTn>
                              </p:par>
                              <p:par>
                                <p:cTn id="61" presetID="2" presetClass="exit" presetSubtype="4" fill="hold" grpId="1" nodeType="withEffect">
                                  <p:stCondLst>
                                    <p:cond delay="0"/>
                                  </p:stCondLst>
                                  <p:childTnLst>
                                    <p:anim calcmode="lin" valueType="num">
                                      <p:cBhvr additive="base">
                                        <p:cTn id="62" dur="500"/>
                                        <p:tgtEl>
                                          <p:spTgt spid="115724"/>
                                        </p:tgtEl>
                                        <p:attrNameLst>
                                          <p:attrName>ppt_x</p:attrName>
                                        </p:attrNameLst>
                                      </p:cBhvr>
                                      <p:tavLst>
                                        <p:tav tm="0">
                                          <p:val>
                                            <p:strVal val="ppt_x"/>
                                          </p:val>
                                        </p:tav>
                                        <p:tav tm="100000">
                                          <p:val>
                                            <p:strVal val="ppt_x"/>
                                          </p:val>
                                        </p:tav>
                                      </p:tavLst>
                                    </p:anim>
                                    <p:anim calcmode="lin" valueType="num">
                                      <p:cBhvr additive="base">
                                        <p:cTn id="63" dur="500"/>
                                        <p:tgtEl>
                                          <p:spTgt spid="115724"/>
                                        </p:tgtEl>
                                        <p:attrNameLst>
                                          <p:attrName>ppt_y</p:attrName>
                                        </p:attrNameLst>
                                      </p:cBhvr>
                                      <p:tavLst>
                                        <p:tav tm="0">
                                          <p:val>
                                            <p:strVal val="ppt_y"/>
                                          </p:val>
                                        </p:tav>
                                        <p:tav tm="100000">
                                          <p:val>
                                            <p:strVal val="1+ppt_h/2"/>
                                          </p:val>
                                        </p:tav>
                                      </p:tavLst>
                                    </p:anim>
                                    <p:set>
                                      <p:cBhvr>
                                        <p:cTn id="64" dur="1" fill="hold">
                                          <p:stCondLst>
                                            <p:cond delay="499"/>
                                          </p:stCondLst>
                                        </p:cTn>
                                        <p:tgtEl>
                                          <p:spTgt spid="115724"/>
                                        </p:tgtEl>
                                        <p:attrNameLst>
                                          <p:attrName>style.visibility</p:attrName>
                                        </p:attrNameLst>
                                      </p:cBhvr>
                                      <p:to>
                                        <p:strVal val="hidden"/>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2" fill="hold" grpId="0" nodeType="clickEffect">
                                  <p:stCondLst>
                                    <p:cond delay="0"/>
                                  </p:stCondLst>
                                  <p:childTnLst>
                                    <p:set>
                                      <p:cBhvr>
                                        <p:cTn id="68" dur="1" fill="hold">
                                          <p:stCondLst>
                                            <p:cond delay="0"/>
                                          </p:stCondLst>
                                        </p:cTn>
                                        <p:tgtEl>
                                          <p:spTgt spid="115727"/>
                                        </p:tgtEl>
                                        <p:attrNameLst>
                                          <p:attrName>style.visibility</p:attrName>
                                        </p:attrNameLst>
                                      </p:cBhvr>
                                      <p:to>
                                        <p:strVal val="visible"/>
                                      </p:to>
                                    </p:set>
                                    <p:anim calcmode="lin" valueType="num">
                                      <p:cBhvr additive="base">
                                        <p:cTn id="69" dur="1000" fill="hold"/>
                                        <p:tgtEl>
                                          <p:spTgt spid="115727"/>
                                        </p:tgtEl>
                                        <p:attrNameLst>
                                          <p:attrName>ppt_x</p:attrName>
                                        </p:attrNameLst>
                                      </p:cBhvr>
                                      <p:tavLst>
                                        <p:tav tm="0">
                                          <p:val>
                                            <p:strVal val="1+#ppt_w/2"/>
                                          </p:val>
                                        </p:tav>
                                        <p:tav tm="100000">
                                          <p:val>
                                            <p:strVal val="#ppt_x"/>
                                          </p:val>
                                        </p:tav>
                                      </p:tavLst>
                                    </p:anim>
                                    <p:anim calcmode="lin" valueType="num">
                                      <p:cBhvr additive="base">
                                        <p:cTn id="70" dur="1000" fill="hold"/>
                                        <p:tgtEl>
                                          <p:spTgt spid="115727"/>
                                        </p:tgtEl>
                                        <p:attrNameLst>
                                          <p:attrName>ppt_y</p:attrName>
                                        </p:attrNameLst>
                                      </p:cBhvr>
                                      <p:tavLst>
                                        <p:tav tm="0">
                                          <p:val>
                                            <p:strVal val="#ppt_y"/>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2" fill="hold" grpId="0" nodeType="clickEffect">
                                  <p:stCondLst>
                                    <p:cond delay="0"/>
                                  </p:stCondLst>
                                  <p:childTnLst>
                                    <p:set>
                                      <p:cBhvr>
                                        <p:cTn id="74" dur="1" fill="hold">
                                          <p:stCondLst>
                                            <p:cond delay="0"/>
                                          </p:stCondLst>
                                        </p:cTn>
                                        <p:tgtEl>
                                          <p:spTgt spid="115729"/>
                                        </p:tgtEl>
                                        <p:attrNameLst>
                                          <p:attrName>style.visibility</p:attrName>
                                        </p:attrNameLst>
                                      </p:cBhvr>
                                      <p:to>
                                        <p:strVal val="visible"/>
                                      </p:to>
                                    </p:set>
                                    <p:anim calcmode="lin" valueType="num">
                                      <p:cBhvr additive="base">
                                        <p:cTn id="75" dur="1000" fill="hold"/>
                                        <p:tgtEl>
                                          <p:spTgt spid="115729"/>
                                        </p:tgtEl>
                                        <p:attrNameLst>
                                          <p:attrName>ppt_x</p:attrName>
                                        </p:attrNameLst>
                                      </p:cBhvr>
                                      <p:tavLst>
                                        <p:tav tm="0">
                                          <p:val>
                                            <p:strVal val="1+#ppt_w/2"/>
                                          </p:val>
                                        </p:tav>
                                        <p:tav tm="100000">
                                          <p:val>
                                            <p:strVal val="#ppt_x"/>
                                          </p:val>
                                        </p:tav>
                                      </p:tavLst>
                                    </p:anim>
                                    <p:anim calcmode="lin" valueType="num">
                                      <p:cBhvr additive="base">
                                        <p:cTn id="76" dur="1000" fill="hold"/>
                                        <p:tgtEl>
                                          <p:spTgt spid="115729"/>
                                        </p:tgtEl>
                                        <p:attrNameLst>
                                          <p:attrName>ppt_y</p:attrName>
                                        </p:attrNameLst>
                                      </p:cBhvr>
                                      <p:tavLst>
                                        <p:tav tm="0">
                                          <p:val>
                                            <p:strVal val="#ppt_y"/>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115728"/>
                                        </p:tgtEl>
                                        <p:attrNameLst>
                                          <p:attrName>style.visibility</p:attrName>
                                        </p:attrNameLst>
                                      </p:cBhvr>
                                      <p:to>
                                        <p:strVal val="visible"/>
                                      </p:to>
                                    </p:set>
                                    <p:anim calcmode="lin" valueType="num">
                                      <p:cBhvr additive="base">
                                        <p:cTn id="81" dur="1000" fill="hold"/>
                                        <p:tgtEl>
                                          <p:spTgt spid="115728"/>
                                        </p:tgtEl>
                                        <p:attrNameLst>
                                          <p:attrName>ppt_x</p:attrName>
                                        </p:attrNameLst>
                                      </p:cBhvr>
                                      <p:tavLst>
                                        <p:tav tm="0">
                                          <p:val>
                                            <p:strVal val="0-#ppt_w/2"/>
                                          </p:val>
                                        </p:tav>
                                        <p:tav tm="100000">
                                          <p:val>
                                            <p:strVal val="#ppt_x"/>
                                          </p:val>
                                        </p:tav>
                                      </p:tavLst>
                                    </p:anim>
                                    <p:anim calcmode="lin" valueType="num">
                                      <p:cBhvr additive="base">
                                        <p:cTn id="82" dur="1000" fill="hold"/>
                                        <p:tgtEl>
                                          <p:spTgt spid="115728"/>
                                        </p:tgtEl>
                                        <p:attrNameLst>
                                          <p:attrName>ppt_y</p:attrName>
                                        </p:attrNameLst>
                                      </p:cBhvr>
                                      <p:tavLst>
                                        <p:tav tm="0">
                                          <p:val>
                                            <p:strVal val="#ppt_y"/>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115731"/>
                                        </p:tgtEl>
                                        <p:attrNameLst>
                                          <p:attrName>style.visibility</p:attrName>
                                        </p:attrNameLst>
                                      </p:cBhvr>
                                      <p:to>
                                        <p:strVal val="visible"/>
                                      </p:to>
                                    </p:set>
                                    <p:anim calcmode="lin" valueType="num">
                                      <p:cBhvr additive="base">
                                        <p:cTn id="87" dur="1000" fill="hold"/>
                                        <p:tgtEl>
                                          <p:spTgt spid="115731"/>
                                        </p:tgtEl>
                                        <p:attrNameLst>
                                          <p:attrName>ppt_x</p:attrName>
                                        </p:attrNameLst>
                                      </p:cBhvr>
                                      <p:tavLst>
                                        <p:tav tm="0">
                                          <p:val>
                                            <p:strVal val="0-#ppt_w/2"/>
                                          </p:val>
                                        </p:tav>
                                        <p:tav tm="100000">
                                          <p:val>
                                            <p:strVal val="#ppt_x"/>
                                          </p:val>
                                        </p:tav>
                                      </p:tavLst>
                                    </p:anim>
                                    <p:anim calcmode="lin" valueType="num">
                                      <p:cBhvr additive="base">
                                        <p:cTn id="88" dur="1000" fill="hold"/>
                                        <p:tgtEl>
                                          <p:spTgt spid="115731"/>
                                        </p:tgtEl>
                                        <p:attrNameLst>
                                          <p:attrName>ppt_y</p:attrName>
                                        </p:attrNameLst>
                                      </p:cBhvr>
                                      <p:tavLst>
                                        <p:tav tm="0">
                                          <p:val>
                                            <p:strVal val="#ppt_y"/>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2" fill="hold" grpId="0" nodeType="clickEffect">
                                  <p:stCondLst>
                                    <p:cond delay="0"/>
                                  </p:stCondLst>
                                  <p:childTnLst>
                                    <p:set>
                                      <p:cBhvr>
                                        <p:cTn id="92" dur="1" fill="hold">
                                          <p:stCondLst>
                                            <p:cond delay="0"/>
                                          </p:stCondLst>
                                        </p:cTn>
                                        <p:tgtEl>
                                          <p:spTgt spid="115730"/>
                                        </p:tgtEl>
                                        <p:attrNameLst>
                                          <p:attrName>style.visibility</p:attrName>
                                        </p:attrNameLst>
                                      </p:cBhvr>
                                      <p:to>
                                        <p:strVal val="visible"/>
                                      </p:to>
                                    </p:set>
                                    <p:anim calcmode="lin" valueType="num">
                                      <p:cBhvr additive="base">
                                        <p:cTn id="93" dur="1000" fill="hold"/>
                                        <p:tgtEl>
                                          <p:spTgt spid="115730"/>
                                        </p:tgtEl>
                                        <p:attrNameLst>
                                          <p:attrName>ppt_x</p:attrName>
                                        </p:attrNameLst>
                                      </p:cBhvr>
                                      <p:tavLst>
                                        <p:tav tm="0">
                                          <p:val>
                                            <p:strVal val="1+#ppt_w/2"/>
                                          </p:val>
                                        </p:tav>
                                        <p:tav tm="100000">
                                          <p:val>
                                            <p:strVal val="#ppt_x"/>
                                          </p:val>
                                        </p:tav>
                                      </p:tavLst>
                                    </p:anim>
                                    <p:anim calcmode="lin" valueType="num">
                                      <p:cBhvr additive="base">
                                        <p:cTn id="94" dur="1000" fill="hold"/>
                                        <p:tgtEl>
                                          <p:spTgt spid="1157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8" grpId="0" animBg="1"/>
      <p:bldP spid="115718" grpId="1" animBg="1"/>
      <p:bldP spid="115720" grpId="0" animBg="1"/>
      <p:bldP spid="115720" grpId="1" animBg="1"/>
      <p:bldP spid="115721" grpId="0" animBg="1"/>
      <p:bldP spid="115721" grpId="1" animBg="1"/>
      <p:bldP spid="115722" grpId="0" animBg="1"/>
      <p:bldP spid="115722" grpId="1" animBg="1"/>
      <p:bldP spid="115723" grpId="0" animBg="1"/>
      <p:bldP spid="115723" grpId="1" animBg="1"/>
      <p:bldP spid="115724" grpId="0" animBg="1"/>
      <p:bldP spid="115724" grpId="1" animBg="1"/>
      <p:bldP spid="115727" grpId="0" animBg="1"/>
      <p:bldP spid="115728" grpId="0" animBg="1"/>
      <p:bldP spid="115729" grpId="0" animBg="1"/>
      <p:bldP spid="115730" grpId="0" animBg="1"/>
      <p:bldP spid="11573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B04E17F1-2929-B50B-4EAD-C25AE20E5DCB}"/>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2F4A34E7-4A6B-171C-3140-DE65E91DB0C6}"/>
              </a:ext>
            </a:extLst>
          </p:cNvPr>
          <p:cNvSpPr>
            <a:spLocks noGrp="1"/>
          </p:cNvSpPr>
          <p:nvPr>
            <p:ph type="sldNum" sz="quarter" idx="11"/>
          </p:nvPr>
        </p:nvSpPr>
        <p:spPr/>
        <p:txBody>
          <a:bodyPr/>
          <a:lstStyle/>
          <a:p>
            <a:r>
              <a:rPr lang="zh-CN" altLang="en-US"/>
              <a:t> </a:t>
            </a:r>
            <a:r>
              <a:rPr lang="en-US" altLang="zh-CN"/>
              <a:t>- </a:t>
            </a:r>
            <a:fld id="{4CBE3D6F-22E6-4B57-B5B5-B8A75D9453A9}" type="slidenum">
              <a:rPr lang="en-US" altLang="zh-CN" sz="800"/>
              <a:pPr/>
              <a:t>42</a:t>
            </a:fld>
            <a:endParaRPr lang="en-US" altLang="zh-CN" sz="800"/>
          </a:p>
        </p:txBody>
      </p:sp>
      <p:sp>
        <p:nvSpPr>
          <p:cNvPr id="113675" name="Freeform 11">
            <a:extLst>
              <a:ext uri="{FF2B5EF4-FFF2-40B4-BE49-F238E27FC236}">
                <a16:creationId xmlns:a16="http://schemas.microsoft.com/office/drawing/2014/main" id="{023CFA4F-39C7-4611-07C7-3F70CE5AD4A1}"/>
              </a:ext>
            </a:extLst>
          </p:cNvPr>
          <p:cNvSpPr>
            <a:spLocks/>
          </p:cNvSpPr>
          <p:nvPr/>
        </p:nvSpPr>
        <p:spPr bwMode="auto">
          <a:xfrm>
            <a:off x="925513" y="2622550"/>
            <a:ext cx="5145087" cy="2519363"/>
          </a:xfrm>
          <a:custGeom>
            <a:avLst/>
            <a:gdLst>
              <a:gd name="T0" fmla="*/ 9645 w 9722"/>
              <a:gd name="T1" fmla="*/ 327 h 4760"/>
              <a:gd name="T2" fmla="*/ 9543 w 9722"/>
              <a:gd name="T3" fmla="*/ 216 h 4760"/>
              <a:gd name="T4" fmla="*/ 9398 w 9722"/>
              <a:gd name="T5" fmla="*/ 128 h 4760"/>
              <a:gd name="T6" fmla="*/ 9211 w 9722"/>
              <a:gd name="T7" fmla="*/ 63 h 4760"/>
              <a:gd name="T8" fmla="*/ 8982 w 9722"/>
              <a:gd name="T9" fmla="*/ 20 h 4760"/>
              <a:gd name="T10" fmla="*/ 8709 w 9722"/>
              <a:gd name="T11" fmla="*/ 1 h 4760"/>
              <a:gd name="T12" fmla="*/ 8395 w 9722"/>
              <a:gd name="T13" fmla="*/ 5 h 4760"/>
              <a:gd name="T14" fmla="*/ 8038 w 9722"/>
              <a:gd name="T15" fmla="*/ 31 h 4760"/>
              <a:gd name="T16" fmla="*/ 7646 w 9722"/>
              <a:gd name="T17" fmla="*/ 80 h 4760"/>
              <a:gd name="T18" fmla="*/ 7239 w 9722"/>
              <a:gd name="T19" fmla="*/ 147 h 4760"/>
              <a:gd name="T20" fmla="*/ 6818 w 9722"/>
              <a:gd name="T21" fmla="*/ 236 h 4760"/>
              <a:gd name="T22" fmla="*/ 6385 w 9722"/>
              <a:gd name="T23" fmla="*/ 345 h 4760"/>
              <a:gd name="T24" fmla="*/ 5936 w 9722"/>
              <a:gd name="T25" fmla="*/ 473 h 4760"/>
              <a:gd name="T26" fmla="*/ 5474 w 9722"/>
              <a:gd name="T27" fmla="*/ 621 h 4760"/>
              <a:gd name="T28" fmla="*/ 4998 w 9722"/>
              <a:gd name="T29" fmla="*/ 789 h 4760"/>
              <a:gd name="T30" fmla="*/ 4509 w 9722"/>
              <a:gd name="T31" fmla="*/ 977 h 4760"/>
              <a:gd name="T32" fmla="*/ 3658 w 9722"/>
              <a:gd name="T33" fmla="*/ 1335 h 4760"/>
              <a:gd name="T34" fmla="*/ 2770 w 9722"/>
              <a:gd name="T35" fmla="*/ 1765 h 4760"/>
              <a:gd name="T36" fmla="*/ 1974 w 9722"/>
              <a:gd name="T37" fmla="*/ 2215 h 4760"/>
              <a:gd name="T38" fmla="*/ 1268 w 9722"/>
              <a:gd name="T39" fmla="*/ 2686 h 4760"/>
              <a:gd name="T40" fmla="*/ 952 w 9722"/>
              <a:gd name="T41" fmla="*/ 2924 h 4760"/>
              <a:gd name="T42" fmla="*/ 679 w 9722"/>
              <a:gd name="T43" fmla="*/ 3154 h 4760"/>
              <a:gd name="T44" fmla="*/ 451 w 9722"/>
              <a:gd name="T45" fmla="*/ 3370 h 4760"/>
              <a:gd name="T46" fmla="*/ 271 w 9722"/>
              <a:gd name="T47" fmla="*/ 3574 h 4760"/>
              <a:gd name="T48" fmla="*/ 135 w 9722"/>
              <a:gd name="T49" fmla="*/ 3764 h 4760"/>
              <a:gd name="T50" fmla="*/ 46 w 9722"/>
              <a:gd name="T51" fmla="*/ 3943 h 4760"/>
              <a:gd name="T52" fmla="*/ 10 w 9722"/>
              <a:gd name="T53" fmla="*/ 4068 h 4760"/>
              <a:gd name="T54" fmla="*/ 1 w 9722"/>
              <a:gd name="T55" fmla="*/ 4188 h 4760"/>
              <a:gd name="T56" fmla="*/ 21 w 9722"/>
              <a:gd name="T57" fmla="*/ 4316 h 4760"/>
              <a:gd name="T58" fmla="*/ 75 w 9722"/>
              <a:gd name="T59" fmla="*/ 4433 h 4760"/>
              <a:gd name="T60" fmla="*/ 178 w 9722"/>
              <a:gd name="T61" fmla="*/ 4543 h 4760"/>
              <a:gd name="T62" fmla="*/ 322 w 9722"/>
              <a:gd name="T63" fmla="*/ 4632 h 4760"/>
              <a:gd name="T64" fmla="*/ 511 w 9722"/>
              <a:gd name="T65" fmla="*/ 4698 h 4760"/>
              <a:gd name="T66" fmla="*/ 679 w 9722"/>
              <a:gd name="T67" fmla="*/ 4732 h 4760"/>
              <a:gd name="T68" fmla="*/ 904 w 9722"/>
              <a:gd name="T69" fmla="*/ 4753 h 4760"/>
              <a:gd name="T70" fmla="*/ 1125 w 9722"/>
              <a:gd name="T71" fmla="*/ 4759 h 4760"/>
              <a:gd name="T72" fmla="*/ 1413 w 9722"/>
              <a:gd name="T73" fmla="*/ 4751 h 4760"/>
              <a:gd name="T74" fmla="*/ 1686 w 9722"/>
              <a:gd name="T75" fmla="*/ 4729 h 4760"/>
              <a:gd name="T76" fmla="*/ 2188 w 9722"/>
              <a:gd name="T77" fmla="*/ 4663 h 4760"/>
              <a:gd name="T78" fmla="*/ 2823 w 9722"/>
              <a:gd name="T79" fmla="*/ 4540 h 4760"/>
              <a:gd name="T80" fmla="*/ 3267 w 9722"/>
              <a:gd name="T81" fmla="*/ 4432 h 4760"/>
              <a:gd name="T82" fmla="*/ 3714 w 9722"/>
              <a:gd name="T83" fmla="*/ 4307 h 4760"/>
              <a:gd name="T84" fmla="*/ 4390 w 9722"/>
              <a:gd name="T85" fmla="*/ 4090 h 4760"/>
              <a:gd name="T86" fmla="*/ 5341 w 9722"/>
              <a:gd name="T87" fmla="*/ 3733 h 4760"/>
              <a:gd name="T88" fmla="*/ 5814 w 9722"/>
              <a:gd name="T89" fmla="*/ 3533 h 4760"/>
              <a:gd name="T90" fmla="*/ 6043 w 9722"/>
              <a:gd name="T91" fmla="*/ 3432 h 4760"/>
              <a:gd name="T92" fmla="*/ 6444 w 9722"/>
              <a:gd name="T93" fmla="*/ 3248 h 4760"/>
              <a:gd name="T94" fmla="*/ 6786 w 9722"/>
              <a:gd name="T95" fmla="*/ 3082 h 4760"/>
              <a:gd name="T96" fmla="*/ 7170 w 9722"/>
              <a:gd name="T97" fmla="*/ 2878 h 4760"/>
              <a:gd name="T98" fmla="*/ 7653 w 9722"/>
              <a:gd name="T99" fmla="*/ 2603 h 4760"/>
              <a:gd name="T100" fmla="*/ 7951 w 9722"/>
              <a:gd name="T101" fmla="*/ 2415 h 4760"/>
              <a:gd name="T102" fmla="*/ 8211 w 9722"/>
              <a:gd name="T103" fmla="*/ 2247 h 4760"/>
              <a:gd name="T104" fmla="*/ 8420 w 9722"/>
              <a:gd name="T105" fmla="*/ 2102 h 4760"/>
              <a:gd name="T106" fmla="*/ 8773 w 9722"/>
              <a:gd name="T107" fmla="*/ 1836 h 4760"/>
              <a:gd name="T108" fmla="*/ 9045 w 9722"/>
              <a:gd name="T109" fmla="*/ 1605 h 4760"/>
              <a:gd name="T110" fmla="*/ 9272 w 9722"/>
              <a:gd name="T111" fmla="*/ 1389 h 4760"/>
              <a:gd name="T112" fmla="*/ 9453 w 9722"/>
              <a:gd name="T113" fmla="*/ 1185 h 4760"/>
              <a:gd name="T114" fmla="*/ 9588 w 9722"/>
              <a:gd name="T115" fmla="*/ 995 h 4760"/>
              <a:gd name="T116" fmla="*/ 9675 w 9722"/>
              <a:gd name="T117" fmla="*/ 817 h 4760"/>
              <a:gd name="T118" fmla="*/ 9718 w 9722"/>
              <a:gd name="T119" fmla="*/ 651 h 4760"/>
              <a:gd name="T120" fmla="*/ 9715 w 9722"/>
              <a:gd name="T121" fmla="*/ 499 h 4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722" h="4760">
                <a:moveTo>
                  <a:pt x="9697" y="428"/>
                </a:moveTo>
                <a:lnTo>
                  <a:pt x="9681" y="392"/>
                </a:lnTo>
                <a:lnTo>
                  <a:pt x="9666" y="360"/>
                </a:lnTo>
                <a:lnTo>
                  <a:pt x="9645" y="327"/>
                </a:lnTo>
                <a:lnTo>
                  <a:pt x="9625" y="299"/>
                </a:lnTo>
                <a:lnTo>
                  <a:pt x="9600" y="269"/>
                </a:lnTo>
                <a:lnTo>
                  <a:pt x="9573" y="242"/>
                </a:lnTo>
                <a:lnTo>
                  <a:pt x="9543" y="216"/>
                </a:lnTo>
                <a:lnTo>
                  <a:pt x="9512" y="193"/>
                </a:lnTo>
                <a:lnTo>
                  <a:pt x="9476" y="169"/>
                </a:lnTo>
                <a:lnTo>
                  <a:pt x="9439" y="149"/>
                </a:lnTo>
                <a:lnTo>
                  <a:pt x="9398" y="128"/>
                </a:lnTo>
                <a:lnTo>
                  <a:pt x="9356" y="110"/>
                </a:lnTo>
                <a:lnTo>
                  <a:pt x="9309" y="92"/>
                </a:lnTo>
                <a:lnTo>
                  <a:pt x="9262" y="78"/>
                </a:lnTo>
                <a:lnTo>
                  <a:pt x="9211" y="63"/>
                </a:lnTo>
                <a:lnTo>
                  <a:pt x="9159" y="51"/>
                </a:lnTo>
                <a:lnTo>
                  <a:pt x="9102" y="39"/>
                </a:lnTo>
                <a:lnTo>
                  <a:pt x="9043" y="30"/>
                </a:lnTo>
                <a:lnTo>
                  <a:pt x="8982" y="20"/>
                </a:lnTo>
                <a:lnTo>
                  <a:pt x="8918" y="14"/>
                </a:lnTo>
                <a:lnTo>
                  <a:pt x="8850" y="8"/>
                </a:lnTo>
                <a:lnTo>
                  <a:pt x="8781" y="5"/>
                </a:lnTo>
                <a:lnTo>
                  <a:pt x="8709" y="1"/>
                </a:lnTo>
                <a:lnTo>
                  <a:pt x="8636" y="1"/>
                </a:lnTo>
                <a:lnTo>
                  <a:pt x="8558" y="0"/>
                </a:lnTo>
                <a:lnTo>
                  <a:pt x="8478" y="2"/>
                </a:lnTo>
                <a:lnTo>
                  <a:pt x="8395" y="5"/>
                </a:lnTo>
                <a:lnTo>
                  <a:pt x="8311" y="9"/>
                </a:lnTo>
                <a:lnTo>
                  <a:pt x="8222" y="14"/>
                </a:lnTo>
                <a:lnTo>
                  <a:pt x="8132" y="23"/>
                </a:lnTo>
                <a:lnTo>
                  <a:pt x="8038" y="31"/>
                </a:lnTo>
                <a:lnTo>
                  <a:pt x="7944" y="43"/>
                </a:lnTo>
                <a:lnTo>
                  <a:pt x="7844" y="54"/>
                </a:lnTo>
                <a:lnTo>
                  <a:pt x="7746" y="67"/>
                </a:lnTo>
                <a:lnTo>
                  <a:pt x="7646" y="80"/>
                </a:lnTo>
                <a:lnTo>
                  <a:pt x="7546" y="96"/>
                </a:lnTo>
                <a:lnTo>
                  <a:pt x="7444" y="111"/>
                </a:lnTo>
                <a:lnTo>
                  <a:pt x="7342" y="129"/>
                </a:lnTo>
                <a:lnTo>
                  <a:pt x="7239" y="147"/>
                </a:lnTo>
                <a:lnTo>
                  <a:pt x="7136" y="169"/>
                </a:lnTo>
                <a:lnTo>
                  <a:pt x="7030" y="189"/>
                </a:lnTo>
                <a:lnTo>
                  <a:pt x="6925" y="212"/>
                </a:lnTo>
                <a:lnTo>
                  <a:pt x="6818" y="236"/>
                </a:lnTo>
                <a:lnTo>
                  <a:pt x="6712" y="263"/>
                </a:lnTo>
                <a:lnTo>
                  <a:pt x="6603" y="288"/>
                </a:lnTo>
                <a:lnTo>
                  <a:pt x="6495" y="317"/>
                </a:lnTo>
                <a:lnTo>
                  <a:pt x="6385" y="345"/>
                </a:lnTo>
                <a:lnTo>
                  <a:pt x="6276" y="377"/>
                </a:lnTo>
                <a:lnTo>
                  <a:pt x="6163" y="407"/>
                </a:lnTo>
                <a:lnTo>
                  <a:pt x="6050" y="439"/>
                </a:lnTo>
                <a:lnTo>
                  <a:pt x="5936" y="473"/>
                </a:lnTo>
                <a:lnTo>
                  <a:pt x="5823" y="509"/>
                </a:lnTo>
                <a:lnTo>
                  <a:pt x="5707" y="545"/>
                </a:lnTo>
                <a:lnTo>
                  <a:pt x="5592" y="583"/>
                </a:lnTo>
                <a:lnTo>
                  <a:pt x="5474" y="621"/>
                </a:lnTo>
                <a:lnTo>
                  <a:pt x="5358" y="662"/>
                </a:lnTo>
                <a:lnTo>
                  <a:pt x="5238" y="703"/>
                </a:lnTo>
                <a:lnTo>
                  <a:pt x="5119" y="746"/>
                </a:lnTo>
                <a:lnTo>
                  <a:pt x="4998" y="789"/>
                </a:lnTo>
                <a:lnTo>
                  <a:pt x="4878" y="835"/>
                </a:lnTo>
                <a:lnTo>
                  <a:pt x="4755" y="881"/>
                </a:lnTo>
                <a:lnTo>
                  <a:pt x="4633" y="929"/>
                </a:lnTo>
                <a:lnTo>
                  <a:pt x="4509" y="977"/>
                </a:lnTo>
                <a:lnTo>
                  <a:pt x="4386" y="1028"/>
                </a:lnTo>
                <a:lnTo>
                  <a:pt x="4137" y="1129"/>
                </a:lnTo>
                <a:lnTo>
                  <a:pt x="3895" y="1232"/>
                </a:lnTo>
                <a:lnTo>
                  <a:pt x="3658" y="1335"/>
                </a:lnTo>
                <a:lnTo>
                  <a:pt x="3428" y="1442"/>
                </a:lnTo>
                <a:lnTo>
                  <a:pt x="3202" y="1548"/>
                </a:lnTo>
                <a:lnTo>
                  <a:pt x="2984" y="1656"/>
                </a:lnTo>
                <a:lnTo>
                  <a:pt x="2770" y="1765"/>
                </a:lnTo>
                <a:lnTo>
                  <a:pt x="2564" y="1877"/>
                </a:lnTo>
                <a:lnTo>
                  <a:pt x="2361" y="1987"/>
                </a:lnTo>
                <a:lnTo>
                  <a:pt x="2164" y="2101"/>
                </a:lnTo>
                <a:lnTo>
                  <a:pt x="1974" y="2215"/>
                </a:lnTo>
                <a:lnTo>
                  <a:pt x="1789" y="2331"/>
                </a:lnTo>
                <a:lnTo>
                  <a:pt x="1609" y="2448"/>
                </a:lnTo>
                <a:lnTo>
                  <a:pt x="1436" y="2567"/>
                </a:lnTo>
                <a:lnTo>
                  <a:pt x="1268" y="2686"/>
                </a:lnTo>
                <a:lnTo>
                  <a:pt x="1107" y="2807"/>
                </a:lnTo>
                <a:lnTo>
                  <a:pt x="1066" y="2836"/>
                </a:lnTo>
                <a:lnTo>
                  <a:pt x="1028" y="2866"/>
                </a:lnTo>
                <a:lnTo>
                  <a:pt x="952" y="2924"/>
                </a:lnTo>
                <a:lnTo>
                  <a:pt x="879" y="2982"/>
                </a:lnTo>
                <a:lnTo>
                  <a:pt x="811" y="3041"/>
                </a:lnTo>
                <a:lnTo>
                  <a:pt x="742" y="3097"/>
                </a:lnTo>
                <a:lnTo>
                  <a:pt x="679" y="3154"/>
                </a:lnTo>
                <a:lnTo>
                  <a:pt x="618" y="3209"/>
                </a:lnTo>
                <a:lnTo>
                  <a:pt x="560" y="3264"/>
                </a:lnTo>
                <a:lnTo>
                  <a:pt x="504" y="3317"/>
                </a:lnTo>
                <a:lnTo>
                  <a:pt x="451" y="3370"/>
                </a:lnTo>
                <a:lnTo>
                  <a:pt x="402" y="3421"/>
                </a:lnTo>
                <a:lnTo>
                  <a:pt x="356" y="3474"/>
                </a:lnTo>
                <a:lnTo>
                  <a:pt x="312" y="3523"/>
                </a:lnTo>
                <a:lnTo>
                  <a:pt x="271" y="3574"/>
                </a:lnTo>
                <a:lnTo>
                  <a:pt x="234" y="3623"/>
                </a:lnTo>
                <a:lnTo>
                  <a:pt x="199" y="3672"/>
                </a:lnTo>
                <a:lnTo>
                  <a:pt x="165" y="3718"/>
                </a:lnTo>
                <a:lnTo>
                  <a:pt x="135" y="3764"/>
                </a:lnTo>
                <a:lnTo>
                  <a:pt x="109" y="3810"/>
                </a:lnTo>
                <a:lnTo>
                  <a:pt x="86" y="3856"/>
                </a:lnTo>
                <a:lnTo>
                  <a:pt x="64" y="3899"/>
                </a:lnTo>
                <a:lnTo>
                  <a:pt x="46" y="3943"/>
                </a:lnTo>
                <a:lnTo>
                  <a:pt x="31" y="3985"/>
                </a:lnTo>
                <a:lnTo>
                  <a:pt x="20" y="4028"/>
                </a:lnTo>
                <a:lnTo>
                  <a:pt x="14" y="4048"/>
                </a:lnTo>
                <a:lnTo>
                  <a:pt x="10" y="4068"/>
                </a:lnTo>
                <a:lnTo>
                  <a:pt x="4" y="4109"/>
                </a:lnTo>
                <a:lnTo>
                  <a:pt x="1" y="4148"/>
                </a:lnTo>
                <a:lnTo>
                  <a:pt x="0" y="4168"/>
                </a:lnTo>
                <a:lnTo>
                  <a:pt x="1" y="4188"/>
                </a:lnTo>
                <a:lnTo>
                  <a:pt x="2" y="4225"/>
                </a:lnTo>
                <a:lnTo>
                  <a:pt x="8" y="4262"/>
                </a:lnTo>
                <a:lnTo>
                  <a:pt x="16" y="4298"/>
                </a:lnTo>
                <a:lnTo>
                  <a:pt x="21" y="4316"/>
                </a:lnTo>
                <a:lnTo>
                  <a:pt x="28" y="4336"/>
                </a:lnTo>
                <a:lnTo>
                  <a:pt x="42" y="4369"/>
                </a:lnTo>
                <a:lnTo>
                  <a:pt x="57" y="4402"/>
                </a:lnTo>
                <a:lnTo>
                  <a:pt x="75" y="4433"/>
                </a:lnTo>
                <a:lnTo>
                  <a:pt x="98" y="4463"/>
                </a:lnTo>
                <a:lnTo>
                  <a:pt x="121" y="4490"/>
                </a:lnTo>
                <a:lnTo>
                  <a:pt x="148" y="4518"/>
                </a:lnTo>
                <a:lnTo>
                  <a:pt x="178" y="4543"/>
                </a:lnTo>
                <a:lnTo>
                  <a:pt x="211" y="4568"/>
                </a:lnTo>
                <a:lnTo>
                  <a:pt x="246" y="4590"/>
                </a:lnTo>
                <a:lnTo>
                  <a:pt x="283" y="4612"/>
                </a:lnTo>
                <a:lnTo>
                  <a:pt x="322" y="4632"/>
                </a:lnTo>
                <a:lnTo>
                  <a:pt x="366" y="4651"/>
                </a:lnTo>
                <a:lnTo>
                  <a:pt x="410" y="4668"/>
                </a:lnTo>
                <a:lnTo>
                  <a:pt x="459" y="4684"/>
                </a:lnTo>
                <a:lnTo>
                  <a:pt x="511" y="4698"/>
                </a:lnTo>
                <a:lnTo>
                  <a:pt x="565" y="4711"/>
                </a:lnTo>
                <a:lnTo>
                  <a:pt x="591" y="4716"/>
                </a:lnTo>
                <a:lnTo>
                  <a:pt x="620" y="4722"/>
                </a:lnTo>
                <a:lnTo>
                  <a:pt x="679" y="4732"/>
                </a:lnTo>
                <a:lnTo>
                  <a:pt x="740" y="4740"/>
                </a:lnTo>
                <a:lnTo>
                  <a:pt x="805" y="4747"/>
                </a:lnTo>
                <a:lnTo>
                  <a:pt x="871" y="4752"/>
                </a:lnTo>
                <a:lnTo>
                  <a:pt x="904" y="4753"/>
                </a:lnTo>
                <a:lnTo>
                  <a:pt x="940" y="4756"/>
                </a:lnTo>
                <a:lnTo>
                  <a:pt x="1012" y="4758"/>
                </a:lnTo>
                <a:lnTo>
                  <a:pt x="1088" y="4760"/>
                </a:lnTo>
                <a:lnTo>
                  <a:pt x="1125" y="4759"/>
                </a:lnTo>
                <a:lnTo>
                  <a:pt x="1165" y="4759"/>
                </a:lnTo>
                <a:lnTo>
                  <a:pt x="1245" y="4758"/>
                </a:lnTo>
                <a:lnTo>
                  <a:pt x="1328" y="4754"/>
                </a:lnTo>
                <a:lnTo>
                  <a:pt x="1413" y="4751"/>
                </a:lnTo>
                <a:lnTo>
                  <a:pt x="1501" y="4745"/>
                </a:lnTo>
                <a:lnTo>
                  <a:pt x="1592" y="4738"/>
                </a:lnTo>
                <a:lnTo>
                  <a:pt x="1638" y="4733"/>
                </a:lnTo>
                <a:lnTo>
                  <a:pt x="1686" y="4729"/>
                </a:lnTo>
                <a:lnTo>
                  <a:pt x="1783" y="4720"/>
                </a:lnTo>
                <a:lnTo>
                  <a:pt x="1983" y="4693"/>
                </a:lnTo>
                <a:lnTo>
                  <a:pt x="2085" y="4679"/>
                </a:lnTo>
                <a:lnTo>
                  <a:pt x="2188" y="4663"/>
                </a:lnTo>
                <a:lnTo>
                  <a:pt x="2396" y="4627"/>
                </a:lnTo>
                <a:lnTo>
                  <a:pt x="2608" y="4586"/>
                </a:lnTo>
                <a:lnTo>
                  <a:pt x="2715" y="4564"/>
                </a:lnTo>
                <a:lnTo>
                  <a:pt x="2823" y="4540"/>
                </a:lnTo>
                <a:lnTo>
                  <a:pt x="2932" y="4514"/>
                </a:lnTo>
                <a:lnTo>
                  <a:pt x="3044" y="4489"/>
                </a:lnTo>
                <a:lnTo>
                  <a:pt x="3154" y="4460"/>
                </a:lnTo>
                <a:lnTo>
                  <a:pt x="3267" y="4432"/>
                </a:lnTo>
                <a:lnTo>
                  <a:pt x="3380" y="4402"/>
                </a:lnTo>
                <a:lnTo>
                  <a:pt x="3495" y="4372"/>
                </a:lnTo>
                <a:lnTo>
                  <a:pt x="3603" y="4339"/>
                </a:lnTo>
                <a:lnTo>
                  <a:pt x="3714" y="4307"/>
                </a:lnTo>
                <a:lnTo>
                  <a:pt x="3936" y="4240"/>
                </a:lnTo>
                <a:lnTo>
                  <a:pt x="4047" y="4202"/>
                </a:lnTo>
                <a:lnTo>
                  <a:pt x="4161" y="4166"/>
                </a:lnTo>
                <a:lnTo>
                  <a:pt x="4390" y="4090"/>
                </a:lnTo>
                <a:lnTo>
                  <a:pt x="4622" y="4007"/>
                </a:lnTo>
                <a:lnTo>
                  <a:pt x="4858" y="3920"/>
                </a:lnTo>
                <a:lnTo>
                  <a:pt x="5097" y="3829"/>
                </a:lnTo>
                <a:lnTo>
                  <a:pt x="5341" y="3733"/>
                </a:lnTo>
                <a:lnTo>
                  <a:pt x="5436" y="3692"/>
                </a:lnTo>
                <a:lnTo>
                  <a:pt x="5532" y="3653"/>
                </a:lnTo>
                <a:lnTo>
                  <a:pt x="5721" y="3574"/>
                </a:lnTo>
                <a:lnTo>
                  <a:pt x="5814" y="3533"/>
                </a:lnTo>
                <a:lnTo>
                  <a:pt x="5859" y="3512"/>
                </a:lnTo>
                <a:lnTo>
                  <a:pt x="5906" y="3493"/>
                </a:lnTo>
                <a:lnTo>
                  <a:pt x="5997" y="3452"/>
                </a:lnTo>
                <a:lnTo>
                  <a:pt x="6043" y="3432"/>
                </a:lnTo>
                <a:lnTo>
                  <a:pt x="6090" y="3413"/>
                </a:lnTo>
                <a:lnTo>
                  <a:pt x="6178" y="3371"/>
                </a:lnTo>
                <a:lnTo>
                  <a:pt x="6267" y="3330"/>
                </a:lnTo>
                <a:lnTo>
                  <a:pt x="6444" y="3248"/>
                </a:lnTo>
                <a:lnTo>
                  <a:pt x="6615" y="3164"/>
                </a:lnTo>
                <a:lnTo>
                  <a:pt x="6657" y="3143"/>
                </a:lnTo>
                <a:lnTo>
                  <a:pt x="6700" y="3122"/>
                </a:lnTo>
                <a:lnTo>
                  <a:pt x="6786" y="3082"/>
                </a:lnTo>
                <a:lnTo>
                  <a:pt x="6915" y="3013"/>
                </a:lnTo>
                <a:lnTo>
                  <a:pt x="7044" y="2946"/>
                </a:lnTo>
                <a:lnTo>
                  <a:pt x="7106" y="2911"/>
                </a:lnTo>
                <a:lnTo>
                  <a:pt x="7170" y="2878"/>
                </a:lnTo>
                <a:lnTo>
                  <a:pt x="7294" y="2810"/>
                </a:lnTo>
                <a:lnTo>
                  <a:pt x="7416" y="2741"/>
                </a:lnTo>
                <a:lnTo>
                  <a:pt x="7536" y="2672"/>
                </a:lnTo>
                <a:lnTo>
                  <a:pt x="7653" y="2603"/>
                </a:lnTo>
                <a:lnTo>
                  <a:pt x="7770" y="2533"/>
                </a:lnTo>
                <a:lnTo>
                  <a:pt x="7882" y="2461"/>
                </a:lnTo>
                <a:lnTo>
                  <a:pt x="7938" y="2425"/>
                </a:lnTo>
                <a:lnTo>
                  <a:pt x="7951" y="2415"/>
                </a:lnTo>
                <a:lnTo>
                  <a:pt x="7965" y="2407"/>
                </a:lnTo>
                <a:lnTo>
                  <a:pt x="7994" y="2390"/>
                </a:lnTo>
                <a:lnTo>
                  <a:pt x="8103" y="2318"/>
                </a:lnTo>
                <a:lnTo>
                  <a:pt x="8211" y="2247"/>
                </a:lnTo>
                <a:lnTo>
                  <a:pt x="8236" y="2228"/>
                </a:lnTo>
                <a:lnTo>
                  <a:pt x="8263" y="2210"/>
                </a:lnTo>
                <a:lnTo>
                  <a:pt x="8316" y="2174"/>
                </a:lnTo>
                <a:lnTo>
                  <a:pt x="8420" y="2102"/>
                </a:lnTo>
                <a:lnTo>
                  <a:pt x="8521" y="2028"/>
                </a:lnTo>
                <a:lnTo>
                  <a:pt x="8620" y="1956"/>
                </a:lnTo>
                <a:lnTo>
                  <a:pt x="8697" y="1895"/>
                </a:lnTo>
                <a:lnTo>
                  <a:pt x="8773" y="1836"/>
                </a:lnTo>
                <a:lnTo>
                  <a:pt x="8844" y="1777"/>
                </a:lnTo>
                <a:lnTo>
                  <a:pt x="8914" y="1719"/>
                </a:lnTo>
                <a:lnTo>
                  <a:pt x="8980" y="1662"/>
                </a:lnTo>
                <a:lnTo>
                  <a:pt x="9045" y="1605"/>
                </a:lnTo>
                <a:lnTo>
                  <a:pt x="9106" y="1550"/>
                </a:lnTo>
                <a:lnTo>
                  <a:pt x="9165" y="1496"/>
                </a:lnTo>
                <a:lnTo>
                  <a:pt x="9219" y="1442"/>
                </a:lnTo>
                <a:lnTo>
                  <a:pt x="9272" y="1389"/>
                </a:lnTo>
                <a:lnTo>
                  <a:pt x="9321" y="1337"/>
                </a:lnTo>
                <a:lnTo>
                  <a:pt x="9368" y="1286"/>
                </a:lnTo>
                <a:lnTo>
                  <a:pt x="9411" y="1235"/>
                </a:lnTo>
                <a:lnTo>
                  <a:pt x="9453" y="1185"/>
                </a:lnTo>
                <a:lnTo>
                  <a:pt x="9490" y="1136"/>
                </a:lnTo>
                <a:lnTo>
                  <a:pt x="9526" y="1089"/>
                </a:lnTo>
                <a:lnTo>
                  <a:pt x="9558" y="1041"/>
                </a:lnTo>
                <a:lnTo>
                  <a:pt x="9588" y="995"/>
                </a:lnTo>
                <a:lnTo>
                  <a:pt x="9613" y="949"/>
                </a:lnTo>
                <a:lnTo>
                  <a:pt x="9637" y="905"/>
                </a:lnTo>
                <a:lnTo>
                  <a:pt x="9657" y="860"/>
                </a:lnTo>
                <a:lnTo>
                  <a:pt x="9675" y="817"/>
                </a:lnTo>
                <a:lnTo>
                  <a:pt x="9690" y="774"/>
                </a:lnTo>
                <a:lnTo>
                  <a:pt x="9703" y="733"/>
                </a:lnTo>
                <a:lnTo>
                  <a:pt x="9711" y="691"/>
                </a:lnTo>
                <a:lnTo>
                  <a:pt x="9718" y="651"/>
                </a:lnTo>
                <a:lnTo>
                  <a:pt x="9721" y="612"/>
                </a:lnTo>
                <a:lnTo>
                  <a:pt x="9722" y="573"/>
                </a:lnTo>
                <a:lnTo>
                  <a:pt x="9718" y="535"/>
                </a:lnTo>
                <a:lnTo>
                  <a:pt x="9715" y="499"/>
                </a:lnTo>
                <a:lnTo>
                  <a:pt x="9706" y="463"/>
                </a:lnTo>
                <a:lnTo>
                  <a:pt x="9697" y="428"/>
                </a:lnTo>
                <a:close/>
              </a:path>
            </a:pathLst>
          </a:custGeom>
          <a:solidFill>
            <a:srgbClr val="EEEEEE"/>
          </a:solidFill>
          <a:ln w="25400" cap="rnd">
            <a:solidFill>
              <a:srgbClr val="000000"/>
            </a:solidFill>
            <a:prstDash val="sysDot"/>
            <a:round/>
            <a:headEnd/>
            <a:tailEnd/>
          </a:ln>
        </p:spPr>
        <p:txBody>
          <a:bodyPr/>
          <a:lstStyle/>
          <a:p>
            <a:endParaRPr lang="en-IN"/>
          </a:p>
        </p:txBody>
      </p:sp>
      <p:sp>
        <p:nvSpPr>
          <p:cNvPr id="113676" name="Freeform 12">
            <a:extLst>
              <a:ext uri="{FF2B5EF4-FFF2-40B4-BE49-F238E27FC236}">
                <a16:creationId xmlns:a16="http://schemas.microsoft.com/office/drawing/2014/main" id="{F2A640C6-567A-6E23-FE47-A380A97543B2}"/>
              </a:ext>
            </a:extLst>
          </p:cNvPr>
          <p:cNvSpPr>
            <a:spLocks/>
          </p:cNvSpPr>
          <p:nvPr/>
        </p:nvSpPr>
        <p:spPr bwMode="auto">
          <a:xfrm>
            <a:off x="1627188" y="4429125"/>
            <a:ext cx="4505325" cy="1755775"/>
          </a:xfrm>
          <a:custGeom>
            <a:avLst/>
            <a:gdLst>
              <a:gd name="T0" fmla="*/ 8447 w 8514"/>
              <a:gd name="T1" fmla="*/ 228 h 3316"/>
              <a:gd name="T2" fmla="*/ 8358 w 8514"/>
              <a:gd name="T3" fmla="*/ 150 h 3316"/>
              <a:gd name="T4" fmla="*/ 8231 w 8514"/>
              <a:gd name="T5" fmla="*/ 89 h 3316"/>
              <a:gd name="T6" fmla="*/ 8068 w 8514"/>
              <a:gd name="T7" fmla="*/ 44 h 3316"/>
              <a:gd name="T8" fmla="*/ 7866 w 8514"/>
              <a:gd name="T9" fmla="*/ 14 h 3316"/>
              <a:gd name="T10" fmla="*/ 7626 w 8514"/>
              <a:gd name="T11" fmla="*/ 1 h 3316"/>
              <a:gd name="T12" fmla="*/ 7350 w 8514"/>
              <a:gd name="T13" fmla="*/ 4 h 3316"/>
              <a:gd name="T14" fmla="*/ 7040 w 8514"/>
              <a:gd name="T15" fmla="*/ 23 h 3316"/>
              <a:gd name="T16" fmla="*/ 6519 w 8514"/>
              <a:gd name="T17" fmla="*/ 78 h 3316"/>
              <a:gd name="T18" fmla="*/ 5878 w 8514"/>
              <a:gd name="T19" fmla="*/ 184 h 3316"/>
              <a:gd name="T20" fmla="*/ 5396 w 8514"/>
              <a:gd name="T21" fmla="*/ 284 h 3316"/>
              <a:gd name="T22" fmla="*/ 4895 w 8514"/>
              <a:gd name="T23" fmla="*/ 407 h 3316"/>
              <a:gd name="T24" fmla="*/ 4482 w 8514"/>
              <a:gd name="T25" fmla="*/ 520 h 3316"/>
              <a:gd name="T26" fmla="*/ 3948 w 8514"/>
              <a:gd name="T27" fmla="*/ 682 h 3316"/>
              <a:gd name="T28" fmla="*/ 3204 w 8514"/>
              <a:gd name="T29" fmla="*/ 931 h 3316"/>
              <a:gd name="T30" fmla="*/ 2427 w 8514"/>
              <a:gd name="T31" fmla="*/ 1230 h 3316"/>
              <a:gd name="T32" fmla="*/ 1728 w 8514"/>
              <a:gd name="T33" fmla="*/ 1543 h 3316"/>
              <a:gd name="T34" fmla="*/ 1113 w 8514"/>
              <a:gd name="T35" fmla="*/ 1870 h 3316"/>
              <a:gd name="T36" fmla="*/ 772 w 8514"/>
              <a:gd name="T37" fmla="*/ 2077 h 3316"/>
              <a:gd name="T38" fmla="*/ 542 w 8514"/>
              <a:gd name="T39" fmla="*/ 2234 h 3316"/>
              <a:gd name="T40" fmla="*/ 398 w 8514"/>
              <a:gd name="T41" fmla="*/ 2346 h 3316"/>
              <a:gd name="T42" fmla="*/ 239 w 8514"/>
              <a:gd name="T43" fmla="*/ 2489 h 3316"/>
              <a:gd name="T44" fmla="*/ 120 w 8514"/>
              <a:gd name="T45" fmla="*/ 2622 h 3316"/>
              <a:gd name="T46" fmla="*/ 42 w 8514"/>
              <a:gd name="T47" fmla="*/ 2747 h 3316"/>
              <a:gd name="T48" fmla="*/ 11 w 8514"/>
              <a:gd name="T49" fmla="*/ 2833 h 3316"/>
              <a:gd name="T50" fmla="*/ 2 w 8514"/>
              <a:gd name="T51" fmla="*/ 2916 h 3316"/>
              <a:gd name="T52" fmla="*/ 26 w 8514"/>
              <a:gd name="T53" fmla="*/ 3019 h 3316"/>
              <a:gd name="T54" fmla="*/ 87 w 8514"/>
              <a:gd name="T55" fmla="*/ 3108 h 3316"/>
              <a:gd name="T56" fmla="*/ 186 w 8514"/>
              <a:gd name="T57" fmla="*/ 3181 h 3316"/>
              <a:gd name="T58" fmla="*/ 322 w 8514"/>
              <a:gd name="T59" fmla="*/ 3239 h 3316"/>
              <a:gd name="T60" fmla="*/ 496 w 8514"/>
              <a:gd name="T61" fmla="*/ 3281 h 3316"/>
              <a:gd name="T62" fmla="*/ 706 w 8514"/>
              <a:gd name="T63" fmla="*/ 3306 h 3316"/>
              <a:gd name="T64" fmla="*/ 954 w 8514"/>
              <a:gd name="T65" fmla="*/ 3316 h 3316"/>
              <a:gd name="T66" fmla="*/ 1239 w 8514"/>
              <a:gd name="T67" fmla="*/ 3309 h 3316"/>
              <a:gd name="T68" fmla="*/ 1562 w 8514"/>
              <a:gd name="T69" fmla="*/ 3287 h 3316"/>
              <a:gd name="T70" fmla="*/ 1917 w 8514"/>
              <a:gd name="T71" fmla="*/ 3246 h 3316"/>
              <a:gd name="T72" fmla="*/ 2474 w 8514"/>
              <a:gd name="T73" fmla="*/ 3161 h 3316"/>
              <a:gd name="T74" fmla="*/ 3062 w 8514"/>
              <a:gd name="T75" fmla="*/ 3045 h 3316"/>
              <a:gd name="T76" fmla="*/ 3645 w 8514"/>
              <a:gd name="T77" fmla="*/ 2901 h 3316"/>
              <a:gd name="T78" fmla="*/ 4254 w 8514"/>
              <a:gd name="T79" fmla="*/ 2730 h 3316"/>
              <a:gd name="T80" fmla="*/ 4761 w 8514"/>
              <a:gd name="T81" fmla="*/ 2572 h 3316"/>
              <a:gd name="T82" fmla="*/ 5333 w 8514"/>
              <a:gd name="T83" fmla="*/ 2376 h 3316"/>
              <a:gd name="T84" fmla="*/ 5622 w 8514"/>
              <a:gd name="T85" fmla="*/ 2268 h 3316"/>
              <a:gd name="T86" fmla="*/ 5942 w 8514"/>
              <a:gd name="T87" fmla="*/ 2147 h 3316"/>
              <a:gd name="T88" fmla="*/ 6167 w 8514"/>
              <a:gd name="T89" fmla="*/ 2052 h 3316"/>
              <a:gd name="T90" fmla="*/ 6494 w 8514"/>
              <a:gd name="T91" fmla="*/ 1909 h 3316"/>
              <a:gd name="T92" fmla="*/ 6902 w 8514"/>
              <a:gd name="T93" fmla="*/ 1714 h 3316"/>
              <a:gd name="T94" fmla="*/ 7106 w 8514"/>
              <a:gd name="T95" fmla="*/ 1607 h 3316"/>
              <a:gd name="T96" fmla="*/ 7282 w 8514"/>
              <a:gd name="T97" fmla="*/ 1514 h 3316"/>
              <a:gd name="T98" fmla="*/ 7616 w 8514"/>
              <a:gd name="T99" fmla="*/ 1320 h 3316"/>
              <a:gd name="T100" fmla="*/ 7863 w 8514"/>
              <a:gd name="T101" fmla="*/ 1157 h 3316"/>
              <a:gd name="T102" fmla="*/ 8072 w 8514"/>
              <a:gd name="T103" fmla="*/ 1004 h 3316"/>
              <a:gd name="T104" fmla="*/ 8241 w 8514"/>
              <a:gd name="T105" fmla="*/ 860 h 3316"/>
              <a:gd name="T106" fmla="*/ 8369 w 8514"/>
              <a:gd name="T107" fmla="*/ 726 h 3316"/>
              <a:gd name="T108" fmla="*/ 8457 w 8514"/>
              <a:gd name="T109" fmla="*/ 599 h 3316"/>
              <a:gd name="T110" fmla="*/ 8504 w 8514"/>
              <a:gd name="T111" fmla="*/ 482 h 3316"/>
              <a:gd name="T112" fmla="*/ 8511 w 8514"/>
              <a:gd name="T113" fmla="*/ 373 h 3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514" h="3316">
                <a:moveTo>
                  <a:pt x="8492" y="299"/>
                </a:moveTo>
                <a:lnTo>
                  <a:pt x="8478" y="274"/>
                </a:lnTo>
                <a:lnTo>
                  <a:pt x="8465" y="251"/>
                </a:lnTo>
                <a:lnTo>
                  <a:pt x="8447" y="228"/>
                </a:lnTo>
                <a:lnTo>
                  <a:pt x="8429" y="208"/>
                </a:lnTo>
                <a:lnTo>
                  <a:pt x="8406" y="187"/>
                </a:lnTo>
                <a:lnTo>
                  <a:pt x="8384" y="168"/>
                </a:lnTo>
                <a:lnTo>
                  <a:pt x="8358" y="150"/>
                </a:lnTo>
                <a:lnTo>
                  <a:pt x="8331" y="134"/>
                </a:lnTo>
                <a:lnTo>
                  <a:pt x="8298" y="118"/>
                </a:lnTo>
                <a:lnTo>
                  <a:pt x="8266" y="103"/>
                </a:lnTo>
                <a:lnTo>
                  <a:pt x="8231" y="89"/>
                </a:lnTo>
                <a:lnTo>
                  <a:pt x="8194" y="77"/>
                </a:lnTo>
                <a:lnTo>
                  <a:pt x="8154" y="65"/>
                </a:lnTo>
                <a:lnTo>
                  <a:pt x="8112" y="54"/>
                </a:lnTo>
                <a:lnTo>
                  <a:pt x="8068" y="44"/>
                </a:lnTo>
                <a:lnTo>
                  <a:pt x="8021" y="36"/>
                </a:lnTo>
                <a:lnTo>
                  <a:pt x="7972" y="28"/>
                </a:lnTo>
                <a:lnTo>
                  <a:pt x="7920" y="20"/>
                </a:lnTo>
                <a:lnTo>
                  <a:pt x="7866" y="14"/>
                </a:lnTo>
                <a:lnTo>
                  <a:pt x="7810" y="10"/>
                </a:lnTo>
                <a:lnTo>
                  <a:pt x="7751" y="5"/>
                </a:lnTo>
                <a:lnTo>
                  <a:pt x="7690" y="2"/>
                </a:lnTo>
                <a:lnTo>
                  <a:pt x="7626" y="1"/>
                </a:lnTo>
                <a:lnTo>
                  <a:pt x="7563" y="1"/>
                </a:lnTo>
                <a:lnTo>
                  <a:pt x="7494" y="0"/>
                </a:lnTo>
                <a:lnTo>
                  <a:pt x="7424" y="1"/>
                </a:lnTo>
                <a:lnTo>
                  <a:pt x="7350" y="4"/>
                </a:lnTo>
                <a:lnTo>
                  <a:pt x="7277" y="7"/>
                </a:lnTo>
                <a:lnTo>
                  <a:pt x="7199" y="11"/>
                </a:lnTo>
                <a:lnTo>
                  <a:pt x="7121" y="17"/>
                </a:lnTo>
                <a:lnTo>
                  <a:pt x="7040" y="23"/>
                </a:lnTo>
                <a:lnTo>
                  <a:pt x="6957" y="31"/>
                </a:lnTo>
                <a:lnTo>
                  <a:pt x="6784" y="47"/>
                </a:lnTo>
                <a:lnTo>
                  <a:pt x="6609" y="67"/>
                </a:lnTo>
                <a:lnTo>
                  <a:pt x="6519" y="78"/>
                </a:lnTo>
                <a:lnTo>
                  <a:pt x="6430" y="91"/>
                </a:lnTo>
                <a:lnTo>
                  <a:pt x="6250" y="119"/>
                </a:lnTo>
                <a:lnTo>
                  <a:pt x="6065" y="149"/>
                </a:lnTo>
                <a:lnTo>
                  <a:pt x="5878" y="184"/>
                </a:lnTo>
                <a:lnTo>
                  <a:pt x="5782" y="202"/>
                </a:lnTo>
                <a:lnTo>
                  <a:pt x="5687" y="222"/>
                </a:lnTo>
                <a:lnTo>
                  <a:pt x="5495" y="264"/>
                </a:lnTo>
                <a:lnTo>
                  <a:pt x="5396" y="284"/>
                </a:lnTo>
                <a:lnTo>
                  <a:pt x="5297" y="307"/>
                </a:lnTo>
                <a:lnTo>
                  <a:pt x="5198" y="330"/>
                </a:lnTo>
                <a:lnTo>
                  <a:pt x="5098" y="355"/>
                </a:lnTo>
                <a:lnTo>
                  <a:pt x="4895" y="407"/>
                </a:lnTo>
                <a:lnTo>
                  <a:pt x="4793" y="433"/>
                </a:lnTo>
                <a:lnTo>
                  <a:pt x="4691" y="462"/>
                </a:lnTo>
                <a:lnTo>
                  <a:pt x="4587" y="490"/>
                </a:lnTo>
                <a:lnTo>
                  <a:pt x="4482" y="520"/>
                </a:lnTo>
                <a:lnTo>
                  <a:pt x="4377" y="550"/>
                </a:lnTo>
                <a:lnTo>
                  <a:pt x="4271" y="582"/>
                </a:lnTo>
                <a:lnTo>
                  <a:pt x="4056" y="648"/>
                </a:lnTo>
                <a:lnTo>
                  <a:pt x="3948" y="682"/>
                </a:lnTo>
                <a:lnTo>
                  <a:pt x="3840" y="718"/>
                </a:lnTo>
                <a:lnTo>
                  <a:pt x="3622" y="787"/>
                </a:lnTo>
                <a:lnTo>
                  <a:pt x="3411" y="859"/>
                </a:lnTo>
                <a:lnTo>
                  <a:pt x="3204" y="931"/>
                </a:lnTo>
                <a:lnTo>
                  <a:pt x="3003" y="1006"/>
                </a:lnTo>
                <a:lnTo>
                  <a:pt x="2806" y="1079"/>
                </a:lnTo>
                <a:lnTo>
                  <a:pt x="2614" y="1154"/>
                </a:lnTo>
                <a:lnTo>
                  <a:pt x="2427" y="1230"/>
                </a:lnTo>
                <a:lnTo>
                  <a:pt x="2246" y="1308"/>
                </a:lnTo>
                <a:lnTo>
                  <a:pt x="2068" y="1385"/>
                </a:lnTo>
                <a:lnTo>
                  <a:pt x="1896" y="1464"/>
                </a:lnTo>
                <a:lnTo>
                  <a:pt x="1728" y="1543"/>
                </a:lnTo>
                <a:lnTo>
                  <a:pt x="1568" y="1624"/>
                </a:lnTo>
                <a:lnTo>
                  <a:pt x="1410" y="1704"/>
                </a:lnTo>
                <a:lnTo>
                  <a:pt x="1259" y="1787"/>
                </a:lnTo>
                <a:lnTo>
                  <a:pt x="1113" y="1870"/>
                </a:lnTo>
                <a:lnTo>
                  <a:pt x="971" y="1955"/>
                </a:lnTo>
                <a:lnTo>
                  <a:pt x="902" y="1996"/>
                </a:lnTo>
                <a:lnTo>
                  <a:pt x="836" y="2038"/>
                </a:lnTo>
                <a:lnTo>
                  <a:pt x="772" y="2077"/>
                </a:lnTo>
                <a:lnTo>
                  <a:pt x="711" y="2118"/>
                </a:lnTo>
                <a:lnTo>
                  <a:pt x="652" y="2156"/>
                </a:lnTo>
                <a:lnTo>
                  <a:pt x="596" y="2196"/>
                </a:lnTo>
                <a:lnTo>
                  <a:pt x="542" y="2234"/>
                </a:lnTo>
                <a:lnTo>
                  <a:pt x="492" y="2273"/>
                </a:lnTo>
                <a:lnTo>
                  <a:pt x="443" y="2309"/>
                </a:lnTo>
                <a:lnTo>
                  <a:pt x="419" y="2327"/>
                </a:lnTo>
                <a:lnTo>
                  <a:pt x="398" y="2346"/>
                </a:lnTo>
                <a:lnTo>
                  <a:pt x="353" y="2382"/>
                </a:lnTo>
                <a:lnTo>
                  <a:pt x="314" y="2419"/>
                </a:lnTo>
                <a:lnTo>
                  <a:pt x="274" y="2453"/>
                </a:lnTo>
                <a:lnTo>
                  <a:pt x="239" y="2489"/>
                </a:lnTo>
                <a:lnTo>
                  <a:pt x="206" y="2523"/>
                </a:lnTo>
                <a:lnTo>
                  <a:pt x="176" y="2557"/>
                </a:lnTo>
                <a:lnTo>
                  <a:pt x="146" y="2589"/>
                </a:lnTo>
                <a:lnTo>
                  <a:pt x="120" y="2622"/>
                </a:lnTo>
                <a:lnTo>
                  <a:pt x="96" y="2653"/>
                </a:lnTo>
                <a:lnTo>
                  <a:pt x="76" y="2686"/>
                </a:lnTo>
                <a:lnTo>
                  <a:pt x="58" y="2716"/>
                </a:lnTo>
                <a:lnTo>
                  <a:pt x="42" y="2747"/>
                </a:lnTo>
                <a:lnTo>
                  <a:pt x="29" y="2776"/>
                </a:lnTo>
                <a:lnTo>
                  <a:pt x="23" y="2790"/>
                </a:lnTo>
                <a:lnTo>
                  <a:pt x="20" y="2806"/>
                </a:lnTo>
                <a:lnTo>
                  <a:pt x="11" y="2833"/>
                </a:lnTo>
                <a:lnTo>
                  <a:pt x="5" y="2862"/>
                </a:lnTo>
                <a:lnTo>
                  <a:pt x="2" y="2889"/>
                </a:lnTo>
                <a:lnTo>
                  <a:pt x="0" y="2902"/>
                </a:lnTo>
                <a:lnTo>
                  <a:pt x="2" y="2916"/>
                </a:lnTo>
                <a:lnTo>
                  <a:pt x="3" y="2941"/>
                </a:lnTo>
                <a:lnTo>
                  <a:pt x="9" y="2968"/>
                </a:lnTo>
                <a:lnTo>
                  <a:pt x="15" y="2993"/>
                </a:lnTo>
                <a:lnTo>
                  <a:pt x="26" y="3019"/>
                </a:lnTo>
                <a:lnTo>
                  <a:pt x="36" y="3042"/>
                </a:lnTo>
                <a:lnTo>
                  <a:pt x="51" y="3065"/>
                </a:lnTo>
                <a:lnTo>
                  <a:pt x="66" y="3087"/>
                </a:lnTo>
                <a:lnTo>
                  <a:pt x="87" y="3108"/>
                </a:lnTo>
                <a:lnTo>
                  <a:pt x="107" y="3127"/>
                </a:lnTo>
                <a:lnTo>
                  <a:pt x="131" y="3147"/>
                </a:lnTo>
                <a:lnTo>
                  <a:pt x="156" y="3163"/>
                </a:lnTo>
                <a:lnTo>
                  <a:pt x="186" y="3181"/>
                </a:lnTo>
                <a:lnTo>
                  <a:pt x="216" y="3196"/>
                </a:lnTo>
                <a:lnTo>
                  <a:pt x="249" y="3211"/>
                </a:lnTo>
                <a:lnTo>
                  <a:pt x="284" y="3225"/>
                </a:lnTo>
                <a:lnTo>
                  <a:pt x="322" y="3239"/>
                </a:lnTo>
                <a:lnTo>
                  <a:pt x="362" y="3250"/>
                </a:lnTo>
                <a:lnTo>
                  <a:pt x="404" y="3262"/>
                </a:lnTo>
                <a:lnTo>
                  <a:pt x="448" y="3271"/>
                </a:lnTo>
                <a:lnTo>
                  <a:pt x="496" y="3281"/>
                </a:lnTo>
                <a:lnTo>
                  <a:pt x="544" y="3288"/>
                </a:lnTo>
                <a:lnTo>
                  <a:pt x="596" y="3295"/>
                </a:lnTo>
                <a:lnTo>
                  <a:pt x="650" y="3300"/>
                </a:lnTo>
                <a:lnTo>
                  <a:pt x="706" y="3306"/>
                </a:lnTo>
                <a:lnTo>
                  <a:pt x="764" y="3309"/>
                </a:lnTo>
                <a:lnTo>
                  <a:pt x="825" y="3312"/>
                </a:lnTo>
                <a:lnTo>
                  <a:pt x="888" y="3313"/>
                </a:lnTo>
                <a:lnTo>
                  <a:pt x="954" y="3316"/>
                </a:lnTo>
                <a:lnTo>
                  <a:pt x="1020" y="3315"/>
                </a:lnTo>
                <a:lnTo>
                  <a:pt x="1091" y="3313"/>
                </a:lnTo>
                <a:lnTo>
                  <a:pt x="1163" y="3311"/>
                </a:lnTo>
                <a:lnTo>
                  <a:pt x="1239" y="3309"/>
                </a:lnTo>
                <a:lnTo>
                  <a:pt x="1314" y="3304"/>
                </a:lnTo>
                <a:lnTo>
                  <a:pt x="1395" y="3299"/>
                </a:lnTo>
                <a:lnTo>
                  <a:pt x="1476" y="3293"/>
                </a:lnTo>
                <a:lnTo>
                  <a:pt x="1562" y="3287"/>
                </a:lnTo>
                <a:lnTo>
                  <a:pt x="1648" y="3277"/>
                </a:lnTo>
                <a:lnTo>
                  <a:pt x="1737" y="3268"/>
                </a:lnTo>
                <a:lnTo>
                  <a:pt x="1826" y="3257"/>
                </a:lnTo>
                <a:lnTo>
                  <a:pt x="1917" y="3246"/>
                </a:lnTo>
                <a:lnTo>
                  <a:pt x="2007" y="3233"/>
                </a:lnTo>
                <a:lnTo>
                  <a:pt x="2099" y="3221"/>
                </a:lnTo>
                <a:lnTo>
                  <a:pt x="2285" y="3193"/>
                </a:lnTo>
                <a:lnTo>
                  <a:pt x="2474" y="3161"/>
                </a:lnTo>
                <a:lnTo>
                  <a:pt x="2667" y="3126"/>
                </a:lnTo>
                <a:lnTo>
                  <a:pt x="2862" y="3087"/>
                </a:lnTo>
                <a:lnTo>
                  <a:pt x="2961" y="3065"/>
                </a:lnTo>
                <a:lnTo>
                  <a:pt x="3062" y="3045"/>
                </a:lnTo>
                <a:lnTo>
                  <a:pt x="3252" y="2999"/>
                </a:lnTo>
                <a:lnTo>
                  <a:pt x="3348" y="2975"/>
                </a:lnTo>
                <a:lnTo>
                  <a:pt x="3447" y="2952"/>
                </a:lnTo>
                <a:lnTo>
                  <a:pt x="3645" y="2901"/>
                </a:lnTo>
                <a:lnTo>
                  <a:pt x="3845" y="2848"/>
                </a:lnTo>
                <a:lnTo>
                  <a:pt x="4048" y="2790"/>
                </a:lnTo>
                <a:lnTo>
                  <a:pt x="4150" y="2760"/>
                </a:lnTo>
                <a:lnTo>
                  <a:pt x="4254" y="2730"/>
                </a:lnTo>
                <a:lnTo>
                  <a:pt x="4464" y="2667"/>
                </a:lnTo>
                <a:lnTo>
                  <a:pt x="4570" y="2633"/>
                </a:lnTo>
                <a:lnTo>
                  <a:pt x="4678" y="2601"/>
                </a:lnTo>
                <a:lnTo>
                  <a:pt x="4761" y="2572"/>
                </a:lnTo>
                <a:lnTo>
                  <a:pt x="4845" y="2544"/>
                </a:lnTo>
                <a:lnTo>
                  <a:pt x="5010" y="2489"/>
                </a:lnTo>
                <a:lnTo>
                  <a:pt x="5172" y="2431"/>
                </a:lnTo>
                <a:lnTo>
                  <a:pt x="5333" y="2376"/>
                </a:lnTo>
                <a:lnTo>
                  <a:pt x="5488" y="2318"/>
                </a:lnTo>
                <a:lnTo>
                  <a:pt x="5565" y="2290"/>
                </a:lnTo>
                <a:lnTo>
                  <a:pt x="5603" y="2275"/>
                </a:lnTo>
                <a:lnTo>
                  <a:pt x="5622" y="2268"/>
                </a:lnTo>
                <a:lnTo>
                  <a:pt x="5632" y="2264"/>
                </a:lnTo>
                <a:lnTo>
                  <a:pt x="5643" y="2262"/>
                </a:lnTo>
                <a:lnTo>
                  <a:pt x="5793" y="2204"/>
                </a:lnTo>
                <a:lnTo>
                  <a:pt x="5942" y="2147"/>
                </a:lnTo>
                <a:lnTo>
                  <a:pt x="6056" y="2099"/>
                </a:lnTo>
                <a:lnTo>
                  <a:pt x="6111" y="2075"/>
                </a:lnTo>
                <a:lnTo>
                  <a:pt x="6138" y="2063"/>
                </a:lnTo>
                <a:lnTo>
                  <a:pt x="6167" y="2052"/>
                </a:lnTo>
                <a:lnTo>
                  <a:pt x="6278" y="2004"/>
                </a:lnTo>
                <a:lnTo>
                  <a:pt x="6332" y="1980"/>
                </a:lnTo>
                <a:lnTo>
                  <a:pt x="6387" y="1957"/>
                </a:lnTo>
                <a:lnTo>
                  <a:pt x="6494" y="1909"/>
                </a:lnTo>
                <a:lnTo>
                  <a:pt x="6598" y="1861"/>
                </a:lnTo>
                <a:lnTo>
                  <a:pt x="6701" y="1812"/>
                </a:lnTo>
                <a:lnTo>
                  <a:pt x="6803" y="1764"/>
                </a:lnTo>
                <a:lnTo>
                  <a:pt x="6902" y="1714"/>
                </a:lnTo>
                <a:lnTo>
                  <a:pt x="6950" y="1688"/>
                </a:lnTo>
                <a:lnTo>
                  <a:pt x="6999" y="1664"/>
                </a:lnTo>
                <a:lnTo>
                  <a:pt x="7095" y="1614"/>
                </a:lnTo>
                <a:lnTo>
                  <a:pt x="7106" y="1607"/>
                </a:lnTo>
                <a:lnTo>
                  <a:pt x="7118" y="1601"/>
                </a:lnTo>
                <a:lnTo>
                  <a:pt x="7142" y="1589"/>
                </a:lnTo>
                <a:lnTo>
                  <a:pt x="7190" y="1565"/>
                </a:lnTo>
                <a:lnTo>
                  <a:pt x="7282" y="1514"/>
                </a:lnTo>
                <a:lnTo>
                  <a:pt x="7372" y="1464"/>
                </a:lnTo>
                <a:lnTo>
                  <a:pt x="7461" y="1414"/>
                </a:lnTo>
                <a:lnTo>
                  <a:pt x="7548" y="1363"/>
                </a:lnTo>
                <a:lnTo>
                  <a:pt x="7616" y="1320"/>
                </a:lnTo>
                <a:lnTo>
                  <a:pt x="7682" y="1278"/>
                </a:lnTo>
                <a:lnTo>
                  <a:pt x="7745" y="1237"/>
                </a:lnTo>
                <a:lnTo>
                  <a:pt x="7806" y="1198"/>
                </a:lnTo>
                <a:lnTo>
                  <a:pt x="7863" y="1157"/>
                </a:lnTo>
                <a:lnTo>
                  <a:pt x="7919" y="1118"/>
                </a:lnTo>
                <a:lnTo>
                  <a:pt x="7973" y="1080"/>
                </a:lnTo>
                <a:lnTo>
                  <a:pt x="8025" y="1043"/>
                </a:lnTo>
                <a:lnTo>
                  <a:pt x="8072" y="1004"/>
                </a:lnTo>
                <a:lnTo>
                  <a:pt x="8118" y="967"/>
                </a:lnTo>
                <a:lnTo>
                  <a:pt x="8162" y="931"/>
                </a:lnTo>
                <a:lnTo>
                  <a:pt x="8204" y="896"/>
                </a:lnTo>
                <a:lnTo>
                  <a:pt x="8241" y="860"/>
                </a:lnTo>
                <a:lnTo>
                  <a:pt x="8277" y="826"/>
                </a:lnTo>
                <a:lnTo>
                  <a:pt x="8309" y="792"/>
                </a:lnTo>
                <a:lnTo>
                  <a:pt x="8342" y="760"/>
                </a:lnTo>
                <a:lnTo>
                  <a:pt x="8369" y="726"/>
                </a:lnTo>
                <a:lnTo>
                  <a:pt x="8394" y="694"/>
                </a:lnTo>
                <a:lnTo>
                  <a:pt x="8417" y="661"/>
                </a:lnTo>
                <a:lnTo>
                  <a:pt x="8439" y="630"/>
                </a:lnTo>
                <a:lnTo>
                  <a:pt x="8457" y="599"/>
                </a:lnTo>
                <a:lnTo>
                  <a:pt x="8472" y="569"/>
                </a:lnTo>
                <a:lnTo>
                  <a:pt x="8486" y="540"/>
                </a:lnTo>
                <a:lnTo>
                  <a:pt x="8496" y="511"/>
                </a:lnTo>
                <a:lnTo>
                  <a:pt x="8504" y="482"/>
                </a:lnTo>
                <a:lnTo>
                  <a:pt x="8510" y="454"/>
                </a:lnTo>
                <a:lnTo>
                  <a:pt x="8513" y="426"/>
                </a:lnTo>
                <a:lnTo>
                  <a:pt x="8514" y="400"/>
                </a:lnTo>
                <a:lnTo>
                  <a:pt x="8511" y="373"/>
                </a:lnTo>
                <a:lnTo>
                  <a:pt x="8507" y="348"/>
                </a:lnTo>
                <a:lnTo>
                  <a:pt x="8500" y="323"/>
                </a:lnTo>
                <a:lnTo>
                  <a:pt x="8492" y="299"/>
                </a:lnTo>
                <a:close/>
              </a:path>
            </a:pathLst>
          </a:custGeom>
          <a:solidFill>
            <a:srgbClr val="EEEEEE"/>
          </a:solidFill>
          <a:ln w="25400" cap="rnd">
            <a:solidFill>
              <a:srgbClr val="000000"/>
            </a:solidFill>
            <a:prstDash val="sysDot"/>
            <a:round/>
            <a:headEnd/>
            <a:tailEnd/>
          </a:ln>
        </p:spPr>
        <p:txBody>
          <a:bodyPr/>
          <a:lstStyle/>
          <a:p>
            <a:endParaRPr lang="en-IN"/>
          </a:p>
        </p:txBody>
      </p:sp>
      <p:sp>
        <p:nvSpPr>
          <p:cNvPr id="152183" name="Freeform 2679">
            <a:extLst>
              <a:ext uri="{FF2B5EF4-FFF2-40B4-BE49-F238E27FC236}">
                <a16:creationId xmlns:a16="http://schemas.microsoft.com/office/drawing/2014/main" id="{0B24A474-3BB3-0641-B36D-BB53502A4171}"/>
              </a:ext>
            </a:extLst>
          </p:cNvPr>
          <p:cNvSpPr>
            <a:spLocks/>
          </p:cNvSpPr>
          <p:nvPr/>
        </p:nvSpPr>
        <p:spPr bwMode="auto">
          <a:xfrm>
            <a:off x="1676400" y="2667000"/>
            <a:ext cx="3619500" cy="2339975"/>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113666" name="Rectangle 2">
            <a:extLst>
              <a:ext uri="{FF2B5EF4-FFF2-40B4-BE49-F238E27FC236}">
                <a16:creationId xmlns:a16="http://schemas.microsoft.com/office/drawing/2014/main" id="{D2955203-928A-3991-3863-66B97404E0E9}"/>
              </a:ext>
            </a:extLst>
          </p:cNvPr>
          <p:cNvSpPr>
            <a:spLocks noGrp="1" noChangeArrowheads="1"/>
          </p:cNvSpPr>
          <p:nvPr>
            <p:ph type="title"/>
          </p:nvPr>
        </p:nvSpPr>
        <p:spPr/>
        <p:txBody>
          <a:bodyPr/>
          <a:lstStyle/>
          <a:p>
            <a:r>
              <a:rPr lang="en-US" altLang="zh-CN">
                <a:ea typeface="宋体" panose="02010600030101010101" pitchFamily="2" charset="-122"/>
              </a:rPr>
              <a:t>Securing IPSAN with iSNS discovery domains</a:t>
            </a:r>
          </a:p>
        </p:txBody>
      </p:sp>
      <p:sp>
        <p:nvSpPr>
          <p:cNvPr id="114430" name="Rectangle 766">
            <a:extLst>
              <a:ext uri="{FF2B5EF4-FFF2-40B4-BE49-F238E27FC236}">
                <a16:creationId xmlns:a16="http://schemas.microsoft.com/office/drawing/2014/main" id="{9FB6A0A3-AF25-560C-4EE2-56F23230DDC1}"/>
              </a:ext>
            </a:extLst>
          </p:cNvPr>
          <p:cNvSpPr>
            <a:spLocks noChangeArrowheads="1"/>
          </p:cNvSpPr>
          <p:nvPr/>
        </p:nvSpPr>
        <p:spPr bwMode="auto">
          <a:xfrm>
            <a:off x="1900238" y="1219200"/>
            <a:ext cx="11049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Management</a:t>
            </a:r>
            <a:endParaRPr lang="en-US" altLang="zh-CN">
              <a:solidFill>
                <a:srgbClr val="003580"/>
              </a:solidFill>
              <a:ea typeface="宋体" panose="02010600030101010101" pitchFamily="2" charset="-122"/>
            </a:endParaRPr>
          </a:p>
        </p:txBody>
      </p:sp>
      <p:sp>
        <p:nvSpPr>
          <p:cNvPr id="114431" name="Rectangle 767">
            <a:extLst>
              <a:ext uri="{FF2B5EF4-FFF2-40B4-BE49-F238E27FC236}">
                <a16:creationId xmlns:a16="http://schemas.microsoft.com/office/drawing/2014/main" id="{F0513273-3DDA-98BA-5CC6-5391036EBC2D}"/>
              </a:ext>
            </a:extLst>
          </p:cNvPr>
          <p:cNvSpPr>
            <a:spLocks noChangeArrowheads="1"/>
          </p:cNvSpPr>
          <p:nvPr/>
        </p:nvSpPr>
        <p:spPr bwMode="auto">
          <a:xfrm>
            <a:off x="2081213" y="1428750"/>
            <a:ext cx="7429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Platform</a:t>
            </a:r>
            <a:endParaRPr lang="en-US" altLang="zh-CN">
              <a:solidFill>
                <a:srgbClr val="003580"/>
              </a:solidFill>
              <a:ea typeface="宋体" panose="02010600030101010101" pitchFamily="2" charset="-122"/>
            </a:endParaRPr>
          </a:p>
        </p:txBody>
      </p:sp>
      <p:sp>
        <p:nvSpPr>
          <p:cNvPr id="114432" name="Freeform 768">
            <a:extLst>
              <a:ext uri="{FF2B5EF4-FFF2-40B4-BE49-F238E27FC236}">
                <a16:creationId xmlns:a16="http://schemas.microsoft.com/office/drawing/2014/main" id="{05DE7E76-6826-ABA6-65F7-606A59F708D4}"/>
              </a:ext>
            </a:extLst>
          </p:cNvPr>
          <p:cNvSpPr>
            <a:spLocks/>
          </p:cNvSpPr>
          <p:nvPr/>
        </p:nvSpPr>
        <p:spPr bwMode="auto">
          <a:xfrm>
            <a:off x="2178050" y="3871913"/>
            <a:ext cx="698500" cy="682625"/>
          </a:xfrm>
          <a:custGeom>
            <a:avLst/>
            <a:gdLst>
              <a:gd name="T0" fmla="*/ 0 w 1321"/>
              <a:gd name="T1" fmla="*/ 1228 h 1288"/>
              <a:gd name="T2" fmla="*/ 114 w 1321"/>
              <a:gd name="T3" fmla="*/ 1288 h 1288"/>
              <a:gd name="T4" fmla="*/ 1321 w 1321"/>
              <a:gd name="T5" fmla="*/ 74 h 1288"/>
              <a:gd name="T6" fmla="*/ 1247 w 1321"/>
              <a:gd name="T7" fmla="*/ 0 h 1288"/>
              <a:gd name="T8" fmla="*/ 0 w 1321"/>
              <a:gd name="T9" fmla="*/ 1228 h 1288"/>
            </a:gdLst>
            <a:ahLst/>
            <a:cxnLst>
              <a:cxn ang="0">
                <a:pos x="T0" y="T1"/>
              </a:cxn>
              <a:cxn ang="0">
                <a:pos x="T2" y="T3"/>
              </a:cxn>
              <a:cxn ang="0">
                <a:pos x="T4" y="T5"/>
              </a:cxn>
              <a:cxn ang="0">
                <a:pos x="T6" y="T7"/>
              </a:cxn>
              <a:cxn ang="0">
                <a:pos x="T8" y="T9"/>
              </a:cxn>
            </a:cxnLst>
            <a:rect l="0" t="0" r="r" b="b"/>
            <a:pathLst>
              <a:path w="1321" h="1288">
                <a:moveTo>
                  <a:pt x="0" y="1228"/>
                </a:moveTo>
                <a:lnTo>
                  <a:pt x="114" y="1288"/>
                </a:lnTo>
                <a:lnTo>
                  <a:pt x="1321" y="74"/>
                </a:lnTo>
                <a:lnTo>
                  <a:pt x="1247" y="0"/>
                </a:lnTo>
                <a:lnTo>
                  <a:pt x="0" y="12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4433" name="Freeform 769">
            <a:extLst>
              <a:ext uri="{FF2B5EF4-FFF2-40B4-BE49-F238E27FC236}">
                <a16:creationId xmlns:a16="http://schemas.microsoft.com/office/drawing/2014/main" id="{A6FA30D8-6572-F6D7-279D-DEF26F1339DD}"/>
              </a:ext>
            </a:extLst>
          </p:cNvPr>
          <p:cNvSpPr>
            <a:spLocks/>
          </p:cNvSpPr>
          <p:nvPr/>
        </p:nvSpPr>
        <p:spPr bwMode="auto">
          <a:xfrm>
            <a:off x="2171700" y="4437063"/>
            <a:ext cx="131763" cy="131762"/>
          </a:xfrm>
          <a:custGeom>
            <a:avLst/>
            <a:gdLst>
              <a:gd name="T0" fmla="*/ 34 w 250"/>
              <a:gd name="T1" fmla="*/ 0 h 249"/>
              <a:gd name="T2" fmla="*/ 0 w 250"/>
              <a:gd name="T3" fmla="*/ 249 h 249"/>
              <a:gd name="T4" fmla="*/ 250 w 250"/>
              <a:gd name="T5" fmla="*/ 216 h 249"/>
              <a:gd name="T6" fmla="*/ 34 w 250"/>
              <a:gd name="T7" fmla="*/ 0 h 249"/>
            </a:gdLst>
            <a:ahLst/>
            <a:cxnLst>
              <a:cxn ang="0">
                <a:pos x="T0" y="T1"/>
              </a:cxn>
              <a:cxn ang="0">
                <a:pos x="T2" y="T3"/>
              </a:cxn>
              <a:cxn ang="0">
                <a:pos x="T4" y="T5"/>
              </a:cxn>
              <a:cxn ang="0">
                <a:pos x="T6" y="T7"/>
              </a:cxn>
            </a:cxnLst>
            <a:rect l="0" t="0" r="r" b="b"/>
            <a:pathLst>
              <a:path w="250" h="249">
                <a:moveTo>
                  <a:pt x="34" y="0"/>
                </a:moveTo>
                <a:lnTo>
                  <a:pt x="0" y="249"/>
                </a:lnTo>
                <a:lnTo>
                  <a:pt x="250" y="216"/>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4434" name="Freeform 770">
            <a:extLst>
              <a:ext uri="{FF2B5EF4-FFF2-40B4-BE49-F238E27FC236}">
                <a16:creationId xmlns:a16="http://schemas.microsoft.com/office/drawing/2014/main" id="{C0B5C29C-FA99-009D-8633-7E94E9EA7819}"/>
              </a:ext>
            </a:extLst>
          </p:cNvPr>
          <p:cNvSpPr>
            <a:spLocks/>
          </p:cNvSpPr>
          <p:nvPr/>
        </p:nvSpPr>
        <p:spPr bwMode="auto">
          <a:xfrm>
            <a:off x="2784475" y="3833813"/>
            <a:ext cx="130175" cy="131762"/>
          </a:xfrm>
          <a:custGeom>
            <a:avLst/>
            <a:gdLst>
              <a:gd name="T0" fmla="*/ 248 w 248"/>
              <a:gd name="T1" fmla="*/ 0 h 250"/>
              <a:gd name="T2" fmla="*/ 0 w 248"/>
              <a:gd name="T3" fmla="*/ 34 h 250"/>
              <a:gd name="T4" fmla="*/ 216 w 248"/>
              <a:gd name="T5" fmla="*/ 250 h 250"/>
              <a:gd name="T6" fmla="*/ 248 w 248"/>
              <a:gd name="T7" fmla="*/ 0 h 250"/>
            </a:gdLst>
            <a:ahLst/>
            <a:cxnLst>
              <a:cxn ang="0">
                <a:pos x="T0" y="T1"/>
              </a:cxn>
              <a:cxn ang="0">
                <a:pos x="T2" y="T3"/>
              </a:cxn>
              <a:cxn ang="0">
                <a:pos x="T4" y="T5"/>
              </a:cxn>
              <a:cxn ang="0">
                <a:pos x="T6" y="T7"/>
              </a:cxn>
            </a:cxnLst>
            <a:rect l="0" t="0" r="r" b="b"/>
            <a:pathLst>
              <a:path w="248" h="250">
                <a:moveTo>
                  <a:pt x="248" y="0"/>
                </a:moveTo>
                <a:lnTo>
                  <a:pt x="0" y="34"/>
                </a:lnTo>
                <a:lnTo>
                  <a:pt x="216" y="250"/>
                </a:lnTo>
                <a:lnTo>
                  <a:pt x="2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4435" name="Rectangle 771">
            <a:extLst>
              <a:ext uri="{FF2B5EF4-FFF2-40B4-BE49-F238E27FC236}">
                <a16:creationId xmlns:a16="http://schemas.microsoft.com/office/drawing/2014/main" id="{1F243134-FDAD-CB5B-EF84-8534F456115F}"/>
              </a:ext>
            </a:extLst>
          </p:cNvPr>
          <p:cNvSpPr>
            <a:spLocks noChangeArrowheads="1"/>
          </p:cNvSpPr>
          <p:nvPr/>
        </p:nvSpPr>
        <p:spPr bwMode="auto">
          <a:xfrm>
            <a:off x="3038475" y="3571875"/>
            <a:ext cx="3968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iSNS</a:t>
            </a:r>
            <a:endParaRPr lang="en-US" altLang="zh-CN">
              <a:solidFill>
                <a:srgbClr val="003580"/>
              </a:solidFill>
              <a:ea typeface="宋体" panose="02010600030101010101" pitchFamily="2" charset="-122"/>
            </a:endParaRPr>
          </a:p>
        </p:txBody>
      </p:sp>
      <p:sp>
        <p:nvSpPr>
          <p:cNvPr id="114436" name="Freeform 772">
            <a:extLst>
              <a:ext uri="{FF2B5EF4-FFF2-40B4-BE49-F238E27FC236}">
                <a16:creationId xmlns:a16="http://schemas.microsoft.com/office/drawing/2014/main" id="{2A7B7EA2-4EF9-A8E8-D520-18141D999E72}"/>
              </a:ext>
            </a:extLst>
          </p:cNvPr>
          <p:cNvSpPr>
            <a:spLocks/>
          </p:cNvSpPr>
          <p:nvPr/>
        </p:nvSpPr>
        <p:spPr bwMode="auto">
          <a:xfrm>
            <a:off x="3506788" y="3884613"/>
            <a:ext cx="906462" cy="892175"/>
          </a:xfrm>
          <a:custGeom>
            <a:avLst/>
            <a:gdLst>
              <a:gd name="T0" fmla="*/ 1603 w 1712"/>
              <a:gd name="T1" fmla="*/ 1685 h 1685"/>
              <a:gd name="T2" fmla="*/ 1712 w 1712"/>
              <a:gd name="T3" fmla="*/ 1631 h 1685"/>
              <a:gd name="T4" fmla="*/ 73 w 1712"/>
              <a:gd name="T5" fmla="*/ 0 h 1685"/>
              <a:gd name="T6" fmla="*/ 0 w 1712"/>
              <a:gd name="T7" fmla="*/ 74 h 1685"/>
              <a:gd name="T8" fmla="*/ 1603 w 1712"/>
              <a:gd name="T9" fmla="*/ 1685 h 1685"/>
            </a:gdLst>
            <a:ahLst/>
            <a:cxnLst>
              <a:cxn ang="0">
                <a:pos x="T0" y="T1"/>
              </a:cxn>
              <a:cxn ang="0">
                <a:pos x="T2" y="T3"/>
              </a:cxn>
              <a:cxn ang="0">
                <a:pos x="T4" y="T5"/>
              </a:cxn>
              <a:cxn ang="0">
                <a:pos x="T6" y="T7"/>
              </a:cxn>
              <a:cxn ang="0">
                <a:pos x="T8" y="T9"/>
              </a:cxn>
            </a:cxnLst>
            <a:rect l="0" t="0" r="r" b="b"/>
            <a:pathLst>
              <a:path w="1712" h="1685">
                <a:moveTo>
                  <a:pt x="1603" y="1685"/>
                </a:moveTo>
                <a:lnTo>
                  <a:pt x="1712" y="1631"/>
                </a:lnTo>
                <a:lnTo>
                  <a:pt x="73" y="0"/>
                </a:lnTo>
                <a:lnTo>
                  <a:pt x="0" y="74"/>
                </a:lnTo>
                <a:lnTo>
                  <a:pt x="1603" y="16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4437" name="Freeform 773">
            <a:extLst>
              <a:ext uri="{FF2B5EF4-FFF2-40B4-BE49-F238E27FC236}">
                <a16:creationId xmlns:a16="http://schemas.microsoft.com/office/drawing/2014/main" id="{D3B3C434-F0EA-5352-CB7F-C01773DE1D97}"/>
              </a:ext>
            </a:extLst>
          </p:cNvPr>
          <p:cNvSpPr>
            <a:spLocks/>
          </p:cNvSpPr>
          <p:nvPr/>
        </p:nvSpPr>
        <p:spPr bwMode="auto">
          <a:xfrm>
            <a:off x="4319588" y="4699000"/>
            <a:ext cx="131762" cy="130175"/>
          </a:xfrm>
          <a:custGeom>
            <a:avLst/>
            <a:gdLst>
              <a:gd name="T0" fmla="*/ 216 w 250"/>
              <a:gd name="T1" fmla="*/ 0 h 248"/>
              <a:gd name="T2" fmla="*/ 250 w 250"/>
              <a:gd name="T3" fmla="*/ 248 h 248"/>
              <a:gd name="T4" fmla="*/ 0 w 250"/>
              <a:gd name="T5" fmla="*/ 216 h 248"/>
              <a:gd name="T6" fmla="*/ 216 w 250"/>
              <a:gd name="T7" fmla="*/ 0 h 248"/>
            </a:gdLst>
            <a:ahLst/>
            <a:cxnLst>
              <a:cxn ang="0">
                <a:pos x="T0" y="T1"/>
              </a:cxn>
              <a:cxn ang="0">
                <a:pos x="T2" y="T3"/>
              </a:cxn>
              <a:cxn ang="0">
                <a:pos x="T4" y="T5"/>
              </a:cxn>
              <a:cxn ang="0">
                <a:pos x="T6" y="T7"/>
              </a:cxn>
            </a:cxnLst>
            <a:rect l="0" t="0" r="r" b="b"/>
            <a:pathLst>
              <a:path w="250" h="248">
                <a:moveTo>
                  <a:pt x="216" y="0"/>
                </a:moveTo>
                <a:lnTo>
                  <a:pt x="250" y="248"/>
                </a:lnTo>
                <a:lnTo>
                  <a:pt x="0" y="216"/>
                </a:lnTo>
                <a:lnTo>
                  <a:pt x="2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4438" name="Freeform 774">
            <a:extLst>
              <a:ext uri="{FF2B5EF4-FFF2-40B4-BE49-F238E27FC236}">
                <a16:creationId xmlns:a16="http://schemas.microsoft.com/office/drawing/2014/main" id="{0BB5D02A-EA20-1B1E-00FA-E6EA7181135F}"/>
              </a:ext>
            </a:extLst>
          </p:cNvPr>
          <p:cNvSpPr>
            <a:spLocks/>
          </p:cNvSpPr>
          <p:nvPr/>
        </p:nvSpPr>
        <p:spPr bwMode="auto">
          <a:xfrm>
            <a:off x="3467100" y="3846513"/>
            <a:ext cx="131763" cy="131762"/>
          </a:xfrm>
          <a:custGeom>
            <a:avLst/>
            <a:gdLst>
              <a:gd name="T0" fmla="*/ 0 w 249"/>
              <a:gd name="T1" fmla="*/ 0 h 250"/>
              <a:gd name="T2" fmla="*/ 249 w 249"/>
              <a:gd name="T3" fmla="*/ 34 h 250"/>
              <a:gd name="T4" fmla="*/ 33 w 249"/>
              <a:gd name="T5" fmla="*/ 250 h 250"/>
              <a:gd name="T6" fmla="*/ 0 w 249"/>
              <a:gd name="T7" fmla="*/ 0 h 250"/>
            </a:gdLst>
            <a:ahLst/>
            <a:cxnLst>
              <a:cxn ang="0">
                <a:pos x="T0" y="T1"/>
              </a:cxn>
              <a:cxn ang="0">
                <a:pos x="T2" y="T3"/>
              </a:cxn>
              <a:cxn ang="0">
                <a:pos x="T4" y="T5"/>
              </a:cxn>
              <a:cxn ang="0">
                <a:pos x="T6" y="T7"/>
              </a:cxn>
            </a:cxnLst>
            <a:rect l="0" t="0" r="r" b="b"/>
            <a:pathLst>
              <a:path w="249" h="250">
                <a:moveTo>
                  <a:pt x="0" y="0"/>
                </a:moveTo>
                <a:lnTo>
                  <a:pt x="249" y="34"/>
                </a:lnTo>
                <a:lnTo>
                  <a:pt x="33" y="25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4439" name="Rectangle 775">
            <a:extLst>
              <a:ext uri="{FF2B5EF4-FFF2-40B4-BE49-F238E27FC236}">
                <a16:creationId xmlns:a16="http://schemas.microsoft.com/office/drawing/2014/main" id="{C648DB18-DEF3-B9CF-83D6-AE495FBECF6C}"/>
              </a:ext>
            </a:extLst>
          </p:cNvPr>
          <p:cNvSpPr>
            <a:spLocks noChangeArrowheads="1"/>
          </p:cNvSpPr>
          <p:nvPr/>
        </p:nvSpPr>
        <p:spPr bwMode="auto">
          <a:xfrm>
            <a:off x="3171825" y="3968750"/>
            <a:ext cx="55563" cy="8445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114441" name="Freeform 777">
            <a:extLst>
              <a:ext uri="{FF2B5EF4-FFF2-40B4-BE49-F238E27FC236}">
                <a16:creationId xmlns:a16="http://schemas.microsoft.com/office/drawing/2014/main" id="{88297740-F84D-4107-326D-D55AAE3B515C}"/>
              </a:ext>
            </a:extLst>
          </p:cNvPr>
          <p:cNvSpPr>
            <a:spLocks/>
          </p:cNvSpPr>
          <p:nvPr/>
        </p:nvSpPr>
        <p:spPr bwMode="auto">
          <a:xfrm>
            <a:off x="3119438" y="3884613"/>
            <a:ext cx="160337" cy="106362"/>
          </a:xfrm>
          <a:custGeom>
            <a:avLst/>
            <a:gdLst>
              <a:gd name="T0" fmla="*/ 152 w 305"/>
              <a:gd name="T1" fmla="*/ 0 h 200"/>
              <a:gd name="T2" fmla="*/ 0 w 305"/>
              <a:gd name="T3" fmla="*/ 200 h 200"/>
              <a:gd name="T4" fmla="*/ 305 w 305"/>
              <a:gd name="T5" fmla="*/ 200 h 200"/>
              <a:gd name="T6" fmla="*/ 152 w 305"/>
              <a:gd name="T7" fmla="*/ 0 h 200"/>
            </a:gdLst>
            <a:ahLst/>
            <a:cxnLst>
              <a:cxn ang="0">
                <a:pos x="T0" y="T1"/>
              </a:cxn>
              <a:cxn ang="0">
                <a:pos x="T2" y="T3"/>
              </a:cxn>
              <a:cxn ang="0">
                <a:pos x="T4" y="T5"/>
              </a:cxn>
              <a:cxn ang="0">
                <a:pos x="T6" y="T7"/>
              </a:cxn>
            </a:cxnLst>
            <a:rect l="0" t="0" r="r" b="b"/>
            <a:pathLst>
              <a:path w="305" h="200">
                <a:moveTo>
                  <a:pt x="152" y="0"/>
                </a:moveTo>
                <a:lnTo>
                  <a:pt x="0" y="200"/>
                </a:lnTo>
                <a:lnTo>
                  <a:pt x="305" y="200"/>
                </a:lnTo>
                <a:lnTo>
                  <a:pt x="1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50915" name="Freeform 1411">
            <a:extLst>
              <a:ext uri="{FF2B5EF4-FFF2-40B4-BE49-F238E27FC236}">
                <a16:creationId xmlns:a16="http://schemas.microsoft.com/office/drawing/2014/main" id="{4726AD23-6DD0-EE5B-CF36-FEE26ED774FC}"/>
              </a:ext>
            </a:extLst>
          </p:cNvPr>
          <p:cNvSpPr>
            <a:spLocks/>
          </p:cNvSpPr>
          <p:nvPr/>
        </p:nvSpPr>
        <p:spPr bwMode="auto">
          <a:xfrm>
            <a:off x="3560763" y="3103563"/>
            <a:ext cx="1038225" cy="390525"/>
          </a:xfrm>
          <a:custGeom>
            <a:avLst/>
            <a:gdLst>
              <a:gd name="T0" fmla="*/ 0 w 1962"/>
              <a:gd name="T1" fmla="*/ 642 h 739"/>
              <a:gd name="T2" fmla="*/ 36 w 1962"/>
              <a:gd name="T3" fmla="*/ 739 h 739"/>
              <a:gd name="T4" fmla="*/ 1962 w 1962"/>
              <a:gd name="T5" fmla="*/ 48 h 739"/>
              <a:gd name="T6" fmla="*/ 1832 w 1962"/>
              <a:gd name="T7" fmla="*/ 0 h 739"/>
              <a:gd name="T8" fmla="*/ 0 w 1962"/>
              <a:gd name="T9" fmla="*/ 642 h 739"/>
            </a:gdLst>
            <a:ahLst/>
            <a:cxnLst>
              <a:cxn ang="0">
                <a:pos x="T0" y="T1"/>
              </a:cxn>
              <a:cxn ang="0">
                <a:pos x="T2" y="T3"/>
              </a:cxn>
              <a:cxn ang="0">
                <a:pos x="T4" y="T5"/>
              </a:cxn>
              <a:cxn ang="0">
                <a:pos x="T6" y="T7"/>
              </a:cxn>
              <a:cxn ang="0">
                <a:pos x="T8" y="T9"/>
              </a:cxn>
            </a:cxnLst>
            <a:rect l="0" t="0" r="r" b="b"/>
            <a:pathLst>
              <a:path w="1962" h="739">
                <a:moveTo>
                  <a:pt x="0" y="642"/>
                </a:moveTo>
                <a:lnTo>
                  <a:pt x="36" y="739"/>
                </a:lnTo>
                <a:lnTo>
                  <a:pt x="1962" y="48"/>
                </a:lnTo>
                <a:lnTo>
                  <a:pt x="1832" y="0"/>
                </a:lnTo>
                <a:lnTo>
                  <a:pt x="0" y="6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50916" name="Freeform 1412">
            <a:extLst>
              <a:ext uri="{FF2B5EF4-FFF2-40B4-BE49-F238E27FC236}">
                <a16:creationId xmlns:a16="http://schemas.microsoft.com/office/drawing/2014/main" id="{23085E20-8278-3C18-376D-370F41376CEC}"/>
              </a:ext>
            </a:extLst>
          </p:cNvPr>
          <p:cNvSpPr>
            <a:spLocks/>
          </p:cNvSpPr>
          <p:nvPr/>
        </p:nvSpPr>
        <p:spPr bwMode="auto">
          <a:xfrm>
            <a:off x="4500563" y="3057525"/>
            <a:ext cx="125412" cy="153988"/>
          </a:xfrm>
          <a:custGeom>
            <a:avLst/>
            <a:gdLst>
              <a:gd name="T0" fmla="*/ 92 w 236"/>
              <a:gd name="T1" fmla="*/ 290 h 290"/>
              <a:gd name="T2" fmla="*/ 236 w 236"/>
              <a:gd name="T3" fmla="*/ 85 h 290"/>
              <a:gd name="T4" fmla="*/ 0 w 236"/>
              <a:gd name="T5" fmla="*/ 0 h 290"/>
              <a:gd name="T6" fmla="*/ 92 w 236"/>
              <a:gd name="T7" fmla="*/ 290 h 290"/>
            </a:gdLst>
            <a:ahLst/>
            <a:cxnLst>
              <a:cxn ang="0">
                <a:pos x="T0" y="T1"/>
              </a:cxn>
              <a:cxn ang="0">
                <a:pos x="T2" y="T3"/>
              </a:cxn>
              <a:cxn ang="0">
                <a:pos x="T4" y="T5"/>
              </a:cxn>
              <a:cxn ang="0">
                <a:pos x="T6" y="T7"/>
              </a:cxn>
            </a:cxnLst>
            <a:rect l="0" t="0" r="r" b="b"/>
            <a:pathLst>
              <a:path w="236" h="290">
                <a:moveTo>
                  <a:pt x="92" y="290"/>
                </a:moveTo>
                <a:lnTo>
                  <a:pt x="236" y="85"/>
                </a:lnTo>
                <a:lnTo>
                  <a:pt x="0" y="0"/>
                </a:lnTo>
                <a:lnTo>
                  <a:pt x="92" y="2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50917" name="Freeform 1413">
            <a:extLst>
              <a:ext uri="{FF2B5EF4-FFF2-40B4-BE49-F238E27FC236}">
                <a16:creationId xmlns:a16="http://schemas.microsoft.com/office/drawing/2014/main" id="{672E805D-4E9B-1F90-15A4-F119BBF790E1}"/>
              </a:ext>
            </a:extLst>
          </p:cNvPr>
          <p:cNvSpPr>
            <a:spLocks/>
          </p:cNvSpPr>
          <p:nvPr/>
        </p:nvSpPr>
        <p:spPr bwMode="auto">
          <a:xfrm>
            <a:off x="3498850" y="3392488"/>
            <a:ext cx="127000" cy="149225"/>
          </a:xfrm>
          <a:custGeom>
            <a:avLst/>
            <a:gdLst>
              <a:gd name="T0" fmla="*/ 0 w 241"/>
              <a:gd name="T1" fmla="*/ 216 h 283"/>
              <a:gd name="T2" fmla="*/ 241 w 241"/>
              <a:gd name="T3" fmla="*/ 283 h 283"/>
              <a:gd name="T4" fmla="*/ 127 w 241"/>
              <a:gd name="T5" fmla="*/ 0 h 283"/>
              <a:gd name="T6" fmla="*/ 0 w 241"/>
              <a:gd name="T7" fmla="*/ 216 h 283"/>
            </a:gdLst>
            <a:ahLst/>
            <a:cxnLst>
              <a:cxn ang="0">
                <a:pos x="T0" y="T1"/>
              </a:cxn>
              <a:cxn ang="0">
                <a:pos x="T2" y="T3"/>
              </a:cxn>
              <a:cxn ang="0">
                <a:pos x="T4" y="T5"/>
              </a:cxn>
              <a:cxn ang="0">
                <a:pos x="T6" y="T7"/>
              </a:cxn>
            </a:cxnLst>
            <a:rect l="0" t="0" r="r" b="b"/>
            <a:pathLst>
              <a:path w="241" h="283">
                <a:moveTo>
                  <a:pt x="0" y="216"/>
                </a:moveTo>
                <a:lnTo>
                  <a:pt x="241" y="283"/>
                </a:lnTo>
                <a:lnTo>
                  <a:pt x="127" y="0"/>
                </a:lnTo>
                <a:lnTo>
                  <a:pt x="0" y="2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50918" name="Freeform 1414">
            <a:extLst>
              <a:ext uri="{FF2B5EF4-FFF2-40B4-BE49-F238E27FC236}">
                <a16:creationId xmlns:a16="http://schemas.microsoft.com/office/drawing/2014/main" id="{73A52ADF-DC1A-56AB-102C-799E4C7001C2}"/>
              </a:ext>
            </a:extLst>
          </p:cNvPr>
          <p:cNvSpPr>
            <a:spLocks/>
          </p:cNvSpPr>
          <p:nvPr/>
        </p:nvSpPr>
        <p:spPr bwMode="auto">
          <a:xfrm>
            <a:off x="3586163" y="3668713"/>
            <a:ext cx="1204912" cy="571500"/>
          </a:xfrm>
          <a:custGeom>
            <a:avLst/>
            <a:gdLst>
              <a:gd name="T0" fmla="*/ 591 w 2278"/>
              <a:gd name="T1" fmla="*/ 244 h 1080"/>
              <a:gd name="T2" fmla="*/ 42 w 2278"/>
              <a:gd name="T3" fmla="*/ 0 h 1080"/>
              <a:gd name="T4" fmla="*/ 0 w 2278"/>
              <a:gd name="T5" fmla="*/ 96 h 1080"/>
              <a:gd name="T6" fmla="*/ 807 w 2278"/>
              <a:gd name="T7" fmla="*/ 452 h 1080"/>
              <a:gd name="T8" fmla="*/ 2235 w 2278"/>
              <a:gd name="T9" fmla="*/ 1080 h 1080"/>
              <a:gd name="T10" fmla="*/ 2278 w 2278"/>
              <a:gd name="T11" fmla="*/ 988 h 1080"/>
              <a:gd name="T12" fmla="*/ 591 w 2278"/>
              <a:gd name="T13" fmla="*/ 242 h 1080"/>
              <a:gd name="T14" fmla="*/ 591 w 2278"/>
              <a:gd name="T15" fmla="*/ 244 h 10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78" h="1080">
                <a:moveTo>
                  <a:pt x="591" y="244"/>
                </a:moveTo>
                <a:lnTo>
                  <a:pt x="42" y="0"/>
                </a:lnTo>
                <a:lnTo>
                  <a:pt x="0" y="96"/>
                </a:lnTo>
                <a:lnTo>
                  <a:pt x="807" y="452"/>
                </a:lnTo>
                <a:lnTo>
                  <a:pt x="2235" y="1080"/>
                </a:lnTo>
                <a:lnTo>
                  <a:pt x="2278" y="988"/>
                </a:lnTo>
                <a:lnTo>
                  <a:pt x="591" y="242"/>
                </a:lnTo>
                <a:lnTo>
                  <a:pt x="591" y="2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50919" name="Freeform 1415">
            <a:extLst>
              <a:ext uri="{FF2B5EF4-FFF2-40B4-BE49-F238E27FC236}">
                <a16:creationId xmlns:a16="http://schemas.microsoft.com/office/drawing/2014/main" id="{29992004-4625-BD18-223A-3863AC76626C}"/>
              </a:ext>
            </a:extLst>
          </p:cNvPr>
          <p:cNvSpPr>
            <a:spLocks/>
          </p:cNvSpPr>
          <p:nvPr/>
        </p:nvSpPr>
        <p:spPr bwMode="auto">
          <a:xfrm>
            <a:off x="4733925" y="4130675"/>
            <a:ext cx="127000" cy="147638"/>
          </a:xfrm>
          <a:custGeom>
            <a:avLst/>
            <a:gdLst>
              <a:gd name="T0" fmla="*/ 0 w 242"/>
              <a:gd name="T1" fmla="*/ 278 h 278"/>
              <a:gd name="T2" fmla="*/ 242 w 242"/>
              <a:gd name="T3" fmla="*/ 221 h 278"/>
              <a:gd name="T4" fmla="*/ 122 w 242"/>
              <a:gd name="T5" fmla="*/ 0 h 278"/>
              <a:gd name="T6" fmla="*/ 0 w 242"/>
              <a:gd name="T7" fmla="*/ 278 h 278"/>
            </a:gdLst>
            <a:ahLst/>
            <a:cxnLst>
              <a:cxn ang="0">
                <a:pos x="T0" y="T1"/>
              </a:cxn>
              <a:cxn ang="0">
                <a:pos x="T2" y="T3"/>
              </a:cxn>
              <a:cxn ang="0">
                <a:pos x="T4" y="T5"/>
              </a:cxn>
              <a:cxn ang="0">
                <a:pos x="T6" y="T7"/>
              </a:cxn>
            </a:cxnLst>
            <a:rect l="0" t="0" r="r" b="b"/>
            <a:pathLst>
              <a:path w="242" h="278">
                <a:moveTo>
                  <a:pt x="0" y="278"/>
                </a:moveTo>
                <a:lnTo>
                  <a:pt x="242" y="221"/>
                </a:lnTo>
                <a:lnTo>
                  <a:pt x="122" y="0"/>
                </a:lnTo>
                <a:lnTo>
                  <a:pt x="0" y="2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50920" name="Freeform 1416">
            <a:extLst>
              <a:ext uri="{FF2B5EF4-FFF2-40B4-BE49-F238E27FC236}">
                <a16:creationId xmlns:a16="http://schemas.microsoft.com/office/drawing/2014/main" id="{C4FD6C19-0991-265C-DE91-E8B79830D19A}"/>
              </a:ext>
            </a:extLst>
          </p:cNvPr>
          <p:cNvSpPr>
            <a:spLocks/>
          </p:cNvSpPr>
          <p:nvPr/>
        </p:nvSpPr>
        <p:spPr bwMode="auto">
          <a:xfrm>
            <a:off x="3521075" y="3627438"/>
            <a:ext cx="128588" cy="146050"/>
          </a:xfrm>
          <a:custGeom>
            <a:avLst/>
            <a:gdLst>
              <a:gd name="T0" fmla="*/ 0 w 243"/>
              <a:gd name="T1" fmla="*/ 60 h 278"/>
              <a:gd name="T2" fmla="*/ 120 w 243"/>
              <a:gd name="T3" fmla="*/ 278 h 278"/>
              <a:gd name="T4" fmla="*/ 243 w 243"/>
              <a:gd name="T5" fmla="*/ 0 h 278"/>
              <a:gd name="T6" fmla="*/ 0 w 243"/>
              <a:gd name="T7" fmla="*/ 60 h 278"/>
            </a:gdLst>
            <a:ahLst/>
            <a:cxnLst>
              <a:cxn ang="0">
                <a:pos x="T0" y="T1"/>
              </a:cxn>
              <a:cxn ang="0">
                <a:pos x="T2" y="T3"/>
              </a:cxn>
              <a:cxn ang="0">
                <a:pos x="T4" y="T5"/>
              </a:cxn>
              <a:cxn ang="0">
                <a:pos x="T6" y="T7"/>
              </a:cxn>
            </a:cxnLst>
            <a:rect l="0" t="0" r="r" b="b"/>
            <a:pathLst>
              <a:path w="243" h="278">
                <a:moveTo>
                  <a:pt x="0" y="60"/>
                </a:moveTo>
                <a:lnTo>
                  <a:pt x="120" y="278"/>
                </a:lnTo>
                <a:lnTo>
                  <a:pt x="243" y="0"/>
                </a:lnTo>
                <a:lnTo>
                  <a:pt x="0"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50922" name="Rectangle 1418">
            <a:extLst>
              <a:ext uri="{FF2B5EF4-FFF2-40B4-BE49-F238E27FC236}">
                <a16:creationId xmlns:a16="http://schemas.microsoft.com/office/drawing/2014/main" id="{D4C5FE09-320C-0EA5-F660-F55A2B5634EE}"/>
              </a:ext>
            </a:extLst>
          </p:cNvPr>
          <p:cNvSpPr>
            <a:spLocks noChangeArrowheads="1"/>
          </p:cNvSpPr>
          <p:nvPr/>
        </p:nvSpPr>
        <p:spPr bwMode="auto">
          <a:xfrm>
            <a:off x="1144588" y="5567363"/>
            <a:ext cx="56356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Host A</a:t>
            </a:r>
            <a:endParaRPr lang="en-US" altLang="zh-CN">
              <a:solidFill>
                <a:srgbClr val="003580"/>
              </a:solidFill>
              <a:ea typeface="宋体" panose="02010600030101010101" pitchFamily="2" charset="-122"/>
            </a:endParaRPr>
          </a:p>
        </p:txBody>
      </p:sp>
      <p:sp>
        <p:nvSpPr>
          <p:cNvPr id="150923" name="Rectangle 1419">
            <a:extLst>
              <a:ext uri="{FF2B5EF4-FFF2-40B4-BE49-F238E27FC236}">
                <a16:creationId xmlns:a16="http://schemas.microsoft.com/office/drawing/2014/main" id="{731868F8-6EB4-2360-BDE1-FF8FAB45E237}"/>
              </a:ext>
            </a:extLst>
          </p:cNvPr>
          <p:cNvSpPr>
            <a:spLocks noChangeArrowheads="1"/>
          </p:cNvSpPr>
          <p:nvPr/>
        </p:nvSpPr>
        <p:spPr bwMode="auto">
          <a:xfrm>
            <a:off x="2740025" y="6419850"/>
            <a:ext cx="56038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Host B</a:t>
            </a:r>
            <a:endParaRPr lang="en-US" altLang="zh-CN">
              <a:solidFill>
                <a:srgbClr val="003580"/>
              </a:solidFill>
              <a:ea typeface="宋体" panose="02010600030101010101" pitchFamily="2" charset="-122"/>
            </a:endParaRPr>
          </a:p>
        </p:txBody>
      </p:sp>
      <p:sp>
        <p:nvSpPr>
          <p:cNvPr id="150924" name="Rectangle 1420">
            <a:extLst>
              <a:ext uri="{FF2B5EF4-FFF2-40B4-BE49-F238E27FC236}">
                <a16:creationId xmlns:a16="http://schemas.microsoft.com/office/drawing/2014/main" id="{C1F04E65-5E51-D5D6-83C7-2C3F15845948}"/>
              </a:ext>
            </a:extLst>
          </p:cNvPr>
          <p:cNvSpPr>
            <a:spLocks noChangeArrowheads="1"/>
          </p:cNvSpPr>
          <p:nvPr/>
        </p:nvSpPr>
        <p:spPr bwMode="auto">
          <a:xfrm>
            <a:off x="4424363" y="6154738"/>
            <a:ext cx="5540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Host C</a:t>
            </a:r>
            <a:endParaRPr lang="en-US" altLang="zh-CN">
              <a:solidFill>
                <a:srgbClr val="003580"/>
              </a:solidFill>
              <a:ea typeface="宋体" panose="02010600030101010101" pitchFamily="2" charset="-122"/>
            </a:endParaRPr>
          </a:p>
        </p:txBody>
      </p:sp>
      <p:sp>
        <p:nvSpPr>
          <p:cNvPr id="150925" name="Rectangle 1421">
            <a:extLst>
              <a:ext uri="{FF2B5EF4-FFF2-40B4-BE49-F238E27FC236}">
                <a16:creationId xmlns:a16="http://schemas.microsoft.com/office/drawing/2014/main" id="{63D993D1-002F-328C-DB03-A332A330B797}"/>
              </a:ext>
            </a:extLst>
          </p:cNvPr>
          <p:cNvSpPr>
            <a:spLocks noChangeArrowheads="1"/>
          </p:cNvSpPr>
          <p:nvPr/>
        </p:nvSpPr>
        <p:spPr bwMode="auto">
          <a:xfrm>
            <a:off x="5467350" y="5608638"/>
            <a:ext cx="7413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Device A</a:t>
            </a:r>
            <a:endParaRPr lang="en-US" altLang="zh-CN">
              <a:solidFill>
                <a:srgbClr val="003580"/>
              </a:solidFill>
              <a:ea typeface="宋体" panose="02010600030101010101" pitchFamily="2" charset="-122"/>
            </a:endParaRPr>
          </a:p>
        </p:txBody>
      </p:sp>
      <p:sp>
        <p:nvSpPr>
          <p:cNvPr id="150926" name="Rectangle 1422">
            <a:extLst>
              <a:ext uri="{FF2B5EF4-FFF2-40B4-BE49-F238E27FC236}">
                <a16:creationId xmlns:a16="http://schemas.microsoft.com/office/drawing/2014/main" id="{78F4F6D7-2EB5-1C25-BD13-0013E4D71083}"/>
              </a:ext>
            </a:extLst>
          </p:cNvPr>
          <p:cNvSpPr>
            <a:spLocks noChangeArrowheads="1"/>
          </p:cNvSpPr>
          <p:nvPr/>
        </p:nvSpPr>
        <p:spPr bwMode="auto">
          <a:xfrm>
            <a:off x="5481638" y="2125663"/>
            <a:ext cx="73818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Device B</a:t>
            </a:r>
            <a:endParaRPr lang="en-US" altLang="zh-CN">
              <a:solidFill>
                <a:srgbClr val="003580"/>
              </a:solidFill>
              <a:ea typeface="宋体" panose="02010600030101010101" pitchFamily="2" charset="-122"/>
            </a:endParaRPr>
          </a:p>
        </p:txBody>
      </p:sp>
      <p:sp>
        <p:nvSpPr>
          <p:cNvPr id="150933" name="Rectangle 1429">
            <a:extLst>
              <a:ext uri="{FF2B5EF4-FFF2-40B4-BE49-F238E27FC236}">
                <a16:creationId xmlns:a16="http://schemas.microsoft.com/office/drawing/2014/main" id="{B37B236E-0D08-7031-05C0-C39AC29E1581}"/>
              </a:ext>
            </a:extLst>
          </p:cNvPr>
          <p:cNvSpPr>
            <a:spLocks noChangeArrowheads="1"/>
          </p:cNvSpPr>
          <p:nvPr/>
        </p:nvSpPr>
        <p:spPr bwMode="auto">
          <a:xfrm>
            <a:off x="3344863" y="1755775"/>
            <a:ext cx="17811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iSNS can be integral </a:t>
            </a:r>
            <a:endParaRPr lang="en-US" altLang="zh-CN">
              <a:solidFill>
                <a:srgbClr val="003580"/>
              </a:solidFill>
              <a:ea typeface="宋体" panose="02010600030101010101" pitchFamily="2" charset="-122"/>
            </a:endParaRPr>
          </a:p>
        </p:txBody>
      </p:sp>
      <p:sp>
        <p:nvSpPr>
          <p:cNvPr id="150934" name="Rectangle 1430">
            <a:extLst>
              <a:ext uri="{FF2B5EF4-FFF2-40B4-BE49-F238E27FC236}">
                <a16:creationId xmlns:a16="http://schemas.microsoft.com/office/drawing/2014/main" id="{FCC41743-6D48-0F76-D929-4EC413290E09}"/>
              </a:ext>
            </a:extLst>
          </p:cNvPr>
          <p:cNvSpPr>
            <a:spLocks noChangeArrowheads="1"/>
          </p:cNvSpPr>
          <p:nvPr/>
        </p:nvSpPr>
        <p:spPr bwMode="auto">
          <a:xfrm>
            <a:off x="3581400" y="1965325"/>
            <a:ext cx="13049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to the cloud or </a:t>
            </a:r>
            <a:endParaRPr lang="en-US" altLang="zh-CN">
              <a:solidFill>
                <a:srgbClr val="003580"/>
              </a:solidFill>
              <a:ea typeface="宋体" panose="02010600030101010101" pitchFamily="2" charset="-122"/>
            </a:endParaRPr>
          </a:p>
        </p:txBody>
      </p:sp>
      <p:sp>
        <p:nvSpPr>
          <p:cNvPr id="150935" name="Rectangle 1431">
            <a:extLst>
              <a:ext uri="{FF2B5EF4-FFF2-40B4-BE49-F238E27FC236}">
                <a16:creationId xmlns:a16="http://schemas.microsoft.com/office/drawing/2014/main" id="{34014554-2DE5-E69C-9723-2C4873E53011}"/>
              </a:ext>
            </a:extLst>
          </p:cNvPr>
          <p:cNvSpPr>
            <a:spLocks noChangeArrowheads="1"/>
          </p:cNvSpPr>
          <p:nvPr/>
        </p:nvSpPr>
        <p:spPr bwMode="auto">
          <a:xfrm>
            <a:off x="3322638" y="2174875"/>
            <a:ext cx="17716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management station</a:t>
            </a:r>
            <a:endParaRPr lang="en-US" altLang="zh-CN">
              <a:solidFill>
                <a:srgbClr val="003580"/>
              </a:solidFill>
              <a:ea typeface="宋体" panose="02010600030101010101" pitchFamily="2" charset="-122"/>
            </a:endParaRPr>
          </a:p>
        </p:txBody>
      </p:sp>
      <p:sp>
        <p:nvSpPr>
          <p:cNvPr id="150938" name="Rectangle 1434">
            <a:extLst>
              <a:ext uri="{FF2B5EF4-FFF2-40B4-BE49-F238E27FC236}">
                <a16:creationId xmlns:a16="http://schemas.microsoft.com/office/drawing/2014/main" id="{72168367-7C7B-130C-8128-2BCFFA3122B3}"/>
              </a:ext>
            </a:extLst>
          </p:cNvPr>
          <p:cNvSpPr>
            <a:spLocks noChangeArrowheads="1"/>
          </p:cNvSpPr>
          <p:nvPr/>
        </p:nvSpPr>
        <p:spPr bwMode="auto">
          <a:xfrm>
            <a:off x="7829550" y="3937000"/>
            <a:ext cx="35718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Two</a:t>
            </a:r>
            <a:endParaRPr lang="en-US" altLang="zh-CN">
              <a:solidFill>
                <a:srgbClr val="003580"/>
              </a:solidFill>
              <a:ea typeface="宋体" panose="02010600030101010101" pitchFamily="2" charset="-122"/>
            </a:endParaRPr>
          </a:p>
        </p:txBody>
      </p:sp>
      <p:sp>
        <p:nvSpPr>
          <p:cNvPr id="150939" name="Rectangle 1435">
            <a:extLst>
              <a:ext uri="{FF2B5EF4-FFF2-40B4-BE49-F238E27FC236}">
                <a16:creationId xmlns:a16="http://schemas.microsoft.com/office/drawing/2014/main" id="{7FA70055-31A4-38AB-C42B-B8C125E3E540}"/>
              </a:ext>
            </a:extLst>
          </p:cNvPr>
          <p:cNvSpPr>
            <a:spLocks noChangeArrowheads="1"/>
          </p:cNvSpPr>
          <p:nvPr/>
        </p:nvSpPr>
        <p:spPr bwMode="auto">
          <a:xfrm>
            <a:off x="7589838" y="4146550"/>
            <a:ext cx="838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Discovery</a:t>
            </a:r>
            <a:endParaRPr lang="en-US" altLang="zh-CN">
              <a:solidFill>
                <a:srgbClr val="003580"/>
              </a:solidFill>
              <a:ea typeface="宋体" panose="02010600030101010101" pitchFamily="2" charset="-122"/>
            </a:endParaRPr>
          </a:p>
        </p:txBody>
      </p:sp>
      <p:sp>
        <p:nvSpPr>
          <p:cNvPr id="150940" name="Rectangle 1436">
            <a:extLst>
              <a:ext uri="{FF2B5EF4-FFF2-40B4-BE49-F238E27FC236}">
                <a16:creationId xmlns:a16="http://schemas.microsoft.com/office/drawing/2014/main" id="{A9D8513A-76F0-F008-D421-65902C812DD3}"/>
              </a:ext>
            </a:extLst>
          </p:cNvPr>
          <p:cNvSpPr>
            <a:spLocks noChangeArrowheads="1"/>
          </p:cNvSpPr>
          <p:nvPr/>
        </p:nvSpPr>
        <p:spPr bwMode="auto">
          <a:xfrm>
            <a:off x="7635875" y="4356100"/>
            <a:ext cx="7461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54013" indent="-354013"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0000"/>
                </a:solidFill>
                <a:latin typeface="Verdana" panose="020B0604030504040204" pitchFamily="34" charset="0"/>
                <a:ea typeface="宋体" panose="02010600030101010101" pitchFamily="2" charset="-122"/>
              </a:rPr>
              <a:t>Domains</a:t>
            </a:r>
            <a:endParaRPr lang="en-US" altLang="zh-CN">
              <a:solidFill>
                <a:srgbClr val="003580"/>
              </a:solidFill>
              <a:ea typeface="宋体" panose="02010600030101010101" pitchFamily="2" charset="-122"/>
            </a:endParaRPr>
          </a:p>
        </p:txBody>
      </p:sp>
      <p:sp>
        <p:nvSpPr>
          <p:cNvPr id="150941" name="Freeform 1437">
            <a:extLst>
              <a:ext uri="{FF2B5EF4-FFF2-40B4-BE49-F238E27FC236}">
                <a16:creationId xmlns:a16="http://schemas.microsoft.com/office/drawing/2014/main" id="{EE7BB828-8124-CE60-630B-F07CEED7E69E}"/>
              </a:ext>
            </a:extLst>
          </p:cNvPr>
          <p:cNvSpPr>
            <a:spLocks/>
          </p:cNvSpPr>
          <p:nvPr/>
        </p:nvSpPr>
        <p:spPr bwMode="auto">
          <a:xfrm>
            <a:off x="2435225" y="2876550"/>
            <a:ext cx="531813" cy="609600"/>
          </a:xfrm>
          <a:custGeom>
            <a:avLst/>
            <a:gdLst>
              <a:gd name="T0" fmla="*/ 0 w 1006"/>
              <a:gd name="T1" fmla="*/ 67 h 1152"/>
              <a:gd name="T2" fmla="*/ 80 w 1006"/>
              <a:gd name="T3" fmla="*/ 0 h 1152"/>
              <a:gd name="T4" fmla="*/ 1006 w 1006"/>
              <a:gd name="T5" fmla="*/ 1083 h 1152"/>
              <a:gd name="T6" fmla="*/ 925 w 1006"/>
              <a:gd name="T7" fmla="*/ 1152 h 1152"/>
              <a:gd name="T8" fmla="*/ 0 w 1006"/>
              <a:gd name="T9" fmla="*/ 67 h 1152"/>
            </a:gdLst>
            <a:ahLst/>
            <a:cxnLst>
              <a:cxn ang="0">
                <a:pos x="T0" y="T1"/>
              </a:cxn>
              <a:cxn ang="0">
                <a:pos x="T2" y="T3"/>
              </a:cxn>
              <a:cxn ang="0">
                <a:pos x="T4" y="T5"/>
              </a:cxn>
              <a:cxn ang="0">
                <a:pos x="T6" y="T7"/>
              </a:cxn>
              <a:cxn ang="0">
                <a:pos x="T8" y="T9"/>
              </a:cxn>
            </a:cxnLst>
            <a:rect l="0" t="0" r="r" b="b"/>
            <a:pathLst>
              <a:path w="1006" h="1152">
                <a:moveTo>
                  <a:pt x="0" y="67"/>
                </a:moveTo>
                <a:lnTo>
                  <a:pt x="80" y="0"/>
                </a:lnTo>
                <a:lnTo>
                  <a:pt x="1006" y="1083"/>
                </a:lnTo>
                <a:lnTo>
                  <a:pt x="925" y="1152"/>
                </a:lnTo>
                <a:lnTo>
                  <a:pt x="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50942" name="Freeform 1438">
            <a:extLst>
              <a:ext uri="{FF2B5EF4-FFF2-40B4-BE49-F238E27FC236}">
                <a16:creationId xmlns:a16="http://schemas.microsoft.com/office/drawing/2014/main" id="{5B3E3D34-61BF-A832-1027-4182E209E454}"/>
              </a:ext>
            </a:extLst>
          </p:cNvPr>
          <p:cNvSpPr>
            <a:spLocks/>
          </p:cNvSpPr>
          <p:nvPr/>
        </p:nvSpPr>
        <p:spPr bwMode="auto">
          <a:xfrm>
            <a:off x="2860675" y="3387725"/>
            <a:ext cx="130175" cy="131763"/>
          </a:xfrm>
          <a:custGeom>
            <a:avLst/>
            <a:gdLst>
              <a:gd name="T0" fmla="*/ 233 w 246"/>
              <a:gd name="T1" fmla="*/ 0 h 250"/>
              <a:gd name="T2" fmla="*/ 246 w 246"/>
              <a:gd name="T3" fmla="*/ 250 h 250"/>
              <a:gd name="T4" fmla="*/ 0 w 246"/>
              <a:gd name="T5" fmla="*/ 199 h 250"/>
              <a:gd name="T6" fmla="*/ 233 w 246"/>
              <a:gd name="T7" fmla="*/ 0 h 250"/>
            </a:gdLst>
            <a:ahLst/>
            <a:cxnLst>
              <a:cxn ang="0">
                <a:pos x="T0" y="T1"/>
              </a:cxn>
              <a:cxn ang="0">
                <a:pos x="T2" y="T3"/>
              </a:cxn>
              <a:cxn ang="0">
                <a:pos x="T4" y="T5"/>
              </a:cxn>
              <a:cxn ang="0">
                <a:pos x="T6" y="T7"/>
              </a:cxn>
            </a:cxnLst>
            <a:rect l="0" t="0" r="r" b="b"/>
            <a:pathLst>
              <a:path w="246" h="250">
                <a:moveTo>
                  <a:pt x="233" y="0"/>
                </a:moveTo>
                <a:lnTo>
                  <a:pt x="246" y="250"/>
                </a:lnTo>
                <a:lnTo>
                  <a:pt x="0" y="199"/>
                </a:lnTo>
                <a:lnTo>
                  <a:pt x="2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50943" name="Freeform 1439">
            <a:extLst>
              <a:ext uri="{FF2B5EF4-FFF2-40B4-BE49-F238E27FC236}">
                <a16:creationId xmlns:a16="http://schemas.microsoft.com/office/drawing/2014/main" id="{D14F9AF6-F036-A917-D5F5-906C5A0BAB7D}"/>
              </a:ext>
            </a:extLst>
          </p:cNvPr>
          <p:cNvSpPr>
            <a:spLocks/>
          </p:cNvSpPr>
          <p:nvPr/>
        </p:nvSpPr>
        <p:spPr bwMode="auto">
          <a:xfrm>
            <a:off x="2403475" y="2830513"/>
            <a:ext cx="128588" cy="133350"/>
          </a:xfrm>
          <a:custGeom>
            <a:avLst/>
            <a:gdLst>
              <a:gd name="T0" fmla="*/ 0 w 244"/>
              <a:gd name="T1" fmla="*/ 0 h 251"/>
              <a:gd name="T2" fmla="*/ 244 w 244"/>
              <a:gd name="T3" fmla="*/ 53 h 251"/>
              <a:gd name="T4" fmla="*/ 11 w 244"/>
              <a:gd name="T5" fmla="*/ 251 h 251"/>
              <a:gd name="T6" fmla="*/ 0 w 244"/>
              <a:gd name="T7" fmla="*/ 0 h 251"/>
            </a:gdLst>
            <a:ahLst/>
            <a:cxnLst>
              <a:cxn ang="0">
                <a:pos x="T0" y="T1"/>
              </a:cxn>
              <a:cxn ang="0">
                <a:pos x="T2" y="T3"/>
              </a:cxn>
              <a:cxn ang="0">
                <a:pos x="T4" y="T5"/>
              </a:cxn>
              <a:cxn ang="0">
                <a:pos x="T6" y="T7"/>
              </a:cxn>
            </a:cxnLst>
            <a:rect l="0" t="0" r="r" b="b"/>
            <a:pathLst>
              <a:path w="244" h="251">
                <a:moveTo>
                  <a:pt x="0" y="0"/>
                </a:moveTo>
                <a:lnTo>
                  <a:pt x="244" y="53"/>
                </a:lnTo>
                <a:lnTo>
                  <a:pt x="11" y="25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52169" name="Picture 2665">
            <a:extLst>
              <a:ext uri="{FF2B5EF4-FFF2-40B4-BE49-F238E27FC236}">
                <a16:creationId xmlns:a16="http://schemas.microsoft.com/office/drawing/2014/main" id="{2B589CB1-B3AF-EDC4-D6BB-4C82120454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7800" y="5321300"/>
            <a:ext cx="568325" cy="1035050"/>
          </a:xfrm>
          <a:prstGeom prst="rect">
            <a:avLst/>
          </a:prstGeom>
          <a:noFill/>
          <a:extLst>
            <a:ext uri="{909E8E84-426E-40DD-AFC4-6F175D3DCCD1}">
              <a14:hiddenFill xmlns:a14="http://schemas.microsoft.com/office/drawing/2010/main">
                <a:solidFill>
                  <a:srgbClr val="FFFFFF"/>
                </a:solidFill>
              </a14:hiddenFill>
            </a:ext>
          </a:extLst>
        </p:spPr>
      </p:pic>
      <p:pic>
        <p:nvPicPr>
          <p:cNvPr id="152170" name="Picture 2666">
            <a:extLst>
              <a:ext uri="{FF2B5EF4-FFF2-40B4-BE49-F238E27FC236}">
                <a16:creationId xmlns:a16="http://schemas.microsoft.com/office/drawing/2014/main" id="{F237148D-3F5D-5C1C-3054-3CFDB73C78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1150" y="4137025"/>
            <a:ext cx="1030288"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52171" name="Picture 2667">
            <a:extLst>
              <a:ext uri="{FF2B5EF4-FFF2-40B4-BE49-F238E27FC236}">
                <a16:creationId xmlns:a16="http://schemas.microsoft.com/office/drawing/2014/main" id="{D06808F1-4562-3C48-28D6-7F6B1F0AF8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0513" y="2362200"/>
            <a:ext cx="1030287"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52172" name="Picture 2668">
            <a:extLst>
              <a:ext uri="{FF2B5EF4-FFF2-40B4-BE49-F238E27FC236}">
                <a16:creationId xmlns:a16="http://schemas.microsoft.com/office/drawing/2014/main" id="{E02EA410-3D33-82D9-9BDD-90025347DB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4675" y="5029200"/>
            <a:ext cx="568325" cy="1035050"/>
          </a:xfrm>
          <a:prstGeom prst="rect">
            <a:avLst/>
          </a:prstGeom>
          <a:noFill/>
          <a:extLst>
            <a:ext uri="{909E8E84-426E-40DD-AFC4-6F175D3DCCD1}">
              <a14:hiddenFill xmlns:a14="http://schemas.microsoft.com/office/drawing/2010/main">
                <a:solidFill>
                  <a:srgbClr val="FFFFFF"/>
                </a:solidFill>
              </a14:hiddenFill>
            </a:ext>
          </a:extLst>
        </p:spPr>
      </p:pic>
      <p:pic>
        <p:nvPicPr>
          <p:cNvPr id="152173" name="Picture 2669">
            <a:extLst>
              <a:ext uri="{FF2B5EF4-FFF2-40B4-BE49-F238E27FC236}">
                <a16:creationId xmlns:a16="http://schemas.microsoft.com/office/drawing/2014/main" id="{1E36C32B-EDD7-2A1A-26A4-93C08DA754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8675" y="1614488"/>
            <a:ext cx="568325" cy="1035050"/>
          </a:xfrm>
          <a:prstGeom prst="rect">
            <a:avLst/>
          </a:prstGeom>
          <a:noFill/>
          <a:extLst>
            <a:ext uri="{909E8E84-426E-40DD-AFC4-6F175D3DCCD1}">
              <a14:hiddenFill xmlns:a14="http://schemas.microsoft.com/office/drawing/2010/main">
                <a:solidFill>
                  <a:srgbClr val="FFFFFF"/>
                </a:solidFill>
              </a14:hiddenFill>
            </a:ext>
          </a:extLst>
        </p:spPr>
      </p:pic>
      <p:pic>
        <p:nvPicPr>
          <p:cNvPr id="152174" name="Picture 2670">
            <a:extLst>
              <a:ext uri="{FF2B5EF4-FFF2-40B4-BE49-F238E27FC236}">
                <a16:creationId xmlns:a16="http://schemas.microsoft.com/office/drawing/2014/main" id="{47438A36-A25E-C5EA-290D-D75AF365E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0300" y="4457700"/>
            <a:ext cx="568325" cy="1035050"/>
          </a:xfrm>
          <a:prstGeom prst="rect">
            <a:avLst/>
          </a:prstGeom>
          <a:noFill/>
          <a:extLst>
            <a:ext uri="{909E8E84-426E-40DD-AFC4-6F175D3DCCD1}">
              <a14:hiddenFill xmlns:a14="http://schemas.microsoft.com/office/drawing/2010/main">
                <a:solidFill>
                  <a:srgbClr val="FFFFFF"/>
                </a:solidFill>
              </a14:hiddenFill>
            </a:ext>
          </a:extLst>
        </p:spPr>
      </p:pic>
      <p:grpSp>
        <p:nvGrpSpPr>
          <p:cNvPr id="152179" name="Group 2675">
            <a:extLst>
              <a:ext uri="{FF2B5EF4-FFF2-40B4-BE49-F238E27FC236}">
                <a16:creationId xmlns:a16="http://schemas.microsoft.com/office/drawing/2014/main" id="{2C77C4E5-FE38-24CD-2313-23881524EB96}"/>
              </a:ext>
            </a:extLst>
          </p:cNvPr>
          <p:cNvGrpSpPr>
            <a:grpSpLocks/>
          </p:cNvGrpSpPr>
          <p:nvPr/>
        </p:nvGrpSpPr>
        <p:grpSpPr bwMode="auto">
          <a:xfrm>
            <a:off x="6248400" y="3100388"/>
            <a:ext cx="1236663" cy="1090612"/>
            <a:chOff x="3925" y="1809"/>
            <a:chExt cx="983" cy="690"/>
          </a:xfrm>
        </p:grpSpPr>
        <p:sp>
          <p:nvSpPr>
            <p:cNvPr id="152178" name="Line 2674">
              <a:extLst>
                <a:ext uri="{FF2B5EF4-FFF2-40B4-BE49-F238E27FC236}">
                  <a16:creationId xmlns:a16="http://schemas.microsoft.com/office/drawing/2014/main" id="{B15C4F1C-A304-906B-C5F1-99BF3FA55517}"/>
                </a:ext>
              </a:extLst>
            </p:cNvPr>
            <p:cNvSpPr>
              <a:spLocks noChangeShapeType="1"/>
            </p:cNvSpPr>
            <p:nvPr/>
          </p:nvSpPr>
          <p:spPr bwMode="auto">
            <a:xfrm flipH="1" flipV="1">
              <a:off x="3925" y="1809"/>
              <a:ext cx="960" cy="672"/>
            </a:xfrm>
            <a:prstGeom prst="line">
              <a:avLst/>
            </a:prstGeom>
            <a:noFill/>
            <a:ln w="50800">
              <a:solidFill>
                <a:schemeClr val="bg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152177" name="Line 2673">
              <a:extLst>
                <a:ext uri="{FF2B5EF4-FFF2-40B4-BE49-F238E27FC236}">
                  <a16:creationId xmlns:a16="http://schemas.microsoft.com/office/drawing/2014/main" id="{2511E1D1-475F-1E30-A0D4-4B82BD79E00E}"/>
                </a:ext>
              </a:extLst>
            </p:cNvPr>
            <p:cNvSpPr>
              <a:spLocks noChangeShapeType="1"/>
            </p:cNvSpPr>
            <p:nvPr/>
          </p:nvSpPr>
          <p:spPr bwMode="auto">
            <a:xfrm flipH="1" flipV="1">
              <a:off x="3948" y="1827"/>
              <a:ext cx="960" cy="672"/>
            </a:xfrm>
            <a:prstGeom prst="line">
              <a:avLst/>
            </a:prstGeom>
            <a:noFill/>
            <a:ln w="25400">
              <a:solidFill>
                <a:srgbClr val="FF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grpSp>
        <p:nvGrpSpPr>
          <p:cNvPr id="152180" name="Group 2676">
            <a:extLst>
              <a:ext uri="{FF2B5EF4-FFF2-40B4-BE49-F238E27FC236}">
                <a16:creationId xmlns:a16="http://schemas.microsoft.com/office/drawing/2014/main" id="{857D93EA-C571-A2BF-E3BD-AB2856CD2518}"/>
              </a:ext>
            </a:extLst>
          </p:cNvPr>
          <p:cNvGrpSpPr>
            <a:grpSpLocks/>
          </p:cNvGrpSpPr>
          <p:nvPr/>
        </p:nvGrpSpPr>
        <p:grpSpPr bwMode="auto">
          <a:xfrm rot="-3742473">
            <a:off x="6178550" y="4284663"/>
            <a:ext cx="1347788" cy="823912"/>
            <a:chOff x="3925" y="1809"/>
            <a:chExt cx="983" cy="690"/>
          </a:xfrm>
        </p:grpSpPr>
        <p:sp>
          <p:nvSpPr>
            <p:cNvPr id="152181" name="Line 2677">
              <a:extLst>
                <a:ext uri="{FF2B5EF4-FFF2-40B4-BE49-F238E27FC236}">
                  <a16:creationId xmlns:a16="http://schemas.microsoft.com/office/drawing/2014/main" id="{4C9583D8-B827-9C2A-7A34-DEA765CFC0B4}"/>
                </a:ext>
              </a:extLst>
            </p:cNvPr>
            <p:cNvSpPr>
              <a:spLocks noChangeShapeType="1"/>
            </p:cNvSpPr>
            <p:nvPr/>
          </p:nvSpPr>
          <p:spPr bwMode="auto">
            <a:xfrm flipH="1" flipV="1">
              <a:off x="3925" y="1809"/>
              <a:ext cx="960" cy="672"/>
            </a:xfrm>
            <a:prstGeom prst="line">
              <a:avLst/>
            </a:prstGeom>
            <a:noFill/>
            <a:ln w="50800">
              <a:solidFill>
                <a:schemeClr val="bg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152182" name="Line 2678">
              <a:extLst>
                <a:ext uri="{FF2B5EF4-FFF2-40B4-BE49-F238E27FC236}">
                  <a16:creationId xmlns:a16="http://schemas.microsoft.com/office/drawing/2014/main" id="{909D4123-F7F7-281F-CF3C-5D664B805580}"/>
                </a:ext>
              </a:extLst>
            </p:cNvPr>
            <p:cNvSpPr>
              <a:spLocks noChangeShapeType="1"/>
            </p:cNvSpPr>
            <p:nvPr/>
          </p:nvSpPr>
          <p:spPr bwMode="auto">
            <a:xfrm flipH="1" flipV="1">
              <a:off x="3948" y="1827"/>
              <a:ext cx="960" cy="672"/>
            </a:xfrm>
            <a:prstGeom prst="line">
              <a:avLst/>
            </a:prstGeom>
            <a:noFill/>
            <a:ln w="25400">
              <a:solidFill>
                <a:srgbClr val="FF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grpSp>
        <p:nvGrpSpPr>
          <p:cNvPr id="152187" name="Group 2683">
            <a:extLst>
              <a:ext uri="{FF2B5EF4-FFF2-40B4-BE49-F238E27FC236}">
                <a16:creationId xmlns:a16="http://schemas.microsoft.com/office/drawing/2014/main" id="{04004C96-8639-9AE1-8678-BDDE107446E3}"/>
              </a:ext>
            </a:extLst>
          </p:cNvPr>
          <p:cNvGrpSpPr>
            <a:grpSpLocks/>
          </p:cNvGrpSpPr>
          <p:nvPr/>
        </p:nvGrpSpPr>
        <p:grpSpPr bwMode="auto">
          <a:xfrm>
            <a:off x="3292475" y="2540000"/>
            <a:ext cx="688975" cy="790575"/>
            <a:chOff x="2074" y="1600"/>
            <a:chExt cx="434" cy="498"/>
          </a:xfrm>
        </p:grpSpPr>
        <p:sp>
          <p:nvSpPr>
            <p:cNvPr id="152185" name="Line 2681">
              <a:extLst>
                <a:ext uri="{FF2B5EF4-FFF2-40B4-BE49-F238E27FC236}">
                  <a16:creationId xmlns:a16="http://schemas.microsoft.com/office/drawing/2014/main" id="{340FA1BF-2983-C6A8-9644-1E6D2BA30D31}"/>
                </a:ext>
              </a:extLst>
            </p:cNvPr>
            <p:cNvSpPr>
              <a:spLocks noChangeShapeType="1"/>
            </p:cNvSpPr>
            <p:nvPr/>
          </p:nvSpPr>
          <p:spPr bwMode="auto">
            <a:xfrm rot="15028076" flipH="1" flipV="1">
              <a:off x="2050" y="1653"/>
              <a:ext cx="469" cy="421"/>
            </a:xfrm>
            <a:prstGeom prst="line">
              <a:avLst/>
            </a:prstGeom>
            <a:noFill/>
            <a:ln w="50800">
              <a:solidFill>
                <a:schemeClr val="bg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152186" name="Line 2682">
              <a:extLst>
                <a:ext uri="{FF2B5EF4-FFF2-40B4-BE49-F238E27FC236}">
                  <a16:creationId xmlns:a16="http://schemas.microsoft.com/office/drawing/2014/main" id="{A07FE4D9-7CFD-06A8-13DD-7EB1B6D9CFB0}"/>
                </a:ext>
              </a:extLst>
            </p:cNvPr>
            <p:cNvSpPr>
              <a:spLocks noChangeShapeType="1"/>
            </p:cNvSpPr>
            <p:nvPr/>
          </p:nvSpPr>
          <p:spPr bwMode="auto">
            <a:xfrm rot="15028076" flipH="1" flipV="1">
              <a:off x="2063" y="1624"/>
              <a:ext cx="469" cy="421"/>
            </a:xfrm>
            <a:prstGeom prst="line">
              <a:avLst/>
            </a:prstGeom>
            <a:noFill/>
            <a:ln w="25400">
              <a:solidFill>
                <a:srgbClr val="FF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sp>
        <p:nvSpPr>
          <p:cNvPr id="152191" name="Line 2687">
            <a:extLst>
              <a:ext uri="{FF2B5EF4-FFF2-40B4-BE49-F238E27FC236}">
                <a16:creationId xmlns:a16="http://schemas.microsoft.com/office/drawing/2014/main" id="{5540CA60-5CF9-1114-5BDB-95E8ECA31F11}"/>
              </a:ext>
            </a:extLst>
          </p:cNvPr>
          <p:cNvSpPr>
            <a:spLocks noChangeShapeType="1"/>
          </p:cNvSpPr>
          <p:nvPr/>
        </p:nvSpPr>
        <p:spPr bwMode="auto">
          <a:xfrm flipH="1">
            <a:off x="2743200" y="2133600"/>
            <a:ext cx="685800" cy="0"/>
          </a:xfrm>
          <a:prstGeom prst="line">
            <a:avLst/>
          </a:prstGeom>
          <a:noFill/>
          <a:ln w="25400">
            <a:solidFill>
              <a:srgbClr val="FF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BB6DA1F4-4DC2-D3D5-9DE4-A1F5A20FF6EA}"/>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A9DE77DC-46D9-5444-2373-A678D88F5CFD}"/>
              </a:ext>
            </a:extLst>
          </p:cNvPr>
          <p:cNvSpPr>
            <a:spLocks noGrp="1"/>
          </p:cNvSpPr>
          <p:nvPr>
            <p:ph type="sldNum" sz="quarter" idx="11"/>
          </p:nvPr>
        </p:nvSpPr>
        <p:spPr/>
        <p:txBody>
          <a:bodyPr/>
          <a:lstStyle/>
          <a:p>
            <a:r>
              <a:rPr lang="zh-CN" altLang="en-US"/>
              <a:t> </a:t>
            </a:r>
            <a:r>
              <a:rPr lang="en-US" altLang="zh-CN"/>
              <a:t>- </a:t>
            </a:r>
            <a:fld id="{2FE69BFB-B30F-4BEC-927E-2C1777E35C47}" type="slidenum">
              <a:rPr lang="en-US" altLang="zh-CN" sz="800"/>
              <a:pPr/>
              <a:t>43</a:t>
            </a:fld>
            <a:endParaRPr lang="en-US" altLang="zh-CN" sz="800"/>
          </a:p>
        </p:txBody>
      </p:sp>
      <p:sp>
        <p:nvSpPr>
          <p:cNvPr id="117762" name="Rectangle 2">
            <a:extLst>
              <a:ext uri="{FF2B5EF4-FFF2-40B4-BE49-F238E27FC236}">
                <a16:creationId xmlns:a16="http://schemas.microsoft.com/office/drawing/2014/main" id="{783628F6-891A-A826-EEF8-8558604313A1}"/>
              </a:ext>
            </a:extLst>
          </p:cNvPr>
          <p:cNvSpPr>
            <a:spLocks noGrp="1" noChangeArrowheads="1"/>
          </p:cNvSpPr>
          <p:nvPr>
            <p:ph type="title"/>
          </p:nvPr>
        </p:nvSpPr>
        <p:spPr/>
        <p:txBody>
          <a:bodyPr/>
          <a:lstStyle/>
          <a:p>
            <a:r>
              <a:rPr lang="en-US" altLang="zh-CN">
                <a:solidFill>
                  <a:schemeClr val="tx1"/>
                </a:solidFill>
                <a:ea typeface="宋体" panose="02010600030101010101" pitchFamily="2" charset="-122"/>
              </a:rPr>
              <a:t>Lesson Summary</a:t>
            </a:r>
          </a:p>
        </p:txBody>
      </p:sp>
      <p:sp>
        <p:nvSpPr>
          <p:cNvPr id="117763" name="Rectangle 3">
            <a:extLst>
              <a:ext uri="{FF2B5EF4-FFF2-40B4-BE49-F238E27FC236}">
                <a16:creationId xmlns:a16="http://schemas.microsoft.com/office/drawing/2014/main" id="{C8729A7D-3A0A-F0C9-24F3-C87EC13AD354}"/>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Key topics covered in this lesson:</a:t>
            </a:r>
          </a:p>
          <a:p>
            <a:r>
              <a:rPr lang="en-US" altLang="zh-CN">
                <a:solidFill>
                  <a:schemeClr val="tx1"/>
                </a:solidFill>
                <a:ea typeface="宋体" panose="02010600030101010101" pitchFamily="2" charset="-122"/>
              </a:rPr>
              <a:t>SAN security Architecture</a:t>
            </a:r>
          </a:p>
          <a:p>
            <a:r>
              <a:rPr lang="en-US" altLang="zh-CN">
                <a:solidFill>
                  <a:schemeClr val="tx1"/>
                </a:solidFill>
                <a:ea typeface="宋体" panose="02010600030101010101" pitchFamily="2" charset="-122"/>
              </a:rPr>
              <a:t>Basic SAN security mechanisms</a:t>
            </a:r>
          </a:p>
          <a:p>
            <a:pPr lvl="1"/>
            <a:r>
              <a:rPr lang="en-US" altLang="zh-CN">
                <a:solidFill>
                  <a:schemeClr val="tx1"/>
                </a:solidFill>
                <a:ea typeface="宋体" panose="02010600030101010101" pitchFamily="2" charset="-122"/>
              </a:rPr>
              <a:t>Zoning, Lun masking, Port Binding, ACLs, RBAC, VSAN</a:t>
            </a:r>
          </a:p>
          <a:p>
            <a:r>
              <a:rPr lang="en-US" altLang="zh-CN">
                <a:solidFill>
                  <a:schemeClr val="tx1"/>
                </a:solidFill>
                <a:ea typeface="宋体" panose="02010600030101010101" pitchFamily="2" charset="-122"/>
              </a:rPr>
              <a:t>NAS security mechanisms</a:t>
            </a:r>
          </a:p>
          <a:p>
            <a:pPr lvl="1"/>
            <a:r>
              <a:rPr lang="en-US" altLang="zh-CN">
                <a:solidFill>
                  <a:schemeClr val="tx1"/>
                </a:solidFill>
                <a:ea typeface="宋体" panose="02010600030101010101" pitchFamily="2" charset="-122"/>
              </a:rPr>
              <a:t>ACLs and Permissions</a:t>
            </a:r>
          </a:p>
          <a:p>
            <a:pPr lvl="1"/>
            <a:r>
              <a:rPr lang="en-US" altLang="zh-CN">
                <a:solidFill>
                  <a:schemeClr val="tx1"/>
                </a:solidFill>
                <a:ea typeface="宋体" panose="02010600030101010101" pitchFamily="2" charset="-122"/>
              </a:rPr>
              <a:t>Kerberos</a:t>
            </a:r>
          </a:p>
          <a:p>
            <a:pPr lvl="1"/>
            <a:r>
              <a:rPr lang="en-US" altLang="zh-CN">
                <a:solidFill>
                  <a:schemeClr val="tx1"/>
                </a:solidFill>
                <a:ea typeface="宋体" panose="02010600030101010101" pitchFamily="2" charset="-122"/>
              </a:rPr>
              <a:t>Network layer firewalls</a:t>
            </a:r>
          </a:p>
          <a:p>
            <a:r>
              <a:rPr lang="en-US" altLang="zh-CN">
                <a:solidFill>
                  <a:schemeClr val="tx1"/>
                </a:solidFill>
                <a:ea typeface="宋体" panose="02010600030101010101" pitchFamily="2" charset="-122"/>
              </a:rPr>
              <a:t>IP-SAN security mechanisms</a:t>
            </a:r>
          </a:p>
          <a:p>
            <a:pPr lvl="1"/>
            <a:r>
              <a:rPr lang="en-US" altLang="zh-CN">
                <a:solidFill>
                  <a:schemeClr val="tx1"/>
                </a:solidFill>
                <a:ea typeface="宋体" panose="02010600030101010101" pitchFamily="2" charset="-122"/>
              </a:rPr>
              <a:t>CHAP, iSNS discovery domains</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17B43ECD-3ABC-BA0C-A46B-0490E16F8C0F}"/>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CF849592-FE80-0A84-F8B9-F6FB52534B64}"/>
              </a:ext>
            </a:extLst>
          </p:cNvPr>
          <p:cNvSpPr>
            <a:spLocks noGrp="1"/>
          </p:cNvSpPr>
          <p:nvPr>
            <p:ph type="sldNum" sz="quarter" idx="11"/>
          </p:nvPr>
        </p:nvSpPr>
        <p:spPr/>
        <p:txBody>
          <a:bodyPr/>
          <a:lstStyle/>
          <a:p>
            <a:r>
              <a:rPr lang="zh-CN" altLang="en-US"/>
              <a:t> </a:t>
            </a:r>
            <a:r>
              <a:rPr lang="en-US" altLang="zh-CN"/>
              <a:t>- </a:t>
            </a:r>
            <a:fld id="{01C7F677-DD3F-4D28-A1CC-E4FAAFB1A077}" type="slidenum">
              <a:rPr lang="en-US" altLang="zh-CN" sz="800"/>
              <a:pPr/>
              <a:t>44</a:t>
            </a:fld>
            <a:endParaRPr lang="en-US" altLang="zh-CN" sz="800"/>
          </a:p>
        </p:txBody>
      </p:sp>
      <p:sp>
        <p:nvSpPr>
          <p:cNvPr id="119810" name="Rectangle 2">
            <a:extLst>
              <a:ext uri="{FF2B5EF4-FFF2-40B4-BE49-F238E27FC236}">
                <a16:creationId xmlns:a16="http://schemas.microsoft.com/office/drawing/2014/main" id="{016F2972-B093-5386-3458-BF511DBF9956}"/>
              </a:ext>
            </a:extLst>
          </p:cNvPr>
          <p:cNvSpPr>
            <a:spLocks noGrp="1" noChangeArrowheads="1"/>
          </p:cNvSpPr>
          <p:nvPr>
            <p:ph type="title"/>
          </p:nvPr>
        </p:nvSpPr>
        <p:spPr/>
        <p:txBody>
          <a:bodyPr/>
          <a:lstStyle/>
          <a:p>
            <a:r>
              <a:rPr lang="en-US" altLang="zh-CN">
                <a:ea typeface="宋体" panose="02010600030101010101" pitchFamily="2" charset="-122"/>
              </a:rPr>
              <a:t>Module Summary</a:t>
            </a:r>
          </a:p>
        </p:txBody>
      </p:sp>
      <p:sp>
        <p:nvSpPr>
          <p:cNvPr id="119811" name="Rectangle 3">
            <a:extLst>
              <a:ext uri="{FF2B5EF4-FFF2-40B4-BE49-F238E27FC236}">
                <a16:creationId xmlns:a16="http://schemas.microsoft.com/office/drawing/2014/main" id="{E9D7E9A9-4677-2583-6D97-7D0E3018A437}"/>
              </a:ext>
            </a:extLst>
          </p:cNvPr>
          <p:cNvSpPr>
            <a:spLocks noGrp="1" noChangeArrowheads="1"/>
          </p:cNvSpPr>
          <p:nvPr>
            <p:ph type="body" idx="1"/>
          </p:nvPr>
        </p:nvSpPr>
        <p:spPr>
          <a:xfrm>
            <a:off x="220663" y="1196975"/>
            <a:ext cx="8705850" cy="5329238"/>
          </a:xfrm>
        </p:spPr>
        <p:txBody>
          <a:bodyPr/>
          <a:lstStyle/>
          <a:p>
            <a:pPr>
              <a:buFont typeface="Wingdings" panose="05000000000000000000" pitchFamily="2" charset="2"/>
              <a:buNone/>
            </a:pPr>
            <a:r>
              <a:rPr lang="en-US" altLang="zh-CN">
                <a:ea typeface="宋体" panose="02010600030101010101" pitchFamily="2" charset="-122"/>
              </a:rPr>
              <a:t>Key points covered in this module:</a:t>
            </a:r>
          </a:p>
          <a:p>
            <a:r>
              <a:rPr lang="en-US" altLang="zh-CN">
                <a:ea typeface="宋体" panose="02010600030101010101" pitchFamily="2" charset="-122"/>
              </a:rPr>
              <a:t>Storage Security framework </a:t>
            </a:r>
          </a:p>
          <a:p>
            <a:r>
              <a:rPr lang="en-US" altLang="zh-CN">
                <a:ea typeface="宋体" panose="02010600030101010101" pitchFamily="2" charset="-122"/>
              </a:rPr>
              <a:t>Storage security domains</a:t>
            </a:r>
          </a:p>
          <a:p>
            <a:pPr lvl="1"/>
            <a:r>
              <a:rPr lang="en-US" altLang="zh-CN">
                <a:solidFill>
                  <a:schemeClr val="tx1"/>
                </a:solidFill>
                <a:ea typeface="宋体" panose="02010600030101010101" pitchFamily="2" charset="-122"/>
              </a:rPr>
              <a:t>Application, Management, Backup Recovery and Archive (BURA)</a:t>
            </a:r>
            <a:endParaRPr lang="en-US" altLang="zh-CN">
              <a:ea typeface="宋体" panose="02010600030101010101" pitchFamily="2" charset="-122"/>
            </a:endParaRPr>
          </a:p>
          <a:p>
            <a:r>
              <a:rPr lang="en-US" altLang="zh-CN">
                <a:ea typeface="宋体" panose="02010600030101010101" pitchFamily="2" charset="-122"/>
              </a:rPr>
              <a:t>Controls that can be deployed against identified threats in each domain</a:t>
            </a:r>
          </a:p>
          <a:p>
            <a:r>
              <a:rPr lang="en-US" altLang="zh-CN">
                <a:ea typeface="宋体" panose="02010600030101010101" pitchFamily="2" charset="-122"/>
              </a:rPr>
              <a:t>SAN security architecture </a:t>
            </a:r>
          </a:p>
          <a:p>
            <a:r>
              <a:rPr lang="en-US" altLang="zh-CN">
                <a:ea typeface="宋体" panose="02010600030101010101" pitchFamily="2" charset="-122"/>
              </a:rPr>
              <a:t>Protection mechanisms in SAN, NAS, and IP-SAN environments</a:t>
            </a:r>
          </a:p>
          <a:p>
            <a:endParaRPr lang="en-US" altLang="zh-CN">
              <a:ea typeface="宋体" panose="0201060003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4D678CA-A80D-55AF-1D8A-D1C50BAF9FC7}"/>
              </a:ext>
            </a:extLst>
          </p:cNvPr>
          <p:cNvSpPr>
            <a:spLocks noGrp="1"/>
          </p:cNvSpPr>
          <p:nvPr>
            <p:ph type="ftr" sz="quarter" idx="10"/>
          </p:nvPr>
        </p:nvSpPr>
        <p:spPr/>
        <p:txBody>
          <a:bodyPr/>
          <a:lstStyle/>
          <a:p>
            <a:r>
              <a:rPr lang="zh-CN" altLang="en-US"/>
              <a:t>Securing the Storage Infrastructure</a:t>
            </a:r>
            <a:endParaRPr lang="en-US" altLang="zh-CN"/>
          </a:p>
        </p:txBody>
      </p:sp>
      <p:sp>
        <p:nvSpPr>
          <p:cNvPr id="3" name="Slide Number Placeholder 4">
            <a:extLst>
              <a:ext uri="{FF2B5EF4-FFF2-40B4-BE49-F238E27FC236}">
                <a16:creationId xmlns:a16="http://schemas.microsoft.com/office/drawing/2014/main" id="{CBDD9ED2-5F4A-4848-5658-6AAAA3A56D05}"/>
              </a:ext>
            </a:extLst>
          </p:cNvPr>
          <p:cNvSpPr>
            <a:spLocks noGrp="1"/>
          </p:cNvSpPr>
          <p:nvPr>
            <p:ph type="sldNum" sz="quarter" idx="11"/>
          </p:nvPr>
        </p:nvSpPr>
        <p:spPr/>
        <p:txBody>
          <a:bodyPr/>
          <a:lstStyle/>
          <a:p>
            <a:r>
              <a:rPr lang="zh-CN" altLang="en-US"/>
              <a:t> </a:t>
            </a:r>
            <a:r>
              <a:rPr lang="en-US" altLang="zh-CN"/>
              <a:t>- </a:t>
            </a:r>
            <a:fld id="{B1CD7DAC-2EA9-4806-9432-59CA8915970F}" type="slidenum">
              <a:rPr lang="en-US" altLang="zh-CN" sz="800"/>
              <a:pPr/>
              <a:t>45</a:t>
            </a:fld>
            <a:endParaRPr lang="en-US" altLang="zh-CN" sz="800"/>
          </a:p>
        </p:txBody>
      </p:sp>
      <p:sp>
        <p:nvSpPr>
          <p:cNvPr id="159746" name="Rectangle 2">
            <a:extLst>
              <a:ext uri="{FF2B5EF4-FFF2-40B4-BE49-F238E27FC236}">
                <a16:creationId xmlns:a16="http://schemas.microsoft.com/office/drawing/2014/main" id="{AA859167-600C-7561-F62B-F7F06DBB3B58}"/>
              </a:ext>
            </a:extLst>
          </p:cNvPr>
          <p:cNvSpPr>
            <a:spLocks noGrp="1" noChangeArrowheads="1"/>
          </p:cNvSpPr>
          <p:nvPr>
            <p:ph type="title"/>
          </p:nvPr>
        </p:nvSpPr>
        <p:spPr>
          <a:xfrm>
            <a:off x="958850" y="584200"/>
            <a:ext cx="7972425" cy="457200"/>
          </a:xfrm>
          <a:noFill/>
        </p:spPr>
        <p:txBody>
          <a:bodyPr/>
          <a:lstStyle/>
          <a:p>
            <a:r>
              <a:rPr lang="en-US" altLang="zh-CN">
                <a:ea typeface="宋体" panose="02010600030101010101" pitchFamily="2" charset="-122"/>
              </a:rPr>
              <a:t>Check Your Knowledge</a:t>
            </a:r>
            <a:endParaRPr lang="en-US" altLang="zh-CN" sz="1800">
              <a:ea typeface="宋体" panose="02010600030101010101" pitchFamily="2" charset="-122"/>
            </a:endParaRPr>
          </a:p>
        </p:txBody>
      </p:sp>
      <p:sp>
        <p:nvSpPr>
          <p:cNvPr id="159747" name="Rectangle 3">
            <a:extLst>
              <a:ext uri="{FF2B5EF4-FFF2-40B4-BE49-F238E27FC236}">
                <a16:creationId xmlns:a16="http://schemas.microsoft.com/office/drawing/2014/main" id="{3C5210DD-3194-290A-DB55-1180BBE0456D}"/>
              </a:ext>
            </a:extLst>
          </p:cNvPr>
          <p:cNvSpPr>
            <a:spLocks noGrp="1" noChangeArrowheads="1"/>
          </p:cNvSpPr>
          <p:nvPr>
            <p:ph type="body" idx="1"/>
          </p:nvPr>
        </p:nvSpPr>
        <p:spPr/>
        <p:txBody>
          <a:bodyPr/>
          <a:lstStyle/>
          <a:p>
            <a:r>
              <a:rPr lang="en-US" altLang="zh-CN">
                <a:ea typeface="宋体" panose="02010600030101010101" pitchFamily="2" charset="-122"/>
              </a:rPr>
              <a:t>What are the primary security attributes? </a:t>
            </a:r>
          </a:p>
          <a:p>
            <a:r>
              <a:rPr lang="en-US" altLang="zh-CN">
                <a:ea typeface="宋体" panose="02010600030101010101" pitchFamily="2" charset="-122"/>
              </a:rPr>
              <a:t>What are the three data security domains?</a:t>
            </a:r>
          </a:p>
          <a:p>
            <a:r>
              <a:rPr lang="en-US" altLang="zh-CN">
                <a:ea typeface="宋体" panose="02010600030101010101" pitchFamily="2" charset="-122"/>
              </a:rPr>
              <a:t>What are the basic SAN security mechanism?</a:t>
            </a:r>
          </a:p>
          <a:p>
            <a:r>
              <a:rPr lang="en-US" altLang="zh-CN">
                <a:ea typeface="宋体" panose="02010600030101010101" pitchFamily="2" charset="-122"/>
              </a:rPr>
              <a:t>How is security implemented in NAS?</a:t>
            </a:r>
          </a:p>
          <a:p>
            <a:r>
              <a:rPr lang="en-US" altLang="zh-CN">
                <a:ea typeface="宋体" panose="02010600030101010101" pitchFamily="2" charset="-122"/>
              </a:rPr>
              <a:t>What are the two authentication mechanism in IP SAN?</a:t>
            </a:r>
          </a:p>
        </p:txBody>
      </p:sp>
      <p:sp>
        <p:nvSpPr>
          <p:cNvPr id="159748" name="Text Box 4">
            <a:extLst>
              <a:ext uri="{FF2B5EF4-FFF2-40B4-BE49-F238E27FC236}">
                <a16:creationId xmlns:a16="http://schemas.microsoft.com/office/drawing/2014/main" id="{B9B581EC-F671-A01F-8BB4-FB7F59C86E1A}"/>
              </a:ext>
            </a:extLst>
          </p:cNvPr>
          <p:cNvSpPr txBox="1">
            <a:spLocks noChangeArrowheads="1"/>
          </p:cNvSpPr>
          <p:nvPr/>
        </p:nvSpPr>
        <p:spPr bwMode="auto">
          <a:xfrm>
            <a:off x="4808538" y="1506538"/>
            <a:ext cx="174625" cy="3810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lg"/>
              </a14:hiddenLine>
            </a:ext>
          </a:extLst>
        </p:spPr>
        <p:txBody>
          <a:bodyPr wrap="none">
            <a:spAutoFit/>
          </a:bodyPr>
          <a:lstStyle>
            <a:lvl1pPr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0" hangingPunct="0">
              <a:buClrTx/>
              <a:buFontTx/>
              <a:buNone/>
            </a:pPr>
            <a:endParaRPr lang="zh-CN" altLang="en-US" sz="1900">
              <a:ea typeface="宋体" panose="02010600030101010101" pitchFamily="2" charset="-122"/>
            </a:endParaRPr>
          </a:p>
        </p:txBody>
      </p:sp>
      <p:sp>
        <p:nvSpPr>
          <p:cNvPr id="159749" name="Text Box 5">
            <a:extLst>
              <a:ext uri="{FF2B5EF4-FFF2-40B4-BE49-F238E27FC236}">
                <a16:creationId xmlns:a16="http://schemas.microsoft.com/office/drawing/2014/main" id="{8E8C4808-92BD-7A31-D001-60AC3ED319E5}"/>
              </a:ext>
            </a:extLst>
          </p:cNvPr>
          <p:cNvSpPr txBox="1">
            <a:spLocks noChangeArrowheads="1"/>
          </p:cNvSpPr>
          <p:nvPr/>
        </p:nvSpPr>
        <p:spPr bwMode="auto">
          <a:xfrm>
            <a:off x="207963" y="450850"/>
            <a:ext cx="663575" cy="8239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lg"/>
              </a14:hiddenLine>
            </a:ext>
          </a:extLst>
        </p:spPr>
        <p:txBody>
          <a:bodyPr>
            <a:spAutoFit/>
          </a:bodyPr>
          <a:lstStyle>
            <a:lvl1pPr algn="l" defTabSz="941388">
              <a:spcBef>
                <a:spcPct val="0"/>
              </a:spcBef>
              <a:defRPr>
                <a:solidFill>
                  <a:schemeClr val="tx1"/>
                </a:solidFill>
                <a:latin typeface="Arial" panose="020B0604020202020204" pitchFamily="34" charset="0"/>
                <a:cs typeface="Arial" panose="020B0604020202020204" pitchFamily="34" charset="0"/>
              </a:defRPr>
            </a:lvl1pPr>
            <a:lvl2pPr algn="l" defTabSz="941388">
              <a:spcBef>
                <a:spcPct val="0"/>
              </a:spcBef>
              <a:defRPr>
                <a:solidFill>
                  <a:schemeClr val="tx1"/>
                </a:solidFill>
                <a:latin typeface="Arial" panose="020B0604020202020204" pitchFamily="34" charset="0"/>
                <a:cs typeface="Arial" panose="020B0604020202020204" pitchFamily="34" charset="0"/>
              </a:defRPr>
            </a:lvl2pPr>
            <a:lvl3pPr algn="l" defTabSz="941388">
              <a:spcBef>
                <a:spcPct val="0"/>
              </a:spcBef>
              <a:defRPr>
                <a:solidFill>
                  <a:schemeClr val="tx1"/>
                </a:solidFill>
                <a:latin typeface="Arial" panose="020B0604020202020204" pitchFamily="34" charset="0"/>
                <a:cs typeface="Arial" panose="020B0604020202020204" pitchFamily="34" charset="0"/>
              </a:defRPr>
            </a:lvl3pPr>
            <a:lvl4pPr algn="l" defTabSz="941388">
              <a:spcBef>
                <a:spcPct val="0"/>
              </a:spcBef>
              <a:defRPr>
                <a:solidFill>
                  <a:schemeClr val="tx1"/>
                </a:solidFill>
                <a:latin typeface="Arial" panose="020B0604020202020204" pitchFamily="34" charset="0"/>
                <a:cs typeface="Arial" panose="020B0604020202020204" pitchFamily="34" charset="0"/>
              </a:defRPr>
            </a:lvl4pPr>
            <a:lvl5pPr algn="l"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0" hangingPunct="0">
              <a:buClrTx/>
              <a:buFontTx/>
              <a:buNone/>
            </a:pPr>
            <a:r>
              <a:rPr lang="zh-CN" altLang="en-US" sz="4800" b="1">
                <a:solidFill>
                  <a:srgbClr val="FF0000"/>
                </a:solidFill>
                <a:latin typeface="Wingdings" panose="05000000000000000000" pitchFamily="2" charset="2"/>
                <a:ea typeface="宋体" panose="02010600030101010101" pitchFamily="2" charset="-122"/>
                <a:sym typeface="Wingdings" panose="05000000000000000000" pitchFamily="2" charset="2"/>
              </a:rPr>
              <a:t></a:t>
            </a:r>
            <a:endParaRPr lang="zh-CN" altLang="en-US" sz="4800" b="1">
              <a:solidFill>
                <a:srgbClr val="FF0000"/>
              </a:solidFill>
              <a:latin typeface="Wingdings" panose="05000000000000000000" pitchFamily="2" charset="2"/>
              <a:ea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2738" name="Rectangle 2">
            <a:extLst>
              <a:ext uri="{FF2B5EF4-FFF2-40B4-BE49-F238E27FC236}">
                <a16:creationId xmlns:a16="http://schemas.microsoft.com/office/drawing/2014/main" id="{33B23125-8852-8343-2E33-0A508E9BDDE9}"/>
              </a:ext>
            </a:extLst>
          </p:cNvPr>
          <p:cNvSpPr>
            <a:spLocks noGrp="1" noChangeArrowheads="1"/>
          </p:cNvSpPr>
          <p:nvPr>
            <p:ph type="ctrTitle"/>
          </p:nvPr>
        </p:nvSpPr>
        <p:spPr/>
        <p:txBody>
          <a:bodyPr/>
          <a:lstStyle/>
          <a:p>
            <a:r>
              <a:rPr lang="en-US" altLang="zh-CN">
                <a:ea typeface="宋体" panose="02010600030101010101" pitchFamily="2" charset="-122"/>
              </a:rPr>
              <a:t>Managing the Storage Infrastructure</a:t>
            </a:r>
          </a:p>
        </p:txBody>
      </p:sp>
      <p:sp>
        <p:nvSpPr>
          <p:cNvPr id="2932739" name="Rectangle 3">
            <a:extLst>
              <a:ext uri="{FF2B5EF4-FFF2-40B4-BE49-F238E27FC236}">
                <a16:creationId xmlns:a16="http://schemas.microsoft.com/office/drawing/2014/main" id="{0862576C-9AFD-6A22-4AA1-AAB50B1A1EAF}"/>
              </a:ext>
            </a:extLst>
          </p:cNvPr>
          <p:cNvSpPr>
            <a:spLocks noGrp="1" noChangeArrowheads="1"/>
          </p:cNvSpPr>
          <p:nvPr>
            <p:ph type="subTitle" idx="1"/>
          </p:nvPr>
        </p:nvSpPr>
        <p:spPr/>
        <p:txBody>
          <a:bodyPr/>
          <a:lstStyle/>
          <a:p>
            <a:endParaRPr lang="zh-CN" altLang="en-US" dirty="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8C3F503-3295-391C-AC3C-F4D002443CAD}"/>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39D7C275-9471-757F-A6C1-CB342E4D7CB9}"/>
              </a:ext>
            </a:extLst>
          </p:cNvPr>
          <p:cNvSpPr>
            <a:spLocks noGrp="1"/>
          </p:cNvSpPr>
          <p:nvPr>
            <p:ph type="sldNum" sz="quarter" idx="11"/>
          </p:nvPr>
        </p:nvSpPr>
        <p:spPr/>
        <p:txBody>
          <a:bodyPr/>
          <a:lstStyle/>
          <a:p>
            <a:r>
              <a:rPr lang="zh-CN" altLang="en-US"/>
              <a:t> </a:t>
            </a:r>
            <a:r>
              <a:rPr lang="en-US" altLang="zh-CN"/>
              <a:t>- </a:t>
            </a:r>
            <a:fld id="{69918015-B880-4FCA-BCF7-D5A5941239AE}" type="slidenum">
              <a:rPr lang="en-US" altLang="zh-CN" sz="800"/>
              <a:pPr/>
              <a:t>47</a:t>
            </a:fld>
            <a:endParaRPr lang="en-US" altLang="zh-CN" sz="800"/>
          </a:p>
        </p:txBody>
      </p:sp>
      <p:sp>
        <p:nvSpPr>
          <p:cNvPr id="2934789" name="Rectangle 5">
            <a:extLst>
              <a:ext uri="{FF2B5EF4-FFF2-40B4-BE49-F238E27FC236}">
                <a16:creationId xmlns:a16="http://schemas.microsoft.com/office/drawing/2014/main" id="{9FA35F91-C85C-2153-79E9-E8DACB47D886}"/>
              </a:ext>
            </a:extLst>
          </p:cNvPr>
          <p:cNvSpPr>
            <a:spLocks noGrp="1" noChangeArrowheads="1"/>
          </p:cNvSpPr>
          <p:nvPr>
            <p:ph type="title"/>
          </p:nvPr>
        </p:nvSpPr>
        <p:spPr/>
        <p:txBody>
          <a:bodyPr/>
          <a:lstStyle/>
          <a:p>
            <a:r>
              <a:rPr lang="en-US" altLang="zh-CN">
                <a:ea typeface="宋体" panose="02010600030101010101" pitchFamily="2" charset="-122"/>
              </a:rPr>
              <a:t>Managing the Storage Infrastructure</a:t>
            </a:r>
          </a:p>
        </p:txBody>
      </p:sp>
      <p:sp>
        <p:nvSpPr>
          <p:cNvPr id="2934790" name="Rectangle 6">
            <a:extLst>
              <a:ext uri="{FF2B5EF4-FFF2-40B4-BE49-F238E27FC236}">
                <a16:creationId xmlns:a16="http://schemas.microsoft.com/office/drawing/2014/main" id="{4A4D87F8-7F10-9FFE-8FC4-19EA20313FFD}"/>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After completing this module, you will be able to:</a:t>
            </a:r>
          </a:p>
          <a:p>
            <a:r>
              <a:rPr lang="en-US" altLang="zh-CN">
                <a:ea typeface="宋体" panose="02010600030101010101" pitchFamily="2" charset="-122"/>
              </a:rPr>
              <a:t>Discuss the major storage infrastructure components that should be monitored</a:t>
            </a:r>
          </a:p>
          <a:p>
            <a:r>
              <a:rPr lang="en-US" altLang="zh-CN">
                <a:ea typeface="宋体" panose="02010600030101010101" pitchFamily="2" charset="-122"/>
              </a:rPr>
              <a:t>Detail monitoring parameters</a:t>
            </a:r>
          </a:p>
          <a:p>
            <a:r>
              <a:rPr lang="en-US" altLang="zh-CN">
                <a:ea typeface="宋体" panose="02010600030101010101" pitchFamily="2" charset="-122"/>
              </a:rPr>
              <a:t>Discuss the storage management activities </a:t>
            </a:r>
          </a:p>
          <a:p>
            <a:r>
              <a:rPr lang="en-US" altLang="zh-CN">
                <a:ea typeface="宋体" panose="02010600030101010101" pitchFamily="2" charset="-122"/>
              </a:rPr>
              <a:t>Describe the storage infrastructure management challenges and their solution</a:t>
            </a:r>
          </a:p>
          <a:p>
            <a:r>
              <a:rPr lang="en-US" altLang="zh-CN">
                <a:ea typeface="宋体" panose="02010600030101010101" pitchFamily="2" charset="-122"/>
              </a:rPr>
              <a:t>Define storage management initiative specification (SMI-S)</a:t>
            </a:r>
          </a:p>
        </p:txBody>
      </p:sp>
      <p:pic>
        <p:nvPicPr>
          <p:cNvPr id="2934788" name="Picture 4">
            <a:extLst>
              <a:ext uri="{FF2B5EF4-FFF2-40B4-BE49-F238E27FC236}">
                <a16:creationId xmlns:a16="http://schemas.microsoft.com/office/drawing/2014/main" id="{7421683E-F0B7-212A-C5F3-F9B0E52646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6057900"/>
            <a:ext cx="8867775" cy="571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EC9F9631-675A-54E7-D90E-432F9D429BE3}"/>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9EF2CBE2-5247-10A0-D785-34E3E17DDFF3}"/>
              </a:ext>
            </a:extLst>
          </p:cNvPr>
          <p:cNvSpPr>
            <a:spLocks noGrp="1"/>
          </p:cNvSpPr>
          <p:nvPr>
            <p:ph type="sldNum" sz="quarter" idx="11"/>
          </p:nvPr>
        </p:nvSpPr>
        <p:spPr/>
        <p:txBody>
          <a:bodyPr/>
          <a:lstStyle/>
          <a:p>
            <a:r>
              <a:rPr lang="zh-CN" altLang="en-US"/>
              <a:t> </a:t>
            </a:r>
            <a:r>
              <a:rPr lang="en-US" altLang="zh-CN"/>
              <a:t>- </a:t>
            </a:r>
            <a:fld id="{A9930DEE-E851-4BDD-810C-51049603A2A3}" type="slidenum">
              <a:rPr lang="en-US" altLang="zh-CN" sz="800"/>
              <a:pPr/>
              <a:t>48</a:t>
            </a:fld>
            <a:endParaRPr lang="en-US" altLang="zh-CN" sz="800"/>
          </a:p>
        </p:txBody>
      </p:sp>
      <p:sp>
        <p:nvSpPr>
          <p:cNvPr id="3158018" name="Rectangle 2">
            <a:extLst>
              <a:ext uri="{FF2B5EF4-FFF2-40B4-BE49-F238E27FC236}">
                <a16:creationId xmlns:a16="http://schemas.microsoft.com/office/drawing/2014/main" id="{10F30C5A-7CC0-3AE7-2340-DE663E826042}"/>
              </a:ext>
            </a:extLst>
          </p:cNvPr>
          <p:cNvSpPr>
            <a:spLocks noGrp="1" noChangeArrowheads="1"/>
          </p:cNvSpPr>
          <p:nvPr>
            <p:ph type="title"/>
          </p:nvPr>
        </p:nvSpPr>
        <p:spPr/>
        <p:txBody>
          <a:bodyPr/>
          <a:lstStyle/>
          <a:p>
            <a:r>
              <a:rPr lang="en-US" altLang="zh-CN">
                <a:ea typeface="宋体" panose="02010600030101010101" pitchFamily="2" charset="-122"/>
              </a:rPr>
              <a:t>Storage Infrastructure Management</a:t>
            </a:r>
          </a:p>
        </p:txBody>
      </p:sp>
      <p:sp>
        <p:nvSpPr>
          <p:cNvPr id="3158019" name="Rectangle 3">
            <a:extLst>
              <a:ext uri="{FF2B5EF4-FFF2-40B4-BE49-F238E27FC236}">
                <a16:creationId xmlns:a16="http://schemas.microsoft.com/office/drawing/2014/main" id="{429B1426-462A-4D17-FAC2-507DB32A649A}"/>
              </a:ext>
            </a:extLst>
          </p:cNvPr>
          <p:cNvSpPr>
            <a:spLocks noGrp="1" noChangeArrowheads="1"/>
          </p:cNvSpPr>
          <p:nvPr>
            <p:ph type="body" idx="1"/>
          </p:nvPr>
        </p:nvSpPr>
        <p:spPr/>
        <p:txBody>
          <a:bodyPr/>
          <a:lstStyle/>
          <a:p>
            <a:r>
              <a:rPr lang="en-US" altLang="zh-CN">
                <a:ea typeface="宋体" panose="02010600030101010101" pitchFamily="2" charset="-122"/>
              </a:rPr>
              <a:t>Managing storage infrastructure is key to ensures continuity of business</a:t>
            </a:r>
          </a:p>
          <a:p>
            <a:r>
              <a:rPr lang="en-US" altLang="zh-CN">
                <a:ea typeface="宋体" panose="02010600030101010101" pitchFamily="2" charset="-122"/>
              </a:rPr>
              <a:t>Establishing management processes and implementing appropriate tools is essential to meeting service levels proactively</a:t>
            </a:r>
          </a:p>
          <a:p>
            <a:r>
              <a:rPr lang="en-US" altLang="zh-CN">
                <a:ea typeface="宋体" panose="02010600030101010101" pitchFamily="2" charset="-122"/>
              </a:rPr>
              <a:t>Management activities include availability, capacity, performance, and security management</a:t>
            </a:r>
          </a:p>
          <a:p>
            <a:r>
              <a:rPr lang="en-US" altLang="zh-CN">
                <a:ea typeface="宋体" panose="02010600030101010101" pitchFamily="2" charset="-122"/>
              </a:rPr>
              <a:t>Monitoring is the most important aspects that forms basis for storage management</a:t>
            </a:r>
          </a:p>
          <a:p>
            <a:r>
              <a:rPr lang="en-US" altLang="zh-CN">
                <a:ea typeface="宋体" panose="02010600030101010101" pitchFamily="2" charset="-122"/>
              </a:rPr>
              <a:t>Continuous monitoring enables availability and scalability by taking proactive measures</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0A402814-910F-7384-CDB1-18E358368C19}"/>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008AF0FF-2F54-8D66-DD32-D7262113C19B}"/>
              </a:ext>
            </a:extLst>
          </p:cNvPr>
          <p:cNvSpPr>
            <a:spLocks noGrp="1"/>
          </p:cNvSpPr>
          <p:nvPr>
            <p:ph type="sldNum" sz="quarter" idx="11"/>
          </p:nvPr>
        </p:nvSpPr>
        <p:spPr/>
        <p:txBody>
          <a:bodyPr/>
          <a:lstStyle/>
          <a:p>
            <a:r>
              <a:rPr lang="zh-CN" altLang="en-US"/>
              <a:t> </a:t>
            </a:r>
            <a:r>
              <a:rPr lang="en-US" altLang="zh-CN"/>
              <a:t>- </a:t>
            </a:r>
            <a:fld id="{82D96558-0F27-4426-BCBD-08035827ABCE}" type="slidenum">
              <a:rPr lang="en-US" altLang="zh-CN" sz="800"/>
              <a:pPr/>
              <a:t>49</a:t>
            </a:fld>
            <a:endParaRPr lang="en-US" altLang="zh-CN" sz="800"/>
          </a:p>
        </p:txBody>
      </p:sp>
      <p:sp>
        <p:nvSpPr>
          <p:cNvPr id="3130370" name="Rectangle 2">
            <a:extLst>
              <a:ext uri="{FF2B5EF4-FFF2-40B4-BE49-F238E27FC236}">
                <a16:creationId xmlns:a16="http://schemas.microsoft.com/office/drawing/2014/main" id="{AAA620C2-D492-30F3-1C07-847D8D7CCFB9}"/>
              </a:ext>
            </a:extLst>
          </p:cNvPr>
          <p:cNvSpPr>
            <a:spLocks noGrp="1" noChangeArrowheads="1"/>
          </p:cNvSpPr>
          <p:nvPr>
            <p:ph type="title"/>
          </p:nvPr>
        </p:nvSpPr>
        <p:spPr/>
        <p:txBody>
          <a:bodyPr/>
          <a:lstStyle/>
          <a:p>
            <a:r>
              <a:rPr lang="en-US" altLang="zh-CN">
                <a:ea typeface="宋体" panose="02010600030101010101" pitchFamily="2" charset="-122"/>
              </a:rPr>
              <a:t>Lesson: Monitoring the Storage Infrastructure</a:t>
            </a:r>
          </a:p>
        </p:txBody>
      </p:sp>
      <p:sp>
        <p:nvSpPr>
          <p:cNvPr id="3130371" name="Rectangle 3">
            <a:extLst>
              <a:ext uri="{FF2B5EF4-FFF2-40B4-BE49-F238E27FC236}">
                <a16:creationId xmlns:a16="http://schemas.microsoft.com/office/drawing/2014/main" id="{640DF836-D1DC-27B8-D43C-11E0BEC52931}"/>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Upon completion of this lesson, you will be able to:</a:t>
            </a:r>
          </a:p>
          <a:p>
            <a:r>
              <a:rPr lang="en-US" altLang="zh-CN">
                <a:ea typeface="宋体" panose="02010600030101010101" pitchFamily="2" charset="-122"/>
              </a:rPr>
              <a:t>Discuss the major storage infrastructure components that should be monitored</a:t>
            </a:r>
          </a:p>
          <a:p>
            <a:r>
              <a:rPr lang="en-US" altLang="zh-CN">
                <a:ea typeface="宋体" panose="02010600030101010101" pitchFamily="2" charset="-122"/>
              </a:rPr>
              <a:t>Describe what is to be monitored for the various storage infrastructure components</a:t>
            </a:r>
          </a:p>
          <a:p>
            <a:r>
              <a:rPr lang="en-US" altLang="zh-CN">
                <a:ea typeface="宋体" panose="02010600030101010101" pitchFamily="2" charset="-122"/>
              </a:rPr>
              <a:t>Discuss alerting of events</a:t>
            </a:r>
          </a:p>
        </p:txBody>
      </p:sp>
      <p:pic>
        <p:nvPicPr>
          <p:cNvPr id="3130372" name="Picture 4">
            <a:extLst>
              <a:ext uri="{FF2B5EF4-FFF2-40B4-BE49-F238E27FC236}">
                <a16:creationId xmlns:a16="http://schemas.microsoft.com/office/drawing/2014/main" id="{6023DE30-957B-1A0C-ED69-F8B31C252C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057900"/>
            <a:ext cx="8839200" cy="5667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0D82EEE8-0C1C-71AC-8089-DC4B7FF4EE4A}"/>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1AC418CE-AD81-DD8B-239F-E94BE40F59F0}"/>
              </a:ext>
            </a:extLst>
          </p:cNvPr>
          <p:cNvSpPr>
            <a:spLocks noGrp="1"/>
          </p:cNvSpPr>
          <p:nvPr>
            <p:ph type="sldNum" sz="quarter" idx="11"/>
          </p:nvPr>
        </p:nvSpPr>
        <p:spPr/>
        <p:txBody>
          <a:bodyPr/>
          <a:lstStyle/>
          <a:p>
            <a:r>
              <a:rPr lang="zh-CN" altLang="en-US"/>
              <a:t> </a:t>
            </a:r>
            <a:r>
              <a:rPr lang="en-US" altLang="zh-CN"/>
              <a:t>- </a:t>
            </a:r>
            <a:fld id="{0CE28268-2CBF-417D-ABCD-B2EA76222BCF}" type="slidenum">
              <a:rPr lang="en-US" altLang="zh-CN" sz="800"/>
              <a:pPr/>
              <a:t>50</a:t>
            </a:fld>
            <a:endParaRPr lang="en-US" altLang="zh-CN" sz="800"/>
          </a:p>
        </p:txBody>
      </p:sp>
      <p:sp>
        <p:nvSpPr>
          <p:cNvPr id="3115150" name="Line 142">
            <a:extLst>
              <a:ext uri="{FF2B5EF4-FFF2-40B4-BE49-F238E27FC236}">
                <a16:creationId xmlns:a16="http://schemas.microsoft.com/office/drawing/2014/main" id="{91F85ACE-BFA3-5191-E731-1C4B77E5C02D}"/>
              </a:ext>
            </a:extLst>
          </p:cNvPr>
          <p:cNvSpPr>
            <a:spLocks noChangeShapeType="1"/>
          </p:cNvSpPr>
          <p:nvPr/>
        </p:nvSpPr>
        <p:spPr bwMode="auto">
          <a:xfrm flipH="1">
            <a:off x="3114675" y="2235200"/>
            <a:ext cx="855663" cy="296863"/>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115010" name="Rectangle 2">
            <a:extLst>
              <a:ext uri="{FF2B5EF4-FFF2-40B4-BE49-F238E27FC236}">
                <a16:creationId xmlns:a16="http://schemas.microsoft.com/office/drawing/2014/main" id="{333DBEF9-D91D-E5A3-C782-14053D514181}"/>
              </a:ext>
            </a:extLst>
          </p:cNvPr>
          <p:cNvSpPr>
            <a:spLocks noGrp="1" noChangeArrowheads="1"/>
          </p:cNvSpPr>
          <p:nvPr>
            <p:ph type="title"/>
          </p:nvPr>
        </p:nvSpPr>
        <p:spPr/>
        <p:txBody>
          <a:bodyPr/>
          <a:lstStyle/>
          <a:p>
            <a:r>
              <a:rPr lang="en-US" altLang="zh-CN">
                <a:ea typeface="宋体" panose="02010600030101010101" pitchFamily="2" charset="-122"/>
              </a:rPr>
              <a:t>Monitoring Storage Infrastructure</a:t>
            </a:r>
          </a:p>
        </p:txBody>
      </p:sp>
      <p:sp>
        <p:nvSpPr>
          <p:cNvPr id="3115321" name="Rectangle 313">
            <a:extLst>
              <a:ext uri="{FF2B5EF4-FFF2-40B4-BE49-F238E27FC236}">
                <a16:creationId xmlns:a16="http://schemas.microsoft.com/office/drawing/2014/main" id="{7B06C926-AD49-325E-79ED-A46DCB5718EC}"/>
              </a:ext>
            </a:extLst>
          </p:cNvPr>
          <p:cNvSpPr>
            <a:spLocks noChangeArrowheads="1"/>
          </p:cNvSpPr>
          <p:nvPr/>
        </p:nvSpPr>
        <p:spPr bwMode="auto">
          <a:xfrm>
            <a:off x="5327650" y="4137025"/>
            <a:ext cx="2873375" cy="623888"/>
          </a:xfrm>
          <a:prstGeom prst="rect">
            <a:avLst/>
          </a:prstGeom>
          <a:solidFill>
            <a:srgbClr val="F7E3A1"/>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003580"/>
                </a:solidFill>
                <a:ea typeface="宋体" panose="02010600030101010101" pitchFamily="2" charset="-122"/>
              </a:rPr>
              <a:t>Accessibility</a:t>
            </a:r>
          </a:p>
        </p:txBody>
      </p:sp>
      <p:sp>
        <p:nvSpPr>
          <p:cNvPr id="3115322" name="Rectangle 314">
            <a:extLst>
              <a:ext uri="{FF2B5EF4-FFF2-40B4-BE49-F238E27FC236}">
                <a16:creationId xmlns:a16="http://schemas.microsoft.com/office/drawing/2014/main" id="{D9EE0621-C464-C422-2255-EAC3AE0DA281}"/>
              </a:ext>
            </a:extLst>
          </p:cNvPr>
          <p:cNvSpPr>
            <a:spLocks noChangeArrowheads="1"/>
          </p:cNvSpPr>
          <p:nvPr/>
        </p:nvSpPr>
        <p:spPr bwMode="auto">
          <a:xfrm>
            <a:off x="5329238" y="4760913"/>
            <a:ext cx="2873375" cy="623887"/>
          </a:xfrm>
          <a:prstGeom prst="rect">
            <a:avLst/>
          </a:prstGeom>
          <a:solidFill>
            <a:srgbClr val="F7E3A1"/>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003580"/>
                </a:solidFill>
                <a:ea typeface="宋体" panose="02010600030101010101" pitchFamily="2" charset="-122"/>
              </a:rPr>
              <a:t>Capacity</a:t>
            </a:r>
          </a:p>
        </p:txBody>
      </p:sp>
      <p:sp>
        <p:nvSpPr>
          <p:cNvPr id="3115323" name="Rectangle 315">
            <a:extLst>
              <a:ext uri="{FF2B5EF4-FFF2-40B4-BE49-F238E27FC236}">
                <a16:creationId xmlns:a16="http://schemas.microsoft.com/office/drawing/2014/main" id="{D9E5C754-AD49-8398-B042-28A2E449A40C}"/>
              </a:ext>
            </a:extLst>
          </p:cNvPr>
          <p:cNvSpPr>
            <a:spLocks noChangeArrowheads="1"/>
          </p:cNvSpPr>
          <p:nvPr/>
        </p:nvSpPr>
        <p:spPr bwMode="auto">
          <a:xfrm>
            <a:off x="5327650" y="5327650"/>
            <a:ext cx="2873375" cy="623888"/>
          </a:xfrm>
          <a:prstGeom prst="rect">
            <a:avLst/>
          </a:prstGeom>
          <a:solidFill>
            <a:srgbClr val="F7E3A1"/>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003580"/>
                </a:solidFill>
                <a:ea typeface="宋体" panose="02010600030101010101" pitchFamily="2" charset="-122"/>
              </a:rPr>
              <a:t>Performance</a:t>
            </a:r>
          </a:p>
        </p:txBody>
      </p:sp>
      <p:sp>
        <p:nvSpPr>
          <p:cNvPr id="3115324" name="Rectangle 316">
            <a:extLst>
              <a:ext uri="{FF2B5EF4-FFF2-40B4-BE49-F238E27FC236}">
                <a16:creationId xmlns:a16="http://schemas.microsoft.com/office/drawing/2014/main" id="{6D9B2B14-7C4A-1E1A-9B0D-AECF46460F6C}"/>
              </a:ext>
            </a:extLst>
          </p:cNvPr>
          <p:cNvSpPr>
            <a:spLocks noChangeArrowheads="1"/>
          </p:cNvSpPr>
          <p:nvPr/>
        </p:nvSpPr>
        <p:spPr bwMode="auto">
          <a:xfrm>
            <a:off x="5327650" y="5951538"/>
            <a:ext cx="2873375" cy="623887"/>
          </a:xfrm>
          <a:prstGeom prst="rect">
            <a:avLst/>
          </a:prstGeom>
          <a:solidFill>
            <a:srgbClr val="F7E3A1"/>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003580"/>
                </a:solidFill>
                <a:ea typeface="宋体" panose="02010600030101010101" pitchFamily="2" charset="-122"/>
              </a:rPr>
              <a:t>Security</a:t>
            </a:r>
          </a:p>
        </p:txBody>
      </p:sp>
      <p:sp>
        <p:nvSpPr>
          <p:cNvPr id="3115328" name="Text Box 320">
            <a:extLst>
              <a:ext uri="{FF2B5EF4-FFF2-40B4-BE49-F238E27FC236}">
                <a16:creationId xmlns:a16="http://schemas.microsoft.com/office/drawing/2014/main" id="{A14CB401-230F-88AC-D9FC-6653E02752A4}"/>
              </a:ext>
            </a:extLst>
          </p:cNvPr>
          <p:cNvSpPr txBox="1">
            <a:spLocks noChangeArrowheads="1"/>
          </p:cNvSpPr>
          <p:nvPr/>
        </p:nvSpPr>
        <p:spPr bwMode="auto">
          <a:xfrm>
            <a:off x="0" y="4111625"/>
            <a:ext cx="222885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Network</a:t>
            </a:r>
          </a:p>
        </p:txBody>
      </p:sp>
      <p:sp>
        <p:nvSpPr>
          <p:cNvPr id="3115329" name="Line 321">
            <a:extLst>
              <a:ext uri="{FF2B5EF4-FFF2-40B4-BE49-F238E27FC236}">
                <a16:creationId xmlns:a16="http://schemas.microsoft.com/office/drawing/2014/main" id="{864B7143-8107-9EDB-BE25-2F647122DFDB}"/>
              </a:ext>
            </a:extLst>
          </p:cNvPr>
          <p:cNvSpPr>
            <a:spLocks noChangeShapeType="1"/>
          </p:cNvSpPr>
          <p:nvPr/>
        </p:nvSpPr>
        <p:spPr bwMode="auto">
          <a:xfrm flipH="1">
            <a:off x="1619250" y="2817813"/>
            <a:ext cx="693738" cy="619125"/>
          </a:xfrm>
          <a:prstGeom prst="line">
            <a:avLst/>
          </a:prstGeom>
          <a:noFill/>
          <a:ln w="3175">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115358" name="Rectangle 350">
            <a:extLst>
              <a:ext uri="{FF2B5EF4-FFF2-40B4-BE49-F238E27FC236}">
                <a16:creationId xmlns:a16="http://schemas.microsoft.com/office/drawing/2014/main" id="{C39CBA14-B63B-18EE-348B-BC9B9203A5B0}"/>
              </a:ext>
            </a:extLst>
          </p:cNvPr>
          <p:cNvSpPr>
            <a:spLocks noChangeArrowheads="1"/>
          </p:cNvSpPr>
          <p:nvPr/>
        </p:nvSpPr>
        <p:spPr bwMode="auto">
          <a:xfrm>
            <a:off x="5895975" y="2225675"/>
            <a:ext cx="87313" cy="100013"/>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3115359" name="Rectangle 351">
            <a:extLst>
              <a:ext uri="{FF2B5EF4-FFF2-40B4-BE49-F238E27FC236}">
                <a16:creationId xmlns:a16="http://schemas.microsoft.com/office/drawing/2014/main" id="{28C48C4D-C328-3D63-3149-59269F97E184}"/>
              </a:ext>
            </a:extLst>
          </p:cNvPr>
          <p:cNvSpPr>
            <a:spLocks noChangeArrowheads="1"/>
          </p:cNvSpPr>
          <p:nvPr/>
        </p:nvSpPr>
        <p:spPr bwMode="auto">
          <a:xfrm>
            <a:off x="5905500" y="2044700"/>
            <a:ext cx="87313" cy="100013"/>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3115356" name="Rectangle 348">
            <a:extLst>
              <a:ext uri="{FF2B5EF4-FFF2-40B4-BE49-F238E27FC236}">
                <a16:creationId xmlns:a16="http://schemas.microsoft.com/office/drawing/2014/main" id="{A15B52F4-6FBB-3375-8850-044F795873DD}"/>
              </a:ext>
            </a:extLst>
          </p:cNvPr>
          <p:cNvSpPr>
            <a:spLocks noChangeArrowheads="1"/>
          </p:cNvSpPr>
          <p:nvPr/>
        </p:nvSpPr>
        <p:spPr bwMode="auto">
          <a:xfrm>
            <a:off x="5924550" y="2873375"/>
            <a:ext cx="87313" cy="100013"/>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3115357" name="Rectangle 349">
            <a:extLst>
              <a:ext uri="{FF2B5EF4-FFF2-40B4-BE49-F238E27FC236}">
                <a16:creationId xmlns:a16="http://schemas.microsoft.com/office/drawing/2014/main" id="{A2BB40A4-D623-6C47-2851-EB8D2C29BAE8}"/>
              </a:ext>
            </a:extLst>
          </p:cNvPr>
          <p:cNvSpPr>
            <a:spLocks noChangeArrowheads="1"/>
          </p:cNvSpPr>
          <p:nvPr/>
        </p:nvSpPr>
        <p:spPr bwMode="auto">
          <a:xfrm>
            <a:off x="5924550" y="3044825"/>
            <a:ext cx="87313" cy="100013"/>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pic>
        <p:nvPicPr>
          <p:cNvPr id="3115338" name="Picture 330">
            <a:extLst>
              <a:ext uri="{FF2B5EF4-FFF2-40B4-BE49-F238E27FC236}">
                <a16:creationId xmlns:a16="http://schemas.microsoft.com/office/drawing/2014/main" id="{3E688819-88E6-1451-AB01-D480D7306C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1990725"/>
            <a:ext cx="771525"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115330" name="Picture 322">
            <a:extLst>
              <a:ext uri="{FF2B5EF4-FFF2-40B4-BE49-F238E27FC236}">
                <a16:creationId xmlns:a16="http://schemas.microsoft.com/office/drawing/2014/main" id="{8633E969-D87A-4E4B-36F8-F234F35B87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725" y="1843088"/>
            <a:ext cx="835025" cy="652462"/>
          </a:xfrm>
          <a:prstGeom prst="rect">
            <a:avLst/>
          </a:prstGeom>
          <a:gradFill rotWithShape="1">
            <a:gsLst>
              <a:gs pos="0">
                <a:srgbClr val="E0D8B0">
                  <a:gamma/>
                  <a:tint val="35686"/>
                  <a:invGamma/>
                </a:srgbClr>
              </a:gs>
              <a:gs pos="100000">
                <a:srgbClr val="E0D8B0"/>
              </a:gs>
            </a:gsLst>
            <a:lin ang="5400000" scaled="1"/>
          </a:gradFill>
          <a:ln w="2857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15012" name="Line 4">
            <a:extLst>
              <a:ext uri="{FF2B5EF4-FFF2-40B4-BE49-F238E27FC236}">
                <a16:creationId xmlns:a16="http://schemas.microsoft.com/office/drawing/2014/main" id="{C4B01565-BA69-A71E-397E-A3094B5E6587}"/>
              </a:ext>
            </a:extLst>
          </p:cNvPr>
          <p:cNvSpPr>
            <a:spLocks noChangeShapeType="1"/>
          </p:cNvSpPr>
          <p:nvPr/>
        </p:nvSpPr>
        <p:spPr bwMode="auto">
          <a:xfrm>
            <a:off x="1584325" y="4002088"/>
            <a:ext cx="766763" cy="852487"/>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115014" name="Line 6">
            <a:extLst>
              <a:ext uri="{FF2B5EF4-FFF2-40B4-BE49-F238E27FC236}">
                <a16:creationId xmlns:a16="http://schemas.microsoft.com/office/drawing/2014/main" id="{F6CDF31F-A145-932F-43C7-6CF3E62DE163}"/>
              </a:ext>
            </a:extLst>
          </p:cNvPr>
          <p:cNvSpPr>
            <a:spLocks noChangeShapeType="1"/>
          </p:cNvSpPr>
          <p:nvPr/>
        </p:nvSpPr>
        <p:spPr bwMode="auto">
          <a:xfrm>
            <a:off x="4094163" y="2279650"/>
            <a:ext cx="1800225" cy="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115144" name="Text Box 136">
            <a:extLst>
              <a:ext uri="{FF2B5EF4-FFF2-40B4-BE49-F238E27FC236}">
                <a16:creationId xmlns:a16="http://schemas.microsoft.com/office/drawing/2014/main" id="{3BA0C164-A9A6-3DC8-44E8-7B2E3FE84637}"/>
              </a:ext>
            </a:extLst>
          </p:cNvPr>
          <p:cNvSpPr txBox="1">
            <a:spLocks noChangeArrowheads="1"/>
          </p:cNvSpPr>
          <p:nvPr/>
        </p:nvSpPr>
        <p:spPr bwMode="auto">
          <a:xfrm>
            <a:off x="2897188" y="2455863"/>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3115146" name="Text Box 138">
            <a:extLst>
              <a:ext uri="{FF2B5EF4-FFF2-40B4-BE49-F238E27FC236}">
                <a16:creationId xmlns:a16="http://schemas.microsoft.com/office/drawing/2014/main" id="{07CB84A2-5F66-A37E-F127-A36E7F65BA27}"/>
              </a:ext>
            </a:extLst>
          </p:cNvPr>
          <p:cNvSpPr txBox="1">
            <a:spLocks noChangeArrowheads="1"/>
          </p:cNvSpPr>
          <p:nvPr/>
        </p:nvSpPr>
        <p:spPr bwMode="auto">
          <a:xfrm>
            <a:off x="5402263" y="1944688"/>
            <a:ext cx="406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Port</a:t>
            </a:r>
            <a:endParaRPr lang="en-US" altLang="zh-CN" sz="2800">
              <a:solidFill>
                <a:srgbClr val="000000"/>
              </a:solidFill>
              <a:ea typeface="宋体" panose="02010600030101010101" pitchFamily="2" charset="-122"/>
            </a:endParaRPr>
          </a:p>
        </p:txBody>
      </p:sp>
      <p:sp>
        <p:nvSpPr>
          <p:cNvPr id="3115148" name="Text Box 140">
            <a:extLst>
              <a:ext uri="{FF2B5EF4-FFF2-40B4-BE49-F238E27FC236}">
                <a16:creationId xmlns:a16="http://schemas.microsoft.com/office/drawing/2014/main" id="{1A645CFA-0300-8B3D-FBC3-F6A0DEDFB21A}"/>
              </a:ext>
            </a:extLst>
          </p:cNvPr>
          <p:cNvSpPr txBox="1">
            <a:spLocks noChangeArrowheads="1"/>
          </p:cNvSpPr>
          <p:nvPr/>
        </p:nvSpPr>
        <p:spPr bwMode="auto">
          <a:xfrm>
            <a:off x="2890838" y="2674938"/>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3115151" name="Line 143">
            <a:extLst>
              <a:ext uri="{FF2B5EF4-FFF2-40B4-BE49-F238E27FC236}">
                <a16:creationId xmlns:a16="http://schemas.microsoft.com/office/drawing/2014/main" id="{B8C42992-4B1E-773F-AF79-10753D8B903E}"/>
              </a:ext>
            </a:extLst>
          </p:cNvPr>
          <p:cNvSpPr>
            <a:spLocks noChangeShapeType="1"/>
          </p:cNvSpPr>
          <p:nvPr/>
        </p:nvSpPr>
        <p:spPr bwMode="auto">
          <a:xfrm>
            <a:off x="3070225" y="2787650"/>
            <a:ext cx="881063" cy="24130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115153" name="Line 145">
            <a:extLst>
              <a:ext uri="{FF2B5EF4-FFF2-40B4-BE49-F238E27FC236}">
                <a16:creationId xmlns:a16="http://schemas.microsoft.com/office/drawing/2014/main" id="{2DBC2A8B-4594-4FA4-9020-9E9E4F776A5A}"/>
              </a:ext>
            </a:extLst>
          </p:cNvPr>
          <p:cNvSpPr>
            <a:spLocks noChangeShapeType="1"/>
          </p:cNvSpPr>
          <p:nvPr/>
        </p:nvSpPr>
        <p:spPr bwMode="auto">
          <a:xfrm>
            <a:off x="4779963" y="3087688"/>
            <a:ext cx="1146175" cy="952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115154" name="Line 146">
            <a:extLst>
              <a:ext uri="{FF2B5EF4-FFF2-40B4-BE49-F238E27FC236}">
                <a16:creationId xmlns:a16="http://schemas.microsoft.com/office/drawing/2014/main" id="{9D757762-5527-09AD-AFEB-8444AFA18744}"/>
              </a:ext>
            </a:extLst>
          </p:cNvPr>
          <p:cNvSpPr>
            <a:spLocks noChangeShapeType="1"/>
          </p:cNvSpPr>
          <p:nvPr/>
        </p:nvSpPr>
        <p:spPr bwMode="auto">
          <a:xfrm>
            <a:off x="7065963" y="2632075"/>
            <a:ext cx="569912" cy="0"/>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115283" name="Text Box 275">
            <a:extLst>
              <a:ext uri="{FF2B5EF4-FFF2-40B4-BE49-F238E27FC236}">
                <a16:creationId xmlns:a16="http://schemas.microsoft.com/office/drawing/2014/main" id="{4C14CB86-620D-15A2-B03D-545AD8EF2B93}"/>
              </a:ext>
            </a:extLst>
          </p:cNvPr>
          <p:cNvSpPr txBox="1">
            <a:spLocks noChangeArrowheads="1"/>
          </p:cNvSpPr>
          <p:nvPr/>
        </p:nvSpPr>
        <p:spPr bwMode="auto">
          <a:xfrm>
            <a:off x="2182813" y="1581150"/>
            <a:ext cx="915987"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Cluster</a:t>
            </a:r>
          </a:p>
        </p:txBody>
      </p:sp>
      <p:sp>
        <p:nvSpPr>
          <p:cNvPr id="3115284" name="Line 276">
            <a:extLst>
              <a:ext uri="{FF2B5EF4-FFF2-40B4-BE49-F238E27FC236}">
                <a16:creationId xmlns:a16="http://schemas.microsoft.com/office/drawing/2014/main" id="{A36CD32F-EC27-84EB-BDAF-91C7F5DBE316}"/>
              </a:ext>
            </a:extLst>
          </p:cNvPr>
          <p:cNvSpPr>
            <a:spLocks noChangeShapeType="1"/>
          </p:cNvSpPr>
          <p:nvPr/>
        </p:nvSpPr>
        <p:spPr bwMode="auto">
          <a:xfrm flipH="1" flipV="1">
            <a:off x="2582863" y="3163888"/>
            <a:ext cx="3175" cy="1379537"/>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115313" name="Text Box 305">
            <a:extLst>
              <a:ext uri="{FF2B5EF4-FFF2-40B4-BE49-F238E27FC236}">
                <a16:creationId xmlns:a16="http://schemas.microsoft.com/office/drawing/2014/main" id="{55193A9B-EED2-710C-C5C1-41449C5D41CE}"/>
              </a:ext>
            </a:extLst>
          </p:cNvPr>
          <p:cNvSpPr txBox="1">
            <a:spLocks noChangeArrowheads="1"/>
          </p:cNvSpPr>
          <p:nvPr/>
        </p:nvSpPr>
        <p:spPr bwMode="auto">
          <a:xfrm rot="-5400000">
            <a:off x="1785144" y="3656806"/>
            <a:ext cx="12573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000000"/>
                </a:solidFill>
                <a:ea typeface="宋体" panose="02010600030101010101" pitchFamily="2" charset="-122"/>
              </a:rPr>
              <a:t>Keep</a:t>
            </a:r>
            <a:r>
              <a:rPr lang="en-US" altLang="zh-CN" sz="1400" b="1">
                <a:solidFill>
                  <a:srgbClr val="000000"/>
                </a:solidFill>
                <a:ea typeface="宋体" panose="02010600030101010101" pitchFamily="2" charset="-122"/>
              </a:rPr>
              <a:t> </a:t>
            </a:r>
            <a:r>
              <a:rPr lang="en-US" altLang="zh-CN" sz="1800" b="1">
                <a:solidFill>
                  <a:srgbClr val="000000"/>
                </a:solidFill>
                <a:ea typeface="宋体" panose="02010600030101010101" pitchFamily="2" charset="-122"/>
              </a:rPr>
              <a:t>Alive</a:t>
            </a:r>
          </a:p>
        </p:txBody>
      </p:sp>
      <p:sp>
        <p:nvSpPr>
          <p:cNvPr id="3115314" name="Text Box 306">
            <a:extLst>
              <a:ext uri="{FF2B5EF4-FFF2-40B4-BE49-F238E27FC236}">
                <a16:creationId xmlns:a16="http://schemas.microsoft.com/office/drawing/2014/main" id="{76518770-6C68-2555-DCB2-440F95056B79}"/>
              </a:ext>
            </a:extLst>
          </p:cNvPr>
          <p:cNvSpPr txBox="1">
            <a:spLocks noChangeArrowheads="1"/>
          </p:cNvSpPr>
          <p:nvPr/>
        </p:nvSpPr>
        <p:spPr bwMode="auto">
          <a:xfrm>
            <a:off x="825500" y="1555750"/>
            <a:ext cx="541338"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Client </a:t>
            </a:r>
          </a:p>
        </p:txBody>
      </p:sp>
      <p:sp>
        <p:nvSpPr>
          <p:cNvPr id="3115316" name="Line 308">
            <a:extLst>
              <a:ext uri="{FF2B5EF4-FFF2-40B4-BE49-F238E27FC236}">
                <a16:creationId xmlns:a16="http://schemas.microsoft.com/office/drawing/2014/main" id="{B55A35B7-5DE7-5CFE-BAED-5F62A2AD6E2E}"/>
              </a:ext>
            </a:extLst>
          </p:cNvPr>
          <p:cNvSpPr>
            <a:spLocks noChangeShapeType="1"/>
          </p:cNvSpPr>
          <p:nvPr/>
        </p:nvSpPr>
        <p:spPr bwMode="auto">
          <a:xfrm>
            <a:off x="1012825" y="2463800"/>
            <a:ext cx="0" cy="760413"/>
          </a:xfrm>
          <a:prstGeom prst="line">
            <a:avLst/>
          </a:prstGeom>
          <a:noFill/>
          <a:ln w="3175">
            <a:solidFill>
              <a:srgbClr val="001636"/>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115319" name="Text Box 311">
            <a:extLst>
              <a:ext uri="{FF2B5EF4-FFF2-40B4-BE49-F238E27FC236}">
                <a16:creationId xmlns:a16="http://schemas.microsoft.com/office/drawing/2014/main" id="{3EA85CEC-527D-2F95-E3ED-B7E3A004E9B4}"/>
              </a:ext>
            </a:extLst>
          </p:cNvPr>
          <p:cNvSpPr txBox="1">
            <a:spLocks noChangeArrowheads="1"/>
          </p:cNvSpPr>
          <p:nvPr/>
        </p:nvSpPr>
        <p:spPr bwMode="auto">
          <a:xfrm>
            <a:off x="5478463" y="3198813"/>
            <a:ext cx="406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Port</a:t>
            </a:r>
            <a:endParaRPr lang="en-US" altLang="zh-CN" sz="2800">
              <a:solidFill>
                <a:srgbClr val="000000"/>
              </a:solidFill>
              <a:ea typeface="宋体" panose="02010600030101010101" pitchFamily="2" charset="-122"/>
            </a:endParaRPr>
          </a:p>
        </p:txBody>
      </p:sp>
      <p:sp>
        <p:nvSpPr>
          <p:cNvPr id="3115325" name="Text Box 317">
            <a:extLst>
              <a:ext uri="{FF2B5EF4-FFF2-40B4-BE49-F238E27FC236}">
                <a16:creationId xmlns:a16="http://schemas.microsoft.com/office/drawing/2014/main" id="{EB4C4723-0376-CAC1-4CE4-017C5D6F9BE1}"/>
              </a:ext>
            </a:extLst>
          </p:cNvPr>
          <p:cNvSpPr txBox="1">
            <a:spLocks noChangeArrowheads="1"/>
          </p:cNvSpPr>
          <p:nvPr/>
        </p:nvSpPr>
        <p:spPr bwMode="auto">
          <a:xfrm>
            <a:off x="6316663" y="3698875"/>
            <a:ext cx="222885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Storage Arrays</a:t>
            </a:r>
          </a:p>
        </p:txBody>
      </p:sp>
      <p:sp>
        <p:nvSpPr>
          <p:cNvPr id="3115326" name="Text Box 318">
            <a:extLst>
              <a:ext uri="{FF2B5EF4-FFF2-40B4-BE49-F238E27FC236}">
                <a16:creationId xmlns:a16="http://schemas.microsoft.com/office/drawing/2014/main" id="{BF53C3E2-C744-5E0B-CEA4-ED6C5D8F5DD2}"/>
              </a:ext>
            </a:extLst>
          </p:cNvPr>
          <p:cNvSpPr txBox="1">
            <a:spLocks noChangeArrowheads="1"/>
          </p:cNvSpPr>
          <p:nvPr/>
        </p:nvSpPr>
        <p:spPr bwMode="auto">
          <a:xfrm>
            <a:off x="1147763" y="6013450"/>
            <a:ext cx="3108325"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Hosts/Servers with Applications</a:t>
            </a:r>
          </a:p>
        </p:txBody>
      </p:sp>
      <p:sp>
        <p:nvSpPr>
          <p:cNvPr id="3115327" name="Text Box 319">
            <a:extLst>
              <a:ext uri="{FF2B5EF4-FFF2-40B4-BE49-F238E27FC236}">
                <a16:creationId xmlns:a16="http://schemas.microsoft.com/office/drawing/2014/main" id="{87ABC539-6A6D-D502-B829-C0606365BD90}"/>
              </a:ext>
            </a:extLst>
          </p:cNvPr>
          <p:cNvSpPr txBox="1">
            <a:spLocks noChangeArrowheads="1"/>
          </p:cNvSpPr>
          <p:nvPr/>
        </p:nvSpPr>
        <p:spPr bwMode="auto">
          <a:xfrm>
            <a:off x="3814763" y="3382963"/>
            <a:ext cx="106680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SAN</a:t>
            </a:r>
          </a:p>
        </p:txBody>
      </p:sp>
      <p:grpSp>
        <p:nvGrpSpPr>
          <p:cNvPr id="3115331" name="Group 323">
            <a:extLst>
              <a:ext uri="{FF2B5EF4-FFF2-40B4-BE49-F238E27FC236}">
                <a16:creationId xmlns:a16="http://schemas.microsoft.com/office/drawing/2014/main" id="{FDC61BFB-AD94-2C62-F4A6-B1EAA7D270AF}"/>
              </a:ext>
            </a:extLst>
          </p:cNvPr>
          <p:cNvGrpSpPr>
            <a:grpSpLocks/>
          </p:cNvGrpSpPr>
          <p:nvPr/>
        </p:nvGrpSpPr>
        <p:grpSpPr bwMode="auto">
          <a:xfrm>
            <a:off x="495300" y="3206750"/>
            <a:ext cx="1047750" cy="714375"/>
            <a:chOff x="1750" y="1950"/>
            <a:chExt cx="474" cy="306"/>
          </a:xfrm>
        </p:grpSpPr>
        <p:sp>
          <p:nvSpPr>
            <p:cNvPr id="3115332" name="Freeform 324">
              <a:extLst>
                <a:ext uri="{FF2B5EF4-FFF2-40B4-BE49-F238E27FC236}">
                  <a16:creationId xmlns:a16="http://schemas.microsoft.com/office/drawing/2014/main" id="{FC952D82-B2EE-654C-9F6D-9AB085145362}"/>
                </a:ext>
              </a:extLst>
            </p:cNvPr>
            <p:cNvSpPr>
              <a:spLocks/>
            </p:cNvSpPr>
            <p:nvPr/>
          </p:nvSpPr>
          <p:spPr bwMode="auto">
            <a:xfrm>
              <a:off x="1750" y="1950"/>
              <a:ext cx="474" cy="306"/>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115333" name="Rectangle 325">
              <a:extLst>
                <a:ext uri="{FF2B5EF4-FFF2-40B4-BE49-F238E27FC236}">
                  <a16:creationId xmlns:a16="http://schemas.microsoft.com/office/drawing/2014/main" id="{6D991D5F-80D8-629A-C5D4-3619E3791FC6}"/>
                </a:ext>
              </a:extLst>
            </p:cNvPr>
            <p:cNvSpPr>
              <a:spLocks noChangeArrowheads="1"/>
            </p:cNvSpPr>
            <p:nvPr/>
          </p:nvSpPr>
          <p:spPr bwMode="auto">
            <a:xfrm>
              <a:off x="1988" y="2040"/>
              <a:ext cx="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spcBef>
                  <a:spcPct val="0"/>
                </a:spcBef>
                <a:buClrTx/>
                <a:buFontTx/>
                <a:buNone/>
              </a:pPr>
              <a:endParaRPr lang="zh-CN" altLang="en-US" sz="1800" b="1">
                <a:solidFill>
                  <a:schemeClr val="tx1"/>
                </a:solidFill>
                <a:ea typeface="宋体" panose="02010600030101010101" pitchFamily="2" charset="-122"/>
              </a:endParaRPr>
            </a:p>
          </p:txBody>
        </p:sp>
      </p:grpSp>
      <p:sp>
        <p:nvSpPr>
          <p:cNvPr id="3115335" name="Freeform 327">
            <a:extLst>
              <a:ext uri="{FF2B5EF4-FFF2-40B4-BE49-F238E27FC236}">
                <a16:creationId xmlns:a16="http://schemas.microsoft.com/office/drawing/2014/main" id="{52C7950A-B5B7-CC19-BF39-0995500679E3}"/>
              </a:ext>
            </a:extLst>
          </p:cNvPr>
          <p:cNvSpPr>
            <a:spLocks/>
          </p:cNvSpPr>
          <p:nvPr/>
        </p:nvSpPr>
        <p:spPr bwMode="auto">
          <a:xfrm>
            <a:off x="647700" y="3359150"/>
            <a:ext cx="1047750" cy="714375"/>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115336" name="Rectangle 328">
            <a:extLst>
              <a:ext uri="{FF2B5EF4-FFF2-40B4-BE49-F238E27FC236}">
                <a16:creationId xmlns:a16="http://schemas.microsoft.com/office/drawing/2014/main" id="{A186DEB0-0F9C-6EB2-5D2A-A3C9FBE28B9E}"/>
              </a:ext>
            </a:extLst>
          </p:cNvPr>
          <p:cNvSpPr>
            <a:spLocks noChangeArrowheads="1"/>
          </p:cNvSpPr>
          <p:nvPr/>
        </p:nvSpPr>
        <p:spPr bwMode="auto">
          <a:xfrm>
            <a:off x="1066800" y="3568700"/>
            <a:ext cx="215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spcBef>
                <a:spcPct val="0"/>
              </a:spcBef>
              <a:buClrTx/>
              <a:buFontTx/>
              <a:buNone/>
            </a:pPr>
            <a:r>
              <a:rPr lang="en-US" altLang="zh-CN" sz="1800" b="1">
                <a:solidFill>
                  <a:schemeClr val="tx1"/>
                </a:solidFill>
                <a:ea typeface="宋体" panose="02010600030101010101" pitchFamily="2" charset="-122"/>
              </a:rPr>
              <a:t>IP</a:t>
            </a:r>
          </a:p>
        </p:txBody>
      </p:sp>
      <p:pic>
        <p:nvPicPr>
          <p:cNvPr id="3115339" name="Picture 331">
            <a:extLst>
              <a:ext uri="{FF2B5EF4-FFF2-40B4-BE49-F238E27FC236}">
                <a16:creationId xmlns:a16="http://schemas.microsoft.com/office/drawing/2014/main" id="{CDBFA88A-BDF1-D371-9940-F9DBDFE13E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900" y="4524375"/>
            <a:ext cx="771525" cy="1219200"/>
          </a:xfrm>
          <a:prstGeom prst="rect">
            <a:avLst/>
          </a:prstGeom>
          <a:noFill/>
          <a:extLst>
            <a:ext uri="{909E8E84-426E-40DD-AFC4-6F175D3DCCD1}">
              <a14:hiddenFill xmlns:a14="http://schemas.microsoft.com/office/drawing/2010/main">
                <a:solidFill>
                  <a:srgbClr val="FFFFFF"/>
                </a:solidFill>
              </a14:hiddenFill>
            </a:ext>
          </a:extLst>
        </p:spPr>
      </p:pic>
      <p:sp>
        <p:nvSpPr>
          <p:cNvPr id="3115343" name="AutoShape 335">
            <a:extLst>
              <a:ext uri="{FF2B5EF4-FFF2-40B4-BE49-F238E27FC236}">
                <a16:creationId xmlns:a16="http://schemas.microsoft.com/office/drawing/2014/main" id="{4A9C0D79-2F2C-F283-E454-22000C91F0BB}"/>
              </a:ext>
            </a:extLst>
          </p:cNvPr>
          <p:cNvSpPr>
            <a:spLocks noChangeArrowheads="1"/>
          </p:cNvSpPr>
          <p:nvPr/>
        </p:nvSpPr>
        <p:spPr bwMode="auto">
          <a:xfrm>
            <a:off x="3933825" y="2076450"/>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115344" name="Freeform 336">
            <a:extLst>
              <a:ext uri="{FF2B5EF4-FFF2-40B4-BE49-F238E27FC236}">
                <a16:creationId xmlns:a16="http://schemas.microsoft.com/office/drawing/2014/main" id="{D2CC9F48-FA16-302B-1610-769CDFCD2F68}"/>
              </a:ext>
            </a:extLst>
          </p:cNvPr>
          <p:cNvSpPr>
            <a:spLocks/>
          </p:cNvSpPr>
          <p:nvPr/>
        </p:nvSpPr>
        <p:spPr bwMode="auto">
          <a:xfrm>
            <a:off x="4035425" y="2147888"/>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115345" name="Freeform 337">
            <a:extLst>
              <a:ext uri="{FF2B5EF4-FFF2-40B4-BE49-F238E27FC236}">
                <a16:creationId xmlns:a16="http://schemas.microsoft.com/office/drawing/2014/main" id="{A7437B46-9685-7076-022F-F439B96120D6}"/>
              </a:ext>
            </a:extLst>
          </p:cNvPr>
          <p:cNvSpPr>
            <a:spLocks/>
          </p:cNvSpPr>
          <p:nvPr/>
        </p:nvSpPr>
        <p:spPr bwMode="auto">
          <a:xfrm>
            <a:off x="4035425" y="225425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115346" name="Freeform 338">
            <a:extLst>
              <a:ext uri="{FF2B5EF4-FFF2-40B4-BE49-F238E27FC236}">
                <a16:creationId xmlns:a16="http://schemas.microsoft.com/office/drawing/2014/main" id="{17BA5E8F-F551-E6B8-0C0E-27A7D2A20776}"/>
              </a:ext>
            </a:extLst>
          </p:cNvPr>
          <p:cNvSpPr>
            <a:spLocks/>
          </p:cNvSpPr>
          <p:nvPr/>
        </p:nvSpPr>
        <p:spPr bwMode="auto">
          <a:xfrm flipH="1">
            <a:off x="4348163" y="220345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115347" name="Freeform 339">
            <a:extLst>
              <a:ext uri="{FF2B5EF4-FFF2-40B4-BE49-F238E27FC236}">
                <a16:creationId xmlns:a16="http://schemas.microsoft.com/office/drawing/2014/main" id="{8C105DDD-1D2F-8727-82CA-CBAAE63FB5DF}"/>
              </a:ext>
            </a:extLst>
          </p:cNvPr>
          <p:cNvSpPr>
            <a:spLocks/>
          </p:cNvSpPr>
          <p:nvPr/>
        </p:nvSpPr>
        <p:spPr bwMode="auto">
          <a:xfrm flipH="1">
            <a:off x="4348163" y="2309813"/>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3115378" name="Group 370">
            <a:extLst>
              <a:ext uri="{FF2B5EF4-FFF2-40B4-BE49-F238E27FC236}">
                <a16:creationId xmlns:a16="http://schemas.microsoft.com/office/drawing/2014/main" id="{36CEBFE7-8C87-4AD5-3D08-1845F031B5F8}"/>
              </a:ext>
            </a:extLst>
          </p:cNvPr>
          <p:cNvGrpSpPr>
            <a:grpSpLocks/>
          </p:cNvGrpSpPr>
          <p:nvPr/>
        </p:nvGrpSpPr>
        <p:grpSpPr bwMode="auto">
          <a:xfrm>
            <a:off x="3943350" y="2867025"/>
            <a:ext cx="809625" cy="295275"/>
            <a:chOff x="2484" y="1806"/>
            <a:chExt cx="510" cy="186"/>
          </a:xfrm>
        </p:grpSpPr>
        <p:sp>
          <p:nvSpPr>
            <p:cNvPr id="3115350" name="AutoShape 342">
              <a:extLst>
                <a:ext uri="{FF2B5EF4-FFF2-40B4-BE49-F238E27FC236}">
                  <a16:creationId xmlns:a16="http://schemas.microsoft.com/office/drawing/2014/main" id="{9032E145-EFDA-15D9-12BE-164290339448}"/>
                </a:ext>
              </a:extLst>
            </p:cNvPr>
            <p:cNvSpPr>
              <a:spLocks noChangeArrowheads="1"/>
            </p:cNvSpPr>
            <p:nvPr/>
          </p:nvSpPr>
          <p:spPr bwMode="auto">
            <a:xfrm>
              <a:off x="2484" y="1806"/>
              <a:ext cx="510" cy="186"/>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115351" name="Freeform 343">
              <a:extLst>
                <a:ext uri="{FF2B5EF4-FFF2-40B4-BE49-F238E27FC236}">
                  <a16:creationId xmlns:a16="http://schemas.microsoft.com/office/drawing/2014/main" id="{8DDD1847-3326-81C3-7D01-64B636F52D3B}"/>
                </a:ext>
              </a:extLst>
            </p:cNvPr>
            <p:cNvSpPr>
              <a:spLocks/>
            </p:cNvSpPr>
            <p:nvPr/>
          </p:nvSpPr>
          <p:spPr bwMode="auto">
            <a:xfrm>
              <a:off x="2548" y="1850"/>
              <a:ext cx="195"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115352" name="Freeform 344">
              <a:extLst>
                <a:ext uri="{FF2B5EF4-FFF2-40B4-BE49-F238E27FC236}">
                  <a16:creationId xmlns:a16="http://schemas.microsoft.com/office/drawing/2014/main" id="{9874D179-A207-C0C4-37D4-0607BCC72B57}"/>
                </a:ext>
              </a:extLst>
            </p:cNvPr>
            <p:cNvSpPr>
              <a:spLocks/>
            </p:cNvSpPr>
            <p:nvPr/>
          </p:nvSpPr>
          <p:spPr bwMode="auto">
            <a:xfrm>
              <a:off x="2548" y="1915"/>
              <a:ext cx="195"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115353" name="Freeform 345">
              <a:extLst>
                <a:ext uri="{FF2B5EF4-FFF2-40B4-BE49-F238E27FC236}">
                  <a16:creationId xmlns:a16="http://schemas.microsoft.com/office/drawing/2014/main" id="{15303991-B6BB-26E9-A568-8187B5696F7A}"/>
                </a:ext>
              </a:extLst>
            </p:cNvPr>
            <p:cNvSpPr>
              <a:spLocks/>
            </p:cNvSpPr>
            <p:nvPr/>
          </p:nvSpPr>
          <p:spPr bwMode="auto">
            <a:xfrm flipH="1">
              <a:off x="2742" y="1884"/>
              <a:ext cx="196"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115354" name="Freeform 346">
              <a:extLst>
                <a:ext uri="{FF2B5EF4-FFF2-40B4-BE49-F238E27FC236}">
                  <a16:creationId xmlns:a16="http://schemas.microsoft.com/office/drawing/2014/main" id="{4D74D888-C6A0-25D3-3AD3-DACC63C57CB9}"/>
                </a:ext>
              </a:extLst>
            </p:cNvPr>
            <p:cNvSpPr>
              <a:spLocks/>
            </p:cNvSpPr>
            <p:nvPr/>
          </p:nvSpPr>
          <p:spPr bwMode="auto">
            <a:xfrm flipH="1">
              <a:off x="2742" y="1948"/>
              <a:ext cx="196"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pic>
        <p:nvPicPr>
          <p:cNvPr id="3115355" name="Picture 347">
            <a:extLst>
              <a:ext uri="{FF2B5EF4-FFF2-40B4-BE49-F238E27FC236}">
                <a16:creationId xmlns:a16="http://schemas.microsoft.com/office/drawing/2014/main" id="{FA999981-DF87-FD0E-3931-2083FFF59E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72175" y="1684338"/>
            <a:ext cx="1104900"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5367" name="Picture 359">
            <a:extLst>
              <a:ext uri="{FF2B5EF4-FFF2-40B4-BE49-F238E27FC236}">
                <a16:creationId xmlns:a16="http://schemas.microsoft.com/office/drawing/2014/main" id="{3D023035-3216-1188-FACB-331827F87E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0" y="1684338"/>
            <a:ext cx="1104900"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15374" name="Rectangle 366">
            <a:extLst>
              <a:ext uri="{FF2B5EF4-FFF2-40B4-BE49-F238E27FC236}">
                <a16:creationId xmlns:a16="http://schemas.microsoft.com/office/drawing/2014/main" id="{1DF03A25-F66F-B43E-43A0-29A8CCD7C4C3}"/>
              </a:ext>
            </a:extLst>
          </p:cNvPr>
          <p:cNvSpPr>
            <a:spLocks noChangeArrowheads="1"/>
          </p:cNvSpPr>
          <p:nvPr/>
        </p:nvSpPr>
        <p:spPr bwMode="auto">
          <a:xfrm>
            <a:off x="2162175" y="1905000"/>
            <a:ext cx="904875" cy="3905250"/>
          </a:xfrm>
          <a:prstGeom prst="rect">
            <a:avLst/>
          </a:prstGeom>
          <a:noFill/>
          <a:ln w="25400" algn="ctr">
            <a:solidFill>
              <a:srgbClr val="993366"/>
            </a:solidFill>
            <a:prstDash val="sysDot"/>
            <a:miter lim="800000"/>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15321"/>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3115322"/>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3115323"/>
                                        </p:tgtEl>
                                        <p:attrNameLst>
                                          <p:attrName>style.visibility</p:attrName>
                                        </p:attrNameLst>
                                      </p:cBhvr>
                                      <p:to>
                                        <p:strVal val="visible"/>
                                      </p:to>
                                    </p:set>
                                  </p:childTnLst>
                                </p:cTn>
                              </p:par>
                            </p:childTnLst>
                          </p:cTn>
                        </p:par>
                        <p:par>
                          <p:cTn id="13" fill="hold" nodeType="afterGroup">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31153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5321" grpId="0" animBg="1"/>
      <p:bldP spid="3115322" grpId="0" animBg="1"/>
      <p:bldP spid="3115323" grpId="0" animBg="1"/>
      <p:bldP spid="311532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E85514B-AF07-B466-5B49-491D82959A19}"/>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C9EBA20C-9F72-34E5-5E3A-E5DE7E7BE314}"/>
              </a:ext>
            </a:extLst>
          </p:cNvPr>
          <p:cNvSpPr>
            <a:spLocks noGrp="1"/>
          </p:cNvSpPr>
          <p:nvPr>
            <p:ph type="sldNum" sz="quarter" idx="11"/>
          </p:nvPr>
        </p:nvSpPr>
        <p:spPr/>
        <p:txBody>
          <a:bodyPr/>
          <a:lstStyle/>
          <a:p>
            <a:r>
              <a:rPr lang="zh-CN" altLang="en-US"/>
              <a:t> </a:t>
            </a:r>
            <a:r>
              <a:rPr lang="en-US" altLang="zh-CN"/>
              <a:t>- </a:t>
            </a:r>
            <a:fld id="{D9740F5A-087B-4B46-A0EA-0B5BB3EB28BB}" type="slidenum">
              <a:rPr lang="en-US" altLang="zh-CN" sz="800"/>
              <a:pPr/>
              <a:t>51</a:t>
            </a:fld>
            <a:endParaRPr lang="en-US" altLang="zh-CN" sz="800"/>
          </a:p>
        </p:txBody>
      </p:sp>
      <p:sp>
        <p:nvSpPr>
          <p:cNvPr id="2940934" name="Rectangle 6">
            <a:extLst>
              <a:ext uri="{FF2B5EF4-FFF2-40B4-BE49-F238E27FC236}">
                <a16:creationId xmlns:a16="http://schemas.microsoft.com/office/drawing/2014/main" id="{D5CA296B-923C-455D-122D-35BC1F570227}"/>
              </a:ext>
            </a:extLst>
          </p:cNvPr>
          <p:cNvSpPr>
            <a:spLocks noGrp="1" noChangeArrowheads="1"/>
          </p:cNvSpPr>
          <p:nvPr>
            <p:ph type="title"/>
          </p:nvPr>
        </p:nvSpPr>
        <p:spPr/>
        <p:txBody>
          <a:bodyPr/>
          <a:lstStyle/>
          <a:p>
            <a:r>
              <a:rPr lang="en-US" altLang="zh-CN">
                <a:ea typeface="宋体" panose="02010600030101010101" pitchFamily="2" charset="-122"/>
              </a:rPr>
              <a:t>Parameters Monitored – Accessibility	</a:t>
            </a:r>
          </a:p>
        </p:txBody>
      </p:sp>
      <p:sp>
        <p:nvSpPr>
          <p:cNvPr id="2940935" name="Rectangle 7">
            <a:extLst>
              <a:ext uri="{FF2B5EF4-FFF2-40B4-BE49-F238E27FC236}">
                <a16:creationId xmlns:a16="http://schemas.microsoft.com/office/drawing/2014/main" id="{2EA87A8F-1CFA-B174-3238-F051BB62168B}"/>
              </a:ext>
            </a:extLst>
          </p:cNvPr>
          <p:cNvSpPr>
            <a:spLocks noGrp="1" noChangeArrowheads="1"/>
          </p:cNvSpPr>
          <p:nvPr>
            <p:ph type="body" idx="1"/>
          </p:nvPr>
        </p:nvSpPr>
        <p:spPr/>
        <p:txBody>
          <a:bodyPr/>
          <a:lstStyle/>
          <a:p>
            <a:r>
              <a:rPr lang="en-US" altLang="zh-CN">
                <a:ea typeface="宋体" panose="02010600030101010101" pitchFamily="2" charset="-122"/>
              </a:rPr>
              <a:t>Accessibility refers to the availability of a component to perform a desired operation </a:t>
            </a:r>
          </a:p>
          <a:p>
            <a:r>
              <a:rPr lang="en-US" altLang="zh-CN">
                <a:ea typeface="宋体" panose="02010600030101010101" pitchFamily="2" charset="-122"/>
              </a:rPr>
              <a:t>Why monitor accessibility of different components?</a:t>
            </a:r>
          </a:p>
          <a:p>
            <a:pPr lvl="1"/>
            <a:r>
              <a:rPr lang="en-US" altLang="zh-CN">
                <a:ea typeface="宋体" panose="02010600030101010101" pitchFamily="2" charset="-122"/>
              </a:rPr>
              <a:t>Failure of any hardware/software component can lead to outage of a number of different components</a:t>
            </a:r>
          </a:p>
          <a:p>
            <a:pPr lvl="2"/>
            <a:r>
              <a:rPr lang="en-US" altLang="zh-CN">
                <a:ea typeface="宋体" panose="02010600030101010101" pitchFamily="2" charset="-122"/>
              </a:rPr>
              <a:t>Example: HBA failure could cause degraded access to a number of devices in multi-path environment or loss of data access in single path environment</a:t>
            </a:r>
          </a:p>
          <a:p>
            <a:r>
              <a:rPr lang="en-US" altLang="zh-CN">
                <a:ea typeface="宋体" panose="02010600030101010101" pitchFamily="2" charset="-122"/>
              </a:rPr>
              <a:t>Monitoring accessibility involves</a:t>
            </a:r>
          </a:p>
          <a:p>
            <a:pPr lvl="1"/>
            <a:r>
              <a:rPr lang="en-US" altLang="zh-CN">
                <a:ea typeface="宋体" panose="02010600030101010101" pitchFamily="2" charset="-122"/>
              </a:rPr>
              <a:t>Checking availability status of the hardware or software components through predefined alerts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F98B5AC5-81AC-E034-37E4-A283E61BC7CC}"/>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9C064700-9FEE-5AA9-9DEB-6C52A4143AE3}"/>
              </a:ext>
            </a:extLst>
          </p:cNvPr>
          <p:cNvSpPr>
            <a:spLocks noGrp="1"/>
          </p:cNvSpPr>
          <p:nvPr>
            <p:ph type="sldNum" sz="quarter" idx="11"/>
          </p:nvPr>
        </p:nvSpPr>
        <p:spPr/>
        <p:txBody>
          <a:bodyPr/>
          <a:lstStyle/>
          <a:p>
            <a:r>
              <a:rPr lang="zh-CN" altLang="en-US"/>
              <a:t> </a:t>
            </a:r>
            <a:r>
              <a:rPr lang="en-US" altLang="zh-CN"/>
              <a:t>- </a:t>
            </a:r>
            <a:fld id="{5A3FDE86-5328-493A-9D7C-1DEA14E4E8B0}" type="slidenum">
              <a:rPr lang="en-US" altLang="zh-CN" sz="800"/>
              <a:pPr/>
              <a:t>52</a:t>
            </a:fld>
            <a:endParaRPr lang="en-US" altLang="zh-CN" sz="800"/>
          </a:p>
        </p:txBody>
      </p:sp>
      <p:sp>
        <p:nvSpPr>
          <p:cNvPr id="2942978" name="Rectangle 2">
            <a:extLst>
              <a:ext uri="{FF2B5EF4-FFF2-40B4-BE49-F238E27FC236}">
                <a16:creationId xmlns:a16="http://schemas.microsoft.com/office/drawing/2014/main" id="{81B66E9C-4EC6-00B0-F27C-DCC15C55D9A3}"/>
              </a:ext>
            </a:extLst>
          </p:cNvPr>
          <p:cNvSpPr>
            <a:spLocks noGrp="1" noChangeArrowheads="1"/>
          </p:cNvSpPr>
          <p:nvPr>
            <p:ph type="title"/>
          </p:nvPr>
        </p:nvSpPr>
        <p:spPr/>
        <p:txBody>
          <a:bodyPr/>
          <a:lstStyle/>
          <a:p>
            <a:r>
              <a:rPr lang="en-US" altLang="zh-CN">
                <a:ea typeface="宋体" panose="02010600030101010101" pitchFamily="2" charset="-122"/>
              </a:rPr>
              <a:t>Parameters Monitored – Capacity</a:t>
            </a:r>
          </a:p>
        </p:txBody>
      </p:sp>
      <p:sp>
        <p:nvSpPr>
          <p:cNvPr id="2942979" name="Rectangle 3">
            <a:extLst>
              <a:ext uri="{FF2B5EF4-FFF2-40B4-BE49-F238E27FC236}">
                <a16:creationId xmlns:a16="http://schemas.microsoft.com/office/drawing/2014/main" id="{4FAA6EEE-3F27-6721-FF02-0E5173E043E2}"/>
              </a:ext>
            </a:extLst>
          </p:cNvPr>
          <p:cNvSpPr>
            <a:spLocks noGrp="1" noChangeArrowheads="1"/>
          </p:cNvSpPr>
          <p:nvPr>
            <p:ph type="body" idx="1"/>
          </p:nvPr>
        </p:nvSpPr>
        <p:spPr/>
        <p:txBody>
          <a:bodyPr/>
          <a:lstStyle/>
          <a:p>
            <a:r>
              <a:rPr lang="en-US" altLang="zh-CN">
                <a:ea typeface="宋体" panose="02010600030101010101" pitchFamily="2" charset="-122"/>
              </a:rPr>
              <a:t>Capacity refers to the amount of storage infrastructure resources available</a:t>
            </a:r>
          </a:p>
          <a:p>
            <a:r>
              <a:rPr lang="en-US" altLang="zh-CN">
                <a:ea typeface="宋体" panose="02010600030101010101" pitchFamily="2" charset="-122"/>
              </a:rPr>
              <a:t>Why monitor capacity?</a:t>
            </a:r>
          </a:p>
          <a:p>
            <a:pPr lvl="1"/>
            <a:r>
              <a:rPr lang="en-US" altLang="zh-CN">
                <a:ea typeface="宋体" panose="02010600030101010101" pitchFamily="2" charset="-122"/>
              </a:rPr>
              <a:t>Capacity monitoring prevents outages before they can occur</a:t>
            </a:r>
          </a:p>
          <a:p>
            <a:pPr lvl="2"/>
            <a:r>
              <a:rPr lang="en-US" altLang="zh-CN">
                <a:ea typeface="宋体" panose="02010600030101010101" pitchFamily="2" charset="-122"/>
              </a:rPr>
              <a:t>Inadequate capacity may lead to degraded performance or affect application/service availability</a:t>
            </a:r>
          </a:p>
          <a:p>
            <a:pPr lvl="1"/>
            <a:r>
              <a:rPr lang="en-US" altLang="zh-CN">
                <a:ea typeface="宋体" panose="02010600030101010101" pitchFamily="2" charset="-122"/>
              </a:rPr>
              <a:t>More preventive and predictive in nature</a:t>
            </a:r>
          </a:p>
          <a:p>
            <a:pPr lvl="2"/>
            <a:r>
              <a:rPr lang="en-US" altLang="zh-CN">
                <a:ea typeface="宋体" panose="02010600030101010101" pitchFamily="2" charset="-122"/>
              </a:rPr>
              <a:t>Report indicates 90% of all the ports have been utilized in SAN, a new switch must be added if more arrays/servers are to be added</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B7BEDA11-B86B-1044-433F-F4D285670902}"/>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A07B0A29-3925-2636-F364-C8EC57A1FD7E}"/>
              </a:ext>
            </a:extLst>
          </p:cNvPr>
          <p:cNvSpPr>
            <a:spLocks noGrp="1"/>
          </p:cNvSpPr>
          <p:nvPr>
            <p:ph type="sldNum" sz="quarter" idx="11"/>
          </p:nvPr>
        </p:nvSpPr>
        <p:spPr/>
        <p:txBody>
          <a:bodyPr/>
          <a:lstStyle/>
          <a:p>
            <a:r>
              <a:rPr lang="zh-CN" altLang="en-US"/>
              <a:t> </a:t>
            </a:r>
            <a:r>
              <a:rPr lang="en-US" altLang="zh-CN"/>
              <a:t>- </a:t>
            </a:r>
            <a:fld id="{C8A7A837-1555-46B3-B468-3322A1D0F99E}" type="slidenum">
              <a:rPr lang="en-US" altLang="zh-CN" sz="800"/>
              <a:pPr/>
              <a:t>53</a:t>
            </a:fld>
            <a:endParaRPr lang="en-US" altLang="zh-CN" sz="800"/>
          </a:p>
        </p:txBody>
      </p:sp>
      <p:sp>
        <p:nvSpPr>
          <p:cNvPr id="2945026" name="Rectangle 2">
            <a:extLst>
              <a:ext uri="{FF2B5EF4-FFF2-40B4-BE49-F238E27FC236}">
                <a16:creationId xmlns:a16="http://schemas.microsoft.com/office/drawing/2014/main" id="{B1BEEA8A-472D-CA99-4C63-400DC1BF6E0E}"/>
              </a:ext>
            </a:extLst>
          </p:cNvPr>
          <p:cNvSpPr>
            <a:spLocks noGrp="1" noChangeArrowheads="1"/>
          </p:cNvSpPr>
          <p:nvPr>
            <p:ph type="title"/>
          </p:nvPr>
        </p:nvSpPr>
        <p:spPr/>
        <p:txBody>
          <a:bodyPr/>
          <a:lstStyle/>
          <a:p>
            <a:r>
              <a:rPr lang="en-US" altLang="zh-CN">
                <a:ea typeface="宋体" panose="02010600030101010101" pitchFamily="2" charset="-122"/>
              </a:rPr>
              <a:t>Parameters Monitored – Performance</a:t>
            </a:r>
          </a:p>
        </p:txBody>
      </p:sp>
      <p:sp>
        <p:nvSpPr>
          <p:cNvPr id="2945027" name="Rectangle 3">
            <a:extLst>
              <a:ext uri="{FF2B5EF4-FFF2-40B4-BE49-F238E27FC236}">
                <a16:creationId xmlns:a16="http://schemas.microsoft.com/office/drawing/2014/main" id="{15BE882A-41AF-6750-6796-607F1F688103}"/>
              </a:ext>
            </a:extLst>
          </p:cNvPr>
          <p:cNvSpPr>
            <a:spLocks noGrp="1" noChangeArrowheads="1"/>
          </p:cNvSpPr>
          <p:nvPr>
            <p:ph type="body" idx="1"/>
          </p:nvPr>
        </p:nvSpPr>
        <p:spPr/>
        <p:txBody>
          <a:bodyPr/>
          <a:lstStyle/>
          <a:p>
            <a:r>
              <a:rPr lang="en-US" altLang="zh-CN">
                <a:ea typeface="宋体" panose="02010600030101010101" pitchFamily="2" charset="-122"/>
              </a:rPr>
              <a:t>Performance monitoring evaluates how efficiently different components are performing </a:t>
            </a:r>
          </a:p>
          <a:p>
            <a:r>
              <a:rPr lang="en-US" altLang="zh-CN">
                <a:ea typeface="宋体" panose="02010600030101010101" pitchFamily="2" charset="-122"/>
              </a:rPr>
              <a:t>Why monitor Performance metrics?</a:t>
            </a:r>
          </a:p>
          <a:p>
            <a:pPr lvl="1"/>
            <a:r>
              <a:rPr lang="en-US" altLang="zh-CN">
                <a:ea typeface="宋体" panose="02010600030101010101" pitchFamily="2" charset="-122"/>
              </a:rPr>
              <a:t>Want all data center components to work efficiently/optimally</a:t>
            </a:r>
          </a:p>
          <a:p>
            <a:pPr lvl="1"/>
            <a:r>
              <a:rPr lang="en-US" altLang="zh-CN">
                <a:ea typeface="宋体" panose="02010600030101010101" pitchFamily="2" charset="-122"/>
              </a:rPr>
              <a:t>Helps to identify performance bottlenecks</a:t>
            </a:r>
          </a:p>
          <a:p>
            <a:pPr lvl="1"/>
            <a:r>
              <a:rPr lang="en-US" altLang="zh-CN">
                <a:ea typeface="宋体" panose="02010600030101010101" pitchFamily="2" charset="-122"/>
              </a:rPr>
              <a:t>Measures and analyzes the ability to perform at a certain predefined level</a:t>
            </a:r>
          </a:p>
          <a:p>
            <a:r>
              <a:rPr lang="en-US" altLang="zh-CN">
                <a:ea typeface="宋体" panose="02010600030101010101" pitchFamily="2" charset="-122"/>
              </a:rPr>
              <a:t>Examples</a:t>
            </a:r>
          </a:p>
          <a:p>
            <a:pPr lvl="1"/>
            <a:r>
              <a:rPr lang="en-US" altLang="zh-CN">
                <a:ea typeface="宋体" panose="02010600030101010101" pitchFamily="2" charset="-122"/>
              </a:rPr>
              <a:t>Number of I/Os to disks</a:t>
            </a:r>
          </a:p>
          <a:p>
            <a:pPr lvl="1"/>
            <a:r>
              <a:rPr lang="en-US" altLang="zh-CN">
                <a:ea typeface="宋体" panose="02010600030101010101" pitchFamily="2" charset="-122"/>
              </a:rPr>
              <a:t>Application response time</a:t>
            </a:r>
          </a:p>
          <a:p>
            <a:pPr lvl="1"/>
            <a:r>
              <a:rPr lang="en-US" altLang="zh-CN">
                <a:ea typeface="宋体" panose="02010600030101010101" pitchFamily="2" charset="-122"/>
              </a:rPr>
              <a:t>Network utilization </a:t>
            </a:r>
          </a:p>
          <a:p>
            <a:pPr lvl="1"/>
            <a:r>
              <a:rPr lang="en-US" altLang="zh-CN">
                <a:ea typeface="宋体" panose="02010600030101010101" pitchFamily="2" charset="-122"/>
              </a:rPr>
              <a:t>Server CPU utilization</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6B5CBA6-2742-FD42-6DFF-4307438D49AA}"/>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89A5B3BB-AA36-B0C1-218F-059C0920A0BA}"/>
              </a:ext>
            </a:extLst>
          </p:cNvPr>
          <p:cNvSpPr>
            <a:spLocks noGrp="1"/>
          </p:cNvSpPr>
          <p:nvPr>
            <p:ph type="sldNum" sz="quarter" idx="11"/>
          </p:nvPr>
        </p:nvSpPr>
        <p:spPr/>
        <p:txBody>
          <a:bodyPr/>
          <a:lstStyle/>
          <a:p>
            <a:r>
              <a:rPr lang="zh-CN" altLang="en-US"/>
              <a:t> </a:t>
            </a:r>
            <a:r>
              <a:rPr lang="en-US" altLang="zh-CN"/>
              <a:t>- </a:t>
            </a:r>
            <a:fld id="{D62667BF-E2D1-441C-A0A3-55EFBF51831A}" type="slidenum">
              <a:rPr lang="en-US" altLang="zh-CN" sz="800"/>
              <a:pPr/>
              <a:t>54</a:t>
            </a:fld>
            <a:endParaRPr lang="en-US" altLang="zh-CN" sz="800"/>
          </a:p>
        </p:txBody>
      </p:sp>
      <p:sp>
        <p:nvSpPr>
          <p:cNvPr id="2947074" name="Rectangle 2">
            <a:extLst>
              <a:ext uri="{FF2B5EF4-FFF2-40B4-BE49-F238E27FC236}">
                <a16:creationId xmlns:a16="http://schemas.microsoft.com/office/drawing/2014/main" id="{2CA78B18-535E-2F0D-F251-F0AA24D3C567}"/>
              </a:ext>
            </a:extLst>
          </p:cNvPr>
          <p:cNvSpPr>
            <a:spLocks noGrp="1" noChangeArrowheads="1"/>
          </p:cNvSpPr>
          <p:nvPr>
            <p:ph type="title"/>
          </p:nvPr>
        </p:nvSpPr>
        <p:spPr/>
        <p:txBody>
          <a:bodyPr/>
          <a:lstStyle/>
          <a:p>
            <a:r>
              <a:rPr lang="en-US" altLang="zh-CN">
                <a:ea typeface="宋体" panose="02010600030101010101" pitchFamily="2" charset="-122"/>
              </a:rPr>
              <a:t>Parameters Monitored – Security</a:t>
            </a:r>
          </a:p>
        </p:txBody>
      </p:sp>
      <p:sp>
        <p:nvSpPr>
          <p:cNvPr id="2947075" name="Rectangle 3">
            <a:extLst>
              <a:ext uri="{FF2B5EF4-FFF2-40B4-BE49-F238E27FC236}">
                <a16:creationId xmlns:a16="http://schemas.microsoft.com/office/drawing/2014/main" id="{FBA4282D-59AD-F360-0506-B699490C1F7C}"/>
              </a:ext>
            </a:extLst>
          </p:cNvPr>
          <p:cNvSpPr>
            <a:spLocks noGrp="1" noChangeArrowheads="1"/>
          </p:cNvSpPr>
          <p:nvPr>
            <p:ph type="body" idx="1"/>
          </p:nvPr>
        </p:nvSpPr>
        <p:spPr/>
        <p:txBody>
          <a:bodyPr/>
          <a:lstStyle/>
          <a:p>
            <a:r>
              <a:rPr lang="en-US" altLang="zh-CN">
                <a:ea typeface="宋体" panose="02010600030101010101" pitchFamily="2" charset="-122"/>
              </a:rPr>
              <a:t>Monitoring security helps to track and prevent unauthorized access </a:t>
            </a:r>
          </a:p>
          <a:p>
            <a:r>
              <a:rPr lang="en-US" altLang="zh-CN">
                <a:ea typeface="宋体" panose="02010600030101010101" pitchFamily="2" charset="-122"/>
              </a:rPr>
              <a:t>Why monitor security?</a:t>
            </a:r>
          </a:p>
          <a:p>
            <a:pPr lvl="1"/>
            <a:r>
              <a:rPr lang="en-US" altLang="zh-CN">
                <a:ea typeface="宋体" panose="02010600030101010101" pitchFamily="2" charset="-122"/>
              </a:rPr>
              <a:t>Need to be protected for confidentiality, integrity and availability </a:t>
            </a:r>
          </a:p>
          <a:p>
            <a:pPr lvl="1"/>
            <a:r>
              <a:rPr lang="en-US" altLang="zh-CN">
                <a:ea typeface="宋体" panose="02010600030101010101" pitchFamily="2" charset="-122"/>
              </a:rPr>
              <a:t>To meet regulatory compliance</a:t>
            </a:r>
          </a:p>
          <a:p>
            <a:r>
              <a:rPr lang="en-US" altLang="zh-CN">
                <a:ea typeface="宋体" panose="02010600030101010101" pitchFamily="2" charset="-122"/>
              </a:rPr>
              <a:t>Examples</a:t>
            </a:r>
          </a:p>
          <a:p>
            <a:pPr lvl="1"/>
            <a:r>
              <a:rPr lang="en-US" altLang="zh-CN">
                <a:ea typeface="宋体" panose="02010600030101010101" pitchFamily="2" charset="-122"/>
              </a:rPr>
              <a:t>Tracking and reporting changes made to zoning configurations</a:t>
            </a:r>
          </a:p>
          <a:p>
            <a:pPr lvl="1"/>
            <a:r>
              <a:rPr lang="en-US" altLang="zh-CN">
                <a:ea typeface="宋体" panose="02010600030101010101" pitchFamily="2" charset="-122"/>
              </a:rPr>
              <a:t>Physical security through badge readers, scanners and cameras</a:t>
            </a:r>
          </a:p>
          <a:p>
            <a:pPr>
              <a:buFont typeface="Wingdings" panose="05000000000000000000" pitchFamily="2" charset="2"/>
              <a:buNone/>
            </a:pPr>
            <a:r>
              <a:rPr lang="en-US" altLang="zh-CN">
                <a:ea typeface="宋体" panose="02010600030101010101" pitchFamily="2" charset="-122"/>
              </a:rPr>
              <a:t>	</a:t>
            </a:r>
          </a:p>
        </p:txBody>
      </p:sp>
      <p:sp>
        <p:nvSpPr>
          <p:cNvPr id="2947077" name="Rectangle 5">
            <a:extLst>
              <a:ext uri="{FF2B5EF4-FFF2-40B4-BE49-F238E27FC236}">
                <a16:creationId xmlns:a16="http://schemas.microsoft.com/office/drawing/2014/main" id="{AC092EA1-8A92-7AEF-6220-9C9ADA5160E6}"/>
              </a:ext>
            </a:extLst>
          </p:cNvPr>
          <p:cNvSpPr>
            <a:spLocks noChangeArrowheads="1"/>
          </p:cNvSpPr>
          <p:nvPr/>
        </p:nvSpPr>
        <p:spPr bwMode="auto">
          <a:xfrm>
            <a:off x="481013" y="5078413"/>
            <a:ext cx="8256587" cy="1493837"/>
          </a:xfrm>
          <a:prstGeom prst="rect">
            <a:avLst/>
          </a:prstGeom>
          <a:solidFill>
            <a:srgbClr val="99CCFF"/>
          </a:solidFill>
          <a:ln w="254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buFont typeface="Wingdings" panose="05000000000000000000" pitchFamily="2" charset="2"/>
              <a:buChar char=""/>
            </a:pPr>
            <a:r>
              <a:rPr lang="en-US" altLang="zh-CN" sz="2200">
                <a:solidFill>
                  <a:schemeClr val="tx2"/>
                </a:solidFill>
                <a:ea typeface="宋体" panose="02010600030101010101" pitchFamily="2" charset="-122"/>
              </a:rPr>
              <a:t>Monitoring Environmental parameters</a:t>
            </a:r>
          </a:p>
          <a:p>
            <a:pPr lvl="1">
              <a:spcBef>
                <a:spcPct val="50000"/>
              </a:spcBef>
              <a:buFont typeface="Arial" panose="020B0604020202020204" pitchFamily="34" charset="0"/>
              <a:buChar char="–"/>
            </a:pPr>
            <a:r>
              <a:rPr lang="en-US" altLang="zh-CN" sz="2200">
                <a:solidFill>
                  <a:schemeClr val="tx2"/>
                </a:solidFill>
                <a:ea typeface="宋体" panose="02010600030101010101" pitchFamily="2" charset="-122"/>
              </a:rPr>
              <a:t>Temperature, humidity, airflow, hazards (water, smoke, etc.)</a:t>
            </a:r>
          </a:p>
          <a:p>
            <a:pPr lvl="1">
              <a:spcBef>
                <a:spcPct val="50000"/>
              </a:spcBef>
              <a:buFont typeface="Arial" panose="020B0604020202020204" pitchFamily="34" charset="0"/>
              <a:buChar char="–"/>
            </a:pPr>
            <a:r>
              <a:rPr lang="en-US" altLang="zh-CN" sz="2200">
                <a:solidFill>
                  <a:schemeClr val="tx2"/>
                </a:solidFill>
                <a:ea typeface="宋体" panose="02010600030101010101" pitchFamily="2" charset="-122"/>
              </a:rPr>
              <a:t>Voltage – power supply</a:t>
            </a:r>
            <a:endParaRPr lang="en-US" altLang="zh-CN" sz="2200">
              <a:solidFill>
                <a:srgbClr val="003580"/>
              </a:solidFill>
              <a:ea typeface="宋体" panose="02010600030101010101" pitchFamily="2"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DD6BF865-618C-C401-EA71-75FB76694BE1}"/>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3EA39D43-3F4C-C6F3-A272-080BAFDDDA50}"/>
              </a:ext>
            </a:extLst>
          </p:cNvPr>
          <p:cNvSpPr>
            <a:spLocks noGrp="1"/>
          </p:cNvSpPr>
          <p:nvPr>
            <p:ph type="sldNum" sz="quarter" idx="11"/>
          </p:nvPr>
        </p:nvSpPr>
        <p:spPr/>
        <p:txBody>
          <a:bodyPr/>
          <a:lstStyle/>
          <a:p>
            <a:r>
              <a:rPr lang="zh-CN" altLang="en-US"/>
              <a:t> </a:t>
            </a:r>
            <a:r>
              <a:rPr lang="en-US" altLang="zh-CN"/>
              <a:t>- </a:t>
            </a:r>
            <a:fld id="{0C1D66CA-61FD-45FE-BC13-28C489F5AAF9}" type="slidenum">
              <a:rPr lang="en-US" altLang="zh-CN" sz="800"/>
              <a:pPr/>
              <a:t>55</a:t>
            </a:fld>
            <a:endParaRPr lang="en-US" altLang="zh-CN" sz="800"/>
          </a:p>
        </p:txBody>
      </p:sp>
      <p:sp>
        <p:nvSpPr>
          <p:cNvPr id="2949122" name="Rectangle 2">
            <a:extLst>
              <a:ext uri="{FF2B5EF4-FFF2-40B4-BE49-F238E27FC236}">
                <a16:creationId xmlns:a16="http://schemas.microsoft.com/office/drawing/2014/main" id="{9D946DC5-54B4-57CA-74DF-5E0CAB57AB66}"/>
              </a:ext>
            </a:extLst>
          </p:cNvPr>
          <p:cNvSpPr>
            <a:spLocks noGrp="1" noChangeArrowheads="1"/>
          </p:cNvSpPr>
          <p:nvPr>
            <p:ph type="title"/>
          </p:nvPr>
        </p:nvSpPr>
        <p:spPr/>
        <p:txBody>
          <a:bodyPr/>
          <a:lstStyle/>
          <a:p>
            <a:r>
              <a:rPr lang="en-US" altLang="zh-CN">
                <a:ea typeface="宋体" panose="02010600030101010101" pitchFamily="2" charset="-122"/>
              </a:rPr>
              <a:t>Monitoring Hosts	</a:t>
            </a:r>
          </a:p>
        </p:txBody>
      </p:sp>
      <p:sp>
        <p:nvSpPr>
          <p:cNvPr id="2949123" name="Rectangle 3">
            <a:extLst>
              <a:ext uri="{FF2B5EF4-FFF2-40B4-BE49-F238E27FC236}">
                <a16:creationId xmlns:a16="http://schemas.microsoft.com/office/drawing/2014/main" id="{1F23D7E4-A87C-AFAD-474C-0DC1EDFDECA3}"/>
              </a:ext>
            </a:extLst>
          </p:cNvPr>
          <p:cNvSpPr>
            <a:spLocks noGrp="1" noChangeArrowheads="1"/>
          </p:cNvSpPr>
          <p:nvPr>
            <p:ph type="body" idx="1"/>
          </p:nvPr>
        </p:nvSpPr>
        <p:spPr/>
        <p:txBody>
          <a:bodyPr/>
          <a:lstStyle/>
          <a:p>
            <a:r>
              <a:rPr lang="en-US" altLang="zh-CN" sz="2200">
                <a:ea typeface="宋体" panose="02010600030101010101" pitchFamily="2" charset="-122"/>
              </a:rPr>
              <a:t>Accessibility</a:t>
            </a:r>
          </a:p>
          <a:p>
            <a:pPr lvl="1"/>
            <a:r>
              <a:rPr lang="en-US" altLang="zh-CN" sz="1900">
                <a:ea typeface="宋体" panose="02010600030101010101" pitchFamily="2" charset="-122"/>
              </a:rPr>
              <a:t>Hardware components: HBA, NIC, graphic card, internal disk</a:t>
            </a:r>
          </a:p>
          <a:p>
            <a:pPr lvl="1"/>
            <a:r>
              <a:rPr lang="en-US" altLang="zh-CN" sz="1900">
                <a:ea typeface="宋体" panose="02010600030101010101" pitchFamily="2" charset="-122"/>
              </a:rPr>
              <a:t>Status of various processes/applications</a:t>
            </a:r>
          </a:p>
          <a:p>
            <a:r>
              <a:rPr lang="en-US" altLang="zh-CN" sz="2200">
                <a:ea typeface="宋体" panose="02010600030101010101" pitchFamily="2" charset="-122"/>
              </a:rPr>
              <a:t>Capacity</a:t>
            </a:r>
          </a:p>
          <a:p>
            <a:pPr lvl="1"/>
            <a:r>
              <a:rPr lang="en-US" altLang="zh-CN" sz="1900">
                <a:ea typeface="宋体" panose="02010600030101010101" pitchFamily="2" charset="-122"/>
              </a:rPr>
              <a:t>File system utilization</a:t>
            </a:r>
          </a:p>
          <a:p>
            <a:pPr lvl="1"/>
            <a:r>
              <a:rPr lang="en-US" altLang="zh-CN" sz="1900">
                <a:ea typeface="宋体" panose="02010600030101010101" pitchFamily="2" charset="-122"/>
              </a:rPr>
              <a:t>Database: Table space/log space utilization</a:t>
            </a:r>
          </a:p>
          <a:p>
            <a:pPr lvl="1"/>
            <a:r>
              <a:rPr lang="en-US" altLang="zh-CN" sz="1900">
                <a:ea typeface="宋体" panose="02010600030101010101" pitchFamily="2" charset="-122"/>
              </a:rPr>
              <a:t>User quota</a:t>
            </a:r>
          </a:p>
          <a:p>
            <a:r>
              <a:rPr lang="en-US" altLang="zh-CN" sz="2200">
                <a:ea typeface="宋体" panose="02010600030101010101" pitchFamily="2" charset="-122"/>
              </a:rPr>
              <a:t>Performance</a:t>
            </a:r>
          </a:p>
          <a:p>
            <a:pPr lvl="1"/>
            <a:r>
              <a:rPr lang="en-US" altLang="zh-CN" sz="1900">
                <a:ea typeface="宋体" panose="02010600030101010101" pitchFamily="2" charset="-122"/>
              </a:rPr>
              <a:t>CPU and memory utilization</a:t>
            </a:r>
          </a:p>
          <a:p>
            <a:pPr lvl="1"/>
            <a:r>
              <a:rPr lang="en-US" altLang="zh-CN" sz="1900">
                <a:ea typeface="宋体" panose="02010600030101010101" pitchFamily="2" charset="-122"/>
              </a:rPr>
              <a:t>Transaction response times</a:t>
            </a:r>
          </a:p>
          <a:p>
            <a:r>
              <a:rPr lang="en-US" altLang="zh-CN" sz="2200">
                <a:ea typeface="宋体" panose="02010600030101010101" pitchFamily="2" charset="-122"/>
              </a:rPr>
              <a:t>Security</a:t>
            </a:r>
          </a:p>
          <a:p>
            <a:pPr lvl="1"/>
            <a:r>
              <a:rPr lang="en-US" altLang="zh-CN" sz="1900">
                <a:ea typeface="宋体" panose="02010600030101010101" pitchFamily="2" charset="-122"/>
              </a:rPr>
              <a:t>Login and authorization </a:t>
            </a:r>
          </a:p>
          <a:p>
            <a:pPr lvl="1"/>
            <a:r>
              <a:rPr lang="en-US" altLang="zh-CN" sz="1900">
                <a:ea typeface="宋体" panose="02010600030101010101" pitchFamily="2" charset="-122"/>
              </a:rPr>
              <a:t>Physical security (Data center access)</a:t>
            </a:r>
          </a:p>
        </p:txBody>
      </p:sp>
      <p:grpSp>
        <p:nvGrpSpPr>
          <p:cNvPr id="2949136" name="Group 16">
            <a:extLst>
              <a:ext uri="{FF2B5EF4-FFF2-40B4-BE49-F238E27FC236}">
                <a16:creationId xmlns:a16="http://schemas.microsoft.com/office/drawing/2014/main" id="{1F3C9578-4D12-80EE-5E75-FAFE3A65ADC1}"/>
              </a:ext>
            </a:extLst>
          </p:cNvPr>
          <p:cNvGrpSpPr>
            <a:grpSpLocks/>
          </p:cNvGrpSpPr>
          <p:nvPr/>
        </p:nvGrpSpPr>
        <p:grpSpPr bwMode="auto">
          <a:xfrm>
            <a:off x="6294438" y="2755900"/>
            <a:ext cx="1917700" cy="3503613"/>
            <a:chOff x="3965" y="1736"/>
            <a:chExt cx="1208" cy="2207"/>
          </a:xfrm>
        </p:grpSpPr>
        <p:pic>
          <p:nvPicPr>
            <p:cNvPr id="2949134" name="Picture 14">
              <a:extLst>
                <a:ext uri="{FF2B5EF4-FFF2-40B4-BE49-F238E27FC236}">
                  <a16:creationId xmlns:a16="http://schemas.microsoft.com/office/drawing/2014/main" id="{5B4D6A98-E26A-1C18-D051-24DC23506F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5" y="1736"/>
              <a:ext cx="1208" cy="1924"/>
            </a:xfrm>
            <a:prstGeom prst="rect">
              <a:avLst/>
            </a:prstGeom>
            <a:noFill/>
            <a:extLst>
              <a:ext uri="{909E8E84-426E-40DD-AFC4-6F175D3DCCD1}">
                <a14:hiddenFill xmlns:a14="http://schemas.microsoft.com/office/drawing/2010/main">
                  <a:solidFill>
                    <a:srgbClr val="FFFFFF"/>
                  </a:solidFill>
                </a14:hiddenFill>
              </a:ext>
            </a:extLst>
          </p:spPr>
        </p:pic>
        <p:sp>
          <p:nvSpPr>
            <p:cNvPr id="2949135" name="Text Box 15">
              <a:extLst>
                <a:ext uri="{FF2B5EF4-FFF2-40B4-BE49-F238E27FC236}">
                  <a16:creationId xmlns:a16="http://schemas.microsoft.com/office/drawing/2014/main" id="{BC288638-360C-45EB-11FD-4A2F2E26EF51}"/>
                </a:ext>
              </a:extLst>
            </p:cNvPr>
            <p:cNvSpPr txBox="1">
              <a:spLocks noChangeArrowheads="1"/>
            </p:cNvSpPr>
            <p:nvPr/>
          </p:nvSpPr>
          <p:spPr bwMode="auto">
            <a:xfrm>
              <a:off x="4244" y="3693"/>
              <a:ext cx="4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a:solidFill>
                    <a:srgbClr val="003580"/>
                  </a:solidFill>
                  <a:ea typeface="宋体" panose="02010600030101010101" pitchFamily="2" charset="-122"/>
                </a:rPr>
                <a:t>Host</a:t>
              </a:r>
            </a:p>
          </p:txBody>
        </p:sp>
      </p:grpSp>
      <p:sp>
        <p:nvSpPr>
          <p:cNvPr id="2949139" name="Text Box 19">
            <a:extLst>
              <a:ext uri="{FF2B5EF4-FFF2-40B4-BE49-F238E27FC236}">
                <a16:creationId xmlns:a16="http://schemas.microsoft.com/office/drawing/2014/main" id="{E3F30E0D-D8EA-6B15-646C-8176168D711D}"/>
              </a:ext>
            </a:extLst>
          </p:cNvPr>
          <p:cNvSpPr txBox="1">
            <a:spLocks noChangeArrowheads="1"/>
          </p:cNvSpPr>
          <p:nvPr/>
        </p:nvSpPr>
        <p:spPr bwMode="auto">
          <a:xfrm>
            <a:off x="7832725" y="3676650"/>
            <a:ext cx="679450" cy="396875"/>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a:solidFill>
                  <a:srgbClr val="003580"/>
                </a:solidFill>
                <a:ea typeface="宋体" panose="02010600030101010101" pitchFamily="2" charset="-122"/>
              </a:rPr>
              <a:t>HBA</a:t>
            </a:r>
          </a:p>
        </p:txBody>
      </p:sp>
      <p:sp>
        <p:nvSpPr>
          <p:cNvPr id="2949140" name="Text Box 20">
            <a:extLst>
              <a:ext uri="{FF2B5EF4-FFF2-40B4-BE49-F238E27FC236}">
                <a16:creationId xmlns:a16="http://schemas.microsoft.com/office/drawing/2014/main" id="{90001FA6-878D-9AE2-B969-7D0C05A66D1E}"/>
              </a:ext>
            </a:extLst>
          </p:cNvPr>
          <p:cNvSpPr txBox="1">
            <a:spLocks noChangeArrowheads="1"/>
          </p:cNvSpPr>
          <p:nvPr/>
        </p:nvSpPr>
        <p:spPr bwMode="auto">
          <a:xfrm>
            <a:off x="7840663" y="4195763"/>
            <a:ext cx="679450" cy="396875"/>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a:solidFill>
                  <a:srgbClr val="003580"/>
                </a:solidFill>
                <a:ea typeface="宋体" panose="02010600030101010101" pitchFamily="2" charset="-122"/>
              </a:rPr>
              <a:t>HBA</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FDEA2E34-5A09-3DCC-5946-779275968C6A}"/>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F5A9CBF4-767A-DFCD-40C5-71A5987BB0DE}"/>
              </a:ext>
            </a:extLst>
          </p:cNvPr>
          <p:cNvSpPr>
            <a:spLocks noGrp="1"/>
          </p:cNvSpPr>
          <p:nvPr>
            <p:ph type="sldNum" sz="quarter" idx="11"/>
          </p:nvPr>
        </p:nvSpPr>
        <p:spPr/>
        <p:txBody>
          <a:bodyPr/>
          <a:lstStyle/>
          <a:p>
            <a:r>
              <a:rPr lang="zh-CN" altLang="en-US"/>
              <a:t> </a:t>
            </a:r>
            <a:r>
              <a:rPr lang="en-US" altLang="zh-CN"/>
              <a:t>- </a:t>
            </a:r>
            <a:fld id="{BE5C9226-691A-41D4-8607-7AF645920EC3}" type="slidenum">
              <a:rPr lang="en-US" altLang="zh-CN" sz="800"/>
              <a:pPr/>
              <a:t>56</a:t>
            </a:fld>
            <a:endParaRPr lang="en-US" altLang="zh-CN" sz="800"/>
          </a:p>
        </p:txBody>
      </p:sp>
      <p:sp>
        <p:nvSpPr>
          <p:cNvPr id="2953254" name="Line 38">
            <a:extLst>
              <a:ext uri="{FF2B5EF4-FFF2-40B4-BE49-F238E27FC236}">
                <a16:creationId xmlns:a16="http://schemas.microsoft.com/office/drawing/2014/main" id="{BB31ABDE-7CA9-2C1C-1D65-DC2691B3D8B6}"/>
              </a:ext>
            </a:extLst>
          </p:cNvPr>
          <p:cNvSpPr>
            <a:spLocks noChangeShapeType="1"/>
          </p:cNvSpPr>
          <p:nvPr/>
        </p:nvSpPr>
        <p:spPr bwMode="auto">
          <a:xfrm flipV="1">
            <a:off x="7924800" y="2600325"/>
            <a:ext cx="0" cy="191770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53252" name="Line 36">
            <a:extLst>
              <a:ext uri="{FF2B5EF4-FFF2-40B4-BE49-F238E27FC236}">
                <a16:creationId xmlns:a16="http://schemas.microsoft.com/office/drawing/2014/main" id="{C6E2AF68-1696-F589-2517-6163F6CFF34E}"/>
              </a:ext>
            </a:extLst>
          </p:cNvPr>
          <p:cNvSpPr>
            <a:spLocks noChangeShapeType="1"/>
          </p:cNvSpPr>
          <p:nvPr/>
        </p:nvSpPr>
        <p:spPr bwMode="auto">
          <a:xfrm flipV="1">
            <a:off x="5988050" y="2222500"/>
            <a:ext cx="1130300" cy="842963"/>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53253" name="Line 37">
            <a:extLst>
              <a:ext uri="{FF2B5EF4-FFF2-40B4-BE49-F238E27FC236}">
                <a16:creationId xmlns:a16="http://schemas.microsoft.com/office/drawing/2014/main" id="{CC66185B-8884-F76D-B3EB-A9AFED4190E9}"/>
              </a:ext>
            </a:extLst>
          </p:cNvPr>
          <p:cNvSpPr>
            <a:spLocks noChangeShapeType="1"/>
          </p:cNvSpPr>
          <p:nvPr/>
        </p:nvSpPr>
        <p:spPr bwMode="auto">
          <a:xfrm>
            <a:off x="5827713" y="3944938"/>
            <a:ext cx="1290637" cy="985837"/>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53218" name="Rectangle 2">
            <a:extLst>
              <a:ext uri="{FF2B5EF4-FFF2-40B4-BE49-F238E27FC236}">
                <a16:creationId xmlns:a16="http://schemas.microsoft.com/office/drawing/2014/main" id="{98882C88-D2AA-AB02-86AC-FEA8C9B751FB}"/>
              </a:ext>
            </a:extLst>
          </p:cNvPr>
          <p:cNvSpPr>
            <a:spLocks noGrp="1" noChangeArrowheads="1"/>
          </p:cNvSpPr>
          <p:nvPr>
            <p:ph type="title"/>
          </p:nvPr>
        </p:nvSpPr>
        <p:spPr/>
        <p:txBody>
          <a:bodyPr/>
          <a:lstStyle/>
          <a:p>
            <a:r>
              <a:rPr lang="en-US" altLang="zh-CN">
                <a:ea typeface="宋体" panose="02010600030101010101" pitchFamily="2" charset="-122"/>
              </a:rPr>
              <a:t>Monitoring the SAN</a:t>
            </a:r>
          </a:p>
        </p:txBody>
      </p:sp>
      <p:sp>
        <p:nvSpPr>
          <p:cNvPr id="2953219" name="Rectangle 3">
            <a:extLst>
              <a:ext uri="{FF2B5EF4-FFF2-40B4-BE49-F238E27FC236}">
                <a16:creationId xmlns:a16="http://schemas.microsoft.com/office/drawing/2014/main" id="{F7CC8A8C-8456-2036-1212-68140A1B32BD}"/>
              </a:ext>
            </a:extLst>
          </p:cNvPr>
          <p:cNvSpPr>
            <a:spLocks noGrp="1" noChangeArrowheads="1"/>
          </p:cNvSpPr>
          <p:nvPr>
            <p:ph type="body" idx="1"/>
          </p:nvPr>
        </p:nvSpPr>
        <p:spPr/>
        <p:txBody>
          <a:bodyPr/>
          <a:lstStyle/>
          <a:p>
            <a:pPr>
              <a:lnSpc>
                <a:spcPct val="90000"/>
              </a:lnSpc>
            </a:pPr>
            <a:r>
              <a:rPr lang="en-US" altLang="zh-CN" sz="2200">
                <a:ea typeface="宋体" panose="02010600030101010101" pitchFamily="2" charset="-122"/>
              </a:rPr>
              <a:t>Accessibility</a:t>
            </a:r>
          </a:p>
          <a:p>
            <a:pPr lvl="1">
              <a:lnSpc>
                <a:spcPct val="90000"/>
              </a:lnSpc>
            </a:pPr>
            <a:r>
              <a:rPr lang="en-US" altLang="zh-CN" sz="1900">
                <a:ea typeface="宋体" panose="02010600030101010101" pitchFamily="2" charset="-122"/>
              </a:rPr>
              <a:t>Fabric errors, zoning errors, GBIC failure</a:t>
            </a:r>
          </a:p>
          <a:p>
            <a:pPr lvl="1">
              <a:lnSpc>
                <a:spcPct val="90000"/>
              </a:lnSpc>
            </a:pPr>
            <a:r>
              <a:rPr lang="en-US" altLang="zh-CN" sz="1900">
                <a:ea typeface="宋体" panose="02010600030101010101" pitchFamily="2" charset="-122"/>
              </a:rPr>
              <a:t>Device status/attribute Change</a:t>
            </a:r>
          </a:p>
          <a:p>
            <a:pPr lvl="1">
              <a:lnSpc>
                <a:spcPct val="90000"/>
              </a:lnSpc>
            </a:pPr>
            <a:r>
              <a:rPr lang="en-US" altLang="zh-CN" sz="1900">
                <a:ea typeface="宋体" panose="02010600030101010101" pitchFamily="2" charset="-122"/>
              </a:rPr>
              <a:t>Processor cards, fans, power supplies</a:t>
            </a:r>
          </a:p>
          <a:p>
            <a:pPr>
              <a:lnSpc>
                <a:spcPct val="90000"/>
              </a:lnSpc>
            </a:pPr>
            <a:r>
              <a:rPr lang="en-US" altLang="zh-CN" sz="2200">
                <a:ea typeface="宋体" panose="02010600030101010101" pitchFamily="2" charset="-122"/>
              </a:rPr>
              <a:t>Capacity</a:t>
            </a:r>
          </a:p>
          <a:p>
            <a:pPr lvl="1">
              <a:lnSpc>
                <a:spcPct val="90000"/>
              </a:lnSpc>
            </a:pPr>
            <a:r>
              <a:rPr lang="en-US" altLang="zh-CN" sz="1900">
                <a:ea typeface="宋体" panose="02010600030101010101" pitchFamily="2" charset="-122"/>
              </a:rPr>
              <a:t>ISL and port utilization</a:t>
            </a:r>
          </a:p>
          <a:p>
            <a:pPr>
              <a:lnSpc>
                <a:spcPct val="90000"/>
              </a:lnSpc>
            </a:pPr>
            <a:r>
              <a:rPr lang="en-US" altLang="zh-CN" sz="2200">
                <a:ea typeface="宋体" panose="02010600030101010101" pitchFamily="2" charset="-122"/>
              </a:rPr>
              <a:t>Performance</a:t>
            </a:r>
          </a:p>
          <a:p>
            <a:pPr lvl="1">
              <a:lnSpc>
                <a:spcPct val="90000"/>
              </a:lnSpc>
            </a:pPr>
            <a:r>
              <a:rPr lang="en-US" altLang="zh-CN" sz="1900">
                <a:ea typeface="宋体" panose="02010600030101010101" pitchFamily="2" charset="-122"/>
              </a:rPr>
              <a:t>Connectivity ports</a:t>
            </a:r>
          </a:p>
          <a:p>
            <a:pPr lvl="2">
              <a:lnSpc>
                <a:spcPct val="90000"/>
              </a:lnSpc>
            </a:pPr>
            <a:r>
              <a:rPr lang="en-US" altLang="zh-CN" sz="1700">
                <a:ea typeface="宋体" panose="02010600030101010101" pitchFamily="2" charset="-122"/>
              </a:rPr>
              <a:t>Link failures, Loss of signal, Link utilization</a:t>
            </a:r>
          </a:p>
          <a:p>
            <a:pPr lvl="1">
              <a:lnSpc>
                <a:spcPct val="90000"/>
              </a:lnSpc>
            </a:pPr>
            <a:r>
              <a:rPr lang="en-US" altLang="zh-CN" sz="1900">
                <a:ea typeface="宋体" panose="02010600030101010101" pitchFamily="2" charset="-122"/>
              </a:rPr>
              <a:t>Connectivity devices</a:t>
            </a:r>
          </a:p>
          <a:p>
            <a:pPr lvl="2">
              <a:lnSpc>
                <a:spcPct val="90000"/>
              </a:lnSpc>
            </a:pPr>
            <a:r>
              <a:rPr lang="en-US" altLang="zh-CN" sz="1700">
                <a:ea typeface="宋体" panose="02010600030101010101" pitchFamily="2" charset="-122"/>
              </a:rPr>
              <a:t>Port statistics</a:t>
            </a:r>
          </a:p>
          <a:p>
            <a:pPr>
              <a:lnSpc>
                <a:spcPct val="90000"/>
              </a:lnSpc>
            </a:pPr>
            <a:r>
              <a:rPr lang="en-US" altLang="zh-CN" sz="2200">
                <a:ea typeface="宋体" panose="02010600030101010101" pitchFamily="2" charset="-122"/>
              </a:rPr>
              <a:t>Security</a:t>
            </a:r>
          </a:p>
          <a:p>
            <a:pPr lvl="1">
              <a:lnSpc>
                <a:spcPct val="90000"/>
              </a:lnSpc>
            </a:pPr>
            <a:r>
              <a:rPr lang="en-US" altLang="zh-CN" sz="1900">
                <a:ea typeface="宋体" panose="02010600030101010101" pitchFamily="2" charset="-122"/>
              </a:rPr>
              <a:t>Zoning and LUN Masking</a:t>
            </a:r>
          </a:p>
          <a:p>
            <a:pPr lvl="1">
              <a:lnSpc>
                <a:spcPct val="90000"/>
              </a:lnSpc>
            </a:pPr>
            <a:r>
              <a:rPr lang="en-US" altLang="zh-CN" sz="1900">
                <a:ea typeface="宋体" panose="02010600030101010101" pitchFamily="2" charset="-122"/>
              </a:rPr>
              <a:t>Administrative Tasks and physical security</a:t>
            </a:r>
          </a:p>
          <a:p>
            <a:pPr lvl="2">
              <a:lnSpc>
                <a:spcPct val="90000"/>
              </a:lnSpc>
            </a:pPr>
            <a:r>
              <a:rPr lang="en-US" altLang="zh-CN" sz="1700">
                <a:ea typeface="宋体" panose="02010600030101010101" pitchFamily="2" charset="-122"/>
              </a:rPr>
              <a:t>Authorized Access, Strict Passwords</a:t>
            </a:r>
          </a:p>
        </p:txBody>
      </p:sp>
      <p:sp>
        <p:nvSpPr>
          <p:cNvPr id="2953235" name="AutoShape 19">
            <a:extLst>
              <a:ext uri="{FF2B5EF4-FFF2-40B4-BE49-F238E27FC236}">
                <a16:creationId xmlns:a16="http://schemas.microsoft.com/office/drawing/2014/main" id="{D8270AD9-90E9-C929-2DEE-D8520D7B9E90}"/>
              </a:ext>
            </a:extLst>
          </p:cNvPr>
          <p:cNvSpPr>
            <a:spLocks noChangeArrowheads="1"/>
          </p:cNvSpPr>
          <p:nvPr/>
        </p:nvSpPr>
        <p:spPr bwMode="auto">
          <a:xfrm>
            <a:off x="7075488" y="1801813"/>
            <a:ext cx="1684337" cy="868362"/>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53236" name="Freeform 20">
            <a:extLst>
              <a:ext uri="{FF2B5EF4-FFF2-40B4-BE49-F238E27FC236}">
                <a16:creationId xmlns:a16="http://schemas.microsoft.com/office/drawing/2014/main" id="{6869AC03-0453-7A50-B4C1-B4A1A468C27C}"/>
              </a:ext>
            </a:extLst>
          </p:cNvPr>
          <p:cNvSpPr>
            <a:spLocks/>
          </p:cNvSpPr>
          <p:nvPr/>
        </p:nvSpPr>
        <p:spPr bwMode="auto">
          <a:xfrm>
            <a:off x="7286625" y="2003425"/>
            <a:ext cx="644525"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37" name="Freeform 21">
            <a:extLst>
              <a:ext uri="{FF2B5EF4-FFF2-40B4-BE49-F238E27FC236}">
                <a16:creationId xmlns:a16="http://schemas.microsoft.com/office/drawing/2014/main" id="{7EDD4BE1-A31B-5458-EA03-DFD0688AA03C}"/>
              </a:ext>
            </a:extLst>
          </p:cNvPr>
          <p:cNvSpPr>
            <a:spLocks/>
          </p:cNvSpPr>
          <p:nvPr/>
        </p:nvSpPr>
        <p:spPr bwMode="auto">
          <a:xfrm>
            <a:off x="7286625" y="2308225"/>
            <a:ext cx="644525"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38" name="Freeform 22">
            <a:extLst>
              <a:ext uri="{FF2B5EF4-FFF2-40B4-BE49-F238E27FC236}">
                <a16:creationId xmlns:a16="http://schemas.microsoft.com/office/drawing/2014/main" id="{B43FCAFC-E121-6086-BC4A-E0B9A2676411}"/>
              </a:ext>
            </a:extLst>
          </p:cNvPr>
          <p:cNvSpPr>
            <a:spLocks/>
          </p:cNvSpPr>
          <p:nvPr/>
        </p:nvSpPr>
        <p:spPr bwMode="auto">
          <a:xfrm flipH="1">
            <a:off x="7927975" y="2163763"/>
            <a:ext cx="646113"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39" name="Freeform 23">
            <a:extLst>
              <a:ext uri="{FF2B5EF4-FFF2-40B4-BE49-F238E27FC236}">
                <a16:creationId xmlns:a16="http://schemas.microsoft.com/office/drawing/2014/main" id="{D72F51A1-C56C-6780-588B-EE8DD4AF0840}"/>
              </a:ext>
            </a:extLst>
          </p:cNvPr>
          <p:cNvSpPr>
            <a:spLocks/>
          </p:cNvSpPr>
          <p:nvPr/>
        </p:nvSpPr>
        <p:spPr bwMode="auto">
          <a:xfrm flipH="1">
            <a:off x="7927975" y="2468563"/>
            <a:ext cx="646113"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41" name="AutoShape 25">
            <a:extLst>
              <a:ext uri="{FF2B5EF4-FFF2-40B4-BE49-F238E27FC236}">
                <a16:creationId xmlns:a16="http://schemas.microsoft.com/office/drawing/2014/main" id="{F3C4B630-D104-B304-D587-A3AA200B43FE}"/>
              </a:ext>
            </a:extLst>
          </p:cNvPr>
          <p:cNvSpPr>
            <a:spLocks noChangeArrowheads="1"/>
          </p:cNvSpPr>
          <p:nvPr/>
        </p:nvSpPr>
        <p:spPr bwMode="auto">
          <a:xfrm>
            <a:off x="7080250" y="4487863"/>
            <a:ext cx="1684338" cy="868362"/>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53242" name="Freeform 26">
            <a:extLst>
              <a:ext uri="{FF2B5EF4-FFF2-40B4-BE49-F238E27FC236}">
                <a16:creationId xmlns:a16="http://schemas.microsoft.com/office/drawing/2014/main" id="{2C0CC24A-3D46-E56E-655B-AD0FE47A2D2D}"/>
              </a:ext>
            </a:extLst>
          </p:cNvPr>
          <p:cNvSpPr>
            <a:spLocks/>
          </p:cNvSpPr>
          <p:nvPr/>
        </p:nvSpPr>
        <p:spPr bwMode="auto">
          <a:xfrm>
            <a:off x="7291388" y="4689475"/>
            <a:ext cx="644525"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43" name="Freeform 27">
            <a:extLst>
              <a:ext uri="{FF2B5EF4-FFF2-40B4-BE49-F238E27FC236}">
                <a16:creationId xmlns:a16="http://schemas.microsoft.com/office/drawing/2014/main" id="{3EBFE799-4912-926E-7FAB-39BCA1B4EC7C}"/>
              </a:ext>
            </a:extLst>
          </p:cNvPr>
          <p:cNvSpPr>
            <a:spLocks/>
          </p:cNvSpPr>
          <p:nvPr/>
        </p:nvSpPr>
        <p:spPr bwMode="auto">
          <a:xfrm>
            <a:off x="7291388" y="4994275"/>
            <a:ext cx="644525"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44" name="Freeform 28">
            <a:extLst>
              <a:ext uri="{FF2B5EF4-FFF2-40B4-BE49-F238E27FC236}">
                <a16:creationId xmlns:a16="http://schemas.microsoft.com/office/drawing/2014/main" id="{D2446AB9-E165-9DF9-F108-61671982572A}"/>
              </a:ext>
            </a:extLst>
          </p:cNvPr>
          <p:cNvSpPr>
            <a:spLocks/>
          </p:cNvSpPr>
          <p:nvPr/>
        </p:nvSpPr>
        <p:spPr bwMode="auto">
          <a:xfrm flipH="1">
            <a:off x="7932738" y="4849813"/>
            <a:ext cx="646112"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45" name="Freeform 29">
            <a:extLst>
              <a:ext uri="{FF2B5EF4-FFF2-40B4-BE49-F238E27FC236}">
                <a16:creationId xmlns:a16="http://schemas.microsoft.com/office/drawing/2014/main" id="{AB7D685E-EC0C-004F-5F1F-94098E9AAB2A}"/>
              </a:ext>
            </a:extLst>
          </p:cNvPr>
          <p:cNvSpPr>
            <a:spLocks/>
          </p:cNvSpPr>
          <p:nvPr/>
        </p:nvSpPr>
        <p:spPr bwMode="auto">
          <a:xfrm flipH="1">
            <a:off x="7932738" y="5154613"/>
            <a:ext cx="646112"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47" name="AutoShape 31">
            <a:extLst>
              <a:ext uri="{FF2B5EF4-FFF2-40B4-BE49-F238E27FC236}">
                <a16:creationId xmlns:a16="http://schemas.microsoft.com/office/drawing/2014/main" id="{A21E8CFA-F30C-AA7D-9C45-A46B08AED346}"/>
              </a:ext>
            </a:extLst>
          </p:cNvPr>
          <p:cNvSpPr>
            <a:spLocks noChangeArrowheads="1"/>
          </p:cNvSpPr>
          <p:nvPr/>
        </p:nvSpPr>
        <p:spPr bwMode="auto">
          <a:xfrm>
            <a:off x="5113338" y="3067050"/>
            <a:ext cx="1684337" cy="868363"/>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53248" name="Freeform 32">
            <a:extLst>
              <a:ext uri="{FF2B5EF4-FFF2-40B4-BE49-F238E27FC236}">
                <a16:creationId xmlns:a16="http://schemas.microsoft.com/office/drawing/2014/main" id="{D2B5B7C4-6038-D36A-F428-E0D5614576A6}"/>
              </a:ext>
            </a:extLst>
          </p:cNvPr>
          <p:cNvSpPr>
            <a:spLocks/>
          </p:cNvSpPr>
          <p:nvPr/>
        </p:nvSpPr>
        <p:spPr bwMode="auto">
          <a:xfrm>
            <a:off x="5324475" y="3268663"/>
            <a:ext cx="644525"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49" name="Freeform 33">
            <a:extLst>
              <a:ext uri="{FF2B5EF4-FFF2-40B4-BE49-F238E27FC236}">
                <a16:creationId xmlns:a16="http://schemas.microsoft.com/office/drawing/2014/main" id="{7CADBA79-FDA2-2D2B-B416-187A6F075822}"/>
              </a:ext>
            </a:extLst>
          </p:cNvPr>
          <p:cNvSpPr>
            <a:spLocks/>
          </p:cNvSpPr>
          <p:nvPr/>
        </p:nvSpPr>
        <p:spPr bwMode="auto">
          <a:xfrm>
            <a:off x="5324475" y="3573463"/>
            <a:ext cx="644525"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50" name="Freeform 34">
            <a:extLst>
              <a:ext uri="{FF2B5EF4-FFF2-40B4-BE49-F238E27FC236}">
                <a16:creationId xmlns:a16="http://schemas.microsoft.com/office/drawing/2014/main" id="{DFA539ED-18EA-4BE5-45F8-8F1C5B9DEC53}"/>
              </a:ext>
            </a:extLst>
          </p:cNvPr>
          <p:cNvSpPr>
            <a:spLocks/>
          </p:cNvSpPr>
          <p:nvPr/>
        </p:nvSpPr>
        <p:spPr bwMode="auto">
          <a:xfrm flipH="1">
            <a:off x="5965825" y="3429000"/>
            <a:ext cx="646113"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51" name="Freeform 35">
            <a:extLst>
              <a:ext uri="{FF2B5EF4-FFF2-40B4-BE49-F238E27FC236}">
                <a16:creationId xmlns:a16="http://schemas.microsoft.com/office/drawing/2014/main" id="{3A2BF3BA-347B-39E9-82FD-B35F7707D6EC}"/>
              </a:ext>
            </a:extLst>
          </p:cNvPr>
          <p:cNvSpPr>
            <a:spLocks/>
          </p:cNvSpPr>
          <p:nvPr/>
        </p:nvSpPr>
        <p:spPr bwMode="auto">
          <a:xfrm flipH="1">
            <a:off x="5965825" y="3733800"/>
            <a:ext cx="646113" cy="635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317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53255" name="Text Box 39">
            <a:extLst>
              <a:ext uri="{FF2B5EF4-FFF2-40B4-BE49-F238E27FC236}">
                <a16:creationId xmlns:a16="http://schemas.microsoft.com/office/drawing/2014/main" id="{C2DDB58E-DD22-2DD2-B549-43B911CCF4D8}"/>
              </a:ext>
            </a:extLst>
          </p:cNvPr>
          <p:cNvSpPr txBox="1">
            <a:spLocks noChangeArrowheads="1"/>
          </p:cNvSpPr>
          <p:nvPr/>
        </p:nvSpPr>
        <p:spPr bwMode="auto">
          <a:xfrm>
            <a:off x="7496175" y="5613400"/>
            <a:ext cx="679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a:solidFill>
                  <a:srgbClr val="003580"/>
                </a:solidFill>
                <a:ea typeface="宋体" panose="02010600030101010101" pitchFamily="2" charset="-122"/>
              </a:rPr>
              <a:t>SAN</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5A3FCABF-7F1D-B6F4-6C7F-54F31CE4451F}"/>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3C6B97E2-99E1-EAE1-E99D-9152822CCA2C}"/>
              </a:ext>
            </a:extLst>
          </p:cNvPr>
          <p:cNvSpPr>
            <a:spLocks noGrp="1"/>
          </p:cNvSpPr>
          <p:nvPr>
            <p:ph type="sldNum" sz="quarter" idx="11"/>
          </p:nvPr>
        </p:nvSpPr>
        <p:spPr/>
        <p:txBody>
          <a:bodyPr/>
          <a:lstStyle/>
          <a:p>
            <a:r>
              <a:rPr lang="zh-CN" altLang="en-US"/>
              <a:t> </a:t>
            </a:r>
            <a:r>
              <a:rPr lang="en-US" altLang="zh-CN"/>
              <a:t>- </a:t>
            </a:r>
            <a:fld id="{582B3166-5F58-40BB-8FDC-7E38B948F7EB}" type="slidenum">
              <a:rPr lang="en-US" altLang="zh-CN" sz="800"/>
              <a:pPr/>
              <a:t>57</a:t>
            </a:fld>
            <a:endParaRPr lang="en-US" altLang="zh-CN" sz="800"/>
          </a:p>
        </p:txBody>
      </p:sp>
      <p:sp>
        <p:nvSpPr>
          <p:cNvPr id="2959362" name="Rectangle 2">
            <a:extLst>
              <a:ext uri="{FF2B5EF4-FFF2-40B4-BE49-F238E27FC236}">
                <a16:creationId xmlns:a16="http://schemas.microsoft.com/office/drawing/2014/main" id="{9C47E163-2ED4-0E7B-18EF-675690E6822D}"/>
              </a:ext>
            </a:extLst>
          </p:cNvPr>
          <p:cNvSpPr>
            <a:spLocks noGrp="1" noChangeArrowheads="1"/>
          </p:cNvSpPr>
          <p:nvPr>
            <p:ph type="title"/>
          </p:nvPr>
        </p:nvSpPr>
        <p:spPr/>
        <p:txBody>
          <a:bodyPr/>
          <a:lstStyle/>
          <a:p>
            <a:r>
              <a:rPr lang="en-US" altLang="zh-CN">
                <a:ea typeface="宋体" panose="02010600030101010101" pitchFamily="2" charset="-122"/>
              </a:rPr>
              <a:t>Monitoring Storage Arrays</a:t>
            </a:r>
          </a:p>
        </p:txBody>
      </p:sp>
      <p:sp>
        <p:nvSpPr>
          <p:cNvPr id="2959363" name="Rectangle 3">
            <a:extLst>
              <a:ext uri="{FF2B5EF4-FFF2-40B4-BE49-F238E27FC236}">
                <a16:creationId xmlns:a16="http://schemas.microsoft.com/office/drawing/2014/main" id="{967F38A8-19E9-2F9B-26B0-55B981388CC0}"/>
              </a:ext>
            </a:extLst>
          </p:cNvPr>
          <p:cNvSpPr>
            <a:spLocks noGrp="1" noChangeArrowheads="1"/>
          </p:cNvSpPr>
          <p:nvPr>
            <p:ph type="body" idx="1"/>
          </p:nvPr>
        </p:nvSpPr>
        <p:spPr/>
        <p:txBody>
          <a:bodyPr/>
          <a:lstStyle/>
          <a:p>
            <a:pPr>
              <a:lnSpc>
                <a:spcPct val="90000"/>
              </a:lnSpc>
            </a:pPr>
            <a:r>
              <a:rPr lang="en-US" altLang="zh-CN" sz="2200">
                <a:ea typeface="宋体" panose="02010600030101010101" pitchFamily="2" charset="-122"/>
              </a:rPr>
              <a:t>Accessibility</a:t>
            </a:r>
          </a:p>
          <a:p>
            <a:pPr lvl="1">
              <a:lnSpc>
                <a:spcPct val="90000"/>
              </a:lnSpc>
            </a:pPr>
            <a:r>
              <a:rPr lang="en-US" altLang="zh-CN" sz="1900">
                <a:ea typeface="宋体" panose="02010600030101010101" pitchFamily="2" charset="-122"/>
              </a:rPr>
              <a:t>All Hardware components</a:t>
            </a:r>
          </a:p>
          <a:p>
            <a:pPr lvl="1">
              <a:lnSpc>
                <a:spcPct val="90000"/>
              </a:lnSpc>
            </a:pPr>
            <a:r>
              <a:rPr lang="en-US" altLang="zh-CN" sz="1900">
                <a:ea typeface="宋体" panose="02010600030101010101" pitchFamily="2" charset="-122"/>
              </a:rPr>
              <a:t>Array Operating Environment</a:t>
            </a:r>
          </a:p>
          <a:p>
            <a:pPr lvl="2">
              <a:lnSpc>
                <a:spcPct val="90000"/>
              </a:lnSpc>
            </a:pPr>
            <a:r>
              <a:rPr lang="en-US" altLang="zh-CN" sz="1700">
                <a:ea typeface="宋体" panose="02010600030101010101" pitchFamily="2" charset="-122"/>
              </a:rPr>
              <a:t>RAID processes</a:t>
            </a:r>
          </a:p>
          <a:p>
            <a:pPr lvl="2">
              <a:lnSpc>
                <a:spcPct val="90000"/>
              </a:lnSpc>
            </a:pPr>
            <a:r>
              <a:rPr lang="en-US" altLang="zh-CN" sz="1700">
                <a:ea typeface="宋体" panose="02010600030101010101" pitchFamily="2" charset="-122"/>
              </a:rPr>
              <a:t>Environmental Sensors</a:t>
            </a:r>
          </a:p>
          <a:p>
            <a:pPr lvl="2">
              <a:lnSpc>
                <a:spcPct val="90000"/>
              </a:lnSpc>
            </a:pPr>
            <a:r>
              <a:rPr lang="en-US" altLang="zh-CN" sz="1700">
                <a:ea typeface="宋体" panose="02010600030101010101" pitchFamily="2" charset="-122"/>
              </a:rPr>
              <a:t>Replication processes</a:t>
            </a:r>
          </a:p>
          <a:p>
            <a:pPr>
              <a:lnSpc>
                <a:spcPct val="90000"/>
              </a:lnSpc>
            </a:pPr>
            <a:r>
              <a:rPr lang="en-US" altLang="zh-CN" sz="2200">
                <a:ea typeface="宋体" panose="02010600030101010101" pitchFamily="2" charset="-122"/>
              </a:rPr>
              <a:t>Capacity</a:t>
            </a:r>
          </a:p>
          <a:p>
            <a:pPr lvl="1">
              <a:lnSpc>
                <a:spcPct val="90000"/>
              </a:lnSpc>
            </a:pPr>
            <a:r>
              <a:rPr lang="en-US" altLang="zh-CN" sz="1900">
                <a:ea typeface="宋体" panose="02010600030101010101" pitchFamily="2" charset="-122"/>
              </a:rPr>
              <a:t>Configured/un-configured capacity</a:t>
            </a:r>
          </a:p>
          <a:p>
            <a:pPr lvl="1">
              <a:lnSpc>
                <a:spcPct val="90000"/>
              </a:lnSpc>
            </a:pPr>
            <a:r>
              <a:rPr lang="en-US" altLang="zh-CN" sz="1900">
                <a:ea typeface="宋体" panose="02010600030101010101" pitchFamily="2" charset="-122"/>
              </a:rPr>
              <a:t>Allocated/unallocated storage</a:t>
            </a:r>
          </a:p>
          <a:p>
            <a:pPr lvl="1">
              <a:lnSpc>
                <a:spcPct val="90000"/>
              </a:lnSpc>
            </a:pPr>
            <a:r>
              <a:rPr lang="en-US" altLang="zh-CN" sz="1900">
                <a:ea typeface="宋体" panose="02010600030101010101" pitchFamily="2" charset="-122"/>
              </a:rPr>
              <a:t>Fan-in/fan-out ratios</a:t>
            </a:r>
          </a:p>
          <a:p>
            <a:pPr>
              <a:lnSpc>
                <a:spcPct val="90000"/>
              </a:lnSpc>
            </a:pPr>
            <a:r>
              <a:rPr lang="en-US" altLang="zh-CN" sz="2200">
                <a:ea typeface="宋体" panose="02010600030101010101" pitchFamily="2" charset="-122"/>
              </a:rPr>
              <a:t>Performance</a:t>
            </a:r>
          </a:p>
          <a:p>
            <a:pPr lvl="1">
              <a:lnSpc>
                <a:spcPct val="90000"/>
              </a:lnSpc>
            </a:pPr>
            <a:r>
              <a:rPr lang="en-US" altLang="zh-CN" sz="1900">
                <a:ea typeface="宋体" panose="02010600030101010101" pitchFamily="2" charset="-122"/>
              </a:rPr>
              <a:t>FE and BE utilization/throughput</a:t>
            </a:r>
          </a:p>
          <a:p>
            <a:pPr lvl="1">
              <a:lnSpc>
                <a:spcPct val="90000"/>
              </a:lnSpc>
            </a:pPr>
            <a:r>
              <a:rPr lang="en-US" altLang="zh-CN" sz="1900">
                <a:ea typeface="宋体" panose="02010600030101010101" pitchFamily="2" charset="-122"/>
              </a:rPr>
              <a:t>I/O profile, response time, cache metrics</a:t>
            </a:r>
          </a:p>
          <a:p>
            <a:pPr>
              <a:lnSpc>
                <a:spcPct val="90000"/>
              </a:lnSpc>
            </a:pPr>
            <a:r>
              <a:rPr lang="en-US" altLang="zh-CN" sz="2200">
                <a:ea typeface="宋体" panose="02010600030101010101" pitchFamily="2" charset="-122"/>
              </a:rPr>
              <a:t>Security</a:t>
            </a:r>
          </a:p>
          <a:p>
            <a:pPr lvl="1">
              <a:lnSpc>
                <a:spcPct val="90000"/>
              </a:lnSpc>
            </a:pPr>
            <a:r>
              <a:rPr lang="en-US" altLang="zh-CN" sz="1900">
                <a:ea typeface="宋体" panose="02010600030101010101" pitchFamily="2" charset="-122"/>
              </a:rPr>
              <a:t>Physical and administrative security </a:t>
            </a:r>
          </a:p>
        </p:txBody>
      </p:sp>
      <p:pic>
        <p:nvPicPr>
          <p:cNvPr id="2959367" name="Picture 7">
            <a:extLst>
              <a:ext uri="{FF2B5EF4-FFF2-40B4-BE49-F238E27FC236}">
                <a16:creationId xmlns:a16="http://schemas.microsoft.com/office/drawing/2014/main" id="{F84EC03B-AD3A-BF5D-3C51-77798A7393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250" y="1835150"/>
            <a:ext cx="2740025" cy="3608388"/>
          </a:xfrm>
          <a:prstGeom prst="rect">
            <a:avLst/>
          </a:prstGeom>
          <a:noFill/>
          <a:extLst>
            <a:ext uri="{909E8E84-426E-40DD-AFC4-6F175D3DCCD1}">
              <a14:hiddenFill xmlns:a14="http://schemas.microsoft.com/office/drawing/2010/main">
                <a:solidFill>
                  <a:srgbClr val="FFFFFF"/>
                </a:solidFill>
              </a14:hiddenFill>
            </a:ext>
          </a:extLst>
        </p:spPr>
      </p:pic>
      <p:sp>
        <p:nvSpPr>
          <p:cNvPr id="2959368" name="Text Box 8">
            <a:extLst>
              <a:ext uri="{FF2B5EF4-FFF2-40B4-BE49-F238E27FC236}">
                <a16:creationId xmlns:a16="http://schemas.microsoft.com/office/drawing/2014/main" id="{E288F36C-884D-7AF1-CF85-E1E16D39F081}"/>
              </a:ext>
            </a:extLst>
          </p:cNvPr>
          <p:cNvSpPr txBox="1">
            <a:spLocks noChangeArrowheads="1"/>
          </p:cNvSpPr>
          <p:nvPr/>
        </p:nvSpPr>
        <p:spPr bwMode="auto">
          <a:xfrm>
            <a:off x="5946775" y="5573713"/>
            <a:ext cx="2039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a:solidFill>
                  <a:srgbClr val="003580"/>
                </a:solidFill>
                <a:ea typeface="宋体" panose="02010600030101010101" pitchFamily="2" charset="-122"/>
              </a:rPr>
              <a:t>Storage Array</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D493A83B-01BC-95A2-F0FA-0105F7D6517C}"/>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BB152ED3-4DE8-EDE7-C92D-DCD812E4A399}"/>
              </a:ext>
            </a:extLst>
          </p:cNvPr>
          <p:cNvSpPr>
            <a:spLocks noGrp="1"/>
          </p:cNvSpPr>
          <p:nvPr>
            <p:ph type="sldNum" sz="quarter" idx="11"/>
          </p:nvPr>
        </p:nvSpPr>
        <p:spPr/>
        <p:txBody>
          <a:bodyPr/>
          <a:lstStyle/>
          <a:p>
            <a:r>
              <a:rPr lang="zh-CN" altLang="en-US"/>
              <a:t> </a:t>
            </a:r>
            <a:r>
              <a:rPr lang="en-US" altLang="zh-CN"/>
              <a:t>- </a:t>
            </a:r>
            <a:fld id="{911BA795-E67A-4E1D-AA59-AE01C29FDFDD}" type="slidenum">
              <a:rPr lang="en-US" altLang="zh-CN" sz="800"/>
              <a:pPr/>
              <a:t>58</a:t>
            </a:fld>
            <a:endParaRPr lang="en-US" altLang="zh-CN" sz="800"/>
          </a:p>
        </p:txBody>
      </p:sp>
      <p:sp>
        <p:nvSpPr>
          <p:cNvPr id="2971933" name="Line 285">
            <a:extLst>
              <a:ext uri="{FF2B5EF4-FFF2-40B4-BE49-F238E27FC236}">
                <a16:creationId xmlns:a16="http://schemas.microsoft.com/office/drawing/2014/main" id="{0D97C0E7-624C-19D6-156F-788CDD9AC0DA}"/>
              </a:ext>
            </a:extLst>
          </p:cNvPr>
          <p:cNvSpPr>
            <a:spLocks noChangeShapeType="1"/>
          </p:cNvSpPr>
          <p:nvPr/>
        </p:nvSpPr>
        <p:spPr bwMode="auto">
          <a:xfrm flipV="1">
            <a:off x="3268663" y="3467100"/>
            <a:ext cx="695325" cy="178117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1652" name="Line 4">
            <a:extLst>
              <a:ext uri="{FF2B5EF4-FFF2-40B4-BE49-F238E27FC236}">
                <a16:creationId xmlns:a16="http://schemas.microsoft.com/office/drawing/2014/main" id="{782294E2-ED61-610D-92E7-0A1BB5FFE78E}"/>
              </a:ext>
            </a:extLst>
          </p:cNvPr>
          <p:cNvSpPr>
            <a:spLocks noChangeShapeType="1"/>
          </p:cNvSpPr>
          <p:nvPr/>
        </p:nvSpPr>
        <p:spPr bwMode="auto">
          <a:xfrm flipV="1">
            <a:off x="3324225" y="4310063"/>
            <a:ext cx="611188" cy="118110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1791" name="Line 143">
            <a:extLst>
              <a:ext uri="{FF2B5EF4-FFF2-40B4-BE49-F238E27FC236}">
                <a16:creationId xmlns:a16="http://schemas.microsoft.com/office/drawing/2014/main" id="{5523522D-2B5C-082A-A46B-AD19A75CE995}"/>
              </a:ext>
            </a:extLst>
          </p:cNvPr>
          <p:cNvSpPr>
            <a:spLocks noChangeShapeType="1"/>
          </p:cNvSpPr>
          <p:nvPr/>
        </p:nvSpPr>
        <p:spPr bwMode="auto">
          <a:xfrm flipH="1">
            <a:off x="3332163" y="3476625"/>
            <a:ext cx="539750" cy="173038"/>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2005" name="Line 357">
            <a:extLst>
              <a:ext uri="{FF2B5EF4-FFF2-40B4-BE49-F238E27FC236}">
                <a16:creationId xmlns:a16="http://schemas.microsoft.com/office/drawing/2014/main" id="{91632E77-C107-FE2B-E8C0-097A22E0A322}"/>
              </a:ext>
            </a:extLst>
          </p:cNvPr>
          <p:cNvSpPr>
            <a:spLocks noChangeShapeType="1"/>
          </p:cNvSpPr>
          <p:nvPr/>
        </p:nvSpPr>
        <p:spPr bwMode="auto">
          <a:xfrm>
            <a:off x="3295650" y="3895725"/>
            <a:ext cx="561975" cy="22860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1656" name="Line 8">
            <a:extLst>
              <a:ext uri="{FF2B5EF4-FFF2-40B4-BE49-F238E27FC236}">
                <a16:creationId xmlns:a16="http://schemas.microsoft.com/office/drawing/2014/main" id="{65574DEF-B7D8-5465-240E-A52A7BF3886F}"/>
              </a:ext>
            </a:extLst>
          </p:cNvPr>
          <p:cNvSpPr>
            <a:spLocks noChangeShapeType="1"/>
          </p:cNvSpPr>
          <p:nvPr/>
        </p:nvSpPr>
        <p:spPr bwMode="auto">
          <a:xfrm flipV="1">
            <a:off x="4075113" y="3473450"/>
            <a:ext cx="1685925" cy="952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2002" name="Line 354">
            <a:extLst>
              <a:ext uri="{FF2B5EF4-FFF2-40B4-BE49-F238E27FC236}">
                <a16:creationId xmlns:a16="http://schemas.microsoft.com/office/drawing/2014/main" id="{5DA4903F-F9AA-FF3B-AB79-FCDA5F0B5386}"/>
              </a:ext>
            </a:extLst>
          </p:cNvPr>
          <p:cNvSpPr>
            <a:spLocks noChangeShapeType="1"/>
          </p:cNvSpPr>
          <p:nvPr/>
        </p:nvSpPr>
        <p:spPr bwMode="auto">
          <a:xfrm flipH="1" flipV="1">
            <a:off x="4705350" y="4171950"/>
            <a:ext cx="1085850" cy="3810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1990" name="Rectangle 342">
            <a:extLst>
              <a:ext uri="{FF2B5EF4-FFF2-40B4-BE49-F238E27FC236}">
                <a16:creationId xmlns:a16="http://schemas.microsoft.com/office/drawing/2014/main" id="{BBB0EA02-57D0-EBB3-09F9-ED227C34F49A}"/>
              </a:ext>
            </a:extLst>
          </p:cNvPr>
          <p:cNvSpPr>
            <a:spLocks noChangeArrowheads="1"/>
          </p:cNvSpPr>
          <p:nvPr/>
        </p:nvSpPr>
        <p:spPr bwMode="auto">
          <a:xfrm>
            <a:off x="5753100" y="3414713"/>
            <a:ext cx="93663" cy="112712"/>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1991" name="Rectangle 343">
            <a:extLst>
              <a:ext uri="{FF2B5EF4-FFF2-40B4-BE49-F238E27FC236}">
                <a16:creationId xmlns:a16="http://schemas.microsoft.com/office/drawing/2014/main" id="{2C13476A-89E9-6683-82CA-90136509CF5A}"/>
              </a:ext>
            </a:extLst>
          </p:cNvPr>
          <p:cNvSpPr>
            <a:spLocks noChangeArrowheads="1"/>
          </p:cNvSpPr>
          <p:nvPr/>
        </p:nvSpPr>
        <p:spPr bwMode="auto">
          <a:xfrm>
            <a:off x="5762625" y="3208338"/>
            <a:ext cx="93663" cy="114300"/>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pic>
        <p:nvPicPr>
          <p:cNvPr id="2971965" name="Picture 317">
            <a:extLst>
              <a:ext uri="{FF2B5EF4-FFF2-40B4-BE49-F238E27FC236}">
                <a16:creationId xmlns:a16="http://schemas.microsoft.com/office/drawing/2014/main" id="{C8587D8C-CE80-B8A2-819D-15483D6475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4413" y="4548188"/>
            <a:ext cx="917575" cy="1462087"/>
          </a:xfrm>
          <a:prstGeom prst="rect">
            <a:avLst/>
          </a:prstGeom>
          <a:noFill/>
          <a:extLst>
            <a:ext uri="{909E8E84-426E-40DD-AFC4-6F175D3DCCD1}">
              <a14:hiddenFill xmlns:a14="http://schemas.microsoft.com/office/drawing/2010/main">
                <a:solidFill>
                  <a:srgbClr val="FFFFFF"/>
                </a:solidFill>
              </a14:hiddenFill>
            </a:ext>
          </a:extLst>
        </p:spPr>
      </p:pic>
      <p:sp>
        <p:nvSpPr>
          <p:cNvPr id="2971966" name="Text Box 318">
            <a:extLst>
              <a:ext uri="{FF2B5EF4-FFF2-40B4-BE49-F238E27FC236}">
                <a16:creationId xmlns:a16="http://schemas.microsoft.com/office/drawing/2014/main" id="{8920835C-CB96-F3B1-FB53-FCC6258E67DD}"/>
              </a:ext>
            </a:extLst>
          </p:cNvPr>
          <p:cNvSpPr txBox="1">
            <a:spLocks noChangeArrowheads="1"/>
          </p:cNvSpPr>
          <p:nvPr/>
        </p:nvSpPr>
        <p:spPr bwMode="auto">
          <a:xfrm>
            <a:off x="3060700" y="5162550"/>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71967" name="Text Box 319">
            <a:extLst>
              <a:ext uri="{FF2B5EF4-FFF2-40B4-BE49-F238E27FC236}">
                <a16:creationId xmlns:a16="http://schemas.microsoft.com/office/drawing/2014/main" id="{693410CD-07FC-AB6C-7693-DB3C775F96AD}"/>
              </a:ext>
            </a:extLst>
          </p:cNvPr>
          <p:cNvSpPr txBox="1">
            <a:spLocks noChangeArrowheads="1"/>
          </p:cNvSpPr>
          <p:nvPr/>
        </p:nvSpPr>
        <p:spPr bwMode="auto">
          <a:xfrm>
            <a:off x="3054350" y="5402263"/>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pic>
        <p:nvPicPr>
          <p:cNvPr id="2971960" name="Picture 312">
            <a:extLst>
              <a:ext uri="{FF2B5EF4-FFF2-40B4-BE49-F238E27FC236}">
                <a16:creationId xmlns:a16="http://schemas.microsoft.com/office/drawing/2014/main" id="{DDBA4ADA-D6F6-70AA-F94D-FA84E91264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4413" y="2900363"/>
            <a:ext cx="917575" cy="1462087"/>
          </a:xfrm>
          <a:prstGeom prst="rect">
            <a:avLst/>
          </a:prstGeom>
          <a:noFill/>
          <a:extLst>
            <a:ext uri="{909E8E84-426E-40DD-AFC4-6F175D3DCCD1}">
              <a14:hiddenFill xmlns:a14="http://schemas.microsoft.com/office/drawing/2010/main">
                <a:solidFill>
                  <a:srgbClr val="FFFFFF"/>
                </a:solidFill>
              </a14:hiddenFill>
            </a:ext>
          </a:extLst>
        </p:spPr>
      </p:pic>
      <p:sp>
        <p:nvSpPr>
          <p:cNvPr id="2971961" name="Text Box 313">
            <a:extLst>
              <a:ext uri="{FF2B5EF4-FFF2-40B4-BE49-F238E27FC236}">
                <a16:creationId xmlns:a16="http://schemas.microsoft.com/office/drawing/2014/main" id="{DD9C3CCF-6ECE-1893-F6E2-8CD3B03BA343}"/>
              </a:ext>
            </a:extLst>
          </p:cNvPr>
          <p:cNvSpPr txBox="1">
            <a:spLocks noChangeArrowheads="1"/>
          </p:cNvSpPr>
          <p:nvPr/>
        </p:nvSpPr>
        <p:spPr bwMode="auto">
          <a:xfrm>
            <a:off x="3070225" y="3571875"/>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71962" name="Text Box 314">
            <a:extLst>
              <a:ext uri="{FF2B5EF4-FFF2-40B4-BE49-F238E27FC236}">
                <a16:creationId xmlns:a16="http://schemas.microsoft.com/office/drawing/2014/main" id="{EBF1F4CB-6319-FAC4-9345-2D30E0EAE0E0}"/>
              </a:ext>
            </a:extLst>
          </p:cNvPr>
          <p:cNvSpPr txBox="1">
            <a:spLocks noChangeArrowheads="1"/>
          </p:cNvSpPr>
          <p:nvPr/>
        </p:nvSpPr>
        <p:spPr bwMode="auto">
          <a:xfrm>
            <a:off x="3054350" y="3802063"/>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pic>
        <p:nvPicPr>
          <p:cNvPr id="2971958" name="Picture 310">
            <a:extLst>
              <a:ext uri="{FF2B5EF4-FFF2-40B4-BE49-F238E27FC236}">
                <a16:creationId xmlns:a16="http://schemas.microsoft.com/office/drawing/2014/main" id="{81EC775E-CE3A-C9FD-D4FE-429FA75BC4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3463" y="1271588"/>
            <a:ext cx="917575" cy="1462087"/>
          </a:xfrm>
          <a:prstGeom prst="rect">
            <a:avLst/>
          </a:prstGeom>
          <a:noFill/>
          <a:extLst>
            <a:ext uri="{909E8E84-426E-40DD-AFC4-6F175D3DCCD1}">
              <a14:hiddenFill xmlns:a14="http://schemas.microsoft.com/office/drawing/2010/main">
                <a:solidFill>
                  <a:srgbClr val="FFFFFF"/>
                </a:solidFill>
              </a14:hiddenFill>
            </a:ext>
          </a:extLst>
        </p:spPr>
      </p:pic>
      <p:sp>
        <p:nvSpPr>
          <p:cNvPr id="2971653" name="Line 5">
            <a:extLst>
              <a:ext uri="{FF2B5EF4-FFF2-40B4-BE49-F238E27FC236}">
                <a16:creationId xmlns:a16="http://schemas.microsoft.com/office/drawing/2014/main" id="{422A42B4-923B-16E1-C8C3-D2814C100A81}"/>
              </a:ext>
            </a:extLst>
          </p:cNvPr>
          <p:cNvSpPr>
            <a:spLocks noChangeShapeType="1"/>
          </p:cNvSpPr>
          <p:nvPr/>
        </p:nvSpPr>
        <p:spPr bwMode="auto">
          <a:xfrm>
            <a:off x="3201988" y="2265363"/>
            <a:ext cx="717550" cy="165100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1654" name="Rectangle 6">
            <a:extLst>
              <a:ext uri="{FF2B5EF4-FFF2-40B4-BE49-F238E27FC236}">
                <a16:creationId xmlns:a16="http://schemas.microsoft.com/office/drawing/2014/main" id="{F8C76BBC-6D37-E571-3F67-DD1EDE5B6774}"/>
              </a:ext>
            </a:extLst>
          </p:cNvPr>
          <p:cNvSpPr>
            <a:spLocks noGrp="1" noChangeArrowheads="1"/>
          </p:cNvSpPr>
          <p:nvPr>
            <p:ph type="title"/>
          </p:nvPr>
        </p:nvSpPr>
        <p:spPr>
          <a:xfrm>
            <a:off x="136525" y="584200"/>
            <a:ext cx="8918575" cy="457200"/>
          </a:xfrm>
        </p:spPr>
        <p:txBody>
          <a:bodyPr/>
          <a:lstStyle/>
          <a:p>
            <a:r>
              <a:rPr lang="en-US" altLang="zh-CN">
                <a:ea typeface="宋体" panose="02010600030101010101" pitchFamily="2" charset="-122"/>
              </a:rPr>
              <a:t>Accessibility Monitoring Example: Array Port Failure</a:t>
            </a:r>
          </a:p>
        </p:txBody>
      </p:sp>
      <p:sp>
        <p:nvSpPr>
          <p:cNvPr id="2971785" name="Text Box 137">
            <a:extLst>
              <a:ext uri="{FF2B5EF4-FFF2-40B4-BE49-F238E27FC236}">
                <a16:creationId xmlns:a16="http://schemas.microsoft.com/office/drawing/2014/main" id="{E8A41D8C-77BB-F8B7-8C9E-2CCFA627C472}"/>
              </a:ext>
            </a:extLst>
          </p:cNvPr>
          <p:cNvSpPr txBox="1">
            <a:spLocks noChangeArrowheads="1"/>
          </p:cNvSpPr>
          <p:nvPr/>
        </p:nvSpPr>
        <p:spPr bwMode="auto">
          <a:xfrm>
            <a:off x="3079750" y="1924050"/>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71789" name="Text Box 141">
            <a:extLst>
              <a:ext uri="{FF2B5EF4-FFF2-40B4-BE49-F238E27FC236}">
                <a16:creationId xmlns:a16="http://schemas.microsoft.com/office/drawing/2014/main" id="{E31DDC0B-A7B6-CFDB-D378-3368EA1E2EAC}"/>
              </a:ext>
            </a:extLst>
          </p:cNvPr>
          <p:cNvSpPr txBox="1">
            <a:spLocks noChangeArrowheads="1"/>
          </p:cNvSpPr>
          <p:nvPr/>
        </p:nvSpPr>
        <p:spPr bwMode="auto">
          <a:xfrm>
            <a:off x="3071813" y="2143125"/>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71925" name="Text Box 277">
            <a:extLst>
              <a:ext uri="{FF2B5EF4-FFF2-40B4-BE49-F238E27FC236}">
                <a16:creationId xmlns:a16="http://schemas.microsoft.com/office/drawing/2014/main" id="{621ECB38-AE88-DDA9-05C3-A0F25E4ED1DA}"/>
              </a:ext>
            </a:extLst>
          </p:cNvPr>
          <p:cNvSpPr txBox="1">
            <a:spLocks noChangeArrowheads="1"/>
          </p:cNvSpPr>
          <p:nvPr/>
        </p:nvSpPr>
        <p:spPr bwMode="auto">
          <a:xfrm>
            <a:off x="3305175" y="4514850"/>
            <a:ext cx="2228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SW2</a:t>
            </a:r>
          </a:p>
        </p:txBody>
      </p:sp>
      <p:grpSp>
        <p:nvGrpSpPr>
          <p:cNvPr id="2971926" name="Group 278">
            <a:extLst>
              <a:ext uri="{FF2B5EF4-FFF2-40B4-BE49-F238E27FC236}">
                <a16:creationId xmlns:a16="http://schemas.microsoft.com/office/drawing/2014/main" id="{F8D7D554-E48C-8063-C4C6-AF57BCE6A799}"/>
              </a:ext>
            </a:extLst>
          </p:cNvPr>
          <p:cNvGrpSpPr>
            <a:grpSpLocks/>
          </p:cNvGrpSpPr>
          <p:nvPr/>
        </p:nvGrpSpPr>
        <p:grpSpPr bwMode="auto">
          <a:xfrm>
            <a:off x="5462588" y="3181350"/>
            <a:ext cx="349250" cy="349250"/>
            <a:chOff x="987" y="2944"/>
            <a:chExt cx="220" cy="220"/>
          </a:xfrm>
        </p:grpSpPr>
        <p:sp>
          <p:nvSpPr>
            <p:cNvPr id="2971927" name="Oval 279">
              <a:extLst>
                <a:ext uri="{FF2B5EF4-FFF2-40B4-BE49-F238E27FC236}">
                  <a16:creationId xmlns:a16="http://schemas.microsoft.com/office/drawing/2014/main" id="{A2C7241B-E15C-3597-18E1-AAC56338F74B}"/>
                </a:ext>
              </a:extLst>
            </p:cNvPr>
            <p:cNvSpPr>
              <a:spLocks noChangeArrowheads="1"/>
            </p:cNvSpPr>
            <p:nvPr/>
          </p:nvSpPr>
          <p:spPr bwMode="auto">
            <a:xfrm>
              <a:off x="987" y="2944"/>
              <a:ext cx="220" cy="220"/>
            </a:xfrm>
            <a:prstGeom prst="ellipse">
              <a:avLst/>
            </a:prstGeom>
            <a:noFill/>
            <a:ln w="38100" algn="ctr">
              <a:solidFill>
                <a:srgbClr val="FF0000"/>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71928" name="Line 280">
              <a:extLst>
                <a:ext uri="{FF2B5EF4-FFF2-40B4-BE49-F238E27FC236}">
                  <a16:creationId xmlns:a16="http://schemas.microsoft.com/office/drawing/2014/main" id="{C358903B-9EDC-8953-40F2-E1CA425E1BB3}"/>
                </a:ext>
              </a:extLst>
            </p:cNvPr>
            <p:cNvSpPr>
              <a:spLocks noChangeShapeType="1"/>
            </p:cNvSpPr>
            <p:nvPr/>
          </p:nvSpPr>
          <p:spPr bwMode="auto">
            <a:xfrm flipV="1">
              <a:off x="1006" y="2997"/>
              <a:ext cx="183" cy="130"/>
            </a:xfrm>
            <a:prstGeom prst="line">
              <a:avLst/>
            </a:prstGeom>
            <a:noFill/>
            <a:ln w="38100">
              <a:solidFill>
                <a:srgbClr val="FF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sp>
        <p:nvSpPr>
          <p:cNvPr id="2971934" name="Line 286">
            <a:extLst>
              <a:ext uri="{FF2B5EF4-FFF2-40B4-BE49-F238E27FC236}">
                <a16:creationId xmlns:a16="http://schemas.microsoft.com/office/drawing/2014/main" id="{28946ED7-9C39-A519-37C1-B75C309ECADA}"/>
              </a:ext>
            </a:extLst>
          </p:cNvPr>
          <p:cNvSpPr>
            <a:spLocks noChangeShapeType="1"/>
          </p:cNvSpPr>
          <p:nvPr/>
        </p:nvSpPr>
        <p:spPr bwMode="auto">
          <a:xfrm>
            <a:off x="3343275" y="2051050"/>
            <a:ext cx="627063" cy="1373188"/>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1935" name="Text Box 287">
            <a:extLst>
              <a:ext uri="{FF2B5EF4-FFF2-40B4-BE49-F238E27FC236}">
                <a16:creationId xmlns:a16="http://schemas.microsoft.com/office/drawing/2014/main" id="{2C2C0B8A-9579-D51A-0EB4-7117F16CCA84}"/>
              </a:ext>
            </a:extLst>
          </p:cNvPr>
          <p:cNvSpPr txBox="1">
            <a:spLocks noChangeArrowheads="1"/>
          </p:cNvSpPr>
          <p:nvPr/>
        </p:nvSpPr>
        <p:spPr bwMode="auto">
          <a:xfrm>
            <a:off x="3946525" y="2811463"/>
            <a:ext cx="920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SW1</a:t>
            </a:r>
          </a:p>
        </p:txBody>
      </p:sp>
      <p:sp>
        <p:nvSpPr>
          <p:cNvPr id="2971936" name="Text Box 288">
            <a:extLst>
              <a:ext uri="{FF2B5EF4-FFF2-40B4-BE49-F238E27FC236}">
                <a16:creationId xmlns:a16="http://schemas.microsoft.com/office/drawing/2014/main" id="{9D8D5A81-5112-9402-EFB2-EBD525188ABA}"/>
              </a:ext>
            </a:extLst>
          </p:cNvPr>
          <p:cNvSpPr txBox="1">
            <a:spLocks noChangeArrowheads="1"/>
          </p:cNvSpPr>
          <p:nvPr/>
        </p:nvSpPr>
        <p:spPr bwMode="auto">
          <a:xfrm>
            <a:off x="1219200" y="5113338"/>
            <a:ext cx="920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H3</a:t>
            </a:r>
          </a:p>
        </p:txBody>
      </p:sp>
      <p:sp>
        <p:nvSpPr>
          <p:cNvPr id="2971940" name="Text Box 292">
            <a:extLst>
              <a:ext uri="{FF2B5EF4-FFF2-40B4-BE49-F238E27FC236}">
                <a16:creationId xmlns:a16="http://schemas.microsoft.com/office/drawing/2014/main" id="{D750B927-2CEB-F6CE-0624-82716AA260FA}"/>
              </a:ext>
            </a:extLst>
          </p:cNvPr>
          <p:cNvSpPr txBox="1">
            <a:spLocks noChangeArrowheads="1"/>
          </p:cNvSpPr>
          <p:nvPr/>
        </p:nvSpPr>
        <p:spPr bwMode="auto">
          <a:xfrm>
            <a:off x="1212850" y="3487738"/>
            <a:ext cx="920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H2</a:t>
            </a:r>
          </a:p>
        </p:txBody>
      </p:sp>
      <p:sp>
        <p:nvSpPr>
          <p:cNvPr id="2971941" name="Text Box 293">
            <a:extLst>
              <a:ext uri="{FF2B5EF4-FFF2-40B4-BE49-F238E27FC236}">
                <a16:creationId xmlns:a16="http://schemas.microsoft.com/office/drawing/2014/main" id="{6D079377-584A-C7DB-3FA8-617A3D21AFE8}"/>
              </a:ext>
            </a:extLst>
          </p:cNvPr>
          <p:cNvSpPr txBox="1">
            <a:spLocks noChangeArrowheads="1"/>
          </p:cNvSpPr>
          <p:nvPr/>
        </p:nvSpPr>
        <p:spPr bwMode="auto">
          <a:xfrm>
            <a:off x="1212850" y="1757363"/>
            <a:ext cx="920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H1</a:t>
            </a:r>
          </a:p>
        </p:txBody>
      </p:sp>
      <p:sp>
        <p:nvSpPr>
          <p:cNvPr id="2971945" name="Text Box 297">
            <a:extLst>
              <a:ext uri="{FF2B5EF4-FFF2-40B4-BE49-F238E27FC236}">
                <a16:creationId xmlns:a16="http://schemas.microsoft.com/office/drawing/2014/main" id="{1E850D92-0FFE-6CC7-3D37-805DF1A81502}"/>
              </a:ext>
            </a:extLst>
          </p:cNvPr>
          <p:cNvSpPr txBox="1">
            <a:spLocks noChangeArrowheads="1"/>
          </p:cNvSpPr>
          <p:nvPr/>
        </p:nvSpPr>
        <p:spPr bwMode="auto">
          <a:xfrm>
            <a:off x="1047750" y="5875338"/>
            <a:ext cx="3108325"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Hosts/Servers with Applications</a:t>
            </a:r>
          </a:p>
        </p:txBody>
      </p:sp>
      <p:sp>
        <p:nvSpPr>
          <p:cNvPr id="2971969" name="AutoShape 321">
            <a:extLst>
              <a:ext uri="{FF2B5EF4-FFF2-40B4-BE49-F238E27FC236}">
                <a16:creationId xmlns:a16="http://schemas.microsoft.com/office/drawing/2014/main" id="{BC507234-0C29-ABC1-C4C9-DE94DA21057E}"/>
              </a:ext>
            </a:extLst>
          </p:cNvPr>
          <p:cNvSpPr>
            <a:spLocks noChangeArrowheads="1"/>
          </p:cNvSpPr>
          <p:nvPr/>
        </p:nvSpPr>
        <p:spPr bwMode="auto">
          <a:xfrm>
            <a:off x="3857625" y="3267075"/>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71970" name="Freeform 322">
            <a:extLst>
              <a:ext uri="{FF2B5EF4-FFF2-40B4-BE49-F238E27FC236}">
                <a16:creationId xmlns:a16="http://schemas.microsoft.com/office/drawing/2014/main" id="{CA4F5ED3-397C-390D-96DA-98D56E22E24B}"/>
              </a:ext>
            </a:extLst>
          </p:cNvPr>
          <p:cNvSpPr>
            <a:spLocks/>
          </p:cNvSpPr>
          <p:nvPr/>
        </p:nvSpPr>
        <p:spPr bwMode="auto">
          <a:xfrm>
            <a:off x="3959225" y="3338513"/>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1971" name="Freeform 323">
            <a:extLst>
              <a:ext uri="{FF2B5EF4-FFF2-40B4-BE49-F238E27FC236}">
                <a16:creationId xmlns:a16="http://schemas.microsoft.com/office/drawing/2014/main" id="{AC7EAD87-5F93-0D1F-E1AD-7D4C178BF885}"/>
              </a:ext>
            </a:extLst>
          </p:cNvPr>
          <p:cNvSpPr>
            <a:spLocks/>
          </p:cNvSpPr>
          <p:nvPr/>
        </p:nvSpPr>
        <p:spPr bwMode="auto">
          <a:xfrm>
            <a:off x="3959225" y="344487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1972" name="Freeform 324">
            <a:extLst>
              <a:ext uri="{FF2B5EF4-FFF2-40B4-BE49-F238E27FC236}">
                <a16:creationId xmlns:a16="http://schemas.microsoft.com/office/drawing/2014/main" id="{C71B8A7E-2AC0-038F-4AA1-D65767435827}"/>
              </a:ext>
            </a:extLst>
          </p:cNvPr>
          <p:cNvSpPr>
            <a:spLocks/>
          </p:cNvSpPr>
          <p:nvPr/>
        </p:nvSpPr>
        <p:spPr bwMode="auto">
          <a:xfrm flipH="1">
            <a:off x="4271963" y="338455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1973" name="Freeform 325">
            <a:extLst>
              <a:ext uri="{FF2B5EF4-FFF2-40B4-BE49-F238E27FC236}">
                <a16:creationId xmlns:a16="http://schemas.microsoft.com/office/drawing/2014/main" id="{EB4E96A8-3895-90C4-DCB4-BC751162BE47}"/>
              </a:ext>
            </a:extLst>
          </p:cNvPr>
          <p:cNvSpPr>
            <a:spLocks/>
          </p:cNvSpPr>
          <p:nvPr/>
        </p:nvSpPr>
        <p:spPr bwMode="auto">
          <a:xfrm flipH="1">
            <a:off x="4271963" y="3500438"/>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1975" name="AutoShape 327">
            <a:extLst>
              <a:ext uri="{FF2B5EF4-FFF2-40B4-BE49-F238E27FC236}">
                <a16:creationId xmlns:a16="http://schemas.microsoft.com/office/drawing/2014/main" id="{14BFA0CA-0810-6D81-BB2B-5F6C78DED268}"/>
              </a:ext>
            </a:extLst>
          </p:cNvPr>
          <p:cNvSpPr>
            <a:spLocks noChangeArrowheads="1"/>
          </p:cNvSpPr>
          <p:nvPr/>
        </p:nvSpPr>
        <p:spPr bwMode="auto">
          <a:xfrm>
            <a:off x="3867150" y="3952875"/>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71976" name="Freeform 328">
            <a:extLst>
              <a:ext uri="{FF2B5EF4-FFF2-40B4-BE49-F238E27FC236}">
                <a16:creationId xmlns:a16="http://schemas.microsoft.com/office/drawing/2014/main" id="{2F7077E0-6BAE-EF02-5EE6-89661A7CA094}"/>
              </a:ext>
            </a:extLst>
          </p:cNvPr>
          <p:cNvSpPr>
            <a:spLocks/>
          </p:cNvSpPr>
          <p:nvPr/>
        </p:nvSpPr>
        <p:spPr bwMode="auto">
          <a:xfrm>
            <a:off x="3968750" y="4024313"/>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1977" name="Freeform 329">
            <a:extLst>
              <a:ext uri="{FF2B5EF4-FFF2-40B4-BE49-F238E27FC236}">
                <a16:creationId xmlns:a16="http://schemas.microsoft.com/office/drawing/2014/main" id="{D6033239-F5A4-DBDC-0E46-7D787C5020C1}"/>
              </a:ext>
            </a:extLst>
          </p:cNvPr>
          <p:cNvSpPr>
            <a:spLocks/>
          </p:cNvSpPr>
          <p:nvPr/>
        </p:nvSpPr>
        <p:spPr bwMode="auto">
          <a:xfrm>
            <a:off x="3968750" y="413067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1978" name="Freeform 330">
            <a:extLst>
              <a:ext uri="{FF2B5EF4-FFF2-40B4-BE49-F238E27FC236}">
                <a16:creationId xmlns:a16="http://schemas.microsoft.com/office/drawing/2014/main" id="{F942E460-225B-2070-52E5-6FF239A9A55E}"/>
              </a:ext>
            </a:extLst>
          </p:cNvPr>
          <p:cNvSpPr>
            <a:spLocks/>
          </p:cNvSpPr>
          <p:nvPr/>
        </p:nvSpPr>
        <p:spPr bwMode="auto">
          <a:xfrm flipH="1">
            <a:off x="4281488" y="407987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1979" name="Freeform 331">
            <a:extLst>
              <a:ext uri="{FF2B5EF4-FFF2-40B4-BE49-F238E27FC236}">
                <a16:creationId xmlns:a16="http://schemas.microsoft.com/office/drawing/2014/main" id="{A4B665AF-D7FD-409D-C664-E423456D2F01}"/>
              </a:ext>
            </a:extLst>
          </p:cNvPr>
          <p:cNvSpPr>
            <a:spLocks/>
          </p:cNvSpPr>
          <p:nvPr/>
        </p:nvSpPr>
        <p:spPr bwMode="auto">
          <a:xfrm flipH="1">
            <a:off x="4281488" y="4186238"/>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1992" name="Rectangle 344">
            <a:extLst>
              <a:ext uri="{FF2B5EF4-FFF2-40B4-BE49-F238E27FC236}">
                <a16:creationId xmlns:a16="http://schemas.microsoft.com/office/drawing/2014/main" id="{4A7B3D70-D551-90FB-6DA8-DB25A986BE7D}"/>
              </a:ext>
            </a:extLst>
          </p:cNvPr>
          <p:cNvSpPr>
            <a:spLocks noChangeArrowheads="1"/>
          </p:cNvSpPr>
          <p:nvPr/>
        </p:nvSpPr>
        <p:spPr bwMode="auto">
          <a:xfrm>
            <a:off x="5783263" y="4151313"/>
            <a:ext cx="93662" cy="112712"/>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71993" name="Rectangle 345">
            <a:extLst>
              <a:ext uri="{FF2B5EF4-FFF2-40B4-BE49-F238E27FC236}">
                <a16:creationId xmlns:a16="http://schemas.microsoft.com/office/drawing/2014/main" id="{1A5DF70B-C8DC-CAF4-D5FF-5C9300ABE948}"/>
              </a:ext>
            </a:extLst>
          </p:cNvPr>
          <p:cNvSpPr>
            <a:spLocks noChangeArrowheads="1"/>
          </p:cNvSpPr>
          <p:nvPr/>
        </p:nvSpPr>
        <p:spPr bwMode="auto">
          <a:xfrm>
            <a:off x="5783263" y="4344988"/>
            <a:ext cx="93662" cy="114300"/>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1995" name="Line 347">
            <a:extLst>
              <a:ext uri="{FF2B5EF4-FFF2-40B4-BE49-F238E27FC236}">
                <a16:creationId xmlns:a16="http://schemas.microsoft.com/office/drawing/2014/main" id="{B2130148-1506-8ADC-8EBE-383890D22068}"/>
              </a:ext>
            </a:extLst>
          </p:cNvPr>
          <p:cNvSpPr>
            <a:spLocks noChangeShapeType="1"/>
          </p:cNvSpPr>
          <p:nvPr/>
        </p:nvSpPr>
        <p:spPr bwMode="auto">
          <a:xfrm>
            <a:off x="7008813" y="3876675"/>
            <a:ext cx="612775" cy="0"/>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1996" name="Text Box 348">
            <a:extLst>
              <a:ext uri="{FF2B5EF4-FFF2-40B4-BE49-F238E27FC236}">
                <a16:creationId xmlns:a16="http://schemas.microsoft.com/office/drawing/2014/main" id="{1646E7E5-7144-E01D-3F9A-098ABA86B1BB}"/>
              </a:ext>
            </a:extLst>
          </p:cNvPr>
          <p:cNvSpPr txBox="1">
            <a:spLocks noChangeArrowheads="1"/>
          </p:cNvSpPr>
          <p:nvPr/>
        </p:nvSpPr>
        <p:spPr bwMode="auto">
          <a:xfrm>
            <a:off x="5443538" y="4445000"/>
            <a:ext cx="4048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Port</a:t>
            </a:r>
            <a:endParaRPr lang="en-US" altLang="zh-CN" sz="2800">
              <a:solidFill>
                <a:srgbClr val="000000"/>
              </a:solidFill>
              <a:ea typeface="宋体" panose="02010600030101010101" pitchFamily="2" charset="-122"/>
            </a:endParaRPr>
          </a:p>
        </p:txBody>
      </p:sp>
      <p:sp>
        <p:nvSpPr>
          <p:cNvPr id="2971997" name="Text Box 349">
            <a:extLst>
              <a:ext uri="{FF2B5EF4-FFF2-40B4-BE49-F238E27FC236}">
                <a16:creationId xmlns:a16="http://schemas.microsoft.com/office/drawing/2014/main" id="{50C6735F-432A-EBB8-D5BE-9FDB634C18CD}"/>
              </a:ext>
            </a:extLst>
          </p:cNvPr>
          <p:cNvSpPr txBox="1">
            <a:spLocks noChangeArrowheads="1"/>
          </p:cNvSpPr>
          <p:nvPr/>
        </p:nvSpPr>
        <p:spPr bwMode="auto">
          <a:xfrm>
            <a:off x="6118225" y="5099050"/>
            <a:ext cx="23955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Storage Arrays</a:t>
            </a:r>
          </a:p>
        </p:txBody>
      </p:sp>
      <p:pic>
        <p:nvPicPr>
          <p:cNvPr id="2971998" name="Picture 350">
            <a:extLst>
              <a:ext uri="{FF2B5EF4-FFF2-40B4-BE49-F238E27FC236}">
                <a16:creationId xmlns:a16="http://schemas.microsoft.com/office/drawing/2014/main" id="{54792031-4EE1-69B0-DF96-FE280FD9E4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4063" y="2817813"/>
            <a:ext cx="11874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999" name="Picture 351">
            <a:extLst>
              <a:ext uri="{FF2B5EF4-FFF2-40B4-BE49-F238E27FC236}">
                <a16:creationId xmlns:a16="http://schemas.microsoft.com/office/drawing/2014/main" id="{29BC4DB1-E66F-2747-354D-245782C5F9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4125" y="2817813"/>
            <a:ext cx="11874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2001" name="Text Box 353">
            <a:extLst>
              <a:ext uri="{FF2B5EF4-FFF2-40B4-BE49-F238E27FC236}">
                <a16:creationId xmlns:a16="http://schemas.microsoft.com/office/drawing/2014/main" id="{0E0923C3-56F7-FB94-F936-C916F121084C}"/>
              </a:ext>
            </a:extLst>
          </p:cNvPr>
          <p:cNvSpPr txBox="1">
            <a:spLocks noChangeArrowheads="1"/>
          </p:cNvSpPr>
          <p:nvPr/>
        </p:nvSpPr>
        <p:spPr bwMode="auto">
          <a:xfrm>
            <a:off x="5434013" y="3521075"/>
            <a:ext cx="4048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Port</a:t>
            </a:r>
            <a:endParaRPr lang="en-US" altLang="zh-CN" sz="2800">
              <a:solidFill>
                <a:srgbClr val="000000"/>
              </a:solidFill>
              <a:ea typeface="宋体" panose="02010600030101010101" pitchFamily="2" charset="-122"/>
            </a:endParaRPr>
          </a:p>
        </p:txBody>
      </p:sp>
      <p:sp>
        <p:nvSpPr>
          <p:cNvPr id="2971937" name="Oval 289">
            <a:extLst>
              <a:ext uri="{FF2B5EF4-FFF2-40B4-BE49-F238E27FC236}">
                <a16:creationId xmlns:a16="http://schemas.microsoft.com/office/drawing/2014/main" id="{C443BA09-3F5B-8523-23A3-1112FCC5139D}"/>
              </a:ext>
            </a:extLst>
          </p:cNvPr>
          <p:cNvSpPr>
            <a:spLocks noChangeArrowheads="1"/>
          </p:cNvSpPr>
          <p:nvPr/>
        </p:nvSpPr>
        <p:spPr bwMode="auto">
          <a:xfrm>
            <a:off x="2051050" y="1531938"/>
            <a:ext cx="1384300" cy="590550"/>
          </a:xfrm>
          <a:prstGeom prst="ellipse">
            <a:avLst/>
          </a:prstGeom>
          <a:solidFill>
            <a:srgbClr val="FF0000">
              <a:alpha val="28000"/>
            </a:srgbClr>
          </a:solidFill>
          <a:ln w="3175" algn="ctr">
            <a:solidFill>
              <a:srgbClr val="FF0000"/>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b="1">
                <a:solidFill>
                  <a:schemeClr val="bg1"/>
                </a:solidFill>
                <a:ea typeface="宋体" panose="02010600030101010101" pitchFamily="2" charset="-122"/>
              </a:rPr>
              <a:t>Degraded</a:t>
            </a:r>
          </a:p>
        </p:txBody>
      </p:sp>
      <p:sp>
        <p:nvSpPr>
          <p:cNvPr id="2971938" name="Oval 290">
            <a:extLst>
              <a:ext uri="{FF2B5EF4-FFF2-40B4-BE49-F238E27FC236}">
                <a16:creationId xmlns:a16="http://schemas.microsoft.com/office/drawing/2014/main" id="{1BD9EC07-6603-5589-29FD-89834FB64DEC}"/>
              </a:ext>
            </a:extLst>
          </p:cNvPr>
          <p:cNvSpPr>
            <a:spLocks noChangeArrowheads="1"/>
          </p:cNvSpPr>
          <p:nvPr/>
        </p:nvSpPr>
        <p:spPr bwMode="auto">
          <a:xfrm>
            <a:off x="2049463" y="3167063"/>
            <a:ext cx="1384300" cy="590550"/>
          </a:xfrm>
          <a:prstGeom prst="ellipse">
            <a:avLst/>
          </a:prstGeom>
          <a:solidFill>
            <a:srgbClr val="FF0000">
              <a:alpha val="28000"/>
            </a:srgbClr>
          </a:solidFill>
          <a:ln w="3175" algn="ctr">
            <a:solidFill>
              <a:srgbClr val="FF0000"/>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b="1">
                <a:solidFill>
                  <a:schemeClr val="bg1"/>
                </a:solidFill>
                <a:ea typeface="宋体" panose="02010600030101010101" pitchFamily="2" charset="-122"/>
              </a:rPr>
              <a:t>Degraded</a:t>
            </a:r>
          </a:p>
        </p:txBody>
      </p:sp>
      <p:sp>
        <p:nvSpPr>
          <p:cNvPr id="2971939" name="Oval 291">
            <a:extLst>
              <a:ext uri="{FF2B5EF4-FFF2-40B4-BE49-F238E27FC236}">
                <a16:creationId xmlns:a16="http://schemas.microsoft.com/office/drawing/2014/main" id="{01605E51-8E3C-8DF9-3E70-C7E934F743FD}"/>
              </a:ext>
            </a:extLst>
          </p:cNvPr>
          <p:cNvSpPr>
            <a:spLocks noChangeArrowheads="1"/>
          </p:cNvSpPr>
          <p:nvPr/>
        </p:nvSpPr>
        <p:spPr bwMode="auto">
          <a:xfrm>
            <a:off x="2049463" y="4800600"/>
            <a:ext cx="1384300" cy="590550"/>
          </a:xfrm>
          <a:prstGeom prst="ellipse">
            <a:avLst/>
          </a:prstGeom>
          <a:solidFill>
            <a:srgbClr val="FF0000">
              <a:alpha val="28000"/>
            </a:srgbClr>
          </a:solidFill>
          <a:ln w="3175" algn="ctr">
            <a:solidFill>
              <a:srgbClr val="FF0000"/>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b="1">
                <a:solidFill>
                  <a:schemeClr val="bg1"/>
                </a:solidFill>
                <a:ea typeface="宋体" panose="02010600030101010101" pitchFamily="2" charset="-122"/>
              </a:rPr>
              <a:t>Degraded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1926"/>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iterate type="wd">
                                    <p:tmAbs val="500"/>
                                  </p:iterate>
                                  <p:childTnLst>
                                    <p:set>
                                      <p:cBhvr>
                                        <p:cTn id="9" dur="1" fill="hold">
                                          <p:stCondLst>
                                            <p:cond delay="0"/>
                                          </p:stCondLst>
                                        </p:cTn>
                                        <p:tgtEl>
                                          <p:spTgt spid="2971937"/>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grpId="0" nodeType="afterEffect">
                                  <p:stCondLst>
                                    <p:cond delay="1000"/>
                                  </p:stCondLst>
                                  <p:iterate type="wd">
                                    <p:tmAbs val="500"/>
                                  </p:iterate>
                                  <p:childTnLst>
                                    <p:set>
                                      <p:cBhvr>
                                        <p:cTn id="12" dur="1" fill="hold">
                                          <p:stCondLst>
                                            <p:cond delay="0"/>
                                          </p:stCondLst>
                                        </p:cTn>
                                        <p:tgtEl>
                                          <p:spTgt spid="2971938"/>
                                        </p:tgtEl>
                                        <p:attrNameLst>
                                          <p:attrName>style.visibility</p:attrName>
                                        </p:attrNameLst>
                                      </p:cBhvr>
                                      <p:to>
                                        <p:strVal val="visible"/>
                                      </p:to>
                                    </p:set>
                                  </p:childTnLst>
                                </p:cTn>
                              </p:par>
                            </p:childTnLst>
                          </p:cTn>
                        </p:par>
                        <p:par>
                          <p:cTn id="13" fill="hold" nodeType="afterGroup">
                            <p:stCondLst>
                              <p:cond delay="2000"/>
                            </p:stCondLst>
                            <p:childTnLst>
                              <p:par>
                                <p:cTn id="14" presetID="1" presetClass="entr" presetSubtype="0" fill="hold" grpId="0" nodeType="afterEffect">
                                  <p:stCondLst>
                                    <p:cond delay="1000"/>
                                  </p:stCondLst>
                                  <p:iterate type="wd">
                                    <p:tmAbs val="500"/>
                                  </p:iterate>
                                  <p:childTnLst>
                                    <p:set>
                                      <p:cBhvr>
                                        <p:cTn id="15" dur="1" fill="hold">
                                          <p:stCondLst>
                                            <p:cond delay="0"/>
                                          </p:stCondLst>
                                        </p:cTn>
                                        <p:tgtEl>
                                          <p:spTgt spid="29719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1937" grpId="0" animBg="1"/>
      <p:bldP spid="2971938" grpId="0" animBg="1"/>
      <p:bldP spid="297193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7E410369-FBD0-4035-209F-DCD5F3247E3F}"/>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5A53CED9-B1B0-6FDC-5FA3-A0D47CFCEAF4}"/>
              </a:ext>
            </a:extLst>
          </p:cNvPr>
          <p:cNvSpPr>
            <a:spLocks noGrp="1"/>
          </p:cNvSpPr>
          <p:nvPr>
            <p:ph type="sldNum" sz="quarter" idx="11"/>
          </p:nvPr>
        </p:nvSpPr>
        <p:spPr/>
        <p:txBody>
          <a:bodyPr/>
          <a:lstStyle/>
          <a:p>
            <a:r>
              <a:rPr lang="zh-CN" altLang="en-US"/>
              <a:t> </a:t>
            </a:r>
            <a:r>
              <a:rPr lang="en-US" altLang="zh-CN"/>
              <a:t>- </a:t>
            </a:r>
            <a:fld id="{A21462FD-C308-444F-9466-1DA145DCA46E}" type="slidenum">
              <a:rPr lang="en-US" altLang="zh-CN" sz="800"/>
              <a:pPr/>
              <a:t>59</a:t>
            </a:fld>
            <a:endParaRPr lang="en-US" altLang="zh-CN" sz="800"/>
          </a:p>
        </p:txBody>
      </p:sp>
      <p:sp>
        <p:nvSpPr>
          <p:cNvPr id="2974064" name="Line 368">
            <a:extLst>
              <a:ext uri="{FF2B5EF4-FFF2-40B4-BE49-F238E27FC236}">
                <a16:creationId xmlns:a16="http://schemas.microsoft.com/office/drawing/2014/main" id="{D6417C0D-FEDD-92B6-0C32-755F34A44AAD}"/>
              </a:ext>
            </a:extLst>
          </p:cNvPr>
          <p:cNvSpPr>
            <a:spLocks noChangeShapeType="1"/>
          </p:cNvSpPr>
          <p:nvPr/>
        </p:nvSpPr>
        <p:spPr bwMode="auto">
          <a:xfrm>
            <a:off x="3324225" y="1993900"/>
            <a:ext cx="646113" cy="1430338"/>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4054" name="Line 358">
            <a:extLst>
              <a:ext uri="{FF2B5EF4-FFF2-40B4-BE49-F238E27FC236}">
                <a16:creationId xmlns:a16="http://schemas.microsoft.com/office/drawing/2014/main" id="{1886B943-6095-DBA2-DF16-CE16D5B72052}"/>
              </a:ext>
            </a:extLst>
          </p:cNvPr>
          <p:cNvSpPr>
            <a:spLocks noChangeShapeType="1"/>
          </p:cNvSpPr>
          <p:nvPr/>
        </p:nvSpPr>
        <p:spPr bwMode="auto">
          <a:xfrm>
            <a:off x="3287713" y="2246313"/>
            <a:ext cx="660400" cy="182245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4058" name="Line 362">
            <a:extLst>
              <a:ext uri="{FF2B5EF4-FFF2-40B4-BE49-F238E27FC236}">
                <a16:creationId xmlns:a16="http://schemas.microsoft.com/office/drawing/2014/main" id="{CBB59F1F-64BC-FC59-A186-5BF78ADFFC48}"/>
              </a:ext>
            </a:extLst>
          </p:cNvPr>
          <p:cNvSpPr>
            <a:spLocks noChangeShapeType="1"/>
          </p:cNvSpPr>
          <p:nvPr/>
        </p:nvSpPr>
        <p:spPr bwMode="auto">
          <a:xfrm flipH="1">
            <a:off x="3275013" y="3476625"/>
            <a:ext cx="596900" cy="115888"/>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4090" name="Line 394">
            <a:extLst>
              <a:ext uri="{FF2B5EF4-FFF2-40B4-BE49-F238E27FC236}">
                <a16:creationId xmlns:a16="http://schemas.microsoft.com/office/drawing/2014/main" id="{E2B430C4-D447-D986-04B7-33FB2B78A81D}"/>
              </a:ext>
            </a:extLst>
          </p:cNvPr>
          <p:cNvSpPr>
            <a:spLocks noChangeShapeType="1"/>
          </p:cNvSpPr>
          <p:nvPr/>
        </p:nvSpPr>
        <p:spPr bwMode="auto">
          <a:xfrm>
            <a:off x="3295650" y="3848100"/>
            <a:ext cx="590550" cy="32385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4053" name="Line 357">
            <a:extLst>
              <a:ext uri="{FF2B5EF4-FFF2-40B4-BE49-F238E27FC236}">
                <a16:creationId xmlns:a16="http://schemas.microsoft.com/office/drawing/2014/main" id="{3DCED294-0D0C-F821-D097-EED579747F00}"/>
              </a:ext>
            </a:extLst>
          </p:cNvPr>
          <p:cNvSpPr>
            <a:spLocks noChangeShapeType="1"/>
          </p:cNvSpPr>
          <p:nvPr/>
        </p:nvSpPr>
        <p:spPr bwMode="auto">
          <a:xfrm flipV="1">
            <a:off x="3314700" y="4310063"/>
            <a:ext cx="620713" cy="115252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4063" name="Line 367">
            <a:extLst>
              <a:ext uri="{FF2B5EF4-FFF2-40B4-BE49-F238E27FC236}">
                <a16:creationId xmlns:a16="http://schemas.microsoft.com/office/drawing/2014/main" id="{FDB07005-B79E-3B04-9B1E-0620C9D8683A}"/>
              </a:ext>
            </a:extLst>
          </p:cNvPr>
          <p:cNvSpPr>
            <a:spLocks noChangeShapeType="1"/>
          </p:cNvSpPr>
          <p:nvPr/>
        </p:nvSpPr>
        <p:spPr bwMode="auto">
          <a:xfrm flipV="1">
            <a:off x="3230563" y="3467100"/>
            <a:ext cx="733425" cy="174307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pic>
        <p:nvPicPr>
          <p:cNvPr id="2974051" name="Picture 355">
            <a:extLst>
              <a:ext uri="{FF2B5EF4-FFF2-40B4-BE49-F238E27FC236}">
                <a16:creationId xmlns:a16="http://schemas.microsoft.com/office/drawing/2014/main" id="{CF58BA63-4BB4-E8E0-9621-D82D5E15D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3463" y="1271588"/>
            <a:ext cx="917575" cy="1462087"/>
          </a:xfrm>
          <a:prstGeom prst="rect">
            <a:avLst/>
          </a:prstGeom>
          <a:noFill/>
          <a:extLst>
            <a:ext uri="{909E8E84-426E-40DD-AFC4-6F175D3DCCD1}">
              <a14:hiddenFill xmlns:a14="http://schemas.microsoft.com/office/drawing/2010/main">
                <a:solidFill>
                  <a:srgbClr val="FFFFFF"/>
                </a:solidFill>
              </a14:hiddenFill>
            </a:ext>
          </a:extLst>
        </p:spPr>
      </p:pic>
      <p:sp>
        <p:nvSpPr>
          <p:cNvPr id="2974057" name="Text Box 361">
            <a:extLst>
              <a:ext uri="{FF2B5EF4-FFF2-40B4-BE49-F238E27FC236}">
                <a16:creationId xmlns:a16="http://schemas.microsoft.com/office/drawing/2014/main" id="{C4CA36F7-5F0A-50D2-F3CE-AF398AFDA620}"/>
              </a:ext>
            </a:extLst>
          </p:cNvPr>
          <p:cNvSpPr txBox="1">
            <a:spLocks noChangeArrowheads="1"/>
          </p:cNvSpPr>
          <p:nvPr/>
        </p:nvSpPr>
        <p:spPr bwMode="auto">
          <a:xfrm>
            <a:off x="3073400" y="2163763"/>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74056" name="Text Box 360">
            <a:extLst>
              <a:ext uri="{FF2B5EF4-FFF2-40B4-BE49-F238E27FC236}">
                <a16:creationId xmlns:a16="http://schemas.microsoft.com/office/drawing/2014/main" id="{8E641098-F9FA-76AD-93E5-47B9669E59BF}"/>
              </a:ext>
            </a:extLst>
          </p:cNvPr>
          <p:cNvSpPr txBox="1">
            <a:spLocks noChangeArrowheads="1"/>
          </p:cNvSpPr>
          <p:nvPr/>
        </p:nvSpPr>
        <p:spPr bwMode="auto">
          <a:xfrm>
            <a:off x="3079750" y="1905000"/>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74055" name="Line 359">
            <a:extLst>
              <a:ext uri="{FF2B5EF4-FFF2-40B4-BE49-F238E27FC236}">
                <a16:creationId xmlns:a16="http://schemas.microsoft.com/office/drawing/2014/main" id="{742B5AA5-1505-2B89-D1A5-CBC0B450FEF3}"/>
              </a:ext>
            </a:extLst>
          </p:cNvPr>
          <p:cNvSpPr>
            <a:spLocks noChangeShapeType="1"/>
          </p:cNvSpPr>
          <p:nvPr/>
        </p:nvSpPr>
        <p:spPr bwMode="auto">
          <a:xfrm flipV="1">
            <a:off x="4075113" y="3473450"/>
            <a:ext cx="1685925" cy="952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3703" name="Rectangle 7">
            <a:extLst>
              <a:ext uri="{FF2B5EF4-FFF2-40B4-BE49-F238E27FC236}">
                <a16:creationId xmlns:a16="http://schemas.microsoft.com/office/drawing/2014/main" id="{B3B099E0-D07D-D2D0-79CD-AD76DC6EDC9E}"/>
              </a:ext>
            </a:extLst>
          </p:cNvPr>
          <p:cNvSpPr>
            <a:spLocks noGrp="1" noChangeArrowheads="1"/>
          </p:cNvSpPr>
          <p:nvPr>
            <p:ph type="title"/>
          </p:nvPr>
        </p:nvSpPr>
        <p:spPr/>
        <p:txBody>
          <a:bodyPr/>
          <a:lstStyle/>
          <a:p>
            <a:r>
              <a:rPr lang="en-US" altLang="zh-CN">
                <a:ea typeface="宋体" panose="02010600030101010101" pitchFamily="2" charset="-122"/>
              </a:rPr>
              <a:t>Accessibility Monitoring Example: HBA Failure</a:t>
            </a:r>
          </a:p>
        </p:txBody>
      </p:sp>
      <p:sp>
        <p:nvSpPr>
          <p:cNvPr id="2973966" name="Text Box 270">
            <a:extLst>
              <a:ext uri="{FF2B5EF4-FFF2-40B4-BE49-F238E27FC236}">
                <a16:creationId xmlns:a16="http://schemas.microsoft.com/office/drawing/2014/main" id="{9C976739-2F37-9AAE-B11D-A79A81BE1C17}"/>
              </a:ext>
            </a:extLst>
          </p:cNvPr>
          <p:cNvSpPr txBox="1">
            <a:spLocks noChangeArrowheads="1"/>
          </p:cNvSpPr>
          <p:nvPr/>
        </p:nvSpPr>
        <p:spPr bwMode="auto">
          <a:xfrm>
            <a:off x="3305175" y="4448175"/>
            <a:ext cx="2228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SW2</a:t>
            </a:r>
          </a:p>
        </p:txBody>
      </p:sp>
      <p:sp>
        <p:nvSpPr>
          <p:cNvPr id="2973972" name="Text Box 276">
            <a:extLst>
              <a:ext uri="{FF2B5EF4-FFF2-40B4-BE49-F238E27FC236}">
                <a16:creationId xmlns:a16="http://schemas.microsoft.com/office/drawing/2014/main" id="{0993F397-B944-DA6A-C653-436338D1C585}"/>
              </a:ext>
            </a:extLst>
          </p:cNvPr>
          <p:cNvSpPr txBox="1">
            <a:spLocks noChangeArrowheads="1"/>
          </p:cNvSpPr>
          <p:nvPr/>
        </p:nvSpPr>
        <p:spPr bwMode="auto">
          <a:xfrm>
            <a:off x="3946525" y="2811463"/>
            <a:ext cx="920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SW1</a:t>
            </a:r>
          </a:p>
        </p:txBody>
      </p:sp>
      <p:sp>
        <p:nvSpPr>
          <p:cNvPr id="2973974" name="Text Box 278">
            <a:extLst>
              <a:ext uri="{FF2B5EF4-FFF2-40B4-BE49-F238E27FC236}">
                <a16:creationId xmlns:a16="http://schemas.microsoft.com/office/drawing/2014/main" id="{D83CBC35-8034-A495-A85E-2CCD9B139884}"/>
              </a:ext>
            </a:extLst>
          </p:cNvPr>
          <p:cNvSpPr txBox="1">
            <a:spLocks noChangeArrowheads="1"/>
          </p:cNvSpPr>
          <p:nvPr/>
        </p:nvSpPr>
        <p:spPr bwMode="auto">
          <a:xfrm>
            <a:off x="1219200" y="5113338"/>
            <a:ext cx="920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H3</a:t>
            </a:r>
          </a:p>
        </p:txBody>
      </p:sp>
      <p:sp>
        <p:nvSpPr>
          <p:cNvPr id="2973975" name="Oval 279">
            <a:extLst>
              <a:ext uri="{FF2B5EF4-FFF2-40B4-BE49-F238E27FC236}">
                <a16:creationId xmlns:a16="http://schemas.microsoft.com/office/drawing/2014/main" id="{F873A2F4-BA7F-23EC-F76C-88AF526AF79B}"/>
              </a:ext>
            </a:extLst>
          </p:cNvPr>
          <p:cNvSpPr>
            <a:spLocks noChangeArrowheads="1"/>
          </p:cNvSpPr>
          <p:nvPr/>
        </p:nvSpPr>
        <p:spPr bwMode="auto">
          <a:xfrm>
            <a:off x="1973263" y="1220788"/>
            <a:ext cx="1384300" cy="590550"/>
          </a:xfrm>
          <a:prstGeom prst="ellipse">
            <a:avLst/>
          </a:prstGeom>
          <a:solidFill>
            <a:srgbClr val="FF0000">
              <a:alpha val="28000"/>
            </a:srgbClr>
          </a:solidFill>
          <a:ln w="3175" algn="ctr">
            <a:solidFill>
              <a:srgbClr val="FF0000"/>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b="1">
                <a:solidFill>
                  <a:schemeClr val="bg1"/>
                </a:solidFill>
                <a:ea typeface="宋体" panose="02010600030101010101" pitchFamily="2" charset="-122"/>
              </a:rPr>
              <a:t>Degraded</a:t>
            </a:r>
          </a:p>
        </p:txBody>
      </p:sp>
      <p:sp>
        <p:nvSpPr>
          <p:cNvPr id="2973976" name="Text Box 280">
            <a:extLst>
              <a:ext uri="{FF2B5EF4-FFF2-40B4-BE49-F238E27FC236}">
                <a16:creationId xmlns:a16="http://schemas.microsoft.com/office/drawing/2014/main" id="{9791F296-C20E-963E-FCD5-2292DC07D80F}"/>
              </a:ext>
            </a:extLst>
          </p:cNvPr>
          <p:cNvSpPr txBox="1">
            <a:spLocks noChangeArrowheads="1"/>
          </p:cNvSpPr>
          <p:nvPr/>
        </p:nvSpPr>
        <p:spPr bwMode="auto">
          <a:xfrm>
            <a:off x="1212850" y="3487738"/>
            <a:ext cx="920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H2</a:t>
            </a:r>
          </a:p>
        </p:txBody>
      </p:sp>
      <p:sp>
        <p:nvSpPr>
          <p:cNvPr id="2973977" name="Text Box 281">
            <a:extLst>
              <a:ext uri="{FF2B5EF4-FFF2-40B4-BE49-F238E27FC236}">
                <a16:creationId xmlns:a16="http://schemas.microsoft.com/office/drawing/2014/main" id="{9CA4122C-5ED6-FA7A-65E1-2E031AE99299}"/>
              </a:ext>
            </a:extLst>
          </p:cNvPr>
          <p:cNvSpPr txBox="1">
            <a:spLocks noChangeArrowheads="1"/>
          </p:cNvSpPr>
          <p:nvPr/>
        </p:nvSpPr>
        <p:spPr bwMode="auto">
          <a:xfrm>
            <a:off x="1212850" y="1757363"/>
            <a:ext cx="920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H1</a:t>
            </a:r>
          </a:p>
        </p:txBody>
      </p:sp>
      <p:sp>
        <p:nvSpPr>
          <p:cNvPr id="2973980" name="Text Box 284">
            <a:extLst>
              <a:ext uri="{FF2B5EF4-FFF2-40B4-BE49-F238E27FC236}">
                <a16:creationId xmlns:a16="http://schemas.microsoft.com/office/drawing/2014/main" id="{36C07E29-C360-F028-DDEC-9E8FF2DF12F0}"/>
              </a:ext>
            </a:extLst>
          </p:cNvPr>
          <p:cNvSpPr txBox="1">
            <a:spLocks noChangeArrowheads="1"/>
          </p:cNvSpPr>
          <p:nvPr/>
        </p:nvSpPr>
        <p:spPr bwMode="auto">
          <a:xfrm>
            <a:off x="1047750" y="6018213"/>
            <a:ext cx="3108325"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Hosts/Servers with Applications</a:t>
            </a:r>
          </a:p>
        </p:txBody>
      </p:sp>
      <p:sp>
        <p:nvSpPr>
          <p:cNvPr id="2974041" name="Line 345">
            <a:extLst>
              <a:ext uri="{FF2B5EF4-FFF2-40B4-BE49-F238E27FC236}">
                <a16:creationId xmlns:a16="http://schemas.microsoft.com/office/drawing/2014/main" id="{C1FA87DE-563E-5950-9808-5B707CD99F01}"/>
              </a:ext>
            </a:extLst>
          </p:cNvPr>
          <p:cNvSpPr>
            <a:spLocks noChangeShapeType="1"/>
          </p:cNvSpPr>
          <p:nvPr/>
        </p:nvSpPr>
        <p:spPr bwMode="auto">
          <a:xfrm flipH="1">
            <a:off x="4724400" y="4210050"/>
            <a:ext cx="1066800" cy="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4043" name="Rectangle 347">
            <a:extLst>
              <a:ext uri="{FF2B5EF4-FFF2-40B4-BE49-F238E27FC236}">
                <a16:creationId xmlns:a16="http://schemas.microsoft.com/office/drawing/2014/main" id="{C44E62E6-4196-7976-DB11-F38FA01BE0AF}"/>
              </a:ext>
            </a:extLst>
          </p:cNvPr>
          <p:cNvSpPr>
            <a:spLocks noChangeArrowheads="1"/>
          </p:cNvSpPr>
          <p:nvPr/>
        </p:nvSpPr>
        <p:spPr bwMode="auto">
          <a:xfrm>
            <a:off x="5753100" y="3414713"/>
            <a:ext cx="93663" cy="112712"/>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4044" name="Rectangle 348">
            <a:extLst>
              <a:ext uri="{FF2B5EF4-FFF2-40B4-BE49-F238E27FC236}">
                <a16:creationId xmlns:a16="http://schemas.microsoft.com/office/drawing/2014/main" id="{92A1E0FC-9762-59BA-BCBC-F24EDADEB1FA}"/>
              </a:ext>
            </a:extLst>
          </p:cNvPr>
          <p:cNvSpPr>
            <a:spLocks noChangeArrowheads="1"/>
          </p:cNvSpPr>
          <p:nvPr/>
        </p:nvSpPr>
        <p:spPr bwMode="auto">
          <a:xfrm>
            <a:off x="5762625" y="3208338"/>
            <a:ext cx="93663" cy="114300"/>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pic>
        <p:nvPicPr>
          <p:cNvPr id="2974045" name="Picture 349">
            <a:extLst>
              <a:ext uri="{FF2B5EF4-FFF2-40B4-BE49-F238E27FC236}">
                <a16:creationId xmlns:a16="http://schemas.microsoft.com/office/drawing/2014/main" id="{77EB0C66-FEEC-164F-EB1C-DF7235B872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4413" y="4548188"/>
            <a:ext cx="917575" cy="1462087"/>
          </a:xfrm>
          <a:prstGeom prst="rect">
            <a:avLst/>
          </a:prstGeom>
          <a:noFill/>
          <a:extLst>
            <a:ext uri="{909E8E84-426E-40DD-AFC4-6F175D3DCCD1}">
              <a14:hiddenFill xmlns:a14="http://schemas.microsoft.com/office/drawing/2010/main">
                <a:solidFill>
                  <a:srgbClr val="FFFFFF"/>
                </a:solidFill>
              </a14:hiddenFill>
            </a:ext>
          </a:extLst>
        </p:spPr>
      </p:pic>
      <p:sp>
        <p:nvSpPr>
          <p:cNvPr id="2974046" name="Text Box 350">
            <a:extLst>
              <a:ext uri="{FF2B5EF4-FFF2-40B4-BE49-F238E27FC236}">
                <a16:creationId xmlns:a16="http://schemas.microsoft.com/office/drawing/2014/main" id="{50310CC5-D517-417B-F477-82BF1528656A}"/>
              </a:ext>
            </a:extLst>
          </p:cNvPr>
          <p:cNvSpPr txBox="1">
            <a:spLocks noChangeArrowheads="1"/>
          </p:cNvSpPr>
          <p:nvPr/>
        </p:nvSpPr>
        <p:spPr bwMode="auto">
          <a:xfrm>
            <a:off x="3060700" y="5172075"/>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74047" name="Text Box 351">
            <a:extLst>
              <a:ext uri="{FF2B5EF4-FFF2-40B4-BE49-F238E27FC236}">
                <a16:creationId xmlns:a16="http://schemas.microsoft.com/office/drawing/2014/main" id="{BBCE3165-E979-ECDA-FBAC-42A174E921D7}"/>
              </a:ext>
            </a:extLst>
          </p:cNvPr>
          <p:cNvSpPr txBox="1">
            <a:spLocks noChangeArrowheads="1"/>
          </p:cNvSpPr>
          <p:nvPr/>
        </p:nvSpPr>
        <p:spPr bwMode="auto">
          <a:xfrm>
            <a:off x="3054350" y="5402263"/>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pic>
        <p:nvPicPr>
          <p:cNvPr id="2974048" name="Picture 352">
            <a:extLst>
              <a:ext uri="{FF2B5EF4-FFF2-40B4-BE49-F238E27FC236}">
                <a16:creationId xmlns:a16="http://schemas.microsoft.com/office/drawing/2014/main" id="{FCD7948E-F23B-AFF4-BDB5-24C566A4C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4413" y="2900363"/>
            <a:ext cx="917575" cy="1462087"/>
          </a:xfrm>
          <a:prstGeom prst="rect">
            <a:avLst/>
          </a:prstGeom>
          <a:noFill/>
          <a:extLst>
            <a:ext uri="{909E8E84-426E-40DD-AFC4-6F175D3DCCD1}">
              <a14:hiddenFill xmlns:a14="http://schemas.microsoft.com/office/drawing/2010/main">
                <a:solidFill>
                  <a:srgbClr val="FFFFFF"/>
                </a:solidFill>
              </a14:hiddenFill>
            </a:ext>
          </a:extLst>
        </p:spPr>
      </p:pic>
      <p:sp>
        <p:nvSpPr>
          <p:cNvPr id="2974049" name="Text Box 353">
            <a:extLst>
              <a:ext uri="{FF2B5EF4-FFF2-40B4-BE49-F238E27FC236}">
                <a16:creationId xmlns:a16="http://schemas.microsoft.com/office/drawing/2014/main" id="{5754A39F-FD6A-A295-ACC7-BDB49081D57E}"/>
              </a:ext>
            </a:extLst>
          </p:cNvPr>
          <p:cNvSpPr txBox="1">
            <a:spLocks noChangeArrowheads="1"/>
          </p:cNvSpPr>
          <p:nvPr/>
        </p:nvSpPr>
        <p:spPr bwMode="auto">
          <a:xfrm>
            <a:off x="3060700" y="3533775"/>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74050" name="Text Box 354">
            <a:extLst>
              <a:ext uri="{FF2B5EF4-FFF2-40B4-BE49-F238E27FC236}">
                <a16:creationId xmlns:a16="http://schemas.microsoft.com/office/drawing/2014/main" id="{CFF25620-96DB-D5D6-74BB-3E47A5DBEF19}"/>
              </a:ext>
            </a:extLst>
          </p:cNvPr>
          <p:cNvSpPr txBox="1">
            <a:spLocks noChangeArrowheads="1"/>
          </p:cNvSpPr>
          <p:nvPr/>
        </p:nvSpPr>
        <p:spPr bwMode="auto">
          <a:xfrm>
            <a:off x="3054350" y="3763963"/>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74069" name="AutoShape 373">
            <a:extLst>
              <a:ext uri="{FF2B5EF4-FFF2-40B4-BE49-F238E27FC236}">
                <a16:creationId xmlns:a16="http://schemas.microsoft.com/office/drawing/2014/main" id="{2C997E02-BA45-3117-E5A6-70AE174DB81D}"/>
              </a:ext>
            </a:extLst>
          </p:cNvPr>
          <p:cNvSpPr>
            <a:spLocks noChangeArrowheads="1"/>
          </p:cNvSpPr>
          <p:nvPr/>
        </p:nvSpPr>
        <p:spPr bwMode="auto">
          <a:xfrm>
            <a:off x="3857625" y="3267075"/>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74070" name="Freeform 374">
            <a:extLst>
              <a:ext uri="{FF2B5EF4-FFF2-40B4-BE49-F238E27FC236}">
                <a16:creationId xmlns:a16="http://schemas.microsoft.com/office/drawing/2014/main" id="{C9F8FDD2-DF25-ECA5-497E-9C06ED34DE32}"/>
              </a:ext>
            </a:extLst>
          </p:cNvPr>
          <p:cNvSpPr>
            <a:spLocks/>
          </p:cNvSpPr>
          <p:nvPr/>
        </p:nvSpPr>
        <p:spPr bwMode="auto">
          <a:xfrm>
            <a:off x="3959225" y="3338513"/>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4071" name="Freeform 375">
            <a:extLst>
              <a:ext uri="{FF2B5EF4-FFF2-40B4-BE49-F238E27FC236}">
                <a16:creationId xmlns:a16="http://schemas.microsoft.com/office/drawing/2014/main" id="{2B5E4E95-3119-139F-F2D0-65ACF9AE34DE}"/>
              </a:ext>
            </a:extLst>
          </p:cNvPr>
          <p:cNvSpPr>
            <a:spLocks/>
          </p:cNvSpPr>
          <p:nvPr/>
        </p:nvSpPr>
        <p:spPr bwMode="auto">
          <a:xfrm>
            <a:off x="3959225" y="344487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4072" name="Freeform 376">
            <a:extLst>
              <a:ext uri="{FF2B5EF4-FFF2-40B4-BE49-F238E27FC236}">
                <a16:creationId xmlns:a16="http://schemas.microsoft.com/office/drawing/2014/main" id="{FA7815EA-2D00-300D-A0E2-333EDAB68481}"/>
              </a:ext>
            </a:extLst>
          </p:cNvPr>
          <p:cNvSpPr>
            <a:spLocks/>
          </p:cNvSpPr>
          <p:nvPr/>
        </p:nvSpPr>
        <p:spPr bwMode="auto">
          <a:xfrm flipH="1">
            <a:off x="4271963" y="339407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4073" name="Freeform 377">
            <a:extLst>
              <a:ext uri="{FF2B5EF4-FFF2-40B4-BE49-F238E27FC236}">
                <a16:creationId xmlns:a16="http://schemas.microsoft.com/office/drawing/2014/main" id="{0B5C7B20-9B34-9E02-D618-10C52045ACED}"/>
              </a:ext>
            </a:extLst>
          </p:cNvPr>
          <p:cNvSpPr>
            <a:spLocks/>
          </p:cNvSpPr>
          <p:nvPr/>
        </p:nvSpPr>
        <p:spPr bwMode="auto">
          <a:xfrm flipH="1">
            <a:off x="4271963" y="3500438"/>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4074" name="AutoShape 378">
            <a:extLst>
              <a:ext uri="{FF2B5EF4-FFF2-40B4-BE49-F238E27FC236}">
                <a16:creationId xmlns:a16="http://schemas.microsoft.com/office/drawing/2014/main" id="{024B15DF-B546-A9F0-DA5F-2A58F1E76D52}"/>
              </a:ext>
            </a:extLst>
          </p:cNvPr>
          <p:cNvSpPr>
            <a:spLocks noChangeArrowheads="1"/>
          </p:cNvSpPr>
          <p:nvPr/>
        </p:nvSpPr>
        <p:spPr bwMode="auto">
          <a:xfrm>
            <a:off x="3867150" y="3990975"/>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74075" name="Freeform 379">
            <a:extLst>
              <a:ext uri="{FF2B5EF4-FFF2-40B4-BE49-F238E27FC236}">
                <a16:creationId xmlns:a16="http://schemas.microsoft.com/office/drawing/2014/main" id="{47E5011A-B902-3774-7911-BFDED7FBAD61}"/>
              </a:ext>
            </a:extLst>
          </p:cNvPr>
          <p:cNvSpPr>
            <a:spLocks/>
          </p:cNvSpPr>
          <p:nvPr/>
        </p:nvSpPr>
        <p:spPr bwMode="auto">
          <a:xfrm>
            <a:off x="3968750" y="4062413"/>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4076" name="Freeform 380">
            <a:extLst>
              <a:ext uri="{FF2B5EF4-FFF2-40B4-BE49-F238E27FC236}">
                <a16:creationId xmlns:a16="http://schemas.microsoft.com/office/drawing/2014/main" id="{0E2E802C-6DCC-CDD4-92C7-E267C1FCA048}"/>
              </a:ext>
            </a:extLst>
          </p:cNvPr>
          <p:cNvSpPr>
            <a:spLocks/>
          </p:cNvSpPr>
          <p:nvPr/>
        </p:nvSpPr>
        <p:spPr bwMode="auto">
          <a:xfrm>
            <a:off x="3968750" y="416877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4077" name="Freeform 381">
            <a:extLst>
              <a:ext uri="{FF2B5EF4-FFF2-40B4-BE49-F238E27FC236}">
                <a16:creationId xmlns:a16="http://schemas.microsoft.com/office/drawing/2014/main" id="{56EB7AEA-8340-19DB-46FB-BE76BEDDE51F}"/>
              </a:ext>
            </a:extLst>
          </p:cNvPr>
          <p:cNvSpPr>
            <a:spLocks/>
          </p:cNvSpPr>
          <p:nvPr/>
        </p:nvSpPr>
        <p:spPr bwMode="auto">
          <a:xfrm flipH="1">
            <a:off x="4281488" y="411797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4078" name="Freeform 382">
            <a:extLst>
              <a:ext uri="{FF2B5EF4-FFF2-40B4-BE49-F238E27FC236}">
                <a16:creationId xmlns:a16="http://schemas.microsoft.com/office/drawing/2014/main" id="{1F6B4446-9841-C752-506B-E6D7BDD99E89}"/>
              </a:ext>
            </a:extLst>
          </p:cNvPr>
          <p:cNvSpPr>
            <a:spLocks/>
          </p:cNvSpPr>
          <p:nvPr/>
        </p:nvSpPr>
        <p:spPr bwMode="auto">
          <a:xfrm flipH="1">
            <a:off x="4281488" y="4224338"/>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4081" name="Rectangle 385">
            <a:extLst>
              <a:ext uri="{FF2B5EF4-FFF2-40B4-BE49-F238E27FC236}">
                <a16:creationId xmlns:a16="http://schemas.microsoft.com/office/drawing/2014/main" id="{18B1F884-1BF7-180E-09D3-EBC85C8747BE}"/>
              </a:ext>
            </a:extLst>
          </p:cNvPr>
          <p:cNvSpPr>
            <a:spLocks noChangeArrowheads="1"/>
          </p:cNvSpPr>
          <p:nvPr/>
        </p:nvSpPr>
        <p:spPr bwMode="auto">
          <a:xfrm>
            <a:off x="5783263" y="4151313"/>
            <a:ext cx="93662" cy="112712"/>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74082" name="Rectangle 386">
            <a:extLst>
              <a:ext uri="{FF2B5EF4-FFF2-40B4-BE49-F238E27FC236}">
                <a16:creationId xmlns:a16="http://schemas.microsoft.com/office/drawing/2014/main" id="{82827611-25AE-2D95-6E1C-5A580FE147E1}"/>
              </a:ext>
            </a:extLst>
          </p:cNvPr>
          <p:cNvSpPr>
            <a:spLocks noChangeArrowheads="1"/>
          </p:cNvSpPr>
          <p:nvPr/>
        </p:nvSpPr>
        <p:spPr bwMode="auto">
          <a:xfrm>
            <a:off x="5783263" y="4344988"/>
            <a:ext cx="93662" cy="114300"/>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4083" name="Line 387">
            <a:extLst>
              <a:ext uri="{FF2B5EF4-FFF2-40B4-BE49-F238E27FC236}">
                <a16:creationId xmlns:a16="http://schemas.microsoft.com/office/drawing/2014/main" id="{D6E9C77B-ED3C-61BD-DC76-3D4B53B61F7B}"/>
              </a:ext>
            </a:extLst>
          </p:cNvPr>
          <p:cNvSpPr>
            <a:spLocks noChangeShapeType="1"/>
          </p:cNvSpPr>
          <p:nvPr/>
        </p:nvSpPr>
        <p:spPr bwMode="auto">
          <a:xfrm>
            <a:off x="7008813" y="3876675"/>
            <a:ext cx="612775" cy="0"/>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4084" name="Text Box 388">
            <a:extLst>
              <a:ext uri="{FF2B5EF4-FFF2-40B4-BE49-F238E27FC236}">
                <a16:creationId xmlns:a16="http://schemas.microsoft.com/office/drawing/2014/main" id="{34C91978-7040-8125-10DE-585EBB4A2894}"/>
              </a:ext>
            </a:extLst>
          </p:cNvPr>
          <p:cNvSpPr txBox="1">
            <a:spLocks noChangeArrowheads="1"/>
          </p:cNvSpPr>
          <p:nvPr/>
        </p:nvSpPr>
        <p:spPr bwMode="auto">
          <a:xfrm>
            <a:off x="5443538" y="4445000"/>
            <a:ext cx="4048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Port</a:t>
            </a:r>
            <a:endParaRPr lang="en-US" altLang="zh-CN" sz="2800">
              <a:solidFill>
                <a:srgbClr val="000000"/>
              </a:solidFill>
              <a:ea typeface="宋体" panose="02010600030101010101" pitchFamily="2" charset="-122"/>
            </a:endParaRPr>
          </a:p>
        </p:txBody>
      </p:sp>
      <p:sp>
        <p:nvSpPr>
          <p:cNvPr id="2974085" name="Text Box 389">
            <a:extLst>
              <a:ext uri="{FF2B5EF4-FFF2-40B4-BE49-F238E27FC236}">
                <a16:creationId xmlns:a16="http://schemas.microsoft.com/office/drawing/2014/main" id="{8784E2DB-B2E8-D6F7-AC13-E9F7330411DF}"/>
              </a:ext>
            </a:extLst>
          </p:cNvPr>
          <p:cNvSpPr txBox="1">
            <a:spLocks noChangeArrowheads="1"/>
          </p:cNvSpPr>
          <p:nvPr/>
        </p:nvSpPr>
        <p:spPr bwMode="auto">
          <a:xfrm>
            <a:off x="6118225" y="5099050"/>
            <a:ext cx="23955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Storage Arrays</a:t>
            </a:r>
          </a:p>
        </p:txBody>
      </p:sp>
      <p:pic>
        <p:nvPicPr>
          <p:cNvPr id="2974086" name="Picture 390">
            <a:extLst>
              <a:ext uri="{FF2B5EF4-FFF2-40B4-BE49-F238E27FC236}">
                <a16:creationId xmlns:a16="http://schemas.microsoft.com/office/drawing/2014/main" id="{C3E2CFB5-1086-AA73-2A43-0DA29CC6AE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4063" y="2817813"/>
            <a:ext cx="11874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4087" name="Picture 391">
            <a:extLst>
              <a:ext uri="{FF2B5EF4-FFF2-40B4-BE49-F238E27FC236}">
                <a16:creationId xmlns:a16="http://schemas.microsoft.com/office/drawing/2014/main" id="{741686C6-AAEA-6393-2C91-0169674B21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4125" y="2817813"/>
            <a:ext cx="11874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4088" name="Text Box 392">
            <a:extLst>
              <a:ext uri="{FF2B5EF4-FFF2-40B4-BE49-F238E27FC236}">
                <a16:creationId xmlns:a16="http://schemas.microsoft.com/office/drawing/2014/main" id="{28EB48C2-72D3-D6A6-3EA3-1BF7ECC03A8E}"/>
              </a:ext>
            </a:extLst>
          </p:cNvPr>
          <p:cNvSpPr txBox="1">
            <a:spLocks noChangeArrowheads="1"/>
          </p:cNvSpPr>
          <p:nvPr/>
        </p:nvSpPr>
        <p:spPr bwMode="auto">
          <a:xfrm>
            <a:off x="5434013" y="3521075"/>
            <a:ext cx="4048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Port</a:t>
            </a:r>
            <a:endParaRPr lang="en-US" altLang="zh-CN" sz="2800">
              <a:solidFill>
                <a:srgbClr val="000000"/>
              </a:solidFill>
              <a:ea typeface="宋体" panose="02010600030101010101" pitchFamily="2" charset="-122"/>
            </a:endParaRPr>
          </a:p>
        </p:txBody>
      </p:sp>
      <p:grpSp>
        <p:nvGrpSpPr>
          <p:cNvPr id="2974098" name="Group 402">
            <a:extLst>
              <a:ext uri="{FF2B5EF4-FFF2-40B4-BE49-F238E27FC236}">
                <a16:creationId xmlns:a16="http://schemas.microsoft.com/office/drawing/2014/main" id="{EB1058F2-6E33-D19E-7AA5-46AD2A61CB13}"/>
              </a:ext>
            </a:extLst>
          </p:cNvPr>
          <p:cNvGrpSpPr>
            <a:grpSpLocks/>
          </p:cNvGrpSpPr>
          <p:nvPr/>
        </p:nvGrpSpPr>
        <p:grpSpPr bwMode="auto">
          <a:xfrm>
            <a:off x="3106738" y="1843088"/>
            <a:ext cx="227012" cy="246062"/>
            <a:chOff x="1957" y="1161"/>
            <a:chExt cx="143" cy="155"/>
          </a:xfrm>
        </p:grpSpPr>
        <p:grpSp>
          <p:nvGrpSpPr>
            <p:cNvPr id="2974097" name="Group 401">
              <a:extLst>
                <a:ext uri="{FF2B5EF4-FFF2-40B4-BE49-F238E27FC236}">
                  <a16:creationId xmlns:a16="http://schemas.microsoft.com/office/drawing/2014/main" id="{96F69291-8EB8-174B-936A-674DA9FEF9E0}"/>
                </a:ext>
              </a:extLst>
            </p:cNvPr>
            <p:cNvGrpSpPr>
              <a:grpSpLocks/>
            </p:cNvGrpSpPr>
            <p:nvPr/>
          </p:nvGrpSpPr>
          <p:grpSpPr bwMode="auto">
            <a:xfrm>
              <a:off x="1958" y="1161"/>
              <a:ext cx="142" cy="154"/>
              <a:chOff x="2771" y="1233"/>
              <a:chExt cx="142" cy="154"/>
            </a:xfrm>
          </p:grpSpPr>
          <p:sp>
            <p:nvSpPr>
              <p:cNvPr id="2974095" name="Oval 399">
                <a:extLst>
                  <a:ext uri="{FF2B5EF4-FFF2-40B4-BE49-F238E27FC236}">
                    <a16:creationId xmlns:a16="http://schemas.microsoft.com/office/drawing/2014/main" id="{2C36B232-6735-8D2D-7D6E-236842FA6DDA}"/>
                  </a:ext>
                </a:extLst>
              </p:cNvPr>
              <p:cNvSpPr>
                <a:spLocks noChangeArrowheads="1"/>
              </p:cNvSpPr>
              <p:nvPr/>
            </p:nvSpPr>
            <p:spPr bwMode="auto">
              <a:xfrm rot="-178423">
                <a:off x="2771" y="1233"/>
                <a:ext cx="142" cy="154"/>
              </a:xfrm>
              <a:prstGeom prst="ellipse">
                <a:avLst/>
              </a:prstGeom>
              <a:noFill/>
              <a:ln w="63500" algn="ctr">
                <a:solidFill>
                  <a:schemeClr val="bg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74096" name="Line 400">
                <a:extLst>
                  <a:ext uri="{FF2B5EF4-FFF2-40B4-BE49-F238E27FC236}">
                    <a16:creationId xmlns:a16="http://schemas.microsoft.com/office/drawing/2014/main" id="{B56E30FF-E4FA-4106-C029-16CFFD192A30}"/>
                  </a:ext>
                </a:extLst>
              </p:cNvPr>
              <p:cNvSpPr>
                <a:spLocks noChangeShapeType="1"/>
              </p:cNvSpPr>
              <p:nvPr/>
            </p:nvSpPr>
            <p:spPr bwMode="auto">
              <a:xfrm rot="21421577" flipV="1">
                <a:off x="2783" y="1269"/>
                <a:ext cx="118" cy="91"/>
              </a:xfrm>
              <a:prstGeom prst="line">
                <a:avLst/>
              </a:prstGeom>
              <a:noFill/>
              <a:ln w="63500">
                <a:solidFill>
                  <a:schemeClr val="bg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grpSp>
          <p:nvGrpSpPr>
            <p:cNvPr id="2973967" name="Group 271">
              <a:extLst>
                <a:ext uri="{FF2B5EF4-FFF2-40B4-BE49-F238E27FC236}">
                  <a16:creationId xmlns:a16="http://schemas.microsoft.com/office/drawing/2014/main" id="{9F0202B4-4820-DCAC-9D4D-8C40E6BF7C20}"/>
                </a:ext>
              </a:extLst>
            </p:cNvPr>
            <p:cNvGrpSpPr>
              <a:grpSpLocks/>
            </p:cNvGrpSpPr>
            <p:nvPr/>
          </p:nvGrpSpPr>
          <p:grpSpPr bwMode="auto">
            <a:xfrm rot="-178423">
              <a:off x="1957" y="1162"/>
              <a:ext cx="142" cy="154"/>
              <a:chOff x="987" y="2944"/>
              <a:chExt cx="220" cy="220"/>
            </a:xfrm>
          </p:grpSpPr>
          <p:sp>
            <p:nvSpPr>
              <p:cNvPr id="2973968" name="Oval 272">
                <a:extLst>
                  <a:ext uri="{FF2B5EF4-FFF2-40B4-BE49-F238E27FC236}">
                    <a16:creationId xmlns:a16="http://schemas.microsoft.com/office/drawing/2014/main" id="{F5103C9E-03F9-7D99-5097-82D88FA4D222}"/>
                  </a:ext>
                </a:extLst>
              </p:cNvPr>
              <p:cNvSpPr>
                <a:spLocks noChangeArrowheads="1"/>
              </p:cNvSpPr>
              <p:nvPr/>
            </p:nvSpPr>
            <p:spPr bwMode="auto">
              <a:xfrm>
                <a:off x="987" y="2944"/>
                <a:ext cx="220" cy="220"/>
              </a:xfrm>
              <a:prstGeom prst="ellipse">
                <a:avLst/>
              </a:prstGeom>
              <a:noFill/>
              <a:ln w="28575" algn="ctr">
                <a:solidFill>
                  <a:srgbClr val="FF0000"/>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73969" name="Line 273">
                <a:extLst>
                  <a:ext uri="{FF2B5EF4-FFF2-40B4-BE49-F238E27FC236}">
                    <a16:creationId xmlns:a16="http://schemas.microsoft.com/office/drawing/2014/main" id="{6B7FFB52-D493-C128-2F7D-CDEC2F182074}"/>
                  </a:ext>
                </a:extLst>
              </p:cNvPr>
              <p:cNvSpPr>
                <a:spLocks noChangeShapeType="1"/>
              </p:cNvSpPr>
              <p:nvPr/>
            </p:nvSpPr>
            <p:spPr bwMode="auto">
              <a:xfrm flipV="1">
                <a:off x="1006" y="2997"/>
                <a:ext cx="183" cy="130"/>
              </a:xfrm>
              <a:prstGeom prst="line">
                <a:avLst/>
              </a:prstGeom>
              <a:noFill/>
              <a:ln w="28575">
                <a:solidFill>
                  <a:srgbClr val="FF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409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iterate type="wd">
                                    <p:tmAbs val="500"/>
                                  </p:iterate>
                                  <p:childTnLst>
                                    <p:set>
                                      <p:cBhvr>
                                        <p:cTn id="9" dur="1" fill="hold">
                                          <p:stCondLst>
                                            <p:cond delay="0"/>
                                          </p:stCondLst>
                                        </p:cTn>
                                        <p:tgtEl>
                                          <p:spTgt spid="29739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397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AD2EDA32-8F27-96F9-C9B7-72B98A561BB8}"/>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10223468-C020-6104-8CAC-5AF4D036959C}"/>
              </a:ext>
            </a:extLst>
          </p:cNvPr>
          <p:cNvSpPr>
            <a:spLocks noGrp="1"/>
          </p:cNvSpPr>
          <p:nvPr>
            <p:ph type="sldNum" sz="quarter" idx="11"/>
          </p:nvPr>
        </p:nvSpPr>
        <p:spPr/>
        <p:txBody>
          <a:bodyPr/>
          <a:lstStyle/>
          <a:p>
            <a:r>
              <a:rPr lang="zh-CN" altLang="en-US"/>
              <a:t> </a:t>
            </a:r>
            <a:r>
              <a:rPr lang="en-US" altLang="zh-CN"/>
              <a:t>- </a:t>
            </a:r>
            <a:fld id="{AC9FE57B-2B36-4FA8-A1A8-EEB25B74152F}" type="slidenum">
              <a:rPr lang="en-US" altLang="zh-CN" sz="800"/>
              <a:pPr/>
              <a:t>60</a:t>
            </a:fld>
            <a:endParaRPr lang="en-US" altLang="zh-CN" sz="800"/>
          </a:p>
        </p:txBody>
      </p:sp>
      <p:sp>
        <p:nvSpPr>
          <p:cNvPr id="2976155" name="Line 411">
            <a:extLst>
              <a:ext uri="{FF2B5EF4-FFF2-40B4-BE49-F238E27FC236}">
                <a16:creationId xmlns:a16="http://schemas.microsoft.com/office/drawing/2014/main" id="{847B5AF3-6AFC-5622-5DD2-DB313C5E60AF}"/>
              </a:ext>
            </a:extLst>
          </p:cNvPr>
          <p:cNvSpPr>
            <a:spLocks noChangeShapeType="1"/>
          </p:cNvSpPr>
          <p:nvPr/>
        </p:nvSpPr>
        <p:spPr bwMode="auto">
          <a:xfrm flipH="1" flipV="1">
            <a:off x="2314575" y="3429000"/>
            <a:ext cx="1743075" cy="58102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6154" name="Line 410">
            <a:extLst>
              <a:ext uri="{FF2B5EF4-FFF2-40B4-BE49-F238E27FC236}">
                <a16:creationId xmlns:a16="http://schemas.microsoft.com/office/drawing/2014/main" id="{6E6DFE10-C123-0AEC-2769-C6F5FE5B956F}"/>
              </a:ext>
            </a:extLst>
          </p:cNvPr>
          <p:cNvSpPr>
            <a:spLocks noChangeShapeType="1"/>
          </p:cNvSpPr>
          <p:nvPr/>
        </p:nvSpPr>
        <p:spPr bwMode="auto">
          <a:xfrm flipH="1">
            <a:off x="2076450" y="3048000"/>
            <a:ext cx="1924050" cy="15240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pic>
        <p:nvPicPr>
          <p:cNvPr id="2976106" name="Picture 362">
            <a:extLst>
              <a:ext uri="{FF2B5EF4-FFF2-40B4-BE49-F238E27FC236}">
                <a16:creationId xmlns:a16="http://schemas.microsoft.com/office/drawing/2014/main" id="{35568DBA-DEF7-8874-3195-FAB73160CC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713" y="2538413"/>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6147" name="Picture 403">
            <a:extLst>
              <a:ext uri="{FF2B5EF4-FFF2-40B4-BE49-F238E27FC236}">
                <a16:creationId xmlns:a16="http://schemas.microsoft.com/office/drawing/2014/main" id="{20711EBD-F862-8FDE-7B0D-D83E4982FB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113" y="2690813"/>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6148" name="Picture 404">
            <a:extLst>
              <a:ext uri="{FF2B5EF4-FFF2-40B4-BE49-F238E27FC236}">
                <a16:creationId xmlns:a16="http://schemas.microsoft.com/office/drawing/2014/main" id="{BEFDDD47-5C5C-DC77-6E00-772A265771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9513" y="2843213"/>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6149" name="Picture 405">
            <a:extLst>
              <a:ext uri="{FF2B5EF4-FFF2-40B4-BE49-F238E27FC236}">
                <a16:creationId xmlns:a16="http://schemas.microsoft.com/office/drawing/2014/main" id="{D55A7262-BC0E-B5A4-6100-6541FA2A5A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2995613"/>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6150" name="Picture 406">
            <a:extLst>
              <a:ext uri="{FF2B5EF4-FFF2-40B4-BE49-F238E27FC236}">
                <a16:creationId xmlns:a16="http://schemas.microsoft.com/office/drawing/2014/main" id="{54135204-6BC5-A152-254A-8D331C3581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313" y="3148013"/>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6152" name="Picture 408">
            <a:extLst>
              <a:ext uri="{FF2B5EF4-FFF2-40B4-BE49-F238E27FC236}">
                <a16:creationId xmlns:a16="http://schemas.microsoft.com/office/drawing/2014/main" id="{163C3B03-C745-4CCE-27F3-8B2EC10BAE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6713" y="3300413"/>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6153" name="Picture 409">
            <a:extLst>
              <a:ext uri="{FF2B5EF4-FFF2-40B4-BE49-F238E27FC236}">
                <a16:creationId xmlns:a16="http://schemas.microsoft.com/office/drawing/2014/main" id="{A22F12D8-5F14-4ADB-8B35-7C12FE0351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9113" y="3452813"/>
            <a:ext cx="917575" cy="1462087"/>
          </a:xfrm>
          <a:prstGeom prst="rect">
            <a:avLst/>
          </a:prstGeom>
          <a:noFill/>
          <a:extLst>
            <a:ext uri="{909E8E84-426E-40DD-AFC4-6F175D3DCCD1}">
              <a14:hiddenFill xmlns:a14="http://schemas.microsoft.com/office/drawing/2010/main">
                <a:solidFill>
                  <a:srgbClr val="FFFFFF"/>
                </a:solidFill>
              </a14:hiddenFill>
            </a:ext>
          </a:extLst>
        </p:spPr>
      </p:pic>
      <p:sp>
        <p:nvSpPr>
          <p:cNvPr id="2976146" name="Line 402">
            <a:extLst>
              <a:ext uri="{FF2B5EF4-FFF2-40B4-BE49-F238E27FC236}">
                <a16:creationId xmlns:a16="http://schemas.microsoft.com/office/drawing/2014/main" id="{A8756733-62DB-A1D9-5CC3-38A99CD51B41}"/>
              </a:ext>
            </a:extLst>
          </p:cNvPr>
          <p:cNvSpPr>
            <a:spLocks noChangeShapeType="1"/>
          </p:cNvSpPr>
          <p:nvPr/>
        </p:nvSpPr>
        <p:spPr bwMode="auto">
          <a:xfrm>
            <a:off x="4876800" y="4105275"/>
            <a:ext cx="914400" cy="5715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6145" name="Line 401">
            <a:extLst>
              <a:ext uri="{FF2B5EF4-FFF2-40B4-BE49-F238E27FC236}">
                <a16:creationId xmlns:a16="http://schemas.microsoft.com/office/drawing/2014/main" id="{C1C7DD61-F630-FBBE-4683-93CADF1BDFBD}"/>
              </a:ext>
            </a:extLst>
          </p:cNvPr>
          <p:cNvSpPr>
            <a:spLocks noChangeShapeType="1"/>
          </p:cNvSpPr>
          <p:nvPr/>
        </p:nvSpPr>
        <p:spPr bwMode="auto">
          <a:xfrm flipV="1">
            <a:off x="4819650" y="3962400"/>
            <a:ext cx="971550" cy="10477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5748" name="Line 4">
            <a:extLst>
              <a:ext uri="{FF2B5EF4-FFF2-40B4-BE49-F238E27FC236}">
                <a16:creationId xmlns:a16="http://schemas.microsoft.com/office/drawing/2014/main" id="{B15AB4B2-DE88-0636-FDAF-8500D6EF0478}"/>
              </a:ext>
            </a:extLst>
          </p:cNvPr>
          <p:cNvSpPr>
            <a:spLocks noChangeShapeType="1"/>
          </p:cNvSpPr>
          <p:nvPr/>
        </p:nvSpPr>
        <p:spPr bwMode="auto">
          <a:xfrm flipV="1">
            <a:off x="4854575" y="3001963"/>
            <a:ext cx="920750" cy="7937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5749" name="Line 5">
            <a:extLst>
              <a:ext uri="{FF2B5EF4-FFF2-40B4-BE49-F238E27FC236}">
                <a16:creationId xmlns:a16="http://schemas.microsoft.com/office/drawing/2014/main" id="{9302CD1E-20AF-4512-92AB-CBDFF264635E}"/>
              </a:ext>
            </a:extLst>
          </p:cNvPr>
          <p:cNvSpPr>
            <a:spLocks noChangeShapeType="1"/>
          </p:cNvSpPr>
          <p:nvPr/>
        </p:nvSpPr>
        <p:spPr bwMode="auto">
          <a:xfrm>
            <a:off x="4856163" y="3121025"/>
            <a:ext cx="919162" cy="125413"/>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5751" name="Rectangle 7">
            <a:extLst>
              <a:ext uri="{FF2B5EF4-FFF2-40B4-BE49-F238E27FC236}">
                <a16:creationId xmlns:a16="http://schemas.microsoft.com/office/drawing/2014/main" id="{0461194D-C944-1384-C893-DC1A17934655}"/>
              </a:ext>
            </a:extLst>
          </p:cNvPr>
          <p:cNvSpPr>
            <a:spLocks noGrp="1" noChangeArrowheads="1"/>
          </p:cNvSpPr>
          <p:nvPr>
            <p:ph type="title"/>
          </p:nvPr>
        </p:nvSpPr>
        <p:spPr/>
        <p:txBody>
          <a:bodyPr/>
          <a:lstStyle/>
          <a:p>
            <a:r>
              <a:rPr lang="en-US" altLang="zh-CN">
                <a:ea typeface="宋体" panose="02010600030101010101" pitchFamily="2" charset="-122"/>
              </a:rPr>
              <a:t>Accessibility Monitoring Example: Switch Failure</a:t>
            </a:r>
          </a:p>
        </p:txBody>
      </p:sp>
      <p:sp>
        <p:nvSpPr>
          <p:cNvPr id="2976010" name="Text Box 266">
            <a:extLst>
              <a:ext uri="{FF2B5EF4-FFF2-40B4-BE49-F238E27FC236}">
                <a16:creationId xmlns:a16="http://schemas.microsoft.com/office/drawing/2014/main" id="{ABBEBE00-0057-3930-D750-379CC52B3ED2}"/>
              </a:ext>
            </a:extLst>
          </p:cNvPr>
          <p:cNvSpPr txBox="1">
            <a:spLocks noChangeArrowheads="1"/>
          </p:cNvSpPr>
          <p:nvPr/>
        </p:nvSpPr>
        <p:spPr bwMode="auto">
          <a:xfrm>
            <a:off x="6296025" y="4799013"/>
            <a:ext cx="22288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Storage Arrays</a:t>
            </a:r>
          </a:p>
        </p:txBody>
      </p:sp>
      <p:sp>
        <p:nvSpPr>
          <p:cNvPr id="2976011" name="Text Box 267">
            <a:extLst>
              <a:ext uri="{FF2B5EF4-FFF2-40B4-BE49-F238E27FC236}">
                <a16:creationId xmlns:a16="http://schemas.microsoft.com/office/drawing/2014/main" id="{B14BC8DA-CF23-B014-20F0-1B9E6EBBD597}"/>
              </a:ext>
            </a:extLst>
          </p:cNvPr>
          <p:cNvSpPr txBox="1">
            <a:spLocks noChangeArrowheads="1"/>
          </p:cNvSpPr>
          <p:nvPr/>
        </p:nvSpPr>
        <p:spPr bwMode="auto">
          <a:xfrm>
            <a:off x="3305175" y="4438650"/>
            <a:ext cx="22288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SW2</a:t>
            </a:r>
          </a:p>
        </p:txBody>
      </p:sp>
      <p:sp>
        <p:nvSpPr>
          <p:cNvPr id="2976012" name="Text Box 268">
            <a:extLst>
              <a:ext uri="{FF2B5EF4-FFF2-40B4-BE49-F238E27FC236}">
                <a16:creationId xmlns:a16="http://schemas.microsoft.com/office/drawing/2014/main" id="{94146277-B7C8-6870-781C-865BDA54EFC1}"/>
              </a:ext>
            </a:extLst>
          </p:cNvPr>
          <p:cNvSpPr txBox="1">
            <a:spLocks noChangeArrowheads="1"/>
          </p:cNvSpPr>
          <p:nvPr/>
        </p:nvSpPr>
        <p:spPr bwMode="auto">
          <a:xfrm>
            <a:off x="209550" y="4959350"/>
            <a:ext cx="3108325"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Hosts/Servers with Applications</a:t>
            </a:r>
          </a:p>
        </p:txBody>
      </p:sp>
      <p:sp>
        <p:nvSpPr>
          <p:cNvPr id="2976017" name="Text Box 273">
            <a:extLst>
              <a:ext uri="{FF2B5EF4-FFF2-40B4-BE49-F238E27FC236}">
                <a16:creationId xmlns:a16="http://schemas.microsoft.com/office/drawing/2014/main" id="{BFF425D8-DAEC-C640-F6BB-1E43311E2318}"/>
              </a:ext>
            </a:extLst>
          </p:cNvPr>
          <p:cNvSpPr txBox="1">
            <a:spLocks noChangeArrowheads="1"/>
          </p:cNvSpPr>
          <p:nvPr/>
        </p:nvSpPr>
        <p:spPr bwMode="auto">
          <a:xfrm>
            <a:off x="3946525" y="2171700"/>
            <a:ext cx="9207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SW1</a:t>
            </a:r>
          </a:p>
        </p:txBody>
      </p:sp>
      <p:sp>
        <p:nvSpPr>
          <p:cNvPr id="2976098" name="Rectangle 354">
            <a:extLst>
              <a:ext uri="{FF2B5EF4-FFF2-40B4-BE49-F238E27FC236}">
                <a16:creationId xmlns:a16="http://schemas.microsoft.com/office/drawing/2014/main" id="{7B23735D-580F-3BB5-AAC5-AADD6730F693}"/>
              </a:ext>
            </a:extLst>
          </p:cNvPr>
          <p:cNvSpPr>
            <a:spLocks noChangeArrowheads="1"/>
          </p:cNvSpPr>
          <p:nvPr/>
        </p:nvSpPr>
        <p:spPr bwMode="auto">
          <a:xfrm>
            <a:off x="5762625" y="3176588"/>
            <a:ext cx="93663" cy="112712"/>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6099" name="Rectangle 355">
            <a:extLst>
              <a:ext uri="{FF2B5EF4-FFF2-40B4-BE49-F238E27FC236}">
                <a16:creationId xmlns:a16="http://schemas.microsoft.com/office/drawing/2014/main" id="{9A7C897F-012B-E9A3-2516-0975AC3B0EF6}"/>
              </a:ext>
            </a:extLst>
          </p:cNvPr>
          <p:cNvSpPr>
            <a:spLocks noChangeArrowheads="1"/>
          </p:cNvSpPr>
          <p:nvPr/>
        </p:nvSpPr>
        <p:spPr bwMode="auto">
          <a:xfrm>
            <a:off x="5762625" y="2970213"/>
            <a:ext cx="93663" cy="114300"/>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6124" name="AutoShape 380">
            <a:extLst>
              <a:ext uri="{FF2B5EF4-FFF2-40B4-BE49-F238E27FC236}">
                <a16:creationId xmlns:a16="http://schemas.microsoft.com/office/drawing/2014/main" id="{4247DF9E-D85A-DE65-F489-D2691F78C53A}"/>
              </a:ext>
            </a:extLst>
          </p:cNvPr>
          <p:cNvSpPr>
            <a:spLocks noChangeArrowheads="1"/>
          </p:cNvSpPr>
          <p:nvPr/>
        </p:nvSpPr>
        <p:spPr bwMode="auto">
          <a:xfrm>
            <a:off x="3962400" y="2895600"/>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76125" name="Freeform 381">
            <a:extLst>
              <a:ext uri="{FF2B5EF4-FFF2-40B4-BE49-F238E27FC236}">
                <a16:creationId xmlns:a16="http://schemas.microsoft.com/office/drawing/2014/main" id="{4B52A748-89C8-8FEF-C6FC-5E1E3ED860F9}"/>
              </a:ext>
            </a:extLst>
          </p:cNvPr>
          <p:cNvSpPr>
            <a:spLocks/>
          </p:cNvSpPr>
          <p:nvPr/>
        </p:nvSpPr>
        <p:spPr bwMode="auto">
          <a:xfrm>
            <a:off x="4064000" y="2967038"/>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6126" name="Freeform 382">
            <a:extLst>
              <a:ext uri="{FF2B5EF4-FFF2-40B4-BE49-F238E27FC236}">
                <a16:creationId xmlns:a16="http://schemas.microsoft.com/office/drawing/2014/main" id="{3E613EC8-09F7-8F67-EAAB-D598ADA5CBFF}"/>
              </a:ext>
            </a:extLst>
          </p:cNvPr>
          <p:cNvSpPr>
            <a:spLocks/>
          </p:cNvSpPr>
          <p:nvPr/>
        </p:nvSpPr>
        <p:spPr bwMode="auto">
          <a:xfrm>
            <a:off x="4064000" y="307340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6127" name="Freeform 383">
            <a:extLst>
              <a:ext uri="{FF2B5EF4-FFF2-40B4-BE49-F238E27FC236}">
                <a16:creationId xmlns:a16="http://schemas.microsoft.com/office/drawing/2014/main" id="{7A37C392-0F2B-41EC-D5F1-0F1E51CD35AF}"/>
              </a:ext>
            </a:extLst>
          </p:cNvPr>
          <p:cNvSpPr>
            <a:spLocks/>
          </p:cNvSpPr>
          <p:nvPr/>
        </p:nvSpPr>
        <p:spPr bwMode="auto">
          <a:xfrm flipH="1">
            <a:off x="4376738" y="302260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6128" name="Freeform 384">
            <a:extLst>
              <a:ext uri="{FF2B5EF4-FFF2-40B4-BE49-F238E27FC236}">
                <a16:creationId xmlns:a16="http://schemas.microsoft.com/office/drawing/2014/main" id="{06867CA6-CF14-98A3-5B8B-BABA2EBCEC04}"/>
              </a:ext>
            </a:extLst>
          </p:cNvPr>
          <p:cNvSpPr>
            <a:spLocks/>
          </p:cNvSpPr>
          <p:nvPr/>
        </p:nvSpPr>
        <p:spPr bwMode="auto">
          <a:xfrm flipH="1">
            <a:off x="4376738" y="3128963"/>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6129" name="AutoShape 385">
            <a:extLst>
              <a:ext uri="{FF2B5EF4-FFF2-40B4-BE49-F238E27FC236}">
                <a16:creationId xmlns:a16="http://schemas.microsoft.com/office/drawing/2014/main" id="{9802C7B1-5FD4-1153-0F05-48FABC83CB2D}"/>
              </a:ext>
            </a:extLst>
          </p:cNvPr>
          <p:cNvSpPr>
            <a:spLocks noChangeArrowheads="1"/>
          </p:cNvSpPr>
          <p:nvPr/>
        </p:nvSpPr>
        <p:spPr bwMode="auto">
          <a:xfrm>
            <a:off x="3981450" y="3848100"/>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76130" name="Freeform 386">
            <a:extLst>
              <a:ext uri="{FF2B5EF4-FFF2-40B4-BE49-F238E27FC236}">
                <a16:creationId xmlns:a16="http://schemas.microsoft.com/office/drawing/2014/main" id="{E2384690-019C-51B6-3B6A-9D64287E4226}"/>
              </a:ext>
            </a:extLst>
          </p:cNvPr>
          <p:cNvSpPr>
            <a:spLocks/>
          </p:cNvSpPr>
          <p:nvPr/>
        </p:nvSpPr>
        <p:spPr bwMode="auto">
          <a:xfrm>
            <a:off x="4083050" y="3919538"/>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6131" name="Freeform 387">
            <a:extLst>
              <a:ext uri="{FF2B5EF4-FFF2-40B4-BE49-F238E27FC236}">
                <a16:creationId xmlns:a16="http://schemas.microsoft.com/office/drawing/2014/main" id="{A582C7AC-5B77-3AD7-991F-E62208D28357}"/>
              </a:ext>
            </a:extLst>
          </p:cNvPr>
          <p:cNvSpPr>
            <a:spLocks/>
          </p:cNvSpPr>
          <p:nvPr/>
        </p:nvSpPr>
        <p:spPr bwMode="auto">
          <a:xfrm>
            <a:off x="4083050" y="402590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6132" name="Freeform 388">
            <a:extLst>
              <a:ext uri="{FF2B5EF4-FFF2-40B4-BE49-F238E27FC236}">
                <a16:creationId xmlns:a16="http://schemas.microsoft.com/office/drawing/2014/main" id="{33DA2BC4-AE86-7E2B-C52F-CB4E7B03721B}"/>
              </a:ext>
            </a:extLst>
          </p:cNvPr>
          <p:cNvSpPr>
            <a:spLocks/>
          </p:cNvSpPr>
          <p:nvPr/>
        </p:nvSpPr>
        <p:spPr bwMode="auto">
          <a:xfrm flipH="1">
            <a:off x="4395788" y="397510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6133" name="Freeform 389">
            <a:extLst>
              <a:ext uri="{FF2B5EF4-FFF2-40B4-BE49-F238E27FC236}">
                <a16:creationId xmlns:a16="http://schemas.microsoft.com/office/drawing/2014/main" id="{B5362CFC-1930-DCDE-8A8B-186F24766DBB}"/>
              </a:ext>
            </a:extLst>
          </p:cNvPr>
          <p:cNvSpPr>
            <a:spLocks/>
          </p:cNvSpPr>
          <p:nvPr/>
        </p:nvSpPr>
        <p:spPr bwMode="auto">
          <a:xfrm flipH="1">
            <a:off x="4395788" y="4081463"/>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6136" name="Rectangle 392">
            <a:extLst>
              <a:ext uri="{FF2B5EF4-FFF2-40B4-BE49-F238E27FC236}">
                <a16:creationId xmlns:a16="http://schemas.microsoft.com/office/drawing/2014/main" id="{675E39C4-8E42-83DC-4A12-39C962E166DD}"/>
              </a:ext>
            </a:extLst>
          </p:cNvPr>
          <p:cNvSpPr>
            <a:spLocks noChangeArrowheads="1"/>
          </p:cNvSpPr>
          <p:nvPr/>
        </p:nvSpPr>
        <p:spPr bwMode="auto">
          <a:xfrm>
            <a:off x="5783263" y="3913188"/>
            <a:ext cx="93662" cy="112712"/>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76137" name="Rectangle 393">
            <a:extLst>
              <a:ext uri="{FF2B5EF4-FFF2-40B4-BE49-F238E27FC236}">
                <a16:creationId xmlns:a16="http://schemas.microsoft.com/office/drawing/2014/main" id="{24A067FE-D134-A9EC-6749-17651F9F1964}"/>
              </a:ext>
            </a:extLst>
          </p:cNvPr>
          <p:cNvSpPr>
            <a:spLocks noChangeArrowheads="1"/>
          </p:cNvSpPr>
          <p:nvPr/>
        </p:nvSpPr>
        <p:spPr bwMode="auto">
          <a:xfrm>
            <a:off x="5783263" y="4106863"/>
            <a:ext cx="93662" cy="114300"/>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6138" name="Line 394">
            <a:extLst>
              <a:ext uri="{FF2B5EF4-FFF2-40B4-BE49-F238E27FC236}">
                <a16:creationId xmlns:a16="http://schemas.microsoft.com/office/drawing/2014/main" id="{B554E38A-2A6C-D61E-DF35-E20C9BF35502}"/>
              </a:ext>
            </a:extLst>
          </p:cNvPr>
          <p:cNvSpPr>
            <a:spLocks noChangeShapeType="1"/>
          </p:cNvSpPr>
          <p:nvPr/>
        </p:nvSpPr>
        <p:spPr bwMode="auto">
          <a:xfrm>
            <a:off x="7008813" y="3638550"/>
            <a:ext cx="612775" cy="0"/>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6139" name="Text Box 395">
            <a:extLst>
              <a:ext uri="{FF2B5EF4-FFF2-40B4-BE49-F238E27FC236}">
                <a16:creationId xmlns:a16="http://schemas.microsoft.com/office/drawing/2014/main" id="{C820A4C5-5A69-F4CA-0A47-D170D16B157F}"/>
              </a:ext>
            </a:extLst>
          </p:cNvPr>
          <p:cNvSpPr txBox="1">
            <a:spLocks noChangeArrowheads="1"/>
          </p:cNvSpPr>
          <p:nvPr/>
        </p:nvSpPr>
        <p:spPr bwMode="auto">
          <a:xfrm>
            <a:off x="5443538" y="4216400"/>
            <a:ext cx="4048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Port</a:t>
            </a:r>
            <a:endParaRPr lang="en-US" altLang="zh-CN" sz="2800">
              <a:solidFill>
                <a:srgbClr val="000000"/>
              </a:solidFill>
              <a:ea typeface="宋体" panose="02010600030101010101" pitchFamily="2" charset="-122"/>
            </a:endParaRPr>
          </a:p>
        </p:txBody>
      </p:sp>
      <p:pic>
        <p:nvPicPr>
          <p:cNvPr id="2976141" name="Picture 397">
            <a:extLst>
              <a:ext uri="{FF2B5EF4-FFF2-40B4-BE49-F238E27FC236}">
                <a16:creationId xmlns:a16="http://schemas.microsoft.com/office/drawing/2014/main" id="{1EA9622E-887A-F47D-6775-83B8C9744D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4063" y="2579688"/>
            <a:ext cx="1187450"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76161" name="Group 417">
            <a:extLst>
              <a:ext uri="{FF2B5EF4-FFF2-40B4-BE49-F238E27FC236}">
                <a16:creationId xmlns:a16="http://schemas.microsoft.com/office/drawing/2014/main" id="{B5B4A0E4-ED45-92E1-A8D2-6914E4EC9972}"/>
              </a:ext>
            </a:extLst>
          </p:cNvPr>
          <p:cNvGrpSpPr>
            <a:grpSpLocks/>
          </p:cNvGrpSpPr>
          <p:nvPr/>
        </p:nvGrpSpPr>
        <p:grpSpPr bwMode="auto">
          <a:xfrm>
            <a:off x="7534275" y="2579688"/>
            <a:ext cx="1257300" cy="2222500"/>
            <a:chOff x="4746" y="1625"/>
            <a:chExt cx="792" cy="1400"/>
          </a:xfrm>
        </p:grpSpPr>
        <p:sp>
          <p:nvSpPr>
            <p:cNvPr id="2976156" name="Rectangle 412">
              <a:extLst>
                <a:ext uri="{FF2B5EF4-FFF2-40B4-BE49-F238E27FC236}">
                  <a16:creationId xmlns:a16="http://schemas.microsoft.com/office/drawing/2014/main" id="{1A5D0253-8B58-5984-C396-FF98E964257E}"/>
                </a:ext>
              </a:extLst>
            </p:cNvPr>
            <p:cNvSpPr>
              <a:spLocks noChangeArrowheads="1"/>
            </p:cNvSpPr>
            <p:nvPr/>
          </p:nvSpPr>
          <p:spPr bwMode="auto">
            <a:xfrm>
              <a:off x="4746" y="2007"/>
              <a:ext cx="59" cy="71"/>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6157" name="Rectangle 413">
              <a:extLst>
                <a:ext uri="{FF2B5EF4-FFF2-40B4-BE49-F238E27FC236}">
                  <a16:creationId xmlns:a16="http://schemas.microsoft.com/office/drawing/2014/main" id="{5C68A89E-4DB7-99B6-F3A1-611890BFD43E}"/>
                </a:ext>
              </a:extLst>
            </p:cNvPr>
            <p:cNvSpPr>
              <a:spLocks noChangeArrowheads="1"/>
            </p:cNvSpPr>
            <p:nvPr/>
          </p:nvSpPr>
          <p:spPr bwMode="auto">
            <a:xfrm>
              <a:off x="4746" y="1877"/>
              <a:ext cx="59" cy="72"/>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6158" name="Rectangle 414">
              <a:extLst>
                <a:ext uri="{FF2B5EF4-FFF2-40B4-BE49-F238E27FC236}">
                  <a16:creationId xmlns:a16="http://schemas.microsoft.com/office/drawing/2014/main" id="{F4A28645-AF7F-156A-7764-53E78DC40EF7}"/>
                </a:ext>
              </a:extLst>
            </p:cNvPr>
            <p:cNvSpPr>
              <a:spLocks noChangeArrowheads="1"/>
            </p:cNvSpPr>
            <p:nvPr/>
          </p:nvSpPr>
          <p:spPr bwMode="auto">
            <a:xfrm>
              <a:off x="4752" y="2589"/>
              <a:ext cx="59" cy="71"/>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6159" name="Rectangle 415">
              <a:extLst>
                <a:ext uri="{FF2B5EF4-FFF2-40B4-BE49-F238E27FC236}">
                  <a16:creationId xmlns:a16="http://schemas.microsoft.com/office/drawing/2014/main" id="{73794318-4C02-D2E9-879B-7C31DA73161D}"/>
                </a:ext>
              </a:extLst>
            </p:cNvPr>
            <p:cNvSpPr>
              <a:spLocks noChangeArrowheads="1"/>
            </p:cNvSpPr>
            <p:nvPr/>
          </p:nvSpPr>
          <p:spPr bwMode="auto">
            <a:xfrm>
              <a:off x="4752" y="2459"/>
              <a:ext cx="59" cy="72"/>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pic>
          <p:nvPicPr>
            <p:cNvPr id="2976142" name="Picture 398">
              <a:extLst>
                <a:ext uri="{FF2B5EF4-FFF2-40B4-BE49-F238E27FC236}">
                  <a16:creationId xmlns:a16="http://schemas.microsoft.com/office/drawing/2014/main" id="{94E7D72D-BC6A-1622-2A8D-3DCC801C90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0" y="1625"/>
              <a:ext cx="748" cy="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6143" name="Text Box 399">
            <a:extLst>
              <a:ext uri="{FF2B5EF4-FFF2-40B4-BE49-F238E27FC236}">
                <a16:creationId xmlns:a16="http://schemas.microsoft.com/office/drawing/2014/main" id="{7BB9732D-780B-70CE-9A77-6B8AC202832A}"/>
              </a:ext>
            </a:extLst>
          </p:cNvPr>
          <p:cNvSpPr txBox="1">
            <a:spLocks noChangeArrowheads="1"/>
          </p:cNvSpPr>
          <p:nvPr/>
        </p:nvSpPr>
        <p:spPr bwMode="auto">
          <a:xfrm>
            <a:off x="5434013" y="3282950"/>
            <a:ext cx="4048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Port</a:t>
            </a:r>
            <a:endParaRPr lang="en-US" altLang="zh-CN" sz="2800">
              <a:solidFill>
                <a:srgbClr val="000000"/>
              </a:solidFill>
              <a:ea typeface="宋体" panose="02010600030101010101" pitchFamily="2" charset="-122"/>
            </a:endParaRPr>
          </a:p>
        </p:txBody>
      </p:sp>
      <p:sp>
        <p:nvSpPr>
          <p:cNvPr id="2976030" name="Oval 286">
            <a:extLst>
              <a:ext uri="{FF2B5EF4-FFF2-40B4-BE49-F238E27FC236}">
                <a16:creationId xmlns:a16="http://schemas.microsoft.com/office/drawing/2014/main" id="{967E81BA-C50F-2B9A-ED4F-1DD55D1388AB}"/>
              </a:ext>
            </a:extLst>
          </p:cNvPr>
          <p:cNvSpPr>
            <a:spLocks noChangeArrowheads="1"/>
          </p:cNvSpPr>
          <p:nvPr/>
        </p:nvSpPr>
        <p:spPr bwMode="auto">
          <a:xfrm>
            <a:off x="727075" y="2994025"/>
            <a:ext cx="2093913" cy="1238250"/>
          </a:xfrm>
          <a:prstGeom prst="ellipse">
            <a:avLst/>
          </a:prstGeom>
          <a:solidFill>
            <a:srgbClr val="FF0000">
              <a:alpha val="28000"/>
            </a:srgbClr>
          </a:solidFill>
          <a:ln w="3175" algn="ctr">
            <a:solidFill>
              <a:srgbClr val="FF0000"/>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b="1">
                <a:solidFill>
                  <a:schemeClr val="bg1"/>
                </a:solidFill>
                <a:ea typeface="宋体" panose="02010600030101010101" pitchFamily="2" charset="-122"/>
              </a:rPr>
              <a:t>All Hosts </a:t>
            </a:r>
          </a:p>
          <a:p>
            <a:pPr algn="ctr">
              <a:spcBef>
                <a:spcPct val="50000"/>
              </a:spcBef>
            </a:pPr>
            <a:r>
              <a:rPr lang="en-US" altLang="zh-CN" sz="2000" b="1">
                <a:solidFill>
                  <a:schemeClr val="bg1"/>
                </a:solidFill>
                <a:ea typeface="宋体" panose="02010600030101010101" pitchFamily="2" charset="-122"/>
              </a:rPr>
              <a:t>Degraded</a:t>
            </a:r>
          </a:p>
        </p:txBody>
      </p:sp>
      <p:grpSp>
        <p:nvGrpSpPr>
          <p:cNvPr id="2976013" name="Group 269">
            <a:extLst>
              <a:ext uri="{FF2B5EF4-FFF2-40B4-BE49-F238E27FC236}">
                <a16:creationId xmlns:a16="http://schemas.microsoft.com/office/drawing/2014/main" id="{D978CDD7-D898-0E72-9188-09A91E6108E3}"/>
              </a:ext>
            </a:extLst>
          </p:cNvPr>
          <p:cNvGrpSpPr>
            <a:grpSpLocks noChangeAspect="1"/>
          </p:cNvGrpSpPr>
          <p:nvPr/>
        </p:nvGrpSpPr>
        <p:grpSpPr bwMode="auto">
          <a:xfrm>
            <a:off x="4027488" y="2735263"/>
            <a:ext cx="695325" cy="695325"/>
            <a:chOff x="987" y="2944"/>
            <a:chExt cx="220" cy="220"/>
          </a:xfrm>
        </p:grpSpPr>
        <p:sp>
          <p:nvSpPr>
            <p:cNvPr id="2976014" name="Oval 270">
              <a:extLst>
                <a:ext uri="{FF2B5EF4-FFF2-40B4-BE49-F238E27FC236}">
                  <a16:creationId xmlns:a16="http://schemas.microsoft.com/office/drawing/2014/main" id="{3EB26074-5D8D-B321-CD01-F17DF716B3A9}"/>
                </a:ext>
              </a:extLst>
            </p:cNvPr>
            <p:cNvSpPr>
              <a:spLocks noChangeAspect="1" noChangeArrowheads="1"/>
            </p:cNvSpPr>
            <p:nvPr/>
          </p:nvSpPr>
          <p:spPr bwMode="auto">
            <a:xfrm>
              <a:off x="987" y="2944"/>
              <a:ext cx="220" cy="220"/>
            </a:xfrm>
            <a:prstGeom prst="ellipse">
              <a:avLst/>
            </a:prstGeom>
            <a:noFill/>
            <a:ln w="38100" algn="ctr">
              <a:solidFill>
                <a:srgbClr val="FF0000"/>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76015" name="Line 271">
              <a:extLst>
                <a:ext uri="{FF2B5EF4-FFF2-40B4-BE49-F238E27FC236}">
                  <a16:creationId xmlns:a16="http://schemas.microsoft.com/office/drawing/2014/main" id="{BFA595E2-42AB-A93B-3DCE-2944DA20F443}"/>
                </a:ext>
              </a:extLst>
            </p:cNvPr>
            <p:cNvSpPr>
              <a:spLocks noChangeAspect="1" noChangeShapeType="1"/>
            </p:cNvSpPr>
            <p:nvPr/>
          </p:nvSpPr>
          <p:spPr bwMode="auto">
            <a:xfrm flipV="1">
              <a:off x="1006" y="2997"/>
              <a:ext cx="183" cy="130"/>
            </a:xfrm>
            <a:prstGeom prst="line">
              <a:avLst/>
            </a:prstGeom>
            <a:noFill/>
            <a:ln w="38100">
              <a:solidFill>
                <a:srgbClr val="FF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6013"/>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1000"/>
                                  </p:stCondLst>
                                  <p:iterate type="wd">
                                    <p:tmAbs val="500"/>
                                  </p:iterate>
                                  <p:childTnLst>
                                    <p:set>
                                      <p:cBhvr>
                                        <p:cTn id="9" dur="1" fill="hold">
                                          <p:stCondLst>
                                            <p:cond delay="0"/>
                                          </p:stCondLst>
                                        </p:cTn>
                                        <p:tgtEl>
                                          <p:spTgt spid="2976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603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0D625764-DF9E-C750-62B5-618927DE51C1}"/>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4F71F385-C3E6-DF3C-B9E0-05124BA5430E}"/>
              </a:ext>
            </a:extLst>
          </p:cNvPr>
          <p:cNvSpPr>
            <a:spLocks noGrp="1"/>
          </p:cNvSpPr>
          <p:nvPr>
            <p:ph type="sldNum" sz="quarter" idx="11"/>
          </p:nvPr>
        </p:nvSpPr>
        <p:spPr/>
        <p:txBody>
          <a:bodyPr/>
          <a:lstStyle/>
          <a:p>
            <a:r>
              <a:rPr lang="zh-CN" altLang="en-US"/>
              <a:t> </a:t>
            </a:r>
            <a:r>
              <a:rPr lang="en-US" altLang="zh-CN"/>
              <a:t>- </a:t>
            </a:r>
            <a:fld id="{6769C0AF-972F-49DC-8164-D461B24EA80E}" type="slidenum">
              <a:rPr lang="en-US" altLang="zh-CN" sz="800"/>
              <a:pPr/>
              <a:t>61</a:t>
            </a:fld>
            <a:endParaRPr lang="en-US" altLang="zh-CN" sz="800"/>
          </a:p>
        </p:txBody>
      </p:sp>
      <p:sp>
        <p:nvSpPr>
          <p:cNvPr id="2977994" name="Line 202">
            <a:extLst>
              <a:ext uri="{FF2B5EF4-FFF2-40B4-BE49-F238E27FC236}">
                <a16:creationId xmlns:a16="http://schemas.microsoft.com/office/drawing/2014/main" id="{7BCB2CDF-19D5-2851-6810-CB3272311402}"/>
              </a:ext>
            </a:extLst>
          </p:cNvPr>
          <p:cNvSpPr>
            <a:spLocks noChangeShapeType="1"/>
          </p:cNvSpPr>
          <p:nvPr/>
        </p:nvSpPr>
        <p:spPr bwMode="auto">
          <a:xfrm>
            <a:off x="5724525" y="3800475"/>
            <a:ext cx="1514475" cy="30480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7995" name="Line 203">
            <a:extLst>
              <a:ext uri="{FF2B5EF4-FFF2-40B4-BE49-F238E27FC236}">
                <a16:creationId xmlns:a16="http://schemas.microsoft.com/office/drawing/2014/main" id="{E0BFAB52-AAF5-FF55-CC4D-9D0CBFB344C6}"/>
              </a:ext>
            </a:extLst>
          </p:cNvPr>
          <p:cNvSpPr>
            <a:spLocks noChangeShapeType="1"/>
          </p:cNvSpPr>
          <p:nvPr/>
        </p:nvSpPr>
        <p:spPr bwMode="auto">
          <a:xfrm>
            <a:off x="5715000" y="3686175"/>
            <a:ext cx="1533525" cy="19050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7940" name="Line 148">
            <a:extLst>
              <a:ext uri="{FF2B5EF4-FFF2-40B4-BE49-F238E27FC236}">
                <a16:creationId xmlns:a16="http://schemas.microsoft.com/office/drawing/2014/main" id="{7561F91F-74B6-22BF-03C3-A46077D4AFC6}"/>
              </a:ext>
            </a:extLst>
          </p:cNvPr>
          <p:cNvSpPr>
            <a:spLocks noChangeShapeType="1"/>
          </p:cNvSpPr>
          <p:nvPr/>
        </p:nvSpPr>
        <p:spPr bwMode="auto">
          <a:xfrm flipV="1">
            <a:off x="5661025" y="3084513"/>
            <a:ext cx="1566863" cy="36512"/>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7939" name="Line 147">
            <a:extLst>
              <a:ext uri="{FF2B5EF4-FFF2-40B4-BE49-F238E27FC236}">
                <a16:creationId xmlns:a16="http://schemas.microsoft.com/office/drawing/2014/main" id="{035C8B62-2239-4BF9-0702-D16A6D1ED868}"/>
              </a:ext>
            </a:extLst>
          </p:cNvPr>
          <p:cNvSpPr>
            <a:spLocks noChangeShapeType="1"/>
          </p:cNvSpPr>
          <p:nvPr/>
        </p:nvSpPr>
        <p:spPr bwMode="auto">
          <a:xfrm flipV="1">
            <a:off x="5668963" y="2840038"/>
            <a:ext cx="1577975" cy="18415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7987" name="Rectangle 195">
            <a:extLst>
              <a:ext uri="{FF2B5EF4-FFF2-40B4-BE49-F238E27FC236}">
                <a16:creationId xmlns:a16="http://schemas.microsoft.com/office/drawing/2014/main" id="{BFA9E9BA-7960-13B3-72FE-2B752C72411E}"/>
              </a:ext>
            </a:extLst>
          </p:cNvPr>
          <p:cNvSpPr>
            <a:spLocks noChangeArrowheads="1"/>
          </p:cNvSpPr>
          <p:nvPr/>
        </p:nvSpPr>
        <p:spPr bwMode="auto">
          <a:xfrm>
            <a:off x="7229475" y="3013075"/>
            <a:ext cx="115888" cy="125413"/>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7988" name="Rectangle 196">
            <a:extLst>
              <a:ext uri="{FF2B5EF4-FFF2-40B4-BE49-F238E27FC236}">
                <a16:creationId xmlns:a16="http://schemas.microsoft.com/office/drawing/2014/main" id="{C5DBF623-DBEA-EC2C-57A3-E156E98F16D8}"/>
              </a:ext>
            </a:extLst>
          </p:cNvPr>
          <p:cNvSpPr>
            <a:spLocks noChangeArrowheads="1"/>
          </p:cNvSpPr>
          <p:nvPr/>
        </p:nvSpPr>
        <p:spPr bwMode="auto">
          <a:xfrm>
            <a:off x="7229475" y="2784475"/>
            <a:ext cx="115888" cy="127000"/>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7989" name="Rectangle 197">
            <a:extLst>
              <a:ext uri="{FF2B5EF4-FFF2-40B4-BE49-F238E27FC236}">
                <a16:creationId xmlns:a16="http://schemas.microsoft.com/office/drawing/2014/main" id="{AC640735-0BDF-B9DA-7FE5-D6724781CD1E}"/>
              </a:ext>
            </a:extLst>
          </p:cNvPr>
          <p:cNvSpPr>
            <a:spLocks noChangeArrowheads="1"/>
          </p:cNvSpPr>
          <p:nvPr/>
        </p:nvSpPr>
        <p:spPr bwMode="auto">
          <a:xfrm>
            <a:off x="7240588" y="4035425"/>
            <a:ext cx="117475" cy="125413"/>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77990" name="Rectangle 198">
            <a:extLst>
              <a:ext uri="{FF2B5EF4-FFF2-40B4-BE49-F238E27FC236}">
                <a16:creationId xmlns:a16="http://schemas.microsoft.com/office/drawing/2014/main" id="{7AE7F618-B403-0C0E-9A59-8975A1B552D3}"/>
              </a:ext>
            </a:extLst>
          </p:cNvPr>
          <p:cNvSpPr>
            <a:spLocks noChangeArrowheads="1"/>
          </p:cNvSpPr>
          <p:nvPr/>
        </p:nvSpPr>
        <p:spPr bwMode="auto">
          <a:xfrm>
            <a:off x="7240588" y="3806825"/>
            <a:ext cx="117475" cy="127000"/>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pic>
        <p:nvPicPr>
          <p:cNvPr id="2977991" name="Picture 199">
            <a:extLst>
              <a:ext uri="{FF2B5EF4-FFF2-40B4-BE49-F238E27FC236}">
                <a16:creationId xmlns:a16="http://schemas.microsoft.com/office/drawing/2014/main" id="{4F7DFE1E-47ED-86D4-EDCE-A59A6E8FB7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6788" y="2341563"/>
            <a:ext cx="1474787"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7795" name="Line 3">
            <a:extLst>
              <a:ext uri="{FF2B5EF4-FFF2-40B4-BE49-F238E27FC236}">
                <a16:creationId xmlns:a16="http://schemas.microsoft.com/office/drawing/2014/main" id="{0A13B930-312A-6F06-BDA9-A55D8810CBF7}"/>
              </a:ext>
            </a:extLst>
          </p:cNvPr>
          <p:cNvSpPr>
            <a:spLocks noChangeShapeType="1"/>
          </p:cNvSpPr>
          <p:nvPr/>
        </p:nvSpPr>
        <p:spPr bwMode="auto">
          <a:xfrm flipV="1">
            <a:off x="2774950" y="3152775"/>
            <a:ext cx="2160588" cy="67945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7796" name="Line 4">
            <a:extLst>
              <a:ext uri="{FF2B5EF4-FFF2-40B4-BE49-F238E27FC236}">
                <a16:creationId xmlns:a16="http://schemas.microsoft.com/office/drawing/2014/main" id="{0DCD29F0-1D3F-0F09-CB64-EEB928F812BF}"/>
              </a:ext>
            </a:extLst>
          </p:cNvPr>
          <p:cNvSpPr>
            <a:spLocks noChangeShapeType="1"/>
          </p:cNvSpPr>
          <p:nvPr/>
        </p:nvSpPr>
        <p:spPr bwMode="auto">
          <a:xfrm flipV="1">
            <a:off x="2970213" y="3786188"/>
            <a:ext cx="1919287" cy="122237"/>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7797" name="Rectangle 5">
            <a:extLst>
              <a:ext uri="{FF2B5EF4-FFF2-40B4-BE49-F238E27FC236}">
                <a16:creationId xmlns:a16="http://schemas.microsoft.com/office/drawing/2014/main" id="{E0C23BD1-18F4-0C1D-7CC3-8E45F9BD2A99}"/>
              </a:ext>
            </a:extLst>
          </p:cNvPr>
          <p:cNvSpPr>
            <a:spLocks noGrp="1" noChangeArrowheads="1"/>
          </p:cNvSpPr>
          <p:nvPr>
            <p:ph type="title"/>
          </p:nvPr>
        </p:nvSpPr>
        <p:spPr/>
        <p:txBody>
          <a:bodyPr/>
          <a:lstStyle/>
          <a:p>
            <a:r>
              <a:rPr lang="en-US" altLang="zh-CN">
                <a:ea typeface="宋体" panose="02010600030101010101" pitchFamily="2" charset="-122"/>
              </a:rPr>
              <a:t>Capacity Monitoring Example: Storage Array</a:t>
            </a:r>
          </a:p>
        </p:txBody>
      </p:sp>
      <p:sp>
        <p:nvSpPr>
          <p:cNvPr id="2977928" name="Text Box 136">
            <a:extLst>
              <a:ext uri="{FF2B5EF4-FFF2-40B4-BE49-F238E27FC236}">
                <a16:creationId xmlns:a16="http://schemas.microsoft.com/office/drawing/2014/main" id="{57AC157B-00FE-74E4-0429-460FB1B55858}"/>
              </a:ext>
            </a:extLst>
          </p:cNvPr>
          <p:cNvSpPr txBox="1">
            <a:spLocks noChangeArrowheads="1"/>
          </p:cNvSpPr>
          <p:nvPr/>
        </p:nvSpPr>
        <p:spPr bwMode="auto">
          <a:xfrm>
            <a:off x="4765675" y="2425700"/>
            <a:ext cx="920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SW1</a:t>
            </a:r>
          </a:p>
        </p:txBody>
      </p:sp>
      <p:sp>
        <p:nvSpPr>
          <p:cNvPr id="2977943" name="Text Box 151">
            <a:extLst>
              <a:ext uri="{FF2B5EF4-FFF2-40B4-BE49-F238E27FC236}">
                <a16:creationId xmlns:a16="http://schemas.microsoft.com/office/drawing/2014/main" id="{3B36FA1A-3C28-EC88-A039-85B998C794B3}"/>
              </a:ext>
            </a:extLst>
          </p:cNvPr>
          <p:cNvSpPr txBox="1">
            <a:spLocks noChangeArrowheads="1"/>
          </p:cNvSpPr>
          <p:nvPr/>
        </p:nvSpPr>
        <p:spPr bwMode="auto">
          <a:xfrm>
            <a:off x="1282700" y="1239838"/>
            <a:ext cx="2228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New Server</a:t>
            </a:r>
          </a:p>
        </p:txBody>
      </p:sp>
      <p:sp>
        <p:nvSpPr>
          <p:cNvPr id="2977944" name="Line 152">
            <a:extLst>
              <a:ext uri="{FF2B5EF4-FFF2-40B4-BE49-F238E27FC236}">
                <a16:creationId xmlns:a16="http://schemas.microsoft.com/office/drawing/2014/main" id="{71A1F88D-2CD1-799C-DA4C-72A8560AD112}"/>
              </a:ext>
            </a:extLst>
          </p:cNvPr>
          <p:cNvSpPr>
            <a:spLocks noChangeShapeType="1"/>
          </p:cNvSpPr>
          <p:nvPr/>
        </p:nvSpPr>
        <p:spPr bwMode="auto">
          <a:xfrm>
            <a:off x="2689225" y="2251075"/>
            <a:ext cx="2357438" cy="839788"/>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7945" name="Line 153">
            <a:extLst>
              <a:ext uri="{FF2B5EF4-FFF2-40B4-BE49-F238E27FC236}">
                <a16:creationId xmlns:a16="http://schemas.microsoft.com/office/drawing/2014/main" id="{56BFD90E-4EEB-EB81-D3C6-F8518B604EEB}"/>
              </a:ext>
            </a:extLst>
          </p:cNvPr>
          <p:cNvSpPr>
            <a:spLocks noChangeShapeType="1"/>
          </p:cNvSpPr>
          <p:nvPr/>
        </p:nvSpPr>
        <p:spPr bwMode="auto">
          <a:xfrm>
            <a:off x="2854325" y="2528888"/>
            <a:ext cx="2060575" cy="1179512"/>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7946" name="AutoShape 154">
            <a:extLst>
              <a:ext uri="{FF2B5EF4-FFF2-40B4-BE49-F238E27FC236}">
                <a16:creationId xmlns:a16="http://schemas.microsoft.com/office/drawing/2014/main" id="{9B9A84BF-80E9-9E16-D7DD-A7B77DA9EEE4}"/>
              </a:ext>
            </a:extLst>
          </p:cNvPr>
          <p:cNvSpPr>
            <a:spLocks noChangeArrowheads="1"/>
          </p:cNvSpPr>
          <p:nvPr/>
        </p:nvSpPr>
        <p:spPr bwMode="auto">
          <a:xfrm>
            <a:off x="4813300" y="4965700"/>
            <a:ext cx="4144963" cy="655638"/>
          </a:xfrm>
          <a:prstGeom prst="wedgeRoundRectCallout">
            <a:avLst>
              <a:gd name="adj1" fmla="val 15569"/>
              <a:gd name="adj2" fmla="val -131597"/>
              <a:gd name="adj3" fmla="val 16667"/>
            </a:avLst>
          </a:prstGeom>
          <a:solidFill>
            <a:srgbClr val="EAEAEA"/>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50800" defTabSz="941388">
              <a:spcBef>
                <a:spcPct val="0"/>
              </a:spcBef>
              <a:defRPr>
                <a:solidFill>
                  <a:schemeClr val="tx1"/>
                </a:solidFill>
                <a:latin typeface="Arial" panose="020B0604020202020204" pitchFamily="34" charset="0"/>
                <a:cs typeface="Arial" panose="020B0604020202020204" pitchFamily="34" charset="0"/>
              </a:defRPr>
            </a:lvl1pPr>
            <a:lvl2pPr marL="519113"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003580"/>
                </a:solidFill>
                <a:ea typeface="宋体" panose="02010600030101010101" pitchFamily="2" charset="-122"/>
              </a:rPr>
              <a:t>Can the Array provide the required storage to the new server?</a:t>
            </a:r>
          </a:p>
        </p:txBody>
      </p:sp>
      <p:sp>
        <p:nvSpPr>
          <p:cNvPr id="2977949" name="Text Box 157">
            <a:extLst>
              <a:ext uri="{FF2B5EF4-FFF2-40B4-BE49-F238E27FC236}">
                <a16:creationId xmlns:a16="http://schemas.microsoft.com/office/drawing/2014/main" id="{B5847356-922B-A584-CDDB-B80DB3F7AFBE}"/>
              </a:ext>
            </a:extLst>
          </p:cNvPr>
          <p:cNvSpPr txBox="1">
            <a:spLocks noChangeArrowheads="1"/>
          </p:cNvSpPr>
          <p:nvPr/>
        </p:nvSpPr>
        <p:spPr bwMode="auto">
          <a:xfrm>
            <a:off x="1708150" y="5738813"/>
            <a:ext cx="3108325"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Hosts/Servers with Applications</a:t>
            </a:r>
          </a:p>
        </p:txBody>
      </p:sp>
      <p:pic>
        <p:nvPicPr>
          <p:cNvPr id="2977968" name="Picture 176">
            <a:extLst>
              <a:ext uri="{FF2B5EF4-FFF2-40B4-BE49-F238E27FC236}">
                <a16:creationId xmlns:a16="http://schemas.microsoft.com/office/drawing/2014/main" id="{BD02530B-772B-E82B-2B5E-EADB9DB8AC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4338" y="3233738"/>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7969" name="Picture 177">
            <a:extLst>
              <a:ext uri="{FF2B5EF4-FFF2-40B4-BE49-F238E27FC236}">
                <a16:creationId xmlns:a16="http://schemas.microsoft.com/office/drawing/2014/main" id="{48649CF2-B840-FEFC-84AB-6A08A37F65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6738" y="3386138"/>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7970" name="Picture 178">
            <a:extLst>
              <a:ext uri="{FF2B5EF4-FFF2-40B4-BE49-F238E27FC236}">
                <a16:creationId xmlns:a16="http://schemas.microsoft.com/office/drawing/2014/main" id="{C8D65795-5B5E-B39D-44A4-2A55408776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9138" y="3538538"/>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7971" name="Picture 179">
            <a:extLst>
              <a:ext uri="{FF2B5EF4-FFF2-40B4-BE49-F238E27FC236}">
                <a16:creationId xmlns:a16="http://schemas.microsoft.com/office/drawing/2014/main" id="{7679321F-12C7-97DA-8F06-0D32AF3FF6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1538" y="3690938"/>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7972" name="Picture 180">
            <a:extLst>
              <a:ext uri="{FF2B5EF4-FFF2-40B4-BE49-F238E27FC236}">
                <a16:creationId xmlns:a16="http://schemas.microsoft.com/office/drawing/2014/main" id="{0D85D8F1-28D0-7FA2-FB76-47ED991745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3938" y="3843338"/>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7973" name="Picture 181">
            <a:extLst>
              <a:ext uri="{FF2B5EF4-FFF2-40B4-BE49-F238E27FC236}">
                <a16:creationId xmlns:a16="http://schemas.microsoft.com/office/drawing/2014/main" id="{B2723460-708F-B72D-D2C4-6FE5861404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6338" y="3995738"/>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7974" name="Picture 182">
            <a:extLst>
              <a:ext uri="{FF2B5EF4-FFF2-40B4-BE49-F238E27FC236}">
                <a16:creationId xmlns:a16="http://schemas.microsoft.com/office/drawing/2014/main" id="{CC10054E-7E3F-FE31-BB2A-25F9F289E2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8738" y="4148138"/>
            <a:ext cx="917575" cy="1462087"/>
          </a:xfrm>
          <a:prstGeom prst="rect">
            <a:avLst/>
          </a:prstGeom>
          <a:noFill/>
          <a:extLst>
            <a:ext uri="{909E8E84-426E-40DD-AFC4-6F175D3DCCD1}">
              <a14:hiddenFill xmlns:a14="http://schemas.microsoft.com/office/drawing/2010/main">
                <a:solidFill>
                  <a:srgbClr val="FFFFFF"/>
                </a:solidFill>
              </a14:hiddenFill>
            </a:ext>
          </a:extLst>
        </p:spPr>
      </p:pic>
      <p:sp>
        <p:nvSpPr>
          <p:cNvPr id="2977975" name="AutoShape 183">
            <a:extLst>
              <a:ext uri="{FF2B5EF4-FFF2-40B4-BE49-F238E27FC236}">
                <a16:creationId xmlns:a16="http://schemas.microsoft.com/office/drawing/2014/main" id="{5326B2A3-AD3D-DF37-9AFF-3FF5CB50A8C8}"/>
              </a:ext>
            </a:extLst>
          </p:cNvPr>
          <p:cNvSpPr>
            <a:spLocks noChangeArrowheads="1"/>
          </p:cNvSpPr>
          <p:nvPr/>
        </p:nvSpPr>
        <p:spPr bwMode="auto">
          <a:xfrm>
            <a:off x="4810125" y="2857500"/>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77976" name="Freeform 184">
            <a:extLst>
              <a:ext uri="{FF2B5EF4-FFF2-40B4-BE49-F238E27FC236}">
                <a16:creationId xmlns:a16="http://schemas.microsoft.com/office/drawing/2014/main" id="{80FFCED4-FC55-1599-79EC-D7B8A7EA5902}"/>
              </a:ext>
            </a:extLst>
          </p:cNvPr>
          <p:cNvSpPr>
            <a:spLocks/>
          </p:cNvSpPr>
          <p:nvPr/>
        </p:nvSpPr>
        <p:spPr bwMode="auto">
          <a:xfrm>
            <a:off x="4911725" y="2928938"/>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7977" name="Freeform 185">
            <a:extLst>
              <a:ext uri="{FF2B5EF4-FFF2-40B4-BE49-F238E27FC236}">
                <a16:creationId xmlns:a16="http://schemas.microsoft.com/office/drawing/2014/main" id="{6F4752F1-498A-BDE1-DFCB-8F3866CD18AD}"/>
              </a:ext>
            </a:extLst>
          </p:cNvPr>
          <p:cNvSpPr>
            <a:spLocks/>
          </p:cNvSpPr>
          <p:nvPr/>
        </p:nvSpPr>
        <p:spPr bwMode="auto">
          <a:xfrm>
            <a:off x="4911725" y="303530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7978" name="Freeform 186">
            <a:extLst>
              <a:ext uri="{FF2B5EF4-FFF2-40B4-BE49-F238E27FC236}">
                <a16:creationId xmlns:a16="http://schemas.microsoft.com/office/drawing/2014/main" id="{BBDE4DAB-512F-E027-E59E-D8B53192BBA5}"/>
              </a:ext>
            </a:extLst>
          </p:cNvPr>
          <p:cNvSpPr>
            <a:spLocks/>
          </p:cNvSpPr>
          <p:nvPr/>
        </p:nvSpPr>
        <p:spPr bwMode="auto">
          <a:xfrm flipH="1">
            <a:off x="5224463" y="298450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7979" name="Freeform 187">
            <a:extLst>
              <a:ext uri="{FF2B5EF4-FFF2-40B4-BE49-F238E27FC236}">
                <a16:creationId xmlns:a16="http://schemas.microsoft.com/office/drawing/2014/main" id="{B45CB1CC-B251-A898-3906-4527F449CA96}"/>
              </a:ext>
            </a:extLst>
          </p:cNvPr>
          <p:cNvSpPr>
            <a:spLocks/>
          </p:cNvSpPr>
          <p:nvPr/>
        </p:nvSpPr>
        <p:spPr bwMode="auto">
          <a:xfrm flipH="1">
            <a:off x="5224463" y="3090863"/>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7980" name="AutoShape 188">
            <a:extLst>
              <a:ext uri="{FF2B5EF4-FFF2-40B4-BE49-F238E27FC236}">
                <a16:creationId xmlns:a16="http://schemas.microsoft.com/office/drawing/2014/main" id="{B53900B1-BFE7-B6CA-8BA8-6E19FB1A0807}"/>
              </a:ext>
            </a:extLst>
          </p:cNvPr>
          <p:cNvSpPr>
            <a:spLocks noChangeArrowheads="1"/>
          </p:cNvSpPr>
          <p:nvPr/>
        </p:nvSpPr>
        <p:spPr bwMode="auto">
          <a:xfrm>
            <a:off x="4857750" y="3543300"/>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77981" name="Freeform 189">
            <a:extLst>
              <a:ext uri="{FF2B5EF4-FFF2-40B4-BE49-F238E27FC236}">
                <a16:creationId xmlns:a16="http://schemas.microsoft.com/office/drawing/2014/main" id="{0B83F47B-AF64-182D-4936-5DD1BB4253BB}"/>
              </a:ext>
            </a:extLst>
          </p:cNvPr>
          <p:cNvSpPr>
            <a:spLocks/>
          </p:cNvSpPr>
          <p:nvPr/>
        </p:nvSpPr>
        <p:spPr bwMode="auto">
          <a:xfrm>
            <a:off x="4959350" y="3595688"/>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7982" name="Freeform 190">
            <a:extLst>
              <a:ext uri="{FF2B5EF4-FFF2-40B4-BE49-F238E27FC236}">
                <a16:creationId xmlns:a16="http://schemas.microsoft.com/office/drawing/2014/main" id="{2D8F79FE-EFC2-69ED-A622-0A6487785B56}"/>
              </a:ext>
            </a:extLst>
          </p:cNvPr>
          <p:cNvSpPr>
            <a:spLocks/>
          </p:cNvSpPr>
          <p:nvPr/>
        </p:nvSpPr>
        <p:spPr bwMode="auto">
          <a:xfrm>
            <a:off x="4959350" y="370205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7983" name="Freeform 191">
            <a:extLst>
              <a:ext uri="{FF2B5EF4-FFF2-40B4-BE49-F238E27FC236}">
                <a16:creationId xmlns:a16="http://schemas.microsoft.com/office/drawing/2014/main" id="{05F296C2-B574-E255-15B4-C0AD2933F956}"/>
              </a:ext>
            </a:extLst>
          </p:cNvPr>
          <p:cNvSpPr>
            <a:spLocks/>
          </p:cNvSpPr>
          <p:nvPr/>
        </p:nvSpPr>
        <p:spPr bwMode="auto">
          <a:xfrm flipH="1">
            <a:off x="5272088" y="3651250"/>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7984" name="Freeform 192">
            <a:extLst>
              <a:ext uri="{FF2B5EF4-FFF2-40B4-BE49-F238E27FC236}">
                <a16:creationId xmlns:a16="http://schemas.microsoft.com/office/drawing/2014/main" id="{9B78859D-DBB7-C1F2-C8C5-44F16271D91B}"/>
              </a:ext>
            </a:extLst>
          </p:cNvPr>
          <p:cNvSpPr>
            <a:spLocks/>
          </p:cNvSpPr>
          <p:nvPr/>
        </p:nvSpPr>
        <p:spPr bwMode="auto">
          <a:xfrm flipH="1">
            <a:off x="5272088" y="3757613"/>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77993" name="Text Box 201">
            <a:extLst>
              <a:ext uri="{FF2B5EF4-FFF2-40B4-BE49-F238E27FC236}">
                <a16:creationId xmlns:a16="http://schemas.microsoft.com/office/drawing/2014/main" id="{063842E2-08EF-7E5F-34F9-A2E1823CBBFF}"/>
              </a:ext>
            </a:extLst>
          </p:cNvPr>
          <p:cNvSpPr txBox="1">
            <a:spLocks noChangeArrowheads="1"/>
          </p:cNvSpPr>
          <p:nvPr/>
        </p:nvSpPr>
        <p:spPr bwMode="auto">
          <a:xfrm>
            <a:off x="4832350" y="4149725"/>
            <a:ext cx="9207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SW2</a:t>
            </a:r>
          </a:p>
        </p:txBody>
      </p:sp>
      <p:grpSp>
        <p:nvGrpSpPr>
          <p:cNvPr id="2977998" name="Group 206">
            <a:extLst>
              <a:ext uri="{FF2B5EF4-FFF2-40B4-BE49-F238E27FC236}">
                <a16:creationId xmlns:a16="http://schemas.microsoft.com/office/drawing/2014/main" id="{6F0F911F-00A3-D3DA-9C3C-E8DE061C7B3F}"/>
              </a:ext>
            </a:extLst>
          </p:cNvPr>
          <p:cNvGrpSpPr>
            <a:grpSpLocks/>
          </p:cNvGrpSpPr>
          <p:nvPr/>
        </p:nvGrpSpPr>
        <p:grpSpPr bwMode="auto">
          <a:xfrm>
            <a:off x="1951038" y="1595438"/>
            <a:ext cx="1036637" cy="1462087"/>
            <a:chOff x="1229" y="1005"/>
            <a:chExt cx="653" cy="921"/>
          </a:xfrm>
        </p:grpSpPr>
        <p:pic>
          <p:nvPicPr>
            <p:cNvPr id="2977992" name="Picture 200">
              <a:extLst>
                <a:ext uri="{FF2B5EF4-FFF2-40B4-BE49-F238E27FC236}">
                  <a16:creationId xmlns:a16="http://schemas.microsoft.com/office/drawing/2014/main" id="{5DEF1F90-C34C-54D1-EB04-5540C53A65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9" y="1005"/>
              <a:ext cx="578" cy="921"/>
            </a:xfrm>
            <a:prstGeom prst="rect">
              <a:avLst/>
            </a:prstGeom>
            <a:noFill/>
            <a:extLst>
              <a:ext uri="{909E8E84-426E-40DD-AFC4-6F175D3DCCD1}">
                <a14:hiddenFill xmlns:a14="http://schemas.microsoft.com/office/drawing/2010/main">
                  <a:solidFill>
                    <a:srgbClr val="FFFFFF"/>
                  </a:solidFill>
                </a14:hiddenFill>
              </a:ext>
            </a:extLst>
          </p:spPr>
        </p:pic>
        <p:sp>
          <p:nvSpPr>
            <p:cNvPr id="2977996" name="Text Box 204">
              <a:extLst>
                <a:ext uri="{FF2B5EF4-FFF2-40B4-BE49-F238E27FC236}">
                  <a16:creationId xmlns:a16="http://schemas.microsoft.com/office/drawing/2014/main" id="{20C46779-0B1B-6B06-A5FE-2B1EFB63ACA7}"/>
                </a:ext>
              </a:extLst>
            </p:cNvPr>
            <p:cNvSpPr txBox="1">
              <a:spLocks noChangeArrowheads="1"/>
            </p:cNvSpPr>
            <p:nvPr/>
          </p:nvSpPr>
          <p:spPr bwMode="auto">
            <a:xfrm>
              <a:off x="1708" y="1412"/>
              <a:ext cx="174" cy="96"/>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77997" name="Text Box 205">
              <a:extLst>
                <a:ext uri="{FF2B5EF4-FFF2-40B4-BE49-F238E27FC236}">
                  <a16:creationId xmlns:a16="http://schemas.microsoft.com/office/drawing/2014/main" id="{D8406123-4B17-47A7-4328-2BCBC365916D}"/>
                </a:ext>
              </a:extLst>
            </p:cNvPr>
            <p:cNvSpPr txBox="1">
              <a:spLocks noChangeArrowheads="1"/>
            </p:cNvSpPr>
            <p:nvPr/>
          </p:nvSpPr>
          <p:spPr bwMode="auto">
            <a:xfrm>
              <a:off x="1707" y="1561"/>
              <a:ext cx="174" cy="96"/>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79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77943"/>
                                        </p:tgtEl>
                                        <p:attrNameLst>
                                          <p:attrName>style.visibility</p:attrName>
                                        </p:attrNameLst>
                                      </p:cBhvr>
                                      <p:to>
                                        <p:strVal val="visible"/>
                                      </p:to>
                                    </p:set>
                                  </p:childTnLst>
                                </p:cTn>
                              </p:par>
                              <p:par>
                                <p:cTn id="9" presetID="22" presetClass="entr" presetSubtype="8" fill="hold" nodeType="withEffect">
                                  <p:stCondLst>
                                    <p:cond delay="0"/>
                                  </p:stCondLst>
                                  <p:childTnLst>
                                    <p:set>
                                      <p:cBhvr>
                                        <p:cTn id="10" dur="1" fill="hold">
                                          <p:stCondLst>
                                            <p:cond delay="0"/>
                                          </p:stCondLst>
                                        </p:cTn>
                                        <p:tgtEl>
                                          <p:spTgt spid="2977945"/>
                                        </p:tgtEl>
                                        <p:attrNameLst>
                                          <p:attrName>style.visibility</p:attrName>
                                        </p:attrNameLst>
                                      </p:cBhvr>
                                      <p:to>
                                        <p:strVal val="visible"/>
                                      </p:to>
                                    </p:set>
                                    <p:animEffect transition="in" filter="wipe(left)">
                                      <p:cBhvr>
                                        <p:cTn id="11" dur="1000"/>
                                        <p:tgtEl>
                                          <p:spTgt spid="2977945"/>
                                        </p:tgtEl>
                                      </p:cBhvr>
                                    </p:animEffect>
                                  </p:childTnLst>
                                </p:cTn>
                              </p:par>
                              <p:par>
                                <p:cTn id="12" presetID="22" presetClass="entr" presetSubtype="8" fill="hold" nodeType="withEffect">
                                  <p:stCondLst>
                                    <p:cond delay="0"/>
                                  </p:stCondLst>
                                  <p:childTnLst>
                                    <p:set>
                                      <p:cBhvr>
                                        <p:cTn id="13" dur="1" fill="hold">
                                          <p:stCondLst>
                                            <p:cond delay="0"/>
                                          </p:stCondLst>
                                        </p:cTn>
                                        <p:tgtEl>
                                          <p:spTgt spid="2977944"/>
                                        </p:tgtEl>
                                        <p:attrNameLst>
                                          <p:attrName>style.visibility</p:attrName>
                                        </p:attrNameLst>
                                      </p:cBhvr>
                                      <p:to>
                                        <p:strVal val="visible"/>
                                      </p:to>
                                    </p:set>
                                    <p:animEffect transition="in" filter="wipe(left)">
                                      <p:cBhvr>
                                        <p:cTn id="14" dur="1000"/>
                                        <p:tgtEl>
                                          <p:spTgt spid="297794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779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7943" grpId="0"/>
      <p:bldP spid="297794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851635A1-8112-A0A8-E5AF-876E0C318BA5}"/>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E19E949A-6B55-728E-1A00-4768F48BF4CF}"/>
              </a:ext>
            </a:extLst>
          </p:cNvPr>
          <p:cNvSpPr>
            <a:spLocks noGrp="1"/>
          </p:cNvSpPr>
          <p:nvPr>
            <p:ph type="sldNum" sz="quarter" idx="11"/>
          </p:nvPr>
        </p:nvSpPr>
        <p:spPr/>
        <p:txBody>
          <a:bodyPr/>
          <a:lstStyle/>
          <a:p>
            <a:r>
              <a:rPr lang="zh-CN" altLang="en-US"/>
              <a:t> </a:t>
            </a:r>
            <a:r>
              <a:rPr lang="en-US" altLang="zh-CN"/>
              <a:t>- </a:t>
            </a:r>
            <a:fld id="{60773BCC-F3C9-4F17-BFB7-3D765026651F}" type="slidenum">
              <a:rPr lang="en-US" altLang="zh-CN" sz="800"/>
              <a:pPr/>
              <a:t>62</a:t>
            </a:fld>
            <a:endParaRPr lang="en-US" altLang="zh-CN" sz="800"/>
          </a:p>
        </p:txBody>
      </p:sp>
      <p:pic>
        <p:nvPicPr>
          <p:cNvPr id="2979885" name="Picture 45">
            <a:extLst>
              <a:ext uri="{FF2B5EF4-FFF2-40B4-BE49-F238E27FC236}">
                <a16:creationId xmlns:a16="http://schemas.microsoft.com/office/drawing/2014/main" id="{7F405507-C24C-A02F-DCC6-0108E030E2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963" y="2566988"/>
            <a:ext cx="917575" cy="1462087"/>
          </a:xfrm>
          <a:prstGeom prst="rect">
            <a:avLst/>
          </a:prstGeom>
          <a:noFill/>
          <a:extLst>
            <a:ext uri="{909E8E84-426E-40DD-AFC4-6F175D3DCCD1}">
              <a14:hiddenFill xmlns:a14="http://schemas.microsoft.com/office/drawing/2010/main">
                <a:solidFill>
                  <a:srgbClr val="FFFFFF"/>
                </a:solidFill>
              </a14:hiddenFill>
            </a:ext>
          </a:extLst>
        </p:spPr>
      </p:pic>
      <p:pic>
        <p:nvPicPr>
          <p:cNvPr id="2979842" name="Picture 2">
            <a:extLst>
              <a:ext uri="{FF2B5EF4-FFF2-40B4-BE49-F238E27FC236}">
                <a16:creationId xmlns:a16="http://schemas.microsoft.com/office/drawing/2014/main" id="{2606FFDD-6861-26EE-E13B-C8463B7979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9788" y="2700338"/>
            <a:ext cx="45720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9843" name="Rectangle 3">
            <a:extLst>
              <a:ext uri="{FF2B5EF4-FFF2-40B4-BE49-F238E27FC236}">
                <a16:creationId xmlns:a16="http://schemas.microsoft.com/office/drawing/2014/main" id="{79770160-B4F9-E789-BA0B-794638DC073F}"/>
              </a:ext>
            </a:extLst>
          </p:cNvPr>
          <p:cNvSpPr>
            <a:spLocks noGrp="1" noChangeArrowheads="1"/>
          </p:cNvSpPr>
          <p:nvPr>
            <p:ph type="title"/>
          </p:nvPr>
        </p:nvSpPr>
        <p:spPr/>
        <p:txBody>
          <a:bodyPr/>
          <a:lstStyle/>
          <a:p>
            <a:r>
              <a:rPr lang="en-US" altLang="zh-CN">
                <a:ea typeface="宋体" panose="02010600030101010101" pitchFamily="2" charset="-122"/>
              </a:rPr>
              <a:t>Capacity Monitoring Example: File System Space</a:t>
            </a:r>
          </a:p>
        </p:txBody>
      </p:sp>
      <p:sp>
        <p:nvSpPr>
          <p:cNvPr id="2979845" name="Text Box 5">
            <a:extLst>
              <a:ext uri="{FF2B5EF4-FFF2-40B4-BE49-F238E27FC236}">
                <a16:creationId xmlns:a16="http://schemas.microsoft.com/office/drawing/2014/main" id="{A7EB5398-C07E-C35B-43C2-A92C55285BAE}"/>
              </a:ext>
            </a:extLst>
          </p:cNvPr>
          <p:cNvSpPr txBox="1">
            <a:spLocks noChangeArrowheads="1"/>
          </p:cNvSpPr>
          <p:nvPr/>
        </p:nvSpPr>
        <p:spPr bwMode="auto">
          <a:xfrm>
            <a:off x="1876425" y="2451100"/>
            <a:ext cx="1797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400" b="1">
                <a:solidFill>
                  <a:schemeClr val="tx1"/>
                </a:solidFill>
                <a:ea typeface="宋体" panose="02010600030101010101" pitchFamily="2" charset="-122"/>
              </a:rPr>
              <a:t>File System</a:t>
            </a:r>
          </a:p>
        </p:txBody>
      </p:sp>
      <p:sp>
        <p:nvSpPr>
          <p:cNvPr id="2979846" name="AutoShape 6">
            <a:extLst>
              <a:ext uri="{FF2B5EF4-FFF2-40B4-BE49-F238E27FC236}">
                <a16:creationId xmlns:a16="http://schemas.microsoft.com/office/drawing/2014/main" id="{BA2ADCE9-ED23-59DE-BEE3-74467BD4E870}"/>
              </a:ext>
            </a:extLst>
          </p:cNvPr>
          <p:cNvSpPr>
            <a:spLocks noChangeAspect="1" noChangeArrowheads="1" noTextEdit="1"/>
          </p:cNvSpPr>
          <p:nvPr/>
        </p:nvSpPr>
        <p:spPr bwMode="auto">
          <a:xfrm>
            <a:off x="2027238" y="2747963"/>
            <a:ext cx="949325"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2979847" name="Freeform 7">
            <a:extLst>
              <a:ext uri="{FF2B5EF4-FFF2-40B4-BE49-F238E27FC236}">
                <a16:creationId xmlns:a16="http://schemas.microsoft.com/office/drawing/2014/main" id="{2AB648D7-34BD-535E-4FBF-5467126203F8}"/>
              </a:ext>
            </a:extLst>
          </p:cNvPr>
          <p:cNvSpPr>
            <a:spLocks/>
          </p:cNvSpPr>
          <p:nvPr/>
        </p:nvSpPr>
        <p:spPr bwMode="auto">
          <a:xfrm>
            <a:off x="2511425" y="2754313"/>
            <a:ext cx="461963" cy="639762"/>
          </a:xfrm>
          <a:custGeom>
            <a:avLst/>
            <a:gdLst>
              <a:gd name="T0" fmla="*/ 0 w 291"/>
              <a:gd name="T1" fmla="*/ 0 h 403"/>
              <a:gd name="T2" fmla="*/ 0 w 291"/>
              <a:gd name="T3" fmla="*/ 397 h 403"/>
              <a:gd name="T4" fmla="*/ 285 w 291"/>
              <a:gd name="T5" fmla="*/ 403 h 403"/>
              <a:gd name="T6" fmla="*/ 291 w 291"/>
              <a:gd name="T7" fmla="*/ 82 h 403"/>
              <a:gd name="T8" fmla="*/ 213 w 291"/>
              <a:gd name="T9" fmla="*/ 6 h 403"/>
              <a:gd name="T10" fmla="*/ 0 w 291"/>
              <a:gd name="T11" fmla="*/ 0 h 403"/>
            </a:gdLst>
            <a:ahLst/>
            <a:cxnLst>
              <a:cxn ang="0">
                <a:pos x="T0" y="T1"/>
              </a:cxn>
              <a:cxn ang="0">
                <a:pos x="T2" y="T3"/>
              </a:cxn>
              <a:cxn ang="0">
                <a:pos x="T4" y="T5"/>
              </a:cxn>
              <a:cxn ang="0">
                <a:pos x="T6" y="T7"/>
              </a:cxn>
              <a:cxn ang="0">
                <a:pos x="T8" y="T9"/>
              </a:cxn>
              <a:cxn ang="0">
                <a:pos x="T10" y="T11"/>
              </a:cxn>
            </a:cxnLst>
            <a:rect l="0" t="0" r="r" b="b"/>
            <a:pathLst>
              <a:path w="291" h="403">
                <a:moveTo>
                  <a:pt x="0" y="0"/>
                </a:moveTo>
                <a:lnTo>
                  <a:pt x="0" y="397"/>
                </a:lnTo>
                <a:lnTo>
                  <a:pt x="285" y="403"/>
                </a:lnTo>
                <a:lnTo>
                  <a:pt x="291" y="82"/>
                </a:lnTo>
                <a:lnTo>
                  <a:pt x="213" y="6"/>
                </a:lnTo>
                <a:lnTo>
                  <a:pt x="0" y="0"/>
                </a:lnTo>
                <a:close/>
              </a:path>
            </a:pathLst>
          </a:custGeom>
          <a:solidFill>
            <a:srgbClr val="7AB4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2979848" name="Picture 8">
            <a:extLst>
              <a:ext uri="{FF2B5EF4-FFF2-40B4-BE49-F238E27FC236}">
                <a16:creationId xmlns:a16="http://schemas.microsoft.com/office/drawing/2014/main" id="{818DA50D-C42A-0992-5B4F-237A7ECAEE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9838" y="2760663"/>
            <a:ext cx="45720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849" name="Picture 9">
            <a:extLst>
              <a:ext uri="{FF2B5EF4-FFF2-40B4-BE49-F238E27FC236}">
                <a16:creationId xmlns:a16="http://schemas.microsoft.com/office/drawing/2014/main" id="{27FD9346-8812-9C6C-A925-739371CA5A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0988" y="2768600"/>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9850" name="Freeform 10">
            <a:extLst>
              <a:ext uri="{FF2B5EF4-FFF2-40B4-BE49-F238E27FC236}">
                <a16:creationId xmlns:a16="http://schemas.microsoft.com/office/drawing/2014/main" id="{D4914838-211B-8795-ACA2-028075C67832}"/>
              </a:ext>
            </a:extLst>
          </p:cNvPr>
          <p:cNvSpPr>
            <a:spLocks/>
          </p:cNvSpPr>
          <p:nvPr/>
        </p:nvSpPr>
        <p:spPr bwMode="auto">
          <a:xfrm>
            <a:off x="2293938" y="3067050"/>
            <a:ext cx="461962" cy="639763"/>
          </a:xfrm>
          <a:custGeom>
            <a:avLst/>
            <a:gdLst>
              <a:gd name="T0" fmla="*/ 0 w 291"/>
              <a:gd name="T1" fmla="*/ 0 h 403"/>
              <a:gd name="T2" fmla="*/ 0 w 291"/>
              <a:gd name="T3" fmla="*/ 399 h 403"/>
              <a:gd name="T4" fmla="*/ 285 w 291"/>
              <a:gd name="T5" fmla="*/ 403 h 403"/>
              <a:gd name="T6" fmla="*/ 291 w 291"/>
              <a:gd name="T7" fmla="*/ 84 h 403"/>
              <a:gd name="T8" fmla="*/ 213 w 291"/>
              <a:gd name="T9" fmla="*/ 6 h 403"/>
              <a:gd name="T10" fmla="*/ 0 w 291"/>
              <a:gd name="T11" fmla="*/ 0 h 403"/>
            </a:gdLst>
            <a:ahLst/>
            <a:cxnLst>
              <a:cxn ang="0">
                <a:pos x="T0" y="T1"/>
              </a:cxn>
              <a:cxn ang="0">
                <a:pos x="T2" y="T3"/>
              </a:cxn>
              <a:cxn ang="0">
                <a:pos x="T4" y="T5"/>
              </a:cxn>
              <a:cxn ang="0">
                <a:pos x="T6" y="T7"/>
              </a:cxn>
              <a:cxn ang="0">
                <a:pos x="T8" y="T9"/>
              </a:cxn>
              <a:cxn ang="0">
                <a:pos x="T10" y="T11"/>
              </a:cxn>
            </a:cxnLst>
            <a:rect l="0" t="0" r="r" b="b"/>
            <a:pathLst>
              <a:path w="291" h="403">
                <a:moveTo>
                  <a:pt x="0" y="0"/>
                </a:moveTo>
                <a:lnTo>
                  <a:pt x="0" y="399"/>
                </a:lnTo>
                <a:lnTo>
                  <a:pt x="285" y="403"/>
                </a:lnTo>
                <a:lnTo>
                  <a:pt x="291" y="84"/>
                </a:lnTo>
                <a:lnTo>
                  <a:pt x="213" y="6"/>
                </a:lnTo>
                <a:lnTo>
                  <a:pt x="0" y="0"/>
                </a:lnTo>
                <a:close/>
              </a:path>
            </a:pathLst>
          </a:custGeom>
          <a:solidFill>
            <a:srgbClr val="7AB4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2979851" name="Picture 11">
            <a:extLst>
              <a:ext uri="{FF2B5EF4-FFF2-40B4-BE49-F238E27FC236}">
                <a16:creationId xmlns:a16="http://schemas.microsoft.com/office/drawing/2014/main" id="{A26C6BD7-D8C4-3649-99A9-355AF3F618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3938" y="3074988"/>
            <a:ext cx="45561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852" name="Picture 12">
            <a:extLst>
              <a:ext uri="{FF2B5EF4-FFF2-40B4-BE49-F238E27FC236}">
                <a16:creationId xmlns:a16="http://schemas.microsoft.com/office/drawing/2014/main" id="{E641DA65-6C00-FEB9-B8B4-988B1574E0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3500" y="3082925"/>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853" name="Picture 13">
            <a:extLst>
              <a:ext uri="{FF2B5EF4-FFF2-40B4-BE49-F238E27FC236}">
                <a16:creationId xmlns:a16="http://schemas.microsoft.com/office/drawing/2014/main" id="{7650A114-B598-2B4F-D4A9-17043840CB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03500" y="3076575"/>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854" name="Picture 14">
            <a:extLst>
              <a:ext uri="{FF2B5EF4-FFF2-40B4-BE49-F238E27FC236}">
                <a16:creationId xmlns:a16="http://schemas.microsoft.com/office/drawing/2014/main" id="{DD83608E-2077-869E-42F5-6A549D6BFAD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44700" y="3390900"/>
            <a:ext cx="4556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855" name="Picture 15">
            <a:extLst>
              <a:ext uri="{FF2B5EF4-FFF2-40B4-BE49-F238E27FC236}">
                <a16:creationId xmlns:a16="http://schemas.microsoft.com/office/drawing/2014/main" id="{4FF42E22-4766-144A-023A-068C1BCBEF4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5850" y="3362325"/>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9856" name="Freeform 16">
            <a:extLst>
              <a:ext uri="{FF2B5EF4-FFF2-40B4-BE49-F238E27FC236}">
                <a16:creationId xmlns:a16="http://schemas.microsoft.com/office/drawing/2014/main" id="{90FE29FC-DC1E-1C6B-D409-27069DDB08C1}"/>
              </a:ext>
            </a:extLst>
          </p:cNvPr>
          <p:cNvSpPr>
            <a:spLocks/>
          </p:cNvSpPr>
          <p:nvPr/>
        </p:nvSpPr>
        <p:spPr bwMode="auto">
          <a:xfrm>
            <a:off x="2038350" y="3384550"/>
            <a:ext cx="465138" cy="638175"/>
          </a:xfrm>
          <a:custGeom>
            <a:avLst/>
            <a:gdLst>
              <a:gd name="T0" fmla="*/ 0 w 293"/>
              <a:gd name="T1" fmla="*/ 0 h 402"/>
              <a:gd name="T2" fmla="*/ 0 w 293"/>
              <a:gd name="T3" fmla="*/ 396 h 402"/>
              <a:gd name="T4" fmla="*/ 287 w 293"/>
              <a:gd name="T5" fmla="*/ 402 h 402"/>
              <a:gd name="T6" fmla="*/ 293 w 293"/>
              <a:gd name="T7" fmla="*/ 82 h 402"/>
              <a:gd name="T8" fmla="*/ 215 w 293"/>
              <a:gd name="T9" fmla="*/ 3 h 402"/>
              <a:gd name="T10" fmla="*/ 0 w 293"/>
              <a:gd name="T11" fmla="*/ 0 h 402"/>
            </a:gdLst>
            <a:ahLst/>
            <a:cxnLst>
              <a:cxn ang="0">
                <a:pos x="T0" y="T1"/>
              </a:cxn>
              <a:cxn ang="0">
                <a:pos x="T2" y="T3"/>
              </a:cxn>
              <a:cxn ang="0">
                <a:pos x="T4" y="T5"/>
              </a:cxn>
              <a:cxn ang="0">
                <a:pos x="T6" y="T7"/>
              </a:cxn>
              <a:cxn ang="0">
                <a:pos x="T8" y="T9"/>
              </a:cxn>
              <a:cxn ang="0">
                <a:pos x="T10" y="T11"/>
              </a:cxn>
            </a:cxnLst>
            <a:rect l="0" t="0" r="r" b="b"/>
            <a:pathLst>
              <a:path w="293" h="402">
                <a:moveTo>
                  <a:pt x="0" y="0"/>
                </a:moveTo>
                <a:lnTo>
                  <a:pt x="0" y="396"/>
                </a:lnTo>
                <a:lnTo>
                  <a:pt x="287" y="402"/>
                </a:lnTo>
                <a:lnTo>
                  <a:pt x="293" y="82"/>
                </a:lnTo>
                <a:lnTo>
                  <a:pt x="215" y="3"/>
                </a:lnTo>
                <a:lnTo>
                  <a:pt x="0" y="0"/>
                </a:lnTo>
                <a:close/>
              </a:path>
            </a:pathLst>
          </a:custGeom>
          <a:gradFill rotWithShape="1">
            <a:gsLst>
              <a:gs pos="0">
                <a:srgbClr val="2A84D6"/>
              </a:gs>
              <a:gs pos="100000">
                <a:srgbClr val="2A84D6">
                  <a:gamma/>
                  <a:shade val="46275"/>
                  <a:invGamma/>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979857" name="Freeform 17">
            <a:extLst>
              <a:ext uri="{FF2B5EF4-FFF2-40B4-BE49-F238E27FC236}">
                <a16:creationId xmlns:a16="http://schemas.microsoft.com/office/drawing/2014/main" id="{5415BB21-2A6B-063F-C6D2-264D09C18D92}"/>
              </a:ext>
            </a:extLst>
          </p:cNvPr>
          <p:cNvSpPr>
            <a:spLocks/>
          </p:cNvSpPr>
          <p:nvPr/>
        </p:nvSpPr>
        <p:spPr bwMode="auto">
          <a:xfrm>
            <a:off x="2292350" y="3079750"/>
            <a:ext cx="465138" cy="638175"/>
          </a:xfrm>
          <a:custGeom>
            <a:avLst/>
            <a:gdLst>
              <a:gd name="T0" fmla="*/ 0 w 293"/>
              <a:gd name="T1" fmla="*/ 0 h 402"/>
              <a:gd name="T2" fmla="*/ 0 w 293"/>
              <a:gd name="T3" fmla="*/ 396 h 402"/>
              <a:gd name="T4" fmla="*/ 287 w 293"/>
              <a:gd name="T5" fmla="*/ 402 h 402"/>
              <a:gd name="T6" fmla="*/ 293 w 293"/>
              <a:gd name="T7" fmla="*/ 82 h 402"/>
              <a:gd name="T8" fmla="*/ 215 w 293"/>
              <a:gd name="T9" fmla="*/ 3 h 402"/>
              <a:gd name="T10" fmla="*/ 0 w 293"/>
              <a:gd name="T11" fmla="*/ 0 h 402"/>
            </a:gdLst>
            <a:ahLst/>
            <a:cxnLst>
              <a:cxn ang="0">
                <a:pos x="T0" y="T1"/>
              </a:cxn>
              <a:cxn ang="0">
                <a:pos x="T2" y="T3"/>
              </a:cxn>
              <a:cxn ang="0">
                <a:pos x="T4" y="T5"/>
              </a:cxn>
              <a:cxn ang="0">
                <a:pos x="T6" y="T7"/>
              </a:cxn>
              <a:cxn ang="0">
                <a:pos x="T8" y="T9"/>
              </a:cxn>
              <a:cxn ang="0">
                <a:pos x="T10" y="T11"/>
              </a:cxn>
            </a:cxnLst>
            <a:rect l="0" t="0" r="r" b="b"/>
            <a:pathLst>
              <a:path w="293" h="402">
                <a:moveTo>
                  <a:pt x="0" y="0"/>
                </a:moveTo>
                <a:lnTo>
                  <a:pt x="0" y="396"/>
                </a:lnTo>
                <a:lnTo>
                  <a:pt x="287" y="402"/>
                </a:lnTo>
                <a:lnTo>
                  <a:pt x="293" y="82"/>
                </a:lnTo>
                <a:lnTo>
                  <a:pt x="215" y="3"/>
                </a:lnTo>
                <a:lnTo>
                  <a:pt x="0" y="0"/>
                </a:lnTo>
                <a:close/>
              </a:path>
            </a:pathLst>
          </a:custGeom>
          <a:gradFill rotWithShape="1">
            <a:gsLst>
              <a:gs pos="0">
                <a:srgbClr val="2A84D6"/>
              </a:gs>
              <a:gs pos="100000">
                <a:srgbClr val="2A84D6">
                  <a:gamma/>
                  <a:shade val="46275"/>
                  <a:invGamma/>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979858" name="Freeform 18">
            <a:extLst>
              <a:ext uri="{FF2B5EF4-FFF2-40B4-BE49-F238E27FC236}">
                <a16:creationId xmlns:a16="http://schemas.microsoft.com/office/drawing/2014/main" id="{A3B22FDC-B057-8CD6-3C80-B15A3F6B0B2A}"/>
              </a:ext>
            </a:extLst>
          </p:cNvPr>
          <p:cNvSpPr>
            <a:spLocks/>
          </p:cNvSpPr>
          <p:nvPr/>
        </p:nvSpPr>
        <p:spPr bwMode="auto">
          <a:xfrm>
            <a:off x="2503488" y="2755900"/>
            <a:ext cx="465137" cy="638175"/>
          </a:xfrm>
          <a:custGeom>
            <a:avLst/>
            <a:gdLst>
              <a:gd name="T0" fmla="*/ 0 w 293"/>
              <a:gd name="T1" fmla="*/ 0 h 402"/>
              <a:gd name="T2" fmla="*/ 0 w 293"/>
              <a:gd name="T3" fmla="*/ 396 h 402"/>
              <a:gd name="T4" fmla="*/ 287 w 293"/>
              <a:gd name="T5" fmla="*/ 402 h 402"/>
              <a:gd name="T6" fmla="*/ 293 w 293"/>
              <a:gd name="T7" fmla="*/ 82 h 402"/>
              <a:gd name="T8" fmla="*/ 215 w 293"/>
              <a:gd name="T9" fmla="*/ 3 h 402"/>
              <a:gd name="T10" fmla="*/ 0 w 293"/>
              <a:gd name="T11" fmla="*/ 0 h 402"/>
            </a:gdLst>
            <a:ahLst/>
            <a:cxnLst>
              <a:cxn ang="0">
                <a:pos x="T0" y="T1"/>
              </a:cxn>
              <a:cxn ang="0">
                <a:pos x="T2" y="T3"/>
              </a:cxn>
              <a:cxn ang="0">
                <a:pos x="T4" y="T5"/>
              </a:cxn>
              <a:cxn ang="0">
                <a:pos x="T6" y="T7"/>
              </a:cxn>
              <a:cxn ang="0">
                <a:pos x="T8" y="T9"/>
              </a:cxn>
              <a:cxn ang="0">
                <a:pos x="T10" y="T11"/>
              </a:cxn>
            </a:cxnLst>
            <a:rect l="0" t="0" r="r" b="b"/>
            <a:pathLst>
              <a:path w="293" h="402">
                <a:moveTo>
                  <a:pt x="0" y="0"/>
                </a:moveTo>
                <a:lnTo>
                  <a:pt x="0" y="396"/>
                </a:lnTo>
                <a:lnTo>
                  <a:pt x="287" y="402"/>
                </a:lnTo>
                <a:lnTo>
                  <a:pt x="293" y="82"/>
                </a:lnTo>
                <a:lnTo>
                  <a:pt x="215" y="3"/>
                </a:lnTo>
                <a:lnTo>
                  <a:pt x="0" y="0"/>
                </a:lnTo>
                <a:close/>
              </a:path>
            </a:pathLst>
          </a:custGeom>
          <a:gradFill rotWithShape="1">
            <a:gsLst>
              <a:gs pos="0">
                <a:srgbClr val="2A84D6"/>
              </a:gs>
              <a:gs pos="100000">
                <a:srgbClr val="2A84D6">
                  <a:gamma/>
                  <a:shade val="46275"/>
                  <a:invGamma/>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979859" name="Line 19">
            <a:extLst>
              <a:ext uri="{FF2B5EF4-FFF2-40B4-BE49-F238E27FC236}">
                <a16:creationId xmlns:a16="http://schemas.microsoft.com/office/drawing/2014/main" id="{21C658B2-61F3-1665-4AC4-6910E9073181}"/>
              </a:ext>
            </a:extLst>
          </p:cNvPr>
          <p:cNvSpPr>
            <a:spLocks noChangeShapeType="1"/>
          </p:cNvSpPr>
          <p:nvPr/>
        </p:nvSpPr>
        <p:spPr bwMode="auto">
          <a:xfrm>
            <a:off x="1606550" y="3308350"/>
            <a:ext cx="438150" cy="0"/>
          </a:xfrm>
          <a:prstGeom prst="line">
            <a:avLst/>
          </a:prstGeom>
          <a:noFill/>
          <a:ln w="25400">
            <a:solidFill>
              <a:srgbClr val="FF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nvGrpSpPr>
          <p:cNvPr id="2979860" name="Group 20">
            <a:extLst>
              <a:ext uri="{FF2B5EF4-FFF2-40B4-BE49-F238E27FC236}">
                <a16:creationId xmlns:a16="http://schemas.microsoft.com/office/drawing/2014/main" id="{B147FCBC-9561-EA70-B55D-06BA9AAEC752}"/>
              </a:ext>
            </a:extLst>
          </p:cNvPr>
          <p:cNvGrpSpPr>
            <a:grpSpLocks noChangeAspect="1"/>
          </p:cNvGrpSpPr>
          <p:nvPr/>
        </p:nvGrpSpPr>
        <p:grpSpPr bwMode="auto">
          <a:xfrm>
            <a:off x="639763" y="2989263"/>
            <a:ext cx="577850" cy="577850"/>
            <a:chOff x="987" y="2944"/>
            <a:chExt cx="220" cy="220"/>
          </a:xfrm>
        </p:grpSpPr>
        <p:sp>
          <p:nvSpPr>
            <p:cNvPr id="2979861" name="Oval 21">
              <a:extLst>
                <a:ext uri="{FF2B5EF4-FFF2-40B4-BE49-F238E27FC236}">
                  <a16:creationId xmlns:a16="http://schemas.microsoft.com/office/drawing/2014/main" id="{19AA162B-648C-86A3-0458-4919190C75DF}"/>
                </a:ext>
              </a:extLst>
            </p:cNvPr>
            <p:cNvSpPr>
              <a:spLocks noChangeAspect="1" noChangeArrowheads="1"/>
            </p:cNvSpPr>
            <p:nvPr/>
          </p:nvSpPr>
          <p:spPr bwMode="auto">
            <a:xfrm>
              <a:off x="987" y="2944"/>
              <a:ext cx="220" cy="220"/>
            </a:xfrm>
            <a:prstGeom prst="ellipse">
              <a:avLst/>
            </a:prstGeom>
            <a:noFill/>
            <a:ln w="38100" algn="ctr">
              <a:solidFill>
                <a:srgbClr val="FF0000"/>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79862" name="Line 22">
              <a:extLst>
                <a:ext uri="{FF2B5EF4-FFF2-40B4-BE49-F238E27FC236}">
                  <a16:creationId xmlns:a16="http://schemas.microsoft.com/office/drawing/2014/main" id="{1A23DF10-CB7E-7F12-9BE0-E6F7C4801F0C}"/>
                </a:ext>
              </a:extLst>
            </p:cNvPr>
            <p:cNvSpPr>
              <a:spLocks noChangeAspect="1" noChangeShapeType="1"/>
            </p:cNvSpPr>
            <p:nvPr/>
          </p:nvSpPr>
          <p:spPr bwMode="auto">
            <a:xfrm flipV="1">
              <a:off x="1006" y="2997"/>
              <a:ext cx="183" cy="130"/>
            </a:xfrm>
            <a:prstGeom prst="line">
              <a:avLst/>
            </a:prstGeom>
            <a:noFill/>
            <a:ln w="38100">
              <a:solidFill>
                <a:srgbClr val="FF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sp>
        <p:nvSpPr>
          <p:cNvPr id="2979864" name="Text Box 24">
            <a:extLst>
              <a:ext uri="{FF2B5EF4-FFF2-40B4-BE49-F238E27FC236}">
                <a16:creationId xmlns:a16="http://schemas.microsoft.com/office/drawing/2014/main" id="{8342F0F8-8D51-21F7-4FEC-B7D0125224FB}"/>
              </a:ext>
            </a:extLst>
          </p:cNvPr>
          <p:cNvSpPr txBox="1">
            <a:spLocks noChangeArrowheads="1"/>
          </p:cNvSpPr>
          <p:nvPr/>
        </p:nvSpPr>
        <p:spPr bwMode="auto">
          <a:xfrm>
            <a:off x="6407150" y="2351088"/>
            <a:ext cx="17970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400" b="1">
                <a:solidFill>
                  <a:schemeClr val="tx1"/>
                </a:solidFill>
                <a:ea typeface="宋体" panose="02010600030101010101" pitchFamily="2" charset="-122"/>
              </a:rPr>
              <a:t>File System</a:t>
            </a:r>
          </a:p>
        </p:txBody>
      </p:sp>
      <p:sp>
        <p:nvSpPr>
          <p:cNvPr id="2979865" name="AutoShape 25">
            <a:extLst>
              <a:ext uri="{FF2B5EF4-FFF2-40B4-BE49-F238E27FC236}">
                <a16:creationId xmlns:a16="http://schemas.microsoft.com/office/drawing/2014/main" id="{4458ACFC-2BB6-4D8C-C4DB-A4112FAE780B}"/>
              </a:ext>
            </a:extLst>
          </p:cNvPr>
          <p:cNvSpPr>
            <a:spLocks noChangeAspect="1" noChangeArrowheads="1" noTextEdit="1"/>
          </p:cNvSpPr>
          <p:nvPr/>
        </p:nvSpPr>
        <p:spPr bwMode="auto">
          <a:xfrm>
            <a:off x="6481763" y="2992438"/>
            <a:ext cx="949325"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2979866" name="Freeform 26">
            <a:extLst>
              <a:ext uri="{FF2B5EF4-FFF2-40B4-BE49-F238E27FC236}">
                <a16:creationId xmlns:a16="http://schemas.microsoft.com/office/drawing/2014/main" id="{A5646115-E4D9-FAE5-E33D-66D84EDA1313}"/>
              </a:ext>
            </a:extLst>
          </p:cNvPr>
          <p:cNvSpPr>
            <a:spLocks/>
          </p:cNvSpPr>
          <p:nvPr/>
        </p:nvSpPr>
        <p:spPr bwMode="auto">
          <a:xfrm>
            <a:off x="6965950" y="2998788"/>
            <a:ext cx="461963" cy="639762"/>
          </a:xfrm>
          <a:custGeom>
            <a:avLst/>
            <a:gdLst>
              <a:gd name="T0" fmla="*/ 0 w 291"/>
              <a:gd name="T1" fmla="*/ 0 h 403"/>
              <a:gd name="T2" fmla="*/ 0 w 291"/>
              <a:gd name="T3" fmla="*/ 397 h 403"/>
              <a:gd name="T4" fmla="*/ 285 w 291"/>
              <a:gd name="T5" fmla="*/ 403 h 403"/>
              <a:gd name="T6" fmla="*/ 291 w 291"/>
              <a:gd name="T7" fmla="*/ 82 h 403"/>
              <a:gd name="T8" fmla="*/ 213 w 291"/>
              <a:gd name="T9" fmla="*/ 6 h 403"/>
              <a:gd name="T10" fmla="*/ 0 w 291"/>
              <a:gd name="T11" fmla="*/ 0 h 403"/>
            </a:gdLst>
            <a:ahLst/>
            <a:cxnLst>
              <a:cxn ang="0">
                <a:pos x="T0" y="T1"/>
              </a:cxn>
              <a:cxn ang="0">
                <a:pos x="T2" y="T3"/>
              </a:cxn>
              <a:cxn ang="0">
                <a:pos x="T4" y="T5"/>
              </a:cxn>
              <a:cxn ang="0">
                <a:pos x="T6" y="T7"/>
              </a:cxn>
              <a:cxn ang="0">
                <a:pos x="T8" y="T9"/>
              </a:cxn>
              <a:cxn ang="0">
                <a:pos x="T10" y="T11"/>
              </a:cxn>
            </a:cxnLst>
            <a:rect l="0" t="0" r="r" b="b"/>
            <a:pathLst>
              <a:path w="291" h="403">
                <a:moveTo>
                  <a:pt x="0" y="0"/>
                </a:moveTo>
                <a:lnTo>
                  <a:pt x="0" y="397"/>
                </a:lnTo>
                <a:lnTo>
                  <a:pt x="285" y="403"/>
                </a:lnTo>
                <a:lnTo>
                  <a:pt x="291" y="82"/>
                </a:lnTo>
                <a:lnTo>
                  <a:pt x="213" y="6"/>
                </a:lnTo>
                <a:lnTo>
                  <a:pt x="0" y="0"/>
                </a:lnTo>
                <a:close/>
              </a:path>
            </a:pathLst>
          </a:custGeom>
          <a:solidFill>
            <a:srgbClr val="7AB4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979867" name="Freeform 27">
            <a:extLst>
              <a:ext uri="{FF2B5EF4-FFF2-40B4-BE49-F238E27FC236}">
                <a16:creationId xmlns:a16="http://schemas.microsoft.com/office/drawing/2014/main" id="{B845F749-C2F9-59ED-255A-2FA9CECD85D1}"/>
              </a:ext>
            </a:extLst>
          </p:cNvPr>
          <p:cNvSpPr>
            <a:spLocks/>
          </p:cNvSpPr>
          <p:nvPr/>
        </p:nvSpPr>
        <p:spPr bwMode="auto">
          <a:xfrm>
            <a:off x="6748463" y="3311525"/>
            <a:ext cx="461962" cy="639763"/>
          </a:xfrm>
          <a:custGeom>
            <a:avLst/>
            <a:gdLst>
              <a:gd name="T0" fmla="*/ 0 w 291"/>
              <a:gd name="T1" fmla="*/ 0 h 403"/>
              <a:gd name="T2" fmla="*/ 0 w 291"/>
              <a:gd name="T3" fmla="*/ 399 h 403"/>
              <a:gd name="T4" fmla="*/ 285 w 291"/>
              <a:gd name="T5" fmla="*/ 403 h 403"/>
              <a:gd name="T6" fmla="*/ 291 w 291"/>
              <a:gd name="T7" fmla="*/ 84 h 403"/>
              <a:gd name="T8" fmla="*/ 213 w 291"/>
              <a:gd name="T9" fmla="*/ 6 h 403"/>
              <a:gd name="T10" fmla="*/ 0 w 291"/>
              <a:gd name="T11" fmla="*/ 0 h 403"/>
            </a:gdLst>
            <a:ahLst/>
            <a:cxnLst>
              <a:cxn ang="0">
                <a:pos x="T0" y="T1"/>
              </a:cxn>
              <a:cxn ang="0">
                <a:pos x="T2" y="T3"/>
              </a:cxn>
              <a:cxn ang="0">
                <a:pos x="T4" y="T5"/>
              </a:cxn>
              <a:cxn ang="0">
                <a:pos x="T6" y="T7"/>
              </a:cxn>
              <a:cxn ang="0">
                <a:pos x="T8" y="T9"/>
              </a:cxn>
              <a:cxn ang="0">
                <a:pos x="T10" y="T11"/>
              </a:cxn>
            </a:cxnLst>
            <a:rect l="0" t="0" r="r" b="b"/>
            <a:pathLst>
              <a:path w="291" h="403">
                <a:moveTo>
                  <a:pt x="0" y="0"/>
                </a:moveTo>
                <a:lnTo>
                  <a:pt x="0" y="399"/>
                </a:lnTo>
                <a:lnTo>
                  <a:pt x="285" y="403"/>
                </a:lnTo>
                <a:lnTo>
                  <a:pt x="291" y="84"/>
                </a:lnTo>
                <a:lnTo>
                  <a:pt x="213" y="6"/>
                </a:lnTo>
                <a:lnTo>
                  <a:pt x="0" y="0"/>
                </a:lnTo>
                <a:close/>
              </a:path>
            </a:pathLst>
          </a:custGeom>
          <a:solidFill>
            <a:srgbClr val="7AB4A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2979868" name="Picture 28">
            <a:extLst>
              <a:ext uri="{FF2B5EF4-FFF2-40B4-BE49-F238E27FC236}">
                <a16:creationId xmlns:a16="http://schemas.microsoft.com/office/drawing/2014/main" id="{D214CC21-88D4-8B61-2E0A-167C051DD1B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48463" y="3319463"/>
            <a:ext cx="45561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869" name="Picture 29">
            <a:extLst>
              <a:ext uri="{FF2B5EF4-FFF2-40B4-BE49-F238E27FC236}">
                <a16:creationId xmlns:a16="http://schemas.microsoft.com/office/drawing/2014/main" id="{8E6676E1-D8C5-0D7E-217A-D32C679308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58025" y="3327400"/>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870" name="Picture 30">
            <a:extLst>
              <a:ext uri="{FF2B5EF4-FFF2-40B4-BE49-F238E27FC236}">
                <a16:creationId xmlns:a16="http://schemas.microsoft.com/office/drawing/2014/main" id="{C4A179F5-A957-5E4F-5038-DE7FAEE656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58025" y="3321050"/>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871" name="Picture 31">
            <a:extLst>
              <a:ext uri="{FF2B5EF4-FFF2-40B4-BE49-F238E27FC236}">
                <a16:creationId xmlns:a16="http://schemas.microsoft.com/office/drawing/2014/main" id="{3B9DE3F1-982C-C86F-59C5-F7707BE4EF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99225" y="3635375"/>
            <a:ext cx="4556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872" name="Picture 32">
            <a:extLst>
              <a:ext uri="{FF2B5EF4-FFF2-40B4-BE49-F238E27FC236}">
                <a16:creationId xmlns:a16="http://schemas.microsoft.com/office/drawing/2014/main" id="{844FAC83-1F1D-AA08-771A-B1A8B50A20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10375" y="3606800"/>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9873" name="Freeform 33">
            <a:extLst>
              <a:ext uri="{FF2B5EF4-FFF2-40B4-BE49-F238E27FC236}">
                <a16:creationId xmlns:a16="http://schemas.microsoft.com/office/drawing/2014/main" id="{2C2B24E1-B8CD-6570-960D-938386701EB9}"/>
              </a:ext>
            </a:extLst>
          </p:cNvPr>
          <p:cNvSpPr>
            <a:spLocks/>
          </p:cNvSpPr>
          <p:nvPr/>
        </p:nvSpPr>
        <p:spPr bwMode="auto">
          <a:xfrm>
            <a:off x="6507163" y="3629025"/>
            <a:ext cx="465137" cy="638175"/>
          </a:xfrm>
          <a:custGeom>
            <a:avLst/>
            <a:gdLst>
              <a:gd name="T0" fmla="*/ 0 w 293"/>
              <a:gd name="T1" fmla="*/ 0 h 402"/>
              <a:gd name="T2" fmla="*/ 0 w 293"/>
              <a:gd name="T3" fmla="*/ 396 h 402"/>
              <a:gd name="T4" fmla="*/ 287 w 293"/>
              <a:gd name="T5" fmla="*/ 402 h 402"/>
              <a:gd name="T6" fmla="*/ 293 w 293"/>
              <a:gd name="T7" fmla="*/ 82 h 402"/>
              <a:gd name="T8" fmla="*/ 215 w 293"/>
              <a:gd name="T9" fmla="*/ 3 h 402"/>
              <a:gd name="T10" fmla="*/ 0 w 293"/>
              <a:gd name="T11" fmla="*/ 0 h 402"/>
            </a:gdLst>
            <a:ahLst/>
            <a:cxnLst>
              <a:cxn ang="0">
                <a:pos x="T0" y="T1"/>
              </a:cxn>
              <a:cxn ang="0">
                <a:pos x="T2" y="T3"/>
              </a:cxn>
              <a:cxn ang="0">
                <a:pos x="T4" y="T5"/>
              </a:cxn>
              <a:cxn ang="0">
                <a:pos x="T6" y="T7"/>
              </a:cxn>
              <a:cxn ang="0">
                <a:pos x="T8" y="T9"/>
              </a:cxn>
              <a:cxn ang="0">
                <a:pos x="T10" y="T11"/>
              </a:cxn>
            </a:cxnLst>
            <a:rect l="0" t="0" r="r" b="b"/>
            <a:pathLst>
              <a:path w="293" h="402">
                <a:moveTo>
                  <a:pt x="0" y="0"/>
                </a:moveTo>
                <a:lnTo>
                  <a:pt x="0" y="396"/>
                </a:lnTo>
                <a:lnTo>
                  <a:pt x="287" y="402"/>
                </a:lnTo>
                <a:lnTo>
                  <a:pt x="293" y="82"/>
                </a:lnTo>
                <a:lnTo>
                  <a:pt x="215" y="3"/>
                </a:lnTo>
                <a:lnTo>
                  <a:pt x="0" y="0"/>
                </a:lnTo>
                <a:close/>
              </a:path>
            </a:pathLst>
          </a:custGeom>
          <a:gradFill rotWithShape="1">
            <a:gsLst>
              <a:gs pos="0">
                <a:srgbClr val="2A84D6"/>
              </a:gs>
              <a:gs pos="100000">
                <a:srgbClr val="2A84D6">
                  <a:gamma/>
                  <a:shade val="46275"/>
                  <a:invGamma/>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979874" name="Freeform 34">
            <a:extLst>
              <a:ext uri="{FF2B5EF4-FFF2-40B4-BE49-F238E27FC236}">
                <a16:creationId xmlns:a16="http://schemas.microsoft.com/office/drawing/2014/main" id="{94FBD441-3438-4382-9075-498F27990C4E}"/>
              </a:ext>
            </a:extLst>
          </p:cNvPr>
          <p:cNvSpPr>
            <a:spLocks/>
          </p:cNvSpPr>
          <p:nvPr/>
        </p:nvSpPr>
        <p:spPr bwMode="auto">
          <a:xfrm>
            <a:off x="6746875" y="3468688"/>
            <a:ext cx="465138" cy="493712"/>
          </a:xfrm>
          <a:custGeom>
            <a:avLst/>
            <a:gdLst>
              <a:gd name="T0" fmla="*/ 0 w 293"/>
              <a:gd name="T1" fmla="*/ 0 h 402"/>
              <a:gd name="T2" fmla="*/ 0 w 293"/>
              <a:gd name="T3" fmla="*/ 396 h 402"/>
              <a:gd name="T4" fmla="*/ 287 w 293"/>
              <a:gd name="T5" fmla="*/ 402 h 402"/>
              <a:gd name="T6" fmla="*/ 293 w 293"/>
              <a:gd name="T7" fmla="*/ 82 h 402"/>
              <a:gd name="T8" fmla="*/ 215 w 293"/>
              <a:gd name="T9" fmla="*/ 3 h 402"/>
              <a:gd name="T10" fmla="*/ 0 w 293"/>
              <a:gd name="T11" fmla="*/ 0 h 402"/>
            </a:gdLst>
            <a:ahLst/>
            <a:cxnLst>
              <a:cxn ang="0">
                <a:pos x="T0" y="T1"/>
              </a:cxn>
              <a:cxn ang="0">
                <a:pos x="T2" y="T3"/>
              </a:cxn>
              <a:cxn ang="0">
                <a:pos x="T4" y="T5"/>
              </a:cxn>
              <a:cxn ang="0">
                <a:pos x="T6" y="T7"/>
              </a:cxn>
              <a:cxn ang="0">
                <a:pos x="T8" y="T9"/>
              </a:cxn>
              <a:cxn ang="0">
                <a:pos x="T10" y="T11"/>
              </a:cxn>
            </a:cxnLst>
            <a:rect l="0" t="0" r="r" b="b"/>
            <a:pathLst>
              <a:path w="293" h="402">
                <a:moveTo>
                  <a:pt x="0" y="0"/>
                </a:moveTo>
                <a:lnTo>
                  <a:pt x="0" y="396"/>
                </a:lnTo>
                <a:lnTo>
                  <a:pt x="287" y="402"/>
                </a:lnTo>
                <a:lnTo>
                  <a:pt x="293" y="82"/>
                </a:lnTo>
                <a:lnTo>
                  <a:pt x="215" y="3"/>
                </a:lnTo>
                <a:lnTo>
                  <a:pt x="0" y="0"/>
                </a:lnTo>
                <a:close/>
              </a:path>
            </a:pathLst>
          </a:custGeom>
          <a:gradFill rotWithShape="1">
            <a:gsLst>
              <a:gs pos="0">
                <a:srgbClr val="2A84D6"/>
              </a:gs>
              <a:gs pos="100000">
                <a:srgbClr val="2A84D6">
                  <a:gamma/>
                  <a:shade val="46275"/>
                  <a:invGamma/>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979875" name="Line 35">
            <a:extLst>
              <a:ext uri="{FF2B5EF4-FFF2-40B4-BE49-F238E27FC236}">
                <a16:creationId xmlns:a16="http://schemas.microsoft.com/office/drawing/2014/main" id="{FAE5C636-6D5B-02D3-C3A5-649A7C1E3B46}"/>
              </a:ext>
            </a:extLst>
          </p:cNvPr>
          <p:cNvSpPr>
            <a:spLocks noChangeShapeType="1"/>
          </p:cNvSpPr>
          <p:nvPr/>
        </p:nvSpPr>
        <p:spPr bwMode="auto">
          <a:xfrm>
            <a:off x="5899150" y="3290888"/>
            <a:ext cx="438150" cy="1587"/>
          </a:xfrm>
          <a:prstGeom prst="line">
            <a:avLst/>
          </a:prstGeom>
          <a:noFill/>
          <a:ln w="25400">
            <a:solidFill>
              <a:srgbClr val="FF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79876" name="AutoShape 36">
            <a:extLst>
              <a:ext uri="{FF2B5EF4-FFF2-40B4-BE49-F238E27FC236}">
                <a16:creationId xmlns:a16="http://schemas.microsoft.com/office/drawing/2014/main" id="{8A0FAF4B-7F58-92BB-DB23-E02352EB0FC1}"/>
              </a:ext>
            </a:extLst>
          </p:cNvPr>
          <p:cNvSpPr>
            <a:spLocks noChangeArrowheads="1"/>
          </p:cNvSpPr>
          <p:nvPr/>
        </p:nvSpPr>
        <p:spPr bwMode="auto">
          <a:xfrm>
            <a:off x="2765425" y="5157788"/>
            <a:ext cx="2935288" cy="401637"/>
          </a:xfrm>
          <a:prstGeom prst="wedgeRectCallout">
            <a:avLst>
              <a:gd name="adj1" fmla="val 88509"/>
              <a:gd name="adj2" fmla="val -502963"/>
            </a:avLst>
          </a:prstGeom>
          <a:solidFill>
            <a:srgbClr val="DDDDDD"/>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rIns="0" bIns="0"/>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FF0000"/>
                </a:solidFill>
                <a:ea typeface="宋体" panose="02010600030101010101" pitchFamily="2" charset="-122"/>
              </a:rPr>
              <a:t>Warning:</a:t>
            </a:r>
            <a:r>
              <a:rPr lang="en-US" altLang="zh-CN" sz="1800" b="1">
                <a:solidFill>
                  <a:srgbClr val="003580"/>
                </a:solidFill>
                <a:ea typeface="宋体" panose="02010600030101010101" pitchFamily="2" charset="-122"/>
              </a:rPr>
              <a:t> FS is 66% Full</a:t>
            </a:r>
          </a:p>
        </p:txBody>
      </p:sp>
      <p:pic>
        <p:nvPicPr>
          <p:cNvPr id="2979877" name="Picture 37">
            <a:extLst>
              <a:ext uri="{FF2B5EF4-FFF2-40B4-BE49-F238E27FC236}">
                <a16:creationId xmlns:a16="http://schemas.microsoft.com/office/drawing/2014/main" id="{D70E5E8E-3792-C6CA-DDED-869CDE6800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1888" y="2695575"/>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9878" name="Picture 38">
            <a:extLst>
              <a:ext uri="{FF2B5EF4-FFF2-40B4-BE49-F238E27FC236}">
                <a16:creationId xmlns:a16="http://schemas.microsoft.com/office/drawing/2014/main" id="{E066A830-CA70-35BA-DBAC-F1F09FFA44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77100" y="3008313"/>
            <a:ext cx="149225"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9879" name="Freeform 39">
            <a:extLst>
              <a:ext uri="{FF2B5EF4-FFF2-40B4-BE49-F238E27FC236}">
                <a16:creationId xmlns:a16="http://schemas.microsoft.com/office/drawing/2014/main" id="{BBCEDFB6-C68F-BB40-FF81-23AEF750FF3C}"/>
              </a:ext>
            </a:extLst>
          </p:cNvPr>
          <p:cNvSpPr>
            <a:spLocks/>
          </p:cNvSpPr>
          <p:nvPr/>
        </p:nvSpPr>
        <p:spPr bwMode="auto">
          <a:xfrm>
            <a:off x="6977063" y="3074988"/>
            <a:ext cx="465137" cy="563562"/>
          </a:xfrm>
          <a:custGeom>
            <a:avLst/>
            <a:gdLst>
              <a:gd name="T0" fmla="*/ 0 w 293"/>
              <a:gd name="T1" fmla="*/ 0 h 402"/>
              <a:gd name="T2" fmla="*/ 0 w 293"/>
              <a:gd name="T3" fmla="*/ 396 h 402"/>
              <a:gd name="T4" fmla="*/ 287 w 293"/>
              <a:gd name="T5" fmla="*/ 402 h 402"/>
              <a:gd name="T6" fmla="*/ 293 w 293"/>
              <a:gd name="T7" fmla="*/ 82 h 402"/>
              <a:gd name="T8" fmla="*/ 215 w 293"/>
              <a:gd name="T9" fmla="*/ 3 h 402"/>
              <a:gd name="T10" fmla="*/ 0 w 293"/>
              <a:gd name="T11" fmla="*/ 0 h 402"/>
            </a:gdLst>
            <a:ahLst/>
            <a:cxnLst>
              <a:cxn ang="0">
                <a:pos x="T0" y="T1"/>
              </a:cxn>
              <a:cxn ang="0">
                <a:pos x="T2" y="T3"/>
              </a:cxn>
              <a:cxn ang="0">
                <a:pos x="T4" y="T5"/>
              </a:cxn>
              <a:cxn ang="0">
                <a:pos x="T6" y="T7"/>
              </a:cxn>
              <a:cxn ang="0">
                <a:pos x="T8" y="T9"/>
              </a:cxn>
              <a:cxn ang="0">
                <a:pos x="T10" y="T11"/>
              </a:cxn>
            </a:cxnLst>
            <a:rect l="0" t="0" r="r" b="b"/>
            <a:pathLst>
              <a:path w="293" h="402">
                <a:moveTo>
                  <a:pt x="0" y="0"/>
                </a:moveTo>
                <a:lnTo>
                  <a:pt x="0" y="396"/>
                </a:lnTo>
                <a:lnTo>
                  <a:pt x="287" y="402"/>
                </a:lnTo>
                <a:lnTo>
                  <a:pt x="293" y="82"/>
                </a:lnTo>
                <a:lnTo>
                  <a:pt x="215" y="3"/>
                </a:lnTo>
                <a:lnTo>
                  <a:pt x="0" y="0"/>
                </a:lnTo>
                <a:close/>
              </a:path>
            </a:pathLst>
          </a:custGeom>
          <a:gradFill rotWithShape="1">
            <a:gsLst>
              <a:gs pos="0">
                <a:srgbClr val="2A84D6"/>
              </a:gs>
              <a:gs pos="100000">
                <a:srgbClr val="2A84D6">
                  <a:gamma/>
                  <a:shade val="46275"/>
                  <a:invGamma/>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979880" name="AutoShape 40">
            <a:extLst>
              <a:ext uri="{FF2B5EF4-FFF2-40B4-BE49-F238E27FC236}">
                <a16:creationId xmlns:a16="http://schemas.microsoft.com/office/drawing/2014/main" id="{52041C36-1647-B1A1-26E5-45C3E876F0D7}"/>
              </a:ext>
            </a:extLst>
          </p:cNvPr>
          <p:cNvSpPr>
            <a:spLocks noChangeArrowheads="1"/>
          </p:cNvSpPr>
          <p:nvPr/>
        </p:nvSpPr>
        <p:spPr bwMode="auto">
          <a:xfrm>
            <a:off x="5153025" y="5630863"/>
            <a:ext cx="2803525" cy="444500"/>
          </a:xfrm>
          <a:prstGeom prst="wedgeRectCallout">
            <a:avLst>
              <a:gd name="adj1" fmla="val 17667"/>
              <a:gd name="adj2" fmla="val -611431"/>
            </a:avLst>
          </a:prstGeom>
          <a:solidFill>
            <a:srgbClr val="DDDDDD"/>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rIns="0" bIns="0"/>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FF0000"/>
                </a:solidFill>
                <a:ea typeface="宋体" panose="02010600030101010101" pitchFamily="2" charset="-122"/>
              </a:rPr>
              <a:t>Critical:</a:t>
            </a:r>
            <a:r>
              <a:rPr lang="en-US" altLang="zh-CN" sz="1800" b="1">
                <a:solidFill>
                  <a:srgbClr val="003580"/>
                </a:solidFill>
                <a:ea typeface="宋体" panose="02010600030101010101" pitchFamily="2" charset="-122"/>
              </a:rPr>
              <a:t> FS is 80% Full</a:t>
            </a:r>
          </a:p>
        </p:txBody>
      </p:sp>
      <p:sp>
        <p:nvSpPr>
          <p:cNvPr id="2979881" name="AutoShape 41">
            <a:extLst>
              <a:ext uri="{FF2B5EF4-FFF2-40B4-BE49-F238E27FC236}">
                <a16:creationId xmlns:a16="http://schemas.microsoft.com/office/drawing/2014/main" id="{7C8DAF74-3640-3AD7-A050-E143C1CAC813}"/>
              </a:ext>
            </a:extLst>
          </p:cNvPr>
          <p:cNvSpPr>
            <a:spLocks noChangeArrowheads="1"/>
          </p:cNvSpPr>
          <p:nvPr/>
        </p:nvSpPr>
        <p:spPr bwMode="auto">
          <a:xfrm>
            <a:off x="7608888" y="4521200"/>
            <a:ext cx="1439862" cy="300038"/>
          </a:xfrm>
          <a:prstGeom prst="wedgeRectCallout">
            <a:avLst>
              <a:gd name="adj1" fmla="val -52537"/>
              <a:gd name="adj2" fmla="val -479102"/>
            </a:avLst>
          </a:prstGeom>
          <a:solidFill>
            <a:srgbClr val="DDDDDD"/>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003580"/>
                </a:solidFill>
                <a:ea typeface="宋体" panose="02010600030101010101" pitchFamily="2" charset="-122"/>
              </a:rPr>
              <a:t>Extend FS</a:t>
            </a:r>
          </a:p>
        </p:txBody>
      </p:sp>
      <p:sp>
        <p:nvSpPr>
          <p:cNvPr id="2979882" name="Text Box 42">
            <a:extLst>
              <a:ext uri="{FF2B5EF4-FFF2-40B4-BE49-F238E27FC236}">
                <a16:creationId xmlns:a16="http://schemas.microsoft.com/office/drawing/2014/main" id="{D1E1D100-A194-97CD-3E5B-F88499FD9521}"/>
              </a:ext>
            </a:extLst>
          </p:cNvPr>
          <p:cNvSpPr txBox="1">
            <a:spLocks noChangeArrowheads="1"/>
          </p:cNvSpPr>
          <p:nvPr/>
        </p:nvSpPr>
        <p:spPr bwMode="auto">
          <a:xfrm>
            <a:off x="962025" y="1614488"/>
            <a:ext cx="2228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003580"/>
                </a:solidFill>
                <a:ea typeface="宋体" panose="02010600030101010101" pitchFamily="2" charset="-122"/>
              </a:rPr>
              <a:t>No Monitoring</a:t>
            </a:r>
          </a:p>
        </p:txBody>
      </p:sp>
      <p:sp>
        <p:nvSpPr>
          <p:cNvPr id="2979883" name="Text Box 43">
            <a:extLst>
              <a:ext uri="{FF2B5EF4-FFF2-40B4-BE49-F238E27FC236}">
                <a16:creationId xmlns:a16="http://schemas.microsoft.com/office/drawing/2014/main" id="{0E4E2BF3-C9F0-63DE-257F-B512E37D908D}"/>
              </a:ext>
            </a:extLst>
          </p:cNvPr>
          <p:cNvSpPr txBox="1">
            <a:spLocks noChangeArrowheads="1"/>
          </p:cNvSpPr>
          <p:nvPr/>
        </p:nvSpPr>
        <p:spPr bwMode="auto">
          <a:xfrm>
            <a:off x="5362575" y="1614488"/>
            <a:ext cx="2228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003580"/>
                </a:solidFill>
                <a:ea typeface="宋体" panose="02010600030101010101" pitchFamily="2" charset="-122"/>
              </a:rPr>
              <a:t>FS Monitoring</a:t>
            </a:r>
          </a:p>
        </p:txBody>
      </p:sp>
      <p:pic>
        <p:nvPicPr>
          <p:cNvPr id="2979886" name="Picture 46">
            <a:extLst>
              <a:ext uri="{FF2B5EF4-FFF2-40B4-BE49-F238E27FC236}">
                <a16:creationId xmlns:a16="http://schemas.microsoft.com/office/drawing/2014/main" id="{0B41F027-8E7D-A14F-9B8E-8DB9E81CF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4738" y="2566988"/>
            <a:ext cx="917575" cy="14620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9859"/>
                                        </p:tgtEl>
                                        <p:attrNameLst>
                                          <p:attrName>style.visibility</p:attrName>
                                        </p:attrNameLst>
                                      </p:cBhvr>
                                      <p:to>
                                        <p:strVal val="visible"/>
                                      </p:to>
                                    </p:set>
                                  </p:childTnLst>
                                </p:cTn>
                              </p:par>
                              <p:par>
                                <p:cTn id="7" presetID="22" presetClass="entr" presetSubtype="4" fill="hold" nodeType="withEffect">
                                  <p:stCondLst>
                                    <p:cond delay="0"/>
                                  </p:stCondLst>
                                  <p:childTnLst>
                                    <p:set>
                                      <p:cBhvr>
                                        <p:cTn id="8" dur="1" fill="hold">
                                          <p:stCondLst>
                                            <p:cond delay="0"/>
                                          </p:stCondLst>
                                        </p:cTn>
                                        <p:tgtEl>
                                          <p:spTgt spid="2979856"/>
                                        </p:tgtEl>
                                        <p:attrNameLst>
                                          <p:attrName>style.visibility</p:attrName>
                                        </p:attrNameLst>
                                      </p:cBhvr>
                                      <p:to>
                                        <p:strVal val="visible"/>
                                      </p:to>
                                    </p:set>
                                    <p:animEffect transition="in" filter="wipe(down)">
                                      <p:cBhvr>
                                        <p:cTn id="9" dur="2000"/>
                                        <p:tgtEl>
                                          <p:spTgt spid="2979856"/>
                                        </p:tgtEl>
                                      </p:cBhvr>
                                    </p:animEffect>
                                  </p:childTnLst>
                                </p:cTn>
                              </p:par>
                            </p:childTnLst>
                          </p:cTn>
                        </p:par>
                        <p:par>
                          <p:cTn id="10" fill="hold" nodeType="afterGroup">
                            <p:stCondLst>
                              <p:cond delay="2000"/>
                            </p:stCondLst>
                            <p:childTnLst>
                              <p:par>
                                <p:cTn id="11" presetID="22" presetClass="entr" presetSubtype="4" fill="hold" nodeType="afterEffect">
                                  <p:stCondLst>
                                    <p:cond delay="0"/>
                                  </p:stCondLst>
                                  <p:childTnLst>
                                    <p:set>
                                      <p:cBhvr>
                                        <p:cTn id="12" dur="1" fill="hold">
                                          <p:stCondLst>
                                            <p:cond delay="0"/>
                                          </p:stCondLst>
                                        </p:cTn>
                                        <p:tgtEl>
                                          <p:spTgt spid="2979857"/>
                                        </p:tgtEl>
                                        <p:attrNameLst>
                                          <p:attrName>style.visibility</p:attrName>
                                        </p:attrNameLst>
                                      </p:cBhvr>
                                      <p:to>
                                        <p:strVal val="visible"/>
                                      </p:to>
                                    </p:set>
                                    <p:animEffect transition="in" filter="wipe(down)">
                                      <p:cBhvr>
                                        <p:cTn id="13" dur="2000"/>
                                        <p:tgtEl>
                                          <p:spTgt spid="2979857"/>
                                        </p:tgtEl>
                                      </p:cBhvr>
                                    </p:animEffect>
                                  </p:childTnLst>
                                </p:cTn>
                              </p:par>
                            </p:childTnLst>
                          </p:cTn>
                        </p:par>
                        <p:par>
                          <p:cTn id="14" fill="hold" nodeType="afterGroup">
                            <p:stCondLst>
                              <p:cond delay="4000"/>
                            </p:stCondLst>
                            <p:childTnLst>
                              <p:par>
                                <p:cTn id="15" presetID="22" presetClass="entr" presetSubtype="4" fill="hold" nodeType="afterEffect">
                                  <p:stCondLst>
                                    <p:cond delay="0"/>
                                  </p:stCondLst>
                                  <p:childTnLst>
                                    <p:set>
                                      <p:cBhvr>
                                        <p:cTn id="16" dur="1" fill="hold">
                                          <p:stCondLst>
                                            <p:cond delay="0"/>
                                          </p:stCondLst>
                                        </p:cTn>
                                        <p:tgtEl>
                                          <p:spTgt spid="2979858"/>
                                        </p:tgtEl>
                                        <p:attrNameLst>
                                          <p:attrName>style.visibility</p:attrName>
                                        </p:attrNameLst>
                                      </p:cBhvr>
                                      <p:to>
                                        <p:strVal val="visible"/>
                                      </p:to>
                                    </p:set>
                                    <p:animEffect transition="in" filter="wipe(down)">
                                      <p:cBhvr>
                                        <p:cTn id="17" dur="2000"/>
                                        <p:tgtEl>
                                          <p:spTgt spid="2979858"/>
                                        </p:tgtEl>
                                      </p:cBhvr>
                                    </p:animEffect>
                                  </p:childTnLst>
                                </p:cTn>
                              </p:par>
                            </p:childTnLst>
                          </p:cTn>
                        </p:par>
                        <p:par>
                          <p:cTn id="18" fill="hold" nodeType="afterGroup">
                            <p:stCondLst>
                              <p:cond delay="6000"/>
                            </p:stCondLst>
                            <p:childTnLst>
                              <p:par>
                                <p:cTn id="19" presetID="1" presetClass="entr" presetSubtype="0" fill="hold" nodeType="afterEffect">
                                  <p:stCondLst>
                                    <p:cond delay="0"/>
                                  </p:stCondLst>
                                  <p:childTnLst>
                                    <p:set>
                                      <p:cBhvr>
                                        <p:cTn id="20" dur="1" fill="hold">
                                          <p:stCondLst>
                                            <p:cond delay="0"/>
                                          </p:stCondLst>
                                        </p:cTn>
                                        <p:tgtEl>
                                          <p:spTgt spid="2979860"/>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979875"/>
                                        </p:tgtEl>
                                        <p:attrNameLst>
                                          <p:attrName>style.visibility</p:attrName>
                                        </p:attrNameLst>
                                      </p:cBhvr>
                                      <p:to>
                                        <p:strVal val="visible"/>
                                      </p:to>
                                    </p:set>
                                  </p:childTnLst>
                                </p:cTn>
                              </p:par>
                            </p:childTnLst>
                          </p:cTn>
                        </p:par>
                        <p:par>
                          <p:cTn id="25" fill="hold" nodeType="afterGroup">
                            <p:stCondLst>
                              <p:cond delay="0"/>
                            </p:stCondLst>
                            <p:childTnLst>
                              <p:par>
                                <p:cTn id="26" presetID="22" presetClass="entr" presetSubtype="4" fill="hold" nodeType="afterEffect">
                                  <p:stCondLst>
                                    <p:cond delay="0"/>
                                  </p:stCondLst>
                                  <p:childTnLst>
                                    <p:set>
                                      <p:cBhvr>
                                        <p:cTn id="27" dur="1" fill="hold">
                                          <p:stCondLst>
                                            <p:cond delay="0"/>
                                          </p:stCondLst>
                                        </p:cTn>
                                        <p:tgtEl>
                                          <p:spTgt spid="2979873"/>
                                        </p:tgtEl>
                                        <p:attrNameLst>
                                          <p:attrName>style.visibility</p:attrName>
                                        </p:attrNameLst>
                                      </p:cBhvr>
                                      <p:to>
                                        <p:strVal val="visible"/>
                                      </p:to>
                                    </p:set>
                                    <p:animEffect transition="in" filter="wipe(down)">
                                      <p:cBhvr>
                                        <p:cTn id="28" dur="2000"/>
                                        <p:tgtEl>
                                          <p:spTgt spid="2979873"/>
                                        </p:tgtEl>
                                      </p:cBhvr>
                                    </p:animEffect>
                                  </p:childTnLst>
                                </p:cTn>
                              </p:par>
                            </p:childTnLst>
                          </p:cTn>
                        </p:par>
                        <p:par>
                          <p:cTn id="29" fill="hold" nodeType="afterGroup">
                            <p:stCondLst>
                              <p:cond delay="2000"/>
                            </p:stCondLst>
                            <p:childTnLst>
                              <p:par>
                                <p:cTn id="30" presetID="22" presetClass="entr" presetSubtype="4" fill="hold" nodeType="afterEffect">
                                  <p:stCondLst>
                                    <p:cond delay="0"/>
                                  </p:stCondLst>
                                  <p:childTnLst>
                                    <p:set>
                                      <p:cBhvr>
                                        <p:cTn id="31" dur="1" fill="hold">
                                          <p:stCondLst>
                                            <p:cond delay="0"/>
                                          </p:stCondLst>
                                        </p:cTn>
                                        <p:tgtEl>
                                          <p:spTgt spid="2979874"/>
                                        </p:tgtEl>
                                        <p:attrNameLst>
                                          <p:attrName>style.visibility</p:attrName>
                                        </p:attrNameLst>
                                      </p:cBhvr>
                                      <p:to>
                                        <p:strVal val="visible"/>
                                      </p:to>
                                    </p:set>
                                    <p:animEffect transition="in" filter="wipe(down)">
                                      <p:cBhvr>
                                        <p:cTn id="32" dur="2000"/>
                                        <p:tgtEl>
                                          <p:spTgt spid="2979874"/>
                                        </p:tgtEl>
                                      </p:cBhvr>
                                    </p:animEffect>
                                  </p:childTnLst>
                                </p:cTn>
                              </p:par>
                            </p:childTnLst>
                          </p:cTn>
                        </p:par>
                        <p:par>
                          <p:cTn id="33" fill="hold" nodeType="afterGroup">
                            <p:stCondLst>
                              <p:cond delay="4000"/>
                            </p:stCondLst>
                            <p:childTnLst>
                              <p:par>
                                <p:cTn id="34" presetID="22" presetClass="entr" presetSubtype="1" fill="hold" grpId="0" nodeType="afterEffect">
                                  <p:stCondLst>
                                    <p:cond delay="0"/>
                                  </p:stCondLst>
                                  <p:childTnLst>
                                    <p:set>
                                      <p:cBhvr>
                                        <p:cTn id="35" dur="1" fill="hold">
                                          <p:stCondLst>
                                            <p:cond delay="0"/>
                                          </p:stCondLst>
                                        </p:cTn>
                                        <p:tgtEl>
                                          <p:spTgt spid="2979876"/>
                                        </p:tgtEl>
                                        <p:attrNameLst>
                                          <p:attrName>style.visibility</p:attrName>
                                        </p:attrNameLst>
                                      </p:cBhvr>
                                      <p:to>
                                        <p:strVal val="visible"/>
                                      </p:to>
                                    </p:set>
                                    <p:animEffect transition="in" filter="wipe(up)">
                                      <p:cBhvr>
                                        <p:cTn id="36" dur="2000"/>
                                        <p:tgtEl>
                                          <p:spTgt spid="2979876"/>
                                        </p:tgtEl>
                                      </p:cBhvr>
                                    </p:animEffect>
                                  </p:childTnLst>
                                  <p:subTnLst>
                                    <p:set>
                                      <p:cBhvr override="childStyle">
                                        <p:cTn dur="1" fill="hold" display="0" masterRel="nextClick" afterEffect="1"/>
                                        <p:tgtEl>
                                          <p:spTgt spid="2979876"/>
                                        </p:tgtEl>
                                        <p:attrNameLst>
                                          <p:attrName>style.visibility</p:attrName>
                                        </p:attrNameLst>
                                      </p:cBhvr>
                                      <p:to>
                                        <p:strVal val="hidden"/>
                                      </p:to>
                                    </p:set>
                                  </p:sub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2979879"/>
                                        </p:tgtEl>
                                        <p:attrNameLst>
                                          <p:attrName>style.visibility</p:attrName>
                                        </p:attrNameLst>
                                      </p:cBhvr>
                                      <p:to>
                                        <p:strVal val="visible"/>
                                      </p:to>
                                    </p:set>
                                    <p:animEffect transition="in" filter="wipe(down)">
                                      <p:cBhvr>
                                        <p:cTn id="41" dur="2000"/>
                                        <p:tgtEl>
                                          <p:spTgt spid="2979879"/>
                                        </p:tgtEl>
                                      </p:cBhvr>
                                    </p:animEffect>
                                  </p:childTnLst>
                                </p:cTn>
                              </p:par>
                            </p:childTnLst>
                          </p:cTn>
                        </p:par>
                        <p:par>
                          <p:cTn id="42" fill="hold" nodeType="afterGroup">
                            <p:stCondLst>
                              <p:cond delay="2000"/>
                            </p:stCondLst>
                            <p:childTnLst>
                              <p:par>
                                <p:cTn id="43" presetID="22" presetClass="entr" presetSubtype="1" fill="hold" grpId="0" nodeType="afterEffect">
                                  <p:stCondLst>
                                    <p:cond delay="0"/>
                                  </p:stCondLst>
                                  <p:childTnLst>
                                    <p:set>
                                      <p:cBhvr>
                                        <p:cTn id="44" dur="1" fill="hold">
                                          <p:stCondLst>
                                            <p:cond delay="0"/>
                                          </p:stCondLst>
                                        </p:cTn>
                                        <p:tgtEl>
                                          <p:spTgt spid="2979880"/>
                                        </p:tgtEl>
                                        <p:attrNameLst>
                                          <p:attrName>style.visibility</p:attrName>
                                        </p:attrNameLst>
                                      </p:cBhvr>
                                      <p:to>
                                        <p:strVal val="visible"/>
                                      </p:to>
                                    </p:set>
                                    <p:animEffect transition="in" filter="wipe(up)">
                                      <p:cBhvr>
                                        <p:cTn id="45" dur="2000"/>
                                        <p:tgtEl>
                                          <p:spTgt spid="2979880"/>
                                        </p:tgtEl>
                                      </p:cBhvr>
                                    </p:animEffect>
                                  </p:childTnLst>
                                  <p:subTnLst>
                                    <p:set>
                                      <p:cBhvr override="childStyle">
                                        <p:cTn dur="1" fill="hold" display="0" masterRel="nextClick" afterEffect="1"/>
                                        <p:tgtEl>
                                          <p:spTgt spid="2979880"/>
                                        </p:tgtEl>
                                        <p:attrNameLst>
                                          <p:attrName>style.visibility</p:attrName>
                                        </p:attrNameLst>
                                      </p:cBhvr>
                                      <p:to>
                                        <p:strVal val="hidden"/>
                                      </p:to>
                                    </p:set>
                                  </p:sub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979881"/>
                                        </p:tgtEl>
                                        <p:attrNameLst>
                                          <p:attrName>style.visibility</p:attrName>
                                        </p:attrNameLst>
                                      </p:cBhvr>
                                      <p:to>
                                        <p:strVal val="visible"/>
                                      </p:to>
                                    </p:set>
                                    <p:animEffect transition="in" filter="wipe(down)">
                                      <p:cBhvr>
                                        <p:cTn id="50" dur="2000"/>
                                        <p:tgtEl>
                                          <p:spTgt spid="2979881"/>
                                        </p:tgtEl>
                                      </p:cBhvr>
                                    </p:animEffect>
                                  </p:childTnLst>
                                </p:cTn>
                              </p:par>
                            </p:childTnLst>
                          </p:cTn>
                        </p:par>
                        <p:par>
                          <p:cTn id="51" fill="hold" nodeType="afterGroup">
                            <p:stCondLst>
                              <p:cond delay="2000"/>
                            </p:stCondLst>
                            <p:childTnLst>
                              <p:par>
                                <p:cTn id="52" presetID="1" presetClass="entr" presetSubtype="0" fill="hold" nodeType="afterEffect">
                                  <p:stCondLst>
                                    <p:cond delay="0"/>
                                  </p:stCondLst>
                                  <p:childTnLst>
                                    <p:set>
                                      <p:cBhvr>
                                        <p:cTn id="53" dur="1" fill="hold">
                                          <p:stCondLst>
                                            <p:cond delay="0"/>
                                          </p:stCondLst>
                                        </p:cTn>
                                        <p:tgtEl>
                                          <p:spTgt spid="2979877"/>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29798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6" grpId="0" animBg="1"/>
      <p:bldP spid="2979880" grpId="0" animBg="1"/>
      <p:bldP spid="297988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A2A91484-36CD-2856-1F75-B49F0DA7873B}"/>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3787F5F8-69F3-EAE3-9720-4B56ED991046}"/>
              </a:ext>
            </a:extLst>
          </p:cNvPr>
          <p:cNvSpPr>
            <a:spLocks noGrp="1"/>
          </p:cNvSpPr>
          <p:nvPr>
            <p:ph type="sldNum" sz="quarter" idx="11"/>
          </p:nvPr>
        </p:nvSpPr>
        <p:spPr/>
        <p:txBody>
          <a:bodyPr/>
          <a:lstStyle/>
          <a:p>
            <a:r>
              <a:rPr lang="zh-CN" altLang="en-US"/>
              <a:t> </a:t>
            </a:r>
            <a:r>
              <a:rPr lang="en-US" altLang="zh-CN"/>
              <a:t>- </a:t>
            </a:r>
            <a:fld id="{AF1F7A34-DEEE-46A4-93A7-9D4CC596B7C2}" type="slidenum">
              <a:rPr lang="en-US" altLang="zh-CN" sz="800"/>
              <a:pPr/>
              <a:t>63</a:t>
            </a:fld>
            <a:endParaRPr lang="en-US" altLang="zh-CN" sz="800"/>
          </a:p>
        </p:txBody>
      </p:sp>
      <p:sp>
        <p:nvSpPr>
          <p:cNvPr id="2981895" name="Line 7">
            <a:extLst>
              <a:ext uri="{FF2B5EF4-FFF2-40B4-BE49-F238E27FC236}">
                <a16:creationId xmlns:a16="http://schemas.microsoft.com/office/drawing/2014/main" id="{AA6CF545-E9E6-4EF0-11AB-180B3EBA5F1D}"/>
              </a:ext>
            </a:extLst>
          </p:cNvPr>
          <p:cNvSpPr>
            <a:spLocks noChangeShapeType="1"/>
          </p:cNvSpPr>
          <p:nvPr/>
        </p:nvSpPr>
        <p:spPr bwMode="auto">
          <a:xfrm>
            <a:off x="4562475" y="3538538"/>
            <a:ext cx="1157288" cy="817562"/>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1890" name="Line 2">
            <a:extLst>
              <a:ext uri="{FF2B5EF4-FFF2-40B4-BE49-F238E27FC236}">
                <a16:creationId xmlns:a16="http://schemas.microsoft.com/office/drawing/2014/main" id="{3DA367DF-35D1-2B06-D554-D805A8A6C53D}"/>
              </a:ext>
            </a:extLst>
          </p:cNvPr>
          <p:cNvSpPr>
            <a:spLocks noChangeShapeType="1"/>
          </p:cNvSpPr>
          <p:nvPr/>
        </p:nvSpPr>
        <p:spPr bwMode="auto">
          <a:xfrm>
            <a:off x="4560888" y="4024313"/>
            <a:ext cx="1173162" cy="560387"/>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nvGrpSpPr>
          <p:cNvPr id="2982235" name="Group 347">
            <a:extLst>
              <a:ext uri="{FF2B5EF4-FFF2-40B4-BE49-F238E27FC236}">
                <a16:creationId xmlns:a16="http://schemas.microsoft.com/office/drawing/2014/main" id="{9A4A099B-19B0-ACC8-C258-E202F1A00AF9}"/>
              </a:ext>
            </a:extLst>
          </p:cNvPr>
          <p:cNvGrpSpPr>
            <a:grpSpLocks/>
          </p:cNvGrpSpPr>
          <p:nvPr/>
        </p:nvGrpSpPr>
        <p:grpSpPr bwMode="auto">
          <a:xfrm>
            <a:off x="5695950" y="3865563"/>
            <a:ext cx="1562100" cy="2460625"/>
            <a:chOff x="4746" y="1625"/>
            <a:chExt cx="792" cy="1400"/>
          </a:xfrm>
        </p:grpSpPr>
        <p:sp>
          <p:nvSpPr>
            <p:cNvPr id="2982236" name="Rectangle 348">
              <a:extLst>
                <a:ext uri="{FF2B5EF4-FFF2-40B4-BE49-F238E27FC236}">
                  <a16:creationId xmlns:a16="http://schemas.microsoft.com/office/drawing/2014/main" id="{9C9527FA-FEEF-F2AB-0712-231F80DF32BA}"/>
                </a:ext>
              </a:extLst>
            </p:cNvPr>
            <p:cNvSpPr>
              <a:spLocks noChangeArrowheads="1"/>
            </p:cNvSpPr>
            <p:nvPr/>
          </p:nvSpPr>
          <p:spPr bwMode="auto">
            <a:xfrm>
              <a:off x="4746" y="2007"/>
              <a:ext cx="59" cy="71"/>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82237" name="Rectangle 349">
              <a:extLst>
                <a:ext uri="{FF2B5EF4-FFF2-40B4-BE49-F238E27FC236}">
                  <a16:creationId xmlns:a16="http://schemas.microsoft.com/office/drawing/2014/main" id="{4F770685-7F57-202A-5286-A058C4526A4B}"/>
                </a:ext>
              </a:extLst>
            </p:cNvPr>
            <p:cNvSpPr>
              <a:spLocks noChangeArrowheads="1"/>
            </p:cNvSpPr>
            <p:nvPr/>
          </p:nvSpPr>
          <p:spPr bwMode="auto">
            <a:xfrm>
              <a:off x="4746" y="1877"/>
              <a:ext cx="59" cy="72"/>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82238" name="Rectangle 350">
              <a:extLst>
                <a:ext uri="{FF2B5EF4-FFF2-40B4-BE49-F238E27FC236}">
                  <a16:creationId xmlns:a16="http://schemas.microsoft.com/office/drawing/2014/main" id="{5CADE67B-A44D-74CE-C3CA-9B18773ED8FC}"/>
                </a:ext>
              </a:extLst>
            </p:cNvPr>
            <p:cNvSpPr>
              <a:spLocks noChangeArrowheads="1"/>
            </p:cNvSpPr>
            <p:nvPr/>
          </p:nvSpPr>
          <p:spPr bwMode="auto">
            <a:xfrm>
              <a:off x="4752" y="2589"/>
              <a:ext cx="59" cy="71"/>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2982239" name="Rectangle 351">
              <a:extLst>
                <a:ext uri="{FF2B5EF4-FFF2-40B4-BE49-F238E27FC236}">
                  <a16:creationId xmlns:a16="http://schemas.microsoft.com/office/drawing/2014/main" id="{556A21BE-C1DB-7790-CF8A-6B2E9304D2F5}"/>
                </a:ext>
              </a:extLst>
            </p:cNvPr>
            <p:cNvSpPr>
              <a:spLocks noChangeArrowheads="1"/>
            </p:cNvSpPr>
            <p:nvPr/>
          </p:nvSpPr>
          <p:spPr bwMode="auto">
            <a:xfrm>
              <a:off x="4752" y="2459"/>
              <a:ext cx="59" cy="72"/>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pic>
          <p:nvPicPr>
            <p:cNvPr id="2982240" name="Picture 352">
              <a:extLst>
                <a:ext uri="{FF2B5EF4-FFF2-40B4-BE49-F238E27FC236}">
                  <a16:creationId xmlns:a16="http://schemas.microsoft.com/office/drawing/2014/main" id="{3E24E9DE-88D7-A8D5-BCC1-3C76A319F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0" y="1625"/>
              <a:ext cx="748" cy="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82215" name="Picture 327">
            <a:extLst>
              <a:ext uri="{FF2B5EF4-FFF2-40B4-BE49-F238E27FC236}">
                <a16:creationId xmlns:a16="http://schemas.microsoft.com/office/drawing/2014/main" id="{90199010-5CCE-DC67-5F0B-7C27F936B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1363" y="4887913"/>
            <a:ext cx="744537" cy="1185862"/>
          </a:xfrm>
          <a:prstGeom prst="rect">
            <a:avLst/>
          </a:prstGeom>
          <a:noFill/>
          <a:extLst>
            <a:ext uri="{909E8E84-426E-40DD-AFC4-6F175D3DCCD1}">
              <a14:hiddenFill xmlns:a14="http://schemas.microsoft.com/office/drawing/2010/main">
                <a:solidFill>
                  <a:srgbClr val="FFFFFF"/>
                </a:solidFill>
              </a14:hiddenFill>
            </a:ext>
          </a:extLst>
        </p:spPr>
      </p:pic>
      <p:pic>
        <p:nvPicPr>
          <p:cNvPr id="2982216" name="Picture 328">
            <a:extLst>
              <a:ext uri="{FF2B5EF4-FFF2-40B4-BE49-F238E27FC236}">
                <a16:creationId xmlns:a16="http://schemas.microsoft.com/office/drawing/2014/main" id="{236F22B6-5000-1D80-C913-74EF8FFB03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2950" y="3673475"/>
            <a:ext cx="744538" cy="1185863"/>
          </a:xfrm>
          <a:prstGeom prst="rect">
            <a:avLst/>
          </a:prstGeom>
          <a:noFill/>
          <a:extLst>
            <a:ext uri="{909E8E84-426E-40DD-AFC4-6F175D3DCCD1}">
              <a14:hiddenFill xmlns:a14="http://schemas.microsoft.com/office/drawing/2010/main">
                <a:solidFill>
                  <a:srgbClr val="FFFFFF"/>
                </a:solidFill>
              </a14:hiddenFill>
            </a:ext>
          </a:extLst>
        </p:spPr>
      </p:pic>
      <p:pic>
        <p:nvPicPr>
          <p:cNvPr id="2982213" name="Picture 325">
            <a:extLst>
              <a:ext uri="{FF2B5EF4-FFF2-40B4-BE49-F238E27FC236}">
                <a16:creationId xmlns:a16="http://schemas.microsoft.com/office/drawing/2014/main" id="{672B62B3-C238-866C-03EC-CB4015203E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2950" y="2416175"/>
            <a:ext cx="744538" cy="1185863"/>
          </a:xfrm>
          <a:prstGeom prst="rect">
            <a:avLst/>
          </a:prstGeom>
          <a:noFill/>
          <a:extLst>
            <a:ext uri="{909E8E84-426E-40DD-AFC4-6F175D3DCCD1}">
              <a14:hiddenFill xmlns:a14="http://schemas.microsoft.com/office/drawing/2010/main">
                <a:solidFill>
                  <a:srgbClr val="FFFFFF"/>
                </a:solidFill>
              </a14:hiddenFill>
            </a:ext>
          </a:extLst>
        </p:spPr>
      </p:pic>
      <p:pic>
        <p:nvPicPr>
          <p:cNvPr id="2982212" name="Picture 324">
            <a:extLst>
              <a:ext uri="{FF2B5EF4-FFF2-40B4-BE49-F238E27FC236}">
                <a16:creationId xmlns:a16="http://schemas.microsoft.com/office/drawing/2014/main" id="{FEEEA220-EFCC-7AB6-2E7B-18FE02D386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1363" y="1149350"/>
            <a:ext cx="744537" cy="1185863"/>
          </a:xfrm>
          <a:prstGeom prst="rect">
            <a:avLst/>
          </a:prstGeom>
          <a:noFill/>
          <a:extLst>
            <a:ext uri="{909E8E84-426E-40DD-AFC4-6F175D3DCCD1}">
              <a14:hiddenFill xmlns:a14="http://schemas.microsoft.com/office/drawing/2010/main">
                <a:solidFill>
                  <a:srgbClr val="FFFFFF"/>
                </a:solidFill>
              </a14:hiddenFill>
            </a:ext>
          </a:extLst>
        </p:spPr>
      </p:pic>
      <p:sp>
        <p:nvSpPr>
          <p:cNvPr id="2981891" name="Line 3">
            <a:extLst>
              <a:ext uri="{FF2B5EF4-FFF2-40B4-BE49-F238E27FC236}">
                <a16:creationId xmlns:a16="http://schemas.microsoft.com/office/drawing/2014/main" id="{EAAA0E7D-4BB5-1C4E-DE7A-5A04383E37FE}"/>
              </a:ext>
            </a:extLst>
          </p:cNvPr>
          <p:cNvSpPr>
            <a:spLocks noChangeShapeType="1"/>
          </p:cNvSpPr>
          <p:nvPr/>
        </p:nvSpPr>
        <p:spPr bwMode="auto">
          <a:xfrm flipV="1">
            <a:off x="2767013" y="3533775"/>
            <a:ext cx="1052512" cy="185737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1892" name="Line 4">
            <a:extLst>
              <a:ext uri="{FF2B5EF4-FFF2-40B4-BE49-F238E27FC236}">
                <a16:creationId xmlns:a16="http://schemas.microsoft.com/office/drawing/2014/main" id="{CABDA998-035A-5FA0-9874-0327E80DCA2B}"/>
              </a:ext>
            </a:extLst>
          </p:cNvPr>
          <p:cNvSpPr>
            <a:spLocks noChangeShapeType="1"/>
          </p:cNvSpPr>
          <p:nvPr/>
        </p:nvSpPr>
        <p:spPr bwMode="auto">
          <a:xfrm>
            <a:off x="2847975" y="1722438"/>
            <a:ext cx="1006475" cy="1817687"/>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1893" name="Rectangle 5">
            <a:extLst>
              <a:ext uri="{FF2B5EF4-FFF2-40B4-BE49-F238E27FC236}">
                <a16:creationId xmlns:a16="http://schemas.microsoft.com/office/drawing/2014/main" id="{AAA229AC-FD17-C533-F38C-53AFD0B34B1C}"/>
              </a:ext>
            </a:extLst>
          </p:cNvPr>
          <p:cNvSpPr>
            <a:spLocks noGrp="1" noChangeArrowheads="1"/>
          </p:cNvSpPr>
          <p:nvPr>
            <p:ph type="title"/>
          </p:nvPr>
        </p:nvSpPr>
        <p:spPr/>
        <p:txBody>
          <a:bodyPr/>
          <a:lstStyle/>
          <a:p>
            <a:r>
              <a:rPr lang="en-US" altLang="zh-CN" sz="2400">
                <a:ea typeface="宋体" panose="02010600030101010101" pitchFamily="2" charset="-122"/>
              </a:rPr>
              <a:t>Performance Monitoring Example: Array Port Utilization</a:t>
            </a:r>
          </a:p>
        </p:txBody>
      </p:sp>
      <p:sp>
        <p:nvSpPr>
          <p:cNvPr id="2982025" name="Line 137">
            <a:extLst>
              <a:ext uri="{FF2B5EF4-FFF2-40B4-BE49-F238E27FC236}">
                <a16:creationId xmlns:a16="http://schemas.microsoft.com/office/drawing/2014/main" id="{CD33A336-2E69-F2B5-38BB-0111CDF80588}"/>
              </a:ext>
            </a:extLst>
          </p:cNvPr>
          <p:cNvSpPr>
            <a:spLocks noChangeShapeType="1"/>
          </p:cNvSpPr>
          <p:nvPr/>
        </p:nvSpPr>
        <p:spPr bwMode="auto">
          <a:xfrm flipH="1">
            <a:off x="2827338" y="3486150"/>
            <a:ext cx="1050925" cy="690563"/>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026" name="Line 138">
            <a:extLst>
              <a:ext uri="{FF2B5EF4-FFF2-40B4-BE49-F238E27FC236}">
                <a16:creationId xmlns:a16="http://schemas.microsoft.com/office/drawing/2014/main" id="{8289EB13-1103-FA1B-70DC-3FF922059333}"/>
              </a:ext>
            </a:extLst>
          </p:cNvPr>
          <p:cNvSpPr>
            <a:spLocks noChangeShapeType="1"/>
          </p:cNvSpPr>
          <p:nvPr/>
        </p:nvSpPr>
        <p:spPr bwMode="auto">
          <a:xfrm flipV="1">
            <a:off x="2857500" y="4022725"/>
            <a:ext cx="1017588" cy="420688"/>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158" name="Text Box 270">
            <a:extLst>
              <a:ext uri="{FF2B5EF4-FFF2-40B4-BE49-F238E27FC236}">
                <a16:creationId xmlns:a16="http://schemas.microsoft.com/office/drawing/2014/main" id="{FACBE4B8-E4A9-EA37-94BC-2EEF19AFEB0C}"/>
              </a:ext>
            </a:extLst>
          </p:cNvPr>
          <p:cNvSpPr txBox="1">
            <a:spLocks noChangeArrowheads="1"/>
          </p:cNvSpPr>
          <p:nvPr/>
        </p:nvSpPr>
        <p:spPr bwMode="auto">
          <a:xfrm>
            <a:off x="5541963" y="6324600"/>
            <a:ext cx="2228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5A8680"/>
                </a:solidFill>
                <a:ea typeface="宋体" panose="02010600030101010101" pitchFamily="2" charset="-122"/>
              </a:rPr>
              <a:t>Storage Arrays</a:t>
            </a:r>
          </a:p>
        </p:txBody>
      </p:sp>
      <p:sp>
        <p:nvSpPr>
          <p:cNvPr id="2982159" name="Text Box 271">
            <a:extLst>
              <a:ext uri="{FF2B5EF4-FFF2-40B4-BE49-F238E27FC236}">
                <a16:creationId xmlns:a16="http://schemas.microsoft.com/office/drawing/2014/main" id="{B64BA53A-D0E2-3FFB-BDA6-BC4EA716562D}"/>
              </a:ext>
            </a:extLst>
          </p:cNvPr>
          <p:cNvSpPr txBox="1">
            <a:spLocks noChangeArrowheads="1"/>
          </p:cNvSpPr>
          <p:nvPr/>
        </p:nvSpPr>
        <p:spPr bwMode="auto">
          <a:xfrm>
            <a:off x="3714750" y="4295775"/>
            <a:ext cx="9334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SW2</a:t>
            </a:r>
          </a:p>
        </p:txBody>
      </p:sp>
      <p:sp>
        <p:nvSpPr>
          <p:cNvPr id="2982160" name="Text Box 272">
            <a:extLst>
              <a:ext uri="{FF2B5EF4-FFF2-40B4-BE49-F238E27FC236}">
                <a16:creationId xmlns:a16="http://schemas.microsoft.com/office/drawing/2014/main" id="{7250668D-3DA4-498E-2252-491DF512B604}"/>
              </a:ext>
            </a:extLst>
          </p:cNvPr>
          <p:cNvSpPr txBox="1">
            <a:spLocks noChangeArrowheads="1"/>
          </p:cNvSpPr>
          <p:nvPr/>
        </p:nvSpPr>
        <p:spPr bwMode="auto">
          <a:xfrm>
            <a:off x="687388" y="6094413"/>
            <a:ext cx="322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5A8680"/>
                </a:solidFill>
                <a:ea typeface="宋体" panose="02010600030101010101" pitchFamily="2" charset="-122"/>
              </a:rPr>
              <a:t>Hosts/Servers with Applications</a:t>
            </a:r>
          </a:p>
        </p:txBody>
      </p:sp>
      <p:sp>
        <p:nvSpPr>
          <p:cNvPr id="2982162" name="Line 274">
            <a:extLst>
              <a:ext uri="{FF2B5EF4-FFF2-40B4-BE49-F238E27FC236}">
                <a16:creationId xmlns:a16="http://schemas.microsoft.com/office/drawing/2014/main" id="{7A1B1461-B0BD-2954-01E5-22F6E8122BA7}"/>
              </a:ext>
            </a:extLst>
          </p:cNvPr>
          <p:cNvSpPr>
            <a:spLocks noChangeShapeType="1"/>
          </p:cNvSpPr>
          <p:nvPr/>
        </p:nvSpPr>
        <p:spPr bwMode="auto">
          <a:xfrm>
            <a:off x="2833688" y="2965450"/>
            <a:ext cx="963612" cy="522288"/>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163" name="Text Box 275">
            <a:extLst>
              <a:ext uri="{FF2B5EF4-FFF2-40B4-BE49-F238E27FC236}">
                <a16:creationId xmlns:a16="http://schemas.microsoft.com/office/drawing/2014/main" id="{DF9FE184-27E0-1137-5E9A-ED5BA935062B}"/>
              </a:ext>
            </a:extLst>
          </p:cNvPr>
          <p:cNvSpPr txBox="1">
            <a:spLocks noChangeArrowheads="1"/>
          </p:cNvSpPr>
          <p:nvPr/>
        </p:nvSpPr>
        <p:spPr bwMode="auto">
          <a:xfrm>
            <a:off x="3708400" y="2925763"/>
            <a:ext cx="9207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SW1</a:t>
            </a:r>
          </a:p>
        </p:txBody>
      </p:sp>
      <p:sp>
        <p:nvSpPr>
          <p:cNvPr id="2982165" name="Line 277">
            <a:extLst>
              <a:ext uri="{FF2B5EF4-FFF2-40B4-BE49-F238E27FC236}">
                <a16:creationId xmlns:a16="http://schemas.microsoft.com/office/drawing/2014/main" id="{4A982B81-F7A8-A417-62F4-9BB8D945EE9D}"/>
              </a:ext>
            </a:extLst>
          </p:cNvPr>
          <p:cNvSpPr>
            <a:spLocks noChangeShapeType="1"/>
          </p:cNvSpPr>
          <p:nvPr/>
        </p:nvSpPr>
        <p:spPr bwMode="auto">
          <a:xfrm flipV="1">
            <a:off x="2827338" y="4044950"/>
            <a:ext cx="987425" cy="164147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166" name="Line 278">
            <a:extLst>
              <a:ext uri="{FF2B5EF4-FFF2-40B4-BE49-F238E27FC236}">
                <a16:creationId xmlns:a16="http://schemas.microsoft.com/office/drawing/2014/main" id="{72C16FE0-419F-7EE7-F4FA-DA892C677038}"/>
              </a:ext>
            </a:extLst>
          </p:cNvPr>
          <p:cNvSpPr>
            <a:spLocks noChangeShapeType="1"/>
          </p:cNvSpPr>
          <p:nvPr/>
        </p:nvSpPr>
        <p:spPr bwMode="auto">
          <a:xfrm>
            <a:off x="2846388" y="3252788"/>
            <a:ext cx="971550" cy="80962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167" name="Text Box 279">
            <a:extLst>
              <a:ext uri="{FF2B5EF4-FFF2-40B4-BE49-F238E27FC236}">
                <a16:creationId xmlns:a16="http://schemas.microsoft.com/office/drawing/2014/main" id="{1CA73416-05B0-CB00-64CC-E3EFC3768184}"/>
              </a:ext>
            </a:extLst>
          </p:cNvPr>
          <p:cNvSpPr txBox="1">
            <a:spLocks noChangeArrowheads="1"/>
          </p:cNvSpPr>
          <p:nvPr/>
        </p:nvSpPr>
        <p:spPr bwMode="auto">
          <a:xfrm>
            <a:off x="815975" y="5037138"/>
            <a:ext cx="9207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H3</a:t>
            </a:r>
          </a:p>
        </p:txBody>
      </p:sp>
      <p:sp>
        <p:nvSpPr>
          <p:cNvPr id="2982168" name="Text Box 280">
            <a:extLst>
              <a:ext uri="{FF2B5EF4-FFF2-40B4-BE49-F238E27FC236}">
                <a16:creationId xmlns:a16="http://schemas.microsoft.com/office/drawing/2014/main" id="{7A7DA617-F61A-DF00-E310-12C9FCFA45A7}"/>
              </a:ext>
            </a:extLst>
          </p:cNvPr>
          <p:cNvSpPr txBox="1">
            <a:spLocks noChangeArrowheads="1"/>
          </p:cNvSpPr>
          <p:nvPr/>
        </p:nvSpPr>
        <p:spPr bwMode="auto">
          <a:xfrm>
            <a:off x="752475" y="3879850"/>
            <a:ext cx="9207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H2</a:t>
            </a:r>
          </a:p>
        </p:txBody>
      </p:sp>
      <p:sp>
        <p:nvSpPr>
          <p:cNvPr id="2982169" name="Text Box 281">
            <a:extLst>
              <a:ext uri="{FF2B5EF4-FFF2-40B4-BE49-F238E27FC236}">
                <a16:creationId xmlns:a16="http://schemas.microsoft.com/office/drawing/2014/main" id="{3663A961-99FA-86F2-6E37-803D0A840D12}"/>
              </a:ext>
            </a:extLst>
          </p:cNvPr>
          <p:cNvSpPr txBox="1">
            <a:spLocks noChangeArrowheads="1"/>
          </p:cNvSpPr>
          <p:nvPr/>
        </p:nvSpPr>
        <p:spPr bwMode="auto">
          <a:xfrm>
            <a:off x="693738" y="2654300"/>
            <a:ext cx="9207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H1</a:t>
            </a:r>
          </a:p>
        </p:txBody>
      </p:sp>
      <p:sp>
        <p:nvSpPr>
          <p:cNvPr id="2982177" name="Text Box 289">
            <a:extLst>
              <a:ext uri="{FF2B5EF4-FFF2-40B4-BE49-F238E27FC236}">
                <a16:creationId xmlns:a16="http://schemas.microsoft.com/office/drawing/2014/main" id="{E589EEAB-8D97-D97D-EAAF-94E14D430FA7}"/>
              </a:ext>
            </a:extLst>
          </p:cNvPr>
          <p:cNvSpPr txBox="1">
            <a:spLocks noChangeArrowheads="1"/>
          </p:cNvSpPr>
          <p:nvPr/>
        </p:nvSpPr>
        <p:spPr bwMode="auto">
          <a:xfrm>
            <a:off x="182563" y="1230313"/>
            <a:ext cx="1928812"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New Server</a:t>
            </a:r>
          </a:p>
          <a:p>
            <a:pPr algn="ctr">
              <a:spcBef>
                <a:spcPct val="50000"/>
              </a:spcBef>
            </a:pPr>
            <a:r>
              <a:rPr lang="en-US" altLang="zh-CN" sz="2400">
                <a:solidFill>
                  <a:srgbClr val="003580"/>
                </a:solidFill>
                <a:ea typeface="宋体" panose="02010600030101010101" pitchFamily="2" charset="-122"/>
              </a:rPr>
              <a:t>H4</a:t>
            </a:r>
          </a:p>
        </p:txBody>
      </p:sp>
      <p:sp>
        <p:nvSpPr>
          <p:cNvPr id="2982178" name="Line 290">
            <a:extLst>
              <a:ext uri="{FF2B5EF4-FFF2-40B4-BE49-F238E27FC236}">
                <a16:creationId xmlns:a16="http://schemas.microsoft.com/office/drawing/2014/main" id="{3AE34FF1-DA10-E405-12FB-666B5E21D11B}"/>
              </a:ext>
            </a:extLst>
          </p:cNvPr>
          <p:cNvSpPr>
            <a:spLocks noChangeShapeType="1"/>
          </p:cNvSpPr>
          <p:nvPr/>
        </p:nvSpPr>
        <p:spPr bwMode="auto">
          <a:xfrm>
            <a:off x="2784475" y="1989138"/>
            <a:ext cx="1030288" cy="206375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198" name="Text Box 310">
            <a:extLst>
              <a:ext uri="{FF2B5EF4-FFF2-40B4-BE49-F238E27FC236}">
                <a16:creationId xmlns:a16="http://schemas.microsoft.com/office/drawing/2014/main" id="{45F773DC-286D-7D8B-0D44-2FB404DC1EDD}"/>
              </a:ext>
            </a:extLst>
          </p:cNvPr>
          <p:cNvSpPr txBox="1">
            <a:spLocks noChangeArrowheads="1"/>
          </p:cNvSpPr>
          <p:nvPr/>
        </p:nvSpPr>
        <p:spPr bwMode="auto">
          <a:xfrm>
            <a:off x="2578100" y="2889250"/>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82201" name="Text Box 313">
            <a:extLst>
              <a:ext uri="{FF2B5EF4-FFF2-40B4-BE49-F238E27FC236}">
                <a16:creationId xmlns:a16="http://schemas.microsoft.com/office/drawing/2014/main" id="{507525FD-750F-7DA6-AFE6-D4C31E6D1894}"/>
              </a:ext>
            </a:extLst>
          </p:cNvPr>
          <p:cNvSpPr txBox="1">
            <a:spLocks noChangeArrowheads="1"/>
          </p:cNvSpPr>
          <p:nvPr/>
        </p:nvSpPr>
        <p:spPr bwMode="auto">
          <a:xfrm>
            <a:off x="2576513" y="3116263"/>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82217" name="Text Box 329">
            <a:extLst>
              <a:ext uri="{FF2B5EF4-FFF2-40B4-BE49-F238E27FC236}">
                <a16:creationId xmlns:a16="http://schemas.microsoft.com/office/drawing/2014/main" id="{C01BDC8B-1451-CB99-D09C-84E6BC5C01E2}"/>
              </a:ext>
            </a:extLst>
          </p:cNvPr>
          <p:cNvSpPr txBox="1">
            <a:spLocks noChangeArrowheads="1"/>
          </p:cNvSpPr>
          <p:nvPr/>
        </p:nvSpPr>
        <p:spPr bwMode="auto">
          <a:xfrm>
            <a:off x="2578100" y="4146550"/>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82218" name="Text Box 330">
            <a:extLst>
              <a:ext uri="{FF2B5EF4-FFF2-40B4-BE49-F238E27FC236}">
                <a16:creationId xmlns:a16="http://schemas.microsoft.com/office/drawing/2014/main" id="{1A36F143-C3BB-1B22-4E02-BBEF03C042F5}"/>
              </a:ext>
            </a:extLst>
          </p:cNvPr>
          <p:cNvSpPr txBox="1">
            <a:spLocks noChangeArrowheads="1"/>
          </p:cNvSpPr>
          <p:nvPr/>
        </p:nvSpPr>
        <p:spPr bwMode="auto">
          <a:xfrm>
            <a:off x="2576513" y="4373563"/>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82221" name="Text Box 333">
            <a:extLst>
              <a:ext uri="{FF2B5EF4-FFF2-40B4-BE49-F238E27FC236}">
                <a16:creationId xmlns:a16="http://schemas.microsoft.com/office/drawing/2014/main" id="{580BDECB-B4B8-99D4-7AED-4D92538D5EE6}"/>
              </a:ext>
            </a:extLst>
          </p:cNvPr>
          <p:cNvSpPr txBox="1">
            <a:spLocks noChangeArrowheads="1"/>
          </p:cNvSpPr>
          <p:nvPr/>
        </p:nvSpPr>
        <p:spPr bwMode="auto">
          <a:xfrm>
            <a:off x="2578100" y="5356225"/>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82222" name="Text Box 334">
            <a:extLst>
              <a:ext uri="{FF2B5EF4-FFF2-40B4-BE49-F238E27FC236}">
                <a16:creationId xmlns:a16="http://schemas.microsoft.com/office/drawing/2014/main" id="{DFFC76E0-FE10-4251-6F87-6A6A3A2223C8}"/>
              </a:ext>
            </a:extLst>
          </p:cNvPr>
          <p:cNvSpPr txBox="1">
            <a:spLocks noChangeArrowheads="1"/>
          </p:cNvSpPr>
          <p:nvPr/>
        </p:nvSpPr>
        <p:spPr bwMode="auto">
          <a:xfrm>
            <a:off x="2576513" y="5592763"/>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82223" name="Text Box 335">
            <a:extLst>
              <a:ext uri="{FF2B5EF4-FFF2-40B4-BE49-F238E27FC236}">
                <a16:creationId xmlns:a16="http://schemas.microsoft.com/office/drawing/2014/main" id="{FAFAC34C-D760-E857-0EE8-620BC1214150}"/>
              </a:ext>
            </a:extLst>
          </p:cNvPr>
          <p:cNvSpPr txBox="1">
            <a:spLocks noChangeArrowheads="1"/>
          </p:cNvSpPr>
          <p:nvPr/>
        </p:nvSpPr>
        <p:spPr bwMode="auto">
          <a:xfrm>
            <a:off x="2578100" y="1641475"/>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82224" name="Text Box 336">
            <a:extLst>
              <a:ext uri="{FF2B5EF4-FFF2-40B4-BE49-F238E27FC236}">
                <a16:creationId xmlns:a16="http://schemas.microsoft.com/office/drawing/2014/main" id="{27D97990-74B4-B573-BC6D-4A6DEFE89A78}"/>
              </a:ext>
            </a:extLst>
          </p:cNvPr>
          <p:cNvSpPr txBox="1">
            <a:spLocks noChangeArrowheads="1"/>
          </p:cNvSpPr>
          <p:nvPr/>
        </p:nvSpPr>
        <p:spPr bwMode="auto">
          <a:xfrm>
            <a:off x="2576513" y="1868488"/>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2982225" name="AutoShape 337">
            <a:extLst>
              <a:ext uri="{FF2B5EF4-FFF2-40B4-BE49-F238E27FC236}">
                <a16:creationId xmlns:a16="http://schemas.microsoft.com/office/drawing/2014/main" id="{E21E0D26-CB15-C280-895C-ED7463FCDC9B}"/>
              </a:ext>
            </a:extLst>
          </p:cNvPr>
          <p:cNvSpPr>
            <a:spLocks noChangeArrowheads="1"/>
          </p:cNvSpPr>
          <p:nvPr/>
        </p:nvSpPr>
        <p:spPr bwMode="auto">
          <a:xfrm>
            <a:off x="3698875" y="3349625"/>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82226" name="Freeform 338">
            <a:extLst>
              <a:ext uri="{FF2B5EF4-FFF2-40B4-BE49-F238E27FC236}">
                <a16:creationId xmlns:a16="http://schemas.microsoft.com/office/drawing/2014/main" id="{34FC73F7-19CE-9704-8944-C44F835C0906}"/>
              </a:ext>
            </a:extLst>
          </p:cNvPr>
          <p:cNvSpPr>
            <a:spLocks/>
          </p:cNvSpPr>
          <p:nvPr/>
        </p:nvSpPr>
        <p:spPr bwMode="auto">
          <a:xfrm>
            <a:off x="3800475" y="3421063"/>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2227" name="Freeform 339">
            <a:extLst>
              <a:ext uri="{FF2B5EF4-FFF2-40B4-BE49-F238E27FC236}">
                <a16:creationId xmlns:a16="http://schemas.microsoft.com/office/drawing/2014/main" id="{E9E9D0EF-F8F8-10A3-DBE9-EC4334DDD4A4}"/>
              </a:ext>
            </a:extLst>
          </p:cNvPr>
          <p:cNvSpPr>
            <a:spLocks/>
          </p:cNvSpPr>
          <p:nvPr/>
        </p:nvSpPr>
        <p:spPr bwMode="auto">
          <a:xfrm>
            <a:off x="3800475" y="352742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2228" name="Freeform 340">
            <a:extLst>
              <a:ext uri="{FF2B5EF4-FFF2-40B4-BE49-F238E27FC236}">
                <a16:creationId xmlns:a16="http://schemas.microsoft.com/office/drawing/2014/main" id="{4B26B915-9184-F7B5-AF1D-18F5BE408B2A}"/>
              </a:ext>
            </a:extLst>
          </p:cNvPr>
          <p:cNvSpPr>
            <a:spLocks/>
          </p:cNvSpPr>
          <p:nvPr/>
        </p:nvSpPr>
        <p:spPr bwMode="auto">
          <a:xfrm flipH="1">
            <a:off x="4113213" y="347662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2229" name="Freeform 341">
            <a:extLst>
              <a:ext uri="{FF2B5EF4-FFF2-40B4-BE49-F238E27FC236}">
                <a16:creationId xmlns:a16="http://schemas.microsoft.com/office/drawing/2014/main" id="{AAF5E034-7593-76CC-4721-87EA97320A90}"/>
              </a:ext>
            </a:extLst>
          </p:cNvPr>
          <p:cNvSpPr>
            <a:spLocks/>
          </p:cNvSpPr>
          <p:nvPr/>
        </p:nvSpPr>
        <p:spPr bwMode="auto">
          <a:xfrm flipH="1">
            <a:off x="4113213" y="3582988"/>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2230" name="AutoShape 342">
            <a:extLst>
              <a:ext uri="{FF2B5EF4-FFF2-40B4-BE49-F238E27FC236}">
                <a16:creationId xmlns:a16="http://schemas.microsoft.com/office/drawing/2014/main" id="{57934DDC-A3F5-1401-B283-262C6216F249}"/>
              </a:ext>
            </a:extLst>
          </p:cNvPr>
          <p:cNvSpPr>
            <a:spLocks noChangeArrowheads="1"/>
          </p:cNvSpPr>
          <p:nvPr/>
        </p:nvSpPr>
        <p:spPr bwMode="auto">
          <a:xfrm>
            <a:off x="3700463" y="3843338"/>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82231" name="Freeform 343">
            <a:extLst>
              <a:ext uri="{FF2B5EF4-FFF2-40B4-BE49-F238E27FC236}">
                <a16:creationId xmlns:a16="http://schemas.microsoft.com/office/drawing/2014/main" id="{6789DA68-F34B-A123-9816-410E84033A51}"/>
              </a:ext>
            </a:extLst>
          </p:cNvPr>
          <p:cNvSpPr>
            <a:spLocks/>
          </p:cNvSpPr>
          <p:nvPr/>
        </p:nvSpPr>
        <p:spPr bwMode="auto">
          <a:xfrm>
            <a:off x="3802063" y="391477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2232" name="Freeform 344">
            <a:extLst>
              <a:ext uri="{FF2B5EF4-FFF2-40B4-BE49-F238E27FC236}">
                <a16:creationId xmlns:a16="http://schemas.microsoft.com/office/drawing/2014/main" id="{F427A2A4-FB26-E9D2-B8FB-D3E1B1953E10}"/>
              </a:ext>
            </a:extLst>
          </p:cNvPr>
          <p:cNvSpPr>
            <a:spLocks/>
          </p:cNvSpPr>
          <p:nvPr/>
        </p:nvSpPr>
        <p:spPr bwMode="auto">
          <a:xfrm>
            <a:off x="3802063" y="4021138"/>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2233" name="Freeform 345">
            <a:extLst>
              <a:ext uri="{FF2B5EF4-FFF2-40B4-BE49-F238E27FC236}">
                <a16:creationId xmlns:a16="http://schemas.microsoft.com/office/drawing/2014/main" id="{2A87BC38-8814-B71E-54D8-F24754814B58}"/>
              </a:ext>
            </a:extLst>
          </p:cNvPr>
          <p:cNvSpPr>
            <a:spLocks/>
          </p:cNvSpPr>
          <p:nvPr/>
        </p:nvSpPr>
        <p:spPr bwMode="auto">
          <a:xfrm flipH="1">
            <a:off x="4114800" y="3970338"/>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2234" name="Freeform 346">
            <a:extLst>
              <a:ext uri="{FF2B5EF4-FFF2-40B4-BE49-F238E27FC236}">
                <a16:creationId xmlns:a16="http://schemas.microsoft.com/office/drawing/2014/main" id="{B773CD09-046F-C14F-A413-A85AEDB6BA1D}"/>
              </a:ext>
            </a:extLst>
          </p:cNvPr>
          <p:cNvSpPr>
            <a:spLocks/>
          </p:cNvSpPr>
          <p:nvPr/>
        </p:nvSpPr>
        <p:spPr bwMode="auto">
          <a:xfrm flipH="1">
            <a:off x="4114800" y="4076700"/>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2982243" name="Group 355">
            <a:extLst>
              <a:ext uri="{FF2B5EF4-FFF2-40B4-BE49-F238E27FC236}">
                <a16:creationId xmlns:a16="http://schemas.microsoft.com/office/drawing/2014/main" id="{792E52DD-72B6-A0E5-8F7B-20DFF63FC0CB}"/>
              </a:ext>
            </a:extLst>
          </p:cNvPr>
          <p:cNvGrpSpPr>
            <a:grpSpLocks/>
          </p:cNvGrpSpPr>
          <p:nvPr/>
        </p:nvGrpSpPr>
        <p:grpSpPr bwMode="auto">
          <a:xfrm>
            <a:off x="5322888" y="1133475"/>
            <a:ext cx="3436937" cy="2255838"/>
            <a:chOff x="3353" y="714"/>
            <a:chExt cx="2165" cy="1421"/>
          </a:xfrm>
        </p:grpSpPr>
        <p:sp>
          <p:nvSpPr>
            <p:cNvPr id="2982241" name="AutoShape 353">
              <a:extLst>
                <a:ext uri="{FF2B5EF4-FFF2-40B4-BE49-F238E27FC236}">
                  <a16:creationId xmlns:a16="http://schemas.microsoft.com/office/drawing/2014/main" id="{8D120C74-70FF-5064-7096-F627C116ACDB}"/>
                </a:ext>
              </a:extLst>
            </p:cNvPr>
            <p:cNvSpPr>
              <a:spLocks noChangeArrowheads="1"/>
            </p:cNvSpPr>
            <p:nvPr/>
          </p:nvSpPr>
          <p:spPr bwMode="auto">
            <a:xfrm>
              <a:off x="3353" y="718"/>
              <a:ext cx="2165" cy="1417"/>
            </a:xfrm>
            <a:prstGeom prst="wedgeRectCallout">
              <a:avLst>
                <a:gd name="adj1" fmla="val -37204"/>
                <a:gd name="adj2" fmla="val 104199"/>
              </a:avLst>
            </a:prstGeom>
            <a:noFill/>
            <a:ln w="38100" algn="ctr">
              <a:solidFill>
                <a:schemeClr val="bg1"/>
              </a:solidFill>
              <a:miter lim="800000"/>
              <a:headEnd/>
              <a:tailEnd type="none" w="lg" len="med"/>
            </a:ln>
            <a:effectLst/>
            <a:extLst>
              <a:ext uri="{909E8E84-426E-40DD-AFC4-6F175D3DCCD1}">
                <a14:hiddenFill xmlns:a14="http://schemas.microsoft.com/office/drawing/2010/main">
                  <a:solidFill>
                    <a:srgbClr val="F8F8F8">
                      <a:alpha val="25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sz="1400">
                <a:solidFill>
                  <a:srgbClr val="003580"/>
                </a:solidFill>
                <a:ea typeface="宋体" panose="02010600030101010101" pitchFamily="2" charset="-122"/>
              </a:endParaRPr>
            </a:p>
          </p:txBody>
        </p:sp>
        <p:grpSp>
          <p:nvGrpSpPr>
            <p:cNvPr id="2982242" name="Group 354">
              <a:extLst>
                <a:ext uri="{FF2B5EF4-FFF2-40B4-BE49-F238E27FC236}">
                  <a16:creationId xmlns:a16="http://schemas.microsoft.com/office/drawing/2014/main" id="{F884CD62-4A27-E50B-382E-5110872A0B39}"/>
                </a:ext>
              </a:extLst>
            </p:cNvPr>
            <p:cNvGrpSpPr>
              <a:grpSpLocks/>
            </p:cNvGrpSpPr>
            <p:nvPr/>
          </p:nvGrpSpPr>
          <p:grpSpPr bwMode="auto">
            <a:xfrm>
              <a:off x="3353" y="714"/>
              <a:ext cx="2165" cy="1417"/>
              <a:chOff x="3353" y="714"/>
              <a:chExt cx="2165" cy="1417"/>
            </a:xfrm>
          </p:grpSpPr>
          <p:sp>
            <p:nvSpPr>
              <p:cNvPr id="2982183" name="Line 295">
                <a:extLst>
                  <a:ext uri="{FF2B5EF4-FFF2-40B4-BE49-F238E27FC236}">
                    <a16:creationId xmlns:a16="http://schemas.microsoft.com/office/drawing/2014/main" id="{2B0489F6-FD4E-E7B4-A974-492113764554}"/>
                  </a:ext>
                </a:extLst>
              </p:cNvPr>
              <p:cNvSpPr>
                <a:spLocks noChangeShapeType="1"/>
              </p:cNvSpPr>
              <p:nvPr/>
            </p:nvSpPr>
            <p:spPr bwMode="auto">
              <a:xfrm flipH="1" flipV="1">
                <a:off x="3705" y="933"/>
                <a:ext cx="11" cy="1118"/>
              </a:xfrm>
              <a:prstGeom prst="line">
                <a:avLst/>
              </a:prstGeom>
              <a:noFill/>
              <a:ln w="3175">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184" name="Line 296">
                <a:extLst>
                  <a:ext uri="{FF2B5EF4-FFF2-40B4-BE49-F238E27FC236}">
                    <a16:creationId xmlns:a16="http://schemas.microsoft.com/office/drawing/2014/main" id="{699B6EEF-839E-A77B-B4E2-8451B2C9F864}"/>
                  </a:ext>
                </a:extLst>
              </p:cNvPr>
              <p:cNvSpPr>
                <a:spLocks noChangeShapeType="1"/>
              </p:cNvSpPr>
              <p:nvPr/>
            </p:nvSpPr>
            <p:spPr bwMode="auto">
              <a:xfrm>
                <a:off x="3712" y="2045"/>
                <a:ext cx="1555" cy="0"/>
              </a:xfrm>
              <a:prstGeom prst="line">
                <a:avLst/>
              </a:prstGeom>
              <a:noFill/>
              <a:ln w="3175">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185" name="Line 297">
                <a:extLst>
                  <a:ext uri="{FF2B5EF4-FFF2-40B4-BE49-F238E27FC236}">
                    <a16:creationId xmlns:a16="http://schemas.microsoft.com/office/drawing/2014/main" id="{3F349C09-E823-AB96-D7DE-580AE160A019}"/>
                  </a:ext>
                </a:extLst>
              </p:cNvPr>
              <p:cNvSpPr>
                <a:spLocks noChangeShapeType="1"/>
              </p:cNvSpPr>
              <p:nvPr/>
            </p:nvSpPr>
            <p:spPr bwMode="auto">
              <a:xfrm>
                <a:off x="3705" y="1014"/>
                <a:ext cx="1509" cy="0"/>
              </a:xfrm>
              <a:prstGeom prst="line">
                <a:avLst/>
              </a:prstGeom>
              <a:noFill/>
              <a:ln w="3175">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186" name="Freeform 298">
                <a:extLst>
                  <a:ext uri="{FF2B5EF4-FFF2-40B4-BE49-F238E27FC236}">
                    <a16:creationId xmlns:a16="http://schemas.microsoft.com/office/drawing/2014/main" id="{040E885B-09BE-22B3-E963-FF5C949669EF}"/>
                  </a:ext>
                </a:extLst>
              </p:cNvPr>
              <p:cNvSpPr>
                <a:spLocks/>
              </p:cNvSpPr>
              <p:nvPr/>
            </p:nvSpPr>
            <p:spPr bwMode="auto">
              <a:xfrm>
                <a:off x="3728" y="1485"/>
                <a:ext cx="1609" cy="223"/>
              </a:xfrm>
              <a:custGeom>
                <a:avLst/>
                <a:gdLst>
                  <a:gd name="T0" fmla="*/ 0 w 1609"/>
                  <a:gd name="T1" fmla="*/ 131 h 223"/>
                  <a:gd name="T2" fmla="*/ 288 w 1609"/>
                  <a:gd name="T3" fmla="*/ 4 h 223"/>
                  <a:gd name="T4" fmla="*/ 702 w 1609"/>
                  <a:gd name="T5" fmla="*/ 154 h 223"/>
                  <a:gd name="T6" fmla="*/ 1140 w 1609"/>
                  <a:gd name="T7" fmla="*/ 27 h 223"/>
                  <a:gd name="T8" fmla="*/ 1532 w 1609"/>
                  <a:gd name="T9" fmla="*/ 166 h 223"/>
                  <a:gd name="T10" fmla="*/ 1601 w 1609"/>
                  <a:gd name="T11" fmla="*/ 223 h 223"/>
                </a:gdLst>
                <a:ahLst/>
                <a:cxnLst>
                  <a:cxn ang="0">
                    <a:pos x="T0" y="T1"/>
                  </a:cxn>
                  <a:cxn ang="0">
                    <a:pos x="T2" y="T3"/>
                  </a:cxn>
                  <a:cxn ang="0">
                    <a:pos x="T4" y="T5"/>
                  </a:cxn>
                  <a:cxn ang="0">
                    <a:pos x="T6" y="T7"/>
                  </a:cxn>
                  <a:cxn ang="0">
                    <a:pos x="T8" y="T9"/>
                  </a:cxn>
                  <a:cxn ang="0">
                    <a:pos x="T10" y="T11"/>
                  </a:cxn>
                </a:cxnLst>
                <a:rect l="0" t="0" r="r" b="b"/>
                <a:pathLst>
                  <a:path w="1609" h="223">
                    <a:moveTo>
                      <a:pt x="0" y="131"/>
                    </a:moveTo>
                    <a:cubicBezTo>
                      <a:pt x="85" y="65"/>
                      <a:pt x="171" y="0"/>
                      <a:pt x="288" y="4"/>
                    </a:cubicBezTo>
                    <a:cubicBezTo>
                      <a:pt x="405" y="8"/>
                      <a:pt x="560" y="150"/>
                      <a:pt x="702" y="154"/>
                    </a:cubicBezTo>
                    <a:cubicBezTo>
                      <a:pt x="844" y="158"/>
                      <a:pt x="1002" y="25"/>
                      <a:pt x="1140" y="27"/>
                    </a:cubicBezTo>
                    <a:cubicBezTo>
                      <a:pt x="1278" y="29"/>
                      <a:pt x="1455" y="133"/>
                      <a:pt x="1532" y="166"/>
                    </a:cubicBezTo>
                    <a:cubicBezTo>
                      <a:pt x="1609" y="199"/>
                      <a:pt x="1605" y="211"/>
                      <a:pt x="1601" y="223"/>
                    </a:cubicBezTo>
                  </a:path>
                </a:pathLst>
              </a:custGeom>
              <a:noFill/>
              <a:ln w="19050" cap="flat" cmpd="sng">
                <a:solidFill>
                  <a:srgbClr val="008000"/>
                </a:solidFill>
                <a:prstDash val="solid"/>
                <a:round/>
                <a:headEnd type="none" w="med" len="med"/>
                <a:tailEnd type="none" w="lg" len="me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187" name="Text Box 299">
                <a:extLst>
                  <a:ext uri="{FF2B5EF4-FFF2-40B4-BE49-F238E27FC236}">
                    <a16:creationId xmlns:a16="http://schemas.microsoft.com/office/drawing/2014/main" id="{CF555510-76E0-B12E-5200-9D4567DEA8C8}"/>
                  </a:ext>
                </a:extLst>
              </p:cNvPr>
              <p:cNvSpPr txBox="1">
                <a:spLocks noChangeArrowheads="1"/>
              </p:cNvSpPr>
              <p:nvPr/>
            </p:nvSpPr>
            <p:spPr bwMode="auto">
              <a:xfrm>
                <a:off x="4236" y="803"/>
                <a:ext cx="580" cy="252"/>
              </a:xfrm>
              <a:prstGeom prst="rect">
                <a:avLst/>
              </a:prstGeom>
              <a:solidFill>
                <a:srgbClr val="EAEAEA"/>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100%</a:t>
                </a:r>
              </a:p>
            </p:txBody>
          </p:sp>
          <p:sp>
            <p:nvSpPr>
              <p:cNvPr id="2982188" name="Text Box 300">
                <a:extLst>
                  <a:ext uri="{FF2B5EF4-FFF2-40B4-BE49-F238E27FC236}">
                    <a16:creationId xmlns:a16="http://schemas.microsoft.com/office/drawing/2014/main" id="{63CC1490-7DAB-43A5-13C1-5139E3BA5C2E}"/>
                  </a:ext>
                </a:extLst>
              </p:cNvPr>
              <p:cNvSpPr txBox="1">
                <a:spLocks noChangeArrowheads="1"/>
              </p:cNvSpPr>
              <p:nvPr/>
            </p:nvSpPr>
            <p:spPr bwMode="auto">
              <a:xfrm rot="16200000">
                <a:off x="2841" y="1300"/>
                <a:ext cx="1394" cy="250"/>
              </a:xfrm>
              <a:prstGeom prst="rect">
                <a:avLst/>
              </a:prstGeom>
              <a:solidFill>
                <a:srgbClr val="F8F8F8"/>
              </a:solidFill>
              <a:ln>
                <a:noFill/>
              </a:ln>
              <a:effectLst/>
              <a:extLst>
                <a:ext uri="{91240B29-F687-4F45-9708-019B960494DF}">
                  <a14:hiddenLine xmlns:a14="http://schemas.microsoft.com/office/drawing/2010/main" w="3175" algn="ctr">
                    <a:solidFill>
                      <a:srgbClr val="00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Port Util. %</a:t>
                </a:r>
              </a:p>
            </p:txBody>
          </p:sp>
          <p:sp>
            <p:nvSpPr>
              <p:cNvPr id="2982190" name="Text Box 302">
                <a:extLst>
                  <a:ext uri="{FF2B5EF4-FFF2-40B4-BE49-F238E27FC236}">
                    <a16:creationId xmlns:a16="http://schemas.microsoft.com/office/drawing/2014/main" id="{253B12D8-9DCA-C296-E4CF-E87B3DFE9084}"/>
                  </a:ext>
                </a:extLst>
              </p:cNvPr>
              <p:cNvSpPr txBox="1">
                <a:spLocks noChangeArrowheads="1"/>
              </p:cNvSpPr>
              <p:nvPr/>
            </p:nvSpPr>
            <p:spPr bwMode="auto">
              <a:xfrm>
                <a:off x="3797" y="1701"/>
                <a:ext cx="1404" cy="252"/>
              </a:xfrm>
              <a:prstGeom prst="rect">
                <a:avLst/>
              </a:prstGeom>
              <a:solidFill>
                <a:srgbClr val="F8F8F8"/>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a:solidFill>
                      <a:srgbClr val="003580"/>
                    </a:solidFill>
                    <a:ea typeface="宋体" panose="02010600030101010101" pitchFamily="2" charset="-122"/>
                  </a:rPr>
                  <a:t>H1 + H2 + H3</a:t>
                </a:r>
              </a:p>
            </p:txBody>
          </p:sp>
          <p:sp>
            <p:nvSpPr>
              <p:cNvPr id="2982191" name="Freeform 303">
                <a:extLst>
                  <a:ext uri="{FF2B5EF4-FFF2-40B4-BE49-F238E27FC236}">
                    <a16:creationId xmlns:a16="http://schemas.microsoft.com/office/drawing/2014/main" id="{F279A8C4-4C54-ED60-AEA9-CC0A337CBAD2}"/>
                  </a:ext>
                </a:extLst>
              </p:cNvPr>
              <p:cNvSpPr>
                <a:spLocks/>
              </p:cNvSpPr>
              <p:nvPr/>
            </p:nvSpPr>
            <p:spPr bwMode="auto">
              <a:xfrm>
                <a:off x="3716" y="1077"/>
                <a:ext cx="1609" cy="223"/>
              </a:xfrm>
              <a:custGeom>
                <a:avLst/>
                <a:gdLst>
                  <a:gd name="T0" fmla="*/ 0 w 1609"/>
                  <a:gd name="T1" fmla="*/ 131 h 223"/>
                  <a:gd name="T2" fmla="*/ 288 w 1609"/>
                  <a:gd name="T3" fmla="*/ 4 h 223"/>
                  <a:gd name="T4" fmla="*/ 702 w 1609"/>
                  <a:gd name="T5" fmla="*/ 154 h 223"/>
                  <a:gd name="T6" fmla="*/ 1140 w 1609"/>
                  <a:gd name="T7" fmla="*/ 27 h 223"/>
                  <a:gd name="T8" fmla="*/ 1532 w 1609"/>
                  <a:gd name="T9" fmla="*/ 166 h 223"/>
                  <a:gd name="T10" fmla="*/ 1601 w 1609"/>
                  <a:gd name="T11" fmla="*/ 223 h 223"/>
                </a:gdLst>
                <a:ahLst/>
                <a:cxnLst>
                  <a:cxn ang="0">
                    <a:pos x="T0" y="T1"/>
                  </a:cxn>
                  <a:cxn ang="0">
                    <a:pos x="T2" y="T3"/>
                  </a:cxn>
                  <a:cxn ang="0">
                    <a:pos x="T4" y="T5"/>
                  </a:cxn>
                  <a:cxn ang="0">
                    <a:pos x="T6" y="T7"/>
                  </a:cxn>
                  <a:cxn ang="0">
                    <a:pos x="T8" y="T9"/>
                  </a:cxn>
                  <a:cxn ang="0">
                    <a:pos x="T10" y="T11"/>
                  </a:cxn>
                </a:cxnLst>
                <a:rect l="0" t="0" r="r" b="b"/>
                <a:pathLst>
                  <a:path w="1609" h="223">
                    <a:moveTo>
                      <a:pt x="0" y="131"/>
                    </a:moveTo>
                    <a:cubicBezTo>
                      <a:pt x="85" y="65"/>
                      <a:pt x="171" y="0"/>
                      <a:pt x="288" y="4"/>
                    </a:cubicBezTo>
                    <a:cubicBezTo>
                      <a:pt x="405" y="8"/>
                      <a:pt x="560" y="150"/>
                      <a:pt x="702" y="154"/>
                    </a:cubicBezTo>
                    <a:cubicBezTo>
                      <a:pt x="844" y="158"/>
                      <a:pt x="1002" y="25"/>
                      <a:pt x="1140" y="27"/>
                    </a:cubicBezTo>
                    <a:cubicBezTo>
                      <a:pt x="1278" y="29"/>
                      <a:pt x="1455" y="133"/>
                      <a:pt x="1532" y="166"/>
                    </a:cubicBezTo>
                    <a:cubicBezTo>
                      <a:pt x="1609" y="199"/>
                      <a:pt x="1605" y="211"/>
                      <a:pt x="1601" y="223"/>
                    </a:cubicBezTo>
                  </a:path>
                </a:pathLst>
              </a:custGeom>
              <a:noFill/>
              <a:ln w="19050" cap="flat" cmpd="sng">
                <a:solidFill>
                  <a:srgbClr val="FF0000"/>
                </a:solidFill>
                <a:prstDash val="solid"/>
                <a:round/>
                <a:headEnd type="none" w="med" len="med"/>
                <a:tailEnd type="none" w="lg" len="med"/>
              </a:ln>
              <a:effectLst/>
              <a:extLst>
                <a:ext uri="{909E8E84-426E-40DD-AFC4-6F175D3DCCD1}">
                  <a14:hiddenFill xmlns:a14="http://schemas.microsoft.com/office/drawing/2010/main">
                    <a:solidFill>
                      <a:srgbClr val="F8F8F8"/>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2189" name="AutoShape 301">
                <a:extLst>
                  <a:ext uri="{FF2B5EF4-FFF2-40B4-BE49-F238E27FC236}">
                    <a16:creationId xmlns:a16="http://schemas.microsoft.com/office/drawing/2014/main" id="{94329D5D-16F4-AB61-7E46-A11B2A42AFD3}"/>
                  </a:ext>
                </a:extLst>
              </p:cNvPr>
              <p:cNvSpPr>
                <a:spLocks noChangeArrowheads="1"/>
              </p:cNvSpPr>
              <p:nvPr/>
            </p:nvSpPr>
            <p:spPr bwMode="auto">
              <a:xfrm>
                <a:off x="3353" y="714"/>
                <a:ext cx="2165" cy="1417"/>
              </a:xfrm>
              <a:prstGeom prst="wedgeRectCallout">
                <a:avLst>
                  <a:gd name="adj1" fmla="val -37204"/>
                  <a:gd name="adj2" fmla="val 104199"/>
                </a:avLst>
              </a:prstGeom>
              <a:noFill/>
              <a:ln w="3175" algn="ctr">
                <a:solidFill>
                  <a:srgbClr val="000000"/>
                </a:solidFill>
                <a:miter lim="800000"/>
                <a:headEnd/>
                <a:tailEnd type="none" w="lg" len="med"/>
              </a:ln>
              <a:effectLst/>
              <a:extLst>
                <a:ext uri="{909E8E84-426E-40DD-AFC4-6F175D3DCCD1}">
                  <a14:hiddenFill xmlns:a14="http://schemas.microsoft.com/office/drawing/2010/main">
                    <a:solidFill>
                      <a:srgbClr val="F8F8F8">
                        <a:alpha val="25999"/>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sz="1400">
                  <a:solidFill>
                    <a:srgbClr val="003580"/>
                  </a:solidFill>
                  <a:ea typeface="宋体" panose="02010600030101010101" pitchFamily="2" charset="-122"/>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821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822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822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82223"/>
                                        </p:tgtEl>
                                        <p:attrNameLst>
                                          <p:attrName>style.visibility</p:attrName>
                                        </p:attrNameLst>
                                      </p:cBhvr>
                                      <p:to>
                                        <p:strVal val="visible"/>
                                      </p:to>
                                    </p:set>
                                  </p:childTnLst>
                                </p:cTn>
                              </p:par>
                              <p:par>
                                <p:cTn id="13" presetID="22" presetClass="entr" presetSubtype="8" fill="hold" nodeType="withEffect">
                                  <p:stCondLst>
                                    <p:cond delay="0"/>
                                  </p:stCondLst>
                                  <p:childTnLst>
                                    <p:set>
                                      <p:cBhvr>
                                        <p:cTn id="14" dur="1" fill="hold">
                                          <p:stCondLst>
                                            <p:cond delay="0"/>
                                          </p:stCondLst>
                                        </p:cTn>
                                        <p:tgtEl>
                                          <p:spTgt spid="2981892"/>
                                        </p:tgtEl>
                                        <p:attrNameLst>
                                          <p:attrName>style.visibility</p:attrName>
                                        </p:attrNameLst>
                                      </p:cBhvr>
                                      <p:to>
                                        <p:strVal val="visible"/>
                                      </p:to>
                                    </p:set>
                                    <p:animEffect transition="in" filter="wipe(left)">
                                      <p:cBhvr>
                                        <p:cTn id="15" dur="500"/>
                                        <p:tgtEl>
                                          <p:spTgt spid="2981892"/>
                                        </p:tgtEl>
                                      </p:cBhvr>
                                    </p:animEffect>
                                  </p:childTnLst>
                                </p:cTn>
                              </p:par>
                              <p:par>
                                <p:cTn id="16" presetID="22" presetClass="entr" presetSubtype="8" fill="hold" nodeType="withEffect">
                                  <p:stCondLst>
                                    <p:cond delay="0"/>
                                  </p:stCondLst>
                                  <p:childTnLst>
                                    <p:set>
                                      <p:cBhvr>
                                        <p:cTn id="17" dur="1" fill="hold">
                                          <p:stCondLst>
                                            <p:cond delay="0"/>
                                          </p:stCondLst>
                                        </p:cTn>
                                        <p:tgtEl>
                                          <p:spTgt spid="2982178"/>
                                        </p:tgtEl>
                                        <p:attrNameLst>
                                          <p:attrName>style.visibility</p:attrName>
                                        </p:attrNameLst>
                                      </p:cBhvr>
                                      <p:to>
                                        <p:strVal val="visible"/>
                                      </p:to>
                                    </p:set>
                                    <p:animEffect transition="in" filter="wipe(left)">
                                      <p:cBhvr>
                                        <p:cTn id="18" dur="500"/>
                                        <p:tgtEl>
                                          <p:spTgt spid="298217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982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2177" grpId="0"/>
      <p:bldP spid="2982223" grpId="0" animBg="1"/>
      <p:bldP spid="298222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32767F9B-9BBA-F09C-7C61-7CD8F443B53D}"/>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8F8860C2-4C52-E72F-F364-22BD657775EF}"/>
              </a:ext>
            </a:extLst>
          </p:cNvPr>
          <p:cNvSpPr>
            <a:spLocks noGrp="1"/>
          </p:cNvSpPr>
          <p:nvPr>
            <p:ph type="sldNum" sz="quarter" idx="11"/>
          </p:nvPr>
        </p:nvSpPr>
        <p:spPr/>
        <p:txBody>
          <a:bodyPr/>
          <a:lstStyle/>
          <a:p>
            <a:r>
              <a:rPr lang="zh-CN" altLang="en-US"/>
              <a:t> </a:t>
            </a:r>
            <a:r>
              <a:rPr lang="en-US" altLang="zh-CN"/>
              <a:t>- </a:t>
            </a:r>
            <a:fld id="{D139E2B1-7711-4584-9F8C-A5FD1129A278}" type="slidenum">
              <a:rPr lang="en-US" altLang="zh-CN" sz="800"/>
              <a:pPr/>
              <a:t>64</a:t>
            </a:fld>
            <a:endParaRPr lang="en-US" altLang="zh-CN" sz="800"/>
          </a:p>
        </p:txBody>
      </p:sp>
      <p:sp>
        <p:nvSpPr>
          <p:cNvPr id="2983938" name="Rectangle 2">
            <a:extLst>
              <a:ext uri="{FF2B5EF4-FFF2-40B4-BE49-F238E27FC236}">
                <a16:creationId xmlns:a16="http://schemas.microsoft.com/office/drawing/2014/main" id="{0618EE6B-AE78-BAF1-FA20-7BE85BC7C1D8}"/>
              </a:ext>
            </a:extLst>
          </p:cNvPr>
          <p:cNvSpPr>
            <a:spLocks noGrp="1" noChangeArrowheads="1"/>
          </p:cNvSpPr>
          <p:nvPr>
            <p:ph type="title"/>
          </p:nvPr>
        </p:nvSpPr>
        <p:spPr/>
        <p:txBody>
          <a:bodyPr/>
          <a:lstStyle/>
          <a:p>
            <a:r>
              <a:rPr lang="en-US" altLang="zh-CN" sz="2400">
                <a:ea typeface="宋体" panose="02010600030101010101" pitchFamily="2" charset="-122"/>
              </a:rPr>
              <a:t>Performance Monitoring Example: Servers CPU Utilization</a:t>
            </a:r>
          </a:p>
        </p:txBody>
      </p:sp>
      <p:pic>
        <p:nvPicPr>
          <p:cNvPr id="2983939" name="Picture 3">
            <a:extLst>
              <a:ext uri="{FF2B5EF4-FFF2-40B4-BE49-F238E27FC236}">
                <a16:creationId xmlns:a16="http://schemas.microsoft.com/office/drawing/2014/main" id="{72637F0A-B8E3-0CCA-76AF-A046DABEAC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9938" y="2603500"/>
            <a:ext cx="4864100" cy="3492500"/>
          </a:xfrm>
          <a:prstGeom prst="rect">
            <a:avLst/>
          </a:prstGeom>
          <a:noFill/>
          <a:extLst>
            <a:ext uri="{909E8E84-426E-40DD-AFC4-6F175D3DCCD1}">
              <a14:hiddenFill xmlns:a14="http://schemas.microsoft.com/office/drawing/2010/main">
                <a:solidFill>
                  <a:srgbClr val="FFFFFF"/>
                </a:solidFill>
              </a14:hiddenFill>
            </a:ext>
          </a:extLst>
        </p:spPr>
      </p:pic>
      <p:sp>
        <p:nvSpPr>
          <p:cNvPr id="2983941" name="AutoShape 5">
            <a:extLst>
              <a:ext uri="{FF2B5EF4-FFF2-40B4-BE49-F238E27FC236}">
                <a16:creationId xmlns:a16="http://schemas.microsoft.com/office/drawing/2014/main" id="{0D4226F7-E3E7-C704-8D49-AAC50C1AA70D}"/>
              </a:ext>
            </a:extLst>
          </p:cNvPr>
          <p:cNvSpPr>
            <a:spLocks noChangeArrowheads="1"/>
          </p:cNvSpPr>
          <p:nvPr/>
        </p:nvSpPr>
        <p:spPr bwMode="auto">
          <a:xfrm>
            <a:off x="2781300" y="1319213"/>
            <a:ext cx="4175125" cy="787400"/>
          </a:xfrm>
          <a:prstGeom prst="wedgeRectCallout">
            <a:avLst>
              <a:gd name="adj1" fmla="val 17074"/>
              <a:gd name="adj2" fmla="val 146773"/>
            </a:avLst>
          </a:prstGeom>
          <a:solidFill>
            <a:srgbClr val="808080">
              <a:alpha val="35001"/>
            </a:srgbClr>
          </a:solidFill>
          <a:ln>
            <a:noFill/>
          </a:ln>
          <a:effectLst/>
          <a:extLst>
            <a:ext uri="{91240B29-F687-4F45-9708-019B960494DF}">
              <a14:hiddenLine xmlns:a14="http://schemas.microsoft.com/office/drawing/2010/main" w="381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rIns="0" bIns="0"/>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50000"/>
              </a:spcBef>
            </a:pPr>
            <a:r>
              <a:rPr lang="en-US" altLang="zh-CN" sz="1800" b="1">
                <a:solidFill>
                  <a:srgbClr val="FF0000"/>
                </a:solidFill>
                <a:ea typeface="宋体" panose="02010600030101010101" pitchFamily="2" charset="-122"/>
              </a:rPr>
              <a:t>Critical:</a:t>
            </a:r>
            <a:r>
              <a:rPr lang="en-US" altLang="zh-CN" sz="1800" b="1">
                <a:solidFill>
                  <a:srgbClr val="003580"/>
                </a:solidFill>
                <a:ea typeface="宋体" panose="02010600030101010101" pitchFamily="2" charset="-122"/>
              </a:rPr>
              <a:t> CPU Usage above 90% for the last 90 minutes</a:t>
            </a:r>
          </a:p>
        </p:txBody>
      </p:sp>
      <p:pic>
        <p:nvPicPr>
          <p:cNvPr id="2983943" name="Picture 7">
            <a:extLst>
              <a:ext uri="{FF2B5EF4-FFF2-40B4-BE49-F238E27FC236}">
                <a16:creationId xmlns:a16="http://schemas.microsoft.com/office/drawing/2014/main" id="{3156E00F-55A5-993E-15CC-BDAC690A71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050" y="3548063"/>
            <a:ext cx="1054100" cy="16081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D48F1B0C-CB7B-B913-359C-68B3746B3900}"/>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E599FB78-9FF9-3A38-77D6-FB1F20AD8B50}"/>
              </a:ext>
            </a:extLst>
          </p:cNvPr>
          <p:cNvSpPr>
            <a:spLocks noGrp="1"/>
          </p:cNvSpPr>
          <p:nvPr>
            <p:ph type="sldNum" sz="quarter" idx="11"/>
          </p:nvPr>
        </p:nvSpPr>
        <p:spPr/>
        <p:txBody>
          <a:bodyPr/>
          <a:lstStyle/>
          <a:p>
            <a:r>
              <a:rPr lang="zh-CN" altLang="en-US"/>
              <a:t> </a:t>
            </a:r>
            <a:r>
              <a:rPr lang="en-US" altLang="zh-CN"/>
              <a:t>- </a:t>
            </a:r>
            <a:fld id="{F06F3C61-6E69-4F96-A2BE-A575E92DF9B0}" type="slidenum">
              <a:rPr lang="en-US" altLang="zh-CN" sz="800"/>
              <a:pPr/>
              <a:t>65</a:t>
            </a:fld>
            <a:endParaRPr lang="en-US" altLang="zh-CN" sz="800"/>
          </a:p>
        </p:txBody>
      </p:sp>
      <p:sp>
        <p:nvSpPr>
          <p:cNvPr id="2988035" name="Line 3">
            <a:extLst>
              <a:ext uri="{FF2B5EF4-FFF2-40B4-BE49-F238E27FC236}">
                <a16:creationId xmlns:a16="http://schemas.microsoft.com/office/drawing/2014/main" id="{2A3066BA-27E2-EEB1-57DE-EB0164B5D9AA}"/>
              </a:ext>
            </a:extLst>
          </p:cNvPr>
          <p:cNvSpPr>
            <a:spLocks noChangeShapeType="1"/>
          </p:cNvSpPr>
          <p:nvPr/>
        </p:nvSpPr>
        <p:spPr bwMode="auto">
          <a:xfrm>
            <a:off x="5959475" y="4205288"/>
            <a:ext cx="742950" cy="201612"/>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8243" name="AutoShape 211">
            <a:extLst>
              <a:ext uri="{FF2B5EF4-FFF2-40B4-BE49-F238E27FC236}">
                <a16:creationId xmlns:a16="http://schemas.microsoft.com/office/drawing/2014/main" id="{8B6AF4E7-3209-9042-6CC6-C9D926462F74}"/>
              </a:ext>
            </a:extLst>
          </p:cNvPr>
          <p:cNvSpPr>
            <a:spLocks noChangeArrowheads="1"/>
          </p:cNvSpPr>
          <p:nvPr/>
        </p:nvSpPr>
        <p:spPr bwMode="auto">
          <a:xfrm>
            <a:off x="6670675" y="2660650"/>
            <a:ext cx="1895475" cy="1943100"/>
          </a:xfrm>
          <a:prstGeom prst="roundRect">
            <a:avLst>
              <a:gd name="adj" fmla="val 11657"/>
            </a:avLst>
          </a:prstGeom>
          <a:solidFill>
            <a:srgbClr val="D5CDA7"/>
          </a:solidFill>
          <a:ln w="12700" algn="ctr">
            <a:solidFill>
              <a:schemeClr val="tx1"/>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88034" name="Line 2">
            <a:extLst>
              <a:ext uri="{FF2B5EF4-FFF2-40B4-BE49-F238E27FC236}">
                <a16:creationId xmlns:a16="http://schemas.microsoft.com/office/drawing/2014/main" id="{8B93F73E-47F4-1E35-2209-9D2EF2292ED5}"/>
              </a:ext>
            </a:extLst>
          </p:cNvPr>
          <p:cNvSpPr>
            <a:spLocks noChangeShapeType="1"/>
          </p:cNvSpPr>
          <p:nvPr/>
        </p:nvSpPr>
        <p:spPr bwMode="auto">
          <a:xfrm flipV="1">
            <a:off x="5910263" y="3886200"/>
            <a:ext cx="744537" cy="341313"/>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8036" name="AutoShape 4">
            <a:extLst>
              <a:ext uri="{FF2B5EF4-FFF2-40B4-BE49-F238E27FC236}">
                <a16:creationId xmlns:a16="http://schemas.microsoft.com/office/drawing/2014/main" id="{A14B1FE6-B1D1-0838-A100-06A609054ADC}"/>
              </a:ext>
            </a:extLst>
          </p:cNvPr>
          <p:cNvSpPr>
            <a:spLocks noChangeArrowheads="1"/>
          </p:cNvSpPr>
          <p:nvPr/>
        </p:nvSpPr>
        <p:spPr bwMode="auto">
          <a:xfrm>
            <a:off x="1160463" y="1217613"/>
            <a:ext cx="1735137" cy="1955800"/>
          </a:xfrm>
          <a:prstGeom prst="roundRect">
            <a:avLst>
              <a:gd name="adj" fmla="val 11657"/>
            </a:avLst>
          </a:prstGeom>
          <a:solidFill>
            <a:srgbClr val="FF0000">
              <a:alpha val="14999"/>
            </a:srgbClr>
          </a:solidFill>
          <a:ln w="6350" algn="ctr">
            <a:solidFill>
              <a:srgbClr val="FF0000"/>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88037" name="AutoShape 5">
            <a:extLst>
              <a:ext uri="{FF2B5EF4-FFF2-40B4-BE49-F238E27FC236}">
                <a16:creationId xmlns:a16="http://schemas.microsoft.com/office/drawing/2014/main" id="{BA3A3771-E9A2-A6F9-B85F-5E72F1F7B677}"/>
              </a:ext>
            </a:extLst>
          </p:cNvPr>
          <p:cNvSpPr>
            <a:spLocks noChangeArrowheads="1"/>
          </p:cNvSpPr>
          <p:nvPr/>
        </p:nvSpPr>
        <p:spPr bwMode="auto">
          <a:xfrm>
            <a:off x="1158875" y="3676650"/>
            <a:ext cx="1735138" cy="1955800"/>
          </a:xfrm>
          <a:prstGeom prst="roundRect">
            <a:avLst>
              <a:gd name="adj" fmla="val 11657"/>
            </a:avLst>
          </a:prstGeom>
          <a:solidFill>
            <a:srgbClr val="CCFFCC"/>
          </a:solidFill>
          <a:ln w="6350" algn="ctr">
            <a:solidFill>
              <a:srgbClr val="85FF8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88038" name="Line 6">
            <a:extLst>
              <a:ext uri="{FF2B5EF4-FFF2-40B4-BE49-F238E27FC236}">
                <a16:creationId xmlns:a16="http://schemas.microsoft.com/office/drawing/2014/main" id="{06508642-08C6-A778-1E2D-0F346ABEF36D}"/>
              </a:ext>
            </a:extLst>
          </p:cNvPr>
          <p:cNvSpPr>
            <a:spLocks noChangeShapeType="1"/>
          </p:cNvSpPr>
          <p:nvPr/>
        </p:nvSpPr>
        <p:spPr bwMode="auto">
          <a:xfrm flipV="1">
            <a:off x="2116138" y="3152775"/>
            <a:ext cx="2819400" cy="1068388"/>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8039" name="Line 7">
            <a:extLst>
              <a:ext uri="{FF2B5EF4-FFF2-40B4-BE49-F238E27FC236}">
                <a16:creationId xmlns:a16="http://schemas.microsoft.com/office/drawing/2014/main" id="{054CB1F6-BA8E-9D8A-D09D-A84808835E21}"/>
              </a:ext>
            </a:extLst>
          </p:cNvPr>
          <p:cNvSpPr>
            <a:spLocks noChangeShapeType="1"/>
          </p:cNvSpPr>
          <p:nvPr/>
        </p:nvSpPr>
        <p:spPr bwMode="auto">
          <a:xfrm flipV="1">
            <a:off x="2546350" y="4211638"/>
            <a:ext cx="2466975" cy="758825"/>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8040" name="Rectangle 8">
            <a:extLst>
              <a:ext uri="{FF2B5EF4-FFF2-40B4-BE49-F238E27FC236}">
                <a16:creationId xmlns:a16="http://schemas.microsoft.com/office/drawing/2014/main" id="{D0B79F02-A868-78BB-7950-DBB785B422FC}"/>
              </a:ext>
            </a:extLst>
          </p:cNvPr>
          <p:cNvSpPr>
            <a:spLocks noGrp="1" noChangeArrowheads="1"/>
          </p:cNvSpPr>
          <p:nvPr>
            <p:ph type="title"/>
          </p:nvPr>
        </p:nvSpPr>
        <p:spPr/>
        <p:txBody>
          <a:bodyPr/>
          <a:lstStyle/>
          <a:p>
            <a:r>
              <a:rPr lang="en-US" altLang="zh-CN">
                <a:ea typeface="宋体" panose="02010600030101010101" pitchFamily="2" charset="-122"/>
              </a:rPr>
              <a:t>Security Monitoring Example: Storage Array</a:t>
            </a:r>
          </a:p>
        </p:txBody>
      </p:sp>
      <p:sp>
        <p:nvSpPr>
          <p:cNvPr id="2988162" name="Text Box 130">
            <a:extLst>
              <a:ext uri="{FF2B5EF4-FFF2-40B4-BE49-F238E27FC236}">
                <a16:creationId xmlns:a16="http://schemas.microsoft.com/office/drawing/2014/main" id="{B02E95BD-7E9F-3C98-F3D7-0BCE19BDD7DE}"/>
              </a:ext>
            </a:extLst>
          </p:cNvPr>
          <p:cNvSpPr txBox="1">
            <a:spLocks noChangeArrowheads="1"/>
          </p:cNvSpPr>
          <p:nvPr/>
        </p:nvSpPr>
        <p:spPr bwMode="auto">
          <a:xfrm>
            <a:off x="6634163" y="2276475"/>
            <a:ext cx="2228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5A8680"/>
                </a:solidFill>
                <a:ea typeface="宋体" panose="02010600030101010101" pitchFamily="2" charset="-122"/>
              </a:rPr>
              <a:t>Storage Array</a:t>
            </a:r>
          </a:p>
        </p:txBody>
      </p:sp>
      <p:sp>
        <p:nvSpPr>
          <p:cNvPr id="2988163" name="Text Box 131">
            <a:extLst>
              <a:ext uri="{FF2B5EF4-FFF2-40B4-BE49-F238E27FC236}">
                <a16:creationId xmlns:a16="http://schemas.microsoft.com/office/drawing/2014/main" id="{CDB7F704-50E0-0739-346B-CE6EFEC833BD}"/>
              </a:ext>
            </a:extLst>
          </p:cNvPr>
          <p:cNvSpPr txBox="1">
            <a:spLocks noChangeArrowheads="1"/>
          </p:cNvSpPr>
          <p:nvPr/>
        </p:nvSpPr>
        <p:spPr bwMode="auto">
          <a:xfrm>
            <a:off x="4425950" y="3716338"/>
            <a:ext cx="22288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a:solidFill>
                  <a:srgbClr val="003580"/>
                </a:solidFill>
                <a:ea typeface="宋体" panose="02010600030101010101" pitchFamily="2" charset="-122"/>
              </a:rPr>
              <a:t>SW2</a:t>
            </a:r>
          </a:p>
        </p:txBody>
      </p:sp>
      <p:sp>
        <p:nvSpPr>
          <p:cNvPr id="2988164" name="Text Box 132">
            <a:extLst>
              <a:ext uri="{FF2B5EF4-FFF2-40B4-BE49-F238E27FC236}">
                <a16:creationId xmlns:a16="http://schemas.microsoft.com/office/drawing/2014/main" id="{F63BDE0C-6DAE-83D6-3051-097A2ABAF4BA}"/>
              </a:ext>
            </a:extLst>
          </p:cNvPr>
          <p:cNvSpPr txBox="1">
            <a:spLocks noChangeArrowheads="1"/>
          </p:cNvSpPr>
          <p:nvPr/>
        </p:nvSpPr>
        <p:spPr bwMode="auto">
          <a:xfrm>
            <a:off x="458788" y="5656263"/>
            <a:ext cx="31083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a:solidFill>
                  <a:srgbClr val="003580"/>
                </a:solidFill>
                <a:ea typeface="宋体" panose="02010600030101010101" pitchFamily="2" charset="-122"/>
              </a:rPr>
              <a:t>Workgroup 1 (WG1)</a:t>
            </a:r>
          </a:p>
        </p:txBody>
      </p:sp>
      <p:sp>
        <p:nvSpPr>
          <p:cNvPr id="2988165" name="Text Box 133">
            <a:extLst>
              <a:ext uri="{FF2B5EF4-FFF2-40B4-BE49-F238E27FC236}">
                <a16:creationId xmlns:a16="http://schemas.microsoft.com/office/drawing/2014/main" id="{FD91EC74-57AC-9C46-1A33-E6F97A2EC369}"/>
              </a:ext>
            </a:extLst>
          </p:cNvPr>
          <p:cNvSpPr txBox="1">
            <a:spLocks noChangeArrowheads="1"/>
          </p:cNvSpPr>
          <p:nvPr/>
        </p:nvSpPr>
        <p:spPr bwMode="auto">
          <a:xfrm>
            <a:off x="5070475" y="2695575"/>
            <a:ext cx="9207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a:solidFill>
                  <a:srgbClr val="003580"/>
                </a:solidFill>
                <a:ea typeface="宋体" panose="02010600030101010101" pitchFamily="2" charset="-122"/>
              </a:rPr>
              <a:t>SW1</a:t>
            </a:r>
          </a:p>
        </p:txBody>
      </p:sp>
      <p:sp>
        <p:nvSpPr>
          <p:cNvPr id="2988167" name="Line 135">
            <a:extLst>
              <a:ext uri="{FF2B5EF4-FFF2-40B4-BE49-F238E27FC236}">
                <a16:creationId xmlns:a16="http://schemas.microsoft.com/office/drawing/2014/main" id="{67835783-DCBC-ED5A-C3B0-01A5C02EC116}"/>
              </a:ext>
            </a:extLst>
          </p:cNvPr>
          <p:cNvSpPr>
            <a:spLocks noChangeShapeType="1"/>
          </p:cNvSpPr>
          <p:nvPr/>
        </p:nvSpPr>
        <p:spPr bwMode="auto">
          <a:xfrm flipV="1">
            <a:off x="5965825" y="2992438"/>
            <a:ext cx="712788" cy="195262"/>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8168" name="Line 136">
            <a:extLst>
              <a:ext uri="{FF2B5EF4-FFF2-40B4-BE49-F238E27FC236}">
                <a16:creationId xmlns:a16="http://schemas.microsoft.com/office/drawing/2014/main" id="{444AD175-FFE6-9A49-771B-7E107F2B4CE8}"/>
              </a:ext>
            </a:extLst>
          </p:cNvPr>
          <p:cNvSpPr>
            <a:spLocks noChangeShapeType="1"/>
          </p:cNvSpPr>
          <p:nvPr/>
        </p:nvSpPr>
        <p:spPr bwMode="auto">
          <a:xfrm>
            <a:off x="5915025" y="3216275"/>
            <a:ext cx="776288" cy="239713"/>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8169" name="Text Box 137">
            <a:extLst>
              <a:ext uri="{FF2B5EF4-FFF2-40B4-BE49-F238E27FC236}">
                <a16:creationId xmlns:a16="http://schemas.microsoft.com/office/drawing/2014/main" id="{2DABED59-0814-1196-0358-F55DF76B852D}"/>
              </a:ext>
            </a:extLst>
          </p:cNvPr>
          <p:cNvSpPr txBox="1">
            <a:spLocks noChangeArrowheads="1"/>
          </p:cNvSpPr>
          <p:nvPr/>
        </p:nvSpPr>
        <p:spPr bwMode="auto">
          <a:xfrm>
            <a:off x="847725" y="3175000"/>
            <a:ext cx="23288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a:solidFill>
                  <a:srgbClr val="003580"/>
                </a:solidFill>
                <a:ea typeface="宋体" panose="02010600030101010101" pitchFamily="2" charset="-122"/>
              </a:rPr>
              <a:t>Workgroup 2 (WG2)</a:t>
            </a:r>
          </a:p>
        </p:txBody>
      </p:sp>
      <p:sp>
        <p:nvSpPr>
          <p:cNvPr id="2988170" name="Line 138">
            <a:extLst>
              <a:ext uri="{FF2B5EF4-FFF2-40B4-BE49-F238E27FC236}">
                <a16:creationId xmlns:a16="http://schemas.microsoft.com/office/drawing/2014/main" id="{D798E153-9E40-75AB-0A10-F3E693D94914}"/>
              </a:ext>
            </a:extLst>
          </p:cNvPr>
          <p:cNvSpPr>
            <a:spLocks noChangeShapeType="1"/>
          </p:cNvSpPr>
          <p:nvPr/>
        </p:nvSpPr>
        <p:spPr bwMode="auto">
          <a:xfrm>
            <a:off x="2374900" y="1873250"/>
            <a:ext cx="2600325" cy="127635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8171" name="Line 139">
            <a:extLst>
              <a:ext uri="{FF2B5EF4-FFF2-40B4-BE49-F238E27FC236}">
                <a16:creationId xmlns:a16="http://schemas.microsoft.com/office/drawing/2014/main" id="{74E60EF1-AE20-D89E-E1B0-26D01333B916}"/>
              </a:ext>
            </a:extLst>
          </p:cNvPr>
          <p:cNvSpPr>
            <a:spLocks noChangeShapeType="1"/>
          </p:cNvSpPr>
          <p:nvPr/>
        </p:nvSpPr>
        <p:spPr bwMode="auto">
          <a:xfrm>
            <a:off x="2592388" y="2822575"/>
            <a:ext cx="2428875" cy="1385888"/>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8186" name="AutoShape 154">
            <a:extLst>
              <a:ext uri="{FF2B5EF4-FFF2-40B4-BE49-F238E27FC236}">
                <a16:creationId xmlns:a16="http://schemas.microsoft.com/office/drawing/2014/main" id="{FA66C7CD-DB6A-1FE7-C160-9F8766F18ACC}"/>
              </a:ext>
            </a:extLst>
          </p:cNvPr>
          <p:cNvSpPr>
            <a:spLocks/>
          </p:cNvSpPr>
          <p:nvPr/>
        </p:nvSpPr>
        <p:spPr bwMode="auto">
          <a:xfrm>
            <a:off x="8418513" y="3040063"/>
            <a:ext cx="315912" cy="409575"/>
          </a:xfrm>
          <a:prstGeom prst="rightBrace">
            <a:avLst>
              <a:gd name="adj1" fmla="val 10804"/>
              <a:gd name="adj2" fmla="val 50000"/>
            </a:avLst>
          </a:prstGeom>
          <a:noFill/>
          <a:ln w="25400">
            <a:solidFill>
              <a:srgbClr val="FF0000"/>
            </a:solidFill>
            <a:round/>
            <a:headEnd/>
            <a:tailEnd type="none" w="lg" len="med"/>
          </a:ln>
          <a:effectLst/>
          <a:extLst>
            <a:ext uri="{909E8E84-426E-40DD-AFC4-6F175D3DCCD1}">
              <a14:hiddenFill xmlns:a14="http://schemas.microsoft.com/office/drawing/2010/main">
                <a:solidFill>
                  <a:srgbClr val="FFAFA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88188" name="Text Box 156">
            <a:extLst>
              <a:ext uri="{FF2B5EF4-FFF2-40B4-BE49-F238E27FC236}">
                <a16:creationId xmlns:a16="http://schemas.microsoft.com/office/drawing/2014/main" id="{5C5B445B-DAEE-4497-F620-7418F3BDD562}"/>
              </a:ext>
            </a:extLst>
          </p:cNvPr>
          <p:cNvSpPr txBox="1">
            <a:spLocks noChangeArrowheads="1"/>
          </p:cNvSpPr>
          <p:nvPr/>
        </p:nvSpPr>
        <p:spPr bwMode="auto">
          <a:xfrm>
            <a:off x="8616950" y="3141663"/>
            <a:ext cx="646113"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3580"/>
                </a:solidFill>
                <a:ea typeface="宋体" panose="02010600030101010101" pitchFamily="2" charset="-122"/>
              </a:rPr>
              <a:t>WG2</a:t>
            </a:r>
          </a:p>
        </p:txBody>
      </p:sp>
      <p:sp>
        <p:nvSpPr>
          <p:cNvPr id="2988190" name="AutoShape 158">
            <a:extLst>
              <a:ext uri="{FF2B5EF4-FFF2-40B4-BE49-F238E27FC236}">
                <a16:creationId xmlns:a16="http://schemas.microsoft.com/office/drawing/2014/main" id="{4B32B2F2-D881-6669-A23C-7F9B82F1A406}"/>
              </a:ext>
            </a:extLst>
          </p:cNvPr>
          <p:cNvSpPr>
            <a:spLocks noChangeArrowheads="1"/>
          </p:cNvSpPr>
          <p:nvPr/>
        </p:nvSpPr>
        <p:spPr bwMode="auto">
          <a:xfrm>
            <a:off x="5030788" y="5256213"/>
            <a:ext cx="3810000" cy="1062037"/>
          </a:xfrm>
          <a:prstGeom prst="wedgeRoundRectCallout">
            <a:avLst>
              <a:gd name="adj1" fmla="val 17917"/>
              <a:gd name="adj2" fmla="val -129074"/>
              <a:gd name="adj3" fmla="val 16667"/>
            </a:avLst>
          </a:prstGeom>
          <a:solidFill>
            <a:srgbClr val="808080">
              <a:alpha val="33000"/>
            </a:srgbClr>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50800" defTabSz="941388">
              <a:spcBef>
                <a:spcPct val="0"/>
              </a:spcBef>
              <a:defRPr>
                <a:solidFill>
                  <a:schemeClr val="tx1"/>
                </a:solidFill>
                <a:latin typeface="Arial" panose="020B0604020202020204" pitchFamily="34" charset="0"/>
                <a:cs typeface="Arial" panose="020B0604020202020204" pitchFamily="34" charset="0"/>
              </a:defRPr>
            </a:lvl1pPr>
            <a:lvl2pPr marL="519113"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FF0000"/>
                </a:solidFill>
                <a:ea typeface="宋体" panose="02010600030101010101" pitchFamily="2" charset="-122"/>
              </a:rPr>
              <a:t>Warning:</a:t>
            </a:r>
            <a:r>
              <a:rPr lang="en-US" altLang="zh-CN" sz="2000">
                <a:solidFill>
                  <a:srgbClr val="003580"/>
                </a:solidFill>
                <a:ea typeface="宋体" panose="02010600030101010101" pitchFamily="2" charset="-122"/>
              </a:rPr>
              <a:t> Attempted replication of WG2 devices by WG1 user – Access denied</a:t>
            </a:r>
          </a:p>
        </p:txBody>
      </p:sp>
      <p:sp>
        <p:nvSpPr>
          <p:cNvPr id="2988191" name="Line 159">
            <a:extLst>
              <a:ext uri="{FF2B5EF4-FFF2-40B4-BE49-F238E27FC236}">
                <a16:creationId xmlns:a16="http://schemas.microsoft.com/office/drawing/2014/main" id="{6BF49B9E-5759-B542-2D85-82539058D0AD}"/>
              </a:ext>
            </a:extLst>
          </p:cNvPr>
          <p:cNvSpPr>
            <a:spLocks noChangeShapeType="1"/>
          </p:cNvSpPr>
          <p:nvPr/>
        </p:nvSpPr>
        <p:spPr bwMode="auto">
          <a:xfrm flipV="1">
            <a:off x="2901950" y="3776663"/>
            <a:ext cx="1273175" cy="233362"/>
          </a:xfrm>
          <a:prstGeom prst="line">
            <a:avLst/>
          </a:prstGeom>
          <a:noFill/>
          <a:ln w="25400">
            <a:solidFill>
              <a:srgbClr val="008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2988192" name="Text Box 160">
            <a:extLst>
              <a:ext uri="{FF2B5EF4-FFF2-40B4-BE49-F238E27FC236}">
                <a16:creationId xmlns:a16="http://schemas.microsoft.com/office/drawing/2014/main" id="{0DC11CDE-203F-AE45-5891-7DDF8101EA00}"/>
              </a:ext>
            </a:extLst>
          </p:cNvPr>
          <p:cNvSpPr txBox="1">
            <a:spLocks noChangeArrowheads="1"/>
          </p:cNvSpPr>
          <p:nvPr/>
        </p:nvSpPr>
        <p:spPr bwMode="auto">
          <a:xfrm>
            <a:off x="3170238" y="3935413"/>
            <a:ext cx="1296987"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Replication Command</a:t>
            </a:r>
          </a:p>
        </p:txBody>
      </p:sp>
      <p:pic>
        <p:nvPicPr>
          <p:cNvPr id="2988217" name="Picture 185">
            <a:extLst>
              <a:ext uri="{FF2B5EF4-FFF2-40B4-BE49-F238E27FC236}">
                <a16:creationId xmlns:a16="http://schemas.microsoft.com/office/drawing/2014/main" id="{959C9797-E062-73A0-33CB-142193B53A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6038" y="1271588"/>
            <a:ext cx="806450" cy="1284287"/>
          </a:xfrm>
          <a:prstGeom prst="rect">
            <a:avLst/>
          </a:prstGeom>
          <a:noFill/>
          <a:extLst>
            <a:ext uri="{909E8E84-426E-40DD-AFC4-6F175D3DCCD1}">
              <a14:hiddenFill xmlns:a14="http://schemas.microsoft.com/office/drawing/2010/main">
                <a:solidFill>
                  <a:srgbClr val="FFFFFF"/>
                </a:solidFill>
              </a14:hiddenFill>
            </a:ext>
          </a:extLst>
        </p:spPr>
      </p:pic>
      <p:pic>
        <p:nvPicPr>
          <p:cNvPr id="2988218" name="Picture 186">
            <a:extLst>
              <a:ext uri="{FF2B5EF4-FFF2-40B4-BE49-F238E27FC236}">
                <a16:creationId xmlns:a16="http://schemas.microsoft.com/office/drawing/2014/main" id="{F8436184-91C6-37AF-71E9-66A1C906A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8438" y="1423988"/>
            <a:ext cx="806450" cy="1284287"/>
          </a:xfrm>
          <a:prstGeom prst="rect">
            <a:avLst/>
          </a:prstGeom>
          <a:noFill/>
          <a:extLst>
            <a:ext uri="{909E8E84-426E-40DD-AFC4-6F175D3DCCD1}">
              <a14:hiddenFill xmlns:a14="http://schemas.microsoft.com/office/drawing/2010/main">
                <a:solidFill>
                  <a:srgbClr val="FFFFFF"/>
                </a:solidFill>
              </a14:hiddenFill>
            </a:ext>
          </a:extLst>
        </p:spPr>
      </p:pic>
      <p:pic>
        <p:nvPicPr>
          <p:cNvPr id="2988219" name="Picture 187">
            <a:extLst>
              <a:ext uri="{FF2B5EF4-FFF2-40B4-BE49-F238E27FC236}">
                <a16:creationId xmlns:a16="http://schemas.microsoft.com/office/drawing/2014/main" id="{4DB46FE7-21AB-EFCA-F395-9FA9EEAAF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0838" y="1576388"/>
            <a:ext cx="806450" cy="1284287"/>
          </a:xfrm>
          <a:prstGeom prst="rect">
            <a:avLst/>
          </a:prstGeom>
          <a:noFill/>
          <a:extLst>
            <a:ext uri="{909E8E84-426E-40DD-AFC4-6F175D3DCCD1}">
              <a14:hiddenFill xmlns:a14="http://schemas.microsoft.com/office/drawing/2010/main">
                <a:solidFill>
                  <a:srgbClr val="FFFFFF"/>
                </a:solidFill>
              </a14:hiddenFill>
            </a:ext>
          </a:extLst>
        </p:spPr>
      </p:pic>
      <p:pic>
        <p:nvPicPr>
          <p:cNvPr id="2988220" name="Picture 188">
            <a:extLst>
              <a:ext uri="{FF2B5EF4-FFF2-40B4-BE49-F238E27FC236}">
                <a16:creationId xmlns:a16="http://schemas.microsoft.com/office/drawing/2014/main" id="{FBBC8A10-1313-9DD2-D2F5-9F5F4EEDF6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238" y="1728788"/>
            <a:ext cx="806450" cy="1284287"/>
          </a:xfrm>
          <a:prstGeom prst="rect">
            <a:avLst/>
          </a:prstGeom>
          <a:noFill/>
          <a:extLst>
            <a:ext uri="{909E8E84-426E-40DD-AFC4-6F175D3DCCD1}">
              <a14:hiddenFill xmlns:a14="http://schemas.microsoft.com/office/drawing/2010/main">
                <a:solidFill>
                  <a:srgbClr val="FFFFFF"/>
                </a:solidFill>
              </a14:hiddenFill>
            </a:ext>
          </a:extLst>
        </p:spPr>
      </p:pic>
      <p:pic>
        <p:nvPicPr>
          <p:cNvPr id="2988221" name="Picture 189">
            <a:extLst>
              <a:ext uri="{FF2B5EF4-FFF2-40B4-BE49-F238E27FC236}">
                <a16:creationId xmlns:a16="http://schemas.microsoft.com/office/drawing/2014/main" id="{CD855122-8CA6-51C6-7507-9D29495257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638" y="1881188"/>
            <a:ext cx="806450" cy="1284287"/>
          </a:xfrm>
          <a:prstGeom prst="rect">
            <a:avLst/>
          </a:prstGeom>
          <a:noFill/>
          <a:extLst>
            <a:ext uri="{909E8E84-426E-40DD-AFC4-6F175D3DCCD1}">
              <a14:hiddenFill xmlns:a14="http://schemas.microsoft.com/office/drawing/2010/main">
                <a:solidFill>
                  <a:srgbClr val="FFFFFF"/>
                </a:solidFill>
              </a14:hiddenFill>
            </a:ext>
          </a:extLst>
        </p:spPr>
      </p:pic>
      <p:pic>
        <p:nvPicPr>
          <p:cNvPr id="2988222" name="Picture 190">
            <a:extLst>
              <a:ext uri="{FF2B5EF4-FFF2-40B4-BE49-F238E27FC236}">
                <a16:creationId xmlns:a16="http://schemas.microsoft.com/office/drawing/2014/main" id="{E4A5D23F-2D94-1ADA-0DAF-770FDA49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3338" y="3735388"/>
            <a:ext cx="806450" cy="1284287"/>
          </a:xfrm>
          <a:prstGeom prst="rect">
            <a:avLst/>
          </a:prstGeom>
          <a:noFill/>
          <a:extLst>
            <a:ext uri="{909E8E84-426E-40DD-AFC4-6F175D3DCCD1}">
              <a14:hiddenFill xmlns:a14="http://schemas.microsoft.com/office/drawing/2010/main">
                <a:solidFill>
                  <a:srgbClr val="FFFFFF"/>
                </a:solidFill>
              </a14:hiddenFill>
            </a:ext>
          </a:extLst>
        </p:spPr>
      </p:pic>
      <p:pic>
        <p:nvPicPr>
          <p:cNvPr id="2988223" name="Picture 191">
            <a:extLst>
              <a:ext uri="{FF2B5EF4-FFF2-40B4-BE49-F238E27FC236}">
                <a16:creationId xmlns:a16="http://schemas.microsoft.com/office/drawing/2014/main" id="{531947AF-5BFD-1D64-55CF-250D89CA2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5738" y="3887788"/>
            <a:ext cx="806450" cy="1284287"/>
          </a:xfrm>
          <a:prstGeom prst="rect">
            <a:avLst/>
          </a:prstGeom>
          <a:noFill/>
          <a:extLst>
            <a:ext uri="{909E8E84-426E-40DD-AFC4-6F175D3DCCD1}">
              <a14:hiddenFill xmlns:a14="http://schemas.microsoft.com/office/drawing/2010/main">
                <a:solidFill>
                  <a:srgbClr val="FFFFFF"/>
                </a:solidFill>
              </a14:hiddenFill>
            </a:ext>
          </a:extLst>
        </p:spPr>
      </p:pic>
      <p:pic>
        <p:nvPicPr>
          <p:cNvPr id="2988224" name="Picture 192">
            <a:extLst>
              <a:ext uri="{FF2B5EF4-FFF2-40B4-BE49-F238E27FC236}">
                <a16:creationId xmlns:a16="http://schemas.microsoft.com/office/drawing/2014/main" id="{1A7DE354-C52B-8D85-D981-870BEF1315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8138" y="4040188"/>
            <a:ext cx="806450" cy="1284287"/>
          </a:xfrm>
          <a:prstGeom prst="rect">
            <a:avLst/>
          </a:prstGeom>
          <a:noFill/>
          <a:extLst>
            <a:ext uri="{909E8E84-426E-40DD-AFC4-6F175D3DCCD1}">
              <a14:hiddenFill xmlns:a14="http://schemas.microsoft.com/office/drawing/2010/main">
                <a:solidFill>
                  <a:srgbClr val="FFFFFF"/>
                </a:solidFill>
              </a14:hiddenFill>
            </a:ext>
          </a:extLst>
        </p:spPr>
      </p:pic>
      <p:pic>
        <p:nvPicPr>
          <p:cNvPr id="2988225" name="Picture 193">
            <a:extLst>
              <a:ext uri="{FF2B5EF4-FFF2-40B4-BE49-F238E27FC236}">
                <a16:creationId xmlns:a16="http://schemas.microsoft.com/office/drawing/2014/main" id="{B2107D03-2103-A274-B685-CB2E59555D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0538" y="4192588"/>
            <a:ext cx="806450" cy="1284287"/>
          </a:xfrm>
          <a:prstGeom prst="rect">
            <a:avLst/>
          </a:prstGeom>
          <a:noFill/>
          <a:extLst>
            <a:ext uri="{909E8E84-426E-40DD-AFC4-6F175D3DCCD1}">
              <a14:hiddenFill xmlns:a14="http://schemas.microsoft.com/office/drawing/2010/main">
                <a:solidFill>
                  <a:srgbClr val="FFFFFF"/>
                </a:solidFill>
              </a14:hiddenFill>
            </a:ext>
          </a:extLst>
        </p:spPr>
      </p:pic>
      <p:pic>
        <p:nvPicPr>
          <p:cNvPr id="2988226" name="Picture 194">
            <a:extLst>
              <a:ext uri="{FF2B5EF4-FFF2-40B4-BE49-F238E27FC236}">
                <a16:creationId xmlns:a16="http://schemas.microsoft.com/office/drawing/2014/main" id="{D2FCFAC7-E70B-D07C-1088-C2AF0326B9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2938" y="4344988"/>
            <a:ext cx="806450" cy="1284287"/>
          </a:xfrm>
          <a:prstGeom prst="rect">
            <a:avLst/>
          </a:prstGeom>
          <a:noFill/>
          <a:extLst>
            <a:ext uri="{909E8E84-426E-40DD-AFC4-6F175D3DCCD1}">
              <a14:hiddenFill xmlns:a14="http://schemas.microsoft.com/office/drawing/2010/main">
                <a:solidFill>
                  <a:srgbClr val="FFFFFF"/>
                </a:solidFill>
              </a14:hiddenFill>
            </a:ext>
          </a:extLst>
        </p:spPr>
      </p:pic>
      <p:grpSp>
        <p:nvGrpSpPr>
          <p:cNvPr id="2988235" name="Group 203">
            <a:extLst>
              <a:ext uri="{FF2B5EF4-FFF2-40B4-BE49-F238E27FC236}">
                <a16:creationId xmlns:a16="http://schemas.microsoft.com/office/drawing/2014/main" id="{8F65378C-A505-1047-4801-0150ADDF2AB1}"/>
              </a:ext>
            </a:extLst>
          </p:cNvPr>
          <p:cNvGrpSpPr>
            <a:grpSpLocks/>
          </p:cNvGrpSpPr>
          <p:nvPr/>
        </p:nvGrpSpPr>
        <p:grpSpPr bwMode="auto">
          <a:xfrm>
            <a:off x="4845050" y="2908300"/>
            <a:ext cx="1035050" cy="444500"/>
            <a:chOff x="3060" y="1872"/>
            <a:chExt cx="516" cy="192"/>
          </a:xfrm>
        </p:grpSpPr>
        <p:sp>
          <p:nvSpPr>
            <p:cNvPr id="2988228" name="AutoShape 196">
              <a:extLst>
                <a:ext uri="{FF2B5EF4-FFF2-40B4-BE49-F238E27FC236}">
                  <a16:creationId xmlns:a16="http://schemas.microsoft.com/office/drawing/2014/main" id="{E70FB0F2-6FCB-475D-3207-9EDD2C3E1831}"/>
                </a:ext>
              </a:extLst>
            </p:cNvPr>
            <p:cNvSpPr>
              <a:spLocks noChangeArrowheads="1"/>
            </p:cNvSpPr>
            <p:nvPr/>
          </p:nvSpPr>
          <p:spPr bwMode="auto">
            <a:xfrm>
              <a:off x="3060" y="1872"/>
              <a:ext cx="516" cy="192"/>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88229" name="Freeform 197">
              <a:extLst>
                <a:ext uri="{FF2B5EF4-FFF2-40B4-BE49-F238E27FC236}">
                  <a16:creationId xmlns:a16="http://schemas.microsoft.com/office/drawing/2014/main" id="{2A99D58A-F748-73EE-CCAE-B3E462EF84D2}"/>
                </a:ext>
              </a:extLst>
            </p:cNvPr>
            <p:cNvSpPr>
              <a:spLocks/>
            </p:cNvSpPr>
            <p:nvPr/>
          </p:nvSpPr>
          <p:spPr bwMode="auto">
            <a:xfrm>
              <a:off x="3124" y="1905"/>
              <a:ext cx="198"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8230" name="Freeform 198">
              <a:extLst>
                <a:ext uri="{FF2B5EF4-FFF2-40B4-BE49-F238E27FC236}">
                  <a16:creationId xmlns:a16="http://schemas.microsoft.com/office/drawing/2014/main" id="{09D8D4B6-51E5-AB1C-2B23-DBD5F806A4E3}"/>
                </a:ext>
              </a:extLst>
            </p:cNvPr>
            <p:cNvSpPr>
              <a:spLocks/>
            </p:cNvSpPr>
            <p:nvPr/>
          </p:nvSpPr>
          <p:spPr bwMode="auto">
            <a:xfrm>
              <a:off x="3124" y="1972"/>
              <a:ext cx="198"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8231" name="Freeform 199">
              <a:extLst>
                <a:ext uri="{FF2B5EF4-FFF2-40B4-BE49-F238E27FC236}">
                  <a16:creationId xmlns:a16="http://schemas.microsoft.com/office/drawing/2014/main" id="{41F99481-54C5-110B-83AF-586E97A5E50F}"/>
                </a:ext>
              </a:extLst>
            </p:cNvPr>
            <p:cNvSpPr>
              <a:spLocks/>
            </p:cNvSpPr>
            <p:nvPr/>
          </p:nvSpPr>
          <p:spPr bwMode="auto">
            <a:xfrm flipH="1">
              <a:off x="3321" y="1940"/>
              <a:ext cx="198"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8232" name="Freeform 200">
              <a:extLst>
                <a:ext uri="{FF2B5EF4-FFF2-40B4-BE49-F238E27FC236}">
                  <a16:creationId xmlns:a16="http://schemas.microsoft.com/office/drawing/2014/main" id="{63C0F013-C614-44CF-7A7F-FAC54D32682B}"/>
                </a:ext>
              </a:extLst>
            </p:cNvPr>
            <p:cNvSpPr>
              <a:spLocks/>
            </p:cNvSpPr>
            <p:nvPr/>
          </p:nvSpPr>
          <p:spPr bwMode="auto">
            <a:xfrm flipH="1">
              <a:off x="3321" y="2007"/>
              <a:ext cx="198"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2988236" name="Group 204">
            <a:extLst>
              <a:ext uri="{FF2B5EF4-FFF2-40B4-BE49-F238E27FC236}">
                <a16:creationId xmlns:a16="http://schemas.microsoft.com/office/drawing/2014/main" id="{5B0E7092-3D79-6430-8286-289170B46D20}"/>
              </a:ext>
            </a:extLst>
          </p:cNvPr>
          <p:cNvGrpSpPr>
            <a:grpSpLocks/>
          </p:cNvGrpSpPr>
          <p:nvPr/>
        </p:nvGrpSpPr>
        <p:grpSpPr bwMode="auto">
          <a:xfrm>
            <a:off x="4845050" y="3949700"/>
            <a:ext cx="1035050" cy="444500"/>
            <a:chOff x="3060" y="1872"/>
            <a:chExt cx="516" cy="192"/>
          </a:xfrm>
        </p:grpSpPr>
        <p:sp>
          <p:nvSpPr>
            <p:cNvPr id="2988237" name="AutoShape 205">
              <a:extLst>
                <a:ext uri="{FF2B5EF4-FFF2-40B4-BE49-F238E27FC236}">
                  <a16:creationId xmlns:a16="http://schemas.microsoft.com/office/drawing/2014/main" id="{5361439A-3B74-DD87-179D-2040F0A9A7CD}"/>
                </a:ext>
              </a:extLst>
            </p:cNvPr>
            <p:cNvSpPr>
              <a:spLocks noChangeArrowheads="1"/>
            </p:cNvSpPr>
            <p:nvPr/>
          </p:nvSpPr>
          <p:spPr bwMode="auto">
            <a:xfrm>
              <a:off x="3060" y="1872"/>
              <a:ext cx="516" cy="192"/>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2988238" name="Freeform 206">
              <a:extLst>
                <a:ext uri="{FF2B5EF4-FFF2-40B4-BE49-F238E27FC236}">
                  <a16:creationId xmlns:a16="http://schemas.microsoft.com/office/drawing/2014/main" id="{620D1036-E794-B7CC-3DE3-58140AB6DB1B}"/>
                </a:ext>
              </a:extLst>
            </p:cNvPr>
            <p:cNvSpPr>
              <a:spLocks/>
            </p:cNvSpPr>
            <p:nvPr/>
          </p:nvSpPr>
          <p:spPr bwMode="auto">
            <a:xfrm>
              <a:off x="3124" y="1905"/>
              <a:ext cx="198"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8239" name="Freeform 207">
              <a:extLst>
                <a:ext uri="{FF2B5EF4-FFF2-40B4-BE49-F238E27FC236}">
                  <a16:creationId xmlns:a16="http://schemas.microsoft.com/office/drawing/2014/main" id="{EBDF1435-3DA3-7814-9DDB-E38ECD2435F3}"/>
                </a:ext>
              </a:extLst>
            </p:cNvPr>
            <p:cNvSpPr>
              <a:spLocks/>
            </p:cNvSpPr>
            <p:nvPr/>
          </p:nvSpPr>
          <p:spPr bwMode="auto">
            <a:xfrm>
              <a:off x="3124" y="1972"/>
              <a:ext cx="198"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8240" name="Freeform 208">
              <a:extLst>
                <a:ext uri="{FF2B5EF4-FFF2-40B4-BE49-F238E27FC236}">
                  <a16:creationId xmlns:a16="http://schemas.microsoft.com/office/drawing/2014/main" id="{3247D73F-6D96-9834-4823-C8C6237FDCDA}"/>
                </a:ext>
              </a:extLst>
            </p:cNvPr>
            <p:cNvSpPr>
              <a:spLocks/>
            </p:cNvSpPr>
            <p:nvPr/>
          </p:nvSpPr>
          <p:spPr bwMode="auto">
            <a:xfrm flipH="1">
              <a:off x="3321" y="1940"/>
              <a:ext cx="198"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988241" name="Freeform 209">
              <a:extLst>
                <a:ext uri="{FF2B5EF4-FFF2-40B4-BE49-F238E27FC236}">
                  <a16:creationId xmlns:a16="http://schemas.microsoft.com/office/drawing/2014/main" id="{62C70140-4DA8-C982-008C-4D2A94116226}"/>
                </a:ext>
              </a:extLst>
            </p:cNvPr>
            <p:cNvSpPr>
              <a:spLocks/>
            </p:cNvSpPr>
            <p:nvPr/>
          </p:nvSpPr>
          <p:spPr bwMode="auto">
            <a:xfrm flipH="1">
              <a:off x="3321" y="2007"/>
              <a:ext cx="198"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pic>
        <p:nvPicPr>
          <p:cNvPr id="2988247" name="Picture 215">
            <a:extLst>
              <a:ext uri="{FF2B5EF4-FFF2-40B4-BE49-F238E27FC236}">
                <a16:creationId xmlns:a16="http://schemas.microsoft.com/office/drawing/2014/main" id="{BDCF032F-7CB3-1D0B-08AD-084C1352A7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0063" y="3011488"/>
            <a:ext cx="649287" cy="588962"/>
          </a:xfrm>
          <a:prstGeom prst="rect">
            <a:avLst/>
          </a:prstGeom>
          <a:solidFill>
            <a:srgbClr val="FF0000">
              <a:alpha val="27000"/>
            </a:srgbClr>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988248" name="Picture 216">
            <a:extLst>
              <a:ext uri="{FF2B5EF4-FFF2-40B4-BE49-F238E27FC236}">
                <a16:creationId xmlns:a16="http://schemas.microsoft.com/office/drawing/2014/main" id="{E4C6D840-61ED-61FC-538E-A134081BC9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0488" y="3798888"/>
            <a:ext cx="649287" cy="588962"/>
          </a:xfrm>
          <a:prstGeom prst="rect">
            <a:avLst/>
          </a:prstGeom>
          <a:solidFill>
            <a:srgbClr val="BDFFBD"/>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988249" name="Picture 217">
            <a:extLst>
              <a:ext uri="{FF2B5EF4-FFF2-40B4-BE49-F238E27FC236}">
                <a16:creationId xmlns:a16="http://schemas.microsoft.com/office/drawing/2014/main" id="{7EC967BF-2BA7-BCD2-61DE-2D7236778F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7313" y="2986088"/>
            <a:ext cx="649287" cy="588962"/>
          </a:xfrm>
          <a:prstGeom prst="rect">
            <a:avLst/>
          </a:prstGeom>
          <a:solidFill>
            <a:srgbClr val="FF0000">
              <a:alpha val="27000"/>
            </a:srgbClr>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988250" name="Picture 218">
            <a:extLst>
              <a:ext uri="{FF2B5EF4-FFF2-40B4-BE49-F238E27FC236}">
                <a16:creationId xmlns:a16="http://schemas.microsoft.com/office/drawing/2014/main" id="{ABABABEB-F84B-5D95-B0A6-E952D3B88C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3713" y="3824288"/>
            <a:ext cx="649287" cy="588962"/>
          </a:xfrm>
          <a:prstGeom prst="rect">
            <a:avLst/>
          </a:prstGeom>
          <a:solidFill>
            <a:srgbClr val="BDFFBD"/>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988252" name="AutoShape 220">
            <a:extLst>
              <a:ext uri="{FF2B5EF4-FFF2-40B4-BE49-F238E27FC236}">
                <a16:creationId xmlns:a16="http://schemas.microsoft.com/office/drawing/2014/main" id="{F66E7975-DE0C-2C3B-F0C4-2F4647DB5D33}"/>
              </a:ext>
            </a:extLst>
          </p:cNvPr>
          <p:cNvSpPr>
            <a:spLocks noChangeArrowheads="1"/>
          </p:cNvSpPr>
          <p:nvPr/>
        </p:nvSpPr>
        <p:spPr bwMode="auto">
          <a:xfrm>
            <a:off x="6367463" y="3424238"/>
            <a:ext cx="485775" cy="676275"/>
          </a:xfrm>
          <a:prstGeom prst="curvedRightArrow">
            <a:avLst>
              <a:gd name="adj1" fmla="val 27843"/>
              <a:gd name="adj2" fmla="val 55686"/>
              <a:gd name="adj3" fmla="val 33333"/>
            </a:avLst>
          </a:prstGeom>
          <a:solidFill>
            <a:srgbClr val="008000"/>
          </a:solidFill>
          <a:ln w="25400">
            <a:solidFill>
              <a:srgbClr val="008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nvGrpSpPr>
          <p:cNvPr id="2988253" name="Group 221">
            <a:extLst>
              <a:ext uri="{FF2B5EF4-FFF2-40B4-BE49-F238E27FC236}">
                <a16:creationId xmlns:a16="http://schemas.microsoft.com/office/drawing/2014/main" id="{0F50E679-0C98-BD35-6C01-9CC82F5B8200}"/>
              </a:ext>
            </a:extLst>
          </p:cNvPr>
          <p:cNvGrpSpPr>
            <a:grpSpLocks noChangeAspect="1"/>
          </p:cNvGrpSpPr>
          <p:nvPr/>
        </p:nvGrpSpPr>
        <p:grpSpPr bwMode="auto">
          <a:xfrm>
            <a:off x="6340475" y="3481388"/>
            <a:ext cx="457200" cy="457200"/>
            <a:chOff x="987" y="2944"/>
            <a:chExt cx="220" cy="220"/>
          </a:xfrm>
        </p:grpSpPr>
        <p:sp>
          <p:nvSpPr>
            <p:cNvPr id="2988254" name="Oval 222">
              <a:extLst>
                <a:ext uri="{FF2B5EF4-FFF2-40B4-BE49-F238E27FC236}">
                  <a16:creationId xmlns:a16="http://schemas.microsoft.com/office/drawing/2014/main" id="{9FDAA901-6E80-6806-0AFB-FB6E039C2D65}"/>
                </a:ext>
              </a:extLst>
            </p:cNvPr>
            <p:cNvSpPr>
              <a:spLocks noChangeAspect="1" noChangeArrowheads="1"/>
            </p:cNvSpPr>
            <p:nvPr/>
          </p:nvSpPr>
          <p:spPr bwMode="auto">
            <a:xfrm>
              <a:off x="987" y="2944"/>
              <a:ext cx="220" cy="220"/>
            </a:xfrm>
            <a:prstGeom prst="ellipse">
              <a:avLst/>
            </a:prstGeom>
            <a:noFill/>
            <a:ln w="38100" algn="ctr">
              <a:solidFill>
                <a:srgbClr val="FF0000"/>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88255" name="Line 223">
              <a:extLst>
                <a:ext uri="{FF2B5EF4-FFF2-40B4-BE49-F238E27FC236}">
                  <a16:creationId xmlns:a16="http://schemas.microsoft.com/office/drawing/2014/main" id="{16978A30-329D-D5A6-414F-EA6C44D571EF}"/>
                </a:ext>
              </a:extLst>
            </p:cNvPr>
            <p:cNvSpPr>
              <a:spLocks noChangeAspect="1" noChangeShapeType="1"/>
            </p:cNvSpPr>
            <p:nvPr/>
          </p:nvSpPr>
          <p:spPr bwMode="auto">
            <a:xfrm flipV="1">
              <a:off x="1006" y="2997"/>
              <a:ext cx="183" cy="130"/>
            </a:xfrm>
            <a:prstGeom prst="line">
              <a:avLst/>
            </a:prstGeom>
            <a:noFill/>
            <a:ln w="38100">
              <a:solidFill>
                <a:srgbClr val="FF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sp>
        <p:nvSpPr>
          <p:cNvPr id="2988256" name="AutoShape 224">
            <a:extLst>
              <a:ext uri="{FF2B5EF4-FFF2-40B4-BE49-F238E27FC236}">
                <a16:creationId xmlns:a16="http://schemas.microsoft.com/office/drawing/2014/main" id="{61FB8E68-50A6-C13E-1DB6-1335B1F00E18}"/>
              </a:ext>
            </a:extLst>
          </p:cNvPr>
          <p:cNvSpPr>
            <a:spLocks/>
          </p:cNvSpPr>
          <p:nvPr/>
        </p:nvSpPr>
        <p:spPr bwMode="auto">
          <a:xfrm>
            <a:off x="8418513" y="3878263"/>
            <a:ext cx="315912" cy="409575"/>
          </a:xfrm>
          <a:prstGeom prst="rightBrace">
            <a:avLst>
              <a:gd name="adj1" fmla="val 10804"/>
              <a:gd name="adj2" fmla="val 50000"/>
            </a:avLst>
          </a:prstGeom>
          <a:noFill/>
          <a:ln w="25400">
            <a:solidFill>
              <a:srgbClr val="008E00"/>
            </a:solidFill>
            <a:round/>
            <a:headEnd/>
            <a:tailEnd type="none" w="lg" len="med"/>
          </a:ln>
          <a:effectLst/>
          <a:extLst>
            <a:ext uri="{909E8E84-426E-40DD-AFC4-6F175D3DCCD1}">
              <a14:hiddenFill xmlns:a14="http://schemas.microsoft.com/office/drawing/2010/main">
                <a:solidFill>
                  <a:srgbClr val="FFAFA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2988257" name="Text Box 225">
            <a:extLst>
              <a:ext uri="{FF2B5EF4-FFF2-40B4-BE49-F238E27FC236}">
                <a16:creationId xmlns:a16="http://schemas.microsoft.com/office/drawing/2014/main" id="{283C4C59-31EA-7493-A5DF-CA91E308F6D6}"/>
              </a:ext>
            </a:extLst>
          </p:cNvPr>
          <p:cNvSpPr txBox="1">
            <a:spLocks noChangeArrowheads="1"/>
          </p:cNvSpPr>
          <p:nvPr/>
        </p:nvSpPr>
        <p:spPr bwMode="auto">
          <a:xfrm>
            <a:off x="8616950" y="3979863"/>
            <a:ext cx="646113" cy="18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200" b="1">
                <a:solidFill>
                  <a:srgbClr val="003580"/>
                </a:solidFill>
                <a:ea typeface="宋体" panose="02010600030101010101" pitchFamily="2" charset="-122"/>
              </a:rPr>
              <a:t>WG1</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988191"/>
                                        </p:tgtEl>
                                        <p:attrNameLst>
                                          <p:attrName>style.visibility</p:attrName>
                                        </p:attrNameLst>
                                      </p:cBhvr>
                                      <p:to>
                                        <p:strVal val="visible"/>
                                      </p:to>
                                    </p:set>
                                    <p:animEffect transition="in" filter="wipe(left)">
                                      <p:cBhvr>
                                        <p:cTn id="7" dur="2000"/>
                                        <p:tgtEl>
                                          <p:spTgt spid="298819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988192"/>
                                        </p:tgtEl>
                                        <p:attrNameLst>
                                          <p:attrName>style.visibility</p:attrName>
                                        </p:attrNameLst>
                                      </p:cBhvr>
                                      <p:to>
                                        <p:strVal val="visible"/>
                                      </p:to>
                                    </p:set>
                                    <p:animEffect transition="in" filter="wipe(left)">
                                      <p:cBhvr>
                                        <p:cTn id="10" dur="2000"/>
                                        <p:tgtEl>
                                          <p:spTgt spid="2988192"/>
                                        </p:tgtEl>
                                      </p:cBhvr>
                                    </p:animEffect>
                                  </p:childTnLst>
                                </p:cTn>
                              </p:par>
                            </p:childTnLst>
                          </p:cTn>
                        </p:par>
                        <p:par>
                          <p:cTn id="11" fill="hold" nodeType="afterGroup">
                            <p:stCondLst>
                              <p:cond delay="2000"/>
                            </p:stCondLst>
                            <p:childTnLst>
                              <p:par>
                                <p:cTn id="12" presetID="22" presetClass="entr" presetSubtype="1" fill="hold" nodeType="afterEffect">
                                  <p:stCondLst>
                                    <p:cond delay="500"/>
                                  </p:stCondLst>
                                  <p:childTnLst>
                                    <p:set>
                                      <p:cBhvr>
                                        <p:cTn id="13" dur="1" fill="hold">
                                          <p:stCondLst>
                                            <p:cond delay="0"/>
                                          </p:stCondLst>
                                        </p:cTn>
                                        <p:tgtEl>
                                          <p:spTgt spid="2988252"/>
                                        </p:tgtEl>
                                        <p:attrNameLst>
                                          <p:attrName>style.visibility</p:attrName>
                                        </p:attrNameLst>
                                      </p:cBhvr>
                                      <p:to>
                                        <p:strVal val="visible"/>
                                      </p:to>
                                    </p:set>
                                    <p:animEffect transition="in" filter="wipe(up)">
                                      <p:cBhvr>
                                        <p:cTn id="14" dur="2000"/>
                                        <p:tgtEl>
                                          <p:spTgt spid="2988252"/>
                                        </p:tgtEl>
                                      </p:cBhvr>
                                    </p:animEffect>
                                  </p:childTnLst>
                                </p:cTn>
                              </p:par>
                            </p:childTnLst>
                          </p:cTn>
                        </p:par>
                        <p:par>
                          <p:cTn id="15" fill="hold" nodeType="afterGroup">
                            <p:stCondLst>
                              <p:cond delay="4500"/>
                            </p:stCondLst>
                            <p:childTnLst>
                              <p:par>
                                <p:cTn id="16" presetID="1" presetClass="entr" presetSubtype="0" fill="hold" nodeType="afterEffect">
                                  <p:stCondLst>
                                    <p:cond delay="0"/>
                                  </p:stCondLst>
                                  <p:childTnLst>
                                    <p:set>
                                      <p:cBhvr>
                                        <p:cTn id="17" dur="1" fill="hold">
                                          <p:stCondLst>
                                            <p:cond delay="0"/>
                                          </p:stCondLst>
                                        </p:cTn>
                                        <p:tgtEl>
                                          <p:spTgt spid="2988253"/>
                                        </p:tgtEl>
                                        <p:attrNameLst>
                                          <p:attrName>style.visibility</p:attrName>
                                        </p:attrNameLst>
                                      </p:cBhvr>
                                      <p:to>
                                        <p:strVal val="visible"/>
                                      </p:to>
                                    </p:set>
                                  </p:childTnLst>
                                </p:cTn>
                              </p:par>
                              <p:par>
                                <p:cTn id="18" presetID="22" presetClass="entr" presetSubtype="1" fill="hold" grpId="0" nodeType="withEffect">
                                  <p:stCondLst>
                                    <p:cond delay="0"/>
                                  </p:stCondLst>
                                  <p:childTnLst>
                                    <p:set>
                                      <p:cBhvr>
                                        <p:cTn id="19" dur="1" fill="hold">
                                          <p:stCondLst>
                                            <p:cond delay="0"/>
                                          </p:stCondLst>
                                        </p:cTn>
                                        <p:tgtEl>
                                          <p:spTgt spid="2988190"/>
                                        </p:tgtEl>
                                        <p:attrNameLst>
                                          <p:attrName>style.visibility</p:attrName>
                                        </p:attrNameLst>
                                      </p:cBhvr>
                                      <p:to>
                                        <p:strVal val="visible"/>
                                      </p:to>
                                    </p:set>
                                    <p:animEffect transition="in" filter="wipe(up)">
                                      <p:cBhvr>
                                        <p:cTn id="20" dur="1000"/>
                                        <p:tgtEl>
                                          <p:spTgt spid="2988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88190" grpId="0" animBg="1"/>
      <p:bldP spid="298819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520C9FDB-DED7-C935-0EAA-FABF232A8384}"/>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C4F08912-F11B-204B-895B-BBB6AA10BDC5}"/>
              </a:ext>
            </a:extLst>
          </p:cNvPr>
          <p:cNvSpPr>
            <a:spLocks noGrp="1"/>
          </p:cNvSpPr>
          <p:nvPr>
            <p:ph type="sldNum" sz="quarter" idx="11"/>
          </p:nvPr>
        </p:nvSpPr>
        <p:spPr/>
        <p:txBody>
          <a:bodyPr/>
          <a:lstStyle/>
          <a:p>
            <a:r>
              <a:rPr lang="zh-CN" altLang="en-US"/>
              <a:t> </a:t>
            </a:r>
            <a:r>
              <a:rPr lang="en-US" altLang="zh-CN"/>
              <a:t>- </a:t>
            </a:r>
            <a:fld id="{58505C53-53FC-4A95-B16B-094B7A7F00EE}" type="slidenum">
              <a:rPr lang="en-US" altLang="zh-CN" sz="800"/>
              <a:pPr/>
              <a:t>66</a:t>
            </a:fld>
            <a:endParaRPr lang="en-US" altLang="zh-CN" sz="800"/>
          </a:p>
        </p:txBody>
      </p:sp>
      <p:sp>
        <p:nvSpPr>
          <p:cNvPr id="2990082" name="Rectangle 2">
            <a:extLst>
              <a:ext uri="{FF2B5EF4-FFF2-40B4-BE49-F238E27FC236}">
                <a16:creationId xmlns:a16="http://schemas.microsoft.com/office/drawing/2014/main" id="{1AA5C17F-0CEF-0C26-C127-5304B28A9D01}"/>
              </a:ext>
            </a:extLst>
          </p:cNvPr>
          <p:cNvSpPr>
            <a:spLocks noGrp="1" noChangeArrowheads="1"/>
          </p:cNvSpPr>
          <p:nvPr>
            <p:ph type="title"/>
          </p:nvPr>
        </p:nvSpPr>
        <p:spPr/>
        <p:txBody>
          <a:bodyPr/>
          <a:lstStyle/>
          <a:p>
            <a:r>
              <a:rPr lang="en-US" altLang="zh-CN">
                <a:ea typeface="宋体" panose="02010600030101010101" pitchFamily="2" charset="-122"/>
              </a:rPr>
              <a:t>Alerting of Events</a:t>
            </a:r>
          </a:p>
        </p:txBody>
      </p:sp>
      <p:sp>
        <p:nvSpPr>
          <p:cNvPr id="2990083" name="Rectangle 3">
            <a:extLst>
              <a:ext uri="{FF2B5EF4-FFF2-40B4-BE49-F238E27FC236}">
                <a16:creationId xmlns:a16="http://schemas.microsoft.com/office/drawing/2014/main" id="{8C5148A8-2C52-6388-33D3-3396936EE5C9}"/>
              </a:ext>
            </a:extLst>
          </p:cNvPr>
          <p:cNvSpPr>
            <a:spLocks noGrp="1" noChangeArrowheads="1"/>
          </p:cNvSpPr>
          <p:nvPr>
            <p:ph type="body" idx="1"/>
          </p:nvPr>
        </p:nvSpPr>
        <p:spPr/>
        <p:txBody>
          <a:bodyPr/>
          <a:lstStyle/>
          <a:p>
            <a:r>
              <a:rPr lang="en-US" altLang="zh-CN">
                <a:ea typeface="宋体" panose="02010600030101010101" pitchFamily="2" charset="-122"/>
              </a:rPr>
              <a:t>Alerting is an integral part of monitoring</a:t>
            </a:r>
          </a:p>
          <a:p>
            <a:r>
              <a:rPr lang="en-US" altLang="zh-CN">
                <a:ea typeface="宋体" panose="02010600030101010101" pitchFamily="2" charset="-122"/>
              </a:rPr>
              <a:t>Monitoring tools enables administrators to assign different severity levels for different events</a:t>
            </a:r>
          </a:p>
          <a:p>
            <a:r>
              <a:rPr lang="en-US" altLang="zh-CN">
                <a:ea typeface="宋体" panose="02010600030101010101" pitchFamily="2" charset="-122"/>
              </a:rPr>
              <a:t>Level of alerts based on severity</a:t>
            </a:r>
          </a:p>
          <a:p>
            <a:pPr lvl="1"/>
            <a:r>
              <a:rPr lang="en-US" altLang="zh-CN" b="1">
                <a:ea typeface="宋体" panose="02010600030101010101" pitchFamily="2" charset="-122"/>
              </a:rPr>
              <a:t>Information alert</a:t>
            </a:r>
            <a:r>
              <a:rPr lang="en-US" altLang="zh-CN">
                <a:ea typeface="宋体" panose="02010600030101010101" pitchFamily="2" charset="-122"/>
              </a:rPr>
              <a:t>: Provide useful information and may not require administrator intervention</a:t>
            </a:r>
          </a:p>
          <a:p>
            <a:pPr lvl="2"/>
            <a:r>
              <a:rPr lang="en-US" altLang="zh-CN">
                <a:ea typeface="宋体" panose="02010600030101010101" pitchFamily="2" charset="-122"/>
              </a:rPr>
              <a:t>Creation of zone or LUN</a:t>
            </a:r>
          </a:p>
          <a:p>
            <a:pPr lvl="1"/>
            <a:r>
              <a:rPr lang="en-US" altLang="zh-CN" b="1">
                <a:ea typeface="宋体" panose="02010600030101010101" pitchFamily="2" charset="-122"/>
              </a:rPr>
              <a:t>Warning alerts</a:t>
            </a:r>
            <a:r>
              <a:rPr lang="en-US" altLang="zh-CN">
                <a:ea typeface="宋体" panose="02010600030101010101" pitchFamily="2" charset="-122"/>
              </a:rPr>
              <a:t>: Require administrative attention</a:t>
            </a:r>
          </a:p>
          <a:p>
            <a:pPr lvl="2"/>
            <a:r>
              <a:rPr lang="en-US" altLang="zh-CN">
                <a:ea typeface="宋体" panose="02010600030101010101" pitchFamily="2" charset="-122"/>
              </a:rPr>
              <a:t>File systems becoming full/Soft media errors</a:t>
            </a:r>
          </a:p>
          <a:p>
            <a:pPr lvl="1"/>
            <a:r>
              <a:rPr lang="en-US" altLang="zh-CN" b="1">
                <a:ea typeface="宋体" panose="02010600030101010101" pitchFamily="2" charset="-122"/>
              </a:rPr>
              <a:t>Fatal alert</a:t>
            </a:r>
            <a:r>
              <a:rPr lang="en-US" altLang="zh-CN">
                <a:ea typeface="宋体" panose="02010600030101010101" pitchFamily="2" charset="-122"/>
              </a:rPr>
              <a:t>: Require immediate administrative attention</a:t>
            </a:r>
          </a:p>
          <a:p>
            <a:pPr lvl="2"/>
            <a:r>
              <a:rPr lang="en-US" altLang="zh-CN">
                <a:ea typeface="宋体" panose="02010600030101010101" pitchFamily="2" charset="-122"/>
              </a:rPr>
              <a:t>Power failures/Disk failures/Memory failures/Switch failures</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8C38B1F-2961-5FC7-9A04-801E4F49757E}"/>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22DA60CC-6F24-7ED2-B704-9CB3BE421177}"/>
              </a:ext>
            </a:extLst>
          </p:cNvPr>
          <p:cNvSpPr>
            <a:spLocks noGrp="1"/>
          </p:cNvSpPr>
          <p:nvPr>
            <p:ph type="sldNum" sz="quarter" idx="11"/>
          </p:nvPr>
        </p:nvSpPr>
        <p:spPr/>
        <p:txBody>
          <a:bodyPr/>
          <a:lstStyle/>
          <a:p>
            <a:r>
              <a:rPr lang="zh-CN" altLang="en-US"/>
              <a:t> </a:t>
            </a:r>
            <a:r>
              <a:rPr lang="en-US" altLang="zh-CN"/>
              <a:t>- </a:t>
            </a:r>
            <a:fld id="{4BE08A9D-8F75-4A28-B31D-B73E54ED7B5B}" type="slidenum">
              <a:rPr lang="en-US" altLang="zh-CN" sz="800"/>
              <a:pPr/>
              <a:t>67</a:t>
            </a:fld>
            <a:endParaRPr lang="en-US" altLang="zh-CN" sz="800"/>
          </a:p>
        </p:txBody>
      </p:sp>
      <p:sp>
        <p:nvSpPr>
          <p:cNvPr id="3010562" name="Rectangle 2">
            <a:extLst>
              <a:ext uri="{FF2B5EF4-FFF2-40B4-BE49-F238E27FC236}">
                <a16:creationId xmlns:a16="http://schemas.microsoft.com/office/drawing/2014/main" id="{3923955C-A99E-29CA-A29F-3480A42A5F90}"/>
              </a:ext>
            </a:extLst>
          </p:cNvPr>
          <p:cNvSpPr>
            <a:spLocks noGrp="1" noChangeArrowheads="1"/>
          </p:cNvSpPr>
          <p:nvPr>
            <p:ph type="title"/>
          </p:nvPr>
        </p:nvSpPr>
        <p:spPr/>
        <p:txBody>
          <a:bodyPr/>
          <a:lstStyle/>
          <a:p>
            <a:r>
              <a:rPr lang="en-US" altLang="zh-CN">
                <a:ea typeface="宋体" panose="02010600030101010101" pitchFamily="2" charset="-122"/>
              </a:rPr>
              <a:t>Lesson Summary </a:t>
            </a:r>
          </a:p>
        </p:txBody>
      </p:sp>
      <p:sp>
        <p:nvSpPr>
          <p:cNvPr id="3010563" name="Rectangle 3">
            <a:extLst>
              <a:ext uri="{FF2B5EF4-FFF2-40B4-BE49-F238E27FC236}">
                <a16:creationId xmlns:a16="http://schemas.microsoft.com/office/drawing/2014/main" id="{1370085C-CC5E-9900-8B5D-8A532772A5E8}"/>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Key concepts covered in this module are: </a:t>
            </a:r>
          </a:p>
          <a:p>
            <a:r>
              <a:rPr lang="en-US" altLang="zh-CN">
                <a:ea typeface="宋体" panose="02010600030101010101" pitchFamily="2" charset="-122"/>
              </a:rPr>
              <a:t>Storage infrastructure components that should be monitored</a:t>
            </a:r>
          </a:p>
          <a:p>
            <a:r>
              <a:rPr lang="en-US" altLang="zh-CN">
                <a:ea typeface="宋体" panose="02010600030101010101" pitchFamily="2" charset="-122"/>
              </a:rPr>
              <a:t>Parameters of monitoring:</a:t>
            </a:r>
          </a:p>
          <a:p>
            <a:pPr lvl="1"/>
            <a:r>
              <a:rPr lang="en-US" altLang="zh-CN">
                <a:ea typeface="宋体" panose="02010600030101010101" pitchFamily="2" charset="-122"/>
              </a:rPr>
              <a:t>Accessibility</a:t>
            </a:r>
          </a:p>
          <a:p>
            <a:pPr lvl="1"/>
            <a:r>
              <a:rPr lang="en-US" altLang="zh-CN">
                <a:ea typeface="宋体" panose="02010600030101010101" pitchFamily="2" charset="-122"/>
              </a:rPr>
              <a:t>Capacity</a:t>
            </a:r>
          </a:p>
          <a:p>
            <a:pPr lvl="1"/>
            <a:r>
              <a:rPr lang="en-US" altLang="zh-CN">
                <a:ea typeface="宋体" panose="02010600030101010101" pitchFamily="2" charset="-122"/>
              </a:rPr>
              <a:t>Performance</a:t>
            </a:r>
          </a:p>
          <a:p>
            <a:pPr lvl="1"/>
            <a:r>
              <a:rPr lang="en-US" altLang="zh-CN">
                <a:ea typeface="宋体" panose="02010600030101010101" pitchFamily="2" charset="-122"/>
              </a:rPr>
              <a:t>Security </a:t>
            </a:r>
          </a:p>
          <a:p>
            <a:r>
              <a:rPr lang="en-US" altLang="zh-CN">
                <a:ea typeface="宋体" panose="02010600030101010101" pitchFamily="2" charset="-122"/>
              </a:rPr>
              <a:t>Monitoring examples</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EE835DFF-C0C5-E2F5-5FB0-92595FE651CF}"/>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12DF130B-48B1-E90F-3A74-6CDEEAEE79CC}"/>
              </a:ext>
            </a:extLst>
          </p:cNvPr>
          <p:cNvSpPr>
            <a:spLocks noGrp="1"/>
          </p:cNvSpPr>
          <p:nvPr>
            <p:ph type="sldNum" sz="quarter" idx="11"/>
          </p:nvPr>
        </p:nvSpPr>
        <p:spPr/>
        <p:txBody>
          <a:bodyPr/>
          <a:lstStyle/>
          <a:p>
            <a:r>
              <a:rPr lang="zh-CN" altLang="en-US"/>
              <a:t> </a:t>
            </a:r>
            <a:r>
              <a:rPr lang="en-US" altLang="zh-CN"/>
              <a:t>- </a:t>
            </a:r>
            <a:fld id="{598EF7E9-A725-4109-8874-8F79E9EB3E3D}" type="slidenum">
              <a:rPr lang="en-US" altLang="zh-CN" sz="800"/>
              <a:pPr/>
              <a:t>68</a:t>
            </a:fld>
            <a:endParaRPr lang="en-US" altLang="zh-CN" sz="800"/>
          </a:p>
        </p:txBody>
      </p:sp>
      <p:sp>
        <p:nvSpPr>
          <p:cNvPr id="3135490" name="Rectangle 2">
            <a:extLst>
              <a:ext uri="{FF2B5EF4-FFF2-40B4-BE49-F238E27FC236}">
                <a16:creationId xmlns:a16="http://schemas.microsoft.com/office/drawing/2014/main" id="{1E907DF6-A2E6-B03D-86BD-C54F3BA5EACE}"/>
              </a:ext>
            </a:extLst>
          </p:cNvPr>
          <p:cNvSpPr>
            <a:spLocks noGrp="1" noChangeArrowheads="1"/>
          </p:cNvSpPr>
          <p:nvPr>
            <p:ph type="title"/>
          </p:nvPr>
        </p:nvSpPr>
        <p:spPr/>
        <p:txBody>
          <a:bodyPr/>
          <a:lstStyle/>
          <a:p>
            <a:r>
              <a:rPr lang="en-US" altLang="zh-CN">
                <a:ea typeface="宋体" panose="02010600030101010101" pitchFamily="2" charset="-122"/>
              </a:rPr>
              <a:t>Lesson: Managing Storage Infrastructure</a:t>
            </a:r>
          </a:p>
        </p:txBody>
      </p:sp>
      <p:sp>
        <p:nvSpPr>
          <p:cNvPr id="3135491" name="Rectangle 3">
            <a:extLst>
              <a:ext uri="{FF2B5EF4-FFF2-40B4-BE49-F238E27FC236}">
                <a16:creationId xmlns:a16="http://schemas.microsoft.com/office/drawing/2014/main" id="{BB52DC0A-79ED-8D20-E17C-041776AD9A91}"/>
              </a:ext>
            </a:extLst>
          </p:cNvPr>
          <p:cNvSpPr>
            <a:spLocks noGrp="1" noChangeArrowheads="1"/>
          </p:cNvSpPr>
          <p:nvPr>
            <p:ph type="body" idx="1"/>
          </p:nvPr>
        </p:nvSpPr>
        <p:spPr/>
        <p:txBody>
          <a:bodyPr/>
          <a:lstStyle/>
          <a:p>
            <a:pPr>
              <a:lnSpc>
                <a:spcPct val="90000"/>
              </a:lnSpc>
              <a:buFont typeface="Wingdings" panose="05000000000000000000" pitchFamily="2" charset="2"/>
              <a:buNone/>
            </a:pPr>
            <a:r>
              <a:rPr lang="en-US" altLang="zh-CN" sz="2200">
                <a:ea typeface="宋体" panose="02010600030101010101" pitchFamily="2" charset="-122"/>
              </a:rPr>
              <a:t>Upon completion of this lesson, you will be able to:</a:t>
            </a:r>
          </a:p>
          <a:p>
            <a:pPr>
              <a:lnSpc>
                <a:spcPct val="90000"/>
              </a:lnSpc>
            </a:pPr>
            <a:r>
              <a:rPr lang="en-US" altLang="zh-CN" sz="2200">
                <a:ea typeface="宋体" panose="02010600030101010101" pitchFamily="2" charset="-122"/>
              </a:rPr>
              <a:t>Describe the storage management activities</a:t>
            </a:r>
          </a:p>
          <a:p>
            <a:pPr lvl="1">
              <a:lnSpc>
                <a:spcPct val="90000"/>
              </a:lnSpc>
            </a:pPr>
            <a:r>
              <a:rPr lang="en-US" altLang="zh-CN" sz="1900">
                <a:ea typeface="宋体" panose="02010600030101010101" pitchFamily="2" charset="-122"/>
              </a:rPr>
              <a:t>Availability management</a:t>
            </a:r>
          </a:p>
          <a:p>
            <a:pPr lvl="1">
              <a:lnSpc>
                <a:spcPct val="90000"/>
              </a:lnSpc>
            </a:pPr>
            <a:r>
              <a:rPr lang="en-US" altLang="zh-CN" sz="1900">
                <a:ea typeface="宋体" panose="02010600030101010101" pitchFamily="2" charset="-122"/>
              </a:rPr>
              <a:t>Capacity management</a:t>
            </a:r>
          </a:p>
          <a:p>
            <a:pPr lvl="1">
              <a:lnSpc>
                <a:spcPct val="90000"/>
              </a:lnSpc>
            </a:pPr>
            <a:r>
              <a:rPr lang="en-US" altLang="zh-CN" sz="1900">
                <a:ea typeface="宋体" panose="02010600030101010101" pitchFamily="2" charset="-122"/>
              </a:rPr>
              <a:t>Performance management</a:t>
            </a:r>
          </a:p>
          <a:p>
            <a:pPr lvl="1">
              <a:lnSpc>
                <a:spcPct val="90000"/>
              </a:lnSpc>
            </a:pPr>
            <a:r>
              <a:rPr lang="en-US" altLang="zh-CN" sz="1900">
                <a:ea typeface="宋体" panose="02010600030101010101" pitchFamily="2" charset="-122"/>
              </a:rPr>
              <a:t>Security management</a:t>
            </a:r>
          </a:p>
          <a:p>
            <a:pPr lvl="1">
              <a:lnSpc>
                <a:spcPct val="90000"/>
              </a:lnSpc>
            </a:pPr>
            <a:r>
              <a:rPr lang="en-US" altLang="zh-CN" sz="1900">
                <a:ea typeface="宋体" panose="02010600030101010101" pitchFamily="2" charset="-122"/>
              </a:rPr>
              <a:t>Reporting</a:t>
            </a:r>
          </a:p>
          <a:p>
            <a:pPr>
              <a:lnSpc>
                <a:spcPct val="90000"/>
              </a:lnSpc>
            </a:pPr>
            <a:r>
              <a:rPr lang="en-US" altLang="zh-CN" sz="2200">
                <a:ea typeface="宋体" panose="02010600030101010101" pitchFamily="2" charset="-122"/>
              </a:rPr>
              <a:t>Describe the storage infrastructure management challenges</a:t>
            </a:r>
          </a:p>
          <a:p>
            <a:pPr>
              <a:lnSpc>
                <a:spcPct val="90000"/>
              </a:lnSpc>
            </a:pPr>
            <a:r>
              <a:rPr lang="en-US" altLang="zh-CN" sz="2200">
                <a:ea typeface="宋体" panose="02010600030101010101" pitchFamily="2" charset="-122"/>
              </a:rPr>
              <a:t>Define storage management initiative specifications (SMI-S)</a:t>
            </a:r>
          </a:p>
        </p:txBody>
      </p:sp>
      <p:pic>
        <p:nvPicPr>
          <p:cNvPr id="3135492" name="Picture 4">
            <a:extLst>
              <a:ext uri="{FF2B5EF4-FFF2-40B4-BE49-F238E27FC236}">
                <a16:creationId xmlns:a16="http://schemas.microsoft.com/office/drawing/2014/main" id="{70779335-AF1D-68F1-D4ED-EE1E16315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057900"/>
            <a:ext cx="8839200" cy="5667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3D755676-8F14-E40D-C0A3-1D18B79EF66C}"/>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302B2004-0C0A-04AB-F4A9-CD3899367B01}"/>
              </a:ext>
            </a:extLst>
          </p:cNvPr>
          <p:cNvSpPr>
            <a:spLocks noGrp="1"/>
          </p:cNvSpPr>
          <p:nvPr>
            <p:ph type="sldNum" sz="quarter" idx="11"/>
          </p:nvPr>
        </p:nvSpPr>
        <p:spPr/>
        <p:txBody>
          <a:bodyPr/>
          <a:lstStyle/>
          <a:p>
            <a:r>
              <a:rPr lang="zh-CN" altLang="en-US"/>
              <a:t> </a:t>
            </a:r>
            <a:r>
              <a:rPr lang="en-US" altLang="zh-CN"/>
              <a:t>- </a:t>
            </a:r>
            <a:fld id="{60507949-E695-4FC9-A14C-DD494C3C7831}" type="slidenum">
              <a:rPr lang="en-US" altLang="zh-CN" sz="800"/>
              <a:pPr/>
              <a:t>69</a:t>
            </a:fld>
            <a:endParaRPr lang="en-US" altLang="zh-CN" sz="800"/>
          </a:p>
        </p:txBody>
      </p:sp>
      <p:sp>
        <p:nvSpPr>
          <p:cNvPr id="3065170" name="Line 338">
            <a:extLst>
              <a:ext uri="{FF2B5EF4-FFF2-40B4-BE49-F238E27FC236}">
                <a16:creationId xmlns:a16="http://schemas.microsoft.com/office/drawing/2014/main" id="{4BF2825E-D78F-A089-A255-DBDBD8E476F6}"/>
              </a:ext>
            </a:extLst>
          </p:cNvPr>
          <p:cNvSpPr>
            <a:spLocks noChangeShapeType="1"/>
          </p:cNvSpPr>
          <p:nvPr/>
        </p:nvSpPr>
        <p:spPr bwMode="auto">
          <a:xfrm>
            <a:off x="4789488" y="3021013"/>
            <a:ext cx="1146175" cy="9525"/>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65164" name="Line 332">
            <a:extLst>
              <a:ext uri="{FF2B5EF4-FFF2-40B4-BE49-F238E27FC236}">
                <a16:creationId xmlns:a16="http://schemas.microsoft.com/office/drawing/2014/main" id="{63283FDB-32AB-E892-C820-3E8864A3C6E3}"/>
              </a:ext>
            </a:extLst>
          </p:cNvPr>
          <p:cNvSpPr>
            <a:spLocks noChangeShapeType="1"/>
          </p:cNvSpPr>
          <p:nvPr/>
        </p:nvSpPr>
        <p:spPr bwMode="auto">
          <a:xfrm>
            <a:off x="4103688" y="2212975"/>
            <a:ext cx="1800225"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65169" name="Line 337">
            <a:extLst>
              <a:ext uri="{FF2B5EF4-FFF2-40B4-BE49-F238E27FC236}">
                <a16:creationId xmlns:a16="http://schemas.microsoft.com/office/drawing/2014/main" id="{7371AC9D-E555-3F51-B3EB-9A7F5FB3D981}"/>
              </a:ext>
            </a:extLst>
          </p:cNvPr>
          <p:cNvSpPr>
            <a:spLocks noChangeShapeType="1"/>
          </p:cNvSpPr>
          <p:nvPr/>
        </p:nvSpPr>
        <p:spPr bwMode="auto">
          <a:xfrm>
            <a:off x="3127375" y="2681288"/>
            <a:ext cx="822325" cy="280987"/>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64837" name="Rectangle 5">
            <a:extLst>
              <a:ext uri="{FF2B5EF4-FFF2-40B4-BE49-F238E27FC236}">
                <a16:creationId xmlns:a16="http://schemas.microsoft.com/office/drawing/2014/main" id="{01A1267F-5CA7-4AC4-4685-C4A2C64E118E}"/>
              </a:ext>
            </a:extLst>
          </p:cNvPr>
          <p:cNvSpPr>
            <a:spLocks noGrp="1" noChangeArrowheads="1"/>
          </p:cNvSpPr>
          <p:nvPr>
            <p:ph type="title"/>
          </p:nvPr>
        </p:nvSpPr>
        <p:spPr/>
        <p:txBody>
          <a:bodyPr/>
          <a:lstStyle/>
          <a:p>
            <a:r>
              <a:rPr lang="en-US" altLang="zh-CN">
                <a:ea typeface="宋体" panose="02010600030101010101" pitchFamily="2" charset="-122"/>
              </a:rPr>
              <a:t>Storage Infrastructure Management Activities</a:t>
            </a:r>
          </a:p>
        </p:txBody>
      </p:sp>
      <p:sp>
        <p:nvSpPr>
          <p:cNvPr id="3065144" name="Rectangle 312">
            <a:extLst>
              <a:ext uri="{FF2B5EF4-FFF2-40B4-BE49-F238E27FC236}">
                <a16:creationId xmlns:a16="http://schemas.microsoft.com/office/drawing/2014/main" id="{1D70734A-5CAD-3810-7619-83D9A8422C77}"/>
              </a:ext>
            </a:extLst>
          </p:cNvPr>
          <p:cNvSpPr>
            <a:spLocks noChangeArrowheads="1"/>
          </p:cNvSpPr>
          <p:nvPr/>
        </p:nvSpPr>
        <p:spPr bwMode="auto">
          <a:xfrm>
            <a:off x="5327650" y="4137025"/>
            <a:ext cx="2873375" cy="623888"/>
          </a:xfrm>
          <a:prstGeom prst="rect">
            <a:avLst/>
          </a:prstGeom>
          <a:solidFill>
            <a:srgbClr val="F7E3A1"/>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003580"/>
                </a:solidFill>
                <a:ea typeface="宋体" panose="02010600030101010101" pitchFamily="2" charset="-122"/>
              </a:rPr>
              <a:t>Availability</a:t>
            </a:r>
          </a:p>
        </p:txBody>
      </p:sp>
      <p:sp>
        <p:nvSpPr>
          <p:cNvPr id="3065145" name="Rectangle 313">
            <a:extLst>
              <a:ext uri="{FF2B5EF4-FFF2-40B4-BE49-F238E27FC236}">
                <a16:creationId xmlns:a16="http://schemas.microsoft.com/office/drawing/2014/main" id="{C3C261C3-BC09-C6D0-8997-F3EA71F18E96}"/>
              </a:ext>
            </a:extLst>
          </p:cNvPr>
          <p:cNvSpPr>
            <a:spLocks noChangeArrowheads="1"/>
          </p:cNvSpPr>
          <p:nvPr/>
        </p:nvSpPr>
        <p:spPr bwMode="auto">
          <a:xfrm>
            <a:off x="5329238" y="4760913"/>
            <a:ext cx="2873375" cy="623887"/>
          </a:xfrm>
          <a:prstGeom prst="rect">
            <a:avLst/>
          </a:prstGeom>
          <a:solidFill>
            <a:srgbClr val="F7E3A1"/>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003580"/>
                </a:solidFill>
                <a:ea typeface="宋体" panose="02010600030101010101" pitchFamily="2" charset="-122"/>
              </a:rPr>
              <a:t>Capacity</a:t>
            </a:r>
          </a:p>
        </p:txBody>
      </p:sp>
      <p:sp>
        <p:nvSpPr>
          <p:cNvPr id="3065146" name="Rectangle 314">
            <a:extLst>
              <a:ext uri="{FF2B5EF4-FFF2-40B4-BE49-F238E27FC236}">
                <a16:creationId xmlns:a16="http://schemas.microsoft.com/office/drawing/2014/main" id="{BEE00882-6792-BDFA-772B-4C0DB875BD2E}"/>
              </a:ext>
            </a:extLst>
          </p:cNvPr>
          <p:cNvSpPr>
            <a:spLocks noChangeArrowheads="1"/>
          </p:cNvSpPr>
          <p:nvPr/>
        </p:nvSpPr>
        <p:spPr bwMode="auto">
          <a:xfrm>
            <a:off x="5327650" y="5327650"/>
            <a:ext cx="2873375" cy="623888"/>
          </a:xfrm>
          <a:prstGeom prst="rect">
            <a:avLst/>
          </a:prstGeom>
          <a:solidFill>
            <a:srgbClr val="F7E3A1"/>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003580"/>
                </a:solidFill>
                <a:ea typeface="宋体" panose="02010600030101010101" pitchFamily="2" charset="-122"/>
              </a:rPr>
              <a:t>Performance</a:t>
            </a:r>
          </a:p>
        </p:txBody>
      </p:sp>
      <p:sp>
        <p:nvSpPr>
          <p:cNvPr id="3065147" name="Rectangle 315">
            <a:extLst>
              <a:ext uri="{FF2B5EF4-FFF2-40B4-BE49-F238E27FC236}">
                <a16:creationId xmlns:a16="http://schemas.microsoft.com/office/drawing/2014/main" id="{85B1605F-58AD-8DB8-9DA8-A82665430984}"/>
              </a:ext>
            </a:extLst>
          </p:cNvPr>
          <p:cNvSpPr>
            <a:spLocks noChangeArrowheads="1"/>
          </p:cNvSpPr>
          <p:nvPr/>
        </p:nvSpPr>
        <p:spPr bwMode="auto">
          <a:xfrm>
            <a:off x="5327650" y="5951538"/>
            <a:ext cx="2873375" cy="623887"/>
          </a:xfrm>
          <a:prstGeom prst="rect">
            <a:avLst/>
          </a:prstGeom>
          <a:solidFill>
            <a:srgbClr val="F7E3A1"/>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a:solidFill>
                  <a:srgbClr val="003580"/>
                </a:solidFill>
                <a:ea typeface="宋体" panose="02010600030101010101" pitchFamily="2" charset="-122"/>
              </a:rPr>
              <a:t>Security</a:t>
            </a:r>
          </a:p>
        </p:txBody>
      </p:sp>
      <p:sp>
        <p:nvSpPr>
          <p:cNvPr id="3065153" name="Rectangle 321">
            <a:extLst>
              <a:ext uri="{FF2B5EF4-FFF2-40B4-BE49-F238E27FC236}">
                <a16:creationId xmlns:a16="http://schemas.microsoft.com/office/drawing/2014/main" id="{CBA07355-B330-84B6-D1D7-7E74DB7F1F09}"/>
              </a:ext>
            </a:extLst>
          </p:cNvPr>
          <p:cNvSpPr>
            <a:spLocks noChangeArrowheads="1"/>
          </p:cNvSpPr>
          <p:nvPr/>
        </p:nvSpPr>
        <p:spPr bwMode="auto">
          <a:xfrm rot="5400000">
            <a:off x="7276306" y="5042694"/>
            <a:ext cx="2435225" cy="623888"/>
          </a:xfrm>
          <a:prstGeom prst="rect">
            <a:avLst/>
          </a:prstGeom>
          <a:solidFill>
            <a:schemeClr val="accent1"/>
          </a:solidFill>
          <a:ln w="3175" algn="ctr">
            <a:solidFill>
              <a:srgbClr val="00000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000" b="1">
                <a:solidFill>
                  <a:srgbClr val="003580"/>
                </a:solidFill>
                <a:ea typeface="宋体" panose="02010600030101010101" pitchFamily="2" charset="-122"/>
              </a:rPr>
              <a:t>Reporting</a:t>
            </a:r>
          </a:p>
        </p:txBody>
      </p:sp>
      <p:sp>
        <p:nvSpPr>
          <p:cNvPr id="3065155" name="Text Box 323">
            <a:extLst>
              <a:ext uri="{FF2B5EF4-FFF2-40B4-BE49-F238E27FC236}">
                <a16:creationId xmlns:a16="http://schemas.microsoft.com/office/drawing/2014/main" id="{CC97B26B-5D50-1429-2842-DCDBB4D11B51}"/>
              </a:ext>
            </a:extLst>
          </p:cNvPr>
          <p:cNvSpPr txBox="1">
            <a:spLocks noChangeArrowheads="1"/>
          </p:cNvSpPr>
          <p:nvPr/>
        </p:nvSpPr>
        <p:spPr bwMode="auto">
          <a:xfrm>
            <a:off x="9525" y="4044950"/>
            <a:ext cx="222885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Network</a:t>
            </a:r>
          </a:p>
        </p:txBody>
      </p:sp>
      <p:sp>
        <p:nvSpPr>
          <p:cNvPr id="3065156" name="Line 324">
            <a:extLst>
              <a:ext uri="{FF2B5EF4-FFF2-40B4-BE49-F238E27FC236}">
                <a16:creationId xmlns:a16="http://schemas.microsoft.com/office/drawing/2014/main" id="{979D9863-93D6-3C51-8889-A7524AE1E087}"/>
              </a:ext>
            </a:extLst>
          </p:cNvPr>
          <p:cNvSpPr>
            <a:spLocks noChangeShapeType="1"/>
          </p:cNvSpPr>
          <p:nvPr/>
        </p:nvSpPr>
        <p:spPr bwMode="auto">
          <a:xfrm flipH="1">
            <a:off x="1628775" y="2751138"/>
            <a:ext cx="693738" cy="619125"/>
          </a:xfrm>
          <a:prstGeom prst="line">
            <a:avLst/>
          </a:prstGeom>
          <a:noFill/>
          <a:ln w="3175">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65157" name="Rectangle 325">
            <a:extLst>
              <a:ext uri="{FF2B5EF4-FFF2-40B4-BE49-F238E27FC236}">
                <a16:creationId xmlns:a16="http://schemas.microsoft.com/office/drawing/2014/main" id="{E2E6211F-FC93-0B41-7840-2D64AF20A5DE}"/>
              </a:ext>
            </a:extLst>
          </p:cNvPr>
          <p:cNvSpPr>
            <a:spLocks noChangeArrowheads="1"/>
          </p:cNvSpPr>
          <p:nvPr/>
        </p:nvSpPr>
        <p:spPr bwMode="auto">
          <a:xfrm>
            <a:off x="5905500" y="2159000"/>
            <a:ext cx="87313" cy="100013"/>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3065158" name="Rectangle 326">
            <a:extLst>
              <a:ext uri="{FF2B5EF4-FFF2-40B4-BE49-F238E27FC236}">
                <a16:creationId xmlns:a16="http://schemas.microsoft.com/office/drawing/2014/main" id="{C58139E5-9CC1-90BA-8690-F7FD4729EB3B}"/>
              </a:ext>
            </a:extLst>
          </p:cNvPr>
          <p:cNvSpPr>
            <a:spLocks noChangeArrowheads="1"/>
          </p:cNvSpPr>
          <p:nvPr/>
        </p:nvSpPr>
        <p:spPr bwMode="auto">
          <a:xfrm>
            <a:off x="5915025" y="1978025"/>
            <a:ext cx="87313" cy="100013"/>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sp>
        <p:nvSpPr>
          <p:cNvPr id="3065159" name="Rectangle 327">
            <a:extLst>
              <a:ext uri="{FF2B5EF4-FFF2-40B4-BE49-F238E27FC236}">
                <a16:creationId xmlns:a16="http://schemas.microsoft.com/office/drawing/2014/main" id="{8D5A33FD-66BC-810B-27B7-EF3AAC4AC7E7}"/>
              </a:ext>
            </a:extLst>
          </p:cNvPr>
          <p:cNvSpPr>
            <a:spLocks noChangeArrowheads="1"/>
          </p:cNvSpPr>
          <p:nvPr/>
        </p:nvSpPr>
        <p:spPr bwMode="auto">
          <a:xfrm>
            <a:off x="5934075" y="2806700"/>
            <a:ext cx="87313" cy="100013"/>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3065160" name="Rectangle 328">
            <a:extLst>
              <a:ext uri="{FF2B5EF4-FFF2-40B4-BE49-F238E27FC236}">
                <a16:creationId xmlns:a16="http://schemas.microsoft.com/office/drawing/2014/main" id="{857243C9-00AE-A923-F2F4-C578414C4908}"/>
              </a:ext>
            </a:extLst>
          </p:cNvPr>
          <p:cNvSpPr>
            <a:spLocks noChangeArrowheads="1"/>
          </p:cNvSpPr>
          <p:nvPr/>
        </p:nvSpPr>
        <p:spPr bwMode="auto">
          <a:xfrm>
            <a:off x="5934075" y="2978150"/>
            <a:ext cx="87313" cy="100013"/>
          </a:xfrm>
          <a:prstGeom prst="rect">
            <a:avLst/>
          </a:prstGeom>
          <a:solidFill>
            <a:srgbClr val="008080">
              <a:alpha val="52000"/>
            </a:srgbClr>
          </a:solidFill>
          <a:ln w="25400" algn="ctr">
            <a:solidFill>
              <a:srgbClr val="008080"/>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pic>
        <p:nvPicPr>
          <p:cNvPr id="3065161" name="Picture 329">
            <a:extLst>
              <a:ext uri="{FF2B5EF4-FFF2-40B4-BE49-F238E27FC236}">
                <a16:creationId xmlns:a16="http://schemas.microsoft.com/office/drawing/2014/main" id="{29851EBE-6DAF-E319-542A-750A3D259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8375" y="1924050"/>
            <a:ext cx="771525" cy="1219200"/>
          </a:xfrm>
          <a:prstGeom prst="rect">
            <a:avLst/>
          </a:prstGeom>
          <a:noFill/>
          <a:extLst>
            <a:ext uri="{909E8E84-426E-40DD-AFC4-6F175D3DCCD1}">
              <a14:hiddenFill xmlns:a14="http://schemas.microsoft.com/office/drawing/2010/main">
                <a:solidFill>
                  <a:srgbClr val="FFFFFF"/>
                </a:solidFill>
              </a14:hiddenFill>
            </a:ext>
          </a:extLst>
        </p:spPr>
      </p:pic>
      <p:pic>
        <p:nvPicPr>
          <p:cNvPr id="3065162" name="Picture 330">
            <a:extLst>
              <a:ext uri="{FF2B5EF4-FFF2-40B4-BE49-F238E27FC236}">
                <a16:creationId xmlns:a16="http://schemas.microsoft.com/office/drawing/2014/main" id="{42BC06D8-2B98-536B-B56D-5487E0EB34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3250" y="1776413"/>
            <a:ext cx="835025" cy="652462"/>
          </a:xfrm>
          <a:prstGeom prst="rect">
            <a:avLst/>
          </a:prstGeom>
          <a:gradFill rotWithShape="1">
            <a:gsLst>
              <a:gs pos="0">
                <a:srgbClr val="E0D8B0">
                  <a:gamma/>
                  <a:tint val="35686"/>
                  <a:invGamma/>
                </a:srgbClr>
              </a:gs>
              <a:gs pos="100000">
                <a:srgbClr val="E0D8B0"/>
              </a:gs>
            </a:gsLst>
            <a:lin ang="5400000" scaled="1"/>
          </a:gradFill>
          <a:ln w="28575"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65163" name="Line 331">
            <a:extLst>
              <a:ext uri="{FF2B5EF4-FFF2-40B4-BE49-F238E27FC236}">
                <a16:creationId xmlns:a16="http://schemas.microsoft.com/office/drawing/2014/main" id="{A7264645-06D2-7268-1009-2F7AC8FE5FF8}"/>
              </a:ext>
            </a:extLst>
          </p:cNvPr>
          <p:cNvSpPr>
            <a:spLocks noChangeShapeType="1"/>
          </p:cNvSpPr>
          <p:nvPr/>
        </p:nvSpPr>
        <p:spPr bwMode="auto">
          <a:xfrm>
            <a:off x="1593850" y="3935413"/>
            <a:ext cx="766763" cy="852487"/>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65165" name="Text Box 333">
            <a:extLst>
              <a:ext uri="{FF2B5EF4-FFF2-40B4-BE49-F238E27FC236}">
                <a16:creationId xmlns:a16="http://schemas.microsoft.com/office/drawing/2014/main" id="{D9B755A2-7365-BE0E-B146-B5316E34DC85}"/>
              </a:ext>
            </a:extLst>
          </p:cNvPr>
          <p:cNvSpPr txBox="1">
            <a:spLocks noChangeArrowheads="1"/>
          </p:cNvSpPr>
          <p:nvPr/>
        </p:nvSpPr>
        <p:spPr bwMode="auto">
          <a:xfrm>
            <a:off x="2906713" y="2351088"/>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3065166" name="Text Box 334">
            <a:extLst>
              <a:ext uri="{FF2B5EF4-FFF2-40B4-BE49-F238E27FC236}">
                <a16:creationId xmlns:a16="http://schemas.microsoft.com/office/drawing/2014/main" id="{DFB6FB08-74B2-B23A-8813-CE56BB485A5B}"/>
              </a:ext>
            </a:extLst>
          </p:cNvPr>
          <p:cNvSpPr txBox="1">
            <a:spLocks noChangeArrowheads="1"/>
          </p:cNvSpPr>
          <p:nvPr/>
        </p:nvSpPr>
        <p:spPr bwMode="auto">
          <a:xfrm>
            <a:off x="5411788" y="1878013"/>
            <a:ext cx="406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Port</a:t>
            </a:r>
            <a:endParaRPr lang="en-US" altLang="zh-CN" sz="2800">
              <a:solidFill>
                <a:srgbClr val="000000"/>
              </a:solidFill>
              <a:ea typeface="宋体" panose="02010600030101010101" pitchFamily="2" charset="-122"/>
            </a:endParaRPr>
          </a:p>
        </p:txBody>
      </p:sp>
      <p:sp>
        <p:nvSpPr>
          <p:cNvPr id="3065167" name="Text Box 335">
            <a:extLst>
              <a:ext uri="{FF2B5EF4-FFF2-40B4-BE49-F238E27FC236}">
                <a16:creationId xmlns:a16="http://schemas.microsoft.com/office/drawing/2014/main" id="{30B65B2A-02EA-76FC-4C6E-E34C20AA31BF}"/>
              </a:ext>
            </a:extLst>
          </p:cNvPr>
          <p:cNvSpPr txBox="1">
            <a:spLocks noChangeArrowheads="1"/>
          </p:cNvSpPr>
          <p:nvPr/>
        </p:nvSpPr>
        <p:spPr bwMode="auto">
          <a:xfrm>
            <a:off x="2900363" y="2586038"/>
            <a:ext cx="276225" cy="152400"/>
          </a:xfrm>
          <a:prstGeom prst="rect">
            <a:avLst/>
          </a:prstGeom>
          <a:solidFill>
            <a:srgbClr val="FF9900"/>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0000"/>
                </a:solidFill>
                <a:ea typeface="宋体" panose="02010600030101010101" pitchFamily="2" charset="-122"/>
              </a:rPr>
              <a:t>HBA</a:t>
            </a:r>
          </a:p>
        </p:txBody>
      </p:sp>
      <p:sp>
        <p:nvSpPr>
          <p:cNvPr id="3065168" name="Line 336">
            <a:extLst>
              <a:ext uri="{FF2B5EF4-FFF2-40B4-BE49-F238E27FC236}">
                <a16:creationId xmlns:a16="http://schemas.microsoft.com/office/drawing/2014/main" id="{3E3A57DE-EE38-6266-F705-F034D238EF6E}"/>
              </a:ext>
            </a:extLst>
          </p:cNvPr>
          <p:cNvSpPr>
            <a:spLocks noChangeShapeType="1"/>
          </p:cNvSpPr>
          <p:nvPr/>
        </p:nvSpPr>
        <p:spPr bwMode="auto">
          <a:xfrm flipH="1">
            <a:off x="3162300" y="2168525"/>
            <a:ext cx="817563" cy="250825"/>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65171" name="Line 339">
            <a:extLst>
              <a:ext uri="{FF2B5EF4-FFF2-40B4-BE49-F238E27FC236}">
                <a16:creationId xmlns:a16="http://schemas.microsoft.com/office/drawing/2014/main" id="{C12D1E88-FEBB-8DE1-DA35-017959A59DC3}"/>
              </a:ext>
            </a:extLst>
          </p:cNvPr>
          <p:cNvSpPr>
            <a:spLocks noChangeShapeType="1"/>
          </p:cNvSpPr>
          <p:nvPr/>
        </p:nvSpPr>
        <p:spPr bwMode="auto">
          <a:xfrm>
            <a:off x="7075488" y="2565400"/>
            <a:ext cx="569912" cy="0"/>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65172" name="Text Box 340">
            <a:extLst>
              <a:ext uri="{FF2B5EF4-FFF2-40B4-BE49-F238E27FC236}">
                <a16:creationId xmlns:a16="http://schemas.microsoft.com/office/drawing/2014/main" id="{6B0A39AB-1759-448F-654B-E3A3CA905D4C}"/>
              </a:ext>
            </a:extLst>
          </p:cNvPr>
          <p:cNvSpPr txBox="1">
            <a:spLocks noChangeArrowheads="1"/>
          </p:cNvSpPr>
          <p:nvPr/>
        </p:nvSpPr>
        <p:spPr bwMode="auto">
          <a:xfrm>
            <a:off x="2192338" y="1514475"/>
            <a:ext cx="915987"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Cluster</a:t>
            </a:r>
          </a:p>
        </p:txBody>
      </p:sp>
      <p:sp>
        <p:nvSpPr>
          <p:cNvPr id="3065173" name="Line 341">
            <a:extLst>
              <a:ext uri="{FF2B5EF4-FFF2-40B4-BE49-F238E27FC236}">
                <a16:creationId xmlns:a16="http://schemas.microsoft.com/office/drawing/2014/main" id="{DA81AAB5-D92B-AA14-3F0B-7ECDE6E6245B}"/>
              </a:ext>
            </a:extLst>
          </p:cNvPr>
          <p:cNvSpPr>
            <a:spLocks noChangeShapeType="1"/>
          </p:cNvSpPr>
          <p:nvPr/>
        </p:nvSpPr>
        <p:spPr bwMode="auto">
          <a:xfrm flipH="1" flipV="1">
            <a:off x="2592388" y="3097213"/>
            <a:ext cx="3175" cy="1379537"/>
          </a:xfrm>
          <a:prstGeom prst="line">
            <a:avLst/>
          </a:prstGeom>
          <a:noFill/>
          <a:ln w="2540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65174" name="Text Box 342">
            <a:extLst>
              <a:ext uri="{FF2B5EF4-FFF2-40B4-BE49-F238E27FC236}">
                <a16:creationId xmlns:a16="http://schemas.microsoft.com/office/drawing/2014/main" id="{DBF951BF-29DC-E44A-B3E5-5607D1297176}"/>
              </a:ext>
            </a:extLst>
          </p:cNvPr>
          <p:cNvSpPr txBox="1">
            <a:spLocks noChangeArrowheads="1"/>
          </p:cNvSpPr>
          <p:nvPr/>
        </p:nvSpPr>
        <p:spPr bwMode="auto">
          <a:xfrm rot="-5400000">
            <a:off x="1794669" y="3590131"/>
            <a:ext cx="12573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000000"/>
                </a:solidFill>
                <a:ea typeface="宋体" panose="02010600030101010101" pitchFamily="2" charset="-122"/>
              </a:rPr>
              <a:t>Keep</a:t>
            </a:r>
            <a:r>
              <a:rPr lang="en-US" altLang="zh-CN" sz="1400" b="1">
                <a:solidFill>
                  <a:srgbClr val="000000"/>
                </a:solidFill>
                <a:ea typeface="宋体" panose="02010600030101010101" pitchFamily="2" charset="-122"/>
              </a:rPr>
              <a:t> Alive</a:t>
            </a:r>
          </a:p>
        </p:txBody>
      </p:sp>
      <p:sp>
        <p:nvSpPr>
          <p:cNvPr id="3065175" name="Text Box 343">
            <a:extLst>
              <a:ext uri="{FF2B5EF4-FFF2-40B4-BE49-F238E27FC236}">
                <a16:creationId xmlns:a16="http://schemas.microsoft.com/office/drawing/2014/main" id="{5CCA8565-5418-00EE-E093-4E6E780E7E16}"/>
              </a:ext>
            </a:extLst>
          </p:cNvPr>
          <p:cNvSpPr txBox="1">
            <a:spLocks noChangeArrowheads="1"/>
          </p:cNvSpPr>
          <p:nvPr/>
        </p:nvSpPr>
        <p:spPr bwMode="auto">
          <a:xfrm>
            <a:off x="835025" y="1489075"/>
            <a:ext cx="541338"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Client </a:t>
            </a:r>
          </a:p>
        </p:txBody>
      </p:sp>
      <p:sp>
        <p:nvSpPr>
          <p:cNvPr id="3065176" name="Line 344">
            <a:extLst>
              <a:ext uri="{FF2B5EF4-FFF2-40B4-BE49-F238E27FC236}">
                <a16:creationId xmlns:a16="http://schemas.microsoft.com/office/drawing/2014/main" id="{C008A634-1FC6-8F0B-BC6A-CFD0E0773B86}"/>
              </a:ext>
            </a:extLst>
          </p:cNvPr>
          <p:cNvSpPr>
            <a:spLocks noChangeShapeType="1"/>
          </p:cNvSpPr>
          <p:nvPr/>
        </p:nvSpPr>
        <p:spPr bwMode="auto">
          <a:xfrm>
            <a:off x="1022350" y="2397125"/>
            <a:ext cx="0" cy="760413"/>
          </a:xfrm>
          <a:prstGeom prst="line">
            <a:avLst/>
          </a:prstGeom>
          <a:noFill/>
          <a:ln w="3175">
            <a:solidFill>
              <a:srgbClr val="001636"/>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65177" name="Text Box 345">
            <a:extLst>
              <a:ext uri="{FF2B5EF4-FFF2-40B4-BE49-F238E27FC236}">
                <a16:creationId xmlns:a16="http://schemas.microsoft.com/office/drawing/2014/main" id="{D4F0592B-1ABD-27EC-E026-077D370DC9E1}"/>
              </a:ext>
            </a:extLst>
          </p:cNvPr>
          <p:cNvSpPr txBox="1">
            <a:spLocks noChangeArrowheads="1"/>
          </p:cNvSpPr>
          <p:nvPr/>
        </p:nvSpPr>
        <p:spPr bwMode="auto">
          <a:xfrm>
            <a:off x="5487988" y="3132138"/>
            <a:ext cx="406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Port</a:t>
            </a:r>
            <a:endParaRPr lang="en-US" altLang="zh-CN" sz="2800">
              <a:solidFill>
                <a:srgbClr val="000000"/>
              </a:solidFill>
              <a:ea typeface="宋体" panose="02010600030101010101" pitchFamily="2" charset="-122"/>
            </a:endParaRPr>
          </a:p>
        </p:txBody>
      </p:sp>
      <p:sp>
        <p:nvSpPr>
          <p:cNvPr id="3065178" name="Text Box 346">
            <a:extLst>
              <a:ext uri="{FF2B5EF4-FFF2-40B4-BE49-F238E27FC236}">
                <a16:creationId xmlns:a16="http://schemas.microsoft.com/office/drawing/2014/main" id="{C375C10E-5ACC-3409-0E22-C04D01DEB9E0}"/>
              </a:ext>
            </a:extLst>
          </p:cNvPr>
          <p:cNvSpPr txBox="1">
            <a:spLocks noChangeArrowheads="1"/>
          </p:cNvSpPr>
          <p:nvPr/>
        </p:nvSpPr>
        <p:spPr bwMode="auto">
          <a:xfrm>
            <a:off x="6326188" y="3632200"/>
            <a:ext cx="222885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Storage Arrays</a:t>
            </a:r>
          </a:p>
        </p:txBody>
      </p:sp>
      <p:sp>
        <p:nvSpPr>
          <p:cNvPr id="3065179" name="Text Box 347">
            <a:extLst>
              <a:ext uri="{FF2B5EF4-FFF2-40B4-BE49-F238E27FC236}">
                <a16:creationId xmlns:a16="http://schemas.microsoft.com/office/drawing/2014/main" id="{D788A8A6-2AB0-B2DC-DF5C-0CD4E20FF318}"/>
              </a:ext>
            </a:extLst>
          </p:cNvPr>
          <p:cNvSpPr txBox="1">
            <a:spLocks noChangeArrowheads="1"/>
          </p:cNvSpPr>
          <p:nvPr/>
        </p:nvSpPr>
        <p:spPr bwMode="auto">
          <a:xfrm>
            <a:off x="1157288" y="5946775"/>
            <a:ext cx="3108325"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Hosts/Servers with Applications</a:t>
            </a:r>
          </a:p>
        </p:txBody>
      </p:sp>
      <p:sp>
        <p:nvSpPr>
          <p:cNvPr id="3065180" name="Text Box 348">
            <a:extLst>
              <a:ext uri="{FF2B5EF4-FFF2-40B4-BE49-F238E27FC236}">
                <a16:creationId xmlns:a16="http://schemas.microsoft.com/office/drawing/2014/main" id="{8C6FBAA5-BE8B-1445-66B2-47C64B93946A}"/>
              </a:ext>
            </a:extLst>
          </p:cNvPr>
          <p:cNvSpPr txBox="1">
            <a:spLocks noChangeArrowheads="1"/>
          </p:cNvSpPr>
          <p:nvPr/>
        </p:nvSpPr>
        <p:spPr bwMode="auto">
          <a:xfrm>
            <a:off x="3824288" y="3316288"/>
            <a:ext cx="106680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400" b="1">
                <a:solidFill>
                  <a:srgbClr val="000000"/>
                </a:solidFill>
                <a:ea typeface="宋体" panose="02010600030101010101" pitchFamily="2" charset="-122"/>
              </a:rPr>
              <a:t>SAN</a:t>
            </a:r>
          </a:p>
        </p:txBody>
      </p:sp>
      <p:grpSp>
        <p:nvGrpSpPr>
          <p:cNvPr id="3065181" name="Group 349">
            <a:extLst>
              <a:ext uri="{FF2B5EF4-FFF2-40B4-BE49-F238E27FC236}">
                <a16:creationId xmlns:a16="http://schemas.microsoft.com/office/drawing/2014/main" id="{3ECF4ADB-BA21-1343-A7DC-743460A0EEA5}"/>
              </a:ext>
            </a:extLst>
          </p:cNvPr>
          <p:cNvGrpSpPr>
            <a:grpSpLocks/>
          </p:cNvGrpSpPr>
          <p:nvPr/>
        </p:nvGrpSpPr>
        <p:grpSpPr bwMode="auto">
          <a:xfrm>
            <a:off x="504825" y="3140075"/>
            <a:ext cx="1047750" cy="714375"/>
            <a:chOff x="1750" y="1950"/>
            <a:chExt cx="474" cy="306"/>
          </a:xfrm>
        </p:grpSpPr>
        <p:sp>
          <p:nvSpPr>
            <p:cNvPr id="3065182" name="Freeform 350">
              <a:extLst>
                <a:ext uri="{FF2B5EF4-FFF2-40B4-BE49-F238E27FC236}">
                  <a16:creationId xmlns:a16="http://schemas.microsoft.com/office/drawing/2014/main" id="{FD05617A-DC40-0C0C-B671-A220B462B2CB}"/>
                </a:ext>
              </a:extLst>
            </p:cNvPr>
            <p:cNvSpPr>
              <a:spLocks/>
            </p:cNvSpPr>
            <p:nvPr/>
          </p:nvSpPr>
          <p:spPr bwMode="auto">
            <a:xfrm>
              <a:off x="1750" y="1950"/>
              <a:ext cx="474" cy="306"/>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65183" name="Rectangle 351">
              <a:extLst>
                <a:ext uri="{FF2B5EF4-FFF2-40B4-BE49-F238E27FC236}">
                  <a16:creationId xmlns:a16="http://schemas.microsoft.com/office/drawing/2014/main" id="{53DE16AB-C9D8-AF50-29B3-8F39673F2862}"/>
                </a:ext>
              </a:extLst>
            </p:cNvPr>
            <p:cNvSpPr>
              <a:spLocks noChangeArrowheads="1"/>
            </p:cNvSpPr>
            <p:nvPr/>
          </p:nvSpPr>
          <p:spPr bwMode="auto">
            <a:xfrm>
              <a:off x="1988" y="2040"/>
              <a:ext cx="1"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spcBef>
                  <a:spcPct val="0"/>
                </a:spcBef>
                <a:buClrTx/>
                <a:buFontTx/>
                <a:buNone/>
              </a:pPr>
              <a:endParaRPr lang="zh-CN" altLang="en-US" sz="1800" b="1">
                <a:solidFill>
                  <a:schemeClr val="tx1"/>
                </a:solidFill>
                <a:ea typeface="宋体" panose="02010600030101010101" pitchFamily="2" charset="-122"/>
              </a:endParaRPr>
            </a:p>
          </p:txBody>
        </p:sp>
      </p:grpSp>
      <p:sp>
        <p:nvSpPr>
          <p:cNvPr id="3065184" name="Freeform 352">
            <a:extLst>
              <a:ext uri="{FF2B5EF4-FFF2-40B4-BE49-F238E27FC236}">
                <a16:creationId xmlns:a16="http://schemas.microsoft.com/office/drawing/2014/main" id="{FF305571-CFA6-F7D4-DE00-687F5DF2D195}"/>
              </a:ext>
            </a:extLst>
          </p:cNvPr>
          <p:cNvSpPr>
            <a:spLocks/>
          </p:cNvSpPr>
          <p:nvPr/>
        </p:nvSpPr>
        <p:spPr bwMode="auto">
          <a:xfrm>
            <a:off x="657225" y="3292475"/>
            <a:ext cx="1047750" cy="714375"/>
          </a:xfrm>
          <a:custGeom>
            <a:avLst/>
            <a:gdLst>
              <a:gd name="T0" fmla="*/ 1157 w 1422"/>
              <a:gd name="T1" fmla="*/ 5 h 917"/>
              <a:gd name="T2" fmla="*/ 1228 w 1422"/>
              <a:gd name="T3" fmla="*/ 34 h 917"/>
              <a:gd name="T4" fmla="*/ 1287 w 1422"/>
              <a:gd name="T5" fmla="*/ 80 h 917"/>
              <a:gd name="T6" fmla="*/ 1334 w 1422"/>
              <a:gd name="T7" fmla="*/ 157 h 917"/>
              <a:gd name="T8" fmla="*/ 1346 w 1422"/>
              <a:gd name="T9" fmla="*/ 214 h 917"/>
              <a:gd name="T10" fmla="*/ 1338 w 1422"/>
              <a:gd name="T11" fmla="*/ 269 h 917"/>
              <a:gd name="T12" fmla="*/ 1371 w 1422"/>
              <a:gd name="T13" fmla="*/ 328 h 917"/>
              <a:gd name="T14" fmla="*/ 1408 w 1422"/>
              <a:gd name="T15" fmla="*/ 388 h 917"/>
              <a:gd name="T16" fmla="*/ 1422 w 1422"/>
              <a:gd name="T17" fmla="*/ 452 h 917"/>
              <a:gd name="T18" fmla="*/ 1408 w 1422"/>
              <a:gd name="T19" fmla="*/ 515 h 917"/>
              <a:gd name="T20" fmla="*/ 1371 w 1422"/>
              <a:gd name="T21" fmla="*/ 580 h 917"/>
              <a:gd name="T22" fmla="*/ 1340 w 1422"/>
              <a:gd name="T23" fmla="*/ 640 h 917"/>
              <a:gd name="T24" fmla="*/ 1342 w 1422"/>
              <a:gd name="T25" fmla="*/ 719 h 917"/>
              <a:gd name="T26" fmla="*/ 1328 w 1422"/>
              <a:gd name="T27" fmla="*/ 769 h 917"/>
              <a:gd name="T28" fmla="*/ 1298 w 1422"/>
              <a:gd name="T29" fmla="*/ 815 h 917"/>
              <a:gd name="T30" fmla="*/ 1259 w 1422"/>
              <a:gd name="T31" fmla="*/ 853 h 917"/>
              <a:gd name="T32" fmla="*/ 1228 w 1422"/>
              <a:gd name="T33" fmla="*/ 876 h 917"/>
              <a:gd name="T34" fmla="*/ 1182 w 1422"/>
              <a:gd name="T35" fmla="*/ 894 h 917"/>
              <a:gd name="T36" fmla="*/ 1157 w 1422"/>
              <a:gd name="T37" fmla="*/ 902 h 917"/>
              <a:gd name="T38" fmla="*/ 1067 w 1422"/>
              <a:gd name="T39" fmla="*/ 904 h 917"/>
              <a:gd name="T40" fmla="*/ 1016 w 1422"/>
              <a:gd name="T41" fmla="*/ 882 h 917"/>
              <a:gd name="T42" fmla="*/ 971 w 1422"/>
              <a:gd name="T43" fmla="*/ 845 h 917"/>
              <a:gd name="T44" fmla="*/ 892 w 1422"/>
              <a:gd name="T45" fmla="*/ 866 h 917"/>
              <a:gd name="T46" fmla="*/ 794 w 1422"/>
              <a:gd name="T47" fmla="*/ 902 h 917"/>
              <a:gd name="T48" fmla="*/ 701 w 1422"/>
              <a:gd name="T49" fmla="*/ 917 h 917"/>
              <a:gd name="T50" fmla="*/ 609 w 1422"/>
              <a:gd name="T51" fmla="*/ 902 h 917"/>
              <a:gd name="T52" fmla="*/ 521 w 1422"/>
              <a:gd name="T53" fmla="*/ 866 h 917"/>
              <a:gd name="T54" fmla="*/ 457 w 1422"/>
              <a:gd name="T55" fmla="*/ 836 h 917"/>
              <a:gd name="T56" fmla="*/ 451 w 1422"/>
              <a:gd name="T57" fmla="*/ 845 h 917"/>
              <a:gd name="T58" fmla="*/ 408 w 1422"/>
              <a:gd name="T59" fmla="*/ 882 h 917"/>
              <a:gd name="T60" fmla="*/ 355 w 1422"/>
              <a:gd name="T61" fmla="*/ 904 h 917"/>
              <a:gd name="T62" fmla="*/ 301 w 1422"/>
              <a:gd name="T63" fmla="*/ 907 h 917"/>
              <a:gd name="T64" fmla="*/ 231 w 1422"/>
              <a:gd name="T65" fmla="*/ 892 h 917"/>
              <a:gd name="T66" fmla="*/ 177 w 1422"/>
              <a:gd name="T67" fmla="*/ 863 h 917"/>
              <a:gd name="T68" fmla="*/ 124 w 1422"/>
              <a:gd name="T69" fmla="*/ 812 h 917"/>
              <a:gd name="T70" fmla="*/ 84 w 1422"/>
              <a:gd name="T71" fmla="*/ 731 h 917"/>
              <a:gd name="T72" fmla="*/ 81 w 1422"/>
              <a:gd name="T73" fmla="*/ 659 h 917"/>
              <a:gd name="T74" fmla="*/ 51 w 1422"/>
              <a:gd name="T75" fmla="*/ 581 h 917"/>
              <a:gd name="T76" fmla="*/ 12 w 1422"/>
              <a:gd name="T77" fmla="*/ 518 h 917"/>
              <a:gd name="T78" fmla="*/ 1 w 1422"/>
              <a:gd name="T79" fmla="*/ 476 h 917"/>
              <a:gd name="T80" fmla="*/ 5 w 1422"/>
              <a:gd name="T81" fmla="*/ 414 h 917"/>
              <a:gd name="T82" fmla="*/ 35 w 1422"/>
              <a:gd name="T83" fmla="*/ 350 h 917"/>
              <a:gd name="T84" fmla="*/ 91 w 1422"/>
              <a:gd name="T85" fmla="*/ 288 h 917"/>
              <a:gd name="T86" fmla="*/ 78 w 1422"/>
              <a:gd name="T87" fmla="*/ 214 h 917"/>
              <a:gd name="T88" fmla="*/ 114 w 1422"/>
              <a:gd name="T89" fmla="*/ 108 h 917"/>
              <a:gd name="T90" fmla="*/ 179 w 1422"/>
              <a:gd name="T91" fmla="*/ 43 h 917"/>
              <a:gd name="T92" fmla="*/ 267 w 1422"/>
              <a:gd name="T93" fmla="*/ 5 h 917"/>
              <a:gd name="T94" fmla="*/ 355 w 1422"/>
              <a:gd name="T95" fmla="*/ 5 h 917"/>
              <a:gd name="T96" fmla="*/ 408 w 1422"/>
              <a:gd name="T97" fmla="*/ 26 h 917"/>
              <a:gd name="T98" fmla="*/ 451 w 1422"/>
              <a:gd name="T99" fmla="*/ 62 h 917"/>
              <a:gd name="T100" fmla="*/ 556 w 1422"/>
              <a:gd name="T101" fmla="*/ 35 h 917"/>
              <a:gd name="T102" fmla="*/ 650 w 1422"/>
              <a:gd name="T103" fmla="*/ 12 h 917"/>
              <a:gd name="T104" fmla="*/ 803 w 1422"/>
              <a:gd name="T105" fmla="*/ 18 h 917"/>
              <a:gd name="T106" fmla="*/ 897 w 1422"/>
              <a:gd name="T107" fmla="*/ 48 h 917"/>
              <a:gd name="T108" fmla="*/ 984 w 1422"/>
              <a:gd name="T109" fmla="*/ 49 h 917"/>
              <a:gd name="T110" fmla="*/ 1031 w 1422"/>
              <a:gd name="T111" fmla="*/ 17 h 917"/>
              <a:gd name="T112" fmla="*/ 1088 w 1422"/>
              <a:gd name="T113" fmla="*/ 2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22" h="917">
                <a:moveTo>
                  <a:pt x="1088" y="2"/>
                </a:moveTo>
                <a:lnTo>
                  <a:pt x="1121" y="0"/>
                </a:lnTo>
                <a:lnTo>
                  <a:pt x="1157" y="5"/>
                </a:lnTo>
                <a:lnTo>
                  <a:pt x="1174" y="8"/>
                </a:lnTo>
                <a:lnTo>
                  <a:pt x="1192" y="16"/>
                </a:lnTo>
                <a:lnTo>
                  <a:pt x="1228" y="34"/>
                </a:lnTo>
                <a:lnTo>
                  <a:pt x="1244" y="43"/>
                </a:lnTo>
                <a:lnTo>
                  <a:pt x="1259" y="55"/>
                </a:lnTo>
                <a:lnTo>
                  <a:pt x="1287" y="80"/>
                </a:lnTo>
                <a:lnTo>
                  <a:pt x="1308" y="108"/>
                </a:lnTo>
                <a:lnTo>
                  <a:pt x="1328" y="140"/>
                </a:lnTo>
                <a:lnTo>
                  <a:pt x="1334" y="157"/>
                </a:lnTo>
                <a:lnTo>
                  <a:pt x="1340" y="176"/>
                </a:lnTo>
                <a:lnTo>
                  <a:pt x="1343" y="194"/>
                </a:lnTo>
                <a:lnTo>
                  <a:pt x="1346" y="214"/>
                </a:lnTo>
                <a:lnTo>
                  <a:pt x="1344" y="230"/>
                </a:lnTo>
                <a:lnTo>
                  <a:pt x="1342" y="250"/>
                </a:lnTo>
                <a:lnTo>
                  <a:pt x="1338" y="269"/>
                </a:lnTo>
                <a:lnTo>
                  <a:pt x="1332" y="288"/>
                </a:lnTo>
                <a:lnTo>
                  <a:pt x="1353" y="307"/>
                </a:lnTo>
                <a:lnTo>
                  <a:pt x="1371" y="328"/>
                </a:lnTo>
                <a:lnTo>
                  <a:pt x="1386" y="347"/>
                </a:lnTo>
                <a:lnTo>
                  <a:pt x="1400" y="368"/>
                </a:lnTo>
                <a:lnTo>
                  <a:pt x="1408" y="388"/>
                </a:lnTo>
                <a:lnTo>
                  <a:pt x="1416" y="409"/>
                </a:lnTo>
                <a:lnTo>
                  <a:pt x="1420" y="431"/>
                </a:lnTo>
                <a:lnTo>
                  <a:pt x="1422" y="452"/>
                </a:lnTo>
                <a:lnTo>
                  <a:pt x="1420" y="472"/>
                </a:lnTo>
                <a:lnTo>
                  <a:pt x="1416" y="493"/>
                </a:lnTo>
                <a:lnTo>
                  <a:pt x="1408" y="515"/>
                </a:lnTo>
                <a:lnTo>
                  <a:pt x="1400" y="536"/>
                </a:lnTo>
                <a:lnTo>
                  <a:pt x="1386" y="558"/>
                </a:lnTo>
                <a:lnTo>
                  <a:pt x="1371" y="580"/>
                </a:lnTo>
                <a:lnTo>
                  <a:pt x="1353" y="601"/>
                </a:lnTo>
                <a:lnTo>
                  <a:pt x="1332" y="623"/>
                </a:lnTo>
                <a:lnTo>
                  <a:pt x="1340" y="640"/>
                </a:lnTo>
                <a:lnTo>
                  <a:pt x="1344" y="671"/>
                </a:lnTo>
                <a:lnTo>
                  <a:pt x="1344" y="704"/>
                </a:lnTo>
                <a:lnTo>
                  <a:pt x="1342" y="719"/>
                </a:lnTo>
                <a:lnTo>
                  <a:pt x="1338" y="736"/>
                </a:lnTo>
                <a:lnTo>
                  <a:pt x="1334" y="752"/>
                </a:lnTo>
                <a:lnTo>
                  <a:pt x="1328" y="769"/>
                </a:lnTo>
                <a:lnTo>
                  <a:pt x="1318" y="785"/>
                </a:lnTo>
                <a:lnTo>
                  <a:pt x="1308" y="800"/>
                </a:lnTo>
                <a:lnTo>
                  <a:pt x="1298" y="815"/>
                </a:lnTo>
                <a:lnTo>
                  <a:pt x="1287" y="829"/>
                </a:lnTo>
                <a:lnTo>
                  <a:pt x="1272" y="841"/>
                </a:lnTo>
                <a:lnTo>
                  <a:pt x="1259" y="853"/>
                </a:lnTo>
                <a:lnTo>
                  <a:pt x="1251" y="858"/>
                </a:lnTo>
                <a:lnTo>
                  <a:pt x="1244" y="864"/>
                </a:lnTo>
                <a:lnTo>
                  <a:pt x="1228" y="876"/>
                </a:lnTo>
                <a:lnTo>
                  <a:pt x="1209" y="884"/>
                </a:lnTo>
                <a:lnTo>
                  <a:pt x="1192" y="892"/>
                </a:lnTo>
                <a:lnTo>
                  <a:pt x="1182" y="894"/>
                </a:lnTo>
                <a:lnTo>
                  <a:pt x="1178" y="895"/>
                </a:lnTo>
                <a:lnTo>
                  <a:pt x="1174" y="898"/>
                </a:lnTo>
                <a:lnTo>
                  <a:pt x="1157" y="902"/>
                </a:lnTo>
                <a:lnTo>
                  <a:pt x="1121" y="907"/>
                </a:lnTo>
                <a:lnTo>
                  <a:pt x="1088" y="907"/>
                </a:lnTo>
                <a:lnTo>
                  <a:pt x="1067" y="904"/>
                </a:lnTo>
                <a:lnTo>
                  <a:pt x="1049" y="898"/>
                </a:lnTo>
                <a:lnTo>
                  <a:pt x="1031" y="890"/>
                </a:lnTo>
                <a:lnTo>
                  <a:pt x="1016" y="882"/>
                </a:lnTo>
                <a:lnTo>
                  <a:pt x="999" y="871"/>
                </a:lnTo>
                <a:lnTo>
                  <a:pt x="984" y="859"/>
                </a:lnTo>
                <a:lnTo>
                  <a:pt x="971" y="845"/>
                </a:lnTo>
                <a:lnTo>
                  <a:pt x="959" y="829"/>
                </a:lnTo>
                <a:lnTo>
                  <a:pt x="926" y="848"/>
                </a:lnTo>
                <a:lnTo>
                  <a:pt x="892" y="866"/>
                </a:lnTo>
                <a:lnTo>
                  <a:pt x="858" y="881"/>
                </a:lnTo>
                <a:lnTo>
                  <a:pt x="827" y="894"/>
                </a:lnTo>
                <a:lnTo>
                  <a:pt x="794" y="902"/>
                </a:lnTo>
                <a:lnTo>
                  <a:pt x="762" y="911"/>
                </a:lnTo>
                <a:lnTo>
                  <a:pt x="731" y="914"/>
                </a:lnTo>
                <a:lnTo>
                  <a:pt x="701" y="917"/>
                </a:lnTo>
                <a:lnTo>
                  <a:pt x="670" y="914"/>
                </a:lnTo>
                <a:lnTo>
                  <a:pt x="639" y="911"/>
                </a:lnTo>
                <a:lnTo>
                  <a:pt x="609" y="902"/>
                </a:lnTo>
                <a:lnTo>
                  <a:pt x="580" y="894"/>
                </a:lnTo>
                <a:lnTo>
                  <a:pt x="550" y="881"/>
                </a:lnTo>
                <a:lnTo>
                  <a:pt x="521" y="866"/>
                </a:lnTo>
                <a:lnTo>
                  <a:pt x="492" y="848"/>
                </a:lnTo>
                <a:lnTo>
                  <a:pt x="465" y="829"/>
                </a:lnTo>
                <a:lnTo>
                  <a:pt x="457" y="836"/>
                </a:lnTo>
                <a:lnTo>
                  <a:pt x="455" y="838"/>
                </a:lnTo>
                <a:lnTo>
                  <a:pt x="454" y="840"/>
                </a:lnTo>
                <a:lnTo>
                  <a:pt x="451" y="845"/>
                </a:lnTo>
                <a:lnTo>
                  <a:pt x="438" y="859"/>
                </a:lnTo>
                <a:lnTo>
                  <a:pt x="423" y="871"/>
                </a:lnTo>
                <a:lnTo>
                  <a:pt x="408" y="882"/>
                </a:lnTo>
                <a:lnTo>
                  <a:pt x="391" y="890"/>
                </a:lnTo>
                <a:lnTo>
                  <a:pt x="375" y="898"/>
                </a:lnTo>
                <a:lnTo>
                  <a:pt x="355" y="904"/>
                </a:lnTo>
                <a:lnTo>
                  <a:pt x="346" y="905"/>
                </a:lnTo>
                <a:lnTo>
                  <a:pt x="337" y="907"/>
                </a:lnTo>
                <a:lnTo>
                  <a:pt x="301" y="907"/>
                </a:lnTo>
                <a:lnTo>
                  <a:pt x="267" y="902"/>
                </a:lnTo>
                <a:lnTo>
                  <a:pt x="247" y="898"/>
                </a:lnTo>
                <a:lnTo>
                  <a:pt x="231" y="892"/>
                </a:lnTo>
                <a:lnTo>
                  <a:pt x="214" y="884"/>
                </a:lnTo>
                <a:lnTo>
                  <a:pt x="197" y="876"/>
                </a:lnTo>
                <a:lnTo>
                  <a:pt x="177" y="863"/>
                </a:lnTo>
                <a:lnTo>
                  <a:pt x="160" y="850"/>
                </a:lnTo>
                <a:lnTo>
                  <a:pt x="139" y="832"/>
                </a:lnTo>
                <a:lnTo>
                  <a:pt x="124" y="812"/>
                </a:lnTo>
                <a:lnTo>
                  <a:pt x="108" y="791"/>
                </a:lnTo>
                <a:lnTo>
                  <a:pt x="97" y="769"/>
                </a:lnTo>
                <a:lnTo>
                  <a:pt x="84" y="731"/>
                </a:lnTo>
                <a:lnTo>
                  <a:pt x="78" y="695"/>
                </a:lnTo>
                <a:lnTo>
                  <a:pt x="77" y="676"/>
                </a:lnTo>
                <a:lnTo>
                  <a:pt x="81" y="659"/>
                </a:lnTo>
                <a:lnTo>
                  <a:pt x="91" y="623"/>
                </a:lnTo>
                <a:lnTo>
                  <a:pt x="69" y="601"/>
                </a:lnTo>
                <a:lnTo>
                  <a:pt x="51" y="581"/>
                </a:lnTo>
                <a:lnTo>
                  <a:pt x="35" y="559"/>
                </a:lnTo>
                <a:lnTo>
                  <a:pt x="23" y="540"/>
                </a:lnTo>
                <a:lnTo>
                  <a:pt x="12" y="518"/>
                </a:lnTo>
                <a:lnTo>
                  <a:pt x="7" y="508"/>
                </a:lnTo>
                <a:lnTo>
                  <a:pt x="5" y="498"/>
                </a:lnTo>
                <a:lnTo>
                  <a:pt x="1" y="476"/>
                </a:lnTo>
                <a:lnTo>
                  <a:pt x="0" y="457"/>
                </a:lnTo>
                <a:lnTo>
                  <a:pt x="1" y="436"/>
                </a:lnTo>
                <a:lnTo>
                  <a:pt x="5" y="414"/>
                </a:lnTo>
                <a:lnTo>
                  <a:pt x="12" y="392"/>
                </a:lnTo>
                <a:lnTo>
                  <a:pt x="23" y="372"/>
                </a:lnTo>
                <a:lnTo>
                  <a:pt x="35" y="350"/>
                </a:lnTo>
                <a:lnTo>
                  <a:pt x="51" y="329"/>
                </a:lnTo>
                <a:lnTo>
                  <a:pt x="69" y="307"/>
                </a:lnTo>
                <a:lnTo>
                  <a:pt x="91" y="288"/>
                </a:lnTo>
                <a:lnTo>
                  <a:pt x="81" y="250"/>
                </a:lnTo>
                <a:lnTo>
                  <a:pt x="77" y="230"/>
                </a:lnTo>
                <a:lnTo>
                  <a:pt x="78" y="214"/>
                </a:lnTo>
                <a:lnTo>
                  <a:pt x="84" y="176"/>
                </a:lnTo>
                <a:lnTo>
                  <a:pt x="97" y="140"/>
                </a:lnTo>
                <a:lnTo>
                  <a:pt x="114" y="108"/>
                </a:lnTo>
                <a:lnTo>
                  <a:pt x="137" y="80"/>
                </a:lnTo>
                <a:lnTo>
                  <a:pt x="163" y="55"/>
                </a:lnTo>
                <a:lnTo>
                  <a:pt x="179" y="43"/>
                </a:lnTo>
                <a:lnTo>
                  <a:pt x="197" y="34"/>
                </a:lnTo>
                <a:lnTo>
                  <a:pt x="231" y="16"/>
                </a:lnTo>
                <a:lnTo>
                  <a:pt x="267" y="5"/>
                </a:lnTo>
                <a:lnTo>
                  <a:pt x="301" y="0"/>
                </a:lnTo>
                <a:lnTo>
                  <a:pt x="337" y="2"/>
                </a:lnTo>
                <a:lnTo>
                  <a:pt x="355" y="5"/>
                </a:lnTo>
                <a:lnTo>
                  <a:pt x="375" y="11"/>
                </a:lnTo>
                <a:lnTo>
                  <a:pt x="391" y="17"/>
                </a:lnTo>
                <a:lnTo>
                  <a:pt x="408" y="26"/>
                </a:lnTo>
                <a:lnTo>
                  <a:pt x="423" y="36"/>
                </a:lnTo>
                <a:lnTo>
                  <a:pt x="438" y="49"/>
                </a:lnTo>
                <a:lnTo>
                  <a:pt x="451" y="62"/>
                </a:lnTo>
                <a:lnTo>
                  <a:pt x="465" y="80"/>
                </a:lnTo>
                <a:lnTo>
                  <a:pt x="525" y="48"/>
                </a:lnTo>
                <a:lnTo>
                  <a:pt x="556" y="35"/>
                </a:lnTo>
                <a:lnTo>
                  <a:pt x="587" y="26"/>
                </a:lnTo>
                <a:lnTo>
                  <a:pt x="618" y="18"/>
                </a:lnTo>
                <a:lnTo>
                  <a:pt x="650" y="12"/>
                </a:lnTo>
                <a:lnTo>
                  <a:pt x="712" y="8"/>
                </a:lnTo>
                <a:lnTo>
                  <a:pt x="772" y="12"/>
                </a:lnTo>
                <a:lnTo>
                  <a:pt x="803" y="18"/>
                </a:lnTo>
                <a:lnTo>
                  <a:pt x="834" y="26"/>
                </a:lnTo>
                <a:lnTo>
                  <a:pt x="866" y="35"/>
                </a:lnTo>
                <a:lnTo>
                  <a:pt x="897" y="48"/>
                </a:lnTo>
                <a:lnTo>
                  <a:pt x="959" y="80"/>
                </a:lnTo>
                <a:lnTo>
                  <a:pt x="971" y="62"/>
                </a:lnTo>
                <a:lnTo>
                  <a:pt x="984" y="49"/>
                </a:lnTo>
                <a:lnTo>
                  <a:pt x="999" y="36"/>
                </a:lnTo>
                <a:lnTo>
                  <a:pt x="1016" y="26"/>
                </a:lnTo>
                <a:lnTo>
                  <a:pt x="1031" y="17"/>
                </a:lnTo>
                <a:lnTo>
                  <a:pt x="1049" y="11"/>
                </a:lnTo>
                <a:lnTo>
                  <a:pt x="1067" y="5"/>
                </a:lnTo>
                <a:lnTo>
                  <a:pt x="1088" y="2"/>
                </a:lnTo>
              </a:path>
            </a:pathLst>
          </a:custGeom>
          <a:gradFill rotWithShape="1">
            <a:gsLst>
              <a:gs pos="0">
                <a:srgbClr val="2E31AC"/>
              </a:gs>
              <a:gs pos="50000">
                <a:srgbClr val="0000FF">
                  <a:alpha val="39000"/>
                </a:srgbClr>
              </a:gs>
              <a:gs pos="100000">
                <a:srgbClr val="2E31AC"/>
              </a:gs>
            </a:gsLst>
            <a:lin ang="5400000" scaled="1"/>
          </a:gradFill>
          <a:ln w="12700"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65185" name="Rectangle 353">
            <a:extLst>
              <a:ext uri="{FF2B5EF4-FFF2-40B4-BE49-F238E27FC236}">
                <a16:creationId xmlns:a16="http://schemas.microsoft.com/office/drawing/2014/main" id="{6CE273E4-C5AB-FAD0-256D-A9752B6AF311}"/>
              </a:ext>
            </a:extLst>
          </p:cNvPr>
          <p:cNvSpPr>
            <a:spLocks noChangeArrowheads="1"/>
          </p:cNvSpPr>
          <p:nvPr/>
        </p:nvSpPr>
        <p:spPr bwMode="auto">
          <a:xfrm>
            <a:off x="1076325" y="3502025"/>
            <a:ext cx="215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spcBef>
                <a:spcPct val="0"/>
              </a:spcBef>
              <a:buClrTx/>
              <a:buFontTx/>
              <a:buNone/>
            </a:pPr>
            <a:r>
              <a:rPr lang="en-US" altLang="zh-CN" sz="1800" b="1">
                <a:solidFill>
                  <a:schemeClr val="tx1"/>
                </a:solidFill>
                <a:ea typeface="宋体" panose="02010600030101010101" pitchFamily="2" charset="-122"/>
              </a:rPr>
              <a:t>IP</a:t>
            </a:r>
          </a:p>
        </p:txBody>
      </p:sp>
      <p:pic>
        <p:nvPicPr>
          <p:cNvPr id="3065186" name="Picture 354">
            <a:extLst>
              <a:ext uri="{FF2B5EF4-FFF2-40B4-BE49-F238E27FC236}">
                <a16:creationId xmlns:a16="http://schemas.microsoft.com/office/drawing/2014/main" id="{C8662E43-4CE6-BCAA-4A57-99B2E99042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7425" y="4457700"/>
            <a:ext cx="771525" cy="1219200"/>
          </a:xfrm>
          <a:prstGeom prst="rect">
            <a:avLst/>
          </a:prstGeom>
          <a:noFill/>
          <a:extLst>
            <a:ext uri="{909E8E84-426E-40DD-AFC4-6F175D3DCCD1}">
              <a14:hiddenFill xmlns:a14="http://schemas.microsoft.com/office/drawing/2010/main">
                <a:solidFill>
                  <a:srgbClr val="FFFFFF"/>
                </a:solidFill>
              </a14:hiddenFill>
            </a:ext>
          </a:extLst>
        </p:spPr>
      </p:pic>
      <p:sp>
        <p:nvSpPr>
          <p:cNvPr id="3065188" name="AutoShape 356">
            <a:extLst>
              <a:ext uri="{FF2B5EF4-FFF2-40B4-BE49-F238E27FC236}">
                <a16:creationId xmlns:a16="http://schemas.microsoft.com/office/drawing/2014/main" id="{D876ECAD-C682-FE55-9D59-FDAFDCC88370}"/>
              </a:ext>
            </a:extLst>
          </p:cNvPr>
          <p:cNvSpPr>
            <a:spLocks noChangeArrowheads="1"/>
          </p:cNvSpPr>
          <p:nvPr/>
        </p:nvSpPr>
        <p:spPr bwMode="auto">
          <a:xfrm>
            <a:off x="3943350" y="2009775"/>
            <a:ext cx="819150" cy="30480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065189" name="Freeform 357">
            <a:extLst>
              <a:ext uri="{FF2B5EF4-FFF2-40B4-BE49-F238E27FC236}">
                <a16:creationId xmlns:a16="http://schemas.microsoft.com/office/drawing/2014/main" id="{7ECE09E8-0440-0FED-E496-ECE033921CF5}"/>
              </a:ext>
            </a:extLst>
          </p:cNvPr>
          <p:cNvSpPr>
            <a:spLocks/>
          </p:cNvSpPr>
          <p:nvPr/>
        </p:nvSpPr>
        <p:spPr bwMode="auto">
          <a:xfrm>
            <a:off x="4044950" y="2081213"/>
            <a:ext cx="314325" cy="1587"/>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65190" name="Freeform 358">
            <a:extLst>
              <a:ext uri="{FF2B5EF4-FFF2-40B4-BE49-F238E27FC236}">
                <a16:creationId xmlns:a16="http://schemas.microsoft.com/office/drawing/2014/main" id="{912BC0F2-F176-7F31-C550-0A75428B18FE}"/>
              </a:ext>
            </a:extLst>
          </p:cNvPr>
          <p:cNvSpPr>
            <a:spLocks/>
          </p:cNvSpPr>
          <p:nvPr/>
        </p:nvSpPr>
        <p:spPr bwMode="auto">
          <a:xfrm>
            <a:off x="4044950" y="218757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65191" name="Freeform 359">
            <a:extLst>
              <a:ext uri="{FF2B5EF4-FFF2-40B4-BE49-F238E27FC236}">
                <a16:creationId xmlns:a16="http://schemas.microsoft.com/office/drawing/2014/main" id="{8D7B3CCE-6DFA-AE46-C039-EE0B1199A87D}"/>
              </a:ext>
            </a:extLst>
          </p:cNvPr>
          <p:cNvSpPr>
            <a:spLocks/>
          </p:cNvSpPr>
          <p:nvPr/>
        </p:nvSpPr>
        <p:spPr bwMode="auto">
          <a:xfrm flipH="1">
            <a:off x="4357688" y="2136775"/>
            <a:ext cx="314325"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65192" name="Freeform 360">
            <a:extLst>
              <a:ext uri="{FF2B5EF4-FFF2-40B4-BE49-F238E27FC236}">
                <a16:creationId xmlns:a16="http://schemas.microsoft.com/office/drawing/2014/main" id="{BDF6419B-5CDE-D6B8-88FB-A03D7046B0E9}"/>
              </a:ext>
            </a:extLst>
          </p:cNvPr>
          <p:cNvSpPr>
            <a:spLocks/>
          </p:cNvSpPr>
          <p:nvPr/>
        </p:nvSpPr>
        <p:spPr bwMode="auto">
          <a:xfrm flipH="1">
            <a:off x="4357688" y="2243138"/>
            <a:ext cx="314325"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65194" name="AutoShape 362">
            <a:extLst>
              <a:ext uri="{FF2B5EF4-FFF2-40B4-BE49-F238E27FC236}">
                <a16:creationId xmlns:a16="http://schemas.microsoft.com/office/drawing/2014/main" id="{156D3395-8856-48D5-87E1-94D9512BB383}"/>
              </a:ext>
            </a:extLst>
          </p:cNvPr>
          <p:cNvSpPr>
            <a:spLocks noChangeArrowheads="1"/>
          </p:cNvSpPr>
          <p:nvPr/>
        </p:nvSpPr>
        <p:spPr bwMode="auto">
          <a:xfrm>
            <a:off x="3952875" y="2800350"/>
            <a:ext cx="809625" cy="295275"/>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065195" name="Freeform 363">
            <a:extLst>
              <a:ext uri="{FF2B5EF4-FFF2-40B4-BE49-F238E27FC236}">
                <a16:creationId xmlns:a16="http://schemas.microsoft.com/office/drawing/2014/main" id="{F2EE4B69-B9C6-9510-48CD-DD6EFFE033B5}"/>
              </a:ext>
            </a:extLst>
          </p:cNvPr>
          <p:cNvSpPr>
            <a:spLocks/>
          </p:cNvSpPr>
          <p:nvPr/>
        </p:nvSpPr>
        <p:spPr bwMode="auto">
          <a:xfrm>
            <a:off x="4054475" y="2870200"/>
            <a:ext cx="309563" cy="1588"/>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65196" name="Freeform 364">
            <a:extLst>
              <a:ext uri="{FF2B5EF4-FFF2-40B4-BE49-F238E27FC236}">
                <a16:creationId xmlns:a16="http://schemas.microsoft.com/office/drawing/2014/main" id="{94A06603-4079-5890-1EE3-FDF52E4ABAC5}"/>
              </a:ext>
            </a:extLst>
          </p:cNvPr>
          <p:cNvSpPr>
            <a:spLocks/>
          </p:cNvSpPr>
          <p:nvPr/>
        </p:nvSpPr>
        <p:spPr bwMode="auto">
          <a:xfrm>
            <a:off x="4054475" y="2973388"/>
            <a:ext cx="309563"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65197" name="Freeform 365">
            <a:extLst>
              <a:ext uri="{FF2B5EF4-FFF2-40B4-BE49-F238E27FC236}">
                <a16:creationId xmlns:a16="http://schemas.microsoft.com/office/drawing/2014/main" id="{21140BF8-98C9-47A1-897F-C1755CC6A4CB}"/>
              </a:ext>
            </a:extLst>
          </p:cNvPr>
          <p:cNvSpPr>
            <a:spLocks/>
          </p:cNvSpPr>
          <p:nvPr/>
        </p:nvSpPr>
        <p:spPr bwMode="auto">
          <a:xfrm flipH="1">
            <a:off x="4362450" y="2924175"/>
            <a:ext cx="311150"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65198" name="Freeform 366">
            <a:extLst>
              <a:ext uri="{FF2B5EF4-FFF2-40B4-BE49-F238E27FC236}">
                <a16:creationId xmlns:a16="http://schemas.microsoft.com/office/drawing/2014/main" id="{7B994ED6-AC4C-E3CF-136C-86F1466FDAE3}"/>
              </a:ext>
            </a:extLst>
          </p:cNvPr>
          <p:cNvSpPr>
            <a:spLocks/>
          </p:cNvSpPr>
          <p:nvPr/>
        </p:nvSpPr>
        <p:spPr bwMode="auto">
          <a:xfrm flipH="1">
            <a:off x="4362450" y="3025775"/>
            <a:ext cx="311150" cy="3175"/>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3065199" name="Picture 367">
            <a:extLst>
              <a:ext uri="{FF2B5EF4-FFF2-40B4-BE49-F238E27FC236}">
                <a16:creationId xmlns:a16="http://schemas.microsoft.com/office/drawing/2014/main" id="{8E32DBAE-8228-6B5C-0A32-193842B917D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1700" y="1617663"/>
            <a:ext cx="1104900"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65200" name="Picture 368">
            <a:extLst>
              <a:ext uri="{FF2B5EF4-FFF2-40B4-BE49-F238E27FC236}">
                <a16:creationId xmlns:a16="http://schemas.microsoft.com/office/drawing/2014/main" id="{DFEE0E28-579E-5366-5A26-47C67300E8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9525" y="1617663"/>
            <a:ext cx="1104900"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65201" name="Rectangle 369">
            <a:extLst>
              <a:ext uri="{FF2B5EF4-FFF2-40B4-BE49-F238E27FC236}">
                <a16:creationId xmlns:a16="http://schemas.microsoft.com/office/drawing/2014/main" id="{CEF64756-51B1-76D5-1ABF-80CDF659D7E6}"/>
              </a:ext>
            </a:extLst>
          </p:cNvPr>
          <p:cNvSpPr>
            <a:spLocks noChangeArrowheads="1"/>
          </p:cNvSpPr>
          <p:nvPr/>
        </p:nvSpPr>
        <p:spPr bwMode="auto">
          <a:xfrm>
            <a:off x="2171700" y="1838325"/>
            <a:ext cx="904875" cy="3905250"/>
          </a:xfrm>
          <a:prstGeom prst="rect">
            <a:avLst/>
          </a:prstGeom>
          <a:noFill/>
          <a:ln w="25400" algn="ctr">
            <a:solidFill>
              <a:srgbClr val="993366"/>
            </a:solidFill>
            <a:prstDash val="sysDot"/>
            <a:miter lim="800000"/>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65144"/>
                                        </p:tgtEl>
                                        <p:attrNameLst>
                                          <p:attrName>style.visibility</p:attrName>
                                        </p:attrNameLst>
                                      </p:cBhvr>
                                      <p:to>
                                        <p:strVal val="visible"/>
                                      </p:to>
                                    </p:set>
                                    <p:animEffect transition="in" filter="blinds(horizontal)">
                                      <p:cBhvr>
                                        <p:cTn id="7" dur="1000"/>
                                        <p:tgtEl>
                                          <p:spTgt spid="3065144"/>
                                        </p:tgtEl>
                                      </p:cBhvr>
                                    </p:animEffect>
                                  </p:childTnLst>
                                </p:cTn>
                              </p:par>
                            </p:childTnLst>
                          </p:cTn>
                        </p:par>
                        <p:par>
                          <p:cTn id="8" fill="hold" nodeType="afterGroup">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3065145"/>
                                        </p:tgtEl>
                                        <p:attrNameLst>
                                          <p:attrName>style.visibility</p:attrName>
                                        </p:attrNameLst>
                                      </p:cBhvr>
                                      <p:to>
                                        <p:strVal val="visible"/>
                                      </p:to>
                                    </p:set>
                                    <p:animEffect transition="in" filter="blinds(horizontal)">
                                      <p:cBhvr>
                                        <p:cTn id="11" dur="1000"/>
                                        <p:tgtEl>
                                          <p:spTgt spid="3065145"/>
                                        </p:tgtEl>
                                      </p:cBhvr>
                                    </p:animEffect>
                                  </p:childTnLst>
                                </p:cTn>
                              </p:par>
                            </p:childTnLst>
                          </p:cTn>
                        </p:par>
                        <p:par>
                          <p:cTn id="12" fill="hold" nodeType="afterGroup">
                            <p:stCondLst>
                              <p:cond delay="2000"/>
                            </p:stCondLst>
                            <p:childTnLst>
                              <p:par>
                                <p:cTn id="13" presetID="3" presetClass="entr" presetSubtype="10" fill="hold" grpId="0" nodeType="afterEffect">
                                  <p:stCondLst>
                                    <p:cond delay="0"/>
                                  </p:stCondLst>
                                  <p:childTnLst>
                                    <p:set>
                                      <p:cBhvr>
                                        <p:cTn id="14" dur="1" fill="hold">
                                          <p:stCondLst>
                                            <p:cond delay="0"/>
                                          </p:stCondLst>
                                        </p:cTn>
                                        <p:tgtEl>
                                          <p:spTgt spid="3065146"/>
                                        </p:tgtEl>
                                        <p:attrNameLst>
                                          <p:attrName>style.visibility</p:attrName>
                                        </p:attrNameLst>
                                      </p:cBhvr>
                                      <p:to>
                                        <p:strVal val="visible"/>
                                      </p:to>
                                    </p:set>
                                    <p:animEffect transition="in" filter="blinds(horizontal)">
                                      <p:cBhvr>
                                        <p:cTn id="15" dur="1000"/>
                                        <p:tgtEl>
                                          <p:spTgt spid="3065146"/>
                                        </p:tgtEl>
                                      </p:cBhvr>
                                    </p:animEffect>
                                  </p:childTnLst>
                                </p:cTn>
                              </p:par>
                            </p:childTnLst>
                          </p:cTn>
                        </p:par>
                        <p:par>
                          <p:cTn id="16" fill="hold" nodeType="afterGroup">
                            <p:stCondLst>
                              <p:cond delay="3000"/>
                            </p:stCondLst>
                            <p:childTnLst>
                              <p:par>
                                <p:cTn id="17" presetID="3" presetClass="entr" presetSubtype="10" fill="hold" grpId="0" nodeType="afterEffect">
                                  <p:stCondLst>
                                    <p:cond delay="0"/>
                                  </p:stCondLst>
                                  <p:childTnLst>
                                    <p:set>
                                      <p:cBhvr>
                                        <p:cTn id="18" dur="1" fill="hold">
                                          <p:stCondLst>
                                            <p:cond delay="0"/>
                                          </p:stCondLst>
                                        </p:cTn>
                                        <p:tgtEl>
                                          <p:spTgt spid="3065147"/>
                                        </p:tgtEl>
                                        <p:attrNameLst>
                                          <p:attrName>style.visibility</p:attrName>
                                        </p:attrNameLst>
                                      </p:cBhvr>
                                      <p:to>
                                        <p:strVal val="visible"/>
                                      </p:to>
                                    </p:set>
                                    <p:animEffect transition="in" filter="blinds(horizontal)">
                                      <p:cBhvr>
                                        <p:cTn id="19" dur="1000"/>
                                        <p:tgtEl>
                                          <p:spTgt spid="3065147"/>
                                        </p:tgtEl>
                                      </p:cBhvr>
                                    </p:animEffect>
                                  </p:childTnLst>
                                </p:cTn>
                              </p:par>
                            </p:childTnLst>
                          </p:cTn>
                        </p:par>
                        <p:par>
                          <p:cTn id="20" fill="hold" nodeType="afterGroup">
                            <p:stCondLst>
                              <p:cond delay="4000"/>
                            </p:stCondLst>
                            <p:childTnLst>
                              <p:par>
                                <p:cTn id="21" presetID="3" presetClass="entr" presetSubtype="10" fill="hold" grpId="0" nodeType="afterEffect">
                                  <p:stCondLst>
                                    <p:cond delay="0"/>
                                  </p:stCondLst>
                                  <p:childTnLst>
                                    <p:set>
                                      <p:cBhvr>
                                        <p:cTn id="22" dur="1" fill="hold">
                                          <p:stCondLst>
                                            <p:cond delay="0"/>
                                          </p:stCondLst>
                                        </p:cTn>
                                        <p:tgtEl>
                                          <p:spTgt spid="3065153"/>
                                        </p:tgtEl>
                                        <p:attrNameLst>
                                          <p:attrName>style.visibility</p:attrName>
                                        </p:attrNameLst>
                                      </p:cBhvr>
                                      <p:to>
                                        <p:strVal val="visible"/>
                                      </p:to>
                                    </p:set>
                                    <p:animEffect transition="in" filter="blinds(horizontal)">
                                      <p:cBhvr>
                                        <p:cTn id="23" dur="1000"/>
                                        <p:tgtEl>
                                          <p:spTgt spid="3065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5144" grpId="0" animBg="1"/>
      <p:bldP spid="3065145" grpId="0" animBg="1"/>
      <p:bldP spid="3065146" grpId="0" animBg="1"/>
      <p:bldP spid="3065147" grpId="0" animBg="1"/>
      <p:bldP spid="306515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4D2E4F6D-3F4C-4D34-01CE-BF242A425B49}"/>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12B43897-43E2-ADAF-376B-38A0421FD6F5}"/>
              </a:ext>
            </a:extLst>
          </p:cNvPr>
          <p:cNvSpPr>
            <a:spLocks noGrp="1"/>
          </p:cNvSpPr>
          <p:nvPr>
            <p:ph type="sldNum" sz="quarter" idx="11"/>
          </p:nvPr>
        </p:nvSpPr>
        <p:spPr/>
        <p:txBody>
          <a:bodyPr/>
          <a:lstStyle/>
          <a:p>
            <a:r>
              <a:rPr lang="zh-CN" altLang="en-US"/>
              <a:t> </a:t>
            </a:r>
            <a:r>
              <a:rPr lang="en-US" altLang="zh-CN"/>
              <a:t>- </a:t>
            </a:r>
            <a:fld id="{02155977-5578-4AA7-B099-A9910919C890}" type="slidenum">
              <a:rPr lang="en-US" altLang="zh-CN" sz="800"/>
              <a:pPr/>
              <a:t>70</a:t>
            </a:fld>
            <a:endParaRPr lang="en-US" altLang="zh-CN" sz="800"/>
          </a:p>
        </p:txBody>
      </p:sp>
      <p:sp>
        <p:nvSpPr>
          <p:cNvPr id="3066882" name="Rectangle 2">
            <a:extLst>
              <a:ext uri="{FF2B5EF4-FFF2-40B4-BE49-F238E27FC236}">
                <a16:creationId xmlns:a16="http://schemas.microsoft.com/office/drawing/2014/main" id="{70A3020F-B541-6D23-51C5-BE9532E5AA38}"/>
              </a:ext>
            </a:extLst>
          </p:cNvPr>
          <p:cNvSpPr>
            <a:spLocks noGrp="1" noChangeArrowheads="1"/>
          </p:cNvSpPr>
          <p:nvPr>
            <p:ph type="title"/>
          </p:nvPr>
        </p:nvSpPr>
        <p:spPr/>
        <p:txBody>
          <a:bodyPr/>
          <a:lstStyle/>
          <a:p>
            <a:r>
              <a:rPr lang="en-US" altLang="zh-CN">
                <a:ea typeface="宋体" panose="02010600030101010101" pitchFamily="2" charset="-122"/>
              </a:rPr>
              <a:t>Availability Management</a:t>
            </a:r>
            <a:br>
              <a:rPr lang="en-US" altLang="zh-CN">
                <a:ea typeface="宋体" panose="02010600030101010101" pitchFamily="2" charset="-122"/>
              </a:rPr>
            </a:br>
            <a:endParaRPr lang="en-US" altLang="zh-CN">
              <a:ea typeface="宋体" panose="02010600030101010101" pitchFamily="2" charset="-122"/>
            </a:endParaRPr>
          </a:p>
        </p:txBody>
      </p:sp>
      <p:sp>
        <p:nvSpPr>
          <p:cNvPr id="3066883" name="Rectangle 3">
            <a:extLst>
              <a:ext uri="{FF2B5EF4-FFF2-40B4-BE49-F238E27FC236}">
                <a16:creationId xmlns:a16="http://schemas.microsoft.com/office/drawing/2014/main" id="{F0C1F886-0D52-E6F0-34DB-BC4A70FA7AE6}"/>
              </a:ext>
            </a:extLst>
          </p:cNvPr>
          <p:cNvSpPr>
            <a:spLocks noGrp="1" noChangeArrowheads="1"/>
          </p:cNvSpPr>
          <p:nvPr>
            <p:ph type="body" idx="1"/>
          </p:nvPr>
        </p:nvSpPr>
        <p:spPr/>
        <p:txBody>
          <a:bodyPr/>
          <a:lstStyle/>
          <a:p>
            <a:r>
              <a:rPr lang="en-US" altLang="zh-CN">
                <a:ea typeface="宋体" panose="02010600030101010101" pitchFamily="2" charset="-122"/>
              </a:rPr>
              <a:t>Establishing guidelines for all configurations based on service levels</a:t>
            </a:r>
          </a:p>
          <a:p>
            <a:r>
              <a:rPr lang="en-US" altLang="zh-CN">
                <a:ea typeface="宋体" panose="02010600030101010101" pitchFamily="2" charset="-122"/>
              </a:rPr>
              <a:t>To ensure high availability by:</a:t>
            </a:r>
            <a:endParaRPr lang="en-US" altLang="zh-CN" sz="3000">
              <a:ea typeface="宋体" panose="02010600030101010101" pitchFamily="2" charset="-122"/>
            </a:endParaRPr>
          </a:p>
          <a:p>
            <a:pPr lvl="1"/>
            <a:r>
              <a:rPr lang="en-US" altLang="zh-CN" sz="2500">
                <a:ea typeface="宋体" panose="02010600030101010101" pitchFamily="2" charset="-122"/>
              </a:rPr>
              <a:t>Eliminating single points of failure deploy/configure</a:t>
            </a:r>
          </a:p>
          <a:p>
            <a:pPr lvl="2"/>
            <a:r>
              <a:rPr lang="en-US" altLang="zh-CN" sz="2100">
                <a:ea typeface="宋体" panose="02010600030101010101" pitchFamily="2" charset="-122"/>
              </a:rPr>
              <a:t>Two or more HBAs</a:t>
            </a:r>
          </a:p>
          <a:p>
            <a:pPr lvl="2"/>
            <a:r>
              <a:rPr lang="en-US" altLang="zh-CN" sz="2100">
                <a:ea typeface="宋体" panose="02010600030101010101" pitchFamily="2" charset="-122"/>
              </a:rPr>
              <a:t>Multipathing software</a:t>
            </a:r>
          </a:p>
          <a:p>
            <a:pPr lvl="2"/>
            <a:r>
              <a:rPr lang="en-US" altLang="zh-CN" sz="2100">
                <a:ea typeface="宋体" panose="02010600030101010101" pitchFamily="2" charset="-122"/>
              </a:rPr>
              <a:t>RAID protection</a:t>
            </a:r>
          </a:p>
          <a:p>
            <a:pPr lvl="2"/>
            <a:r>
              <a:rPr lang="en-US" altLang="zh-CN" sz="2100">
                <a:ea typeface="宋体" panose="02010600030101010101" pitchFamily="2" charset="-122"/>
              </a:rPr>
              <a:t>Redundant Fabrics</a:t>
            </a:r>
          </a:p>
          <a:p>
            <a:pPr lvl="1"/>
            <a:r>
              <a:rPr lang="en-US" altLang="zh-CN" sz="2500">
                <a:ea typeface="宋体" panose="02010600030101010101" pitchFamily="2" charset="-122"/>
              </a:rPr>
              <a:t>Configuring data backup and replication</a:t>
            </a:r>
          </a:p>
          <a:p>
            <a:pPr lvl="1"/>
            <a:r>
              <a:rPr lang="en-US" altLang="zh-CN" sz="2500">
                <a:ea typeface="宋体" panose="02010600030101010101" pitchFamily="2" charset="-122"/>
              </a:rPr>
              <a:t>Deploying virtualized environment</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EBCE9A34-EE13-4161-F6F2-BC61FEAFA8C3}"/>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7B22D62B-5265-2939-3594-F6E213A2D70C}"/>
              </a:ext>
            </a:extLst>
          </p:cNvPr>
          <p:cNvSpPr>
            <a:spLocks noGrp="1"/>
          </p:cNvSpPr>
          <p:nvPr>
            <p:ph type="sldNum" sz="quarter" idx="11"/>
          </p:nvPr>
        </p:nvSpPr>
        <p:spPr/>
        <p:txBody>
          <a:bodyPr/>
          <a:lstStyle/>
          <a:p>
            <a:r>
              <a:rPr lang="zh-CN" altLang="en-US"/>
              <a:t> </a:t>
            </a:r>
            <a:r>
              <a:rPr lang="en-US" altLang="zh-CN"/>
              <a:t>- </a:t>
            </a:r>
            <a:fld id="{8F2FB3BF-74BA-42FE-B087-5A33859B9AAE}" type="slidenum">
              <a:rPr lang="en-US" altLang="zh-CN" sz="800"/>
              <a:pPr/>
              <a:t>71</a:t>
            </a:fld>
            <a:endParaRPr lang="en-US" altLang="zh-CN" sz="800"/>
          </a:p>
        </p:txBody>
      </p:sp>
      <p:sp>
        <p:nvSpPr>
          <p:cNvPr id="3150850" name="Rectangle 2">
            <a:extLst>
              <a:ext uri="{FF2B5EF4-FFF2-40B4-BE49-F238E27FC236}">
                <a16:creationId xmlns:a16="http://schemas.microsoft.com/office/drawing/2014/main" id="{42C65444-20C2-B7D4-E5AC-E4C76C29632E}"/>
              </a:ext>
            </a:extLst>
          </p:cNvPr>
          <p:cNvSpPr>
            <a:spLocks noGrp="1" noChangeArrowheads="1"/>
          </p:cNvSpPr>
          <p:nvPr>
            <p:ph type="title"/>
          </p:nvPr>
        </p:nvSpPr>
        <p:spPr/>
        <p:txBody>
          <a:bodyPr/>
          <a:lstStyle/>
          <a:p>
            <a:r>
              <a:rPr lang="en-US" altLang="zh-CN">
                <a:ea typeface="宋体" panose="02010600030101010101" pitchFamily="2" charset="-122"/>
              </a:rPr>
              <a:t>Capacity Management</a:t>
            </a:r>
          </a:p>
        </p:txBody>
      </p:sp>
      <p:sp>
        <p:nvSpPr>
          <p:cNvPr id="3150851" name="Rectangle 3">
            <a:extLst>
              <a:ext uri="{FF2B5EF4-FFF2-40B4-BE49-F238E27FC236}">
                <a16:creationId xmlns:a16="http://schemas.microsoft.com/office/drawing/2014/main" id="{100CCDA4-F0AC-AEC9-7C06-01E259D7AA85}"/>
              </a:ext>
            </a:extLst>
          </p:cNvPr>
          <p:cNvSpPr>
            <a:spLocks noGrp="1" noChangeArrowheads="1"/>
          </p:cNvSpPr>
          <p:nvPr>
            <p:ph type="body" idx="1"/>
          </p:nvPr>
        </p:nvSpPr>
        <p:spPr/>
        <p:txBody>
          <a:bodyPr/>
          <a:lstStyle/>
          <a:p>
            <a:r>
              <a:rPr lang="en-US" altLang="zh-CN">
                <a:ea typeface="宋体" panose="02010600030101010101" pitchFamily="2" charset="-122"/>
              </a:rPr>
              <a:t>Ensures adequate availability of resources based on their service level requirements</a:t>
            </a:r>
          </a:p>
          <a:p>
            <a:r>
              <a:rPr lang="en-US" altLang="zh-CN">
                <a:ea typeface="宋体" panose="02010600030101010101" pitchFamily="2" charset="-122"/>
              </a:rPr>
              <a:t>Manages resource allocation</a:t>
            </a:r>
          </a:p>
          <a:p>
            <a:r>
              <a:rPr lang="en-US" altLang="zh-CN">
                <a:ea typeface="宋体" panose="02010600030101010101" pitchFamily="2" charset="-122"/>
              </a:rPr>
              <a:t>Key activities</a:t>
            </a:r>
          </a:p>
          <a:p>
            <a:pPr lvl="1"/>
            <a:r>
              <a:rPr lang="en-US" altLang="zh-CN" sz="2500">
                <a:ea typeface="宋体" panose="02010600030101010101" pitchFamily="2" charset="-122"/>
              </a:rPr>
              <a:t>Trend and Capacity analysis</a:t>
            </a:r>
          </a:p>
          <a:p>
            <a:pPr lvl="1"/>
            <a:r>
              <a:rPr lang="en-US" altLang="zh-CN" sz="2500">
                <a:ea typeface="宋体" panose="02010600030101010101" pitchFamily="2" charset="-122"/>
              </a:rPr>
              <a:t>Storage provisioning</a:t>
            </a:r>
          </a:p>
          <a:p>
            <a:pPr lvl="1"/>
            <a:r>
              <a:rPr lang="en-US" altLang="zh-CN" sz="2500">
                <a:ea typeface="宋体" panose="02010600030101010101" pitchFamily="2" charset="-122"/>
              </a:rPr>
              <a:t>Examples</a:t>
            </a:r>
          </a:p>
          <a:p>
            <a:pPr lvl="2"/>
            <a:r>
              <a:rPr lang="en-US" altLang="zh-CN" sz="2100">
                <a:ea typeface="宋体" panose="02010600030101010101" pitchFamily="2" charset="-122"/>
              </a:rPr>
              <a:t>Host: Host configuration and file system/DB management</a:t>
            </a:r>
          </a:p>
          <a:p>
            <a:pPr lvl="2"/>
            <a:r>
              <a:rPr lang="en-US" altLang="zh-CN" sz="2100">
                <a:ea typeface="宋体" panose="02010600030101010101" pitchFamily="2" charset="-122"/>
              </a:rPr>
              <a:t>SAN: Unused Ports and Zoning</a:t>
            </a:r>
          </a:p>
          <a:p>
            <a:pPr lvl="2"/>
            <a:r>
              <a:rPr lang="en-US" altLang="zh-CN" sz="2100">
                <a:ea typeface="宋体" panose="02010600030101010101" pitchFamily="2" charset="-122"/>
              </a:rPr>
              <a:t>Storage: Device configuration and LUN Masking</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844BF2F-D434-A098-DAED-2AE9E501E0F9}"/>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C975E5D8-67C4-0D91-ED46-77DE2869D4C9}"/>
              </a:ext>
            </a:extLst>
          </p:cNvPr>
          <p:cNvSpPr>
            <a:spLocks noGrp="1"/>
          </p:cNvSpPr>
          <p:nvPr>
            <p:ph type="sldNum" sz="quarter" idx="11"/>
          </p:nvPr>
        </p:nvSpPr>
        <p:spPr/>
        <p:txBody>
          <a:bodyPr/>
          <a:lstStyle/>
          <a:p>
            <a:r>
              <a:rPr lang="zh-CN" altLang="en-US"/>
              <a:t> </a:t>
            </a:r>
            <a:r>
              <a:rPr lang="en-US" altLang="zh-CN"/>
              <a:t>- </a:t>
            </a:r>
            <a:fld id="{84B5C163-12A2-4CFF-8371-D32DE990B802}" type="slidenum">
              <a:rPr lang="en-US" altLang="zh-CN" sz="800"/>
              <a:pPr/>
              <a:t>72</a:t>
            </a:fld>
            <a:endParaRPr lang="en-US" altLang="zh-CN" sz="800"/>
          </a:p>
        </p:txBody>
      </p:sp>
      <p:sp>
        <p:nvSpPr>
          <p:cNvPr id="3068930" name="Rectangle 2">
            <a:extLst>
              <a:ext uri="{FF2B5EF4-FFF2-40B4-BE49-F238E27FC236}">
                <a16:creationId xmlns:a16="http://schemas.microsoft.com/office/drawing/2014/main" id="{D6650BEE-3E99-1842-DFED-CA1D66835AD0}"/>
              </a:ext>
            </a:extLst>
          </p:cNvPr>
          <p:cNvSpPr>
            <a:spLocks noGrp="1" noChangeArrowheads="1"/>
          </p:cNvSpPr>
          <p:nvPr>
            <p:ph type="title"/>
          </p:nvPr>
        </p:nvSpPr>
        <p:spPr/>
        <p:txBody>
          <a:bodyPr/>
          <a:lstStyle/>
          <a:p>
            <a:r>
              <a:rPr lang="en-US" altLang="zh-CN">
                <a:ea typeface="宋体" panose="02010600030101010101" pitchFamily="2" charset="-122"/>
              </a:rPr>
              <a:t>Performance Management</a:t>
            </a:r>
          </a:p>
        </p:txBody>
      </p:sp>
      <p:sp>
        <p:nvSpPr>
          <p:cNvPr id="3068931" name="Rectangle 3">
            <a:extLst>
              <a:ext uri="{FF2B5EF4-FFF2-40B4-BE49-F238E27FC236}">
                <a16:creationId xmlns:a16="http://schemas.microsoft.com/office/drawing/2014/main" id="{2CB612F1-CE1B-AC82-F8A7-0DD4BDC952A6}"/>
              </a:ext>
            </a:extLst>
          </p:cNvPr>
          <p:cNvSpPr>
            <a:spLocks noGrp="1" noChangeArrowheads="1"/>
          </p:cNvSpPr>
          <p:nvPr>
            <p:ph type="body" idx="1"/>
          </p:nvPr>
        </p:nvSpPr>
        <p:spPr/>
        <p:txBody>
          <a:bodyPr/>
          <a:lstStyle/>
          <a:p>
            <a:r>
              <a:rPr lang="en-US" altLang="zh-CN">
                <a:ea typeface="宋体" panose="02010600030101010101" pitchFamily="2" charset="-122"/>
              </a:rPr>
              <a:t>Configure/design for optimal operational efficiency</a:t>
            </a:r>
          </a:p>
          <a:p>
            <a:r>
              <a:rPr lang="en-US" altLang="zh-CN">
                <a:ea typeface="宋体" panose="02010600030101010101" pitchFamily="2" charset="-122"/>
              </a:rPr>
              <a:t>Performance analysis</a:t>
            </a:r>
          </a:p>
          <a:p>
            <a:pPr lvl="1"/>
            <a:r>
              <a:rPr lang="en-US" altLang="zh-CN">
                <a:ea typeface="宋体" panose="02010600030101010101" pitchFamily="2" charset="-122"/>
              </a:rPr>
              <a:t>Identify bottlenecks</a:t>
            </a:r>
          </a:p>
          <a:p>
            <a:pPr lvl="1"/>
            <a:r>
              <a:rPr lang="en-US" altLang="zh-CN">
                <a:ea typeface="宋体" panose="02010600030101010101" pitchFamily="2" charset="-122"/>
              </a:rPr>
              <a:t>Fine tuning for performance enhancement </a:t>
            </a:r>
          </a:p>
          <a:p>
            <a:r>
              <a:rPr lang="en-US" altLang="zh-CN">
                <a:ea typeface="宋体" panose="02010600030101010101" pitchFamily="2" charset="-122"/>
              </a:rPr>
              <a:t>Key activities</a:t>
            </a:r>
          </a:p>
          <a:p>
            <a:pPr lvl="1"/>
            <a:r>
              <a:rPr lang="en-US" altLang="zh-CN">
                <a:ea typeface="宋体" panose="02010600030101010101" pitchFamily="2" charset="-122"/>
              </a:rPr>
              <a:t>Host: Volume management, database/application layout</a:t>
            </a:r>
          </a:p>
          <a:p>
            <a:pPr lvl="1"/>
            <a:r>
              <a:rPr lang="en-US" altLang="zh-CN">
                <a:ea typeface="宋体" panose="02010600030101010101" pitchFamily="2" charset="-122"/>
              </a:rPr>
              <a:t>SAN: Designing sufficient ISLs with adequate bandwidth</a:t>
            </a:r>
          </a:p>
          <a:p>
            <a:pPr lvl="1"/>
            <a:r>
              <a:rPr lang="en-US" altLang="zh-CN">
                <a:ea typeface="宋体" panose="02010600030101010101" pitchFamily="2" charset="-122"/>
              </a:rPr>
              <a:t>Storage Array: Choice of RAID type and layout of devices (LUNs) and choice of front-end ports</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8252B7F-ACED-0BB6-88FA-FBE4B8B5F508}"/>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458B4AC6-50DF-8920-2E45-930E29D552D6}"/>
              </a:ext>
            </a:extLst>
          </p:cNvPr>
          <p:cNvSpPr>
            <a:spLocks noGrp="1"/>
          </p:cNvSpPr>
          <p:nvPr>
            <p:ph type="sldNum" sz="quarter" idx="11"/>
          </p:nvPr>
        </p:nvSpPr>
        <p:spPr/>
        <p:txBody>
          <a:bodyPr/>
          <a:lstStyle/>
          <a:p>
            <a:r>
              <a:rPr lang="zh-CN" altLang="en-US"/>
              <a:t> </a:t>
            </a:r>
            <a:r>
              <a:rPr lang="en-US" altLang="zh-CN"/>
              <a:t>- </a:t>
            </a:r>
            <a:fld id="{8520EC03-9FB2-4BDE-B9EC-EEA7D8A8D637}" type="slidenum">
              <a:rPr lang="en-US" altLang="zh-CN" sz="800"/>
              <a:pPr/>
              <a:t>73</a:t>
            </a:fld>
            <a:endParaRPr lang="en-US" altLang="zh-CN" sz="800"/>
          </a:p>
        </p:txBody>
      </p:sp>
      <p:sp>
        <p:nvSpPr>
          <p:cNvPr id="3165186" name="Rectangle 2">
            <a:extLst>
              <a:ext uri="{FF2B5EF4-FFF2-40B4-BE49-F238E27FC236}">
                <a16:creationId xmlns:a16="http://schemas.microsoft.com/office/drawing/2014/main" id="{6D65EBC8-6105-C704-D543-030E235155FB}"/>
              </a:ext>
            </a:extLst>
          </p:cNvPr>
          <p:cNvSpPr>
            <a:spLocks noGrp="1" noChangeArrowheads="1"/>
          </p:cNvSpPr>
          <p:nvPr>
            <p:ph type="title"/>
          </p:nvPr>
        </p:nvSpPr>
        <p:spPr/>
        <p:txBody>
          <a:bodyPr/>
          <a:lstStyle/>
          <a:p>
            <a:r>
              <a:rPr lang="en-US" altLang="zh-CN">
                <a:ea typeface="宋体" panose="02010600030101010101" pitchFamily="2" charset="-122"/>
              </a:rPr>
              <a:t>Security Management</a:t>
            </a:r>
          </a:p>
        </p:txBody>
      </p:sp>
      <p:sp>
        <p:nvSpPr>
          <p:cNvPr id="3165187" name="Rectangle 3">
            <a:extLst>
              <a:ext uri="{FF2B5EF4-FFF2-40B4-BE49-F238E27FC236}">
                <a16:creationId xmlns:a16="http://schemas.microsoft.com/office/drawing/2014/main" id="{CBFBB78C-52A8-4C32-47CA-A50E61B29E65}"/>
              </a:ext>
            </a:extLst>
          </p:cNvPr>
          <p:cNvSpPr>
            <a:spLocks noGrp="1" noChangeArrowheads="1"/>
          </p:cNvSpPr>
          <p:nvPr>
            <p:ph type="body" idx="1"/>
          </p:nvPr>
        </p:nvSpPr>
        <p:spPr/>
        <p:txBody>
          <a:bodyPr/>
          <a:lstStyle/>
          <a:p>
            <a:r>
              <a:rPr lang="en-US" altLang="zh-CN">
                <a:ea typeface="宋体" panose="02010600030101010101" pitchFamily="2" charset="-122"/>
              </a:rPr>
              <a:t>Prevent unauthorized activities or access</a:t>
            </a:r>
          </a:p>
          <a:p>
            <a:r>
              <a:rPr lang="en-US" altLang="zh-CN">
                <a:ea typeface="宋体" panose="02010600030101010101" pitchFamily="2" charset="-122"/>
              </a:rPr>
              <a:t>Key activities</a:t>
            </a:r>
          </a:p>
          <a:p>
            <a:pPr lvl="1"/>
            <a:r>
              <a:rPr lang="en-US" altLang="zh-CN">
                <a:ea typeface="宋体" panose="02010600030101010101" pitchFamily="2" charset="-122"/>
              </a:rPr>
              <a:t>Server: </a:t>
            </a:r>
          </a:p>
          <a:p>
            <a:pPr lvl="2"/>
            <a:r>
              <a:rPr lang="en-US" altLang="zh-CN">
                <a:ea typeface="宋体" panose="02010600030101010101" pitchFamily="2" charset="-122"/>
              </a:rPr>
              <a:t>Creation of user logins, user privileges </a:t>
            </a:r>
          </a:p>
          <a:p>
            <a:pPr lvl="1"/>
            <a:r>
              <a:rPr lang="en-US" altLang="zh-CN">
                <a:ea typeface="宋体" panose="02010600030101010101" pitchFamily="2" charset="-122"/>
              </a:rPr>
              <a:t>SAN:</a:t>
            </a:r>
          </a:p>
          <a:p>
            <a:pPr lvl="2"/>
            <a:r>
              <a:rPr lang="en-US" altLang="zh-CN">
                <a:ea typeface="宋体" panose="02010600030101010101" pitchFamily="2" charset="-122"/>
              </a:rPr>
              <a:t>Configuration of zoning to restrict unauthorized HBA’s</a:t>
            </a:r>
          </a:p>
          <a:p>
            <a:pPr lvl="1"/>
            <a:r>
              <a:rPr lang="en-US" altLang="zh-CN">
                <a:ea typeface="宋体" panose="02010600030101010101" pitchFamily="2" charset="-122"/>
              </a:rPr>
              <a:t>Storage Array: </a:t>
            </a:r>
          </a:p>
          <a:p>
            <a:pPr lvl="2"/>
            <a:r>
              <a:rPr lang="en-US" altLang="zh-CN">
                <a:ea typeface="宋体" panose="02010600030101010101" pitchFamily="2" charset="-122"/>
              </a:rPr>
              <a:t>LUN masking prevents data corruption on the storage array by restricting host access to a defined set of logical devices</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280062A2-8977-217E-4C22-1C03875155D5}"/>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63EAA399-22BE-A5C8-F499-536F37E29ADC}"/>
              </a:ext>
            </a:extLst>
          </p:cNvPr>
          <p:cNvSpPr>
            <a:spLocks noGrp="1"/>
          </p:cNvSpPr>
          <p:nvPr>
            <p:ph type="sldNum" sz="quarter" idx="11"/>
          </p:nvPr>
        </p:nvSpPr>
        <p:spPr/>
        <p:txBody>
          <a:bodyPr/>
          <a:lstStyle/>
          <a:p>
            <a:r>
              <a:rPr lang="zh-CN" altLang="en-US"/>
              <a:t> </a:t>
            </a:r>
            <a:r>
              <a:rPr lang="en-US" altLang="zh-CN"/>
              <a:t>- </a:t>
            </a:r>
            <a:fld id="{03682769-BB87-4144-89BA-0218E7280B3F}" type="slidenum">
              <a:rPr lang="en-US" altLang="zh-CN" sz="800"/>
              <a:pPr/>
              <a:t>74</a:t>
            </a:fld>
            <a:endParaRPr lang="en-US" altLang="zh-CN" sz="800"/>
          </a:p>
        </p:txBody>
      </p:sp>
      <p:sp>
        <p:nvSpPr>
          <p:cNvPr id="3070978" name="Rectangle 2">
            <a:extLst>
              <a:ext uri="{FF2B5EF4-FFF2-40B4-BE49-F238E27FC236}">
                <a16:creationId xmlns:a16="http://schemas.microsoft.com/office/drawing/2014/main" id="{CFEE750A-FDA3-706D-28E3-BAD23503B629}"/>
              </a:ext>
            </a:extLst>
          </p:cNvPr>
          <p:cNvSpPr>
            <a:spLocks noGrp="1" noChangeArrowheads="1"/>
          </p:cNvSpPr>
          <p:nvPr>
            <p:ph type="title"/>
          </p:nvPr>
        </p:nvSpPr>
        <p:spPr/>
        <p:txBody>
          <a:bodyPr/>
          <a:lstStyle/>
          <a:p>
            <a:r>
              <a:rPr lang="en-US" altLang="zh-CN">
                <a:ea typeface="宋体" panose="02010600030101010101" pitchFamily="2" charset="-122"/>
              </a:rPr>
              <a:t>Reporting</a:t>
            </a:r>
          </a:p>
        </p:txBody>
      </p:sp>
      <p:sp>
        <p:nvSpPr>
          <p:cNvPr id="3070979" name="Rectangle 3">
            <a:extLst>
              <a:ext uri="{FF2B5EF4-FFF2-40B4-BE49-F238E27FC236}">
                <a16:creationId xmlns:a16="http://schemas.microsoft.com/office/drawing/2014/main" id="{7DEEEDCA-0917-D849-78F7-D99E911E4AE5}"/>
              </a:ext>
            </a:extLst>
          </p:cNvPr>
          <p:cNvSpPr>
            <a:spLocks noGrp="1" noChangeArrowheads="1"/>
          </p:cNvSpPr>
          <p:nvPr>
            <p:ph type="body" idx="1"/>
          </p:nvPr>
        </p:nvSpPr>
        <p:spPr/>
        <p:txBody>
          <a:bodyPr/>
          <a:lstStyle/>
          <a:p>
            <a:r>
              <a:rPr lang="en-US" altLang="zh-CN">
                <a:ea typeface="宋体" panose="02010600030101010101" pitchFamily="2" charset="-122"/>
              </a:rPr>
              <a:t>Reporting on a storage infrastructure involves keeping track and gathering information from various components/processes</a:t>
            </a:r>
          </a:p>
          <a:p>
            <a:r>
              <a:rPr lang="en-US" altLang="zh-CN">
                <a:ea typeface="宋体" panose="02010600030101010101" pitchFamily="2" charset="-122"/>
              </a:rPr>
              <a:t>This information is compiled to generate reports for trend analysis, capacity planning, chargeback, performance, and to illustrate basic configuration of storage infrastructure components</a:t>
            </a:r>
          </a:p>
          <a:p>
            <a:r>
              <a:rPr lang="en-US" altLang="zh-CN">
                <a:ea typeface="宋体" panose="02010600030101010101" pitchFamily="2" charset="-122"/>
              </a:rPr>
              <a:t>Also used to provide information for Capacity, Availability, Security and Performance Management</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5E892C1-9071-29ED-9615-276088F1EE84}"/>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2FC01B2C-8301-584A-6ABB-DFC20B4AD3A8}"/>
              </a:ext>
            </a:extLst>
          </p:cNvPr>
          <p:cNvSpPr>
            <a:spLocks noGrp="1"/>
          </p:cNvSpPr>
          <p:nvPr>
            <p:ph type="sldNum" sz="quarter" idx="11"/>
          </p:nvPr>
        </p:nvSpPr>
        <p:spPr/>
        <p:txBody>
          <a:bodyPr/>
          <a:lstStyle/>
          <a:p>
            <a:r>
              <a:rPr lang="zh-CN" altLang="en-US"/>
              <a:t> </a:t>
            </a:r>
            <a:r>
              <a:rPr lang="en-US" altLang="zh-CN"/>
              <a:t>- </a:t>
            </a:r>
            <a:fld id="{A0562EE9-1683-4B84-9FC1-3BD657F5BF7C}" type="slidenum">
              <a:rPr lang="en-US" altLang="zh-CN" sz="800"/>
              <a:pPr/>
              <a:t>75</a:t>
            </a:fld>
            <a:endParaRPr lang="en-US" altLang="zh-CN" sz="800"/>
          </a:p>
        </p:txBody>
      </p:sp>
      <p:sp>
        <p:nvSpPr>
          <p:cNvPr id="3073030" name="Rectangle 6">
            <a:extLst>
              <a:ext uri="{FF2B5EF4-FFF2-40B4-BE49-F238E27FC236}">
                <a16:creationId xmlns:a16="http://schemas.microsoft.com/office/drawing/2014/main" id="{AD942AE9-0B36-8C5A-3692-D12780DC675C}"/>
              </a:ext>
            </a:extLst>
          </p:cNvPr>
          <p:cNvSpPr>
            <a:spLocks noGrp="1" noChangeArrowheads="1"/>
          </p:cNvSpPr>
          <p:nvPr>
            <p:ph type="title"/>
          </p:nvPr>
        </p:nvSpPr>
        <p:spPr>
          <a:xfrm>
            <a:off x="130175" y="584200"/>
            <a:ext cx="8918575" cy="457200"/>
          </a:xfrm>
        </p:spPr>
        <p:txBody>
          <a:bodyPr/>
          <a:lstStyle/>
          <a:p>
            <a:r>
              <a:rPr lang="en-US" altLang="zh-CN">
                <a:ea typeface="宋体" panose="02010600030101010101" pitchFamily="2" charset="-122"/>
              </a:rPr>
              <a:t>Managing Example: Storage Allocation to New Host</a:t>
            </a:r>
          </a:p>
        </p:txBody>
      </p:sp>
      <p:sp>
        <p:nvSpPr>
          <p:cNvPr id="3073172" name="Rectangle 148">
            <a:extLst>
              <a:ext uri="{FF2B5EF4-FFF2-40B4-BE49-F238E27FC236}">
                <a16:creationId xmlns:a16="http://schemas.microsoft.com/office/drawing/2014/main" id="{1EE3ADCF-8C1E-88B2-B9DB-0C9693828945}"/>
              </a:ext>
            </a:extLst>
          </p:cNvPr>
          <p:cNvSpPr>
            <a:spLocks noChangeArrowheads="1"/>
          </p:cNvSpPr>
          <p:nvPr/>
        </p:nvSpPr>
        <p:spPr bwMode="auto">
          <a:xfrm>
            <a:off x="1681163" y="5524500"/>
            <a:ext cx="49799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0000"/>
                </a:solidFill>
                <a:ea typeface="宋体" panose="02010600030101010101" pitchFamily="2" charset="-122"/>
              </a:rPr>
              <a:t>Storage Allocation Tasks</a:t>
            </a:r>
          </a:p>
        </p:txBody>
      </p:sp>
      <p:sp>
        <p:nvSpPr>
          <p:cNvPr id="3073290" name="AutoShape 266">
            <a:extLst>
              <a:ext uri="{FF2B5EF4-FFF2-40B4-BE49-F238E27FC236}">
                <a16:creationId xmlns:a16="http://schemas.microsoft.com/office/drawing/2014/main" id="{1779919D-C50D-EF2F-5082-67D4CC062342}"/>
              </a:ext>
            </a:extLst>
          </p:cNvPr>
          <p:cNvSpPr>
            <a:spLocks noChangeAspect="1" noChangeArrowheads="1" noTextEdit="1"/>
          </p:cNvSpPr>
          <p:nvPr/>
        </p:nvSpPr>
        <p:spPr bwMode="auto">
          <a:xfrm>
            <a:off x="242888" y="2173288"/>
            <a:ext cx="8764587"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293" name="Freeform 269">
            <a:extLst>
              <a:ext uri="{FF2B5EF4-FFF2-40B4-BE49-F238E27FC236}">
                <a16:creationId xmlns:a16="http://schemas.microsoft.com/office/drawing/2014/main" id="{9AB1F97E-2F55-BDA9-D9ED-E3BC09E0CEE8}"/>
              </a:ext>
            </a:extLst>
          </p:cNvPr>
          <p:cNvSpPr>
            <a:spLocks/>
          </p:cNvSpPr>
          <p:nvPr/>
        </p:nvSpPr>
        <p:spPr bwMode="auto">
          <a:xfrm>
            <a:off x="4772025" y="2066925"/>
            <a:ext cx="4133850" cy="3009900"/>
          </a:xfrm>
          <a:custGeom>
            <a:avLst/>
            <a:gdLst>
              <a:gd name="T0" fmla="*/ 7471 w 7471"/>
              <a:gd name="T1" fmla="*/ 7404 h 7586"/>
              <a:gd name="T2" fmla="*/ 7466 w 7471"/>
              <a:gd name="T3" fmla="*/ 7445 h 7586"/>
              <a:gd name="T4" fmla="*/ 7455 w 7471"/>
              <a:gd name="T5" fmla="*/ 7481 h 7586"/>
              <a:gd name="T6" fmla="*/ 7440 w 7471"/>
              <a:gd name="T7" fmla="*/ 7504 h 7586"/>
              <a:gd name="T8" fmla="*/ 7423 w 7471"/>
              <a:gd name="T9" fmla="*/ 7526 h 7586"/>
              <a:gd name="T10" fmla="*/ 7400 w 7471"/>
              <a:gd name="T11" fmla="*/ 7543 h 7586"/>
              <a:gd name="T12" fmla="*/ 7393 w 7471"/>
              <a:gd name="T13" fmla="*/ 7546 h 7586"/>
              <a:gd name="T14" fmla="*/ 7374 w 7471"/>
              <a:gd name="T15" fmla="*/ 7558 h 7586"/>
              <a:gd name="T16" fmla="*/ 7368 w 7471"/>
              <a:gd name="T17" fmla="*/ 7559 h 7586"/>
              <a:gd name="T18" fmla="*/ 7355 w 7471"/>
              <a:gd name="T19" fmla="*/ 7566 h 7586"/>
              <a:gd name="T20" fmla="*/ 7309 w 7471"/>
              <a:gd name="T21" fmla="*/ 7577 h 7586"/>
              <a:gd name="T22" fmla="*/ 7257 w 7471"/>
              <a:gd name="T23" fmla="*/ 7584 h 7586"/>
              <a:gd name="T24" fmla="*/ 244 w 7471"/>
              <a:gd name="T25" fmla="*/ 7586 h 7586"/>
              <a:gd name="T26" fmla="*/ 186 w 7471"/>
              <a:gd name="T27" fmla="*/ 7582 h 7586"/>
              <a:gd name="T28" fmla="*/ 137 w 7471"/>
              <a:gd name="T29" fmla="*/ 7573 h 7586"/>
              <a:gd name="T30" fmla="*/ 95 w 7471"/>
              <a:gd name="T31" fmla="*/ 7558 h 7586"/>
              <a:gd name="T32" fmla="*/ 61 w 7471"/>
              <a:gd name="T33" fmla="*/ 7538 h 7586"/>
              <a:gd name="T34" fmla="*/ 33 w 7471"/>
              <a:gd name="T35" fmla="*/ 7512 h 7586"/>
              <a:gd name="T36" fmla="*/ 15 w 7471"/>
              <a:gd name="T37" fmla="*/ 7481 h 7586"/>
              <a:gd name="T38" fmla="*/ 4 w 7471"/>
              <a:gd name="T39" fmla="*/ 7445 h 7586"/>
              <a:gd name="T40" fmla="*/ 0 w 7471"/>
              <a:gd name="T41" fmla="*/ 7404 h 7586"/>
              <a:gd name="T42" fmla="*/ 0 w 7471"/>
              <a:gd name="T43" fmla="*/ 159 h 7586"/>
              <a:gd name="T44" fmla="*/ 7 w 7471"/>
              <a:gd name="T45" fmla="*/ 119 h 7586"/>
              <a:gd name="T46" fmla="*/ 23 w 7471"/>
              <a:gd name="T47" fmla="*/ 85 h 7586"/>
              <a:gd name="T48" fmla="*/ 46 w 7471"/>
              <a:gd name="T49" fmla="*/ 58 h 7586"/>
              <a:gd name="T50" fmla="*/ 75 w 7471"/>
              <a:gd name="T51" fmla="*/ 35 h 7586"/>
              <a:gd name="T52" fmla="*/ 114 w 7471"/>
              <a:gd name="T53" fmla="*/ 17 h 7586"/>
              <a:gd name="T54" fmla="*/ 160 w 7471"/>
              <a:gd name="T55" fmla="*/ 5 h 7586"/>
              <a:gd name="T56" fmla="*/ 213 w 7471"/>
              <a:gd name="T57" fmla="*/ 0 h 7586"/>
              <a:gd name="T58" fmla="*/ 7228 w 7471"/>
              <a:gd name="T59" fmla="*/ 0 h 7586"/>
              <a:gd name="T60" fmla="*/ 7284 w 7471"/>
              <a:gd name="T61" fmla="*/ 2 h 7586"/>
              <a:gd name="T62" fmla="*/ 7333 w 7471"/>
              <a:gd name="T63" fmla="*/ 11 h 7586"/>
              <a:gd name="T64" fmla="*/ 7374 w 7471"/>
              <a:gd name="T65" fmla="*/ 26 h 7586"/>
              <a:gd name="T66" fmla="*/ 7409 w 7471"/>
              <a:gd name="T67" fmla="*/ 46 h 7586"/>
              <a:gd name="T68" fmla="*/ 7436 w 7471"/>
              <a:gd name="T69" fmla="*/ 72 h 7586"/>
              <a:gd name="T70" fmla="*/ 7455 w 7471"/>
              <a:gd name="T71" fmla="*/ 102 h 7586"/>
              <a:gd name="T72" fmla="*/ 7466 w 7471"/>
              <a:gd name="T73" fmla="*/ 139 h 7586"/>
              <a:gd name="T74" fmla="*/ 7471 w 7471"/>
              <a:gd name="T75" fmla="*/ 182 h 7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471" h="7586">
                <a:moveTo>
                  <a:pt x="7471" y="182"/>
                </a:moveTo>
                <a:lnTo>
                  <a:pt x="7471" y="7404"/>
                </a:lnTo>
                <a:lnTo>
                  <a:pt x="7470" y="7424"/>
                </a:lnTo>
                <a:lnTo>
                  <a:pt x="7466" y="7445"/>
                </a:lnTo>
                <a:lnTo>
                  <a:pt x="7461" y="7463"/>
                </a:lnTo>
                <a:lnTo>
                  <a:pt x="7455" y="7481"/>
                </a:lnTo>
                <a:lnTo>
                  <a:pt x="7446" y="7497"/>
                </a:lnTo>
                <a:lnTo>
                  <a:pt x="7440" y="7504"/>
                </a:lnTo>
                <a:lnTo>
                  <a:pt x="7436" y="7512"/>
                </a:lnTo>
                <a:lnTo>
                  <a:pt x="7423" y="7526"/>
                </a:lnTo>
                <a:lnTo>
                  <a:pt x="7409" y="7538"/>
                </a:lnTo>
                <a:lnTo>
                  <a:pt x="7400" y="7543"/>
                </a:lnTo>
                <a:lnTo>
                  <a:pt x="7396" y="7545"/>
                </a:lnTo>
                <a:lnTo>
                  <a:pt x="7393" y="7546"/>
                </a:lnTo>
                <a:lnTo>
                  <a:pt x="7392" y="7549"/>
                </a:lnTo>
                <a:lnTo>
                  <a:pt x="7374" y="7558"/>
                </a:lnTo>
                <a:lnTo>
                  <a:pt x="7371" y="7558"/>
                </a:lnTo>
                <a:lnTo>
                  <a:pt x="7368" y="7559"/>
                </a:lnTo>
                <a:lnTo>
                  <a:pt x="7364" y="7561"/>
                </a:lnTo>
                <a:lnTo>
                  <a:pt x="7355" y="7566"/>
                </a:lnTo>
                <a:lnTo>
                  <a:pt x="7333" y="7573"/>
                </a:lnTo>
                <a:lnTo>
                  <a:pt x="7309" y="7577"/>
                </a:lnTo>
                <a:lnTo>
                  <a:pt x="7284" y="7582"/>
                </a:lnTo>
                <a:lnTo>
                  <a:pt x="7257" y="7584"/>
                </a:lnTo>
                <a:lnTo>
                  <a:pt x="7228" y="7586"/>
                </a:lnTo>
                <a:lnTo>
                  <a:pt x="244" y="7586"/>
                </a:lnTo>
                <a:lnTo>
                  <a:pt x="213" y="7584"/>
                </a:lnTo>
                <a:lnTo>
                  <a:pt x="186" y="7582"/>
                </a:lnTo>
                <a:lnTo>
                  <a:pt x="160" y="7577"/>
                </a:lnTo>
                <a:lnTo>
                  <a:pt x="137" y="7573"/>
                </a:lnTo>
                <a:lnTo>
                  <a:pt x="114" y="7566"/>
                </a:lnTo>
                <a:lnTo>
                  <a:pt x="95" y="7558"/>
                </a:lnTo>
                <a:lnTo>
                  <a:pt x="75" y="7549"/>
                </a:lnTo>
                <a:lnTo>
                  <a:pt x="61" y="7538"/>
                </a:lnTo>
                <a:lnTo>
                  <a:pt x="46" y="7526"/>
                </a:lnTo>
                <a:lnTo>
                  <a:pt x="33" y="7512"/>
                </a:lnTo>
                <a:lnTo>
                  <a:pt x="23" y="7497"/>
                </a:lnTo>
                <a:lnTo>
                  <a:pt x="15" y="7481"/>
                </a:lnTo>
                <a:lnTo>
                  <a:pt x="7" y="7463"/>
                </a:lnTo>
                <a:lnTo>
                  <a:pt x="4" y="7445"/>
                </a:lnTo>
                <a:lnTo>
                  <a:pt x="0" y="7424"/>
                </a:lnTo>
                <a:lnTo>
                  <a:pt x="0" y="7404"/>
                </a:lnTo>
                <a:lnTo>
                  <a:pt x="0" y="182"/>
                </a:lnTo>
                <a:lnTo>
                  <a:pt x="0" y="159"/>
                </a:lnTo>
                <a:lnTo>
                  <a:pt x="4" y="139"/>
                </a:lnTo>
                <a:lnTo>
                  <a:pt x="7" y="119"/>
                </a:lnTo>
                <a:lnTo>
                  <a:pt x="15" y="102"/>
                </a:lnTo>
                <a:lnTo>
                  <a:pt x="23" y="85"/>
                </a:lnTo>
                <a:lnTo>
                  <a:pt x="33" y="72"/>
                </a:lnTo>
                <a:lnTo>
                  <a:pt x="46" y="58"/>
                </a:lnTo>
                <a:lnTo>
                  <a:pt x="61" y="46"/>
                </a:lnTo>
                <a:lnTo>
                  <a:pt x="75" y="35"/>
                </a:lnTo>
                <a:lnTo>
                  <a:pt x="95" y="26"/>
                </a:lnTo>
                <a:lnTo>
                  <a:pt x="114" y="17"/>
                </a:lnTo>
                <a:lnTo>
                  <a:pt x="137" y="11"/>
                </a:lnTo>
                <a:lnTo>
                  <a:pt x="160" y="5"/>
                </a:lnTo>
                <a:lnTo>
                  <a:pt x="186" y="2"/>
                </a:lnTo>
                <a:lnTo>
                  <a:pt x="213" y="0"/>
                </a:lnTo>
                <a:lnTo>
                  <a:pt x="244" y="0"/>
                </a:lnTo>
                <a:lnTo>
                  <a:pt x="7228" y="0"/>
                </a:lnTo>
                <a:lnTo>
                  <a:pt x="7257" y="0"/>
                </a:lnTo>
                <a:lnTo>
                  <a:pt x="7284" y="2"/>
                </a:lnTo>
                <a:lnTo>
                  <a:pt x="7309" y="5"/>
                </a:lnTo>
                <a:lnTo>
                  <a:pt x="7333" y="11"/>
                </a:lnTo>
                <a:lnTo>
                  <a:pt x="7355" y="17"/>
                </a:lnTo>
                <a:lnTo>
                  <a:pt x="7374" y="26"/>
                </a:lnTo>
                <a:lnTo>
                  <a:pt x="7392" y="35"/>
                </a:lnTo>
                <a:lnTo>
                  <a:pt x="7409" y="46"/>
                </a:lnTo>
                <a:lnTo>
                  <a:pt x="7423" y="58"/>
                </a:lnTo>
                <a:lnTo>
                  <a:pt x="7436" y="72"/>
                </a:lnTo>
                <a:lnTo>
                  <a:pt x="7446" y="85"/>
                </a:lnTo>
                <a:lnTo>
                  <a:pt x="7455" y="102"/>
                </a:lnTo>
                <a:lnTo>
                  <a:pt x="7461" y="119"/>
                </a:lnTo>
                <a:lnTo>
                  <a:pt x="7466" y="139"/>
                </a:lnTo>
                <a:lnTo>
                  <a:pt x="7470" y="159"/>
                </a:lnTo>
                <a:lnTo>
                  <a:pt x="7471" y="182"/>
                </a:lnTo>
              </a:path>
            </a:pathLst>
          </a:custGeom>
          <a:solidFill>
            <a:srgbClr val="CCFFFF"/>
          </a:solidFill>
          <a:ln w="17526">
            <a:solidFill>
              <a:srgbClr val="000000"/>
            </a:solidFill>
            <a:prstDash val="solid"/>
            <a:round/>
            <a:headEnd/>
            <a:tailEnd/>
          </a:ln>
        </p:spPr>
        <p:txBody>
          <a:bodyPr/>
          <a:lstStyle/>
          <a:p>
            <a:endParaRPr lang="en-IN"/>
          </a:p>
        </p:txBody>
      </p:sp>
      <p:sp>
        <p:nvSpPr>
          <p:cNvPr id="3073294" name="Line 270">
            <a:extLst>
              <a:ext uri="{FF2B5EF4-FFF2-40B4-BE49-F238E27FC236}">
                <a16:creationId xmlns:a16="http://schemas.microsoft.com/office/drawing/2014/main" id="{96F011CC-CD86-909A-5333-78C2C8962AF5}"/>
              </a:ext>
            </a:extLst>
          </p:cNvPr>
          <p:cNvSpPr>
            <a:spLocks noChangeShapeType="1"/>
          </p:cNvSpPr>
          <p:nvPr/>
        </p:nvSpPr>
        <p:spPr bwMode="auto">
          <a:xfrm>
            <a:off x="5143500" y="3159125"/>
            <a:ext cx="152400" cy="1588"/>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73295" name="Line 271">
            <a:extLst>
              <a:ext uri="{FF2B5EF4-FFF2-40B4-BE49-F238E27FC236}">
                <a16:creationId xmlns:a16="http://schemas.microsoft.com/office/drawing/2014/main" id="{8C62E14C-8B76-5EA8-48E5-5D1AA05F27C5}"/>
              </a:ext>
            </a:extLst>
          </p:cNvPr>
          <p:cNvSpPr>
            <a:spLocks noChangeShapeType="1"/>
          </p:cNvSpPr>
          <p:nvPr/>
        </p:nvSpPr>
        <p:spPr bwMode="auto">
          <a:xfrm>
            <a:off x="5140325" y="3556000"/>
            <a:ext cx="990600" cy="1588"/>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3073296" name="Picture 272">
            <a:extLst>
              <a:ext uri="{FF2B5EF4-FFF2-40B4-BE49-F238E27FC236}">
                <a16:creationId xmlns:a16="http://schemas.microsoft.com/office/drawing/2014/main" id="{D764BC52-9190-523A-D9A0-15F9365AC23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9225" y="3467100"/>
            <a:ext cx="787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297" name="Freeform 273">
            <a:extLst>
              <a:ext uri="{FF2B5EF4-FFF2-40B4-BE49-F238E27FC236}">
                <a16:creationId xmlns:a16="http://schemas.microsoft.com/office/drawing/2014/main" id="{D3E82EA0-0E34-E451-345A-EABA5DBA9B75}"/>
              </a:ext>
            </a:extLst>
          </p:cNvPr>
          <p:cNvSpPr>
            <a:spLocks/>
          </p:cNvSpPr>
          <p:nvPr/>
        </p:nvSpPr>
        <p:spPr bwMode="auto">
          <a:xfrm>
            <a:off x="306388" y="2044700"/>
            <a:ext cx="2963862" cy="3009900"/>
          </a:xfrm>
          <a:custGeom>
            <a:avLst/>
            <a:gdLst>
              <a:gd name="T0" fmla="*/ 7471 w 7471"/>
              <a:gd name="T1" fmla="*/ 7404 h 7586"/>
              <a:gd name="T2" fmla="*/ 7466 w 7471"/>
              <a:gd name="T3" fmla="*/ 7445 h 7586"/>
              <a:gd name="T4" fmla="*/ 7455 w 7471"/>
              <a:gd name="T5" fmla="*/ 7481 h 7586"/>
              <a:gd name="T6" fmla="*/ 7440 w 7471"/>
              <a:gd name="T7" fmla="*/ 7504 h 7586"/>
              <a:gd name="T8" fmla="*/ 7423 w 7471"/>
              <a:gd name="T9" fmla="*/ 7526 h 7586"/>
              <a:gd name="T10" fmla="*/ 7400 w 7471"/>
              <a:gd name="T11" fmla="*/ 7543 h 7586"/>
              <a:gd name="T12" fmla="*/ 7393 w 7471"/>
              <a:gd name="T13" fmla="*/ 7546 h 7586"/>
              <a:gd name="T14" fmla="*/ 7374 w 7471"/>
              <a:gd name="T15" fmla="*/ 7558 h 7586"/>
              <a:gd name="T16" fmla="*/ 7368 w 7471"/>
              <a:gd name="T17" fmla="*/ 7559 h 7586"/>
              <a:gd name="T18" fmla="*/ 7355 w 7471"/>
              <a:gd name="T19" fmla="*/ 7566 h 7586"/>
              <a:gd name="T20" fmla="*/ 7309 w 7471"/>
              <a:gd name="T21" fmla="*/ 7577 h 7586"/>
              <a:gd name="T22" fmla="*/ 7257 w 7471"/>
              <a:gd name="T23" fmla="*/ 7584 h 7586"/>
              <a:gd name="T24" fmla="*/ 244 w 7471"/>
              <a:gd name="T25" fmla="*/ 7586 h 7586"/>
              <a:gd name="T26" fmla="*/ 186 w 7471"/>
              <a:gd name="T27" fmla="*/ 7582 h 7586"/>
              <a:gd name="T28" fmla="*/ 137 w 7471"/>
              <a:gd name="T29" fmla="*/ 7573 h 7586"/>
              <a:gd name="T30" fmla="*/ 95 w 7471"/>
              <a:gd name="T31" fmla="*/ 7558 h 7586"/>
              <a:gd name="T32" fmla="*/ 61 w 7471"/>
              <a:gd name="T33" fmla="*/ 7538 h 7586"/>
              <a:gd name="T34" fmla="*/ 33 w 7471"/>
              <a:gd name="T35" fmla="*/ 7512 h 7586"/>
              <a:gd name="T36" fmla="*/ 15 w 7471"/>
              <a:gd name="T37" fmla="*/ 7481 h 7586"/>
              <a:gd name="T38" fmla="*/ 4 w 7471"/>
              <a:gd name="T39" fmla="*/ 7445 h 7586"/>
              <a:gd name="T40" fmla="*/ 0 w 7471"/>
              <a:gd name="T41" fmla="*/ 7404 h 7586"/>
              <a:gd name="T42" fmla="*/ 0 w 7471"/>
              <a:gd name="T43" fmla="*/ 159 h 7586"/>
              <a:gd name="T44" fmla="*/ 7 w 7471"/>
              <a:gd name="T45" fmla="*/ 119 h 7586"/>
              <a:gd name="T46" fmla="*/ 23 w 7471"/>
              <a:gd name="T47" fmla="*/ 85 h 7586"/>
              <a:gd name="T48" fmla="*/ 46 w 7471"/>
              <a:gd name="T49" fmla="*/ 58 h 7586"/>
              <a:gd name="T50" fmla="*/ 75 w 7471"/>
              <a:gd name="T51" fmla="*/ 35 h 7586"/>
              <a:gd name="T52" fmla="*/ 114 w 7471"/>
              <a:gd name="T53" fmla="*/ 17 h 7586"/>
              <a:gd name="T54" fmla="*/ 160 w 7471"/>
              <a:gd name="T55" fmla="*/ 5 h 7586"/>
              <a:gd name="T56" fmla="*/ 213 w 7471"/>
              <a:gd name="T57" fmla="*/ 0 h 7586"/>
              <a:gd name="T58" fmla="*/ 7228 w 7471"/>
              <a:gd name="T59" fmla="*/ 0 h 7586"/>
              <a:gd name="T60" fmla="*/ 7284 w 7471"/>
              <a:gd name="T61" fmla="*/ 2 h 7586"/>
              <a:gd name="T62" fmla="*/ 7333 w 7471"/>
              <a:gd name="T63" fmla="*/ 11 h 7586"/>
              <a:gd name="T64" fmla="*/ 7374 w 7471"/>
              <a:gd name="T65" fmla="*/ 26 h 7586"/>
              <a:gd name="T66" fmla="*/ 7409 w 7471"/>
              <a:gd name="T67" fmla="*/ 46 h 7586"/>
              <a:gd name="T68" fmla="*/ 7436 w 7471"/>
              <a:gd name="T69" fmla="*/ 72 h 7586"/>
              <a:gd name="T70" fmla="*/ 7455 w 7471"/>
              <a:gd name="T71" fmla="*/ 102 h 7586"/>
              <a:gd name="T72" fmla="*/ 7466 w 7471"/>
              <a:gd name="T73" fmla="*/ 139 h 7586"/>
              <a:gd name="T74" fmla="*/ 7471 w 7471"/>
              <a:gd name="T75" fmla="*/ 182 h 7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471" h="7586">
                <a:moveTo>
                  <a:pt x="7471" y="182"/>
                </a:moveTo>
                <a:lnTo>
                  <a:pt x="7471" y="7404"/>
                </a:lnTo>
                <a:lnTo>
                  <a:pt x="7470" y="7424"/>
                </a:lnTo>
                <a:lnTo>
                  <a:pt x="7466" y="7445"/>
                </a:lnTo>
                <a:lnTo>
                  <a:pt x="7461" y="7463"/>
                </a:lnTo>
                <a:lnTo>
                  <a:pt x="7455" y="7481"/>
                </a:lnTo>
                <a:lnTo>
                  <a:pt x="7446" y="7497"/>
                </a:lnTo>
                <a:lnTo>
                  <a:pt x="7440" y="7504"/>
                </a:lnTo>
                <a:lnTo>
                  <a:pt x="7436" y="7512"/>
                </a:lnTo>
                <a:lnTo>
                  <a:pt x="7423" y="7526"/>
                </a:lnTo>
                <a:lnTo>
                  <a:pt x="7409" y="7538"/>
                </a:lnTo>
                <a:lnTo>
                  <a:pt x="7400" y="7543"/>
                </a:lnTo>
                <a:lnTo>
                  <a:pt x="7396" y="7545"/>
                </a:lnTo>
                <a:lnTo>
                  <a:pt x="7393" y="7546"/>
                </a:lnTo>
                <a:lnTo>
                  <a:pt x="7392" y="7549"/>
                </a:lnTo>
                <a:lnTo>
                  <a:pt x="7374" y="7558"/>
                </a:lnTo>
                <a:lnTo>
                  <a:pt x="7371" y="7558"/>
                </a:lnTo>
                <a:lnTo>
                  <a:pt x="7368" y="7559"/>
                </a:lnTo>
                <a:lnTo>
                  <a:pt x="7364" y="7561"/>
                </a:lnTo>
                <a:lnTo>
                  <a:pt x="7355" y="7566"/>
                </a:lnTo>
                <a:lnTo>
                  <a:pt x="7333" y="7573"/>
                </a:lnTo>
                <a:lnTo>
                  <a:pt x="7309" y="7577"/>
                </a:lnTo>
                <a:lnTo>
                  <a:pt x="7284" y="7582"/>
                </a:lnTo>
                <a:lnTo>
                  <a:pt x="7257" y="7584"/>
                </a:lnTo>
                <a:lnTo>
                  <a:pt x="7228" y="7586"/>
                </a:lnTo>
                <a:lnTo>
                  <a:pt x="244" y="7586"/>
                </a:lnTo>
                <a:lnTo>
                  <a:pt x="213" y="7584"/>
                </a:lnTo>
                <a:lnTo>
                  <a:pt x="186" y="7582"/>
                </a:lnTo>
                <a:lnTo>
                  <a:pt x="160" y="7577"/>
                </a:lnTo>
                <a:lnTo>
                  <a:pt x="137" y="7573"/>
                </a:lnTo>
                <a:lnTo>
                  <a:pt x="114" y="7566"/>
                </a:lnTo>
                <a:lnTo>
                  <a:pt x="95" y="7558"/>
                </a:lnTo>
                <a:lnTo>
                  <a:pt x="75" y="7549"/>
                </a:lnTo>
                <a:lnTo>
                  <a:pt x="61" y="7538"/>
                </a:lnTo>
                <a:lnTo>
                  <a:pt x="46" y="7526"/>
                </a:lnTo>
                <a:lnTo>
                  <a:pt x="33" y="7512"/>
                </a:lnTo>
                <a:lnTo>
                  <a:pt x="23" y="7497"/>
                </a:lnTo>
                <a:lnTo>
                  <a:pt x="15" y="7481"/>
                </a:lnTo>
                <a:lnTo>
                  <a:pt x="7" y="7463"/>
                </a:lnTo>
                <a:lnTo>
                  <a:pt x="4" y="7445"/>
                </a:lnTo>
                <a:lnTo>
                  <a:pt x="0" y="7424"/>
                </a:lnTo>
                <a:lnTo>
                  <a:pt x="0" y="7404"/>
                </a:lnTo>
                <a:lnTo>
                  <a:pt x="0" y="182"/>
                </a:lnTo>
                <a:lnTo>
                  <a:pt x="0" y="159"/>
                </a:lnTo>
                <a:lnTo>
                  <a:pt x="4" y="139"/>
                </a:lnTo>
                <a:lnTo>
                  <a:pt x="7" y="119"/>
                </a:lnTo>
                <a:lnTo>
                  <a:pt x="15" y="102"/>
                </a:lnTo>
                <a:lnTo>
                  <a:pt x="23" y="85"/>
                </a:lnTo>
                <a:lnTo>
                  <a:pt x="33" y="72"/>
                </a:lnTo>
                <a:lnTo>
                  <a:pt x="46" y="58"/>
                </a:lnTo>
                <a:lnTo>
                  <a:pt x="61" y="46"/>
                </a:lnTo>
                <a:lnTo>
                  <a:pt x="75" y="35"/>
                </a:lnTo>
                <a:lnTo>
                  <a:pt x="95" y="26"/>
                </a:lnTo>
                <a:lnTo>
                  <a:pt x="114" y="17"/>
                </a:lnTo>
                <a:lnTo>
                  <a:pt x="137" y="11"/>
                </a:lnTo>
                <a:lnTo>
                  <a:pt x="160" y="5"/>
                </a:lnTo>
                <a:lnTo>
                  <a:pt x="186" y="2"/>
                </a:lnTo>
                <a:lnTo>
                  <a:pt x="213" y="0"/>
                </a:lnTo>
                <a:lnTo>
                  <a:pt x="244" y="0"/>
                </a:lnTo>
                <a:lnTo>
                  <a:pt x="7228" y="0"/>
                </a:lnTo>
                <a:lnTo>
                  <a:pt x="7257" y="0"/>
                </a:lnTo>
                <a:lnTo>
                  <a:pt x="7284" y="2"/>
                </a:lnTo>
                <a:lnTo>
                  <a:pt x="7309" y="5"/>
                </a:lnTo>
                <a:lnTo>
                  <a:pt x="7333" y="11"/>
                </a:lnTo>
                <a:lnTo>
                  <a:pt x="7355" y="17"/>
                </a:lnTo>
                <a:lnTo>
                  <a:pt x="7374" y="26"/>
                </a:lnTo>
                <a:lnTo>
                  <a:pt x="7392" y="35"/>
                </a:lnTo>
                <a:lnTo>
                  <a:pt x="7409" y="46"/>
                </a:lnTo>
                <a:lnTo>
                  <a:pt x="7423" y="58"/>
                </a:lnTo>
                <a:lnTo>
                  <a:pt x="7436" y="72"/>
                </a:lnTo>
                <a:lnTo>
                  <a:pt x="7446" y="85"/>
                </a:lnTo>
                <a:lnTo>
                  <a:pt x="7455" y="102"/>
                </a:lnTo>
                <a:lnTo>
                  <a:pt x="7461" y="119"/>
                </a:lnTo>
                <a:lnTo>
                  <a:pt x="7466" y="139"/>
                </a:lnTo>
                <a:lnTo>
                  <a:pt x="7470" y="159"/>
                </a:lnTo>
                <a:lnTo>
                  <a:pt x="7471" y="182"/>
                </a:lnTo>
              </a:path>
            </a:pathLst>
          </a:custGeom>
          <a:solidFill>
            <a:srgbClr val="FFDEBD"/>
          </a:solidFill>
          <a:ln w="17526">
            <a:solidFill>
              <a:srgbClr val="000000"/>
            </a:solidFill>
            <a:prstDash val="solid"/>
            <a:round/>
            <a:headEnd/>
            <a:tailEnd/>
          </a:ln>
        </p:spPr>
        <p:txBody>
          <a:bodyPr/>
          <a:lstStyle/>
          <a:p>
            <a:endParaRPr lang="en-IN"/>
          </a:p>
        </p:txBody>
      </p:sp>
      <p:pic>
        <p:nvPicPr>
          <p:cNvPr id="3073298" name="Picture 274">
            <a:extLst>
              <a:ext uri="{FF2B5EF4-FFF2-40B4-BE49-F238E27FC236}">
                <a16:creationId xmlns:a16="http://schemas.microsoft.com/office/drawing/2014/main" id="{50DBCE9E-31CC-F756-EE1D-08D3EED299D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675" y="3206750"/>
            <a:ext cx="787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299" name="Picture 275">
            <a:extLst>
              <a:ext uri="{FF2B5EF4-FFF2-40B4-BE49-F238E27FC236}">
                <a16:creationId xmlns:a16="http://schemas.microsoft.com/office/drawing/2014/main" id="{F0001369-C69D-5838-91D0-A5E54C2150B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875" y="3200400"/>
            <a:ext cx="787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300" name="Rectangle 276">
            <a:extLst>
              <a:ext uri="{FF2B5EF4-FFF2-40B4-BE49-F238E27FC236}">
                <a16:creationId xmlns:a16="http://schemas.microsoft.com/office/drawing/2014/main" id="{F707918F-31A4-172B-CCCB-6E6474256710}"/>
              </a:ext>
            </a:extLst>
          </p:cNvPr>
          <p:cNvSpPr>
            <a:spLocks noChangeArrowheads="1"/>
          </p:cNvSpPr>
          <p:nvPr/>
        </p:nvSpPr>
        <p:spPr bwMode="auto">
          <a:xfrm>
            <a:off x="5578475" y="3505200"/>
            <a:ext cx="6350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b="1">
                <a:solidFill>
                  <a:srgbClr val="000000"/>
                </a:solidFill>
                <a:latin typeface="Verdana" panose="020B0604030504040204" pitchFamily="34" charset="0"/>
                <a:ea typeface="宋体" panose="02010600030101010101" pitchFamily="2" charset="-122"/>
              </a:rPr>
              <a:t>1</a:t>
            </a:r>
            <a:endParaRPr lang="en-US" altLang="zh-CN" sz="1800">
              <a:solidFill>
                <a:schemeClr val="tx1"/>
              </a:solidFill>
              <a:ea typeface="宋体" panose="02010600030101010101" pitchFamily="2" charset="-122"/>
            </a:endParaRPr>
          </a:p>
        </p:txBody>
      </p:sp>
      <p:sp>
        <p:nvSpPr>
          <p:cNvPr id="3073301" name="Freeform 277">
            <a:extLst>
              <a:ext uri="{FF2B5EF4-FFF2-40B4-BE49-F238E27FC236}">
                <a16:creationId xmlns:a16="http://schemas.microsoft.com/office/drawing/2014/main" id="{CD2FD9ED-1F8E-03ED-F679-138C34CA0B75}"/>
              </a:ext>
            </a:extLst>
          </p:cNvPr>
          <p:cNvSpPr>
            <a:spLocks/>
          </p:cNvSpPr>
          <p:nvPr/>
        </p:nvSpPr>
        <p:spPr bwMode="auto">
          <a:xfrm>
            <a:off x="5541963" y="3482975"/>
            <a:ext cx="144462" cy="155575"/>
          </a:xfrm>
          <a:custGeom>
            <a:avLst/>
            <a:gdLst>
              <a:gd name="T0" fmla="*/ 40 w 366"/>
              <a:gd name="T1" fmla="*/ 71 h 393"/>
              <a:gd name="T2" fmla="*/ 19 w 366"/>
              <a:gd name="T3" fmla="*/ 103 h 393"/>
              <a:gd name="T4" fmla="*/ 6 w 366"/>
              <a:gd name="T5" fmla="*/ 138 h 393"/>
              <a:gd name="T6" fmla="*/ 1 w 366"/>
              <a:gd name="T7" fmla="*/ 197 h 393"/>
              <a:gd name="T8" fmla="*/ 2 w 366"/>
              <a:gd name="T9" fmla="*/ 235 h 393"/>
              <a:gd name="T10" fmla="*/ 12 w 366"/>
              <a:gd name="T11" fmla="*/ 271 h 393"/>
              <a:gd name="T12" fmla="*/ 29 w 366"/>
              <a:gd name="T13" fmla="*/ 304 h 393"/>
              <a:gd name="T14" fmla="*/ 53 w 366"/>
              <a:gd name="T15" fmla="*/ 335 h 393"/>
              <a:gd name="T16" fmla="*/ 81 w 366"/>
              <a:gd name="T17" fmla="*/ 359 h 393"/>
              <a:gd name="T18" fmla="*/ 112 w 366"/>
              <a:gd name="T19" fmla="*/ 378 h 393"/>
              <a:gd name="T20" fmla="*/ 146 w 366"/>
              <a:gd name="T21" fmla="*/ 389 h 393"/>
              <a:gd name="T22" fmla="*/ 183 w 366"/>
              <a:gd name="T23" fmla="*/ 393 h 393"/>
              <a:gd name="T24" fmla="*/ 184 w 366"/>
              <a:gd name="T25" fmla="*/ 392 h 393"/>
              <a:gd name="T26" fmla="*/ 191 w 366"/>
              <a:gd name="T27" fmla="*/ 392 h 393"/>
              <a:gd name="T28" fmla="*/ 219 w 366"/>
              <a:gd name="T29" fmla="*/ 389 h 393"/>
              <a:gd name="T30" fmla="*/ 239 w 366"/>
              <a:gd name="T31" fmla="*/ 382 h 393"/>
              <a:gd name="T32" fmla="*/ 253 w 366"/>
              <a:gd name="T33" fmla="*/ 378 h 393"/>
              <a:gd name="T34" fmla="*/ 274 w 366"/>
              <a:gd name="T35" fmla="*/ 364 h 393"/>
              <a:gd name="T36" fmla="*/ 296 w 366"/>
              <a:gd name="T37" fmla="*/ 348 h 393"/>
              <a:gd name="T38" fmla="*/ 304 w 366"/>
              <a:gd name="T39" fmla="*/ 338 h 393"/>
              <a:gd name="T40" fmla="*/ 311 w 366"/>
              <a:gd name="T41" fmla="*/ 335 h 393"/>
              <a:gd name="T42" fmla="*/ 334 w 366"/>
              <a:gd name="T43" fmla="*/ 304 h 393"/>
              <a:gd name="T44" fmla="*/ 351 w 366"/>
              <a:gd name="T45" fmla="*/ 271 h 393"/>
              <a:gd name="T46" fmla="*/ 361 w 366"/>
              <a:gd name="T47" fmla="*/ 235 h 393"/>
              <a:gd name="T48" fmla="*/ 366 w 366"/>
              <a:gd name="T49" fmla="*/ 197 h 393"/>
              <a:gd name="T50" fmla="*/ 357 w 366"/>
              <a:gd name="T51" fmla="*/ 138 h 393"/>
              <a:gd name="T52" fmla="*/ 343 w 366"/>
              <a:gd name="T53" fmla="*/ 103 h 393"/>
              <a:gd name="T54" fmla="*/ 322 w 366"/>
              <a:gd name="T55" fmla="*/ 71 h 393"/>
              <a:gd name="T56" fmla="*/ 296 w 366"/>
              <a:gd name="T57" fmla="*/ 42 h 393"/>
              <a:gd name="T58" fmla="*/ 268 w 366"/>
              <a:gd name="T59" fmla="*/ 21 h 393"/>
              <a:gd name="T60" fmla="*/ 236 w 366"/>
              <a:gd name="T61" fmla="*/ 7 h 393"/>
              <a:gd name="T62" fmla="*/ 200 w 366"/>
              <a:gd name="T63" fmla="*/ 0 h 393"/>
              <a:gd name="T64" fmla="*/ 146 w 366"/>
              <a:gd name="T65" fmla="*/ 4 h 393"/>
              <a:gd name="T66" fmla="*/ 112 w 366"/>
              <a:gd name="T67" fmla="*/ 14 h 393"/>
              <a:gd name="T68" fmla="*/ 66 w 366"/>
              <a:gd name="T69" fmla="*/ 42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6" h="393">
                <a:moveTo>
                  <a:pt x="53" y="57"/>
                </a:moveTo>
                <a:lnTo>
                  <a:pt x="40" y="71"/>
                </a:lnTo>
                <a:lnTo>
                  <a:pt x="29" y="87"/>
                </a:lnTo>
                <a:lnTo>
                  <a:pt x="19" y="103"/>
                </a:lnTo>
                <a:lnTo>
                  <a:pt x="12" y="121"/>
                </a:lnTo>
                <a:lnTo>
                  <a:pt x="6" y="138"/>
                </a:lnTo>
                <a:lnTo>
                  <a:pt x="2" y="157"/>
                </a:lnTo>
                <a:lnTo>
                  <a:pt x="1" y="197"/>
                </a:lnTo>
                <a:lnTo>
                  <a:pt x="0" y="215"/>
                </a:lnTo>
                <a:lnTo>
                  <a:pt x="2" y="235"/>
                </a:lnTo>
                <a:lnTo>
                  <a:pt x="6" y="253"/>
                </a:lnTo>
                <a:lnTo>
                  <a:pt x="12" y="271"/>
                </a:lnTo>
                <a:lnTo>
                  <a:pt x="19" y="287"/>
                </a:lnTo>
                <a:lnTo>
                  <a:pt x="29" y="304"/>
                </a:lnTo>
                <a:lnTo>
                  <a:pt x="40" y="319"/>
                </a:lnTo>
                <a:lnTo>
                  <a:pt x="53" y="335"/>
                </a:lnTo>
                <a:lnTo>
                  <a:pt x="66" y="348"/>
                </a:lnTo>
                <a:lnTo>
                  <a:pt x="81" y="359"/>
                </a:lnTo>
                <a:lnTo>
                  <a:pt x="96" y="369"/>
                </a:lnTo>
                <a:lnTo>
                  <a:pt x="112" y="378"/>
                </a:lnTo>
                <a:lnTo>
                  <a:pt x="127" y="384"/>
                </a:lnTo>
                <a:lnTo>
                  <a:pt x="146" y="389"/>
                </a:lnTo>
                <a:lnTo>
                  <a:pt x="164" y="392"/>
                </a:lnTo>
                <a:lnTo>
                  <a:pt x="183" y="393"/>
                </a:lnTo>
                <a:lnTo>
                  <a:pt x="183" y="392"/>
                </a:lnTo>
                <a:lnTo>
                  <a:pt x="184" y="392"/>
                </a:lnTo>
                <a:lnTo>
                  <a:pt x="187" y="392"/>
                </a:lnTo>
                <a:lnTo>
                  <a:pt x="191" y="392"/>
                </a:lnTo>
                <a:lnTo>
                  <a:pt x="200" y="392"/>
                </a:lnTo>
                <a:lnTo>
                  <a:pt x="219" y="389"/>
                </a:lnTo>
                <a:lnTo>
                  <a:pt x="236" y="384"/>
                </a:lnTo>
                <a:lnTo>
                  <a:pt x="239" y="382"/>
                </a:lnTo>
                <a:lnTo>
                  <a:pt x="244" y="381"/>
                </a:lnTo>
                <a:lnTo>
                  <a:pt x="253" y="378"/>
                </a:lnTo>
                <a:lnTo>
                  <a:pt x="268" y="369"/>
                </a:lnTo>
                <a:lnTo>
                  <a:pt x="274" y="364"/>
                </a:lnTo>
                <a:lnTo>
                  <a:pt x="282" y="359"/>
                </a:lnTo>
                <a:lnTo>
                  <a:pt x="296" y="348"/>
                </a:lnTo>
                <a:lnTo>
                  <a:pt x="303" y="341"/>
                </a:lnTo>
                <a:lnTo>
                  <a:pt x="304" y="338"/>
                </a:lnTo>
                <a:lnTo>
                  <a:pt x="306" y="337"/>
                </a:lnTo>
                <a:lnTo>
                  <a:pt x="311" y="335"/>
                </a:lnTo>
                <a:lnTo>
                  <a:pt x="322" y="319"/>
                </a:lnTo>
                <a:lnTo>
                  <a:pt x="334" y="304"/>
                </a:lnTo>
                <a:lnTo>
                  <a:pt x="343" y="287"/>
                </a:lnTo>
                <a:lnTo>
                  <a:pt x="351" y="271"/>
                </a:lnTo>
                <a:lnTo>
                  <a:pt x="357" y="253"/>
                </a:lnTo>
                <a:lnTo>
                  <a:pt x="361" y="235"/>
                </a:lnTo>
                <a:lnTo>
                  <a:pt x="363" y="215"/>
                </a:lnTo>
                <a:lnTo>
                  <a:pt x="366" y="197"/>
                </a:lnTo>
                <a:lnTo>
                  <a:pt x="361" y="157"/>
                </a:lnTo>
                <a:lnTo>
                  <a:pt x="357" y="138"/>
                </a:lnTo>
                <a:lnTo>
                  <a:pt x="351" y="121"/>
                </a:lnTo>
                <a:lnTo>
                  <a:pt x="343" y="103"/>
                </a:lnTo>
                <a:lnTo>
                  <a:pt x="334" y="87"/>
                </a:lnTo>
                <a:lnTo>
                  <a:pt x="322" y="71"/>
                </a:lnTo>
                <a:lnTo>
                  <a:pt x="311" y="57"/>
                </a:lnTo>
                <a:lnTo>
                  <a:pt x="296" y="42"/>
                </a:lnTo>
                <a:lnTo>
                  <a:pt x="282" y="31"/>
                </a:lnTo>
                <a:lnTo>
                  <a:pt x="268" y="21"/>
                </a:lnTo>
                <a:lnTo>
                  <a:pt x="253" y="14"/>
                </a:lnTo>
                <a:lnTo>
                  <a:pt x="236" y="7"/>
                </a:lnTo>
                <a:lnTo>
                  <a:pt x="219" y="4"/>
                </a:lnTo>
                <a:lnTo>
                  <a:pt x="200" y="0"/>
                </a:lnTo>
                <a:lnTo>
                  <a:pt x="183" y="0"/>
                </a:lnTo>
                <a:lnTo>
                  <a:pt x="146" y="4"/>
                </a:lnTo>
                <a:lnTo>
                  <a:pt x="127" y="7"/>
                </a:lnTo>
                <a:lnTo>
                  <a:pt x="112" y="14"/>
                </a:lnTo>
                <a:lnTo>
                  <a:pt x="81" y="31"/>
                </a:lnTo>
                <a:lnTo>
                  <a:pt x="66" y="42"/>
                </a:lnTo>
                <a:lnTo>
                  <a:pt x="53" y="57"/>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pic>
        <p:nvPicPr>
          <p:cNvPr id="3073302" name="Picture 278">
            <a:extLst>
              <a:ext uri="{FF2B5EF4-FFF2-40B4-BE49-F238E27FC236}">
                <a16:creationId xmlns:a16="http://schemas.microsoft.com/office/drawing/2014/main" id="{737DAFC0-2069-A12A-A29F-10D6B4BB7F2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2875" y="3070225"/>
            <a:ext cx="787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303" name="Picture 279">
            <a:extLst>
              <a:ext uri="{FF2B5EF4-FFF2-40B4-BE49-F238E27FC236}">
                <a16:creationId xmlns:a16="http://schemas.microsoft.com/office/drawing/2014/main" id="{5281714C-ABBB-68A0-7831-17432C1A1FB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2825" y="3467100"/>
            <a:ext cx="787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304" name="Line 280">
            <a:extLst>
              <a:ext uri="{FF2B5EF4-FFF2-40B4-BE49-F238E27FC236}">
                <a16:creationId xmlns:a16="http://schemas.microsoft.com/office/drawing/2014/main" id="{8A8039B3-149D-CAE4-1E77-25B6475BD831}"/>
              </a:ext>
            </a:extLst>
          </p:cNvPr>
          <p:cNvSpPr>
            <a:spLocks noChangeShapeType="1"/>
          </p:cNvSpPr>
          <p:nvPr/>
        </p:nvSpPr>
        <p:spPr bwMode="auto">
          <a:xfrm>
            <a:off x="1352550" y="3435350"/>
            <a:ext cx="1588" cy="919163"/>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05" name="Line 281">
            <a:extLst>
              <a:ext uri="{FF2B5EF4-FFF2-40B4-BE49-F238E27FC236}">
                <a16:creationId xmlns:a16="http://schemas.microsoft.com/office/drawing/2014/main" id="{E7072A39-83D3-401B-CD0D-DB8FC9623066}"/>
              </a:ext>
            </a:extLst>
          </p:cNvPr>
          <p:cNvSpPr>
            <a:spLocks noChangeShapeType="1"/>
          </p:cNvSpPr>
          <p:nvPr/>
        </p:nvSpPr>
        <p:spPr bwMode="auto">
          <a:xfrm flipV="1">
            <a:off x="6061075" y="3694113"/>
            <a:ext cx="1588" cy="66675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06" name="Line 282">
            <a:extLst>
              <a:ext uri="{FF2B5EF4-FFF2-40B4-BE49-F238E27FC236}">
                <a16:creationId xmlns:a16="http://schemas.microsoft.com/office/drawing/2014/main" id="{E551D352-AC79-6CE8-CD4F-C45447FA6CBD}"/>
              </a:ext>
            </a:extLst>
          </p:cNvPr>
          <p:cNvSpPr>
            <a:spLocks noChangeShapeType="1"/>
          </p:cNvSpPr>
          <p:nvPr/>
        </p:nvSpPr>
        <p:spPr bwMode="auto">
          <a:xfrm>
            <a:off x="5018088" y="3821113"/>
            <a:ext cx="1587" cy="53975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07" name="Line 283">
            <a:extLst>
              <a:ext uri="{FF2B5EF4-FFF2-40B4-BE49-F238E27FC236}">
                <a16:creationId xmlns:a16="http://schemas.microsoft.com/office/drawing/2014/main" id="{A88EBDF5-450D-F325-4BAC-924E370541B0}"/>
              </a:ext>
            </a:extLst>
          </p:cNvPr>
          <p:cNvSpPr>
            <a:spLocks noChangeShapeType="1"/>
          </p:cNvSpPr>
          <p:nvPr/>
        </p:nvSpPr>
        <p:spPr bwMode="auto">
          <a:xfrm>
            <a:off x="647700" y="3603625"/>
            <a:ext cx="1588" cy="7508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08" name="Line 284">
            <a:extLst>
              <a:ext uri="{FF2B5EF4-FFF2-40B4-BE49-F238E27FC236}">
                <a16:creationId xmlns:a16="http://schemas.microsoft.com/office/drawing/2014/main" id="{51F0E4B8-C4CF-1926-1DCF-A3D854F3AEAF}"/>
              </a:ext>
            </a:extLst>
          </p:cNvPr>
          <p:cNvSpPr>
            <a:spLocks noChangeShapeType="1"/>
          </p:cNvSpPr>
          <p:nvPr/>
        </p:nvSpPr>
        <p:spPr bwMode="auto">
          <a:xfrm flipV="1">
            <a:off x="2851150" y="3468688"/>
            <a:ext cx="1588" cy="92233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09" name="Line 285">
            <a:extLst>
              <a:ext uri="{FF2B5EF4-FFF2-40B4-BE49-F238E27FC236}">
                <a16:creationId xmlns:a16="http://schemas.microsoft.com/office/drawing/2014/main" id="{DF32DA4D-7133-8BEE-A567-9DE253C45C2D}"/>
              </a:ext>
            </a:extLst>
          </p:cNvPr>
          <p:cNvSpPr>
            <a:spLocks noChangeShapeType="1"/>
          </p:cNvSpPr>
          <p:nvPr/>
        </p:nvSpPr>
        <p:spPr bwMode="auto">
          <a:xfrm>
            <a:off x="1984375" y="3471863"/>
            <a:ext cx="1588" cy="91916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10" name="Freeform 286">
            <a:extLst>
              <a:ext uri="{FF2B5EF4-FFF2-40B4-BE49-F238E27FC236}">
                <a16:creationId xmlns:a16="http://schemas.microsoft.com/office/drawing/2014/main" id="{A1A50DAA-AA45-1250-29B4-9E0BB48CB74E}"/>
              </a:ext>
            </a:extLst>
          </p:cNvPr>
          <p:cNvSpPr>
            <a:spLocks/>
          </p:cNvSpPr>
          <p:nvPr/>
        </p:nvSpPr>
        <p:spPr bwMode="auto">
          <a:xfrm>
            <a:off x="3316288" y="2044700"/>
            <a:ext cx="1392237" cy="3009900"/>
          </a:xfrm>
          <a:custGeom>
            <a:avLst/>
            <a:gdLst>
              <a:gd name="T0" fmla="*/ 3509 w 3509"/>
              <a:gd name="T1" fmla="*/ 2872 h 7586"/>
              <a:gd name="T2" fmla="*/ 3509 w 3509"/>
              <a:gd name="T3" fmla="*/ 7404 h 7586"/>
              <a:gd name="T4" fmla="*/ 3508 w 3509"/>
              <a:gd name="T5" fmla="*/ 7414 h 7586"/>
              <a:gd name="T6" fmla="*/ 3505 w 3509"/>
              <a:gd name="T7" fmla="*/ 7446 h 7586"/>
              <a:gd name="T8" fmla="*/ 3502 w 3509"/>
              <a:gd name="T9" fmla="*/ 7460 h 7586"/>
              <a:gd name="T10" fmla="*/ 3497 w 3509"/>
              <a:gd name="T11" fmla="*/ 7484 h 7586"/>
              <a:gd name="T12" fmla="*/ 3486 w 3509"/>
              <a:gd name="T13" fmla="*/ 7506 h 7586"/>
              <a:gd name="T14" fmla="*/ 3483 w 3509"/>
              <a:gd name="T15" fmla="*/ 7514 h 7586"/>
              <a:gd name="T16" fmla="*/ 3470 w 3509"/>
              <a:gd name="T17" fmla="*/ 7530 h 7586"/>
              <a:gd name="T18" fmla="*/ 3463 w 3509"/>
              <a:gd name="T19" fmla="*/ 7541 h 7586"/>
              <a:gd name="T20" fmla="*/ 3453 w 3509"/>
              <a:gd name="T21" fmla="*/ 7547 h 7586"/>
              <a:gd name="T22" fmla="*/ 3437 w 3509"/>
              <a:gd name="T23" fmla="*/ 7560 h 7586"/>
              <a:gd name="T24" fmla="*/ 3429 w 3509"/>
              <a:gd name="T25" fmla="*/ 7563 h 7586"/>
              <a:gd name="T26" fmla="*/ 3406 w 3509"/>
              <a:gd name="T27" fmla="*/ 7575 h 7586"/>
              <a:gd name="T28" fmla="*/ 3382 w 3509"/>
              <a:gd name="T29" fmla="*/ 7579 h 7586"/>
              <a:gd name="T30" fmla="*/ 3369 w 3509"/>
              <a:gd name="T31" fmla="*/ 7583 h 7586"/>
              <a:gd name="T32" fmla="*/ 3337 w 3509"/>
              <a:gd name="T33" fmla="*/ 7585 h 7586"/>
              <a:gd name="T34" fmla="*/ 3326 w 3509"/>
              <a:gd name="T35" fmla="*/ 7586 h 7586"/>
              <a:gd name="T36" fmla="*/ 138 w 3509"/>
              <a:gd name="T37" fmla="*/ 7584 h 7586"/>
              <a:gd name="T38" fmla="*/ 104 w 3509"/>
              <a:gd name="T39" fmla="*/ 7575 h 7586"/>
              <a:gd name="T40" fmla="*/ 77 w 3509"/>
              <a:gd name="T41" fmla="*/ 7563 h 7586"/>
              <a:gd name="T42" fmla="*/ 42 w 3509"/>
              <a:gd name="T43" fmla="*/ 7537 h 7586"/>
              <a:gd name="T44" fmla="*/ 25 w 3509"/>
              <a:gd name="T45" fmla="*/ 7514 h 7586"/>
              <a:gd name="T46" fmla="*/ 8 w 3509"/>
              <a:gd name="T47" fmla="*/ 7473 h 7586"/>
              <a:gd name="T48" fmla="*/ 1 w 3509"/>
              <a:gd name="T49" fmla="*/ 7440 h 7586"/>
              <a:gd name="T50" fmla="*/ 0 w 3509"/>
              <a:gd name="T51" fmla="*/ 182 h 7586"/>
              <a:gd name="T52" fmla="*/ 8 w 3509"/>
              <a:gd name="T53" fmla="*/ 110 h 7586"/>
              <a:gd name="T54" fmla="*/ 25 w 3509"/>
              <a:gd name="T55" fmla="*/ 68 h 7586"/>
              <a:gd name="T56" fmla="*/ 42 w 3509"/>
              <a:gd name="T57" fmla="*/ 46 h 7586"/>
              <a:gd name="T58" fmla="*/ 77 w 3509"/>
              <a:gd name="T59" fmla="*/ 21 h 7586"/>
              <a:gd name="T60" fmla="*/ 104 w 3509"/>
              <a:gd name="T61" fmla="*/ 10 h 7586"/>
              <a:gd name="T62" fmla="*/ 138 w 3509"/>
              <a:gd name="T63" fmla="*/ 3 h 7586"/>
              <a:gd name="T64" fmla="*/ 3326 w 3509"/>
              <a:gd name="T65" fmla="*/ 0 h 7586"/>
              <a:gd name="T66" fmla="*/ 3369 w 3509"/>
              <a:gd name="T67" fmla="*/ 2 h 7586"/>
              <a:gd name="T68" fmla="*/ 3406 w 3509"/>
              <a:gd name="T69" fmla="*/ 11 h 7586"/>
              <a:gd name="T70" fmla="*/ 3437 w 3509"/>
              <a:gd name="T71" fmla="*/ 25 h 7586"/>
              <a:gd name="T72" fmla="*/ 3463 w 3509"/>
              <a:gd name="T73" fmla="*/ 45 h 7586"/>
              <a:gd name="T74" fmla="*/ 3483 w 3509"/>
              <a:gd name="T75" fmla="*/ 70 h 7586"/>
              <a:gd name="T76" fmla="*/ 3497 w 3509"/>
              <a:gd name="T77" fmla="*/ 102 h 7586"/>
              <a:gd name="T78" fmla="*/ 3505 w 3509"/>
              <a:gd name="T79" fmla="*/ 139 h 7586"/>
              <a:gd name="T80" fmla="*/ 3509 w 3509"/>
              <a:gd name="T81" fmla="*/ 182 h 7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509" h="7586">
                <a:moveTo>
                  <a:pt x="3509" y="182"/>
                </a:moveTo>
                <a:lnTo>
                  <a:pt x="3509" y="2872"/>
                </a:lnTo>
                <a:lnTo>
                  <a:pt x="3509" y="3513"/>
                </a:lnTo>
                <a:lnTo>
                  <a:pt x="3509" y="7404"/>
                </a:lnTo>
                <a:lnTo>
                  <a:pt x="3508" y="7408"/>
                </a:lnTo>
                <a:lnTo>
                  <a:pt x="3508" y="7414"/>
                </a:lnTo>
                <a:lnTo>
                  <a:pt x="3508" y="7426"/>
                </a:lnTo>
                <a:lnTo>
                  <a:pt x="3505" y="7446"/>
                </a:lnTo>
                <a:lnTo>
                  <a:pt x="3503" y="7455"/>
                </a:lnTo>
                <a:lnTo>
                  <a:pt x="3502" y="7460"/>
                </a:lnTo>
                <a:lnTo>
                  <a:pt x="3502" y="7465"/>
                </a:lnTo>
                <a:lnTo>
                  <a:pt x="3497" y="7484"/>
                </a:lnTo>
                <a:lnTo>
                  <a:pt x="3491" y="7500"/>
                </a:lnTo>
                <a:lnTo>
                  <a:pt x="3486" y="7506"/>
                </a:lnTo>
                <a:lnTo>
                  <a:pt x="3484" y="7510"/>
                </a:lnTo>
                <a:lnTo>
                  <a:pt x="3483" y="7514"/>
                </a:lnTo>
                <a:lnTo>
                  <a:pt x="3473" y="7528"/>
                </a:lnTo>
                <a:lnTo>
                  <a:pt x="3470" y="7530"/>
                </a:lnTo>
                <a:lnTo>
                  <a:pt x="3468" y="7534"/>
                </a:lnTo>
                <a:lnTo>
                  <a:pt x="3463" y="7541"/>
                </a:lnTo>
                <a:lnTo>
                  <a:pt x="3456" y="7545"/>
                </a:lnTo>
                <a:lnTo>
                  <a:pt x="3453" y="7547"/>
                </a:lnTo>
                <a:lnTo>
                  <a:pt x="3451" y="7551"/>
                </a:lnTo>
                <a:lnTo>
                  <a:pt x="3437" y="7560"/>
                </a:lnTo>
                <a:lnTo>
                  <a:pt x="3432" y="7561"/>
                </a:lnTo>
                <a:lnTo>
                  <a:pt x="3429" y="7563"/>
                </a:lnTo>
                <a:lnTo>
                  <a:pt x="3422" y="7568"/>
                </a:lnTo>
                <a:lnTo>
                  <a:pt x="3406" y="7575"/>
                </a:lnTo>
                <a:lnTo>
                  <a:pt x="3388" y="7579"/>
                </a:lnTo>
                <a:lnTo>
                  <a:pt x="3382" y="7579"/>
                </a:lnTo>
                <a:lnTo>
                  <a:pt x="3378" y="7581"/>
                </a:lnTo>
                <a:lnTo>
                  <a:pt x="3369" y="7583"/>
                </a:lnTo>
                <a:lnTo>
                  <a:pt x="3348" y="7585"/>
                </a:lnTo>
                <a:lnTo>
                  <a:pt x="3337" y="7585"/>
                </a:lnTo>
                <a:lnTo>
                  <a:pt x="3331" y="7585"/>
                </a:lnTo>
                <a:lnTo>
                  <a:pt x="3326" y="7586"/>
                </a:lnTo>
                <a:lnTo>
                  <a:pt x="171" y="7586"/>
                </a:lnTo>
                <a:lnTo>
                  <a:pt x="138" y="7584"/>
                </a:lnTo>
                <a:lnTo>
                  <a:pt x="120" y="7579"/>
                </a:lnTo>
                <a:lnTo>
                  <a:pt x="104" y="7575"/>
                </a:lnTo>
                <a:lnTo>
                  <a:pt x="89" y="7569"/>
                </a:lnTo>
                <a:lnTo>
                  <a:pt x="77" y="7563"/>
                </a:lnTo>
                <a:lnTo>
                  <a:pt x="53" y="7547"/>
                </a:lnTo>
                <a:lnTo>
                  <a:pt x="42" y="7537"/>
                </a:lnTo>
                <a:lnTo>
                  <a:pt x="34" y="7527"/>
                </a:lnTo>
                <a:lnTo>
                  <a:pt x="25" y="7514"/>
                </a:lnTo>
                <a:lnTo>
                  <a:pt x="18" y="7502"/>
                </a:lnTo>
                <a:lnTo>
                  <a:pt x="8" y="7473"/>
                </a:lnTo>
                <a:lnTo>
                  <a:pt x="4" y="7456"/>
                </a:lnTo>
                <a:lnTo>
                  <a:pt x="1" y="7440"/>
                </a:lnTo>
                <a:lnTo>
                  <a:pt x="0" y="7404"/>
                </a:lnTo>
                <a:lnTo>
                  <a:pt x="0" y="182"/>
                </a:lnTo>
                <a:lnTo>
                  <a:pt x="1" y="143"/>
                </a:lnTo>
                <a:lnTo>
                  <a:pt x="8" y="110"/>
                </a:lnTo>
                <a:lnTo>
                  <a:pt x="18" y="81"/>
                </a:lnTo>
                <a:lnTo>
                  <a:pt x="25" y="68"/>
                </a:lnTo>
                <a:lnTo>
                  <a:pt x="34" y="58"/>
                </a:lnTo>
                <a:lnTo>
                  <a:pt x="42" y="46"/>
                </a:lnTo>
                <a:lnTo>
                  <a:pt x="53" y="37"/>
                </a:lnTo>
                <a:lnTo>
                  <a:pt x="77" y="21"/>
                </a:lnTo>
                <a:lnTo>
                  <a:pt x="89" y="15"/>
                </a:lnTo>
                <a:lnTo>
                  <a:pt x="104" y="10"/>
                </a:lnTo>
                <a:lnTo>
                  <a:pt x="120" y="5"/>
                </a:lnTo>
                <a:lnTo>
                  <a:pt x="138" y="3"/>
                </a:lnTo>
                <a:lnTo>
                  <a:pt x="171" y="0"/>
                </a:lnTo>
                <a:lnTo>
                  <a:pt x="3326" y="0"/>
                </a:lnTo>
                <a:lnTo>
                  <a:pt x="3348" y="0"/>
                </a:lnTo>
                <a:lnTo>
                  <a:pt x="3369" y="2"/>
                </a:lnTo>
                <a:lnTo>
                  <a:pt x="3388" y="5"/>
                </a:lnTo>
                <a:lnTo>
                  <a:pt x="3406" y="11"/>
                </a:lnTo>
                <a:lnTo>
                  <a:pt x="3422" y="17"/>
                </a:lnTo>
                <a:lnTo>
                  <a:pt x="3437" y="25"/>
                </a:lnTo>
                <a:lnTo>
                  <a:pt x="3451" y="34"/>
                </a:lnTo>
                <a:lnTo>
                  <a:pt x="3463" y="45"/>
                </a:lnTo>
                <a:lnTo>
                  <a:pt x="3473" y="57"/>
                </a:lnTo>
                <a:lnTo>
                  <a:pt x="3483" y="70"/>
                </a:lnTo>
                <a:lnTo>
                  <a:pt x="3491" y="85"/>
                </a:lnTo>
                <a:lnTo>
                  <a:pt x="3497" y="102"/>
                </a:lnTo>
                <a:lnTo>
                  <a:pt x="3502" y="119"/>
                </a:lnTo>
                <a:lnTo>
                  <a:pt x="3505" y="139"/>
                </a:lnTo>
                <a:lnTo>
                  <a:pt x="3508" y="159"/>
                </a:lnTo>
                <a:lnTo>
                  <a:pt x="3509" y="182"/>
                </a:lnTo>
              </a:path>
            </a:pathLst>
          </a:custGeom>
          <a:solidFill>
            <a:srgbClr val="FFE579"/>
          </a:solidFill>
          <a:ln w="17526">
            <a:solidFill>
              <a:srgbClr val="000000"/>
            </a:solidFill>
            <a:prstDash val="solid"/>
            <a:round/>
            <a:headEnd/>
            <a:tailEnd/>
          </a:ln>
        </p:spPr>
        <p:txBody>
          <a:bodyPr/>
          <a:lstStyle/>
          <a:p>
            <a:endParaRPr lang="en-IN"/>
          </a:p>
        </p:txBody>
      </p:sp>
      <p:sp>
        <p:nvSpPr>
          <p:cNvPr id="3073311" name="Line 287">
            <a:extLst>
              <a:ext uri="{FF2B5EF4-FFF2-40B4-BE49-F238E27FC236}">
                <a16:creationId xmlns:a16="http://schemas.microsoft.com/office/drawing/2014/main" id="{A1C937D3-FEC3-BEBC-30F4-25BD2FB121C8}"/>
              </a:ext>
            </a:extLst>
          </p:cNvPr>
          <p:cNvSpPr>
            <a:spLocks noChangeShapeType="1"/>
          </p:cNvSpPr>
          <p:nvPr/>
        </p:nvSpPr>
        <p:spPr bwMode="auto">
          <a:xfrm flipH="1">
            <a:off x="4840288" y="5054600"/>
            <a:ext cx="41275" cy="1588"/>
          </a:xfrm>
          <a:prstGeom prst="line">
            <a:avLst/>
          </a:prstGeom>
          <a:noFill/>
          <a:ln w="17463">
            <a:solidFill>
              <a:srgbClr val="99999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12" name="Freeform 288">
            <a:extLst>
              <a:ext uri="{FF2B5EF4-FFF2-40B4-BE49-F238E27FC236}">
                <a16:creationId xmlns:a16="http://schemas.microsoft.com/office/drawing/2014/main" id="{73A45B69-C0BC-108F-A309-CBA96548082C}"/>
              </a:ext>
            </a:extLst>
          </p:cNvPr>
          <p:cNvSpPr>
            <a:spLocks/>
          </p:cNvSpPr>
          <p:nvPr/>
        </p:nvSpPr>
        <p:spPr bwMode="auto">
          <a:xfrm>
            <a:off x="4410075" y="3368675"/>
            <a:ext cx="425450" cy="100013"/>
          </a:xfrm>
          <a:custGeom>
            <a:avLst/>
            <a:gdLst>
              <a:gd name="T0" fmla="*/ 1070 w 1070"/>
              <a:gd name="T1" fmla="*/ 250 h 250"/>
              <a:gd name="T2" fmla="*/ 870 w 1070"/>
              <a:gd name="T3" fmla="*/ 204 h 250"/>
              <a:gd name="T4" fmla="*/ 752 w 1070"/>
              <a:gd name="T5" fmla="*/ 176 h 250"/>
              <a:gd name="T6" fmla="*/ 0 w 1070"/>
              <a:gd name="T7" fmla="*/ 0 h 250"/>
            </a:gdLst>
            <a:ahLst/>
            <a:cxnLst>
              <a:cxn ang="0">
                <a:pos x="T0" y="T1"/>
              </a:cxn>
              <a:cxn ang="0">
                <a:pos x="T2" y="T3"/>
              </a:cxn>
              <a:cxn ang="0">
                <a:pos x="T4" y="T5"/>
              </a:cxn>
              <a:cxn ang="0">
                <a:pos x="T6" y="T7"/>
              </a:cxn>
            </a:cxnLst>
            <a:rect l="0" t="0" r="r" b="b"/>
            <a:pathLst>
              <a:path w="1070" h="250">
                <a:moveTo>
                  <a:pt x="1070" y="250"/>
                </a:moveTo>
                <a:lnTo>
                  <a:pt x="870" y="204"/>
                </a:lnTo>
                <a:lnTo>
                  <a:pt x="752" y="176"/>
                </a:lnTo>
                <a:lnTo>
                  <a:pt x="0" y="0"/>
                </a:lnTo>
              </a:path>
            </a:pathLst>
          </a:custGeom>
          <a:noFill/>
          <a:ln w="38100" cap="flat" cmpd="sng">
            <a:solidFill>
              <a:srgbClr val="FF99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13" name="Freeform 289">
            <a:extLst>
              <a:ext uri="{FF2B5EF4-FFF2-40B4-BE49-F238E27FC236}">
                <a16:creationId xmlns:a16="http://schemas.microsoft.com/office/drawing/2014/main" id="{C37188E1-B473-F823-9509-0049E9E42078}"/>
              </a:ext>
            </a:extLst>
          </p:cNvPr>
          <p:cNvSpPr>
            <a:spLocks/>
          </p:cNvSpPr>
          <p:nvPr/>
        </p:nvSpPr>
        <p:spPr bwMode="auto">
          <a:xfrm>
            <a:off x="4410075" y="3151188"/>
            <a:ext cx="425450" cy="109537"/>
          </a:xfrm>
          <a:custGeom>
            <a:avLst/>
            <a:gdLst>
              <a:gd name="T0" fmla="*/ 1070 w 1070"/>
              <a:gd name="T1" fmla="*/ 0 h 273"/>
              <a:gd name="T2" fmla="*/ 870 w 1070"/>
              <a:gd name="T3" fmla="*/ 51 h 273"/>
              <a:gd name="T4" fmla="*/ 752 w 1070"/>
              <a:gd name="T5" fmla="*/ 82 h 273"/>
              <a:gd name="T6" fmla="*/ 0 w 1070"/>
              <a:gd name="T7" fmla="*/ 273 h 273"/>
            </a:gdLst>
            <a:ahLst/>
            <a:cxnLst>
              <a:cxn ang="0">
                <a:pos x="T0" y="T1"/>
              </a:cxn>
              <a:cxn ang="0">
                <a:pos x="T2" y="T3"/>
              </a:cxn>
              <a:cxn ang="0">
                <a:pos x="T4" y="T5"/>
              </a:cxn>
              <a:cxn ang="0">
                <a:pos x="T6" y="T7"/>
              </a:cxn>
            </a:cxnLst>
            <a:rect l="0" t="0" r="r" b="b"/>
            <a:pathLst>
              <a:path w="1070" h="273">
                <a:moveTo>
                  <a:pt x="1070" y="0"/>
                </a:moveTo>
                <a:lnTo>
                  <a:pt x="870" y="51"/>
                </a:lnTo>
                <a:lnTo>
                  <a:pt x="752" y="82"/>
                </a:lnTo>
                <a:lnTo>
                  <a:pt x="0" y="273"/>
                </a:lnTo>
              </a:path>
            </a:pathLst>
          </a:custGeom>
          <a:noFill/>
          <a:ln w="38100">
            <a:solidFill>
              <a:srgbClr val="FF99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314" name="Line 290">
            <a:extLst>
              <a:ext uri="{FF2B5EF4-FFF2-40B4-BE49-F238E27FC236}">
                <a16:creationId xmlns:a16="http://schemas.microsoft.com/office/drawing/2014/main" id="{D57B8765-5C45-452A-DEA2-9052B22C8901}"/>
              </a:ext>
            </a:extLst>
          </p:cNvPr>
          <p:cNvSpPr>
            <a:spLocks noChangeShapeType="1"/>
          </p:cNvSpPr>
          <p:nvPr/>
        </p:nvSpPr>
        <p:spPr bwMode="auto">
          <a:xfrm>
            <a:off x="3602038" y="3190875"/>
            <a:ext cx="284162" cy="41275"/>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15" name="Line 291">
            <a:extLst>
              <a:ext uri="{FF2B5EF4-FFF2-40B4-BE49-F238E27FC236}">
                <a16:creationId xmlns:a16="http://schemas.microsoft.com/office/drawing/2014/main" id="{776AAC63-C34A-15F2-E36D-DA999ED227A4}"/>
              </a:ext>
            </a:extLst>
          </p:cNvPr>
          <p:cNvSpPr>
            <a:spLocks noChangeShapeType="1"/>
          </p:cNvSpPr>
          <p:nvPr/>
        </p:nvSpPr>
        <p:spPr bwMode="auto">
          <a:xfrm flipV="1">
            <a:off x="3563938" y="3378200"/>
            <a:ext cx="331787" cy="3810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16" name="Rectangle 292">
            <a:extLst>
              <a:ext uri="{FF2B5EF4-FFF2-40B4-BE49-F238E27FC236}">
                <a16:creationId xmlns:a16="http://schemas.microsoft.com/office/drawing/2014/main" id="{5A40C11D-C4DE-2740-598C-EC9E41A2EF65}"/>
              </a:ext>
            </a:extLst>
          </p:cNvPr>
          <p:cNvSpPr>
            <a:spLocks noChangeArrowheads="1"/>
          </p:cNvSpPr>
          <p:nvPr/>
        </p:nvSpPr>
        <p:spPr bwMode="auto">
          <a:xfrm>
            <a:off x="735013" y="3127375"/>
            <a:ext cx="111125" cy="50800"/>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17" name="Rectangle 293">
            <a:extLst>
              <a:ext uri="{FF2B5EF4-FFF2-40B4-BE49-F238E27FC236}">
                <a16:creationId xmlns:a16="http://schemas.microsoft.com/office/drawing/2014/main" id="{C97C7BDA-2805-4E3C-1151-A80B8ADEAF77}"/>
              </a:ext>
            </a:extLst>
          </p:cNvPr>
          <p:cNvSpPr>
            <a:spLocks noChangeArrowheads="1"/>
          </p:cNvSpPr>
          <p:nvPr/>
        </p:nvSpPr>
        <p:spPr bwMode="auto">
          <a:xfrm>
            <a:off x="735013" y="3067050"/>
            <a:ext cx="111125" cy="60325"/>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18" name="Rectangle 294">
            <a:extLst>
              <a:ext uri="{FF2B5EF4-FFF2-40B4-BE49-F238E27FC236}">
                <a16:creationId xmlns:a16="http://schemas.microsoft.com/office/drawing/2014/main" id="{70017F6F-B16C-E5AB-1F96-A082DCAD7699}"/>
              </a:ext>
            </a:extLst>
          </p:cNvPr>
          <p:cNvSpPr>
            <a:spLocks noChangeArrowheads="1"/>
          </p:cNvSpPr>
          <p:nvPr/>
        </p:nvSpPr>
        <p:spPr bwMode="auto">
          <a:xfrm>
            <a:off x="735013" y="3344863"/>
            <a:ext cx="111125" cy="55562"/>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19" name="Rectangle 295">
            <a:extLst>
              <a:ext uri="{FF2B5EF4-FFF2-40B4-BE49-F238E27FC236}">
                <a16:creationId xmlns:a16="http://schemas.microsoft.com/office/drawing/2014/main" id="{1154D5EB-ADD0-DE13-9F49-C785CFC93C27}"/>
              </a:ext>
            </a:extLst>
          </p:cNvPr>
          <p:cNvSpPr>
            <a:spLocks noChangeArrowheads="1"/>
          </p:cNvSpPr>
          <p:nvPr/>
        </p:nvSpPr>
        <p:spPr bwMode="auto">
          <a:xfrm>
            <a:off x="735013" y="3289300"/>
            <a:ext cx="111125" cy="55563"/>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20" name="Rectangle 296">
            <a:extLst>
              <a:ext uri="{FF2B5EF4-FFF2-40B4-BE49-F238E27FC236}">
                <a16:creationId xmlns:a16="http://schemas.microsoft.com/office/drawing/2014/main" id="{583BB933-F103-DF6A-6A6B-D76E7A037C27}"/>
              </a:ext>
            </a:extLst>
          </p:cNvPr>
          <p:cNvSpPr>
            <a:spLocks noChangeArrowheads="1"/>
          </p:cNvSpPr>
          <p:nvPr/>
        </p:nvSpPr>
        <p:spPr bwMode="auto">
          <a:xfrm>
            <a:off x="735013" y="3233738"/>
            <a:ext cx="111125" cy="55562"/>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21" name="Rectangle 297">
            <a:extLst>
              <a:ext uri="{FF2B5EF4-FFF2-40B4-BE49-F238E27FC236}">
                <a16:creationId xmlns:a16="http://schemas.microsoft.com/office/drawing/2014/main" id="{372441F5-AD45-DFA6-0727-154D8FBE4F4B}"/>
              </a:ext>
            </a:extLst>
          </p:cNvPr>
          <p:cNvSpPr>
            <a:spLocks noChangeArrowheads="1"/>
          </p:cNvSpPr>
          <p:nvPr/>
        </p:nvSpPr>
        <p:spPr bwMode="auto">
          <a:xfrm>
            <a:off x="735013" y="3178175"/>
            <a:ext cx="111125" cy="55563"/>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22" name="Rectangle 298">
            <a:extLst>
              <a:ext uri="{FF2B5EF4-FFF2-40B4-BE49-F238E27FC236}">
                <a16:creationId xmlns:a16="http://schemas.microsoft.com/office/drawing/2014/main" id="{22B6F234-BE0A-30D6-3BFB-DDAE139F70D9}"/>
              </a:ext>
            </a:extLst>
          </p:cNvPr>
          <p:cNvSpPr>
            <a:spLocks noChangeArrowheads="1"/>
          </p:cNvSpPr>
          <p:nvPr/>
        </p:nvSpPr>
        <p:spPr bwMode="auto">
          <a:xfrm>
            <a:off x="623888" y="3067050"/>
            <a:ext cx="111125" cy="60325"/>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23" name="Rectangle 299">
            <a:extLst>
              <a:ext uri="{FF2B5EF4-FFF2-40B4-BE49-F238E27FC236}">
                <a16:creationId xmlns:a16="http://schemas.microsoft.com/office/drawing/2014/main" id="{C902966A-508F-865A-5387-D6C4BD123163}"/>
              </a:ext>
            </a:extLst>
          </p:cNvPr>
          <p:cNvSpPr>
            <a:spLocks noChangeArrowheads="1"/>
          </p:cNvSpPr>
          <p:nvPr/>
        </p:nvSpPr>
        <p:spPr bwMode="auto">
          <a:xfrm>
            <a:off x="398463" y="3067050"/>
            <a:ext cx="225425" cy="60325"/>
          </a:xfrm>
          <a:prstGeom prst="rect">
            <a:avLst/>
          </a:prstGeom>
          <a:solidFill>
            <a:srgbClr val="FFD833"/>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24" name="Rectangle 300">
            <a:extLst>
              <a:ext uri="{FF2B5EF4-FFF2-40B4-BE49-F238E27FC236}">
                <a16:creationId xmlns:a16="http://schemas.microsoft.com/office/drawing/2014/main" id="{D87C36D8-AD9C-EC4D-33C1-66F61CCF2FDA}"/>
              </a:ext>
            </a:extLst>
          </p:cNvPr>
          <p:cNvSpPr>
            <a:spLocks noChangeArrowheads="1"/>
          </p:cNvSpPr>
          <p:nvPr/>
        </p:nvSpPr>
        <p:spPr bwMode="auto">
          <a:xfrm>
            <a:off x="623888" y="3127375"/>
            <a:ext cx="111125" cy="50800"/>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25" name="Freeform 301">
            <a:extLst>
              <a:ext uri="{FF2B5EF4-FFF2-40B4-BE49-F238E27FC236}">
                <a16:creationId xmlns:a16="http://schemas.microsoft.com/office/drawing/2014/main" id="{49816491-B8D6-8A9D-7B8E-E7CE0BC23876}"/>
              </a:ext>
            </a:extLst>
          </p:cNvPr>
          <p:cNvSpPr>
            <a:spLocks/>
          </p:cNvSpPr>
          <p:nvPr/>
        </p:nvSpPr>
        <p:spPr bwMode="auto">
          <a:xfrm>
            <a:off x="398463" y="3127375"/>
            <a:ext cx="225425" cy="50800"/>
          </a:xfrm>
          <a:custGeom>
            <a:avLst/>
            <a:gdLst>
              <a:gd name="T0" fmla="*/ 568 w 568"/>
              <a:gd name="T1" fmla="*/ 127 h 127"/>
              <a:gd name="T2" fmla="*/ 568 w 568"/>
              <a:gd name="T3" fmla="*/ 0 h 127"/>
              <a:gd name="T4" fmla="*/ 0 w 568"/>
              <a:gd name="T5" fmla="*/ 0 h 127"/>
              <a:gd name="T6" fmla="*/ 0 w 568"/>
              <a:gd name="T7" fmla="*/ 127 h 127"/>
              <a:gd name="T8" fmla="*/ 8 w 568"/>
              <a:gd name="T9" fmla="*/ 127 h 127"/>
              <a:gd name="T10" fmla="*/ 568 w 568"/>
              <a:gd name="T11" fmla="*/ 127 h 127"/>
            </a:gdLst>
            <a:ahLst/>
            <a:cxnLst>
              <a:cxn ang="0">
                <a:pos x="T0" y="T1"/>
              </a:cxn>
              <a:cxn ang="0">
                <a:pos x="T2" y="T3"/>
              </a:cxn>
              <a:cxn ang="0">
                <a:pos x="T4" y="T5"/>
              </a:cxn>
              <a:cxn ang="0">
                <a:pos x="T6" y="T7"/>
              </a:cxn>
              <a:cxn ang="0">
                <a:pos x="T8" y="T9"/>
              </a:cxn>
              <a:cxn ang="0">
                <a:pos x="T10" y="T11"/>
              </a:cxn>
            </a:cxnLst>
            <a:rect l="0" t="0" r="r" b="b"/>
            <a:pathLst>
              <a:path w="568" h="127">
                <a:moveTo>
                  <a:pt x="568" y="127"/>
                </a:moveTo>
                <a:lnTo>
                  <a:pt x="568" y="0"/>
                </a:lnTo>
                <a:lnTo>
                  <a:pt x="0" y="0"/>
                </a:lnTo>
                <a:lnTo>
                  <a:pt x="0" y="127"/>
                </a:lnTo>
                <a:lnTo>
                  <a:pt x="8" y="127"/>
                </a:lnTo>
                <a:lnTo>
                  <a:pt x="568" y="127"/>
                </a:lnTo>
                <a:close/>
              </a:path>
            </a:pathLst>
          </a:custGeom>
          <a:solidFill>
            <a:srgbClr val="FFD833"/>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26" name="Rectangle 302">
            <a:extLst>
              <a:ext uri="{FF2B5EF4-FFF2-40B4-BE49-F238E27FC236}">
                <a16:creationId xmlns:a16="http://schemas.microsoft.com/office/drawing/2014/main" id="{C692BE7B-5E2D-5257-62B8-2DC18F07F61C}"/>
              </a:ext>
            </a:extLst>
          </p:cNvPr>
          <p:cNvSpPr>
            <a:spLocks noChangeArrowheads="1"/>
          </p:cNvSpPr>
          <p:nvPr/>
        </p:nvSpPr>
        <p:spPr bwMode="auto">
          <a:xfrm>
            <a:off x="623888" y="3178175"/>
            <a:ext cx="111125" cy="55563"/>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27" name="Rectangle 303">
            <a:extLst>
              <a:ext uri="{FF2B5EF4-FFF2-40B4-BE49-F238E27FC236}">
                <a16:creationId xmlns:a16="http://schemas.microsoft.com/office/drawing/2014/main" id="{9B990219-811B-C043-6A85-4D8E8024E7E0}"/>
              </a:ext>
            </a:extLst>
          </p:cNvPr>
          <p:cNvSpPr>
            <a:spLocks noChangeArrowheads="1"/>
          </p:cNvSpPr>
          <p:nvPr/>
        </p:nvSpPr>
        <p:spPr bwMode="auto">
          <a:xfrm>
            <a:off x="398463" y="3178175"/>
            <a:ext cx="3175" cy="5556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28" name="Rectangle 304">
            <a:extLst>
              <a:ext uri="{FF2B5EF4-FFF2-40B4-BE49-F238E27FC236}">
                <a16:creationId xmlns:a16="http://schemas.microsoft.com/office/drawing/2014/main" id="{4B65C743-EC25-DD46-A2C9-4F56719D3750}"/>
              </a:ext>
            </a:extLst>
          </p:cNvPr>
          <p:cNvSpPr>
            <a:spLocks noChangeArrowheads="1"/>
          </p:cNvSpPr>
          <p:nvPr/>
        </p:nvSpPr>
        <p:spPr bwMode="auto">
          <a:xfrm>
            <a:off x="398463" y="3233738"/>
            <a:ext cx="3175" cy="5556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29" name="Rectangle 305">
            <a:extLst>
              <a:ext uri="{FF2B5EF4-FFF2-40B4-BE49-F238E27FC236}">
                <a16:creationId xmlns:a16="http://schemas.microsoft.com/office/drawing/2014/main" id="{231D01D0-7F59-33D0-7015-A66CF2F4312E}"/>
              </a:ext>
            </a:extLst>
          </p:cNvPr>
          <p:cNvSpPr>
            <a:spLocks noChangeArrowheads="1"/>
          </p:cNvSpPr>
          <p:nvPr/>
        </p:nvSpPr>
        <p:spPr bwMode="auto">
          <a:xfrm>
            <a:off x="401638" y="3233738"/>
            <a:ext cx="222250" cy="55562"/>
          </a:xfrm>
          <a:prstGeom prst="rect">
            <a:avLst/>
          </a:prstGeom>
          <a:solidFill>
            <a:srgbClr val="FFD833"/>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30" name="Rectangle 306">
            <a:extLst>
              <a:ext uri="{FF2B5EF4-FFF2-40B4-BE49-F238E27FC236}">
                <a16:creationId xmlns:a16="http://schemas.microsoft.com/office/drawing/2014/main" id="{AA4FE70B-EC36-287C-9102-B006BF5E3B91}"/>
              </a:ext>
            </a:extLst>
          </p:cNvPr>
          <p:cNvSpPr>
            <a:spLocks noChangeArrowheads="1"/>
          </p:cNvSpPr>
          <p:nvPr/>
        </p:nvSpPr>
        <p:spPr bwMode="auto">
          <a:xfrm>
            <a:off x="398463" y="3289300"/>
            <a:ext cx="3175" cy="5556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31" name="Rectangle 307">
            <a:extLst>
              <a:ext uri="{FF2B5EF4-FFF2-40B4-BE49-F238E27FC236}">
                <a16:creationId xmlns:a16="http://schemas.microsoft.com/office/drawing/2014/main" id="{4BB169D0-73A5-BA90-62F1-958361A17566}"/>
              </a:ext>
            </a:extLst>
          </p:cNvPr>
          <p:cNvSpPr>
            <a:spLocks noChangeArrowheads="1"/>
          </p:cNvSpPr>
          <p:nvPr/>
        </p:nvSpPr>
        <p:spPr bwMode="auto">
          <a:xfrm>
            <a:off x="398463" y="3344863"/>
            <a:ext cx="3175" cy="5556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32" name="Rectangle 308">
            <a:extLst>
              <a:ext uri="{FF2B5EF4-FFF2-40B4-BE49-F238E27FC236}">
                <a16:creationId xmlns:a16="http://schemas.microsoft.com/office/drawing/2014/main" id="{1DAD8D19-0E82-2F28-801C-95042EF88AC3}"/>
              </a:ext>
            </a:extLst>
          </p:cNvPr>
          <p:cNvSpPr>
            <a:spLocks noChangeArrowheads="1"/>
          </p:cNvSpPr>
          <p:nvPr/>
        </p:nvSpPr>
        <p:spPr bwMode="auto">
          <a:xfrm>
            <a:off x="401638" y="3344863"/>
            <a:ext cx="222250" cy="55562"/>
          </a:xfrm>
          <a:prstGeom prst="rect">
            <a:avLst/>
          </a:prstGeom>
          <a:solidFill>
            <a:srgbClr val="FFD833"/>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33" name="Rectangle 309">
            <a:extLst>
              <a:ext uri="{FF2B5EF4-FFF2-40B4-BE49-F238E27FC236}">
                <a16:creationId xmlns:a16="http://schemas.microsoft.com/office/drawing/2014/main" id="{02878C7A-5E23-47A2-60C0-AD45818EDF4F}"/>
              </a:ext>
            </a:extLst>
          </p:cNvPr>
          <p:cNvSpPr>
            <a:spLocks noChangeArrowheads="1"/>
          </p:cNvSpPr>
          <p:nvPr/>
        </p:nvSpPr>
        <p:spPr bwMode="auto">
          <a:xfrm>
            <a:off x="401638" y="3289300"/>
            <a:ext cx="222250" cy="55563"/>
          </a:xfrm>
          <a:prstGeom prst="rect">
            <a:avLst/>
          </a:prstGeom>
          <a:solidFill>
            <a:srgbClr val="FFD833"/>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34" name="Rectangle 310">
            <a:extLst>
              <a:ext uri="{FF2B5EF4-FFF2-40B4-BE49-F238E27FC236}">
                <a16:creationId xmlns:a16="http://schemas.microsoft.com/office/drawing/2014/main" id="{25B86CB2-38E2-734C-7F5C-6C80C16A40B3}"/>
              </a:ext>
            </a:extLst>
          </p:cNvPr>
          <p:cNvSpPr>
            <a:spLocks noChangeArrowheads="1"/>
          </p:cNvSpPr>
          <p:nvPr/>
        </p:nvSpPr>
        <p:spPr bwMode="auto">
          <a:xfrm>
            <a:off x="623888" y="3233738"/>
            <a:ext cx="111125" cy="55562"/>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35" name="Rectangle 311">
            <a:extLst>
              <a:ext uri="{FF2B5EF4-FFF2-40B4-BE49-F238E27FC236}">
                <a16:creationId xmlns:a16="http://schemas.microsoft.com/office/drawing/2014/main" id="{9DF20588-C2C7-3753-C45E-153B87CBA27E}"/>
              </a:ext>
            </a:extLst>
          </p:cNvPr>
          <p:cNvSpPr>
            <a:spLocks noChangeArrowheads="1"/>
          </p:cNvSpPr>
          <p:nvPr/>
        </p:nvSpPr>
        <p:spPr bwMode="auto">
          <a:xfrm>
            <a:off x="623888" y="3344863"/>
            <a:ext cx="111125" cy="55562"/>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36" name="Rectangle 312">
            <a:extLst>
              <a:ext uri="{FF2B5EF4-FFF2-40B4-BE49-F238E27FC236}">
                <a16:creationId xmlns:a16="http://schemas.microsoft.com/office/drawing/2014/main" id="{24D74B40-B812-5CE4-C249-7BEBA0FA5155}"/>
              </a:ext>
            </a:extLst>
          </p:cNvPr>
          <p:cNvSpPr>
            <a:spLocks noChangeArrowheads="1"/>
          </p:cNvSpPr>
          <p:nvPr/>
        </p:nvSpPr>
        <p:spPr bwMode="auto">
          <a:xfrm>
            <a:off x="623888" y="3289300"/>
            <a:ext cx="111125" cy="55563"/>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37" name="Rectangle 313">
            <a:extLst>
              <a:ext uri="{FF2B5EF4-FFF2-40B4-BE49-F238E27FC236}">
                <a16:creationId xmlns:a16="http://schemas.microsoft.com/office/drawing/2014/main" id="{94D887BA-8AF9-E888-8DC9-C5A1F6189479}"/>
              </a:ext>
            </a:extLst>
          </p:cNvPr>
          <p:cNvSpPr>
            <a:spLocks noChangeArrowheads="1"/>
          </p:cNvSpPr>
          <p:nvPr/>
        </p:nvSpPr>
        <p:spPr bwMode="auto">
          <a:xfrm>
            <a:off x="401638" y="3178175"/>
            <a:ext cx="222250" cy="55563"/>
          </a:xfrm>
          <a:prstGeom prst="rect">
            <a:avLst/>
          </a:prstGeom>
          <a:solidFill>
            <a:srgbClr val="FFD833"/>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38" name="Line 314">
            <a:extLst>
              <a:ext uri="{FF2B5EF4-FFF2-40B4-BE49-F238E27FC236}">
                <a16:creationId xmlns:a16="http://schemas.microsoft.com/office/drawing/2014/main" id="{CCF8E337-60B9-8DB5-0AF4-92555B99D97A}"/>
              </a:ext>
            </a:extLst>
          </p:cNvPr>
          <p:cNvSpPr>
            <a:spLocks noChangeShapeType="1"/>
          </p:cNvSpPr>
          <p:nvPr/>
        </p:nvSpPr>
        <p:spPr bwMode="auto">
          <a:xfrm>
            <a:off x="623888" y="3233738"/>
            <a:ext cx="1587" cy="55562"/>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39" name="Line 315">
            <a:extLst>
              <a:ext uri="{FF2B5EF4-FFF2-40B4-BE49-F238E27FC236}">
                <a16:creationId xmlns:a16="http://schemas.microsoft.com/office/drawing/2014/main" id="{481006A3-29C7-7AF4-FD64-5F9BD72A20E3}"/>
              </a:ext>
            </a:extLst>
          </p:cNvPr>
          <p:cNvSpPr>
            <a:spLocks noChangeShapeType="1"/>
          </p:cNvSpPr>
          <p:nvPr/>
        </p:nvSpPr>
        <p:spPr bwMode="auto">
          <a:xfrm flipV="1">
            <a:off x="623888" y="3067050"/>
            <a:ext cx="1587" cy="60325"/>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40" name="Line 316">
            <a:extLst>
              <a:ext uri="{FF2B5EF4-FFF2-40B4-BE49-F238E27FC236}">
                <a16:creationId xmlns:a16="http://schemas.microsoft.com/office/drawing/2014/main" id="{6C91FC57-95EF-D4FE-7FE1-0E6836F63F14}"/>
              </a:ext>
            </a:extLst>
          </p:cNvPr>
          <p:cNvSpPr>
            <a:spLocks noChangeShapeType="1"/>
          </p:cNvSpPr>
          <p:nvPr/>
        </p:nvSpPr>
        <p:spPr bwMode="auto">
          <a:xfrm>
            <a:off x="735013" y="3067050"/>
            <a:ext cx="1587" cy="60325"/>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41" name="Line 317">
            <a:extLst>
              <a:ext uri="{FF2B5EF4-FFF2-40B4-BE49-F238E27FC236}">
                <a16:creationId xmlns:a16="http://schemas.microsoft.com/office/drawing/2014/main" id="{F4FD00E5-7D95-4B67-20CF-98039A52D7C9}"/>
              </a:ext>
            </a:extLst>
          </p:cNvPr>
          <p:cNvSpPr>
            <a:spLocks noChangeShapeType="1"/>
          </p:cNvSpPr>
          <p:nvPr/>
        </p:nvSpPr>
        <p:spPr bwMode="auto">
          <a:xfrm flipV="1">
            <a:off x="623888" y="3127375"/>
            <a:ext cx="1587" cy="50800"/>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42" name="Line 318">
            <a:extLst>
              <a:ext uri="{FF2B5EF4-FFF2-40B4-BE49-F238E27FC236}">
                <a16:creationId xmlns:a16="http://schemas.microsoft.com/office/drawing/2014/main" id="{8C016290-0D10-A8FC-005F-E5E1AB5B2CFD}"/>
              </a:ext>
            </a:extLst>
          </p:cNvPr>
          <p:cNvSpPr>
            <a:spLocks noChangeShapeType="1"/>
          </p:cNvSpPr>
          <p:nvPr/>
        </p:nvSpPr>
        <p:spPr bwMode="auto">
          <a:xfrm>
            <a:off x="623888" y="3127375"/>
            <a:ext cx="111125" cy="1588"/>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43" name="Line 319">
            <a:extLst>
              <a:ext uri="{FF2B5EF4-FFF2-40B4-BE49-F238E27FC236}">
                <a16:creationId xmlns:a16="http://schemas.microsoft.com/office/drawing/2014/main" id="{D25F5FCC-D30F-C885-54A8-4A8303606CC7}"/>
              </a:ext>
            </a:extLst>
          </p:cNvPr>
          <p:cNvSpPr>
            <a:spLocks noChangeShapeType="1"/>
          </p:cNvSpPr>
          <p:nvPr/>
        </p:nvSpPr>
        <p:spPr bwMode="auto">
          <a:xfrm>
            <a:off x="735013" y="3127375"/>
            <a:ext cx="1587" cy="50800"/>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44" name="Line 320">
            <a:extLst>
              <a:ext uri="{FF2B5EF4-FFF2-40B4-BE49-F238E27FC236}">
                <a16:creationId xmlns:a16="http://schemas.microsoft.com/office/drawing/2014/main" id="{8137007C-0805-FFB8-7E79-4A644076E4D4}"/>
              </a:ext>
            </a:extLst>
          </p:cNvPr>
          <p:cNvSpPr>
            <a:spLocks noChangeShapeType="1"/>
          </p:cNvSpPr>
          <p:nvPr/>
        </p:nvSpPr>
        <p:spPr bwMode="auto">
          <a:xfrm flipH="1">
            <a:off x="623888" y="3178175"/>
            <a:ext cx="1111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45" name="Line 321">
            <a:extLst>
              <a:ext uri="{FF2B5EF4-FFF2-40B4-BE49-F238E27FC236}">
                <a16:creationId xmlns:a16="http://schemas.microsoft.com/office/drawing/2014/main" id="{31FE891A-C4C2-5494-9B94-5B883C3EDEB7}"/>
              </a:ext>
            </a:extLst>
          </p:cNvPr>
          <p:cNvSpPr>
            <a:spLocks noChangeShapeType="1"/>
          </p:cNvSpPr>
          <p:nvPr/>
        </p:nvSpPr>
        <p:spPr bwMode="auto">
          <a:xfrm>
            <a:off x="398463" y="3178175"/>
            <a:ext cx="3175" cy="0"/>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46" name="Line 322">
            <a:extLst>
              <a:ext uri="{FF2B5EF4-FFF2-40B4-BE49-F238E27FC236}">
                <a16:creationId xmlns:a16="http://schemas.microsoft.com/office/drawing/2014/main" id="{AD3EB6EA-5447-3434-8743-EA267DAFE82C}"/>
              </a:ext>
            </a:extLst>
          </p:cNvPr>
          <p:cNvSpPr>
            <a:spLocks noChangeShapeType="1"/>
          </p:cNvSpPr>
          <p:nvPr/>
        </p:nvSpPr>
        <p:spPr bwMode="auto">
          <a:xfrm flipH="1">
            <a:off x="735013" y="3289300"/>
            <a:ext cx="1111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47" name="Line 323">
            <a:extLst>
              <a:ext uri="{FF2B5EF4-FFF2-40B4-BE49-F238E27FC236}">
                <a16:creationId xmlns:a16="http://schemas.microsoft.com/office/drawing/2014/main" id="{127BDD9D-E91A-32B3-1714-F3DD223C5DE0}"/>
              </a:ext>
            </a:extLst>
          </p:cNvPr>
          <p:cNvSpPr>
            <a:spLocks noChangeShapeType="1"/>
          </p:cNvSpPr>
          <p:nvPr/>
        </p:nvSpPr>
        <p:spPr bwMode="auto">
          <a:xfrm flipH="1">
            <a:off x="398463" y="3233738"/>
            <a:ext cx="3175" cy="0"/>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48" name="Line 324">
            <a:extLst>
              <a:ext uri="{FF2B5EF4-FFF2-40B4-BE49-F238E27FC236}">
                <a16:creationId xmlns:a16="http://schemas.microsoft.com/office/drawing/2014/main" id="{F7F0CBEA-052A-F031-1694-68D507413182}"/>
              </a:ext>
            </a:extLst>
          </p:cNvPr>
          <p:cNvSpPr>
            <a:spLocks noChangeShapeType="1"/>
          </p:cNvSpPr>
          <p:nvPr/>
        </p:nvSpPr>
        <p:spPr bwMode="auto">
          <a:xfrm flipV="1">
            <a:off x="401638" y="3233738"/>
            <a:ext cx="1587" cy="55562"/>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49" name="Line 325">
            <a:extLst>
              <a:ext uri="{FF2B5EF4-FFF2-40B4-BE49-F238E27FC236}">
                <a16:creationId xmlns:a16="http://schemas.microsoft.com/office/drawing/2014/main" id="{A0E2685F-3B32-C121-936D-3C0FED17F5EC}"/>
              </a:ext>
            </a:extLst>
          </p:cNvPr>
          <p:cNvSpPr>
            <a:spLocks noChangeShapeType="1"/>
          </p:cNvSpPr>
          <p:nvPr/>
        </p:nvSpPr>
        <p:spPr bwMode="auto">
          <a:xfrm>
            <a:off x="398463" y="3289300"/>
            <a:ext cx="3175" cy="0"/>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50" name="Line 326">
            <a:extLst>
              <a:ext uri="{FF2B5EF4-FFF2-40B4-BE49-F238E27FC236}">
                <a16:creationId xmlns:a16="http://schemas.microsoft.com/office/drawing/2014/main" id="{C8F8FC99-6314-E30E-9876-2660C48D14FC}"/>
              </a:ext>
            </a:extLst>
          </p:cNvPr>
          <p:cNvSpPr>
            <a:spLocks noChangeShapeType="1"/>
          </p:cNvSpPr>
          <p:nvPr/>
        </p:nvSpPr>
        <p:spPr bwMode="auto">
          <a:xfrm flipH="1">
            <a:off x="398463" y="3344863"/>
            <a:ext cx="3175" cy="0"/>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51" name="Line 327">
            <a:extLst>
              <a:ext uri="{FF2B5EF4-FFF2-40B4-BE49-F238E27FC236}">
                <a16:creationId xmlns:a16="http://schemas.microsoft.com/office/drawing/2014/main" id="{EA575422-D8F3-F844-D2A2-5269BB9D9F59}"/>
              </a:ext>
            </a:extLst>
          </p:cNvPr>
          <p:cNvSpPr>
            <a:spLocks noChangeShapeType="1"/>
          </p:cNvSpPr>
          <p:nvPr/>
        </p:nvSpPr>
        <p:spPr bwMode="auto">
          <a:xfrm flipV="1">
            <a:off x="401638" y="3344863"/>
            <a:ext cx="1587" cy="55562"/>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52" name="Line 328">
            <a:extLst>
              <a:ext uri="{FF2B5EF4-FFF2-40B4-BE49-F238E27FC236}">
                <a16:creationId xmlns:a16="http://schemas.microsoft.com/office/drawing/2014/main" id="{5F04D08D-B82D-78B5-54C6-EF780CAD1BBD}"/>
              </a:ext>
            </a:extLst>
          </p:cNvPr>
          <p:cNvSpPr>
            <a:spLocks noChangeShapeType="1"/>
          </p:cNvSpPr>
          <p:nvPr/>
        </p:nvSpPr>
        <p:spPr bwMode="auto">
          <a:xfrm>
            <a:off x="401638" y="3289300"/>
            <a:ext cx="1587" cy="55563"/>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53" name="Line 329">
            <a:extLst>
              <a:ext uri="{FF2B5EF4-FFF2-40B4-BE49-F238E27FC236}">
                <a16:creationId xmlns:a16="http://schemas.microsoft.com/office/drawing/2014/main" id="{9EE4D02B-D692-5641-24E3-7BA67160D536}"/>
              </a:ext>
            </a:extLst>
          </p:cNvPr>
          <p:cNvSpPr>
            <a:spLocks noChangeShapeType="1"/>
          </p:cNvSpPr>
          <p:nvPr/>
        </p:nvSpPr>
        <p:spPr bwMode="auto">
          <a:xfrm flipV="1">
            <a:off x="735013" y="3233738"/>
            <a:ext cx="1587" cy="55562"/>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54" name="Line 330">
            <a:extLst>
              <a:ext uri="{FF2B5EF4-FFF2-40B4-BE49-F238E27FC236}">
                <a16:creationId xmlns:a16="http://schemas.microsoft.com/office/drawing/2014/main" id="{03877FBD-4429-E942-10F6-C3498858C7E1}"/>
              </a:ext>
            </a:extLst>
          </p:cNvPr>
          <p:cNvSpPr>
            <a:spLocks noChangeShapeType="1"/>
          </p:cNvSpPr>
          <p:nvPr/>
        </p:nvSpPr>
        <p:spPr bwMode="auto">
          <a:xfrm flipV="1">
            <a:off x="735013" y="3344863"/>
            <a:ext cx="1587" cy="55562"/>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55" name="Line 331">
            <a:extLst>
              <a:ext uri="{FF2B5EF4-FFF2-40B4-BE49-F238E27FC236}">
                <a16:creationId xmlns:a16="http://schemas.microsoft.com/office/drawing/2014/main" id="{7A62681D-6BCB-8FA3-EF98-445DDEF97C28}"/>
              </a:ext>
            </a:extLst>
          </p:cNvPr>
          <p:cNvSpPr>
            <a:spLocks noChangeShapeType="1"/>
          </p:cNvSpPr>
          <p:nvPr/>
        </p:nvSpPr>
        <p:spPr bwMode="auto">
          <a:xfrm>
            <a:off x="735013" y="3289300"/>
            <a:ext cx="1587" cy="55563"/>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56" name="Line 332">
            <a:extLst>
              <a:ext uri="{FF2B5EF4-FFF2-40B4-BE49-F238E27FC236}">
                <a16:creationId xmlns:a16="http://schemas.microsoft.com/office/drawing/2014/main" id="{2F55DDF9-FE9D-1F7B-3A58-AFEE32DCF208}"/>
              </a:ext>
            </a:extLst>
          </p:cNvPr>
          <p:cNvSpPr>
            <a:spLocks noChangeShapeType="1"/>
          </p:cNvSpPr>
          <p:nvPr/>
        </p:nvSpPr>
        <p:spPr bwMode="auto">
          <a:xfrm>
            <a:off x="735013" y="3233738"/>
            <a:ext cx="111125" cy="1587"/>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57" name="Line 333">
            <a:extLst>
              <a:ext uri="{FF2B5EF4-FFF2-40B4-BE49-F238E27FC236}">
                <a16:creationId xmlns:a16="http://schemas.microsoft.com/office/drawing/2014/main" id="{E351BA84-10E3-7DA4-D5AE-C2D83B4260B7}"/>
              </a:ext>
            </a:extLst>
          </p:cNvPr>
          <p:cNvSpPr>
            <a:spLocks noChangeShapeType="1"/>
          </p:cNvSpPr>
          <p:nvPr/>
        </p:nvSpPr>
        <p:spPr bwMode="auto">
          <a:xfrm flipV="1">
            <a:off x="623888" y="3289300"/>
            <a:ext cx="1587" cy="55563"/>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58" name="Line 334">
            <a:extLst>
              <a:ext uri="{FF2B5EF4-FFF2-40B4-BE49-F238E27FC236}">
                <a16:creationId xmlns:a16="http://schemas.microsoft.com/office/drawing/2014/main" id="{1F3B46DD-CD0C-E20B-0034-533915E7E1B2}"/>
              </a:ext>
            </a:extLst>
          </p:cNvPr>
          <p:cNvSpPr>
            <a:spLocks noChangeShapeType="1"/>
          </p:cNvSpPr>
          <p:nvPr/>
        </p:nvSpPr>
        <p:spPr bwMode="auto">
          <a:xfrm>
            <a:off x="623888" y="3344863"/>
            <a:ext cx="1587" cy="55562"/>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59" name="Line 335">
            <a:extLst>
              <a:ext uri="{FF2B5EF4-FFF2-40B4-BE49-F238E27FC236}">
                <a16:creationId xmlns:a16="http://schemas.microsoft.com/office/drawing/2014/main" id="{FCD4959D-AF41-403D-7BF1-178270F19E8F}"/>
              </a:ext>
            </a:extLst>
          </p:cNvPr>
          <p:cNvSpPr>
            <a:spLocks noChangeShapeType="1"/>
          </p:cNvSpPr>
          <p:nvPr/>
        </p:nvSpPr>
        <p:spPr bwMode="auto">
          <a:xfrm>
            <a:off x="623888" y="3233738"/>
            <a:ext cx="111125" cy="1587"/>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60" name="Line 336">
            <a:extLst>
              <a:ext uri="{FF2B5EF4-FFF2-40B4-BE49-F238E27FC236}">
                <a16:creationId xmlns:a16="http://schemas.microsoft.com/office/drawing/2014/main" id="{E1563FD0-2A07-076C-FDF0-115381D5B715}"/>
              </a:ext>
            </a:extLst>
          </p:cNvPr>
          <p:cNvSpPr>
            <a:spLocks noChangeShapeType="1"/>
          </p:cNvSpPr>
          <p:nvPr/>
        </p:nvSpPr>
        <p:spPr bwMode="auto">
          <a:xfrm flipH="1">
            <a:off x="623888" y="3344863"/>
            <a:ext cx="111125" cy="1587"/>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61" name="Line 337">
            <a:extLst>
              <a:ext uri="{FF2B5EF4-FFF2-40B4-BE49-F238E27FC236}">
                <a16:creationId xmlns:a16="http://schemas.microsoft.com/office/drawing/2014/main" id="{A30B8B17-939D-9C30-ADCC-4023355C969F}"/>
              </a:ext>
            </a:extLst>
          </p:cNvPr>
          <p:cNvSpPr>
            <a:spLocks noChangeShapeType="1"/>
          </p:cNvSpPr>
          <p:nvPr/>
        </p:nvSpPr>
        <p:spPr bwMode="auto">
          <a:xfrm>
            <a:off x="623888" y="3289300"/>
            <a:ext cx="1111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62" name="Line 338">
            <a:extLst>
              <a:ext uri="{FF2B5EF4-FFF2-40B4-BE49-F238E27FC236}">
                <a16:creationId xmlns:a16="http://schemas.microsoft.com/office/drawing/2014/main" id="{AA91C358-66FC-D9E9-FA1D-6457BF1180EF}"/>
              </a:ext>
            </a:extLst>
          </p:cNvPr>
          <p:cNvSpPr>
            <a:spLocks noChangeShapeType="1"/>
          </p:cNvSpPr>
          <p:nvPr/>
        </p:nvSpPr>
        <p:spPr bwMode="auto">
          <a:xfrm flipV="1">
            <a:off x="623888" y="3178175"/>
            <a:ext cx="1587" cy="55563"/>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63" name="Line 339">
            <a:extLst>
              <a:ext uri="{FF2B5EF4-FFF2-40B4-BE49-F238E27FC236}">
                <a16:creationId xmlns:a16="http://schemas.microsoft.com/office/drawing/2014/main" id="{7E6FF457-00D2-F9DD-D602-F9F0D5B3B5AF}"/>
              </a:ext>
            </a:extLst>
          </p:cNvPr>
          <p:cNvSpPr>
            <a:spLocks noChangeShapeType="1"/>
          </p:cNvSpPr>
          <p:nvPr/>
        </p:nvSpPr>
        <p:spPr bwMode="auto">
          <a:xfrm>
            <a:off x="398463" y="3127375"/>
            <a:ext cx="225425" cy="1588"/>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64" name="Line 340">
            <a:extLst>
              <a:ext uri="{FF2B5EF4-FFF2-40B4-BE49-F238E27FC236}">
                <a16:creationId xmlns:a16="http://schemas.microsoft.com/office/drawing/2014/main" id="{41A51D1C-0026-C1BB-FB61-B4F0E9BA4265}"/>
              </a:ext>
            </a:extLst>
          </p:cNvPr>
          <p:cNvSpPr>
            <a:spLocks noChangeShapeType="1"/>
          </p:cNvSpPr>
          <p:nvPr/>
        </p:nvSpPr>
        <p:spPr bwMode="auto">
          <a:xfrm flipH="1">
            <a:off x="401638" y="3178175"/>
            <a:ext cx="222250" cy="1588"/>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65" name="Line 341">
            <a:extLst>
              <a:ext uri="{FF2B5EF4-FFF2-40B4-BE49-F238E27FC236}">
                <a16:creationId xmlns:a16="http://schemas.microsoft.com/office/drawing/2014/main" id="{7CF75C1D-8707-2A89-D31B-407E7EE3CA86}"/>
              </a:ext>
            </a:extLst>
          </p:cNvPr>
          <p:cNvSpPr>
            <a:spLocks noChangeShapeType="1"/>
          </p:cNvSpPr>
          <p:nvPr/>
        </p:nvSpPr>
        <p:spPr bwMode="auto">
          <a:xfrm flipV="1">
            <a:off x="735013" y="3178175"/>
            <a:ext cx="1587" cy="55563"/>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66" name="Line 342">
            <a:extLst>
              <a:ext uri="{FF2B5EF4-FFF2-40B4-BE49-F238E27FC236}">
                <a16:creationId xmlns:a16="http://schemas.microsoft.com/office/drawing/2014/main" id="{E31FBFC0-DC8D-5F1A-1BBD-0E5002BCC4B2}"/>
              </a:ext>
            </a:extLst>
          </p:cNvPr>
          <p:cNvSpPr>
            <a:spLocks noChangeShapeType="1"/>
          </p:cNvSpPr>
          <p:nvPr/>
        </p:nvSpPr>
        <p:spPr bwMode="auto">
          <a:xfrm>
            <a:off x="401638" y="3344863"/>
            <a:ext cx="222250" cy="1587"/>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67" name="Line 343">
            <a:extLst>
              <a:ext uri="{FF2B5EF4-FFF2-40B4-BE49-F238E27FC236}">
                <a16:creationId xmlns:a16="http://schemas.microsoft.com/office/drawing/2014/main" id="{85AF2BD8-6E01-21B7-682B-44230B5A4590}"/>
              </a:ext>
            </a:extLst>
          </p:cNvPr>
          <p:cNvSpPr>
            <a:spLocks noChangeShapeType="1"/>
          </p:cNvSpPr>
          <p:nvPr/>
        </p:nvSpPr>
        <p:spPr bwMode="auto">
          <a:xfrm>
            <a:off x="401638" y="3233738"/>
            <a:ext cx="222250" cy="1587"/>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68" name="Line 344">
            <a:extLst>
              <a:ext uri="{FF2B5EF4-FFF2-40B4-BE49-F238E27FC236}">
                <a16:creationId xmlns:a16="http://schemas.microsoft.com/office/drawing/2014/main" id="{94C1F58B-10AB-995A-D25E-D317B36FC2D7}"/>
              </a:ext>
            </a:extLst>
          </p:cNvPr>
          <p:cNvSpPr>
            <a:spLocks noChangeShapeType="1"/>
          </p:cNvSpPr>
          <p:nvPr/>
        </p:nvSpPr>
        <p:spPr bwMode="auto">
          <a:xfrm flipH="1">
            <a:off x="401638" y="3289300"/>
            <a:ext cx="222250" cy="1588"/>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69" name="Line 345">
            <a:extLst>
              <a:ext uri="{FF2B5EF4-FFF2-40B4-BE49-F238E27FC236}">
                <a16:creationId xmlns:a16="http://schemas.microsoft.com/office/drawing/2014/main" id="{686FDE6D-318A-7769-5AFC-0D682945F712}"/>
              </a:ext>
            </a:extLst>
          </p:cNvPr>
          <p:cNvSpPr>
            <a:spLocks noChangeShapeType="1"/>
          </p:cNvSpPr>
          <p:nvPr/>
        </p:nvSpPr>
        <p:spPr bwMode="auto">
          <a:xfrm>
            <a:off x="401638" y="3178175"/>
            <a:ext cx="1587" cy="55563"/>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70" name="Line 346">
            <a:extLst>
              <a:ext uri="{FF2B5EF4-FFF2-40B4-BE49-F238E27FC236}">
                <a16:creationId xmlns:a16="http://schemas.microsoft.com/office/drawing/2014/main" id="{F0640CAC-54BC-5AB7-1A33-E452586128E9}"/>
              </a:ext>
            </a:extLst>
          </p:cNvPr>
          <p:cNvSpPr>
            <a:spLocks noChangeShapeType="1"/>
          </p:cNvSpPr>
          <p:nvPr/>
        </p:nvSpPr>
        <p:spPr bwMode="auto">
          <a:xfrm flipH="1">
            <a:off x="735013" y="3127375"/>
            <a:ext cx="111125" cy="1588"/>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71" name="Line 347">
            <a:extLst>
              <a:ext uri="{FF2B5EF4-FFF2-40B4-BE49-F238E27FC236}">
                <a16:creationId xmlns:a16="http://schemas.microsoft.com/office/drawing/2014/main" id="{80A0474B-CDF8-6B5E-5900-F0B001DB52D0}"/>
              </a:ext>
            </a:extLst>
          </p:cNvPr>
          <p:cNvSpPr>
            <a:spLocks noChangeShapeType="1"/>
          </p:cNvSpPr>
          <p:nvPr/>
        </p:nvSpPr>
        <p:spPr bwMode="auto">
          <a:xfrm>
            <a:off x="735013" y="3178175"/>
            <a:ext cx="1111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72" name="Line 348">
            <a:extLst>
              <a:ext uri="{FF2B5EF4-FFF2-40B4-BE49-F238E27FC236}">
                <a16:creationId xmlns:a16="http://schemas.microsoft.com/office/drawing/2014/main" id="{B919F2B5-3B6F-064C-8E3A-7D199A07190C}"/>
              </a:ext>
            </a:extLst>
          </p:cNvPr>
          <p:cNvSpPr>
            <a:spLocks noChangeShapeType="1"/>
          </p:cNvSpPr>
          <p:nvPr/>
        </p:nvSpPr>
        <p:spPr bwMode="auto">
          <a:xfrm>
            <a:off x="735013" y="3344863"/>
            <a:ext cx="111125" cy="1587"/>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373" name="Freeform 349">
            <a:extLst>
              <a:ext uri="{FF2B5EF4-FFF2-40B4-BE49-F238E27FC236}">
                <a16:creationId xmlns:a16="http://schemas.microsoft.com/office/drawing/2014/main" id="{F00C9D9F-4F54-8DEA-A4CF-158B7A7B8317}"/>
              </a:ext>
            </a:extLst>
          </p:cNvPr>
          <p:cNvSpPr>
            <a:spLocks/>
          </p:cNvSpPr>
          <p:nvPr/>
        </p:nvSpPr>
        <p:spPr bwMode="auto">
          <a:xfrm>
            <a:off x="398463" y="3067050"/>
            <a:ext cx="447675" cy="333375"/>
          </a:xfrm>
          <a:custGeom>
            <a:avLst/>
            <a:gdLst>
              <a:gd name="T0" fmla="*/ 0 w 1128"/>
              <a:gd name="T1" fmla="*/ 840 h 840"/>
              <a:gd name="T2" fmla="*/ 8 w 1128"/>
              <a:gd name="T3" fmla="*/ 840 h 840"/>
              <a:gd name="T4" fmla="*/ 568 w 1128"/>
              <a:gd name="T5" fmla="*/ 840 h 840"/>
              <a:gd name="T6" fmla="*/ 847 w 1128"/>
              <a:gd name="T7" fmla="*/ 840 h 840"/>
              <a:gd name="T8" fmla="*/ 1128 w 1128"/>
              <a:gd name="T9" fmla="*/ 840 h 840"/>
              <a:gd name="T10" fmla="*/ 1128 w 1128"/>
              <a:gd name="T11" fmla="*/ 699 h 840"/>
              <a:gd name="T12" fmla="*/ 1128 w 1128"/>
              <a:gd name="T13" fmla="*/ 560 h 840"/>
              <a:gd name="T14" fmla="*/ 1128 w 1128"/>
              <a:gd name="T15" fmla="*/ 420 h 840"/>
              <a:gd name="T16" fmla="*/ 1128 w 1128"/>
              <a:gd name="T17" fmla="*/ 280 h 840"/>
              <a:gd name="T18" fmla="*/ 1128 w 1128"/>
              <a:gd name="T19" fmla="*/ 153 h 840"/>
              <a:gd name="T20" fmla="*/ 1128 w 1128"/>
              <a:gd name="T21" fmla="*/ 0 h 840"/>
              <a:gd name="T22" fmla="*/ 847 w 1128"/>
              <a:gd name="T23" fmla="*/ 0 h 840"/>
              <a:gd name="T24" fmla="*/ 568 w 1128"/>
              <a:gd name="T25" fmla="*/ 0 h 840"/>
              <a:gd name="T26" fmla="*/ 0 w 1128"/>
              <a:gd name="T27" fmla="*/ 0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8" h="840">
                <a:moveTo>
                  <a:pt x="0" y="840"/>
                </a:moveTo>
                <a:lnTo>
                  <a:pt x="8" y="840"/>
                </a:lnTo>
                <a:lnTo>
                  <a:pt x="568" y="840"/>
                </a:lnTo>
                <a:lnTo>
                  <a:pt x="847" y="840"/>
                </a:lnTo>
                <a:lnTo>
                  <a:pt x="1128" y="840"/>
                </a:lnTo>
                <a:lnTo>
                  <a:pt x="1128" y="699"/>
                </a:lnTo>
                <a:lnTo>
                  <a:pt x="1128" y="560"/>
                </a:lnTo>
                <a:lnTo>
                  <a:pt x="1128" y="420"/>
                </a:lnTo>
                <a:lnTo>
                  <a:pt x="1128" y="280"/>
                </a:lnTo>
                <a:lnTo>
                  <a:pt x="1128" y="153"/>
                </a:lnTo>
                <a:lnTo>
                  <a:pt x="1128" y="0"/>
                </a:lnTo>
                <a:lnTo>
                  <a:pt x="847" y="0"/>
                </a:lnTo>
                <a:lnTo>
                  <a:pt x="568" y="0"/>
                </a:lnTo>
                <a:lnTo>
                  <a:pt x="0" y="0"/>
                </a:lnTo>
              </a:path>
            </a:pathLst>
          </a:custGeom>
          <a:noFill/>
          <a:ln w="17463">
            <a:solidFill>
              <a:srgbClr val="33333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374" name="Freeform 350">
            <a:extLst>
              <a:ext uri="{FF2B5EF4-FFF2-40B4-BE49-F238E27FC236}">
                <a16:creationId xmlns:a16="http://schemas.microsoft.com/office/drawing/2014/main" id="{324A4381-B9F8-8780-DB1B-BB77C3BDB2FC}"/>
              </a:ext>
            </a:extLst>
          </p:cNvPr>
          <p:cNvSpPr>
            <a:spLocks/>
          </p:cNvSpPr>
          <p:nvPr/>
        </p:nvSpPr>
        <p:spPr bwMode="auto">
          <a:xfrm>
            <a:off x="398463" y="3067050"/>
            <a:ext cx="1587" cy="333375"/>
          </a:xfrm>
          <a:custGeom>
            <a:avLst/>
            <a:gdLst>
              <a:gd name="T0" fmla="*/ 0 h 840"/>
              <a:gd name="T1" fmla="*/ 153 h 840"/>
              <a:gd name="T2" fmla="*/ 280 h 840"/>
              <a:gd name="T3" fmla="*/ 420 h 840"/>
              <a:gd name="T4" fmla="*/ 560 h 840"/>
              <a:gd name="T5" fmla="*/ 699 h 840"/>
              <a:gd name="T6" fmla="*/ 840 h 840"/>
            </a:gdLst>
            <a:ahLst/>
            <a:cxnLst>
              <a:cxn ang="0">
                <a:pos x="0" y="T0"/>
              </a:cxn>
              <a:cxn ang="0">
                <a:pos x="0" y="T1"/>
              </a:cxn>
              <a:cxn ang="0">
                <a:pos x="0" y="T2"/>
              </a:cxn>
              <a:cxn ang="0">
                <a:pos x="0" y="T3"/>
              </a:cxn>
              <a:cxn ang="0">
                <a:pos x="0" y="T4"/>
              </a:cxn>
              <a:cxn ang="0">
                <a:pos x="0" y="T5"/>
              </a:cxn>
              <a:cxn ang="0">
                <a:pos x="0" y="T6"/>
              </a:cxn>
            </a:cxnLst>
            <a:rect l="0" t="0" r="r" b="b"/>
            <a:pathLst>
              <a:path h="840">
                <a:moveTo>
                  <a:pt x="0" y="0"/>
                </a:moveTo>
                <a:lnTo>
                  <a:pt x="0" y="153"/>
                </a:lnTo>
                <a:lnTo>
                  <a:pt x="0" y="280"/>
                </a:lnTo>
                <a:lnTo>
                  <a:pt x="0" y="420"/>
                </a:lnTo>
                <a:lnTo>
                  <a:pt x="0" y="560"/>
                </a:lnTo>
                <a:lnTo>
                  <a:pt x="0" y="699"/>
                </a:lnTo>
                <a:lnTo>
                  <a:pt x="0" y="840"/>
                </a:lnTo>
              </a:path>
            </a:pathLst>
          </a:custGeom>
          <a:noFill/>
          <a:ln w="17463">
            <a:solidFill>
              <a:srgbClr val="33333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375" name="Rectangle 351">
            <a:extLst>
              <a:ext uri="{FF2B5EF4-FFF2-40B4-BE49-F238E27FC236}">
                <a16:creationId xmlns:a16="http://schemas.microsoft.com/office/drawing/2014/main" id="{0CF22383-0DB3-5115-8A11-B4F57526E21A}"/>
              </a:ext>
            </a:extLst>
          </p:cNvPr>
          <p:cNvSpPr>
            <a:spLocks noChangeArrowheads="1"/>
          </p:cNvSpPr>
          <p:nvPr/>
        </p:nvSpPr>
        <p:spPr bwMode="auto">
          <a:xfrm>
            <a:off x="798513" y="3219450"/>
            <a:ext cx="111125" cy="50800"/>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76" name="Rectangle 352">
            <a:extLst>
              <a:ext uri="{FF2B5EF4-FFF2-40B4-BE49-F238E27FC236}">
                <a16:creationId xmlns:a16="http://schemas.microsoft.com/office/drawing/2014/main" id="{7451EAB1-3961-F8A6-60D8-DFB05A8AEEF7}"/>
              </a:ext>
            </a:extLst>
          </p:cNvPr>
          <p:cNvSpPr>
            <a:spLocks noChangeArrowheads="1"/>
          </p:cNvSpPr>
          <p:nvPr/>
        </p:nvSpPr>
        <p:spPr bwMode="auto">
          <a:xfrm>
            <a:off x="798513" y="3157538"/>
            <a:ext cx="111125" cy="61912"/>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77" name="Rectangle 353">
            <a:extLst>
              <a:ext uri="{FF2B5EF4-FFF2-40B4-BE49-F238E27FC236}">
                <a16:creationId xmlns:a16="http://schemas.microsoft.com/office/drawing/2014/main" id="{853E81A9-C304-069A-5E70-7976F3A5F6F3}"/>
              </a:ext>
            </a:extLst>
          </p:cNvPr>
          <p:cNvSpPr>
            <a:spLocks noChangeArrowheads="1"/>
          </p:cNvSpPr>
          <p:nvPr/>
        </p:nvSpPr>
        <p:spPr bwMode="auto">
          <a:xfrm>
            <a:off x="798513" y="3435350"/>
            <a:ext cx="111125" cy="55563"/>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78" name="Rectangle 354">
            <a:extLst>
              <a:ext uri="{FF2B5EF4-FFF2-40B4-BE49-F238E27FC236}">
                <a16:creationId xmlns:a16="http://schemas.microsoft.com/office/drawing/2014/main" id="{FA681B2C-6450-E24A-DC06-638CD5D15D6B}"/>
              </a:ext>
            </a:extLst>
          </p:cNvPr>
          <p:cNvSpPr>
            <a:spLocks noChangeArrowheads="1"/>
          </p:cNvSpPr>
          <p:nvPr/>
        </p:nvSpPr>
        <p:spPr bwMode="auto">
          <a:xfrm>
            <a:off x="798513" y="3381375"/>
            <a:ext cx="111125" cy="53975"/>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79" name="Rectangle 355">
            <a:extLst>
              <a:ext uri="{FF2B5EF4-FFF2-40B4-BE49-F238E27FC236}">
                <a16:creationId xmlns:a16="http://schemas.microsoft.com/office/drawing/2014/main" id="{4F512F03-043B-F33D-D138-6457E774E8B3}"/>
              </a:ext>
            </a:extLst>
          </p:cNvPr>
          <p:cNvSpPr>
            <a:spLocks noChangeArrowheads="1"/>
          </p:cNvSpPr>
          <p:nvPr/>
        </p:nvSpPr>
        <p:spPr bwMode="auto">
          <a:xfrm>
            <a:off x="798513" y="3325813"/>
            <a:ext cx="111125" cy="55562"/>
          </a:xfrm>
          <a:prstGeom prst="rect">
            <a:avLst/>
          </a:prstGeom>
          <a:solidFill>
            <a:srgbClr val="BBBBB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80" name="Rectangle 356">
            <a:extLst>
              <a:ext uri="{FF2B5EF4-FFF2-40B4-BE49-F238E27FC236}">
                <a16:creationId xmlns:a16="http://schemas.microsoft.com/office/drawing/2014/main" id="{6C3DB64A-C6E5-756F-20E7-DA207F517275}"/>
              </a:ext>
            </a:extLst>
          </p:cNvPr>
          <p:cNvSpPr>
            <a:spLocks noChangeArrowheads="1"/>
          </p:cNvSpPr>
          <p:nvPr/>
        </p:nvSpPr>
        <p:spPr bwMode="auto">
          <a:xfrm>
            <a:off x="798513" y="3270250"/>
            <a:ext cx="111125" cy="55563"/>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81" name="Rectangle 357">
            <a:extLst>
              <a:ext uri="{FF2B5EF4-FFF2-40B4-BE49-F238E27FC236}">
                <a16:creationId xmlns:a16="http://schemas.microsoft.com/office/drawing/2014/main" id="{3700BEE0-FA4B-7697-6164-429A6F69DFD4}"/>
              </a:ext>
            </a:extLst>
          </p:cNvPr>
          <p:cNvSpPr>
            <a:spLocks noChangeArrowheads="1"/>
          </p:cNvSpPr>
          <p:nvPr/>
        </p:nvSpPr>
        <p:spPr bwMode="auto">
          <a:xfrm>
            <a:off x="687388" y="3219450"/>
            <a:ext cx="111125" cy="50800"/>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82" name="Freeform 358">
            <a:extLst>
              <a:ext uri="{FF2B5EF4-FFF2-40B4-BE49-F238E27FC236}">
                <a16:creationId xmlns:a16="http://schemas.microsoft.com/office/drawing/2014/main" id="{F99291DF-8670-6D44-1763-E8DAFBDFB179}"/>
              </a:ext>
            </a:extLst>
          </p:cNvPr>
          <p:cNvSpPr>
            <a:spLocks/>
          </p:cNvSpPr>
          <p:nvPr/>
        </p:nvSpPr>
        <p:spPr bwMode="auto">
          <a:xfrm>
            <a:off x="461963" y="3219450"/>
            <a:ext cx="225425" cy="50800"/>
          </a:xfrm>
          <a:custGeom>
            <a:avLst/>
            <a:gdLst>
              <a:gd name="T0" fmla="*/ 570 w 570"/>
              <a:gd name="T1" fmla="*/ 127 h 127"/>
              <a:gd name="T2" fmla="*/ 570 w 570"/>
              <a:gd name="T3" fmla="*/ 0 h 127"/>
              <a:gd name="T4" fmla="*/ 0 w 570"/>
              <a:gd name="T5" fmla="*/ 0 h 127"/>
              <a:gd name="T6" fmla="*/ 0 w 570"/>
              <a:gd name="T7" fmla="*/ 127 h 127"/>
              <a:gd name="T8" fmla="*/ 8 w 570"/>
              <a:gd name="T9" fmla="*/ 127 h 127"/>
              <a:gd name="T10" fmla="*/ 570 w 570"/>
              <a:gd name="T11" fmla="*/ 127 h 127"/>
            </a:gdLst>
            <a:ahLst/>
            <a:cxnLst>
              <a:cxn ang="0">
                <a:pos x="T0" y="T1"/>
              </a:cxn>
              <a:cxn ang="0">
                <a:pos x="T2" y="T3"/>
              </a:cxn>
              <a:cxn ang="0">
                <a:pos x="T4" y="T5"/>
              </a:cxn>
              <a:cxn ang="0">
                <a:pos x="T6" y="T7"/>
              </a:cxn>
              <a:cxn ang="0">
                <a:pos x="T8" y="T9"/>
              </a:cxn>
              <a:cxn ang="0">
                <a:pos x="T10" y="T11"/>
              </a:cxn>
            </a:cxnLst>
            <a:rect l="0" t="0" r="r" b="b"/>
            <a:pathLst>
              <a:path w="570" h="127">
                <a:moveTo>
                  <a:pt x="570" y="127"/>
                </a:moveTo>
                <a:lnTo>
                  <a:pt x="570" y="0"/>
                </a:lnTo>
                <a:lnTo>
                  <a:pt x="0" y="0"/>
                </a:lnTo>
                <a:lnTo>
                  <a:pt x="0" y="127"/>
                </a:lnTo>
                <a:lnTo>
                  <a:pt x="8" y="127"/>
                </a:lnTo>
                <a:lnTo>
                  <a:pt x="570" y="127"/>
                </a:lnTo>
                <a:close/>
              </a:path>
            </a:pathLst>
          </a:custGeom>
          <a:solidFill>
            <a:srgbClr val="FFD833"/>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83" name="Rectangle 359">
            <a:extLst>
              <a:ext uri="{FF2B5EF4-FFF2-40B4-BE49-F238E27FC236}">
                <a16:creationId xmlns:a16="http://schemas.microsoft.com/office/drawing/2014/main" id="{23E87045-1533-68E3-8974-3F73D69CE0DE}"/>
              </a:ext>
            </a:extLst>
          </p:cNvPr>
          <p:cNvSpPr>
            <a:spLocks noChangeArrowheads="1"/>
          </p:cNvSpPr>
          <p:nvPr/>
        </p:nvSpPr>
        <p:spPr bwMode="auto">
          <a:xfrm>
            <a:off x="687388" y="3270250"/>
            <a:ext cx="111125" cy="55563"/>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84" name="Rectangle 360">
            <a:extLst>
              <a:ext uri="{FF2B5EF4-FFF2-40B4-BE49-F238E27FC236}">
                <a16:creationId xmlns:a16="http://schemas.microsoft.com/office/drawing/2014/main" id="{FB87A1D7-7F43-3068-14E5-220B13422CDD}"/>
              </a:ext>
            </a:extLst>
          </p:cNvPr>
          <p:cNvSpPr>
            <a:spLocks noChangeArrowheads="1"/>
          </p:cNvSpPr>
          <p:nvPr/>
        </p:nvSpPr>
        <p:spPr bwMode="auto">
          <a:xfrm>
            <a:off x="687388" y="3157538"/>
            <a:ext cx="111125" cy="61912"/>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85" name="Rectangle 361">
            <a:extLst>
              <a:ext uri="{FF2B5EF4-FFF2-40B4-BE49-F238E27FC236}">
                <a16:creationId xmlns:a16="http://schemas.microsoft.com/office/drawing/2014/main" id="{03AC4EFC-87C2-6548-98BB-2C1DD42CAF56}"/>
              </a:ext>
            </a:extLst>
          </p:cNvPr>
          <p:cNvSpPr>
            <a:spLocks noChangeArrowheads="1"/>
          </p:cNvSpPr>
          <p:nvPr/>
        </p:nvSpPr>
        <p:spPr bwMode="auto">
          <a:xfrm>
            <a:off x="461963" y="3157538"/>
            <a:ext cx="225425" cy="61912"/>
          </a:xfrm>
          <a:prstGeom prst="rect">
            <a:avLst/>
          </a:prstGeom>
          <a:solidFill>
            <a:srgbClr val="FFD83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86" name="Rectangle 362">
            <a:extLst>
              <a:ext uri="{FF2B5EF4-FFF2-40B4-BE49-F238E27FC236}">
                <a16:creationId xmlns:a16="http://schemas.microsoft.com/office/drawing/2014/main" id="{7C5CAFD6-628E-EAC1-188B-58CB207A49B2}"/>
              </a:ext>
            </a:extLst>
          </p:cNvPr>
          <p:cNvSpPr>
            <a:spLocks noChangeArrowheads="1"/>
          </p:cNvSpPr>
          <p:nvPr/>
        </p:nvSpPr>
        <p:spPr bwMode="auto">
          <a:xfrm>
            <a:off x="461963" y="3270250"/>
            <a:ext cx="3175" cy="5556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87" name="Rectangle 363">
            <a:extLst>
              <a:ext uri="{FF2B5EF4-FFF2-40B4-BE49-F238E27FC236}">
                <a16:creationId xmlns:a16="http://schemas.microsoft.com/office/drawing/2014/main" id="{5ADB1280-7ED6-E973-38E4-911BCD43167C}"/>
              </a:ext>
            </a:extLst>
          </p:cNvPr>
          <p:cNvSpPr>
            <a:spLocks noChangeArrowheads="1"/>
          </p:cNvSpPr>
          <p:nvPr/>
        </p:nvSpPr>
        <p:spPr bwMode="auto">
          <a:xfrm>
            <a:off x="461963" y="3325813"/>
            <a:ext cx="3175" cy="55562"/>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88" name="Rectangle 364">
            <a:extLst>
              <a:ext uri="{FF2B5EF4-FFF2-40B4-BE49-F238E27FC236}">
                <a16:creationId xmlns:a16="http://schemas.microsoft.com/office/drawing/2014/main" id="{E8F15F5E-9903-265E-DAC6-C5DC7EFFB232}"/>
              </a:ext>
            </a:extLst>
          </p:cNvPr>
          <p:cNvSpPr>
            <a:spLocks noChangeArrowheads="1"/>
          </p:cNvSpPr>
          <p:nvPr/>
        </p:nvSpPr>
        <p:spPr bwMode="auto">
          <a:xfrm>
            <a:off x="465138" y="3325813"/>
            <a:ext cx="222250" cy="55562"/>
          </a:xfrm>
          <a:prstGeom prst="rect">
            <a:avLst/>
          </a:prstGeom>
          <a:solidFill>
            <a:srgbClr val="FFD833"/>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89" name="Rectangle 365">
            <a:extLst>
              <a:ext uri="{FF2B5EF4-FFF2-40B4-BE49-F238E27FC236}">
                <a16:creationId xmlns:a16="http://schemas.microsoft.com/office/drawing/2014/main" id="{3E6795F4-0F21-9C56-C716-599151204880}"/>
              </a:ext>
            </a:extLst>
          </p:cNvPr>
          <p:cNvSpPr>
            <a:spLocks noChangeArrowheads="1"/>
          </p:cNvSpPr>
          <p:nvPr/>
        </p:nvSpPr>
        <p:spPr bwMode="auto">
          <a:xfrm>
            <a:off x="461963" y="3381375"/>
            <a:ext cx="3175" cy="53975"/>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90" name="Rectangle 366">
            <a:extLst>
              <a:ext uri="{FF2B5EF4-FFF2-40B4-BE49-F238E27FC236}">
                <a16:creationId xmlns:a16="http://schemas.microsoft.com/office/drawing/2014/main" id="{2FBE0D01-2570-1955-5095-613A6CF4367E}"/>
              </a:ext>
            </a:extLst>
          </p:cNvPr>
          <p:cNvSpPr>
            <a:spLocks noChangeArrowheads="1"/>
          </p:cNvSpPr>
          <p:nvPr/>
        </p:nvSpPr>
        <p:spPr bwMode="auto">
          <a:xfrm>
            <a:off x="461963" y="3435350"/>
            <a:ext cx="3175" cy="5556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391" name="Rectangle 367">
            <a:extLst>
              <a:ext uri="{FF2B5EF4-FFF2-40B4-BE49-F238E27FC236}">
                <a16:creationId xmlns:a16="http://schemas.microsoft.com/office/drawing/2014/main" id="{86DB7EA2-180D-2B09-7BB7-78C7DD6BDCCA}"/>
              </a:ext>
            </a:extLst>
          </p:cNvPr>
          <p:cNvSpPr>
            <a:spLocks noChangeArrowheads="1"/>
          </p:cNvSpPr>
          <p:nvPr/>
        </p:nvSpPr>
        <p:spPr bwMode="auto">
          <a:xfrm>
            <a:off x="465138" y="3435350"/>
            <a:ext cx="222250" cy="55563"/>
          </a:xfrm>
          <a:prstGeom prst="rect">
            <a:avLst/>
          </a:prstGeom>
          <a:solidFill>
            <a:srgbClr val="FFD833"/>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92" name="Rectangle 368">
            <a:extLst>
              <a:ext uri="{FF2B5EF4-FFF2-40B4-BE49-F238E27FC236}">
                <a16:creationId xmlns:a16="http://schemas.microsoft.com/office/drawing/2014/main" id="{53FBF7AE-BDF7-F0E3-335B-9CC902056920}"/>
              </a:ext>
            </a:extLst>
          </p:cNvPr>
          <p:cNvSpPr>
            <a:spLocks noChangeArrowheads="1"/>
          </p:cNvSpPr>
          <p:nvPr/>
        </p:nvSpPr>
        <p:spPr bwMode="auto">
          <a:xfrm>
            <a:off x="465138" y="3381375"/>
            <a:ext cx="222250" cy="53975"/>
          </a:xfrm>
          <a:prstGeom prst="rect">
            <a:avLst/>
          </a:prstGeom>
          <a:solidFill>
            <a:srgbClr val="FFD833"/>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93" name="Rectangle 369">
            <a:extLst>
              <a:ext uri="{FF2B5EF4-FFF2-40B4-BE49-F238E27FC236}">
                <a16:creationId xmlns:a16="http://schemas.microsoft.com/office/drawing/2014/main" id="{9B7FBC98-97C5-007B-7942-616BDF70D021}"/>
              </a:ext>
            </a:extLst>
          </p:cNvPr>
          <p:cNvSpPr>
            <a:spLocks noChangeArrowheads="1"/>
          </p:cNvSpPr>
          <p:nvPr/>
        </p:nvSpPr>
        <p:spPr bwMode="auto">
          <a:xfrm>
            <a:off x="687388" y="3435350"/>
            <a:ext cx="111125" cy="55563"/>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94" name="Rectangle 370">
            <a:extLst>
              <a:ext uri="{FF2B5EF4-FFF2-40B4-BE49-F238E27FC236}">
                <a16:creationId xmlns:a16="http://schemas.microsoft.com/office/drawing/2014/main" id="{4A1FD284-24C3-93FB-FA45-5BE0A8C9C842}"/>
              </a:ext>
            </a:extLst>
          </p:cNvPr>
          <p:cNvSpPr>
            <a:spLocks noChangeArrowheads="1"/>
          </p:cNvSpPr>
          <p:nvPr/>
        </p:nvSpPr>
        <p:spPr bwMode="auto">
          <a:xfrm>
            <a:off x="687388" y="3325813"/>
            <a:ext cx="111125" cy="55562"/>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95" name="Rectangle 371">
            <a:extLst>
              <a:ext uri="{FF2B5EF4-FFF2-40B4-BE49-F238E27FC236}">
                <a16:creationId xmlns:a16="http://schemas.microsoft.com/office/drawing/2014/main" id="{50001919-D953-ADCF-2410-EF6EF78FCA9B}"/>
              </a:ext>
            </a:extLst>
          </p:cNvPr>
          <p:cNvSpPr>
            <a:spLocks noChangeArrowheads="1"/>
          </p:cNvSpPr>
          <p:nvPr/>
        </p:nvSpPr>
        <p:spPr bwMode="auto">
          <a:xfrm>
            <a:off x="687388" y="3381375"/>
            <a:ext cx="111125" cy="53975"/>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96" name="Rectangle 372">
            <a:extLst>
              <a:ext uri="{FF2B5EF4-FFF2-40B4-BE49-F238E27FC236}">
                <a16:creationId xmlns:a16="http://schemas.microsoft.com/office/drawing/2014/main" id="{6B238947-9039-FA11-4C8F-4415166D663B}"/>
              </a:ext>
            </a:extLst>
          </p:cNvPr>
          <p:cNvSpPr>
            <a:spLocks noChangeArrowheads="1"/>
          </p:cNvSpPr>
          <p:nvPr/>
        </p:nvSpPr>
        <p:spPr bwMode="auto">
          <a:xfrm>
            <a:off x="465138" y="3270250"/>
            <a:ext cx="222250" cy="55563"/>
          </a:xfrm>
          <a:prstGeom prst="rect">
            <a:avLst/>
          </a:prstGeom>
          <a:solidFill>
            <a:srgbClr val="FFD833"/>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97" name="Line 373">
            <a:extLst>
              <a:ext uri="{FF2B5EF4-FFF2-40B4-BE49-F238E27FC236}">
                <a16:creationId xmlns:a16="http://schemas.microsoft.com/office/drawing/2014/main" id="{B4F72AE1-040C-9635-5CEF-3400166EBCC3}"/>
              </a:ext>
            </a:extLst>
          </p:cNvPr>
          <p:cNvSpPr>
            <a:spLocks noChangeShapeType="1"/>
          </p:cNvSpPr>
          <p:nvPr/>
        </p:nvSpPr>
        <p:spPr bwMode="auto">
          <a:xfrm>
            <a:off x="687388" y="3325813"/>
            <a:ext cx="1587" cy="55562"/>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98" name="Line 374">
            <a:extLst>
              <a:ext uri="{FF2B5EF4-FFF2-40B4-BE49-F238E27FC236}">
                <a16:creationId xmlns:a16="http://schemas.microsoft.com/office/drawing/2014/main" id="{F520481F-709E-96B4-AE63-363D788FA2FC}"/>
              </a:ext>
            </a:extLst>
          </p:cNvPr>
          <p:cNvSpPr>
            <a:spLocks noChangeShapeType="1"/>
          </p:cNvSpPr>
          <p:nvPr/>
        </p:nvSpPr>
        <p:spPr bwMode="auto">
          <a:xfrm flipV="1">
            <a:off x="687388" y="3219450"/>
            <a:ext cx="1587" cy="50800"/>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399" name="Line 375">
            <a:extLst>
              <a:ext uri="{FF2B5EF4-FFF2-40B4-BE49-F238E27FC236}">
                <a16:creationId xmlns:a16="http://schemas.microsoft.com/office/drawing/2014/main" id="{8A490723-EBCE-6BB7-6B51-97E25DBD5EC5}"/>
              </a:ext>
            </a:extLst>
          </p:cNvPr>
          <p:cNvSpPr>
            <a:spLocks noChangeShapeType="1"/>
          </p:cNvSpPr>
          <p:nvPr/>
        </p:nvSpPr>
        <p:spPr bwMode="auto">
          <a:xfrm>
            <a:off x="798513" y="3219450"/>
            <a:ext cx="1587" cy="50800"/>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00" name="Line 376">
            <a:extLst>
              <a:ext uri="{FF2B5EF4-FFF2-40B4-BE49-F238E27FC236}">
                <a16:creationId xmlns:a16="http://schemas.microsoft.com/office/drawing/2014/main" id="{7E4F142D-A315-DB2A-D21D-1C007A1682DB}"/>
              </a:ext>
            </a:extLst>
          </p:cNvPr>
          <p:cNvSpPr>
            <a:spLocks noChangeShapeType="1"/>
          </p:cNvSpPr>
          <p:nvPr/>
        </p:nvSpPr>
        <p:spPr bwMode="auto">
          <a:xfrm flipH="1">
            <a:off x="687388" y="3270250"/>
            <a:ext cx="111125" cy="1588"/>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01" name="Line 377">
            <a:extLst>
              <a:ext uri="{FF2B5EF4-FFF2-40B4-BE49-F238E27FC236}">
                <a16:creationId xmlns:a16="http://schemas.microsoft.com/office/drawing/2014/main" id="{1D46A88C-6AF3-7A88-D0BD-07773921A7B9}"/>
              </a:ext>
            </a:extLst>
          </p:cNvPr>
          <p:cNvSpPr>
            <a:spLocks noChangeShapeType="1"/>
          </p:cNvSpPr>
          <p:nvPr/>
        </p:nvSpPr>
        <p:spPr bwMode="auto">
          <a:xfrm>
            <a:off x="798513" y="3157538"/>
            <a:ext cx="1587" cy="61912"/>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02" name="Line 378">
            <a:extLst>
              <a:ext uri="{FF2B5EF4-FFF2-40B4-BE49-F238E27FC236}">
                <a16:creationId xmlns:a16="http://schemas.microsoft.com/office/drawing/2014/main" id="{D49B22CF-356E-9841-E4FC-8D5494AAF8ED}"/>
              </a:ext>
            </a:extLst>
          </p:cNvPr>
          <p:cNvSpPr>
            <a:spLocks noChangeShapeType="1"/>
          </p:cNvSpPr>
          <p:nvPr/>
        </p:nvSpPr>
        <p:spPr bwMode="auto">
          <a:xfrm flipH="1">
            <a:off x="687388" y="3219450"/>
            <a:ext cx="111125" cy="1588"/>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03" name="Line 379">
            <a:extLst>
              <a:ext uri="{FF2B5EF4-FFF2-40B4-BE49-F238E27FC236}">
                <a16:creationId xmlns:a16="http://schemas.microsoft.com/office/drawing/2014/main" id="{2749989F-699B-A08E-26F5-DFE25BAB5B05}"/>
              </a:ext>
            </a:extLst>
          </p:cNvPr>
          <p:cNvSpPr>
            <a:spLocks noChangeShapeType="1"/>
          </p:cNvSpPr>
          <p:nvPr/>
        </p:nvSpPr>
        <p:spPr bwMode="auto">
          <a:xfrm flipV="1">
            <a:off x="687388" y="3157538"/>
            <a:ext cx="1587" cy="61912"/>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04" name="Line 380">
            <a:extLst>
              <a:ext uri="{FF2B5EF4-FFF2-40B4-BE49-F238E27FC236}">
                <a16:creationId xmlns:a16="http://schemas.microsoft.com/office/drawing/2014/main" id="{87D2781F-2277-C162-4BC2-45B32717ACF3}"/>
              </a:ext>
            </a:extLst>
          </p:cNvPr>
          <p:cNvSpPr>
            <a:spLocks noChangeShapeType="1"/>
          </p:cNvSpPr>
          <p:nvPr/>
        </p:nvSpPr>
        <p:spPr bwMode="auto">
          <a:xfrm flipH="1">
            <a:off x="461963" y="3270250"/>
            <a:ext cx="3175" cy="0"/>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05" name="Line 381">
            <a:extLst>
              <a:ext uri="{FF2B5EF4-FFF2-40B4-BE49-F238E27FC236}">
                <a16:creationId xmlns:a16="http://schemas.microsoft.com/office/drawing/2014/main" id="{8F06CA53-4C86-6D4A-31BA-E5A4D29B8106}"/>
              </a:ext>
            </a:extLst>
          </p:cNvPr>
          <p:cNvSpPr>
            <a:spLocks noChangeShapeType="1"/>
          </p:cNvSpPr>
          <p:nvPr/>
        </p:nvSpPr>
        <p:spPr bwMode="auto">
          <a:xfrm>
            <a:off x="798513" y="3325813"/>
            <a:ext cx="111125" cy="1587"/>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06" name="Line 382">
            <a:extLst>
              <a:ext uri="{FF2B5EF4-FFF2-40B4-BE49-F238E27FC236}">
                <a16:creationId xmlns:a16="http://schemas.microsoft.com/office/drawing/2014/main" id="{31E07260-6118-4E53-D41A-86396BDD44BC}"/>
              </a:ext>
            </a:extLst>
          </p:cNvPr>
          <p:cNvSpPr>
            <a:spLocks noChangeShapeType="1"/>
          </p:cNvSpPr>
          <p:nvPr/>
        </p:nvSpPr>
        <p:spPr bwMode="auto">
          <a:xfrm flipH="1">
            <a:off x="461963" y="3325813"/>
            <a:ext cx="3175" cy="0"/>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07" name="Line 383">
            <a:extLst>
              <a:ext uri="{FF2B5EF4-FFF2-40B4-BE49-F238E27FC236}">
                <a16:creationId xmlns:a16="http://schemas.microsoft.com/office/drawing/2014/main" id="{F9E67B6B-52BF-3C35-B197-ADC5E004C987}"/>
              </a:ext>
            </a:extLst>
          </p:cNvPr>
          <p:cNvSpPr>
            <a:spLocks noChangeShapeType="1"/>
          </p:cNvSpPr>
          <p:nvPr/>
        </p:nvSpPr>
        <p:spPr bwMode="auto">
          <a:xfrm flipV="1">
            <a:off x="465138" y="3325813"/>
            <a:ext cx="1587" cy="55562"/>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08" name="Line 384">
            <a:extLst>
              <a:ext uri="{FF2B5EF4-FFF2-40B4-BE49-F238E27FC236}">
                <a16:creationId xmlns:a16="http://schemas.microsoft.com/office/drawing/2014/main" id="{CEE82558-D497-4A73-6393-F2317BF8F326}"/>
              </a:ext>
            </a:extLst>
          </p:cNvPr>
          <p:cNvSpPr>
            <a:spLocks noChangeShapeType="1"/>
          </p:cNvSpPr>
          <p:nvPr/>
        </p:nvSpPr>
        <p:spPr bwMode="auto">
          <a:xfrm>
            <a:off x="461963" y="3381375"/>
            <a:ext cx="3175" cy="0"/>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09" name="Line 385">
            <a:extLst>
              <a:ext uri="{FF2B5EF4-FFF2-40B4-BE49-F238E27FC236}">
                <a16:creationId xmlns:a16="http://schemas.microsoft.com/office/drawing/2014/main" id="{E173F32D-A8DE-1326-39D1-0FE90F454A38}"/>
              </a:ext>
            </a:extLst>
          </p:cNvPr>
          <p:cNvSpPr>
            <a:spLocks noChangeShapeType="1"/>
          </p:cNvSpPr>
          <p:nvPr/>
        </p:nvSpPr>
        <p:spPr bwMode="auto">
          <a:xfrm>
            <a:off x="465138" y="3435350"/>
            <a:ext cx="1587" cy="55563"/>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10" name="Line 386">
            <a:extLst>
              <a:ext uri="{FF2B5EF4-FFF2-40B4-BE49-F238E27FC236}">
                <a16:creationId xmlns:a16="http://schemas.microsoft.com/office/drawing/2014/main" id="{EB9EFAA7-F791-FFC8-6073-C0374609C4C6}"/>
              </a:ext>
            </a:extLst>
          </p:cNvPr>
          <p:cNvSpPr>
            <a:spLocks noChangeShapeType="1"/>
          </p:cNvSpPr>
          <p:nvPr/>
        </p:nvSpPr>
        <p:spPr bwMode="auto">
          <a:xfrm>
            <a:off x="461963" y="3435350"/>
            <a:ext cx="3175" cy="0"/>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11" name="Line 387">
            <a:extLst>
              <a:ext uri="{FF2B5EF4-FFF2-40B4-BE49-F238E27FC236}">
                <a16:creationId xmlns:a16="http://schemas.microsoft.com/office/drawing/2014/main" id="{FFB4E58E-294F-6F08-FFF8-BBF57DE99BE5}"/>
              </a:ext>
            </a:extLst>
          </p:cNvPr>
          <p:cNvSpPr>
            <a:spLocks noChangeShapeType="1"/>
          </p:cNvSpPr>
          <p:nvPr/>
        </p:nvSpPr>
        <p:spPr bwMode="auto">
          <a:xfrm>
            <a:off x="465138" y="3381375"/>
            <a:ext cx="1587" cy="53975"/>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12" name="Line 388">
            <a:extLst>
              <a:ext uri="{FF2B5EF4-FFF2-40B4-BE49-F238E27FC236}">
                <a16:creationId xmlns:a16="http://schemas.microsoft.com/office/drawing/2014/main" id="{F7A01ABF-DEB2-7056-B199-08E9D077EE32}"/>
              </a:ext>
            </a:extLst>
          </p:cNvPr>
          <p:cNvSpPr>
            <a:spLocks noChangeShapeType="1"/>
          </p:cNvSpPr>
          <p:nvPr/>
        </p:nvSpPr>
        <p:spPr bwMode="auto">
          <a:xfrm flipV="1">
            <a:off x="798513" y="3435350"/>
            <a:ext cx="1587" cy="55563"/>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13" name="Line 389">
            <a:extLst>
              <a:ext uri="{FF2B5EF4-FFF2-40B4-BE49-F238E27FC236}">
                <a16:creationId xmlns:a16="http://schemas.microsoft.com/office/drawing/2014/main" id="{BB30FAD2-C5E7-2382-6D19-FCF21EE16931}"/>
              </a:ext>
            </a:extLst>
          </p:cNvPr>
          <p:cNvSpPr>
            <a:spLocks noChangeShapeType="1"/>
          </p:cNvSpPr>
          <p:nvPr/>
        </p:nvSpPr>
        <p:spPr bwMode="auto">
          <a:xfrm flipV="1">
            <a:off x="798513" y="3325813"/>
            <a:ext cx="1587" cy="55562"/>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14" name="Line 390">
            <a:extLst>
              <a:ext uri="{FF2B5EF4-FFF2-40B4-BE49-F238E27FC236}">
                <a16:creationId xmlns:a16="http://schemas.microsoft.com/office/drawing/2014/main" id="{79499FB7-4584-1EBE-45AA-73416D62BAF9}"/>
              </a:ext>
            </a:extLst>
          </p:cNvPr>
          <p:cNvSpPr>
            <a:spLocks noChangeShapeType="1"/>
          </p:cNvSpPr>
          <p:nvPr/>
        </p:nvSpPr>
        <p:spPr bwMode="auto">
          <a:xfrm>
            <a:off x="798513" y="3381375"/>
            <a:ext cx="1587" cy="53975"/>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15" name="Line 391">
            <a:extLst>
              <a:ext uri="{FF2B5EF4-FFF2-40B4-BE49-F238E27FC236}">
                <a16:creationId xmlns:a16="http://schemas.microsoft.com/office/drawing/2014/main" id="{4CF5AEEE-7A35-58F5-DF29-7EBE8C2B0E66}"/>
              </a:ext>
            </a:extLst>
          </p:cNvPr>
          <p:cNvSpPr>
            <a:spLocks noChangeShapeType="1"/>
          </p:cNvSpPr>
          <p:nvPr/>
        </p:nvSpPr>
        <p:spPr bwMode="auto">
          <a:xfrm>
            <a:off x="798513" y="3435350"/>
            <a:ext cx="1111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16" name="Line 392">
            <a:extLst>
              <a:ext uri="{FF2B5EF4-FFF2-40B4-BE49-F238E27FC236}">
                <a16:creationId xmlns:a16="http://schemas.microsoft.com/office/drawing/2014/main" id="{3F07CAAD-68BC-B514-716A-FA01CE7F4FF6}"/>
              </a:ext>
            </a:extLst>
          </p:cNvPr>
          <p:cNvSpPr>
            <a:spLocks noChangeShapeType="1"/>
          </p:cNvSpPr>
          <p:nvPr/>
        </p:nvSpPr>
        <p:spPr bwMode="auto">
          <a:xfrm flipV="1">
            <a:off x="687388" y="3381375"/>
            <a:ext cx="1587" cy="53975"/>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17" name="Line 393">
            <a:extLst>
              <a:ext uri="{FF2B5EF4-FFF2-40B4-BE49-F238E27FC236}">
                <a16:creationId xmlns:a16="http://schemas.microsoft.com/office/drawing/2014/main" id="{D565A5AB-CA6E-79B7-D684-8573C8DC939B}"/>
              </a:ext>
            </a:extLst>
          </p:cNvPr>
          <p:cNvSpPr>
            <a:spLocks noChangeShapeType="1"/>
          </p:cNvSpPr>
          <p:nvPr/>
        </p:nvSpPr>
        <p:spPr bwMode="auto">
          <a:xfrm flipV="1">
            <a:off x="687388" y="3435350"/>
            <a:ext cx="1587" cy="55563"/>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18" name="Line 394">
            <a:extLst>
              <a:ext uri="{FF2B5EF4-FFF2-40B4-BE49-F238E27FC236}">
                <a16:creationId xmlns:a16="http://schemas.microsoft.com/office/drawing/2014/main" id="{F634DAAC-15DC-D6F9-E25E-7A36F0D28B81}"/>
              </a:ext>
            </a:extLst>
          </p:cNvPr>
          <p:cNvSpPr>
            <a:spLocks noChangeShapeType="1"/>
          </p:cNvSpPr>
          <p:nvPr/>
        </p:nvSpPr>
        <p:spPr bwMode="auto">
          <a:xfrm>
            <a:off x="687388" y="3325813"/>
            <a:ext cx="111125" cy="1587"/>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19" name="Line 395">
            <a:extLst>
              <a:ext uri="{FF2B5EF4-FFF2-40B4-BE49-F238E27FC236}">
                <a16:creationId xmlns:a16="http://schemas.microsoft.com/office/drawing/2014/main" id="{48B6104A-8EA9-5DB3-9003-3A3AD29E8561}"/>
              </a:ext>
            </a:extLst>
          </p:cNvPr>
          <p:cNvSpPr>
            <a:spLocks noChangeShapeType="1"/>
          </p:cNvSpPr>
          <p:nvPr/>
        </p:nvSpPr>
        <p:spPr bwMode="auto">
          <a:xfrm flipH="1">
            <a:off x="687388" y="3435350"/>
            <a:ext cx="111125" cy="1588"/>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20" name="Line 396">
            <a:extLst>
              <a:ext uri="{FF2B5EF4-FFF2-40B4-BE49-F238E27FC236}">
                <a16:creationId xmlns:a16="http://schemas.microsoft.com/office/drawing/2014/main" id="{02FED7C9-E34C-3AB7-EEF3-FF91FC010503}"/>
              </a:ext>
            </a:extLst>
          </p:cNvPr>
          <p:cNvSpPr>
            <a:spLocks noChangeShapeType="1"/>
          </p:cNvSpPr>
          <p:nvPr/>
        </p:nvSpPr>
        <p:spPr bwMode="auto">
          <a:xfrm>
            <a:off x="687388" y="3381375"/>
            <a:ext cx="111125" cy="1588"/>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21" name="Line 397">
            <a:extLst>
              <a:ext uri="{FF2B5EF4-FFF2-40B4-BE49-F238E27FC236}">
                <a16:creationId xmlns:a16="http://schemas.microsoft.com/office/drawing/2014/main" id="{4986DEA6-8DAC-F8D4-B6A2-690102D076E8}"/>
              </a:ext>
            </a:extLst>
          </p:cNvPr>
          <p:cNvSpPr>
            <a:spLocks noChangeShapeType="1"/>
          </p:cNvSpPr>
          <p:nvPr/>
        </p:nvSpPr>
        <p:spPr bwMode="auto">
          <a:xfrm flipV="1">
            <a:off x="687388" y="3270250"/>
            <a:ext cx="1587" cy="55563"/>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22" name="Line 398">
            <a:extLst>
              <a:ext uri="{FF2B5EF4-FFF2-40B4-BE49-F238E27FC236}">
                <a16:creationId xmlns:a16="http://schemas.microsoft.com/office/drawing/2014/main" id="{8795E477-F83D-3CCE-B0A7-29EC66197C1D}"/>
              </a:ext>
            </a:extLst>
          </p:cNvPr>
          <p:cNvSpPr>
            <a:spLocks noChangeShapeType="1"/>
          </p:cNvSpPr>
          <p:nvPr/>
        </p:nvSpPr>
        <p:spPr bwMode="auto">
          <a:xfrm flipH="1">
            <a:off x="465138" y="3435350"/>
            <a:ext cx="222250" cy="1588"/>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23" name="Line 399">
            <a:extLst>
              <a:ext uri="{FF2B5EF4-FFF2-40B4-BE49-F238E27FC236}">
                <a16:creationId xmlns:a16="http://schemas.microsoft.com/office/drawing/2014/main" id="{97016F8A-0833-3482-AA7B-0AE69DFCDBFE}"/>
              </a:ext>
            </a:extLst>
          </p:cNvPr>
          <p:cNvSpPr>
            <a:spLocks noChangeShapeType="1"/>
          </p:cNvSpPr>
          <p:nvPr/>
        </p:nvSpPr>
        <p:spPr bwMode="auto">
          <a:xfrm>
            <a:off x="461963" y="3219450"/>
            <a:ext cx="225425" cy="1588"/>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24" name="Line 400">
            <a:extLst>
              <a:ext uri="{FF2B5EF4-FFF2-40B4-BE49-F238E27FC236}">
                <a16:creationId xmlns:a16="http://schemas.microsoft.com/office/drawing/2014/main" id="{B8B73EE2-8F7C-B98A-7880-CDC3FAEC3EF6}"/>
              </a:ext>
            </a:extLst>
          </p:cNvPr>
          <p:cNvSpPr>
            <a:spLocks noChangeShapeType="1"/>
          </p:cNvSpPr>
          <p:nvPr/>
        </p:nvSpPr>
        <p:spPr bwMode="auto">
          <a:xfrm flipV="1">
            <a:off x="798513" y="3270250"/>
            <a:ext cx="1587" cy="55563"/>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25" name="Line 401">
            <a:extLst>
              <a:ext uri="{FF2B5EF4-FFF2-40B4-BE49-F238E27FC236}">
                <a16:creationId xmlns:a16="http://schemas.microsoft.com/office/drawing/2014/main" id="{5FB0ABC6-956B-587B-30EE-A5A9794FA187}"/>
              </a:ext>
            </a:extLst>
          </p:cNvPr>
          <p:cNvSpPr>
            <a:spLocks noChangeShapeType="1"/>
          </p:cNvSpPr>
          <p:nvPr/>
        </p:nvSpPr>
        <p:spPr bwMode="auto">
          <a:xfrm>
            <a:off x="465138" y="3270250"/>
            <a:ext cx="1587" cy="55563"/>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26" name="Line 402">
            <a:extLst>
              <a:ext uri="{FF2B5EF4-FFF2-40B4-BE49-F238E27FC236}">
                <a16:creationId xmlns:a16="http://schemas.microsoft.com/office/drawing/2014/main" id="{46AB6AF2-6C4F-DD21-54B7-776EEF865667}"/>
              </a:ext>
            </a:extLst>
          </p:cNvPr>
          <p:cNvSpPr>
            <a:spLocks noChangeShapeType="1"/>
          </p:cNvSpPr>
          <p:nvPr/>
        </p:nvSpPr>
        <p:spPr bwMode="auto">
          <a:xfrm>
            <a:off x="465138" y="3325813"/>
            <a:ext cx="222250" cy="1587"/>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27" name="Line 403">
            <a:extLst>
              <a:ext uri="{FF2B5EF4-FFF2-40B4-BE49-F238E27FC236}">
                <a16:creationId xmlns:a16="http://schemas.microsoft.com/office/drawing/2014/main" id="{C8747586-AE7B-E8E7-6C5C-FD4FF2D1DBC2}"/>
              </a:ext>
            </a:extLst>
          </p:cNvPr>
          <p:cNvSpPr>
            <a:spLocks noChangeShapeType="1"/>
          </p:cNvSpPr>
          <p:nvPr/>
        </p:nvSpPr>
        <p:spPr bwMode="auto">
          <a:xfrm flipH="1">
            <a:off x="465138" y="3381375"/>
            <a:ext cx="222250" cy="1588"/>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28" name="Line 404">
            <a:extLst>
              <a:ext uri="{FF2B5EF4-FFF2-40B4-BE49-F238E27FC236}">
                <a16:creationId xmlns:a16="http://schemas.microsoft.com/office/drawing/2014/main" id="{25005F38-1B88-15C7-701C-49F6EF6CA493}"/>
              </a:ext>
            </a:extLst>
          </p:cNvPr>
          <p:cNvSpPr>
            <a:spLocks noChangeShapeType="1"/>
          </p:cNvSpPr>
          <p:nvPr/>
        </p:nvSpPr>
        <p:spPr bwMode="auto">
          <a:xfrm flipH="1">
            <a:off x="465138" y="3270250"/>
            <a:ext cx="222250" cy="1588"/>
          </a:xfrm>
          <a:prstGeom prst="line">
            <a:avLst/>
          </a:prstGeom>
          <a:noFill/>
          <a:ln w="9525">
            <a:solidFill>
              <a:srgbClr val="705B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29" name="Line 405">
            <a:extLst>
              <a:ext uri="{FF2B5EF4-FFF2-40B4-BE49-F238E27FC236}">
                <a16:creationId xmlns:a16="http://schemas.microsoft.com/office/drawing/2014/main" id="{F33C785E-0EE8-8CD8-B40E-9E3108521B8D}"/>
              </a:ext>
            </a:extLst>
          </p:cNvPr>
          <p:cNvSpPr>
            <a:spLocks noChangeShapeType="1"/>
          </p:cNvSpPr>
          <p:nvPr/>
        </p:nvSpPr>
        <p:spPr bwMode="auto">
          <a:xfrm>
            <a:off x="798513" y="3219450"/>
            <a:ext cx="111125" cy="1588"/>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30" name="Line 406">
            <a:extLst>
              <a:ext uri="{FF2B5EF4-FFF2-40B4-BE49-F238E27FC236}">
                <a16:creationId xmlns:a16="http://schemas.microsoft.com/office/drawing/2014/main" id="{16D47A70-BDF4-696A-BE8B-34C45FFEFAA4}"/>
              </a:ext>
            </a:extLst>
          </p:cNvPr>
          <p:cNvSpPr>
            <a:spLocks noChangeShapeType="1"/>
          </p:cNvSpPr>
          <p:nvPr/>
        </p:nvSpPr>
        <p:spPr bwMode="auto">
          <a:xfrm>
            <a:off x="798513" y="3270250"/>
            <a:ext cx="111125" cy="1588"/>
          </a:xfrm>
          <a:prstGeom prst="line">
            <a:avLst/>
          </a:prstGeom>
          <a:noFill/>
          <a:ln w="9525">
            <a:solidFill>
              <a:srgbClr val="705B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31" name="Line 407">
            <a:extLst>
              <a:ext uri="{FF2B5EF4-FFF2-40B4-BE49-F238E27FC236}">
                <a16:creationId xmlns:a16="http://schemas.microsoft.com/office/drawing/2014/main" id="{D3BD8FE4-AABC-2F26-6BB6-FD24B4B3B903}"/>
              </a:ext>
            </a:extLst>
          </p:cNvPr>
          <p:cNvSpPr>
            <a:spLocks noChangeShapeType="1"/>
          </p:cNvSpPr>
          <p:nvPr/>
        </p:nvSpPr>
        <p:spPr bwMode="auto">
          <a:xfrm flipH="1">
            <a:off x="798513" y="3381375"/>
            <a:ext cx="1111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32" name="Freeform 408">
            <a:extLst>
              <a:ext uri="{FF2B5EF4-FFF2-40B4-BE49-F238E27FC236}">
                <a16:creationId xmlns:a16="http://schemas.microsoft.com/office/drawing/2014/main" id="{89F872A3-1AA6-6B69-02A7-E33479E3267C}"/>
              </a:ext>
            </a:extLst>
          </p:cNvPr>
          <p:cNvSpPr>
            <a:spLocks/>
          </p:cNvSpPr>
          <p:nvPr/>
        </p:nvSpPr>
        <p:spPr bwMode="auto">
          <a:xfrm>
            <a:off x="461963" y="3157538"/>
            <a:ext cx="447675" cy="333375"/>
          </a:xfrm>
          <a:custGeom>
            <a:avLst/>
            <a:gdLst>
              <a:gd name="T0" fmla="*/ 0 w 1131"/>
              <a:gd name="T1" fmla="*/ 841 h 841"/>
              <a:gd name="T2" fmla="*/ 8 w 1131"/>
              <a:gd name="T3" fmla="*/ 841 h 841"/>
              <a:gd name="T4" fmla="*/ 570 w 1131"/>
              <a:gd name="T5" fmla="*/ 841 h 841"/>
              <a:gd name="T6" fmla="*/ 850 w 1131"/>
              <a:gd name="T7" fmla="*/ 841 h 841"/>
              <a:gd name="T8" fmla="*/ 1131 w 1131"/>
              <a:gd name="T9" fmla="*/ 841 h 841"/>
              <a:gd name="T10" fmla="*/ 1131 w 1131"/>
              <a:gd name="T11" fmla="*/ 700 h 841"/>
              <a:gd name="T12" fmla="*/ 1131 w 1131"/>
              <a:gd name="T13" fmla="*/ 561 h 841"/>
              <a:gd name="T14" fmla="*/ 1131 w 1131"/>
              <a:gd name="T15" fmla="*/ 421 h 841"/>
              <a:gd name="T16" fmla="*/ 1131 w 1131"/>
              <a:gd name="T17" fmla="*/ 281 h 841"/>
              <a:gd name="T18" fmla="*/ 1131 w 1131"/>
              <a:gd name="T19" fmla="*/ 154 h 841"/>
              <a:gd name="T20" fmla="*/ 1131 w 1131"/>
              <a:gd name="T21" fmla="*/ 0 h 841"/>
              <a:gd name="T22" fmla="*/ 850 w 1131"/>
              <a:gd name="T23" fmla="*/ 0 h 841"/>
              <a:gd name="T24" fmla="*/ 570 w 1131"/>
              <a:gd name="T25" fmla="*/ 0 h 841"/>
              <a:gd name="T26" fmla="*/ 0 w 1131"/>
              <a:gd name="T27" fmla="*/ 0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31" h="841">
                <a:moveTo>
                  <a:pt x="0" y="841"/>
                </a:moveTo>
                <a:lnTo>
                  <a:pt x="8" y="841"/>
                </a:lnTo>
                <a:lnTo>
                  <a:pt x="570" y="841"/>
                </a:lnTo>
                <a:lnTo>
                  <a:pt x="850" y="841"/>
                </a:lnTo>
                <a:lnTo>
                  <a:pt x="1131" y="841"/>
                </a:lnTo>
                <a:lnTo>
                  <a:pt x="1131" y="700"/>
                </a:lnTo>
                <a:lnTo>
                  <a:pt x="1131" y="561"/>
                </a:lnTo>
                <a:lnTo>
                  <a:pt x="1131" y="421"/>
                </a:lnTo>
                <a:lnTo>
                  <a:pt x="1131" y="281"/>
                </a:lnTo>
                <a:lnTo>
                  <a:pt x="1131" y="154"/>
                </a:lnTo>
                <a:lnTo>
                  <a:pt x="1131" y="0"/>
                </a:lnTo>
                <a:lnTo>
                  <a:pt x="850" y="0"/>
                </a:lnTo>
                <a:lnTo>
                  <a:pt x="570" y="0"/>
                </a:lnTo>
                <a:lnTo>
                  <a:pt x="0" y="0"/>
                </a:lnTo>
              </a:path>
            </a:pathLst>
          </a:custGeom>
          <a:noFill/>
          <a:ln w="17463">
            <a:solidFill>
              <a:srgbClr val="33333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33" name="Freeform 409">
            <a:extLst>
              <a:ext uri="{FF2B5EF4-FFF2-40B4-BE49-F238E27FC236}">
                <a16:creationId xmlns:a16="http://schemas.microsoft.com/office/drawing/2014/main" id="{580C255E-E87C-ABB5-5287-1E6209F84CE3}"/>
              </a:ext>
            </a:extLst>
          </p:cNvPr>
          <p:cNvSpPr>
            <a:spLocks/>
          </p:cNvSpPr>
          <p:nvPr/>
        </p:nvSpPr>
        <p:spPr bwMode="auto">
          <a:xfrm>
            <a:off x="461963" y="3157538"/>
            <a:ext cx="1587" cy="333375"/>
          </a:xfrm>
          <a:custGeom>
            <a:avLst/>
            <a:gdLst>
              <a:gd name="T0" fmla="*/ 0 h 841"/>
              <a:gd name="T1" fmla="*/ 154 h 841"/>
              <a:gd name="T2" fmla="*/ 281 h 841"/>
              <a:gd name="T3" fmla="*/ 421 h 841"/>
              <a:gd name="T4" fmla="*/ 561 h 841"/>
              <a:gd name="T5" fmla="*/ 700 h 841"/>
              <a:gd name="T6" fmla="*/ 841 h 841"/>
            </a:gdLst>
            <a:ahLst/>
            <a:cxnLst>
              <a:cxn ang="0">
                <a:pos x="0" y="T0"/>
              </a:cxn>
              <a:cxn ang="0">
                <a:pos x="0" y="T1"/>
              </a:cxn>
              <a:cxn ang="0">
                <a:pos x="0" y="T2"/>
              </a:cxn>
              <a:cxn ang="0">
                <a:pos x="0" y="T3"/>
              </a:cxn>
              <a:cxn ang="0">
                <a:pos x="0" y="T4"/>
              </a:cxn>
              <a:cxn ang="0">
                <a:pos x="0" y="T5"/>
              </a:cxn>
              <a:cxn ang="0">
                <a:pos x="0" y="T6"/>
              </a:cxn>
            </a:cxnLst>
            <a:rect l="0" t="0" r="r" b="b"/>
            <a:pathLst>
              <a:path h="841">
                <a:moveTo>
                  <a:pt x="0" y="0"/>
                </a:moveTo>
                <a:lnTo>
                  <a:pt x="0" y="154"/>
                </a:lnTo>
                <a:lnTo>
                  <a:pt x="0" y="281"/>
                </a:lnTo>
                <a:lnTo>
                  <a:pt x="0" y="421"/>
                </a:lnTo>
                <a:lnTo>
                  <a:pt x="0" y="561"/>
                </a:lnTo>
                <a:lnTo>
                  <a:pt x="0" y="700"/>
                </a:lnTo>
                <a:lnTo>
                  <a:pt x="0" y="841"/>
                </a:lnTo>
              </a:path>
            </a:pathLst>
          </a:custGeom>
          <a:noFill/>
          <a:ln w="17463">
            <a:solidFill>
              <a:srgbClr val="333333"/>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34" name="Freeform 410">
            <a:extLst>
              <a:ext uri="{FF2B5EF4-FFF2-40B4-BE49-F238E27FC236}">
                <a16:creationId xmlns:a16="http://schemas.microsoft.com/office/drawing/2014/main" id="{C18C0DDF-578B-627A-1929-CECBB5793E22}"/>
              </a:ext>
            </a:extLst>
          </p:cNvPr>
          <p:cNvSpPr>
            <a:spLocks/>
          </p:cNvSpPr>
          <p:nvPr/>
        </p:nvSpPr>
        <p:spPr bwMode="auto">
          <a:xfrm>
            <a:off x="1195388" y="3105150"/>
            <a:ext cx="258762" cy="26988"/>
          </a:xfrm>
          <a:custGeom>
            <a:avLst/>
            <a:gdLst>
              <a:gd name="T0" fmla="*/ 653 w 653"/>
              <a:gd name="T1" fmla="*/ 71 h 71"/>
              <a:gd name="T2" fmla="*/ 653 w 653"/>
              <a:gd name="T3" fmla="*/ 64 h 71"/>
              <a:gd name="T4" fmla="*/ 270 w 653"/>
              <a:gd name="T5" fmla="*/ 64 h 71"/>
              <a:gd name="T6" fmla="*/ 270 w 653"/>
              <a:gd name="T7" fmla="*/ 43 h 71"/>
              <a:gd name="T8" fmla="*/ 267 w 653"/>
              <a:gd name="T9" fmla="*/ 32 h 71"/>
              <a:gd name="T10" fmla="*/ 265 w 653"/>
              <a:gd name="T11" fmla="*/ 24 h 71"/>
              <a:gd name="T12" fmla="*/ 257 w 653"/>
              <a:gd name="T13" fmla="*/ 12 h 71"/>
              <a:gd name="T14" fmla="*/ 250 w 653"/>
              <a:gd name="T15" fmla="*/ 6 h 71"/>
              <a:gd name="T16" fmla="*/ 244 w 653"/>
              <a:gd name="T17" fmla="*/ 3 h 71"/>
              <a:gd name="T18" fmla="*/ 236 w 653"/>
              <a:gd name="T19" fmla="*/ 0 h 71"/>
              <a:gd name="T20" fmla="*/ 228 w 653"/>
              <a:gd name="T21" fmla="*/ 0 h 71"/>
              <a:gd name="T22" fmla="*/ 42 w 653"/>
              <a:gd name="T23" fmla="*/ 0 h 71"/>
              <a:gd name="T24" fmla="*/ 32 w 653"/>
              <a:gd name="T25" fmla="*/ 0 h 71"/>
              <a:gd name="T26" fmla="*/ 24 w 653"/>
              <a:gd name="T27" fmla="*/ 3 h 71"/>
              <a:gd name="T28" fmla="*/ 11 w 653"/>
              <a:gd name="T29" fmla="*/ 12 h 71"/>
              <a:gd name="T30" fmla="*/ 2 w 653"/>
              <a:gd name="T31" fmla="*/ 24 h 71"/>
              <a:gd name="T32" fmla="*/ 0 w 653"/>
              <a:gd name="T33" fmla="*/ 32 h 71"/>
              <a:gd name="T34" fmla="*/ 0 w 653"/>
              <a:gd name="T35" fmla="*/ 43 h 71"/>
              <a:gd name="T36" fmla="*/ 0 w 653"/>
              <a:gd name="T37" fmla="*/ 71 h 71"/>
              <a:gd name="T38" fmla="*/ 653 w 653"/>
              <a:gd name="T39"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3" h="71">
                <a:moveTo>
                  <a:pt x="653" y="71"/>
                </a:moveTo>
                <a:lnTo>
                  <a:pt x="653" y="64"/>
                </a:lnTo>
                <a:lnTo>
                  <a:pt x="270" y="64"/>
                </a:lnTo>
                <a:lnTo>
                  <a:pt x="270" y="43"/>
                </a:lnTo>
                <a:lnTo>
                  <a:pt x="267" y="32"/>
                </a:lnTo>
                <a:lnTo>
                  <a:pt x="265" y="24"/>
                </a:lnTo>
                <a:lnTo>
                  <a:pt x="257" y="12"/>
                </a:lnTo>
                <a:lnTo>
                  <a:pt x="250" y="6"/>
                </a:lnTo>
                <a:lnTo>
                  <a:pt x="244" y="3"/>
                </a:lnTo>
                <a:lnTo>
                  <a:pt x="236" y="0"/>
                </a:lnTo>
                <a:lnTo>
                  <a:pt x="228" y="0"/>
                </a:lnTo>
                <a:lnTo>
                  <a:pt x="42" y="0"/>
                </a:lnTo>
                <a:lnTo>
                  <a:pt x="32" y="0"/>
                </a:lnTo>
                <a:lnTo>
                  <a:pt x="24" y="3"/>
                </a:lnTo>
                <a:lnTo>
                  <a:pt x="11" y="12"/>
                </a:lnTo>
                <a:lnTo>
                  <a:pt x="2" y="24"/>
                </a:lnTo>
                <a:lnTo>
                  <a:pt x="0" y="32"/>
                </a:lnTo>
                <a:lnTo>
                  <a:pt x="0" y="43"/>
                </a:lnTo>
                <a:lnTo>
                  <a:pt x="0" y="71"/>
                </a:lnTo>
                <a:lnTo>
                  <a:pt x="653" y="71"/>
                </a:lnTo>
                <a:close/>
              </a:path>
            </a:pathLst>
          </a:custGeom>
          <a:solidFill>
            <a:srgbClr val="CCCC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35" name="Rectangle 411">
            <a:extLst>
              <a:ext uri="{FF2B5EF4-FFF2-40B4-BE49-F238E27FC236}">
                <a16:creationId xmlns:a16="http://schemas.microsoft.com/office/drawing/2014/main" id="{F39A50AD-F2EE-18A0-8023-E914B61024B6}"/>
              </a:ext>
            </a:extLst>
          </p:cNvPr>
          <p:cNvSpPr>
            <a:spLocks noChangeArrowheads="1"/>
          </p:cNvSpPr>
          <p:nvPr/>
        </p:nvSpPr>
        <p:spPr bwMode="auto">
          <a:xfrm>
            <a:off x="1195388" y="3132138"/>
            <a:ext cx="258762" cy="200025"/>
          </a:xfrm>
          <a:prstGeom prst="rect">
            <a:avLst/>
          </a:prstGeom>
          <a:gradFill rotWithShape="1">
            <a:gsLst>
              <a:gs pos="0">
                <a:srgbClr val="FFE579">
                  <a:gamma/>
                  <a:shade val="66667"/>
                  <a:invGamma/>
                </a:srgbClr>
              </a:gs>
              <a:gs pos="100000">
                <a:srgbClr val="FFE579"/>
              </a:gs>
            </a:gsLst>
            <a:lin ang="18900000" scaled="1"/>
          </a:gra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36" name="Freeform 412">
            <a:extLst>
              <a:ext uri="{FF2B5EF4-FFF2-40B4-BE49-F238E27FC236}">
                <a16:creationId xmlns:a16="http://schemas.microsoft.com/office/drawing/2014/main" id="{B4EEABBD-D324-93D1-D007-BAC9399A45D6}"/>
              </a:ext>
            </a:extLst>
          </p:cNvPr>
          <p:cNvSpPr>
            <a:spLocks/>
          </p:cNvSpPr>
          <p:nvPr/>
        </p:nvSpPr>
        <p:spPr bwMode="auto">
          <a:xfrm>
            <a:off x="1195388" y="3105150"/>
            <a:ext cx="258762" cy="227013"/>
          </a:xfrm>
          <a:custGeom>
            <a:avLst/>
            <a:gdLst>
              <a:gd name="T0" fmla="*/ 653 w 653"/>
              <a:gd name="T1" fmla="*/ 71 h 572"/>
              <a:gd name="T2" fmla="*/ 653 w 653"/>
              <a:gd name="T3" fmla="*/ 572 h 572"/>
              <a:gd name="T4" fmla="*/ 0 w 653"/>
              <a:gd name="T5" fmla="*/ 572 h 572"/>
              <a:gd name="T6" fmla="*/ 0 w 653"/>
              <a:gd name="T7" fmla="*/ 71 h 572"/>
              <a:gd name="T8" fmla="*/ 0 w 653"/>
              <a:gd name="T9" fmla="*/ 43 h 572"/>
              <a:gd name="T10" fmla="*/ 0 w 653"/>
              <a:gd name="T11" fmla="*/ 32 h 572"/>
              <a:gd name="T12" fmla="*/ 2 w 653"/>
              <a:gd name="T13" fmla="*/ 24 h 572"/>
              <a:gd name="T14" fmla="*/ 11 w 653"/>
              <a:gd name="T15" fmla="*/ 12 h 572"/>
              <a:gd name="T16" fmla="*/ 24 w 653"/>
              <a:gd name="T17" fmla="*/ 3 h 572"/>
              <a:gd name="T18" fmla="*/ 32 w 653"/>
              <a:gd name="T19" fmla="*/ 0 h 572"/>
              <a:gd name="T20" fmla="*/ 42 w 653"/>
              <a:gd name="T21" fmla="*/ 0 h 572"/>
              <a:gd name="T22" fmla="*/ 228 w 653"/>
              <a:gd name="T23" fmla="*/ 0 h 572"/>
              <a:gd name="T24" fmla="*/ 236 w 653"/>
              <a:gd name="T25" fmla="*/ 0 h 572"/>
              <a:gd name="T26" fmla="*/ 244 w 653"/>
              <a:gd name="T27" fmla="*/ 3 h 572"/>
              <a:gd name="T28" fmla="*/ 250 w 653"/>
              <a:gd name="T29" fmla="*/ 6 h 572"/>
              <a:gd name="T30" fmla="*/ 257 w 653"/>
              <a:gd name="T31" fmla="*/ 12 h 572"/>
              <a:gd name="T32" fmla="*/ 265 w 653"/>
              <a:gd name="T33" fmla="*/ 24 h 572"/>
              <a:gd name="T34" fmla="*/ 267 w 653"/>
              <a:gd name="T35" fmla="*/ 32 h 572"/>
              <a:gd name="T36" fmla="*/ 270 w 653"/>
              <a:gd name="T37" fmla="*/ 43 h 572"/>
              <a:gd name="T38" fmla="*/ 270 w 653"/>
              <a:gd name="T39" fmla="*/ 64 h 572"/>
              <a:gd name="T40" fmla="*/ 653 w 653"/>
              <a:gd name="T41" fmla="*/ 64 h 572"/>
              <a:gd name="T42" fmla="*/ 653 w 653"/>
              <a:gd name="T43" fmla="*/ 7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53" h="572">
                <a:moveTo>
                  <a:pt x="653" y="71"/>
                </a:moveTo>
                <a:lnTo>
                  <a:pt x="653" y="572"/>
                </a:lnTo>
                <a:lnTo>
                  <a:pt x="0" y="572"/>
                </a:lnTo>
                <a:lnTo>
                  <a:pt x="0" y="71"/>
                </a:lnTo>
                <a:lnTo>
                  <a:pt x="0" y="43"/>
                </a:lnTo>
                <a:lnTo>
                  <a:pt x="0" y="32"/>
                </a:lnTo>
                <a:lnTo>
                  <a:pt x="2" y="24"/>
                </a:lnTo>
                <a:lnTo>
                  <a:pt x="11" y="12"/>
                </a:lnTo>
                <a:lnTo>
                  <a:pt x="24" y="3"/>
                </a:lnTo>
                <a:lnTo>
                  <a:pt x="32" y="0"/>
                </a:lnTo>
                <a:lnTo>
                  <a:pt x="42" y="0"/>
                </a:lnTo>
                <a:lnTo>
                  <a:pt x="228" y="0"/>
                </a:lnTo>
                <a:lnTo>
                  <a:pt x="236" y="0"/>
                </a:lnTo>
                <a:lnTo>
                  <a:pt x="244" y="3"/>
                </a:lnTo>
                <a:lnTo>
                  <a:pt x="250" y="6"/>
                </a:lnTo>
                <a:lnTo>
                  <a:pt x="257" y="12"/>
                </a:lnTo>
                <a:lnTo>
                  <a:pt x="265" y="24"/>
                </a:lnTo>
                <a:lnTo>
                  <a:pt x="267" y="32"/>
                </a:lnTo>
                <a:lnTo>
                  <a:pt x="270" y="43"/>
                </a:lnTo>
                <a:lnTo>
                  <a:pt x="270" y="64"/>
                </a:lnTo>
                <a:lnTo>
                  <a:pt x="653" y="64"/>
                </a:lnTo>
                <a:lnTo>
                  <a:pt x="653" y="71"/>
                </a:lnTo>
              </a:path>
            </a:pathLst>
          </a:custGeom>
          <a:noFill/>
          <a:ln w="14351">
            <a:solidFill>
              <a:srgbClr val="D2AA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37" name="Freeform 413">
            <a:extLst>
              <a:ext uri="{FF2B5EF4-FFF2-40B4-BE49-F238E27FC236}">
                <a16:creationId xmlns:a16="http://schemas.microsoft.com/office/drawing/2014/main" id="{38CD943F-2545-D427-F2F1-2236C0BBBD40}"/>
              </a:ext>
            </a:extLst>
          </p:cNvPr>
          <p:cNvSpPr>
            <a:spLocks/>
          </p:cNvSpPr>
          <p:nvPr/>
        </p:nvSpPr>
        <p:spPr bwMode="auto">
          <a:xfrm>
            <a:off x="4945063" y="2913063"/>
            <a:ext cx="153987" cy="804862"/>
          </a:xfrm>
          <a:custGeom>
            <a:avLst/>
            <a:gdLst>
              <a:gd name="T0" fmla="*/ 104 w 388"/>
              <a:gd name="T1" fmla="*/ 1 h 2028"/>
              <a:gd name="T2" fmla="*/ 77 w 388"/>
              <a:gd name="T3" fmla="*/ 8 h 2028"/>
              <a:gd name="T4" fmla="*/ 43 w 388"/>
              <a:gd name="T5" fmla="*/ 25 h 2028"/>
              <a:gd name="T6" fmla="*/ 26 w 388"/>
              <a:gd name="T7" fmla="*/ 42 h 2028"/>
              <a:gd name="T8" fmla="*/ 8 w 388"/>
              <a:gd name="T9" fmla="*/ 77 h 2028"/>
              <a:gd name="T10" fmla="*/ 2 w 388"/>
              <a:gd name="T11" fmla="*/ 104 h 2028"/>
              <a:gd name="T12" fmla="*/ 0 w 388"/>
              <a:gd name="T13" fmla="*/ 1891 h 2028"/>
              <a:gd name="T14" fmla="*/ 4 w 388"/>
              <a:gd name="T15" fmla="*/ 1937 h 2028"/>
              <a:gd name="T16" fmla="*/ 19 w 388"/>
              <a:gd name="T17" fmla="*/ 1973 h 2028"/>
              <a:gd name="T18" fmla="*/ 35 w 388"/>
              <a:gd name="T19" fmla="*/ 1994 h 2028"/>
              <a:gd name="T20" fmla="*/ 53 w 388"/>
              <a:gd name="T21" fmla="*/ 2008 h 2028"/>
              <a:gd name="T22" fmla="*/ 89 w 388"/>
              <a:gd name="T23" fmla="*/ 2022 h 2028"/>
              <a:gd name="T24" fmla="*/ 137 w 388"/>
              <a:gd name="T25" fmla="*/ 2028 h 2028"/>
              <a:gd name="T26" fmla="*/ 274 w 388"/>
              <a:gd name="T27" fmla="*/ 2027 h 2028"/>
              <a:gd name="T28" fmla="*/ 286 w 388"/>
              <a:gd name="T29" fmla="*/ 2024 h 2028"/>
              <a:gd name="T30" fmla="*/ 312 w 388"/>
              <a:gd name="T31" fmla="*/ 2017 h 2028"/>
              <a:gd name="T32" fmla="*/ 332 w 388"/>
              <a:gd name="T33" fmla="*/ 2008 h 2028"/>
              <a:gd name="T34" fmla="*/ 342 w 388"/>
              <a:gd name="T35" fmla="*/ 2002 h 2028"/>
              <a:gd name="T36" fmla="*/ 350 w 388"/>
              <a:gd name="T37" fmla="*/ 1994 h 2028"/>
              <a:gd name="T38" fmla="*/ 362 w 388"/>
              <a:gd name="T39" fmla="*/ 1981 h 2028"/>
              <a:gd name="T40" fmla="*/ 371 w 388"/>
              <a:gd name="T41" fmla="*/ 1968 h 2028"/>
              <a:gd name="T42" fmla="*/ 380 w 388"/>
              <a:gd name="T43" fmla="*/ 1946 h 2028"/>
              <a:gd name="T44" fmla="*/ 383 w 388"/>
              <a:gd name="T45" fmla="*/ 1926 h 2028"/>
              <a:gd name="T46" fmla="*/ 386 w 388"/>
              <a:gd name="T47" fmla="*/ 1912 h 2028"/>
              <a:gd name="T48" fmla="*/ 388 w 388"/>
              <a:gd name="T49" fmla="*/ 1891 h 2028"/>
              <a:gd name="T50" fmla="*/ 388 w 388"/>
              <a:gd name="T51" fmla="*/ 615 h 2028"/>
              <a:gd name="T52" fmla="*/ 386 w 388"/>
              <a:gd name="T53" fmla="*/ 106 h 2028"/>
              <a:gd name="T54" fmla="*/ 380 w 388"/>
              <a:gd name="T55" fmla="*/ 81 h 2028"/>
              <a:gd name="T56" fmla="*/ 371 w 388"/>
              <a:gd name="T57" fmla="*/ 58 h 2028"/>
              <a:gd name="T58" fmla="*/ 359 w 388"/>
              <a:gd name="T59" fmla="*/ 40 h 2028"/>
              <a:gd name="T60" fmla="*/ 342 w 388"/>
              <a:gd name="T61" fmla="*/ 24 h 2028"/>
              <a:gd name="T62" fmla="*/ 323 w 388"/>
              <a:gd name="T63" fmla="*/ 13 h 2028"/>
              <a:gd name="T64" fmla="*/ 274 w 388"/>
              <a:gd name="T65" fmla="*/ 1 h 2028"/>
              <a:gd name="T66" fmla="*/ 137 w 388"/>
              <a:gd name="T67"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8" h="2028">
                <a:moveTo>
                  <a:pt x="137" y="0"/>
                </a:moveTo>
                <a:lnTo>
                  <a:pt x="104" y="1"/>
                </a:lnTo>
                <a:lnTo>
                  <a:pt x="89" y="4"/>
                </a:lnTo>
                <a:lnTo>
                  <a:pt x="77" y="8"/>
                </a:lnTo>
                <a:lnTo>
                  <a:pt x="53" y="18"/>
                </a:lnTo>
                <a:lnTo>
                  <a:pt x="43" y="25"/>
                </a:lnTo>
                <a:lnTo>
                  <a:pt x="35" y="34"/>
                </a:lnTo>
                <a:lnTo>
                  <a:pt x="26" y="42"/>
                </a:lnTo>
                <a:lnTo>
                  <a:pt x="19" y="53"/>
                </a:lnTo>
                <a:lnTo>
                  <a:pt x="8" y="77"/>
                </a:lnTo>
                <a:lnTo>
                  <a:pt x="4" y="89"/>
                </a:lnTo>
                <a:lnTo>
                  <a:pt x="2" y="104"/>
                </a:lnTo>
                <a:lnTo>
                  <a:pt x="0" y="137"/>
                </a:lnTo>
                <a:lnTo>
                  <a:pt x="0" y="1891"/>
                </a:lnTo>
                <a:lnTo>
                  <a:pt x="2" y="1923"/>
                </a:lnTo>
                <a:lnTo>
                  <a:pt x="4" y="1937"/>
                </a:lnTo>
                <a:lnTo>
                  <a:pt x="8" y="1951"/>
                </a:lnTo>
                <a:lnTo>
                  <a:pt x="19" y="1973"/>
                </a:lnTo>
                <a:lnTo>
                  <a:pt x="26" y="1984"/>
                </a:lnTo>
                <a:lnTo>
                  <a:pt x="35" y="1994"/>
                </a:lnTo>
                <a:lnTo>
                  <a:pt x="43" y="2001"/>
                </a:lnTo>
                <a:lnTo>
                  <a:pt x="53" y="2008"/>
                </a:lnTo>
                <a:lnTo>
                  <a:pt x="77" y="2019"/>
                </a:lnTo>
                <a:lnTo>
                  <a:pt x="89" y="2022"/>
                </a:lnTo>
                <a:lnTo>
                  <a:pt x="104" y="2026"/>
                </a:lnTo>
                <a:lnTo>
                  <a:pt x="137" y="2028"/>
                </a:lnTo>
                <a:lnTo>
                  <a:pt x="274" y="2028"/>
                </a:lnTo>
                <a:lnTo>
                  <a:pt x="274" y="2027"/>
                </a:lnTo>
                <a:lnTo>
                  <a:pt x="280" y="2025"/>
                </a:lnTo>
                <a:lnTo>
                  <a:pt x="286" y="2024"/>
                </a:lnTo>
                <a:lnTo>
                  <a:pt x="300" y="2021"/>
                </a:lnTo>
                <a:lnTo>
                  <a:pt x="312" y="2017"/>
                </a:lnTo>
                <a:lnTo>
                  <a:pt x="323" y="2013"/>
                </a:lnTo>
                <a:lnTo>
                  <a:pt x="332" y="2008"/>
                </a:lnTo>
                <a:lnTo>
                  <a:pt x="337" y="2004"/>
                </a:lnTo>
                <a:lnTo>
                  <a:pt x="342" y="2002"/>
                </a:lnTo>
                <a:lnTo>
                  <a:pt x="346" y="1997"/>
                </a:lnTo>
                <a:lnTo>
                  <a:pt x="350" y="1994"/>
                </a:lnTo>
                <a:lnTo>
                  <a:pt x="359" y="1987"/>
                </a:lnTo>
                <a:lnTo>
                  <a:pt x="362" y="1981"/>
                </a:lnTo>
                <a:lnTo>
                  <a:pt x="365" y="1977"/>
                </a:lnTo>
                <a:lnTo>
                  <a:pt x="371" y="1968"/>
                </a:lnTo>
                <a:lnTo>
                  <a:pt x="375" y="1956"/>
                </a:lnTo>
                <a:lnTo>
                  <a:pt x="380" y="1946"/>
                </a:lnTo>
                <a:lnTo>
                  <a:pt x="382" y="1932"/>
                </a:lnTo>
                <a:lnTo>
                  <a:pt x="383" y="1926"/>
                </a:lnTo>
                <a:lnTo>
                  <a:pt x="386" y="1920"/>
                </a:lnTo>
                <a:lnTo>
                  <a:pt x="386" y="1912"/>
                </a:lnTo>
                <a:lnTo>
                  <a:pt x="387" y="1905"/>
                </a:lnTo>
                <a:lnTo>
                  <a:pt x="388" y="1891"/>
                </a:lnTo>
                <a:lnTo>
                  <a:pt x="388" y="1413"/>
                </a:lnTo>
                <a:lnTo>
                  <a:pt x="388" y="615"/>
                </a:lnTo>
                <a:lnTo>
                  <a:pt x="388" y="137"/>
                </a:lnTo>
                <a:lnTo>
                  <a:pt x="386" y="106"/>
                </a:lnTo>
                <a:lnTo>
                  <a:pt x="382" y="92"/>
                </a:lnTo>
                <a:lnTo>
                  <a:pt x="380" y="81"/>
                </a:lnTo>
                <a:lnTo>
                  <a:pt x="375" y="69"/>
                </a:lnTo>
                <a:lnTo>
                  <a:pt x="371" y="58"/>
                </a:lnTo>
                <a:lnTo>
                  <a:pt x="365" y="48"/>
                </a:lnTo>
                <a:lnTo>
                  <a:pt x="359" y="40"/>
                </a:lnTo>
                <a:lnTo>
                  <a:pt x="350" y="31"/>
                </a:lnTo>
                <a:lnTo>
                  <a:pt x="342" y="24"/>
                </a:lnTo>
                <a:lnTo>
                  <a:pt x="332" y="17"/>
                </a:lnTo>
                <a:lnTo>
                  <a:pt x="323" y="13"/>
                </a:lnTo>
                <a:lnTo>
                  <a:pt x="300" y="5"/>
                </a:lnTo>
                <a:lnTo>
                  <a:pt x="274" y="1"/>
                </a:lnTo>
                <a:lnTo>
                  <a:pt x="274" y="0"/>
                </a:lnTo>
                <a:lnTo>
                  <a:pt x="137" y="0"/>
                </a:lnTo>
                <a:close/>
              </a:path>
            </a:pathLst>
          </a:custGeom>
          <a:gradFill rotWithShape="1">
            <a:gsLst>
              <a:gs pos="0">
                <a:srgbClr val="009600">
                  <a:gamma/>
                  <a:shade val="46275"/>
                  <a:invGamma/>
                </a:srgbClr>
              </a:gs>
              <a:gs pos="50000">
                <a:srgbClr val="009600"/>
              </a:gs>
              <a:gs pos="100000">
                <a:srgbClr val="009600">
                  <a:gamma/>
                  <a:shade val="46275"/>
                  <a:invGamma/>
                </a:srgbClr>
              </a:gs>
            </a:gsLst>
            <a:lin ang="0" scaled="1"/>
          </a:gradFill>
          <a:ln>
            <a:noFill/>
          </a:ln>
          <a:effectLst/>
          <a:scene3d>
            <a:camera prst="legacyObliqueTopRight"/>
            <a:lightRig rig="legacyFlat3" dir="b"/>
          </a:scene3d>
          <a:sp3d extrusionH="74600" prstMaterial="legacyMatte">
            <a:bevelT w="13500" h="13500" prst="angle"/>
            <a:bevelB w="13500" h="13500" prst="angle"/>
            <a:extrusionClr>
              <a:srgbClr val="009600"/>
            </a:extrusionClr>
            <a:contourClr>
              <a:srgbClr val="009600"/>
            </a:contourClr>
          </a:sp3d>
          <a:extLst>
            <a:ext uri="{91240B29-F687-4F45-9708-019B960494DF}">
              <a14:hiddenLine xmlns:a14="http://schemas.microsoft.com/office/drawing/2010/main" w="9525">
                <a:no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IN"/>
          </a:p>
        </p:txBody>
      </p:sp>
      <p:sp>
        <p:nvSpPr>
          <p:cNvPr id="3073438" name="Freeform 414">
            <a:extLst>
              <a:ext uri="{FF2B5EF4-FFF2-40B4-BE49-F238E27FC236}">
                <a16:creationId xmlns:a16="http://schemas.microsoft.com/office/drawing/2014/main" id="{95553D7B-772B-E7F3-760A-9E7BCB68C306}"/>
              </a:ext>
            </a:extLst>
          </p:cNvPr>
          <p:cNvSpPr>
            <a:spLocks/>
          </p:cNvSpPr>
          <p:nvPr/>
        </p:nvSpPr>
        <p:spPr bwMode="auto">
          <a:xfrm>
            <a:off x="5049838" y="2913063"/>
            <a:ext cx="46037" cy="803275"/>
          </a:xfrm>
          <a:custGeom>
            <a:avLst/>
            <a:gdLst>
              <a:gd name="T0" fmla="*/ 0 w 114"/>
              <a:gd name="T1" fmla="*/ 0 h 2026"/>
              <a:gd name="T2" fmla="*/ 26 w 114"/>
              <a:gd name="T3" fmla="*/ 4 h 2026"/>
              <a:gd name="T4" fmla="*/ 49 w 114"/>
              <a:gd name="T5" fmla="*/ 12 h 2026"/>
              <a:gd name="T6" fmla="*/ 58 w 114"/>
              <a:gd name="T7" fmla="*/ 16 h 2026"/>
              <a:gd name="T8" fmla="*/ 68 w 114"/>
              <a:gd name="T9" fmla="*/ 23 h 2026"/>
              <a:gd name="T10" fmla="*/ 76 w 114"/>
              <a:gd name="T11" fmla="*/ 30 h 2026"/>
              <a:gd name="T12" fmla="*/ 85 w 114"/>
              <a:gd name="T13" fmla="*/ 39 h 2026"/>
              <a:gd name="T14" fmla="*/ 91 w 114"/>
              <a:gd name="T15" fmla="*/ 47 h 2026"/>
              <a:gd name="T16" fmla="*/ 97 w 114"/>
              <a:gd name="T17" fmla="*/ 57 h 2026"/>
              <a:gd name="T18" fmla="*/ 101 w 114"/>
              <a:gd name="T19" fmla="*/ 68 h 2026"/>
              <a:gd name="T20" fmla="*/ 106 w 114"/>
              <a:gd name="T21" fmla="*/ 80 h 2026"/>
              <a:gd name="T22" fmla="*/ 108 w 114"/>
              <a:gd name="T23" fmla="*/ 91 h 2026"/>
              <a:gd name="T24" fmla="*/ 112 w 114"/>
              <a:gd name="T25" fmla="*/ 105 h 2026"/>
              <a:gd name="T26" fmla="*/ 114 w 114"/>
              <a:gd name="T27" fmla="*/ 136 h 2026"/>
              <a:gd name="T28" fmla="*/ 114 w 114"/>
              <a:gd name="T29" fmla="*/ 614 h 2026"/>
              <a:gd name="T30" fmla="*/ 114 w 114"/>
              <a:gd name="T31" fmla="*/ 1412 h 2026"/>
              <a:gd name="T32" fmla="*/ 114 w 114"/>
              <a:gd name="T33" fmla="*/ 1890 h 2026"/>
              <a:gd name="T34" fmla="*/ 113 w 114"/>
              <a:gd name="T35" fmla="*/ 1904 h 2026"/>
              <a:gd name="T36" fmla="*/ 112 w 114"/>
              <a:gd name="T37" fmla="*/ 1911 h 2026"/>
              <a:gd name="T38" fmla="*/ 112 w 114"/>
              <a:gd name="T39" fmla="*/ 1919 h 2026"/>
              <a:gd name="T40" fmla="*/ 109 w 114"/>
              <a:gd name="T41" fmla="*/ 1925 h 2026"/>
              <a:gd name="T42" fmla="*/ 108 w 114"/>
              <a:gd name="T43" fmla="*/ 1931 h 2026"/>
              <a:gd name="T44" fmla="*/ 106 w 114"/>
              <a:gd name="T45" fmla="*/ 1945 h 2026"/>
              <a:gd name="T46" fmla="*/ 101 w 114"/>
              <a:gd name="T47" fmla="*/ 1955 h 2026"/>
              <a:gd name="T48" fmla="*/ 97 w 114"/>
              <a:gd name="T49" fmla="*/ 1967 h 2026"/>
              <a:gd name="T50" fmla="*/ 91 w 114"/>
              <a:gd name="T51" fmla="*/ 1976 h 2026"/>
              <a:gd name="T52" fmla="*/ 88 w 114"/>
              <a:gd name="T53" fmla="*/ 1980 h 2026"/>
              <a:gd name="T54" fmla="*/ 85 w 114"/>
              <a:gd name="T55" fmla="*/ 1986 h 2026"/>
              <a:gd name="T56" fmla="*/ 76 w 114"/>
              <a:gd name="T57" fmla="*/ 1993 h 2026"/>
              <a:gd name="T58" fmla="*/ 72 w 114"/>
              <a:gd name="T59" fmla="*/ 1996 h 2026"/>
              <a:gd name="T60" fmla="*/ 68 w 114"/>
              <a:gd name="T61" fmla="*/ 2001 h 2026"/>
              <a:gd name="T62" fmla="*/ 63 w 114"/>
              <a:gd name="T63" fmla="*/ 2003 h 2026"/>
              <a:gd name="T64" fmla="*/ 58 w 114"/>
              <a:gd name="T65" fmla="*/ 2007 h 2026"/>
              <a:gd name="T66" fmla="*/ 49 w 114"/>
              <a:gd name="T67" fmla="*/ 2012 h 2026"/>
              <a:gd name="T68" fmla="*/ 38 w 114"/>
              <a:gd name="T69" fmla="*/ 2016 h 2026"/>
              <a:gd name="T70" fmla="*/ 26 w 114"/>
              <a:gd name="T71" fmla="*/ 2020 h 2026"/>
              <a:gd name="T72" fmla="*/ 12 w 114"/>
              <a:gd name="T73" fmla="*/ 2023 h 2026"/>
              <a:gd name="T74" fmla="*/ 6 w 114"/>
              <a:gd name="T75" fmla="*/ 2024 h 2026"/>
              <a:gd name="T76" fmla="*/ 0 w 114"/>
              <a:gd name="T77" fmla="*/ 2026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4" h="2026">
                <a:moveTo>
                  <a:pt x="0" y="0"/>
                </a:moveTo>
                <a:lnTo>
                  <a:pt x="26" y="4"/>
                </a:lnTo>
                <a:lnTo>
                  <a:pt x="49" y="12"/>
                </a:lnTo>
                <a:lnTo>
                  <a:pt x="58" y="16"/>
                </a:lnTo>
                <a:lnTo>
                  <a:pt x="68" y="23"/>
                </a:lnTo>
                <a:lnTo>
                  <a:pt x="76" y="30"/>
                </a:lnTo>
                <a:lnTo>
                  <a:pt x="85" y="39"/>
                </a:lnTo>
                <a:lnTo>
                  <a:pt x="91" y="47"/>
                </a:lnTo>
                <a:lnTo>
                  <a:pt x="97" y="57"/>
                </a:lnTo>
                <a:lnTo>
                  <a:pt x="101" y="68"/>
                </a:lnTo>
                <a:lnTo>
                  <a:pt x="106" y="80"/>
                </a:lnTo>
                <a:lnTo>
                  <a:pt x="108" y="91"/>
                </a:lnTo>
                <a:lnTo>
                  <a:pt x="112" y="105"/>
                </a:lnTo>
                <a:lnTo>
                  <a:pt x="114" y="136"/>
                </a:lnTo>
                <a:lnTo>
                  <a:pt x="114" y="614"/>
                </a:lnTo>
                <a:lnTo>
                  <a:pt x="114" y="1412"/>
                </a:lnTo>
                <a:lnTo>
                  <a:pt x="114" y="1890"/>
                </a:lnTo>
                <a:lnTo>
                  <a:pt x="113" y="1904"/>
                </a:lnTo>
                <a:lnTo>
                  <a:pt x="112" y="1911"/>
                </a:lnTo>
                <a:lnTo>
                  <a:pt x="112" y="1919"/>
                </a:lnTo>
                <a:lnTo>
                  <a:pt x="109" y="1925"/>
                </a:lnTo>
                <a:lnTo>
                  <a:pt x="108" y="1931"/>
                </a:lnTo>
                <a:lnTo>
                  <a:pt x="106" y="1945"/>
                </a:lnTo>
                <a:lnTo>
                  <a:pt x="101" y="1955"/>
                </a:lnTo>
                <a:lnTo>
                  <a:pt x="97" y="1967"/>
                </a:lnTo>
                <a:lnTo>
                  <a:pt x="91" y="1976"/>
                </a:lnTo>
                <a:lnTo>
                  <a:pt x="88" y="1980"/>
                </a:lnTo>
                <a:lnTo>
                  <a:pt x="85" y="1986"/>
                </a:lnTo>
                <a:lnTo>
                  <a:pt x="76" y="1993"/>
                </a:lnTo>
                <a:lnTo>
                  <a:pt x="72" y="1996"/>
                </a:lnTo>
                <a:lnTo>
                  <a:pt x="68" y="2001"/>
                </a:lnTo>
                <a:lnTo>
                  <a:pt x="63" y="2003"/>
                </a:lnTo>
                <a:lnTo>
                  <a:pt x="58" y="2007"/>
                </a:lnTo>
                <a:lnTo>
                  <a:pt x="49" y="2012"/>
                </a:lnTo>
                <a:lnTo>
                  <a:pt x="38" y="2016"/>
                </a:lnTo>
                <a:lnTo>
                  <a:pt x="26" y="2020"/>
                </a:lnTo>
                <a:lnTo>
                  <a:pt x="12" y="2023"/>
                </a:lnTo>
                <a:lnTo>
                  <a:pt x="6" y="2024"/>
                </a:lnTo>
                <a:lnTo>
                  <a:pt x="0" y="2026"/>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39" name="Freeform 415">
            <a:extLst>
              <a:ext uri="{FF2B5EF4-FFF2-40B4-BE49-F238E27FC236}">
                <a16:creationId xmlns:a16="http://schemas.microsoft.com/office/drawing/2014/main" id="{4FF50F44-E24F-AC8C-299D-472BB207C87A}"/>
              </a:ext>
            </a:extLst>
          </p:cNvPr>
          <p:cNvSpPr>
            <a:spLocks/>
          </p:cNvSpPr>
          <p:nvPr/>
        </p:nvSpPr>
        <p:spPr bwMode="auto">
          <a:xfrm>
            <a:off x="4945063" y="2913063"/>
            <a:ext cx="107950" cy="804862"/>
          </a:xfrm>
          <a:custGeom>
            <a:avLst/>
            <a:gdLst>
              <a:gd name="T0" fmla="*/ 274 w 274"/>
              <a:gd name="T1" fmla="*/ 2028 h 2028"/>
              <a:gd name="T2" fmla="*/ 137 w 274"/>
              <a:gd name="T3" fmla="*/ 2028 h 2028"/>
              <a:gd name="T4" fmla="*/ 104 w 274"/>
              <a:gd name="T5" fmla="*/ 2026 h 2028"/>
              <a:gd name="T6" fmla="*/ 89 w 274"/>
              <a:gd name="T7" fmla="*/ 2022 h 2028"/>
              <a:gd name="T8" fmla="*/ 77 w 274"/>
              <a:gd name="T9" fmla="*/ 2019 h 2028"/>
              <a:gd name="T10" fmla="*/ 53 w 274"/>
              <a:gd name="T11" fmla="*/ 2008 h 2028"/>
              <a:gd name="T12" fmla="*/ 43 w 274"/>
              <a:gd name="T13" fmla="*/ 2001 h 2028"/>
              <a:gd name="T14" fmla="*/ 35 w 274"/>
              <a:gd name="T15" fmla="*/ 1994 h 2028"/>
              <a:gd name="T16" fmla="*/ 26 w 274"/>
              <a:gd name="T17" fmla="*/ 1984 h 2028"/>
              <a:gd name="T18" fmla="*/ 19 w 274"/>
              <a:gd name="T19" fmla="*/ 1973 h 2028"/>
              <a:gd name="T20" fmla="*/ 8 w 274"/>
              <a:gd name="T21" fmla="*/ 1951 h 2028"/>
              <a:gd name="T22" fmla="*/ 4 w 274"/>
              <a:gd name="T23" fmla="*/ 1937 h 2028"/>
              <a:gd name="T24" fmla="*/ 2 w 274"/>
              <a:gd name="T25" fmla="*/ 1923 h 2028"/>
              <a:gd name="T26" fmla="*/ 0 w 274"/>
              <a:gd name="T27" fmla="*/ 1891 h 2028"/>
              <a:gd name="T28" fmla="*/ 0 w 274"/>
              <a:gd name="T29" fmla="*/ 137 h 2028"/>
              <a:gd name="T30" fmla="*/ 2 w 274"/>
              <a:gd name="T31" fmla="*/ 104 h 2028"/>
              <a:gd name="T32" fmla="*/ 4 w 274"/>
              <a:gd name="T33" fmla="*/ 89 h 2028"/>
              <a:gd name="T34" fmla="*/ 8 w 274"/>
              <a:gd name="T35" fmla="*/ 77 h 2028"/>
              <a:gd name="T36" fmla="*/ 19 w 274"/>
              <a:gd name="T37" fmla="*/ 53 h 2028"/>
              <a:gd name="T38" fmla="*/ 26 w 274"/>
              <a:gd name="T39" fmla="*/ 42 h 2028"/>
              <a:gd name="T40" fmla="*/ 35 w 274"/>
              <a:gd name="T41" fmla="*/ 34 h 2028"/>
              <a:gd name="T42" fmla="*/ 43 w 274"/>
              <a:gd name="T43" fmla="*/ 25 h 2028"/>
              <a:gd name="T44" fmla="*/ 53 w 274"/>
              <a:gd name="T45" fmla="*/ 18 h 2028"/>
              <a:gd name="T46" fmla="*/ 77 w 274"/>
              <a:gd name="T47" fmla="*/ 8 h 2028"/>
              <a:gd name="T48" fmla="*/ 89 w 274"/>
              <a:gd name="T49" fmla="*/ 4 h 2028"/>
              <a:gd name="T50" fmla="*/ 104 w 274"/>
              <a:gd name="T51" fmla="*/ 1 h 2028"/>
              <a:gd name="T52" fmla="*/ 137 w 274"/>
              <a:gd name="T53" fmla="*/ 0 h 2028"/>
              <a:gd name="T54" fmla="*/ 274 w 274"/>
              <a:gd name="T55" fmla="*/ 0 h 20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4" h="2028">
                <a:moveTo>
                  <a:pt x="274" y="2028"/>
                </a:moveTo>
                <a:lnTo>
                  <a:pt x="137" y="2028"/>
                </a:lnTo>
                <a:lnTo>
                  <a:pt x="104" y="2026"/>
                </a:lnTo>
                <a:lnTo>
                  <a:pt x="89" y="2022"/>
                </a:lnTo>
                <a:lnTo>
                  <a:pt x="77" y="2019"/>
                </a:lnTo>
                <a:lnTo>
                  <a:pt x="53" y="2008"/>
                </a:lnTo>
                <a:lnTo>
                  <a:pt x="43" y="2001"/>
                </a:lnTo>
                <a:lnTo>
                  <a:pt x="35" y="1994"/>
                </a:lnTo>
                <a:lnTo>
                  <a:pt x="26" y="1984"/>
                </a:lnTo>
                <a:lnTo>
                  <a:pt x="19" y="1973"/>
                </a:lnTo>
                <a:lnTo>
                  <a:pt x="8" y="1951"/>
                </a:lnTo>
                <a:lnTo>
                  <a:pt x="4" y="1937"/>
                </a:lnTo>
                <a:lnTo>
                  <a:pt x="2" y="1923"/>
                </a:lnTo>
                <a:lnTo>
                  <a:pt x="0" y="1891"/>
                </a:lnTo>
                <a:lnTo>
                  <a:pt x="0" y="137"/>
                </a:lnTo>
                <a:lnTo>
                  <a:pt x="2" y="104"/>
                </a:lnTo>
                <a:lnTo>
                  <a:pt x="4" y="89"/>
                </a:lnTo>
                <a:lnTo>
                  <a:pt x="8" y="77"/>
                </a:lnTo>
                <a:lnTo>
                  <a:pt x="19" y="53"/>
                </a:lnTo>
                <a:lnTo>
                  <a:pt x="26" y="42"/>
                </a:lnTo>
                <a:lnTo>
                  <a:pt x="35" y="34"/>
                </a:lnTo>
                <a:lnTo>
                  <a:pt x="43" y="25"/>
                </a:lnTo>
                <a:lnTo>
                  <a:pt x="53" y="18"/>
                </a:lnTo>
                <a:lnTo>
                  <a:pt x="77" y="8"/>
                </a:lnTo>
                <a:lnTo>
                  <a:pt x="89" y="4"/>
                </a:lnTo>
                <a:lnTo>
                  <a:pt x="104" y="1"/>
                </a:lnTo>
                <a:lnTo>
                  <a:pt x="137" y="0"/>
                </a:lnTo>
                <a:lnTo>
                  <a:pt x="274"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40" name="Freeform 416">
            <a:extLst>
              <a:ext uri="{FF2B5EF4-FFF2-40B4-BE49-F238E27FC236}">
                <a16:creationId xmlns:a16="http://schemas.microsoft.com/office/drawing/2014/main" id="{B572F772-8484-A998-78E1-99D4A0332E69}"/>
              </a:ext>
            </a:extLst>
          </p:cNvPr>
          <p:cNvSpPr>
            <a:spLocks noEditPoints="1"/>
          </p:cNvSpPr>
          <p:nvPr/>
        </p:nvSpPr>
        <p:spPr bwMode="auto">
          <a:xfrm>
            <a:off x="4840288" y="3100388"/>
            <a:ext cx="109537" cy="107950"/>
          </a:xfrm>
          <a:custGeom>
            <a:avLst/>
            <a:gdLst>
              <a:gd name="T0" fmla="*/ 2 w 278"/>
              <a:gd name="T1" fmla="*/ 17 h 275"/>
              <a:gd name="T2" fmla="*/ 13 w 278"/>
              <a:gd name="T3" fmla="*/ 8 h 275"/>
              <a:gd name="T4" fmla="*/ 29 w 278"/>
              <a:gd name="T5" fmla="*/ 1 h 275"/>
              <a:gd name="T6" fmla="*/ 53 w 278"/>
              <a:gd name="T7" fmla="*/ 1 h 275"/>
              <a:gd name="T8" fmla="*/ 239 w 278"/>
              <a:gd name="T9" fmla="*/ 0 h 275"/>
              <a:gd name="T10" fmla="*/ 262 w 278"/>
              <a:gd name="T11" fmla="*/ 7 h 275"/>
              <a:gd name="T12" fmla="*/ 276 w 278"/>
              <a:gd name="T13" fmla="*/ 22 h 275"/>
              <a:gd name="T14" fmla="*/ 278 w 278"/>
              <a:gd name="T15" fmla="*/ 248 h 275"/>
              <a:gd name="T16" fmla="*/ 274 w 278"/>
              <a:gd name="T17" fmla="*/ 252 h 275"/>
              <a:gd name="T18" fmla="*/ 269 w 278"/>
              <a:gd name="T19" fmla="*/ 263 h 275"/>
              <a:gd name="T20" fmla="*/ 252 w 278"/>
              <a:gd name="T21" fmla="*/ 272 h 275"/>
              <a:gd name="T22" fmla="*/ 242 w 278"/>
              <a:gd name="T23" fmla="*/ 272 h 275"/>
              <a:gd name="T24" fmla="*/ 233 w 278"/>
              <a:gd name="T25" fmla="*/ 273 h 275"/>
              <a:gd name="T26" fmla="*/ 227 w 278"/>
              <a:gd name="T27" fmla="*/ 275 h 275"/>
              <a:gd name="T28" fmla="*/ 40 w 278"/>
              <a:gd name="T29" fmla="*/ 273 h 275"/>
              <a:gd name="T30" fmla="*/ 22 w 278"/>
              <a:gd name="T31" fmla="*/ 270 h 275"/>
              <a:gd name="T32" fmla="*/ 9 w 278"/>
              <a:gd name="T33" fmla="*/ 263 h 275"/>
              <a:gd name="T34" fmla="*/ 2 w 278"/>
              <a:gd name="T35" fmla="*/ 253 h 275"/>
              <a:gd name="T36" fmla="*/ 0 w 278"/>
              <a:gd name="T37" fmla="*/ 248 h 275"/>
              <a:gd name="T38" fmla="*/ 247 w 278"/>
              <a:gd name="T39" fmla="*/ 71 h 275"/>
              <a:gd name="T40" fmla="*/ 243 w 278"/>
              <a:gd name="T41" fmla="*/ 59 h 275"/>
              <a:gd name="T42" fmla="*/ 231 w 278"/>
              <a:gd name="T43" fmla="*/ 52 h 275"/>
              <a:gd name="T44" fmla="*/ 104 w 278"/>
              <a:gd name="T45" fmla="*/ 51 h 275"/>
              <a:gd name="T46" fmla="*/ 88 w 278"/>
              <a:gd name="T47" fmla="*/ 51 h 275"/>
              <a:gd name="T48" fmla="*/ 71 w 278"/>
              <a:gd name="T49" fmla="*/ 60 h 275"/>
              <a:gd name="T50" fmla="*/ 70 w 278"/>
              <a:gd name="T51" fmla="*/ 210 h 275"/>
              <a:gd name="T52" fmla="*/ 72 w 278"/>
              <a:gd name="T53" fmla="*/ 215 h 275"/>
              <a:gd name="T54" fmla="*/ 79 w 278"/>
              <a:gd name="T55" fmla="*/ 221 h 275"/>
              <a:gd name="T56" fmla="*/ 104 w 278"/>
              <a:gd name="T57" fmla="*/ 226 h 275"/>
              <a:gd name="T58" fmla="*/ 215 w 278"/>
              <a:gd name="T59" fmla="*/ 224 h 275"/>
              <a:gd name="T60" fmla="*/ 219 w 278"/>
              <a:gd name="T61" fmla="*/ 224 h 275"/>
              <a:gd name="T62" fmla="*/ 231 w 278"/>
              <a:gd name="T63" fmla="*/ 224 h 275"/>
              <a:gd name="T64" fmla="*/ 234 w 278"/>
              <a:gd name="T65" fmla="*/ 221 h 275"/>
              <a:gd name="T66" fmla="*/ 237 w 278"/>
              <a:gd name="T67" fmla="*/ 221 h 275"/>
              <a:gd name="T68" fmla="*/ 245 w 278"/>
              <a:gd name="T69" fmla="*/ 214 h 275"/>
              <a:gd name="T70" fmla="*/ 247 w 278"/>
              <a:gd name="T71" fmla="*/ 71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78" h="275">
                <a:moveTo>
                  <a:pt x="0" y="32"/>
                </a:moveTo>
                <a:lnTo>
                  <a:pt x="2" y="17"/>
                </a:lnTo>
                <a:lnTo>
                  <a:pt x="6" y="11"/>
                </a:lnTo>
                <a:lnTo>
                  <a:pt x="13" y="8"/>
                </a:lnTo>
                <a:lnTo>
                  <a:pt x="19" y="3"/>
                </a:lnTo>
                <a:lnTo>
                  <a:pt x="29" y="1"/>
                </a:lnTo>
                <a:lnTo>
                  <a:pt x="39" y="0"/>
                </a:lnTo>
                <a:lnTo>
                  <a:pt x="53" y="1"/>
                </a:lnTo>
                <a:lnTo>
                  <a:pt x="227" y="1"/>
                </a:lnTo>
                <a:lnTo>
                  <a:pt x="239" y="0"/>
                </a:lnTo>
                <a:lnTo>
                  <a:pt x="252" y="3"/>
                </a:lnTo>
                <a:lnTo>
                  <a:pt x="262" y="7"/>
                </a:lnTo>
                <a:lnTo>
                  <a:pt x="271" y="14"/>
                </a:lnTo>
                <a:lnTo>
                  <a:pt x="276" y="22"/>
                </a:lnTo>
                <a:lnTo>
                  <a:pt x="278" y="32"/>
                </a:lnTo>
                <a:lnTo>
                  <a:pt x="278" y="248"/>
                </a:lnTo>
                <a:lnTo>
                  <a:pt x="276" y="248"/>
                </a:lnTo>
                <a:lnTo>
                  <a:pt x="274" y="252"/>
                </a:lnTo>
                <a:lnTo>
                  <a:pt x="272" y="256"/>
                </a:lnTo>
                <a:lnTo>
                  <a:pt x="269" y="263"/>
                </a:lnTo>
                <a:lnTo>
                  <a:pt x="261" y="268"/>
                </a:lnTo>
                <a:lnTo>
                  <a:pt x="252" y="272"/>
                </a:lnTo>
                <a:lnTo>
                  <a:pt x="245" y="272"/>
                </a:lnTo>
                <a:lnTo>
                  <a:pt x="242" y="272"/>
                </a:lnTo>
                <a:lnTo>
                  <a:pt x="239" y="273"/>
                </a:lnTo>
                <a:lnTo>
                  <a:pt x="233" y="273"/>
                </a:lnTo>
                <a:lnTo>
                  <a:pt x="229" y="273"/>
                </a:lnTo>
                <a:lnTo>
                  <a:pt x="227" y="275"/>
                </a:lnTo>
                <a:lnTo>
                  <a:pt x="53" y="275"/>
                </a:lnTo>
                <a:lnTo>
                  <a:pt x="40" y="273"/>
                </a:lnTo>
                <a:lnTo>
                  <a:pt x="31" y="272"/>
                </a:lnTo>
                <a:lnTo>
                  <a:pt x="22" y="270"/>
                </a:lnTo>
                <a:lnTo>
                  <a:pt x="16" y="268"/>
                </a:lnTo>
                <a:lnTo>
                  <a:pt x="9" y="263"/>
                </a:lnTo>
                <a:lnTo>
                  <a:pt x="6" y="259"/>
                </a:lnTo>
                <a:lnTo>
                  <a:pt x="2" y="253"/>
                </a:lnTo>
                <a:lnTo>
                  <a:pt x="1" y="248"/>
                </a:lnTo>
                <a:lnTo>
                  <a:pt x="0" y="248"/>
                </a:lnTo>
                <a:lnTo>
                  <a:pt x="0" y="32"/>
                </a:lnTo>
                <a:close/>
                <a:moveTo>
                  <a:pt x="247" y="71"/>
                </a:moveTo>
                <a:lnTo>
                  <a:pt x="246" y="64"/>
                </a:lnTo>
                <a:lnTo>
                  <a:pt x="243" y="59"/>
                </a:lnTo>
                <a:lnTo>
                  <a:pt x="237" y="55"/>
                </a:lnTo>
                <a:lnTo>
                  <a:pt x="231" y="52"/>
                </a:lnTo>
                <a:lnTo>
                  <a:pt x="215" y="51"/>
                </a:lnTo>
                <a:lnTo>
                  <a:pt x="104" y="51"/>
                </a:lnTo>
                <a:lnTo>
                  <a:pt x="95" y="50"/>
                </a:lnTo>
                <a:lnTo>
                  <a:pt x="88" y="51"/>
                </a:lnTo>
                <a:lnTo>
                  <a:pt x="78" y="55"/>
                </a:lnTo>
                <a:lnTo>
                  <a:pt x="71" y="60"/>
                </a:lnTo>
                <a:lnTo>
                  <a:pt x="70" y="71"/>
                </a:lnTo>
                <a:lnTo>
                  <a:pt x="70" y="210"/>
                </a:lnTo>
                <a:lnTo>
                  <a:pt x="70" y="212"/>
                </a:lnTo>
                <a:lnTo>
                  <a:pt x="72" y="215"/>
                </a:lnTo>
                <a:lnTo>
                  <a:pt x="74" y="218"/>
                </a:lnTo>
                <a:lnTo>
                  <a:pt x="79" y="221"/>
                </a:lnTo>
                <a:lnTo>
                  <a:pt x="89" y="224"/>
                </a:lnTo>
                <a:lnTo>
                  <a:pt x="104" y="226"/>
                </a:lnTo>
                <a:lnTo>
                  <a:pt x="215" y="226"/>
                </a:lnTo>
                <a:lnTo>
                  <a:pt x="215" y="224"/>
                </a:lnTo>
                <a:lnTo>
                  <a:pt x="217" y="224"/>
                </a:lnTo>
                <a:lnTo>
                  <a:pt x="219" y="224"/>
                </a:lnTo>
                <a:lnTo>
                  <a:pt x="223" y="224"/>
                </a:lnTo>
                <a:lnTo>
                  <a:pt x="231" y="224"/>
                </a:lnTo>
                <a:lnTo>
                  <a:pt x="234" y="222"/>
                </a:lnTo>
                <a:lnTo>
                  <a:pt x="234" y="221"/>
                </a:lnTo>
                <a:lnTo>
                  <a:pt x="235" y="221"/>
                </a:lnTo>
                <a:lnTo>
                  <a:pt x="237" y="221"/>
                </a:lnTo>
                <a:lnTo>
                  <a:pt x="242" y="219"/>
                </a:lnTo>
                <a:lnTo>
                  <a:pt x="245" y="214"/>
                </a:lnTo>
                <a:lnTo>
                  <a:pt x="247" y="210"/>
                </a:lnTo>
                <a:lnTo>
                  <a:pt x="247" y="71"/>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41" name="Freeform 417">
            <a:extLst>
              <a:ext uri="{FF2B5EF4-FFF2-40B4-BE49-F238E27FC236}">
                <a16:creationId xmlns:a16="http://schemas.microsoft.com/office/drawing/2014/main" id="{FE03EC45-85AE-E2B5-55A0-30532CAFFEF9}"/>
              </a:ext>
            </a:extLst>
          </p:cNvPr>
          <p:cNvSpPr>
            <a:spLocks/>
          </p:cNvSpPr>
          <p:nvPr/>
        </p:nvSpPr>
        <p:spPr bwMode="auto">
          <a:xfrm>
            <a:off x="4867275" y="3119438"/>
            <a:ext cx="71438" cy="69850"/>
          </a:xfrm>
          <a:custGeom>
            <a:avLst/>
            <a:gdLst>
              <a:gd name="T0" fmla="*/ 161 w 177"/>
              <a:gd name="T1" fmla="*/ 2 h 176"/>
              <a:gd name="T2" fmla="*/ 167 w 177"/>
              <a:gd name="T3" fmla="*/ 5 h 176"/>
              <a:gd name="T4" fmla="*/ 173 w 177"/>
              <a:gd name="T5" fmla="*/ 9 h 176"/>
              <a:gd name="T6" fmla="*/ 176 w 177"/>
              <a:gd name="T7" fmla="*/ 14 h 176"/>
              <a:gd name="T8" fmla="*/ 177 w 177"/>
              <a:gd name="T9" fmla="*/ 21 h 176"/>
              <a:gd name="T10" fmla="*/ 177 w 177"/>
              <a:gd name="T11" fmla="*/ 160 h 176"/>
              <a:gd name="T12" fmla="*/ 175 w 177"/>
              <a:gd name="T13" fmla="*/ 164 h 176"/>
              <a:gd name="T14" fmla="*/ 172 w 177"/>
              <a:gd name="T15" fmla="*/ 169 h 176"/>
              <a:gd name="T16" fmla="*/ 167 w 177"/>
              <a:gd name="T17" fmla="*/ 171 h 176"/>
              <a:gd name="T18" fmla="*/ 165 w 177"/>
              <a:gd name="T19" fmla="*/ 171 h 176"/>
              <a:gd name="T20" fmla="*/ 164 w 177"/>
              <a:gd name="T21" fmla="*/ 171 h 176"/>
              <a:gd name="T22" fmla="*/ 164 w 177"/>
              <a:gd name="T23" fmla="*/ 172 h 176"/>
              <a:gd name="T24" fmla="*/ 161 w 177"/>
              <a:gd name="T25" fmla="*/ 174 h 176"/>
              <a:gd name="T26" fmla="*/ 153 w 177"/>
              <a:gd name="T27" fmla="*/ 174 h 176"/>
              <a:gd name="T28" fmla="*/ 149 w 177"/>
              <a:gd name="T29" fmla="*/ 174 h 176"/>
              <a:gd name="T30" fmla="*/ 147 w 177"/>
              <a:gd name="T31" fmla="*/ 174 h 176"/>
              <a:gd name="T32" fmla="*/ 145 w 177"/>
              <a:gd name="T33" fmla="*/ 174 h 176"/>
              <a:gd name="T34" fmla="*/ 145 w 177"/>
              <a:gd name="T35" fmla="*/ 176 h 176"/>
              <a:gd name="T36" fmla="*/ 34 w 177"/>
              <a:gd name="T37" fmla="*/ 176 h 176"/>
              <a:gd name="T38" fmla="*/ 19 w 177"/>
              <a:gd name="T39" fmla="*/ 174 h 176"/>
              <a:gd name="T40" fmla="*/ 9 w 177"/>
              <a:gd name="T41" fmla="*/ 171 h 176"/>
              <a:gd name="T42" fmla="*/ 4 w 177"/>
              <a:gd name="T43" fmla="*/ 168 h 176"/>
              <a:gd name="T44" fmla="*/ 2 w 177"/>
              <a:gd name="T45" fmla="*/ 165 h 176"/>
              <a:gd name="T46" fmla="*/ 0 w 177"/>
              <a:gd name="T47" fmla="*/ 162 h 176"/>
              <a:gd name="T48" fmla="*/ 0 w 177"/>
              <a:gd name="T49" fmla="*/ 160 h 176"/>
              <a:gd name="T50" fmla="*/ 0 w 177"/>
              <a:gd name="T51" fmla="*/ 21 h 176"/>
              <a:gd name="T52" fmla="*/ 1 w 177"/>
              <a:gd name="T53" fmla="*/ 10 h 176"/>
              <a:gd name="T54" fmla="*/ 8 w 177"/>
              <a:gd name="T55" fmla="*/ 5 h 176"/>
              <a:gd name="T56" fmla="*/ 18 w 177"/>
              <a:gd name="T57" fmla="*/ 1 h 176"/>
              <a:gd name="T58" fmla="*/ 25 w 177"/>
              <a:gd name="T59" fmla="*/ 0 h 176"/>
              <a:gd name="T60" fmla="*/ 34 w 177"/>
              <a:gd name="T61" fmla="*/ 1 h 176"/>
              <a:gd name="T62" fmla="*/ 145 w 177"/>
              <a:gd name="T63" fmla="*/ 1 h 176"/>
              <a:gd name="T64" fmla="*/ 161 w 177"/>
              <a:gd name="T65" fmla="*/ 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7" h="176">
                <a:moveTo>
                  <a:pt x="161" y="2"/>
                </a:moveTo>
                <a:lnTo>
                  <a:pt x="167" y="5"/>
                </a:lnTo>
                <a:lnTo>
                  <a:pt x="173" y="9"/>
                </a:lnTo>
                <a:lnTo>
                  <a:pt x="176" y="14"/>
                </a:lnTo>
                <a:lnTo>
                  <a:pt x="177" y="21"/>
                </a:lnTo>
                <a:lnTo>
                  <a:pt x="177" y="160"/>
                </a:lnTo>
                <a:lnTo>
                  <a:pt x="175" y="164"/>
                </a:lnTo>
                <a:lnTo>
                  <a:pt x="172" y="169"/>
                </a:lnTo>
                <a:lnTo>
                  <a:pt x="167" y="171"/>
                </a:lnTo>
                <a:lnTo>
                  <a:pt x="165" y="171"/>
                </a:lnTo>
                <a:lnTo>
                  <a:pt x="164" y="171"/>
                </a:lnTo>
                <a:lnTo>
                  <a:pt x="164" y="172"/>
                </a:lnTo>
                <a:lnTo>
                  <a:pt x="161" y="174"/>
                </a:lnTo>
                <a:lnTo>
                  <a:pt x="153" y="174"/>
                </a:lnTo>
                <a:lnTo>
                  <a:pt x="149" y="174"/>
                </a:lnTo>
                <a:lnTo>
                  <a:pt x="147" y="174"/>
                </a:lnTo>
                <a:lnTo>
                  <a:pt x="145" y="174"/>
                </a:lnTo>
                <a:lnTo>
                  <a:pt x="145" y="176"/>
                </a:lnTo>
                <a:lnTo>
                  <a:pt x="34" y="176"/>
                </a:lnTo>
                <a:lnTo>
                  <a:pt x="19" y="174"/>
                </a:lnTo>
                <a:lnTo>
                  <a:pt x="9" y="171"/>
                </a:lnTo>
                <a:lnTo>
                  <a:pt x="4" y="168"/>
                </a:lnTo>
                <a:lnTo>
                  <a:pt x="2" y="165"/>
                </a:lnTo>
                <a:lnTo>
                  <a:pt x="0" y="162"/>
                </a:lnTo>
                <a:lnTo>
                  <a:pt x="0" y="160"/>
                </a:lnTo>
                <a:lnTo>
                  <a:pt x="0" y="21"/>
                </a:lnTo>
                <a:lnTo>
                  <a:pt x="1" y="10"/>
                </a:lnTo>
                <a:lnTo>
                  <a:pt x="8" y="5"/>
                </a:lnTo>
                <a:lnTo>
                  <a:pt x="18" y="1"/>
                </a:lnTo>
                <a:lnTo>
                  <a:pt x="25" y="0"/>
                </a:lnTo>
                <a:lnTo>
                  <a:pt x="34" y="1"/>
                </a:lnTo>
                <a:lnTo>
                  <a:pt x="145" y="1"/>
                </a:lnTo>
                <a:lnTo>
                  <a:pt x="161" y="2"/>
                </a:lnTo>
                <a:close/>
              </a:path>
            </a:pathLst>
          </a:custGeom>
          <a:solidFill>
            <a:srgbClr val="008080">
              <a:alpha val="52000"/>
            </a:srgbClr>
          </a:solidFill>
          <a:ln w="25400" cap="flat" cmpd="sng">
            <a:solidFill>
              <a:srgbClr val="00808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3073442" name="Freeform 418">
            <a:extLst>
              <a:ext uri="{FF2B5EF4-FFF2-40B4-BE49-F238E27FC236}">
                <a16:creationId xmlns:a16="http://schemas.microsoft.com/office/drawing/2014/main" id="{756F43BE-BE74-4418-F667-78D1DF68642D}"/>
              </a:ext>
            </a:extLst>
          </p:cNvPr>
          <p:cNvSpPr>
            <a:spLocks noEditPoints="1"/>
          </p:cNvSpPr>
          <p:nvPr/>
        </p:nvSpPr>
        <p:spPr bwMode="auto">
          <a:xfrm>
            <a:off x="4840288" y="3409950"/>
            <a:ext cx="109537" cy="107950"/>
          </a:xfrm>
          <a:custGeom>
            <a:avLst/>
            <a:gdLst>
              <a:gd name="T0" fmla="*/ 2 w 278"/>
              <a:gd name="T1" fmla="*/ 17 h 275"/>
              <a:gd name="T2" fmla="*/ 13 w 278"/>
              <a:gd name="T3" fmla="*/ 8 h 275"/>
              <a:gd name="T4" fmla="*/ 29 w 278"/>
              <a:gd name="T5" fmla="*/ 1 h 275"/>
              <a:gd name="T6" fmla="*/ 53 w 278"/>
              <a:gd name="T7" fmla="*/ 1 h 275"/>
              <a:gd name="T8" fmla="*/ 239 w 278"/>
              <a:gd name="T9" fmla="*/ 0 h 275"/>
              <a:gd name="T10" fmla="*/ 262 w 278"/>
              <a:gd name="T11" fmla="*/ 7 h 275"/>
              <a:gd name="T12" fmla="*/ 276 w 278"/>
              <a:gd name="T13" fmla="*/ 22 h 275"/>
              <a:gd name="T14" fmla="*/ 278 w 278"/>
              <a:gd name="T15" fmla="*/ 249 h 275"/>
              <a:gd name="T16" fmla="*/ 274 w 278"/>
              <a:gd name="T17" fmla="*/ 252 h 275"/>
              <a:gd name="T18" fmla="*/ 269 w 278"/>
              <a:gd name="T19" fmla="*/ 263 h 275"/>
              <a:gd name="T20" fmla="*/ 252 w 278"/>
              <a:gd name="T21" fmla="*/ 273 h 275"/>
              <a:gd name="T22" fmla="*/ 242 w 278"/>
              <a:gd name="T23" fmla="*/ 273 h 275"/>
              <a:gd name="T24" fmla="*/ 233 w 278"/>
              <a:gd name="T25" fmla="*/ 274 h 275"/>
              <a:gd name="T26" fmla="*/ 227 w 278"/>
              <a:gd name="T27" fmla="*/ 275 h 275"/>
              <a:gd name="T28" fmla="*/ 40 w 278"/>
              <a:gd name="T29" fmla="*/ 274 h 275"/>
              <a:gd name="T30" fmla="*/ 22 w 278"/>
              <a:gd name="T31" fmla="*/ 270 h 275"/>
              <a:gd name="T32" fmla="*/ 9 w 278"/>
              <a:gd name="T33" fmla="*/ 263 h 275"/>
              <a:gd name="T34" fmla="*/ 2 w 278"/>
              <a:gd name="T35" fmla="*/ 253 h 275"/>
              <a:gd name="T36" fmla="*/ 0 w 278"/>
              <a:gd name="T37" fmla="*/ 249 h 275"/>
              <a:gd name="T38" fmla="*/ 231 w 278"/>
              <a:gd name="T39" fmla="*/ 53 h 275"/>
              <a:gd name="T40" fmla="*/ 104 w 278"/>
              <a:gd name="T41" fmla="*/ 52 h 275"/>
              <a:gd name="T42" fmla="*/ 88 w 278"/>
              <a:gd name="T43" fmla="*/ 52 h 275"/>
              <a:gd name="T44" fmla="*/ 71 w 278"/>
              <a:gd name="T45" fmla="*/ 61 h 275"/>
              <a:gd name="T46" fmla="*/ 70 w 278"/>
              <a:gd name="T47" fmla="*/ 210 h 275"/>
              <a:gd name="T48" fmla="*/ 72 w 278"/>
              <a:gd name="T49" fmla="*/ 216 h 275"/>
              <a:gd name="T50" fmla="*/ 79 w 278"/>
              <a:gd name="T51" fmla="*/ 221 h 275"/>
              <a:gd name="T52" fmla="*/ 104 w 278"/>
              <a:gd name="T53" fmla="*/ 226 h 275"/>
              <a:gd name="T54" fmla="*/ 215 w 278"/>
              <a:gd name="T55" fmla="*/ 225 h 275"/>
              <a:gd name="T56" fmla="*/ 219 w 278"/>
              <a:gd name="T57" fmla="*/ 225 h 275"/>
              <a:gd name="T58" fmla="*/ 231 w 278"/>
              <a:gd name="T59" fmla="*/ 225 h 275"/>
              <a:gd name="T60" fmla="*/ 234 w 278"/>
              <a:gd name="T61" fmla="*/ 221 h 275"/>
              <a:gd name="T62" fmla="*/ 237 w 278"/>
              <a:gd name="T63" fmla="*/ 221 h 275"/>
              <a:gd name="T64" fmla="*/ 245 w 278"/>
              <a:gd name="T65" fmla="*/ 214 h 275"/>
              <a:gd name="T66" fmla="*/ 247 w 278"/>
              <a:gd name="T67" fmla="*/ 71 h 275"/>
              <a:gd name="T68" fmla="*/ 243 w 278"/>
              <a:gd name="T69" fmla="*/ 59 h 275"/>
              <a:gd name="T70" fmla="*/ 231 w 278"/>
              <a:gd name="T71" fmla="*/ 53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78" h="275">
                <a:moveTo>
                  <a:pt x="0" y="32"/>
                </a:moveTo>
                <a:lnTo>
                  <a:pt x="2" y="17"/>
                </a:lnTo>
                <a:lnTo>
                  <a:pt x="6" y="12"/>
                </a:lnTo>
                <a:lnTo>
                  <a:pt x="13" y="8"/>
                </a:lnTo>
                <a:lnTo>
                  <a:pt x="19" y="4"/>
                </a:lnTo>
                <a:lnTo>
                  <a:pt x="29" y="1"/>
                </a:lnTo>
                <a:lnTo>
                  <a:pt x="39" y="0"/>
                </a:lnTo>
                <a:lnTo>
                  <a:pt x="53" y="1"/>
                </a:lnTo>
                <a:lnTo>
                  <a:pt x="227" y="1"/>
                </a:lnTo>
                <a:lnTo>
                  <a:pt x="239" y="0"/>
                </a:lnTo>
                <a:lnTo>
                  <a:pt x="252" y="4"/>
                </a:lnTo>
                <a:lnTo>
                  <a:pt x="262" y="7"/>
                </a:lnTo>
                <a:lnTo>
                  <a:pt x="271" y="14"/>
                </a:lnTo>
                <a:lnTo>
                  <a:pt x="276" y="22"/>
                </a:lnTo>
                <a:lnTo>
                  <a:pt x="278" y="32"/>
                </a:lnTo>
                <a:lnTo>
                  <a:pt x="278" y="249"/>
                </a:lnTo>
                <a:lnTo>
                  <a:pt x="276" y="249"/>
                </a:lnTo>
                <a:lnTo>
                  <a:pt x="274" y="252"/>
                </a:lnTo>
                <a:lnTo>
                  <a:pt x="272" y="257"/>
                </a:lnTo>
                <a:lnTo>
                  <a:pt x="269" y="263"/>
                </a:lnTo>
                <a:lnTo>
                  <a:pt x="261" y="268"/>
                </a:lnTo>
                <a:lnTo>
                  <a:pt x="252" y="273"/>
                </a:lnTo>
                <a:lnTo>
                  <a:pt x="245" y="273"/>
                </a:lnTo>
                <a:lnTo>
                  <a:pt x="242" y="273"/>
                </a:lnTo>
                <a:lnTo>
                  <a:pt x="239" y="274"/>
                </a:lnTo>
                <a:lnTo>
                  <a:pt x="233" y="274"/>
                </a:lnTo>
                <a:lnTo>
                  <a:pt x="229" y="274"/>
                </a:lnTo>
                <a:lnTo>
                  <a:pt x="227" y="275"/>
                </a:lnTo>
                <a:lnTo>
                  <a:pt x="53" y="275"/>
                </a:lnTo>
                <a:lnTo>
                  <a:pt x="40" y="274"/>
                </a:lnTo>
                <a:lnTo>
                  <a:pt x="31" y="273"/>
                </a:lnTo>
                <a:lnTo>
                  <a:pt x="22" y="270"/>
                </a:lnTo>
                <a:lnTo>
                  <a:pt x="16" y="268"/>
                </a:lnTo>
                <a:lnTo>
                  <a:pt x="9" y="263"/>
                </a:lnTo>
                <a:lnTo>
                  <a:pt x="6" y="259"/>
                </a:lnTo>
                <a:lnTo>
                  <a:pt x="2" y="253"/>
                </a:lnTo>
                <a:lnTo>
                  <a:pt x="1" y="249"/>
                </a:lnTo>
                <a:lnTo>
                  <a:pt x="0" y="249"/>
                </a:lnTo>
                <a:lnTo>
                  <a:pt x="0" y="32"/>
                </a:lnTo>
                <a:close/>
                <a:moveTo>
                  <a:pt x="231" y="53"/>
                </a:moveTo>
                <a:lnTo>
                  <a:pt x="215" y="52"/>
                </a:lnTo>
                <a:lnTo>
                  <a:pt x="104" y="52"/>
                </a:lnTo>
                <a:lnTo>
                  <a:pt x="95" y="50"/>
                </a:lnTo>
                <a:lnTo>
                  <a:pt x="88" y="52"/>
                </a:lnTo>
                <a:lnTo>
                  <a:pt x="78" y="55"/>
                </a:lnTo>
                <a:lnTo>
                  <a:pt x="71" y="61"/>
                </a:lnTo>
                <a:lnTo>
                  <a:pt x="70" y="71"/>
                </a:lnTo>
                <a:lnTo>
                  <a:pt x="70" y="210"/>
                </a:lnTo>
                <a:lnTo>
                  <a:pt x="70" y="212"/>
                </a:lnTo>
                <a:lnTo>
                  <a:pt x="72" y="216"/>
                </a:lnTo>
                <a:lnTo>
                  <a:pt x="74" y="218"/>
                </a:lnTo>
                <a:lnTo>
                  <a:pt x="79" y="221"/>
                </a:lnTo>
                <a:lnTo>
                  <a:pt x="89" y="225"/>
                </a:lnTo>
                <a:lnTo>
                  <a:pt x="104" y="226"/>
                </a:lnTo>
                <a:lnTo>
                  <a:pt x="215" y="226"/>
                </a:lnTo>
                <a:lnTo>
                  <a:pt x="215" y="225"/>
                </a:lnTo>
                <a:lnTo>
                  <a:pt x="217" y="225"/>
                </a:lnTo>
                <a:lnTo>
                  <a:pt x="219" y="225"/>
                </a:lnTo>
                <a:lnTo>
                  <a:pt x="223" y="225"/>
                </a:lnTo>
                <a:lnTo>
                  <a:pt x="231" y="225"/>
                </a:lnTo>
                <a:lnTo>
                  <a:pt x="234" y="222"/>
                </a:lnTo>
                <a:lnTo>
                  <a:pt x="234" y="221"/>
                </a:lnTo>
                <a:lnTo>
                  <a:pt x="235" y="221"/>
                </a:lnTo>
                <a:lnTo>
                  <a:pt x="237" y="221"/>
                </a:lnTo>
                <a:lnTo>
                  <a:pt x="242" y="219"/>
                </a:lnTo>
                <a:lnTo>
                  <a:pt x="245" y="214"/>
                </a:lnTo>
                <a:lnTo>
                  <a:pt x="247" y="210"/>
                </a:lnTo>
                <a:lnTo>
                  <a:pt x="247" y="71"/>
                </a:lnTo>
                <a:lnTo>
                  <a:pt x="246" y="64"/>
                </a:lnTo>
                <a:lnTo>
                  <a:pt x="243" y="59"/>
                </a:lnTo>
                <a:lnTo>
                  <a:pt x="237" y="55"/>
                </a:lnTo>
                <a:lnTo>
                  <a:pt x="231" y="53"/>
                </a:ln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43" name="Freeform 419">
            <a:extLst>
              <a:ext uri="{FF2B5EF4-FFF2-40B4-BE49-F238E27FC236}">
                <a16:creationId xmlns:a16="http://schemas.microsoft.com/office/drawing/2014/main" id="{41894FFF-7B26-768F-5BE3-48EE8ED3B34C}"/>
              </a:ext>
            </a:extLst>
          </p:cNvPr>
          <p:cNvSpPr>
            <a:spLocks/>
          </p:cNvSpPr>
          <p:nvPr/>
        </p:nvSpPr>
        <p:spPr bwMode="auto">
          <a:xfrm>
            <a:off x="4867275" y="3429000"/>
            <a:ext cx="71438" cy="69850"/>
          </a:xfrm>
          <a:custGeom>
            <a:avLst/>
            <a:gdLst>
              <a:gd name="T0" fmla="*/ 145 w 177"/>
              <a:gd name="T1" fmla="*/ 2 h 176"/>
              <a:gd name="T2" fmla="*/ 161 w 177"/>
              <a:gd name="T3" fmla="*/ 3 h 176"/>
              <a:gd name="T4" fmla="*/ 167 w 177"/>
              <a:gd name="T5" fmla="*/ 5 h 176"/>
              <a:gd name="T6" fmla="*/ 173 w 177"/>
              <a:gd name="T7" fmla="*/ 9 h 176"/>
              <a:gd name="T8" fmla="*/ 176 w 177"/>
              <a:gd name="T9" fmla="*/ 14 h 176"/>
              <a:gd name="T10" fmla="*/ 177 w 177"/>
              <a:gd name="T11" fmla="*/ 21 h 176"/>
              <a:gd name="T12" fmla="*/ 177 w 177"/>
              <a:gd name="T13" fmla="*/ 160 h 176"/>
              <a:gd name="T14" fmla="*/ 175 w 177"/>
              <a:gd name="T15" fmla="*/ 164 h 176"/>
              <a:gd name="T16" fmla="*/ 172 w 177"/>
              <a:gd name="T17" fmla="*/ 169 h 176"/>
              <a:gd name="T18" fmla="*/ 167 w 177"/>
              <a:gd name="T19" fmla="*/ 171 h 176"/>
              <a:gd name="T20" fmla="*/ 165 w 177"/>
              <a:gd name="T21" fmla="*/ 171 h 176"/>
              <a:gd name="T22" fmla="*/ 164 w 177"/>
              <a:gd name="T23" fmla="*/ 171 h 176"/>
              <a:gd name="T24" fmla="*/ 164 w 177"/>
              <a:gd name="T25" fmla="*/ 172 h 176"/>
              <a:gd name="T26" fmla="*/ 161 w 177"/>
              <a:gd name="T27" fmla="*/ 175 h 176"/>
              <a:gd name="T28" fmla="*/ 153 w 177"/>
              <a:gd name="T29" fmla="*/ 175 h 176"/>
              <a:gd name="T30" fmla="*/ 149 w 177"/>
              <a:gd name="T31" fmla="*/ 175 h 176"/>
              <a:gd name="T32" fmla="*/ 147 w 177"/>
              <a:gd name="T33" fmla="*/ 175 h 176"/>
              <a:gd name="T34" fmla="*/ 145 w 177"/>
              <a:gd name="T35" fmla="*/ 175 h 176"/>
              <a:gd name="T36" fmla="*/ 145 w 177"/>
              <a:gd name="T37" fmla="*/ 176 h 176"/>
              <a:gd name="T38" fmla="*/ 34 w 177"/>
              <a:gd name="T39" fmla="*/ 176 h 176"/>
              <a:gd name="T40" fmla="*/ 19 w 177"/>
              <a:gd name="T41" fmla="*/ 175 h 176"/>
              <a:gd name="T42" fmla="*/ 9 w 177"/>
              <a:gd name="T43" fmla="*/ 171 h 176"/>
              <a:gd name="T44" fmla="*/ 4 w 177"/>
              <a:gd name="T45" fmla="*/ 168 h 176"/>
              <a:gd name="T46" fmla="*/ 2 w 177"/>
              <a:gd name="T47" fmla="*/ 166 h 176"/>
              <a:gd name="T48" fmla="*/ 0 w 177"/>
              <a:gd name="T49" fmla="*/ 162 h 176"/>
              <a:gd name="T50" fmla="*/ 0 w 177"/>
              <a:gd name="T51" fmla="*/ 160 h 176"/>
              <a:gd name="T52" fmla="*/ 0 w 177"/>
              <a:gd name="T53" fmla="*/ 21 h 176"/>
              <a:gd name="T54" fmla="*/ 1 w 177"/>
              <a:gd name="T55" fmla="*/ 11 h 176"/>
              <a:gd name="T56" fmla="*/ 8 w 177"/>
              <a:gd name="T57" fmla="*/ 5 h 176"/>
              <a:gd name="T58" fmla="*/ 18 w 177"/>
              <a:gd name="T59" fmla="*/ 2 h 176"/>
              <a:gd name="T60" fmla="*/ 25 w 177"/>
              <a:gd name="T61" fmla="*/ 0 h 176"/>
              <a:gd name="T62" fmla="*/ 34 w 177"/>
              <a:gd name="T63" fmla="*/ 2 h 176"/>
              <a:gd name="T64" fmla="*/ 145 w 177"/>
              <a:gd name="T65" fmla="*/ 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7" h="176">
                <a:moveTo>
                  <a:pt x="145" y="2"/>
                </a:moveTo>
                <a:lnTo>
                  <a:pt x="161" y="3"/>
                </a:lnTo>
                <a:lnTo>
                  <a:pt x="167" y="5"/>
                </a:lnTo>
                <a:lnTo>
                  <a:pt x="173" y="9"/>
                </a:lnTo>
                <a:lnTo>
                  <a:pt x="176" y="14"/>
                </a:lnTo>
                <a:lnTo>
                  <a:pt x="177" y="21"/>
                </a:lnTo>
                <a:lnTo>
                  <a:pt x="177" y="160"/>
                </a:lnTo>
                <a:lnTo>
                  <a:pt x="175" y="164"/>
                </a:lnTo>
                <a:lnTo>
                  <a:pt x="172" y="169"/>
                </a:lnTo>
                <a:lnTo>
                  <a:pt x="167" y="171"/>
                </a:lnTo>
                <a:lnTo>
                  <a:pt x="165" y="171"/>
                </a:lnTo>
                <a:lnTo>
                  <a:pt x="164" y="171"/>
                </a:lnTo>
                <a:lnTo>
                  <a:pt x="164" y="172"/>
                </a:lnTo>
                <a:lnTo>
                  <a:pt x="161" y="175"/>
                </a:lnTo>
                <a:lnTo>
                  <a:pt x="153" y="175"/>
                </a:lnTo>
                <a:lnTo>
                  <a:pt x="149" y="175"/>
                </a:lnTo>
                <a:lnTo>
                  <a:pt x="147" y="175"/>
                </a:lnTo>
                <a:lnTo>
                  <a:pt x="145" y="175"/>
                </a:lnTo>
                <a:lnTo>
                  <a:pt x="145" y="176"/>
                </a:lnTo>
                <a:lnTo>
                  <a:pt x="34" y="176"/>
                </a:lnTo>
                <a:lnTo>
                  <a:pt x="19" y="175"/>
                </a:lnTo>
                <a:lnTo>
                  <a:pt x="9" y="171"/>
                </a:lnTo>
                <a:lnTo>
                  <a:pt x="4" y="168"/>
                </a:lnTo>
                <a:lnTo>
                  <a:pt x="2" y="166"/>
                </a:lnTo>
                <a:lnTo>
                  <a:pt x="0" y="162"/>
                </a:lnTo>
                <a:lnTo>
                  <a:pt x="0" y="160"/>
                </a:lnTo>
                <a:lnTo>
                  <a:pt x="0" y="21"/>
                </a:lnTo>
                <a:lnTo>
                  <a:pt x="1" y="11"/>
                </a:lnTo>
                <a:lnTo>
                  <a:pt x="8" y="5"/>
                </a:lnTo>
                <a:lnTo>
                  <a:pt x="18" y="2"/>
                </a:lnTo>
                <a:lnTo>
                  <a:pt x="25" y="0"/>
                </a:lnTo>
                <a:lnTo>
                  <a:pt x="34" y="2"/>
                </a:lnTo>
                <a:lnTo>
                  <a:pt x="145" y="2"/>
                </a:lnTo>
                <a:close/>
              </a:path>
            </a:pathLst>
          </a:custGeom>
          <a:solidFill>
            <a:srgbClr val="008080">
              <a:alpha val="52000"/>
            </a:srgbClr>
          </a:solidFill>
          <a:ln w="25400" cap="flat" cmpd="sng">
            <a:solidFill>
              <a:srgbClr val="00808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3073444" name="Freeform 420">
            <a:extLst>
              <a:ext uri="{FF2B5EF4-FFF2-40B4-BE49-F238E27FC236}">
                <a16:creationId xmlns:a16="http://schemas.microsoft.com/office/drawing/2014/main" id="{83CDA7BB-4D4B-7B19-D744-708742532A44}"/>
              </a:ext>
            </a:extLst>
          </p:cNvPr>
          <p:cNvSpPr>
            <a:spLocks/>
          </p:cNvSpPr>
          <p:nvPr/>
        </p:nvSpPr>
        <p:spPr bwMode="auto">
          <a:xfrm>
            <a:off x="6707188" y="3478213"/>
            <a:ext cx="3175" cy="1587"/>
          </a:xfrm>
          <a:custGeom>
            <a:avLst/>
            <a:gdLst>
              <a:gd name="T0" fmla="*/ 1 w 6"/>
              <a:gd name="T1" fmla="*/ 0 h 1"/>
              <a:gd name="T2" fmla="*/ 0 w 6"/>
              <a:gd name="T3" fmla="*/ 1 h 1"/>
              <a:gd name="T4" fmla="*/ 6 w 6"/>
              <a:gd name="T5" fmla="*/ 0 h 1"/>
              <a:gd name="T6" fmla="*/ 4 w 6"/>
              <a:gd name="T7" fmla="*/ 0 h 1"/>
              <a:gd name="T8" fmla="*/ 1 w 6"/>
              <a:gd name="T9" fmla="*/ 0 h 1"/>
            </a:gdLst>
            <a:ahLst/>
            <a:cxnLst>
              <a:cxn ang="0">
                <a:pos x="T0" y="T1"/>
              </a:cxn>
              <a:cxn ang="0">
                <a:pos x="T2" y="T3"/>
              </a:cxn>
              <a:cxn ang="0">
                <a:pos x="T4" y="T5"/>
              </a:cxn>
              <a:cxn ang="0">
                <a:pos x="T6" y="T7"/>
              </a:cxn>
              <a:cxn ang="0">
                <a:pos x="T8" y="T9"/>
              </a:cxn>
            </a:cxnLst>
            <a:rect l="0" t="0" r="r" b="b"/>
            <a:pathLst>
              <a:path w="6" h="1">
                <a:moveTo>
                  <a:pt x="1" y="0"/>
                </a:moveTo>
                <a:lnTo>
                  <a:pt x="0" y="1"/>
                </a:lnTo>
                <a:lnTo>
                  <a:pt x="6" y="0"/>
                </a:lnTo>
                <a:lnTo>
                  <a:pt x="4" y="0"/>
                </a:lnTo>
                <a:lnTo>
                  <a:pt x="1" y="0"/>
                </a:lnTo>
                <a:close/>
              </a:path>
            </a:pathLst>
          </a:custGeom>
          <a:solidFill>
            <a:srgbClr val="A4A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45" name="Freeform 421">
            <a:extLst>
              <a:ext uri="{FF2B5EF4-FFF2-40B4-BE49-F238E27FC236}">
                <a16:creationId xmlns:a16="http://schemas.microsoft.com/office/drawing/2014/main" id="{B7CF31E6-5230-F0D7-605B-409F3538C31B}"/>
              </a:ext>
            </a:extLst>
          </p:cNvPr>
          <p:cNvSpPr>
            <a:spLocks/>
          </p:cNvSpPr>
          <p:nvPr/>
        </p:nvSpPr>
        <p:spPr bwMode="auto">
          <a:xfrm>
            <a:off x="5868988" y="3554413"/>
            <a:ext cx="1587" cy="1587"/>
          </a:xfrm>
          <a:custGeom>
            <a:avLst/>
            <a:gdLst>
              <a:gd name="T0" fmla="*/ 2 w 6"/>
              <a:gd name="T1" fmla="*/ 0 h 1"/>
              <a:gd name="T2" fmla="*/ 0 w 6"/>
              <a:gd name="T3" fmla="*/ 1 h 1"/>
              <a:gd name="T4" fmla="*/ 6 w 6"/>
              <a:gd name="T5" fmla="*/ 0 h 1"/>
              <a:gd name="T6" fmla="*/ 4 w 6"/>
              <a:gd name="T7" fmla="*/ 0 h 1"/>
              <a:gd name="T8" fmla="*/ 2 w 6"/>
              <a:gd name="T9" fmla="*/ 0 h 1"/>
            </a:gdLst>
            <a:ahLst/>
            <a:cxnLst>
              <a:cxn ang="0">
                <a:pos x="T0" y="T1"/>
              </a:cxn>
              <a:cxn ang="0">
                <a:pos x="T2" y="T3"/>
              </a:cxn>
              <a:cxn ang="0">
                <a:pos x="T4" y="T5"/>
              </a:cxn>
              <a:cxn ang="0">
                <a:pos x="T6" y="T7"/>
              </a:cxn>
              <a:cxn ang="0">
                <a:pos x="T8" y="T9"/>
              </a:cxn>
            </a:cxnLst>
            <a:rect l="0" t="0" r="r" b="b"/>
            <a:pathLst>
              <a:path w="6" h="1">
                <a:moveTo>
                  <a:pt x="2" y="0"/>
                </a:moveTo>
                <a:lnTo>
                  <a:pt x="0" y="1"/>
                </a:lnTo>
                <a:lnTo>
                  <a:pt x="6" y="0"/>
                </a:lnTo>
                <a:lnTo>
                  <a:pt x="4" y="0"/>
                </a:lnTo>
                <a:lnTo>
                  <a:pt x="2" y="0"/>
                </a:lnTo>
                <a:close/>
              </a:path>
            </a:pathLst>
          </a:custGeom>
          <a:solidFill>
            <a:srgbClr val="A4A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46" name="Freeform 422">
            <a:extLst>
              <a:ext uri="{FF2B5EF4-FFF2-40B4-BE49-F238E27FC236}">
                <a16:creationId xmlns:a16="http://schemas.microsoft.com/office/drawing/2014/main" id="{B264F2A2-E593-C355-59AB-A562FF195728}"/>
              </a:ext>
            </a:extLst>
          </p:cNvPr>
          <p:cNvSpPr>
            <a:spLocks/>
          </p:cNvSpPr>
          <p:nvPr/>
        </p:nvSpPr>
        <p:spPr bwMode="auto">
          <a:xfrm>
            <a:off x="5999163" y="3597275"/>
            <a:ext cx="123825" cy="141288"/>
          </a:xfrm>
          <a:custGeom>
            <a:avLst/>
            <a:gdLst>
              <a:gd name="T0" fmla="*/ 157 w 313"/>
              <a:gd name="T1" fmla="*/ 281 h 354"/>
              <a:gd name="T2" fmla="*/ 313 w 313"/>
              <a:gd name="T3" fmla="*/ 354 h 354"/>
              <a:gd name="T4" fmla="*/ 157 w 313"/>
              <a:gd name="T5" fmla="*/ 0 h 354"/>
              <a:gd name="T6" fmla="*/ 0 w 313"/>
              <a:gd name="T7" fmla="*/ 354 h 354"/>
              <a:gd name="T8" fmla="*/ 157 w 313"/>
              <a:gd name="T9" fmla="*/ 281 h 354"/>
            </a:gdLst>
            <a:ahLst/>
            <a:cxnLst>
              <a:cxn ang="0">
                <a:pos x="T0" y="T1"/>
              </a:cxn>
              <a:cxn ang="0">
                <a:pos x="T2" y="T3"/>
              </a:cxn>
              <a:cxn ang="0">
                <a:pos x="T4" y="T5"/>
              </a:cxn>
              <a:cxn ang="0">
                <a:pos x="T6" y="T7"/>
              </a:cxn>
              <a:cxn ang="0">
                <a:pos x="T8" y="T9"/>
              </a:cxn>
            </a:cxnLst>
            <a:rect l="0" t="0" r="r" b="b"/>
            <a:pathLst>
              <a:path w="313" h="354">
                <a:moveTo>
                  <a:pt x="157" y="281"/>
                </a:moveTo>
                <a:lnTo>
                  <a:pt x="313" y="354"/>
                </a:lnTo>
                <a:lnTo>
                  <a:pt x="157" y="0"/>
                </a:lnTo>
                <a:lnTo>
                  <a:pt x="0" y="354"/>
                </a:lnTo>
                <a:lnTo>
                  <a:pt x="157" y="2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47" name="Rectangle 423">
            <a:extLst>
              <a:ext uri="{FF2B5EF4-FFF2-40B4-BE49-F238E27FC236}">
                <a16:creationId xmlns:a16="http://schemas.microsoft.com/office/drawing/2014/main" id="{48A3C8E8-2976-FE0F-5EB7-55E6550E3117}"/>
              </a:ext>
            </a:extLst>
          </p:cNvPr>
          <p:cNvSpPr>
            <a:spLocks noChangeArrowheads="1"/>
          </p:cNvSpPr>
          <p:nvPr/>
        </p:nvSpPr>
        <p:spPr bwMode="auto">
          <a:xfrm>
            <a:off x="5811838" y="4413250"/>
            <a:ext cx="4984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Mapped</a:t>
            </a:r>
            <a:endParaRPr lang="en-US" altLang="zh-CN" sz="1800">
              <a:solidFill>
                <a:schemeClr val="tx1"/>
              </a:solidFill>
              <a:ea typeface="宋体" panose="02010600030101010101" pitchFamily="2" charset="-122"/>
            </a:endParaRPr>
          </a:p>
        </p:txBody>
      </p:sp>
      <p:sp>
        <p:nvSpPr>
          <p:cNvPr id="3073448" name="Rectangle 424">
            <a:extLst>
              <a:ext uri="{FF2B5EF4-FFF2-40B4-BE49-F238E27FC236}">
                <a16:creationId xmlns:a16="http://schemas.microsoft.com/office/drawing/2014/main" id="{B05518F8-2127-4C96-AA00-E58D2364FDDC}"/>
              </a:ext>
            </a:extLst>
          </p:cNvPr>
          <p:cNvSpPr>
            <a:spLocks noChangeArrowheads="1"/>
          </p:cNvSpPr>
          <p:nvPr/>
        </p:nvSpPr>
        <p:spPr bwMode="auto">
          <a:xfrm>
            <a:off x="6389688" y="2097088"/>
            <a:ext cx="89376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Storage Array</a:t>
            </a:r>
            <a:endParaRPr lang="en-US" altLang="zh-CN" sz="1800">
              <a:solidFill>
                <a:schemeClr val="tx1"/>
              </a:solidFill>
              <a:ea typeface="宋体" panose="02010600030101010101" pitchFamily="2" charset="-122"/>
            </a:endParaRPr>
          </a:p>
        </p:txBody>
      </p:sp>
      <p:sp>
        <p:nvSpPr>
          <p:cNvPr id="3073449" name="Rectangle 425">
            <a:extLst>
              <a:ext uri="{FF2B5EF4-FFF2-40B4-BE49-F238E27FC236}">
                <a16:creationId xmlns:a16="http://schemas.microsoft.com/office/drawing/2014/main" id="{B95CCD05-5E53-7DDF-4217-D4B257195308}"/>
              </a:ext>
            </a:extLst>
          </p:cNvPr>
          <p:cNvSpPr>
            <a:spLocks noChangeArrowheads="1"/>
          </p:cNvSpPr>
          <p:nvPr/>
        </p:nvSpPr>
        <p:spPr bwMode="auto">
          <a:xfrm>
            <a:off x="3709988" y="2482850"/>
            <a:ext cx="187325"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SAN</a:t>
            </a:r>
            <a:endParaRPr lang="en-US" altLang="zh-CN" sz="1800">
              <a:solidFill>
                <a:schemeClr val="tx1"/>
              </a:solidFill>
              <a:ea typeface="宋体" panose="02010600030101010101" pitchFamily="2" charset="-122"/>
            </a:endParaRPr>
          </a:p>
        </p:txBody>
      </p:sp>
      <p:sp>
        <p:nvSpPr>
          <p:cNvPr id="3073450" name="Rectangle 426">
            <a:extLst>
              <a:ext uri="{FF2B5EF4-FFF2-40B4-BE49-F238E27FC236}">
                <a16:creationId xmlns:a16="http://schemas.microsoft.com/office/drawing/2014/main" id="{493FEE4F-4ACC-625B-5604-A35331281255}"/>
              </a:ext>
            </a:extLst>
          </p:cNvPr>
          <p:cNvSpPr>
            <a:spLocks noChangeArrowheads="1"/>
          </p:cNvSpPr>
          <p:nvPr/>
        </p:nvSpPr>
        <p:spPr bwMode="auto">
          <a:xfrm>
            <a:off x="3649663" y="2609850"/>
            <a:ext cx="30480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Zoning</a:t>
            </a:r>
            <a:endParaRPr lang="en-US" altLang="zh-CN" sz="1800">
              <a:solidFill>
                <a:schemeClr val="tx1"/>
              </a:solidFill>
              <a:ea typeface="宋体" panose="02010600030101010101" pitchFamily="2" charset="-122"/>
            </a:endParaRPr>
          </a:p>
        </p:txBody>
      </p:sp>
      <p:sp>
        <p:nvSpPr>
          <p:cNvPr id="3073451" name="Rectangle 427">
            <a:extLst>
              <a:ext uri="{FF2B5EF4-FFF2-40B4-BE49-F238E27FC236}">
                <a16:creationId xmlns:a16="http://schemas.microsoft.com/office/drawing/2014/main" id="{27D049F4-AF05-7E71-2768-031C1E524353}"/>
              </a:ext>
            </a:extLst>
          </p:cNvPr>
          <p:cNvSpPr>
            <a:spLocks noChangeArrowheads="1"/>
          </p:cNvSpPr>
          <p:nvPr/>
        </p:nvSpPr>
        <p:spPr bwMode="auto">
          <a:xfrm>
            <a:off x="4219575" y="2352675"/>
            <a:ext cx="34925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Allocate</a:t>
            </a:r>
            <a:endParaRPr lang="en-US" altLang="zh-CN" sz="1800">
              <a:solidFill>
                <a:schemeClr val="tx1"/>
              </a:solidFill>
              <a:ea typeface="宋体" panose="02010600030101010101" pitchFamily="2" charset="-122"/>
            </a:endParaRPr>
          </a:p>
        </p:txBody>
      </p:sp>
      <p:sp>
        <p:nvSpPr>
          <p:cNvPr id="3073452" name="Rectangle 428">
            <a:extLst>
              <a:ext uri="{FF2B5EF4-FFF2-40B4-BE49-F238E27FC236}">
                <a16:creationId xmlns:a16="http://schemas.microsoft.com/office/drawing/2014/main" id="{8ABAD47D-F813-E2B6-B8AA-A2CEC4D06175}"/>
              </a:ext>
            </a:extLst>
          </p:cNvPr>
          <p:cNvSpPr>
            <a:spLocks noChangeArrowheads="1"/>
          </p:cNvSpPr>
          <p:nvPr/>
        </p:nvSpPr>
        <p:spPr bwMode="auto">
          <a:xfrm>
            <a:off x="4203700" y="2481263"/>
            <a:ext cx="377825"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Volumes</a:t>
            </a:r>
            <a:endParaRPr lang="en-US" altLang="zh-CN" sz="1800">
              <a:solidFill>
                <a:schemeClr val="tx1"/>
              </a:solidFill>
              <a:ea typeface="宋体" panose="02010600030101010101" pitchFamily="2" charset="-122"/>
            </a:endParaRPr>
          </a:p>
        </p:txBody>
      </p:sp>
      <p:sp>
        <p:nvSpPr>
          <p:cNvPr id="3073453" name="Rectangle 429">
            <a:extLst>
              <a:ext uri="{FF2B5EF4-FFF2-40B4-BE49-F238E27FC236}">
                <a16:creationId xmlns:a16="http://schemas.microsoft.com/office/drawing/2014/main" id="{86044CB9-9D95-8630-F15C-60CAC1540661}"/>
              </a:ext>
            </a:extLst>
          </p:cNvPr>
          <p:cNvSpPr>
            <a:spLocks noChangeArrowheads="1"/>
          </p:cNvSpPr>
          <p:nvPr/>
        </p:nvSpPr>
        <p:spPr bwMode="auto">
          <a:xfrm>
            <a:off x="4271963" y="2608263"/>
            <a:ext cx="247650"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Hosts</a:t>
            </a:r>
            <a:endParaRPr lang="en-US" altLang="zh-CN" sz="1800">
              <a:solidFill>
                <a:schemeClr val="tx1"/>
              </a:solidFill>
              <a:ea typeface="宋体" panose="02010600030101010101" pitchFamily="2" charset="-122"/>
            </a:endParaRPr>
          </a:p>
        </p:txBody>
      </p:sp>
      <p:sp>
        <p:nvSpPr>
          <p:cNvPr id="3073454" name="Rectangle 430">
            <a:extLst>
              <a:ext uri="{FF2B5EF4-FFF2-40B4-BE49-F238E27FC236}">
                <a16:creationId xmlns:a16="http://schemas.microsoft.com/office/drawing/2014/main" id="{E3080643-1F60-9D73-3682-391C1EC82F1F}"/>
              </a:ext>
            </a:extLst>
          </p:cNvPr>
          <p:cNvSpPr>
            <a:spLocks noChangeArrowheads="1"/>
          </p:cNvSpPr>
          <p:nvPr/>
        </p:nvSpPr>
        <p:spPr bwMode="auto">
          <a:xfrm>
            <a:off x="3884613" y="2097088"/>
            <a:ext cx="2667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SAN</a:t>
            </a:r>
            <a:endParaRPr lang="en-US" altLang="zh-CN" sz="1800">
              <a:solidFill>
                <a:schemeClr val="tx1"/>
              </a:solidFill>
              <a:ea typeface="宋体" panose="02010600030101010101" pitchFamily="2" charset="-122"/>
            </a:endParaRPr>
          </a:p>
        </p:txBody>
      </p:sp>
      <p:sp>
        <p:nvSpPr>
          <p:cNvPr id="3073455" name="Freeform 431">
            <a:extLst>
              <a:ext uri="{FF2B5EF4-FFF2-40B4-BE49-F238E27FC236}">
                <a16:creationId xmlns:a16="http://schemas.microsoft.com/office/drawing/2014/main" id="{9A4F16D1-92C7-7570-C2CC-B4AEF6D8C4DB}"/>
              </a:ext>
            </a:extLst>
          </p:cNvPr>
          <p:cNvSpPr>
            <a:spLocks/>
          </p:cNvSpPr>
          <p:nvPr/>
        </p:nvSpPr>
        <p:spPr bwMode="auto">
          <a:xfrm>
            <a:off x="3406775" y="3057525"/>
            <a:ext cx="195263" cy="190500"/>
          </a:xfrm>
          <a:custGeom>
            <a:avLst/>
            <a:gdLst>
              <a:gd name="T0" fmla="*/ 317 w 491"/>
              <a:gd name="T1" fmla="*/ 97 h 482"/>
              <a:gd name="T2" fmla="*/ 334 w 491"/>
              <a:gd name="T3" fmla="*/ 98 h 482"/>
              <a:gd name="T4" fmla="*/ 350 w 491"/>
              <a:gd name="T5" fmla="*/ 101 h 482"/>
              <a:gd name="T6" fmla="*/ 362 w 491"/>
              <a:gd name="T7" fmla="*/ 107 h 482"/>
              <a:gd name="T8" fmla="*/ 368 w 491"/>
              <a:gd name="T9" fmla="*/ 110 h 482"/>
              <a:gd name="T10" fmla="*/ 375 w 491"/>
              <a:gd name="T11" fmla="*/ 116 h 482"/>
              <a:gd name="T12" fmla="*/ 383 w 491"/>
              <a:gd name="T13" fmla="*/ 126 h 482"/>
              <a:gd name="T14" fmla="*/ 385 w 491"/>
              <a:gd name="T15" fmla="*/ 132 h 482"/>
              <a:gd name="T16" fmla="*/ 389 w 491"/>
              <a:gd name="T17" fmla="*/ 140 h 482"/>
              <a:gd name="T18" fmla="*/ 392 w 491"/>
              <a:gd name="T19" fmla="*/ 155 h 482"/>
              <a:gd name="T20" fmla="*/ 394 w 491"/>
              <a:gd name="T21" fmla="*/ 174 h 482"/>
              <a:gd name="T22" fmla="*/ 394 w 491"/>
              <a:gd name="T23" fmla="*/ 435 h 482"/>
              <a:gd name="T24" fmla="*/ 393 w 491"/>
              <a:gd name="T25" fmla="*/ 437 h 482"/>
              <a:gd name="T26" fmla="*/ 393 w 491"/>
              <a:gd name="T27" fmla="*/ 441 h 482"/>
              <a:gd name="T28" fmla="*/ 393 w 491"/>
              <a:gd name="T29" fmla="*/ 447 h 482"/>
              <a:gd name="T30" fmla="*/ 392 w 491"/>
              <a:gd name="T31" fmla="*/ 450 h 482"/>
              <a:gd name="T32" fmla="*/ 392 w 491"/>
              <a:gd name="T33" fmla="*/ 453 h 482"/>
              <a:gd name="T34" fmla="*/ 392 w 491"/>
              <a:gd name="T35" fmla="*/ 460 h 482"/>
              <a:gd name="T36" fmla="*/ 389 w 491"/>
              <a:gd name="T37" fmla="*/ 471 h 482"/>
              <a:gd name="T38" fmla="*/ 386 w 491"/>
              <a:gd name="T39" fmla="*/ 476 h 482"/>
              <a:gd name="T40" fmla="*/ 385 w 491"/>
              <a:gd name="T41" fmla="*/ 478 h 482"/>
              <a:gd name="T42" fmla="*/ 385 w 491"/>
              <a:gd name="T43" fmla="*/ 482 h 482"/>
              <a:gd name="T44" fmla="*/ 460 w 491"/>
              <a:gd name="T45" fmla="*/ 406 h 482"/>
              <a:gd name="T46" fmla="*/ 472 w 491"/>
              <a:gd name="T47" fmla="*/ 396 h 482"/>
              <a:gd name="T48" fmla="*/ 476 w 491"/>
              <a:gd name="T49" fmla="*/ 391 h 482"/>
              <a:gd name="T50" fmla="*/ 479 w 491"/>
              <a:gd name="T51" fmla="*/ 387 h 482"/>
              <a:gd name="T52" fmla="*/ 482 w 491"/>
              <a:gd name="T53" fmla="*/ 385 h 482"/>
              <a:gd name="T54" fmla="*/ 485 w 491"/>
              <a:gd name="T55" fmla="*/ 377 h 482"/>
              <a:gd name="T56" fmla="*/ 487 w 491"/>
              <a:gd name="T57" fmla="*/ 368 h 482"/>
              <a:gd name="T58" fmla="*/ 489 w 491"/>
              <a:gd name="T59" fmla="*/ 359 h 482"/>
              <a:gd name="T60" fmla="*/ 489 w 491"/>
              <a:gd name="T61" fmla="*/ 353 h 482"/>
              <a:gd name="T62" fmla="*/ 490 w 491"/>
              <a:gd name="T63" fmla="*/ 348 h 482"/>
              <a:gd name="T64" fmla="*/ 490 w 491"/>
              <a:gd name="T65" fmla="*/ 343 h 482"/>
              <a:gd name="T66" fmla="*/ 491 w 491"/>
              <a:gd name="T67" fmla="*/ 338 h 482"/>
              <a:gd name="T68" fmla="*/ 491 w 491"/>
              <a:gd name="T69" fmla="*/ 77 h 482"/>
              <a:gd name="T70" fmla="*/ 489 w 491"/>
              <a:gd name="T71" fmla="*/ 58 h 482"/>
              <a:gd name="T72" fmla="*/ 485 w 491"/>
              <a:gd name="T73" fmla="*/ 43 h 482"/>
              <a:gd name="T74" fmla="*/ 482 w 491"/>
              <a:gd name="T75" fmla="*/ 35 h 482"/>
              <a:gd name="T76" fmla="*/ 480 w 491"/>
              <a:gd name="T77" fmla="*/ 29 h 482"/>
              <a:gd name="T78" fmla="*/ 472 w 491"/>
              <a:gd name="T79" fmla="*/ 19 h 482"/>
              <a:gd name="T80" fmla="*/ 465 w 491"/>
              <a:gd name="T81" fmla="*/ 13 h 482"/>
              <a:gd name="T82" fmla="*/ 459 w 491"/>
              <a:gd name="T83" fmla="*/ 10 h 482"/>
              <a:gd name="T84" fmla="*/ 447 w 491"/>
              <a:gd name="T85" fmla="*/ 4 h 482"/>
              <a:gd name="T86" fmla="*/ 431 w 491"/>
              <a:gd name="T87" fmla="*/ 1 h 482"/>
              <a:gd name="T88" fmla="*/ 414 w 491"/>
              <a:gd name="T89" fmla="*/ 0 h 482"/>
              <a:gd name="T90" fmla="*/ 153 w 491"/>
              <a:gd name="T91" fmla="*/ 0 h 482"/>
              <a:gd name="T92" fmla="*/ 133 w 491"/>
              <a:gd name="T93" fmla="*/ 1 h 482"/>
              <a:gd name="T94" fmla="*/ 118 w 491"/>
              <a:gd name="T95" fmla="*/ 4 h 482"/>
              <a:gd name="T96" fmla="*/ 106 w 491"/>
              <a:gd name="T97" fmla="*/ 10 h 482"/>
              <a:gd name="T98" fmla="*/ 96 w 491"/>
              <a:gd name="T99" fmla="*/ 19 h 482"/>
              <a:gd name="T100" fmla="*/ 95 w 491"/>
              <a:gd name="T101" fmla="*/ 19 h 482"/>
              <a:gd name="T102" fmla="*/ 93 w 491"/>
              <a:gd name="T103" fmla="*/ 21 h 482"/>
              <a:gd name="T104" fmla="*/ 0 w 491"/>
              <a:gd name="T105" fmla="*/ 115 h 482"/>
              <a:gd name="T106" fmla="*/ 10 w 491"/>
              <a:gd name="T107" fmla="*/ 107 h 482"/>
              <a:gd name="T108" fmla="*/ 23 w 491"/>
              <a:gd name="T109" fmla="*/ 101 h 482"/>
              <a:gd name="T110" fmla="*/ 38 w 491"/>
              <a:gd name="T111" fmla="*/ 98 h 482"/>
              <a:gd name="T112" fmla="*/ 56 w 491"/>
              <a:gd name="T113" fmla="*/ 97 h 482"/>
              <a:gd name="T114" fmla="*/ 317 w 491"/>
              <a:gd name="T115" fmla="*/ 97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1" h="482">
                <a:moveTo>
                  <a:pt x="317" y="97"/>
                </a:moveTo>
                <a:lnTo>
                  <a:pt x="334" y="98"/>
                </a:lnTo>
                <a:lnTo>
                  <a:pt x="350" y="101"/>
                </a:lnTo>
                <a:lnTo>
                  <a:pt x="362" y="107"/>
                </a:lnTo>
                <a:lnTo>
                  <a:pt x="368" y="110"/>
                </a:lnTo>
                <a:lnTo>
                  <a:pt x="375" y="116"/>
                </a:lnTo>
                <a:lnTo>
                  <a:pt x="383" y="126"/>
                </a:lnTo>
                <a:lnTo>
                  <a:pt x="385" y="132"/>
                </a:lnTo>
                <a:lnTo>
                  <a:pt x="389" y="140"/>
                </a:lnTo>
                <a:lnTo>
                  <a:pt x="392" y="155"/>
                </a:lnTo>
                <a:lnTo>
                  <a:pt x="394" y="174"/>
                </a:lnTo>
                <a:lnTo>
                  <a:pt x="394" y="435"/>
                </a:lnTo>
                <a:lnTo>
                  <a:pt x="393" y="437"/>
                </a:lnTo>
                <a:lnTo>
                  <a:pt x="393" y="441"/>
                </a:lnTo>
                <a:lnTo>
                  <a:pt x="393" y="447"/>
                </a:lnTo>
                <a:lnTo>
                  <a:pt x="392" y="450"/>
                </a:lnTo>
                <a:lnTo>
                  <a:pt x="392" y="453"/>
                </a:lnTo>
                <a:lnTo>
                  <a:pt x="392" y="460"/>
                </a:lnTo>
                <a:lnTo>
                  <a:pt x="389" y="471"/>
                </a:lnTo>
                <a:lnTo>
                  <a:pt x="386" y="476"/>
                </a:lnTo>
                <a:lnTo>
                  <a:pt x="385" y="478"/>
                </a:lnTo>
                <a:lnTo>
                  <a:pt x="385" y="482"/>
                </a:lnTo>
                <a:lnTo>
                  <a:pt x="460" y="406"/>
                </a:lnTo>
                <a:lnTo>
                  <a:pt x="472" y="396"/>
                </a:lnTo>
                <a:lnTo>
                  <a:pt x="476" y="391"/>
                </a:lnTo>
                <a:lnTo>
                  <a:pt x="479" y="387"/>
                </a:lnTo>
                <a:lnTo>
                  <a:pt x="482" y="385"/>
                </a:lnTo>
                <a:lnTo>
                  <a:pt x="485" y="377"/>
                </a:lnTo>
                <a:lnTo>
                  <a:pt x="487" y="368"/>
                </a:lnTo>
                <a:lnTo>
                  <a:pt x="489" y="359"/>
                </a:lnTo>
                <a:lnTo>
                  <a:pt x="489" y="353"/>
                </a:lnTo>
                <a:lnTo>
                  <a:pt x="490" y="348"/>
                </a:lnTo>
                <a:lnTo>
                  <a:pt x="490" y="343"/>
                </a:lnTo>
                <a:lnTo>
                  <a:pt x="491" y="338"/>
                </a:lnTo>
                <a:lnTo>
                  <a:pt x="491" y="77"/>
                </a:lnTo>
                <a:lnTo>
                  <a:pt x="489" y="58"/>
                </a:lnTo>
                <a:lnTo>
                  <a:pt x="485" y="43"/>
                </a:lnTo>
                <a:lnTo>
                  <a:pt x="482" y="35"/>
                </a:lnTo>
                <a:lnTo>
                  <a:pt x="480" y="29"/>
                </a:lnTo>
                <a:lnTo>
                  <a:pt x="472" y="19"/>
                </a:lnTo>
                <a:lnTo>
                  <a:pt x="465" y="13"/>
                </a:lnTo>
                <a:lnTo>
                  <a:pt x="459" y="10"/>
                </a:lnTo>
                <a:lnTo>
                  <a:pt x="447" y="4"/>
                </a:lnTo>
                <a:lnTo>
                  <a:pt x="431" y="1"/>
                </a:lnTo>
                <a:lnTo>
                  <a:pt x="414" y="0"/>
                </a:lnTo>
                <a:lnTo>
                  <a:pt x="153" y="0"/>
                </a:lnTo>
                <a:lnTo>
                  <a:pt x="133" y="1"/>
                </a:lnTo>
                <a:lnTo>
                  <a:pt x="118" y="4"/>
                </a:lnTo>
                <a:lnTo>
                  <a:pt x="106" y="10"/>
                </a:lnTo>
                <a:lnTo>
                  <a:pt x="96" y="19"/>
                </a:lnTo>
                <a:lnTo>
                  <a:pt x="95" y="19"/>
                </a:lnTo>
                <a:lnTo>
                  <a:pt x="93" y="21"/>
                </a:lnTo>
                <a:lnTo>
                  <a:pt x="0" y="115"/>
                </a:lnTo>
                <a:lnTo>
                  <a:pt x="10" y="107"/>
                </a:lnTo>
                <a:lnTo>
                  <a:pt x="23" y="101"/>
                </a:lnTo>
                <a:lnTo>
                  <a:pt x="38" y="98"/>
                </a:lnTo>
                <a:lnTo>
                  <a:pt x="56" y="97"/>
                </a:lnTo>
                <a:lnTo>
                  <a:pt x="317" y="97"/>
                </a:lnTo>
                <a:close/>
              </a:path>
            </a:pathLst>
          </a:custGeom>
          <a:solidFill>
            <a:srgbClr val="D2A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56" name="Freeform 432">
            <a:extLst>
              <a:ext uri="{FF2B5EF4-FFF2-40B4-BE49-F238E27FC236}">
                <a16:creationId xmlns:a16="http://schemas.microsoft.com/office/drawing/2014/main" id="{18BBF3F8-0B9F-D03C-06B1-D23B99B13E3B}"/>
              </a:ext>
            </a:extLst>
          </p:cNvPr>
          <p:cNvSpPr>
            <a:spLocks/>
          </p:cNvSpPr>
          <p:nvPr/>
        </p:nvSpPr>
        <p:spPr bwMode="auto">
          <a:xfrm>
            <a:off x="3398838" y="3095625"/>
            <a:ext cx="165100" cy="165100"/>
          </a:xfrm>
          <a:custGeom>
            <a:avLst/>
            <a:gdLst>
              <a:gd name="T0" fmla="*/ 416 w 416"/>
              <a:gd name="T1" fmla="*/ 77 h 415"/>
              <a:gd name="T2" fmla="*/ 414 w 416"/>
              <a:gd name="T3" fmla="*/ 58 h 415"/>
              <a:gd name="T4" fmla="*/ 411 w 416"/>
              <a:gd name="T5" fmla="*/ 43 h 415"/>
              <a:gd name="T6" fmla="*/ 407 w 416"/>
              <a:gd name="T7" fmla="*/ 35 h 415"/>
              <a:gd name="T8" fmla="*/ 405 w 416"/>
              <a:gd name="T9" fmla="*/ 29 h 415"/>
              <a:gd name="T10" fmla="*/ 397 w 416"/>
              <a:gd name="T11" fmla="*/ 19 h 415"/>
              <a:gd name="T12" fmla="*/ 390 w 416"/>
              <a:gd name="T13" fmla="*/ 13 h 415"/>
              <a:gd name="T14" fmla="*/ 384 w 416"/>
              <a:gd name="T15" fmla="*/ 10 h 415"/>
              <a:gd name="T16" fmla="*/ 372 w 416"/>
              <a:gd name="T17" fmla="*/ 4 h 415"/>
              <a:gd name="T18" fmla="*/ 356 w 416"/>
              <a:gd name="T19" fmla="*/ 1 h 415"/>
              <a:gd name="T20" fmla="*/ 339 w 416"/>
              <a:gd name="T21" fmla="*/ 0 h 415"/>
              <a:gd name="T22" fmla="*/ 78 w 416"/>
              <a:gd name="T23" fmla="*/ 0 h 415"/>
              <a:gd name="T24" fmla="*/ 60 w 416"/>
              <a:gd name="T25" fmla="*/ 1 h 415"/>
              <a:gd name="T26" fmla="*/ 45 w 416"/>
              <a:gd name="T27" fmla="*/ 4 h 415"/>
              <a:gd name="T28" fmla="*/ 32 w 416"/>
              <a:gd name="T29" fmla="*/ 10 h 415"/>
              <a:gd name="T30" fmla="*/ 22 w 416"/>
              <a:gd name="T31" fmla="*/ 18 h 415"/>
              <a:gd name="T32" fmla="*/ 20 w 416"/>
              <a:gd name="T33" fmla="*/ 19 h 415"/>
              <a:gd name="T34" fmla="*/ 19 w 416"/>
              <a:gd name="T35" fmla="*/ 20 h 415"/>
              <a:gd name="T36" fmla="*/ 11 w 416"/>
              <a:gd name="T37" fmla="*/ 30 h 415"/>
              <a:gd name="T38" fmla="*/ 5 w 416"/>
              <a:gd name="T39" fmla="*/ 43 h 415"/>
              <a:gd name="T40" fmla="*/ 1 w 416"/>
              <a:gd name="T41" fmla="*/ 58 h 415"/>
              <a:gd name="T42" fmla="*/ 0 w 416"/>
              <a:gd name="T43" fmla="*/ 77 h 415"/>
              <a:gd name="T44" fmla="*/ 0 w 416"/>
              <a:gd name="T45" fmla="*/ 338 h 415"/>
              <a:gd name="T46" fmla="*/ 1 w 416"/>
              <a:gd name="T47" fmla="*/ 355 h 415"/>
              <a:gd name="T48" fmla="*/ 5 w 416"/>
              <a:gd name="T49" fmla="*/ 371 h 415"/>
              <a:gd name="T50" fmla="*/ 11 w 416"/>
              <a:gd name="T51" fmla="*/ 384 h 415"/>
              <a:gd name="T52" fmla="*/ 14 w 416"/>
              <a:gd name="T53" fmla="*/ 389 h 415"/>
              <a:gd name="T54" fmla="*/ 20 w 416"/>
              <a:gd name="T55" fmla="*/ 396 h 415"/>
              <a:gd name="T56" fmla="*/ 30 w 416"/>
              <a:gd name="T57" fmla="*/ 404 h 415"/>
              <a:gd name="T58" fmla="*/ 36 w 416"/>
              <a:gd name="T59" fmla="*/ 406 h 415"/>
              <a:gd name="T60" fmla="*/ 44 w 416"/>
              <a:gd name="T61" fmla="*/ 410 h 415"/>
              <a:gd name="T62" fmla="*/ 58 w 416"/>
              <a:gd name="T63" fmla="*/ 413 h 415"/>
              <a:gd name="T64" fmla="*/ 78 w 416"/>
              <a:gd name="T65" fmla="*/ 415 h 415"/>
              <a:gd name="T66" fmla="*/ 339 w 416"/>
              <a:gd name="T67" fmla="*/ 415 h 415"/>
              <a:gd name="T68" fmla="*/ 341 w 416"/>
              <a:gd name="T69" fmla="*/ 414 h 415"/>
              <a:gd name="T70" fmla="*/ 344 w 416"/>
              <a:gd name="T71" fmla="*/ 414 h 415"/>
              <a:gd name="T72" fmla="*/ 351 w 416"/>
              <a:gd name="T73" fmla="*/ 414 h 415"/>
              <a:gd name="T74" fmla="*/ 354 w 416"/>
              <a:gd name="T75" fmla="*/ 413 h 415"/>
              <a:gd name="T76" fmla="*/ 357 w 416"/>
              <a:gd name="T77" fmla="*/ 413 h 415"/>
              <a:gd name="T78" fmla="*/ 364 w 416"/>
              <a:gd name="T79" fmla="*/ 413 h 415"/>
              <a:gd name="T80" fmla="*/ 375 w 416"/>
              <a:gd name="T81" fmla="*/ 410 h 415"/>
              <a:gd name="T82" fmla="*/ 380 w 416"/>
              <a:gd name="T83" fmla="*/ 407 h 415"/>
              <a:gd name="T84" fmla="*/ 382 w 416"/>
              <a:gd name="T85" fmla="*/ 406 h 415"/>
              <a:gd name="T86" fmla="*/ 385 w 416"/>
              <a:gd name="T87" fmla="*/ 406 h 415"/>
              <a:gd name="T88" fmla="*/ 397 w 416"/>
              <a:gd name="T89" fmla="*/ 396 h 415"/>
              <a:gd name="T90" fmla="*/ 401 w 416"/>
              <a:gd name="T91" fmla="*/ 390 h 415"/>
              <a:gd name="T92" fmla="*/ 404 w 416"/>
              <a:gd name="T93" fmla="*/ 387 h 415"/>
              <a:gd name="T94" fmla="*/ 407 w 416"/>
              <a:gd name="T95" fmla="*/ 385 h 415"/>
              <a:gd name="T96" fmla="*/ 407 w 416"/>
              <a:gd name="T97" fmla="*/ 381 h 415"/>
              <a:gd name="T98" fmla="*/ 408 w 416"/>
              <a:gd name="T99" fmla="*/ 379 h 415"/>
              <a:gd name="T100" fmla="*/ 411 w 416"/>
              <a:gd name="T101" fmla="*/ 374 h 415"/>
              <a:gd name="T102" fmla="*/ 414 w 416"/>
              <a:gd name="T103" fmla="*/ 363 h 415"/>
              <a:gd name="T104" fmla="*/ 414 w 416"/>
              <a:gd name="T105" fmla="*/ 356 h 415"/>
              <a:gd name="T106" fmla="*/ 414 w 416"/>
              <a:gd name="T107" fmla="*/ 353 h 415"/>
              <a:gd name="T108" fmla="*/ 415 w 416"/>
              <a:gd name="T109" fmla="*/ 350 h 415"/>
              <a:gd name="T110" fmla="*/ 415 w 416"/>
              <a:gd name="T111" fmla="*/ 344 h 415"/>
              <a:gd name="T112" fmla="*/ 415 w 416"/>
              <a:gd name="T113" fmla="*/ 340 h 415"/>
              <a:gd name="T114" fmla="*/ 416 w 416"/>
              <a:gd name="T115" fmla="*/ 338 h 415"/>
              <a:gd name="T116" fmla="*/ 416 w 416"/>
              <a:gd name="T117" fmla="*/ 77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6" h="415">
                <a:moveTo>
                  <a:pt x="416" y="77"/>
                </a:moveTo>
                <a:lnTo>
                  <a:pt x="414" y="58"/>
                </a:lnTo>
                <a:lnTo>
                  <a:pt x="411" y="43"/>
                </a:lnTo>
                <a:lnTo>
                  <a:pt x="407" y="35"/>
                </a:lnTo>
                <a:lnTo>
                  <a:pt x="405" y="29"/>
                </a:lnTo>
                <a:lnTo>
                  <a:pt x="397" y="19"/>
                </a:lnTo>
                <a:lnTo>
                  <a:pt x="390" y="13"/>
                </a:lnTo>
                <a:lnTo>
                  <a:pt x="384" y="10"/>
                </a:lnTo>
                <a:lnTo>
                  <a:pt x="372" y="4"/>
                </a:lnTo>
                <a:lnTo>
                  <a:pt x="356" y="1"/>
                </a:lnTo>
                <a:lnTo>
                  <a:pt x="339" y="0"/>
                </a:lnTo>
                <a:lnTo>
                  <a:pt x="78" y="0"/>
                </a:lnTo>
                <a:lnTo>
                  <a:pt x="60" y="1"/>
                </a:lnTo>
                <a:lnTo>
                  <a:pt x="45" y="4"/>
                </a:lnTo>
                <a:lnTo>
                  <a:pt x="32" y="10"/>
                </a:lnTo>
                <a:lnTo>
                  <a:pt x="22" y="18"/>
                </a:lnTo>
                <a:lnTo>
                  <a:pt x="20" y="19"/>
                </a:lnTo>
                <a:lnTo>
                  <a:pt x="19" y="20"/>
                </a:lnTo>
                <a:lnTo>
                  <a:pt x="11" y="30"/>
                </a:lnTo>
                <a:lnTo>
                  <a:pt x="5" y="43"/>
                </a:lnTo>
                <a:lnTo>
                  <a:pt x="1" y="58"/>
                </a:lnTo>
                <a:lnTo>
                  <a:pt x="0" y="77"/>
                </a:lnTo>
                <a:lnTo>
                  <a:pt x="0" y="338"/>
                </a:lnTo>
                <a:lnTo>
                  <a:pt x="1" y="355"/>
                </a:lnTo>
                <a:lnTo>
                  <a:pt x="5" y="371"/>
                </a:lnTo>
                <a:lnTo>
                  <a:pt x="11" y="384"/>
                </a:lnTo>
                <a:lnTo>
                  <a:pt x="14" y="389"/>
                </a:lnTo>
                <a:lnTo>
                  <a:pt x="20" y="396"/>
                </a:lnTo>
                <a:lnTo>
                  <a:pt x="30" y="404"/>
                </a:lnTo>
                <a:lnTo>
                  <a:pt x="36" y="406"/>
                </a:lnTo>
                <a:lnTo>
                  <a:pt x="44" y="410"/>
                </a:lnTo>
                <a:lnTo>
                  <a:pt x="58" y="413"/>
                </a:lnTo>
                <a:lnTo>
                  <a:pt x="78" y="415"/>
                </a:lnTo>
                <a:lnTo>
                  <a:pt x="339" y="415"/>
                </a:lnTo>
                <a:lnTo>
                  <a:pt x="341" y="414"/>
                </a:lnTo>
                <a:lnTo>
                  <a:pt x="344" y="414"/>
                </a:lnTo>
                <a:lnTo>
                  <a:pt x="351" y="414"/>
                </a:lnTo>
                <a:lnTo>
                  <a:pt x="354" y="413"/>
                </a:lnTo>
                <a:lnTo>
                  <a:pt x="357" y="413"/>
                </a:lnTo>
                <a:lnTo>
                  <a:pt x="364" y="413"/>
                </a:lnTo>
                <a:lnTo>
                  <a:pt x="375" y="410"/>
                </a:lnTo>
                <a:lnTo>
                  <a:pt x="380" y="407"/>
                </a:lnTo>
                <a:lnTo>
                  <a:pt x="382" y="406"/>
                </a:lnTo>
                <a:lnTo>
                  <a:pt x="385" y="406"/>
                </a:lnTo>
                <a:lnTo>
                  <a:pt x="397" y="396"/>
                </a:lnTo>
                <a:lnTo>
                  <a:pt x="401" y="390"/>
                </a:lnTo>
                <a:lnTo>
                  <a:pt x="404" y="387"/>
                </a:lnTo>
                <a:lnTo>
                  <a:pt x="407" y="385"/>
                </a:lnTo>
                <a:lnTo>
                  <a:pt x="407" y="381"/>
                </a:lnTo>
                <a:lnTo>
                  <a:pt x="408" y="379"/>
                </a:lnTo>
                <a:lnTo>
                  <a:pt x="411" y="374"/>
                </a:lnTo>
                <a:lnTo>
                  <a:pt x="414" y="363"/>
                </a:lnTo>
                <a:lnTo>
                  <a:pt x="414" y="356"/>
                </a:lnTo>
                <a:lnTo>
                  <a:pt x="414" y="353"/>
                </a:lnTo>
                <a:lnTo>
                  <a:pt x="415" y="350"/>
                </a:lnTo>
                <a:lnTo>
                  <a:pt x="415" y="344"/>
                </a:lnTo>
                <a:lnTo>
                  <a:pt x="415" y="340"/>
                </a:lnTo>
                <a:lnTo>
                  <a:pt x="416" y="338"/>
                </a:lnTo>
                <a:lnTo>
                  <a:pt x="416" y="77"/>
                </a:lnTo>
                <a:close/>
              </a:path>
            </a:pathLst>
          </a:custGeom>
          <a:solidFill>
            <a:srgbClr val="B49200"/>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57" name="Freeform 433">
            <a:extLst>
              <a:ext uri="{FF2B5EF4-FFF2-40B4-BE49-F238E27FC236}">
                <a16:creationId xmlns:a16="http://schemas.microsoft.com/office/drawing/2014/main" id="{D384425F-37BD-620F-DAF4-5B899BB38994}"/>
              </a:ext>
            </a:extLst>
          </p:cNvPr>
          <p:cNvSpPr>
            <a:spLocks/>
          </p:cNvSpPr>
          <p:nvPr/>
        </p:nvSpPr>
        <p:spPr bwMode="auto">
          <a:xfrm>
            <a:off x="3406775" y="3057525"/>
            <a:ext cx="195263" cy="190500"/>
          </a:xfrm>
          <a:custGeom>
            <a:avLst/>
            <a:gdLst>
              <a:gd name="T0" fmla="*/ 0 w 491"/>
              <a:gd name="T1" fmla="*/ 115 h 482"/>
              <a:gd name="T2" fmla="*/ 93 w 491"/>
              <a:gd name="T3" fmla="*/ 21 h 482"/>
              <a:gd name="T4" fmla="*/ 95 w 491"/>
              <a:gd name="T5" fmla="*/ 19 h 482"/>
              <a:gd name="T6" fmla="*/ 96 w 491"/>
              <a:gd name="T7" fmla="*/ 19 h 482"/>
              <a:gd name="T8" fmla="*/ 106 w 491"/>
              <a:gd name="T9" fmla="*/ 10 h 482"/>
              <a:gd name="T10" fmla="*/ 118 w 491"/>
              <a:gd name="T11" fmla="*/ 4 h 482"/>
              <a:gd name="T12" fmla="*/ 133 w 491"/>
              <a:gd name="T13" fmla="*/ 1 h 482"/>
              <a:gd name="T14" fmla="*/ 153 w 491"/>
              <a:gd name="T15" fmla="*/ 0 h 482"/>
              <a:gd name="T16" fmla="*/ 414 w 491"/>
              <a:gd name="T17" fmla="*/ 0 h 482"/>
              <a:gd name="T18" fmla="*/ 431 w 491"/>
              <a:gd name="T19" fmla="*/ 1 h 482"/>
              <a:gd name="T20" fmla="*/ 447 w 491"/>
              <a:gd name="T21" fmla="*/ 4 h 482"/>
              <a:gd name="T22" fmla="*/ 459 w 491"/>
              <a:gd name="T23" fmla="*/ 10 h 482"/>
              <a:gd name="T24" fmla="*/ 465 w 491"/>
              <a:gd name="T25" fmla="*/ 13 h 482"/>
              <a:gd name="T26" fmla="*/ 472 w 491"/>
              <a:gd name="T27" fmla="*/ 19 h 482"/>
              <a:gd name="T28" fmla="*/ 480 w 491"/>
              <a:gd name="T29" fmla="*/ 29 h 482"/>
              <a:gd name="T30" fmla="*/ 482 w 491"/>
              <a:gd name="T31" fmla="*/ 35 h 482"/>
              <a:gd name="T32" fmla="*/ 485 w 491"/>
              <a:gd name="T33" fmla="*/ 43 h 482"/>
              <a:gd name="T34" fmla="*/ 489 w 491"/>
              <a:gd name="T35" fmla="*/ 58 h 482"/>
              <a:gd name="T36" fmla="*/ 491 w 491"/>
              <a:gd name="T37" fmla="*/ 77 h 482"/>
              <a:gd name="T38" fmla="*/ 491 w 491"/>
              <a:gd name="T39" fmla="*/ 338 h 482"/>
              <a:gd name="T40" fmla="*/ 490 w 491"/>
              <a:gd name="T41" fmla="*/ 343 h 482"/>
              <a:gd name="T42" fmla="*/ 490 w 491"/>
              <a:gd name="T43" fmla="*/ 348 h 482"/>
              <a:gd name="T44" fmla="*/ 489 w 491"/>
              <a:gd name="T45" fmla="*/ 353 h 482"/>
              <a:gd name="T46" fmla="*/ 489 w 491"/>
              <a:gd name="T47" fmla="*/ 359 h 482"/>
              <a:gd name="T48" fmla="*/ 487 w 491"/>
              <a:gd name="T49" fmla="*/ 368 h 482"/>
              <a:gd name="T50" fmla="*/ 485 w 491"/>
              <a:gd name="T51" fmla="*/ 377 h 482"/>
              <a:gd name="T52" fmla="*/ 482 w 491"/>
              <a:gd name="T53" fmla="*/ 385 h 482"/>
              <a:gd name="T54" fmla="*/ 479 w 491"/>
              <a:gd name="T55" fmla="*/ 387 h 482"/>
              <a:gd name="T56" fmla="*/ 476 w 491"/>
              <a:gd name="T57" fmla="*/ 391 h 482"/>
              <a:gd name="T58" fmla="*/ 472 w 491"/>
              <a:gd name="T59" fmla="*/ 396 h 482"/>
              <a:gd name="T60" fmla="*/ 460 w 491"/>
              <a:gd name="T61" fmla="*/ 406 h 482"/>
              <a:gd name="T62" fmla="*/ 385 w 491"/>
              <a:gd name="T63" fmla="*/ 482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1" h="482">
                <a:moveTo>
                  <a:pt x="0" y="115"/>
                </a:moveTo>
                <a:lnTo>
                  <a:pt x="93" y="21"/>
                </a:lnTo>
                <a:lnTo>
                  <a:pt x="95" y="19"/>
                </a:lnTo>
                <a:lnTo>
                  <a:pt x="96" y="19"/>
                </a:lnTo>
                <a:lnTo>
                  <a:pt x="106" y="10"/>
                </a:lnTo>
                <a:lnTo>
                  <a:pt x="118" y="4"/>
                </a:lnTo>
                <a:lnTo>
                  <a:pt x="133" y="1"/>
                </a:lnTo>
                <a:lnTo>
                  <a:pt x="153" y="0"/>
                </a:lnTo>
                <a:lnTo>
                  <a:pt x="414" y="0"/>
                </a:lnTo>
                <a:lnTo>
                  <a:pt x="431" y="1"/>
                </a:lnTo>
                <a:lnTo>
                  <a:pt x="447" y="4"/>
                </a:lnTo>
                <a:lnTo>
                  <a:pt x="459" y="10"/>
                </a:lnTo>
                <a:lnTo>
                  <a:pt x="465" y="13"/>
                </a:lnTo>
                <a:lnTo>
                  <a:pt x="472" y="19"/>
                </a:lnTo>
                <a:lnTo>
                  <a:pt x="480" y="29"/>
                </a:lnTo>
                <a:lnTo>
                  <a:pt x="482" y="35"/>
                </a:lnTo>
                <a:lnTo>
                  <a:pt x="485" y="43"/>
                </a:lnTo>
                <a:lnTo>
                  <a:pt x="489" y="58"/>
                </a:lnTo>
                <a:lnTo>
                  <a:pt x="491" y="77"/>
                </a:lnTo>
                <a:lnTo>
                  <a:pt x="491" y="338"/>
                </a:lnTo>
                <a:lnTo>
                  <a:pt x="490" y="343"/>
                </a:lnTo>
                <a:lnTo>
                  <a:pt x="490" y="348"/>
                </a:lnTo>
                <a:lnTo>
                  <a:pt x="489" y="353"/>
                </a:lnTo>
                <a:lnTo>
                  <a:pt x="489" y="359"/>
                </a:lnTo>
                <a:lnTo>
                  <a:pt x="487" y="368"/>
                </a:lnTo>
                <a:lnTo>
                  <a:pt x="485" y="377"/>
                </a:lnTo>
                <a:lnTo>
                  <a:pt x="482" y="385"/>
                </a:lnTo>
                <a:lnTo>
                  <a:pt x="479" y="387"/>
                </a:lnTo>
                <a:lnTo>
                  <a:pt x="476" y="391"/>
                </a:lnTo>
                <a:lnTo>
                  <a:pt x="472" y="396"/>
                </a:lnTo>
                <a:lnTo>
                  <a:pt x="460" y="406"/>
                </a:lnTo>
                <a:lnTo>
                  <a:pt x="385" y="482"/>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58" name="Freeform 434">
            <a:extLst>
              <a:ext uri="{FF2B5EF4-FFF2-40B4-BE49-F238E27FC236}">
                <a16:creationId xmlns:a16="http://schemas.microsoft.com/office/drawing/2014/main" id="{A45C3442-4838-8F73-77EE-97202170F40B}"/>
              </a:ext>
            </a:extLst>
          </p:cNvPr>
          <p:cNvSpPr>
            <a:spLocks/>
          </p:cNvSpPr>
          <p:nvPr/>
        </p:nvSpPr>
        <p:spPr bwMode="auto">
          <a:xfrm>
            <a:off x="3398838" y="3098800"/>
            <a:ext cx="160337" cy="158750"/>
          </a:xfrm>
          <a:custGeom>
            <a:avLst/>
            <a:gdLst>
              <a:gd name="T0" fmla="*/ 407 w 407"/>
              <a:gd name="T1" fmla="*/ 367 h 397"/>
              <a:gd name="T2" fmla="*/ 404 w 407"/>
              <a:gd name="T3" fmla="*/ 369 h 397"/>
              <a:gd name="T4" fmla="*/ 401 w 407"/>
              <a:gd name="T5" fmla="*/ 372 h 397"/>
              <a:gd name="T6" fmla="*/ 397 w 407"/>
              <a:gd name="T7" fmla="*/ 378 h 397"/>
              <a:gd name="T8" fmla="*/ 385 w 407"/>
              <a:gd name="T9" fmla="*/ 388 h 397"/>
              <a:gd name="T10" fmla="*/ 382 w 407"/>
              <a:gd name="T11" fmla="*/ 388 h 397"/>
              <a:gd name="T12" fmla="*/ 380 w 407"/>
              <a:gd name="T13" fmla="*/ 389 h 397"/>
              <a:gd name="T14" fmla="*/ 375 w 407"/>
              <a:gd name="T15" fmla="*/ 392 h 397"/>
              <a:gd name="T16" fmla="*/ 364 w 407"/>
              <a:gd name="T17" fmla="*/ 395 h 397"/>
              <a:gd name="T18" fmla="*/ 357 w 407"/>
              <a:gd name="T19" fmla="*/ 395 h 397"/>
              <a:gd name="T20" fmla="*/ 354 w 407"/>
              <a:gd name="T21" fmla="*/ 395 h 397"/>
              <a:gd name="T22" fmla="*/ 351 w 407"/>
              <a:gd name="T23" fmla="*/ 396 h 397"/>
              <a:gd name="T24" fmla="*/ 344 w 407"/>
              <a:gd name="T25" fmla="*/ 396 h 397"/>
              <a:gd name="T26" fmla="*/ 341 w 407"/>
              <a:gd name="T27" fmla="*/ 396 h 397"/>
              <a:gd name="T28" fmla="*/ 339 w 407"/>
              <a:gd name="T29" fmla="*/ 397 h 397"/>
              <a:gd name="T30" fmla="*/ 78 w 407"/>
              <a:gd name="T31" fmla="*/ 397 h 397"/>
              <a:gd name="T32" fmla="*/ 58 w 407"/>
              <a:gd name="T33" fmla="*/ 395 h 397"/>
              <a:gd name="T34" fmla="*/ 44 w 407"/>
              <a:gd name="T35" fmla="*/ 392 h 397"/>
              <a:gd name="T36" fmla="*/ 36 w 407"/>
              <a:gd name="T37" fmla="*/ 388 h 397"/>
              <a:gd name="T38" fmla="*/ 30 w 407"/>
              <a:gd name="T39" fmla="*/ 386 h 397"/>
              <a:gd name="T40" fmla="*/ 20 w 407"/>
              <a:gd name="T41" fmla="*/ 378 h 397"/>
              <a:gd name="T42" fmla="*/ 14 w 407"/>
              <a:gd name="T43" fmla="*/ 371 h 397"/>
              <a:gd name="T44" fmla="*/ 11 w 407"/>
              <a:gd name="T45" fmla="*/ 366 h 397"/>
              <a:gd name="T46" fmla="*/ 5 w 407"/>
              <a:gd name="T47" fmla="*/ 353 h 397"/>
              <a:gd name="T48" fmla="*/ 1 w 407"/>
              <a:gd name="T49" fmla="*/ 337 h 397"/>
              <a:gd name="T50" fmla="*/ 0 w 407"/>
              <a:gd name="T51" fmla="*/ 320 h 397"/>
              <a:gd name="T52" fmla="*/ 0 w 407"/>
              <a:gd name="T53" fmla="*/ 59 h 397"/>
              <a:gd name="T54" fmla="*/ 1 w 407"/>
              <a:gd name="T55" fmla="*/ 40 h 397"/>
              <a:gd name="T56" fmla="*/ 5 w 407"/>
              <a:gd name="T57" fmla="*/ 25 h 397"/>
              <a:gd name="T58" fmla="*/ 11 w 407"/>
              <a:gd name="T59" fmla="*/ 12 h 397"/>
              <a:gd name="T60" fmla="*/ 19 w 407"/>
              <a:gd name="T61" fmla="*/ 2 h 397"/>
              <a:gd name="T62" fmla="*/ 20 w 407"/>
              <a:gd name="T63" fmla="*/ 1 h 397"/>
              <a:gd name="T64" fmla="*/ 22 w 407"/>
              <a:gd name="T65" fmla="*/ 0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7" h="397">
                <a:moveTo>
                  <a:pt x="407" y="367"/>
                </a:moveTo>
                <a:lnTo>
                  <a:pt x="404" y="369"/>
                </a:lnTo>
                <a:lnTo>
                  <a:pt x="401" y="372"/>
                </a:lnTo>
                <a:lnTo>
                  <a:pt x="397" y="378"/>
                </a:lnTo>
                <a:lnTo>
                  <a:pt x="385" y="388"/>
                </a:lnTo>
                <a:lnTo>
                  <a:pt x="382" y="388"/>
                </a:lnTo>
                <a:lnTo>
                  <a:pt x="380" y="389"/>
                </a:lnTo>
                <a:lnTo>
                  <a:pt x="375" y="392"/>
                </a:lnTo>
                <a:lnTo>
                  <a:pt x="364" y="395"/>
                </a:lnTo>
                <a:lnTo>
                  <a:pt x="357" y="395"/>
                </a:lnTo>
                <a:lnTo>
                  <a:pt x="354" y="395"/>
                </a:lnTo>
                <a:lnTo>
                  <a:pt x="351" y="396"/>
                </a:lnTo>
                <a:lnTo>
                  <a:pt x="344" y="396"/>
                </a:lnTo>
                <a:lnTo>
                  <a:pt x="341" y="396"/>
                </a:lnTo>
                <a:lnTo>
                  <a:pt x="339" y="397"/>
                </a:lnTo>
                <a:lnTo>
                  <a:pt x="78" y="397"/>
                </a:lnTo>
                <a:lnTo>
                  <a:pt x="58" y="395"/>
                </a:lnTo>
                <a:lnTo>
                  <a:pt x="44" y="392"/>
                </a:lnTo>
                <a:lnTo>
                  <a:pt x="36" y="388"/>
                </a:lnTo>
                <a:lnTo>
                  <a:pt x="30" y="386"/>
                </a:lnTo>
                <a:lnTo>
                  <a:pt x="20" y="378"/>
                </a:lnTo>
                <a:lnTo>
                  <a:pt x="14" y="371"/>
                </a:lnTo>
                <a:lnTo>
                  <a:pt x="11" y="366"/>
                </a:lnTo>
                <a:lnTo>
                  <a:pt x="5" y="353"/>
                </a:lnTo>
                <a:lnTo>
                  <a:pt x="1" y="337"/>
                </a:lnTo>
                <a:lnTo>
                  <a:pt x="0" y="320"/>
                </a:lnTo>
                <a:lnTo>
                  <a:pt x="0" y="59"/>
                </a:lnTo>
                <a:lnTo>
                  <a:pt x="1" y="40"/>
                </a:lnTo>
                <a:lnTo>
                  <a:pt x="5" y="25"/>
                </a:lnTo>
                <a:lnTo>
                  <a:pt x="11" y="12"/>
                </a:lnTo>
                <a:lnTo>
                  <a:pt x="19" y="2"/>
                </a:lnTo>
                <a:lnTo>
                  <a:pt x="20" y="1"/>
                </a:lnTo>
                <a:lnTo>
                  <a:pt x="2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59" name="Freeform 435">
            <a:extLst>
              <a:ext uri="{FF2B5EF4-FFF2-40B4-BE49-F238E27FC236}">
                <a16:creationId xmlns:a16="http://schemas.microsoft.com/office/drawing/2014/main" id="{E2087F21-21FB-1725-C0DD-950886D9B48F}"/>
              </a:ext>
            </a:extLst>
          </p:cNvPr>
          <p:cNvSpPr>
            <a:spLocks/>
          </p:cNvSpPr>
          <p:nvPr/>
        </p:nvSpPr>
        <p:spPr bwMode="auto">
          <a:xfrm>
            <a:off x="3406775" y="3095625"/>
            <a:ext cx="157163" cy="152400"/>
          </a:xfrm>
          <a:custGeom>
            <a:avLst/>
            <a:gdLst>
              <a:gd name="T0" fmla="*/ 385 w 394"/>
              <a:gd name="T1" fmla="*/ 385 h 385"/>
              <a:gd name="T2" fmla="*/ 385 w 394"/>
              <a:gd name="T3" fmla="*/ 381 h 385"/>
              <a:gd name="T4" fmla="*/ 386 w 394"/>
              <a:gd name="T5" fmla="*/ 379 h 385"/>
              <a:gd name="T6" fmla="*/ 389 w 394"/>
              <a:gd name="T7" fmla="*/ 374 h 385"/>
              <a:gd name="T8" fmla="*/ 392 w 394"/>
              <a:gd name="T9" fmla="*/ 363 h 385"/>
              <a:gd name="T10" fmla="*/ 392 w 394"/>
              <a:gd name="T11" fmla="*/ 356 h 385"/>
              <a:gd name="T12" fmla="*/ 392 w 394"/>
              <a:gd name="T13" fmla="*/ 353 h 385"/>
              <a:gd name="T14" fmla="*/ 393 w 394"/>
              <a:gd name="T15" fmla="*/ 350 h 385"/>
              <a:gd name="T16" fmla="*/ 393 w 394"/>
              <a:gd name="T17" fmla="*/ 344 h 385"/>
              <a:gd name="T18" fmla="*/ 393 w 394"/>
              <a:gd name="T19" fmla="*/ 340 h 385"/>
              <a:gd name="T20" fmla="*/ 394 w 394"/>
              <a:gd name="T21" fmla="*/ 338 h 385"/>
              <a:gd name="T22" fmla="*/ 394 w 394"/>
              <a:gd name="T23" fmla="*/ 77 h 385"/>
              <a:gd name="T24" fmla="*/ 392 w 394"/>
              <a:gd name="T25" fmla="*/ 58 h 385"/>
              <a:gd name="T26" fmla="*/ 389 w 394"/>
              <a:gd name="T27" fmla="*/ 43 h 385"/>
              <a:gd name="T28" fmla="*/ 385 w 394"/>
              <a:gd name="T29" fmla="*/ 35 h 385"/>
              <a:gd name="T30" fmla="*/ 383 w 394"/>
              <a:gd name="T31" fmla="*/ 29 h 385"/>
              <a:gd name="T32" fmla="*/ 375 w 394"/>
              <a:gd name="T33" fmla="*/ 19 h 385"/>
              <a:gd name="T34" fmla="*/ 368 w 394"/>
              <a:gd name="T35" fmla="*/ 13 h 385"/>
              <a:gd name="T36" fmla="*/ 362 w 394"/>
              <a:gd name="T37" fmla="*/ 10 h 385"/>
              <a:gd name="T38" fmla="*/ 350 w 394"/>
              <a:gd name="T39" fmla="*/ 4 h 385"/>
              <a:gd name="T40" fmla="*/ 334 w 394"/>
              <a:gd name="T41" fmla="*/ 1 h 385"/>
              <a:gd name="T42" fmla="*/ 317 w 394"/>
              <a:gd name="T43" fmla="*/ 0 h 385"/>
              <a:gd name="T44" fmla="*/ 56 w 394"/>
              <a:gd name="T45" fmla="*/ 0 h 385"/>
              <a:gd name="T46" fmla="*/ 38 w 394"/>
              <a:gd name="T47" fmla="*/ 1 h 385"/>
              <a:gd name="T48" fmla="*/ 23 w 394"/>
              <a:gd name="T49" fmla="*/ 4 h 385"/>
              <a:gd name="T50" fmla="*/ 10 w 394"/>
              <a:gd name="T51" fmla="*/ 10 h 385"/>
              <a:gd name="T52" fmla="*/ 0 w 394"/>
              <a:gd name="T53" fmla="*/ 18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94" h="385">
                <a:moveTo>
                  <a:pt x="385" y="385"/>
                </a:moveTo>
                <a:lnTo>
                  <a:pt x="385" y="381"/>
                </a:lnTo>
                <a:lnTo>
                  <a:pt x="386" y="379"/>
                </a:lnTo>
                <a:lnTo>
                  <a:pt x="389" y="374"/>
                </a:lnTo>
                <a:lnTo>
                  <a:pt x="392" y="363"/>
                </a:lnTo>
                <a:lnTo>
                  <a:pt x="392" y="356"/>
                </a:lnTo>
                <a:lnTo>
                  <a:pt x="392" y="353"/>
                </a:lnTo>
                <a:lnTo>
                  <a:pt x="393" y="350"/>
                </a:lnTo>
                <a:lnTo>
                  <a:pt x="393" y="344"/>
                </a:lnTo>
                <a:lnTo>
                  <a:pt x="393" y="340"/>
                </a:lnTo>
                <a:lnTo>
                  <a:pt x="394" y="338"/>
                </a:lnTo>
                <a:lnTo>
                  <a:pt x="394" y="77"/>
                </a:lnTo>
                <a:lnTo>
                  <a:pt x="392" y="58"/>
                </a:lnTo>
                <a:lnTo>
                  <a:pt x="389" y="43"/>
                </a:lnTo>
                <a:lnTo>
                  <a:pt x="385" y="35"/>
                </a:lnTo>
                <a:lnTo>
                  <a:pt x="383" y="29"/>
                </a:lnTo>
                <a:lnTo>
                  <a:pt x="375" y="19"/>
                </a:lnTo>
                <a:lnTo>
                  <a:pt x="368" y="13"/>
                </a:lnTo>
                <a:lnTo>
                  <a:pt x="362" y="10"/>
                </a:lnTo>
                <a:lnTo>
                  <a:pt x="350" y="4"/>
                </a:lnTo>
                <a:lnTo>
                  <a:pt x="334" y="1"/>
                </a:lnTo>
                <a:lnTo>
                  <a:pt x="317" y="0"/>
                </a:lnTo>
                <a:lnTo>
                  <a:pt x="56" y="0"/>
                </a:lnTo>
                <a:lnTo>
                  <a:pt x="38" y="1"/>
                </a:lnTo>
                <a:lnTo>
                  <a:pt x="23" y="4"/>
                </a:lnTo>
                <a:lnTo>
                  <a:pt x="10" y="10"/>
                </a:lnTo>
                <a:lnTo>
                  <a:pt x="0" y="18"/>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60" name="Freeform 436">
            <a:extLst>
              <a:ext uri="{FF2B5EF4-FFF2-40B4-BE49-F238E27FC236}">
                <a16:creationId xmlns:a16="http://schemas.microsoft.com/office/drawing/2014/main" id="{BB9F941E-798E-8464-2E44-48E330D664E0}"/>
              </a:ext>
            </a:extLst>
          </p:cNvPr>
          <p:cNvSpPr>
            <a:spLocks/>
          </p:cNvSpPr>
          <p:nvPr/>
        </p:nvSpPr>
        <p:spPr bwMode="auto">
          <a:xfrm>
            <a:off x="3406775" y="3346450"/>
            <a:ext cx="195263" cy="190500"/>
          </a:xfrm>
          <a:custGeom>
            <a:avLst/>
            <a:gdLst>
              <a:gd name="T0" fmla="*/ 414 w 491"/>
              <a:gd name="T1" fmla="*/ 0 h 482"/>
              <a:gd name="T2" fmla="*/ 153 w 491"/>
              <a:gd name="T3" fmla="*/ 0 h 482"/>
              <a:gd name="T4" fmla="*/ 133 w 491"/>
              <a:gd name="T5" fmla="*/ 1 h 482"/>
              <a:gd name="T6" fmla="*/ 118 w 491"/>
              <a:gd name="T7" fmla="*/ 4 h 482"/>
              <a:gd name="T8" fmla="*/ 106 w 491"/>
              <a:gd name="T9" fmla="*/ 10 h 482"/>
              <a:gd name="T10" fmla="*/ 96 w 491"/>
              <a:gd name="T11" fmla="*/ 19 h 482"/>
              <a:gd name="T12" fmla="*/ 95 w 491"/>
              <a:gd name="T13" fmla="*/ 19 h 482"/>
              <a:gd name="T14" fmla="*/ 93 w 491"/>
              <a:gd name="T15" fmla="*/ 22 h 482"/>
              <a:gd name="T16" fmla="*/ 0 w 491"/>
              <a:gd name="T17" fmla="*/ 115 h 482"/>
              <a:gd name="T18" fmla="*/ 10 w 491"/>
              <a:gd name="T19" fmla="*/ 107 h 482"/>
              <a:gd name="T20" fmla="*/ 23 w 491"/>
              <a:gd name="T21" fmla="*/ 101 h 482"/>
              <a:gd name="T22" fmla="*/ 38 w 491"/>
              <a:gd name="T23" fmla="*/ 98 h 482"/>
              <a:gd name="T24" fmla="*/ 56 w 491"/>
              <a:gd name="T25" fmla="*/ 97 h 482"/>
              <a:gd name="T26" fmla="*/ 317 w 491"/>
              <a:gd name="T27" fmla="*/ 97 h 482"/>
              <a:gd name="T28" fmla="*/ 334 w 491"/>
              <a:gd name="T29" fmla="*/ 98 h 482"/>
              <a:gd name="T30" fmla="*/ 350 w 491"/>
              <a:gd name="T31" fmla="*/ 101 h 482"/>
              <a:gd name="T32" fmla="*/ 362 w 491"/>
              <a:gd name="T33" fmla="*/ 107 h 482"/>
              <a:gd name="T34" fmla="*/ 368 w 491"/>
              <a:gd name="T35" fmla="*/ 110 h 482"/>
              <a:gd name="T36" fmla="*/ 375 w 491"/>
              <a:gd name="T37" fmla="*/ 116 h 482"/>
              <a:gd name="T38" fmla="*/ 383 w 491"/>
              <a:gd name="T39" fmla="*/ 126 h 482"/>
              <a:gd name="T40" fmla="*/ 385 w 491"/>
              <a:gd name="T41" fmla="*/ 132 h 482"/>
              <a:gd name="T42" fmla="*/ 389 w 491"/>
              <a:gd name="T43" fmla="*/ 140 h 482"/>
              <a:gd name="T44" fmla="*/ 392 w 491"/>
              <a:gd name="T45" fmla="*/ 155 h 482"/>
              <a:gd name="T46" fmla="*/ 394 w 491"/>
              <a:gd name="T47" fmla="*/ 174 h 482"/>
              <a:gd name="T48" fmla="*/ 394 w 491"/>
              <a:gd name="T49" fmla="*/ 435 h 482"/>
              <a:gd name="T50" fmla="*/ 393 w 491"/>
              <a:gd name="T51" fmla="*/ 437 h 482"/>
              <a:gd name="T52" fmla="*/ 393 w 491"/>
              <a:gd name="T53" fmla="*/ 441 h 482"/>
              <a:gd name="T54" fmla="*/ 393 w 491"/>
              <a:gd name="T55" fmla="*/ 448 h 482"/>
              <a:gd name="T56" fmla="*/ 392 w 491"/>
              <a:gd name="T57" fmla="*/ 450 h 482"/>
              <a:gd name="T58" fmla="*/ 392 w 491"/>
              <a:gd name="T59" fmla="*/ 453 h 482"/>
              <a:gd name="T60" fmla="*/ 392 w 491"/>
              <a:gd name="T61" fmla="*/ 460 h 482"/>
              <a:gd name="T62" fmla="*/ 389 w 491"/>
              <a:gd name="T63" fmla="*/ 472 h 482"/>
              <a:gd name="T64" fmla="*/ 386 w 491"/>
              <a:gd name="T65" fmla="*/ 476 h 482"/>
              <a:gd name="T66" fmla="*/ 385 w 491"/>
              <a:gd name="T67" fmla="*/ 478 h 482"/>
              <a:gd name="T68" fmla="*/ 385 w 491"/>
              <a:gd name="T69" fmla="*/ 482 h 482"/>
              <a:gd name="T70" fmla="*/ 460 w 491"/>
              <a:gd name="T71" fmla="*/ 407 h 482"/>
              <a:gd name="T72" fmla="*/ 472 w 491"/>
              <a:gd name="T73" fmla="*/ 396 h 482"/>
              <a:gd name="T74" fmla="*/ 476 w 491"/>
              <a:gd name="T75" fmla="*/ 391 h 482"/>
              <a:gd name="T76" fmla="*/ 479 w 491"/>
              <a:gd name="T77" fmla="*/ 387 h 482"/>
              <a:gd name="T78" fmla="*/ 482 w 491"/>
              <a:gd name="T79" fmla="*/ 385 h 482"/>
              <a:gd name="T80" fmla="*/ 485 w 491"/>
              <a:gd name="T81" fmla="*/ 377 h 482"/>
              <a:gd name="T82" fmla="*/ 487 w 491"/>
              <a:gd name="T83" fmla="*/ 368 h 482"/>
              <a:gd name="T84" fmla="*/ 489 w 491"/>
              <a:gd name="T85" fmla="*/ 359 h 482"/>
              <a:gd name="T86" fmla="*/ 489 w 491"/>
              <a:gd name="T87" fmla="*/ 353 h 482"/>
              <a:gd name="T88" fmla="*/ 490 w 491"/>
              <a:gd name="T89" fmla="*/ 349 h 482"/>
              <a:gd name="T90" fmla="*/ 490 w 491"/>
              <a:gd name="T91" fmla="*/ 343 h 482"/>
              <a:gd name="T92" fmla="*/ 491 w 491"/>
              <a:gd name="T93" fmla="*/ 338 h 482"/>
              <a:gd name="T94" fmla="*/ 491 w 491"/>
              <a:gd name="T95" fmla="*/ 77 h 482"/>
              <a:gd name="T96" fmla="*/ 489 w 491"/>
              <a:gd name="T97" fmla="*/ 58 h 482"/>
              <a:gd name="T98" fmla="*/ 485 w 491"/>
              <a:gd name="T99" fmla="*/ 43 h 482"/>
              <a:gd name="T100" fmla="*/ 482 w 491"/>
              <a:gd name="T101" fmla="*/ 35 h 482"/>
              <a:gd name="T102" fmla="*/ 480 w 491"/>
              <a:gd name="T103" fmla="*/ 30 h 482"/>
              <a:gd name="T104" fmla="*/ 472 w 491"/>
              <a:gd name="T105" fmla="*/ 19 h 482"/>
              <a:gd name="T106" fmla="*/ 465 w 491"/>
              <a:gd name="T107" fmla="*/ 14 h 482"/>
              <a:gd name="T108" fmla="*/ 459 w 491"/>
              <a:gd name="T109" fmla="*/ 10 h 482"/>
              <a:gd name="T110" fmla="*/ 447 w 491"/>
              <a:gd name="T111" fmla="*/ 4 h 482"/>
              <a:gd name="T112" fmla="*/ 431 w 491"/>
              <a:gd name="T113" fmla="*/ 1 h 482"/>
              <a:gd name="T114" fmla="*/ 414 w 491"/>
              <a:gd name="T115"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1" h="482">
                <a:moveTo>
                  <a:pt x="414" y="0"/>
                </a:moveTo>
                <a:lnTo>
                  <a:pt x="153" y="0"/>
                </a:lnTo>
                <a:lnTo>
                  <a:pt x="133" y="1"/>
                </a:lnTo>
                <a:lnTo>
                  <a:pt x="118" y="4"/>
                </a:lnTo>
                <a:lnTo>
                  <a:pt x="106" y="10"/>
                </a:lnTo>
                <a:lnTo>
                  <a:pt x="96" y="19"/>
                </a:lnTo>
                <a:lnTo>
                  <a:pt x="95" y="19"/>
                </a:lnTo>
                <a:lnTo>
                  <a:pt x="93" y="22"/>
                </a:lnTo>
                <a:lnTo>
                  <a:pt x="0" y="115"/>
                </a:lnTo>
                <a:lnTo>
                  <a:pt x="10" y="107"/>
                </a:lnTo>
                <a:lnTo>
                  <a:pt x="23" y="101"/>
                </a:lnTo>
                <a:lnTo>
                  <a:pt x="38" y="98"/>
                </a:lnTo>
                <a:lnTo>
                  <a:pt x="56" y="97"/>
                </a:lnTo>
                <a:lnTo>
                  <a:pt x="317" y="97"/>
                </a:lnTo>
                <a:lnTo>
                  <a:pt x="334" y="98"/>
                </a:lnTo>
                <a:lnTo>
                  <a:pt x="350" y="101"/>
                </a:lnTo>
                <a:lnTo>
                  <a:pt x="362" y="107"/>
                </a:lnTo>
                <a:lnTo>
                  <a:pt x="368" y="110"/>
                </a:lnTo>
                <a:lnTo>
                  <a:pt x="375" y="116"/>
                </a:lnTo>
                <a:lnTo>
                  <a:pt x="383" y="126"/>
                </a:lnTo>
                <a:lnTo>
                  <a:pt x="385" y="132"/>
                </a:lnTo>
                <a:lnTo>
                  <a:pt x="389" y="140"/>
                </a:lnTo>
                <a:lnTo>
                  <a:pt x="392" y="155"/>
                </a:lnTo>
                <a:lnTo>
                  <a:pt x="394" y="174"/>
                </a:lnTo>
                <a:lnTo>
                  <a:pt x="394" y="435"/>
                </a:lnTo>
                <a:lnTo>
                  <a:pt x="393" y="437"/>
                </a:lnTo>
                <a:lnTo>
                  <a:pt x="393" y="441"/>
                </a:lnTo>
                <a:lnTo>
                  <a:pt x="393" y="448"/>
                </a:lnTo>
                <a:lnTo>
                  <a:pt x="392" y="450"/>
                </a:lnTo>
                <a:lnTo>
                  <a:pt x="392" y="453"/>
                </a:lnTo>
                <a:lnTo>
                  <a:pt x="392" y="460"/>
                </a:lnTo>
                <a:lnTo>
                  <a:pt x="389" y="472"/>
                </a:lnTo>
                <a:lnTo>
                  <a:pt x="386" y="476"/>
                </a:lnTo>
                <a:lnTo>
                  <a:pt x="385" y="478"/>
                </a:lnTo>
                <a:lnTo>
                  <a:pt x="385" y="482"/>
                </a:lnTo>
                <a:lnTo>
                  <a:pt x="460" y="407"/>
                </a:lnTo>
                <a:lnTo>
                  <a:pt x="472" y="396"/>
                </a:lnTo>
                <a:lnTo>
                  <a:pt x="476" y="391"/>
                </a:lnTo>
                <a:lnTo>
                  <a:pt x="479" y="387"/>
                </a:lnTo>
                <a:lnTo>
                  <a:pt x="482" y="385"/>
                </a:lnTo>
                <a:lnTo>
                  <a:pt x="485" y="377"/>
                </a:lnTo>
                <a:lnTo>
                  <a:pt x="487" y="368"/>
                </a:lnTo>
                <a:lnTo>
                  <a:pt x="489" y="359"/>
                </a:lnTo>
                <a:lnTo>
                  <a:pt x="489" y="353"/>
                </a:lnTo>
                <a:lnTo>
                  <a:pt x="490" y="349"/>
                </a:lnTo>
                <a:lnTo>
                  <a:pt x="490" y="343"/>
                </a:lnTo>
                <a:lnTo>
                  <a:pt x="491" y="338"/>
                </a:lnTo>
                <a:lnTo>
                  <a:pt x="491" y="77"/>
                </a:lnTo>
                <a:lnTo>
                  <a:pt x="489" y="58"/>
                </a:lnTo>
                <a:lnTo>
                  <a:pt x="485" y="43"/>
                </a:lnTo>
                <a:lnTo>
                  <a:pt x="482" y="35"/>
                </a:lnTo>
                <a:lnTo>
                  <a:pt x="480" y="30"/>
                </a:lnTo>
                <a:lnTo>
                  <a:pt x="472" y="19"/>
                </a:lnTo>
                <a:lnTo>
                  <a:pt x="465" y="14"/>
                </a:lnTo>
                <a:lnTo>
                  <a:pt x="459" y="10"/>
                </a:lnTo>
                <a:lnTo>
                  <a:pt x="447" y="4"/>
                </a:lnTo>
                <a:lnTo>
                  <a:pt x="431" y="1"/>
                </a:lnTo>
                <a:lnTo>
                  <a:pt x="414" y="0"/>
                </a:lnTo>
                <a:close/>
              </a:path>
            </a:pathLst>
          </a:custGeom>
          <a:solidFill>
            <a:srgbClr val="D2AA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61" name="Freeform 437">
            <a:extLst>
              <a:ext uri="{FF2B5EF4-FFF2-40B4-BE49-F238E27FC236}">
                <a16:creationId xmlns:a16="http://schemas.microsoft.com/office/drawing/2014/main" id="{8956BFF7-B749-EA61-A6C0-AF6A7EF25CFB}"/>
              </a:ext>
            </a:extLst>
          </p:cNvPr>
          <p:cNvSpPr>
            <a:spLocks/>
          </p:cNvSpPr>
          <p:nvPr/>
        </p:nvSpPr>
        <p:spPr bwMode="auto">
          <a:xfrm>
            <a:off x="3398838" y="3384550"/>
            <a:ext cx="165100" cy="165100"/>
          </a:xfrm>
          <a:custGeom>
            <a:avLst/>
            <a:gdLst>
              <a:gd name="T0" fmla="*/ 416 w 416"/>
              <a:gd name="T1" fmla="*/ 77 h 416"/>
              <a:gd name="T2" fmla="*/ 414 w 416"/>
              <a:gd name="T3" fmla="*/ 58 h 416"/>
              <a:gd name="T4" fmla="*/ 411 w 416"/>
              <a:gd name="T5" fmla="*/ 43 h 416"/>
              <a:gd name="T6" fmla="*/ 407 w 416"/>
              <a:gd name="T7" fmla="*/ 35 h 416"/>
              <a:gd name="T8" fmla="*/ 405 w 416"/>
              <a:gd name="T9" fmla="*/ 29 h 416"/>
              <a:gd name="T10" fmla="*/ 397 w 416"/>
              <a:gd name="T11" fmla="*/ 19 h 416"/>
              <a:gd name="T12" fmla="*/ 390 w 416"/>
              <a:gd name="T13" fmla="*/ 13 h 416"/>
              <a:gd name="T14" fmla="*/ 384 w 416"/>
              <a:gd name="T15" fmla="*/ 10 h 416"/>
              <a:gd name="T16" fmla="*/ 372 w 416"/>
              <a:gd name="T17" fmla="*/ 4 h 416"/>
              <a:gd name="T18" fmla="*/ 356 w 416"/>
              <a:gd name="T19" fmla="*/ 1 h 416"/>
              <a:gd name="T20" fmla="*/ 339 w 416"/>
              <a:gd name="T21" fmla="*/ 0 h 416"/>
              <a:gd name="T22" fmla="*/ 78 w 416"/>
              <a:gd name="T23" fmla="*/ 0 h 416"/>
              <a:gd name="T24" fmla="*/ 60 w 416"/>
              <a:gd name="T25" fmla="*/ 1 h 416"/>
              <a:gd name="T26" fmla="*/ 45 w 416"/>
              <a:gd name="T27" fmla="*/ 4 h 416"/>
              <a:gd name="T28" fmla="*/ 32 w 416"/>
              <a:gd name="T29" fmla="*/ 10 h 416"/>
              <a:gd name="T30" fmla="*/ 22 w 416"/>
              <a:gd name="T31" fmla="*/ 18 h 416"/>
              <a:gd name="T32" fmla="*/ 20 w 416"/>
              <a:gd name="T33" fmla="*/ 19 h 416"/>
              <a:gd name="T34" fmla="*/ 19 w 416"/>
              <a:gd name="T35" fmla="*/ 20 h 416"/>
              <a:gd name="T36" fmla="*/ 11 w 416"/>
              <a:gd name="T37" fmla="*/ 30 h 416"/>
              <a:gd name="T38" fmla="*/ 5 w 416"/>
              <a:gd name="T39" fmla="*/ 43 h 416"/>
              <a:gd name="T40" fmla="*/ 1 w 416"/>
              <a:gd name="T41" fmla="*/ 58 h 416"/>
              <a:gd name="T42" fmla="*/ 0 w 416"/>
              <a:gd name="T43" fmla="*/ 77 h 416"/>
              <a:gd name="T44" fmla="*/ 0 w 416"/>
              <a:gd name="T45" fmla="*/ 338 h 416"/>
              <a:gd name="T46" fmla="*/ 1 w 416"/>
              <a:gd name="T47" fmla="*/ 355 h 416"/>
              <a:gd name="T48" fmla="*/ 5 w 416"/>
              <a:gd name="T49" fmla="*/ 371 h 416"/>
              <a:gd name="T50" fmla="*/ 11 w 416"/>
              <a:gd name="T51" fmla="*/ 384 h 416"/>
              <a:gd name="T52" fmla="*/ 14 w 416"/>
              <a:gd name="T53" fmla="*/ 389 h 416"/>
              <a:gd name="T54" fmla="*/ 20 w 416"/>
              <a:gd name="T55" fmla="*/ 396 h 416"/>
              <a:gd name="T56" fmla="*/ 30 w 416"/>
              <a:gd name="T57" fmla="*/ 404 h 416"/>
              <a:gd name="T58" fmla="*/ 36 w 416"/>
              <a:gd name="T59" fmla="*/ 406 h 416"/>
              <a:gd name="T60" fmla="*/ 44 w 416"/>
              <a:gd name="T61" fmla="*/ 410 h 416"/>
              <a:gd name="T62" fmla="*/ 58 w 416"/>
              <a:gd name="T63" fmla="*/ 413 h 416"/>
              <a:gd name="T64" fmla="*/ 78 w 416"/>
              <a:gd name="T65" fmla="*/ 416 h 416"/>
              <a:gd name="T66" fmla="*/ 339 w 416"/>
              <a:gd name="T67" fmla="*/ 416 h 416"/>
              <a:gd name="T68" fmla="*/ 341 w 416"/>
              <a:gd name="T69" fmla="*/ 414 h 416"/>
              <a:gd name="T70" fmla="*/ 344 w 416"/>
              <a:gd name="T71" fmla="*/ 414 h 416"/>
              <a:gd name="T72" fmla="*/ 351 w 416"/>
              <a:gd name="T73" fmla="*/ 414 h 416"/>
              <a:gd name="T74" fmla="*/ 354 w 416"/>
              <a:gd name="T75" fmla="*/ 413 h 416"/>
              <a:gd name="T76" fmla="*/ 357 w 416"/>
              <a:gd name="T77" fmla="*/ 413 h 416"/>
              <a:gd name="T78" fmla="*/ 364 w 416"/>
              <a:gd name="T79" fmla="*/ 413 h 416"/>
              <a:gd name="T80" fmla="*/ 375 w 416"/>
              <a:gd name="T81" fmla="*/ 410 h 416"/>
              <a:gd name="T82" fmla="*/ 380 w 416"/>
              <a:gd name="T83" fmla="*/ 408 h 416"/>
              <a:gd name="T84" fmla="*/ 382 w 416"/>
              <a:gd name="T85" fmla="*/ 406 h 416"/>
              <a:gd name="T86" fmla="*/ 385 w 416"/>
              <a:gd name="T87" fmla="*/ 406 h 416"/>
              <a:gd name="T88" fmla="*/ 397 w 416"/>
              <a:gd name="T89" fmla="*/ 396 h 416"/>
              <a:gd name="T90" fmla="*/ 401 w 416"/>
              <a:gd name="T91" fmla="*/ 391 h 416"/>
              <a:gd name="T92" fmla="*/ 404 w 416"/>
              <a:gd name="T93" fmla="*/ 387 h 416"/>
              <a:gd name="T94" fmla="*/ 407 w 416"/>
              <a:gd name="T95" fmla="*/ 385 h 416"/>
              <a:gd name="T96" fmla="*/ 407 w 416"/>
              <a:gd name="T97" fmla="*/ 381 h 416"/>
              <a:gd name="T98" fmla="*/ 408 w 416"/>
              <a:gd name="T99" fmla="*/ 379 h 416"/>
              <a:gd name="T100" fmla="*/ 411 w 416"/>
              <a:gd name="T101" fmla="*/ 375 h 416"/>
              <a:gd name="T102" fmla="*/ 414 w 416"/>
              <a:gd name="T103" fmla="*/ 363 h 416"/>
              <a:gd name="T104" fmla="*/ 414 w 416"/>
              <a:gd name="T105" fmla="*/ 356 h 416"/>
              <a:gd name="T106" fmla="*/ 414 w 416"/>
              <a:gd name="T107" fmla="*/ 353 h 416"/>
              <a:gd name="T108" fmla="*/ 415 w 416"/>
              <a:gd name="T109" fmla="*/ 351 h 416"/>
              <a:gd name="T110" fmla="*/ 415 w 416"/>
              <a:gd name="T111" fmla="*/ 344 h 416"/>
              <a:gd name="T112" fmla="*/ 415 w 416"/>
              <a:gd name="T113" fmla="*/ 340 h 416"/>
              <a:gd name="T114" fmla="*/ 416 w 416"/>
              <a:gd name="T115" fmla="*/ 338 h 416"/>
              <a:gd name="T116" fmla="*/ 416 w 416"/>
              <a:gd name="T117" fmla="*/ 77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6" h="416">
                <a:moveTo>
                  <a:pt x="416" y="77"/>
                </a:moveTo>
                <a:lnTo>
                  <a:pt x="414" y="58"/>
                </a:lnTo>
                <a:lnTo>
                  <a:pt x="411" y="43"/>
                </a:lnTo>
                <a:lnTo>
                  <a:pt x="407" y="35"/>
                </a:lnTo>
                <a:lnTo>
                  <a:pt x="405" y="29"/>
                </a:lnTo>
                <a:lnTo>
                  <a:pt x="397" y="19"/>
                </a:lnTo>
                <a:lnTo>
                  <a:pt x="390" y="13"/>
                </a:lnTo>
                <a:lnTo>
                  <a:pt x="384" y="10"/>
                </a:lnTo>
                <a:lnTo>
                  <a:pt x="372" y="4"/>
                </a:lnTo>
                <a:lnTo>
                  <a:pt x="356" y="1"/>
                </a:lnTo>
                <a:lnTo>
                  <a:pt x="339" y="0"/>
                </a:lnTo>
                <a:lnTo>
                  <a:pt x="78" y="0"/>
                </a:lnTo>
                <a:lnTo>
                  <a:pt x="60" y="1"/>
                </a:lnTo>
                <a:lnTo>
                  <a:pt x="45" y="4"/>
                </a:lnTo>
                <a:lnTo>
                  <a:pt x="32" y="10"/>
                </a:lnTo>
                <a:lnTo>
                  <a:pt x="22" y="18"/>
                </a:lnTo>
                <a:lnTo>
                  <a:pt x="20" y="19"/>
                </a:lnTo>
                <a:lnTo>
                  <a:pt x="19" y="20"/>
                </a:lnTo>
                <a:lnTo>
                  <a:pt x="11" y="30"/>
                </a:lnTo>
                <a:lnTo>
                  <a:pt x="5" y="43"/>
                </a:lnTo>
                <a:lnTo>
                  <a:pt x="1" y="58"/>
                </a:lnTo>
                <a:lnTo>
                  <a:pt x="0" y="77"/>
                </a:lnTo>
                <a:lnTo>
                  <a:pt x="0" y="338"/>
                </a:lnTo>
                <a:lnTo>
                  <a:pt x="1" y="355"/>
                </a:lnTo>
                <a:lnTo>
                  <a:pt x="5" y="371"/>
                </a:lnTo>
                <a:lnTo>
                  <a:pt x="11" y="384"/>
                </a:lnTo>
                <a:lnTo>
                  <a:pt x="14" y="389"/>
                </a:lnTo>
                <a:lnTo>
                  <a:pt x="20" y="396"/>
                </a:lnTo>
                <a:lnTo>
                  <a:pt x="30" y="404"/>
                </a:lnTo>
                <a:lnTo>
                  <a:pt x="36" y="406"/>
                </a:lnTo>
                <a:lnTo>
                  <a:pt x="44" y="410"/>
                </a:lnTo>
                <a:lnTo>
                  <a:pt x="58" y="413"/>
                </a:lnTo>
                <a:lnTo>
                  <a:pt x="78" y="416"/>
                </a:lnTo>
                <a:lnTo>
                  <a:pt x="339" y="416"/>
                </a:lnTo>
                <a:lnTo>
                  <a:pt x="341" y="414"/>
                </a:lnTo>
                <a:lnTo>
                  <a:pt x="344" y="414"/>
                </a:lnTo>
                <a:lnTo>
                  <a:pt x="351" y="414"/>
                </a:lnTo>
                <a:lnTo>
                  <a:pt x="354" y="413"/>
                </a:lnTo>
                <a:lnTo>
                  <a:pt x="357" y="413"/>
                </a:lnTo>
                <a:lnTo>
                  <a:pt x="364" y="413"/>
                </a:lnTo>
                <a:lnTo>
                  <a:pt x="375" y="410"/>
                </a:lnTo>
                <a:lnTo>
                  <a:pt x="380" y="408"/>
                </a:lnTo>
                <a:lnTo>
                  <a:pt x="382" y="406"/>
                </a:lnTo>
                <a:lnTo>
                  <a:pt x="385" y="406"/>
                </a:lnTo>
                <a:lnTo>
                  <a:pt x="397" y="396"/>
                </a:lnTo>
                <a:lnTo>
                  <a:pt x="401" y="391"/>
                </a:lnTo>
                <a:lnTo>
                  <a:pt x="404" y="387"/>
                </a:lnTo>
                <a:lnTo>
                  <a:pt x="407" y="385"/>
                </a:lnTo>
                <a:lnTo>
                  <a:pt x="407" y="381"/>
                </a:lnTo>
                <a:lnTo>
                  <a:pt x="408" y="379"/>
                </a:lnTo>
                <a:lnTo>
                  <a:pt x="411" y="375"/>
                </a:lnTo>
                <a:lnTo>
                  <a:pt x="414" y="363"/>
                </a:lnTo>
                <a:lnTo>
                  <a:pt x="414" y="356"/>
                </a:lnTo>
                <a:lnTo>
                  <a:pt x="414" y="353"/>
                </a:lnTo>
                <a:lnTo>
                  <a:pt x="415" y="351"/>
                </a:lnTo>
                <a:lnTo>
                  <a:pt x="415" y="344"/>
                </a:lnTo>
                <a:lnTo>
                  <a:pt x="415" y="340"/>
                </a:lnTo>
                <a:lnTo>
                  <a:pt x="416" y="338"/>
                </a:lnTo>
                <a:lnTo>
                  <a:pt x="416" y="77"/>
                </a:lnTo>
                <a:close/>
              </a:path>
            </a:pathLst>
          </a:custGeom>
          <a:solidFill>
            <a:srgbClr val="B49200"/>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62" name="Freeform 438">
            <a:extLst>
              <a:ext uri="{FF2B5EF4-FFF2-40B4-BE49-F238E27FC236}">
                <a16:creationId xmlns:a16="http://schemas.microsoft.com/office/drawing/2014/main" id="{F54CF07A-6E26-B7D9-D818-1BBEC503BC1B}"/>
              </a:ext>
            </a:extLst>
          </p:cNvPr>
          <p:cNvSpPr>
            <a:spLocks/>
          </p:cNvSpPr>
          <p:nvPr/>
        </p:nvSpPr>
        <p:spPr bwMode="auto">
          <a:xfrm>
            <a:off x="3406775" y="3349625"/>
            <a:ext cx="195263" cy="190500"/>
          </a:xfrm>
          <a:custGeom>
            <a:avLst/>
            <a:gdLst>
              <a:gd name="T0" fmla="*/ 0 w 491"/>
              <a:gd name="T1" fmla="*/ 115 h 482"/>
              <a:gd name="T2" fmla="*/ 93 w 491"/>
              <a:gd name="T3" fmla="*/ 22 h 482"/>
              <a:gd name="T4" fmla="*/ 95 w 491"/>
              <a:gd name="T5" fmla="*/ 19 h 482"/>
              <a:gd name="T6" fmla="*/ 96 w 491"/>
              <a:gd name="T7" fmla="*/ 19 h 482"/>
              <a:gd name="T8" fmla="*/ 106 w 491"/>
              <a:gd name="T9" fmla="*/ 10 h 482"/>
              <a:gd name="T10" fmla="*/ 118 w 491"/>
              <a:gd name="T11" fmla="*/ 4 h 482"/>
              <a:gd name="T12" fmla="*/ 133 w 491"/>
              <a:gd name="T13" fmla="*/ 1 h 482"/>
              <a:gd name="T14" fmla="*/ 153 w 491"/>
              <a:gd name="T15" fmla="*/ 0 h 482"/>
              <a:gd name="T16" fmla="*/ 414 w 491"/>
              <a:gd name="T17" fmla="*/ 0 h 482"/>
              <a:gd name="T18" fmla="*/ 431 w 491"/>
              <a:gd name="T19" fmla="*/ 1 h 482"/>
              <a:gd name="T20" fmla="*/ 447 w 491"/>
              <a:gd name="T21" fmla="*/ 4 h 482"/>
              <a:gd name="T22" fmla="*/ 459 w 491"/>
              <a:gd name="T23" fmla="*/ 10 h 482"/>
              <a:gd name="T24" fmla="*/ 465 w 491"/>
              <a:gd name="T25" fmla="*/ 14 h 482"/>
              <a:gd name="T26" fmla="*/ 472 w 491"/>
              <a:gd name="T27" fmla="*/ 19 h 482"/>
              <a:gd name="T28" fmla="*/ 480 w 491"/>
              <a:gd name="T29" fmla="*/ 30 h 482"/>
              <a:gd name="T30" fmla="*/ 482 w 491"/>
              <a:gd name="T31" fmla="*/ 35 h 482"/>
              <a:gd name="T32" fmla="*/ 485 w 491"/>
              <a:gd name="T33" fmla="*/ 43 h 482"/>
              <a:gd name="T34" fmla="*/ 489 w 491"/>
              <a:gd name="T35" fmla="*/ 58 h 482"/>
              <a:gd name="T36" fmla="*/ 491 w 491"/>
              <a:gd name="T37" fmla="*/ 77 h 482"/>
              <a:gd name="T38" fmla="*/ 491 w 491"/>
              <a:gd name="T39" fmla="*/ 338 h 482"/>
              <a:gd name="T40" fmla="*/ 490 w 491"/>
              <a:gd name="T41" fmla="*/ 343 h 482"/>
              <a:gd name="T42" fmla="*/ 490 w 491"/>
              <a:gd name="T43" fmla="*/ 349 h 482"/>
              <a:gd name="T44" fmla="*/ 489 w 491"/>
              <a:gd name="T45" fmla="*/ 353 h 482"/>
              <a:gd name="T46" fmla="*/ 489 w 491"/>
              <a:gd name="T47" fmla="*/ 359 h 482"/>
              <a:gd name="T48" fmla="*/ 487 w 491"/>
              <a:gd name="T49" fmla="*/ 368 h 482"/>
              <a:gd name="T50" fmla="*/ 485 w 491"/>
              <a:gd name="T51" fmla="*/ 377 h 482"/>
              <a:gd name="T52" fmla="*/ 482 w 491"/>
              <a:gd name="T53" fmla="*/ 385 h 482"/>
              <a:gd name="T54" fmla="*/ 479 w 491"/>
              <a:gd name="T55" fmla="*/ 387 h 482"/>
              <a:gd name="T56" fmla="*/ 476 w 491"/>
              <a:gd name="T57" fmla="*/ 391 h 482"/>
              <a:gd name="T58" fmla="*/ 472 w 491"/>
              <a:gd name="T59" fmla="*/ 396 h 482"/>
              <a:gd name="T60" fmla="*/ 460 w 491"/>
              <a:gd name="T61" fmla="*/ 407 h 482"/>
              <a:gd name="T62" fmla="*/ 385 w 491"/>
              <a:gd name="T63" fmla="*/ 482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1" h="482">
                <a:moveTo>
                  <a:pt x="0" y="115"/>
                </a:moveTo>
                <a:lnTo>
                  <a:pt x="93" y="22"/>
                </a:lnTo>
                <a:lnTo>
                  <a:pt x="95" y="19"/>
                </a:lnTo>
                <a:lnTo>
                  <a:pt x="96" y="19"/>
                </a:lnTo>
                <a:lnTo>
                  <a:pt x="106" y="10"/>
                </a:lnTo>
                <a:lnTo>
                  <a:pt x="118" y="4"/>
                </a:lnTo>
                <a:lnTo>
                  <a:pt x="133" y="1"/>
                </a:lnTo>
                <a:lnTo>
                  <a:pt x="153" y="0"/>
                </a:lnTo>
                <a:lnTo>
                  <a:pt x="414" y="0"/>
                </a:lnTo>
                <a:lnTo>
                  <a:pt x="431" y="1"/>
                </a:lnTo>
                <a:lnTo>
                  <a:pt x="447" y="4"/>
                </a:lnTo>
                <a:lnTo>
                  <a:pt x="459" y="10"/>
                </a:lnTo>
                <a:lnTo>
                  <a:pt x="465" y="14"/>
                </a:lnTo>
                <a:lnTo>
                  <a:pt x="472" y="19"/>
                </a:lnTo>
                <a:lnTo>
                  <a:pt x="480" y="30"/>
                </a:lnTo>
                <a:lnTo>
                  <a:pt x="482" y="35"/>
                </a:lnTo>
                <a:lnTo>
                  <a:pt x="485" y="43"/>
                </a:lnTo>
                <a:lnTo>
                  <a:pt x="489" y="58"/>
                </a:lnTo>
                <a:lnTo>
                  <a:pt x="491" y="77"/>
                </a:lnTo>
                <a:lnTo>
                  <a:pt x="491" y="338"/>
                </a:lnTo>
                <a:lnTo>
                  <a:pt x="490" y="343"/>
                </a:lnTo>
                <a:lnTo>
                  <a:pt x="490" y="349"/>
                </a:lnTo>
                <a:lnTo>
                  <a:pt x="489" y="353"/>
                </a:lnTo>
                <a:lnTo>
                  <a:pt x="489" y="359"/>
                </a:lnTo>
                <a:lnTo>
                  <a:pt x="487" y="368"/>
                </a:lnTo>
                <a:lnTo>
                  <a:pt x="485" y="377"/>
                </a:lnTo>
                <a:lnTo>
                  <a:pt x="482" y="385"/>
                </a:lnTo>
                <a:lnTo>
                  <a:pt x="479" y="387"/>
                </a:lnTo>
                <a:lnTo>
                  <a:pt x="476" y="391"/>
                </a:lnTo>
                <a:lnTo>
                  <a:pt x="472" y="396"/>
                </a:lnTo>
                <a:lnTo>
                  <a:pt x="460" y="407"/>
                </a:lnTo>
                <a:lnTo>
                  <a:pt x="385" y="482"/>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63" name="Rectangle 439">
            <a:extLst>
              <a:ext uri="{FF2B5EF4-FFF2-40B4-BE49-F238E27FC236}">
                <a16:creationId xmlns:a16="http://schemas.microsoft.com/office/drawing/2014/main" id="{FE4B5224-54B6-1F84-E425-2A72262E8347}"/>
              </a:ext>
            </a:extLst>
          </p:cNvPr>
          <p:cNvSpPr>
            <a:spLocks noChangeArrowheads="1"/>
          </p:cNvSpPr>
          <p:nvPr/>
        </p:nvSpPr>
        <p:spPr bwMode="auto">
          <a:xfrm>
            <a:off x="2505075" y="2479675"/>
            <a:ext cx="331788"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Volume</a:t>
            </a:r>
            <a:endParaRPr lang="en-US" altLang="zh-CN" sz="1800">
              <a:solidFill>
                <a:schemeClr val="tx1"/>
              </a:solidFill>
              <a:ea typeface="宋体" panose="02010600030101010101" pitchFamily="2" charset="-122"/>
            </a:endParaRPr>
          </a:p>
        </p:txBody>
      </p:sp>
      <p:sp>
        <p:nvSpPr>
          <p:cNvPr id="3073464" name="Rectangle 440">
            <a:extLst>
              <a:ext uri="{FF2B5EF4-FFF2-40B4-BE49-F238E27FC236}">
                <a16:creationId xmlns:a16="http://schemas.microsoft.com/office/drawing/2014/main" id="{EE6B1AA3-F32A-B23A-5AEE-C11AAE9C15CD}"/>
              </a:ext>
            </a:extLst>
          </p:cNvPr>
          <p:cNvSpPr>
            <a:spLocks noChangeArrowheads="1"/>
          </p:cNvSpPr>
          <p:nvPr/>
        </p:nvSpPr>
        <p:spPr bwMode="auto">
          <a:xfrm>
            <a:off x="2381250" y="2606675"/>
            <a:ext cx="574675"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Management</a:t>
            </a:r>
            <a:endParaRPr lang="en-US" altLang="zh-CN" sz="1800">
              <a:solidFill>
                <a:schemeClr val="tx1"/>
              </a:solidFill>
              <a:ea typeface="宋体" panose="02010600030101010101" pitchFamily="2" charset="-122"/>
            </a:endParaRPr>
          </a:p>
        </p:txBody>
      </p:sp>
      <p:sp>
        <p:nvSpPr>
          <p:cNvPr id="3073465" name="Freeform 441">
            <a:extLst>
              <a:ext uri="{FF2B5EF4-FFF2-40B4-BE49-F238E27FC236}">
                <a16:creationId xmlns:a16="http://schemas.microsoft.com/office/drawing/2014/main" id="{717E751E-6850-E941-5C92-EC84213AA0BE}"/>
              </a:ext>
            </a:extLst>
          </p:cNvPr>
          <p:cNvSpPr>
            <a:spLocks/>
          </p:cNvSpPr>
          <p:nvPr/>
        </p:nvSpPr>
        <p:spPr bwMode="auto">
          <a:xfrm>
            <a:off x="1076325" y="3059113"/>
            <a:ext cx="260350" cy="26987"/>
          </a:xfrm>
          <a:custGeom>
            <a:avLst/>
            <a:gdLst>
              <a:gd name="T0" fmla="*/ 653 w 653"/>
              <a:gd name="T1" fmla="*/ 71 h 71"/>
              <a:gd name="T2" fmla="*/ 653 w 653"/>
              <a:gd name="T3" fmla="*/ 64 h 71"/>
              <a:gd name="T4" fmla="*/ 270 w 653"/>
              <a:gd name="T5" fmla="*/ 64 h 71"/>
              <a:gd name="T6" fmla="*/ 270 w 653"/>
              <a:gd name="T7" fmla="*/ 42 h 71"/>
              <a:gd name="T8" fmla="*/ 268 w 653"/>
              <a:gd name="T9" fmla="*/ 32 h 71"/>
              <a:gd name="T10" fmla="*/ 266 w 653"/>
              <a:gd name="T11" fmla="*/ 24 h 71"/>
              <a:gd name="T12" fmla="*/ 258 w 653"/>
              <a:gd name="T13" fmla="*/ 12 h 71"/>
              <a:gd name="T14" fmla="*/ 251 w 653"/>
              <a:gd name="T15" fmla="*/ 6 h 71"/>
              <a:gd name="T16" fmla="*/ 244 w 653"/>
              <a:gd name="T17" fmla="*/ 2 h 71"/>
              <a:gd name="T18" fmla="*/ 236 w 653"/>
              <a:gd name="T19" fmla="*/ 0 h 71"/>
              <a:gd name="T20" fmla="*/ 228 w 653"/>
              <a:gd name="T21" fmla="*/ 0 h 71"/>
              <a:gd name="T22" fmla="*/ 42 w 653"/>
              <a:gd name="T23" fmla="*/ 0 h 71"/>
              <a:gd name="T24" fmla="*/ 32 w 653"/>
              <a:gd name="T25" fmla="*/ 0 h 71"/>
              <a:gd name="T26" fmla="*/ 24 w 653"/>
              <a:gd name="T27" fmla="*/ 2 h 71"/>
              <a:gd name="T28" fmla="*/ 11 w 653"/>
              <a:gd name="T29" fmla="*/ 12 h 71"/>
              <a:gd name="T30" fmla="*/ 2 w 653"/>
              <a:gd name="T31" fmla="*/ 24 h 71"/>
              <a:gd name="T32" fmla="*/ 0 w 653"/>
              <a:gd name="T33" fmla="*/ 32 h 71"/>
              <a:gd name="T34" fmla="*/ 0 w 653"/>
              <a:gd name="T35" fmla="*/ 42 h 71"/>
              <a:gd name="T36" fmla="*/ 0 w 653"/>
              <a:gd name="T37" fmla="*/ 71 h 71"/>
              <a:gd name="T38" fmla="*/ 653 w 653"/>
              <a:gd name="T39" fmla="*/ 71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3" h="71">
                <a:moveTo>
                  <a:pt x="653" y="71"/>
                </a:moveTo>
                <a:lnTo>
                  <a:pt x="653" y="64"/>
                </a:lnTo>
                <a:lnTo>
                  <a:pt x="270" y="64"/>
                </a:lnTo>
                <a:lnTo>
                  <a:pt x="270" y="42"/>
                </a:lnTo>
                <a:lnTo>
                  <a:pt x="268" y="32"/>
                </a:lnTo>
                <a:lnTo>
                  <a:pt x="266" y="24"/>
                </a:lnTo>
                <a:lnTo>
                  <a:pt x="258" y="12"/>
                </a:lnTo>
                <a:lnTo>
                  <a:pt x="251" y="6"/>
                </a:lnTo>
                <a:lnTo>
                  <a:pt x="244" y="2"/>
                </a:lnTo>
                <a:lnTo>
                  <a:pt x="236" y="0"/>
                </a:lnTo>
                <a:lnTo>
                  <a:pt x="228" y="0"/>
                </a:lnTo>
                <a:lnTo>
                  <a:pt x="42" y="0"/>
                </a:lnTo>
                <a:lnTo>
                  <a:pt x="32" y="0"/>
                </a:lnTo>
                <a:lnTo>
                  <a:pt x="24" y="2"/>
                </a:lnTo>
                <a:lnTo>
                  <a:pt x="11" y="12"/>
                </a:lnTo>
                <a:lnTo>
                  <a:pt x="2" y="24"/>
                </a:lnTo>
                <a:lnTo>
                  <a:pt x="0" y="32"/>
                </a:lnTo>
                <a:lnTo>
                  <a:pt x="0" y="42"/>
                </a:lnTo>
                <a:lnTo>
                  <a:pt x="0" y="71"/>
                </a:lnTo>
                <a:lnTo>
                  <a:pt x="653" y="71"/>
                </a:lnTo>
                <a:close/>
              </a:path>
            </a:pathLst>
          </a:custGeom>
          <a:gradFill rotWithShape="1">
            <a:gsLst>
              <a:gs pos="0">
                <a:srgbClr val="FFE579">
                  <a:gamma/>
                  <a:shade val="66667"/>
                  <a:invGamma/>
                </a:srgbClr>
              </a:gs>
              <a:gs pos="100000">
                <a:srgbClr val="FFE579"/>
              </a:gs>
            </a:gsLst>
            <a:lin ang="18900000" scaled="1"/>
          </a:gra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66" name="Rectangle 442">
            <a:extLst>
              <a:ext uri="{FF2B5EF4-FFF2-40B4-BE49-F238E27FC236}">
                <a16:creationId xmlns:a16="http://schemas.microsoft.com/office/drawing/2014/main" id="{67B9F058-5C8C-27D0-62F1-8823EDD402CB}"/>
              </a:ext>
            </a:extLst>
          </p:cNvPr>
          <p:cNvSpPr>
            <a:spLocks noChangeArrowheads="1"/>
          </p:cNvSpPr>
          <p:nvPr/>
        </p:nvSpPr>
        <p:spPr bwMode="auto">
          <a:xfrm>
            <a:off x="1076325" y="3086100"/>
            <a:ext cx="260350" cy="200025"/>
          </a:xfrm>
          <a:prstGeom prst="rect">
            <a:avLst/>
          </a:prstGeom>
          <a:gradFill rotWithShape="1">
            <a:gsLst>
              <a:gs pos="0">
                <a:srgbClr val="FFE579">
                  <a:gamma/>
                  <a:shade val="66667"/>
                  <a:invGamma/>
                </a:srgbClr>
              </a:gs>
              <a:gs pos="100000">
                <a:srgbClr val="FFE579"/>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IN"/>
          </a:p>
        </p:txBody>
      </p:sp>
      <p:sp>
        <p:nvSpPr>
          <p:cNvPr id="3073467" name="Freeform 443">
            <a:extLst>
              <a:ext uri="{FF2B5EF4-FFF2-40B4-BE49-F238E27FC236}">
                <a16:creationId xmlns:a16="http://schemas.microsoft.com/office/drawing/2014/main" id="{83AF25BC-221C-EB77-690B-A7924BAD091D}"/>
              </a:ext>
            </a:extLst>
          </p:cNvPr>
          <p:cNvSpPr>
            <a:spLocks/>
          </p:cNvSpPr>
          <p:nvPr/>
        </p:nvSpPr>
        <p:spPr bwMode="auto">
          <a:xfrm>
            <a:off x="1076325" y="3059113"/>
            <a:ext cx="260350" cy="227012"/>
          </a:xfrm>
          <a:custGeom>
            <a:avLst/>
            <a:gdLst>
              <a:gd name="T0" fmla="*/ 653 w 653"/>
              <a:gd name="T1" fmla="*/ 71 h 572"/>
              <a:gd name="T2" fmla="*/ 653 w 653"/>
              <a:gd name="T3" fmla="*/ 572 h 572"/>
              <a:gd name="T4" fmla="*/ 0 w 653"/>
              <a:gd name="T5" fmla="*/ 572 h 572"/>
              <a:gd name="T6" fmla="*/ 0 w 653"/>
              <a:gd name="T7" fmla="*/ 71 h 572"/>
              <a:gd name="T8" fmla="*/ 0 w 653"/>
              <a:gd name="T9" fmla="*/ 42 h 572"/>
              <a:gd name="T10" fmla="*/ 0 w 653"/>
              <a:gd name="T11" fmla="*/ 32 h 572"/>
              <a:gd name="T12" fmla="*/ 2 w 653"/>
              <a:gd name="T13" fmla="*/ 24 h 572"/>
              <a:gd name="T14" fmla="*/ 11 w 653"/>
              <a:gd name="T15" fmla="*/ 12 h 572"/>
              <a:gd name="T16" fmla="*/ 24 w 653"/>
              <a:gd name="T17" fmla="*/ 2 h 572"/>
              <a:gd name="T18" fmla="*/ 32 w 653"/>
              <a:gd name="T19" fmla="*/ 0 h 572"/>
              <a:gd name="T20" fmla="*/ 42 w 653"/>
              <a:gd name="T21" fmla="*/ 0 h 572"/>
              <a:gd name="T22" fmla="*/ 228 w 653"/>
              <a:gd name="T23" fmla="*/ 0 h 572"/>
              <a:gd name="T24" fmla="*/ 236 w 653"/>
              <a:gd name="T25" fmla="*/ 0 h 572"/>
              <a:gd name="T26" fmla="*/ 244 w 653"/>
              <a:gd name="T27" fmla="*/ 2 h 572"/>
              <a:gd name="T28" fmla="*/ 251 w 653"/>
              <a:gd name="T29" fmla="*/ 6 h 572"/>
              <a:gd name="T30" fmla="*/ 258 w 653"/>
              <a:gd name="T31" fmla="*/ 12 h 572"/>
              <a:gd name="T32" fmla="*/ 266 w 653"/>
              <a:gd name="T33" fmla="*/ 24 h 572"/>
              <a:gd name="T34" fmla="*/ 268 w 653"/>
              <a:gd name="T35" fmla="*/ 32 h 572"/>
              <a:gd name="T36" fmla="*/ 270 w 653"/>
              <a:gd name="T37" fmla="*/ 42 h 572"/>
              <a:gd name="T38" fmla="*/ 270 w 653"/>
              <a:gd name="T39" fmla="*/ 64 h 572"/>
              <a:gd name="T40" fmla="*/ 653 w 653"/>
              <a:gd name="T41" fmla="*/ 64 h 572"/>
              <a:gd name="T42" fmla="*/ 653 w 653"/>
              <a:gd name="T43" fmla="*/ 7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53" h="572">
                <a:moveTo>
                  <a:pt x="653" y="71"/>
                </a:moveTo>
                <a:lnTo>
                  <a:pt x="653" y="572"/>
                </a:lnTo>
                <a:lnTo>
                  <a:pt x="0" y="572"/>
                </a:lnTo>
                <a:lnTo>
                  <a:pt x="0" y="71"/>
                </a:lnTo>
                <a:lnTo>
                  <a:pt x="0" y="42"/>
                </a:lnTo>
                <a:lnTo>
                  <a:pt x="0" y="32"/>
                </a:lnTo>
                <a:lnTo>
                  <a:pt x="2" y="24"/>
                </a:lnTo>
                <a:lnTo>
                  <a:pt x="11" y="12"/>
                </a:lnTo>
                <a:lnTo>
                  <a:pt x="24" y="2"/>
                </a:lnTo>
                <a:lnTo>
                  <a:pt x="32" y="0"/>
                </a:lnTo>
                <a:lnTo>
                  <a:pt x="42" y="0"/>
                </a:lnTo>
                <a:lnTo>
                  <a:pt x="228" y="0"/>
                </a:lnTo>
                <a:lnTo>
                  <a:pt x="236" y="0"/>
                </a:lnTo>
                <a:lnTo>
                  <a:pt x="244" y="2"/>
                </a:lnTo>
                <a:lnTo>
                  <a:pt x="251" y="6"/>
                </a:lnTo>
                <a:lnTo>
                  <a:pt x="258" y="12"/>
                </a:lnTo>
                <a:lnTo>
                  <a:pt x="266" y="24"/>
                </a:lnTo>
                <a:lnTo>
                  <a:pt x="268" y="32"/>
                </a:lnTo>
                <a:lnTo>
                  <a:pt x="270" y="42"/>
                </a:lnTo>
                <a:lnTo>
                  <a:pt x="270" y="64"/>
                </a:lnTo>
                <a:lnTo>
                  <a:pt x="653" y="64"/>
                </a:lnTo>
                <a:lnTo>
                  <a:pt x="653" y="71"/>
                </a:lnTo>
              </a:path>
            </a:pathLst>
          </a:custGeom>
          <a:noFill/>
          <a:ln w="14351">
            <a:solidFill>
              <a:srgbClr val="B492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68" name="Freeform 444">
            <a:extLst>
              <a:ext uri="{FF2B5EF4-FFF2-40B4-BE49-F238E27FC236}">
                <a16:creationId xmlns:a16="http://schemas.microsoft.com/office/drawing/2014/main" id="{8D4175E5-7A42-4E64-FDFA-B3237EAEB8DA}"/>
              </a:ext>
            </a:extLst>
          </p:cNvPr>
          <p:cNvSpPr>
            <a:spLocks/>
          </p:cNvSpPr>
          <p:nvPr/>
        </p:nvSpPr>
        <p:spPr bwMode="auto">
          <a:xfrm>
            <a:off x="1384300" y="2805113"/>
            <a:ext cx="441325" cy="161925"/>
          </a:xfrm>
          <a:custGeom>
            <a:avLst/>
            <a:gdLst>
              <a:gd name="T0" fmla="*/ 1092 w 1111"/>
              <a:gd name="T1" fmla="*/ 359 h 407"/>
              <a:gd name="T2" fmla="*/ 1051 w 1111"/>
              <a:gd name="T3" fmla="*/ 283 h 407"/>
              <a:gd name="T4" fmla="*/ 1001 w 1111"/>
              <a:gd name="T5" fmla="*/ 212 h 407"/>
              <a:gd name="T6" fmla="*/ 941 w 1111"/>
              <a:gd name="T7" fmla="*/ 147 h 407"/>
              <a:gd name="T8" fmla="*/ 874 w 1111"/>
              <a:gd name="T9" fmla="*/ 89 h 407"/>
              <a:gd name="T10" fmla="*/ 815 w 1111"/>
              <a:gd name="T11" fmla="*/ 54 h 407"/>
              <a:gd name="T12" fmla="*/ 773 w 1111"/>
              <a:gd name="T13" fmla="*/ 36 h 407"/>
              <a:gd name="T14" fmla="*/ 727 w 1111"/>
              <a:gd name="T15" fmla="*/ 21 h 407"/>
              <a:gd name="T16" fmla="*/ 653 w 1111"/>
              <a:gd name="T17" fmla="*/ 7 h 407"/>
              <a:gd name="T18" fmla="*/ 572 w 1111"/>
              <a:gd name="T19" fmla="*/ 0 h 407"/>
              <a:gd name="T20" fmla="*/ 488 w 1111"/>
              <a:gd name="T21" fmla="*/ 2 h 407"/>
              <a:gd name="T22" fmla="*/ 383 w 1111"/>
              <a:gd name="T23" fmla="*/ 18 h 407"/>
              <a:gd name="T24" fmla="*/ 291 w 1111"/>
              <a:gd name="T25" fmla="*/ 50 h 407"/>
              <a:gd name="T26" fmla="*/ 229 w 1111"/>
              <a:gd name="T27" fmla="*/ 83 h 407"/>
              <a:gd name="T28" fmla="*/ 177 w 1111"/>
              <a:gd name="T29" fmla="*/ 128 h 407"/>
              <a:gd name="T30" fmla="*/ 114 w 1111"/>
              <a:gd name="T31" fmla="*/ 190 h 407"/>
              <a:gd name="T32" fmla="*/ 64 w 1111"/>
              <a:gd name="T33" fmla="*/ 259 h 407"/>
              <a:gd name="T34" fmla="*/ 26 w 1111"/>
              <a:gd name="T35" fmla="*/ 331 h 407"/>
              <a:gd name="T36" fmla="*/ 0 w 1111"/>
              <a:gd name="T37" fmla="*/ 407 h 407"/>
              <a:gd name="T38" fmla="*/ 59 w 1111"/>
              <a:gd name="T39" fmla="*/ 358 h 407"/>
              <a:gd name="T40" fmla="*/ 119 w 1111"/>
              <a:gd name="T41" fmla="*/ 269 h 407"/>
              <a:gd name="T42" fmla="*/ 196 w 1111"/>
              <a:gd name="T43" fmla="*/ 188 h 407"/>
              <a:gd name="T44" fmla="*/ 287 w 1111"/>
              <a:gd name="T45" fmla="*/ 123 h 407"/>
              <a:gd name="T46" fmla="*/ 385 w 1111"/>
              <a:gd name="T47" fmla="*/ 80 h 407"/>
              <a:gd name="T48" fmla="*/ 494 w 1111"/>
              <a:gd name="T49" fmla="*/ 58 h 407"/>
              <a:gd name="T50" fmla="*/ 579 w 1111"/>
              <a:gd name="T51" fmla="*/ 56 h 407"/>
              <a:gd name="T52" fmla="*/ 635 w 1111"/>
              <a:gd name="T53" fmla="*/ 61 h 407"/>
              <a:gd name="T54" fmla="*/ 716 w 1111"/>
              <a:gd name="T55" fmla="*/ 80 h 407"/>
              <a:gd name="T56" fmla="*/ 767 w 1111"/>
              <a:gd name="T57" fmla="*/ 99 h 407"/>
              <a:gd name="T58" fmla="*/ 838 w 1111"/>
              <a:gd name="T59" fmla="*/ 137 h 407"/>
              <a:gd name="T60" fmla="*/ 883 w 1111"/>
              <a:gd name="T61" fmla="*/ 169 h 407"/>
              <a:gd name="T62" fmla="*/ 949 w 1111"/>
              <a:gd name="T63" fmla="*/ 229 h 407"/>
              <a:gd name="T64" fmla="*/ 1014 w 1111"/>
              <a:gd name="T65" fmla="*/ 310 h 407"/>
              <a:gd name="T66" fmla="*/ 1064 w 1111"/>
              <a:gd name="T67" fmla="*/ 40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11" h="407">
                <a:moveTo>
                  <a:pt x="1111" y="400"/>
                </a:moveTo>
                <a:lnTo>
                  <a:pt x="1092" y="359"/>
                </a:lnTo>
                <a:lnTo>
                  <a:pt x="1072" y="320"/>
                </a:lnTo>
                <a:lnTo>
                  <a:pt x="1051" y="283"/>
                </a:lnTo>
                <a:lnTo>
                  <a:pt x="1027" y="247"/>
                </a:lnTo>
                <a:lnTo>
                  <a:pt x="1001" y="212"/>
                </a:lnTo>
                <a:lnTo>
                  <a:pt x="972" y="179"/>
                </a:lnTo>
                <a:lnTo>
                  <a:pt x="941" y="147"/>
                </a:lnTo>
                <a:lnTo>
                  <a:pt x="911" y="118"/>
                </a:lnTo>
                <a:lnTo>
                  <a:pt x="874" y="89"/>
                </a:lnTo>
                <a:lnTo>
                  <a:pt x="837" y="65"/>
                </a:lnTo>
                <a:lnTo>
                  <a:pt x="815" y="54"/>
                </a:lnTo>
                <a:lnTo>
                  <a:pt x="794" y="45"/>
                </a:lnTo>
                <a:lnTo>
                  <a:pt x="773" y="36"/>
                </a:lnTo>
                <a:lnTo>
                  <a:pt x="751" y="29"/>
                </a:lnTo>
                <a:lnTo>
                  <a:pt x="727" y="21"/>
                </a:lnTo>
                <a:lnTo>
                  <a:pt x="703" y="15"/>
                </a:lnTo>
                <a:lnTo>
                  <a:pt x="653" y="7"/>
                </a:lnTo>
                <a:lnTo>
                  <a:pt x="600" y="1"/>
                </a:lnTo>
                <a:lnTo>
                  <a:pt x="572" y="0"/>
                </a:lnTo>
                <a:lnTo>
                  <a:pt x="545" y="1"/>
                </a:lnTo>
                <a:lnTo>
                  <a:pt x="488" y="2"/>
                </a:lnTo>
                <a:lnTo>
                  <a:pt x="434" y="9"/>
                </a:lnTo>
                <a:lnTo>
                  <a:pt x="383" y="18"/>
                </a:lnTo>
                <a:lnTo>
                  <a:pt x="336" y="33"/>
                </a:lnTo>
                <a:lnTo>
                  <a:pt x="291" y="50"/>
                </a:lnTo>
                <a:lnTo>
                  <a:pt x="250" y="72"/>
                </a:lnTo>
                <a:lnTo>
                  <a:pt x="229" y="83"/>
                </a:lnTo>
                <a:lnTo>
                  <a:pt x="211" y="97"/>
                </a:lnTo>
                <a:lnTo>
                  <a:pt x="177" y="128"/>
                </a:lnTo>
                <a:lnTo>
                  <a:pt x="144" y="159"/>
                </a:lnTo>
                <a:lnTo>
                  <a:pt x="114" y="190"/>
                </a:lnTo>
                <a:lnTo>
                  <a:pt x="87" y="223"/>
                </a:lnTo>
                <a:lnTo>
                  <a:pt x="64" y="259"/>
                </a:lnTo>
                <a:lnTo>
                  <a:pt x="43" y="294"/>
                </a:lnTo>
                <a:lnTo>
                  <a:pt x="26" y="331"/>
                </a:lnTo>
                <a:lnTo>
                  <a:pt x="12" y="368"/>
                </a:lnTo>
                <a:lnTo>
                  <a:pt x="0" y="407"/>
                </a:lnTo>
                <a:lnTo>
                  <a:pt x="37" y="407"/>
                </a:lnTo>
                <a:lnTo>
                  <a:pt x="59" y="358"/>
                </a:lnTo>
                <a:lnTo>
                  <a:pt x="87" y="313"/>
                </a:lnTo>
                <a:lnTo>
                  <a:pt x="119" y="269"/>
                </a:lnTo>
                <a:lnTo>
                  <a:pt x="155" y="229"/>
                </a:lnTo>
                <a:lnTo>
                  <a:pt x="196" y="188"/>
                </a:lnTo>
                <a:lnTo>
                  <a:pt x="241" y="153"/>
                </a:lnTo>
                <a:lnTo>
                  <a:pt x="287" y="123"/>
                </a:lnTo>
                <a:lnTo>
                  <a:pt x="336" y="99"/>
                </a:lnTo>
                <a:lnTo>
                  <a:pt x="385" y="80"/>
                </a:lnTo>
                <a:lnTo>
                  <a:pt x="439" y="66"/>
                </a:lnTo>
                <a:lnTo>
                  <a:pt x="494" y="58"/>
                </a:lnTo>
                <a:lnTo>
                  <a:pt x="552" y="57"/>
                </a:lnTo>
                <a:lnTo>
                  <a:pt x="579" y="56"/>
                </a:lnTo>
                <a:lnTo>
                  <a:pt x="607" y="58"/>
                </a:lnTo>
                <a:lnTo>
                  <a:pt x="635" y="61"/>
                </a:lnTo>
                <a:lnTo>
                  <a:pt x="663" y="66"/>
                </a:lnTo>
                <a:lnTo>
                  <a:pt x="716" y="80"/>
                </a:lnTo>
                <a:lnTo>
                  <a:pt x="741" y="88"/>
                </a:lnTo>
                <a:lnTo>
                  <a:pt x="767" y="99"/>
                </a:lnTo>
                <a:lnTo>
                  <a:pt x="815" y="123"/>
                </a:lnTo>
                <a:lnTo>
                  <a:pt x="838" y="137"/>
                </a:lnTo>
                <a:lnTo>
                  <a:pt x="862" y="153"/>
                </a:lnTo>
                <a:lnTo>
                  <a:pt x="883" y="169"/>
                </a:lnTo>
                <a:lnTo>
                  <a:pt x="906" y="188"/>
                </a:lnTo>
                <a:lnTo>
                  <a:pt x="949" y="229"/>
                </a:lnTo>
                <a:lnTo>
                  <a:pt x="984" y="268"/>
                </a:lnTo>
                <a:lnTo>
                  <a:pt x="1014" y="310"/>
                </a:lnTo>
                <a:lnTo>
                  <a:pt x="1042" y="353"/>
                </a:lnTo>
                <a:lnTo>
                  <a:pt x="1064" y="400"/>
                </a:lnTo>
                <a:lnTo>
                  <a:pt x="1111" y="400"/>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69" name="Freeform 445">
            <a:extLst>
              <a:ext uri="{FF2B5EF4-FFF2-40B4-BE49-F238E27FC236}">
                <a16:creationId xmlns:a16="http://schemas.microsoft.com/office/drawing/2014/main" id="{90729122-AA6D-DB9C-333F-830DFA8C053A}"/>
              </a:ext>
            </a:extLst>
          </p:cNvPr>
          <p:cNvSpPr>
            <a:spLocks/>
          </p:cNvSpPr>
          <p:nvPr/>
        </p:nvSpPr>
        <p:spPr bwMode="auto">
          <a:xfrm>
            <a:off x="1343025" y="2927350"/>
            <a:ext cx="114300" cy="104775"/>
          </a:xfrm>
          <a:custGeom>
            <a:avLst/>
            <a:gdLst>
              <a:gd name="T0" fmla="*/ 30 w 289"/>
              <a:gd name="T1" fmla="*/ 18 h 264"/>
              <a:gd name="T2" fmla="*/ 23 w 289"/>
              <a:gd name="T3" fmla="*/ 13 h 264"/>
              <a:gd name="T4" fmla="*/ 0 w 289"/>
              <a:gd name="T5" fmla="*/ 0 h 264"/>
              <a:gd name="T6" fmla="*/ 34 w 289"/>
              <a:gd name="T7" fmla="*/ 264 h 264"/>
              <a:gd name="T8" fmla="*/ 289 w 289"/>
              <a:gd name="T9" fmla="*/ 180 h 264"/>
              <a:gd name="T10" fmla="*/ 259 w 289"/>
              <a:gd name="T11" fmla="*/ 160 h 264"/>
              <a:gd name="T12" fmla="*/ 227 w 289"/>
              <a:gd name="T13" fmla="*/ 141 h 264"/>
              <a:gd name="T14" fmla="*/ 58 w 289"/>
              <a:gd name="T15" fmla="*/ 36 h 264"/>
              <a:gd name="T16" fmla="*/ 30 w 289"/>
              <a:gd name="T17" fmla="*/ 18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9" h="264">
                <a:moveTo>
                  <a:pt x="30" y="18"/>
                </a:moveTo>
                <a:lnTo>
                  <a:pt x="23" y="13"/>
                </a:lnTo>
                <a:lnTo>
                  <a:pt x="0" y="0"/>
                </a:lnTo>
                <a:lnTo>
                  <a:pt x="34" y="264"/>
                </a:lnTo>
                <a:lnTo>
                  <a:pt x="289" y="180"/>
                </a:lnTo>
                <a:lnTo>
                  <a:pt x="259" y="160"/>
                </a:lnTo>
                <a:lnTo>
                  <a:pt x="227" y="141"/>
                </a:lnTo>
                <a:lnTo>
                  <a:pt x="58" y="36"/>
                </a:lnTo>
                <a:lnTo>
                  <a:pt x="30" y="18"/>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70" name="Rectangle 446">
            <a:extLst>
              <a:ext uri="{FF2B5EF4-FFF2-40B4-BE49-F238E27FC236}">
                <a16:creationId xmlns:a16="http://schemas.microsoft.com/office/drawing/2014/main" id="{F0FDCA94-FE61-F5E9-3236-703F54DAEAAA}"/>
              </a:ext>
            </a:extLst>
          </p:cNvPr>
          <p:cNvSpPr>
            <a:spLocks noChangeArrowheads="1"/>
          </p:cNvSpPr>
          <p:nvPr/>
        </p:nvSpPr>
        <p:spPr bwMode="auto">
          <a:xfrm>
            <a:off x="1608138" y="2366963"/>
            <a:ext cx="182562"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File </a:t>
            </a:r>
            <a:endParaRPr lang="en-US" altLang="zh-CN" sz="1800">
              <a:solidFill>
                <a:schemeClr val="tx1"/>
              </a:solidFill>
              <a:ea typeface="宋体" panose="02010600030101010101" pitchFamily="2" charset="-122"/>
            </a:endParaRPr>
          </a:p>
        </p:txBody>
      </p:sp>
      <p:sp>
        <p:nvSpPr>
          <p:cNvPr id="3073471" name="Rectangle 447">
            <a:extLst>
              <a:ext uri="{FF2B5EF4-FFF2-40B4-BE49-F238E27FC236}">
                <a16:creationId xmlns:a16="http://schemas.microsoft.com/office/drawing/2014/main" id="{79B6B937-D50E-60BC-147F-DA095EA49AF4}"/>
              </a:ext>
            </a:extLst>
          </p:cNvPr>
          <p:cNvSpPr>
            <a:spLocks noChangeArrowheads="1"/>
          </p:cNvSpPr>
          <p:nvPr/>
        </p:nvSpPr>
        <p:spPr bwMode="auto">
          <a:xfrm>
            <a:off x="1516063" y="2493963"/>
            <a:ext cx="331787"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System</a:t>
            </a:r>
            <a:endParaRPr lang="en-US" altLang="zh-CN" sz="1800">
              <a:solidFill>
                <a:schemeClr val="tx1"/>
              </a:solidFill>
              <a:ea typeface="宋体" panose="02010600030101010101" pitchFamily="2" charset="-122"/>
            </a:endParaRPr>
          </a:p>
        </p:txBody>
      </p:sp>
      <p:sp>
        <p:nvSpPr>
          <p:cNvPr id="3073472" name="Rectangle 448">
            <a:extLst>
              <a:ext uri="{FF2B5EF4-FFF2-40B4-BE49-F238E27FC236}">
                <a16:creationId xmlns:a16="http://schemas.microsoft.com/office/drawing/2014/main" id="{0DB36F16-6647-EDAE-9817-6A0C678380A2}"/>
              </a:ext>
            </a:extLst>
          </p:cNvPr>
          <p:cNvSpPr>
            <a:spLocks noChangeArrowheads="1"/>
          </p:cNvSpPr>
          <p:nvPr/>
        </p:nvSpPr>
        <p:spPr bwMode="auto">
          <a:xfrm>
            <a:off x="1392238" y="2620963"/>
            <a:ext cx="574675"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Management</a:t>
            </a:r>
            <a:endParaRPr lang="en-US" altLang="zh-CN" sz="1800">
              <a:solidFill>
                <a:schemeClr val="tx1"/>
              </a:solidFill>
              <a:ea typeface="宋体" panose="02010600030101010101" pitchFamily="2" charset="-122"/>
            </a:endParaRPr>
          </a:p>
        </p:txBody>
      </p:sp>
      <p:sp>
        <p:nvSpPr>
          <p:cNvPr id="3073473" name="Freeform 449">
            <a:extLst>
              <a:ext uri="{FF2B5EF4-FFF2-40B4-BE49-F238E27FC236}">
                <a16:creationId xmlns:a16="http://schemas.microsoft.com/office/drawing/2014/main" id="{6CB4F01D-A069-99C8-B4C6-339F9A532387}"/>
              </a:ext>
            </a:extLst>
          </p:cNvPr>
          <p:cNvSpPr>
            <a:spLocks/>
          </p:cNvSpPr>
          <p:nvPr/>
        </p:nvSpPr>
        <p:spPr bwMode="auto">
          <a:xfrm>
            <a:off x="777875" y="3311525"/>
            <a:ext cx="255588" cy="333375"/>
          </a:xfrm>
          <a:custGeom>
            <a:avLst/>
            <a:gdLst>
              <a:gd name="T0" fmla="*/ 38 w 645"/>
              <a:gd name="T1" fmla="*/ 0 h 839"/>
              <a:gd name="T2" fmla="*/ 21 w 645"/>
              <a:gd name="T3" fmla="*/ 3 h 839"/>
              <a:gd name="T4" fmla="*/ 15 w 645"/>
              <a:gd name="T5" fmla="*/ 5 h 839"/>
              <a:gd name="T6" fmla="*/ 10 w 645"/>
              <a:gd name="T7" fmla="*/ 9 h 839"/>
              <a:gd name="T8" fmla="*/ 2 w 645"/>
              <a:gd name="T9" fmla="*/ 20 h 839"/>
              <a:gd name="T10" fmla="*/ 0 w 645"/>
              <a:gd name="T11" fmla="*/ 27 h 839"/>
              <a:gd name="T12" fmla="*/ 0 w 645"/>
              <a:gd name="T13" fmla="*/ 36 h 839"/>
              <a:gd name="T14" fmla="*/ 0 w 645"/>
              <a:gd name="T15" fmla="*/ 801 h 839"/>
              <a:gd name="T16" fmla="*/ 0 w 645"/>
              <a:gd name="T17" fmla="*/ 808 h 839"/>
              <a:gd name="T18" fmla="*/ 2 w 645"/>
              <a:gd name="T19" fmla="*/ 816 h 839"/>
              <a:gd name="T20" fmla="*/ 10 w 645"/>
              <a:gd name="T21" fmla="*/ 827 h 839"/>
              <a:gd name="T22" fmla="*/ 15 w 645"/>
              <a:gd name="T23" fmla="*/ 831 h 839"/>
              <a:gd name="T24" fmla="*/ 21 w 645"/>
              <a:gd name="T25" fmla="*/ 834 h 839"/>
              <a:gd name="T26" fmla="*/ 38 w 645"/>
              <a:gd name="T27" fmla="*/ 839 h 839"/>
              <a:gd name="T28" fmla="*/ 607 w 645"/>
              <a:gd name="T29" fmla="*/ 839 h 839"/>
              <a:gd name="T30" fmla="*/ 614 w 645"/>
              <a:gd name="T31" fmla="*/ 837 h 839"/>
              <a:gd name="T32" fmla="*/ 621 w 645"/>
              <a:gd name="T33" fmla="*/ 834 h 839"/>
              <a:gd name="T34" fmla="*/ 623 w 645"/>
              <a:gd name="T35" fmla="*/ 832 h 839"/>
              <a:gd name="T36" fmla="*/ 623 w 645"/>
              <a:gd name="T37" fmla="*/ 831 h 839"/>
              <a:gd name="T38" fmla="*/ 624 w 645"/>
              <a:gd name="T39" fmla="*/ 831 h 839"/>
              <a:gd name="T40" fmla="*/ 626 w 645"/>
              <a:gd name="T41" fmla="*/ 831 h 839"/>
              <a:gd name="T42" fmla="*/ 629 w 645"/>
              <a:gd name="T43" fmla="*/ 829 h 839"/>
              <a:gd name="T44" fmla="*/ 629 w 645"/>
              <a:gd name="T45" fmla="*/ 827 h 839"/>
              <a:gd name="T46" fmla="*/ 630 w 645"/>
              <a:gd name="T47" fmla="*/ 827 h 839"/>
              <a:gd name="T48" fmla="*/ 632 w 645"/>
              <a:gd name="T49" fmla="*/ 827 h 839"/>
              <a:gd name="T50" fmla="*/ 632 w 645"/>
              <a:gd name="T51" fmla="*/ 825 h 839"/>
              <a:gd name="T52" fmla="*/ 632 w 645"/>
              <a:gd name="T53" fmla="*/ 824 h 839"/>
              <a:gd name="T54" fmla="*/ 633 w 645"/>
              <a:gd name="T55" fmla="*/ 824 h 839"/>
              <a:gd name="T56" fmla="*/ 636 w 645"/>
              <a:gd name="T57" fmla="*/ 822 h 839"/>
              <a:gd name="T58" fmla="*/ 640 w 645"/>
              <a:gd name="T59" fmla="*/ 816 h 839"/>
              <a:gd name="T60" fmla="*/ 642 w 645"/>
              <a:gd name="T61" fmla="*/ 808 h 839"/>
              <a:gd name="T62" fmla="*/ 645 w 645"/>
              <a:gd name="T63" fmla="*/ 801 h 839"/>
              <a:gd name="T64" fmla="*/ 645 w 645"/>
              <a:gd name="T65" fmla="*/ 205 h 839"/>
              <a:gd name="T66" fmla="*/ 454 w 645"/>
              <a:gd name="T67" fmla="*/ 0 h 839"/>
              <a:gd name="T68" fmla="*/ 38 w 645"/>
              <a:gd name="T69" fmla="*/ 0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5" h="839">
                <a:moveTo>
                  <a:pt x="38" y="0"/>
                </a:moveTo>
                <a:lnTo>
                  <a:pt x="21" y="3"/>
                </a:lnTo>
                <a:lnTo>
                  <a:pt x="15" y="5"/>
                </a:lnTo>
                <a:lnTo>
                  <a:pt x="10" y="9"/>
                </a:lnTo>
                <a:lnTo>
                  <a:pt x="2" y="20"/>
                </a:lnTo>
                <a:lnTo>
                  <a:pt x="0" y="27"/>
                </a:lnTo>
                <a:lnTo>
                  <a:pt x="0" y="36"/>
                </a:lnTo>
                <a:lnTo>
                  <a:pt x="0" y="801"/>
                </a:lnTo>
                <a:lnTo>
                  <a:pt x="0" y="808"/>
                </a:lnTo>
                <a:lnTo>
                  <a:pt x="2" y="816"/>
                </a:lnTo>
                <a:lnTo>
                  <a:pt x="10" y="827"/>
                </a:lnTo>
                <a:lnTo>
                  <a:pt x="15" y="831"/>
                </a:lnTo>
                <a:lnTo>
                  <a:pt x="21" y="834"/>
                </a:lnTo>
                <a:lnTo>
                  <a:pt x="38" y="839"/>
                </a:lnTo>
                <a:lnTo>
                  <a:pt x="607" y="839"/>
                </a:lnTo>
                <a:lnTo>
                  <a:pt x="614" y="837"/>
                </a:lnTo>
                <a:lnTo>
                  <a:pt x="621" y="834"/>
                </a:lnTo>
                <a:lnTo>
                  <a:pt x="623" y="832"/>
                </a:lnTo>
                <a:lnTo>
                  <a:pt x="623" y="831"/>
                </a:lnTo>
                <a:lnTo>
                  <a:pt x="624" y="831"/>
                </a:lnTo>
                <a:lnTo>
                  <a:pt x="626" y="831"/>
                </a:lnTo>
                <a:lnTo>
                  <a:pt x="629" y="829"/>
                </a:lnTo>
                <a:lnTo>
                  <a:pt x="629" y="827"/>
                </a:lnTo>
                <a:lnTo>
                  <a:pt x="630" y="827"/>
                </a:lnTo>
                <a:lnTo>
                  <a:pt x="632" y="827"/>
                </a:lnTo>
                <a:lnTo>
                  <a:pt x="632" y="825"/>
                </a:lnTo>
                <a:lnTo>
                  <a:pt x="632" y="824"/>
                </a:lnTo>
                <a:lnTo>
                  <a:pt x="633" y="824"/>
                </a:lnTo>
                <a:lnTo>
                  <a:pt x="636" y="822"/>
                </a:lnTo>
                <a:lnTo>
                  <a:pt x="640" y="816"/>
                </a:lnTo>
                <a:lnTo>
                  <a:pt x="642" y="808"/>
                </a:lnTo>
                <a:lnTo>
                  <a:pt x="645" y="801"/>
                </a:lnTo>
                <a:lnTo>
                  <a:pt x="645" y="205"/>
                </a:lnTo>
                <a:lnTo>
                  <a:pt x="454" y="0"/>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74" name="Freeform 450">
            <a:extLst>
              <a:ext uri="{FF2B5EF4-FFF2-40B4-BE49-F238E27FC236}">
                <a16:creationId xmlns:a16="http://schemas.microsoft.com/office/drawing/2014/main" id="{570B6FF6-6E40-72B0-A56E-488E4C1E65A6}"/>
              </a:ext>
            </a:extLst>
          </p:cNvPr>
          <p:cNvSpPr>
            <a:spLocks/>
          </p:cNvSpPr>
          <p:nvPr/>
        </p:nvSpPr>
        <p:spPr bwMode="auto">
          <a:xfrm>
            <a:off x="777875" y="3311525"/>
            <a:ext cx="255588" cy="333375"/>
          </a:xfrm>
          <a:custGeom>
            <a:avLst/>
            <a:gdLst>
              <a:gd name="T0" fmla="*/ 0 w 645"/>
              <a:gd name="T1" fmla="*/ 36 h 839"/>
              <a:gd name="T2" fmla="*/ 0 w 645"/>
              <a:gd name="T3" fmla="*/ 801 h 839"/>
              <a:gd name="T4" fmla="*/ 0 w 645"/>
              <a:gd name="T5" fmla="*/ 808 h 839"/>
              <a:gd name="T6" fmla="*/ 2 w 645"/>
              <a:gd name="T7" fmla="*/ 816 h 839"/>
              <a:gd name="T8" fmla="*/ 10 w 645"/>
              <a:gd name="T9" fmla="*/ 827 h 839"/>
              <a:gd name="T10" fmla="*/ 15 w 645"/>
              <a:gd name="T11" fmla="*/ 831 h 839"/>
              <a:gd name="T12" fmla="*/ 21 w 645"/>
              <a:gd name="T13" fmla="*/ 834 h 839"/>
              <a:gd name="T14" fmla="*/ 38 w 645"/>
              <a:gd name="T15" fmla="*/ 839 h 839"/>
              <a:gd name="T16" fmla="*/ 607 w 645"/>
              <a:gd name="T17" fmla="*/ 839 h 839"/>
              <a:gd name="T18" fmla="*/ 614 w 645"/>
              <a:gd name="T19" fmla="*/ 837 h 839"/>
              <a:gd name="T20" fmla="*/ 621 w 645"/>
              <a:gd name="T21" fmla="*/ 834 h 839"/>
              <a:gd name="T22" fmla="*/ 623 w 645"/>
              <a:gd name="T23" fmla="*/ 832 h 839"/>
              <a:gd name="T24" fmla="*/ 623 w 645"/>
              <a:gd name="T25" fmla="*/ 831 h 839"/>
              <a:gd name="T26" fmla="*/ 624 w 645"/>
              <a:gd name="T27" fmla="*/ 831 h 839"/>
              <a:gd name="T28" fmla="*/ 626 w 645"/>
              <a:gd name="T29" fmla="*/ 831 h 839"/>
              <a:gd name="T30" fmla="*/ 629 w 645"/>
              <a:gd name="T31" fmla="*/ 829 h 839"/>
              <a:gd name="T32" fmla="*/ 629 w 645"/>
              <a:gd name="T33" fmla="*/ 827 h 839"/>
              <a:gd name="T34" fmla="*/ 630 w 645"/>
              <a:gd name="T35" fmla="*/ 827 h 839"/>
              <a:gd name="T36" fmla="*/ 632 w 645"/>
              <a:gd name="T37" fmla="*/ 827 h 839"/>
              <a:gd name="T38" fmla="*/ 632 w 645"/>
              <a:gd name="T39" fmla="*/ 825 h 839"/>
              <a:gd name="T40" fmla="*/ 632 w 645"/>
              <a:gd name="T41" fmla="*/ 824 h 839"/>
              <a:gd name="T42" fmla="*/ 633 w 645"/>
              <a:gd name="T43" fmla="*/ 824 h 839"/>
              <a:gd name="T44" fmla="*/ 636 w 645"/>
              <a:gd name="T45" fmla="*/ 822 h 839"/>
              <a:gd name="T46" fmla="*/ 640 w 645"/>
              <a:gd name="T47" fmla="*/ 816 h 839"/>
              <a:gd name="T48" fmla="*/ 642 w 645"/>
              <a:gd name="T49" fmla="*/ 808 h 839"/>
              <a:gd name="T50" fmla="*/ 645 w 645"/>
              <a:gd name="T51" fmla="*/ 801 h 839"/>
              <a:gd name="T52" fmla="*/ 645 w 645"/>
              <a:gd name="T53" fmla="*/ 205 h 839"/>
              <a:gd name="T54" fmla="*/ 454 w 645"/>
              <a:gd name="T55" fmla="*/ 0 h 839"/>
              <a:gd name="T56" fmla="*/ 38 w 645"/>
              <a:gd name="T57" fmla="*/ 0 h 839"/>
              <a:gd name="T58" fmla="*/ 21 w 645"/>
              <a:gd name="T59" fmla="*/ 3 h 839"/>
              <a:gd name="T60" fmla="*/ 15 w 645"/>
              <a:gd name="T61" fmla="*/ 5 h 839"/>
              <a:gd name="T62" fmla="*/ 10 w 645"/>
              <a:gd name="T63" fmla="*/ 9 h 839"/>
              <a:gd name="T64" fmla="*/ 2 w 645"/>
              <a:gd name="T65" fmla="*/ 20 h 839"/>
              <a:gd name="T66" fmla="*/ 0 w 645"/>
              <a:gd name="T67" fmla="*/ 27 h 839"/>
              <a:gd name="T68" fmla="*/ 0 w 645"/>
              <a:gd name="T69" fmla="*/ 3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5" h="839">
                <a:moveTo>
                  <a:pt x="0" y="36"/>
                </a:moveTo>
                <a:lnTo>
                  <a:pt x="0" y="801"/>
                </a:lnTo>
                <a:lnTo>
                  <a:pt x="0" y="808"/>
                </a:lnTo>
                <a:lnTo>
                  <a:pt x="2" y="816"/>
                </a:lnTo>
                <a:lnTo>
                  <a:pt x="10" y="827"/>
                </a:lnTo>
                <a:lnTo>
                  <a:pt x="15" y="831"/>
                </a:lnTo>
                <a:lnTo>
                  <a:pt x="21" y="834"/>
                </a:lnTo>
                <a:lnTo>
                  <a:pt x="38" y="839"/>
                </a:lnTo>
                <a:lnTo>
                  <a:pt x="607" y="839"/>
                </a:lnTo>
                <a:lnTo>
                  <a:pt x="614" y="837"/>
                </a:lnTo>
                <a:lnTo>
                  <a:pt x="621" y="834"/>
                </a:lnTo>
                <a:lnTo>
                  <a:pt x="623" y="832"/>
                </a:lnTo>
                <a:lnTo>
                  <a:pt x="623" y="831"/>
                </a:lnTo>
                <a:lnTo>
                  <a:pt x="624" y="831"/>
                </a:lnTo>
                <a:lnTo>
                  <a:pt x="626" y="831"/>
                </a:lnTo>
                <a:lnTo>
                  <a:pt x="629" y="829"/>
                </a:lnTo>
                <a:lnTo>
                  <a:pt x="629" y="827"/>
                </a:lnTo>
                <a:lnTo>
                  <a:pt x="630" y="827"/>
                </a:lnTo>
                <a:lnTo>
                  <a:pt x="632" y="827"/>
                </a:lnTo>
                <a:lnTo>
                  <a:pt x="632" y="825"/>
                </a:lnTo>
                <a:lnTo>
                  <a:pt x="632" y="824"/>
                </a:lnTo>
                <a:lnTo>
                  <a:pt x="633" y="824"/>
                </a:lnTo>
                <a:lnTo>
                  <a:pt x="636" y="822"/>
                </a:lnTo>
                <a:lnTo>
                  <a:pt x="640" y="816"/>
                </a:lnTo>
                <a:lnTo>
                  <a:pt x="642" y="808"/>
                </a:lnTo>
                <a:lnTo>
                  <a:pt x="645" y="801"/>
                </a:lnTo>
                <a:lnTo>
                  <a:pt x="645" y="205"/>
                </a:lnTo>
                <a:lnTo>
                  <a:pt x="454" y="0"/>
                </a:lnTo>
                <a:lnTo>
                  <a:pt x="38" y="0"/>
                </a:lnTo>
                <a:lnTo>
                  <a:pt x="21" y="3"/>
                </a:lnTo>
                <a:lnTo>
                  <a:pt x="15" y="5"/>
                </a:lnTo>
                <a:lnTo>
                  <a:pt x="10" y="9"/>
                </a:lnTo>
                <a:lnTo>
                  <a:pt x="2" y="20"/>
                </a:lnTo>
                <a:lnTo>
                  <a:pt x="0" y="27"/>
                </a:lnTo>
                <a:lnTo>
                  <a:pt x="0" y="36"/>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75" name="Freeform 451">
            <a:extLst>
              <a:ext uri="{FF2B5EF4-FFF2-40B4-BE49-F238E27FC236}">
                <a16:creationId xmlns:a16="http://schemas.microsoft.com/office/drawing/2014/main" id="{1E07BBAC-9277-CE76-BA46-FB0EFC1808B2}"/>
              </a:ext>
            </a:extLst>
          </p:cNvPr>
          <p:cNvSpPr>
            <a:spLocks/>
          </p:cNvSpPr>
          <p:nvPr/>
        </p:nvSpPr>
        <p:spPr bwMode="auto">
          <a:xfrm>
            <a:off x="957263" y="3311525"/>
            <a:ext cx="76200" cy="80963"/>
          </a:xfrm>
          <a:custGeom>
            <a:avLst/>
            <a:gdLst>
              <a:gd name="T0" fmla="*/ 0 w 191"/>
              <a:gd name="T1" fmla="*/ 182 h 205"/>
              <a:gd name="T2" fmla="*/ 2 w 191"/>
              <a:gd name="T3" fmla="*/ 191 h 205"/>
              <a:gd name="T4" fmla="*/ 5 w 191"/>
              <a:gd name="T5" fmla="*/ 199 h 205"/>
              <a:gd name="T6" fmla="*/ 11 w 191"/>
              <a:gd name="T7" fmla="*/ 203 h 205"/>
              <a:gd name="T8" fmla="*/ 21 w 191"/>
              <a:gd name="T9" fmla="*/ 205 h 205"/>
              <a:gd name="T10" fmla="*/ 33 w 191"/>
              <a:gd name="T11" fmla="*/ 205 h 205"/>
              <a:gd name="T12" fmla="*/ 53 w 191"/>
              <a:gd name="T13" fmla="*/ 205 h 205"/>
              <a:gd name="T14" fmla="*/ 79 w 191"/>
              <a:gd name="T15" fmla="*/ 205 h 205"/>
              <a:gd name="T16" fmla="*/ 112 w 191"/>
              <a:gd name="T17" fmla="*/ 205 h 205"/>
              <a:gd name="T18" fmla="*/ 127 w 191"/>
              <a:gd name="T19" fmla="*/ 205 h 205"/>
              <a:gd name="T20" fmla="*/ 142 w 191"/>
              <a:gd name="T21" fmla="*/ 205 h 205"/>
              <a:gd name="T22" fmla="*/ 154 w 191"/>
              <a:gd name="T23" fmla="*/ 205 h 205"/>
              <a:gd name="T24" fmla="*/ 166 w 191"/>
              <a:gd name="T25" fmla="*/ 205 h 205"/>
              <a:gd name="T26" fmla="*/ 174 w 191"/>
              <a:gd name="T27" fmla="*/ 205 h 205"/>
              <a:gd name="T28" fmla="*/ 182 w 191"/>
              <a:gd name="T29" fmla="*/ 205 h 205"/>
              <a:gd name="T30" fmla="*/ 187 w 191"/>
              <a:gd name="T31" fmla="*/ 205 h 205"/>
              <a:gd name="T32" fmla="*/ 191 w 191"/>
              <a:gd name="T33" fmla="*/ 205 h 205"/>
              <a:gd name="T34" fmla="*/ 0 w 191"/>
              <a:gd name="T35" fmla="*/ 0 h 205"/>
              <a:gd name="T36" fmla="*/ 0 w 191"/>
              <a:gd name="T37" fmla="*/ 8 h 205"/>
              <a:gd name="T38" fmla="*/ 0 w 191"/>
              <a:gd name="T39" fmla="*/ 16 h 205"/>
              <a:gd name="T40" fmla="*/ 0 w 191"/>
              <a:gd name="T41" fmla="*/ 26 h 205"/>
              <a:gd name="T42" fmla="*/ 0 w 191"/>
              <a:gd name="T43" fmla="*/ 36 h 205"/>
              <a:gd name="T44" fmla="*/ 0 w 191"/>
              <a:gd name="T45" fmla="*/ 51 h 205"/>
              <a:gd name="T46" fmla="*/ 0 w 191"/>
              <a:gd name="T47" fmla="*/ 66 h 205"/>
              <a:gd name="T48" fmla="*/ 0 w 191"/>
              <a:gd name="T49" fmla="*/ 85 h 205"/>
              <a:gd name="T50" fmla="*/ 0 w 191"/>
              <a:gd name="T51" fmla="*/ 103 h 205"/>
              <a:gd name="T52" fmla="*/ 0 w 191"/>
              <a:gd name="T53" fmla="*/ 119 h 205"/>
              <a:gd name="T54" fmla="*/ 0 w 191"/>
              <a:gd name="T55" fmla="*/ 133 h 205"/>
              <a:gd name="T56" fmla="*/ 0 w 191"/>
              <a:gd name="T57" fmla="*/ 147 h 205"/>
              <a:gd name="T58" fmla="*/ 0 w 191"/>
              <a:gd name="T59" fmla="*/ 168 h 205"/>
              <a:gd name="T60" fmla="*/ 0 w 191"/>
              <a:gd name="T61" fmla="*/ 175 h 205"/>
              <a:gd name="T62" fmla="*/ 0 w 191"/>
              <a:gd name="T63" fmla="*/ 182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1" h="205">
                <a:moveTo>
                  <a:pt x="0" y="182"/>
                </a:moveTo>
                <a:lnTo>
                  <a:pt x="2" y="191"/>
                </a:lnTo>
                <a:lnTo>
                  <a:pt x="5" y="199"/>
                </a:lnTo>
                <a:lnTo>
                  <a:pt x="11" y="203"/>
                </a:lnTo>
                <a:lnTo>
                  <a:pt x="21" y="205"/>
                </a:lnTo>
                <a:lnTo>
                  <a:pt x="33" y="205"/>
                </a:lnTo>
                <a:lnTo>
                  <a:pt x="53" y="205"/>
                </a:lnTo>
                <a:lnTo>
                  <a:pt x="79" y="205"/>
                </a:lnTo>
                <a:lnTo>
                  <a:pt x="112" y="205"/>
                </a:lnTo>
                <a:lnTo>
                  <a:pt x="127" y="205"/>
                </a:lnTo>
                <a:lnTo>
                  <a:pt x="142" y="205"/>
                </a:lnTo>
                <a:lnTo>
                  <a:pt x="154" y="205"/>
                </a:lnTo>
                <a:lnTo>
                  <a:pt x="166" y="205"/>
                </a:lnTo>
                <a:lnTo>
                  <a:pt x="174" y="205"/>
                </a:lnTo>
                <a:lnTo>
                  <a:pt x="182" y="205"/>
                </a:lnTo>
                <a:lnTo>
                  <a:pt x="187" y="205"/>
                </a:lnTo>
                <a:lnTo>
                  <a:pt x="191" y="205"/>
                </a:lnTo>
                <a:lnTo>
                  <a:pt x="0" y="0"/>
                </a:lnTo>
                <a:lnTo>
                  <a:pt x="0" y="8"/>
                </a:lnTo>
                <a:lnTo>
                  <a:pt x="0" y="16"/>
                </a:lnTo>
                <a:lnTo>
                  <a:pt x="0" y="26"/>
                </a:lnTo>
                <a:lnTo>
                  <a:pt x="0" y="36"/>
                </a:lnTo>
                <a:lnTo>
                  <a:pt x="0" y="51"/>
                </a:lnTo>
                <a:lnTo>
                  <a:pt x="0" y="66"/>
                </a:lnTo>
                <a:lnTo>
                  <a:pt x="0" y="85"/>
                </a:lnTo>
                <a:lnTo>
                  <a:pt x="0" y="103"/>
                </a:lnTo>
                <a:lnTo>
                  <a:pt x="0" y="119"/>
                </a:lnTo>
                <a:lnTo>
                  <a:pt x="0" y="133"/>
                </a:lnTo>
                <a:lnTo>
                  <a:pt x="0" y="147"/>
                </a:lnTo>
                <a:lnTo>
                  <a:pt x="0" y="168"/>
                </a:lnTo>
                <a:lnTo>
                  <a:pt x="0" y="175"/>
                </a:lnTo>
                <a:lnTo>
                  <a:pt x="0" y="182"/>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76" name="Freeform 452">
            <a:extLst>
              <a:ext uri="{FF2B5EF4-FFF2-40B4-BE49-F238E27FC236}">
                <a16:creationId xmlns:a16="http://schemas.microsoft.com/office/drawing/2014/main" id="{461464FF-2187-E810-7FCD-743448F669D1}"/>
              </a:ext>
            </a:extLst>
          </p:cNvPr>
          <p:cNvSpPr>
            <a:spLocks/>
          </p:cNvSpPr>
          <p:nvPr/>
        </p:nvSpPr>
        <p:spPr bwMode="auto">
          <a:xfrm>
            <a:off x="957263" y="3311525"/>
            <a:ext cx="76200" cy="80963"/>
          </a:xfrm>
          <a:custGeom>
            <a:avLst/>
            <a:gdLst>
              <a:gd name="T0" fmla="*/ 21 w 191"/>
              <a:gd name="T1" fmla="*/ 205 h 205"/>
              <a:gd name="T2" fmla="*/ 33 w 191"/>
              <a:gd name="T3" fmla="*/ 205 h 205"/>
              <a:gd name="T4" fmla="*/ 53 w 191"/>
              <a:gd name="T5" fmla="*/ 205 h 205"/>
              <a:gd name="T6" fmla="*/ 79 w 191"/>
              <a:gd name="T7" fmla="*/ 205 h 205"/>
              <a:gd name="T8" fmla="*/ 112 w 191"/>
              <a:gd name="T9" fmla="*/ 205 h 205"/>
              <a:gd name="T10" fmla="*/ 127 w 191"/>
              <a:gd name="T11" fmla="*/ 205 h 205"/>
              <a:gd name="T12" fmla="*/ 142 w 191"/>
              <a:gd name="T13" fmla="*/ 205 h 205"/>
              <a:gd name="T14" fmla="*/ 154 w 191"/>
              <a:gd name="T15" fmla="*/ 205 h 205"/>
              <a:gd name="T16" fmla="*/ 166 w 191"/>
              <a:gd name="T17" fmla="*/ 205 h 205"/>
              <a:gd name="T18" fmla="*/ 174 w 191"/>
              <a:gd name="T19" fmla="*/ 205 h 205"/>
              <a:gd name="T20" fmla="*/ 182 w 191"/>
              <a:gd name="T21" fmla="*/ 205 h 205"/>
              <a:gd name="T22" fmla="*/ 187 w 191"/>
              <a:gd name="T23" fmla="*/ 205 h 205"/>
              <a:gd name="T24" fmla="*/ 191 w 191"/>
              <a:gd name="T25" fmla="*/ 205 h 205"/>
              <a:gd name="T26" fmla="*/ 0 w 191"/>
              <a:gd name="T27" fmla="*/ 0 h 205"/>
              <a:gd name="T28" fmla="*/ 0 w 191"/>
              <a:gd name="T29" fmla="*/ 8 h 205"/>
              <a:gd name="T30" fmla="*/ 0 w 191"/>
              <a:gd name="T31" fmla="*/ 16 h 205"/>
              <a:gd name="T32" fmla="*/ 0 w 191"/>
              <a:gd name="T33" fmla="*/ 26 h 205"/>
              <a:gd name="T34" fmla="*/ 0 w 191"/>
              <a:gd name="T35" fmla="*/ 36 h 205"/>
              <a:gd name="T36" fmla="*/ 0 w 191"/>
              <a:gd name="T37" fmla="*/ 51 h 205"/>
              <a:gd name="T38" fmla="*/ 0 w 191"/>
              <a:gd name="T39" fmla="*/ 66 h 205"/>
              <a:gd name="T40" fmla="*/ 0 w 191"/>
              <a:gd name="T41" fmla="*/ 85 h 205"/>
              <a:gd name="T42" fmla="*/ 0 w 191"/>
              <a:gd name="T43" fmla="*/ 103 h 205"/>
              <a:gd name="T44" fmla="*/ 0 w 191"/>
              <a:gd name="T45" fmla="*/ 119 h 205"/>
              <a:gd name="T46" fmla="*/ 0 w 191"/>
              <a:gd name="T47" fmla="*/ 133 h 205"/>
              <a:gd name="T48" fmla="*/ 0 w 191"/>
              <a:gd name="T49" fmla="*/ 147 h 205"/>
              <a:gd name="T50" fmla="*/ 0 w 191"/>
              <a:gd name="T51" fmla="*/ 168 h 205"/>
              <a:gd name="T52" fmla="*/ 0 w 191"/>
              <a:gd name="T53" fmla="*/ 175 h 205"/>
              <a:gd name="T54" fmla="*/ 0 w 191"/>
              <a:gd name="T55" fmla="*/ 182 h 205"/>
              <a:gd name="T56" fmla="*/ 2 w 191"/>
              <a:gd name="T57" fmla="*/ 191 h 205"/>
              <a:gd name="T58" fmla="*/ 5 w 191"/>
              <a:gd name="T59" fmla="*/ 199 h 205"/>
              <a:gd name="T60" fmla="*/ 11 w 191"/>
              <a:gd name="T61" fmla="*/ 203 h 205"/>
              <a:gd name="T62" fmla="*/ 21 w 191"/>
              <a:gd name="T63"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1" h="205">
                <a:moveTo>
                  <a:pt x="21" y="205"/>
                </a:moveTo>
                <a:lnTo>
                  <a:pt x="33" y="205"/>
                </a:lnTo>
                <a:lnTo>
                  <a:pt x="53" y="205"/>
                </a:lnTo>
                <a:lnTo>
                  <a:pt x="79" y="205"/>
                </a:lnTo>
                <a:lnTo>
                  <a:pt x="112" y="205"/>
                </a:lnTo>
                <a:lnTo>
                  <a:pt x="127" y="205"/>
                </a:lnTo>
                <a:lnTo>
                  <a:pt x="142" y="205"/>
                </a:lnTo>
                <a:lnTo>
                  <a:pt x="154" y="205"/>
                </a:lnTo>
                <a:lnTo>
                  <a:pt x="166" y="205"/>
                </a:lnTo>
                <a:lnTo>
                  <a:pt x="174" y="205"/>
                </a:lnTo>
                <a:lnTo>
                  <a:pt x="182" y="205"/>
                </a:lnTo>
                <a:lnTo>
                  <a:pt x="187" y="205"/>
                </a:lnTo>
                <a:lnTo>
                  <a:pt x="191" y="205"/>
                </a:lnTo>
                <a:lnTo>
                  <a:pt x="0" y="0"/>
                </a:lnTo>
                <a:lnTo>
                  <a:pt x="0" y="8"/>
                </a:lnTo>
                <a:lnTo>
                  <a:pt x="0" y="16"/>
                </a:lnTo>
                <a:lnTo>
                  <a:pt x="0" y="26"/>
                </a:lnTo>
                <a:lnTo>
                  <a:pt x="0" y="36"/>
                </a:lnTo>
                <a:lnTo>
                  <a:pt x="0" y="51"/>
                </a:lnTo>
                <a:lnTo>
                  <a:pt x="0" y="66"/>
                </a:lnTo>
                <a:lnTo>
                  <a:pt x="0" y="85"/>
                </a:lnTo>
                <a:lnTo>
                  <a:pt x="0" y="103"/>
                </a:lnTo>
                <a:lnTo>
                  <a:pt x="0" y="119"/>
                </a:lnTo>
                <a:lnTo>
                  <a:pt x="0" y="133"/>
                </a:lnTo>
                <a:lnTo>
                  <a:pt x="0" y="147"/>
                </a:lnTo>
                <a:lnTo>
                  <a:pt x="0" y="168"/>
                </a:lnTo>
                <a:lnTo>
                  <a:pt x="0" y="175"/>
                </a:lnTo>
                <a:lnTo>
                  <a:pt x="0" y="182"/>
                </a:lnTo>
                <a:lnTo>
                  <a:pt x="2" y="191"/>
                </a:lnTo>
                <a:lnTo>
                  <a:pt x="5" y="199"/>
                </a:lnTo>
                <a:lnTo>
                  <a:pt x="11" y="203"/>
                </a:lnTo>
                <a:lnTo>
                  <a:pt x="21" y="205"/>
                </a:lnTo>
              </a:path>
            </a:pathLst>
          </a:custGeom>
          <a:noFill/>
          <a:ln w="47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477" name="Line 453">
            <a:extLst>
              <a:ext uri="{FF2B5EF4-FFF2-40B4-BE49-F238E27FC236}">
                <a16:creationId xmlns:a16="http://schemas.microsoft.com/office/drawing/2014/main" id="{9C8E4B4D-8431-1CBE-38C9-F94D5C5F368C}"/>
              </a:ext>
            </a:extLst>
          </p:cNvPr>
          <p:cNvSpPr>
            <a:spLocks noChangeShapeType="1"/>
          </p:cNvSpPr>
          <p:nvPr/>
        </p:nvSpPr>
        <p:spPr bwMode="auto">
          <a:xfrm flipH="1">
            <a:off x="814388" y="3454400"/>
            <a:ext cx="179387"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78" name="Line 454">
            <a:extLst>
              <a:ext uri="{FF2B5EF4-FFF2-40B4-BE49-F238E27FC236}">
                <a16:creationId xmlns:a16="http://schemas.microsoft.com/office/drawing/2014/main" id="{8171821A-9262-F1BF-7049-C42CF2784864}"/>
              </a:ext>
            </a:extLst>
          </p:cNvPr>
          <p:cNvSpPr>
            <a:spLocks noChangeShapeType="1"/>
          </p:cNvSpPr>
          <p:nvPr/>
        </p:nvSpPr>
        <p:spPr bwMode="auto">
          <a:xfrm flipH="1">
            <a:off x="815975" y="3481388"/>
            <a:ext cx="177800"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79" name="Line 455">
            <a:extLst>
              <a:ext uri="{FF2B5EF4-FFF2-40B4-BE49-F238E27FC236}">
                <a16:creationId xmlns:a16="http://schemas.microsoft.com/office/drawing/2014/main" id="{5E4045FC-32F3-9508-5CBD-6B806C322216}"/>
              </a:ext>
            </a:extLst>
          </p:cNvPr>
          <p:cNvSpPr>
            <a:spLocks noChangeShapeType="1"/>
          </p:cNvSpPr>
          <p:nvPr/>
        </p:nvSpPr>
        <p:spPr bwMode="auto">
          <a:xfrm flipH="1">
            <a:off x="815975" y="3508375"/>
            <a:ext cx="177800"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80" name="Line 456">
            <a:extLst>
              <a:ext uri="{FF2B5EF4-FFF2-40B4-BE49-F238E27FC236}">
                <a16:creationId xmlns:a16="http://schemas.microsoft.com/office/drawing/2014/main" id="{3210C97E-C078-010F-3F6A-77A1A28B9A9F}"/>
              </a:ext>
            </a:extLst>
          </p:cNvPr>
          <p:cNvSpPr>
            <a:spLocks noChangeShapeType="1"/>
          </p:cNvSpPr>
          <p:nvPr/>
        </p:nvSpPr>
        <p:spPr bwMode="auto">
          <a:xfrm flipH="1">
            <a:off x="815975" y="3535363"/>
            <a:ext cx="177800" cy="15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81" name="Line 457">
            <a:extLst>
              <a:ext uri="{FF2B5EF4-FFF2-40B4-BE49-F238E27FC236}">
                <a16:creationId xmlns:a16="http://schemas.microsoft.com/office/drawing/2014/main" id="{9067454C-5A74-6043-BB35-CB65ABD92BE7}"/>
              </a:ext>
            </a:extLst>
          </p:cNvPr>
          <p:cNvSpPr>
            <a:spLocks noChangeShapeType="1"/>
          </p:cNvSpPr>
          <p:nvPr/>
        </p:nvSpPr>
        <p:spPr bwMode="auto">
          <a:xfrm flipH="1">
            <a:off x="815975" y="3562350"/>
            <a:ext cx="177800"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82" name="Line 458">
            <a:extLst>
              <a:ext uri="{FF2B5EF4-FFF2-40B4-BE49-F238E27FC236}">
                <a16:creationId xmlns:a16="http://schemas.microsoft.com/office/drawing/2014/main" id="{F24D6D64-47C4-3DC8-FF43-90CED01AF0CC}"/>
              </a:ext>
            </a:extLst>
          </p:cNvPr>
          <p:cNvSpPr>
            <a:spLocks noChangeShapeType="1"/>
          </p:cNvSpPr>
          <p:nvPr/>
        </p:nvSpPr>
        <p:spPr bwMode="auto">
          <a:xfrm flipH="1">
            <a:off x="815975" y="3587750"/>
            <a:ext cx="96838"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483" name="Freeform 459">
            <a:extLst>
              <a:ext uri="{FF2B5EF4-FFF2-40B4-BE49-F238E27FC236}">
                <a16:creationId xmlns:a16="http://schemas.microsoft.com/office/drawing/2014/main" id="{0BB440C8-C53B-A438-D3A5-C2DEBF874B6D}"/>
              </a:ext>
            </a:extLst>
          </p:cNvPr>
          <p:cNvSpPr>
            <a:spLocks/>
          </p:cNvSpPr>
          <p:nvPr/>
        </p:nvSpPr>
        <p:spPr bwMode="auto">
          <a:xfrm>
            <a:off x="458788" y="2822575"/>
            <a:ext cx="665162" cy="161925"/>
          </a:xfrm>
          <a:custGeom>
            <a:avLst/>
            <a:gdLst>
              <a:gd name="T0" fmla="*/ 88 w 1676"/>
              <a:gd name="T1" fmla="*/ 357 h 406"/>
              <a:gd name="T2" fmla="*/ 178 w 1676"/>
              <a:gd name="T3" fmla="*/ 269 h 406"/>
              <a:gd name="T4" fmla="*/ 297 w 1676"/>
              <a:gd name="T5" fmla="*/ 188 h 406"/>
              <a:gd name="T6" fmla="*/ 363 w 1676"/>
              <a:gd name="T7" fmla="*/ 152 h 406"/>
              <a:gd name="T8" fmla="*/ 507 w 1676"/>
              <a:gd name="T9" fmla="*/ 99 h 406"/>
              <a:gd name="T10" fmla="*/ 622 w 1676"/>
              <a:gd name="T11" fmla="*/ 72 h 406"/>
              <a:gd name="T12" fmla="*/ 746 w 1676"/>
              <a:gd name="T13" fmla="*/ 58 h 406"/>
              <a:gd name="T14" fmla="*/ 833 w 1676"/>
              <a:gd name="T15" fmla="*/ 57 h 406"/>
              <a:gd name="T16" fmla="*/ 918 w 1676"/>
              <a:gd name="T17" fmla="*/ 58 h 406"/>
              <a:gd name="T18" fmla="*/ 1001 w 1676"/>
              <a:gd name="T19" fmla="*/ 66 h 406"/>
              <a:gd name="T20" fmla="*/ 1080 w 1676"/>
              <a:gd name="T21" fmla="*/ 80 h 406"/>
              <a:gd name="T22" fmla="*/ 1157 w 1676"/>
              <a:gd name="T23" fmla="*/ 99 h 406"/>
              <a:gd name="T24" fmla="*/ 1230 w 1676"/>
              <a:gd name="T25" fmla="*/ 123 h 406"/>
              <a:gd name="T26" fmla="*/ 1301 w 1676"/>
              <a:gd name="T27" fmla="*/ 152 h 406"/>
              <a:gd name="T28" fmla="*/ 1367 w 1676"/>
              <a:gd name="T29" fmla="*/ 188 h 406"/>
              <a:gd name="T30" fmla="*/ 1432 w 1676"/>
              <a:gd name="T31" fmla="*/ 229 h 406"/>
              <a:gd name="T32" fmla="*/ 1508 w 1676"/>
              <a:gd name="T33" fmla="*/ 288 h 406"/>
              <a:gd name="T34" fmla="*/ 1552 w 1676"/>
              <a:gd name="T35" fmla="*/ 330 h 406"/>
              <a:gd name="T36" fmla="*/ 1605 w 1676"/>
              <a:gd name="T37" fmla="*/ 400 h 406"/>
              <a:gd name="T38" fmla="*/ 1647 w 1676"/>
              <a:gd name="T39" fmla="*/ 359 h 406"/>
              <a:gd name="T40" fmla="*/ 1583 w 1676"/>
              <a:gd name="T41" fmla="*/ 282 h 406"/>
              <a:gd name="T42" fmla="*/ 1508 w 1676"/>
              <a:gd name="T43" fmla="*/ 212 h 406"/>
              <a:gd name="T44" fmla="*/ 1420 w 1676"/>
              <a:gd name="T45" fmla="*/ 147 h 406"/>
              <a:gd name="T46" fmla="*/ 1318 w 1676"/>
              <a:gd name="T47" fmla="*/ 89 h 406"/>
              <a:gd name="T48" fmla="*/ 1230 w 1676"/>
              <a:gd name="T49" fmla="*/ 53 h 406"/>
              <a:gd name="T50" fmla="*/ 1166 w 1676"/>
              <a:gd name="T51" fmla="*/ 35 h 406"/>
              <a:gd name="T52" fmla="*/ 1097 w 1676"/>
              <a:gd name="T53" fmla="*/ 20 h 406"/>
              <a:gd name="T54" fmla="*/ 985 w 1676"/>
              <a:gd name="T55" fmla="*/ 7 h 406"/>
              <a:gd name="T56" fmla="*/ 863 w 1676"/>
              <a:gd name="T57" fmla="*/ 0 h 406"/>
              <a:gd name="T58" fmla="*/ 735 w 1676"/>
              <a:gd name="T59" fmla="*/ 2 h 406"/>
              <a:gd name="T60" fmla="*/ 655 w 1676"/>
              <a:gd name="T61" fmla="*/ 9 h 406"/>
              <a:gd name="T62" fmla="*/ 577 w 1676"/>
              <a:gd name="T63" fmla="*/ 18 h 406"/>
              <a:gd name="T64" fmla="*/ 438 w 1676"/>
              <a:gd name="T65" fmla="*/ 50 h 406"/>
              <a:gd name="T66" fmla="*/ 347 w 1676"/>
              <a:gd name="T67" fmla="*/ 83 h 406"/>
              <a:gd name="T68" fmla="*/ 267 w 1676"/>
              <a:gd name="T69" fmla="*/ 127 h 406"/>
              <a:gd name="T70" fmla="*/ 173 w 1676"/>
              <a:gd name="T71" fmla="*/ 190 h 406"/>
              <a:gd name="T72" fmla="*/ 98 w 1676"/>
              <a:gd name="T73" fmla="*/ 258 h 406"/>
              <a:gd name="T74" fmla="*/ 38 w 1676"/>
              <a:gd name="T75" fmla="*/ 330 h 406"/>
              <a:gd name="T76" fmla="*/ 0 w 1676"/>
              <a:gd name="T7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76" h="406">
                <a:moveTo>
                  <a:pt x="55" y="406"/>
                </a:moveTo>
                <a:lnTo>
                  <a:pt x="88" y="357"/>
                </a:lnTo>
                <a:lnTo>
                  <a:pt x="131" y="313"/>
                </a:lnTo>
                <a:lnTo>
                  <a:pt x="178" y="269"/>
                </a:lnTo>
                <a:lnTo>
                  <a:pt x="234" y="229"/>
                </a:lnTo>
                <a:lnTo>
                  <a:pt x="297" y="188"/>
                </a:lnTo>
                <a:lnTo>
                  <a:pt x="329" y="168"/>
                </a:lnTo>
                <a:lnTo>
                  <a:pt x="363" y="152"/>
                </a:lnTo>
                <a:lnTo>
                  <a:pt x="433" y="123"/>
                </a:lnTo>
                <a:lnTo>
                  <a:pt x="507" y="99"/>
                </a:lnTo>
                <a:lnTo>
                  <a:pt x="583" y="80"/>
                </a:lnTo>
                <a:lnTo>
                  <a:pt x="622" y="72"/>
                </a:lnTo>
                <a:lnTo>
                  <a:pt x="663" y="66"/>
                </a:lnTo>
                <a:lnTo>
                  <a:pt x="746" y="58"/>
                </a:lnTo>
                <a:lnTo>
                  <a:pt x="788" y="56"/>
                </a:lnTo>
                <a:lnTo>
                  <a:pt x="833" y="57"/>
                </a:lnTo>
                <a:lnTo>
                  <a:pt x="875" y="56"/>
                </a:lnTo>
                <a:lnTo>
                  <a:pt x="918" y="58"/>
                </a:lnTo>
                <a:lnTo>
                  <a:pt x="959" y="60"/>
                </a:lnTo>
                <a:lnTo>
                  <a:pt x="1001" y="66"/>
                </a:lnTo>
                <a:lnTo>
                  <a:pt x="1040" y="72"/>
                </a:lnTo>
                <a:lnTo>
                  <a:pt x="1080" y="80"/>
                </a:lnTo>
                <a:lnTo>
                  <a:pt x="1119" y="87"/>
                </a:lnTo>
                <a:lnTo>
                  <a:pt x="1157" y="99"/>
                </a:lnTo>
                <a:lnTo>
                  <a:pt x="1194" y="109"/>
                </a:lnTo>
                <a:lnTo>
                  <a:pt x="1230" y="123"/>
                </a:lnTo>
                <a:lnTo>
                  <a:pt x="1266" y="136"/>
                </a:lnTo>
                <a:lnTo>
                  <a:pt x="1301" y="152"/>
                </a:lnTo>
                <a:lnTo>
                  <a:pt x="1334" y="168"/>
                </a:lnTo>
                <a:lnTo>
                  <a:pt x="1367" y="188"/>
                </a:lnTo>
                <a:lnTo>
                  <a:pt x="1399" y="207"/>
                </a:lnTo>
                <a:lnTo>
                  <a:pt x="1432" y="229"/>
                </a:lnTo>
                <a:lnTo>
                  <a:pt x="1484" y="267"/>
                </a:lnTo>
                <a:lnTo>
                  <a:pt x="1508" y="288"/>
                </a:lnTo>
                <a:lnTo>
                  <a:pt x="1531" y="310"/>
                </a:lnTo>
                <a:lnTo>
                  <a:pt x="1552" y="330"/>
                </a:lnTo>
                <a:lnTo>
                  <a:pt x="1571" y="353"/>
                </a:lnTo>
                <a:lnTo>
                  <a:pt x="1605" y="400"/>
                </a:lnTo>
                <a:lnTo>
                  <a:pt x="1676" y="400"/>
                </a:lnTo>
                <a:lnTo>
                  <a:pt x="1647" y="359"/>
                </a:lnTo>
                <a:lnTo>
                  <a:pt x="1618" y="320"/>
                </a:lnTo>
                <a:lnTo>
                  <a:pt x="1583" y="282"/>
                </a:lnTo>
                <a:lnTo>
                  <a:pt x="1548" y="247"/>
                </a:lnTo>
                <a:lnTo>
                  <a:pt x="1508" y="212"/>
                </a:lnTo>
                <a:lnTo>
                  <a:pt x="1466" y="179"/>
                </a:lnTo>
                <a:lnTo>
                  <a:pt x="1420" y="147"/>
                </a:lnTo>
                <a:lnTo>
                  <a:pt x="1373" y="117"/>
                </a:lnTo>
                <a:lnTo>
                  <a:pt x="1318" y="89"/>
                </a:lnTo>
                <a:lnTo>
                  <a:pt x="1261" y="65"/>
                </a:lnTo>
                <a:lnTo>
                  <a:pt x="1230" y="53"/>
                </a:lnTo>
                <a:lnTo>
                  <a:pt x="1199" y="44"/>
                </a:lnTo>
                <a:lnTo>
                  <a:pt x="1166" y="35"/>
                </a:lnTo>
                <a:lnTo>
                  <a:pt x="1133" y="28"/>
                </a:lnTo>
                <a:lnTo>
                  <a:pt x="1097" y="20"/>
                </a:lnTo>
                <a:lnTo>
                  <a:pt x="1060" y="15"/>
                </a:lnTo>
                <a:lnTo>
                  <a:pt x="985" y="7"/>
                </a:lnTo>
                <a:lnTo>
                  <a:pt x="905" y="1"/>
                </a:lnTo>
                <a:lnTo>
                  <a:pt x="863" y="0"/>
                </a:lnTo>
                <a:lnTo>
                  <a:pt x="821" y="1"/>
                </a:lnTo>
                <a:lnTo>
                  <a:pt x="735" y="2"/>
                </a:lnTo>
                <a:lnTo>
                  <a:pt x="693" y="4"/>
                </a:lnTo>
                <a:lnTo>
                  <a:pt x="655" y="9"/>
                </a:lnTo>
                <a:lnTo>
                  <a:pt x="615" y="12"/>
                </a:lnTo>
                <a:lnTo>
                  <a:pt x="577" y="18"/>
                </a:lnTo>
                <a:lnTo>
                  <a:pt x="507" y="33"/>
                </a:lnTo>
                <a:lnTo>
                  <a:pt x="438" y="50"/>
                </a:lnTo>
                <a:lnTo>
                  <a:pt x="377" y="72"/>
                </a:lnTo>
                <a:lnTo>
                  <a:pt x="347" y="83"/>
                </a:lnTo>
                <a:lnTo>
                  <a:pt x="320" y="97"/>
                </a:lnTo>
                <a:lnTo>
                  <a:pt x="267" y="127"/>
                </a:lnTo>
                <a:lnTo>
                  <a:pt x="217" y="158"/>
                </a:lnTo>
                <a:lnTo>
                  <a:pt x="173" y="190"/>
                </a:lnTo>
                <a:lnTo>
                  <a:pt x="132" y="223"/>
                </a:lnTo>
                <a:lnTo>
                  <a:pt x="98" y="258"/>
                </a:lnTo>
                <a:lnTo>
                  <a:pt x="66" y="294"/>
                </a:lnTo>
                <a:lnTo>
                  <a:pt x="38" y="330"/>
                </a:lnTo>
                <a:lnTo>
                  <a:pt x="15" y="368"/>
                </a:lnTo>
                <a:lnTo>
                  <a:pt x="0" y="406"/>
                </a:lnTo>
                <a:lnTo>
                  <a:pt x="55" y="406"/>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84" name="Freeform 460">
            <a:extLst>
              <a:ext uri="{FF2B5EF4-FFF2-40B4-BE49-F238E27FC236}">
                <a16:creationId xmlns:a16="http://schemas.microsoft.com/office/drawing/2014/main" id="{1A746434-B7BA-B448-A76E-89ACD45AB760}"/>
              </a:ext>
            </a:extLst>
          </p:cNvPr>
          <p:cNvSpPr>
            <a:spLocks/>
          </p:cNvSpPr>
          <p:nvPr/>
        </p:nvSpPr>
        <p:spPr bwMode="auto">
          <a:xfrm>
            <a:off x="428625" y="2924175"/>
            <a:ext cx="114300" cy="104775"/>
          </a:xfrm>
          <a:custGeom>
            <a:avLst/>
            <a:gdLst>
              <a:gd name="T0" fmla="*/ 30 w 288"/>
              <a:gd name="T1" fmla="*/ 18 h 264"/>
              <a:gd name="T2" fmla="*/ 23 w 288"/>
              <a:gd name="T3" fmla="*/ 13 h 264"/>
              <a:gd name="T4" fmla="*/ 0 w 288"/>
              <a:gd name="T5" fmla="*/ 0 h 264"/>
              <a:gd name="T6" fmla="*/ 34 w 288"/>
              <a:gd name="T7" fmla="*/ 264 h 264"/>
              <a:gd name="T8" fmla="*/ 288 w 288"/>
              <a:gd name="T9" fmla="*/ 180 h 264"/>
              <a:gd name="T10" fmla="*/ 259 w 288"/>
              <a:gd name="T11" fmla="*/ 160 h 264"/>
              <a:gd name="T12" fmla="*/ 227 w 288"/>
              <a:gd name="T13" fmla="*/ 141 h 264"/>
              <a:gd name="T14" fmla="*/ 58 w 288"/>
              <a:gd name="T15" fmla="*/ 36 h 264"/>
              <a:gd name="T16" fmla="*/ 30 w 288"/>
              <a:gd name="T17" fmla="*/ 18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64">
                <a:moveTo>
                  <a:pt x="30" y="18"/>
                </a:moveTo>
                <a:lnTo>
                  <a:pt x="23" y="13"/>
                </a:lnTo>
                <a:lnTo>
                  <a:pt x="0" y="0"/>
                </a:lnTo>
                <a:lnTo>
                  <a:pt x="34" y="264"/>
                </a:lnTo>
                <a:lnTo>
                  <a:pt x="288" y="180"/>
                </a:lnTo>
                <a:lnTo>
                  <a:pt x="259" y="160"/>
                </a:lnTo>
                <a:lnTo>
                  <a:pt x="227" y="141"/>
                </a:lnTo>
                <a:lnTo>
                  <a:pt x="58" y="36"/>
                </a:lnTo>
                <a:lnTo>
                  <a:pt x="30" y="18"/>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85" name="Freeform 461">
            <a:extLst>
              <a:ext uri="{FF2B5EF4-FFF2-40B4-BE49-F238E27FC236}">
                <a16:creationId xmlns:a16="http://schemas.microsoft.com/office/drawing/2014/main" id="{01B29C2C-16FC-F884-C5AA-83CC83FA5027}"/>
              </a:ext>
            </a:extLst>
          </p:cNvPr>
          <p:cNvSpPr>
            <a:spLocks/>
          </p:cNvSpPr>
          <p:nvPr/>
        </p:nvSpPr>
        <p:spPr bwMode="auto">
          <a:xfrm>
            <a:off x="2195513" y="2806700"/>
            <a:ext cx="441325" cy="161925"/>
          </a:xfrm>
          <a:custGeom>
            <a:avLst/>
            <a:gdLst>
              <a:gd name="T0" fmla="*/ 59 w 1111"/>
              <a:gd name="T1" fmla="*/ 357 h 406"/>
              <a:gd name="T2" fmla="*/ 119 w 1111"/>
              <a:gd name="T3" fmla="*/ 269 h 406"/>
              <a:gd name="T4" fmla="*/ 196 w 1111"/>
              <a:gd name="T5" fmla="*/ 188 h 406"/>
              <a:gd name="T6" fmla="*/ 287 w 1111"/>
              <a:gd name="T7" fmla="*/ 123 h 406"/>
              <a:gd name="T8" fmla="*/ 385 w 1111"/>
              <a:gd name="T9" fmla="*/ 79 h 406"/>
              <a:gd name="T10" fmla="*/ 494 w 1111"/>
              <a:gd name="T11" fmla="*/ 58 h 406"/>
              <a:gd name="T12" fmla="*/ 579 w 1111"/>
              <a:gd name="T13" fmla="*/ 56 h 406"/>
              <a:gd name="T14" fmla="*/ 635 w 1111"/>
              <a:gd name="T15" fmla="*/ 60 h 406"/>
              <a:gd name="T16" fmla="*/ 716 w 1111"/>
              <a:gd name="T17" fmla="*/ 79 h 406"/>
              <a:gd name="T18" fmla="*/ 767 w 1111"/>
              <a:gd name="T19" fmla="*/ 99 h 406"/>
              <a:gd name="T20" fmla="*/ 838 w 1111"/>
              <a:gd name="T21" fmla="*/ 136 h 406"/>
              <a:gd name="T22" fmla="*/ 883 w 1111"/>
              <a:gd name="T23" fmla="*/ 168 h 406"/>
              <a:gd name="T24" fmla="*/ 949 w 1111"/>
              <a:gd name="T25" fmla="*/ 229 h 406"/>
              <a:gd name="T26" fmla="*/ 1014 w 1111"/>
              <a:gd name="T27" fmla="*/ 310 h 406"/>
              <a:gd name="T28" fmla="*/ 1064 w 1111"/>
              <a:gd name="T29" fmla="*/ 400 h 406"/>
              <a:gd name="T30" fmla="*/ 1092 w 1111"/>
              <a:gd name="T31" fmla="*/ 359 h 406"/>
              <a:gd name="T32" fmla="*/ 1051 w 1111"/>
              <a:gd name="T33" fmla="*/ 282 h 406"/>
              <a:gd name="T34" fmla="*/ 1001 w 1111"/>
              <a:gd name="T35" fmla="*/ 212 h 406"/>
              <a:gd name="T36" fmla="*/ 941 w 1111"/>
              <a:gd name="T37" fmla="*/ 147 h 406"/>
              <a:gd name="T38" fmla="*/ 874 w 1111"/>
              <a:gd name="T39" fmla="*/ 89 h 406"/>
              <a:gd name="T40" fmla="*/ 815 w 1111"/>
              <a:gd name="T41" fmla="*/ 53 h 406"/>
              <a:gd name="T42" fmla="*/ 773 w 1111"/>
              <a:gd name="T43" fmla="*/ 35 h 406"/>
              <a:gd name="T44" fmla="*/ 727 w 1111"/>
              <a:gd name="T45" fmla="*/ 20 h 406"/>
              <a:gd name="T46" fmla="*/ 653 w 1111"/>
              <a:gd name="T47" fmla="*/ 7 h 406"/>
              <a:gd name="T48" fmla="*/ 572 w 1111"/>
              <a:gd name="T49" fmla="*/ 0 h 406"/>
              <a:gd name="T50" fmla="*/ 488 w 1111"/>
              <a:gd name="T51" fmla="*/ 2 h 406"/>
              <a:gd name="T52" fmla="*/ 383 w 1111"/>
              <a:gd name="T53" fmla="*/ 18 h 406"/>
              <a:gd name="T54" fmla="*/ 291 w 1111"/>
              <a:gd name="T55" fmla="*/ 50 h 406"/>
              <a:gd name="T56" fmla="*/ 229 w 1111"/>
              <a:gd name="T57" fmla="*/ 83 h 406"/>
              <a:gd name="T58" fmla="*/ 177 w 1111"/>
              <a:gd name="T59" fmla="*/ 127 h 406"/>
              <a:gd name="T60" fmla="*/ 114 w 1111"/>
              <a:gd name="T61" fmla="*/ 190 h 406"/>
              <a:gd name="T62" fmla="*/ 64 w 1111"/>
              <a:gd name="T63" fmla="*/ 258 h 406"/>
              <a:gd name="T64" fmla="*/ 26 w 1111"/>
              <a:gd name="T65" fmla="*/ 330 h 406"/>
              <a:gd name="T66" fmla="*/ 0 w 1111"/>
              <a:gd name="T6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11" h="406">
                <a:moveTo>
                  <a:pt x="37" y="406"/>
                </a:moveTo>
                <a:lnTo>
                  <a:pt x="59" y="357"/>
                </a:lnTo>
                <a:lnTo>
                  <a:pt x="87" y="313"/>
                </a:lnTo>
                <a:lnTo>
                  <a:pt x="119" y="269"/>
                </a:lnTo>
                <a:lnTo>
                  <a:pt x="155" y="229"/>
                </a:lnTo>
                <a:lnTo>
                  <a:pt x="196" y="188"/>
                </a:lnTo>
                <a:lnTo>
                  <a:pt x="241" y="152"/>
                </a:lnTo>
                <a:lnTo>
                  <a:pt x="287" y="123"/>
                </a:lnTo>
                <a:lnTo>
                  <a:pt x="336" y="99"/>
                </a:lnTo>
                <a:lnTo>
                  <a:pt x="385" y="79"/>
                </a:lnTo>
                <a:lnTo>
                  <a:pt x="439" y="66"/>
                </a:lnTo>
                <a:lnTo>
                  <a:pt x="494" y="58"/>
                </a:lnTo>
                <a:lnTo>
                  <a:pt x="552" y="57"/>
                </a:lnTo>
                <a:lnTo>
                  <a:pt x="579" y="56"/>
                </a:lnTo>
                <a:lnTo>
                  <a:pt x="608" y="58"/>
                </a:lnTo>
                <a:lnTo>
                  <a:pt x="635" y="60"/>
                </a:lnTo>
                <a:lnTo>
                  <a:pt x="663" y="66"/>
                </a:lnTo>
                <a:lnTo>
                  <a:pt x="716" y="79"/>
                </a:lnTo>
                <a:lnTo>
                  <a:pt x="741" y="87"/>
                </a:lnTo>
                <a:lnTo>
                  <a:pt x="767" y="99"/>
                </a:lnTo>
                <a:lnTo>
                  <a:pt x="815" y="123"/>
                </a:lnTo>
                <a:lnTo>
                  <a:pt x="838" y="136"/>
                </a:lnTo>
                <a:lnTo>
                  <a:pt x="862" y="152"/>
                </a:lnTo>
                <a:lnTo>
                  <a:pt x="883" y="168"/>
                </a:lnTo>
                <a:lnTo>
                  <a:pt x="906" y="188"/>
                </a:lnTo>
                <a:lnTo>
                  <a:pt x="949" y="229"/>
                </a:lnTo>
                <a:lnTo>
                  <a:pt x="984" y="267"/>
                </a:lnTo>
                <a:lnTo>
                  <a:pt x="1014" y="310"/>
                </a:lnTo>
                <a:lnTo>
                  <a:pt x="1042" y="353"/>
                </a:lnTo>
                <a:lnTo>
                  <a:pt x="1064" y="400"/>
                </a:lnTo>
                <a:lnTo>
                  <a:pt x="1111" y="400"/>
                </a:lnTo>
                <a:lnTo>
                  <a:pt x="1092" y="359"/>
                </a:lnTo>
                <a:lnTo>
                  <a:pt x="1072" y="320"/>
                </a:lnTo>
                <a:lnTo>
                  <a:pt x="1051" y="282"/>
                </a:lnTo>
                <a:lnTo>
                  <a:pt x="1027" y="247"/>
                </a:lnTo>
                <a:lnTo>
                  <a:pt x="1001" y="212"/>
                </a:lnTo>
                <a:lnTo>
                  <a:pt x="972" y="179"/>
                </a:lnTo>
                <a:lnTo>
                  <a:pt x="941" y="147"/>
                </a:lnTo>
                <a:lnTo>
                  <a:pt x="911" y="117"/>
                </a:lnTo>
                <a:lnTo>
                  <a:pt x="874" y="89"/>
                </a:lnTo>
                <a:lnTo>
                  <a:pt x="837" y="65"/>
                </a:lnTo>
                <a:lnTo>
                  <a:pt x="815" y="53"/>
                </a:lnTo>
                <a:lnTo>
                  <a:pt x="794" y="44"/>
                </a:lnTo>
                <a:lnTo>
                  <a:pt x="773" y="35"/>
                </a:lnTo>
                <a:lnTo>
                  <a:pt x="751" y="28"/>
                </a:lnTo>
                <a:lnTo>
                  <a:pt x="727" y="20"/>
                </a:lnTo>
                <a:lnTo>
                  <a:pt x="703" y="15"/>
                </a:lnTo>
                <a:lnTo>
                  <a:pt x="653" y="7"/>
                </a:lnTo>
                <a:lnTo>
                  <a:pt x="600" y="1"/>
                </a:lnTo>
                <a:lnTo>
                  <a:pt x="572" y="0"/>
                </a:lnTo>
                <a:lnTo>
                  <a:pt x="545" y="1"/>
                </a:lnTo>
                <a:lnTo>
                  <a:pt x="488" y="2"/>
                </a:lnTo>
                <a:lnTo>
                  <a:pt x="434" y="9"/>
                </a:lnTo>
                <a:lnTo>
                  <a:pt x="383" y="18"/>
                </a:lnTo>
                <a:lnTo>
                  <a:pt x="336" y="33"/>
                </a:lnTo>
                <a:lnTo>
                  <a:pt x="291" y="50"/>
                </a:lnTo>
                <a:lnTo>
                  <a:pt x="250" y="72"/>
                </a:lnTo>
                <a:lnTo>
                  <a:pt x="229" y="83"/>
                </a:lnTo>
                <a:lnTo>
                  <a:pt x="211" y="97"/>
                </a:lnTo>
                <a:lnTo>
                  <a:pt x="177" y="127"/>
                </a:lnTo>
                <a:lnTo>
                  <a:pt x="144" y="158"/>
                </a:lnTo>
                <a:lnTo>
                  <a:pt x="114" y="190"/>
                </a:lnTo>
                <a:lnTo>
                  <a:pt x="87" y="223"/>
                </a:lnTo>
                <a:lnTo>
                  <a:pt x="64" y="258"/>
                </a:lnTo>
                <a:lnTo>
                  <a:pt x="43" y="294"/>
                </a:lnTo>
                <a:lnTo>
                  <a:pt x="26" y="330"/>
                </a:lnTo>
                <a:lnTo>
                  <a:pt x="12" y="368"/>
                </a:lnTo>
                <a:lnTo>
                  <a:pt x="0" y="406"/>
                </a:lnTo>
                <a:lnTo>
                  <a:pt x="37" y="406"/>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86" name="Freeform 462">
            <a:extLst>
              <a:ext uri="{FF2B5EF4-FFF2-40B4-BE49-F238E27FC236}">
                <a16:creationId xmlns:a16="http://schemas.microsoft.com/office/drawing/2014/main" id="{0E02F1EF-BDCE-0D94-B46C-675D600AC5FC}"/>
              </a:ext>
            </a:extLst>
          </p:cNvPr>
          <p:cNvSpPr>
            <a:spLocks/>
          </p:cNvSpPr>
          <p:nvPr/>
        </p:nvSpPr>
        <p:spPr bwMode="auto">
          <a:xfrm>
            <a:off x="2147888" y="2927350"/>
            <a:ext cx="114300" cy="104775"/>
          </a:xfrm>
          <a:custGeom>
            <a:avLst/>
            <a:gdLst>
              <a:gd name="T0" fmla="*/ 29 w 288"/>
              <a:gd name="T1" fmla="*/ 18 h 264"/>
              <a:gd name="T2" fmla="*/ 22 w 288"/>
              <a:gd name="T3" fmla="*/ 13 h 264"/>
              <a:gd name="T4" fmla="*/ 0 w 288"/>
              <a:gd name="T5" fmla="*/ 0 h 264"/>
              <a:gd name="T6" fmla="*/ 34 w 288"/>
              <a:gd name="T7" fmla="*/ 264 h 264"/>
              <a:gd name="T8" fmla="*/ 288 w 288"/>
              <a:gd name="T9" fmla="*/ 180 h 264"/>
              <a:gd name="T10" fmla="*/ 258 w 288"/>
              <a:gd name="T11" fmla="*/ 160 h 264"/>
              <a:gd name="T12" fmla="*/ 226 w 288"/>
              <a:gd name="T13" fmla="*/ 141 h 264"/>
              <a:gd name="T14" fmla="*/ 58 w 288"/>
              <a:gd name="T15" fmla="*/ 36 h 264"/>
              <a:gd name="T16" fmla="*/ 29 w 288"/>
              <a:gd name="T17" fmla="*/ 18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64">
                <a:moveTo>
                  <a:pt x="29" y="18"/>
                </a:moveTo>
                <a:lnTo>
                  <a:pt x="22" y="13"/>
                </a:lnTo>
                <a:lnTo>
                  <a:pt x="0" y="0"/>
                </a:lnTo>
                <a:lnTo>
                  <a:pt x="34" y="264"/>
                </a:lnTo>
                <a:lnTo>
                  <a:pt x="288" y="180"/>
                </a:lnTo>
                <a:lnTo>
                  <a:pt x="258" y="160"/>
                </a:lnTo>
                <a:lnTo>
                  <a:pt x="226" y="141"/>
                </a:lnTo>
                <a:lnTo>
                  <a:pt x="58" y="36"/>
                </a:lnTo>
                <a:lnTo>
                  <a:pt x="29" y="18"/>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487" name="Rectangle 463">
            <a:extLst>
              <a:ext uri="{FF2B5EF4-FFF2-40B4-BE49-F238E27FC236}">
                <a16:creationId xmlns:a16="http://schemas.microsoft.com/office/drawing/2014/main" id="{52F5374D-F36C-85EB-24B2-FFCA065D4A43}"/>
              </a:ext>
            </a:extLst>
          </p:cNvPr>
          <p:cNvSpPr>
            <a:spLocks noChangeArrowheads="1"/>
          </p:cNvSpPr>
          <p:nvPr/>
        </p:nvSpPr>
        <p:spPr bwMode="auto">
          <a:xfrm>
            <a:off x="673100" y="2352675"/>
            <a:ext cx="22225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File/ </a:t>
            </a:r>
            <a:endParaRPr lang="en-US" altLang="zh-CN" sz="1800">
              <a:solidFill>
                <a:schemeClr val="tx1"/>
              </a:solidFill>
              <a:ea typeface="宋体" panose="02010600030101010101" pitchFamily="2" charset="-122"/>
            </a:endParaRPr>
          </a:p>
        </p:txBody>
      </p:sp>
      <p:sp>
        <p:nvSpPr>
          <p:cNvPr id="3073488" name="Rectangle 464">
            <a:extLst>
              <a:ext uri="{FF2B5EF4-FFF2-40B4-BE49-F238E27FC236}">
                <a16:creationId xmlns:a16="http://schemas.microsoft.com/office/drawing/2014/main" id="{48E0C303-16B2-B8F1-5CBD-74DBFEC18473}"/>
              </a:ext>
            </a:extLst>
          </p:cNvPr>
          <p:cNvSpPr>
            <a:spLocks noChangeArrowheads="1"/>
          </p:cNvSpPr>
          <p:nvPr/>
        </p:nvSpPr>
        <p:spPr bwMode="auto">
          <a:xfrm>
            <a:off x="558800" y="2479675"/>
            <a:ext cx="41910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Database</a:t>
            </a:r>
            <a:endParaRPr lang="en-US" altLang="zh-CN" sz="1800">
              <a:solidFill>
                <a:schemeClr val="tx1"/>
              </a:solidFill>
              <a:ea typeface="宋体" panose="02010600030101010101" pitchFamily="2" charset="-122"/>
            </a:endParaRPr>
          </a:p>
        </p:txBody>
      </p:sp>
      <p:sp>
        <p:nvSpPr>
          <p:cNvPr id="3073489" name="Rectangle 465">
            <a:extLst>
              <a:ext uri="{FF2B5EF4-FFF2-40B4-BE49-F238E27FC236}">
                <a16:creationId xmlns:a16="http://schemas.microsoft.com/office/drawing/2014/main" id="{46683772-3692-0374-6E64-4891B2827AC4}"/>
              </a:ext>
            </a:extLst>
          </p:cNvPr>
          <p:cNvSpPr>
            <a:spLocks noChangeArrowheads="1"/>
          </p:cNvSpPr>
          <p:nvPr/>
        </p:nvSpPr>
        <p:spPr bwMode="auto">
          <a:xfrm>
            <a:off x="477838" y="2606675"/>
            <a:ext cx="574675"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Management</a:t>
            </a:r>
            <a:endParaRPr lang="en-US" altLang="zh-CN" sz="1800">
              <a:solidFill>
                <a:schemeClr val="tx1"/>
              </a:solidFill>
              <a:ea typeface="宋体" panose="02010600030101010101" pitchFamily="2" charset="-122"/>
            </a:endParaRPr>
          </a:p>
        </p:txBody>
      </p:sp>
      <p:sp>
        <p:nvSpPr>
          <p:cNvPr id="3073490" name="Rectangle 466">
            <a:extLst>
              <a:ext uri="{FF2B5EF4-FFF2-40B4-BE49-F238E27FC236}">
                <a16:creationId xmlns:a16="http://schemas.microsoft.com/office/drawing/2014/main" id="{22731834-F4D7-1382-751F-E0400D6C27C8}"/>
              </a:ext>
            </a:extLst>
          </p:cNvPr>
          <p:cNvSpPr>
            <a:spLocks noChangeArrowheads="1"/>
          </p:cNvSpPr>
          <p:nvPr/>
        </p:nvSpPr>
        <p:spPr bwMode="auto">
          <a:xfrm>
            <a:off x="1398588" y="2082800"/>
            <a:ext cx="4222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Server</a:t>
            </a:r>
            <a:endParaRPr lang="en-US" altLang="zh-CN" sz="1800">
              <a:solidFill>
                <a:schemeClr val="tx1"/>
              </a:solidFill>
              <a:ea typeface="宋体" panose="02010600030101010101" pitchFamily="2" charset="-122"/>
            </a:endParaRPr>
          </a:p>
        </p:txBody>
      </p:sp>
      <p:sp>
        <p:nvSpPr>
          <p:cNvPr id="3073491" name="Freeform 467">
            <a:extLst>
              <a:ext uri="{FF2B5EF4-FFF2-40B4-BE49-F238E27FC236}">
                <a16:creationId xmlns:a16="http://schemas.microsoft.com/office/drawing/2014/main" id="{99E2606D-D32E-80C5-725D-00B803397F9A}"/>
              </a:ext>
            </a:extLst>
          </p:cNvPr>
          <p:cNvSpPr>
            <a:spLocks/>
          </p:cNvSpPr>
          <p:nvPr/>
        </p:nvSpPr>
        <p:spPr bwMode="auto">
          <a:xfrm>
            <a:off x="2792413" y="3398838"/>
            <a:ext cx="123825" cy="139700"/>
          </a:xfrm>
          <a:custGeom>
            <a:avLst/>
            <a:gdLst>
              <a:gd name="T0" fmla="*/ 157 w 314"/>
              <a:gd name="T1" fmla="*/ 280 h 353"/>
              <a:gd name="T2" fmla="*/ 314 w 314"/>
              <a:gd name="T3" fmla="*/ 353 h 353"/>
              <a:gd name="T4" fmla="*/ 157 w 314"/>
              <a:gd name="T5" fmla="*/ 0 h 353"/>
              <a:gd name="T6" fmla="*/ 0 w 314"/>
              <a:gd name="T7" fmla="*/ 353 h 353"/>
              <a:gd name="T8" fmla="*/ 157 w 314"/>
              <a:gd name="T9" fmla="*/ 280 h 353"/>
            </a:gdLst>
            <a:ahLst/>
            <a:cxnLst>
              <a:cxn ang="0">
                <a:pos x="T0" y="T1"/>
              </a:cxn>
              <a:cxn ang="0">
                <a:pos x="T2" y="T3"/>
              </a:cxn>
              <a:cxn ang="0">
                <a:pos x="T4" y="T5"/>
              </a:cxn>
              <a:cxn ang="0">
                <a:pos x="T6" y="T7"/>
              </a:cxn>
              <a:cxn ang="0">
                <a:pos x="T8" y="T9"/>
              </a:cxn>
            </a:cxnLst>
            <a:rect l="0" t="0" r="r" b="b"/>
            <a:pathLst>
              <a:path w="314" h="353">
                <a:moveTo>
                  <a:pt x="157" y="280"/>
                </a:moveTo>
                <a:lnTo>
                  <a:pt x="314" y="353"/>
                </a:lnTo>
                <a:lnTo>
                  <a:pt x="157" y="0"/>
                </a:lnTo>
                <a:lnTo>
                  <a:pt x="0" y="353"/>
                </a:lnTo>
                <a:lnTo>
                  <a:pt x="157" y="2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92" name="Rectangle 468">
            <a:extLst>
              <a:ext uri="{FF2B5EF4-FFF2-40B4-BE49-F238E27FC236}">
                <a16:creationId xmlns:a16="http://schemas.microsoft.com/office/drawing/2014/main" id="{A9DBB0D4-6F1D-0B5D-2940-96C789F875AA}"/>
              </a:ext>
            </a:extLst>
          </p:cNvPr>
          <p:cNvSpPr>
            <a:spLocks noChangeArrowheads="1"/>
          </p:cNvSpPr>
          <p:nvPr/>
        </p:nvSpPr>
        <p:spPr bwMode="auto">
          <a:xfrm>
            <a:off x="2735263" y="4394200"/>
            <a:ext cx="29368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Host</a:t>
            </a:r>
            <a:endParaRPr lang="en-US" altLang="zh-CN" sz="1800">
              <a:solidFill>
                <a:schemeClr val="tx1"/>
              </a:solidFill>
              <a:ea typeface="宋体" panose="02010600030101010101" pitchFamily="2" charset="-122"/>
            </a:endParaRPr>
          </a:p>
        </p:txBody>
      </p:sp>
      <p:sp>
        <p:nvSpPr>
          <p:cNvPr id="3073493" name="Rectangle 469">
            <a:extLst>
              <a:ext uri="{FF2B5EF4-FFF2-40B4-BE49-F238E27FC236}">
                <a16:creationId xmlns:a16="http://schemas.microsoft.com/office/drawing/2014/main" id="{69718A22-7AE2-4797-4C5D-6A2568C94542}"/>
              </a:ext>
            </a:extLst>
          </p:cNvPr>
          <p:cNvSpPr>
            <a:spLocks noChangeArrowheads="1"/>
          </p:cNvSpPr>
          <p:nvPr/>
        </p:nvSpPr>
        <p:spPr bwMode="auto">
          <a:xfrm>
            <a:off x="2590800" y="4543425"/>
            <a:ext cx="596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Allocated</a:t>
            </a:r>
            <a:endParaRPr lang="en-US" altLang="zh-CN" sz="1800">
              <a:solidFill>
                <a:schemeClr val="tx1"/>
              </a:solidFill>
              <a:ea typeface="宋体" panose="02010600030101010101" pitchFamily="2" charset="-122"/>
            </a:endParaRPr>
          </a:p>
        </p:txBody>
      </p:sp>
      <p:sp>
        <p:nvSpPr>
          <p:cNvPr id="3073494" name="Freeform 470">
            <a:extLst>
              <a:ext uri="{FF2B5EF4-FFF2-40B4-BE49-F238E27FC236}">
                <a16:creationId xmlns:a16="http://schemas.microsoft.com/office/drawing/2014/main" id="{5976D5FC-901C-0EC3-0008-6A0DC25CACE9}"/>
              </a:ext>
            </a:extLst>
          </p:cNvPr>
          <p:cNvSpPr>
            <a:spLocks/>
          </p:cNvSpPr>
          <p:nvPr/>
        </p:nvSpPr>
        <p:spPr bwMode="auto">
          <a:xfrm>
            <a:off x="1925638" y="3392488"/>
            <a:ext cx="123825" cy="141287"/>
          </a:xfrm>
          <a:custGeom>
            <a:avLst/>
            <a:gdLst>
              <a:gd name="T0" fmla="*/ 157 w 313"/>
              <a:gd name="T1" fmla="*/ 280 h 353"/>
              <a:gd name="T2" fmla="*/ 313 w 313"/>
              <a:gd name="T3" fmla="*/ 353 h 353"/>
              <a:gd name="T4" fmla="*/ 157 w 313"/>
              <a:gd name="T5" fmla="*/ 0 h 353"/>
              <a:gd name="T6" fmla="*/ 0 w 313"/>
              <a:gd name="T7" fmla="*/ 353 h 353"/>
              <a:gd name="T8" fmla="*/ 157 w 313"/>
              <a:gd name="T9" fmla="*/ 280 h 353"/>
            </a:gdLst>
            <a:ahLst/>
            <a:cxnLst>
              <a:cxn ang="0">
                <a:pos x="T0" y="T1"/>
              </a:cxn>
              <a:cxn ang="0">
                <a:pos x="T2" y="T3"/>
              </a:cxn>
              <a:cxn ang="0">
                <a:pos x="T4" y="T5"/>
              </a:cxn>
              <a:cxn ang="0">
                <a:pos x="T6" y="T7"/>
              </a:cxn>
              <a:cxn ang="0">
                <a:pos x="T8" y="T9"/>
              </a:cxn>
            </a:cxnLst>
            <a:rect l="0" t="0" r="r" b="b"/>
            <a:pathLst>
              <a:path w="313" h="353">
                <a:moveTo>
                  <a:pt x="157" y="280"/>
                </a:moveTo>
                <a:lnTo>
                  <a:pt x="313" y="353"/>
                </a:lnTo>
                <a:lnTo>
                  <a:pt x="157" y="0"/>
                </a:lnTo>
                <a:lnTo>
                  <a:pt x="0" y="353"/>
                </a:lnTo>
                <a:lnTo>
                  <a:pt x="157" y="2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95" name="Rectangle 471">
            <a:extLst>
              <a:ext uri="{FF2B5EF4-FFF2-40B4-BE49-F238E27FC236}">
                <a16:creationId xmlns:a16="http://schemas.microsoft.com/office/drawing/2014/main" id="{1B431639-35AC-EEFA-9376-F43C89BEFEF2}"/>
              </a:ext>
            </a:extLst>
          </p:cNvPr>
          <p:cNvSpPr>
            <a:spLocks noChangeArrowheads="1"/>
          </p:cNvSpPr>
          <p:nvPr/>
        </p:nvSpPr>
        <p:spPr bwMode="auto">
          <a:xfrm>
            <a:off x="1765300" y="4365625"/>
            <a:ext cx="4826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Volume</a:t>
            </a:r>
            <a:endParaRPr lang="en-US" altLang="zh-CN" sz="1800">
              <a:solidFill>
                <a:schemeClr val="tx1"/>
              </a:solidFill>
              <a:ea typeface="宋体" panose="02010600030101010101" pitchFamily="2" charset="-122"/>
            </a:endParaRPr>
          </a:p>
        </p:txBody>
      </p:sp>
      <p:sp>
        <p:nvSpPr>
          <p:cNvPr id="3073496" name="Rectangle 472">
            <a:extLst>
              <a:ext uri="{FF2B5EF4-FFF2-40B4-BE49-F238E27FC236}">
                <a16:creationId xmlns:a16="http://schemas.microsoft.com/office/drawing/2014/main" id="{7C6FB8BC-C88D-6CBA-DEF2-0D149433979B}"/>
              </a:ext>
            </a:extLst>
          </p:cNvPr>
          <p:cNvSpPr>
            <a:spLocks noChangeArrowheads="1"/>
          </p:cNvSpPr>
          <p:nvPr/>
        </p:nvSpPr>
        <p:spPr bwMode="auto">
          <a:xfrm>
            <a:off x="1809750" y="4514850"/>
            <a:ext cx="3873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Group</a:t>
            </a:r>
            <a:endParaRPr lang="en-US" altLang="zh-CN" sz="1800">
              <a:solidFill>
                <a:schemeClr val="tx1"/>
              </a:solidFill>
              <a:ea typeface="宋体" panose="02010600030101010101" pitchFamily="2" charset="-122"/>
            </a:endParaRPr>
          </a:p>
        </p:txBody>
      </p:sp>
      <p:sp>
        <p:nvSpPr>
          <p:cNvPr id="3073497" name="Rectangle 473">
            <a:extLst>
              <a:ext uri="{FF2B5EF4-FFF2-40B4-BE49-F238E27FC236}">
                <a16:creationId xmlns:a16="http://schemas.microsoft.com/office/drawing/2014/main" id="{5C5B7814-4434-C6B5-13E8-E77C8D3E8788}"/>
              </a:ext>
            </a:extLst>
          </p:cNvPr>
          <p:cNvSpPr>
            <a:spLocks noChangeArrowheads="1"/>
          </p:cNvSpPr>
          <p:nvPr/>
        </p:nvSpPr>
        <p:spPr bwMode="auto">
          <a:xfrm>
            <a:off x="1712913" y="4664075"/>
            <a:ext cx="59690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Allocated</a:t>
            </a:r>
            <a:endParaRPr lang="en-US" altLang="zh-CN" sz="1800">
              <a:solidFill>
                <a:schemeClr val="tx1"/>
              </a:solidFill>
              <a:ea typeface="宋体" panose="02010600030101010101" pitchFamily="2" charset="-122"/>
            </a:endParaRPr>
          </a:p>
        </p:txBody>
      </p:sp>
      <p:sp>
        <p:nvSpPr>
          <p:cNvPr id="3073498" name="Freeform 474">
            <a:extLst>
              <a:ext uri="{FF2B5EF4-FFF2-40B4-BE49-F238E27FC236}">
                <a16:creationId xmlns:a16="http://schemas.microsoft.com/office/drawing/2014/main" id="{20692274-B087-93BF-5A73-3034AECDD6E0}"/>
              </a:ext>
            </a:extLst>
          </p:cNvPr>
          <p:cNvSpPr>
            <a:spLocks/>
          </p:cNvSpPr>
          <p:nvPr/>
        </p:nvSpPr>
        <p:spPr bwMode="auto">
          <a:xfrm>
            <a:off x="1293813" y="3371850"/>
            <a:ext cx="123825" cy="139700"/>
          </a:xfrm>
          <a:custGeom>
            <a:avLst/>
            <a:gdLst>
              <a:gd name="T0" fmla="*/ 157 w 313"/>
              <a:gd name="T1" fmla="*/ 280 h 353"/>
              <a:gd name="T2" fmla="*/ 313 w 313"/>
              <a:gd name="T3" fmla="*/ 353 h 353"/>
              <a:gd name="T4" fmla="*/ 157 w 313"/>
              <a:gd name="T5" fmla="*/ 0 h 353"/>
              <a:gd name="T6" fmla="*/ 0 w 313"/>
              <a:gd name="T7" fmla="*/ 353 h 353"/>
              <a:gd name="T8" fmla="*/ 157 w 313"/>
              <a:gd name="T9" fmla="*/ 280 h 353"/>
            </a:gdLst>
            <a:ahLst/>
            <a:cxnLst>
              <a:cxn ang="0">
                <a:pos x="T0" y="T1"/>
              </a:cxn>
              <a:cxn ang="0">
                <a:pos x="T2" y="T3"/>
              </a:cxn>
              <a:cxn ang="0">
                <a:pos x="T4" y="T5"/>
              </a:cxn>
              <a:cxn ang="0">
                <a:pos x="T6" y="T7"/>
              </a:cxn>
              <a:cxn ang="0">
                <a:pos x="T8" y="T9"/>
              </a:cxn>
            </a:cxnLst>
            <a:rect l="0" t="0" r="r" b="b"/>
            <a:pathLst>
              <a:path w="313" h="353">
                <a:moveTo>
                  <a:pt x="157" y="280"/>
                </a:moveTo>
                <a:lnTo>
                  <a:pt x="313" y="353"/>
                </a:lnTo>
                <a:lnTo>
                  <a:pt x="157" y="0"/>
                </a:lnTo>
                <a:lnTo>
                  <a:pt x="0" y="353"/>
                </a:lnTo>
                <a:lnTo>
                  <a:pt x="157" y="2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499" name="Rectangle 475">
            <a:extLst>
              <a:ext uri="{FF2B5EF4-FFF2-40B4-BE49-F238E27FC236}">
                <a16:creationId xmlns:a16="http://schemas.microsoft.com/office/drawing/2014/main" id="{7FC3D212-8A1E-A378-4F08-984A324E1364}"/>
              </a:ext>
            </a:extLst>
          </p:cNvPr>
          <p:cNvSpPr>
            <a:spLocks noChangeArrowheads="1"/>
          </p:cNvSpPr>
          <p:nvPr/>
        </p:nvSpPr>
        <p:spPr bwMode="auto">
          <a:xfrm>
            <a:off x="1200150" y="4368800"/>
            <a:ext cx="293688"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Host</a:t>
            </a:r>
            <a:endParaRPr lang="en-US" altLang="zh-CN" sz="1800">
              <a:solidFill>
                <a:schemeClr val="tx1"/>
              </a:solidFill>
              <a:ea typeface="宋体" panose="02010600030101010101" pitchFamily="2" charset="-122"/>
            </a:endParaRPr>
          </a:p>
        </p:txBody>
      </p:sp>
      <p:sp>
        <p:nvSpPr>
          <p:cNvPr id="3073500" name="Rectangle 476">
            <a:extLst>
              <a:ext uri="{FF2B5EF4-FFF2-40B4-BE49-F238E27FC236}">
                <a16:creationId xmlns:a16="http://schemas.microsoft.com/office/drawing/2014/main" id="{B5C5B5CA-DF23-6D02-3A67-6CD9E324D134}"/>
              </a:ext>
            </a:extLst>
          </p:cNvPr>
          <p:cNvSpPr>
            <a:spLocks noChangeArrowheads="1"/>
          </p:cNvSpPr>
          <p:nvPr/>
        </p:nvSpPr>
        <p:spPr bwMode="auto">
          <a:xfrm>
            <a:off x="1189038" y="4518025"/>
            <a:ext cx="3159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Used</a:t>
            </a:r>
            <a:endParaRPr lang="en-US" altLang="zh-CN" sz="1800">
              <a:solidFill>
                <a:schemeClr val="tx1"/>
              </a:solidFill>
              <a:ea typeface="宋体" panose="02010600030101010101" pitchFamily="2" charset="-122"/>
            </a:endParaRPr>
          </a:p>
        </p:txBody>
      </p:sp>
      <p:sp>
        <p:nvSpPr>
          <p:cNvPr id="3073501" name="Freeform 477">
            <a:extLst>
              <a:ext uri="{FF2B5EF4-FFF2-40B4-BE49-F238E27FC236}">
                <a16:creationId xmlns:a16="http://schemas.microsoft.com/office/drawing/2014/main" id="{12F069FD-AC82-D02E-7BA5-3926957C2BE2}"/>
              </a:ext>
            </a:extLst>
          </p:cNvPr>
          <p:cNvSpPr>
            <a:spLocks/>
          </p:cNvSpPr>
          <p:nvPr/>
        </p:nvSpPr>
        <p:spPr bwMode="auto">
          <a:xfrm>
            <a:off x="588963" y="3525838"/>
            <a:ext cx="123825" cy="139700"/>
          </a:xfrm>
          <a:custGeom>
            <a:avLst/>
            <a:gdLst>
              <a:gd name="T0" fmla="*/ 158 w 314"/>
              <a:gd name="T1" fmla="*/ 280 h 353"/>
              <a:gd name="T2" fmla="*/ 314 w 314"/>
              <a:gd name="T3" fmla="*/ 353 h 353"/>
              <a:gd name="T4" fmla="*/ 158 w 314"/>
              <a:gd name="T5" fmla="*/ 0 h 353"/>
              <a:gd name="T6" fmla="*/ 0 w 314"/>
              <a:gd name="T7" fmla="*/ 353 h 353"/>
              <a:gd name="T8" fmla="*/ 158 w 314"/>
              <a:gd name="T9" fmla="*/ 280 h 353"/>
            </a:gdLst>
            <a:ahLst/>
            <a:cxnLst>
              <a:cxn ang="0">
                <a:pos x="T0" y="T1"/>
              </a:cxn>
              <a:cxn ang="0">
                <a:pos x="T2" y="T3"/>
              </a:cxn>
              <a:cxn ang="0">
                <a:pos x="T4" y="T5"/>
              </a:cxn>
              <a:cxn ang="0">
                <a:pos x="T6" y="T7"/>
              </a:cxn>
              <a:cxn ang="0">
                <a:pos x="T8" y="T9"/>
              </a:cxn>
            </a:cxnLst>
            <a:rect l="0" t="0" r="r" b="b"/>
            <a:pathLst>
              <a:path w="314" h="353">
                <a:moveTo>
                  <a:pt x="158" y="280"/>
                </a:moveTo>
                <a:lnTo>
                  <a:pt x="314" y="353"/>
                </a:lnTo>
                <a:lnTo>
                  <a:pt x="158" y="0"/>
                </a:lnTo>
                <a:lnTo>
                  <a:pt x="0" y="353"/>
                </a:lnTo>
                <a:lnTo>
                  <a:pt x="158" y="2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02" name="Rectangle 478">
            <a:extLst>
              <a:ext uri="{FF2B5EF4-FFF2-40B4-BE49-F238E27FC236}">
                <a16:creationId xmlns:a16="http://schemas.microsoft.com/office/drawing/2014/main" id="{1C31A58D-EBCB-32E5-59CA-C615618494DC}"/>
              </a:ext>
            </a:extLst>
          </p:cNvPr>
          <p:cNvSpPr>
            <a:spLocks noChangeArrowheads="1"/>
          </p:cNvSpPr>
          <p:nvPr/>
        </p:nvSpPr>
        <p:spPr bwMode="auto">
          <a:xfrm>
            <a:off x="331788" y="4373563"/>
            <a:ext cx="8620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File System/ </a:t>
            </a:r>
            <a:endParaRPr lang="en-US" altLang="zh-CN" sz="1800">
              <a:solidFill>
                <a:schemeClr val="tx1"/>
              </a:solidFill>
              <a:ea typeface="宋体" panose="02010600030101010101" pitchFamily="2" charset="-122"/>
            </a:endParaRPr>
          </a:p>
        </p:txBody>
      </p:sp>
      <p:sp>
        <p:nvSpPr>
          <p:cNvPr id="3073503" name="Rectangle 479">
            <a:extLst>
              <a:ext uri="{FF2B5EF4-FFF2-40B4-BE49-F238E27FC236}">
                <a16:creationId xmlns:a16="http://schemas.microsoft.com/office/drawing/2014/main" id="{535CC6AF-CA7D-E22F-FAA9-55BB3D5B2DA0}"/>
              </a:ext>
            </a:extLst>
          </p:cNvPr>
          <p:cNvSpPr>
            <a:spLocks noChangeArrowheads="1"/>
          </p:cNvSpPr>
          <p:nvPr/>
        </p:nvSpPr>
        <p:spPr bwMode="auto">
          <a:xfrm>
            <a:off x="436563" y="4522788"/>
            <a:ext cx="60007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Database</a:t>
            </a:r>
            <a:endParaRPr lang="en-US" altLang="zh-CN" sz="1800">
              <a:solidFill>
                <a:schemeClr val="tx1"/>
              </a:solidFill>
              <a:ea typeface="宋体" panose="02010600030101010101" pitchFamily="2" charset="-122"/>
            </a:endParaRPr>
          </a:p>
        </p:txBody>
      </p:sp>
      <p:sp>
        <p:nvSpPr>
          <p:cNvPr id="3073504" name="Rectangle 480">
            <a:extLst>
              <a:ext uri="{FF2B5EF4-FFF2-40B4-BE49-F238E27FC236}">
                <a16:creationId xmlns:a16="http://schemas.microsoft.com/office/drawing/2014/main" id="{EAB65CDE-C55E-7F7D-A65B-3E51914CCD69}"/>
              </a:ext>
            </a:extLst>
          </p:cNvPr>
          <p:cNvSpPr>
            <a:spLocks noChangeArrowheads="1"/>
          </p:cNvSpPr>
          <p:nvPr/>
        </p:nvSpPr>
        <p:spPr bwMode="auto">
          <a:xfrm>
            <a:off x="569913" y="4672013"/>
            <a:ext cx="31591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Used</a:t>
            </a:r>
            <a:endParaRPr lang="en-US" altLang="zh-CN" sz="1800">
              <a:solidFill>
                <a:schemeClr val="tx1"/>
              </a:solidFill>
              <a:ea typeface="宋体" panose="02010600030101010101" pitchFamily="2" charset="-122"/>
            </a:endParaRPr>
          </a:p>
        </p:txBody>
      </p:sp>
      <p:sp>
        <p:nvSpPr>
          <p:cNvPr id="3073505" name="Rectangle 481">
            <a:extLst>
              <a:ext uri="{FF2B5EF4-FFF2-40B4-BE49-F238E27FC236}">
                <a16:creationId xmlns:a16="http://schemas.microsoft.com/office/drawing/2014/main" id="{8A536D44-AC8C-1202-F3B4-46A0BC6BC92B}"/>
              </a:ext>
            </a:extLst>
          </p:cNvPr>
          <p:cNvSpPr>
            <a:spLocks noChangeArrowheads="1"/>
          </p:cNvSpPr>
          <p:nvPr/>
        </p:nvSpPr>
        <p:spPr bwMode="auto">
          <a:xfrm>
            <a:off x="3370263" y="4384675"/>
            <a:ext cx="271462"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HBA</a:t>
            </a:r>
            <a:endParaRPr lang="en-US" altLang="zh-CN" sz="1800">
              <a:solidFill>
                <a:schemeClr val="tx1"/>
              </a:solidFill>
              <a:ea typeface="宋体" panose="02010600030101010101" pitchFamily="2" charset="-122"/>
            </a:endParaRPr>
          </a:p>
        </p:txBody>
      </p:sp>
      <p:sp>
        <p:nvSpPr>
          <p:cNvPr id="3073506" name="Line 482">
            <a:extLst>
              <a:ext uri="{FF2B5EF4-FFF2-40B4-BE49-F238E27FC236}">
                <a16:creationId xmlns:a16="http://schemas.microsoft.com/office/drawing/2014/main" id="{3DBBA9BC-0045-C005-9EA6-4AF7CD5F4CF6}"/>
              </a:ext>
            </a:extLst>
          </p:cNvPr>
          <p:cNvSpPr>
            <a:spLocks noChangeShapeType="1"/>
          </p:cNvSpPr>
          <p:nvPr/>
        </p:nvSpPr>
        <p:spPr bwMode="auto">
          <a:xfrm>
            <a:off x="3479800" y="3656013"/>
            <a:ext cx="1588" cy="70326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507" name="Freeform 483">
            <a:extLst>
              <a:ext uri="{FF2B5EF4-FFF2-40B4-BE49-F238E27FC236}">
                <a16:creationId xmlns:a16="http://schemas.microsoft.com/office/drawing/2014/main" id="{92BAE6A5-AFAC-2079-A944-B08CDE74D057}"/>
              </a:ext>
            </a:extLst>
          </p:cNvPr>
          <p:cNvSpPr>
            <a:spLocks/>
          </p:cNvSpPr>
          <p:nvPr/>
        </p:nvSpPr>
        <p:spPr bwMode="auto">
          <a:xfrm>
            <a:off x="3421063" y="3575050"/>
            <a:ext cx="123825" cy="144463"/>
          </a:xfrm>
          <a:custGeom>
            <a:avLst/>
            <a:gdLst>
              <a:gd name="T0" fmla="*/ 158 w 314"/>
              <a:gd name="T1" fmla="*/ 292 h 367"/>
              <a:gd name="T2" fmla="*/ 314 w 314"/>
              <a:gd name="T3" fmla="*/ 367 h 367"/>
              <a:gd name="T4" fmla="*/ 158 w 314"/>
              <a:gd name="T5" fmla="*/ 0 h 367"/>
              <a:gd name="T6" fmla="*/ 0 w 314"/>
              <a:gd name="T7" fmla="*/ 367 h 367"/>
              <a:gd name="T8" fmla="*/ 158 w 314"/>
              <a:gd name="T9" fmla="*/ 292 h 367"/>
            </a:gdLst>
            <a:ahLst/>
            <a:cxnLst>
              <a:cxn ang="0">
                <a:pos x="T0" y="T1"/>
              </a:cxn>
              <a:cxn ang="0">
                <a:pos x="T2" y="T3"/>
              </a:cxn>
              <a:cxn ang="0">
                <a:pos x="T4" y="T5"/>
              </a:cxn>
              <a:cxn ang="0">
                <a:pos x="T6" y="T7"/>
              </a:cxn>
              <a:cxn ang="0">
                <a:pos x="T8" y="T9"/>
              </a:cxn>
            </a:cxnLst>
            <a:rect l="0" t="0" r="r" b="b"/>
            <a:pathLst>
              <a:path w="314" h="367">
                <a:moveTo>
                  <a:pt x="158" y="292"/>
                </a:moveTo>
                <a:lnTo>
                  <a:pt x="314" y="367"/>
                </a:lnTo>
                <a:lnTo>
                  <a:pt x="158" y="0"/>
                </a:lnTo>
                <a:lnTo>
                  <a:pt x="0" y="367"/>
                </a:lnTo>
                <a:lnTo>
                  <a:pt x="158" y="29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08" name="Freeform 484">
            <a:extLst>
              <a:ext uri="{FF2B5EF4-FFF2-40B4-BE49-F238E27FC236}">
                <a16:creationId xmlns:a16="http://schemas.microsoft.com/office/drawing/2014/main" id="{F48A2A4C-0197-4815-4A08-AC634324293A}"/>
              </a:ext>
            </a:extLst>
          </p:cNvPr>
          <p:cNvSpPr>
            <a:spLocks/>
          </p:cNvSpPr>
          <p:nvPr/>
        </p:nvSpPr>
        <p:spPr bwMode="auto">
          <a:xfrm>
            <a:off x="4959350" y="3741738"/>
            <a:ext cx="123825" cy="141287"/>
          </a:xfrm>
          <a:custGeom>
            <a:avLst/>
            <a:gdLst>
              <a:gd name="T0" fmla="*/ 157 w 313"/>
              <a:gd name="T1" fmla="*/ 280 h 353"/>
              <a:gd name="T2" fmla="*/ 313 w 313"/>
              <a:gd name="T3" fmla="*/ 353 h 353"/>
              <a:gd name="T4" fmla="*/ 157 w 313"/>
              <a:gd name="T5" fmla="*/ 0 h 353"/>
              <a:gd name="T6" fmla="*/ 0 w 313"/>
              <a:gd name="T7" fmla="*/ 353 h 353"/>
              <a:gd name="T8" fmla="*/ 157 w 313"/>
              <a:gd name="T9" fmla="*/ 280 h 353"/>
            </a:gdLst>
            <a:ahLst/>
            <a:cxnLst>
              <a:cxn ang="0">
                <a:pos x="T0" y="T1"/>
              </a:cxn>
              <a:cxn ang="0">
                <a:pos x="T2" y="T3"/>
              </a:cxn>
              <a:cxn ang="0">
                <a:pos x="T4" y="T5"/>
              </a:cxn>
              <a:cxn ang="0">
                <a:pos x="T6" y="T7"/>
              </a:cxn>
              <a:cxn ang="0">
                <a:pos x="T8" y="T9"/>
              </a:cxn>
            </a:cxnLst>
            <a:rect l="0" t="0" r="r" b="b"/>
            <a:pathLst>
              <a:path w="313" h="353">
                <a:moveTo>
                  <a:pt x="157" y="280"/>
                </a:moveTo>
                <a:lnTo>
                  <a:pt x="313" y="353"/>
                </a:lnTo>
                <a:lnTo>
                  <a:pt x="157" y="0"/>
                </a:lnTo>
                <a:lnTo>
                  <a:pt x="0" y="353"/>
                </a:lnTo>
                <a:lnTo>
                  <a:pt x="157" y="2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09" name="Rectangle 485">
            <a:extLst>
              <a:ext uri="{FF2B5EF4-FFF2-40B4-BE49-F238E27FC236}">
                <a16:creationId xmlns:a16="http://schemas.microsoft.com/office/drawing/2014/main" id="{C398AE64-3FFB-4AC3-E5B3-B983AAF98D5F}"/>
              </a:ext>
            </a:extLst>
          </p:cNvPr>
          <p:cNvSpPr>
            <a:spLocks noChangeArrowheads="1"/>
          </p:cNvSpPr>
          <p:nvPr/>
        </p:nvSpPr>
        <p:spPr bwMode="auto">
          <a:xfrm>
            <a:off x="4778375" y="4356100"/>
            <a:ext cx="636588"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Front-End</a:t>
            </a:r>
            <a:endParaRPr lang="en-US" altLang="zh-CN" sz="1800">
              <a:solidFill>
                <a:schemeClr val="tx1"/>
              </a:solidFill>
              <a:ea typeface="宋体" panose="02010600030101010101" pitchFamily="2" charset="-122"/>
            </a:endParaRPr>
          </a:p>
        </p:txBody>
      </p:sp>
      <p:sp>
        <p:nvSpPr>
          <p:cNvPr id="3073510" name="Rectangle 486">
            <a:extLst>
              <a:ext uri="{FF2B5EF4-FFF2-40B4-BE49-F238E27FC236}">
                <a16:creationId xmlns:a16="http://schemas.microsoft.com/office/drawing/2014/main" id="{A6592532-0E07-8491-8CFE-22B931E9979C}"/>
              </a:ext>
            </a:extLst>
          </p:cNvPr>
          <p:cNvSpPr>
            <a:spLocks noChangeArrowheads="1"/>
          </p:cNvSpPr>
          <p:nvPr/>
        </p:nvSpPr>
        <p:spPr bwMode="auto">
          <a:xfrm>
            <a:off x="4919663" y="4505325"/>
            <a:ext cx="33972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Ports</a:t>
            </a:r>
            <a:endParaRPr lang="en-US" altLang="zh-CN" sz="1800">
              <a:solidFill>
                <a:schemeClr val="tx1"/>
              </a:solidFill>
              <a:ea typeface="宋体" panose="02010600030101010101" pitchFamily="2" charset="-122"/>
            </a:endParaRPr>
          </a:p>
        </p:txBody>
      </p:sp>
      <p:sp>
        <p:nvSpPr>
          <p:cNvPr id="3073511" name="Freeform 487">
            <a:extLst>
              <a:ext uri="{FF2B5EF4-FFF2-40B4-BE49-F238E27FC236}">
                <a16:creationId xmlns:a16="http://schemas.microsoft.com/office/drawing/2014/main" id="{C4F48B3B-0D2C-F99F-708A-3EC485F53097}"/>
              </a:ext>
            </a:extLst>
          </p:cNvPr>
          <p:cNvSpPr>
            <a:spLocks/>
          </p:cNvSpPr>
          <p:nvPr/>
        </p:nvSpPr>
        <p:spPr bwMode="auto">
          <a:xfrm>
            <a:off x="3592513" y="2792413"/>
            <a:ext cx="441325" cy="160337"/>
          </a:xfrm>
          <a:custGeom>
            <a:avLst/>
            <a:gdLst>
              <a:gd name="T0" fmla="*/ 984 w 1111"/>
              <a:gd name="T1" fmla="*/ 268 h 407"/>
              <a:gd name="T2" fmla="*/ 1042 w 1111"/>
              <a:gd name="T3" fmla="*/ 353 h 407"/>
              <a:gd name="T4" fmla="*/ 1111 w 1111"/>
              <a:gd name="T5" fmla="*/ 400 h 407"/>
              <a:gd name="T6" fmla="*/ 1073 w 1111"/>
              <a:gd name="T7" fmla="*/ 320 h 407"/>
              <a:gd name="T8" fmla="*/ 1027 w 1111"/>
              <a:gd name="T9" fmla="*/ 247 h 407"/>
              <a:gd name="T10" fmla="*/ 972 w 1111"/>
              <a:gd name="T11" fmla="*/ 179 h 407"/>
              <a:gd name="T12" fmla="*/ 911 w 1111"/>
              <a:gd name="T13" fmla="*/ 117 h 407"/>
              <a:gd name="T14" fmla="*/ 837 w 1111"/>
              <a:gd name="T15" fmla="*/ 65 h 407"/>
              <a:gd name="T16" fmla="*/ 795 w 1111"/>
              <a:gd name="T17" fmla="*/ 45 h 407"/>
              <a:gd name="T18" fmla="*/ 751 w 1111"/>
              <a:gd name="T19" fmla="*/ 29 h 407"/>
              <a:gd name="T20" fmla="*/ 703 w 1111"/>
              <a:gd name="T21" fmla="*/ 15 h 407"/>
              <a:gd name="T22" fmla="*/ 600 w 1111"/>
              <a:gd name="T23" fmla="*/ 1 h 407"/>
              <a:gd name="T24" fmla="*/ 545 w 1111"/>
              <a:gd name="T25" fmla="*/ 1 h 407"/>
              <a:gd name="T26" fmla="*/ 434 w 1111"/>
              <a:gd name="T27" fmla="*/ 9 h 407"/>
              <a:gd name="T28" fmla="*/ 336 w 1111"/>
              <a:gd name="T29" fmla="*/ 33 h 407"/>
              <a:gd name="T30" fmla="*/ 250 w 1111"/>
              <a:gd name="T31" fmla="*/ 72 h 407"/>
              <a:gd name="T32" fmla="*/ 211 w 1111"/>
              <a:gd name="T33" fmla="*/ 97 h 407"/>
              <a:gd name="T34" fmla="*/ 144 w 1111"/>
              <a:gd name="T35" fmla="*/ 159 h 407"/>
              <a:gd name="T36" fmla="*/ 87 w 1111"/>
              <a:gd name="T37" fmla="*/ 223 h 407"/>
              <a:gd name="T38" fmla="*/ 44 w 1111"/>
              <a:gd name="T39" fmla="*/ 294 h 407"/>
              <a:gd name="T40" fmla="*/ 12 w 1111"/>
              <a:gd name="T41" fmla="*/ 368 h 407"/>
              <a:gd name="T42" fmla="*/ 37 w 1111"/>
              <a:gd name="T43" fmla="*/ 407 h 407"/>
              <a:gd name="T44" fmla="*/ 87 w 1111"/>
              <a:gd name="T45" fmla="*/ 313 h 407"/>
              <a:gd name="T46" fmla="*/ 155 w 1111"/>
              <a:gd name="T47" fmla="*/ 229 h 407"/>
              <a:gd name="T48" fmla="*/ 241 w 1111"/>
              <a:gd name="T49" fmla="*/ 153 h 407"/>
              <a:gd name="T50" fmla="*/ 336 w 1111"/>
              <a:gd name="T51" fmla="*/ 99 h 407"/>
              <a:gd name="T52" fmla="*/ 439 w 1111"/>
              <a:gd name="T53" fmla="*/ 66 h 407"/>
              <a:gd name="T54" fmla="*/ 552 w 1111"/>
              <a:gd name="T55" fmla="*/ 57 h 407"/>
              <a:gd name="T56" fmla="*/ 608 w 1111"/>
              <a:gd name="T57" fmla="*/ 58 h 407"/>
              <a:gd name="T58" fmla="*/ 663 w 1111"/>
              <a:gd name="T59" fmla="*/ 66 h 407"/>
              <a:gd name="T60" fmla="*/ 741 w 1111"/>
              <a:gd name="T61" fmla="*/ 88 h 407"/>
              <a:gd name="T62" fmla="*/ 815 w 1111"/>
              <a:gd name="T63" fmla="*/ 123 h 407"/>
              <a:gd name="T64" fmla="*/ 862 w 1111"/>
              <a:gd name="T65" fmla="*/ 153 h 407"/>
              <a:gd name="T66" fmla="*/ 906 w 1111"/>
              <a:gd name="T67" fmla="*/ 18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11" h="407">
                <a:moveTo>
                  <a:pt x="950" y="229"/>
                </a:moveTo>
                <a:lnTo>
                  <a:pt x="984" y="268"/>
                </a:lnTo>
                <a:lnTo>
                  <a:pt x="1014" y="310"/>
                </a:lnTo>
                <a:lnTo>
                  <a:pt x="1042" y="353"/>
                </a:lnTo>
                <a:lnTo>
                  <a:pt x="1065" y="400"/>
                </a:lnTo>
                <a:lnTo>
                  <a:pt x="1111" y="400"/>
                </a:lnTo>
                <a:lnTo>
                  <a:pt x="1092" y="359"/>
                </a:lnTo>
                <a:lnTo>
                  <a:pt x="1073" y="320"/>
                </a:lnTo>
                <a:lnTo>
                  <a:pt x="1051" y="283"/>
                </a:lnTo>
                <a:lnTo>
                  <a:pt x="1027" y="247"/>
                </a:lnTo>
                <a:lnTo>
                  <a:pt x="1001" y="212"/>
                </a:lnTo>
                <a:lnTo>
                  <a:pt x="972" y="179"/>
                </a:lnTo>
                <a:lnTo>
                  <a:pt x="942" y="147"/>
                </a:lnTo>
                <a:lnTo>
                  <a:pt x="911" y="117"/>
                </a:lnTo>
                <a:lnTo>
                  <a:pt x="874" y="89"/>
                </a:lnTo>
                <a:lnTo>
                  <a:pt x="837" y="65"/>
                </a:lnTo>
                <a:lnTo>
                  <a:pt x="815" y="54"/>
                </a:lnTo>
                <a:lnTo>
                  <a:pt x="795" y="45"/>
                </a:lnTo>
                <a:lnTo>
                  <a:pt x="773" y="35"/>
                </a:lnTo>
                <a:lnTo>
                  <a:pt x="751" y="29"/>
                </a:lnTo>
                <a:lnTo>
                  <a:pt x="727" y="21"/>
                </a:lnTo>
                <a:lnTo>
                  <a:pt x="703" y="15"/>
                </a:lnTo>
                <a:lnTo>
                  <a:pt x="653" y="7"/>
                </a:lnTo>
                <a:lnTo>
                  <a:pt x="600" y="1"/>
                </a:lnTo>
                <a:lnTo>
                  <a:pt x="572" y="0"/>
                </a:lnTo>
                <a:lnTo>
                  <a:pt x="545" y="1"/>
                </a:lnTo>
                <a:lnTo>
                  <a:pt x="488" y="2"/>
                </a:lnTo>
                <a:lnTo>
                  <a:pt x="434" y="9"/>
                </a:lnTo>
                <a:lnTo>
                  <a:pt x="383" y="18"/>
                </a:lnTo>
                <a:lnTo>
                  <a:pt x="336" y="33"/>
                </a:lnTo>
                <a:lnTo>
                  <a:pt x="291" y="50"/>
                </a:lnTo>
                <a:lnTo>
                  <a:pt x="250" y="72"/>
                </a:lnTo>
                <a:lnTo>
                  <a:pt x="229" y="83"/>
                </a:lnTo>
                <a:lnTo>
                  <a:pt x="211" y="97"/>
                </a:lnTo>
                <a:lnTo>
                  <a:pt x="177" y="128"/>
                </a:lnTo>
                <a:lnTo>
                  <a:pt x="144" y="159"/>
                </a:lnTo>
                <a:lnTo>
                  <a:pt x="114" y="190"/>
                </a:lnTo>
                <a:lnTo>
                  <a:pt x="87" y="223"/>
                </a:lnTo>
                <a:lnTo>
                  <a:pt x="64" y="259"/>
                </a:lnTo>
                <a:lnTo>
                  <a:pt x="44" y="294"/>
                </a:lnTo>
                <a:lnTo>
                  <a:pt x="26" y="331"/>
                </a:lnTo>
                <a:lnTo>
                  <a:pt x="12" y="368"/>
                </a:lnTo>
                <a:lnTo>
                  <a:pt x="0" y="407"/>
                </a:lnTo>
                <a:lnTo>
                  <a:pt x="37" y="407"/>
                </a:lnTo>
                <a:lnTo>
                  <a:pt x="60" y="358"/>
                </a:lnTo>
                <a:lnTo>
                  <a:pt x="87" y="313"/>
                </a:lnTo>
                <a:lnTo>
                  <a:pt x="119" y="269"/>
                </a:lnTo>
                <a:lnTo>
                  <a:pt x="155" y="229"/>
                </a:lnTo>
                <a:lnTo>
                  <a:pt x="196" y="188"/>
                </a:lnTo>
                <a:lnTo>
                  <a:pt x="241" y="153"/>
                </a:lnTo>
                <a:lnTo>
                  <a:pt x="287" y="123"/>
                </a:lnTo>
                <a:lnTo>
                  <a:pt x="336" y="99"/>
                </a:lnTo>
                <a:lnTo>
                  <a:pt x="385" y="80"/>
                </a:lnTo>
                <a:lnTo>
                  <a:pt x="439" y="66"/>
                </a:lnTo>
                <a:lnTo>
                  <a:pt x="494" y="58"/>
                </a:lnTo>
                <a:lnTo>
                  <a:pt x="552" y="57"/>
                </a:lnTo>
                <a:lnTo>
                  <a:pt x="579" y="56"/>
                </a:lnTo>
                <a:lnTo>
                  <a:pt x="608" y="58"/>
                </a:lnTo>
                <a:lnTo>
                  <a:pt x="635" y="61"/>
                </a:lnTo>
                <a:lnTo>
                  <a:pt x="663" y="66"/>
                </a:lnTo>
                <a:lnTo>
                  <a:pt x="716" y="80"/>
                </a:lnTo>
                <a:lnTo>
                  <a:pt x="741" y="88"/>
                </a:lnTo>
                <a:lnTo>
                  <a:pt x="767" y="99"/>
                </a:lnTo>
                <a:lnTo>
                  <a:pt x="815" y="123"/>
                </a:lnTo>
                <a:lnTo>
                  <a:pt x="838" y="137"/>
                </a:lnTo>
                <a:lnTo>
                  <a:pt x="862" y="153"/>
                </a:lnTo>
                <a:lnTo>
                  <a:pt x="883" y="169"/>
                </a:lnTo>
                <a:lnTo>
                  <a:pt x="906" y="188"/>
                </a:lnTo>
                <a:lnTo>
                  <a:pt x="950" y="229"/>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512" name="Freeform 488">
            <a:extLst>
              <a:ext uri="{FF2B5EF4-FFF2-40B4-BE49-F238E27FC236}">
                <a16:creationId xmlns:a16="http://schemas.microsoft.com/office/drawing/2014/main" id="{156E7B20-AF8C-6E3B-A7CE-368012F93B5D}"/>
              </a:ext>
            </a:extLst>
          </p:cNvPr>
          <p:cNvSpPr>
            <a:spLocks/>
          </p:cNvSpPr>
          <p:nvPr/>
        </p:nvSpPr>
        <p:spPr bwMode="auto">
          <a:xfrm>
            <a:off x="3544888" y="2913063"/>
            <a:ext cx="115887" cy="104775"/>
          </a:xfrm>
          <a:custGeom>
            <a:avLst/>
            <a:gdLst>
              <a:gd name="T0" fmla="*/ 29 w 288"/>
              <a:gd name="T1" fmla="*/ 18 h 265"/>
              <a:gd name="T2" fmla="*/ 23 w 288"/>
              <a:gd name="T3" fmla="*/ 14 h 265"/>
              <a:gd name="T4" fmla="*/ 0 w 288"/>
              <a:gd name="T5" fmla="*/ 0 h 265"/>
              <a:gd name="T6" fmla="*/ 34 w 288"/>
              <a:gd name="T7" fmla="*/ 265 h 265"/>
              <a:gd name="T8" fmla="*/ 288 w 288"/>
              <a:gd name="T9" fmla="*/ 180 h 265"/>
              <a:gd name="T10" fmla="*/ 258 w 288"/>
              <a:gd name="T11" fmla="*/ 161 h 265"/>
              <a:gd name="T12" fmla="*/ 227 w 288"/>
              <a:gd name="T13" fmla="*/ 141 h 265"/>
              <a:gd name="T14" fmla="*/ 58 w 288"/>
              <a:gd name="T15" fmla="*/ 37 h 265"/>
              <a:gd name="T16" fmla="*/ 29 w 288"/>
              <a:gd name="T17" fmla="*/ 18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65">
                <a:moveTo>
                  <a:pt x="29" y="18"/>
                </a:moveTo>
                <a:lnTo>
                  <a:pt x="23" y="14"/>
                </a:lnTo>
                <a:lnTo>
                  <a:pt x="0" y="0"/>
                </a:lnTo>
                <a:lnTo>
                  <a:pt x="34" y="265"/>
                </a:lnTo>
                <a:lnTo>
                  <a:pt x="288" y="180"/>
                </a:lnTo>
                <a:lnTo>
                  <a:pt x="258" y="161"/>
                </a:lnTo>
                <a:lnTo>
                  <a:pt x="227" y="141"/>
                </a:lnTo>
                <a:lnTo>
                  <a:pt x="58" y="37"/>
                </a:lnTo>
                <a:lnTo>
                  <a:pt x="29" y="18"/>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513" name="Freeform 489">
            <a:extLst>
              <a:ext uri="{FF2B5EF4-FFF2-40B4-BE49-F238E27FC236}">
                <a16:creationId xmlns:a16="http://schemas.microsoft.com/office/drawing/2014/main" id="{01CCB6B7-0D4A-0752-E531-FC395872CD8F}"/>
              </a:ext>
            </a:extLst>
          </p:cNvPr>
          <p:cNvSpPr>
            <a:spLocks/>
          </p:cNvSpPr>
          <p:nvPr/>
        </p:nvSpPr>
        <p:spPr bwMode="auto">
          <a:xfrm>
            <a:off x="4211638" y="2797175"/>
            <a:ext cx="441325" cy="161925"/>
          </a:xfrm>
          <a:custGeom>
            <a:avLst/>
            <a:gdLst>
              <a:gd name="T0" fmla="*/ 59 w 1111"/>
              <a:gd name="T1" fmla="*/ 357 h 406"/>
              <a:gd name="T2" fmla="*/ 119 w 1111"/>
              <a:gd name="T3" fmla="*/ 269 h 406"/>
              <a:gd name="T4" fmla="*/ 196 w 1111"/>
              <a:gd name="T5" fmla="*/ 188 h 406"/>
              <a:gd name="T6" fmla="*/ 287 w 1111"/>
              <a:gd name="T7" fmla="*/ 123 h 406"/>
              <a:gd name="T8" fmla="*/ 385 w 1111"/>
              <a:gd name="T9" fmla="*/ 79 h 406"/>
              <a:gd name="T10" fmla="*/ 494 w 1111"/>
              <a:gd name="T11" fmla="*/ 58 h 406"/>
              <a:gd name="T12" fmla="*/ 579 w 1111"/>
              <a:gd name="T13" fmla="*/ 56 h 406"/>
              <a:gd name="T14" fmla="*/ 635 w 1111"/>
              <a:gd name="T15" fmla="*/ 60 h 406"/>
              <a:gd name="T16" fmla="*/ 716 w 1111"/>
              <a:gd name="T17" fmla="*/ 79 h 406"/>
              <a:gd name="T18" fmla="*/ 767 w 1111"/>
              <a:gd name="T19" fmla="*/ 99 h 406"/>
              <a:gd name="T20" fmla="*/ 838 w 1111"/>
              <a:gd name="T21" fmla="*/ 136 h 406"/>
              <a:gd name="T22" fmla="*/ 883 w 1111"/>
              <a:gd name="T23" fmla="*/ 168 h 406"/>
              <a:gd name="T24" fmla="*/ 949 w 1111"/>
              <a:gd name="T25" fmla="*/ 229 h 406"/>
              <a:gd name="T26" fmla="*/ 1014 w 1111"/>
              <a:gd name="T27" fmla="*/ 310 h 406"/>
              <a:gd name="T28" fmla="*/ 1064 w 1111"/>
              <a:gd name="T29" fmla="*/ 400 h 406"/>
              <a:gd name="T30" fmla="*/ 1092 w 1111"/>
              <a:gd name="T31" fmla="*/ 359 h 406"/>
              <a:gd name="T32" fmla="*/ 1051 w 1111"/>
              <a:gd name="T33" fmla="*/ 282 h 406"/>
              <a:gd name="T34" fmla="*/ 1001 w 1111"/>
              <a:gd name="T35" fmla="*/ 212 h 406"/>
              <a:gd name="T36" fmla="*/ 941 w 1111"/>
              <a:gd name="T37" fmla="*/ 147 h 406"/>
              <a:gd name="T38" fmla="*/ 874 w 1111"/>
              <a:gd name="T39" fmla="*/ 89 h 406"/>
              <a:gd name="T40" fmla="*/ 815 w 1111"/>
              <a:gd name="T41" fmla="*/ 53 h 406"/>
              <a:gd name="T42" fmla="*/ 773 w 1111"/>
              <a:gd name="T43" fmla="*/ 35 h 406"/>
              <a:gd name="T44" fmla="*/ 727 w 1111"/>
              <a:gd name="T45" fmla="*/ 20 h 406"/>
              <a:gd name="T46" fmla="*/ 653 w 1111"/>
              <a:gd name="T47" fmla="*/ 7 h 406"/>
              <a:gd name="T48" fmla="*/ 572 w 1111"/>
              <a:gd name="T49" fmla="*/ 0 h 406"/>
              <a:gd name="T50" fmla="*/ 488 w 1111"/>
              <a:gd name="T51" fmla="*/ 2 h 406"/>
              <a:gd name="T52" fmla="*/ 383 w 1111"/>
              <a:gd name="T53" fmla="*/ 18 h 406"/>
              <a:gd name="T54" fmla="*/ 291 w 1111"/>
              <a:gd name="T55" fmla="*/ 50 h 406"/>
              <a:gd name="T56" fmla="*/ 229 w 1111"/>
              <a:gd name="T57" fmla="*/ 83 h 406"/>
              <a:gd name="T58" fmla="*/ 177 w 1111"/>
              <a:gd name="T59" fmla="*/ 127 h 406"/>
              <a:gd name="T60" fmla="*/ 114 w 1111"/>
              <a:gd name="T61" fmla="*/ 190 h 406"/>
              <a:gd name="T62" fmla="*/ 64 w 1111"/>
              <a:gd name="T63" fmla="*/ 258 h 406"/>
              <a:gd name="T64" fmla="*/ 26 w 1111"/>
              <a:gd name="T65" fmla="*/ 330 h 406"/>
              <a:gd name="T66" fmla="*/ 0 w 1111"/>
              <a:gd name="T6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11" h="406">
                <a:moveTo>
                  <a:pt x="37" y="406"/>
                </a:moveTo>
                <a:lnTo>
                  <a:pt x="59" y="357"/>
                </a:lnTo>
                <a:lnTo>
                  <a:pt x="87" y="313"/>
                </a:lnTo>
                <a:lnTo>
                  <a:pt x="119" y="269"/>
                </a:lnTo>
                <a:lnTo>
                  <a:pt x="155" y="229"/>
                </a:lnTo>
                <a:lnTo>
                  <a:pt x="196" y="188"/>
                </a:lnTo>
                <a:lnTo>
                  <a:pt x="241" y="152"/>
                </a:lnTo>
                <a:lnTo>
                  <a:pt x="287" y="123"/>
                </a:lnTo>
                <a:lnTo>
                  <a:pt x="336" y="99"/>
                </a:lnTo>
                <a:lnTo>
                  <a:pt x="385" y="79"/>
                </a:lnTo>
                <a:lnTo>
                  <a:pt x="439" y="66"/>
                </a:lnTo>
                <a:lnTo>
                  <a:pt x="494" y="58"/>
                </a:lnTo>
                <a:lnTo>
                  <a:pt x="552" y="57"/>
                </a:lnTo>
                <a:lnTo>
                  <a:pt x="579" y="56"/>
                </a:lnTo>
                <a:lnTo>
                  <a:pt x="608" y="58"/>
                </a:lnTo>
                <a:lnTo>
                  <a:pt x="635" y="60"/>
                </a:lnTo>
                <a:lnTo>
                  <a:pt x="663" y="66"/>
                </a:lnTo>
                <a:lnTo>
                  <a:pt x="716" y="79"/>
                </a:lnTo>
                <a:lnTo>
                  <a:pt x="741" y="87"/>
                </a:lnTo>
                <a:lnTo>
                  <a:pt x="767" y="99"/>
                </a:lnTo>
                <a:lnTo>
                  <a:pt x="815" y="123"/>
                </a:lnTo>
                <a:lnTo>
                  <a:pt x="838" y="136"/>
                </a:lnTo>
                <a:lnTo>
                  <a:pt x="862" y="152"/>
                </a:lnTo>
                <a:lnTo>
                  <a:pt x="883" y="168"/>
                </a:lnTo>
                <a:lnTo>
                  <a:pt x="906" y="188"/>
                </a:lnTo>
                <a:lnTo>
                  <a:pt x="949" y="229"/>
                </a:lnTo>
                <a:lnTo>
                  <a:pt x="984" y="267"/>
                </a:lnTo>
                <a:lnTo>
                  <a:pt x="1014" y="310"/>
                </a:lnTo>
                <a:lnTo>
                  <a:pt x="1042" y="353"/>
                </a:lnTo>
                <a:lnTo>
                  <a:pt x="1064" y="400"/>
                </a:lnTo>
                <a:lnTo>
                  <a:pt x="1111" y="400"/>
                </a:lnTo>
                <a:lnTo>
                  <a:pt x="1092" y="359"/>
                </a:lnTo>
                <a:lnTo>
                  <a:pt x="1072" y="320"/>
                </a:lnTo>
                <a:lnTo>
                  <a:pt x="1051" y="282"/>
                </a:lnTo>
                <a:lnTo>
                  <a:pt x="1027" y="247"/>
                </a:lnTo>
                <a:lnTo>
                  <a:pt x="1001" y="212"/>
                </a:lnTo>
                <a:lnTo>
                  <a:pt x="972" y="179"/>
                </a:lnTo>
                <a:lnTo>
                  <a:pt x="941" y="147"/>
                </a:lnTo>
                <a:lnTo>
                  <a:pt x="911" y="117"/>
                </a:lnTo>
                <a:lnTo>
                  <a:pt x="874" y="89"/>
                </a:lnTo>
                <a:lnTo>
                  <a:pt x="837" y="65"/>
                </a:lnTo>
                <a:lnTo>
                  <a:pt x="815" y="53"/>
                </a:lnTo>
                <a:lnTo>
                  <a:pt x="794" y="44"/>
                </a:lnTo>
                <a:lnTo>
                  <a:pt x="773" y="35"/>
                </a:lnTo>
                <a:lnTo>
                  <a:pt x="751" y="28"/>
                </a:lnTo>
                <a:lnTo>
                  <a:pt x="727" y="20"/>
                </a:lnTo>
                <a:lnTo>
                  <a:pt x="703" y="14"/>
                </a:lnTo>
                <a:lnTo>
                  <a:pt x="653" y="7"/>
                </a:lnTo>
                <a:lnTo>
                  <a:pt x="600" y="1"/>
                </a:lnTo>
                <a:lnTo>
                  <a:pt x="572" y="0"/>
                </a:lnTo>
                <a:lnTo>
                  <a:pt x="545" y="1"/>
                </a:lnTo>
                <a:lnTo>
                  <a:pt x="488" y="2"/>
                </a:lnTo>
                <a:lnTo>
                  <a:pt x="434" y="9"/>
                </a:lnTo>
                <a:lnTo>
                  <a:pt x="383" y="18"/>
                </a:lnTo>
                <a:lnTo>
                  <a:pt x="336" y="33"/>
                </a:lnTo>
                <a:lnTo>
                  <a:pt x="291" y="50"/>
                </a:lnTo>
                <a:lnTo>
                  <a:pt x="250" y="71"/>
                </a:lnTo>
                <a:lnTo>
                  <a:pt x="229" y="83"/>
                </a:lnTo>
                <a:lnTo>
                  <a:pt x="211" y="97"/>
                </a:lnTo>
                <a:lnTo>
                  <a:pt x="177" y="127"/>
                </a:lnTo>
                <a:lnTo>
                  <a:pt x="144" y="158"/>
                </a:lnTo>
                <a:lnTo>
                  <a:pt x="114" y="190"/>
                </a:lnTo>
                <a:lnTo>
                  <a:pt x="87" y="223"/>
                </a:lnTo>
                <a:lnTo>
                  <a:pt x="64" y="258"/>
                </a:lnTo>
                <a:lnTo>
                  <a:pt x="43" y="294"/>
                </a:lnTo>
                <a:lnTo>
                  <a:pt x="26" y="330"/>
                </a:lnTo>
                <a:lnTo>
                  <a:pt x="12" y="368"/>
                </a:lnTo>
                <a:lnTo>
                  <a:pt x="0" y="406"/>
                </a:lnTo>
                <a:lnTo>
                  <a:pt x="37" y="406"/>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514" name="Freeform 490">
            <a:extLst>
              <a:ext uri="{FF2B5EF4-FFF2-40B4-BE49-F238E27FC236}">
                <a16:creationId xmlns:a16="http://schemas.microsoft.com/office/drawing/2014/main" id="{2144C690-74D7-F0F9-ED90-EC36ABCA2F04}"/>
              </a:ext>
            </a:extLst>
          </p:cNvPr>
          <p:cNvSpPr>
            <a:spLocks/>
          </p:cNvSpPr>
          <p:nvPr/>
        </p:nvSpPr>
        <p:spPr bwMode="auto">
          <a:xfrm>
            <a:off x="4164013" y="2917825"/>
            <a:ext cx="114300" cy="104775"/>
          </a:xfrm>
          <a:custGeom>
            <a:avLst/>
            <a:gdLst>
              <a:gd name="T0" fmla="*/ 29 w 288"/>
              <a:gd name="T1" fmla="*/ 18 h 264"/>
              <a:gd name="T2" fmla="*/ 22 w 288"/>
              <a:gd name="T3" fmla="*/ 13 h 264"/>
              <a:gd name="T4" fmla="*/ 0 w 288"/>
              <a:gd name="T5" fmla="*/ 0 h 264"/>
              <a:gd name="T6" fmla="*/ 34 w 288"/>
              <a:gd name="T7" fmla="*/ 264 h 264"/>
              <a:gd name="T8" fmla="*/ 288 w 288"/>
              <a:gd name="T9" fmla="*/ 180 h 264"/>
              <a:gd name="T10" fmla="*/ 258 w 288"/>
              <a:gd name="T11" fmla="*/ 160 h 264"/>
              <a:gd name="T12" fmla="*/ 226 w 288"/>
              <a:gd name="T13" fmla="*/ 141 h 264"/>
              <a:gd name="T14" fmla="*/ 58 w 288"/>
              <a:gd name="T15" fmla="*/ 36 h 264"/>
              <a:gd name="T16" fmla="*/ 29 w 288"/>
              <a:gd name="T17" fmla="*/ 18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64">
                <a:moveTo>
                  <a:pt x="29" y="18"/>
                </a:moveTo>
                <a:lnTo>
                  <a:pt x="22" y="13"/>
                </a:lnTo>
                <a:lnTo>
                  <a:pt x="0" y="0"/>
                </a:lnTo>
                <a:lnTo>
                  <a:pt x="34" y="264"/>
                </a:lnTo>
                <a:lnTo>
                  <a:pt x="288" y="180"/>
                </a:lnTo>
                <a:lnTo>
                  <a:pt x="258" y="160"/>
                </a:lnTo>
                <a:lnTo>
                  <a:pt x="226" y="141"/>
                </a:lnTo>
                <a:lnTo>
                  <a:pt x="58" y="36"/>
                </a:lnTo>
                <a:lnTo>
                  <a:pt x="29" y="18"/>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nvGrpSpPr>
          <p:cNvPr id="3073515" name="Group 491">
            <a:extLst>
              <a:ext uri="{FF2B5EF4-FFF2-40B4-BE49-F238E27FC236}">
                <a16:creationId xmlns:a16="http://schemas.microsoft.com/office/drawing/2014/main" id="{DAB35BA6-6C65-E61B-0B92-5B1473C4FCBD}"/>
              </a:ext>
            </a:extLst>
          </p:cNvPr>
          <p:cNvGrpSpPr>
            <a:grpSpLocks/>
          </p:cNvGrpSpPr>
          <p:nvPr/>
        </p:nvGrpSpPr>
        <p:grpSpPr bwMode="auto">
          <a:xfrm>
            <a:off x="7440613" y="2347913"/>
            <a:ext cx="487362" cy="652462"/>
            <a:chOff x="4741" y="1017"/>
            <a:chExt cx="307" cy="411"/>
          </a:xfrm>
        </p:grpSpPr>
        <p:grpSp>
          <p:nvGrpSpPr>
            <p:cNvPr id="3073516" name="Group 492">
              <a:extLst>
                <a:ext uri="{FF2B5EF4-FFF2-40B4-BE49-F238E27FC236}">
                  <a16:creationId xmlns:a16="http://schemas.microsoft.com/office/drawing/2014/main" id="{CEB05E5E-30C2-DA0A-4FA0-985FEEEC4222}"/>
                </a:ext>
              </a:extLst>
            </p:cNvPr>
            <p:cNvGrpSpPr>
              <a:grpSpLocks/>
            </p:cNvGrpSpPr>
            <p:nvPr/>
          </p:nvGrpSpPr>
          <p:grpSpPr bwMode="auto">
            <a:xfrm>
              <a:off x="4760" y="1017"/>
              <a:ext cx="288" cy="371"/>
              <a:chOff x="4760" y="1017"/>
              <a:chExt cx="288" cy="371"/>
            </a:xfrm>
          </p:grpSpPr>
          <p:sp>
            <p:nvSpPr>
              <p:cNvPr id="3073517" name="Rectangle 493">
                <a:extLst>
                  <a:ext uri="{FF2B5EF4-FFF2-40B4-BE49-F238E27FC236}">
                    <a16:creationId xmlns:a16="http://schemas.microsoft.com/office/drawing/2014/main" id="{F047B7EC-4640-0A23-3B67-8826783AB08F}"/>
                  </a:ext>
                </a:extLst>
              </p:cNvPr>
              <p:cNvSpPr>
                <a:spLocks noChangeArrowheads="1"/>
              </p:cNvSpPr>
              <p:nvPr/>
            </p:nvSpPr>
            <p:spPr bwMode="auto">
              <a:xfrm>
                <a:off x="4760" y="1017"/>
                <a:ext cx="27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Configure</a:t>
                </a:r>
                <a:endParaRPr lang="en-US" altLang="zh-CN" sz="1800">
                  <a:solidFill>
                    <a:schemeClr val="tx1"/>
                  </a:solidFill>
                  <a:ea typeface="宋体" panose="02010600030101010101" pitchFamily="2" charset="-122"/>
                </a:endParaRPr>
              </a:p>
            </p:txBody>
          </p:sp>
          <p:sp>
            <p:nvSpPr>
              <p:cNvPr id="3073518" name="Rectangle 494">
                <a:extLst>
                  <a:ext uri="{FF2B5EF4-FFF2-40B4-BE49-F238E27FC236}">
                    <a16:creationId xmlns:a16="http://schemas.microsoft.com/office/drawing/2014/main" id="{F08764C4-20C3-86CD-4319-5745268BFB7F}"/>
                  </a:ext>
                </a:extLst>
              </p:cNvPr>
              <p:cNvSpPr>
                <a:spLocks noChangeArrowheads="1"/>
              </p:cNvSpPr>
              <p:nvPr/>
            </p:nvSpPr>
            <p:spPr bwMode="auto">
              <a:xfrm>
                <a:off x="4836" y="1097"/>
                <a:ext cx="121"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New</a:t>
                </a:r>
                <a:endParaRPr lang="en-US" altLang="zh-CN" sz="1800">
                  <a:solidFill>
                    <a:schemeClr val="tx1"/>
                  </a:solidFill>
                  <a:ea typeface="宋体" panose="02010600030101010101" pitchFamily="2" charset="-122"/>
                </a:endParaRPr>
              </a:p>
            </p:txBody>
          </p:sp>
          <p:sp>
            <p:nvSpPr>
              <p:cNvPr id="3073519" name="Rectangle 495">
                <a:extLst>
                  <a:ext uri="{FF2B5EF4-FFF2-40B4-BE49-F238E27FC236}">
                    <a16:creationId xmlns:a16="http://schemas.microsoft.com/office/drawing/2014/main" id="{D54A067E-4FDF-3CA8-C4EA-E6A8F4ECF490}"/>
                  </a:ext>
                </a:extLst>
              </p:cNvPr>
              <p:cNvSpPr>
                <a:spLocks noChangeArrowheads="1"/>
              </p:cNvSpPr>
              <p:nvPr/>
            </p:nvSpPr>
            <p:spPr bwMode="auto">
              <a:xfrm>
                <a:off x="4776" y="1177"/>
                <a:ext cx="25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Volumes </a:t>
                </a:r>
                <a:endParaRPr lang="en-US" altLang="zh-CN" sz="1800">
                  <a:solidFill>
                    <a:schemeClr val="tx1"/>
                  </a:solidFill>
                  <a:ea typeface="宋体" panose="02010600030101010101" pitchFamily="2" charset="-122"/>
                </a:endParaRPr>
              </a:p>
            </p:txBody>
          </p:sp>
          <p:sp>
            <p:nvSpPr>
              <p:cNvPr id="3073520" name="Freeform 496">
                <a:extLst>
                  <a:ext uri="{FF2B5EF4-FFF2-40B4-BE49-F238E27FC236}">
                    <a16:creationId xmlns:a16="http://schemas.microsoft.com/office/drawing/2014/main" id="{2F076282-7B01-C82C-E6B9-6D5EBC2959D2}"/>
                  </a:ext>
                </a:extLst>
              </p:cNvPr>
              <p:cNvSpPr>
                <a:spLocks/>
              </p:cNvSpPr>
              <p:nvPr/>
            </p:nvSpPr>
            <p:spPr bwMode="auto">
              <a:xfrm>
                <a:off x="4770" y="1286"/>
                <a:ext cx="278" cy="102"/>
              </a:xfrm>
              <a:custGeom>
                <a:avLst/>
                <a:gdLst>
                  <a:gd name="T0" fmla="*/ 59 w 1111"/>
                  <a:gd name="T1" fmla="*/ 358 h 407"/>
                  <a:gd name="T2" fmla="*/ 118 w 1111"/>
                  <a:gd name="T3" fmla="*/ 269 h 407"/>
                  <a:gd name="T4" fmla="*/ 196 w 1111"/>
                  <a:gd name="T5" fmla="*/ 188 h 407"/>
                  <a:gd name="T6" fmla="*/ 287 w 1111"/>
                  <a:gd name="T7" fmla="*/ 123 h 407"/>
                  <a:gd name="T8" fmla="*/ 385 w 1111"/>
                  <a:gd name="T9" fmla="*/ 80 h 407"/>
                  <a:gd name="T10" fmla="*/ 493 w 1111"/>
                  <a:gd name="T11" fmla="*/ 58 h 407"/>
                  <a:gd name="T12" fmla="*/ 579 w 1111"/>
                  <a:gd name="T13" fmla="*/ 56 h 407"/>
                  <a:gd name="T14" fmla="*/ 635 w 1111"/>
                  <a:gd name="T15" fmla="*/ 60 h 407"/>
                  <a:gd name="T16" fmla="*/ 716 w 1111"/>
                  <a:gd name="T17" fmla="*/ 80 h 407"/>
                  <a:gd name="T18" fmla="*/ 767 w 1111"/>
                  <a:gd name="T19" fmla="*/ 99 h 407"/>
                  <a:gd name="T20" fmla="*/ 837 w 1111"/>
                  <a:gd name="T21" fmla="*/ 137 h 407"/>
                  <a:gd name="T22" fmla="*/ 883 w 1111"/>
                  <a:gd name="T23" fmla="*/ 169 h 407"/>
                  <a:gd name="T24" fmla="*/ 949 w 1111"/>
                  <a:gd name="T25" fmla="*/ 229 h 407"/>
                  <a:gd name="T26" fmla="*/ 1014 w 1111"/>
                  <a:gd name="T27" fmla="*/ 310 h 407"/>
                  <a:gd name="T28" fmla="*/ 1064 w 1111"/>
                  <a:gd name="T29" fmla="*/ 400 h 407"/>
                  <a:gd name="T30" fmla="*/ 1092 w 1111"/>
                  <a:gd name="T31" fmla="*/ 359 h 407"/>
                  <a:gd name="T32" fmla="*/ 1051 w 1111"/>
                  <a:gd name="T33" fmla="*/ 283 h 407"/>
                  <a:gd name="T34" fmla="*/ 1000 w 1111"/>
                  <a:gd name="T35" fmla="*/ 212 h 407"/>
                  <a:gd name="T36" fmla="*/ 941 w 1111"/>
                  <a:gd name="T37" fmla="*/ 147 h 407"/>
                  <a:gd name="T38" fmla="*/ 874 w 1111"/>
                  <a:gd name="T39" fmla="*/ 89 h 407"/>
                  <a:gd name="T40" fmla="*/ 815 w 1111"/>
                  <a:gd name="T41" fmla="*/ 54 h 407"/>
                  <a:gd name="T42" fmla="*/ 772 w 1111"/>
                  <a:gd name="T43" fmla="*/ 35 h 407"/>
                  <a:gd name="T44" fmla="*/ 727 w 1111"/>
                  <a:gd name="T45" fmla="*/ 20 h 407"/>
                  <a:gd name="T46" fmla="*/ 653 w 1111"/>
                  <a:gd name="T47" fmla="*/ 7 h 407"/>
                  <a:gd name="T48" fmla="*/ 572 w 1111"/>
                  <a:gd name="T49" fmla="*/ 0 h 407"/>
                  <a:gd name="T50" fmla="*/ 488 w 1111"/>
                  <a:gd name="T51" fmla="*/ 2 h 407"/>
                  <a:gd name="T52" fmla="*/ 383 w 1111"/>
                  <a:gd name="T53" fmla="*/ 18 h 407"/>
                  <a:gd name="T54" fmla="*/ 290 w 1111"/>
                  <a:gd name="T55" fmla="*/ 50 h 407"/>
                  <a:gd name="T56" fmla="*/ 229 w 1111"/>
                  <a:gd name="T57" fmla="*/ 83 h 407"/>
                  <a:gd name="T58" fmla="*/ 177 w 1111"/>
                  <a:gd name="T59" fmla="*/ 128 h 407"/>
                  <a:gd name="T60" fmla="*/ 114 w 1111"/>
                  <a:gd name="T61" fmla="*/ 190 h 407"/>
                  <a:gd name="T62" fmla="*/ 64 w 1111"/>
                  <a:gd name="T63" fmla="*/ 259 h 407"/>
                  <a:gd name="T64" fmla="*/ 26 w 1111"/>
                  <a:gd name="T65" fmla="*/ 330 h 407"/>
                  <a:gd name="T66" fmla="*/ 0 w 1111"/>
                  <a:gd name="T67" fmla="*/ 407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11" h="407">
                    <a:moveTo>
                      <a:pt x="36" y="407"/>
                    </a:moveTo>
                    <a:lnTo>
                      <a:pt x="59" y="358"/>
                    </a:lnTo>
                    <a:lnTo>
                      <a:pt x="86" y="313"/>
                    </a:lnTo>
                    <a:lnTo>
                      <a:pt x="118" y="269"/>
                    </a:lnTo>
                    <a:lnTo>
                      <a:pt x="155" y="229"/>
                    </a:lnTo>
                    <a:lnTo>
                      <a:pt x="196" y="188"/>
                    </a:lnTo>
                    <a:lnTo>
                      <a:pt x="240" y="153"/>
                    </a:lnTo>
                    <a:lnTo>
                      <a:pt x="287" y="123"/>
                    </a:lnTo>
                    <a:lnTo>
                      <a:pt x="336" y="99"/>
                    </a:lnTo>
                    <a:lnTo>
                      <a:pt x="385" y="80"/>
                    </a:lnTo>
                    <a:lnTo>
                      <a:pt x="439" y="66"/>
                    </a:lnTo>
                    <a:lnTo>
                      <a:pt x="493" y="58"/>
                    </a:lnTo>
                    <a:lnTo>
                      <a:pt x="551" y="57"/>
                    </a:lnTo>
                    <a:lnTo>
                      <a:pt x="579" y="56"/>
                    </a:lnTo>
                    <a:lnTo>
                      <a:pt x="607" y="58"/>
                    </a:lnTo>
                    <a:lnTo>
                      <a:pt x="635" y="60"/>
                    </a:lnTo>
                    <a:lnTo>
                      <a:pt x="663" y="66"/>
                    </a:lnTo>
                    <a:lnTo>
                      <a:pt x="716" y="80"/>
                    </a:lnTo>
                    <a:lnTo>
                      <a:pt x="741" y="88"/>
                    </a:lnTo>
                    <a:lnTo>
                      <a:pt x="767" y="99"/>
                    </a:lnTo>
                    <a:lnTo>
                      <a:pt x="815" y="123"/>
                    </a:lnTo>
                    <a:lnTo>
                      <a:pt x="837" y="137"/>
                    </a:lnTo>
                    <a:lnTo>
                      <a:pt x="861" y="153"/>
                    </a:lnTo>
                    <a:lnTo>
                      <a:pt x="883" y="169"/>
                    </a:lnTo>
                    <a:lnTo>
                      <a:pt x="906" y="188"/>
                    </a:lnTo>
                    <a:lnTo>
                      <a:pt x="949" y="229"/>
                    </a:lnTo>
                    <a:lnTo>
                      <a:pt x="983" y="268"/>
                    </a:lnTo>
                    <a:lnTo>
                      <a:pt x="1014" y="310"/>
                    </a:lnTo>
                    <a:lnTo>
                      <a:pt x="1041" y="353"/>
                    </a:lnTo>
                    <a:lnTo>
                      <a:pt x="1064" y="400"/>
                    </a:lnTo>
                    <a:lnTo>
                      <a:pt x="1111" y="400"/>
                    </a:lnTo>
                    <a:lnTo>
                      <a:pt x="1092" y="359"/>
                    </a:lnTo>
                    <a:lnTo>
                      <a:pt x="1072" y="320"/>
                    </a:lnTo>
                    <a:lnTo>
                      <a:pt x="1051" y="283"/>
                    </a:lnTo>
                    <a:lnTo>
                      <a:pt x="1027" y="247"/>
                    </a:lnTo>
                    <a:lnTo>
                      <a:pt x="1000" y="212"/>
                    </a:lnTo>
                    <a:lnTo>
                      <a:pt x="972" y="179"/>
                    </a:lnTo>
                    <a:lnTo>
                      <a:pt x="941" y="147"/>
                    </a:lnTo>
                    <a:lnTo>
                      <a:pt x="910" y="117"/>
                    </a:lnTo>
                    <a:lnTo>
                      <a:pt x="874" y="89"/>
                    </a:lnTo>
                    <a:lnTo>
                      <a:pt x="836" y="65"/>
                    </a:lnTo>
                    <a:lnTo>
                      <a:pt x="815" y="54"/>
                    </a:lnTo>
                    <a:lnTo>
                      <a:pt x="794" y="44"/>
                    </a:lnTo>
                    <a:lnTo>
                      <a:pt x="772" y="35"/>
                    </a:lnTo>
                    <a:lnTo>
                      <a:pt x="751" y="28"/>
                    </a:lnTo>
                    <a:lnTo>
                      <a:pt x="727" y="20"/>
                    </a:lnTo>
                    <a:lnTo>
                      <a:pt x="703" y="15"/>
                    </a:lnTo>
                    <a:lnTo>
                      <a:pt x="653" y="7"/>
                    </a:lnTo>
                    <a:lnTo>
                      <a:pt x="599" y="1"/>
                    </a:lnTo>
                    <a:lnTo>
                      <a:pt x="572" y="0"/>
                    </a:lnTo>
                    <a:lnTo>
                      <a:pt x="545" y="1"/>
                    </a:lnTo>
                    <a:lnTo>
                      <a:pt x="488" y="2"/>
                    </a:lnTo>
                    <a:lnTo>
                      <a:pt x="434" y="9"/>
                    </a:lnTo>
                    <a:lnTo>
                      <a:pt x="383" y="18"/>
                    </a:lnTo>
                    <a:lnTo>
                      <a:pt x="336" y="33"/>
                    </a:lnTo>
                    <a:lnTo>
                      <a:pt x="290" y="50"/>
                    </a:lnTo>
                    <a:lnTo>
                      <a:pt x="249" y="72"/>
                    </a:lnTo>
                    <a:lnTo>
                      <a:pt x="229" y="83"/>
                    </a:lnTo>
                    <a:lnTo>
                      <a:pt x="211" y="97"/>
                    </a:lnTo>
                    <a:lnTo>
                      <a:pt x="177" y="128"/>
                    </a:lnTo>
                    <a:lnTo>
                      <a:pt x="143" y="158"/>
                    </a:lnTo>
                    <a:lnTo>
                      <a:pt x="114" y="190"/>
                    </a:lnTo>
                    <a:lnTo>
                      <a:pt x="86" y="223"/>
                    </a:lnTo>
                    <a:lnTo>
                      <a:pt x="64" y="259"/>
                    </a:lnTo>
                    <a:lnTo>
                      <a:pt x="43" y="294"/>
                    </a:lnTo>
                    <a:lnTo>
                      <a:pt x="26" y="330"/>
                    </a:lnTo>
                    <a:lnTo>
                      <a:pt x="11" y="368"/>
                    </a:lnTo>
                    <a:lnTo>
                      <a:pt x="0" y="407"/>
                    </a:lnTo>
                    <a:lnTo>
                      <a:pt x="36" y="407"/>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3073521" name="Freeform 497">
              <a:extLst>
                <a:ext uri="{FF2B5EF4-FFF2-40B4-BE49-F238E27FC236}">
                  <a16:creationId xmlns:a16="http://schemas.microsoft.com/office/drawing/2014/main" id="{5D605133-264A-4887-6ECC-45DFE59BB2B1}"/>
                </a:ext>
              </a:extLst>
            </p:cNvPr>
            <p:cNvSpPr>
              <a:spLocks/>
            </p:cNvSpPr>
            <p:nvPr/>
          </p:nvSpPr>
          <p:spPr bwMode="auto">
            <a:xfrm>
              <a:off x="4741" y="1362"/>
              <a:ext cx="72" cy="66"/>
            </a:xfrm>
            <a:custGeom>
              <a:avLst/>
              <a:gdLst>
                <a:gd name="T0" fmla="*/ 30 w 289"/>
                <a:gd name="T1" fmla="*/ 18 h 264"/>
                <a:gd name="T2" fmla="*/ 23 w 289"/>
                <a:gd name="T3" fmla="*/ 14 h 264"/>
                <a:gd name="T4" fmla="*/ 0 w 289"/>
                <a:gd name="T5" fmla="*/ 0 h 264"/>
                <a:gd name="T6" fmla="*/ 35 w 289"/>
                <a:gd name="T7" fmla="*/ 264 h 264"/>
                <a:gd name="T8" fmla="*/ 289 w 289"/>
                <a:gd name="T9" fmla="*/ 180 h 264"/>
                <a:gd name="T10" fmla="*/ 259 w 289"/>
                <a:gd name="T11" fmla="*/ 161 h 264"/>
                <a:gd name="T12" fmla="*/ 227 w 289"/>
                <a:gd name="T13" fmla="*/ 141 h 264"/>
                <a:gd name="T14" fmla="*/ 58 w 289"/>
                <a:gd name="T15" fmla="*/ 36 h 264"/>
                <a:gd name="T16" fmla="*/ 30 w 289"/>
                <a:gd name="T17" fmla="*/ 18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9" h="264">
                  <a:moveTo>
                    <a:pt x="30" y="18"/>
                  </a:moveTo>
                  <a:lnTo>
                    <a:pt x="23" y="14"/>
                  </a:lnTo>
                  <a:lnTo>
                    <a:pt x="0" y="0"/>
                  </a:lnTo>
                  <a:lnTo>
                    <a:pt x="35" y="264"/>
                  </a:lnTo>
                  <a:lnTo>
                    <a:pt x="289" y="180"/>
                  </a:lnTo>
                  <a:lnTo>
                    <a:pt x="259" y="161"/>
                  </a:lnTo>
                  <a:lnTo>
                    <a:pt x="227" y="141"/>
                  </a:lnTo>
                  <a:lnTo>
                    <a:pt x="58" y="36"/>
                  </a:lnTo>
                  <a:lnTo>
                    <a:pt x="30" y="18"/>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3073522" name="Freeform 498">
            <a:extLst>
              <a:ext uri="{FF2B5EF4-FFF2-40B4-BE49-F238E27FC236}">
                <a16:creationId xmlns:a16="http://schemas.microsoft.com/office/drawing/2014/main" id="{10C9254E-5EA2-9A43-8E9F-690ABD6669E7}"/>
              </a:ext>
            </a:extLst>
          </p:cNvPr>
          <p:cNvSpPr>
            <a:spLocks/>
          </p:cNvSpPr>
          <p:nvPr/>
        </p:nvSpPr>
        <p:spPr bwMode="auto">
          <a:xfrm>
            <a:off x="7586663" y="3540125"/>
            <a:ext cx="3175" cy="1588"/>
          </a:xfrm>
          <a:custGeom>
            <a:avLst/>
            <a:gdLst>
              <a:gd name="T0" fmla="*/ 1 w 5"/>
              <a:gd name="T1" fmla="*/ 0 h 1"/>
              <a:gd name="T2" fmla="*/ 0 w 5"/>
              <a:gd name="T3" fmla="*/ 1 h 1"/>
              <a:gd name="T4" fmla="*/ 5 w 5"/>
              <a:gd name="T5" fmla="*/ 0 h 1"/>
              <a:gd name="T6" fmla="*/ 3 w 5"/>
              <a:gd name="T7" fmla="*/ 0 h 1"/>
              <a:gd name="T8" fmla="*/ 1 w 5"/>
              <a:gd name="T9" fmla="*/ 0 h 1"/>
            </a:gdLst>
            <a:ahLst/>
            <a:cxnLst>
              <a:cxn ang="0">
                <a:pos x="T0" y="T1"/>
              </a:cxn>
              <a:cxn ang="0">
                <a:pos x="T2" y="T3"/>
              </a:cxn>
              <a:cxn ang="0">
                <a:pos x="T4" y="T5"/>
              </a:cxn>
              <a:cxn ang="0">
                <a:pos x="T6" y="T7"/>
              </a:cxn>
              <a:cxn ang="0">
                <a:pos x="T8" y="T9"/>
              </a:cxn>
            </a:cxnLst>
            <a:rect l="0" t="0" r="r" b="b"/>
            <a:pathLst>
              <a:path w="5" h="1">
                <a:moveTo>
                  <a:pt x="1" y="0"/>
                </a:moveTo>
                <a:lnTo>
                  <a:pt x="0" y="1"/>
                </a:lnTo>
                <a:lnTo>
                  <a:pt x="5" y="0"/>
                </a:lnTo>
                <a:lnTo>
                  <a:pt x="3" y="0"/>
                </a:lnTo>
                <a:lnTo>
                  <a:pt x="1" y="0"/>
                </a:lnTo>
                <a:close/>
              </a:path>
            </a:pathLst>
          </a:custGeom>
          <a:solidFill>
            <a:srgbClr val="A4A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23" name="Freeform 499">
            <a:extLst>
              <a:ext uri="{FF2B5EF4-FFF2-40B4-BE49-F238E27FC236}">
                <a16:creationId xmlns:a16="http://schemas.microsoft.com/office/drawing/2014/main" id="{9BED06AE-BDC5-E5C5-8337-9325028FE590}"/>
              </a:ext>
            </a:extLst>
          </p:cNvPr>
          <p:cNvSpPr>
            <a:spLocks/>
          </p:cNvSpPr>
          <p:nvPr/>
        </p:nvSpPr>
        <p:spPr bwMode="auto">
          <a:xfrm>
            <a:off x="7586663" y="3351213"/>
            <a:ext cx="3175" cy="1587"/>
          </a:xfrm>
          <a:custGeom>
            <a:avLst/>
            <a:gdLst>
              <a:gd name="T0" fmla="*/ 1 w 5"/>
              <a:gd name="T1" fmla="*/ 0 h 1"/>
              <a:gd name="T2" fmla="*/ 0 w 5"/>
              <a:gd name="T3" fmla="*/ 1 h 1"/>
              <a:gd name="T4" fmla="*/ 5 w 5"/>
              <a:gd name="T5" fmla="*/ 0 h 1"/>
              <a:gd name="T6" fmla="*/ 3 w 5"/>
              <a:gd name="T7" fmla="*/ 0 h 1"/>
              <a:gd name="T8" fmla="*/ 1 w 5"/>
              <a:gd name="T9" fmla="*/ 0 h 1"/>
            </a:gdLst>
            <a:ahLst/>
            <a:cxnLst>
              <a:cxn ang="0">
                <a:pos x="T0" y="T1"/>
              </a:cxn>
              <a:cxn ang="0">
                <a:pos x="T2" y="T3"/>
              </a:cxn>
              <a:cxn ang="0">
                <a:pos x="T4" y="T5"/>
              </a:cxn>
              <a:cxn ang="0">
                <a:pos x="T6" y="T7"/>
              </a:cxn>
              <a:cxn ang="0">
                <a:pos x="T8" y="T9"/>
              </a:cxn>
            </a:cxnLst>
            <a:rect l="0" t="0" r="r" b="b"/>
            <a:pathLst>
              <a:path w="5" h="1">
                <a:moveTo>
                  <a:pt x="1" y="0"/>
                </a:moveTo>
                <a:lnTo>
                  <a:pt x="0" y="1"/>
                </a:lnTo>
                <a:lnTo>
                  <a:pt x="5" y="0"/>
                </a:lnTo>
                <a:lnTo>
                  <a:pt x="3" y="0"/>
                </a:lnTo>
                <a:lnTo>
                  <a:pt x="1" y="0"/>
                </a:lnTo>
                <a:close/>
              </a:path>
            </a:pathLst>
          </a:custGeom>
          <a:solidFill>
            <a:srgbClr val="A4A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24" name="Freeform 500">
            <a:extLst>
              <a:ext uri="{FF2B5EF4-FFF2-40B4-BE49-F238E27FC236}">
                <a16:creationId xmlns:a16="http://schemas.microsoft.com/office/drawing/2014/main" id="{51870CC0-1623-78B5-80D5-540650C7BAA2}"/>
              </a:ext>
            </a:extLst>
          </p:cNvPr>
          <p:cNvSpPr>
            <a:spLocks/>
          </p:cNvSpPr>
          <p:nvPr/>
        </p:nvSpPr>
        <p:spPr bwMode="auto">
          <a:xfrm>
            <a:off x="7586663" y="3144838"/>
            <a:ext cx="3175" cy="1587"/>
          </a:xfrm>
          <a:custGeom>
            <a:avLst/>
            <a:gdLst>
              <a:gd name="T0" fmla="*/ 1 w 5"/>
              <a:gd name="T1" fmla="*/ 0 h 1"/>
              <a:gd name="T2" fmla="*/ 0 w 5"/>
              <a:gd name="T3" fmla="*/ 1 h 1"/>
              <a:gd name="T4" fmla="*/ 5 w 5"/>
              <a:gd name="T5" fmla="*/ 0 h 1"/>
              <a:gd name="T6" fmla="*/ 3 w 5"/>
              <a:gd name="T7" fmla="*/ 0 h 1"/>
              <a:gd name="T8" fmla="*/ 1 w 5"/>
              <a:gd name="T9" fmla="*/ 0 h 1"/>
            </a:gdLst>
            <a:ahLst/>
            <a:cxnLst>
              <a:cxn ang="0">
                <a:pos x="T0" y="T1"/>
              </a:cxn>
              <a:cxn ang="0">
                <a:pos x="T2" y="T3"/>
              </a:cxn>
              <a:cxn ang="0">
                <a:pos x="T4" y="T5"/>
              </a:cxn>
              <a:cxn ang="0">
                <a:pos x="T6" y="T7"/>
              </a:cxn>
              <a:cxn ang="0">
                <a:pos x="T8" y="T9"/>
              </a:cxn>
            </a:cxnLst>
            <a:rect l="0" t="0" r="r" b="b"/>
            <a:pathLst>
              <a:path w="5" h="1">
                <a:moveTo>
                  <a:pt x="1" y="0"/>
                </a:moveTo>
                <a:lnTo>
                  <a:pt x="0" y="1"/>
                </a:lnTo>
                <a:lnTo>
                  <a:pt x="5" y="0"/>
                </a:lnTo>
                <a:lnTo>
                  <a:pt x="3" y="0"/>
                </a:lnTo>
                <a:lnTo>
                  <a:pt x="1" y="0"/>
                </a:lnTo>
                <a:close/>
              </a:path>
            </a:pathLst>
          </a:custGeom>
          <a:solidFill>
            <a:srgbClr val="A4A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25" name="Freeform 501">
            <a:extLst>
              <a:ext uri="{FF2B5EF4-FFF2-40B4-BE49-F238E27FC236}">
                <a16:creationId xmlns:a16="http://schemas.microsoft.com/office/drawing/2014/main" id="{13132C90-A8E6-BDC6-E33E-2C97480A2E90}"/>
              </a:ext>
            </a:extLst>
          </p:cNvPr>
          <p:cNvSpPr>
            <a:spLocks/>
          </p:cNvSpPr>
          <p:nvPr/>
        </p:nvSpPr>
        <p:spPr bwMode="auto">
          <a:xfrm>
            <a:off x="7993063" y="3094038"/>
            <a:ext cx="3175" cy="1587"/>
          </a:xfrm>
          <a:custGeom>
            <a:avLst/>
            <a:gdLst>
              <a:gd name="T0" fmla="*/ 1 w 6"/>
              <a:gd name="T1" fmla="*/ 0 h 1"/>
              <a:gd name="T2" fmla="*/ 0 w 6"/>
              <a:gd name="T3" fmla="*/ 0 h 1"/>
              <a:gd name="T4" fmla="*/ 6 w 6"/>
              <a:gd name="T5" fmla="*/ 1 h 1"/>
              <a:gd name="T6" fmla="*/ 5 w 6"/>
              <a:gd name="T7" fmla="*/ 1 h 1"/>
              <a:gd name="T8" fmla="*/ 1 w 6"/>
              <a:gd name="T9" fmla="*/ 0 h 1"/>
            </a:gdLst>
            <a:ahLst/>
            <a:cxnLst>
              <a:cxn ang="0">
                <a:pos x="T0" y="T1"/>
              </a:cxn>
              <a:cxn ang="0">
                <a:pos x="T2" y="T3"/>
              </a:cxn>
              <a:cxn ang="0">
                <a:pos x="T4" y="T5"/>
              </a:cxn>
              <a:cxn ang="0">
                <a:pos x="T6" y="T7"/>
              </a:cxn>
              <a:cxn ang="0">
                <a:pos x="T8" y="T9"/>
              </a:cxn>
            </a:cxnLst>
            <a:rect l="0" t="0" r="r" b="b"/>
            <a:pathLst>
              <a:path w="6" h="1">
                <a:moveTo>
                  <a:pt x="1" y="0"/>
                </a:moveTo>
                <a:lnTo>
                  <a:pt x="0" y="0"/>
                </a:lnTo>
                <a:lnTo>
                  <a:pt x="6" y="1"/>
                </a:lnTo>
                <a:lnTo>
                  <a:pt x="5" y="1"/>
                </a:lnTo>
                <a:lnTo>
                  <a:pt x="1" y="0"/>
                </a:lnTo>
                <a:close/>
              </a:path>
            </a:pathLst>
          </a:custGeom>
          <a:solidFill>
            <a:srgbClr val="A4A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26" name="Freeform 502">
            <a:extLst>
              <a:ext uri="{FF2B5EF4-FFF2-40B4-BE49-F238E27FC236}">
                <a16:creationId xmlns:a16="http://schemas.microsoft.com/office/drawing/2014/main" id="{18D8C08E-E14E-CA95-8F0A-73D471DDA9CC}"/>
              </a:ext>
            </a:extLst>
          </p:cNvPr>
          <p:cNvSpPr>
            <a:spLocks/>
          </p:cNvSpPr>
          <p:nvPr/>
        </p:nvSpPr>
        <p:spPr bwMode="auto">
          <a:xfrm>
            <a:off x="8504238" y="3095625"/>
            <a:ext cx="1587" cy="1588"/>
          </a:xfrm>
          <a:custGeom>
            <a:avLst/>
            <a:gdLst>
              <a:gd name="T0" fmla="*/ 0 w 3"/>
              <a:gd name="T1" fmla="*/ 1 h 1"/>
              <a:gd name="T2" fmla="*/ 3 w 3"/>
              <a:gd name="T3" fmla="*/ 0 h 1"/>
              <a:gd name="T4" fmla="*/ 2 w 3"/>
              <a:gd name="T5" fmla="*/ 0 h 1"/>
              <a:gd name="T6" fmla="*/ 0 w 3"/>
              <a:gd name="T7" fmla="*/ 1 h 1"/>
            </a:gdLst>
            <a:ahLst/>
            <a:cxnLst>
              <a:cxn ang="0">
                <a:pos x="T0" y="T1"/>
              </a:cxn>
              <a:cxn ang="0">
                <a:pos x="T2" y="T3"/>
              </a:cxn>
              <a:cxn ang="0">
                <a:pos x="T4" y="T5"/>
              </a:cxn>
              <a:cxn ang="0">
                <a:pos x="T6" y="T7"/>
              </a:cxn>
            </a:cxnLst>
            <a:rect l="0" t="0" r="r" b="b"/>
            <a:pathLst>
              <a:path w="3" h="1">
                <a:moveTo>
                  <a:pt x="0" y="1"/>
                </a:moveTo>
                <a:lnTo>
                  <a:pt x="3" y="0"/>
                </a:lnTo>
                <a:lnTo>
                  <a:pt x="2" y="0"/>
                </a:lnTo>
                <a:lnTo>
                  <a:pt x="0" y="1"/>
                </a:lnTo>
                <a:close/>
              </a:path>
            </a:pathLst>
          </a:custGeom>
          <a:solidFill>
            <a:srgbClr val="A4A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27" name="Freeform 503">
            <a:extLst>
              <a:ext uri="{FF2B5EF4-FFF2-40B4-BE49-F238E27FC236}">
                <a16:creationId xmlns:a16="http://schemas.microsoft.com/office/drawing/2014/main" id="{98C7D415-35AC-C194-6840-0DFA767FCE81}"/>
              </a:ext>
            </a:extLst>
          </p:cNvPr>
          <p:cNvSpPr>
            <a:spLocks/>
          </p:cNvSpPr>
          <p:nvPr/>
        </p:nvSpPr>
        <p:spPr bwMode="auto">
          <a:xfrm>
            <a:off x="8066088" y="3303588"/>
            <a:ext cx="1587" cy="1587"/>
          </a:xfrm>
          <a:custGeom>
            <a:avLst/>
            <a:gdLst>
              <a:gd name="T0" fmla="*/ 1 w 6"/>
              <a:gd name="T1" fmla="*/ 0 h 1"/>
              <a:gd name="T2" fmla="*/ 0 w 6"/>
              <a:gd name="T3" fmla="*/ 0 h 1"/>
              <a:gd name="T4" fmla="*/ 6 w 6"/>
              <a:gd name="T5" fmla="*/ 1 h 1"/>
              <a:gd name="T6" fmla="*/ 5 w 6"/>
              <a:gd name="T7" fmla="*/ 1 h 1"/>
              <a:gd name="T8" fmla="*/ 1 w 6"/>
              <a:gd name="T9" fmla="*/ 0 h 1"/>
            </a:gdLst>
            <a:ahLst/>
            <a:cxnLst>
              <a:cxn ang="0">
                <a:pos x="T0" y="T1"/>
              </a:cxn>
              <a:cxn ang="0">
                <a:pos x="T2" y="T3"/>
              </a:cxn>
              <a:cxn ang="0">
                <a:pos x="T4" y="T5"/>
              </a:cxn>
              <a:cxn ang="0">
                <a:pos x="T6" y="T7"/>
              </a:cxn>
              <a:cxn ang="0">
                <a:pos x="T8" y="T9"/>
              </a:cxn>
            </a:cxnLst>
            <a:rect l="0" t="0" r="r" b="b"/>
            <a:pathLst>
              <a:path w="6" h="1">
                <a:moveTo>
                  <a:pt x="1" y="0"/>
                </a:moveTo>
                <a:lnTo>
                  <a:pt x="0" y="0"/>
                </a:lnTo>
                <a:lnTo>
                  <a:pt x="6" y="1"/>
                </a:lnTo>
                <a:lnTo>
                  <a:pt x="5" y="1"/>
                </a:lnTo>
                <a:lnTo>
                  <a:pt x="1" y="0"/>
                </a:lnTo>
                <a:close/>
              </a:path>
            </a:pathLst>
          </a:custGeom>
          <a:solidFill>
            <a:srgbClr val="A4A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28" name="Freeform 504">
            <a:extLst>
              <a:ext uri="{FF2B5EF4-FFF2-40B4-BE49-F238E27FC236}">
                <a16:creationId xmlns:a16="http://schemas.microsoft.com/office/drawing/2014/main" id="{9263F3F9-CBB6-8896-DE99-BE67231D5F41}"/>
              </a:ext>
            </a:extLst>
          </p:cNvPr>
          <p:cNvSpPr>
            <a:spLocks/>
          </p:cNvSpPr>
          <p:nvPr/>
        </p:nvSpPr>
        <p:spPr bwMode="auto">
          <a:xfrm>
            <a:off x="8577263" y="3306763"/>
            <a:ext cx="1587" cy="1587"/>
          </a:xfrm>
          <a:custGeom>
            <a:avLst/>
            <a:gdLst>
              <a:gd name="T0" fmla="*/ 0 w 3"/>
              <a:gd name="T1" fmla="*/ 1 h 1"/>
              <a:gd name="T2" fmla="*/ 3 w 3"/>
              <a:gd name="T3" fmla="*/ 0 h 1"/>
              <a:gd name="T4" fmla="*/ 2 w 3"/>
              <a:gd name="T5" fmla="*/ 0 h 1"/>
              <a:gd name="T6" fmla="*/ 0 w 3"/>
              <a:gd name="T7" fmla="*/ 1 h 1"/>
            </a:gdLst>
            <a:ahLst/>
            <a:cxnLst>
              <a:cxn ang="0">
                <a:pos x="T0" y="T1"/>
              </a:cxn>
              <a:cxn ang="0">
                <a:pos x="T2" y="T3"/>
              </a:cxn>
              <a:cxn ang="0">
                <a:pos x="T4" y="T5"/>
              </a:cxn>
              <a:cxn ang="0">
                <a:pos x="T6" y="T7"/>
              </a:cxn>
            </a:cxnLst>
            <a:rect l="0" t="0" r="r" b="b"/>
            <a:pathLst>
              <a:path w="3" h="1">
                <a:moveTo>
                  <a:pt x="0" y="1"/>
                </a:moveTo>
                <a:lnTo>
                  <a:pt x="3" y="0"/>
                </a:lnTo>
                <a:lnTo>
                  <a:pt x="2" y="0"/>
                </a:lnTo>
                <a:lnTo>
                  <a:pt x="0" y="1"/>
                </a:lnTo>
                <a:close/>
              </a:path>
            </a:pathLst>
          </a:custGeom>
          <a:solidFill>
            <a:srgbClr val="A4A4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nvGrpSpPr>
          <p:cNvPr id="3073529" name="Group 505">
            <a:extLst>
              <a:ext uri="{FF2B5EF4-FFF2-40B4-BE49-F238E27FC236}">
                <a16:creationId xmlns:a16="http://schemas.microsoft.com/office/drawing/2014/main" id="{9C8C68A0-0393-AC33-0AEE-3669CF9EA36D}"/>
              </a:ext>
            </a:extLst>
          </p:cNvPr>
          <p:cNvGrpSpPr>
            <a:grpSpLocks/>
          </p:cNvGrpSpPr>
          <p:nvPr/>
        </p:nvGrpSpPr>
        <p:grpSpPr bwMode="auto">
          <a:xfrm>
            <a:off x="5791200" y="2347913"/>
            <a:ext cx="1260475" cy="669925"/>
            <a:chOff x="3702" y="1017"/>
            <a:chExt cx="794" cy="422"/>
          </a:xfrm>
        </p:grpSpPr>
        <p:sp>
          <p:nvSpPr>
            <p:cNvPr id="3073530" name="Rectangle 506">
              <a:extLst>
                <a:ext uri="{FF2B5EF4-FFF2-40B4-BE49-F238E27FC236}">
                  <a16:creationId xmlns:a16="http://schemas.microsoft.com/office/drawing/2014/main" id="{B0789618-A4BF-53E3-09B1-701FB2964A2E}"/>
                </a:ext>
              </a:extLst>
            </p:cNvPr>
            <p:cNvSpPr>
              <a:spLocks noChangeArrowheads="1"/>
            </p:cNvSpPr>
            <p:nvPr/>
          </p:nvSpPr>
          <p:spPr bwMode="auto">
            <a:xfrm>
              <a:off x="3988" y="1017"/>
              <a:ext cx="181"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Assign</a:t>
              </a:r>
              <a:endParaRPr lang="en-US" altLang="zh-CN" sz="1800">
                <a:solidFill>
                  <a:schemeClr val="tx1"/>
                </a:solidFill>
                <a:ea typeface="宋体" panose="02010600030101010101" pitchFamily="2" charset="-122"/>
              </a:endParaRPr>
            </a:p>
          </p:txBody>
        </p:sp>
        <p:sp>
          <p:nvSpPr>
            <p:cNvPr id="3073531" name="Rectangle 507">
              <a:extLst>
                <a:ext uri="{FF2B5EF4-FFF2-40B4-BE49-F238E27FC236}">
                  <a16:creationId xmlns:a16="http://schemas.microsoft.com/office/drawing/2014/main" id="{7203523B-64A2-7A39-8D87-ACF62F1C61E6}"/>
                </a:ext>
              </a:extLst>
            </p:cNvPr>
            <p:cNvSpPr>
              <a:spLocks noChangeArrowheads="1"/>
            </p:cNvSpPr>
            <p:nvPr/>
          </p:nvSpPr>
          <p:spPr bwMode="auto">
            <a:xfrm>
              <a:off x="3959" y="1097"/>
              <a:ext cx="258"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Volumes </a:t>
              </a:r>
              <a:endParaRPr lang="en-US" altLang="zh-CN" sz="1800">
                <a:solidFill>
                  <a:schemeClr val="tx1"/>
                </a:solidFill>
                <a:ea typeface="宋体" panose="02010600030101010101" pitchFamily="2" charset="-122"/>
              </a:endParaRPr>
            </a:p>
          </p:txBody>
        </p:sp>
        <p:sp>
          <p:nvSpPr>
            <p:cNvPr id="3073532" name="Rectangle 508">
              <a:extLst>
                <a:ext uri="{FF2B5EF4-FFF2-40B4-BE49-F238E27FC236}">
                  <a16:creationId xmlns:a16="http://schemas.microsoft.com/office/drawing/2014/main" id="{3A560A05-F718-AE2B-D993-B3AB4CD41B31}"/>
                </a:ext>
              </a:extLst>
            </p:cNvPr>
            <p:cNvSpPr>
              <a:spLocks noChangeArrowheads="1"/>
            </p:cNvSpPr>
            <p:nvPr/>
          </p:nvSpPr>
          <p:spPr bwMode="auto">
            <a:xfrm>
              <a:off x="4009" y="1177"/>
              <a:ext cx="143"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a:solidFill>
                    <a:srgbClr val="000000"/>
                  </a:solidFill>
                  <a:latin typeface="Verdana" panose="020B0604030504040204" pitchFamily="34" charset="0"/>
                  <a:ea typeface="宋体" panose="02010600030101010101" pitchFamily="2" charset="-122"/>
                </a:rPr>
                <a:t>Ports</a:t>
              </a:r>
              <a:endParaRPr lang="en-US" altLang="zh-CN" sz="1800">
                <a:solidFill>
                  <a:schemeClr val="tx1"/>
                </a:solidFill>
                <a:ea typeface="宋体" panose="02010600030101010101" pitchFamily="2" charset="-122"/>
              </a:endParaRPr>
            </a:p>
          </p:txBody>
        </p:sp>
        <p:sp>
          <p:nvSpPr>
            <p:cNvPr id="3073533" name="Freeform 509">
              <a:extLst>
                <a:ext uri="{FF2B5EF4-FFF2-40B4-BE49-F238E27FC236}">
                  <a16:creationId xmlns:a16="http://schemas.microsoft.com/office/drawing/2014/main" id="{156ED10C-FBC1-9C87-14A6-3DA381D33FA3}"/>
                </a:ext>
              </a:extLst>
            </p:cNvPr>
            <p:cNvSpPr>
              <a:spLocks/>
            </p:cNvSpPr>
            <p:nvPr/>
          </p:nvSpPr>
          <p:spPr bwMode="auto">
            <a:xfrm>
              <a:off x="3731" y="1300"/>
              <a:ext cx="765" cy="102"/>
            </a:xfrm>
            <a:custGeom>
              <a:avLst/>
              <a:gdLst>
                <a:gd name="T0" fmla="*/ 2664 w 3062"/>
                <a:gd name="T1" fmla="*/ 247 h 407"/>
                <a:gd name="T2" fmla="*/ 2754 w 3062"/>
                <a:gd name="T3" fmla="*/ 288 h 407"/>
                <a:gd name="T4" fmla="*/ 2834 w 3062"/>
                <a:gd name="T5" fmla="*/ 330 h 407"/>
                <a:gd name="T6" fmla="*/ 2901 w 3062"/>
                <a:gd name="T7" fmla="*/ 376 h 407"/>
                <a:gd name="T8" fmla="*/ 3062 w 3062"/>
                <a:gd name="T9" fmla="*/ 400 h 407"/>
                <a:gd name="T10" fmla="*/ 2957 w 3062"/>
                <a:gd name="T11" fmla="*/ 320 h 407"/>
                <a:gd name="T12" fmla="*/ 2829 w 3062"/>
                <a:gd name="T13" fmla="*/ 247 h 407"/>
                <a:gd name="T14" fmla="*/ 2679 w 3062"/>
                <a:gd name="T15" fmla="*/ 179 h 407"/>
                <a:gd name="T16" fmla="*/ 2551 w 3062"/>
                <a:gd name="T17" fmla="*/ 131 h 407"/>
                <a:gd name="T18" fmla="*/ 2459 w 3062"/>
                <a:gd name="T19" fmla="*/ 102 h 407"/>
                <a:gd name="T20" fmla="*/ 2358 w 3062"/>
                <a:gd name="T21" fmla="*/ 76 h 407"/>
                <a:gd name="T22" fmla="*/ 2249 w 3062"/>
                <a:gd name="T23" fmla="*/ 54 h 407"/>
                <a:gd name="T24" fmla="*/ 2131 w 3062"/>
                <a:gd name="T25" fmla="*/ 35 h 407"/>
                <a:gd name="T26" fmla="*/ 2005 w 3062"/>
                <a:gd name="T27" fmla="*/ 20 h 407"/>
                <a:gd name="T28" fmla="*/ 1871 w 3062"/>
                <a:gd name="T29" fmla="*/ 10 h 407"/>
                <a:gd name="T30" fmla="*/ 1728 w 3062"/>
                <a:gd name="T31" fmla="*/ 3 h 407"/>
                <a:gd name="T32" fmla="*/ 1578 w 3062"/>
                <a:gd name="T33" fmla="*/ 0 h 407"/>
                <a:gd name="T34" fmla="*/ 1418 w 3062"/>
                <a:gd name="T35" fmla="*/ 1 h 407"/>
                <a:gd name="T36" fmla="*/ 1267 w 3062"/>
                <a:gd name="T37" fmla="*/ 5 h 407"/>
                <a:gd name="T38" fmla="*/ 1123 w 3062"/>
                <a:gd name="T39" fmla="*/ 12 h 407"/>
                <a:gd name="T40" fmla="*/ 989 w 3062"/>
                <a:gd name="T41" fmla="*/ 25 h 407"/>
                <a:gd name="T42" fmla="*/ 863 w 3062"/>
                <a:gd name="T43" fmla="*/ 41 h 407"/>
                <a:gd name="T44" fmla="*/ 745 w 3062"/>
                <a:gd name="T45" fmla="*/ 60 h 407"/>
                <a:gd name="T46" fmla="*/ 634 w 3062"/>
                <a:gd name="T47" fmla="*/ 83 h 407"/>
                <a:gd name="T48" fmla="*/ 534 w 3062"/>
                <a:gd name="T49" fmla="*/ 112 h 407"/>
                <a:gd name="T50" fmla="*/ 397 w 3062"/>
                <a:gd name="T51" fmla="*/ 158 h 407"/>
                <a:gd name="T52" fmla="*/ 242 w 3062"/>
                <a:gd name="T53" fmla="*/ 223 h 407"/>
                <a:gd name="T54" fmla="*/ 179 w 3062"/>
                <a:gd name="T55" fmla="*/ 259 h 407"/>
                <a:gd name="T56" fmla="*/ 94 w 3062"/>
                <a:gd name="T57" fmla="*/ 312 h 407"/>
                <a:gd name="T58" fmla="*/ 51 w 3062"/>
                <a:gd name="T59" fmla="*/ 349 h 407"/>
                <a:gd name="T60" fmla="*/ 14 w 3062"/>
                <a:gd name="T61" fmla="*/ 386 h 407"/>
                <a:gd name="T62" fmla="*/ 101 w 3062"/>
                <a:gd name="T63" fmla="*/ 407 h 407"/>
                <a:gd name="T64" fmla="*/ 164 w 3062"/>
                <a:gd name="T65" fmla="*/ 358 h 407"/>
                <a:gd name="T66" fmla="*/ 239 w 3062"/>
                <a:gd name="T67" fmla="*/ 313 h 407"/>
                <a:gd name="T68" fmla="*/ 327 w 3062"/>
                <a:gd name="T69" fmla="*/ 269 h 407"/>
                <a:gd name="T70" fmla="*/ 428 w 3062"/>
                <a:gd name="T71" fmla="*/ 229 h 407"/>
                <a:gd name="T72" fmla="*/ 543 w 3062"/>
                <a:gd name="T73" fmla="*/ 188 h 407"/>
                <a:gd name="T74" fmla="*/ 665 w 3062"/>
                <a:gd name="T75" fmla="*/ 153 h 407"/>
                <a:gd name="T76" fmla="*/ 792 w 3062"/>
                <a:gd name="T77" fmla="*/ 123 h 407"/>
                <a:gd name="T78" fmla="*/ 926 w 3062"/>
                <a:gd name="T79" fmla="*/ 99 h 407"/>
                <a:gd name="T80" fmla="*/ 1065 w 3062"/>
                <a:gd name="T81" fmla="*/ 80 h 407"/>
                <a:gd name="T82" fmla="*/ 1211 w 3062"/>
                <a:gd name="T83" fmla="*/ 66 h 407"/>
                <a:gd name="T84" fmla="*/ 1361 w 3062"/>
                <a:gd name="T85" fmla="*/ 58 h 407"/>
                <a:gd name="T86" fmla="*/ 1520 w 3062"/>
                <a:gd name="T87" fmla="*/ 57 h 407"/>
                <a:gd name="T88" fmla="*/ 1676 w 3062"/>
                <a:gd name="T89" fmla="*/ 58 h 407"/>
                <a:gd name="T90" fmla="*/ 1827 w 3062"/>
                <a:gd name="T91" fmla="*/ 66 h 407"/>
                <a:gd name="T92" fmla="*/ 1973 w 3062"/>
                <a:gd name="T93" fmla="*/ 80 h 407"/>
                <a:gd name="T94" fmla="*/ 2113 w 3062"/>
                <a:gd name="T95" fmla="*/ 99 h 407"/>
                <a:gd name="T96" fmla="*/ 2247 w 3062"/>
                <a:gd name="T97" fmla="*/ 123 h 407"/>
                <a:gd name="T98" fmla="*/ 2376 w 3062"/>
                <a:gd name="T99" fmla="*/ 153 h 407"/>
                <a:gd name="T100" fmla="*/ 2499 w 3062"/>
                <a:gd name="T101" fmla="*/ 188 h 407"/>
                <a:gd name="T102" fmla="*/ 2616 w 3062"/>
                <a:gd name="T103" fmla="*/ 229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62" h="407">
                  <a:moveTo>
                    <a:pt x="2616" y="229"/>
                  </a:moveTo>
                  <a:lnTo>
                    <a:pt x="2664" y="247"/>
                  </a:lnTo>
                  <a:lnTo>
                    <a:pt x="2711" y="268"/>
                  </a:lnTo>
                  <a:lnTo>
                    <a:pt x="2754" y="288"/>
                  </a:lnTo>
                  <a:lnTo>
                    <a:pt x="2796" y="310"/>
                  </a:lnTo>
                  <a:lnTo>
                    <a:pt x="2834" y="330"/>
                  </a:lnTo>
                  <a:lnTo>
                    <a:pt x="2869" y="353"/>
                  </a:lnTo>
                  <a:lnTo>
                    <a:pt x="2901" y="376"/>
                  </a:lnTo>
                  <a:lnTo>
                    <a:pt x="2932" y="400"/>
                  </a:lnTo>
                  <a:lnTo>
                    <a:pt x="3062" y="400"/>
                  </a:lnTo>
                  <a:lnTo>
                    <a:pt x="3011" y="359"/>
                  </a:lnTo>
                  <a:lnTo>
                    <a:pt x="2957" y="320"/>
                  </a:lnTo>
                  <a:lnTo>
                    <a:pt x="2895" y="282"/>
                  </a:lnTo>
                  <a:lnTo>
                    <a:pt x="2829" y="247"/>
                  </a:lnTo>
                  <a:lnTo>
                    <a:pt x="2756" y="212"/>
                  </a:lnTo>
                  <a:lnTo>
                    <a:pt x="2679" y="179"/>
                  </a:lnTo>
                  <a:lnTo>
                    <a:pt x="2594" y="147"/>
                  </a:lnTo>
                  <a:lnTo>
                    <a:pt x="2551" y="131"/>
                  </a:lnTo>
                  <a:lnTo>
                    <a:pt x="2507" y="117"/>
                  </a:lnTo>
                  <a:lnTo>
                    <a:pt x="2459" y="102"/>
                  </a:lnTo>
                  <a:lnTo>
                    <a:pt x="2410" y="89"/>
                  </a:lnTo>
                  <a:lnTo>
                    <a:pt x="2358" y="76"/>
                  </a:lnTo>
                  <a:lnTo>
                    <a:pt x="2305" y="65"/>
                  </a:lnTo>
                  <a:lnTo>
                    <a:pt x="2249" y="54"/>
                  </a:lnTo>
                  <a:lnTo>
                    <a:pt x="2191" y="44"/>
                  </a:lnTo>
                  <a:lnTo>
                    <a:pt x="2131" y="35"/>
                  </a:lnTo>
                  <a:lnTo>
                    <a:pt x="2070" y="28"/>
                  </a:lnTo>
                  <a:lnTo>
                    <a:pt x="2005" y="20"/>
                  </a:lnTo>
                  <a:lnTo>
                    <a:pt x="1939" y="15"/>
                  </a:lnTo>
                  <a:lnTo>
                    <a:pt x="1871" y="10"/>
                  </a:lnTo>
                  <a:lnTo>
                    <a:pt x="1801" y="7"/>
                  </a:lnTo>
                  <a:lnTo>
                    <a:pt x="1728" y="3"/>
                  </a:lnTo>
                  <a:lnTo>
                    <a:pt x="1654" y="1"/>
                  </a:lnTo>
                  <a:lnTo>
                    <a:pt x="1578" y="0"/>
                  </a:lnTo>
                  <a:lnTo>
                    <a:pt x="1499" y="1"/>
                  </a:lnTo>
                  <a:lnTo>
                    <a:pt x="1418" y="1"/>
                  </a:lnTo>
                  <a:lnTo>
                    <a:pt x="1342" y="2"/>
                  </a:lnTo>
                  <a:lnTo>
                    <a:pt x="1267" y="5"/>
                  </a:lnTo>
                  <a:lnTo>
                    <a:pt x="1195" y="9"/>
                  </a:lnTo>
                  <a:lnTo>
                    <a:pt x="1123" y="12"/>
                  </a:lnTo>
                  <a:lnTo>
                    <a:pt x="1056" y="18"/>
                  </a:lnTo>
                  <a:lnTo>
                    <a:pt x="989" y="25"/>
                  </a:lnTo>
                  <a:lnTo>
                    <a:pt x="926" y="33"/>
                  </a:lnTo>
                  <a:lnTo>
                    <a:pt x="863" y="41"/>
                  </a:lnTo>
                  <a:lnTo>
                    <a:pt x="803" y="50"/>
                  </a:lnTo>
                  <a:lnTo>
                    <a:pt x="745" y="60"/>
                  </a:lnTo>
                  <a:lnTo>
                    <a:pt x="689" y="72"/>
                  </a:lnTo>
                  <a:lnTo>
                    <a:pt x="634" y="83"/>
                  </a:lnTo>
                  <a:lnTo>
                    <a:pt x="583" y="97"/>
                  </a:lnTo>
                  <a:lnTo>
                    <a:pt x="534" y="112"/>
                  </a:lnTo>
                  <a:lnTo>
                    <a:pt x="487" y="128"/>
                  </a:lnTo>
                  <a:lnTo>
                    <a:pt x="397" y="158"/>
                  </a:lnTo>
                  <a:lnTo>
                    <a:pt x="316" y="190"/>
                  </a:lnTo>
                  <a:lnTo>
                    <a:pt x="242" y="223"/>
                  </a:lnTo>
                  <a:lnTo>
                    <a:pt x="209" y="240"/>
                  </a:lnTo>
                  <a:lnTo>
                    <a:pt x="179" y="259"/>
                  </a:lnTo>
                  <a:lnTo>
                    <a:pt x="120" y="294"/>
                  </a:lnTo>
                  <a:lnTo>
                    <a:pt x="94" y="312"/>
                  </a:lnTo>
                  <a:lnTo>
                    <a:pt x="73" y="330"/>
                  </a:lnTo>
                  <a:lnTo>
                    <a:pt x="51" y="349"/>
                  </a:lnTo>
                  <a:lnTo>
                    <a:pt x="32" y="368"/>
                  </a:lnTo>
                  <a:lnTo>
                    <a:pt x="14" y="386"/>
                  </a:lnTo>
                  <a:lnTo>
                    <a:pt x="0" y="407"/>
                  </a:lnTo>
                  <a:lnTo>
                    <a:pt x="101" y="407"/>
                  </a:lnTo>
                  <a:lnTo>
                    <a:pt x="131" y="382"/>
                  </a:lnTo>
                  <a:lnTo>
                    <a:pt x="164" y="358"/>
                  </a:lnTo>
                  <a:lnTo>
                    <a:pt x="199" y="335"/>
                  </a:lnTo>
                  <a:lnTo>
                    <a:pt x="239" y="313"/>
                  </a:lnTo>
                  <a:lnTo>
                    <a:pt x="281" y="290"/>
                  </a:lnTo>
                  <a:lnTo>
                    <a:pt x="327" y="269"/>
                  </a:lnTo>
                  <a:lnTo>
                    <a:pt x="376" y="248"/>
                  </a:lnTo>
                  <a:lnTo>
                    <a:pt x="428" y="229"/>
                  </a:lnTo>
                  <a:lnTo>
                    <a:pt x="484" y="207"/>
                  </a:lnTo>
                  <a:lnTo>
                    <a:pt x="543" y="188"/>
                  </a:lnTo>
                  <a:lnTo>
                    <a:pt x="602" y="169"/>
                  </a:lnTo>
                  <a:lnTo>
                    <a:pt x="665" y="153"/>
                  </a:lnTo>
                  <a:lnTo>
                    <a:pt x="727" y="137"/>
                  </a:lnTo>
                  <a:lnTo>
                    <a:pt x="792" y="123"/>
                  </a:lnTo>
                  <a:lnTo>
                    <a:pt x="858" y="109"/>
                  </a:lnTo>
                  <a:lnTo>
                    <a:pt x="926" y="99"/>
                  </a:lnTo>
                  <a:lnTo>
                    <a:pt x="994" y="88"/>
                  </a:lnTo>
                  <a:lnTo>
                    <a:pt x="1065" y="80"/>
                  </a:lnTo>
                  <a:lnTo>
                    <a:pt x="1137" y="72"/>
                  </a:lnTo>
                  <a:lnTo>
                    <a:pt x="1211" y="66"/>
                  </a:lnTo>
                  <a:lnTo>
                    <a:pt x="1285" y="60"/>
                  </a:lnTo>
                  <a:lnTo>
                    <a:pt x="1361" y="58"/>
                  </a:lnTo>
                  <a:lnTo>
                    <a:pt x="1439" y="56"/>
                  </a:lnTo>
                  <a:lnTo>
                    <a:pt x="1520" y="57"/>
                  </a:lnTo>
                  <a:lnTo>
                    <a:pt x="1598" y="56"/>
                  </a:lnTo>
                  <a:lnTo>
                    <a:pt x="1676" y="58"/>
                  </a:lnTo>
                  <a:lnTo>
                    <a:pt x="1752" y="60"/>
                  </a:lnTo>
                  <a:lnTo>
                    <a:pt x="1827" y="66"/>
                  </a:lnTo>
                  <a:lnTo>
                    <a:pt x="1900" y="72"/>
                  </a:lnTo>
                  <a:lnTo>
                    <a:pt x="1973" y="80"/>
                  </a:lnTo>
                  <a:lnTo>
                    <a:pt x="2044" y="88"/>
                  </a:lnTo>
                  <a:lnTo>
                    <a:pt x="2113" y="99"/>
                  </a:lnTo>
                  <a:lnTo>
                    <a:pt x="2181" y="109"/>
                  </a:lnTo>
                  <a:lnTo>
                    <a:pt x="2247" y="123"/>
                  </a:lnTo>
                  <a:lnTo>
                    <a:pt x="2312" y="137"/>
                  </a:lnTo>
                  <a:lnTo>
                    <a:pt x="2376" y="153"/>
                  </a:lnTo>
                  <a:lnTo>
                    <a:pt x="2437" y="169"/>
                  </a:lnTo>
                  <a:lnTo>
                    <a:pt x="2499" y="188"/>
                  </a:lnTo>
                  <a:lnTo>
                    <a:pt x="2558" y="207"/>
                  </a:lnTo>
                  <a:lnTo>
                    <a:pt x="2616" y="229"/>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sp>
          <p:nvSpPr>
            <p:cNvPr id="3073534" name="Freeform 510">
              <a:extLst>
                <a:ext uri="{FF2B5EF4-FFF2-40B4-BE49-F238E27FC236}">
                  <a16:creationId xmlns:a16="http://schemas.microsoft.com/office/drawing/2014/main" id="{88EB1258-F194-A907-9B0C-E23FEE1D232D}"/>
                </a:ext>
              </a:extLst>
            </p:cNvPr>
            <p:cNvSpPr>
              <a:spLocks/>
            </p:cNvSpPr>
            <p:nvPr/>
          </p:nvSpPr>
          <p:spPr bwMode="auto">
            <a:xfrm>
              <a:off x="3702" y="1373"/>
              <a:ext cx="72" cy="66"/>
            </a:xfrm>
            <a:custGeom>
              <a:avLst/>
              <a:gdLst>
                <a:gd name="T0" fmla="*/ 29 w 288"/>
                <a:gd name="T1" fmla="*/ 19 h 265"/>
                <a:gd name="T2" fmla="*/ 22 w 288"/>
                <a:gd name="T3" fmla="*/ 14 h 265"/>
                <a:gd name="T4" fmla="*/ 0 w 288"/>
                <a:gd name="T5" fmla="*/ 0 h 265"/>
                <a:gd name="T6" fmla="*/ 34 w 288"/>
                <a:gd name="T7" fmla="*/ 265 h 265"/>
                <a:gd name="T8" fmla="*/ 288 w 288"/>
                <a:gd name="T9" fmla="*/ 180 h 265"/>
                <a:gd name="T10" fmla="*/ 258 w 288"/>
                <a:gd name="T11" fmla="*/ 161 h 265"/>
                <a:gd name="T12" fmla="*/ 226 w 288"/>
                <a:gd name="T13" fmla="*/ 142 h 265"/>
                <a:gd name="T14" fmla="*/ 58 w 288"/>
                <a:gd name="T15" fmla="*/ 37 h 265"/>
                <a:gd name="T16" fmla="*/ 29 w 288"/>
                <a:gd name="T17" fmla="*/ 19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8" h="265">
                  <a:moveTo>
                    <a:pt x="29" y="19"/>
                  </a:moveTo>
                  <a:lnTo>
                    <a:pt x="22" y="14"/>
                  </a:lnTo>
                  <a:lnTo>
                    <a:pt x="0" y="0"/>
                  </a:lnTo>
                  <a:lnTo>
                    <a:pt x="34" y="265"/>
                  </a:lnTo>
                  <a:lnTo>
                    <a:pt x="288" y="180"/>
                  </a:lnTo>
                  <a:lnTo>
                    <a:pt x="258" y="161"/>
                  </a:lnTo>
                  <a:lnTo>
                    <a:pt x="226" y="142"/>
                  </a:lnTo>
                  <a:lnTo>
                    <a:pt x="58" y="37"/>
                  </a:lnTo>
                  <a:lnTo>
                    <a:pt x="29" y="19"/>
                  </a:lnTo>
                  <a:close/>
                </a:path>
              </a:pathLst>
            </a:custGeom>
            <a:solidFill>
              <a:srgbClr val="0000FF"/>
            </a:soli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IN"/>
            </a:p>
          </p:txBody>
        </p:sp>
      </p:grpSp>
      <p:grpSp>
        <p:nvGrpSpPr>
          <p:cNvPr id="3073535" name="Group 511">
            <a:extLst>
              <a:ext uri="{FF2B5EF4-FFF2-40B4-BE49-F238E27FC236}">
                <a16:creationId xmlns:a16="http://schemas.microsoft.com/office/drawing/2014/main" id="{AD89486B-CD1F-62DE-7F85-777E3E03CC53}"/>
              </a:ext>
            </a:extLst>
          </p:cNvPr>
          <p:cNvGrpSpPr>
            <a:grpSpLocks/>
          </p:cNvGrpSpPr>
          <p:nvPr/>
        </p:nvGrpSpPr>
        <p:grpSpPr bwMode="auto">
          <a:xfrm>
            <a:off x="6915150" y="3067050"/>
            <a:ext cx="835025" cy="1485900"/>
            <a:chOff x="4410" y="1470"/>
            <a:chExt cx="526" cy="936"/>
          </a:xfrm>
        </p:grpSpPr>
        <p:pic>
          <p:nvPicPr>
            <p:cNvPr id="3073536" name="Picture 512">
              <a:extLst>
                <a:ext uri="{FF2B5EF4-FFF2-40B4-BE49-F238E27FC236}">
                  <a16:creationId xmlns:a16="http://schemas.microsoft.com/office/drawing/2014/main" id="{828AD2DC-94A9-B019-51BC-CFBAA75DED5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0" y="1470"/>
              <a:ext cx="496" cy="115"/>
            </a:xfrm>
            <a:prstGeom prst="rect">
              <a:avLst/>
            </a:prstGeom>
            <a:noFill/>
            <a:extLst>
              <a:ext uri="{909E8E84-426E-40DD-AFC4-6F175D3DCCD1}">
                <a14:hiddenFill xmlns:a14="http://schemas.microsoft.com/office/drawing/2010/main">
                  <a:solidFill>
                    <a:srgbClr val="FFFFFF"/>
                  </a:solidFill>
                </a14:hiddenFill>
              </a:ext>
            </a:extLst>
          </p:spPr>
        </p:pic>
        <p:pic>
          <p:nvPicPr>
            <p:cNvPr id="3073537" name="Picture 513">
              <a:extLst>
                <a:ext uri="{FF2B5EF4-FFF2-40B4-BE49-F238E27FC236}">
                  <a16:creationId xmlns:a16="http://schemas.microsoft.com/office/drawing/2014/main" id="{8E3535EC-9143-A813-09E9-4C0D190D9B7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6" y="1594"/>
              <a:ext cx="496" cy="115"/>
            </a:xfrm>
            <a:prstGeom prst="rect">
              <a:avLst/>
            </a:prstGeom>
            <a:noFill/>
            <a:extLst>
              <a:ext uri="{909E8E84-426E-40DD-AFC4-6F175D3DCCD1}">
                <a14:hiddenFill xmlns:a14="http://schemas.microsoft.com/office/drawing/2010/main">
                  <a:solidFill>
                    <a:srgbClr val="FFFFFF"/>
                  </a:solidFill>
                </a14:hiddenFill>
              </a:ext>
            </a:extLst>
          </p:spPr>
        </p:pic>
        <p:pic>
          <p:nvPicPr>
            <p:cNvPr id="3073538" name="Picture 514">
              <a:extLst>
                <a:ext uri="{FF2B5EF4-FFF2-40B4-BE49-F238E27FC236}">
                  <a16:creationId xmlns:a16="http://schemas.microsoft.com/office/drawing/2014/main" id="{952A479E-6300-6694-D966-4FCC5ED2C8E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 y="1718"/>
              <a:ext cx="4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539" name="Line 515">
              <a:extLst>
                <a:ext uri="{FF2B5EF4-FFF2-40B4-BE49-F238E27FC236}">
                  <a16:creationId xmlns:a16="http://schemas.microsoft.com/office/drawing/2014/main" id="{DF8A9A58-6435-6A85-ACA1-93D246CDBEDE}"/>
                </a:ext>
              </a:extLst>
            </p:cNvPr>
            <p:cNvSpPr>
              <a:spLocks noChangeShapeType="1"/>
            </p:cNvSpPr>
            <p:nvPr/>
          </p:nvSpPr>
          <p:spPr bwMode="auto">
            <a:xfrm flipV="1">
              <a:off x="4679" y="1933"/>
              <a:ext cx="0" cy="35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540" name="Freeform 516">
              <a:extLst>
                <a:ext uri="{FF2B5EF4-FFF2-40B4-BE49-F238E27FC236}">
                  <a16:creationId xmlns:a16="http://schemas.microsoft.com/office/drawing/2014/main" id="{BDBDD6E8-7284-3127-2C32-148258DA0965}"/>
                </a:ext>
              </a:extLst>
            </p:cNvPr>
            <p:cNvSpPr>
              <a:spLocks/>
            </p:cNvSpPr>
            <p:nvPr/>
          </p:nvSpPr>
          <p:spPr bwMode="auto">
            <a:xfrm>
              <a:off x="4640" y="1866"/>
              <a:ext cx="78" cy="88"/>
            </a:xfrm>
            <a:custGeom>
              <a:avLst/>
              <a:gdLst>
                <a:gd name="T0" fmla="*/ 157 w 313"/>
                <a:gd name="T1" fmla="*/ 281 h 354"/>
                <a:gd name="T2" fmla="*/ 313 w 313"/>
                <a:gd name="T3" fmla="*/ 354 h 354"/>
                <a:gd name="T4" fmla="*/ 157 w 313"/>
                <a:gd name="T5" fmla="*/ 0 h 354"/>
                <a:gd name="T6" fmla="*/ 0 w 313"/>
                <a:gd name="T7" fmla="*/ 354 h 354"/>
                <a:gd name="T8" fmla="*/ 157 w 313"/>
                <a:gd name="T9" fmla="*/ 281 h 354"/>
              </a:gdLst>
              <a:ahLst/>
              <a:cxnLst>
                <a:cxn ang="0">
                  <a:pos x="T0" y="T1"/>
                </a:cxn>
                <a:cxn ang="0">
                  <a:pos x="T2" y="T3"/>
                </a:cxn>
                <a:cxn ang="0">
                  <a:pos x="T4" y="T5"/>
                </a:cxn>
                <a:cxn ang="0">
                  <a:pos x="T6" y="T7"/>
                </a:cxn>
                <a:cxn ang="0">
                  <a:pos x="T8" y="T9"/>
                </a:cxn>
              </a:cxnLst>
              <a:rect l="0" t="0" r="r" b="b"/>
              <a:pathLst>
                <a:path w="313" h="354">
                  <a:moveTo>
                    <a:pt x="157" y="281"/>
                  </a:moveTo>
                  <a:lnTo>
                    <a:pt x="313" y="354"/>
                  </a:lnTo>
                  <a:lnTo>
                    <a:pt x="157" y="0"/>
                  </a:lnTo>
                  <a:lnTo>
                    <a:pt x="0" y="354"/>
                  </a:lnTo>
                  <a:lnTo>
                    <a:pt x="157" y="2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41" name="Rectangle 517">
              <a:extLst>
                <a:ext uri="{FF2B5EF4-FFF2-40B4-BE49-F238E27FC236}">
                  <a16:creationId xmlns:a16="http://schemas.microsoft.com/office/drawing/2014/main" id="{F7D89B85-CB85-7D23-EC2D-048FDD8C2161}"/>
                </a:ext>
              </a:extLst>
            </p:cNvPr>
            <p:cNvSpPr>
              <a:spLocks noChangeArrowheads="1"/>
            </p:cNvSpPr>
            <p:nvPr/>
          </p:nvSpPr>
          <p:spPr bwMode="auto">
            <a:xfrm>
              <a:off x="4494" y="2320"/>
              <a:ext cx="44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Configured</a:t>
              </a:r>
              <a:endParaRPr lang="en-US" altLang="zh-CN" sz="1800">
                <a:solidFill>
                  <a:schemeClr val="tx1"/>
                </a:solidFill>
                <a:ea typeface="宋体" panose="02010600030101010101" pitchFamily="2" charset="-122"/>
              </a:endParaRPr>
            </a:p>
          </p:txBody>
        </p:sp>
        <p:sp>
          <p:nvSpPr>
            <p:cNvPr id="3073542" name="Freeform 518">
              <a:extLst>
                <a:ext uri="{FF2B5EF4-FFF2-40B4-BE49-F238E27FC236}">
                  <a16:creationId xmlns:a16="http://schemas.microsoft.com/office/drawing/2014/main" id="{505B6721-6DB0-8C46-B9D2-FA651AF2AFBE}"/>
                </a:ext>
              </a:extLst>
            </p:cNvPr>
            <p:cNvSpPr>
              <a:spLocks/>
            </p:cNvSpPr>
            <p:nvPr/>
          </p:nvSpPr>
          <p:spPr bwMode="auto">
            <a:xfrm>
              <a:off x="4624" y="1483"/>
              <a:ext cx="92" cy="99"/>
            </a:xfrm>
            <a:custGeom>
              <a:avLst/>
              <a:gdLst>
                <a:gd name="T0" fmla="*/ 40 w 366"/>
                <a:gd name="T1" fmla="*/ 70 h 393"/>
                <a:gd name="T2" fmla="*/ 19 w 366"/>
                <a:gd name="T3" fmla="*/ 102 h 393"/>
                <a:gd name="T4" fmla="*/ 6 w 366"/>
                <a:gd name="T5" fmla="*/ 137 h 393"/>
                <a:gd name="T6" fmla="*/ 1 w 366"/>
                <a:gd name="T7" fmla="*/ 197 h 393"/>
                <a:gd name="T8" fmla="*/ 2 w 366"/>
                <a:gd name="T9" fmla="*/ 234 h 393"/>
                <a:gd name="T10" fmla="*/ 12 w 366"/>
                <a:gd name="T11" fmla="*/ 271 h 393"/>
                <a:gd name="T12" fmla="*/ 29 w 366"/>
                <a:gd name="T13" fmla="*/ 304 h 393"/>
                <a:gd name="T14" fmla="*/ 53 w 366"/>
                <a:gd name="T15" fmla="*/ 335 h 393"/>
                <a:gd name="T16" fmla="*/ 81 w 366"/>
                <a:gd name="T17" fmla="*/ 358 h 393"/>
                <a:gd name="T18" fmla="*/ 112 w 366"/>
                <a:gd name="T19" fmla="*/ 378 h 393"/>
                <a:gd name="T20" fmla="*/ 146 w 366"/>
                <a:gd name="T21" fmla="*/ 388 h 393"/>
                <a:gd name="T22" fmla="*/ 183 w 366"/>
                <a:gd name="T23" fmla="*/ 393 h 393"/>
                <a:gd name="T24" fmla="*/ 184 w 366"/>
                <a:gd name="T25" fmla="*/ 391 h 393"/>
                <a:gd name="T26" fmla="*/ 191 w 366"/>
                <a:gd name="T27" fmla="*/ 391 h 393"/>
                <a:gd name="T28" fmla="*/ 219 w 366"/>
                <a:gd name="T29" fmla="*/ 388 h 393"/>
                <a:gd name="T30" fmla="*/ 239 w 366"/>
                <a:gd name="T31" fmla="*/ 381 h 393"/>
                <a:gd name="T32" fmla="*/ 253 w 366"/>
                <a:gd name="T33" fmla="*/ 378 h 393"/>
                <a:gd name="T34" fmla="*/ 274 w 366"/>
                <a:gd name="T35" fmla="*/ 363 h 393"/>
                <a:gd name="T36" fmla="*/ 296 w 366"/>
                <a:gd name="T37" fmla="*/ 347 h 393"/>
                <a:gd name="T38" fmla="*/ 304 w 366"/>
                <a:gd name="T39" fmla="*/ 338 h 393"/>
                <a:gd name="T40" fmla="*/ 311 w 366"/>
                <a:gd name="T41" fmla="*/ 335 h 393"/>
                <a:gd name="T42" fmla="*/ 334 w 366"/>
                <a:gd name="T43" fmla="*/ 304 h 393"/>
                <a:gd name="T44" fmla="*/ 351 w 366"/>
                <a:gd name="T45" fmla="*/ 271 h 393"/>
                <a:gd name="T46" fmla="*/ 361 w 366"/>
                <a:gd name="T47" fmla="*/ 234 h 393"/>
                <a:gd name="T48" fmla="*/ 366 w 366"/>
                <a:gd name="T49" fmla="*/ 197 h 393"/>
                <a:gd name="T50" fmla="*/ 357 w 366"/>
                <a:gd name="T51" fmla="*/ 137 h 393"/>
                <a:gd name="T52" fmla="*/ 343 w 366"/>
                <a:gd name="T53" fmla="*/ 102 h 393"/>
                <a:gd name="T54" fmla="*/ 322 w 366"/>
                <a:gd name="T55" fmla="*/ 70 h 393"/>
                <a:gd name="T56" fmla="*/ 296 w 366"/>
                <a:gd name="T57" fmla="*/ 42 h 393"/>
                <a:gd name="T58" fmla="*/ 268 w 366"/>
                <a:gd name="T59" fmla="*/ 20 h 393"/>
                <a:gd name="T60" fmla="*/ 236 w 366"/>
                <a:gd name="T61" fmla="*/ 6 h 393"/>
                <a:gd name="T62" fmla="*/ 200 w 366"/>
                <a:gd name="T63" fmla="*/ 0 h 393"/>
                <a:gd name="T64" fmla="*/ 146 w 366"/>
                <a:gd name="T65" fmla="*/ 3 h 393"/>
                <a:gd name="T66" fmla="*/ 112 w 366"/>
                <a:gd name="T67" fmla="*/ 13 h 393"/>
                <a:gd name="T68" fmla="*/ 66 w 366"/>
                <a:gd name="T69" fmla="*/ 42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6" h="393">
                  <a:moveTo>
                    <a:pt x="53" y="57"/>
                  </a:moveTo>
                  <a:lnTo>
                    <a:pt x="40" y="70"/>
                  </a:lnTo>
                  <a:lnTo>
                    <a:pt x="29" y="86"/>
                  </a:lnTo>
                  <a:lnTo>
                    <a:pt x="19" y="102"/>
                  </a:lnTo>
                  <a:lnTo>
                    <a:pt x="12" y="120"/>
                  </a:lnTo>
                  <a:lnTo>
                    <a:pt x="6" y="137"/>
                  </a:lnTo>
                  <a:lnTo>
                    <a:pt x="2" y="157"/>
                  </a:lnTo>
                  <a:lnTo>
                    <a:pt x="1" y="197"/>
                  </a:lnTo>
                  <a:lnTo>
                    <a:pt x="0" y="215"/>
                  </a:lnTo>
                  <a:lnTo>
                    <a:pt x="2" y="234"/>
                  </a:lnTo>
                  <a:lnTo>
                    <a:pt x="6" y="252"/>
                  </a:lnTo>
                  <a:lnTo>
                    <a:pt x="12" y="271"/>
                  </a:lnTo>
                  <a:lnTo>
                    <a:pt x="19" y="287"/>
                  </a:lnTo>
                  <a:lnTo>
                    <a:pt x="29" y="304"/>
                  </a:lnTo>
                  <a:lnTo>
                    <a:pt x="40" y="319"/>
                  </a:lnTo>
                  <a:lnTo>
                    <a:pt x="53" y="335"/>
                  </a:lnTo>
                  <a:lnTo>
                    <a:pt x="66" y="347"/>
                  </a:lnTo>
                  <a:lnTo>
                    <a:pt x="81" y="358"/>
                  </a:lnTo>
                  <a:lnTo>
                    <a:pt x="96" y="369"/>
                  </a:lnTo>
                  <a:lnTo>
                    <a:pt x="112" y="378"/>
                  </a:lnTo>
                  <a:lnTo>
                    <a:pt x="127" y="384"/>
                  </a:lnTo>
                  <a:lnTo>
                    <a:pt x="146" y="388"/>
                  </a:lnTo>
                  <a:lnTo>
                    <a:pt x="164" y="391"/>
                  </a:lnTo>
                  <a:lnTo>
                    <a:pt x="183" y="393"/>
                  </a:lnTo>
                  <a:lnTo>
                    <a:pt x="183" y="391"/>
                  </a:lnTo>
                  <a:lnTo>
                    <a:pt x="184" y="391"/>
                  </a:lnTo>
                  <a:lnTo>
                    <a:pt x="187" y="391"/>
                  </a:lnTo>
                  <a:lnTo>
                    <a:pt x="191" y="391"/>
                  </a:lnTo>
                  <a:lnTo>
                    <a:pt x="200" y="391"/>
                  </a:lnTo>
                  <a:lnTo>
                    <a:pt x="219" y="388"/>
                  </a:lnTo>
                  <a:lnTo>
                    <a:pt x="236" y="384"/>
                  </a:lnTo>
                  <a:lnTo>
                    <a:pt x="239" y="381"/>
                  </a:lnTo>
                  <a:lnTo>
                    <a:pt x="244" y="380"/>
                  </a:lnTo>
                  <a:lnTo>
                    <a:pt x="253" y="378"/>
                  </a:lnTo>
                  <a:lnTo>
                    <a:pt x="268" y="369"/>
                  </a:lnTo>
                  <a:lnTo>
                    <a:pt x="274" y="363"/>
                  </a:lnTo>
                  <a:lnTo>
                    <a:pt x="282" y="358"/>
                  </a:lnTo>
                  <a:lnTo>
                    <a:pt x="296" y="347"/>
                  </a:lnTo>
                  <a:lnTo>
                    <a:pt x="303" y="340"/>
                  </a:lnTo>
                  <a:lnTo>
                    <a:pt x="304" y="338"/>
                  </a:lnTo>
                  <a:lnTo>
                    <a:pt x="306" y="337"/>
                  </a:lnTo>
                  <a:lnTo>
                    <a:pt x="311" y="335"/>
                  </a:lnTo>
                  <a:lnTo>
                    <a:pt x="322" y="319"/>
                  </a:lnTo>
                  <a:lnTo>
                    <a:pt x="334" y="304"/>
                  </a:lnTo>
                  <a:lnTo>
                    <a:pt x="343" y="287"/>
                  </a:lnTo>
                  <a:lnTo>
                    <a:pt x="351" y="271"/>
                  </a:lnTo>
                  <a:lnTo>
                    <a:pt x="357" y="252"/>
                  </a:lnTo>
                  <a:lnTo>
                    <a:pt x="361" y="234"/>
                  </a:lnTo>
                  <a:lnTo>
                    <a:pt x="363" y="215"/>
                  </a:lnTo>
                  <a:lnTo>
                    <a:pt x="366" y="197"/>
                  </a:lnTo>
                  <a:lnTo>
                    <a:pt x="361" y="157"/>
                  </a:lnTo>
                  <a:lnTo>
                    <a:pt x="357" y="137"/>
                  </a:lnTo>
                  <a:lnTo>
                    <a:pt x="351" y="120"/>
                  </a:lnTo>
                  <a:lnTo>
                    <a:pt x="343" y="102"/>
                  </a:lnTo>
                  <a:lnTo>
                    <a:pt x="334" y="86"/>
                  </a:lnTo>
                  <a:lnTo>
                    <a:pt x="322" y="70"/>
                  </a:lnTo>
                  <a:lnTo>
                    <a:pt x="311" y="57"/>
                  </a:lnTo>
                  <a:lnTo>
                    <a:pt x="296" y="42"/>
                  </a:lnTo>
                  <a:lnTo>
                    <a:pt x="282" y="30"/>
                  </a:lnTo>
                  <a:lnTo>
                    <a:pt x="268" y="20"/>
                  </a:lnTo>
                  <a:lnTo>
                    <a:pt x="253" y="13"/>
                  </a:lnTo>
                  <a:lnTo>
                    <a:pt x="236" y="6"/>
                  </a:lnTo>
                  <a:lnTo>
                    <a:pt x="219" y="3"/>
                  </a:lnTo>
                  <a:lnTo>
                    <a:pt x="200" y="0"/>
                  </a:lnTo>
                  <a:lnTo>
                    <a:pt x="183" y="0"/>
                  </a:lnTo>
                  <a:lnTo>
                    <a:pt x="146" y="3"/>
                  </a:lnTo>
                  <a:lnTo>
                    <a:pt x="127" y="6"/>
                  </a:lnTo>
                  <a:lnTo>
                    <a:pt x="112" y="13"/>
                  </a:lnTo>
                  <a:lnTo>
                    <a:pt x="81" y="30"/>
                  </a:lnTo>
                  <a:lnTo>
                    <a:pt x="66" y="42"/>
                  </a:lnTo>
                  <a:lnTo>
                    <a:pt x="53" y="57"/>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543" name="Rectangle 519">
              <a:extLst>
                <a:ext uri="{FF2B5EF4-FFF2-40B4-BE49-F238E27FC236}">
                  <a16:creationId xmlns:a16="http://schemas.microsoft.com/office/drawing/2014/main" id="{7A482E6E-4D38-8186-145C-811C4DC42CAB}"/>
                </a:ext>
              </a:extLst>
            </p:cNvPr>
            <p:cNvSpPr>
              <a:spLocks noChangeArrowheads="1"/>
            </p:cNvSpPr>
            <p:nvPr/>
          </p:nvSpPr>
          <p:spPr bwMode="auto">
            <a:xfrm>
              <a:off x="4652" y="1494"/>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b="1">
                  <a:solidFill>
                    <a:srgbClr val="000000"/>
                  </a:solidFill>
                  <a:latin typeface="Verdana" panose="020B0604030504040204" pitchFamily="34" charset="0"/>
                  <a:ea typeface="宋体" panose="02010600030101010101" pitchFamily="2" charset="-122"/>
                </a:rPr>
                <a:t>1</a:t>
              </a:r>
              <a:endParaRPr lang="en-US" altLang="zh-CN" sz="1800">
                <a:solidFill>
                  <a:schemeClr val="tx1"/>
                </a:solidFill>
                <a:ea typeface="宋体" panose="02010600030101010101" pitchFamily="2" charset="-122"/>
              </a:endParaRPr>
            </a:p>
          </p:txBody>
        </p:sp>
        <p:sp>
          <p:nvSpPr>
            <p:cNvPr id="3073544" name="Rectangle 520">
              <a:extLst>
                <a:ext uri="{FF2B5EF4-FFF2-40B4-BE49-F238E27FC236}">
                  <a16:creationId xmlns:a16="http://schemas.microsoft.com/office/drawing/2014/main" id="{475DA7DF-CDA4-485B-691F-2B496B1568D2}"/>
                </a:ext>
              </a:extLst>
            </p:cNvPr>
            <p:cNvSpPr>
              <a:spLocks noChangeArrowheads="1"/>
            </p:cNvSpPr>
            <p:nvPr/>
          </p:nvSpPr>
          <p:spPr bwMode="auto">
            <a:xfrm>
              <a:off x="4692" y="1494"/>
              <a:ext cx="2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zh-CN" altLang="en-US" sz="700">
                  <a:solidFill>
                    <a:srgbClr val="000000"/>
                  </a:solidFill>
                  <a:latin typeface="Verdana" panose="020B0604030504040204" pitchFamily="34" charset="0"/>
                  <a:ea typeface="宋体" panose="02010600030101010101" pitchFamily="2" charset="-122"/>
                </a:rPr>
                <a:t> </a:t>
              </a:r>
              <a:endParaRPr lang="zh-CN" altLang="en-US" sz="1800">
                <a:solidFill>
                  <a:schemeClr val="tx1"/>
                </a:solidFill>
                <a:ea typeface="宋体" panose="02010600030101010101" pitchFamily="2" charset="-122"/>
              </a:endParaRPr>
            </a:p>
          </p:txBody>
        </p:sp>
        <p:sp>
          <p:nvSpPr>
            <p:cNvPr id="3073545" name="Freeform 521">
              <a:extLst>
                <a:ext uri="{FF2B5EF4-FFF2-40B4-BE49-F238E27FC236}">
                  <a16:creationId xmlns:a16="http://schemas.microsoft.com/office/drawing/2014/main" id="{D96C21CD-9168-1C2E-3F28-78D72C89FBA9}"/>
                </a:ext>
              </a:extLst>
            </p:cNvPr>
            <p:cNvSpPr>
              <a:spLocks/>
            </p:cNvSpPr>
            <p:nvPr/>
          </p:nvSpPr>
          <p:spPr bwMode="auto">
            <a:xfrm>
              <a:off x="4624" y="1610"/>
              <a:ext cx="91" cy="98"/>
            </a:xfrm>
            <a:custGeom>
              <a:avLst/>
              <a:gdLst>
                <a:gd name="T0" fmla="*/ 296 w 366"/>
                <a:gd name="T1" fmla="*/ 42 h 393"/>
                <a:gd name="T2" fmla="*/ 268 w 366"/>
                <a:gd name="T3" fmla="*/ 20 h 393"/>
                <a:gd name="T4" fmla="*/ 236 w 366"/>
                <a:gd name="T5" fmla="*/ 7 h 393"/>
                <a:gd name="T6" fmla="*/ 201 w 366"/>
                <a:gd name="T7" fmla="*/ 0 h 393"/>
                <a:gd name="T8" fmla="*/ 146 w 366"/>
                <a:gd name="T9" fmla="*/ 3 h 393"/>
                <a:gd name="T10" fmla="*/ 112 w 366"/>
                <a:gd name="T11" fmla="*/ 14 h 393"/>
                <a:gd name="T12" fmla="*/ 66 w 366"/>
                <a:gd name="T13" fmla="*/ 42 h 393"/>
                <a:gd name="T14" fmla="*/ 40 w 366"/>
                <a:gd name="T15" fmla="*/ 71 h 393"/>
                <a:gd name="T16" fmla="*/ 19 w 366"/>
                <a:gd name="T17" fmla="*/ 103 h 393"/>
                <a:gd name="T18" fmla="*/ 6 w 366"/>
                <a:gd name="T19" fmla="*/ 138 h 393"/>
                <a:gd name="T20" fmla="*/ 1 w 366"/>
                <a:gd name="T21" fmla="*/ 197 h 393"/>
                <a:gd name="T22" fmla="*/ 2 w 366"/>
                <a:gd name="T23" fmla="*/ 235 h 393"/>
                <a:gd name="T24" fmla="*/ 13 w 366"/>
                <a:gd name="T25" fmla="*/ 271 h 393"/>
                <a:gd name="T26" fmla="*/ 30 w 366"/>
                <a:gd name="T27" fmla="*/ 304 h 393"/>
                <a:gd name="T28" fmla="*/ 54 w 366"/>
                <a:gd name="T29" fmla="*/ 335 h 393"/>
                <a:gd name="T30" fmla="*/ 81 w 366"/>
                <a:gd name="T31" fmla="*/ 359 h 393"/>
                <a:gd name="T32" fmla="*/ 112 w 366"/>
                <a:gd name="T33" fmla="*/ 378 h 393"/>
                <a:gd name="T34" fmla="*/ 146 w 366"/>
                <a:gd name="T35" fmla="*/ 388 h 393"/>
                <a:gd name="T36" fmla="*/ 184 w 366"/>
                <a:gd name="T37" fmla="*/ 393 h 393"/>
                <a:gd name="T38" fmla="*/ 185 w 366"/>
                <a:gd name="T39" fmla="*/ 392 h 393"/>
                <a:gd name="T40" fmla="*/ 192 w 366"/>
                <a:gd name="T41" fmla="*/ 392 h 393"/>
                <a:gd name="T42" fmla="*/ 219 w 366"/>
                <a:gd name="T43" fmla="*/ 388 h 393"/>
                <a:gd name="T44" fmla="*/ 239 w 366"/>
                <a:gd name="T45" fmla="*/ 382 h 393"/>
                <a:gd name="T46" fmla="*/ 253 w 366"/>
                <a:gd name="T47" fmla="*/ 378 h 393"/>
                <a:gd name="T48" fmla="*/ 275 w 366"/>
                <a:gd name="T49" fmla="*/ 363 h 393"/>
                <a:gd name="T50" fmla="*/ 296 w 366"/>
                <a:gd name="T51" fmla="*/ 347 h 393"/>
                <a:gd name="T52" fmla="*/ 304 w 366"/>
                <a:gd name="T53" fmla="*/ 338 h 393"/>
                <a:gd name="T54" fmla="*/ 311 w 366"/>
                <a:gd name="T55" fmla="*/ 335 h 393"/>
                <a:gd name="T56" fmla="*/ 334 w 366"/>
                <a:gd name="T57" fmla="*/ 304 h 393"/>
                <a:gd name="T58" fmla="*/ 351 w 366"/>
                <a:gd name="T59" fmla="*/ 271 h 393"/>
                <a:gd name="T60" fmla="*/ 361 w 366"/>
                <a:gd name="T61" fmla="*/ 235 h 393"/>
                <a:gd name="T62" fmla="*/ 366 w 366"/>
                <a:gd name="T63" fmla="*/ 197 h 393"/>
                <a:gd name="T64" fmla="*/ 357 w 366"/>
                <a:gd name="T65" fmla="*/ 138 h 393"/>
                <a:gd name="T66" fmla="*/ 343 w 366"/>
                <a:gd name="T67" fmla="*/ 103 h 393"/>
                <a:gd name="T68" fmla="*/ 323 w 366"/>
                <a:gd name="T69" fmla="*/ 71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6" h="393">
                  <a:moveTo>
                    <a:pt x="311" y="57"/>
                  </a:moveTo>
                  <a:lnTo>
                    <a:pt x="296" y="42"/>
                  </a:lnTo>
                  <a:lnTo>
                    <a:pt x="283" y="31"/>
                  </a:lnTo>
                  <a:lnTo>
                    <a:pt x="268" y="20"/>
                  </a:lnTo>
                  <a:lnTo>
                    <a:pt x="253" y="14"/>
                  </a:lnTo>
                  <a:lnTo>
                    <a:pt x="236" y="7"/>
                  </a:lnTo>
                  <a:lnTo>
                    <a:pt x="219" y="3"/>
                  </a:lnTo>
                  <a:lnTo>
                    <a:pt x="201" y="0"/>
                  </a:lnTo>
                  <a:lnTo>
                    <a:pt x="184" y="0"/>
                  </a:lnTo>
                  <a:lnTo>
                    <a:pt x="146" y="3"/>
                  </a:lnTo>
                  <a:lnTo>
                    <a:pt x="128" y="7"/>
                  </a:lnTo>
                  <a:lnTo>
                    <a:pt x="112" y="14"/>
                  </a:lnTo>
                  <a:lnTo>
                    <a:pt x="81" y="31"/>
                  </a:lnTo>
                  <a:lnTo>
                    <a:pt x="66" y="42"/>
                  </a:lnTo>
                  <a:lnTo>
                    <a:pt x="54" y="57"/>
                  </a:lnTo>
                  <a:lnTo>
                    <a:pt x="40" y="71"/>
                  </a:lnTo>
                  <a:lnTo>
                    <a:pt x="30" y="87"/>
                  </a:lnTo>
                  <a:lnTo>
                    <a:pt x="19" y="103"/>
                  </a:lnTo>
                  <a:lnTo>
                    <a:pt x="13" y="121"/>
                  </a:lnTo>
                  <a:lnTo>
                    <a:pt x="6" y="138"/>
                  </a:lnTo>
                  <a:lnTo>
                    <a:pt x="2" y="157"/>
                  </a:lnTo>
                  <a:lnTo>
                    <a:pt x="1" y="197"/>
                  </a:lnTo>
                  <a:lnTo>
                    <a:pt x="0" y="215"/>
                  </a:lnTo>
                  <a:lnTo>
                    <a:pt x="2" y="235"/>
                  </a:lnTo>
                  <a:lnTo>
                    <a:pt x="6" y="253"/>
                  </a:lnTo>
                  <a:lnTo>
                    <a:pt x="13" y="271"/>
                  </a:lnTo>
                  <a:lnTo>
                    <a:pt x="19" y="287"/>
                  </a:lnTo>
                  <a:lnTo>
                    <a:pt x="30" y="304"/>
                  </a:lnTo>
                  <a:lnTo>
                    <a:pt x="40" y="319"/>
                  </a:lnTo>
                  <a:lnTo>
                    <a:pt x="54" y="335"/>
                  </a:lnTo>
                  <a:lnTo>
                    <a:pt x="66" y="347"/>
                  </a:lnTo>
                  <a:lnTo>
                    <a:pt x="81" y="359"/>
                  </a:lnTo>
                  <a:lnTo>
                    <a:pt x="96" y="369"/>
                  </a:lnTo>
                  <a:lnTo>
                    <a:pt x="112" y="378"/>
                  </a:lnTo>
                  <a:lnTo>
                    <a:pt x="128" y="384"/>
                  </a:lnTo>
                  <a:lnTo>
                    <a:pt x="146" y="388"/>
                  </a:lnTo>
                  <a:lnTo>
                    <a:pt x="164" y="392"/>
                  </a:lnTo>
                  <a:lnTo>
                    <a:pt x="184" y="393"/>
                  </a:lnTo>
                  <a:lnTo>
                    <a:pt x="184" y="392"/>
                  </a:lnTo>
                  <a:lnTo>
                    <a:pt x="185" y="392"/>
                  </a:lnTo>
                  <a:lnTo>
                    <a:pt x="187" y="392"/>
                  </a:lnTo>
                  <a:lnTo>
                    <a:pt x="192" y="392"/>
                  </a:lnTo>
                  <a:lnTo>
                    <a:pt x="201" y="392"/>
                  </a:lnTo>
                  <a:lnTo>
                    <a:pt x="219" y="388"/>
                  </a:lnTo>
                  <a:lnTo>
                    <a:pt x="236" y="384"/>
                  </a:lnTo>
                  <a:lnTo>
                    <a:pt x="239" y="382"/>
                  </a:lnTo>
                  <a:lnTo>
                    <a:pt x="244" y="380"/>
                  </a:lnTo>
                  <a:lnTo>
                    <a:pt x="253" y="378"/>
                  </a:lnTo>
                  <a:lnTo>
                    <a:pt x="268" y="369"/>
                  </a:lnTo>
                  <a:lnTo>
                    <a:pt x="275" y="363"/>
                  </a:lnTo>
                  <a:lnTo>
                    <a:pt x="283" y="359"/>
                  </a:lnTo>
                  <a:lnTo>
                    <a:pt x="296" y="347"/>
                  </a:lnTo>
                  <a:lnTo>
                    <a:pt x="303" y="341"/>
                  </a:lnTo>
                  <a:lnTo>
                    <a:pt x="304" y="338"/>
                  </a:lnTo>
                  <a:lnTo>
                    <a:pt x="307" y="337"/>
                  </a:lnTo>
                  <a:lnTo>
                    <a:pt x="311" y="335"/>
                  </a:lnTo>
                  <a:lnTo>
                    <a:pt x="323" y="319"/>
                  </a:lnTo>
                  <a:lnTo>
                    <a:pt x="334" y="304"/>
                  </a:lnTo>
                  <a:lnTo>
                    <a:pt x="343" y="287"/>
                  </a:lnTo>
                  <a:lnTo>
                    <a:pt x="351" y="271"/>
                  </a:lnTo>
                  <a:lnTo>
                    <a:pt x="357" y="253"/>
                  </a:lnTo>
                  <a:lnTo>
                    <a:pt x="361" y="235"/>
                  </a:lnTo>
                  <a:lnTo>
                    <a:pt x="364" y="215"/>
                  </a:lnTo>
                  <a:lnTo>
                    <a:pt x="366" y="197"/>
                  </a:lnTo>
                  <a:lnTo>
                    <a:pt x="361" y="157"/>
                  </a:lnTo>
                  <a:lnTo>
                    <a:pt x="357" y="138"/>
                  </a:lnTo>
                  <a:lnTo>
                    <a:pt x="351" y="121"/>
                  </a:lnTo>
                  <a:lnTo>
                    <a:pt x="343" y="103"/>
                  </a:lnTo>
                  <a:lnTo>
                    <a:pt x="334" y="87"/>
                  </a:lnTo>
                  <a:lnTo>
                    <a:pt x="323" y="71"/>
                  </a:lnTo>
                  <a:lnTo>
                    <a:pt x="311" y="57"/>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546" name="Rectangle 522">
              <a:extLst>
                <a:ext uri="{FF2B5EF4-FFF2-40B4-BE49-F238E27FC236}">
                  <a16:creationId xmlns:a16="http://schemas.microsoft.com/office/drawing/2014/main" id="{D47BF5CA-D826-FB01-3AB1-053DFA67ECB9}"/>
                </a:ext>
              </a:extLst>
            </p:cNvPr>
            <p:cNvSpPr>
              <a:spLocks noChangeArrowheads="1"/>
            </p:cNvSpPr>
            <p:nvPr/>
          </p:nvSpPr>
          <p:spPr bwMode="auto">
            <a:xfrm>
              <a:off x="4645" y="1626"/>
              <a:ext cx="59"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b="1">
                  <a:solidFill>
                    <a:srgbClr val="000000"/>
                  </a:solidFill>
                  <a:latin typeface="Verdana" panose="020B0604030504040204" pitchFamily="34" charset="0"/>
                  <a:ea typeface="宋体" panose="02010600030101010101" pitchFamily="2" charset="-122"/>
                </a:rPr>
                <a:t>2 </a:t>
              </a:r>
              <a:endParaRPr lang="en-US" altLang="zh-CN" sz="1800">
                <a:solidFill>
                  <a:schemeClr val="tx1"/>
                </a:solidFill>
                <a:ea typeface="宋体" panose="02010600030101010101" pitchFamily="2" charset="-122"/>
              </a:endParaRPr>
            </a:p>
          </p:txBody>
        </p:sp>
        <p:sp>
          <p:nvSpPr>
            <p:cNvPr id="3073547" name="Freeform 523">
              <a:extLst>
                <a:ext uri="{FF2B5EF4-FFF2-40B4-BE49-F238E27FC236}">
                  <a16:creationId xmlns:a16="http://schemas.microsoft.com/office/drawing/2014/main" id="{1FE900AF-0F3E-F897-C4DA-B796DAD17E13}"/>
                </a:ext>
              </a:extLst>
            </p:cNvPr>
            <p:cNvSpPr>
              <a:spLocks/>
            </p:cNvSpPr>
            <p:nvPr/>
          </p:nvSpPr>
          <p:spPr bwMode="auto">
            <a:xfrm>
              <a:off x="4628" y="1732"/>
              <a:ext cx="91" cy="98"/>
            </a:xfrm>
            <a:custGeom>
              <a:avLst/>
              <a:gdLst>
                <a:gd name="T0" fmla="*/ 0 w 366"/>
                <a:gd name="T1" fmla="*/ 215 h 393"/>
                <a:gd name="T2" fmla="*/ 6 w 366"/>
                <a:gd name="T3" fmla="*/ 253 h 393"/>
                <a:gd name="T4" fmla="*/ 20 w 366"/>
                <a:gd name="T5" fmla="*/ 287 h 393"/>
                <a:gd name="T6" fmla="*/ 40 w 366"/>
                <a:gd name="T7" fmla="*/ 319 h 393"/>
                <a:gd name="T8" fmla="*/ 66 w 366"/>
                <a:gd name="T9" fmla="*/ 348 h 393"/>
                <a:gd name="T10" fmla="*/ 96 w 366"/>
                <a:gd name="T11" fmla="*/ 369 h 393"/>
                <a:gd name="T12" fmla="*/ 128 w 366"/>
                <a:gd name="T13" fmla="*/ 384 h 393"/>
                <a:gd name="T14" fmla="*/ 164 w 366"/>
                <a:gd name="T15" fmla="*/ 392 h 393"/>
                <a:gd name="T16" fmla="*/ 184 w 366"/>
                <a:gd name="T17" fmla="*/ 392 h 393"/>
                <a:gd name="T18" fmla="*/ 187 w 366"/>
                <a:gd name="T19" fmla="*/ 392 h 393"/>
                <a:gd name="T20" fmla="*/ 201 w 366"/>
                <a:gd name="T21" fmla="*/ 392 h 393"/>
                <a:gd name="T22" fmla="*/ 236 w 366"/>
                <a:gd name="T23" fmla="*/ 384 h 393"/>
                <a:gd name="T24" fmla="*/ 244 w 366"/>
                <a:gd name="T25" fmla="*/ 381 h 393"/>
                <a:gd name="T26" fmla="*/ 268 w 366"/>
                <a:gd name="T27" fmla="*/ 369 h 393"/>
                <a:gd name="T28" fmla="*/ 283 w 366"/>
                <a:gd name="T29" fmla="*/ 359 h 393"/>
                <a:gd name="T30" fmla="*/ 303 w 366"/>
                <a:gd name="T31" fmla="*/ 341 h 393"/>
                <a:gd name="T32" fmla="*/ 307 w 366"/>
                <a:gd name="T33" fmla="*/ 337 h 393"/>
                <a:gd name="T34" fmla="*/ 323 w 366"/>
                <a:gd name="T35" fmla="*/ 319 h 393"/>
                <a:gd name="T36" fmla="*/ 343 w 366"/>
                <a:gd name="T37" fmla="*/ 287 h 393"/>
                <a:gd name="T38" fmla="*/ 357 w 366"/>
                <a:gd name="T39" fmla="*/ 253 h 393"/>
                <a:gd name="T40" fmla="*/ 364 w 366"/>
                <a:gd name="T41" fmla="*/ 215 h 393"/>
                <a:gd name="T42" fmla="*/ 362 w 366"/>
                <a:gd name="T43" fmla="*/ 157 h 393"/>
                <a:gd name="T44" fmla="*/ 351 w 366"/>
                <a:gd name="T45" fmla="*/ 121 h 393"/>
                <a:gd name="T46" fmla="*/ 334 w 366"/>
                <a:gd name="T47" fmla="*/ 87 h 393"/>
                <a:gd name="T48" fmla="*/ 311 w 366"/>
                <a:gd name="T49" fmla="*/ 57 h 393"/>
                <a:gd name="T50" fmla="*/ 283 w 366"/>
                <a:gd name="T51" fmla="*/ 31 h 393"/>
                <a:gd name="T52" fmla="*/ 253 w 366"/>
                <a:gd name="T53" fmla="*/ 14 h 393"/>
                <a:gd name="T54" fmla="*/ 219 w 366"/>
                <a:gd name="T55" fmla="*/ 4 h 393"/>
                <a:gd name="T56" fmla="*/ 184 w 366"/>
                <a:gd name="T57" fmla="*/ 0 h 393"/>
                <a:gd name="T58" fmla="*/ 128 w 366"/>
                <a:gd name="T59" fmla="*/ 7 h 393"/>
                <a:gd name="T60" fmla="*/ 81 w 366"/>
                <a:gd name="T61" fmla="*/ 31 h 393"/>
                <a:gd name="T62" fmla="*/ 54 w 366"/>
                <a:gd name="T63" fmla="*/ 57 h 393"/>
                <a:gd name="T64" fmla="*/ 30 w 366"/>
                <a:gd name="T65" fmla="*/ 87 h 393"/>
                <a:gd name="T66" fmla="*/ 13 w 366"/>
                <a:gd name="T67" fmla="*/ 121 h 393"/>
                <a:gd name="T68" fmla="*/ 3 w 366"/>
                <a:gd name="T69" fmla="*/ 157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6" h="393">
                  <a:moveTo>
                    <a:pt x="1" y="197"/>
                  </a:moveTo>
                  <a:lnTo>
                    <a:pt x="0" y="215"/>
                  </a:lnTo>
                  <a:lnTo>
                    <a:pt x="3" y="235"/>
                  </a:lnTo>
                  <a:lnTo>
                    <a:pt x="6" y="253"/>
                  </a:lnTo>
                  <a:lnTo>
                    <a:pt x="13" y="271"/>
                  </a:lnTo>
                  <a:lnTo>
                    <a:pt x="20" y="287"/>
                  </a:lnTo>
                  <a:lnTo>
                    <a:pt x="30" y="304"/>
                  </a:lnTo>
                  <a:lnTo>
                    <a:pt x="40" y="319"/>
                  </a:lnTo>
                  <a:lnTo>
                    <a:pt x="54" y="335"/>
                  </a:lnTo>
                  <a:lnTo>
                    <a:pt x="66" y="348"/>
                  </a:lnTo>
                  <a:lnTo>
                    <a:pt x="81" y="359"/>
                  </a:lnTo>
                  <a:lnTo>
                    <a:pt x="96" y="369"/>
                  </a:lnTo>
                  <a:lnTo>
                    <a:pt x="112" y="378"/>
                  </a:lnTo>
                  <a:lnTo>
                    <a:pt x="128" y="384"/>
                  </a:lnTo>
                  <a:lnTo>
                    <a:pt x="146" y="389"/>
                  </a:lnTo>
                  <a:lnTo>
                    <a:pt x="164" y="392"/>
                  </a:lnTo>
                  <a:lnTo>
                    <a:pt x="184" y="393"/>
                  </a:lnTo>
                  <a:lnTo>
                    <a:pt x="184" y="392"/>
                  </a:lnTo>
                  <a:lnTo>
                    <a:pt x="185" y="392"/>
                  </a:lnTo>
                  <a:lnTo>
                    <a:pt x="187" y="392"/>
                  </a:lnTo>
                  <a:lnTo>
                    <a:pt x="192" y="392"/>
                  </a:lnTo>
                  <a:lnTo>
                    <a:pt x="201" y="392"/>
                  </a:lnTo>
                  <a:lnTo>
                    <a:pt x="219" y="389"/>
                  </a:lnTo>
                  <a:lnTo>
                    <a:pt x="236" y="384"/>
                  </a:lnTo>
                  <a:lnTo>
                    <a:pt x="240" y="382"/>
                  </a:lnTo>
                  <a:lnTo>
                    <a:pt x="244" y="381"/>
                  </a:lnTo>
                  <a:lnTo>
                    <a:pt x="253" y="378"/>
                  </a:lnTo>
                  <a:lnTo>
                    <a:pt x="268" y="369"/>
                  </a:lnTo>
                  <a:lnTo>
                    <a:pt x="275" y="364"/>
                  </a:lnTo>
                  <a:lnTo>
                    <a:pt x="283" y="359"/>
                  </a:lnTo>
                  <a:lnTo>
                    <a:pt x="297" y="348"/>
                  </a:lnTo>
                  <a:lnTo>
                    <a:pt x="303" y="341"/>
                  </a:lnTo>
                  <a:lnTo>
                    <a:pt x="305" y="339"/>
                  </a:lnTo>
                  <a:lnTo>
                    <a:pt x="307" y="337"/>
                  </a:lnTo>
                  <a:lnTo>
                    <a:pt x="311" y="335"/>
                  </a:lnTo>
                  <a:lnTo>
                    <a:pt x="323" y="319"/>
                  </a:lnTo>
                  <a:lnTo>
                    <a:pt x="334" y="304"/>
                  </a:lnTo>
                  <a:lnTo>
                    <a:pt x="343" y="287"/>
                  </a:lnTo>
                  <a:lnTo>
                    <a:pt x="351" y="271"/>
                  </a:lnTo>
                  <a:lnTo>
                    <a:pt x="357" y="253"/>
                  </a:lnTo>
                  <a:lnTo>
                    <a:pt x="362" y="235"/>
                  </a:lnTo>
                  <a:lnTo>
                    <a:pt x="364" y="215"/>
                  </a:lnTo>
                  <a:lnTo>
                    <a:pt x="366" y="197"/>
                  </a:lnTo>
                  <a:lnTo>
                    <a:pt x="362" y="157"/>
                  </a:lnTo>
                  <a:lnTo>
                    <a:pt x="357" y="138"/>
                  </a:lnTo>
                  <a:lnTo>
                    <a:pt x="351" y="121"/>
                  </a:lnTo>
                  <a:lnTo>
                    <a:pt x="343" y="103"/>
                  </a:lnTo>
                  <a:lnTo>
                    <a:pt x="334" y="87"/>
                  </a:lnTo>
                  <a:lnTo>
                    <a:pt x="323" y="71"/>
                  </a:lnTo>
                  <a:lnTo>
                    <a:pt x="311" y="57"/>
                  </a:lnTo>
                  <a:lnTo>
                    <a:pt x="297" y="42"/>
                  </a:lnTo>
                  <a:lnTo>
                    <a:pt x="283" y="31"/>
                  </a:lnTo>
                  <a:lnTo>
                    <a:pt x="268" y="21"/>
                  </a:lnTo>
                  <a:lnTo>
                    <a:pt x="253" y="14"/>
                  </a:lnTo>
                  <a:lnTo>
                    <a:pt x="236" y="7"/>
                  </a:lnTo>
                  <a:lnTo>
                    <a:pt x="219" y="4"/>
                  </a:lnTo>
                  <a:lnTo>
                    <a:pt x="201" y="0"/>
                  </a:lnTo>
                  <a:lnTo>
                    <a:pt x="184" y="0"/>
                  </a:lnTo>
                  <a:lnTo>
                    <a:pt x="146" y="4"/>
                  </a:lnTo>
                  <a:lnTo>
                    <a:pt x="128" y="7"/>
                  </a:lnTo>
                  <a:lnTo>
                    <a:pt x="112" y="14"/>
                  </a:lnTo>
                  <a:lnTo>
                    <a:pt x="81" y="31"/>
                  </a:lnTo>
                  <a:lnTo>
                    <a:pt x="66" y="42"/>
                  </a:lnTo>
                  <a:lnTo>
                    <a:pt x="54" y="57"/>
                  </a:lnTo>
                  <a:lnTo>
                    <a:pt x="40" y="71"/>
                  </a:lnTo>
                  <a:lnTo>
                    <a:pt x="30" y="87"/>
                  </a:lnTo>
                  <a:lnTo>
                    <a:pt x="20" y="103"/>
                  </a:lnTo>
                  <a:lnTo>
                    <a:pt x="13" y="121"/>
                  </a:lnTo>
                  <a:lnTo>
                    <a:pt x="6" y="138"/>
                  </a:lnTo>
                  <a:lnTo>
                    <a:pt x="3" y="157"/>
                  </a:lnTo>
                  <a:lnTo>
                    <a:pt x="1" y="197"/>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548" name="Rectangle 524">
              <a:extLst>
                <a:ext uri="{FF2B5EF4-FFF2-40B4-BE49-F238E27FC236}">
                  <a16:creationId xmlns:a16="http://schemas.microsoft.com/office/drawing/2014/main" id="{D8D76BDA-D155-BA28-E310-E3971664158F}"/>
                </a:ext>
              </a:extLst>
            </p:cNvPr>
            <p:cNvSpPr>
              <a:spLocks noChangeArrowheads="1"/>
            </p:cNvSpPr>
            <p:nvPr/>
          </p:nvSpPr>
          <p:spPr bwMode="auto">
            <a:xfrm>
              <a:off x="4653" y="1752"/>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b="1">
                  <a:solidFill>
                    <a:srgbClr val="000000"/>
                  </a:solidFill>
                  <a:latin typeface="Verdana" panose="020B0604030504040204" pitchFamily="34" charset="0"/>
                  <a:ea typeface="宋体" panose="02010600030101010101" pitchFamily="2" charset="-122"/>
                </a:rPr>
                <a:t>3</a:t>
              </a:r>
              <a:endParaRPr lang="en-US" altLang="zh-CN" sz="1800">
                <a:solidFill>
                  <a:schemeClr val="tx1"/>
                </a:solidFill>
                <a:ea typeface="宋体" panose="02010600030101010101" pitchFamily="2" charset="-122"/>
              </a:endParaRPr>
            </a:p>
          </p:txBody>
        </p:sp>
        <p:sp>
          <p:nvSpPr>
            <p:cNvPr id="3073549" name="Rectangle 525">
              <a:extLst>
                <a:ext uri="{FF2B5EF4-FFF2-40B4-BE49-F238E27FC236}">
                  <a16:creationId xmlns:a16="http://schemas.microsoft.com/office/drawing/2014/main" id="{C57D6430-F8BF-DD6C-1681-AB5845A5169A}"/>
                </a:ext>
              </a:extLst>
            </p:cNvPr>
            <p:cNvSpPr>
              <a:spLocks noChangeArrowheads="1"/>
            </p:cNvSpPr>
            <p:nvPr/>
          </p:nvSpPr>
          <p:spPr bwMode="auto">
            <a:xfrm>
              <a:off x="4702" y="1765"/>
              <a:ext cx="2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zh-CN" altLang="en-US" sz="700">
                  <a:solidFill>
                    <a:srgbClr val="000000"/>
                  </a:solidFill>
                  <a:latin typeface="Verdana" panose="020B0604030504040204" pitchFamily="34" charset="0"/>
                  <a:ea typeface="宋体" panose="02010600030101010101" pitchFamily="2" charset="-122"/>
                </a:rPr>
                <a:t> </a:t>
              </a:r>
              <a:endParaRPr lang="zh-CN" altLang="en-US" sz="1800">
                <a:solidFill>
                  <a:schemeClr val="tx1"/>
                </a:solidFill>
                <a:ea typeface="宋体" panose="02010600030101010101" pitchFamily="2" charset="-122"/>
              </a:endParaRPr>
            </a:p>
          </p:txBody>
        </p:sp>
      </p:grpSp>
      <p:sp>
        <p:nvSpPr>
          <p:cNvPr id="3073550" name="Freeform 526">
            <a:extLst>
              <a:ext uri="{FF2B5EF4-FFF2-40B4-BE49-F238E27FC236}">
                <a16:creationId xmlns:a16="http://schemas.microsoft.com/office/drawing/2014/main" id="{38337218-99EE-8F11-81AC-5AB7178AE8C2}"/>
              </a:ext>
            </a:extLst>
          </p:cNvPr>
          <p:cNvSpPr>
            <a:spLocks/>
          </p:cNvSpPr>
          <p:nvPr/>
        </p:nvSpPr>
        <p:spPr bwMode="auto">
          <a:xfrm>
            <a:off x="6402388" y="3481388"/>
            <a:ext cx="144462" cy="155575"/>
          </a:xfrm>
          <a:custGeom>
            <a:avLst/>
            <a:gdLst>
              <a:gd name="T0" fmla="*/ 0 w 366"/>
              <a:gd name="T1" fmla="*/ 216 h 393"/>
              <a:gd name="T2" fmla="*/ 6 w 366"/>
              <a:gd name="T3" fmla="*/ 253 h 393"/>
              <a:gd name="T4" fmla="*/ 20 w 366"/>
              <a:gd name="T5" fmla="*/ 287 h 393"/>
              <a:gd name="T6" fmla="*/ 40 w 366"/>
              <a:gd name="T7" fmla="*/ 319 h 393"/>
              <a:gd name="T8" fmla="*/ 66 w 366"/>
              <a:gd name="T9" fmla="*/ 348 h 393"/>
              <a:gd name="T10" fmla="*/ 96 w 366"/>
              <a:gd name="T11" fmla="*/ 369 h 393"/>
              <a:gd name="T12" fmla="*/ 128 w 366"/>
              <a:gd name="T13" fmla="*/ 384 h 393"/>
              <a:gd name="T14" fmla="*/ 164 w 366"/>
              <a:gd name="T15" fmla="*/ 392 h 393"/>
              <a:gd name="T16" fmla="*/ 184 w 366"/>
              <a:gd name="T17" fmla="*/ 392 h 393"/>
              <a:gd name="T18" fmla="*/ 187 w 366"/>
              <a:gd name="T19" fmla="*/ 392 h 393"/>
              <a:gd name="T20" fmla="*/ 201 w 366"/>
              <a:gd name="T21" fmla="*/ 392 h 393"/>
              <a:gd name="T22" fmla="*/ 236 w 366"/>
              <a:gd name="T23" fmla="*/ 384 h 393"/>
              <a:gd name="T24" fmla="*/ 244 w 366"/>
              <a:gd name="T25" fmla="*/ 381 h 393"/>
              <a:gd name="T26" fmla="*/ 268 w 366"/>
              <a:gd name="T27" fmla="*/ 369 h 393"/>
              <a:gd name="T28" fmla="*/ 283 w 366"/>
              <a:gd name="T29" fmla="*/ 359 h 393"/>
              <a:gd name="T30" fmla="*/ 303 w 366"/>
              <a:gd name="T31" fmla="*/ 341 h 393"/>
              <a:gd name="T32" fmla="*/ 307 w 366"/>
              <a:gd name="T33" fmla="*/ 338 h 393"/>
              <a:gd name="T34" fmla="*/ 323 w 366"/>
              <a:gd name="T35" fmla="*/ 319 h 393"/>
              <a:gd name="T36" fmla="*/ 343 w 366"/>
              <a:gd name="T37" fmla="*/ 287 h 393"/>
              <a:gd name="T38" fmla="*/ 357 w 366"/>
              <a:gd name="T39" fmla="*/ 253 h 393"/>
              <a:gd name="T40" fmla="*/ 364 w 366"/>
              <a:gd name="T41" fmla="*/ 216 h 393"/>
              <a:gd name="T42" fmla="*/ 361 w 366"/>
              <a:gd name="T43" fmla="*/ 158 h 393"/>
              <a:gd name="T44" fmla="*/ 351 w 366"/>
              <a:gd name="T45" fmla="*/ 121 h 393"/>
              <a:gd name="T46" fmla="*/ 334 w 366"/>
              <a:gd name="T47" fmla="*/ 87 h 393"/>
              <a:gd name="T48" fmla="*/ 311 w 366"/>
              <a:gd name="T49" fmla="*/ 57 h 393"/>
              <a:gd name="T50" fmla="*/ 283 w 366"/>
              <a:gd name="T51" fmla="*/ 31 h 393"/>
              <a:gd name="T52" fmla="*/ 253 w 366"/>
              <a:gd name="T53" fmla="*/ 14 h 393"/>
              <a:gd name="T54" fmla="*/ 219 w 366"/>
              <a:gd name="T55" fmla="*/ 4 h 393"/>
              <a:gd name="T56" fmla="*/ 184 w 366"/>
              <a:gd name="T57" fmla="*/ 0 h 393"/>
              <a:gd name="T58" fmla="*/ 128 w 366"/>
              <a:gd name="T59" fmla="*/ 7 h 393"/>
              <a:gd name="T60" fmla="*/ 81 w 366"/>
              <a:gd name="T61" fmla="*/ 31 h 393"/>
              <a:gd name="T62" fmla="*/ 54 w 366"/>
              <a:gd name="T63" fmla="*/ 57 h 393"/>
              <a:gd name="T64" fmla="*/ 30 w 366"/>
              <a:gd name="T65" fmla="*/ 87 h 393"/>
              <a:gd name="T66" fmla="*/ 13 w 366"/>
              <a:gd name="T67" fmla="*/ 121 h 393"/>
              <a:gd name="T68" fmla="*/ 3 w 366"/>
              <a:gd name="T69" fmla="*/ 15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6" h="393">
                <a:moveTo>
                  <a:pt x="1" y="197"/>
                </a:moveTo>
                <a:lnTo>
                  <a:pt x="0" y="216"/>
                </a:lnTo>
                <a:lnTo>
                  <a:pt x="3" y="235"/>
                </a:lnTo>
                <a:lnTo>
                  <a:pt x="6" y="253"/>
                </a:lnTo>
                <a:lnTo>
                  <a:pt x="13" y="271"/>
                </a:lnTo>
                <a:lnTo>
                  <a:pt x="20" y="287"/>
                </a:lnTo>
                <a:lnTo>
                  <a:pt x="30" y="304"/>
                </a:lnTo>
                <a:lnTo>
                  <a:pt x="40" y="319"/>
                </a:lnTo>
                <a:lnTo>
                  <a:pt x="54" y="335"/>
                </a:lnTo>
                <a:lnTo>
                  <a:pt x="66" y="348"/>
                </a:lnTo>
                <a:lnTo>
                  <a:pt x="81" y="359"/>
                </a:lnTo>
                <a:lnTo>
                  <a:pt x="96" y="369"/>
                </a:lnTo>
                <a:lnTo>
                  <a:pt x="112" y="379"/>
                </a:lnTo>
                <a:lnTo>
                  <a:pt x="128" y="384"/>
                </a:lnTo>
                <a:lnTo>
                  <a:pt x="146" y="389"/>
                </a:lnTo>
                <a:lnTo>
                  <a:pt x="164" y="392"/>
                </a:lnTo>
                <a:lnTo>
                  <a:pt x="184" y="393"/>
                </a:lnTo>
                <a:lnTo>
                  <a:pt x="184" y="392"/>
                </a:lnTo>
                <a:lnTo>
                  <a:pt x="185" y="392"/>
                </a:lnTo>
                <a:lnTo>
                  <a:pt x="187" y="392"/>
                </a:lnTo>
                <a:lnTo>
                  <a:pt x="192" y="392"/>
                </a:lnTo>
                <a:lnTo>
                  <a:pt x="201" y="392"/>
                </a:lnTo>
                <a:lnTo>
                  <a:pt x="219" y="389"/>
                </a:lnTo>
                <a:lnTo>
                  <a:pt x="236" y="384"/>
                </a:lnTo>
                <a:lnTo>
                  <a:pt x="240" y="382"/>
                </a:lnTo>
                <a:lnTo>
                  <a:pt x="244" y="381"/>
                </a:lnTo>
                <a:lnTo>
                  <a:pt x="253" y="379"/>
                </a:lnTo>
                <a:lnTo>
                  <a:pt x="268" y="369"/>
                </a:lnTo>
                <a:lnTo>
                  <a:pt x="275" y="364"/>
                </a:lnTo>
                <a:lnTo>
                  <a:pt x="283" y="359"/>
                </a:lnTo>
                <a:lnTo>
                  <a:pt x="297" y="348"/>
                </a:lnTo>
                <a:lnTo>
                  <a:pt x="303" y="341"/>
                </a:lnTo>
                <a:lnTo>
                  <a:pt x="305" y="339"/>
                </a:lnTo>
                <a:lnTo>
                  <a:pt x="307" y="338"/>
                </a:lnTo>
                <a:lnTo>
                  <a:pt x="311" y="335"/>
                </a:lnTo>
                <a:lnTo>
                  <a:pt x="323" y="319"/>
                </a:lnTo>
                <a:lnTo>
                  <a:pt x="334" y="304"/>
                </a:lnTo>
                <a:lnTo>
                  <a:pt x="343" y="287"/>
                </a:lnTo>
                <a:lnTo>
                  <a:pt x="351" y="271"/>
                </a:lnTo>
                <a:lnTo>
                  <a:pt x="357" y="253"/>
                </a:lnTo>
                <a:lnTo>
                  <a:pt x="361" y="235"/>
                </a:lnTo>
                <a:lnTo>
                  <a:pt x="364" y="216"/>
                </a:lnTo>
                <a:lnTo>
                  <a:pt x="366" y="197"/>
                </a:lnTo>
                <a:lnTo>
                  <a:pt x="361" y="158"/>
                </a:lnTo>
                <a:lnTo>
                  <a:pt x="357" y="138"/>
                </a:lnTo>
                <a:lnTo>
                  <a:pt x="351" y="121"/>
                </a:lnTo>
                <a:lnTo>
                  <a:pt x="343" y="103"/>
                </a:lnTo>
                <a:lnTo>
                  <a:pt x="334" y="87"/>
                </a:lnTo>
                <a:lnTo>
                  <a:pt x="323" y="71"/>
                </a:lnTo>
                <a:lnTo>
                  <a:pt x="311" y="57"/>
                </a:lnTo>
                <a:lnTo>
                  <a:pt x="297" y="42"/>
                </a:lnTo>
                <a:lnTo>
                  <a:pt x="283" y="31"/>
                </a:lnTo>
                <a:lnTo>
                  <a:pt x="268" y="21"/>
                </a:lnTo>
                <a:lnTo>
                  <a:pt x="253" y="14"/>
                </a:lnTo>
                <a:lnTo>
                  <a:pt x="236" y="7"/>
                </a:lnTo>
                <a:lnTo>
                  <a:pt x="219" y="4"/>
                </a:lnTo>
                <a:lnTo>
                  <a:pt x="201" y="0"/>
                </a:lnTo>
                <a:lnTo>
                  <a:pt x="184" y="0"/>
                </a:lnTo>
                <a:lnTo>
                  <a:pt x="146" y="4"/>
                </a:lnTo>
                <a:lnTo>
                  <a:pt x="128" y="7"/>
                </a:lnTo>
                <a:lnTo>
                  <a:pt x="112" y="14"/>
                </a:lnTo>
                <a:lnTo>
                  <a:pt x="81" y="31"/>
                </a:lnTo>
                <a:lnTo>
                  <a:pt x="66" y="42"/>
                </a:lnTo>
                <a:lnTo>
                  <a:pt x="54" y="57"/>
                </a:lnTo>
                <a:lnTo>
                  <a:pt x="40" y="71"/>
                </a:lnTo>
                <a:lnTo>
                  <a:pt x="30" y="87"/>
                </a:lnTo>
                <a:lnTo>
                  <a:pt x="20" y="103"/>
                </a:lnTo>
                <a:lnTo>
                  <a:pt x="13" y="121"/>
                </a:lnTo>
                <a:lnTo>
                  <a:pt x="6" y="138"/>
                </a:lnTo>
                <a:lnTo>
                  <a:pt x="3" y="158"/>
                </a:lnTo>
                <a:lnTo>
                  <a:pt x="1" y="197"/>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551" name="Rectangle 527">
            <a:extLst>
              <a:ext uri="{FF2B5EF4-FFF2-40B4-BE49-F238E27FC236}">
                <a16:creationId xmlns:a16="http://schemas.microsoft.com/office/drawing/2014/main" id="{6C746926-6D05-9F5F-08E5-B59C106903B5}"/>
              </a:ext>
            </a:extLst>
          </p:cNvPr>
          <p:cNvSpPr>
            <a:spLocks noChangeArrowheads="1"/>
          </p:cNvSpPr>
          <p:nvPr/>
        </p:nvSpPr>
        <p:spPr bwMode="auto">
          <a:xfrm>
            <a:off x="6440488" y="3503613"/>
            <a:ext cx="93662"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b="1">
                <a:solidFill>
                  <a:srgbClr val="000000"/>
                </a:solidFill>
                <a:latin typeface="Verdana" panose="020B0604030504040204" pitchFamily="34" charset="0"/>
                <a:ea typeface="宋体" panose="02010600030101010101" pitchFamily="2" charset="-122"/>
              </a:rPr>
              <a:t>3 </a:t>
            </a:r>
            <a:endParaRPr lang="en-US" altLang="zh-CN" sz="1800">
              <a:solidFill>
                <a:schemeClr val="tx1"/>
              </a:solidFill>
              <a:ea typeface="宋体" panose="02010600030101010101" pitchFamily="2" charset="-122"/>
            </a:endParaRPr>
          </a:p>
        </p:txBody>
      </p:sp>
      <p:sp>
        <p:nvSpPr>
          <p:cNvPr id="3073552" name="Freeform 528">
            <a:extLst>
              <a:ext uri="{FF2B5EF4-FFF2-40B4-BE49-F238E27FC236}">
                <a16:creationId xmlns:a16="http://schemas.microsoft.com/office/drawing/2014/main" id="{6D8559FA-62CB-348A-1B13-CEF76D767F61}"/>
              </a:ext>
            </a:extLst>
          </p:cNvPr>
          <p:cNvSpPr>
            <a:spLocks/>
          </p:cNvSpPr>
          <p:nvPr/>
        </p:nvSpPr>
        <p:spPr bwMode="auto">
          <a:xfrm>
            <a:off x="5534025" y="3095625"/>
            <a:ext cx="146050" cy="155575"/>
          </a:xfrm>
          <a:custGeom>
            <a:avLst/>
            <a:gdLst>
              <a:gd name="T0" fmla="*/ 296 w 365"/>
              <a:gd name="T1" fmla="*/ 42 h 393"/>
              <a:gd name="T2" fmla="*/ 267 w 365"/>
              <a:gd name="T3" fmla="*/ 20 h 393"/>
              <a:gd name="T4" fmla="*/ 235 w 365"/>
              <a:gd name="T5" fmla="*/ 7 h 393"/>
              <a:gd name="T6" fmla="*/ 200 w 365"/>
              <a:gd name="T7" fmla="*/ 0 h 393"/>
              <a:gd name="T8" fmla="*/ 145 w 365"/>
              <a:gd name="T9" fmla="*/ 3 h 393"/>
              <a:gd name="T10" fmla="*/ 111 w 365"/>
              <a:gd name="T11" fmla="*/ 13 h 393"/>
              <a:gd name="T12" fmla="*/ 66 w 365"/>
              <a:gd name="T13" fmla="*/ 42 h 393"/>
              <a:gd name="T14" fmla="*/ 39 w 365"/>
              <a:gd name="T15" fmla="*/ 70 h 393"/>
              <a:gd name="T16" fmla="*/ 19 w 365"/>
              <a:gd name="T17" fmla="*/ 102 h 393"/>
              <a:gd name="T18" fmla="*/ 5 w 365"/>
              <a:gd name="T19" fmla="*/ 138 h 393"/>
              <a:gd name="T20" fmla="*/ 1 w 365"/>
              <a:gd name="T21" fmla="*/ 197 h 393"/>
              <a:gd name="T22" fmla="*/ 2 w 365"/>
              <a:gd name="T23" fmla="*/ 234 h 393"/>
              <a:gd name="T24" fmla="*/ 12 w 365"/>
              <a:gd name="T25" fmla="*/ 271 h 393"/>
              <a:gd name="T26" fmla="*/ 29 w 365"/>
              <a:gd name="T27" fmla="*/ 304 h 393"/>
              <a:gd name="T28" fmla="*/ 53 w 365"/>
              <a:gd name="T29" fmla="*/ 335 h 393"/>
              <a:gd name="T30" fmla="*/ 81 w 365"/>
              <a:gd name="T31" fmla="*/ 359 h 393"/>
              <a:gd name="T32" fmla="*/ 111 w 365"/>
              <a:gd name="T33" fmla="*/ 378 h 393"/>
              <a:gd name="T34" fmla="*/ 145 w 365"/>
              <a:gd name="T35" fmla="*/ 388 h 393"/>
              <a:gd name="T36" fmla="*/ 183 w 365"/>
              <a:gd name="T37" fmla="*/ 393 h 393"/>
              <a:gd name="T38" fmla="*/ 184 w 365"/>
              <a:gd name="T39" fmla="*/ 392 h 393"/>
              <a:gd name="T40" fmla="*/ 191 w 365"/>
              <a:gd name="T41" fmla="*/ 392 h 393"/>
              <a:gd name="T42" fmla="*/ 218 w 365"/>
              <a:gd name="T43" fmla="*/ 388 h 393"/>
              <a:gd name="T44" fmla="*/ 239 w 365"/>
              <a:gd name="T45" fmla="*/ 381 h 393"/>
              <a:gd name="T46" fmla="*/ 253 w 365"/>
              <a:gd name="T47" fmla="*/ 378 h 393"/>
              <a:gd name="T48" fmla="*/ 274 w 365"/>
              <a:gd name="T49" fmla="*/ 363 h 393"/>
              <a:gd name="T50" fmla="*/ 296 w 365"/>
              <a:gd name="T51" fmla="*/ 347 h 393"/>
              <a:gd name="T52" fmla="*/ 304 w 365"/>
              <a:gd name="T53" fmla="*/ 338 h 393"/>
              <a:gd name="T54" fmla="*/ 311 w 365"/>
              <a:gd name="T55" fmla="*/ 335 h 393"/>
              <a:gd name="T56" fmla="*/ 333 w 365"/>
              <a:gd name="T57" fmla="*/ 304 h 393"/>
              <a:gd name="T58" fmla="*/ 351 w 365"/>
              <a:gd name="T59" fmla="*/ 271 h 393"/>
              <a:gd name="T60" fmla="*/ 361 w 365"/>
              <a:gd name="T61" fmla="*/ 234 h 393"/>
              <a:gd name="T62" fmla="*/ 365 w 365"/>
              <a:gd name="T63" fmla="*/ 197 h 393"/>
              <a:gd name="T64" fmla="*/ 356 w 365"/>
              <a:gd name="T65" fmla="*/ 138 h 393"/>
              <a:gd name="T66" fmla="*/ 343 w 365"/>
              <a:gd name="T67" fmla="*/ 102 h 393"/>
              <a:gd name="T68" fmla="*/ 322 w 365"/>
              <a:gd name="T69" fmla="*/ 7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5" h="393">
                <a:moveTo>
                  <a:pt x="311" y="57"/>
                </a:moveTo>
                <a:lnTo>
                  <a:pt x="296" y="42"/>
                </a:lnTo>
                <a:lnTo>
                  <a:pt x="282" y="31"/>
                </a:lnTo>
                <a:lnTo>
                  <a:pt x="267" y="20"/>
                </a:lnTo>
                <a:lnTo>
                  <a:pt x="253" y="13"/>
                </a:lnTo>
                <a:lnTo>
                  <a:pt x="235" y="7"/>
                </a:lnTo>
                <a:lnTo>
                  <a:pt x="218" y="3"/>
                </a:lnTo>
                <a:lnTo>
                  <a:pt x="200" y="0"/>
                </a:lnTo>
                <a:lnTo>
                  <a:pt x="183" y="0"/>
                </a:lnTo>
                <a:lnTo>
                  <a:pt x="145" y="3"/>
                </a:lnTo>
                <a:lnTo>
                  <a:pt x="127" y="7"/>
                </a:lnTo>
                <a:lnTo>
                  <a:pt x="111" y="13"/>
                </a:lnTo>
                <a:lnTo>
                  <a:pt x="81" y="31"/>
                </a:lnTo>
                <a:lnTo>
                  <a:pt x="66" y="42"/>
                </a:lnTo>
                <a:lnTo>
                  <a:pt x="53" y="57"/>
                </a:lnTo>
                <a:lnTo>
                  <a:pt x="39" y="70"/>
                </a:lnTo>
                <a:lnTo>
                  <a:pt x="29" y="86"/>
                </a:lnTo>
                <a:lnTo>
                  <a:pt x="19" y="102"/>
                </a:lnTo>
                <a:lnTo>
                  <a:pt x="12" y="121"/>
                </a:lnTo>
                <a:lnTo>
                  <a:pt x="5" y="138"/>
                </a:lnTo>
                <a:lnTo>
                  <a:pt x="2" y="157"/>
                </a:lnTo>
                <a:lnTo>
                  <a:pt x="1" y="197"/>
                </a:lnTo>
                <a:lnTo>
                  <a:pt x="0" y="215"/>
                </a:lnTo>
                <a:lnTo>
                  <a:pt x="2" y="234"/>
                </a:lnTo>
                <a:lnTo>
                  <a:pt x="5" y="253"/>
                </a:lnTo>
                <a:lnTo>
                  <a:pt x="12" y="271"/>
                </a:lnTo>
                <a:lnTo>
                  <a:pt x="19" y="287"/>
                </a:lnTo>
                <a:lnTo>
                  <a:pt x="29" y="304"/>
                </a:lnTo>
                <a:lnTo>
                  <a:pt x="39" y="319"/>
                </a:lnTo>
                <a:lnTo>
                  <a:pt x="53" y="335"/>
                </a:lnTo>
                <a:lnTo>
                  <a:pt x="66" y="347"/>
                </a:lnTo>
                <a:lnTo>
                  <a:pt x="81" y="359"/>
                </a:lnTo>
                <a:lnTo>
                  <a:pt x="95" y="369"/>
                </a:lnTo>
                <a:lnTo>
                  <a:pt x="111" y="378"/>
                </a:lnTo>
                <a:lnTo>
                  <a:pt x="127" y="384"/>
                </a:lnTo>
                <a:lnTo>
                  <a:pt x="145" y="388"/>
                </a:lnTo>
                <a:lnTo>
                  <a:pt x="164" y="392"/>
                </a:lnTo>
                <a:lnTo>
                  <a:pt x="183" y="393"/>
                </a:lnTo>
                <a:lnTo>
                  <a:pt x="183" y="392"/>
                </a:lnTo>
                <a:lnTo>
                  <a:pt x="184" y="392"/>
                </a:lnTo>
                <a:lnTo>
                  <a:pt x="186" y="392"/>
                </a:lnTo>
                <a:lnTo>
                  <a:pt x="191" y="392"/>
                </a:lnTo>
                <a:lnTo>
                  <a:pt x="200" y="392"/>
                </a:lnTo>
                <a:lnTo>
                  <a:pt x="218" y="388"/>
                </a:lnTo>
                <a:lnTo>
                  <a:pt x="235" y="384"/>
                </a:lnTo>
                <a:lnTo>
                  <a:pt x="239" y="381"/>
                </a:lnTo>
                <a:lnTo>
                  <a:pt x="243" y="380"/>
                </a:lnTo>
                <a:lnTo>
                  <a:pt x="253" y="378"/>
                </a:lnTo>
                <a:lnTo>
                  <a:pt x="267" y="369"/>
                </a:lnTo>
                <a:lnTo>
                  <a:pt x="274" y="363"/>
                </a:lnTo>
                <a:lnTo>
                  <a:pt x="282" y="359"/>
                </a:lnTo>
                <a:lnTo>
                  <a:pt x="296" y="347"/>
                </a:lnTo>
                <a:lnTo>
                  <a:pt x="303" y="340"/>
                </a:lnTo>
                <a:lnTo>
                  <a:pt x="304" y="338"/>
                </a:lnTo>
                <a:lnTo>
                  <a:pt x="306" y="337"/>
                </a:lnTo>
                <a:lnTo>
                  <a:pt x="311" y="335"/>
                </a:lnTo>
                <a:lnTo>
                  <a:pt x="322" y="319"/>
                </a:lnTo>
                <a:lnTo>
                  <a:pt x="333" y="304"/>
                </a:lnTo>
                <a:lnTo>
                  <a:pt x="343" y="287"/>
                </a:lnTo>
                <a:lnTo>
                  <a:pt x="351" y="271"/>
                </a:lnTo>
                <a:lnTo>
                  <a:pt x="356" y="253"/>
                </a:lnTo>
                <a:lnTo>
                  <a:pt x="361" y="234"/>
                </a:lnTo>
                <a:lnTo>
                  <a:pt x="363" y="215"/>
                </a:lnTo>
                <a:lnTo>
                  <a:pt x="365" y="197"/>
                </a:lnTo>
                <a:lnTo>
                  <a:pt x="361" y="157"/>
                </a:lnTo>
                <a:lnTo>
                  <a:pt x="356" y="138"/>
                </a:lnTo>
                <a:lnTo>
                  <a:pt x="351" y="121"/>
                </a:lnTo>
                <a:lnTo>
                  <a:pt x="343" y="102"/>
                </a:lnTo>
                <a:lnTo>
                  <a:pt x="333" y="86"/>
                </a:lnTo>
                <a:lnTo>
                  <a:pt x="322" y="70"/>
                </a:lnTo>
                <a:lnTo>
                  <a:pt x="311" y="57"/>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553" name="Rectangle 529">
            <a:extLst>
              <a:ext uri="{FF2B5EF4-FFF2-40B4-BE49-F238E27FC236}">
                <a16:creationId xmlns:a16="http://schemas.microsoft.com/office/drawing/2014/main" id="{A2A1B9FD-9F78-B269-23DD-B945E3C0FB51}"/>
              </a:ext>
            </a:extLst>
          </p:cNvPr>
          <p:cNvSpPr>
            <a:spLocks noChangeArrowheads="1"/>
          </p:cNvSpPr>
          <p:nvPr/>
        </p:nvSpPr>
        <p:spPr bwMode="auto">
          <a:xfrm>
            <a:off x="5568950" y="3122613"/>
            <a:ext cx="63500"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b="1">
                <a:solidFill>
                  <a:srgbClr val="000000"/>
                </a:solidFill>
                <a:latin typeface="Verdana" panose="020B0604030504040204" pitchFamily="34" charset="0"/>
                <a:ea typeface="宋体" panose="02010600030101010101" pitchFamily="2" charset="-122"/>
              </a:rPr>
              <a:t>2</a:t>
            </a:r>
            <a:endParaRPr lang="en-US" altLang="zh-CN" sz="1800">
              <a:solidFill>
                <a:schemeClr val="tx1"/>
              </a:solidFill>
              <a:ea typeface="宋体" panose="02010600030101010101" pitchFamily="2" charset="-122"/>
            </a:endParaRPr>
          </a:p>
        </p:txBody>
      </p:sp>
      <p:sp>
        <p:nvSpPr>
          <p:cNvPr id="3073554" name="Rectangle 530">
            <a:extLst>
              <a:ext uri="{FF2B5EF4-FFF2-40B4-BE49-F238E27FC236}">
                <a16:creationId xmlns:a16="http://schemas.microsoft.com/office/drawing/2014/main" id="{9E841601-4C32-FA12-F6F9-2CEC56CB1559}"/>
              </a:ext>
            </a:extLst>
          </p:cNvPr>
          <p:cNvSpPr>
            <a:spLocks noChangeArrowheads="1"/>
          </p:cNvSpPr>
          <p:nvPr/>
        </p:nvSpPr>
        <p:spPr bwMode="auto">
          <a:xfrm>
            <a:off x="5749925" y="3117850"/>
            <a:ext cx="3175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zh-CN" altLang="en-US" sz="700">
                <a:solidFill>
                  <a:srgbClr val="000000"/>
                </a:solidFill>
                <a:latin typeface="Verdana" panose="020B0604030504040204" pitchFamily="34" charset="0"/>
                <a:ea typeface="宋体" panose="02010600030101010101" pitchFamily="2" charset="-122"/>
              </a:rPr>
              <a:t> </a:t>
            </a:r>
            <a:endParaRPr lang="zh-CN" altLang="en-US" sz="1800">
              <a:solidFill>
                <a:schemeClr val="tx1"/>
              </a:solidFill>
              <a:ea typeface="宋体" panose="02010600030101010101" pitchFamily="2" charset="-122"/>
            </a:endParaRPr>
          </a:p>
        </p:txBody>
      </p:sp>
      <p:sp>
        <p:nvSpPr>
          <p:cNvPr id="3073555" name="Freeform 531">
            <a:extLst>
              <a:ext uri="{FF2B5EF4-FFF2-40B4-BE49-F238E27FC236}">
                <a16:creationId xmlns:a16="http://schemas.microsoft.com/office/drawing/2014/main" id="{F754E873-93AA-C5B8-120E-FF17AF033DB2}"/>
              </a:ext>
            </a:extLst>
          </p:cNvPr>
          <p:cNvSpPr>
            <a:spLocks/>
          </p:cNvSpPr>
          <p:nvPr/>
        </p:nvSpPr>
        <p:spPr bwMode="auto">
          <a:xfrm>
            <a:off x="2773363" y="3216275"/>
            <a:ext cx="146050" cy="155575"/>
          </a:xfrm>
          <a:custGeom>
            <a:avLst/>
            <a:gdLst>
              <a:gd name="T0" fmla="*/ 40 w 366"/>
              <a:gd name="T1" fmla="*/ 70 h 393"/>
              <a:gd name="T2" fmla="*/ 19 w 366"/>
              <a:gd name="T3" fmla="*/ 102 h 393"/>
              <a:gd name="T4" fmla="*/ 5 w 366"/>
              <a:gd name="T5" fmla="*/ 138 h 393"/>
              <a:gd name="T6" fmla="*/ 1 w 366"/>
              <a:gd name="T7" fmla="*/ 197 h 393"/>
              <a:gd name="T8" fmla="*/ 2 w 366"/>
              <a:gd name="T9" fmla="*/ 235 h 393"/>
              <a:gd name="T10" fmla="*/ 12 w 366"/>
              <a:gd name="T11" fmla="*/ 271 h 393"/>
              <a:gd name="T12" fmla="*/ 29 w 366"/>
              <a:gd name="T13" fmla="*/ 304 h 393"/>
              <a:gd name="T14" fmla="*/ 53 w 366"/>
              <a:gd name="T15" fmla="*/ 335 h 393"/>
              <a:gd name="T16" fmla="*/ 81 w 366"/>
              <a:gd name="T17" fmla="*/ 359 h 393"/>
              <a:gd name="T18" fmla="*/ 111 w 366"/>
              <a:gd name="T19" fmla="*/ 378 h 393"/>
              <a:gd name="T20" fmla="*/ 146 w 366"/>
              <a:gd name="T21" fmla="*/ 388 h 393"/>
              <a:gd name="T22" fmla="*/ 183 w 366"/>
              <a:gd name="T23" fmla="*/ 393 h 393"/>
              <a:gd name="T24" fmla="*/ 184 w 366"/>
              <a:gd name="T25" fmla="*/ 392 h 393"/>
              <a:gd name="T26" fmla="*/ 191 w 366"/>
              <a:gd name="T27" fmla="*/ 392 h 393"/>
              <a:gd name="T28" fmla="*/ 219 w 366"/>
              <a:gd name="T29" fmla="*/ 388 h 393"/>
              <a:gd name="T30" fmla="*/ 239 w 366"/>
              <a:gd name="T31" fmla="*/ 382 h 393"/>
              <a:gd name="T32" fmla="*/ 253 w 366"/>
              <a:gd name="T33" fmla="*/ 378 h 393"/>
              <a:gd name="T34" fmla="*/ 274 w 366"/>
              <a:gd name="T35" fmla="*/ 363 h 393"/>
              <a:gd name="T36" fmla="*/ 296 w 366"/>
              <a:gd name="T37" fmla="*/ 347 h 393"/>
              <a:gd name="T38" fmla="*/ 304 w 366"/>
              <a:gd name="T39" fmla="*/ 338 h 393"/>
              <a:gd name="T40" fmla="*/ 311 w 366"/>
              <a:gd name="T41" fmla="*/ 335 h 393"/>
              <a:gd name="T42" fmla="*/ 334 w 366"/>
              <a:gd name="T43" fmla="*/ 304 h 393"/>
              <a:gd name="T44" fmla="*/ 351 w 366"/>
              <a:gd name="T45" fmla="*/ 271 h 393"/>
              <a:gd name="T46" fmla="*/ 361 w 366"/>
              <a:gd name="T47" fmla="*/ 235 h 393"/>
              <a:gd name="T48" fmla="*/ 366 w 366"/>
              <a:gd name="T49" fmla="*/ 197 h 393"/>
              <a:gd name="T50" fmla="*/ 356 w 366"/>
              <a:gd name="T51" fmla="*/ 138 h 393"/>
              <a:gd name="T52" fmla="*/ 343 w 366"/>
              <a:gd name="T53" fmla="*/ 102 h 393"/>
              <a:gd name="T54" fmla="*/ 322 w 366"/>
              <a:gd name="T55" fmla="*/ 70 h 393"/>
              <a:gd name="T56" fmla="*/ 296 w 366"/>
              <a:gd name="T57" fmla="*/ 42 h 393"/>
              <a:gd name="T58" fmla="*/ 268 w 366"/>
              <a:gd name="T59" fmla="*/ 20 h 393"/>
              <a:gd name="T60" fmla="*/ 236 w 366"/>
              <a:gd name="T61" fmla="*/ 7 h 393"/>
              <a:gd name="T62" fmla="*/ 200 w 366"/>
              <a:gd name="T63" fmla="*/ 0 h 393"/>
              <a:gd name="T64" fmla="*/ 146 w 366"/>
              <a:gd name="T65" fmla="*/ 3 h 393"/>
              <a:gd name="T66" fmla="*/ 111 w 366"/>
              <a:gd name="T67" fmla="*/ 14 h 393"/>
              <a:gd name="T68" fmla="*/ 66 w 366"/>
              <a:gd name="T69" fmla="*/ 42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6" h="393">
                <a:moveTo>
                  <a:pt x="53" y="57"/>
                </a:moveTo>
                <a:lnTo>
                  <a:pt x="40" y="70"/>
                </a:lnTo>
                <a:lnTo>
                  <a:pt x="29" y="86"/>
                </a:lnTo>
                <a:lnTo>
                  <a:pt x="19" y="102"/>
                </a:lnTo>
                <a:lnTo>
                  <a:pt x="12" y="121"/>
                </a:lnTo>
                <a:lnTo>
                  <a:pt x="5" y="138"/>
                </a:lnTo>
                <a:lnTo>
                  <a:pt x="2" y="157"/>
                </a:lnTo>
                <a:lnTo>
                  <a:pt x="1" y="197"/>
                </a:lnTo>
                <a:lnTo>
                  <a:pt x="0" y="215"/>
                </a:lnTo>
                <a:lnTo>
                  <a:pt x="2" y="235"/>
                </a:lnTo>
                <a:lnTo>
                  <a:pt x="5" y="253"/>
                </a:lnTo>
                <a:lnTo>
                  <a:pt x="12" y="271"/>
                </a:lnTo>
                <a:lnTo>
                  <a:pt x="19" y="287"/>
                </a:lnTo>
                <a:lnTo>
                  <a:pt x="29" y="304"/>
                </a:lnTo>
                <a:lnTo>
                  <a:pt x="40" y="319"/>
                </a:lnTo>
                <a:lnTo>
                  <a:pt x="53" y="335"/>
                </a:lnTo>
                <a:lnTo>
                  <a:pt x="66" y="347"/>
                </a:lnTo>
                <a:lnTo>
                  <a:pt x="81" y="359"/>
                </a:lnTo>
                <a:lnTo>
                  <a:pt x="95" y="369"/>
                </a:lnTo>
                <a:lnTo>
                  <a:pt x="111" y="378"/>
                </a:lnTo>
                <a:lnTo>
                  <a:pt x="127" y="384"/>
                </a:lnTo>
                <a:lnTo>
                  <a:pt x="146" y="388"/>
                </a:lnTo>
                <a:lnTo>
                  <a:pt x="164" y="392"/>
                </a:lnTo>
                <a:lnTo>
                  <a:pt x="183" y="393"/>
                </a:lnTo>
                <a:lnTo>
                  <a:pt x="183" y="392"/>
                </a:lnTo>
                <a:lnTo>
                  <a:pt x="184" y="392"/>
                </a:lnTo>
                <a:lnTo>
                  <a:pt x="187" y="392"/>
                </a:lnTo>
                <a:lnTo>
                  <a:pt x="191" y="392"/>
                </a:lnTo>
                <a:lnTo>
                  <a:pt x="200" y="392"/>
                </a:lnTo>
                <a:lnTo>
                  <a:pt x="219" y="388"/>
                </a:lnTo>
                <a:lnTo>
                  <a:pt x="236" y="384"/>
                </a:lnTo>
                <a:lnTo>
                  <a:pt x="239" y="382"/>
                </a:lnTo>
                <a:lnTo>
                  <a:pt x="244" y="380"/>
                </a:lnTo>
                <a:lnTo>
                  <a:pt x="253" y="378"/>
                </a:lnTo>
                <a:lnTo>
                  <a:pt x="268" y="369"/>
                </a:lnTo>
                <a:lnTo>
                  <a:pt x="274" y="363"/>
                </a:lnTo>
                <a:lnTo>
                  <a:pt x="282" y="359"/>
                </a:lnTo>
                <a:lnTo>
                  <a:pt x="296" y="347"/>
                </a:lnTo>
                <a:lnTo>
                  <a:pt x="303" y="341"/>
                </a:lnTo>
                <a:lnTo>
                  <a:pt x="304" y="338"/>
                </a:lnTo>
                <a:lnTo>
                  <a:pt x="306" y="337"/>
                </a:lnTo>
                <a:lnTo>
                  <a:pt x="311" y="335"/>
                </a:lnTo>
                <a:lnTo>
                  <a:pt x="322" y="319"/>
                </a:lnTo>
                <a:lnTo>
                  <a:pt x="334" y="304"/>
                </a:lnTo>
                <a:lnTo>
                  <a:pt x="343" y="287"/>
                </a:lnTo>
                <a:lnTo>
                  <a:pt x="351" y="271"/>
                </a:lnTo>
                <a:lnTo>
                  <a:pt x="356" y="253"/>
                </a:lnTo>
                <a:lnTo>
                  <a:pt x="361" y="235"/>
                </a:lnTo>
                <a:lnTo>
                  <a:pt x="363" y="215"/>
                </a:lnTo>
                <a:lnTo>
                  <a:pt x="366" y="197"/>
                </a:lnTo>
                <a:lnTo>
                  <a:pt x="361" y="157"/>
                </a:lnTo>
                <a:lnTo>
                  <a:pt x="356" y="138"/>
                </a:lnTo>
                <a:lnTo>
                  <a:pt x="351" y="121"/>
                </a:lnTo>
                <a:lnTo>
                  <a:pt x="343" y="102"/>
                </a:lnTo>
                <a:lnTo>
                  <a:pt x="334" y="86"/>
                </a:lnTo>
                <a:lnTo>
                  <a:pt x="322" y="70"/>
                </a:lnTo>
                <a:lnTo>
                  <a:pt x="311" y="57"/>
                </a:lnTo>
                <a:lnTo>
                  <a:pt x="296" y="42"/>
                </a:lnTo>
                <a:lnTo>
                  <a:pt x="282" y="31"/>
                </a:lnTo>
                <a:lnTo>
                  <a:pt x="268" y="20"/>
                </a:lnTo>
                <a:lnTo>
                  <a:pt x="253" y="14"/>
                </a:lnTo>
                <a:lnTo>
                  <a:pt x="236" y="7"/>
                </a:lnTo>
                <a:lnTo>
                  <a:pt x="219" y="3"/>
                </a:lnTo>
                <a:lnTo>
                  <a:pt x="200" y="0"/>
                </a:lnTo>
                <a:lnTo>
                  <a:pt x="183" y="0"/>
                </a:lnTo>
                <a:lnTo>
                  <a:pt x="146" y="3"/>
                </a:lnTo>
                <a:lnTo>
                  <a:pt x="127" y="7"/>
                </a:lnTo>
                <a:lnTo>
                  <a:pt x="111" y="14"/>
                </a:lnTo>
                <a:lnTo>
                  <a:pt x="81" y="31"/>
                </a:lnTo>
                <a:lnTo>
                  <a:pt x="66" y="42"/>
                </a:lnTo>
                <a:lnTo>
                  <a:pt x="53" y="57"/>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556" name="Rectangle 532">
            <a:extLst>
              <a:ext uri="{FF2B5EF4-FFF2-40B4-BE49-F238E27FC236}">
                <a16:creationId xmlns:a16="http://schemas.microsoft.com/office/drawing/2014/main" id="{516BF7D8-FAC1-63F6-5754-BAA0ABA52DBD}"/>
              </a:ext>
            </a:extLst>
          </p:cNvPr>
          <p:cNvSpPr>
            <a:spLocks noChangeArrowheads="1"/>
          </p:cNvSpPr>
          <p:nvPr/>
        </p:nvSpPr>
        <p:spPr bwMode="auto">
          <a:xfrm>
            <a:off x="2813050" y="3238500"/>
            <a:ext cx="6350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b="1">
                <a:solidFill>
                  <a:srgbClr val="000000"/>
                </a:solidFill>
                <a:latin typeface="Verdana" panose="020B0604030504040204" pitchFamily="34" charset="0"/>
                <a:ea typeface="宋体" panose="02010600030101010101" pitchFamily="2" charset="-122"/>
              </a:rPr>
              <a:t>1</a:t>
            </a:r>
            <a:endParaRPr lang="en-US" altLang="zh-CN" sz="1800">
              <a:solidFill>
                <a:schemeClr val="tx1"/>
              </a:solidFill>
              <a:ea typeface="宋体" panose="02010600030101010101" pitchFamily="2" charset="-122"/>
            </a:endParaRPr>
          </a:p>
        </p:txBody>
      </p:sp>
      <p:sp>
        <p:nvSpPr>
          <p:cNvPr id="3073557" name="Rectangle 533">
            <a:extLst>
              <a:ext uri="{FF2B5EF4-FFF2-40B4-BE49-F238E27FC236}">
                <a16:creationId xmlns:a16="http://schemas.microsoft.com/office/drawing/2014/main" id="{0AA55A63-7333-1AA6-3243-482348D204BD}"/>
              </a:ext>
            </a:extLst>
          </p:cNvPr>
          <p:cNvSpPr>
            <a:spLocks noChangeArrowheads="1"/>
          </p:cNvSpPr>
          <p:nvPr/>
        </p:nvSpPr>
        <p:spPr bwMode="auto">
          <a:xfrm>
            <a:off x="2876550" y="3238500"/>
            <a:ext cx="3175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zh-CN" altLang="en-US" sz="700">
                <a:solidFill>
                  <a:srgbClr val="000000"/>
                </a:solidFill>
                <a:latin typeface="Verdana" panose="020B0604030504040204" pitchFamily="34" charset="0"/>
                <a:ea typeface="宋体" panose="02010600030101010101" pitchFamily="2" charset="-122"/>
              </a:rPr>
              <a:t> </a:t>
            </a:r>
            <a:endParaRPr lang="zh-CN" altLang="en-US" sz="1800">
              <a:solidFill>
                <a:schemeClr val="tx1"/>
              </a:solidFill>
              <a:ea typeface="宋体" panose="02010600030101010101" pitchFamily="2" charset="-122"/>
            </a:endParaRPr>
          </a:p>
        </p:txBody>
      </p:sp>
      <p:sp>
        <p:nvSpPr>
          <p:cNvPr id="3073558" name="Freeform 534">
            <a:extLst>
              <a:ext uri="{FF2B5EF4-FFF2-40B4-BE49-F238E27FC236}">
                <a16:creationId xmlns:a16="http://schemas.microsoft.com/office/drawing/2014/main" id="{5A92437A-4DD9-67DF-F969-E059101FF598}"/>
              </a:ext>
            </a:extLst>
          </p:cNvPr>
          <p:cNvSpPr>
            <a:spLocks/>
          </p:cNvSpPr>
          <p:nvPr/>
        </p:nvSpPr>
        <p:spPr bwMode="auto">
          <a:xfrm>
            <a:off x="1912938" y="3224213"/>
            <a:ext cx="144462" cy="157162"/>
          </a:xfrm>
          <a:custGeom>
            <a:avLst/>
            <a:gdLst>
              <a:gd name="T0" fmla="*/ 40 w 366"/>
              <a:gd name="T1" fmla="*/ 70 h 393"/>
              <a:gd name="T2" fmla="*/ 19 w 366"/>
              <a:gd name="T3" fmla="*/ 102 h 393"/>
              <a:gd name="T4" fmla="*/ 6 w 366"/>
              <a:gd name="T5" fmla="*/ 137 h 393"/>
              <a:gd name="T6" fmla="*/ 1 w 366"/>
              <a:gd name="T7" fmla="*/ 197 h 393"/>
              <a:gd name="T8" fmla="*/ 2 w 366"/>
              <a:gd name="T9" fmla="*/ 234 h 393"/>
              <a:gd name="T10" fmla="*/ 13 w 366"/>
              <a:gd name="T11" fmla="*/ 271 h 393"/>
              <a:gd name="T12" fmla="*/ 30 w 366"/>
              <a:gd name="T13" fmla="*/ 304 h 393"/>
              <a:gd name="T14" fmla="*/ 54 w 366"/>
              <a:gd name="T15" fmla="*/ 335 h 393"/>
              <a:gd name="T16" fmla="*/ 81 w 366"/>
              <a:gd name="T17" fmla="*/ 359 h 393"/>
              <a:gd name="T18" fmla="*/ 112 w 366"/>
              <a:gd name="T19" fmla="*/ 378 h 393"/>
              <a:gd name="T20" fmla="*/ 146 w 366"/>
              <a:gd name="T21" fmla="*/ 388 h 393"/>
              <a:gd name="T22" fmla="*/ 184 w 366"/>
              <a:gd name="T23" fmla="*/ 393 h 393"/>
              <a:gd name="T24" fmla="*/ 185 w 366"/>
              <a:gd name="T25" fmla="*/ 392 h 393"/>
              <a:gd name="T26" fmla="*/ 192 w 366"/>
              <a:gd name="T27" fmla="*/ 392 h 393"/>
              <a:gd name="T28" fmla="*/ 219 w 366"/>
              <a:gd name="T29" fmla="*/ 388 h 393"/>
              <a:gd name="T30" fmla="*/ 239 w 366"/>
              <a:gd name="T31" fmla="*/ 381 h 393"/>
              <a:gd name="T32" fmla="*/ 253 w 366"/>
              <a:gd name="T33" fmla="*/ 378 h 393"/>
              <a:gd name="T34" fmla="*/ 275 w 366"/>
              <a:gd name="T35" fmla="*/ 363 h 393"/>
              <a:gd name="T36" fmla="*/ 296 w 366"/>
              <a:gd name="T37" fmla="*/ 347 h 393"/>
              <a:gd name="T38" fmla="*/ 304 w 366"/>
              <a:gd name="T39" fmla="*/ 338 h 393"/>
              <a:gd name="T40" fmla="*/ 311 w 366"/>
              <a:gd name="T41" fmla="*/ 335 h 393"/>
              <a:gd name="T42" fmla="*/ 334 w 366"/>
              <a:gd name="T43" fmla="*/ 304 h 393"/>
              <a:gd name="T44" fmla="*/ 351 w 366"/>
              <a:gd name="T45" fmla="*/ 271 h 393"/>
              <a:gd name="T46" fmla="*/ 361 w 366"/>
              <a:gd name="T47" fmla="*/ 234 h 393"/>
              <a:gd name="T48" fmla="*/ 366 w 366"/>
              <a:gd name="T49" fmla="*/ 197 h 393"/>
              <a:gd name="T50" fmla="*/ 357 w 366"/>
              <a:gd name="T51" fmla="*/ 137 h 393"/>
              <a:gd name="T52" fmla="*/ 343 w 366"/>
              <a:gd name="T53" fmla="*/ 102 h 393"/>
              <a:gd name="T54" fmla="*/ 323 w 366"/>
              <a:gd name="T55" fmla="*/ 70 h 393"/>
              <a:gd name="T56" fmla="*/ 296 w 366"/>
              <a:gd name="T57" fmla="*/ 42 h 393"/>
              <a:gd name="T58" fmla="*/ 268 w 366"/>
              <a:gd name="T59" fmla="*/ 20 h 393"/>
              <a:gd name="T60" fmla="*/ 236 w 366"/>
              <a:gd name="T61" fmla="*/ 6 h 393"/>
              <a:gd name="T62" fmla="*/ 201 w 366"/>
              <a:gd name="T63" fmla="*/ 0 h 393"/>
              <a:gd name="T64" fmla="*/ 146 w 366"/>
              <a:gd name="T65" fmla="*/ 3 h 393"/>
              <a:gd name="T66" fmla="*/ 112 w 366"/>
              <a:gd name="T67" fmla="*/ 13 h 393"/>
              <a:gd name="T68" fmla="*/ 66 w 366"/>
              <a:gd name="T69" fmla="*/ 42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6" h="393">
                <a:moveTo>
                  <a:pt x="54" y="57"/>
                </a:moveTo>
                <a:lnTo>
                  <a:pt x="40" y="70"/>
                </a:lnTo>
                <a:lnTo>
                  <a:pt x="30" y="86"/>
                </a:lnTo>
                <a:lnTo>
                  <a:pt x="19" y="102"/>
                </a:lnTo>
                <a:lnTo>
                  <a:pt x="13" y="120"/>
                </a:lnTo>
                <a:lnTo>
                  <a:pt x="6" y="137"/>
                </a:lnTo>
                <a:lnTo>
                  <a:pt x="2" y="157"/>
                </a:lnTo>
                <a:lnTo>
                  <a:pt x="1" y="197"/>
                </a:lnTo>
                <a:lnTo>
                  <a:pt x="0" y="215"/>
                </a:lnTo>
                <a:lnTo>
                  <a:pt x="2" y="234"/>
                </a:lnTo>
                <a:lnTo>
                  <a:pt x="6" y="253"/>
                </a:lnTo>
                <a:lnTo>
                  <a:pt x="13" y="271"/>
                </a:lnTo>
                <a:lnTo>
                  <a:pt x="19" y="287"/>
                </a:lnTo>
                <a:lnTo>
                  <a:pt x="30" y="304"/>
                </a:lnTo>
                <a:lnTo>
                  <a:pt x="40" y="319"/>
                </a:lnTo>
                <a:lnTo>
                  <a:pt x="54" y="335"/>
                </a:lnTo>
                <a:lnTo>
                  <a:pt x="66" y="347"/>
                </a:lnTo>
                <a:lnTo>
                  <a:pt x="81" y="359"/>
                </a:lnTo>
                <a:lnTo>
                  <a:pt x="96" y="369"/>
                </a:lnTo>
                <a:lnTo>
                  <a:pt x="112" y="378"/>
                </a:lnTo>
                <a:lnTo>
                  <a:pt x="128" y="384"/>
                </a:lnTo>
                <a:lnTo>
                  <a:pt x="146" y="388"/>
                </a:lnTo>
                <a:lnTo>
                  <a:pt x="164" y="392"/>
                </a:lnTo>
                <a:lnTo>
                  <a:pt x="184" y="393"/>
                </a:lnTo>
                <a:lnTo>
                  <a:pt x="184" y="392"/>
                </a:lnTo>
                <a:lnTo>
                  <a:pt x="185" y="392"/>
                </a:lnTo>
                <a:lnTo>
                  <a:pt x="187" y="392"/>
                </a:lnTo>
                <a:lnTo>
                  <a:pt x="192" y="392"/>
                </a:lnTo>
                <a:lnTo>
                  <a:pt x="201" y="392"/>
                </a:lnTo>
                <a:lnTo>
                  <a:pt x="219" y="388"/>
                </a:lnTo>
                <a:lnTo>
                  <a:pt x="236" y="384"/>
                </a:lnTo>
                <a:lnTo>
                  <a:pt x="239" y="381"/>
                </a:lnTo>
                <a:lnTo>
                  <a:pt x="244" y="380"/>
                </a:lnTo>
                <a:lnTo>
                  <a:pt x="253" y="378"/>
                </a:lnTo>
                <a:lnTo>
                  <a:pt x="268" y="369"/>
                </a:lnTo>
                <a:lnTo>
                  <a:pt x="275" y="363"/>
                </a:lnTo>
                <a:lnTo>
                  <a:pt x="283" y="359"/>
                </a:lnTo>
                <a:lnTo>
                  <a:pt x="296" y="347"/>
                </a:lnTo>
                <a:lnTo>
                  <a:pt x="303" y="340"/>
                </a:lnTo>
                <a:lnTo>
                  <a:pt x="304" y="338"/>
                </a:lnTo>
                <a:lnTo>
                  <a:pt x="307" y="337"/>
                </a:lnTo>
                <a:lnTo>
                  <a:pt x="311" y="335"/>
                </a:lnTo>
                <a:lnTo>
                  <a:pt x="323" y="319"/>
                </a:lnTo>
                <a:lnTo>
                  <a:pt x="334" y="304"/>
                </a:lnTo>
                <a:lnTo>
                  <a:pt x="343" y="287"/>
                </a:lnTo>
                <a:lnTo>
                  <a:pt x="351" y="271"/>
                </a:lnTo>
                <a:lnTo>
                  <a:pt x="357" y="253"/>
                </a:lnTo>
                <a:lnTo>
                  <a:pt x="361" y="234"/>
                </a:lnTo>
                <a:lnTo>
                  <a:pt x="364" y="215"/>
                </a:lnTo>
                <a:lnTo>
                  <a:pt x="366" y="197"/>
                </a:lnTo>
                <a:lnTo>
                  <a:pt x="361" y="157"/>
                </a:lnTo>
                <a:lnTo>
                  <a:pt x="357" y="137"/>
                </a:lnTo>
                <a:lnTo>
                  <a:pt x="351" y="120"/>
                </a:lnTo>
                <a:lnTo>
                  <a:pt x="343" y="102"/>
                </a:lnTo>
                <a:lnTo>
                  <a:pt x="334" y="86"/>
                </a:lnTo>
                <a:lnTo>
                  <a:pt x="323" y="70"/>
                </a:lnTo>
                <a:lnTo>
                  <a:pt x="311" y="57"/>
                </a:lnTo>
                <a:lnTo>
                  <a:pt x="296" y="42"/>
                </a:lnTo>
                <a:lnTo>
                  <a:pt x="283" y="30"/>
                </a:lnTo>
                <a:lnTo>
                  <a:pt x="268" y="20"/>
                </a:lnTo>
                <a:lnTo>
                  <a:pt x="253" y="13"/>
                </a:lnTo>
                <a:lnTo>
                  <a:pt x="236" y="6"/>
                </a:lnTo>
                <a:lnTo>
                  <a:pt x="219" y="3"/>
                </a:lnTo>
                <a:lnTo>
                  <a:pt x="201" y="0"/>
                </a:lnTo>
                <a:lnTo>
                  <a:pt x="184" y="0"/>
                </a:lnTo>
                <a:lnTo>
                  <a:pt x="146" y="3"/>
                </a:lnTo>
                <a:lnTo>
                  <a:pt x="128" y="6"/>
                </a:lnTo>
                <a:lnTo>
                  <a:pt x="112" y="13"/>
                </a:lnTo>
                <a:lnTo>
                  <a:pt x="81" y="30"/>
                </a:lnTo>
                <a:lnTo>
                  <a:pt x="66" y="42"/>
                </a:lnTo>
                <a:lnTo>
                  <a:pt x="54" y="57"/>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559" name="Rectangle 535">
            <a:extLst>
              <a:ext uri="{FF2B5EF4-FFF2-40B4-BE49-F238E27FC236}">
                <a16:creationId xmlns:a16="http://schemas.microsoft.com/office/drawing/2014/main" id="{5B3884C0-D37B-2355-2C0B-347D520DBE98}"/>
              </a:ext>
            </a:extLst>
          </p:cNvPr>
          <p:cNvSpPr>
            <a:spLocks noChangeArrowheads="1"/>
          </p:cNvSpPr>
          <p:nvPr/>
        </p:nvSpPr>
        <p:spPr bwMode="auto">
          <a:xfrm>
            <a:off x="1952625" y="3244850"/>
            <a:ext cx="6350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700" b="1">
                <a:solidFill>
                  <a:srgbClr val="000000"/>
                </a:solidFill>
                <a:latin typeface="Verdana" panose="020B0604030504040204" pitchFamily="34" charset="0"/>
                <a:ea typeface="宋体" panose="02010600030101010101" pitchFamily="2" charset="-122"/>
              </a:rPr>
              <a:t>1</a:t>
            </a:r>
            <a:endParaRPr lang="en-US" altLang="zh-CN" sz="1800">
              <a:solidFill>
                <a:schemeClr val="tx1"/>
              </a:solidFill>
              <a:ea typeface="宋体" panose="02010600030101010101" pitchFamily="2" charset="-122"/>
            </a:endParaRPr>
          </a:p>
        </p:txBody>
      </p:sp>
      <p:sp>
        <p:nvSpPr>
          <p:cNvPr id="3073560" name="Rectangle 536">
            <a:extLst>
              <a:ext uri="{FF2B5EF4-FFF2-40B4-BE49-F238E27FC236}">
                <a16:creationId xmlns:a16="http://schemas.microsoft.com/office/drawing/2014/main" id="{9851AA4B-1878-596A-25BC-264402FB00DB}"/>
              </a:ext>
            </a:extLst>
          </p:cNvPr>
          <p:cNvSpPr>
            <a:spLocks noChangeArrowheads="1"/>
          </p:cNvSpPr>
          <p:nvPr/>
        </p:nvSpPr>
        <p:spPr bwMode="auto">
          <a:xfrm>
            <a:off x="2016125" y="3222625"/>
            <a:ext cx="31750" cy="10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zh-CN" altLang="en-US" sz="700">
                <a:solidFill>
                  <a:srgbClr val="000000"/>
                </a:solidFill>
                <a:latin typeface="Verdana" panose="020B0604030504040204" pitchFamily="34" charset="0"/>
                <a:ea typeface="宋体" panose="02010600030101010101" pitchFamily="2" charset="-122"/>
              </a:rPr>
              <a:t> </a:t>
            </a:r>
            <a:endParaRPr lang="zh-CN" altLang="en-US" sz="1800">
              <a:solidFill>
                <a:schemeClr val="tx1"/>
              </a:solidFill>
              <a:ea typeface="宋体" panose="02010600030101010101" pitchFamily="2" charset="-122"/>
            </a:endParaRPr>
          </a:p>
        </p:txBody>
      </p:sp>
      <p:grpSp>
        <p:nvGrpSpPr>
          <p:cNvPr id="3073561" name="Group 537">
            <a:extLst>
              <a:ext uri="{FF2B5EF4-FFF2-40B4-BE49-F238E27FC236}">
                <a16:creationId xmlns:a16="http://schemas.microsoft.com/office/drawing/2014/main" id="{B934A845-4D45-FF5A-EB6D-F1A0B2818397}"/>
              </a:ext>
            </a:extLst>
          </p:cNvPr>
          <p:cNvGrpSpPr>
            <a:grpSpLocks/>
          </p:cNvGrpSpPr>
          <p:nvPr/>
        </p:nvGrpSpPr>
        <p:grpSpPr bwMode="auto">
          <a:xfrm>
            <a:off x="7813675" y="2984500"/>
            <a:ext cx="998538" cy="1571625"/>
            <a:chOff x="4976" y="1418"/>
            <a:chExt cx="629" cy="990"/>
          </a:xfrm>
        </p:grpSpPr>
        <p:sp>
          <p:nvSpPr>
            <p:cNvPr id="3073562" name="Line 538">
              <a:extLst>
                <a:ext uri="{FF2B5EF4-FFF2-40B4-BE49-F238E27FC236}">
                  <a16:creationId xmlns:a16="http://schemas.microsoft.com/office/drawing/2014/main" id="{183A920E-BA56-53BC-24CD-EEDBBD69346C}"/>
                </a:ext>
              </a:extLst>
            </p:cNvPr>
            <p:cNvSpPr>
              <a:spLocks noChangeShapeType="1"/>
            </p:cNvSpPr>
            <p:nvPr/>
          </p:nvSpPr>
          <p:spPr bwMode="auto">
            <a:xfrm>
              <a:off x="5304" y="1994"/>
              <a:ext cx="0" cy="29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73563" name="Freeform 539">
              <a:extLst>
                <a:ext uri="{FF2B5EF4-FFF2-40B4-BE49-F238E27FC236}">
                  <a16:creationId xmlns:a16="http://schemas.microsoft.com/office/drawing/2014/main" id="{849C305A-0CD1-6D61-98E7-FB6616CC6AD7}"/>
                </a:ext>
              </a:extLst>
            </p:cNvPr>
            <p:cNvSpPr>
              <a:spLocks/>
            </p:cNvSpPr>
            <p:nvPr/>
          </p:nvSpPr>
          <p:spPr bwMode="auto">
            <a:xfrm>
              <a:off x="5266" y="1944"/>
              <a:ext cx="79" cy="89"/>
            </a:xfrm>
            <a:custGeom>
              <a:avLst/>
              <a:gdLst>
                <a:gd name="T0" fmla="*/ 157 w 313"/>
                <a:gd name="T1" fmla="*/ 280 h 353"/>
                <a:gd name="T2" fmla="*/ 313 w 313"/>
                <a:gd name="T3" fmla="*/ 353 h 353"/>
                <a:gd name="T4" fmla="*/ 157 w 313"/>
                <a:gd name="T5" fmla="*/ 0 h 353"/>
                <a:gd name="T6" fmla="*/ 0 w 313"/>
                <a:gd name="T7" fmla="*/ 353 h 353"/>
                <a:gd name="T8" fmla="*/ 157 w 313"/>
                <a:gd name="T9" fmla="*/ 280 h 353"/>
              </a:gdLst>
              <a:ahLst/>
              <a:cxnLst>
                <a:cxn ang="0">
                  <a:pos x="T0" y="T1"/>
                </a:cxn>
                <a:cxn ang="0">
                  <a:pos x="T2" y="T3"/>
                </a:cxn>
                <a:cxn ang="0">
                  <a:pos x="T4" y="T5"/>
                </a:cxn>
                <a:cxn ang="0">
                  <a:pos x="T6" y="T7"/>
                </a:cxn>
                <a:cxn ang="0">
                  <a:pos x="T8" y="T9"/>
                </a:cxn>
              </a:cxnLst>
              <a:rect l="0" t="0" r="r" b="b"/>
              <a:pathLst>
                <a:path w="313" h="353">
                  <a:moveTo>
                    <a:pt x="157" y="280"/>
                  </a:moveTo>
                  <a:lnTo>
                    <a:pt x="313" y="353"/>
                  </a:lnTo>
                  <a:lnTo>
                    <a:pt x="157" y="0"/>
                  </a:lnTo>
                  <a:lnTo>
                    <a:pt x="0" y="353"/>
                  </a:lnTo>
                  <a:lnTo>
                    <a:pt x="157" y="2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3073564" name="Rectangle 540">
              <a:extLst>
                <a:ext uri="{FF2B5EF4-FFF2-40B4-BE49-F238E27FC236}">
                  <a16:creationId xmlns:a16="http://schemas.microsoft.com/office/drawing/2014/main" id="{8D5D2EDA-0653-3378-1AE1-D47AD6F6A41C}"/>
                </a:ext>
              </a:extLst>
            </p:cNvPr>
            <p:cNvSpPr>
              <a:spLocks noChangeArrowheads="1"/>
            </p:cNvSpPr>
            <p:nvPr/>
          </p:nvSpPr>
          <p:spPr bwMode="auto">
            <a:xfrm>
              <a:off x="5064" y="2322"/>
              <a:ext cx="541"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spcBef>
                  <a:spcPct val="0"/>
                </a:spcBef>
                <a:buClrTx/>
                <a:buFontTx/>
                <a:buNone/>
              </a:pPr>
              <a:r>
                <a:rPr lang="en-US" altLang="zh-CN" sz="900" b="1">
                  <a:solidFill>
                    <a:srgbClr val="000000"/>
                  </a:solidFill>
                  <a:latin typeface="Verdana" panose="020B0604030504040204" pitchFamily="34" charset="0"/>
                  <a:ea typeface="宋体" panose="02010600030101010101" pitchFamily="2" charset="-122"/>
                </a:rPr>
                <a:t>Unconfigured</a:t>
              </a:r>
              <a:endParaRPr lang="en-US" altLang="zh-CN" sz="1800">
                <a:solidFill>
                  <a:schemeClr val="tx1"/>
                </a:solidFill>
                <a:ea typeface="宋体" panose="02010600030101010101" pitchFamily="2" charset="-122"/>
              </a:endParaRPr>
            </a:p>
          </p:txBody>
        </p:sp>
        <p:grpSp>
          <p:nvGrpSpPr>
            <p:cNvPr id="3073565" name="Group 541">
              <a:extLst>
                <a:ext uri="{FF2B5EF4-FFF2-40B4-BE49-F238E27FC236}">
                  <a16:creationId xmlns:a16="http://schemas.microsoft.com/office/drawing/2014/main" id="{4F305AC7-CBD9-338D-4A1D-01C17C2C395F}"/>
                </a:ext>
              </a:extLst>
            </p:cNvPr>
            <p:cNvGrpSpPr>
              <a:grpSpLocks/>
            </p:cNvGrpSpPr>
            <p:nvPr/>
          </p:nvGrpSpPr>
          <p:grpSpPr bwMode="auto">
            <a:xfrm>
              <a:off x="4976" y="1418"/>
              <a:ext cx="571" cy="543"/>
              <a:chOff x="4976" y="1418"/>
              <a:chExt cx="571" cy="543"/>
            </a:xfrm>
          </p:grpSpPr>
          <p:pic>
            <p:nvPicPr>
              <p:cNvPr id="3073566" name="Picture 542">
                <a:extLst>
                  <a:ext uri="{FF2B5EF4-FFF2-40B4-BE49-F238E27FC236}">
                    <a16:creationId xmlns:a16="http://schemas.microsoft.com/office/drawing/2014/main" id="{79979E8A-F586-E415-55D7-8A04D57B4A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6" y="1418"/>
                <a:ext cx="496" cy="454"/>
              </a:xfrm>
              <a:prstGeom prst="rect">
                <a:avLst/>
              </a:prstGeom>
              <a:noFill/>
              <a:extLst>
                <a:ext uri="{909E8E84-426E-40DD-AFC4-6F175D3DCCD1}">
                  <a14:hiddenFill xmlns:a14="http://schemas.microsoft.com/office/drawing/2010/main">
                    <a:solidFill>
                      <a:srgbClr val="FFFFFF"/>
                    </a:solidFill>
                  </a14:hiddenFill>
                </a:ext>
              </a:extLst>
            </p:spPr>
          </p:pic>
          <p:pic>
            <p:nvPicPr>
              <p:cNvPr id="3073567" name="Picture 543">
                <a:extLst>
                  <a:ext uri="{FF2B5EF4-FFF2-40B4-BE49-F238E27FC236}">
                    <a16:creationId xmlns:a16="http://schemas.microsoft.com/office/drawing/2014/main" id="{4BE3F0EE-370A-42A2-CC55-77043A0F01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1" y="1507"/>
                <a:ext cx="496" cy="454"/>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073568" name="Freeform 544">
            <a:extLst>
              <a:ext uri="{FF2B5EF4-FFF2-40B4-BE49-F238E27FC236}">
                <a16:creationId xmlns:a16="http://schemas.microsoft.com/office/drawing/2014/main" id="{7ABBE4EB-3606-E38D-689C-5E82BE2FCDC5}"/>
              </a:ext>
            </a:extLst>
          </p:cNvPr>
          <p:cNvSpPr>
            <a:spLocks/>
          </p:cNvSpPr>
          <p:nvPr/>
        </p:nvSpPr>
        <p:spPr bwMode="auto">
          <a:xfrm>
            <a:off x="3400425" y="3390900"/>
            <a:ext cx="157163" cy="152400"/>
          </a:xfrm>
          <a:custGeom>
            <a:avLst/>
            <a:gdLst>
              <a:gd name="T0" fmla="*/ 385 w 394"/>
              <a:gd name="T1" fmla="*/ 385 h 385"/>
              <a:gd name="T2" fmla="*/ 385 w 394"/>
              <a:gd name="T3" fmla="*/ 381 h 385"/>
              <a:gd name="T4" fmla="*/ 386 w 394"/>
              <a:gd name="T5" fmla="*/ 379 h 385"/>
              <a:gd name="T6" fmla="*/ 389 w 394"/>
              <a:gd name="T7" fmla="*/ 374 h 385"/>
              <a:gd name="T8" fmla="*/ 392 w 394"/>
              <a:gd name="T9" fmla="*/ 363 h 385"/>
              <a:gd name="T10" fmla="*/ 392 w 394"/>
              <a:gd name="T11" fmla="*/ 356 h 385"/>
              <a:gd name="T12" fmla="*/ 392 w 394"/>
              <a:gd name="T13" fmla="*/ 353 h 385"/>
              <a:gd name="T14" fmla="*/ 393 w 394"/>
              <a:gd name="T15" fmla="*/ 350 h 385"/>
              <a:gd name="T16" fmla="*/ 393 w 394"/>
              <a:gd name="T17" fmla="*/ 344 h 385"/>
              <a:gd name="T18" fmla="*/ 393 w 394"/>
              <a:gd name="T19" fmla="*/ 340 h 385"/>
              <a:gd name="T20" fmla="*/ 394 w 394"/>
              <a:gd name="T21" fmla="*/ 338 h 385"/>
              <a:gd name="T22" fmla="*/ 394 w 394"/>
              <a:gd name="T23" fmla="*/ 77 h 385"/>
              <a:gd name="T24" fmla="*/ 392 w 394"/>
              <a:gd name="T25" fmla="*/ 58 h 385"/>
              <a:gd name="T26" fmla="*/ 389 w 394"/>
              <a:gd name="T27" fmla="*/ 43 h 385"/>
              <a:gd name="T28" fmla="*/ 385 w 394"/>
              <a:gd name="T29" fmla="*/ 35 h 385"/>
              <a:gd name="T30" fmla="*/ 383 w 394"/>
              <a:gd name="T31" fmla="*/ 29 h 385"/>
              <a:gd name="T32" fmla="*/ 375 w 394"/>
              <a:gd name="T33" fmla="*/ 19 h 385"/>
              <a:gd name="T34" fmla="*/ 368 w 394"/>
              <a:gd name="T35" fmla="*/ 13 h 385"/>
              <a:gd name="T36" fmla="*/ 362 w 394"/>
              <a:gd name="T37" fmla="*/ 10 h 385"/>
              <a:gd name="T38" fmla="*/ 350 w 394"/>
              <a:gd name="T39" fmla="*/ 4 h 385"/>
              <a:gd name="T40" fmla="*/ 334 w 394"/>
              <a:gd name="T41" fmla="*/ 1 h 385"/>
              <a:gd name="T42" fmla="*/ 317 w 394"/>
              <a:gd name="T43" fmla="*/ 0 h 385"/>
              <a:gd name="T44" fmla="*/ 56 w 394"/>
              <a:gd name="T45" fmla="*/ 0 h 385"/>
              <a:gd name="T46" fmla="*/ 38 w 394"/>
              <a:gd name="T47" fmla="*/ 1 h 385"/>
              <a:gd name="T48" fmla="*/ 23 w 394"/>
              <a:gd name="T49" fmla="*/ 4 h 385"/>
              <a:gd name="T50" fmla="*/ 10 w 394"/>
              <a:gd name="T51" fmla="*/ 10 h 385"/>
              <a:gd name="T52" fmla="*/ 0 w 394"/>
              <a:gd name="T53" fmla="*/ 18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94" h="385">
                <a:moveTo>
                  <a:pt x="385" y="385"/>
                </a:moveTo>
                <a:lnTo>
                  <a:pt x="385" y="381"/>
                </a:lnTo>
                <a:lnTo>
                  <a:pt x="386" y="379"/>
                </a:lnTo>
                <a:lnTo>
                  <a:pt x="389" y="374"/>
                </a:lnTo>
                <a:lnTo>
                  <a:pt x="392" y="363"/>
                </a:lnTo>
                <a:lnTo>
                  <a:pt x="392" y="356"/>
                </a:lnTo>
                <a:lnTo>
                  <a:pt x="392" y="353"/>
                </a:lnTo>
                <a:lnTo>
                  <a:pt x="393" y="350"/>
                </a:lnTo>
                <a:lnTo>
                  <a:pt x="393" y="344"/>
                </a:lnTo>
                <a:lnTo>
                  <a:pt x="393" y="340"/>
                </a:lnTo>
                <a:lnTo>
                  <a:pt x="394" y="338"/>
                </a:lnTo>
                <a:lnTo>
                  <a:pt x="394" y="77"/>
                </a:lnTo>
                <a:lnTo>
                  <a:pt x="392" y="58"/>
                </a:lnTo>
                <a:lnTo>
                  <a:pt x="389" y="43"/>
                </a:lnTo>
                <a:lnTo>
                  <a:pt x="385" y="35"/>
                </a:lnTo>
                <a:lnTo>
                  <a:pt x="383" y="29"/>
                </a:lnTo>
                <a:lnTo>
                  <a:pt x="375" y="19"/>
                </a:lnTo>
                <a:lnTo>
                  <a:pt x="368" y="13"/>
                </a:lnTo>
                <a:lnTo>
                  <a:pt x="362" y="10"/>
                </a:lnTo>
                <a:lnTo>
                  <a:pt x="350" y="4"/>
                </a:lnTo>
                <a:lnTo>
                  <a:pt x="334" y="1"/>
                </a:lnTo>
                <a:lnTo>
                  <a:pt x="317" y="0"/>
                </a:lnTo>
                <a:lnTo>
                  <a:pt x="56" y="0"/>
                </a:lnTo>
                <a:lnTo>
                  <a:pt x="38" y="1"/>
                </a:lnTo>
                <a:lnTo>
                  <a:pt x="23" y="4"/>
                </a:lnTo>
                <a:lnTo>
                  <a:pt x="10" y="10"/>
                </a:lnTo>
                <a:lnTo>
                  <a:pt x="0" y="18"/>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569" name="Freeform 545">
            <a:extLst>
              <a:ext uri="{FF2B5EF4-FFF2-40B4-BE49-F238E27FC236}">
                <a16:creationId xmlns:a16="http://schemas.microsoft.com/office/drawing/2014/main" id="{BD223BD9-33BF-56AA-2BF2-90284C893C14}"/>
              </a:ext>
            </a:extLst>
          </p:cNvPr>
          <p:cNvSpPr>
            <a:spLocks/>
          </p:cNvSpPr>
          <p:nvPr/>
        </p:nvSpPr>
        <p:spPr bwMode="auto">
          <a:xfrm>
            <a:off x="3400425" y="3390900"/>
            <a:ext cx="160338" cy="158750"/>
          </a:xfrm>
          <a:custGeom>
            <a:avLst/>
            <a:gdLst>
              <a:gd name="T0" fmla="*/ 407 w 407"/>
              <a:gd name="T1" fmla="*/ 367 h 397"/>
              <a:gd name="T2" fmla="*/ 404 w 407"/>
              <a:gd name="T3" fmla="*/ 369 h 397"/>
              <a:gd name="T4" fmla="*/ 401 w 407"/>
              <a:gd name="T5" fmla="*/ 372 h 397"/>
              <a:gd name="T6" fmla="*/ 397 w 407"/>
              <a:gd name="T7" fmla="*/ 378 h 397"/>
              <a:gd name="T8" fmla="*/ 385 w 407"/>
              <a:gd name="T9" fmla="*/ 388 h 397"/>
              <a:gd name="T10" fmla="*/ 382 w 407"/>
              <a:gd name="T11" fmla="*/ 388 h 397"/>
              <a:gd name="T12" fmla="*/ 380 w 407"/>
              <a:gd name="T13" fmla="*/ 389 h 397"/>
              <a:gd name="T14" fmla="*/ 375 w 407"/>
              <a:gd name="T15" fmla="*/ 392 h 397"/>
              <a:gd name="T16" fmla="*/ 364 w 407"/>
              <a:gd name="T17" fmla="*/ 395 h 397"/>
              <a:gd name="T18" fmla="*/ 357 w 407"/>
              <a:gd name="T19" fmla="*/ 395 h 397"/>
              <a:gd name="T20" fmla="*/ 354 w 407"/>
              <a:gd name="T21" fmla="*/ 395 h 397"/>
              <a:gd name="T22" fmla="*/ 351 w 407"/>
              <a:gd name="T23" fmla="*/ 396 h 397"/>
              <a:gd name="T24" fmla="*/ 344 w 407"/>
              <a:gd name="T25" fmla="*/ 396 h 397"/>
              <a:gd name="T26" fmla="*/ 341 w 407"/>
              <a:gd name="T27" fmla="*/ 396 h 397"/>
              <a:gd name="T28" fmla="*/ 339 w 407"/>
              <a:gd name="T29" fmla="*/ 397 h 397"/>
              <a:gd name="T30" fmla="*/ 78 w 407"/>
              <a:gd name="T31" fmla="*/ 397 h 397"/>
              <a:gd name="T32" fmla="*/ 58 w 407"/>
              <a:gd name="T33" fmla="*/ 395 h 397"/>
              <a:gd name="T34" fmla="*/ 44 w 407"/>
              <a:gd name="T35" fmla="*/ 392 h 397"/>
              <a:gd name="T36" fmla="*/ 36 w 407"/>
              <a:gd name="T37" fmla="*/ 388 h 397"/>
              <a:gd name="T38" fmla="*/ 30 w 407"/>
              <a:gd name="T39" fmla="*/ 386 h 397"/>
              <a:gd name="T40" fmla="*/ 20 w 407"/>
              <a:gd name="T41" fmla="*/ 378 h 397"/>
              <a:gd name="T42" fmla="*/ 14 w 407"/>
              <a:gd name="T43" fmla="*/ 371 h 397"/>
              <a:gd name="T44" fmla="*/ 11 w 407"/>
              <a:gd name="T45" fmla="*/ 366 h 397"/>
              <a:gd name="T46" fmla="*/ 5 w 407"/>
              <a:gd name="T47" fmla="*/ 353 h 397"/>
              <a:gd name="T48" fmla="*/ 1 w 407"/>
              <a:gd name="T49" fmla="*/ 337 h 397"/>
              <a:gd name="T50" fmla="*/ 0 w 407"/>
              <a:gd name="T51" fmla="*/ 320 h 397"/>
              <a:gd name="T52" fmla="*/ 0 w 407"/>
              <a:gd name="T53" fmla="*/ 59 h 397"/>
              <a:gd name="T54" fmla="*/ 1 w 407"/>
              <a:gd name="T55" fmla="*/ 40 h 397"/>
              <a:gd name="T56" fmla="*/ 5 w 407"/>
              <a:gd name="T57" fmla="*/ 25 h 397"/>
              <a:gd name="T58" fmla="*/ 11 w 407"/>
              <a:gd name="T59" fmla="*/ 12 h 397"/>
              <a:gd name="T60" fmla="*/ 19 w 407"/>
              <a:gd name="T61" fmla="*/ 2 h 397"/>
              <a:gd name="T62" fmla="*/ 20 w 407"/>
              <a:gd name="T63" fmla="*/ 1 h 397"/>
              <a:gd name="T64" fmla="*/ 22 w 407"/>
              <a:gd name="T65" fmla="*/ 0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7" h="397">
                <a:moveTo>
                  <a:pt x="407" y="367"/>
                </a:moveTo>
                <a:lnTo>
                  <a:pt x="404" y="369"/>
                </a:lnTo>
                <a:lnTo>
                  <a:pt x="401" y="372"/>
                </a:lnTo>
                <a:lnTo>
                  <a:pt x="397" y="378"/>
                </a:lnTo>
                <a:lnTo>
                  <a:pt x="385" y="388"/>
                </a:lnTo>
                <a:lnTo>
                  <a:pt x="382" y="388"/>
                </a:lnTo>
                <a:lnTo>
                  <a:pt x="380" y="389"/>
                </a:lnTo>
                <a:lnTo>
                  <a:pt x="375" y="392"/>
                </a:lnTo>
                <a:lnTo>
                  <a:pt x="364" y="395"/>
                </a:lnTo>
                <a:lnTo>
                  <a:pt x="357" y="395"/>
                </a:lnTo>
                <a:lnTo>
                  <a:pt x="354" y="395"/>
                </a:lnTo>
                <a:lnTo>
                  <a:pt x="351" y="396"/>
                </a:lnTo>
                <a:lnTo>
                  <a:pt x="344" y="396"/>
                </a:lnTo>
                <a:lnTo>
                  <a:pt x="341" y="396"/>
                </a:lnTo>
                <a:lnTo>
                  <a:pt x="339" y="397"/>
                </a:lnTo>
                <a:lnTo>
                  <a:pt x="78" y="397"/>
                </a:lnTo>
                <a:lnTo>
                  <a:pt x="58" y="395"/>
                </a:lnTo>
                <a:lnTo>
                  <a:pt x="44" y="392"/>
                </a:lnTo>
                <a:lnTo>
                  <a:pt x="36" y="388"/>
                </a:lnTo>
                <a:lnTo>
                  <a:pt x="30" y="386"/>
                </a:lnTo>
                <a:lnTo>
                  <a:pt x="20" y="378"/>
                </a:lnTo>
                <a:lnTo>
                  <a:pt x="14" y="371"/>
                </a:lnTo>
                <a:lnTo>
                  <a:pt x="11" y="366"/>
                </a:lnTo>
                <a:lnTo>
                  <a:pt x="5" y="353"/>
                </a:lnTo>
                <a:lnTo>
                  <a:pt x="1" y="337"/>
                </a:lnTo>
                <a:lnTo>
                  <a:pt x="0" y="320"/>
                </a:lnTo>
                <a:lnTo>
                  <a:pt x="0" y="59"/>
                </a:lnTo>
                <a:lnTo>
                  <a:pt x="1" y="40"/>
                </a:lnTo>
                <a:lnTo>
                  <a:pt x="5" y="25"/>
                </a:lnTo>
                <a:lnTo>
                  <a:pt x="11" y="12"/>
                </a:lnTo>
                <a:lnTo>
                  <a:pt x="19" y="2"/>
                </a:lnTo>
                <a:lnTo>
                  <a:pt x="20" y="1"/>
                </a:lnTo>
                <a:lnTo>
                  <a:pt x="22" y="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nvGrpSpPr>
          <p:cNvPr id="3073570" name="Group 546">
            <a:extLst>
              <a:ext uri="{FF2B5EF4-FFF2-40B4-BE49-F238E27FC236}">
                <a16:creationId xmlns:a16="http://schemas.microsoft.com/office/drawing/2014/main" id="{38C15630-85A7-6EC1-02C8-9C1ADA750372}"/>
              </a:ext>
            </a:extLst>
          </p:cNvPr>
          <p:cNvGrpSpPr>
            <a:grpSpLocks/>
          </p:cNvGrpSpPr>
          <p:nvPr/>
        </p:nvGrpSpPr>
        <p:grpSpPr bwMode="auto">
          <a:xfrm>
            <a:off x="3790950" y="3143250"/>
            <a:ext cx="676275" cy="247650"/>
            <a:chOff x="2442" y="1518"/>
            <a:chExt cx="426" cy="156"/>
          </a:xfrm>
        </p:grpSpPr>
        <p:sp>
          <p:nvSpPr>
            <p:cNvPr id="3073571" name="AutoShape 547">
              <a:extLst>
                <a:ext uri="{FF2B5EF4-FFF2-40B4-BE49-F238E27FC236}">
                  <a16:creationId xmlns:a16="http://schemas.microsoft.com/office/drawing/2014/main" id="{2B3DF765-6E82-5BD0-739C-2EAB1C77E6DC}"/>
                </a:ext>
              </a:extLst>
            </p:cNvPr>
            <p:cNvSpPr>
              <a:spLocks noChangeArrowheads="1"/>
            </p:cNvSpPr>
            <p:nvPr/>
          </p:nvSpPr>
          <p:spPr bwMode="auto">
            <a:xfrm>
              <a:off x="2442" y="1518"/>
              <a:ext cx="426" cy="156"/>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073572" name="Freeform 548">
              <a:extLst>
                <a:ext uri="{FF2B5EF4-FFF2-40B4-BE49-F238E27FC236}">
                  <a16:creationId xmlns:a16="http://schemas.microsoft.com/office/drawing/2014/main" id="{C1C10105-703D-FE62-4EE6-67FF24DF83BA}"/>
                </a:ext>
              </a:extLst>
            </p:cNvPr>
            <p:cNvSpPr>
              <a:spLocks/>
            </p:cNvSpPr>
            <p:nvPr/>
          </p:nvSpPr>
          <p:spPr bwMode="auto">
            <a:xfrm>
              <a:off x="2495" y="1557"/>
              <a:ext cx="163"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73573" name="Freeform 549">
              <a:extLst>
                <a:ext uri="{FF2B5EF4-FFF2-40B4-BE49-F238E27FC236}">
                  <a16:creationId xmlns:a16="http://schemas.microsoft.com/office/drawing/2014/main" id="{05365504-11D3-38CF-5C7B-4A09DBD40E6F}"/>
                </a:ext>
              </a:extLst>
            </p:cNvPr>
            <p:cNvSpPr>
              <a:spLocks/>
            </p:cNvSpPr>
            <p:nvPr/>
          </p:nvSpPr>
          <p:spPr bwMode="auto">
            <a:xfrm>
              <a:off x="2495" y="1611"/>
              <a:ext cx="163"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73574" name="Freeform 550">
              <a:extLst>
                <a:ext uri="{FF2B5EF4-FFF2-40B4-BE49-F238E27FC236}">
                  <a16:creationId xmlns:a16="http://schemas.microsoft.com/office/drawing/2014/main" id="{028A198F-3E93-79AE-2D6A-F0B33ECA99BC}"/>
                </a:ext>
              </a:extLst>
            </p:cNvPr>
            <p:cNvSpPr>
              <a:spLocks/>
            </p:cNvSpPr>
            <p:nvPr/>
          </p:nvSpPr>
          <p:spPr bwMode="auto">
            <a:xfrm flipH="1">
              <a:off x="2657" y="1579"/>
              <a:ext cx="164"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73575" name="Freeform 551">
              <a:extLst>
                <a:ext uri="{FF2B5EF4-FFF2-40B4-BE49-F238E27FC236}">
                  <a16:creationId xmlns:a16="http://schemas.microsoft.com/office/drawing/2014/main" id="{8CF6094D-1A05-2954-9ED4-CF797D9EBF13}"/>
                </a:ext>
              </a:extLst>
            </p:cNvPr>
            <p:cNvSpPr>
              <a:spLocks/>
            </p:cNvSpPr>
            <p:nvPr/>
          </p:nvSpPr>
          <p:spPr bwMode="auto">
            <a:xfrm flipH="1">
              <a:off x="2657" y="1634"/>
              <a:ext cx="164"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270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3073576" name="Freeform 552">
            <a:extLst>
              <a:ext uri="{FF2B5EF4-FFF2-40B4-BE49-F238E27FC236}">
                <a16:creationId xmlns:a16="http://schemas.microsoft.com/office/drawing/2014/main" id="{EC859FDA-293B-BE0D-46D9-AB82E092E541}"/>
              </a:ext>
            </a:extLst>
          </p:cNvPr>
          <p:cNvSpPr>
            <a:spLocks/>
          </p:cNvSpPr>
          <p:nvPr/>
        </p:nvSpPr>
        <p:spPr bwMode="auto">
          <a:xfrm>
            <a:off x="5095875" y="2882900"/>
            <a:ext cx="46038" cy="803275"/>
          </a:xfrm>
          <a:custGeom>
            <a:avLst/>
            <a:gdLst>
              <a:gd name="T0" fmla="*/ 0 w 114"/>
              <a:gd name="T1" fmla="*/ 0 h 2026"/>
              <a:gd name="T2" fmla="*/ 26 w 114"/>
              <a:gd name="T3" fmla="*/ 4 h 2026"/>
              <a:gd name="T4" fmla="*/ 49 w 114"/>
              <a:gd name="T5" fmla="*/ 12 h 2026"/>
              <a:gd name="T6" fmla="*/ 58 w 114"/>
              <a:gd name="T7" fmla="*/ 16 h 2026"/>
              <a:gd name="T8" fmla="*/ 68 w 114"/>
              <a:gd name="T9" fmla="*/ 23 h 2026"/>
              <a:gd name="T10" fmla="*/ 76 w 114"/>
              <a:gd name="T11" fmla="*/ 30 h 2026"/>
              <a:gd name="T12" fmla="*/ 85 w 114"/>
              <a:gd name="T13" fmla="*/ 39 h 2026"/>
              <a:gd name="T14" fmla="*/ 91 w 114"/>
              <a:gd name="T15" fmla="*/ 47 h 2026"/>
              <a:gd name="T16" fmla="*/ 97 w 114"/>
              <a:gd name="T17" fmla="*/ 57 h 2026"/>
              <a:gd name="T18" fmla="*/ 101 w 114"/>
              <a:gd name="T19" fmla="*/ 68 h 2026"/>
              <a:gd name="T20" fmla="*/ 106 w 114"/>
              <a:gd name="T21" fmla="*/ 80 h 2026"/>
              <a:gd name="T22" fmla="*/ 108 w 114"/>
              <a:gd name="T23" fmla="*/ 91 h 2026"/>
              <a:gd name="T24" fmla="*/ 112 w 114"/>
              <a:gd name="T25" fmla="*/ 105 h 2026"/>
              <a:gd name="T26" fmla="*/ 114 w 114"/>
              <a:gd name="T27" fmla="*/ 136 h 2026"/>
              <a:gd name="T28" fmla="*/ 114 w 114"/>
              <a:gd name="T29" fmla="*/ 614 h 2026"/>
              <a:gd name="T30" fmla="*/ 114 w 114"/>
              <a:gd name="T31" fmla="*/ 1412 h 2026"/>
              <a:gd name="T32" fmla="*/ 114 w 114"/>
              <a:gd name="T33" fmla="*/ 1890 h 2026"/>
              <a:gd name="T34" fmla="*/ 113 w 114"/>
              <a:gd name="T35" fmla="*/ 1904 h 2026"/>
              <a:gd name="T36" fmla="*/ 112 w 114"/>
              <a:gd name="T37" fmla="*/ 1911 h 2026"/>
              <a:gd name="T38" fmla="*/ 112 w 114"/>
              <a:gd name="T39" fmla="*/ 1919 h 2026"/>
              <a:gd name="T40" fmla="*/ 109 w 114"/>
              <a:gd name="T41" fmla="*/ 1925 h 2026"/>
              <a:gd name="T42" fmla="*/ 108 w 114"/>
              <a:gd name="T43" fmla="*/ 1931 h 2026"/>
              <a:gd name="T44" fmla="*/ 106 w 114"/>
              <a:gd name="T45" fmla="*/ 1945 h 2026"/>
              <a:gd name="T46" fmla="*/ 101 w 114"/>
              <a:gd name="T47" fmla="*/ 1955 h 2026"/>
              <a:gd name="T48" fmla="*/ 97 w 114"/>
              <a:gd name="T49" fmla="*/ 1967 h 2026"/>
              <a:gd name="T50" fmla="*/ 91 w 114"/>
              <a:gd name="T51" fmla="*/ 1976 h 2026"/>
              <a:gd name="T52" fmla="*/ 88 w 114"/>
              <a:gd name="T53" fmla="*/ 1980 h 2026"/>
              <a:gd name="T54" fmla="*/ 85 w 114"/>
              <a:gd name="T55" fmla="*/ 1986 h 2026"/>
              <a:gd name="T56" fmla="*/ 76 w 114"/>
              <a:gd name="T57" fmla="*/ 1993 h 2026"/>
              <a:gd name="T58" fmla="*/ 72 w 114"/>
              <a:gd name="T59" fmla="*/ 1996 h 2026"/>
              <a:gd name="T60" fmla="*/ 68 w 114"/>
              <a:gd name="T61" fmla="*/ 2001 h 2026"/>
              <a:gd name="T62" fmla="*/ 63 w 114"/>
              <a:gd name="T63" fmla="*/ 2003 h 2026"/>
              <a:gd name="T64" fmla="*/ 58 w 114"/>
              <a:gd name="T65" fmla="*/ 2007 h 2026"/>
              <a:gd name="T66" fmla="*/ 49 w 114"/>
              <a:gd name="T67" fmla="*/ 2012 h 2026"/>
              <a:gd name="T68" fmla="*/ 38 w 114"/>
              <a:gd name="T69" fmla="*/ 2016 h 2026"/>
              <a:gd name="T70" fmla="*/ 26 w 114"/>
              <a:gd name="T71" fmla="*/ 2020 h 2026"/>
              <a:gd name="T72" fmla="*/ 12 w 114"/>
              <a:gd name="T73" fmla="*/ 2023 h 2026"/>
              <a:gd name="T74" fmla="*/ 6 w 114"/>
              <a:gd name="T75" fmla="*/ 2024 h 2026"/>
              <a:gd name="T76" fmla="*/ 0 w 114"/>
              <a:gd name="T77" fmla="*/ 2026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14" h="2026">
                <a:moveTo>
                  <a:pt x="0" y="0"/>
                </a:moveTo>
                <a:lnTo>
                  <a:pt x="26" y="4"/>
                </a:lnTo>
                <a:lnTo>
                  <a:pt x="49" y="12"/>
                </a:lnTo>
                <a:lnTo>
                  <a:pt x="58" y="16"/>
                </a:lnTo>
                <a:lnTo>
                  <a:pt x="68" y="23"/>
                </a:lnTo>
                <a:lnTo>
                  <a:pt x="76" y="30"/>
                </a:lnTo>
                <a:lnTo>
                  <a:pt x="85" y="39"/>
                </a:lnTo>
                <a:lnTo>
                  <a:pt x="91" y="47"/>
                </a:lnTo>
                <a:lnTo>
                  <a:pt x="97" y="57"/>
                </a:lnTo>
                <a:lnTo>
                  <a:pt x="101" y="68"/>
                </a:lnTo>
                <a:lnTo>
                  <a:pt x="106" y="80"/>
                </a:lnTo>
                <a:lnTo>
                  <a:pt x="108" y="91"/>
                </a:lnTo>
                <a:lnTo>
                  <a:pt x="112" y="105"/>
                </a:lnTo>
                <a:lnTo>
                  <a:pt x="114" y="136"/>
                </a:lnTo>
                <a:lnTo>
                  <a:pt x="114" y="614"/>
                </a:lnTo>
                <a:lnTo>
                  <a:pt x="114" y="1412"/>
                </a:lnTo>
                <a:lnTo>
                  <a:pt x="114" y="1890"/>
                </a:lnTo>
                <a:lnTo>
                  <a:pt x="113" y="1904"/>
                </a:lnTo>
                <a:lnTo>
                  <a:pt x="112" y="1911"/>
                </a:lnTo>
                <a:lnTo>
                  <a:pt x="112" y="1919"/>
                </a:lnTo>
                <a:lnTo>
                  <a:pt x="109" y="1925"/>
                </a:lnTo>
                <a:lnTo>
                  <a:pt x="108" y="1931"/>
                </a:lnTo>
                <a:lnTo>
                  <a:pt x="106" y="1945"/>
                </a:lnTo>
                <a:lnTo>
                  <a:pt x="101" y="1955"/>
                </a:lnTo>
                <a:lnTo>
                  <a:pt x="97" y="1967"/>
                </a:lnTo>
                <a:lnTo>
                  <a:pt x="91" y="1976"/>
                </a:lnTo>
                <a:lnTo>
                  <a:pt x="88" y="1980"/>
                </a:lnTo>
                <a:lnTo>
                  <a:pt x="85" y="1986"/>
                </a:lnTo>
                <a:lnTo>
                  <a:pt x="76" y="1993"/>
                </a:lnTo>
                <a:lnTo>
                  <a:pt x="72" y="1996"/>
                </a:lnTo>
                <a:lnTo>
                  <a:pt x="68" y="2001"/>
                </a:lnTo>
                <a:lnTo>
                  <a:pt x="63" y="2003"/>
                </a:lnTo>
                <a:lnTo>
                  <a:pt x="58" y="2007"/>
                </a:lnTo>
                <a:lnTo>
                  <a:pt x="49" y="2012"/>
                </a:lnTo>
                <a:lnTo>
                  <a:pt x="38" y="2016"/>
                </a:lnTo>
                <a:lnTo>
                  <a:pt x="26" y="2020"/>
                </a:lnTo>
                <a:lnTo>
                  <a:pt x="12" y="2023"/>
                </a:lnTo>
                <a:lnTo>
                  <a:pt x="6" y="2024"/>
                </a:lnTo>
                <a:lnTo>
                  <a:pt x="0" y="2026"/>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3073577" name="Freeform 553">
            <a:extLst>
              <a:ext uri="{FF2B5EF4-FFF2-40B4-BE49-F238E27FC236}">
                <a16:creationId xmlns:a16="http://schemas.microsoft.com/office/drawing/2014/main" id="{F3EA289E-B261-C98C-43F9-246D71F7643B}"/>
              </a:ext>
            </a:extLst>
          </p:cNvPr>
          <p:cNvSpPr>
            <a:spLocks/>
          </p:cNvSpPr>
          <p:nvPr/>
        </p:nvSpPr>
        <p:spPr bwMode="auto">
          <a:xfrm>
            <a:off x="4949825" y="2886075"/>
            <a:ext cx="195263" cy="160338"/>
          </a:xfrm>
          <a:custGeom>
            <a:avLst/>
            <a:gdLst>
              <a:gd name="T0" fmla="*/ 0 w 123"/>
              <a:gd name="T1" fmla="*/ 29 h 101"/>
              <a:gd name="T2" fmla="*/ 23 w 123"/>
              <a:gd name="T3" fmla="*/ 5 h 101"/>
              <a:gd name="T4" fmla="*/ 24 w 123"/>
              <a:gd name="T5" fmla="*/ 5 h 101"/>
              <a:gd name="T6" fmla="*/ 24 w 123"/>
              <a:gd name="T7" fmla="*/ 5 h 101"/>
              <a:gd name="T8" fmla="*/ 27 w 123"/>
              <a:gd name="T9" fmla="*/ 2 h 101"/>
              <a:gd name="T10" fmla="*/ 30 w 123"/>
              <a:gd name="T11" fmla="*/ 1 h 101"/>
              <a:gd name="T12" fmla="*/ 33 w 123"/>
              <a:gd name="T13" fmla="*/ 0 h 101"/>
              <a:gd name="T14" fmla="*/ 38 w 123"/>
              <a:gd name="T15" fmla="*/ 0 h 101"/>
              <a:gd name="T16" fmla="*/ 104 w 123"/>
              <a:gd name="T17" fmla="*/ 0 h 101"/>
              <a:gd name="T18" fmla="*/ 108 w 123"/>
              <a:gd name="T19" fmla="*/ 0 h 101"/>
              <a:gd name="T20" fmla="*/ 112 w 123"/>
              <a:gd name="T21" fmla="*/ 1 h 101"/>
              <a:gd name="T22" fmla="*/ 115 w 123"/>
              <a:gd name="T23" fmla="*/ 2 h 101"/>
              <a:gd name="T24" fmla="*/ 116 w 123"/>
              <a:gd name="T25" fmla="*/ 3 h 101"/>
              <a:gd name="T26" fmla="*/ 118 w 123"/>
              <a:gd name="T27" fmla="*/ 5 h 101"/>
              <a:gd name="T28" fmla="*/ 120 w 123"/>
              <a:gd name="T29" fmla="*/ 7 h 101"/>
              <a:gd name="T30" fmla="*/ 121 w 123"/>
              <a:gd name="T31" fmla="*/ 9 h 101"/>
              <a:gd name="T32" fmla="*/ 121 w 123"/>
              <a:gd name="T33" fmla="*/ 11 h 101"/>
              <a:gd name="T34" fmla="*/ 122 w 123"/>
              <a:gd name="T35" fmla="*/ 14 h 101"/>
              <a:gd name="T36" fmla="*/ 123 w 123"/>
              <a:gd name="T37" fmla="*/ 19 h 101"/>
              <a:gd name="T38" fmla="*/ 123 w 123"/>
              <a:gd name="T39" fmla="*/ 84 h 101"/>
              <a:gd name="T40" fmla="*/ 123 w 123"/>
              <a:gd name="T41" fmla="*/ 85 h 101"/>
              <a:gd name="T42" fmla="*/ 123 w 123"/>
              <a:gd name="T43" fmla="*/ 87 h 101"/>
              <a:gd name="T44" fmla="*/ 122 w 123"/>
              <a:gd name="T45" fmla="*/ 88 h 101"/>
              <a:gd name="T46" fmla="*/ 122 w 123"/>
              <a:gd name="T47" fmla="*/ 89 h 101"/>
              <a:gd name="T48" fmla="*/ 122 w 123"/>
              <a:gd name="T49" fmla="*/ 92 h 101"/>
              <a:gd name="T50" fmla="*/ 121 w 123"/>
              <a:gd name="T51" fmla="*/ 94 h 101"/>
              <a:gd name="T52" fmla="*/ 121 w 123"/>
              <a:gd name="T53" fmla="*/ 96 h 101"/>
              <a:gd name="T54" fmla="*/ 120 w 123"/>
              <a:gd name="T55" fmla="*/ 96 h 101"/>
              <a:gd name="T56" fmla="*/ 119 w 123"/>
              <a:gd name="T57" fmla="*/ 97 h 101"/>
              <a:gd name="T58" fmla="*/ 118 w 123"/>
              <a:gd name="T59" fmla="*/ 99 h 101"/>
              <a:gd name="T60" fmla="*/ 115 w 123"/>
              <a:gd name="T61" fmla="*/ 101 h 101"/>
              <a:gd name="T62" fmla="*/ 112 w 123"/>
              <a:gd name="T63" fmla="*/ 98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3" h="101">
                <a:moveTo>
                  <a:pt x="0" y="29"/>
                </a:moveTo>
                <a:lnTo>
                  <a:pt x="23" y="5"/>
                </a:lnTo>
                <a:lnTo>
                  <a:pt x="24" y="5"/>
                </a:lnTo>
                <a:lnTo>
                  <a:pt x="24" y="5"/>
                </a:lnTo>
                <a:lnTo>
                  <a:pt x="27" y="2"/>
                </a:lnTo>
                <a:lnTo>
                  <a:pt x="30" y="1"/>
                </a:lnTo>
                <a:lnTo>
                  <a:pt x="33" y="0"/>
                </a:lnTo>
                <a:lnTo>
                  <a:pt x="38" y="0"/>
                </a:lnTo>
                <a:lnTo>
                  <a:pt x="104" y="0"/>
                </a:lnTo>
                <a:lnTo>
                  <a:pt x="108" y="0"/>
                </a:lnTo>
                <a:lnTo>
                  <a:pt x="112" y="1"/>
                </a:lnTo>
                <a:lnTo>
                  <a:pt x="115" y="2"/>
                </a:lnTo>
                <a:lnTo>
                  <a:pt x="116" y="3"/>
                </a:lnTo>
                <a:lnTo>
                  <a:pt x="118" y="5"/>
                </a:lnTo>
                <a:lnTo>
                  <a:pt x="120" y="7"/>
                </a:lnTo>
                <a:lnTo>
                  <a:pt x="121" y="9"/>
                </a:lnTo>
                <a:lnTo>
                  <a:pt x="121" y="11"/>
                </a:lnTo>
                <a:lnTo>
                  <a:pt x="122" y="14"/>
                </a:lnTo>
                <a:lnTo>
                  <a:pt x="123" y="19"/>
                </a:lnTo>
                <a:lnTo>
                  <a:pt x="123" y="84"/>
                </a:lnTo>
                <a:lnTo>
                  <a:pt x="123" y="85"/>
                </a:lnTo>
                <a:lnTo>
                  <a:pt x="123" y="87"/>
                </a:lnTo>
                <a:lnTo>
                  <a:pt x="122" y="88"/>
                </a:lnTo>
                <a:lnTo>
                  <a:pt x="122" y="89"/>
                </a:lnTo>
                <a:lnTo>
                  <a:pt x="122" y="92"/>
                </a:lnTo>
                <a:lnTo>
                  <a:pt x="121" y="94"/>
                </a:lnTo>
                <a:lnTo>
                  <a:pt x="121" y="96"/>
                </a:lnTo>
                <a:lnTo>
                  <a:pt x="120" y="96"/>
                </a:lnTo>
                <a:lnTo>
                  <a:pt x="119" y="97"/>
                </a:lnTo>
                <a:lnTo>
                  <a:pt x="118" y="99"/>
                </a:lnTo>
                <a:lnTo>
                  <a:pt x="115" y="101"/>
                </a:lnTo>
                <a:lnTo>
                  <a:pt x="112" y="98"/>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A9FE06EF-731A-53BE-22AF-7C360532AFCD}"/>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B50E9FC2-E0D2-27B4-CC94-C8BD1B897755}"/>
              </a:ext>
            </a:extLst>
          </p:cNvPr>
          <p:cNvSpPr>
            <a:spLocks noGrp="1"/>
          </p:cNvSpPr>
          <p:nvPr>
            <p:ph type="sldNum" sz="quarter" idx="11"/>
          </p:nvPr>
        </p:nvSpPr>
        <p:spPr/>
        <p:txBody>
          <a:bodyPr/>
          <a:lstStyle/>
          <a:p>
            <a:r>
              <a:rPr lang="zh-CN" altLang="en-US"/>
              <a:t> </a:t>
            </a:r>
            <a:r>
              <a:rPr lang="en-US" altLang="zh-CN"/>
              <a:t>- </a:t>
            </a:r>
            <a:fld id="{7F728763-E45C-4DDE-8887-00954ED58EB3}" type="slidenum">
              <a:rPr lang="en-US" altLang="zh-CN" sz="800"/>
              <a:pPr/>
              <a:t>76</a:t>
            </a:fld>
            <a:endParaRPr lang="en-US" altLang="zh-CN" sz="800"/>
          </a:p>
        </p:txBody>
      </p:sp>
      <p:sp>
        <p:nvSpPr>
          <p:cNvPr id="3085314" name="Text Box 2">
            <a:extLst>
              <a:ext uri="{FF2B5EF4-FFF2-40B4-BE49-F238E27FC236}">
                <a16:creationId xmlns:a16="http://schemas.microsoft.com/office/drawing/2014/main" id="{7A603CFA-B6D7-9CCF-4F94-22F9663D9D87}"/>
              </a:ext>
            </a:extLst>
          </p:cNvPr>
          <p:cNvSpPr txBox="1">
            <a:spLocks noChangeArrowheads="1"/>
          </p:cNvSpPr>
          <p:nvPr/>
        </p:nvSpPr>
        <p:spPr bwMode="auto">
          <a:xfrm>
            <a:off x="1676400" y="497840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600">
                <a:solidFill>
                  <a:schemeClr val="tx1"/>
                </a:solidFill>
                <a:latin typeface="Arial Narrow" panose="020B0606020202030204" pitchFamily="34" charset="0"/>
                <a:ea typeface="宋体" panose="02010600030101010101" pitchFamily="2" charset="-122"/>
              </a:rPr>
              <a:t>No</a:t>
            </a:r>
          </a:p>
        </p:txBody>
      </p:sp>
      <p:sp>
        <p:nvSpPr>
          <p:cNvPr id="3085315" name="Text Box 3">
            <a:extLst>
              <a:ext uri="{FF2B5EF4-FFF2-40B4-BE49-F238E27FC236}">
                <a16:creationId xmlns:a16="http://schemas.microsoft.com/office/drawing/2014/main" id="{BBF7AE1D-1639-49D3-1118-807E9C9C390B}"/>
              </a:ext>
            </a:extLst>
          </p:cNvPr>
          <p:cNvSpPr txBox="1">
            <a:spLocks noChangeArrowheads="1"/>
          </p:cNvSpPr>
          <p:nvPr/>
        </p:nvSpPr>
        <p:spPr bwMode="auto">
          <a:xfrm>
            <a:off x="3048000" y="53594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400">
                <a:solidFill>
                  <a:schemeClr val="tx1"/>
                </a:solidFill>
                <a:latin typeface="Arial Narrow" panose="020B0606020202030204" pitchFamily="34" charset="0"/>
                <a:ea typeface="宋体" panose="02010600030101010101" pitchFamily="2" charset="-122"/>
              </a:rPr>
              <a:t>Yes</a:t>
            </a:r>
          </a:p>
        </p:txBody>
      </p:sp>
      <p:sp>
        <p:nvSpPr>
          <p:cNvPr id="3085316" name="Text Box 4">
            <a:extLst>
              <a:ext uri="{FF2B5EF4-FFF2-40B4-BE49-F238E27FC236}">
                <a16:creationId xmlns:a16="http://schemas.microsoft.com/office/drawing/2014/main" id="{B909063C-C9C5-6B13-5227-3D7F0BD03400}"/>
              </a:ext>
            </a:extLst>
          </p:cNvPr>
          <p:cNvSpPr txBox="1">
            <a:spLocks noChangeArrowheads="1"/>
          </p:cNvSpPr>
          <p:nvPr/>
        </p:nvSpPr>
        <p:spPr bwMode="auto">
          <a:xfrm>
            <a:off x="1676400" y="2828925"/>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600">
                <a:solidFill>
                  <a:schemeClr val="tx1"/>
                </a:solidFill>
                <a:latin typeface="Arial Narrow" panose="020B0606020202030204" pitchFamily="34" charset="0"/>
                <a:ea typeface="宋体" panose="02010600030101010101" pitchFamily="2" charset="-122"/>
              </a:rPr>
              <a:t>No</a:t>
            </a:r>
          </a:p>
        </p:txBody>
      </p:sp>
      <p:sp>
        <p:nvSpPr>
          <p:cNvPr id="3085317" name="Rectangle 5">
            <a:extLst>
              <a:ext uri="{FF2B5EF4-FFF2-40B4-BE49-F238E27FC236}">
                <a16:creationId xmlns:a16="http://schemas.microsoft.com/office/drawing/2014/main" id="{3DA0BA78-46A3-DD63-793B-6CB22B7523D4}"/>
              </a:ext>
            </a:extLst>
          </p:cNvPr>
          <p:cNvSpPr>
            <a:spLocks noGrp="1" noChangeArrowheads="1"/>
          </p:cNvSpPr>
          <p:nvPr>
            <p:ph type="title"/>
          </p:nvPr>
        </p:nvSpPr>
        <p:spPr/>
        <p:txBody>
          <a:bodyPr/>
          <a:lstStyle/>
          <a:p>
            <a:r>
              <a:rPr lang="en-US" altLang="zh-CN">
                <a:ea typeface="宋体" panose="02010600030101010101" pitchFamily="2" charset="-122"/>
              </a:rPr>
              <a:t>Managing Example: Configuring File System Space</a:t>
            </a:r>
            <a:endParaRPr lang="en-US" altLang="zh-CN" sz="2400">
              <a:ea typeface="宋体" panose="02010600030101010101" pitchFamily="2" charset="-122"/>
            </a:endParaRPr>
          </a:p>
        </p:txBody>
      </p:sp>
      <p:sp>
        <p:nvSpPr>
          <p:cNvPr id="3085318" name="AutoShape 6">
            <a:extLst>
              <a:ext uri="{FF2B5EF4-FFF2-40B4-BE49-F238E27FC236}">
                <a16:creationId xmlns:a16="http://schemas.microsoft.com/office/drawing/2014/main" id="{0516E1B5-3F2F-09C0-A156-C9AFF012B93B}"/>
              </a:ext>
            </a:extLst>
          </p:cNvPr>
          <p:cNvSpPr>
            <a:spLocks noChangeArrowheads="1"/>
          </p:cNvSpPr>
          <p:nvPr/>
        </p:nvSpPr>
        <p:spPr bwMode="auto">
          <a:xfrm>
            <a:off x="76200" y="1295400"/>
            <a:ext cx="3341688" cy="644525"/>
          </a:xfrm>
          <a:prstGeom prst="roundRect">
            <a:avLst>
              <a:gd name="adj" fmla="val 16667"/>
            </a:avLst>
          </a:prstGeom>
          <a:solidFill>
            <a:srgbClr val="CDCD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Correlate File System with Volume Group or Disk Group.</a:t>
            </a:r>
          </a:p>
        </p:txBody>
      </p:sp>
      <p:sp>
        <p:nvSpPr>
          <p:cNvPr id="3085319" name="AutoShape 7">
            <a:extLst>
              <a:ext uri="{FF2B5EF4-FFF2-40B4-BE49-F238E27FC236}">
                <a16:creationId xmlns:a16="http://schemas.microsoft.com/office/drawing/2014/main" id="{79A8841F-51FE-91D5-9976-9584EC4266F1}"/>
              </a:ext>
            </a:extLst>
          </p:cNvPr>
          <p:cNvSpPr>
            <a:spLocks noChangeArrowheads="1"/>
          </p:cNvSpPr>
          <p:nvPr/>
        </p:nvSpPr>
        <p:spPr bwMode="auto">
          <a:xfrm>
            <a:off x="76200" y="2403475"/>
            <a:ext cx="3201988" cy="374650"/>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Is there free space available in the VG?</a:t>
            </a:r>
          </a:p>
        </p:txBody>
      </p:sp>
      <p:sp>
        <p:nvSpPr>
          <p:cNvPr id="3085320" name="AutoShape 8">
            <a:extLst>
              <a:ext uri="{FF2B5EF4-FFF2-40B4-BE49-F238E27FC236}">
                <a16:creationId xmlns:a16="http://schemas.microsoft.com/office/drawing/2014/main" id="{095D67BB-4E7C-66DD-EEBA-EF2E427CEDEF}"/>
              </a:ext>
            </a:extLst>
          </p:cNvPr>
          <p:cNvSpPr>
            <a:spLocks noChangeArrowheads="1"/>
          </p:cNvSpPr>
          <p:nvPr/>
        </p:nvSpPr>
        <p:spPr bwMode="auto">
          <a:xfrm>
            <a:off x="3810000" y="2092325"/>
            <a:ext cx="1866900" cy="914400"/>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Execute Command to extend File System.</a:t>
            </a:r>
          </a:p>
        </p:txBody>
      </p:sp>
      <p:sp>
        <p:nvSpPr>
          <p:cNvPr id="3085321" name="AutoShape 9">
            <a:extLst>
              <a:ext uri="{FF2B5EF4-FFF2-40B4-BE49-F238E27FC236}">
                <a16:creationId xmlns:a16="http://schemas.microsoft.com/office/drawing/2014/main" id="{5122DFC8-927A-3D4E-CEB3-B1CF682C697F}"/>
              </a:ext>
            </a:extLst>
          </p:cNvPr>
          <p:cNvSpPr>
            <a:spLocks noChangeArrowheads="1"/>
          </p:cNvSpPr>
          <p:nvPr/>
        </p:nvSpPr>
        <p:spPr bwMode="auto">
          <a:xfrm>
            <a:off x="6111875" y="2214563"/>
            <a:ext cx="2479675" cy="642937"/>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Is the File System being replicated?</a:t>
            </a:r>
          </a:p>
        </p:txBody>
      </p:sp>
      <p:sp>
        <p:nvSpPr>
          <p:cNvPr id="3085322" name="Line 10">
            <a:extLst>
              <a:ext uri="{FF2B5EF4-FFF2-40B4-BE49-F238E27FC236}">
                <a16:creationId xmlns:a16="http://schemas.microsoft.com/office/drawing/2014/main" id="{4344DE4F-2EC1-78DE-6C65-4CD20556BC49}"/>
              </a:ext>
            </a:extLst>
          </p:cNvPr>
          <p:cNvSpPr>
            <a:spLocks noChangeShapeType="1"/>
          </p:cNvSpPr>
          <p:nvPr/>
        </p:nvSpPr>
        <p:spPr bwMode="auto">
          <a:xfrm>
            <a:off x="1752600" y="1939925"/>
            <a:ext cx="0" cy="4572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23" name="Line 11">
            <a:extLst>
              <a:ext uri="{FF2B5EF4-FFF2-40B4-BE49-F238E27FC236}">
                <a16:creationId xmlns:a16="http://schemas.microsoft.com/office/drawing/2014/main" id="{4F9B9B15-A09D-7896-13D9-C4778A5830A1}"/>
              </a:ext>
            </a:extLst>
          </p:cNvPr>
          <p:cNvSpPr>
            <a:spLocks noChangeShapeType="1"/>
          </p:cNvSpPr>
          <p:nvPr/>
        </p:nvSpPr>
        <p:spPr bwMode="auto">
          <a:xfrm>
            <a:off x="3276600" y="2549525"/>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24" name="Line 12">
            <a:extLst>
              <a:ext uri="{FF2B5EF4-FFF2-40B4-BE49-F238E27FC236}">
                <a16:creationId xmlns:a16="http://schemas.microsoft.com/office/drawing/2014/main" id="{002EB588-2C78-9934-5A4B-6312EEB1EDD1}"/>
              </a:ext>
            </a:extLst>
          </p:cNvPr>
          <p:cNvSpPr>
            <a:spLocks noChangeShapeType="1"/>
          </p:cNvSpPr>
          <p:nvPr/>
        </p:nvSpPr>
        <p:spPr bwMode="auto">
          <a:xfrm>
            <a:off x="5715000" y="2549525"/>
            <a:ext cx="3048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25" name="Text Box 13">
            <a:extLst>
              <a:ext uri="{FF2B5EF4-FFF2-40B4-BE49-F238E27FC236}">
                <a16:creationId xmlns:a16="http://schemas.microsoft.com/office/drawing/2014/main" id="{DCCE613C-B316-84F5-E68E-9A1D60025AF3}"/>
              </a:ext>
            </a:extLst>
          </p:cNvPr>
          <p:cNvSpPr txBox="1">
            <a:spLocks noChangeArrowheads="1"/>
          </p:cNvSpPr>
          <p:nvPr/>
        </p:nvSpPr>
        <p:spPr bwMode="auto">
          <a:xfrm>
            <a:off x="3276600" y="2244725"/>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400">
                <a:solidFill>
                  <a:schemeClr val="tx1"/>
                </a:solidFill>
                <a:latin typeface="Arial Narrow" panose="020B0606020202030204" pitchFamily="34" charset="0"/>
                <a:ea typeface="宋体" panose="02010600030101010101" pitchFamily="2" charset="-122"/>
              </a:rPr>
              <a:t>Yes</a:t>
            </a:r>
          </a:p>
        </p:txBody>
      </p:sp>
      <p:sp>
        <p:nvSpPr>
          <p:cNvPr id="3085326" name="AutoShape 14">
            <a:extLst>
              <a:ext uri="{FF2B5EF4-FFF2-40B4-BE49-F238E27FC236}">
                <a16:creationId xmlns:a16="http://schemas.microsoft.com/office/drawing/2014/main" id="{07AB1370-6795-3C02-8ADE-0E7316BBA55D}"/>
              </a:ext>
            </a:extLst>
          </p:cNvPr>
          <p:cNvSpPr>
            <a:spLocks noChangeArrowheads="1"/>
          </p:cNvSpPr>
          <p:nvPr/>
        </p:nvSpPr>
        <p:spPr bwMode="auto">
          <a:xfrm>
            <a:off x="242888" y="4316413"/>
            <a:ext cx="3006725" cy="642937"/>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Does the Array have configured LUNs that can be allocated?</a:t>
            </a:r>
          </a:p>
        </p:txBody>
      </p:sp>
      <p:sp>
        <p:nvSpPr>
          <p:cNvPr id="3085327" name="AutoShape 15">
            <a:extLst>
              <a:ext uri="{FF2B5EF4-FFF2-40B4-BE49-F238E27FC236}">
                <a16:creationId xmlns:a16="http://schemas.microsoft.com/office/drawing/2014/main" id="{7E5E0B78-ED30-EB79-677A-A0FD5E66FCAE}"/>
              </a:ext>
            </a:extLst>
          </p:cNvPr>
          <p:cNvSpPr>
            <a:spLocks noChangeArrowheads="1"/>
          </p:cNvSpPr>
          <p:nvPr/>
        </p:nvSpPr>
        <p:spPr bwMode="auto">
          <a:xfrm>
            <a:off x="3811588" y="4429125"/>
            <a:ext cx="2217737" cy="373063"/>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Allocate LUNs to server</a:t>
            </a:r>
          </a:p>
        </p:txBody>
      </p:sp>
      <p:sp>
        <p:nvSpPr>
          <p:cNvPr id="3085328" name="AutoShape 16">
            <a:extLst>
              <a:ext uri="{FF2B5EF4-FFF2-40B4-BE49-F238E27FC236}">
                <a16:creationId xmlns:a16="http://schemas.microsoft.com/office/drawing/2014/main" id="{60BBD6E1-2A8A-1DB3-A443-6D63B14B1A75}"/>
              </a:ext>
            </a:extLst>
          </p:cNvPr>
          <p:cNvSpPr>
            <a:spLocks noChangeArrowheads="1"/>
          </p:cNvSpPr>
          <p:nvPr/>
        </p:nvSpPr>
        <p:spPr bwMode="auto">
          <a:xfrm>
            <a:off x="3816350" y="3263900"/>
            <a:ext cx="1979613" cy="644525"/>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Execute Command to extend VG.</a:t>
            </a:r>
          </a:p>
        </p:txBody>
      </p:sp>
      <p:sp>
        <p:nvSpPr>
          <p:cNvPr id="3085329" name="Line 17">
            <a:extLst>
              <a:ext uri="{FF2B5EF4-FFF2-40B4-BE49-F238E27FC236}">
                <a16:creationId xmlns:a16="http://schemas.microsoft.com/office/drawing/2014/main" id="{61D99502-F0FD-5CF6-BACA-4472D4585C3F}"/>
              </a:ext>
            </a:extLst>
          </p:cNvPr>
          <p:cNvSpPr>
            <a:spLocks noChangeShapeType="1"/>
          </p:cNvSpPr>
          <p:nvPr/>
        </p:nvSpPr>
        <p:spPr bwMode="auto">
          <a:xfrm>
            <a:off x="3184525" y="3544888"/>
            <a:ext cx="6096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30" name="Line 18">
            <a:extLst>
              <a:ext uri="{FF2B5EF4-FFF2-40B4-BE49-F238E27FC236}">
                <a16:creationId xmlns:a16="http://schemas.microsoft.com/office/drawing/2014/main" id="{0EA23C8C-6586-0E5D-97A8-C7D123083359}"/>
              </a:ext>
            </a:extLst>
          </p:cNvPr>
          <p:cNvSpPr>
            <a:spLocks noChangeShapeType="1"/>
          </p:cNvSpPr>
          <p:nvPr/>
        </p:nvSpPr>
        <p:spPr bwMode="auto">
          <a:xfrm>
            <a:off x="1752600" y="2778125"/>
            <a:ext cx="0" cy="44291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31" name="Text Box 19">
            <a:extLst>
              <a:ext uri="{FF2B5EF4-FFF2-40B4-BE49-F238E27FC236}">
                <a16:creationId xmlns:a16="http://schemas.microsoft.com/office/drawing/2014/main" id="{521E0F37-D70C-9E00-048B-C3055EC97BD8}"/>
              </a:ext>
            </a:extLst>
          </p:cNvPr>
          <p:cNvSpPr txBox="1">
            <a:spLocks noChangeArrowheads="1"/>
          </p:cNvSpPr>
          <p:nvPr/>
        </p:nvSpPr>
        <p:spPr bwMode="auto">
          <a:xfrm>
            <a:off x="3282950" y="31750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400">
                <a:solidFill>
                  <a:schemeClr val="tx1"/>
                </a:solidFill>
                <a:latin typeface="Arial Narrow" panose="020B0606020202030204" pitchFamily="34" charset="0"/>
                <a:ea typeface="宋体" panose="02010600030101010101" pitchFamily="2" charset="-122"/>
              </a:rPr>
              <a:t>Yes</a:t>
            </a:r>
          </a:p>
        </p:txBody>
      </p:sp>
      <p:sp>
        <p:nvSpPr>
          <p:cNvPr id="3085332" name="AutoShape 20">
            <a:extLst>
              <a:ext uri="{FF2B5EF4-FFF2-40B4-BE49-F238E27FC236}">
                <a16:creationId xmlns:a16="http://schemas.microsoft.com/office/drawing/2014/main" id="{2AB34B43-744E-CDC3-C93E-EA1BCBB956A1}"/>
              </a:ext>
            </a:extLst>
          </p:cNvPr>
          <p:cNvSpPr>
            <a:spLocks noChangeArrowheads="1"/>
          </p:cNvSpPr>
          <p:nvPr/>
        </p:nvSpPr>
        <p:spPr bwMode="auto">
          <a:xfrm>
            <a:off x="228600" y="5418138"/>
            <a:ext cx="2819400" cy="642937"/>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Does the array have unconfigured capacity?</a:t>
            </a:r>
          </a:p>
        </p:txBody>
      </p:sp>
      <p:sp>
        <p:nvSpPr>
          <p:cNvPr id="3085333" name="AutoShape 21">
            <a:extLst>
              <a:ext uri="{FF2B5EF4-FFF2-40B4-BE49-F238E27FC236}">
                <a16:creationId xmlns:a16="http://schemas.microsoft.com/office/drawing/2014/main" id="{F00B6A9F-5213-DD42-E31A-B465AE2025F9}"/>
              </a:ext>
            </a:extLst>
          </p:cNvPr>
          <p:cNvSpPr>
            <a:spLocks noChangeArrowheads="1"/>
          </p:cNvSpPr>
          <p:nvPr/>
        </p:nvSpPr>
        <p:spPr bwMode="auto">
          <a:xfrm>
            <a:off x="3594100" y="5459413"/>
            <a:ext cx="2192338" cy="374650"/>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Configure new LUNs</a:t>
            </a:r>
          </a:p>
        </p:txBody>
      </p:sp>
      <p:sp>
        <p:nvSpPr>
          <p:cNvPr id="3085334" name="Line 22">
            <a:extLst>
              <a:ext uri="{FF2B5EF4-FFF2-40B4-BE49-F238E27FC236}">
                <a16:creationId xmlns:a16="http://schemas.microsoft.com/office/drawing/2014/main" id="{AE193CA7-6D26-D1B2-897E-7350B5A3A886}"/>
              </a:ext>
            </a:extLst>
          </p:cNvPr>
          <p:cNvSpPr>
            <a:spLocks noChangeShapeType="1"/>
          </p:cNvSpPr>
          <p:nvPr/>
        </p:nvSpPr>
        <p:spPr bwMode="auto">
          <a:xfrm>
            <a:off x="1752600" y="4953000"/>
            <a:ext cx="0" cy="4572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35" name="Line 23">
            <a:extLst>
              <a:ext uri="{FF2B5EF4-FFF2-40B4-BE49-F238E27FC236}">
                <a16:creationId xmlns:a16="http://schemas.microsoft.com/office/drawing/2014/main" id="{CEA06699-9A92-0C0D-4A4C-2C6851F16BB2}"/>
              </a:ext>
            </a:extLst>
          </p:cNvPr>
          <p:cNvSpPr>
            <a:spLocks noChangeShapeType="1"/>
          </p:cNvSpPr>
          <p:nvPr/>
        </p:nvSpPr>
        <p:spPr bwMode="auto">
          <a:xfrm>
            <a:off x="3048000" y="5664200"/>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36" name="AutoShape 24">
            <a:extLst>
              <a:ext uri="{FF2B5EF4-FFF2-40B4-BE49-F238E27FC236}">
                <a16:creationId xmlns:a16="http://schemas.microsoft.com/office/drawing/2014/main" id="{34F13C01-E986-4FAA-4263-7A62B281A30F}"/>
              </a:ext>
            </a:extLst>
          </p:cNvPr>
          <p:cNvSpPr>
            <a:spLocks noChangeArrowheads="1"/>
          </p:cNvSpPr>
          <p:nvPr/>
        </p:nvSpPr>
        <p:spPr bwMode="auto">
          <a:xfrm>
            <a:off x="3352800" y="6324600"/>
            <a:ext cx="2697163" cy="373063"/>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Identify/Procure another array</a:t>
            </a:r>
          </a:p>
        </p:txBody>
      </p:sp>
      <p:sp>
        <p:nvSpPr>
          <p:cNvPr id="3085337" name="Line 25">
            <a:extLst>
              <a:ext uri="{FF2B5EF4-FFF2-40B4-BE49-F238E27FC236}">
                <a16:creationId xmlns:a16="http://schemas.microsoft.com/office/drawing/2014/main" id="{E618B70F-9489-8262-7F81-86B7152C1489}"/>
              </a:ext>
            </a:extLst>
          </p:cNvPr>
          <p:cNvSpPr>
            <a:spLocks noChangeShapeType="1"/>
          </p:cNvSpPr>
          <p:nvPr/>
        </p:nvSpPr>
        <p:spPr bwMode="auto">
          <a:xfrm flipH="1">
            <a:off x="1752600" y="6030913"/>
            <a:ext cx="15875" cy="5476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38" name="Line 26">
            <a:extLst>
              <a:ext uri="{FF2B5EF4-FFF2-40B4-BE49-F238E27FC236}">
                <a16:creationId xmlns:a16="http://schemas.microsoft.com/office/drawing/2014/main" id="{D45CD282-EBB7-4862-FB57-881E26EEE984}"/>
              </a:ext>
            </a:extLst>
          </p:cNvPr>
          <p:cNvSpPr>
            <a:spLocks noChangeShapeType="1"/>
          </p:cNvSpPr>
          <p:nvPr/>
        </p:nvSpPr>
        <p:spPr bwMode="auto">
          <a:xfrm>
            <a:off x="1752600" y="6578600"/>
            <a:ext cx="16002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39" name="Text Box 27">
            <a:extLst>
              <a:ext uri="{FF2B5EF4-FFF2-40B4-BE49-F238E27FC236}">
                <a16:creationId xmlns:a16="http://schemas.microsoft.com/office/drawing/2014/main" id="{5BA8A183-2984-EEFD-CB6A-D0CBD178C4D0}"/>
              </a:ext>
            </a:extLst>
          </p:cNvPr>
          <p:cNvSpPr txBox="1">
            <a:spLocks noChangeArrowheads="1"/>
          </p:cNvSpPr>
          <p:nvPr/>
        </p:nvSpPr>
        <p:spPr bwMode="auto">
          <a:xfrm>
            <a:off x="2133600" y="627380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600">
                <a:solidFill>
                  <a:schemeClr val="tx1"/>
                </a:solidFill>
                <a:latin typeface="Arial Narrow" panose="020B0606020202030204" pitchFamily="34" charset="0"/>
                <a:ea typeface="宋体" panose="02010600030101010101" pitchFamily="2" charset="-122"/>
              </a:rPr>
              <a:t>No</a:t>
            </a:r>
          </a:p>
        </p:txBody>
      </p:sp>
      <p:sp>
        <p:nvSpPr>
          <p:cNvPr id="3085340" name="AutoShape 28">
            <a:extLst>
              <a:ext uri="{FF2B5EF4-FFF2-40B4-BE49-F238E27FC236}">
                <a16:creationId xmlns:a16="http://schemas.microsoft.com/office/drawing/2014/main" id="{0644C221-6651-11B1-F79F-273DF70EF2AC}"/>
              </a:ext>
            </a:extLst>
          </p:cNvPr>
          <p:cNvSpPr>
            <a:spLocks noChangeArrowheads="1"/>
          </p:cNvSpPr>
          <p:nvPr/>
        </p:nvSpPr>
        <p:spPr bwMode="auto">
          <a:xfrm>
            <a:off x="220663" y="3230563"/>
            <a:ext cx="3006725" cy="642937"/>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Does the server have additional devices available?</a:t>
            </a:r>
          </a:p>
        </p:txBody>
      </p:sp>
      <p:sp>
        <p:nvSpPr>
          <p:cNvPr id="3085341" name="Text Box 29">
            <a:extLst>
              <a:ext uri="{FF2B5EF4-FFF2-40B4-BE49-F238E27FC236}">
                <a16:creationId xmlns:a16="http://schemas.microsoft.com/office/drawing/2014/main" id="{1FB51B1C-2F34-9673-EF71-C0CB2A325D6C}"/>
              </a:ext>
            </a:extLst>
          </p:cNvPr>
          <p:cNvSpPr txBox="1">
            <a:spLocks noChangeArrowheads="1"/>
          </p:cNvSpPr>
          <p:nvPr/>
        </p:nvSpPr>
        <p:spPr bwMode="auto">
          <a:xfrm>
            <a:off x="1685925" y="3917950"/>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600">
                <a:solidFill>
                  <a:schemeClr val="tx1"/>
                </a:solidFill>
                <a:latin typeface="Arial Narrow" panose="020B0606020202030204" pitchFamily="34" charset="0"/>
                <a:ea typeface="宋体" panose="02010600030101010101" pitchFamily="2" charset="-122"/>
              </a:rPr>
              <a:t>No</a:t>
            </a:r>
          </a:p>
        </p:txBody>
      </p:sp>
      <p:sp>
        <p:nvSpPr>
          <p:cNvPr id="3085342" name="Line 30">
            <a:extLst>
              <a:ext uri="{FF2B5EF4-FFF2-40B4-BE49-F238E27FC236}">
                <a16:creationId xmlns:a16="http://schemas.microsoft.com/office/drawing/2014/main" id="{24E02D1F-1454-FF70-5026-EA704452C92D}"/>
              </a:ext>
            </a:extLst>
          </p:cNvPr>
          <p:cNvSpPr>
            <a:spLocks noChangeShapeType="1"/>
          </p:cNvSpPr>
          <p:nvPr/>
        </p:nvSpPr>
        <p:spPr bwMode="auto">
          <a:xfrm>
            <a:off x="1762125" y="3867150"/>
            <a:ext cx="0" cy="44291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43" name="Text Box 31">
            <a:extLst>
              <a:ext uri="{FF2B5EF4-FFF2-40B4-BE49-F238E27FC236}">
                <a16:creationId xmlns:a16="http://schemas.microsoft.com/office/drawing/2014/main" id="{5756D88E-4C99-11CB-6293-43F4376E6A6B}"/>
              </a:ext>
            </a:extLst>
          </p:cNvPr>
          <p:cNvSpPr txBox="1">
            <a:spLocks noChangeArrowheads="1"/>
          </p:cNvSpPr>
          <p:nvPr/>
        </p:nvSpPr>
        <p:spPr bwMode="auto">
          <a:xfrm>
            <a:off x="3248025" y="4321175"/>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400">
                <a:solidFill>
                  <a:schemeClr val="tx1"/>
                </a:solidFill>
                <a:latin typeface="Arial Narrow" panose="020B0606020202030204" pitchFamily="34" charset="0"/>
                <a:ea typeface="宋体" panose="02010600030101010101" pitchFamily="2" charset="-122"/>
              </a:rPr>
              <a:t>Yes</a:t>
            </a:r>
          </a:p>
        </p:txBody>
      </p:sp>
      <p:sp>
        <p:nvSpPr>
          <p:cNvPr id="3085344" name="Line 32">
            <a:extLst>
              <a:ext uri="{FF2B5EF4-FFF2-40B4-BE49-F238E27FC236}">
                <a16:creationId xmlns:a16="http://schemas.microsoft.com/office/drawing/2014/main" id="{CB857A13-6A3D-463D-89F4-75B82BC821EB}"/>
              </a:ext>
            </a:extLst>
          </p:cNvPr>
          <p:cNvSpPr>
            <a:spLocks noChangeShapeType="1"/>
          </p:cNvSpPr>
          <p:nvPr/>
        </p:nvSpPr>
        <p:spPr bwMode="auto">
          <a:xfrm>
            <a:off x="3248025" y="4625975"/>
            <a:ext cx="533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45" name="Line 33">
            <a:extLst>
              <a:ext uri="{FF2B5EF4-FFF2-40B4-BE49-F238E27FC236}">
                <a16:creationId xmlns:a16="http://schemas.microsoft.com/office/drawing/2014/main" id="{C7886BE1-B12F-08F8-3019-0C827EF59EFA}"/>
              </a:ext>
            </a:extLst>
          </p:cNvPr>
          <p:cNvSpPr>
            <a:spLocks noChangeShapeType="1"/>
          </p:cNvSpPr>
          <p:nvPr/>
        </p:nvSpPr>
        <p:spPr bwMode="auto">
          <a:xfrm flipV="1">
            <a:off x="4738688" y="4787900"/>
            <a:ext cx="0" cy="66516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85346" name="Line 34">
            <a:extLst>
              <a:ext uri="{FF2B5EF4-FFF2-40B4-BE49-F238E27FC236}">
                <a16:creationId xmlns:a16="http://schemas.microsoft.com/office/drawing/2014/main" id="{544DCA0F-C819-480B-F54A-6DF2BEC68A80}"/>
              </a:ext>
            </a:extLst>
          </p:cNvPr>
          <p:cNvSpPr>
            <a:spLocks noChangeShapeType="1"/>
          </p:cNvSpPr>
          <p:nvPr/>
        </p:nvSpPr>
        <p:spPr bwMode="auto">
          <a:xfrm flipV="1">
            <a:off x="4775200" y="3876675"/>
            <a:ext cx="0" cy="53181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85347" name="Line 35">
            <a:extLst>
              <a:ext uri="{FF2B5EF4-FFF2-40B4-BE49-F238E27FC236}">
                <a16:creationId xmlns:a16="http://schemas.microsoft.com/office/drawing/2014/main" id="{6C98117D-0548-ADCD-3BE6-4D2CA5F7AB38}"/>
              </a:ext>
            </a:extLst>
          </p:cNvPr>
          <p:cNvSpPr>
            <a:spLocks noChangeShapeType="1"/>
          </p:cNvSpPr>
          <p:nvPr/>
        </p:nvSpPr>
        <p:spPr bwMode="auto">
          <a:xfrm flipV="1">
            <a:off x="4760913" y="3006725"/>
            <a:ext cx="4762" cy="26511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85348" name="Text Box 36">
            <a:extLst>
              <a:ext uri="{FF2B5EF4-FFF2-40B4-BE49-F238E27FC236}">
                <a16:creationId xmlns:a16="http://schemas.microsoft.com/office/drawing/2014/main" id="{0F1E3D73-FCB2-BA2D-58F2-C215077C02C8}"/>
              </a:ext>
            </a:extLst>
          </p:cNvPr>
          <p:cNvSpPr txBox="1">
            <a:spLocks noChangeArrowheads="1"/>
          </p:cNvSpPr>
          <p:nvPr/>
        </p:nvSpPr>
        <p:spPr bwMode="auto">
          <a:xfrm>
            <a:off x="7251700" y="1831975"/>
            <a:ext cx="533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600">
                <a:solidFill>
                  <a:schemeClr val="tx1"/>
                </a:solidFill>
                <a:latin typeface="Arial Narrow" panose="020B0606020202030204" pitchFamily="34" charset="0"/>
                <a:ea typeface="宋体" panose="02010600030101010101" pitchFamily="2" charset="-122"/>
              </a:rPr>
              <a:t>No</a:t>
            </a:r>
          </a:p>
        </p:txBody>
      </p:sp>
      <p:sp>
        <p:nvSpPr>
          <p:cNvPr id="3085349" name="Line 37">
            <a:extLst>
              <a:ext uri="{FF2B5EF4-FFF2-40B4-BE49-F238E27FC236}">
                <a16:creationId xmlns:a16="http://schemas.microsoft.com/office/drawing/2014/main" id="{78C38974-D8F1-D55C-D6E8-E0A6D85EE10C}"/>
              </a:ext>
            </a:extLst>
          </p:cNvPr>
          <p:cNvSpPr>
            <a:spLocks noChangeShapeType="1"/>
          </p:cNvSpPr>
          <p:nvPr/>
        </p:nvSpPr>
        <p:spPr bwMode="auto">
          <a:xfrm>
            <a:off x="7327900" y="1781175"/>
            <a:ext cx="0" cy="442913"/>
          </a:xfrm>
          <a:prstGeom prst="line">
            <a:avLst/>
          </a:prstGeom>
          <a:noFill/>
          <a:ln w="1905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50" name="AutoShape 38">
            <a:extLst>
              <a:ext uri="{FF2B5EF4-FFF2-40B4-BE49-F238E27FC236}">
                <a16:creationId xmlns:a16="http://schemas.microsoft.com/office/drawing/2014/main" id="{CC7AE25F-8E84-E389-DF1F-CC80A4316FB0}"/>
              </a:ext>
            </a:extLst>
          </p:cNvPr>
          <p:cNvSpPr>
            <a:spLocks noChangeArrowheads="1"/>
          </p:cNvSpPr>
          <p:nvPr/>
        </p:nvSpPr>
        <p:spPr bwMode="auto">
          <a:xfrm>
            <a:off x="6864350" y="1404938"/>
            <a:ext cx="835025" cy="374650"/>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Done</a:t>
            </a:r>
          </a:p>
        </p:txBody>
      </p:sp>
      <p:sp>
        <p:nvSpPr>
          <p:cNvPr id="3085351" name="Line 39">
            <a:extLst>
              <a:ext uri="{FF2B5EF4-FFF2-40B4-BE49-F238E27FC236}">
                <a16:creationId xmlns:a16="http://schemas.microsoft.com/office/drawing/2014/main" id="{5EAD6C73-0E5B-9630-F577-DA076C88FCDF}"/>
              </a:ext>
            </a:extLst>
          </p:cNvPr>
          <p:cNvSpPr>
            <a:spLocks noChangeShapeType="1"/>
          </p:cNvSpPr>
          <p:nvPr/>
        </p:nvSpPr>
        <p:spPr bwMode="auto">
          <a:xfrm>
            <a:off x="7308850" y="2873375"/>
            <a:ext cx="0" cy="4572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85352" name="Text Box 40">
            <a:extLst>
              <a:ext uri="{FF2B5EF4-FFF2-40B4-BE49-F238E27FC236}">
                <a16:creationId xmlns:a16="http://schemas.microsoft.com/office/drawing/2014/main" id="{9EA02932-9727-3AEB-C8F7-3DC729E446DF}"/>
              </a:ext>
            </a:extLst>
          </p:cNvPr>
          <p:cNvSpPr txBox="1">
            <a:spLocks noChangeArrowheads="1"/>
          </p:cNvSpPr>
          <p:nvPr/>
        </p:nvSpPr>
        <p:spPr bwMode="auto">
          <a:xfrm>
            <a:off x="7389813" y="2909888"/>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buClrTx/>
              <a:buFontTx/>
              <a:buNone/>
            </a:pPr>
            <a:r>
              <a:rPr lang="en-US" altLang="zh-CN" sz="1400">
                <a:solidFill>
                  <a:schemeClr val="tx1"/>
                </a:solidFill>
                <a:latin typeface="Arial Narrow" panose="020B0606020202030204" pitchFamily="34" charset="0"/>
                <a:ea typeface="宋体" panose="02010600030101010101" pitchFamily="2" charset="-122"/>
              </a:rPr>
              <a:t>Yes</a:t>
            </a:r>
          </a:p>
        </p:txBody>
      </p:sp>
      <p:sp>
        <p:nvSpPr>
          <p:cNvPr id="3085353" name="AutoShape 41">
            <a:extLst>
              <a:ext uri="{FF2B5EF4-FFF2-40B4-BE49-F238E27FC236}">
                <a16:creationId xmlns:a16="http://schemas.microsoft.com/office/drawing/2014/main" id="{6C02FD50-C291-7FF0-49C9-EEBC1CD07F01}"/>
              </a:ext>
            </a:extLst>
          </p:cNvPr>
          <p:cNvSpPr>
            <a:spLocks noChangeArrowheads="1"/>
          </p:cNvSpPr>
          <p:nvPr/>
        </p:nvSpPr>
        <p:spPr bwMode="auto">
          <a:xfrm>
            <a:off x="6072188" y="3360738"/>
            <a:ext cx="2533650" cy="1185862"/>
          </a:xfrm>
          <a:prstGeom prst="roundRect">
            <a:avLst>
              <a:gd name="adj" fmla="val 16667"/>
            </a:avLst>
          </a:prstGeom>
          <a:solidFill>
            <a:srgbClr val="CDCDFF"/>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spcBef>
                <a:spcPct val="0"/>
              </a:spcBef>
              <a:buClrTx/>
              <a:buFontTx/>
              <a:buNone/>
            </a:pPr>
            <a:r>
              <a:rPr lang="en-US" altLang="zh-CN" sz="1600">
                <a:solidFill>
                  <a:schemeClr val="tx1"/>
                </a:solidFill>
                <a:latin typeface="Arial Narrow" panose="020B0606020202030204" pitchFamily="34" charset="0"/>
                <a:ea typeface="宋体" panose="02010600030101010101" pitchFamily="2" charset="-122"/>
              </a:rPr>
              <a:t>Perform tasks to ensure that the larger File System and Volume Group are replicated correctly</a:t>
            </a:r>
          </a:p>
        </p:txBody>
      </p:sp>
      <p:grpSp>
        <p:nvGrpSpPr>
          <p:cNvPr id="3085354" name="Group 42">
            <a:extLst>
              <a:ext uri="{FF2B5EF4-FFF2-40B4-BE49-F238E27FC236}">
                <a16:creationId xmlns:a16="http://schemas.microsoft.com/office/drawing/2014/main" id="{F0E313B5-352F-04F1-7853-011609A20970}"/>
              </a:ext>
            </a:extLst>
          </p:cNvPr>
          <p:cNvGrpSpPr>
            <a:grpSpLocks/>
          </p:cNvGrpSpPr>
          <p:nvPr/>
        </p:nvGrpSpPr>
        <p:grpSpPr bwMode="auto">
          <a:xfrm>
            <a:off x="7680325" y="1600200"/>
            <a:ext cx="1181100" cy="2327275"/>
            <a:chOff x="4838" y="1008"/>
            <a:chExt cx="744" cy="1466"/>
          </a:xfrm>
        </p:grpSpPr>
        <p:sp>
          <p:nvSpPr>
            <p:cNvPr id="3085355" name="Line 43">
              <a:extLst>
                <a:ext uri="{FF2B5EF4-FFF2-40B4-BE49-F238E27FC236}">
                  <a16:creationId xmlns:a16="http://schemas.microsoft.com/office/drawing/2014/main" id="{94222A62-DDB2-9874-56BE-FC271DA38742}"/>
                </a:ext>
              </a:extLst>
            </p:cNvPr>
            <p:cNvSpPr>
              <a:spLocks noChangeShapeType="1"/>
            </p:cNvSpPr>
            <p:nvPr/>
          </p:nvSpPr>
          <p:spPr bwMode="auto">
            <a:xfrm>
              <a:off x="5414" y="2472"/>
              <a:ext cx="157" cy="0"/>
            </a:xfrm>
            <a:prstGeom prst="line">
              <a:avLst/>
            </a:prstGeom>
            <a:noFill/>
            <a:ln w="1905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85356" name="Line 44">
              <a:extLst>
                <a:ext uri="{FF2B5EF4-FFF2-40B4-BE49-F238E27FC236}">
                  <a16:creationId xmlns:a16="http://schemas.microsoft.com/office/drawing/2014/main" id="{92627D49-34A4-F912-5B41-A3FB9DC909D5}"/>
                </a:ext>
              </a:extLst>
            </p:cNvPr>
            <p:cNvSpPr>
              <a:spLocks noChangeShapeType="1"/>
            </p:cNvSpPr>
            <p:nvPr/>
          </p:nvSpPr>
          <p:spPr bwMode="auto">
            <a:xfrm flipV="1">
              <a:off x="5576" y="1008"/>
              <a:ext cx="0" cy="1466"/>
            </a:xfrm>
            <a:prstGeom prst="line">
              <a:avLst/>
            </a:prstGeom>
            <a:noFill/>
            <a:ln w="1905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85357" name="Line 45">
              <a:extLst>
                <a:ext uri="{FF2B5EF4-FFF2-40B4-BE49-F238E27FC236}">
                  <a16:creationId xmlns:a16="http://schemas.microsoft.com/office/drawing/2014/main" id="{37FCCA69-94D5-A6DA-0340-0DAE003B90BE}"/>
                </a:ext>
              </a:extLst>
            </p:cNvPr>
            <p:cNvSpPr>
              <a:spLocks noChangeShapeType="1"/>
            </p:cNvSpPr>
            <p:nvPr/>
          </p:nvSpPr>
          <p:spPr bwMode="auto">
            <a:xfrm flipH="1">
              <a:off x="4838" y="1016"/>
              <a:ext cx="744"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sp>
        <p:nvSpPr>
          <p:cNvPr id="3085358" name="Line 46">
            <a:extLst>
              <a:ext uri="{FF2B5EF4-FFF2-40B4-BE49-F238E27FC236}">
                <a16:creationId xmlns:a16="http://schemas.microsoft.com/office/drawing/2014/main" id="{9BA75B4F-D438-0BBF-2603-3BB01E00BFB2}"/>
              </a:ext>
            </a:extLst>
          </p:cNvPr>
          <p:cNvSpPr>
            <a:spLocks noChangeShapeType="1"/>
          </p:cNvSpPr>
          <p:nvPr/>
        </p:nvSpPr>
        <p:spPr bwMode="auto">
          <a:xfrm flipV="1">
            <a:off x="4708525" y="5821363"/>
            <a:ext cx="0" cy="515937"/>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8A0F42F2-5503-6C55-8AB9-7C5391DCFE14}"/>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3">
            <a:extLst>
              <a:ext uri="{FF2B5EF4-FFF2-40B4-BE49-F238E27FC236}">
                <a16:creationId xmlns:a16="http://schemas.microsoft.com/office/drawing/2014/main" id="{97B193B7-38CE-20E6-687B-1CE293D75C81}"/>
              </a:ext>
            </a:extLst>
          </p:cNvPr>
          <p:cNvSpPr>
            <a:spLocks noGrp="1"/>
          </p:cNvSpPr>
          <p:nvPr>
            <p:ph type="sldNum" sz="quarter" idx="11"/>
          </p:nvPr>
        </p:nvSpPr>
        <p:spPr/>
        <p:txBody>
          <a:bodyPr/>
          <a:lstStyle/>
          <a:p>
            <a:r>
              <a:rPr lang="zh-CN" altLang="en-US"/>
              <a:t> </a:t>
            </a:r>
            <a:r>
              <a:rPr lang="en-US" altLang="zh-CN"/>
              <a:t>- </a:t>
            </a:r>
            <a:fld id="{73A6A378-FDE5-4D78-8AC7-B9C4531D52CC}" type="slidenum">
              <a:rPr lang="en-US" altLang="zh-CN" sz="800"/>
              <a:pPr/>
              <a:t>77</a:t>
            </a:fld>
            <a:endParaRPr lang="en-US" altLang="zh-CN" sz="800"/>
          </a:p>
        </p:txBody>
      </p:sp>
      <p:sp>
        <p:nvSpPr>
          <p:cNvPr id="3087397" name="Line 37">
            <a:extLst>
              <a:ext uri="{FF2B5EF4-FFF2-40B4-BE49-F238E27FC236}">
                <a16:creationId xmlns:a16="http://schemas.microsoft.com/office/drawing/2014/main" id="{2B43219A-F230-FD97-73D2-43175F757E1D}"/>
              </a:ext>
            </a:extLst>
          </p:cNvPr>
          <p:cNvSpPr>
            <a:spLocks noChangeShapeType="1"/>
          </p:cNvSpPr>
          <p:nvPr/>
        </p:nvSpPr>
        <p:spPr bwMode="auto">
          <a:xfrm>
            <a:off x="6846888" y="3228975"/>
            <a:ext cx="550862" cy="0"/>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87390" name="Line 30">
            <a:extLst>
              <a:ext uri="{FF2B5EF4-FFF2-40B4-BE49-F238E27FC236}">
                <a16:creationId xmlns:a16="http://schemas.microsoft.com/office/drawing/2014/main" id="{2A387CCD-1970-8549-57DF-B4D49C1AB3B8}"/>
              </a:ext>
            </a:extLst>
          </p:cNvPr>
          <p:cNvSpPr>
            <a:spLocks noChangeShapeType="1"/>
          </p:cNvSpPr>
          <p:nvPr/>
        </p:nvSpPr>
        <p:spPr bwMode="auto">
          <a:xfrm>
            <a:off x="6824663" y="3076575"/>
            <a:ext cx="550862" cy="0"/>
          </a:xfrm>
          <a:prstGeom prst="line">
            <a:avLst/>
          </a:prstGeom>
          <a:noFill/>
          <a:ln w="12700">
            <a:solidFill>
              <a:srgbClr val="0000FF"/>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87736" name="Line 376">
            <a:extLst>
              <a:ext uri="{FF2B5EF4-FFF2-40B4-BE49-F238E27FC236}">
                <a16:creationId xmlns:a16="http://schemas.microsoft.com/office/drawing/2014/main" id="{CF17F8B0-1444-8045-B0D3-81D752229F86}"/>
              </a:ext>
            </a:extLst>
          </p:cNvPr>
          <p:cNvSpPr>
            <a:spLocks noChangeShapeType="1"/>
          </p:cNvSpPr>
          <p:nvPr/>
        </p:nvSpPr>
        <p:spPr bwMode="auto">
          <a:xfrm>
            <a:off x="2590800" y="2667000"/>
            <a:ext cx="3187700" cy="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87751" name="Line 391">
            <a:extLst>
              <a:ext uri="{FF2B5EF4-FFF2-40B4-BE49-F238E27FC236}">
                <a16:creationId xmlns:a16="http://schemas.microsoft.com/office/drawing/2014/main" id="{A2C4F94B-D8CD-3471-48C5-18B5CAE72101}"/>
              </a:ext>
            </a:extLst>
          </p:cNvPr>
          <p:cNvSpPr>
            <a:spLocks noChangeShapeType="1"/>
          </p:cNvSpPr>
          <p:nvPr/>
        </p:nvSpPr>
        <p:spPr bwMode="auto">
          <a:xfrm>
            <a:off x="2590800" y="3644900"/>
            <a:ext cx="3162300" cy="0"/>
          </a:xfrm>
          <a:prstGeom prst="line">
            <a:avLst/>
          </a:prstGeom>
          <a:noFill/>
          <a:ln w="38100">
            <a:solidFill>
              <a:srgbClr val="FF99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pic>
        <p:nvPicPr>
          <p:cNvPr id="3087883" name="Picture 523">
            <a:extLst>
              <a:ext uri="{FF2B5EF4-FFF2-40B4-BE49-F238E27FC236}">
                <a16:creationId xmlns:a16="http://schemas.microsoft.com/office/drawing/2014/main" id="{5C197551-F1CC-6036-43A6-948440E255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650" y="1616075"/>
            <a:ext cx="1042988" cy="1717675"/>
          </a:xfrm>
          <a:prstGeom prst="rect">
            <a:avLst/>
          </a:prstGeom>
          <a:noFill/>
          <a:extLst>
            <a:ext uri="{909E8E84-426E-40DD-AFC4-6F175D3DCCD1}">
              <a14:hiddenFill xmlns:a14="http://schemas.microsoft.com/office/drawing/2010/main">
                <a:solidFill>
                  <a:srgbClr val="FFFFFF"/>
                </a:solidFill>
              </a14:hiddenFill>
            </a:ext>
          </a:extLst>
        </p:spPr>
      </p:pic>
      <p:sp>
        <p:nvSpPr>
          <p:cNvPr id="3087388" name="Rectangle 28">
            <a:extLst>
              <a:ext uri="{FF2B5EF4-FFF2-40B4-BE49-F238E27FC236}">
                <a16:creationId xmlns:a16="http://schemas.microsoft.com/office/drawing/2014/main" id="{6CE08348-5E74-1362-741D-07FF1CF4EC12}"/>
              </a:ext>
            </a:extLst>
          </p:cNvPr>
          <p:cNvSpPr>
            <a:spLocks noGrp="1" noChangeArrowheads="1"/>
          </p:cNvSpPr>
          <p:nvPr>
            <p:ph type="title"/>
          </p:nvPr>
        </p:nvSpPr>
        <p:spPr/>
        <p:txBody>
          <a:bodyPr/>
          <a:lstStyle/>
          <a:p>
            <a:r>
              <a:rPr lang="en-US" altLang="zh-CN">
                <a:ea typeface="宋体" panose="02010600030101010101" pitchFamily="2" charset="-122"/>
              </a:rPr>
              <a:t>Managing Example: Chargeback Report</a:t>
            </a:r>
          </a:p>
        </p:txBody>
      </p:sp>
      <p:sp>
        <p:nvSpPr>
          <p:cNvPr id="3087389" name="AutoShape 29">
            <a:extLst>
              <a:ext uri="{FF2B5EF4-FFF2-40B4-BE49-F238E27FC236}">
                <a16:creationId xmlns:a16="http://schemas.microsoft.com/office/drawing/2014/main" id="{D606B384-F06A-F3BF-E19D-D07294731BC2}"/>
              </a:ext>
            </a:extLst>
          </p:cNvPr>
          <p:cNvSpPr>
            <a:spLocks noChangeArrowheads="1"/>
          </p:cNvSpPr>
          <p:nvPr/>
        </p:nvSpPr>
        <p:spPr bwMode="auto">
          <a:xfrm>
            <a:off x="5016500" y="1954213"/>
            <a:ext cx="1844675" cy="2528887"/>
          </a:xfrm>
          <a:prstGeom prst="roundRect">
            <a:avLst>
              <a:gd name="adj" fmla="val 11657"/>
            </a:avLst>
          </a:prstGeom>
          <a:solidFill>
            <a:srgbClr val="E1FFE1"/>
          </a:solidFill>
          <a:ln w="6350" algn="ctr">
            <a:solidFill>
              <a:srgbClr val="000000"/>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3087391" name="Text Box 31">
            <a:extLst>
              <a:ext uri="{FF2B5EF4-FFF2-40B4-BE49-F238E27FC236}">
                <a16:creationId xmlns:a16="http://schemas.microsoft.com/office/drawing/2014/main" id="{CB4D8898-3CB2-A636-7656-F1EF1989A053}"/>
              </a:ext>
            </a:extLst>
          </p:cNvPr>
          <p:cNvSpPr txBox="1">
            <a:spLocks noChangeArrowheads="1"/>
          </p:cNvSpPr>
          <p:nvPr/>
        </p:nvSpPr>
        <p:spPr bwMode="auto">
          <a:xfrm>
            <a:off x="5919788" y="4640263"/>
            <a:ext cx="22288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a:solidFill>
                  <a:srgbClr val="003580"/>
                </a:solidFill>
                <a:ea typeface="宋体" panose="02010600030101010101" pitchFamily="2" charset="-122"/>
              </a:rPr>
              <a:t>Storage Arrays</a:t>
            </a:r>
          </a:p>
        </p:txBody>
      </p:sp>
      <p:sp>
        <p:nvSpPr>
          <p:cNvPr id="3087392" name="Text Box 32">
            <a:extLst>
              <a:ext uri="{FF2B5EF4-FFF2-40B4-BE49-F238E27FC236}">
                <a16:creationId xmlns:a16="http://schemas.microsoft.com/office/drawing/2014/main" id="{BFBCBFD8-8105-1350-7F80-D94CFC087622}"/>
              </a:ext>
            </a:extLst>
          </p:cNvPr>
          <p:cNvSpPr txBox="1">
            <a:spLocks noChangeArrowheads="1"/>
          </p:cNvSpPr>
          <p:nvPr/>
        </p:nvSpPr>
        <p:spPr bwMode="auto">
          <a:xfrm>
            <a:off x="3708400" y="3952875"/>
            <a:ext cx="6572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a:solidFill>
                  <a:srgbClr val="003580"/>
                </a:solidFill>
                <a:ea typeface="宋体" panose="02010600030101010101" pitchFamily="2" charset="-122"/>
              </a:rPr>
              <a:t>SW2</a:t>
            </a:r>
          </a:p>
        </p:txBody>
      </p:sp>
      <p:sp>
        <p:nvSpPr>
          <p:cNvPr id="3087393" name="Text Box 33">
            <a:extLst>
              <a:ext uri="{FF2B5EF4-FFF2-40B4-BE49-F238E27FC236}">
                <a16:creationId xmlns:a16="http://schemas.microsoft.com/office/drawing/2014/main" id="{ADC312AC-5B5A-C9AA-0EDA-09CB7EBC2204}"/>
              </a:ext>
            </a:extLst>
          </p:cNvPr>
          <p:cNvSpPr txBox="1">
            <a:spLocks noChangeArrowheads="1"/>
          </p:cNvSpPr>
          <p:nvPr/>
        </p:nvSpPr>
        <p:spPr bwMode="auto">
          <a:xfrm>
            <a:off x="0" y="4044950"/>
            <a:ext cx="256540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a:solidFill>
                  <a:srgbClr val="003580"/>
                </a:solidFill>
                <a:ea typeface="宋体" panose="02010600030101010101" pitchFamily="2" charset="-122"/>
              </a:rPr>
              <a:t>Hosts/Servers </a:t>
            </a:r>
          </a:p>
          <a:p>
            <a:pPr algn="ctr">
              <a:spcBef>
                <a:spcPct val="50000"/>
              </a:spcBef>
            </a:pPr>
            <a:r>
              <a:rPr lang="en-US" altLang="zh-CN" sz="1800">
                <a:solidFill>
                  <a:srgbClr val="003580"/>
                </a:solidFill>
                <a:ea typeface="宋体" panose="02010600030101010101" pitchFamily="2" charset="-122"/>
              </a:rPr>
              <a:t>with Applications</a:t>
            </a:r>
          </a:p>
        </p:txBody>
      </p:sp>
      <p:sp>
        <p:nvSpPr>
          <p:cNvPr id="3087394" name="Text Box 34">
            <a:extLst>
              <a:ext uri="{FF2B5EF4-FFF2-40B4-BE49-F238E27FC236}">
                <a16:creationId xmlns:a16="http://schemas.microsoft.com/office/drawing/2014/main" id="{E9616CDB-343F-3645-6191-855ABD6965E3}"/>
              </a:ext>
            </a:extLst>
          </p:cNvPr>
          <p:cNvSpPr txBox="1">
            <a:spLocks noChangeArrowheads="1"/>
          </p:cNvSpPr>
          <p:nvPr/>
        </p:nvSpPr>
        <p:spPr bwMode="auto">
          <a:xfrm>
            <a:off x="3525838" y="2149475"/>
            <a:ext cx="9207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a:solidFill>
                  <a:srgbClr val="003580"/>
                </a:solidFill>
                <a:ea typeface="宋体" panose="02010600030101010101" pitchFamily="2" charset="-122"/>
              </a:rPr>
              <a:t>SW1</a:t>
            </a:r>
          </a:p>
        </p:txBody>
      </p:sp>
      <p:sp>
        <p:nvSpPr>
          <p:cNvPr id="3087557" name="Line 197">
            <a:extLst>
              <a:ext uri="{FF2B5EF4-FFF2-40B4-BE49-F238E27FC236}">
                <a16:creationId xmlns:a16="http://schemas.microsoft.com/office/drawing/2014/main" id="{8AA6B02D-7AB0-2BFE-AED8-8E90AC491762}"/>
              </a:ext>
            </a:extLst>
          </p:cNvPr>
          <p:cNvSpPr>
            <a:spLocks noChangeShapeType="1"/>
          </p:cNvSpPr>
          <p:nvPr/>
        </p:nvSpPr>
        <p:spPr bwMode="auto">
          <a:xfrm>
            <a:off x="1963738" y="3152775"/>
            <a:ext cx="400050" cy="44450"/>
          </a:xfrm>
          <a:prstGeom prst="line">
            <a:avLst/>
          </a:prstGeom>
          <a:noFill/>
          <a:ln w="9525">
            <a:solidFill>
              <a:srgbClr val="000000"/>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nvGrpSpPr>
          <p:cNvPr id="3087968" name="Group 608">
            <a:extLst>
              <a:ext uri="{FF2B5EF4-FFF2-40B4-BE49-F238E27FC236}">
                <a16:creationId xmlns:a16="http://schemas.microsoft.com/office/drawing/2014/main" id="{F145E49A-3470-F439-9D7E-03F3E46A80D4}"/>
              </a:ext>
            </a:extLst>
          </p:cNvPr>
          <p:cNvGrpSpPr>
            <a:grpSpLocks/>
          </p:cNvGrpSpPr>
          <p:nvPr/>
        </p:nvGrpSpPr>
        <p:grpSpPr bwMode="auto">
          <a:xfrm>
            <a:off x="1268413" y="2154238"/>
            <a:ext cx="735012" cy="893762"/>
            <a:chOff x="1313" y="1918"/>
            <a:chExt cx="643" cy="662"/>
          </a:xfrm>
        </p:grpSpPr>
        <p:sp>
          <p:nvSpPr>
            <p:cNvPr id="3087969" name="Rectangle 609">
              <a:extLst>
                <a:ext uri="{FF2B5EF4-FFF2-40B4-BE49-F238E27FC236}">
                  <a16:creationId xmlns:a16="http://schemas.microsoft.com/office/drawing/2014/main" id="{97912B45-E20F-CE82-2643-3707D0CC0351}"/>
                </a:ext>
              </a:extLst>
            </p:cNvPr>
            <p:cNvSpPr>
              <a:spLocks noChangeArrowheads="1"/>
            </p:cNvSpPr>
            <p:nvPr/>
          </p:nvSpPr>
          <p:spPr bwMode="auto">
            <a:xfrm>
              <a:off x="1386" y="1962"/>
              <a:ext cx="570" cy="618"/>
            </a:xfrm>
            <a:prstGeom prst="rect">
              <a:avLst/>
            </a:prstGeom>
            <a:solidFill>
              <a:schemeClr val="bg1"/>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nvGrpSpPr>
            <p:cNvPr id="3087970" name="Group 610">
              <a:extLst>
                <a:ext uri="{FF2B5EF4-FFF2-40B4-BE49-F238E27FC236}">
                  <a16:creationId xmlns:a16="http://schemas.microsoft.com/office/drawing/2014/main" id="{6598BCB1-DD9A-7936-5C4E-EF4CD991A6F6}"/>
                </a:ext>
              </a:extLst>
            </p:cNvPr>
            <p:cNvGrpSpPr>
              <a:grpSpLocks/>
            </p:cNvGrpSpPr>
            <p:nvPr/>
          </p:nvGrpSpPr>
          <p:grpSpPr bwMode="auto">
            <a:xfrm>
              <a:off x="1313" y="1918"/>
              <a:ext cx="629" cy="648"/>
              <a:chOff x="963" y="1642"/>
              <a:chExt cx="631" cy="606"/>
            </a:xfrm>
          </p:grpSpPr>
          <p:grpSp>
            <p:nvGrpSpPr>
              <p:cNvPr id="3087971" name="Group 611">
                <a:extLst>
                  <a:ext uri="{FF2B5EF4-FFF2-40B4-BE49-F238E27FC236}">
                    <a16:creationId xmlns:a16="http://schemas.microsoft.com/office/drawing/2014/main" id="{D29FD215-D3E3-D456-5D03-1B811BC928EF}"/>
                  </a:ext>
                </a:extLst>
              </p:cNvPr>
              <p:cNvGrpSpPr>
                <a:grpSpLocks noChangeAspect="1"/>
              </p:cNvGrpSpPr>
              <p:nvPr/>
            </p:nvGrpSpPr>
            <p:grpSpPr bwMode="auto">
              <a:xfrm>
                <a:off x="963" y="1642"/>
                <a:ext cx="631" cy="412"/>
                <a:chOff x="430" y="2135"/>
                <a:chExt cx="2116" cy="1380"/>
              </a:xfrm>
            </p:grpSpPr>
            <p:grpSp>
              <p:nvGrpSpPr>
                <p:cNvPr id="3087972" name="Group 612">
                  <a:extLst>
                    <a:ext uri="{FF2B5EF4-FFF2-40B4-BE49-F238E27FC236}">
                      <a16:creationId xmlns:a16="http://schemas.microsoft.com/office/drawing/2014/main" id="{919C63E0-EF6A-FE29-5DF9-3D5C233418F6}"/>
                    </a:ext>
                  </a:extLst>
                </p:cNvPr>
                <p:cNvGrpSpPr>
                  <a:grpSpLocks noChangeAspect="1"/>
                </p:cNvGrpSpPr>
                <p:nvPr/>
              </p:nvGrpSpPr>
              <p:grpSpPr bwMode="auto">
                <a:xfrm>
                  <a:off x="1100" y="2241"/>
                  <a:ext cx="1265" cy="782"/>
                  <a:chOff x="1100" y="2241"/>
                  <a:chExt cx="1265" cy="782"/>
                </a:xfrm>
              </p:grpSpPr>
              <p:sp>
                <p:nvSpPr>
                  <p:cNvPr id="3087973" name="Text Box 613">
                    <a:extLst>
                      <a:ext uri="{FF2B5EF4-FFF2-40B4-BE49-F238E27FC236}">
                        <a16:creationId xmlns:a16="http://schemas.microsoft.com/office/drawing/2014/main" id="{AB6EC1E0-98A1-F939-3B32-96884A6DEB57}"/>
                      </a:ext>
                    </a:extLst>
                  </p:cNvPr>
                  <p:cNvSpPr txBox="1">
                    <a:spLocks noChangeAspect="1" noChangeArrowheads="1"/>
                  </p:cNvSpPr>
                  <p:nvPr/>
                </p:nvSpPr>
                <p:spPr bwMode="auto">
                  <a:xfrm>
                    <a:off x="1399" y="2241"/>
                    <a:ext cx="541" cy="7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ClrTx/>
                      <a:buFontTx/>
                      <a:buNone/>
                    </a:pPr>
                    <a:endParaRPr lang="zh-CN" altLang="en-US" sz="1600">
                      <a:solidFill>
                        <a:srgbClr val="000000"/>
                      </a:solidFill>
                      <a:ea typeface="宋体" panose="02010600030101010101" pitchFamily="2" charset="-122"/>
                    </a:endParaRPr>
                  </a:p>
                </p:txBody>
              </p:sp>
              <p:sp>
                <p:nvSpPr>
                  <p:cNvPr id="3087974" name="AutoShape 614">
                    <a:extLst>
                      <a:ext uri="{FF2B5EF4-FFF2-40B4-BE49-F238E27FC236}">
                        <a16:creationId xmlns:a16="http://schemas.microsoft.com/office/drawing/2014/main" id="{FC8A7083-1E66-4AB1-1ABF-2782D784C450}"/>
                      </a:ext>
                    </a:extLst>
                  </p:cNvPr>
                  <p:cNvSpPr>
                    <a:spLocks noChangeAspect="1"/>
                  </p:cNvSpPr>
                  <p:nvPr/>
                </p:nvSpPr>
                <p:spPr bwMode="auto">
                  <a:xfrm rot="5400000" flipV="1">
                    <a:off x="1719" y="1916"/>
                    <a:ext cx="85" cy="1206"/>
                  </a:xfrm>
                  <a:prstGeom prst="rightBrace">
                    <a:avLst>
                      <a:gd name="adj1" fmla="val 118235"/>
                      <a:gd name="adj2" fmla="val 50000"/>
                    </a:avLst>
                  </a:pr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3087975" name="Group 615">
                    <a:extLst>
                      <a:ext uri="{FF2B5EF4-FFF2-40B4-BE49-F238E27FC236}">
                        <a16:creationId xmlns:a16="http://schemas.microsoft.com/office/drawing/2014/main" id="{A69451BC-4231-68F3-1FB8-A3CC57F86FD9}"/>
                      </a:ext>
                    </a:extLst>
                  </p:cNvPr>
                  <p:cNvGrpSpPr>
                    <a:grpSpLocks noChangeAspect="1"/>
                  </p:cNvGrpSpPr>
                  <p:nvPr/>
                </p:nvGrpSpPr>
                <p:grpSpPr bwMode="auto">
                  <a:xfrm>
                    <a:off x="1100" y="2269"/>
                    <a:ext cx="364" cy="159"/>
                    <a:chOff x="3748" y="3793"/>
                    <a:chExt cx="364" cy="159"/>
                  </a:xfrm>
                </p:grpSpPr>
                <p:sp>
                  <p:nvSpPr>
                    <p:cNvPr id="3087976" name="Oval 616">
                      <a:extLst>
                        <a:ext uri="{FF2B5EF4-FFF2-40B4-BE49-F238E27FC236}">
                          <a16:creationId xmlns:a16="http://schemas.microsoft.com/office/drawing/2014/main" id="{58F25080-76FC-C6F7-D90C-68059F8D3811}"/>
                        </a:ext>
                      </a:extLst>
                    </p:cNvPr>
                    <p:cNvSpPr>
                      <a:spLocks noChangeAspect="1" noChangeArrowheads="1"/>
                    </p:cNvSpPr>
                    <p:nvPr/>
                  </p:nvSpPr>
                  <p:spPr bwMode="auto">
                    <a:xfrm>
                      <a:off x="3748" y="3825"/>
                      <a:ext cx="364" cy="127"/>
                    </a:xfrm>
                    <a:prstGeom prst="ellipse">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977" name="Rectangle 617">
                      <a:extLst>
                        <a:ext uri="{FF2B5EF4-FFF2-40B4-BE49-F238E27FC236}">
                          <a16:creationId xmlns:a16="http://schemas.microsoft.com/office/drawing/2014/main" id="{AED80A26-C3C0-97AB-C03B-DCC1F9A482B6}"/>
                        </a:ext>
                      </a:extLst>
                    </p:cNvPr>
                    <p:cNvSpPr>
                      <a:spLocks noChangeAspect="1" noChangeArrowheads="1"/>
                    </p:cNvSpPr>
                    <p:nvPr/>
                  </p:nvSpPr>
                  <p:spPr bwMode="auto">
                    <a:xfrm>
                      <a:off x="3748" y="3857"/>
                      <a:ext cx="364" cy="31"/>
                    </a:xfrm>
                    <a:prstGeom prst="rect">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978" name="Oval 618">
                      <a:extLst>
                        <a:ext uri="{FF2B5EF4-FFF2-40B4-BE49-F238E27FC236}">
                          <a16:creationId xmlns:a16="http://schemas.microsoft.com/office/drawing/2014/main" id="{76043E18-8A7F-A83A-9F43-DDF713BC98F1}"/>
                        </a:ext>
                      </a:extLst>
                    </p:cNvPr>
                    <p:cNvSpPr>
                      <a:spLocks noChangeAspect="1" noChangeArrowheads="1"/>
                    </p:cNvSpPr>
                    <p:nvPr/>
                  </p:nvSpPr>
                  <p:spPr bwMode="auto">
                    <a:xfrm>
                      <a:off x="3748" y="3793"/>
                      <a:ext cx="364" cy="127"/>
                    </a:xfrm>
                    <a:prstGeom prst="ellipse">
                      <a:avLst/>
                    </a:prstGeom>
                    <a:gradFill rotWithShape="1">
                      <a:gsLst>
                        <a:gs pos="0">
                          <a:srgbClr val="E88A6C"/>
                        </a:gs>
                        <a:gs pos="100000">
                          <a:srgbClr val="E88A6C">
                            <a:gamma/>
                            <a:tint val="29412"/>
                            <a:invGamma/>
                          </a:srgbClr>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grpSp>
                <p:nvGrpSpPr>
                  <p:cNvPr id="3087979" name="Group 619">
                    <a:extLst>
                      <a:ext uri="{FF2B5EF4-FFF2-40B4-BE49-F238E27FC236}">
                        <a16:creationId xmlns:a16="http://schemas.microsoft.com/office/drawing/2014/main" id="{0A38960C-3F0E-0D66-5F85-6C428E673097}"/>
                      </a:ext>
                    </a:extLst>
                  </p:cNvPr>
                  <p:cNvGrpSpPr>
                    <a:grpSpLocks noChangeAspect="1"/>
                  </p:cNvGrpSpPr>
                  <p:nvPr/>
                </p:nvGrpSpPr>
                <p:grpSpPr bwMode="auto">
                  <a:xfrm>
                    <a:off x="1437" y="2271"/>
                    <a:ext cx="364" cy="159"/>
                    <a:chOff x="3748" y="3793"/>
                    <a:chExt cx="364" cy="159"/>
                  </a:xfrm>
                </p:grpSpPr>
                <p:sp>
                  <p:nvSpPr>
                    <p:cNvPr id="3087980" name="Oval 620">
                      <a:extLst>
                        <a:ext uri="{FF2B5EF4-FFF2-40B4-BE49-F238E27FC236}">
                          <a16:creationId xmlns:a16="http://schemas.microsoft.com/office/drawing/2014/main" id="{4FD94F9C-6FE1-AC36-49B1-F7574FBD3A0F}"/>
                        </a:ext>
                      </a:extLst>
                    </p:cNvPr>
                    <p:cNvSpPr>
                      <a:spLocks noChangeAspect="1" noChangeArrowheads="1"/>
                    </p:cNvSpPr>
                    <p:nvPr/>
                  </p:nvSpPr>
                  <p:spPr bwMode="auto">
                    <a:xfrm>
                      <a:off x="3748" y="3825"/>
                      <a:ext cx="364" cy="127"/>
                    </a:xfrm>
                    <a:prstGeom prst="ellipse">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981" name="Rectangle 621">
                      <a:extLst>
                        <a:ext uri="{FF2B5EF4-FFF2-40B4-BE49-F238E27FC236}">
                          <a16:creationId xmlns:a16="http://schemas.microsoft.com/office/drawing/2014/main" id="{FBC5D2BA-8AF4-B5A0-F0BD-26B4B01BF0BB}"/>
                        </a:ext>
                      </a:extLst>
                    </p:cNvPr>
                    <p:cNvSpPr>
                      <a:spLocks noChangeAspect="1" noChangeArrowheads="1"/>
                    </p:cNvSpPr>
                    <p:nvPr/>
                  </p:nvSpPr>
                  <p:spPr bwMode="auto">
                    <a:xfrm>
                      <a:off x="3748" y="3857"/>
                      <a:ext cx="364" cy="31"/>
                    </a:xfrm>
                    <a:prstGeom prst="rect">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982" name="Oval 622">
                      <a:extLst>
                        <a:ext uri="{FF2B5EF4-FFF2-40B4-BE49-F238E27FC236}">
                          <a16:creationId xmlns:a16="http://schemas.microsoft.com/office/drawing/2014/main" id="{A8220F4E-8E28-D97D-9EBE-DA59DE245102}"/>
                        </a:ext>
                      </a:extLst>
                    </p:cNvPr>
                    <p:cNvSpPr>
                      <a:spLocks noChangeAspect="1" noChangeArrowheads="1"/>
                    </p:cNvSpPr>
                    <p:nvPr/>
                  </p:nvSpPr>
                  <p:spPr bwMode="auto">
                    <a:xfrm>
                      <a:off x="3748" y="3793"/>
                      <a:ext cx="364" cy="127"/>
                    </a:xfrm>
                    <a:prstGeom prst="ellipse">
                      <a:avLst/>
                    </a:prstGeom>
                    <a:gradFill rotWithShape="1">
                      <a:gsLst>
                        <a:gs pos="0">
                          <a:srgbClr val="E88A6C"/>
                        </a:gs>
                        <a:gs pos="100000">
                          <a:srgbClr val="E88A6C">
                            <a:gamma/>
                            <a:tint val="29412"/>
                            <a:invGamma/>
                          </a:srgbClr>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grpSp>
                <p:nvGrpSpPr>
                  <p:cNvPr id="3087983" name="Group 623">
                    <a:extLst>
                      <a:ext uri="{FF2B5EF4-FFF2-40B4-BE49-F238E27FC236}">
                        <a16:creationId xmlns:a16="http://schemas.microsoft.com/office/drawing/2014/main" id="{4FB55405-AADA-665E-7DBE-F491C05F451A}"/>
                      </a:ext>
                    </a:extLst>
                  </p:cNvPr>
                  <p:cNvGrpSpPr>
                    <a:grpSpLocks noChangeAspect="1"/>
                  </p:cNvGrpSpPr>
                  <p:nvPr/>
                </p:nvGrpSpPr>
                <p:grpSpPr bwMode="auto">
                  <a:xfrm>
                    <a:off x="1816" y="2274"/>
                    <a:ext cx="364" cy="159"/>
                    <a:chOff x="3748" y="3793"/>
                    <a:chExt cx="364" cy="159"/>
                  </a:xfrm>
                </p:grpSpPr>
                <p:sp>
                  <p:nvSpPr>
                    <p:cNvPr id="3087984" name="Oval 624">
                      <a:extLst>
                        <a:ext uri="{FF2B5EF4-FFF2-40B4-BE49-F238E27FC236}">
                          <a16:creationId xmlns:a16="http://schemas.microsoft.com/office/drawing/2014/main" id="{C19E9F09-01D0-458A-FDDA-B2AD69E399EC}"/>
                        </a:ext>
                      </a:extLst>
                    </p:cNvPr>
                    <p:cNvSpPr>
                      <a:spLocks noChangeAspect="1" noChangeArrowheads="1"/>
                    </p:cNvSpPr>
                    <p:nvPr/>
                  </p:nvSpPr>
                  <p:spPr bwMode="auto">
                    <a:xfrm>
                      <a:off x="3748" y="3825"/>
                      <a:ext cx="364" cy="127"/>
                    </a:xfrm>
                    <a:prstGeom prst="ellipse">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985" name="Rectangle 625">
                      <a:extLst>
                        <a:ext uri="{FF2B5EF4-FFF2-40B4-BE49-F238E27FC236}">
                          <a16:creationId xmlns:a16="http://schemas.microsoft.com/office/drawing/2014/main" id="{8C7262AB-9A0E-3934-F84F-0ACB36DAD8D2}"/>
                        </a:ext>
                      </a:extLst>
                    </p:cNvPr>
                    <p:cNvSpPr>
                      <a:spLocks noChangeAspect="1" noChangeArrowheads="1"/>
                    </p:cNvSpPr>
                    <p:nvPr/>
                  </p:nvSpPr>
                  <p:spPr bwMode="auto">
                    <a:xfrm>
                      <a:off x="3748" y="3857"/>
                      <a:ext cx="364" cy="31"/>
                    </a:xfrm>
                    <a:prstGeom prst="rect">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986" name="Oval 626">
                      <a:extLst>
                        <a:ext uri="{FF2B5EF4-FFF2-40B4-BE49-F238E27FC236}">
                          <a16:creationId xmlns:a16="http://schemas.microsoft.com/office/drawing/2014/main" id="{94264C44-9F97-F9BB-963D-D4A72029E25A}"/>
                        </a:ext>
                      </a:extLst>
                    </p:cNvPr>
                    <p:cNvSpPr>
                      <a:spLocks noChangeAspect="1" noChangeArrowheads="1"/>
                    </p:cNvSpPr>
                    <p:nvPr/>
                  </p:nvSpPr>
                  <p:spPr bwMode="auto">
                    <a:xfrm>
                      <a:off x="3748" y="3793"/>
                      <a:ext cx="364" cy="127"/>
                    </a:xfrm>
                    <a:prstGeom prst="ellipse">
                      <a:avLst/>
                    </a:prstGeom>
                    <a:gradFill rotWithShape="1">
                      <a:gsLst>
                        <a:gs pos="0">
                          <a:srgbClr val="E88A6C"/>
                        </a:gs>
                        <a:gs pos="100000">
                          <a:srgbClr val="E88A6C">
                            <a:gamma/>
                            <a:tint val="29412"/>
                            <a:invGamma/>
                          </a:srgbClr>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grpSp>
            <p:grpSp>
              <p:nvGrpSpPr>
                <p:cNvPr id="3087987" name="Group 627">
                  <a:extLst>
                    <a:ext uri="{FF2B5EF4-FFF2-40B4-BE49-F238E27FC236}">
                      <a16:creationId xmlns:a16="http://schemas.microsoft.com/office/drawing/2014/main" id="{DFEE466A-2366-D02D-082C-A8F18583DA40}"/>
                    </a:ext>
                  </a:extLst>
                </p:cNvPr>
                <p:cNvGrpSpPr>
                  <a:grpSpLocks noChangeAspect="1"/>
                </p:cNvGrpSpPr>
                <p:nvPr/>
              </p:nvGrpSpPr>
              <p:grpSpPr bwMode="auto">
                <a:xfrm>
                  <a:off x="1067" y="2311"/>
                  <a:ext cx="653" cy="764"/>
                  <a:chOff x="1335" y="-65"/>
                  <a:chExt cx="2159" cy="2523"/>
                </a:xfrm>
              </p:grpSpPr>
              <p:sp>
                <p:nvSpPr>
                  <p:cNvPr id="3087988" name="AutoShape 628">
                    <a:extLst>
                      <a:ext uri="{FF2B5EF4-FFF2-40B4-BE49-F238E27FC236}">
                        <a16:creationId xmlns:a16="http://schemas.microsoft.com/office/drawing/2014/main" id="{5A6BEAE4-9FA9-D379-4C87-0607880A6BC2}"/>
                      </a:ext>
                    </a:extLst>
                  </p:cNvPr>
                  <p:cNvSpPr>
                    <a:spLocks noChangeAspect="1" noChangeArrowheads="1"/>
                  </p:cNvSpPr>
                  <p:nvPr/>
                </p:nvSpPr>
                <p:spPr bwMode="auto">
                  <a:xfrm>
                    <a:off x="1814" y="1025"/>
                    <a:ext cx="1200" cy="802"/>
                  </a:xfrm>
                  <a:prstGeom prst="roundRect">
                    <a:avLst>
                      <a:gd name="adj" fmla="val 11472"/>
                    </a:avLst>
                  </a:prstGeom>
                  <a:solidFill>
                    <a:srgbClr val="B2B2B2">
                      <a:alpha val="50000"/>
                    </a:srgbClr>
                  </a:solidFill>
                  <a:ln w="19050"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nvGrpSpPr>
                  <p:cNvPr id="3087989" name="Group 629">
                    <a:extLst>
                      <a:ext uri="{FF2B5EF4-FFF2-40B4-BE49-F238E27FC236}">
                        <a16:creationId xmlns:a16="http://schemas.microsoft.com/office/drawing/2014/main" id="{C159EB1E-61C5-8943-37A7-FF9C403D6A73}"/>
                      </a:ext>
                    </a:extLst>
                  </p:cNvPr>
                  <p:cNvGrpSpPr>
                    <a:grpSpLocks noChangeAspect="1"/>
                  </p:cNvGrpSpPr>
                  <p:nvPr/>
                </p:nvGrpSpPr>
                <p:grpSpPr bwMode="auto">
                  <a:xfrm>
                    <a:off x="1997" y="1168"/>
                    <a:ext cx="833" cy="1290"/>
                    <a:chOff x="1215" y="2335"/>
                    <a:chExt cx="833" cy="1290"/>
                  </a:xfrm>
                </p:grpSpPr>
                <p:sp>
                  <p:nvSpPr>
                    <p:cNvPr id="3087990" name="Rectangle 630">
                      <a:extLst>
                        <a:ext uri="{FF2B5EF4-FFF2-40B4-BE49-F238E27FC236}">
                          <a16:creationId xmlns:a16="http://schemas.microsoft.com/office/drawing/2014/main" id="{ED22801E-578D-9A88-99C0-000710AC64AB}"/>
                        </a:ext>
                      </a:extLst>
                    </p:cNvPr>
                    <p:cNvSpPr>
                      <a:spLocks noChangeAspect="1" noChangeArrowheads="1"/>
                    </p:cNvSpPr>
                    <p:nvPr/>
                  </p:nvSpPr>
                  <p:spPr bwMode="auto">
                    <a:xfrm>
                      <a:off x="1215" y="2335"/>
                      <a:ext cx="832" cy="534"/>
                    </a:xfrm>
                    <a:prstGeom prst="rect">
                      <a:avLst/>
                    </a:prstGeom>
                    <a:gradFill rotWithShape="1">
                      <a:gsLst>
                        <a:gs pos="0">
                          <a:srgbClr val="CEB640">
                            <a:gamma/>
                            <a:tint val="53725"/>
                            <a:invGamma/>
                          </a:srgbClr>
                        </a:gs>
                        <a:gs pos="100000">
                          <a:srgbClr val="CEB640"/>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IN"/>
                    </a:p>
                  </p:txBody>
                </p:sp>
                <p:sp>
                  <p:nvSpPr>
                    <p:cNvPr id="3087991" name="Text Box 631">
                      <a:extLst>
                        <a:ext uri="{FF2B5EF4-FFF2-40B4-BE49-F238E27FC236}">
                          <a16:creationId xmlns:a16="http://schemas.microsoft.com/office/drawing/2014/main" id="{F4A203E2-99DB-5901-685D-D1912C4D66BC}"/>
                        </a:ext>
                      </a:extLst>
                    </p:cNvPr>
                    <p:cNvSpPr txBox="1">
                      <a:spLocks noChangeAspect="1" noChangeArrowheads="1"/>
                    </p:cNvSpPr>
                    <p:nvPr/>
                  </p:nvSpPr>
                  <p:spPr bwMode="auto">
                    <a:xfrm>
                      <a:off x="1261" y="2359"/>
                      <a:ext cx="1" cy="1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spcBef>
                          <a:spcPct val="50000"/>
                        </a:spcBef>
                      </a:pPr>
                      <a:endParaRPr lang="zh-CN" altLang="en-US" sz="1200" b="1">
                        <a:solidFill>
                          <a:srgbClr val="000308"/>
                        </a:solidFill>
                        <a:ea typeface="宋体" panose="02010600030101010101" pitchFamily="2" charset="-122"/>
                      </a:endParaRPr>
                    </a:p>
                  </p:txBody>
                </p:sp>
                <p:sp>
                  <p:nvSpPr>
                    <p:cNvPr id="3087992" name="Line 632">
                      <a:extLst>
                        <a:ext uri="{FF2B5EF4-FFF2-40B4-BE49-F238E27FC236}">
                          <a16:creationId xmlns:a16="http://schemas.microsoft.com/office/drawing/2014/main" id="{FDF16A68-FC78-B3DC-B8AB-1377E0E311E5}"/>
                        </a:ext>
                      </a:extLst>
                    </p:cNvPr>
                    <p:cNvSpPr>
                      <a:spLocks noChangeAspect="1" noChangeShapeType="1"/>
                    </p:cNvSpPr>
                    <p:nvPr/>
                  </p:nvSpPr>
                  <p:spPr bwMode="gray">
                    <a:xfrm>
                      <a:off x="1215" y="2495"/>
                      <a:ext cx="83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993" name="Line 633">
                      <a:extLst>
                        <a:ext uri="{FF2B5EF4-FFF2-40B4-BE49-F238E27FC236}">
                          <a16:creationId xmlns:a16="http://schemas.microsoft.com/office/drawing/2014/main" id="{E579C8A1-8CA0-357B-4A30-BDB656565F17}"/>
                        </a:ext>
                      </a:extLst>
                    </p:cNvPr>
                    <p:cNvSpPr>
                      <a:spLocks noChangeAspect="1" noChangeShapeType="1"/>
                    </p:cNvSpPr>
                    <p:nvPr/>
                  </p:nvSpPr>
                  <p:spPr bwMode="gray">
                    <a:xfrm>
                      <a:off x="1215" y="2588"/>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994" name="Line 634">
                      <a:extLst>
                        <a:ext uri="{FF2B5EF4-FFF2-40B4-BE49-F238E27FC236}">
                          <a16:creationId xmlns:a16="http://schemas.microsoft.com/office/drawing/2014/main" id="{840A2C2A-06B2-6FC1-2B25-E08A2FF57FD9}"/>
                        </a:ext>
                      </a:extLst>
                    </p:cNvPr>
                    <p:cNvSpPr>
                      <a:spLocks noChangeAspect="1" noChangeShapeType="1"/>
                    </p:cNvSpPr>
                    <p:nvPr/>
                  </p:nvSpPr>
                  <p:spPr bwMode="gray">
                    <a:xfrm>
                      <a:off x="1215" y="2682"/>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995" name="Line 635">
                      <a:extLst>
                        <a:ext uri="{FF2B5EF4-FFF2-40B4-BE49-F238E27FC236}">
                          <a16:creationId xmlns:a16="http://schemas.microsoft.com/office/drawing/2014/main" id="{DA261A80-84BF-7322-A82B-73BEC3895B98}"/>
                        </a:ext>
                      </a:extLst>
                    </p:cNvPr>
                    <p:cNvSpPr>
                      <a:spLocks noChangeAspect="1" noChangeShapeType="1"/>
                    </p:cNvSpPr>
                    <p:nvPr/>
                  </p:nvSpPr>
                  <p:spPr bwMode="gray">
                    <a:xfrm>
                      <a:off x="1215" y="2775"/>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996" name="Line 636">
                      <a:extLst>
                        <a:ext uri="{FF2B5EF4-FFF2-40B4-BE49-F238E27FC236}">
                          <a16:creationId xmlns:a16="http://schemas.microsoft.com/office/drawing/2014/main" id="{337283CA-0AA3-BF5D-9628-9136FCF9ADC6}"/>
                        </a:ext>
                      </a:extLst>
                    </p:cNvPr>
                    <p:cNvSpPr>
                      <a:spLocks noChangeAspect="1" noChangeShapeType="1"/>
                    </p:cNvSpPr>
                    <p:nvPr/>
                  </p:nvSpPr>
                  <p:spPr bwMode="gray">
                    <a:xfrm>
                      <a:off x="1381"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997" name="Line 637">
                      <a:extLst>
                        <a:ext uri="{FF2B5EF4-FFF2-40B4-BE49-F238E27FC236}">
                          <a16:creationId xmlns:a16="http://schemas.microsoft.com/office/drawing/2014/main" id="{43CFB93C-DB06-F30A-198B-1D67546FB2B9}"/>
                        </a:ext>
                      </a:extLst>
                    </p:cNvPr>
                    <p:cNvSpPr>
                      <a:spLocks noChangeAspect="1" noChangeShapeType="1"/>
                    </p:cNvSpPr>
                    <p:nvPr/>
                  </p:nvSpPr>
                  <p:spPr bwMode="gray">
                    <a:xfrm>
                      <a:off x="1547"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998" name="Line 638">
                      <a:extLst>
                        <a:ext uri="{FF2B5EF4-FFF2-40B4-BE49-F238E27FC236}">
                          <a16:creationId xmlns:a16="http://schemas.microsoft.com/office/drawing/2014/main" id="{E7C196FA-4864-A976-7805-97AA9F1BEF2D}"/>
                        </a:ext>
                      </a:extLst>
                    </p:cNvPr>
                    <p:cNvSpPr>
                      <a:spLocks noChangeAspect="1" noChangeShapeType="1"/>
                    </p:cNvSpPr>
                    <p:nvPr/>
                  </p:nvSpPr>
                  <p:spPr bwMode="gray">
                    <a:xfrm>
                      <a:off x="1714"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999" name="Line 639">
                      <a:extLst>
                        <a:ext uri="{FF2B5EF4-FFF2-40B4-BE49-F238E27FC236}">
                          <a16:creationId xmlns:a16="http://schemas.microsoft.com/office/drawing/2014/main" id="{3159EDA6-CD8C-FA64-56FB-0A33EAB8C744}"/>
                        </a:ext>
                      </a:extLst>
                    </p:cNvPr>
                    <p:cNvSpPr>
                      <a:spLocks noChangeAspect="1" noChangeShapeType="1"/>
                    </p:cNvSpPr>
                    <p:nvPr/>
                  </p:nvSpPr>
                  <p:spPr bwMode="gray">
                    <a:xfrm>
                      <a:off x="1880"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3088000" name="Text Box 640">
                    <a:extLst>
                      <a:ext uri="{FF2B5EF4-FFF2-40B4-BE49-F238E27FC236}">
                        <a16:creationId xmlns:a16="http://schemas.microsoft.com/office/drawing/2014/main" id="{E31608EF-0C86-0B2E-FA74-16FCDDF85996}"/>
                      </a:ext>
                    </a:extLst>
                  </p:cNvPr>
                  <p:cNvSpPr txBox="1">
                    <a:spLocks noChangeAspect="1" noChangeArrowheads="1"/>
                  </p:cNvSpPr>
                  <p:nvPr/>
                </p:nvSpPr>
                <p:spPr bwMode="auto">
                  <a:xfrm>
                    <a:off x="1335" y="-65"/>
                    <a:ext cx="2159" cy="2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0"/>
                      </a:spcBef>
                      <a:buClrTx/>
                      <a:buFontTx/>
                      <a:buNone/>
                    </a:pPr>
                    <a:endParaRPr lang="zh-CN" altLang="en-US" sz="1400">
                      <a:solidFill>
                        <a:srgbClr val="000000"/>
                      </a:solidFill>
                      <a:ea typeface="宋体" panose="02010600030101010101" pitchFamily="2" charset="-122"/>
                    </a:endParaRPr>
                  </a:p>
                </p:txBody>
              </p:sp>
            </p:grpSp>
            <p:grpSp>
              <p:nvGrpSpPr>
                <p:cNvPr id="3088001" name="Group 641">
                  <a:extLst>
                    <a:ext uri="{FF2B5EF4-FFF2-40B4-BE49-F238E27FC236}">
                      <a16:creationId xmlns:a16="http://schemas.microsoft.com/office/drawing/2014/main" id="{EEA6920D-AC9E-18D7-66AD-840A6AADE56D}"/>
                    </a:ext>
                  </a:extLst>
                </p:cNvPr>
                <p:cNvGrpSpPr>
                  <a:grpSpLocks noChangeAspect="1"/>
                </p:cNvGrpSpPr>
                <p:nvPr/>
              </p:nvGrpSpPr>
              <p:grpSpPr bwMode="auto">
                <a:xfrm>
                  <a:off x="1353" y="2359"/>
                  <a:ext cx="653" cy="764"/>
                  <a:chOff x="1335" y="-60"/>
                  <a:chExt cx="2159" cy="2525"/>
                </a:xfrm>
              </p:grpSpPr>
              <p:sp>
                <p:nvSpPr>
                  <p:cNvPr id="3088002" name="AutoShape 642">
                    <a:extLst>
                      <a:ext uri="{FF2B5EF4-FFF2-40B4-BE49-F238E27FC236}">
                        <a16:creationId xmlns:a16="http://schemas.microsoft.com/office/drawing/2014/main" id="{48690658-6D54-ED8F-4D83-3E44B51ADED4}"/>
                      </a:ext>
                    </a:extLst>
                  </p:cNvPr>
                  <p:cNvSpPr>
                    <a:spLocks noChangeAspect="1" noChangeArrowheads="1"/>
                  </p:cNvSpPr>
                  <p:nvPr/>
                </p:nvSpPr>
                <p:spPr bwMode="auto">
                  <a:xfrm>
                    <a:off x="1814" y="1025"/>
                    <a:ext cx="1200" cy="802"/>
                  </a:xfrm>
                  <a:prstGeom prst="roundRect">
                    <a:avLst>
                      <a:gd name="adj" fmla="val 11472"/>
                    </a:avLst>
                  </a:prstGeom>
                  <a:solidFill>
                    <a:srgbClr val="B2B2B2">
                      <a:alpha val="50000"/>
                    </a:srgbClr>
                  </a:solidFill>
                  <a:ln w="19050"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nvGrpSpPr>
                  <p:cNvPr id="3088003" name="Group 643">
                    <a:extLst>
                      <a:ext uri="{FF2B5EF4-FFF2-40B4-BE49-F238E27FC236}">
                        <a16:creationId xmlns:a16="http://schemas.microsoft.com/office/drawing/2014/main" id="{7C1DBCF0-631F-562C-9018-331C9E1B41C1}"/>
                      </a:ext>
                    </a:extLst>
                  </p:cNvPr>
                  <p:cNvGrpSpPr>
                    <a:grpSpLocks noChangeAspect="1"/>
                  </p:cNvGrpSpPr>
                  <p:nvPr/>
                </p:nvGrpSpPr>
                <p:grpSpPr bwMode="auto">
                  <a:xfrm>
                    <a:off x="1997" y="1168"/>
                    <a:ext cx="833" cy="1297"/>
                    <a:chOff x="1215" y="2335"/>
                    <a:chExt cx="833" cy="1297"/>
                  </a:xfrm>
                </p:grpSpPr>
                <p:sp>
                  <p:nvSpPr>
                    <p:cNvPr id="3088004" name="Rectangle 644">
                      <a:extLst>
                        <a:ext uri="{FF2B5EF4-FFF2-40B4-BE49-F238E27FC236}">
                          <a16:creationId xmlns:a16="http://schemas.microsoft.com/office/drawing/2014/main" id="{4F405D44-4A48-EFB5-2E78-A87E1CF1EE56}"/>
                        </a:ext>
                      </a:extLst>
                    </p:cNvPr>
                    <p:cNvSpPr>
                      <a:spLocks noChangeAspect="1" noChangeArrowheads="1"/>
                    </p:cNvSpPr>
                    <p:nvPr/>
                  </p:nvSpPr>
                  <p:spPr bwMode="auto">
                    <a:xfrm>
                      <a:off x="1215" y="2335"/>
                      <a:ext cx="832" cy="534"/>
                    </a:xfrm>
                    <a:prstGeom prst="rect">
                      <a:avLst/>
                    </a:prstGeom>
                    <a:gradFill rotWithShape="1">
                      <a:gsLst>
                        <a:gs pos="0">
                          <a:srgbClr val="CEB640">
                            <a:gamma/>
                            <a:tint val="53725"/>
                            <a:invGamma/>
                          </a:srgbClr>
                        </a:gs>
                        <a:gs pos="100000">
                          <a:srgbClr val="CEB640"/>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IN"/>
                    </a:p>
                  </p:txBody>
                </p:sp>
                <p:sp>
                  <p:nvSpPr>
                    <p:cNvPr id="3088005" name="Text Box 645">
                      <a:extLst>
                        <a:ext uri="{FF2B5EF4-FFF2-40B4-BE49-F238E27FC236}">
                          <a16:creationId xmlns:a16="http://schemas.microsoft.com/office/drawing/2014/main" id="{0AB3148E-69AC-3F9D-B6CE-D2DA338FB066}"/>
                        </a:ext>
                      </a:extLst>
                    </p:cNvPr>
                    <p:cNvSpPr txBox="1">
                      <a:spLocks noChangeAspect="1" noChangeArrowheads="1"/>
                    </p:cNvSpPr>
                    <p:nvPr/>
                  </p:nvSpPr>
                  <p:spPr bwMode="auto">
                    <a:xfrm>
                      <a:off x="1262" y="2359"/>
                      <a:ext cx="1" cy="1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spcBef>
                          <a:spcPct val="50000"/>
                        </a:spcBef>
                      </a:pPr>
                      <a:endParaRPr lang="zh-CN" altLang="en-US" sz="1200" b="1">
                        <a:solidFill>
                          <a:srgbClr val="000308"/>
                        </a:solidFill>
                        <a:ea typeface="宋体" panose="02010600030101010101" pitchFamily="2" charset="-122"/>
                      </a:endParaRPr>
                    </a:p>
                  </p:txBody>
                </p:sp>
                <p:sp>
                  <p:nvSpPr>
                    <p:cNvPr id="3088006" name="Line 646">
                      <a:extLst>
                        <a:ext uri="{FF2B5EF4-FFF2-40B4-BE49-F238E27FC236}">
                          <a16:creationId xmlns:a16="http://schemas.microsoft.com/office/drawing/2014/main" id="{E16B9E78-13CC-1C97-5B63-305C6BBDFA46}"/>
                        </a:ext>
                      </a:extLst>
                    </p:cNvPr>
                    <p:cNvSpPr>
                      <a:spLocks noChangeAspect="1" noChangeShapeType="1"/>
                    </p:cNvSpPr>
                    <p:nvPr/>
                  </p:nvSpPr>
                  <p:spPr bwMode="gray">
                    <a:xfrm>
                      <a:off x="1215" y="2495"/>
                      <a:ext cx="83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07" name="Line 647">
                      <a:extLst>
                        <a:ext uri="{FF2B5EF4-FFF2-40B4-BE49-F238E27FC236}">
                          <a16:creationId xmlns:a16="http://schemas.microsoft.com/office/drawing/2014/main" id="{C8CCE597-07E3-D125-AE07-132ACCBC6C0A}"/>
                        </a:ext>
                      </a:extLst>
                    </p:cNvPr>
                    <p:cNvSpPr>
                      <a:spLocks noChangeAspect="1" noChangeShapeType="1"/>
                    </p:cNvSpPr>
                    <p:nvPr/>
                  </p:nvSpPr>
                  <p:spPr bwMode="gray">
                    <a:xfrm>
                      <a:off x="1215" y="2588"/>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08" name="Line 648">
                      <a:extLst>
                        <a:ext uri="{FF2B5EF4-FFF2-40B4-BE49-F238E27FC236}">
                          <a16:creationId xmlns:a16="http://schemas.microsoft.com/office/drawing/2014/main" id="{4527D63D-1E67-3A87-DA7F-A8243E11F3A3}"/>
                        </a:ext>
                      </a:extLst>
                    </p:cNvPr>
                    <p:cNvSpPr>
                      <a:spLocks noChangeAspect="1" noChangeShapeType="1"/>
                    </p:cNvSpPr>
                    <p:nvPr/>
                  </p:nvSpPr>
                  <p:spPr bwMode="gray">
                    <a:xfrm>
                      <a:off x="1215" y="2682"/>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09" name="Line 649">
                      <a:extLst>
                        <a:ext uri="{FF2B5EF4-FFF2-40B4-BE49-F238E27FC236}">
                          <a16:creationId xmlns:a16="http://schemas.microsoft.com/office/drawing/2014/main" id="{1B1C7669-7685-9FA3-DC39-50C539AEA3AF}"/>
                        </a:ext>
                      </a:extLst>
                    </p:cNvPr>
                    <p:cNvSpPr>
                      <a:spLocks noChangeAspect="1" noChangeShapeType="1"/>
                    </p:cNvSpPr>
                    <p:nvPr/>
                  </p:nvSpPr>
                  <p:spPr bwMode="gray">
                    <a:xfrm>
                      <a:off x="1215" y="2775"/>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10" name="Line 650">
                      <a:extLst>
                        <a:ext uri="{FF2B5EF4-FFF2-40B4-BE49-F238E27FC236}">
                          <a16:creationId xmlns:a16="http://schemas.microsoft.com/office/drawing/2014/main" id="{3F9F551A-E449-478D-CDD2-A82221914939}"/>
                        </a:ext>
                      </a:extLst>
                    </p:cNvPr>
                    <p:cNvSpPr>
                      <a:spLocks noChangeAspect="1" noChangeShapeType="1"/>
                    </p:cNvSpPr>
                    <p:nvPr/>
                  </p:nvSpPr>
                  <p:spPr bwMode="gray">
                    <a:xfrm>
                      <a:off x="1381"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11" name="Line 651">
                      <a:extLst>
                        <a:ext uri="{FF2B5EF4-FFF2-40B4-BE49-F238E27FC236}">
                          <a16:creationId xmlns:a16="http://schemas.microsoft.com/office/drawing/2014/main" id="{95F08120-5ADF-8EBF-ED1B-85DB33443F4A}"/>
                        </a:ext>
                      </a:extLst>
                    </p:cNvPr>
                    <p:cNvSpPr>
                      <a:spLocks noChangeAspect="1" noChangeShapeType="1"/>
                    </p:cNvSpPr>
                    <p:nvPr/>
                  </p:nvSpPr>
                  <p:spPr bwMode="gray">
                    <a:xfrm>
                      <a:off x="1547"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12" name="Line 652">
                      <a:extLst>
                        <a:ext uri="{FF2B5EF4-FFF2-40B4-BE49-F238E27FC236}">
                          <a16:creationId xmlns:a16="http://schemas.microsoft.com/office/drawing/2014/main" id="{7A6E0A38-4D39-9B0C-4021-EFF40BFEA047}"/>
                        </a:ext>
                      </a:extLst>
                    </p:cNvPr>
                    <p:cNvSpPr>
                      <a:spLocks noChangeAspect="1" noChangeShapeType="1"/>
                    </p:cNvSpPr>
                    <p:nvPr/>
                  </p:nvSpPr>
                  <p:spPr bwMode="gray">
                    <a:xfrm>
                      <a:off x="1714"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13" name="Line 653">
                      <a:extLst>
                        <a:ext uri="{FF2B5EF4-FFF2-40B4-BE49-F238E27FC236}">
                          <a16:creationId xmlns:a16="http://schemas.microsoft.com/office/drawing/2014/main" id="{76C53ADE-199D-BCA1-1F4A-57A7B6F6A3E8}"/>
                        </a:ext>
                      </a:extLst>
                    </p:cNvPr>
                    <p:cNvSpPr>
                      <a:spLocks noChangeAspect="1" noChangeShapeType="1"/>
                    </p:cNvSpPr>
                    <p:nvPr/>
                  </p:nvSpPr>
                  <p:spPr bwMode="gray">
                    <a:xfrm>
                      <a:off x="1880"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3088014" name="Text Box 654">
                    <a:extLst>
                      <a:ext uri="{FF2B5EF4-FFF2-40B4-BE49-F238E27FC236}">
                        <a16:creationId xmlns:a16="http://schemas.microsoft.com/office/drawing/2014/main" id="{71C7FC55-56B7-DC29-5C62-95F63771776D}"/>
                      </a:ext>
                    </a:extLst>
                  </p:cNvPr>
                  <p:cNvSpPr txBox="1">
                    <a:spLocks noChangeAspect="1" noChangeArrowheads="1"/>
                  </p:cNvSpPr>
                  <p:nvPr/>
                </p:nvSpPr>
                <p:spPr bwMode="auto">
                  <a:xfrm>
                    <a:off x="1335" y="-60"/>
                    <a:ext cx="2159" cy="2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0"/>
                      </a:spcBef>
                      <a:buClrTx/>
                      <a:buFontTx/>
                      <a:buNone/>
                    </a:pPr>
                    <a:endParaRPr lang="zh-CN" altLang="en-US" sz="1400">
                      <a:solidFill>
                        <a:srgbClr val="000000"/>
                      </a:solidFill>
                      <a:ea typeface="宋体" panose="02010600030101010101" pitchFamily="2" charset="-122"/>
                    </a:endParaRPr>
                  </a:p>
                </p:txBody>
              </p:sp>
            </p:grpSp>
            <p:grpSp>
              <p:nvGrpSpPr>
                <p:cNvPr id="3088015" name="Group 655">
                  <a:extLst>
                    <a:ext uri="{FF2B5EF4-FFF2-40B4-BE49-F238E27FC236}">
                      <a16:creationId xmlns:a16="http://schemas.microsoft.com/office/drawing/2014/main" id="{FEF6E5F7-EC8C-60F0-EBA5-77CCE773CBBE}"/>
                    </a:ext>
                  </a:extLst>
                </p:cNvPr>
                <p:cNvGrpSpPr>
                  <a:grpSpLocks noChangeAspect="1"/>
                </p:cNvGrpSpPr>
                <p:nvPr/>
              </p:nvGrpSpPr>
              <p:grpSpPr bwMode="auto">
                <a:xfrm>
                  <a:off x="1609" y="2325"/>
                  <a:ext cx="653" cy="764"/>
                  <a:chOff x="1335" y="-59"/>
                  <a:chExt cx="2159" cy="2521"/>
                </a:xfrm>
              </p:grpSpPr>
              <p:sp>
                <p:nvSpPr>
                  <p:cNvPr id="3088016" name="AutoShape 656">
                    <a:extLst>
                      <a:ext uri="{FF2B5EF4-FFF2-40B4-BE49-F238E27FC236}">
                        <a16:creationId xmlns:a16="http://schemas.microsoft.com/office/drawing/2014/main" id="{868ACEEE-8BB5-9B16-7628-7CAD48E647FA}"/>
                      </a:ext>
                    </a:extLst>
                  </p:cNvPr>
                  <p:cNvSpPr>
                    <a:spLocks noChangeAspect="1" noChangeArrowheads="1"/>
                  </p:cNvSpPr>
                  <p:nvPr/>
                </p:nvSpPr>
                <p:spPr bwMode="auto">
                  <a:xfrm>
                    <a:off x="1814" y="1025"/>
                    <a:ext cx="1200" cy="802"/>
                  </a:xfrm>
                  <a:prstGeom prst="roundRect">
                    <a:avLst>
                      <a:gd name="adj" fmla="val 11472"/>
                    </a:avLst>
                  </a:prstGeom>
                  <a:solidFill>
                    <a:srgbClr val="B2B2B2">
                      <a:alpha val="50000"/>
                    </a:srgbClr>
                  </a:solidFill>
                  <a:ln w="19050"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nvGrpSpPr>
                  <p:cNvPr id="3088017" name="Group 657">
                    <a:extLst>
                      <a:ext uri="{FF2B5EF4-FFF2-40B4-BE49-F238E27FC236}">
                        <a16:creationId xmlns:a16="http://schemas.microsoft.com/office/drawing/2014/main" id="{E555EB9E-6354-2B72-81EA-824F551DF925}"/>
                      </a:ext>
                    </a:extLst>
                  </p:cNvPr>
                  <p:cNvGrpSpPr>
                    <a:grpSpLocks noChangeAspect="1"/>
                  </p:cNvGrpSpPr>
                  <p:nvPr/>
                </p:nvGrpSpPr>
                <p:grpSpPr bwMode="auto">
                  <a:xfrm>
                    <a:off x="1997" y="1168"/>
                    <a:ext cx="833" cy="1294"/>
                    <a:chOff x="1215" y="2335"/>
                    <a:chExt cx="833" cy="1294"/>
                  </a:xfrm>
                </p:grpSpPr>
                <p:sp>
                  <p:nvSpPr>
                    <p:cNvPr id="3088018" name="Rectangle 658">
                      <a:extLst>
                        <a:ext uri="{FF2B5EF4-FFF2-40B4-BE49-F238E27FC236}">
                          <a16:creationId xmlns:a16="http://schemas.microsoft.com/office/drawing/2014/main" id="{C95D9C35-BFB8-1B59-29B9-082B77CA3E05}"/>
                        </a:ext>
                      </a:extLst>
                    </p:cNvPr>
                    <p:cNvSpPr>
                      <a:spLocks noChangeAspect="1" noChangeArrowheads="1"/>
                    </p:cNvSpPr>
                    <p:nvPr/>
                  </p:nvSpPr>
                  <p:spPr bwMode="auto">
                    <a:xfrm>
                      <a:off x="1215" y="2335"/>
                      <a:ext cx="832" cy="534"/>
                    </a:xfrm>
                    <a:prstGeom prst="rect">
                      <a:avLst/>
                    </a:prstGeom>
                    <a:gradFill rotWithShape="1">
                      <a:gsLst>
                        <a:gs pos="0">
                          <a:srgbClr val="CEB640">
                            <a:gamma/>
                            <a:tint val="53725"/>
                            <a:invGamma/>
                          </a:srgbClr>
                        </a:gs>
                        <a:gs pos="100000">
                          <a:srgbClr val="CEB640"/>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IN"/>
                    </a:p>
                  </p:txBody>
                </p:sp>
                <p:sp>
                  <p:nvSpPr>
                    <p:cNvPr id="3088019" name="Text Box 659">
                      <a:extLst>
                        <a:ext uri="{FF2B5EF4-FFF2-40B4-BE49-F238E27FC236}">
                          <a16:creationId xmlns:a16="http://schemas.microsoft.com/office/drawing/2014/main" id="{43BD5602-35CA-C5E3-4C6A-CBB42A09AB6D}"/>
                        </a:ext>
                      </a:extLst>
                    </p:cNvPr>
                    <p:cNvSpPr txBox="1">
                      <a:spLocks noChangeAspect="1" noChangeArrowheads="1"/>
                    </p:cNvSpPr>
                    <p:nvPr/>
                  </p:nvSpPr>
                  <p:spPr bwMode="auto">
                    <a:xfrm>
                      <a:off x="1261" y="2359"/>
                      <a:ext cx="1" cy="1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spcBef>
                          <a:spcPct val="50000"/>
                        </a:spcBef>
                      </a:pPr>
                      <a:endParaRPr lang="zh-CN" altLang="en-US" sz="1200" b="1">
                        <a:solidFill>
                          <a:srgbClr val="000308"/>
                        </a:solidFill>
                        <a:ea typeface="宋体" panose="02010600030101010101" pitchFamily="2" charset="-122"/>
                      </a:endParaRPr>
                    </a:p>
                  </p:txBody>
                </p:sp>
                <p:sp>
                  <p:nvSpPr>
                    <p:cNvPr id="3088020" name="Line 660">
                      <a:extLst>
                        <a:ext uri="{FF2B5EF4-FFF2-40B4-BE49-F238E27FC236}">
                          <a16:creationId xmlns:a16="http://schemas.microsoft.com/office/drawing/2014/main" id="{9F1B2602-A9CD-62AD-E62E-0896F68FB9C3}"/>
                        </a:ext>
                      </a:extLst>
                    </p:cNvPr>
                    <p:cNvSpPr>
                      <a:spLocks noChangeAspect="1" noChangeShapeType="1"/>
                    </p:cNvSpPr>
                    <p:nvPr/>
                  </p:nvSpPr>
                  <p:spPr bwMode="gray">
                    <a:xfrm>
                      <a:off x="1215" y="2495"/>
                      <a:ext cx="83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21" name="Line 661">
                      <a:extLst>
                        <a:ext uri="{FF2B5EF4-FFF2-40B4-BE49-F238E27FC236}">
                          <a16:creationId xmlns:a16="http://schemas.microsoft.com/office/drawing/2014/main" id="{8352F80A-022C-08B6-DDDF-43C0BE911577}"/>
                        </a:ext>
                      </a:extLst>
                    </p:cNvPr>
                    <p:cNvSpPr>
                      <a:spLocks noChangeAspect="1" noChangeShapeType="1"/>
                    </p:cNvSpPr>
                    <p:nvPr/>
                  </p:nvSpPr>
                  <p:spPr bwMode="gray">
                    <a:xfrm>
                      <a:off x="1215" y="2588"/>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22" name="Line 662">
                      <a:extLst>
                        <a:ext uri="{FF2B5EF4-FFF2-40B4-BE49-F238E27FC236}">
                          <a16:creationId xmlns:a16="http://schemas.microsoft.com/office/drawing/2014/main" id="{C9C366A2-A883-DBD9-880F-B83335F6DC06}"/>
                        </a:ext>
                      </a:extLst>
                    </p:cNvPr>
                    <p:cNvSpPr>
                      <a:spLocks noChangeAspect="1" noChangeShapeType="1"/>
                    </p:cNvSpPr>
                    <p:nvPr/>
                  </p:nvSpPr>
                  <p:spPr bwMode="gray">
                    <a:xfrm>
                      <a:off x="1215" y="2682"/>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23" name="Line 663">
                      <a:extLst>
                        <a:ext uri="{FF2B5EF4-FFF2-40B4-BE49-F238E27FC236}">
                          <a16:creationId xmlns:a16="http://schemas.microsoft.com/office/drawing/2014/main" id="{55D73EC3-0BC5-DACF-F8AD-5A2BAA57048A}"/>
                        </a:ext>
                      </a:extLst>
                    </p:cNvPr>
                    <p:cNvSpPr>
                      <a:spLocks noChangeAspect="1" noChangeShapeType="1"/>
                    </p:cNvSpPr>
                    <p:nvPr/>
                  </p:nvSpPr>
                  <p:spPr bwMode="gray">
                    <a:xfrm>
                      <a:off x="1215" y="2775"/>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24" name="Line 664">
                      <a:extLst>
                        <a:ext uri="{FF2B5EF4-FFF2-40B4-BE49-F238E27FC236}">
                          <a16:creationId xmlns:a16="http://schemas.microsoft.com/office/drawing/2014/main" id="{1FC1E17E-1FE7-B950-8BAE-EF66482FD221}"/>
                        </a:ext>
                      </a:extLst>
                    </p:cNvPr>
                    <p:cNvSpPr>
                      <a:spLocks noChangeAspect="1" noChangeShapeType="1"/>
                    </p:cNvSpPr>
                    <p:nvPr/>
                  </p:nvSpPr>
                  <p:spPr bwMode="gray">
                    <a:xfrm>
                      <a:off x="1381"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25" name="Line 665">
                      <a:extLst>
                        <a:ext uri="{FF2B5EF4-FFF2-40B4-BE49-F238E27FC236}">
                          <a16:creationId xmlns:a16="http://schemas.microsoft.com/office/drawing/2014/main" id="{94F6A65C-C587-122A-D9A0-E0484A001C53}"/>
                        </a:ext>
                      </a:extLst>
                    </p:cNvPr>
                    <p:cNvSpPr>
                      <a:spLocks noChangeAspect="1" noChangeShapeType="1"/>
                    </p:cNvSpPr>
                    <p:nvPr/>
                  </p:nvSpPr>
                  <p:spPr bwMode="gray">
                    <a:xfrm>
                      <a:off x="1547"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26" name="Line 666">
                      <a:extLst>
                        <a:ext uri="{FF2B5EF4-FFF2-40B4-BE49-F238E27FC236}">
                          <a16:creationId xmlns:a16="http://schemas.microsoft.com/office/drawing/2014/main" id="{8A5B4ED3-0024-E825-34E8-6AA55302EF56}"/>
                        </a:ext>
                      </a:extLst>
                    </p:cNvPr>
                    <p:cNvSpPr>
                      <a:spLocks noChangeAspect="1" noChangeShapeType="1"/>
                    </p:cNvSpPr>
                    <p:nvPr/>
                  </p:nvSpPr>
                  <p:spPr bwMode="gray">
                    <a:xfrm>
                      <a:off x="1714"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8027" name="Line 667">
                      <a:extLst>
                        <a:ext uri="{FF2B5EF4-FFF2-40B4-BE49-F238E27FC236}">
                          <a16:creationId xmlns:a16="http://schemas.microsoft.com/office/drawing/2014/main" id="{E7F6FEA1-C9FB-F7ED-83C1-35B9F820149F}"/>
                        </a:ext>
                      </a:extLst>
                    </p:cNvPr>
                    <p:cNvSpPr>
                      <a:spLocks noChangeAspect="1" noChangeShapeType="1"/>
                    </p:cNvSpPr>
                    <p:nvPr/>
                  </p:nvSpPr>
                  <p:spPr bwMode="gray">
                    <a:xfrm>
                      <a:off x="1880"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3088028" name="Text Box 668">
                    <a:extLst>
                      <a:ext uri="{FF2B5EF4-FFF2-40B4-BE49-F238E27FC236}">
                        <a16:creationId xmlns:a16="http://schemas.microsoft.com/office/drawing/2014/main" id="{0B4749C2-DDB2-B7EE-ADBA-C33C3864D37C}"/>
                      </a:ext>
                    </a:extLst>
                  </p:cNvPr>
                  <p:cNvSpPr txBox="1">
                    <a:spLocks noChangeAspect="1" noChangeArrowheads="1"/>
                  </p:cNvSpPr>
                  <p:nvPr/>
                </p:nvSpPr>
                <p:spPr bwMode="auto">
                  <a:xfrm>
                    <a:off x="1335" y="-59"/>
                    <a:ext cx="2159" cy="2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0"/>
                      </a:spcBef>
                      <a:buClrTx/>
                      <a:buFontTx/>
                      <a:buNone/>
                    </a:pPr>
                    <a:endParaRPr lang="zh-CN" altLang="en-US" sz="1400">
                      <a:solidFill>
                        <a:srgbClr val="000000"/>
                      </a:solidFill>
                      <a:ea typeface="宋体" panose="02010600030101010101" pitchFamily="2" charset="-122"/>
                    </a:endParaRPr>
                  </a:p>
                </p:txBody>
              </p:sp>
            </p:grpSp>
            <p:sp>
              <p:nvSpPr>
                <p:cNvPr id="3088029" name="Text Box 669">
                  <a:extLst>
                    <a:ext uri="{FF2B5EF4-FFF2-40B4-BE49-F238E27FC236}">
                      <a16:creationId xmlns:a16="http://schemas.microsoft.com/office/drawing/2014/main" id="{A2A7A5F9-88B9-451D-1BD7-3B4A6B63F117}"/>
                    </a:ext>
                  </a:extLst>
                </p:cNvPr>
                <p:cNvSpPr txBox="1">
                  <a:spLocks noChangeAspect="1" noChangeArrowheads="1"/>
                </p:cNvSpPr>
                <p:nvPr/>
              </p:nvSpPr>
              <p:spPr bwMode="auto">
                <a:xfrm>
                  <a:off x="435" y="2540"/>
                  <a:ext cx="925" cy="4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ClrTx/>
                    <a:buFontTx/>
                    <a:buNone/>
                  </a:pPr>
                  <a:r>
                    <a:rPr lang="en-US" altLang="zh-CN" sz="800" b="1">
                      <a:solidFill>
                        <a:srgbClr val="000000"/>
                      </a:solidFill>
                      <a:ea typeface="宋体" panose="02010600030101010101" pitchFamily="2" charset="-122"/>
                    </a:rPr>
                    <a:t>LV</a:t>
                  </a:r>
                </a:p>
              </p:txBody>
            </p:sp>
            <p:sp>
              <p:nvSpPr>
                <p:cNvPr id="3088030" name="Text Box 670">
                  <a:extLst>
                    <a:ext uri="{FF2B5EF4-FFF2-40B4-BE49-F238E27FC236}">
                      <a16:creationId xmlns:a16="http://schemas.microsoft.com/office/drawing/2014/main" id="{B4184532-DC6A-5ECA-9D03-96D241DDF117}"/>
                    </a:ext>
                  </a:extLst>
                </p:cNvPr>
                <p:cNvSpPr txBox="1">
                  <a:spLocks noChangeAspect="1" noChangeArrowheads="1"/>
                </p:cNvSpPr>
                <p:nvPr/>
              </p:nvSpPr>
              <p:spPr bwMode="auto">
                <a:xfrm>
                  <a:off x="430" y="2135"/>
                  <a:ext cx="976" cy="4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ClrTx/>
                    <a:buFontTx/>
                    <a:buNone/>
                  </a:pPr>
                  <a:r>
                    <a:rPr lang="en-US" altLang="zh-CN" sz="800" b="1">
                      <a:solidFill>
                        <a:srgbClr val="000000"/>
                      </a:solidFill>
                      <a:ea typeface="宋体" panose="02010600030101010101" pitchFamily="2" charset="-122"/>
                    </a:rPr>
                    <a:t>VG</a:t>
                  </a:r>
                </a:p>
              </p:txBody>
            </p:sp>
            <p:grpSp>
              <p:nvGrpSpPr>
                <p:cNvPr id="3088031" name="Group 671">
                  <a:extLst>
                    <a:ext uri="{FF2B5EF4-FFF2-40B4-BE49-F238E27FC236}">
                      <a16:creationId xmlns:a16="http://schemas.microsoft.com/office/drawing/2014/main" id="{35404A84-1296-E3BC-B833-E3DD7A59B107}"/>
                    </a:ext>
                  </a:extLst>
                </p:cNvPr>
                <p:cNvGrpSpPr>
                  <a:grpSpLocks noChangeAspect="1"/>
                </p:cNvGrpSpPr>
                <p:nvPr/>
              </p:nvGrpSpPr>
              <p:grpSpPr bwMode="auto">
                <a:xfrm>
                  <a:off x="1199" y="2986"/>
                  <a:ext cx="288" cy="401"/>
                  <a:chOff x="4529" y="1698"/>
                  <a:chExt cx="288" cy="401"/>
                </a:xfrm>
              </p:grpSpPr>
              <p:pic>
                <p:nvPicPr>
                  <p:cNvPr id="3088032" name="Picture 672">
                    <a:extLst>
                      <a:ext uri="{FF2B5EF4-FFF2-40B4-BE49-F238E27FC236}">
                        <a16:creationId xmlns:a16="http://schemas.microsoft.com/office/drawing/2014/main" id="{99203E38-A679-B1FD-E298-EB46519D5B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 y="1701"/>
                    <a:ext cx="288"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8033" name="Picture 673">
                    <a:extLst>
                      <a:ext uri="{FF2B5EF4-FFF2-40B4-BE49-F238E27FC236}">
                        <a16:creationId xmlns:a16="http://schemas.microsoft.com/office/drawing/2014/main" id="{EEA49A09-1969-3110-D739-31D9F646B6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2" y="1698"/>
                    <a:ext cx="94"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88034" name="Group 674">
                  <a:extLst>
                    <a:ext uri="{FF2B5EF4-FFF2-40B4-BE49-F238E27FC236}">
                      <a16:creationId xmlns:a16="http://schemas.microsoft.com/office/drawing/2014/main" id="{686B30AD-D11A-39EC-CBA8-AD3297CFD7EA}"/>
                    </a:ext>
                  </a:extLst>
                </p:cNvPr>
                <p:cNvGrpSpPr>
                  <a:grpSpLocks noChangeAspect="1"/>
                </p:cNvGrpSpPr>
                <p:nvPr/>
              </p:nvGrpSpPr>
              <p:grpSpPr bwMode="auto">
                <a:xfrm>
                  <a:off x="1494" y="3114"/>
                  <a:ext cx="288" cy="401"/>
                  <a:chOff x="4529" y="1698"/>
                  <a:chExt cx="288" cy="401"/>
                </a:xfrm>
              </p:grpSpPr>
              <p:pic>
                <p:nvPicPr>
                  <p:cNvPr id="3088035" name="Picture 675">
                    <a:extLst>
                      <a:ext uri="{FF2B5EF4-FFF2-40B4-BE49-F238E27FC236}">
                        <a16:creationId xmlns:a16="http://schemas.microsoft.com/office/drawing/2014/main" id="{5DA1E43D-5132-5BEF-CF93-0B4B383C34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 y="1701"/>
                    <a:ext cx="288"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8036" name="Picture 676">
                    <a:extLst>
                      <a:ext uri="{FF2B5EF4-FFF2-40B4-BE49-F238E27FC236}">
                        <a16:creationId xmlns:a16="http://schemas.microsoft.com/office/drawing/2014/main" id="{44A60D9D-94B7-4E1B-61CB-E9EE8D3189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2" y="1698"/>
                    <a:ext cx="94" cy="9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3088037" name="Group 677">
                  <a:extLst>
                    <a:ext uri="{FF2B5EF4-FFF2-40B4-BE49-F238E27FC236}">
                      <a16:creationId xmlns:a16="http://schemas.microsoft.com/office/drawing/2014/main" id="{962CB24D-5616-C972-A259-E4751D02FEAE}"/>
                    </a:ext>
                  </a:extLst>
                </p:cNvPr>
                <p:cNvGrpSpPr>
                  <a:grpSpLocks noChangeAspect="1"/>
                </p:cNvGrpSpPr>
                <p:nvPr/>
              </p:nvGrpSpPr>
              <p:grpSpPr bwMode="auto">
                <a:xfrm>
                  <a:off x="1799" y="3010"/>
                  <a:ext cx="288" cy="401"/>
                  <a:chOff x="4529" y="1698"/>
                  <a:chExt cx="288" cy="401"/>
                </a:xfrm>
              </p:grpSpPr>
              <p:pic>
                <p:nvPicPr>
                  <p:cNvPr id="3088038" name="Picture 678">
                    <a:extLst>
                      <a:ext uri="{FF2B5EF4-FFF2-40B4-BE49-F238E27FC236}">
                        <a16:creationId xmlns:a16="http://schemas.microsoft.com/office/drawing/2014/main" id="{1504E616-D386-09F7-116E-B4CA16AEE5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 y="1701"/>
                    <a:ext cx="288"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8039" name="Picture 679">
                    <a:extLst>
                      <a:ext uri="{FF2B5EF4-FFF2-40B4-BE49-F238E27FC236}">
                        <a16:creationId xmlns:a16="http://schemas.microsoft.com/office/drawing/2014/main" id="{2DB93A1A-0EB0-1BD2-E2BF-F17584D835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2" y="1698"/>
                    <a:ext cx="94"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88040" name="Text Box 680">
                  <a:extLst>
                    <a:ext uri="{FF2B5EF4-FFF2-40B4-BE49-F238E27FC236}">
                      <a16:creationId xmlns:a16="http://schemas.microsoft.com/office/drawing/2014/main" id="{231F9617-BA1A-3C07-58F0-6524F768722A}"/>
                    </a:ext>
                  </a:extLst>
                </p:cNvPr>
                <p:cNvSpPr txBox="1">
                  <a:spLocks noChangeAspect="1" noChangeArrowheads="1"/>
                </p:cNvSpPr>
                <p:nvPr/>
              </p:nvSpPr>
              <p:spPr bwMode="auto">
                <a:xfrm>
                  <a:off x="439" y="2970"/>
                  <a:ext cx="925" cy="4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ClrTx/>
                    <a:buFontTx/>
                    <a:buNone/>
                  </a:pPr>
                  <a:r>
                    <a:rPr lang="en-US" altLang="zh-CN" sz="800" b="1">
                      <a:solidFill>
                        <a:srgbClr val="000000"/>
                      </a:solidFill>
                      <a:ea typeface="宋体" panose="02010600030101010101" pitchFamily="2" charset="-122"/>
                    </a:rPr>
                    <a:t>FS</a:t>
                  </a:r>
                </a:p>
              </p:txBody>
            </p:sp>
            <p:grpSp>
              <p:nvGrpSpPr>
                <p:cNvPr id="3088041" name="Group 681">
                  <a:extLst>
                    <a:ext uri="{FF2B5EF4-FFF2-40B4-BE49-F238E27FC236}">
                      <a16:creationId xmlns:a16="http://schemas.microsoft.com/office/drawing/2014/main" id="{3FF6BF8A-11B4-B781-C75C-F6D44605EB2C}"/>
                    </a:ext>
                  </a:extLst>
                </p:cNvPr>
                <p:cNvGrpSpPr>
                  <a:grpSpLocks noChangeAspect="1"/>
                </p:cNvGrpSpPr>
                <p:nvPr/>
              </p:nvGrpSpPr>
              <p:grpSpPr bwMode="auto">
                <a:xfrm>
                  <a:off x="2182" y="2280"/>
                  <a:ext cx="364" cy="159"/>
                  <a:chOff x="3748" y="3793"/>
                  <a:chExt cx="364" cy="159"/>
                </a:xfrm>
              </p:grpSpPr>
              <p:sp>
                <p:nvSpPr>
                  <p:cNvPr id="3088042" name="Oval 682">
                    <a:extLst>
                      <a:ext uri="{FF2B5EF4-FFF2-40B4-BE49-F238E27FC236}">
                        <a16:creationId xmlns:a16="http://schemas.microsoft.com/office/drawing/2014/main" id="{D9A75293-A833-7CA1-7AE1-4D64D2AD8A69}"/>
                      </a:ext>
                    </a:extLst>
                  </p:cNvPr>
                  <p:cNvSpPr>
                    <a:spLocks noChangeAspect="1" noChangeArrowheads="1"/>
                  </p:cNvSpPr>
                  <p:nvPr/>
                </p:nvSpPr>
                <p:spPr bwMode="auto">
                  <a:xfrm>
                    <a:off x="3748" y="3825"/>
                    <a:ext cx="364" cy="127"/>
                  </a:xfrm>
                  <a:prstGeom prst="ellipse">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8043" name="Rectangle 683">
                    <a:extLst>
                      <a:ext uri="{FF2B5EF4-FFF2-40B4-BE49-F238E27FC236}">
                        <a16:creationId xmlns:a16="http://schemas.microsoft.com/office/drawing/2014/main" id="{CFBDCB99-96C1-0350-163B-4B89051E7F00}"/>
                      </a:ext>
                    </a:extLst>
                  </p:cNvPr>
                  <p:cNvSpPr>
                    <a:spLocks noChangeAspect="1" noChangeArrowheads="1"/>
                  </p:cNvSpPr>
                  <p:nvPr/>
                </p:nvSpPr>
                <p:spPr bwMode="auto">
                  <a:xfrm>
                    <a:off x="3748" y="3857"/>
                    <a:ext cx="364" cy="31"/>
                  </a:xfrm>
                  <a:prstGeom prst="rect">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8044" name="Oval 684">
                    <a:extLst>
                      <a:ext uri="{FF2B5EF4-FFF2-40B4-BE49-F238E27FC236}">
                        <a16:creationId xmlns:a16="http://schemas.microsoft.com/office/drawing/2014/main" id="{649629C5-65AE-E1AE-9BB4-F53AC3BB7478}"/>
                      </a:ext>
                    </a:extLst>
                  </p:cNvPr>
                  <p:cNvSpPr>
                    <a:spLocks noChangeAspect="1" noChangeArrowheads="1"/>
                  </p:cNvSpPr>
                  <p:nvPr/>
                </p:nvSpPr>
                <p:spPr bwMode="auto">
                  <a:xfrm>
                    <a:off x="3748" y="3793"/>
                    <a:ext cx="364" cy="127"/>
                  </a:xfrm>
                  <a:prstGeom prst="ellipse">
                    <a:avLst/>
                  </a:prstGeom>
                  <a:gradFill rotWithShape="1">
                    <a:gsLst>
                      <a:gs pos="0">
                        <a:srgbClr val="E88A6C"/>
                      </a:gs>
                      <a:gs pos="100000">
                        <a:srgbClr val="E88A6C">
                          <a:gamma/>
                          <a:tint val="29412"/>
                          <a:invGamma/>
                        </a:srgbClr>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grpSp>
          <p:sp>
            <p:nvSpPr>
              <p:cNvPr id="3088045" name="Rectangle 685">
                <a:extLst>
                  <a:ext uri="{FF2B5EF4-FFF2-40B4-BE49-F238E27FC236}">
                    <a16:creationId xmlns:a16="http://schemas.microsoft.com/office/drawing/2014/main" id="{D99EB860-A139-78B8-3981-0836545DA069}"/>
                  </a:ext>
                </a:extLst>
              </p:cNvPr>
              <p:cNvSpPr>
                <a:spLocks noChangeArrowheads="1"/>
              </p:cNvSpPr>
              <p:nvPr/>
            </p:nvSpPr>
            <p:spPr bwMode="auto">
              <a:xfrm>
                <a:off x="1048" y="2112"/>
                <a:ext cx="496" cy="136"/>
              </a:xfrm>
              <a:prstGeom prst="rect">
                <a:avLst/>
              </a:prstGeom>
              <a:solidFill>
                <a:srgbClr val="EAEAEA"/>
              </a:solidFill>
              <a:ln>
                <a:noFill/>
              </a:ln>
              <a:effectLst>
                <a:prstShdw prst="shdw17" dist="17961" dir="2700000">
                  <a:srgbClr val="EAEAEA">
                    <a:gamma/>
                    <a:shade val="60000"/>
                    <a:invGamma/>
                  </a:srgbClr>
                </a:prstShdw>
              </a:effectLst>
              <a:extLst>
                <a:ext uri="{91240B29-F687-4F45-9708-019B960494DF}">
                  <a14:hiddenLine xmlns:a14="http://schemas.microsoft.com/office/drawing/2010/main" w="25400" algn="ctr">
                    <a:solidFill>
                      <a:srgbClr val="FF0000"/>
                    </a:solidFill>
                    <a:miter lim="800000"/>
                    <a:headEnd/>
                    <a:tailEnd type="none" w="lg" len="med"/>
                  </a14:hiddenLine>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800">
                    <a:solidFill>
                      <a:srgbClr val="003580"/>
                    </a:solidFill>
                    <a:ea typeface="宋体" panose="02010600030101010101" pitchFamily="2" charset="-122"/>
                  </a:rPr>
                  <a:t>DB App</a:t>
                </a:r>
              </a:p>
            </p:txBody>
          </p:sp>
        </p:grpSp>
      </p:grpSp>
      <p:pic>
        <p:nvPicPr>
          <p:cNvPr id="3087882" name="Picture 522">
            <a:extLst>
              <a:ext uri="{FF2B5EF4-FFF2-40B4-BE49-F238E27FC236}">
                <a16:creationId xmlns:a16="http://schemas.microsoft.com/office/drawing/2014/main" id="{75849312-2CC6-61CA-8FCF-0C573023BC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75" y="2508250"/>
            <a:ext cx="1117600" cy="1838325"/>
          </a:xfrm>
          <a:prstGeom prst="rect">
            <a:avLst/>
          </a:prstGeom>
          <a:noFill/>
          <a:extLst>
            <a:ext uri="{909E8E84-426E-40DD-AFC4-6F175D3DCCD1}">
              <a14:hiddenFill xmlns:a14="http://schemas.microsoft.com/office/drawing/2010/main">
                <a:solidFill>
                  <a:srgbClr val="FFFFFF"/>
                </a:solidFill>
              </a14:hiddenFill>
            </a:ext>
          </a:extLst>
        </p:spPr>
      </p:pic>
      <p:grpSp>
        <p:nvGrpSpPr>
          <p:cNvPr id="3087889" name="Group 529">
            <a:extLst>
              <a:ext uri="{FF2B5EF4-FFF2-40B4-BE49-F238E27FC236}">
                <a16:creationId xmlns:a16="http://schemas.microsoft.com/office/drawing/2014/main" id="{610527EE-9BFD-0313-4B60-6A07169DEDFA}"/>
              </a:ext>
            </a:extLst>
          </p:cNvPr>
          <p:cNvGrpSpPr>
            <a:grpSpLocks/>
          </p:cNvGrpSpPr>
          <p:nvPr/>
        </p:nvGrpSpPr>
        <p:grpSpPr bwMode="auto">
          <a:xfrm>
            <a:off x="2135188" y="3087688"/>
            <a:ext cx="735012" cy="893762"/>
            <a:chOff x="1313" y="1918"/>
            <a:chExt cx="643" cy="662"/>
          </a:xfrm>
        </p:grpSpPr>
        <p:sp>
          <p:nvSpPr>
            <p:cNvPr id="3087888" name="Rectangle 528">
              <a:extLst>
                <a:ext uri="{FF2B5EF4-FFF2-40B4-BE49-F238E27FC236}">
                  <a16:creationId xmlns:a16="http://schemas.microsoft.com/office/drawing/2014/main" id="{5D1E4F89-79AB-8A58-2F85-8385BBA03A81}"/>
                </a:ext>
              </a:extLst>
            </p:cNvPr>
            <p:cNvSpPr>
              <a:spLocks noChangeArrowheads="1"/>
            </p:cNvSpPr>
            <p:nvPr/>
          </p:nvSpPr>
          <p:spPr bwMode="auto">
            <a:xfrm>
              <a:off x="1386" y="1962"/>
              <a:ext cx="570" cy="618"/>
            </a:xfrm>
            <a:prstGeom prst="rect">
              <a:avLst/>
            </a:prstGeom>
            <a:solidFill>
              <a:schemeClr val="bg1"/>
            </a:solidFill>
            <a:ln>
              <a:noFill/>
            </a:ln>
            <a:effectLst/>
            <a:extLs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nvGrpSpPr>
            <p:cNvPr id="3087886" name="Group 526">
              <a:extLst>
                <a:ext uri="{FF2B5EF4-FFF2-40B4-BE49-F238E27FC236}">
                  <a16:creationId xmlns:a16="http://schemas.microsoft.com/office/drawing/2014/main" id="{FE340722-7A21-A880-0118-94A089A3F3AF}"/>
                </a:ext>
              </a:extLst>
            </p:cNvPr>
            <p:cNvGrpSpPr>
              <a:grpSpLocks/>
            </p:cNvGrpSpPr>
            <p:nvPr/>
          </p:nvGrpSpPr>
          <p:grpSpPr bwMode="auto">
            <a:xfrm>
              <a:off x="1313" y="1918"/>
              <a:ext cx="629" cy="648"/>
              <a:chOff x="963" y="1642"/>
              <a:chExt cx="631" cy="606"/>
            </a:xfrm>
          </p:grpSpPr>
          <p:grpSp>
            <p:nvGrpSpPr>
              <p:cNvPr id="3087559" name="Group 199">
                <a:extLst>
                  <a:ext uri="{FF2B5EF4-FFF2-40B4-BE49-F238E27FC236}">
                    <a16:creationId xmlns:a16="http://schemas.microsoft.com/office/drawing/2014/main" id="{C559C7B1-88DF-60DB-761A-8D340D637D25}"/>
                  </a:ext>
                </a:extLst>
              </p:cNvPr>
              <p:cNvGrpSpPr>
                <a:grpSpLocks noChangeAspect="1"/>
              </p:cNvGrpSpPr>
              <p:nvPr/>
            </p:nvGrpSpPr>
            <p:grpSpPr bwMode="auto">
              <a:xfrm>
                <a:off x="963" y="1642"/>
                <a:ext cx="631" cy="412"/>
                <a:chOff x="430" y="2135"/>
                <a:chExt cx="2116" cy="1380"/>
              </a:xfrm>
            </p:grpSpPr>
            <p:grpSp>
              <p:nvGrpSpPr>
                <p:cNvPr id="3087560" name="Group 200">
                  <a:extLst>
                    <a:ext uri="{FF2B5EF4-FFF2-40B4-BE49-F238E27FC236}">
                      <a16:creationId xmlns:a16="http://schemas.microsoft.com/office/drawing/2014/main" id="{DAEC9E5F-5D6C-8A69-13AD-986D93BD4321}"/>
                    </a:ext>
                  </a:extLst>
                </p:cNvPr>
                <p:cNvGrpSpPr>
                  <a:grpSpLocks noChangeAspect="1"/>
                </p:cNvGrpSpPr>
                <p:nvPr/>
              </p:nvGrpSpPr>
              <p:grpSpPr bwMode="auto">
                <a:xfrm>
                  <a:off x="1100" y="2241"/>
                  <a:ext cx="1265" cy="782"/>
                  <a:chOff x="1100" y="2241"/>
                  <a:chExt cx="1265" cy="782"/>
                </a:xfrm>
              </p:grpSpPr>
              <p:sp>
                <p:nvSpPr>
                  <p:cNvPr id="3087561" name="Text Box 201">
                    <a:extLst>
                      <a:ext uri="{FF2B5EF4-FFF2-40B4-BE49-F238E27FC236}">
                        <a16:creationId xmlns:a16="http://schemas.microsoft.com/office/drawing/2014/main" id="{98607596-C166-A38E-271F-4BDE2BCE5613}"/>
                      </a:ext>
                    </a:extLst>
                  </p:cNvPr>
                  <p:cNvSpPr txBox="1">
                    <a:spLocks noChangeAspect="1" noChangeArrowheads="1"/>
                  </p:cNvSpPr>
                  <p:nvPr/>
                </p:nvSpPr>
                <p:spPr bwMode="auto">
                  <a:xfrm>
                    <a:off x="1399" y="2241"/>
                    <a:ext cx="541" cy="7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ClrTx/>
                      <a:buFontTx/>
                      <a:buNone/>
                    </a:pPr>
                    <a:endParaRPr lang="zh-CN" altLang="en-US" sz="1600">
                      <a:solidFill>
                        <a:srgbClr val="000000"/>
                      </a:solidFill>
                      <a:ea typeface="宋体" panose="02010600030101010101" pitchFamily="2" charset="-122"/>
                    </a:endParaRPr>
                  </a:p>
                </p:txBody>
              </p:sp>
              <p:sp>
                <p:nvSpPr>
                  <p:cNvPr id="3087562" name="AutoShape 202">
                    <a:extLst>
                      <a:ext uri="{FF2B5EF4-FFF2-40B4-BE49-F238E27FC236}">
                        <a16:creationId xmlns:a16="http://schemas.microsoft.com/office/drawing/2014/main" id="{C2C2B18F-2EA4-7EF6-59C2-FF33113CA348}"/>
                      </a:ext>
                    </a:extLst>
                  </p:cNvPr>
                  <p:cNvSpPr>
                    <a:spLocks noChangeAspect="1"/>
                  </p:cNvSpPr>
                  <p:nvPr/>
                </p:nvSpPr>
                <p:spPr bwMode="auto">
                  <a:xfrm rot="5400000" flipV="1">
                    <a:off x="1719" y="1916"/>
                    <a:ext cx="85" cy="1206"/>
                  </a:xfrm>
                  <a:prstGeom prst="rightBrace">
                    <a:avLst>
                      <a:gd name="adj1" fmla="val 118235"/>
                      <a:gd name="adj2" fmla="val 50000"/>
                    </a:avLst>
                  </a:prstGeom>
                  <a:noFill/>
                  <a:ln w="2857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3087563" name="Group 203">
                    <a:extLst>
                      <a:ext uri="{FF2B5EF4-FFF2-40B4-BE49-F238E27FC236}">
                        <a16:creationId xmlns:a16="http://schemas.microsoft.com/office/drawing/2014/main" id="{3D5291A8-CE82-BCF0-731A-874432072EEF}"/>
                      </a:ext>
                    </a:extLst>
                  </p:cNvPr>
                  <p:cNvGrpSpPr>
                    <a:grpSpLocks noChangeAspect="1"/>
                  </p:cNvGrpSpPr>
                  <p:nvPr/>
                </p:nvGrpSpPr>
                <p:grpSpPr bwMode="auto">
                  <a:xfrm>
                    <a:off x="1100" y="2269"/>
                    <a:ext cx="364" cy="159"/>
                    <a:chOff x="3748" y="3793"/>
                    <a:chExt cx="364" cy="159"/>
                  </a:xfrm>
                </p:grpSpPr>
                <p:sp>
                  <p:nvSpPr>
                    <p:cNvPr id="3087564" name="Oval 204">
                      <a:extLst>
                        <a:ext uri="{FF2B5EF4-FFF2-40B4-BE49-F238E27FC236}">
                          <a16:creationId xmlns:a16="http://schemas.microsoft.com/office/drawing/2014/main" id="{F08EAF06-BCB0-204B-72CE-18497C6A4694}"/>
                        </a:ext>
                      </a:extLst>
                    </p:cNvPr>
                    <p:cNvSpPr>
                      <a:spLocks noChangeAspect="1" noChangeArrowheads="1"/>
                    </p:cNvSpPr>
                    <p:nvPr/>
                  </p:nvSpPr>
                  <p:spPr bwMode="auto">
                    <a:xfrm>
                      <a:off x="3748" y="3825"/>
                      <a:ext cx="364" cy="127"/>
                    </a:xfrm>
                    <a:prstGeom prst="ellipse">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565" name="Rectangle 205">
                      <a:extLst>
                        <a:ext uri="{FF2B5EF4-FFF2-40B4-BE49-F238E27FC236}">
                          <a16:creationId xmlns:a16="http://schemas.microsoft.com/office/drawing/2014/main" id="{187B0F4A-FA94-0224-D6D5-EE1DC15FCCA7}"/>
                        </a:ext>
                      </a:extLst>
                    </p:cNvPr>
                    <p:cNvSpPr>
                      <a:spLocks noChangeAspect="1" noChangeArrowheads="1"/>
                    </p:cNvSpPr>
                    <p:nvPr/>
                  </p:nvSpPr>
                  <p:spPr bwMode="auto">
                    <a:xfrm>
                      <a:off x="3748" y="3857"/>
                      <a:ext cx="364" cy="31"/>
                    </a:xfrm>
                    <a:prstGeom prst="rect">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566" name="Oval 206">
                      <a:extLst>
                        <a:ext uri="{FF2B5EF4-FFF2-40B4-BE49-F238E27FC236}">
                          <a16:creationId xmlns:a16="http://schemas.microsoft.com/office/drawing/2014/main" id="{240432EC-C034-AFEE-72BB-3410EB9E0F85}"/>
                        </a:ext>
                      </a:extLst>
                    </p:cNvPr>
                    <p:cNvSpPr>
                      <a:spLocks noChangeAspect="1" noChangeArrowheads="1"/>
                    </p:cNvSpPr>
                    <p:nvPr/>
                  </p:nvSpPr>
                  <p:spPr bwMode="auto">
                    <a:xfrm>
                      <a:off x="3748" y="3793"/>
                      <a:ext cx="364" cy="127"/>
                    </a:xfrm>
                    <a:prstGeom prst="ellipse">
                      <a:avLst/>
                    </a:prstGeom>
                    <a:gradFill rotWithShape="1">
                      <a:gsLst>
                        <a:gs pos="0">
                          <a:srgbClr val="E88A6C"/>
                        </a:gs>
                        <a:gs pos="100000">
                          <a:srgbClr val="E88A6C">
                            <a:gamma/>
                            <a:tint val="29412"/>
                            <a:invGamma/>
                          </a:srgbClr>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grpSp>
                <p:nvGrpSpPr>
                  <p:cNvPr id="3087567" name="Group 207">
                    <a:extLst>
                      <a:ext uri="{FF2B5EF4-FFF2-40B4-BE49-F238E27FC236}">
                        <a16:creationId xmlns:a16="http://schemas.microsoft.com/office/drawing/2014/main" id="{52F257C4-5526-C0FF-20D3-DFD4AB1C8FC8}"/>
                      </a:ext>
                    </a:extLst>
                  </p:cNvPr>
                  <p:cNvGrpSpPr>
                    <a:grpSpLocks noChangeAspect="1"/>
                  </p:cNvGrpSpPr>
                  <p:nvPr/>
                </p:nvGrpSpPr>
                <p:grpSpPr bwMode="auto">
                  <a:xfrm>
                    <a:off x="1437" y="2271"/>
                    <a:ext cx="364" cy="159"/>
                    <a:chOff x="3748" y="3793"/>
                    <a:chExt cx="364" cy="159"/>
                  </a:xfrm>
                </p:grpSpPr>
                <p:sp>
                  <p:nvSpPr>
                    <p:cNvPr id="3087568" name="Oval 208">
                      <a:extLst>
                        <a:ext uri="{FF2B5EF4-FFF2-40B4-BE49-F238E27FC236}">
                          <a16:creationId xmlns:a16="http://schemas.microsoft.com/office/drawing/2014/main" id="{8BA57808-2244-B934-6940-082A26571797}"/>
                        </a:ext>
                      </a:extLst>
                    </p:cNvPr>
                    <p:cNvSpPr>
                      <a:spLocks noChangeAspect="1" noChangeArrowheads="1"/>
                    </p:cNvSpPr>
                    <p:nvPr/>
                  </p:nvSpPr>
                  <p:spPr bwMode="auto">
                    <a:xfrm>
                      <a:off x="3748" y="3825"/>
                      <a:ext cx="364" cy="127"/>
                    </a:xfrm>
                    <a:prstGeom prst="ellipse">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569" name="Rectangle 209">
                      <a:extLst>
                        <a:ext uri="{FF2B5EF4-FFF2-40B4-BE49-F238E27FC236}">
                          <a16:creationId xmlns:a16="http://schemas.microsoft.com/office/drawing/2014/main" id="{9E397D84-CC81-D061-C66E-86A7E2501171}"/>
                        </a:ext>
                      </a:extLst>
                    </p:cNvPr>
                    <p:cNvSpPr>
                      <a:spLocks noChangeAspect="1" noChangeArrowheads="1"/>
                    </p:cNvSpPr>
                    <p:nvPr/>
                  </p:nvSpPr>
                  <p:spPr bwMode="auto">
                    <a:xfrm>
                      <a:off x="3748" y="3857"/>
                      <a:ext cx="364" cy="31"/>
                    </a:xfrm>
                    <a:prstGeom prst="rect">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570" name="Oval 210">
                      <a:extLst>
                        <a:ext uri="{FF2B5EF4-FFF2-40B4-BE49-F238E27FC236}">
                          <a16:creationId xmlns:a16="http://schemas.microsoft.com/office/drawing/2014/main" id="{5DC63B46-1EE9-9030-D038-58EDAB072697}"/>
                        </a:ext>
                      </a:extLst>
                    </p:cNvPr>
                    <p:cNvSpPr>
                      <a:spLocks noChangeAspect="1" noChangeArrowheads="1"/>
                    </p:cNvSpPr>
                    <p:nvPr/>
                  </p:nvSpPr>
                  <p:spPr bwMode="auto">
                    <a:xfrm>
                      <a:off x="3748" y="3793"/>
                      <a:ext cx="364" cy="127"/>
                    </a:xfrm>
                    <a:prstGeom prst="ellipse">
                      <a:avLst/>
                    </a:prstGeom>
                    <a:gradFill rotWithShape="1">
                      <a:gsLst>
                        <a:gs pos="0">
                          <a:srgbClr val="E88A6C"/>
                        </a:gs>
                        <a:gs pos="100000">
                          <a:srgbClr val="E88A6C">
                            <a:gamma/>
                            <a:tint val="29412"/>
                            <a:invGamma/>
                          </a:srgbClr>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grpSp>
                <p:nvGrpSpPr>
                  <p:cNvPr id="3087571" name="Group 211">
                    <a:extLst>
                      <a:ext uri="{FF2B5EF4-FFF2-40B4-BE49-F238E27FC236}">
                        <a16:creationId xmlns:a16="http://schemas.microsoft.com/office/drawing/2014/main" id="{18DE4D25-46B8-F8F3-9517-EB59F420BC83}"/>
                      </a:ext>
                    </a:extLst>
                  </p:cNvPr>
                  <p:cNvGrpSpPr>
                    <a:grpSpLocks noChangeAspect="1"/>
                  </p:cNvGrpSpPr>
                  <p:nvPr/>
                </p:nvGrpSpPr>
                <p:grpSpPr bwMode="auto">
                  <a:xfrm>
                    <a:off x="1816" y="2274"/>
                    <a:ext cx="364" cy="159"/>
                    <a:chOff x="3748" y="3793"/>
                    <a:chExt cx="364" cy="159"/>
                  </a:xfrm>
                </p:grpSpPr>
                <p:sp>
                  <p:nvSpPr>
                    <p:cNvPr id="3087572" name="Oval 212">
                      <a:extLst>
                        <a:ext uri="{FF2B5EF4-FFF2-40B4-BE49-F238E27FC236}">
                          <a16:creationId xmlns:a16="http://schemas.microsoft.com/office/drawing/2014/main" id="{010FF431-E959-33FB-ED3F-8F84A7FA0F36}"/>
                        </a:ext>
                      </a:extLst>
                    </p:cNvPr>
                    <p:cNvSpPr>
                      <a:spLocks noChangeAspect="1" noChangeArrowheads="1"/>
                    </p:cNvSpPr>
                    <p:nvPr/>
                  </p:nvSpPr>
                  <p:spPr bwMode="auto">
                    <a:xfrm>
                      <a:off x="3748" y="3825"/>
                      <a:ext cx="364" cy="127"/>
                    </a:xfrm>
                    <a:prstGeom prst="ellipse">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573" name="Rectangle 213">
                      <a:extLst>
                        <a:ext uri="{FF2B5EF4-FFF2-40B4-BE49-F238E27FC236}">
                          <a16:creationId xmlns:a16="http://schemas.microsoft.com/office/drawing/2014/main" id="{29A11E16-3F3F-2F11-3C4D-E86172089097}"/>
                        </a:ext>
                      </a:extLst>
                    </p:cNvPr>
                    <p:cNvSpPr>
                      <a:spLocks noChangeAspect="1" noChangeArrowheads="1"/>
                    </p:cNvSpPr>
                    <p:nvPr/>
                  </p:nvSpPr>
                  <p:spPr bwMode="auto">
                    <a:xfrm>
                      <a:off x="3748" y="3857"/>
                      <a:ext cx="364" cy="31"/>
                    </a:xfrm>
                    <a:prstGeom prst="rect">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574" name="Oval 214">
                      <a:extLst>
                        <a:ext uri="{FF2B5EF4-FFF2-40B4-BE49-F238E27FC236}">
                          <a16:creationId xmlns:a16="http://schemas.microsoft.com/office/drawing/2014/main" id="{2B68AC38-1FC0-82AB-C2AD-E0C9752453DF}"/>
                        </a:ext>
                      </a:extLst>
                    </p:cNvPr>
                    <p:cNvSpPr>
                      <a:spLocks noChangeAspect="1" noChangeArrowheads="1"/>
                    </p:cNvSpPr>
                    <p:nvPr/>
                  </p:nvSpPr>
                  <p:spPr bwMode="auto">
                    <a:xfrm>
                      <a:off x="3748" y="3793"/>
                      <a:ext cx="364" cy="127"/>
                    </a:xfrm>
                    <a:prstGeom prst="ellipse">
                      <a:avLst/>
                    </a:prstGeom>
                    <a:gradFill rotWithShape="1">
                      <a:gsLst>
                        <a:gs pos="0">
                          <a:srgbClr val="E88A6C"/>
                        </a:gs>
                        <a:gs pos="100000">
                          <a:srgbClr val="E88A6C">
                            <a:gamma/>
                            <a:tint val="29412"/>
                            <a:invGamma/>
                          </a:srgbClr>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grpSp>
            <p:grpSp>
              <p:nvGrpSpPr>
                <p:cNvPr id="3087575" name="Group 215">
                  <a:extLst>
                    <a:ext uri="{FF2B5EF4-FFF2-40B4-BE49-F238E27FC236}">
                      <a16:creationId xmlns:a16="http://schemas.microsoft.com/office/drawing/2014/main" id="{148980E2-8412-2E64-104A-4A90E336D8CC}"/>
                    </a:ext>
                  </a:extLst>
                </p:cNvPr>
                <p:cNvGrpSpPr>
                  <a:grpSpLocks noChangeAspect="1"/>
                </p:cNvGrpSpPr>
                <p:nvPr/>
              </p:nvGrpSpPr>
              <p:grpSpPr bwMode="auto">
                <a:xfrm>
                  <a:off x="1067" y="2311"/>
                  <a:ext cx="653" cy="764"/>
                  <a:chOff x="1335" y="-65"/>
                  <a:chExt cx="2159" cy="2523"/>
                </a:xfrm>
              </p:grpSpPr>
              <p:sp>
                <p:nvSpPr>
                  <p:cNvPr id="3087576" name="AutoShape 216">
                    <a:extLst>
                      <a:ext uri="{FF2B5EF4-FFF2-40B4-BE49-F238E27FC236}">
                        <a16:creationId xmlns:a16="http://schemas.microsoft.com/office/drawing/2014/main" id="{D76C0C04-BCF5-2CDA-0A00-C736B76F37C0}"/>
                      </a:ext>
                    </a:extLst>
                  </p:cNvPr>
                  <p:cNvSpPr>
                    <a:spLocks noChangeAspect="1" noChangeArrowheads="1"/>
                  </p:cNvSpPr>
                  <p:nvPr/>
                </p:nvSpPr>
                <p:spPr bwMode="auto">
                  <a:xfrm>
                    <a:off x="1814" y="1025"/>
                    <a:ext cx="1200" cy="802"/>
                  </a:xfrm>
                  <a:prstGeom prst="roundRect">
                    <a:avLst>
                      <a:gd name="adj" fmla="val 11472"/>
                    </a:avLst>
                  </a:prstGeom>
                  <a:solidFill>
                    <a:srgbClr val="B2B2B2">
                      <a:alpha val="50000"/>
                    </a:srgbClr>
                  </a:solidFill>
                  <a:ln w="19050"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nvGrpSpPr>
                  <p:cNvPr id="3087577" name="Group 217">
                    <a:extLst>
                      <a:ext uri="{FF2B5EF4-FFF2-40B4-BE49-F238E27FC236}">
                        <a16:creationId xmlns:a16="http://schemas.microsoft.com/office/drawing/2014/main" id="{674FBBE9-F72D-0FA1-6CB8-D05418DF77FD}"/>
                      </a:ext>
                    </a:extLst>
                  </p:cNvPr>
                  <p:cNvGrpSpPr>
                    <a:grpSpLocks noChangeAspect="1"/>
                  </p:cNvGrpSpPr>
                  <p:nvPr/>
                </p:nvGrpSpPr>
                <p:grpSpPr bwMode="auto">
                  <a:xfrm>
                    <a:off x="1997" y="1168"/>
                    <a:ext cx="833" cy="1290"/>
                    <a:chOff x="1215" y="2335"/>
                    <a:chExt cx="833" cy="1290"/>
                  </a:xfrm>
                </p:grpSpPr>
                <p:sp>
                  <p:nvSpPr>
                    <p:cNvPr id="3087578" name="Rectangle 218">
                      <a:extLst>
                        <a:ext uri="{FF2B5EF4-FFF2-40B4-BE49-F238E27FC236}">
                          <a16:creationId xmlns:a16="http://schemas.microsoft.com/office/drawing/2014/main" id="{F0A4EF61-C585-0CE0-3F45-A89DBD03B92B}"/>
                        </a:ext>
                      </a:extLst>
                    </p:cNvPr>
                    <p:cNvSpPr>
                      <a:spLocks noChangeAspect="1" noChangeArrowheads="1"/>
                    </p:cNvSpPr>
                    <p:nvPr/>
                  </p:nvSpPr>
                  <p:spPr bwMode="auto">
                    <a:xfrm>
                      <a:off x="1215" y="2335"/>
                      <a:ext cx="832" cy="534"/>
                    </a:xfrm>
                    <a:prstGeom prst="rect">
                      <a:avLst/>
                    </a:prstGeom>
                    <a:gradFill rotWithShape="1">
                      <a:gsLst>
                        <a:gs pos="0">
                          <a:srgbClr val="CEB640">
                            <a:gamma/>
                            <a:tint val="53725"/>
                            <a:invGamma/>
                          </a:srgbClr>
                        </a:gs>
                        <a:gs pos="100000">
                          <a:srgbClr val="CEB640"/>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IN"/>
                    </a:p>
                  </p:txBody>
                </p:sp>
                <p:sp>
                  <p:nvSpPr>
                    <p:cNvPr id="3087579" name="Text Box 219">
                      <a:extLst>
                        <a:ext uri="{FF2B5EF4-FFF2-40B4-BE49-F238E27FC236}">
                          <a16:creationId xmlns:a16="http://schemas.microsoft.com/office/drawing/2014/main" id="{97BDEB2E-118B-55F3-1694-4E2BD823177C}"/>
                        </a:ext>
                      </a:extLst>
                    </p:cNvPr>
                    <p:cNvSpPr txBox="1">
                      <a:spLocks noChangeAspect="1" noChangeArrowheads="1"/>
                    </p:cNvSpPr>
                    <p:nvPr/>
                  </p:nvSpPr>
                  <p:spPr bwMode="auto">
                    <a:xfrm>
                      <a:off x="1261" y="2359"/>
                      <a:ext cx="1" cy="1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spcBef>
                          <a:spcPct val="50000"/>
                        </a:spcBef>
                      </a:pPr>
                      <a:endParaRPr lang="zh-CN" altLang="en-US" sz="1200" b="1">
                        <a:solidFill>
                          <a:srgbClr val="000308"/>
                        </a:solidFill>
                        <a:ea typeface="宋体" panose="02010600030101010101" pitchFamily="2" charset="-122"/>
                      </a:endParaRPr>
                    </a:p>
                  </p:txBody>
                </p:sp>
                <p:sp>
                  <p:nvSpPr>
                    <p:cNvPr id="3087580" name="Line 220">
                      <a:extLst>
                        <a:ext uri="{FF2B5EF4-FFF2-40B4-BE49-F238E27FC236}">
                          <a16:creationId xmlns:a16="http://schemas.microsoft.com/office/drawing/2014/main" id="{BD55C8AF-1F79-83EB-057A-9EE93745CA02}"/>
                        </a:ext>
                      </a:extLst>
                    </p:cNvPr>
                    <p:cNvSpPr>
                      <a:spLocks noChangeAspect="1" noChangeShapeType="1"/>
                    </p:cNvSpPr>
                    <p:nvPr/>
                  </p:nvSpPr>
                  <p:spPr bwMode="gray">
                    <a:xfrm>
                      <a:off x="1215" y="2495"/>
                      <a:ext cx="83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81" name="Line 221">
                      <a:extLst>
                        <a:ext uri="{FF2B5EF4-FFF2-40B4-BE49-F238E27FC236}">
                          <a16:creationId xmlns:a16="http://schemas.microsoft.com/office/drawing/2014/main" id="{FE4C2B72-92B0-4FE2-B69A-C052FDC7E5A8}"/>
                        </a:ext>
                      </a:extLst>
                    </p:cNvPr>
                    <p:cNvSpPr>
                      <a:spLocks noChangeAspect="1" noChangeShapeType="1"/>
                    </p:cNvSpPr>
                    <p:nvPr/>
                  </p:nvSpPr>
                  <p:spPr bwMode="gray">
                    <a:xfrm>
                      <a:off x="1215" y="2588"/>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82" name="Line 222">
                      <a:extLst>
                        <a:ext uri="{FF2B5EF4-FFF2-40B4-BE49-F238E27FC236}">
                          <a16:creationId xmlns:a16="http://schemas.microsoft.com/office/drawing/2014/main" id="{BD33A54E-8588-50C7-67F6-91C32C96550B}"/>
                        </a:ext>
                      </a:extLst>
                    </p:cNvPr>
                    <p:cNvSpPr>
                      <a:spLocks noChangeAspect="1" noChangeShapeType="1"/>
                    </p:cNvSpPr>
                    <p:nvPr/>
                  </p:nvSpPr>
                  <p:spPr bwMode="gray">
                    <a:xfrm>
                      <a:off x="1215" y="2682"/>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83" name="Line 223">
                      <a:extLst>
                        <a:ext uri="{FF2B5EF4-FFF2-40B4-BE49-F238E27FC236}">
                          <a16:creationId xmlns:a16="http://schemas.microsoft.com/office/drawing/2014/main" id="{B13C34A4-8088-B83C-702C-7DFB5B468B25}"/>
                        </a:ext>
                      </a:extLst>
                    </p:cNvPr>
                    <p:cNvSpPr>
                      <a:spLocks noChangeAspect="1" noChangeShapeType="1"/>
                    </p:cNvSpPr>
                    <p:nvPr/>
                  </p:nvSpPr>
                  <p:spPr bwMode="gray">
                    <a:xfrm>
                      <a:off x="1215" y="2775"/>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84" name="Line 224">
                      <a:extLst>
                        <a:ext uri="{FF2B5EF4-FFF2-40B4-BE49-F238E27FC236}">
                          <a16:creationId xmlns:a16="http://schemas.microsoft.com/office/drawing/2014/main" id="{7CC31E4B-82C7-CC24-B68E-1F30EB0D2C47}"/>
                        </a:ext>
                      </a:extLst>
                    </p:cNvPr>
                    <p:cNvSpPr>
                      <a:spLocks noChangeAspect="1" noChangeShapeType="1"/>
                    </p:cNvSpPr>
                    <p:nvPr/>
                  </p:nvSpPr>
                  <p:spPr bwMode="gray">
                    <a:xfrm>
                      <a:off x="1381"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85" name="Line 225">
                      <a:extLst>
                        <a:ext uri="{FF2B5EF4-FFF2-40B4-BE49-F238E27FC236}">
                          <a16:creationId xmlns:a16="http://schemas.microsoft.com/office/drawing/2014/main" id="{BAE989D8-C06A-BFB4-B0C8-2565FA1E0DBE}"/>
                        </a:ext>
                      </a:extLst>
                    </p:cNvPr>
                    <p:cNvSpPr>
                      <a:spLocks noChangeAspect="1" noChangeShapeType="1"/>
                    </p:cNvSpPr>
                    <p:nvPr/>
                  </p:nvSpPr>
                  <p:spPr bwMode="gray">
                    <a:xfrm>
                      <a:off x="1547"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86" name="Line 226">
                      <a:extLst>
                        <a:ext uri="{FF2B5EF4-FFF2-40B4-BE49-F238E27FC236}">
                          <a16:creationId xmlns:a16="http://schemas.microsoft.com/office/drawing/2014/main" id="{E72FFE2C-75CB-154B-3265-A0676B5BC437}"/>
                        </a:ext>
                      </a:extLst>
                    </p:cNvPr>
                    <p:cNvSpPr>
                      <a:spLocks noChangeAspect="1" noChangeShapeType="1"/>
                    </p:cNvSpPr>
                    <p:nvPr/>
                  </p:nvSpPr>
                  <p:spPr bwMode="gray">
                    <a:xfrm>
                      <a:off x="1714"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87" name="Line 227">
                      <a:extLst>
                        <a:ext uri="{FF2B5EF4-FFF2-40B4-BE49-F238E27FC236}">
                          <a16:creationId xmlns:a16="http://schemas.microsoft.com/office/drawing/2014/main" id="{C37E755C-330A-9FCF-4F12-582E56DDFF35}"/>
                        </a:ext>
                      </a:extLst>
                    </p:cNvPr>
                    <p:cNvSpPr>
                      <a:spLocks noChangeAspect="1" noChangeShapeType="1"/>
                    </p:cNvSpPr>
                    <p:nvPr/>
                  </p:nvSpPr>
                  <p:spPr bwMode="gray">
                    <a:xfrm>
                      <a:off x="1880"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3087588" name="Text Box 228">
                    <a:extLst>
                      <a:ext uri="{FF2B5EF4-FFF2-40B4-BE49-F238E27FC236}">
                        <a16:creationId xmlns:a16="http://schemas.microsoft.com/office/drawing/2014/main" id="{A185DB61-314B-E125-7072-4C583E19D4E0}"/>
                      </a:ext>
                    </a:extLst>
                  </p:cNvPr>
                  <p:cNvSpPr txBox="1">
                    <a:spLocks noChangeAspect="1" noChangeArrowheads="1"/>
                  </p:cNvSpPr>
                  <p:nvPr/>
                </p:nvSpPr>
                <p:spPr bwMode="auto">
                  <a:xfrm>
                    <a:off x="1335" y="-65"/>
                    <a:ext cx="2159" cy="2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0"/>
                      </a:spcBef>
                      <a:buClrTx/>
                      <a:buFontTx/>
                      <a:buNone/>
                    </a:pPr>
                    <a:endParaRPr lang="zh-CN" altLang="en-US" sz="1400">
                      <a:solidFill>
                        <a:srgbClr val="000000"/>
                      </a:solidFill>
                      <a:ea typeface="宋体" panose="02010600030101010101" pitchFamily="2" charset="-122"/>
                    </a:endParaRPr>
                  </a:p>
                </p:txBody>
              </p:sp>
            </p:grpSp>
            <p:grpSp>
              <p:nvGrpSpPr>
                <p:cNvPr id="3087589" name="Group 229">
                  <a:extLst>
                    <a:ext uri="{FF2B5EF4-FFF2-40B4-BE49-F238E27FC236}">
                      <a16:creationId xmlns:a16="http://schemas.microsoft.com/office/drawing/2014/main" id="{2CA94E03-AD3E-FB4D-8B14-BD418A39626E}"/>
                    </a:ext>
                  </a:extLst>
                </p:cNvPr>
                <p:cNvGrpSpPr>
                  <a:grpSpLocks noChangeAspect="1"/>
                </p:cNvGrpSpPr>
                <p:nvPr/>
              </p:nvGrpSpPr>
              <p:grpSpPr bwMode="auto">
                <a:xfrm>
                  <a:off x="1353" y="2359"/>
                  <a:ext cx="653" cy="764"/>
                  <a:chOff x="1335" y="-60"/>
                  <a:chExt cx="2159" cy="2525"/>
                </a:xfrm>
              </p:grpSpPr>
              <p:sp>
                <p:nvSpPr>
                  <p:cNvPr id="3087590" name="AutoShape 230">
                    <a:extLst>
                      <a:ext uri="{FF2B5EF4-FFF2-40B4-BE49-F238E27FC236}">
                        <a16:creationId xmlns:a16="http://schemas.microsoft.com/office/drawing/2014/main" id="{B519D574-7F13-6F11-D111-A88AC0CC3469}"/>
                      </a:ext>
                    </a:extLst>
                  </p:cNvPr>
                  <p:cNvSpPr>
                    <a:spLocks noChangeAspect="1" noChangeArrowheads="1"/>
                  </p:cNvSpPr>
                  <p:nvPr/>
                </p:nvSpPr>
                <p:spPr bwMode="auto">
                  <a:xfrm>
                    <a:off x="1814" y="1025"/>
                    <a:ext cx="1200" cy="802"/>
                  </a:xfrm>
                  <a:prstGeom prst="roundRect">
                    <a:avLst>
                      <a:gd name="adj" fmla="val 11472"/>
                    </a:avLst>
                  </a:prstGeom>
                  <a:solidFill>
                    <a:srgbClr val="B2B2B2">
                      <a:alpha val="50000"/>
                    </a:srgbClr>
                  </a:solidFill>
                  <a:ln w="19050"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nvGrpSpPr>
                  <p:cNvPr id="3087591" name="Group 231">
                    <a:extLst>
                      <a:ext uri="{FF2B5EF4-FFF2-40B4-BE49-F238E27FC236}">
                        <a16:creationId xmlns:a16="http://schemas.microsoft.com/office/drawing/2014/main" id="{4BDFAB4D-B3DA-FDAA-EAFC-DED700CF76DC}"/>
                      </a:ext>
                    </a:extLst>
                  </p:cNvPr>
                  <p:cNvGrpSpPr>
                    <a:grpSpLocks noChangeAspect="1"/>
                  </p:cNvGrpSpPr>
                  <p:nvPr/>
                </p:nvGrpSpPr>
                <p:grpSpPr bwMode="auto">
                  <a:xfrm>
                    <a:off x="1997" y="1168"/>
                    <a:ext cx="833" cy="1297"/>
                    <a:chOff x="1215" y="2335"/>
                    <a:chExt cx="833" cy="1297"/>
                  </a:xfrm>
                </p:grpSpPr>
                <p:sp>
                  <p:nvSpPr>
                    <p:cNvPr id="3087592" name="Rectangle 232">
                      <a:extLst>
                        <a:ext uri="{FF2B5EF4-FFF2-40B4-BE49-F238E27FC236}">
                          <a16:creationId xmlns:a16="http://schemas.microsoft.com/office/drawing/2014/main" id="{98BE04F9-7809-191D-D719-CE66C440F0A3}"/>
                        </a:ext>
                      </a:extLst>
                    </p:cNvPr>
                    <p:cNvSpPr>
                      <a:spLocks noChangeAspect="1" noChangeArrowheads="1"/>
                    </p:cNvSpPr>
                    <p:nvPr/>
                  </p:nvSpPr>
                  <p:spPr bwMode="auto">
                    <a:xfrm>
                      <a:off x="1215" y="2335"/>
                      <a:ext cx="832" cy="534"/>
                    </a:xfrm>
                    <a:prstGeom prst="rect">
                      <a:avLst/>
                    </a:prstGeom>
                    <a:gradFill rotWithShape="1">
                      <a:gsLst>
                        <a:gs pos="0">
                          <a:srgbClr val="CEB640">
                            <a:gamma/>
                            <a:tint val="53725"/>
                            <a:invGamma/>
                          </a:srgbClr>
                        </a:gs>
                        <a:gs pos="100000">
                          <a:srgbClr val="CEB640"/>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IN"/>
                    </a:p>
                  </p:txBody>
                </p:sp>
                <p:sp>
                  <p:nvSpPr>
                    <p:cNvPr id="3087593" name="Text Box 233">
                      <a:extLst>
                        <a:ext uri="{FF2B5EF4-FFF2-40B4-BE49-F238E27FC236}">
                          <a16:creationId xmlns:a16="http://schemas.microsoft.com/office/drawing/2014/main" id="{FB393B40-9ED6-2976-4235-2DDF32087405}"/>
                        </a:ext>
                      </a:extLst>
                    </p:cNvPr>
                    <p:cNvSpPr txBox="1">
                      <a:spLocks noChangeAspect="1" noChangeArrowheads="1"/>
                    </p:cNvSpPr>
                    <p:nvPr/>
                  </p:nvSpPr>
                  <p:spPr bwMode="auto">
                    <a:xfrm>
                      <a:off x="1262" y="2359"/>
                      <a:ext cx="1" cy="1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spcBef>
                          <a:spcPct val="50000"/>
                        </a:spcBef>
                      </a:pPr>
                      <a:endParaRPr lang="zh-CN" altLang="en-US" sz="1200" b="1">
                        <a:solidFill>
                          <a:srgbClr val="000308"/>
                        </a:solidFill>
                        <a:ea typeface="宋体" panose="02010600030101010101" pitchFamily="2" charset="-122"/>
                      </a:endParaRPr>
                    </a:p>
                  </p:txBody>
                </p:sp>
                <p:sp>
                  <p:nvSpPr>
                    <p:cNvPr id="3087594" name="Line 234">
                      <a:extLst>
                        <a:ext uri="{FF2B5EF4-FFF2-40B4-BE49-F238E27FC236}">
                          <a16:creationId xmlns:a16="http://schemas.microsoft.com/office/drawing/2014/main" id="{F263859F-475B-73F5-7705-D411F41EB631}"/>
                        </a:ext>
                      </a:extLst>
                    </p:cNvPr>
                    <p:cNvSpPr>
                      <a:spLocks noChangeAspect="1" noChangeShapeType="1"/>
                    </p:cNvSpPr>
                    <p:nvPr/>
                  </p:nvSpPr>
                  <p:spPr bwMode="gray">
                    <a:xfrm>
                      <a:off x="1215" y="2495"/>
                      <a:ext cx="83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95" name="Line 235">
                      <a:extLst>
                        <a:ext uri="{FF2B5EF4-FFF2-40B4-BE49-F238E27FC236}">
                          <a16:creationId xmlns:a16="http://schemas.microsoft.com/office/drawing/2014/main" id="{C7B5A491-EAB7-7471-C4AF-5C3E1C45B6B4}"/>
                        </a:ext>
                      </a:extLst>
                    </p:cNvPr>
                    <p:cNvSpPr>
                      <a:spLocks noChangeAspect="1" noChangeShapeType="1"/>
                    </p:cNvSpPr>
                    <p:nvPr/>
                  </p:nvSpPr>
                  <p:spPr bwMode="gray">
                    <a:xfrm>
                      <a:off x="1215" y="2588"/>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96" name="Line 236">
                      <a:extLst>
                        <a:ext uri="{FF2B5EF4-FFF2-40B4-BE49-F238E27FC236}">
                          <a16:creationId xmlns:a16="http://schemas.microsoft.com/office/drawing/2014/main" id="{31D95141-5805-F3D2-DF53-C6CBDC4AA877}"/>
                        </a:ext>
                      </a:extLst>
                    </p:cNvPr>
                    <p:cNvSpPr>
                      <a:spLocks noChangeAspect="1" noChangeShapeType="1"/>
                    </p:cNvSpPr>
                    <p:nvPr/>
                  </p:nvSpPr>
                  <p:spPr bwMode="gray">
                    <a:xfrm>
                      <a:off x="1215" y="2682"/>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97" name="Line 237">
                      <a:extLst>
                        <a:ext uri="{FF2B5EF4-FFF2-40B4-BE49-F238E27FC236}">
                          <a16:creationId xmlns:a16="http://schemas.microsoft.com/office/drawing/2014/main" id="{56B4F15D-8A65-0F24-A83E-0BEFA67D98A5}"/>
                        </a:ext>
                      </a:extLst>
                    </p:cNvPr>
                    <p:cNvSpPr>
                      <a:spLocks noChangeAspect="1" noChangeShapeType="1"/>
                    </p:cNvSpPr>
                    <p:nvPr/>
                  </p:nvSpPr>
                  <p:spPr bwMode="gray">
                    <a:xfrm>
                      <a:off x="1215" y="2775"/>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98" name="Line 238">
                      <a:extLst>
                        <a:ext uri="{FF2B5EF4-FFF2-40B4-BE49-F238E27FC236}">
                          <a16:creationId xmlns:a16="http://schemas.microsoft.com/office/drawing/2014/main" id="{410CB8EE-B079-F936-D1E9-64F21762BEA2}"/>
                        </a:ext>
                      </a:extLst>
                    </p:cNvPr>
                    <p:cNvSpPr>
                      <a:spLocks noChangeAspect="1" noChangeShapeType="1"/>
                    </p:cNvSpPr>
                    <p:nvPr/>
                  </p:nvSpPr>
                  <p:spPr bwMode="gray">
                    <a:xfrm>
                      <a:off x="1381"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599" name="Line 239">
                      <a:extLst>
                        <a:ext uri="{FF2B5EF4-FFF2-40B4-BE49-F238E27FC236}">
                          <a16:creationId xmlns:a16="http://schemas.microsoft.com/office/drawing/2014/main" id="{BE192126-EB1E-FFE9-4491-1796202D37AA}"/>
                        </a:ext>
                      </a:extLst>
                    </p:cNvPr>
                    <p:cNvSpPr>
                      <a:spLocks noChangeAspect="1" noChangeShapeType="1"/>
                    </p:cNvSpPr>
                    <p:nvPr/>
                  </p:nvSpPr>
                  <p:spPr bwMode="gray">
                    <a:xfrm>
                      <a:off x="1547"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600" name="Line 240">
                      <a:extLst>
                        <a:ext uri="{FF2B5EF4-FFF2-40B4-BE49-F238E27FC236}">
                          <a16:creationId xmlns:a16="http://schemas.microsoft.com/office/drawing/2014/main" id="{9E50CA63-CB28-3665-4959-728304191F2D}"/>
                        </a:ext>
                      </a:extLst>
                    </p:cNvPr>
                    <p:cNvSpPr>
                      <a:spLocks noChangeAspect="1" noChangeShapeType="1"/>
                    </p:cNvSpPr>
                    <p:nvPr/>
                  </p:nvSpPr>
                  <p:spPr bwMode="gray">
                    <a:xfrm>
                      <a:off x="1714"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601" name="Line 241">
                      <a:extLst>
                        <a:ext uri="{FF2B5EF4-FFF2-40B4-BE49-F238E27FC236}">
                          <a16:creationId xmlns:a16="http://schemas.microsoft.com/office/drawing/2014/main" id="{78CFFB40-685E-475C-2E01-E53F07087C81}"/>
                        </a:ext>
                      </a:extLst>
                    </p:cNvPr>
                    <p:cNvSpPr>
                      <a:spLocks noChangeAspect="1" noChangeShapeType="1"/>
                    </p:cNvSpPr>
                    <p:nvPr/>
                  </p:nvSpPr>
                  <p:spPr bwMode="gray">
                    <a:xfrm>
                      <a:off x="1880"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3087602" name="Text Box 242">
                    <a:extLst>
                      <a:ext uri="{FF2B5EF4-FFF2-40B4-BE49-F238E27FC236}">
                        <a16:creationId xmlns:a16="http://schemas.microsoft.com/office/drawing/2014/main" id="{796C8838-015F-E749-55BF-C5D83643A4EB}"/>
                      </a:ext>
                    </a:extLst>
                  </p:cNvPr>
                  <p:cNvSpPr txBox="1">
                    <a:spLocks noChangeAspect="1" noChangeArrowheads="1"/>
                  </p:cNvSpPr>
                  <p:nvPr/>
                </p:nvSpPr>
                <p:spPr bwMode="auto">
                  <a:xfrm>
                    <a:off x="1335" y="-60"/>
                    <a:ext cx="2159" cy="2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0"/>
                      </a:spcBef>
                      <a:buClrTx/>
                      <a:buFontTx/>
                      <a:buNone/>
                    </a:pPr>
                    <a:endParaRPr lang="zh-CN" altLang="en-US" sz="1400">
                      <a:solidFill>
                        <a:srgbClr val="000000"/>
                      </a:solidFill>
                      <a:ea typeface="宋体" panose="02010600030101010101" pitchFamily="2" charset="-122"/>
                    </a:endParaRPr>
                  </a:p>
                </p:txBody>
              </p:sp>
            </p:grpSp>
            <p:grpSp>
              <p:nvGrpSpPr>
                <p:cNvPr id="3087603" name="Group 243">
                  <a:extLst>
                    <a:ext uri="{FF2B5EF4-FFF2-40B4-BE49-F238E27FC236}">
                      <a16:creationId xmlns:a16="http://schemas.microsoft.com/office/drawing/2014/main" id="{52D60805-D5E2-BDBA-3E92-6EA9D7F0022D}"/>
                    </a:ext>
                  </a:extLst>
                </p:cNvPr>
                <p:cNvGrpSpPr>
                  <a:grpSpLocks noChangeAspect="1"/>
                </p:cNvGrpSpPr>
                <p:nvPr/>
              </p:nvGrpSpPr>
              <p:grpSpPr bwMode="auto">
                <a:xfrm>
                  <a:off x="1609" y="2325"/>
                  <a:ext cx="653" cy="764"/>
                  <a:chOff x="1335" y="-59"/>
                  <a:chExt cx="2159" cy="2521"/>
                </a:xfrm>
              </p:grpSpPr>
              <p:sp>
                <p:nvSpPr>
                  <p:cNvPr id="3087604" name="AutoShape 244">
                    <a:extLst>
                      <a:ext uri="{FF2B5EF4-FFF2-40B4-BE49-F238E27FC236}">
                        <a16:creationId xmlns:a16="http://schemas.microsoft.com/office/drawing/2014/main" id="{8821D759-ACF6-E1D7-0EF1-BE54F13B5E1E}"/>
                      </a:ext>
                    </a:extLst>
                  </p:cNvPr>
                  <p:cNvSpPr>
                    <a:spLocks noChangeAspect="1" noChangeArrowheads="1"/>
                  </p:cNvSpPr>
                  <p:nvPr/>
                </p:nvSpPr>
                <p:spPr bwMode="auto">
                  <a:xfrm>
                    <a:off x="1814" y="1025"/>
                    <a:ext cx="1200" cy="802"/>
                  </a:xfrm>
                  <a:prstGeom prst="roundRect">
                    <a:avLst>
                      <a:gd name="adj" fmla="val 11472"/>
                    </a:avLst>
                  </a:prstGeom>
                  <a:solidFill>
                    <a:srgbClr val="B2B2B2">
                      <a:alpha val="50000"/>
                    </a:srgbClr>
                  </a:solidFill>
                  <a:ln w="19050" algn="ctr">
                    <a:solidFill>
                      <a:srgbClr val="000000"/>
                    </a:solidFill>
                    <a:prstDash val="sysDot"/>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nvGrpSpPr>
                  <p:cNvPr id="3087605" name="Group 245">
                    <a:extLst>
                      <a:ext uri="{FF2B5EF4-FFF2-40B4-BE49-F238E27FC236}">
                        <a16:creationId xmlns:a16="http://schemas.microsoft.com/office/drawing/2014/main" id="{913C5937-571D-986C-4B54-5BDB51431CCA}"/>
                      </a:ext>
                    </a:extLst>
                  </p:cNvPr>
                  <p:cNvGrpSpPr>
                    <a:grpSpLocks noChangeAspect="1"/>
                  </p:cNvGrpSpPr>
                  <p:nvPr/>
                </p:nvGrpSpPr>
                <p:grpSpPr bwMode="auto">
                  <a:xfrm>
                    <a:off x="1997" y="1168"/>
                    <a:ext cx="833" cy="1294"/>
                    <a:chOff x="1215" y="2335"/>
                    <a:chExt cx="833" cy="1294"/>
                  </a:xfrm>
                </p:grpSpPr>
                <p:sp>
                  <p:nvSpPr>
                    <p:cNvPr id="3087606" name="Rectangle 246">
                      <a:extLst>
                        <a:ext uri="{FF2B5EF4-FFF2-40B4-BE49-F238E27FC236}">
                          <a16:creationId xmlns:a16="http://schemas.microsoft.com/office/drawing/2014/main" id="{9D423697-B504-9A4F-A3A4-3E3198ADEEA6}"/>
                        </a:ext>
                      </a:extLst>
                    </p:cNvPr>
                    <p:cNvSpPr>
                      <a:spLocks noChangeAspect="1" noChangeArrowheads="1"/>
                    </p:cNvSpPr>
                    <p:nvPr/>
                  </p:nvSpPr>
                  <p:spPr bwMode="auto">
                    <a:xfrm>
                      <a:off x="1215" y="2335"/>
                      <a:ext cx="832" cy="534"/>
                    </a:xfrm>
                    <a:prstGeom prst="rect">
                      <a:avLst/>
                    </a:prstGeom>
                    <a:gradFill rotWithShape="1">
                      <a:gsLst>
                        <a:gs pos="0">
                          <a:srgbClr val="CEB640">
                            <a:gamma/>
                            <a:tint val="53725"/>
                            <a:invGamma/>
                          </a:srgbClr>
                        </a:gs>
                        <a:gs pos="100000">
                          <a:srgbClr val="CEB640"/>
                        </a:gs>
                      </a:gsLst>
                      <a:lin ang="2700000" scaled="1"/>
                    </a:gradFill>
                    <a:ln w="1905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wrap="none" lIns="0" tIns="0" rIns="0" bIns="0" anchor="ctr"/>
                    <a:lstStyle/>
                    <a:p>
                      <a:endParaRPr lang="en-IN"/>
                    </a:p>
                  </p:txBody>
                </p:sp>
                <p:sp>
                  <p:nvSpPr>
                    <p:cNvPr id="3087607" name="Text Box 247">
                      <a:extLst>
                        <a:ext uri="{FF2B5EF4-FFF2-40B4-BE49-F238E27FC236}">
                          <a16:creationId xmlns:a16="http://schemas.microsoft.com/office/drawing/2014/main" id="{F183F727-C022-2C8B-5EB6-4A2C08EB321F}"/>
                        </a:ext>
                      </a:extLst>
                    </p:cNvPr>
                    <p:cNvSpPr txBox="1">
                      <a:spLocks noChangeAspect="1" noChangeArrowheads="1"/>
                    </p:cNvSpPr>
                    <p:nvPr/>
                  </p:nvSpPr>
                  <p:spPr bwMode="auto">
                    <a:xfrm>
                      <a:off x="1261" y="2359"/>
                      <a:ext cx="1" cy="1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ct val="90000"/>
                        </a:lnSpc>
                        <a:spcBef>
                          <a:spcPct val="50000"/>
                        </a:spcBef>
                      </a:pPr>
                      <a:endParaRPr lang="zh-CN" altLang="en-US" sz="1200" b="1">
                        <a:solidFill>
                          <a:srgbClr val="000308"/>
                        </a:solidFill>
                        <a:ea typeface="宋体" panose="02010600030101010101" pitchFamily="2" charset="-122"/>
                      </a:endParaRPr>
                    </a:p>
                  </p:txBody>
                </p:sp>
                <p:sp>
                  <p:nvSpPr>
                    <p:cNvPr id="3087608" name="Line 248">
                      <a:extLst>
                        <a:ext uri="{FF2B5EF4-FFF2-40B4-BE49-F238E27FC236}">
                          <a16:creationId xmlns:a16="http://schemas.microsoft.com/office/drawing/2014/main" id="{4EDF7633-54A7-C613-86F7-D385024700B9}"/>
                        </a:ext>
                      </a:extLst>
                    </p:cNvPr>
                    <p:cNvSpPr>
                      <a:spLocks noChangeAspect="1" noChangeShapeType="1"/>
                    </p:cNvSpPr>
                    <p:nvPr/>
                  </p:nvSpPr>
                  <p:spPr bwMode="gray">
                    <a:xfrm>
                      <a:off x="1215" y="2495"/>
                      <a:ext cx="83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609" name="Line 249">
                      <a:extLst>
                        <a:ext uri="{FF2B5EF4-FFF2-40B4-BE49-F238E27FC236}">
                          <a16:creationId xmlns:a16="http://schemas.microsoft.com/office/drawing/2014/main" id="{38BFBCB9-2BF2-A294-9479-1CF96C4CAC88}"/>
                        </a:ext>
                      </a:extLst>
                    </p:cNvPr>
                    <p:cNvSpPr>
                      <a:spLocks noChangeAspect="1" noChangeShapeType="1"/>
                    </p:cNvSpPr>
                    <p:nvPr/>
                  </p:nvSpPr>
                  <p:spPr bwMode="gray">
                    <a:xfrm>
                      <a:off x="1215" y="2588"/>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610" name="Line 250">
                      <a:extLst>
                        <a:ext uri="{FF2B5EF4-FFF2-40B4-BE49-F238E27FC236}">
                          <a16:creationId xmlns:a16="http://schemas.microsoft.com/office/drawing/2014/main" id="{04B47B16-636D-C5B1-460B-337D25FDC2F0}"/>
                        </a:ext>
                      </a:extLst>
                    </p:cNvPr>
                    <p:cNvSpPr>
                      <a:spLocks noChangeAspect="1" noChangeShapeType="1"/>
                    </p:cNvSpPr>
                    <p:nvPr/>
                  </p:nvSpPr>
                  <p:spPr bwMode="gray">
                    <a:xfrm>
                      <a:off x="1215" y="2682"/>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611" name="Line 251">
                      <a:extLst>
                        <a:ext uri="{FF2B5EF4-FFF2-40B4-BE49-F238E27FC236}">
                          <a16:creationId xmlns:a16="http://schemas.microsoft.com/office/drawing/2014/main" id="{B10BC79D-4326-32B5-F8EE-7D4062565AA9}"/>
                        </a:ext>
                      </a:extLst>
                    </p:cNvPr>
                    <p:cNvSpPr>
                      <a:spLocks noChangeAspect="1" noChangeShapeType="1"/>
                    </p:cNvSpPr>
                    <p:nvPr/>
                  </p:nvSpPr>
                  <p:spPr bwMode="gray">
                    <a:xfrm>
                      <a:off x="1215" y="2775"/>
                      <a:ext cx="833"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612" name="Line 252">
                      <a:extLst>
                        <a:ext uri="{FF2B5EF4-FFF2-40B4-BE49-F238E27FC236}">
                          <a16:creationId xmlns:a16="http://schemas.microsoft.com/office/drawing/2014/main" id="{7CFC3282-3AB8-7FF3-C98A-1F089853548F}"/>
                        </a:ext>
                      </a:extLst>
                    </p:cNvPr>
                    <p:cNvSpPr>
                      <a:spLocks noChangeAspect="1" noChangeShapeType="1"/>
                    </p:cNvSpPr>
                    <p:nvPr/>
                  </p:nvSpPr>
                  <p:spPr bwMode="gray">
                    <a:xfrm>
                      <a:off x="1381"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613" name="Line 253">
                      <a:extLst>
                        <a:ext uri="{FF2B5EF4-FFF2-40B4-BE49-F238E27FC236}">
                          <a16:creationId xmlns:a16="http://schemas.microsoft.com/office/drawing/2014/main" id="{82A52E49-672B-B86B-0EA6-A253C2D96ECE}"/>
                        </a:ext>
                      </a:extLst>
                    </p:cNvPr>
                    <p:cNvSpPr>
                      <a:spLocks noChangeAspect="1" noChangeShapeType="1"/>
                    </p:cNvSpPr>
                    <p:nvPr/>
                  </p:nvSpPr>
                  <p:spPr bwMode="gray">
                    <a:xfrm>
                      <a:off x="1547"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614" name="Line 254">
                      <a:extLst>
                        <a:ext uri="{FF2B5EF4-FFF2-40B4-BE49-F238E27FC236}">
                          <a16:creationId xmlns:a16="http://schemas.microsoft.com/office/drawing/2014/main" id="{7EC9F6BA-A054-D496-E9A5-4EB98918C6DC}"/>
                        </a:ext>
                      </a:extLst>
                    </p:cNvPr>
                    <p:cNvSpPr>
                      <a:spLocks noChangeAspect="1" noChangeShapeType="1"/>
                    </p:cNvSpPr>
                    <p:nvPr/>
                  </p:nvSpPr>
                  <p:spPr bwMode="gray">
                    <a:xfrm>
                      <a:off x="1714"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087615" name="Line 255">
                      <a:extLst>
                        <a:ext uri="{FF2B5EF4-FFF2-40B4-BE49-F238E27FC236}">
                          <a16:creationId xmlns:a16="http://schemas.microsoft.com/office/drawing/2014/main" id="{CC28CC1E-4E7F-3BE6-CDD6-D1CAC5BCBCD5}"/>
                        </a:ext>
                      </a:extLst>
                    </p:cNvPr>
                    <p:cNvSpPr>
                      <a:spLocks noChangeAspect="1" noChangeShapeType="1"/>
                    </p:cNvSpPr>
                    <p:nvPr/>
                  </p:nvSpPr>
                  <p:spPr bwMode="gray">
                    <a:xfrm>
                      <a:off x="1880" y="2495"/>
                      <a:ext cx="0" cy="369"/>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3087616" name="Text Box 256">
                    <a:extLst>
                      <a:ext uri="{FF2B5EF4-FFF2-40B4-BE49-F238E27FC236}">
                        <a16:creationId xmlns:a16="http://schemas.microsoft.com/office/drawing/2014/main" id="{677F1A31-1174-D890-63B8-AC7372731805}"/>
                      </a:ext>
                    </a:extLst>
                  </p:cNvPr>
                  <p:cNvSpPr txBox="1">
                    <a:spLocks noChangeAspect="1" noChangeArrowheads="1"/>
                  </p:cNvSpPr>
                  <p:nvPr/>
                </p:nvSpPr>
                <p:spPr bwMode="auto">
                  <a:xfrm>
                    <a:off x="1335" y="-59"/>
                    <a:ext cx="2159" cy="2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0"/>
                      </a:spcBef>
                      <a:buClrTx/>
                      <a:buFontTx/>
                      <a:buNone/>
                    </a:pPr>
                    <a:endParaRPr lang="zh-CN" altLang="en-US" sz="1400">
                      <a:solidFill>
                        <a:srgbClr val="000000"/>
                      </a:solidFill>
                      <a:ea typeface="宋体" panose="02010600030101010101" pitchFamily="2" charset="-122"/>
                    </a:endParaRPr>
                  </a:p>
                </p:txBody>
              </p:sp>
            </p:grpSp>
            <p:sp>
              <p:nvSpPr>
                <p:cNvPr id="3087617" name="Text Box 257">
                  <a:extLst>
                    <a:ext uri="{FF2B5EF4-FFF2-40B4-BE49-F238E27FC236}">
                      <a16:creationId xmlns:a16="http://schemas.microsoft.com/office/drawing/2014/main" id="{868729D8-6569-FC36-3BF8-CF08154A4170}"/>
                    </a:ext>
                  </a:extLst>
                </p:cNvPr>
                <p:cNvSpPr txBox="1">
                  <a:spLocks noChangeAspect="1" noChangeArrowheads="1"/>
                </p:cNvSpPr>
                <p:nvPr/>
              </p:nvSpPr>
              <p:spPr bwMode="auto">
                <a:xfrm>
                  <a:off x="435" y="2540"/>
                  <a:ext cx="925" cy="4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ClrTx/>
                    <a:buFontTx/>
                    <a:buNone/>
                  </a:pPr>
                  <a:r>
                    <a:rPr lang="en-US" altLang="zh-CN" sz="800" b="1">
                      <a:solidFill>
                        <a:srgbClr val="000000"/>
                      </a:solidFill>
                      <a:ea typeface="宋体" panose="02010600030101010101" pitchFamily="2" charset="-122"/>
                    </a:rPr>
                    <a:t>LV</a:t>
                  </a:r>
                </a:p>
              </p:txBody>
            </p:sp>
            <p:sp>
              <p:nvSpPr>
                <p:cNvPr id="3087618" name="Text Box 258">
                  <a:extLst>
                    <a:ext uri="{FF2B5EF4-FFF2-40B4-BE49-F238E27FC236}">
                      <a16:creationId xmlns:a16="http://schemas.microsoft.com/office/drawing/2014/main" id="{302BD736-01A6-F293-79AF-6C5552657BFE}"/>
                    </a:ext>
                  </a:extLst>
                </p:cNvPr>
                <p:cNvSpPr txBox="1">
                  <a:spLocks noChangeAspect="1" noChangeArrowheads="1"/>
                </p:cNvSpPr>
                <p:nvPr/>
              </p:nvSpPr>
              <p:spPr bwMode="auto">
                <a:xfrm>
                  <a:off x="430" y="2135"/>
                  <a:ext cx="976" cy="4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ClrTx/>
                    <a:buFontTx/>
                    <a:buNone/>
                  </a:pPr>
                  <a:r>
                    <a:rPr lang="en-US" altLang="zh-CN" sz="800" b="1">
                      <a:solidFill>
                        <a:srgbClr val="000000"/>
                      </a:solidFill>
                      <a:ea typeface="宋体" panose="02010600030101010101" pitchFamily="2" charset="-122"/>
                    </a:rPr>
                    <a:t>VG</a:t>
                  </a:r>
                </a:p>
              </p:txBody>
            </p:sp>
            <p:grpSp>
              <p:nvGrpSpPr>
                <p:cNvPr id="3087619" name="Group 259">
                  <a:extLst>
                    <a:ext uri="{FF2B5EF4-FFF2-40B4-BE49-F238E27FC236}">
                      <a16:creationId xmlns:a16="http://schemas.microsoft.com/office/drawing/2014/main" id="{22766C05-7613-730B-A46C-0F540B8A27C1}"/>
                    </a:ext>
                  </a:extLst>
                </p:cNvPr>
                <p:cNvGrpSpPr>
                  <a:grpSpLocks noChangeAspect="1"/>
                </p:cNvGrpSpPr>
                <p:nvPr/>
              </p:nvGrpSpPr>
              <p:grpSpPr bwMode="auto">
                <a:xfrm>
                  <a:off x="1199" y="2986"/>
                  <a:ext cx="288" cy="401"/>
                  <a:chOff x="4529" y="1698"/>
                  <a:chExt cx="288" cy="401"/>
                </a:xfrm>
              </p:grpSpPr>
              <p:pic>
                <p:nvPicPr>
                  <p:cNvPr id="3087620" name="Picture 260">
                    <a:extLst>
                      <a:ext uri="{FF2B5EF4-FFF2-40B4-BE49-F238E27FC236}">
                        <a16:creationId xmlns:a16="http://schemas.microsoft.com/office/drawing/2014/main" id="{3F197BF3-135C-379C-0ECD-79A887509A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 y="1701"/>
                    <a:ext cx="288"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7621" name="Picture 261">
                    <a:extLst>
                      <a:ext uri="{FF2B5EF4-FFF2-40B4-BE49-F238E27FC236}">
                        <a16:creationId xmlns:a16="http://schemas.microsoft.com/office/drawing/2014/main" id="{7C992534-04B7-29B0-7A21-FE40465C38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2" y="1698"/>
                    <a:ext cx="94"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087622" name="Group 262">
                  <a:extLst>
                    <a:ext uri="{FF2B5EF4-FFF2-40B4-BE49-F238E27FC236}">
                      <a16:creationId xmlns:a16="http://schemas.microsoft.com/office/drawing/2014/main" id="{F2D6BA9D-681B-1F1D-53CF-B93CBE5B235F}"/>
                    </a:ext>
                  </a:extLst>
                </p:cNvPr>
                <p:cNvGrpSpPr>
                  <a:grpSpLocks noChangeAspect="1"/>
                </p:cNvGrpSpPr>
                <p:nvPr/>
              </p:nvGrpSpPr>
              <p:grpSpPr bwMode="auto">
                <a:xfrm>
                  <a:off x="1494" y="3114"/>
                  <a:ext cx="288" cy="401"/>
                  <a:chOff x="4529" y="1698"/>
                  <a:chExt cx="288" cy="401"/>
                </a:xfrm>
              </p:grpSpPr>
              <p:pic>
                <p:nvPicPr>
                  <p:cNvPr id="3087623" name="Picture 263">
                    <a:extLst>
                      <a:ext uri="{FF2B5EF4-FFF2-40B4-BE49-F238E27FC236}">
                        <a16:creationId xmlns:a16="http://schemas.microsoft.com/office/drawing/2014/main" id="{FE71B8EA-87CC-6F9F-02FA-B5AEA42AF1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 y="1701"/>
                    <a:ext cx="288"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7624" name="Picture 264">
                    <a:extLst>
                      <a:ext uri="{FF2B5EF4-FFF2-40B4-BE49-F238E27FC236}">
                        <a16:creationId xmlns:a16="http://schemas.microsoft.com/office/drawing/2014/main" id="{927358F8-290B-1B78-E0E9-1175892C71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2" y="1698"/>
                    <a:ext cx="94" cy="9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3087625" name="Group 265">
                  <a:extLst>
                    <a:ext uri="{FF2B5EF4-FFF2-40B4-BE49-F238E27FC236}">
                      <a16:creationId xmlns:a16="http://schemas.microsoft.com/office/drawing/2014/main" id="{331D09CB-4246-7288-E28D-6FB16286BEC5}"/>
                    </a:ext>
                  </a:extLst>
                </p:cNvPr>
                <p:cNvGrpSpPr>
                  <a:grpSpLocks noChangeAspect="1"/>
                </p:cNvGrpSpPr>
                <p:nvPr/>
              </p:nvGrpSpPr>
              <p:grpSpPr bwMode="auto">
                <a:xfrm>
                  <a:off x="1799" y="3010"/>
                  <a:ext cx="288" cy="401"/>
                  <a:chOff x="4529" y="1698"/>
                  <a:chExt cx="288" cy="401"/>
                </a:xfrm>
              </p:grpSpPr>
              <p:pic>
                <p:nvPicPr>
                  <p:cNvPr id="3087626" name="Picture 266">
                    <a:extLst>
                      <a:ext uri="{FF2B5EF4-FFF2-40B4-BE49-F238E27FC236}">
                        <a16:creationId xmlns:a16="http://schemas.microsoft.com/office/drawing/2014/main" id="{B11CB47D-3AD9-2A9C-903E-4ADC576BA3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 y="1701"/>
                    <a:ext cx="288"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7627" name="Picture 267">
                    <a:extLst>
                      <a:ext uri="{FF2B5EF4-FFF2-40B4-BE49-F238E27FC236}">
                        <a16:creationId xmlns:a16="http://schemas.microsoft.com/office/drawing/2014/main" id="{0E2B8D38-AB0E-EFCB-E3DF-EF80D126AC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2" y="1698"/>
                    <a:ext cx="94" cy="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87628" name="Text Box 268">
                  <a:extLst>
                    <a:ext uri="{FF2B5EF4-FFF2-40B4-BE49-F238E27FC236}">
                      <a16:creationId xmlns:a16="http://schemas.microsoft.com/office/drawing/2014/main" id="{DC80BD86-CBC9-DDB0-B737-E9627B2A5ADA}"/>
                    </a:ext>
                  </a:extLst>
                </p:cNvPr>
                <p:cNvSpPr txBox="1">
                  <a:spLocks noChangeAspect="1" noChangeArrowheads="1"/>
                </p:cNvSpPr>
                <p:nvPr/>
              </p:nvSpPr>
              <p:spPr bwMode="auto">
                <a:xfrm>
                  <a:off x="439" y="2970"/>
                  <a:ext cx="925" cy="4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ClrTx/>
                    <a:buFontTx/>
                    <a:buNone/>
                  </a:pPr>
                  <a:r>
                    <a:rPr lang="en-US" altLang="zh-CN" sz="800" b="1">
                      <a:solidFill>
                        <a:srgbClr val="000000"/>
                      </a:solidFill>
                      <a:ea typeface="宋体" panose="02010600030101010101" pitchFamily="2" charset="-122"/>
                    </a:rPr>
                    <a:t>FS</a:t>
                  </a:r>
                </a:p>
              </p:txBody>
            </p:sp>
            <p:grpSp>
              <p:nvGrpSpPr>
                <p:cNvPr id="3087629" name="Group 269">
                  <a:extLst>
                    <a:ext uri="{FF2B5EF4-FFF2-40B4-BE49-F238E27FC236}">
                      <a16:creationId xmlns:a16="http://schemas.microsoft.com/office/drawing/2014/main" id="{764A47E2-2600-0CD2-F410-169F06369734}"/>
                    </a:ext>
                  </a:extLst>
                </p:cNvPr>
                <p:cNvGrpSpPr>
                  <a:grpSpLocks noChangeAspect="1"/>
                </p:cNvGrpSpPr>
                <p:nvPr/>
              </p:nvGrpSpPr>
              <p:grpSpPr bwMode="auto">
                <a:xfrm>
                  <a:off x="2182" y="2280"/>
                  <a:ext cx="364" cy="159"/>
                  <a:chOff x="3748" y="3793"/>
                  <a:chExt cx="364" cy="159"/>
                </a:xfrm>
              </p:grpSpPr>
              <p:sp>
                <p:nvSpPr>
                  <p:cNvPr id="3087630" name="Oval 270">
                    <a:extLst>
                      <a:ext uri="{FF2B5EF4-FFF2-40B4-BE49-F238E27FC236}">
                        <a16:creationId xmlns:a16="http://schemas.microsoft.com/office/drawing/2014/main" id="{BAD5C30E-1026-C082-9C91-0413C126709E}"/>
                      </a:ext>
                    </a:extLst>
                  </p:cNvPr>
                  <p:cNvSpPr>
                    <a:spLocks noChangeAspect="1" noChangeArrowheads="1"/>
                  </p:cNvSpPr>
                  <p:nvPr/>
                </p:nvSpPr>
                <p:spPr bwMode="auto">
                  <a:xfrm>
                    <a:off x="3748" y="3825"/>
                    <a:ext cx="364" cy="127"/>
                  </a:xfrm>
                  <a:prstGeom prst="ellipse">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631" name="Rectangle 271">
                    <a:extLst>
                      <a:ext uri="{FF2B5EF4-FFF2-40B4-BE49-F238E27FC236}">
                        <a16:creationId xmlns:a16="http://schemas.microsoft.com/office/drawing/2014/main" id="{DC37CA16-123B-C792-3701-D08D99536B53}"/>
                      </a:ext>
                    </a:extLst>
                  </p:cNvPr>
                  <p:cNvSpPr>
                    <a:spLocks noChangeAspect="1" noChangeArrowheads="1"/>
                  </p:cNvSpPr>
                  <p:nvPr/>
                </p:nvSpPr>
                <p:spPr bwMode="auto">
                  <a:xfrm>
                    <a:off x="3748" y="3857"/>
                    <a:ext cx="364" cy="31"/>
                  </a:xfrm>
                  <a:prstGeom prst="rect">
                    <a:avLst/>
                  </a:prstGeom>
                  <a:gradFill rotWithShape="1">
                    <a:gsLst>
                      <a:gs pos="0">
                        <a:srgbClr val="EB7955">
                          <a:gamma/>
                          <a:shade val="65098"/>
                          <a:invGamma/>
                        </a:srgbClr>
                      </a:gs>
                      <a:gs pos="50000">
                        <a:srgbClr val="EB7955"/>
                      </a:gs>
                      <a:gs pos="100000">
                        <a:srgbClr val="EB7955">
                          <a:gamma/>
                          <a:shade val="65098"/>
                          <a:invGamma/>
                        </a:srgbClr>
                      </a:gs>
                    </a:gsLst>
                    <a:lin ang="0" scaled="1"/>
                  </a:gradFill>
                  <a:ln>
                    <a:noFill/>
                  </a:ln>
                  <a:effectLst/>
                  <a:extLst>
                    <a:ext uri="{91240B29-F687-4F45-9708-019B960494DF}">
                      <a14:hiddenLine xmlns:a14="http://schemas.microsoft.com/office/drawing/2010/main" w="12700" algn="ctr">
                        <a:solidFill>
                          <a:srgbClr val="6F9995"/>
                        </a:solidFill>
                        <a:miter lim="800000"/>
                        <a:headEnd/>
                        <a:tailEnd/>
                      </a14:hiddenLine>
                    </a:ext>
                    <a:ext uri="{AF507438-7753-43E0-B8FC-AC1667EBCBE1}">
                      <a14:hiddenEffects xmlns:a14="http://schemas.microsoft.com/office/drawing/2010/main">
                        <a:effectLst>
                          <a:outerShdw dist="12700" dir="5400000" algn="ctr" rotWithShape="0">
                            <a:srgbClr val="000000"/>
                          </a:outerShdw>
                        </a:effectLst>
                      </a14:hiddenEffects>
                    </a:ext>
                  </a:extLst>
                </p:spPr>
                <p:txBody>
                  <a:bodyPr wrap="none" lIns="0" tIns="0" rIns="0" bIns="0" anchor="ctr"/>
                  <a:lstStyle/>
                  <a:p>
                    <a:endParaRPr lang="en-IN"/>
                  </a:p>
                </p:txBody>
              </p:sp>
              <p:sp>
                <p:nvSpPr>
                  <p:cNvPr id="3087632" name="Oval 272">
                    <a:extLst>
                      <a:ext uri="{FF2B5EF4-FFF2-40B4-BE49-F238E27FC236}">
                        <a16:creationId xmlns:a16="http://schemas.microsoft.com/office/drawing/2014/main" id="{0FD9696E-5A92-9A98-E7A0-F0E1647CD3E0}"/>
                      </a:ext>
                    </a:extLst>
                  </p:cNvPr>
                  <p:cNvSpPr>
                    <a:spLocks noChangeAspect="1" noChangeArrowheads="1"/>
                  </p:cNvSpPr>
                  <p:nvPr/>
                </p:nvSpPr>
                <p:spPr bwMode="auto">
                  <a:xfrm>
                    <a:off x="3748" y="3793"/>
                    <a:ext cx="364" cy="127"/>
                  </a:xfrm>
                  <a:prstGeom prst="ellipse">
                    <a:avLst/>
                  </a:prstGeom>
                  <a:gradFill rotWithShape="1">
                    <a:gsLst>
                      <a:gs pos="0">
                        <a:srgbClr val="E88A6C"/>
                      </a:gs>
                      <a:gs pos="100000">
                        <a:srgbClr val="E88A6C">
                          <a:gamma/>
                          <a:tint val="29412"/>
                          <a:invGamma/>
                        </a:srgbClr>
                      </a:gs>
                    </a:gsLst>
                    <a:lin ang="5400000" scaled="1"/>
                  </a:gradFill>
                  <a:ln>
                    <a:noFill/>
                  </a:ln>
                  <a:effectLst/>
                  <a:extLst>
                    <a:ext uri="{91240B29-F687-4F45-9708-019B960494DF}">
                      <a14:hiddenLine xmlns:a14="http://schemas.microsoft.com/office/drawing/2010/main" w="12700" algn="ctr">
                        <a:solidFill>
                          <a:srgbClr val="6F9995"/>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grpSp>
          </p:grpSp>
          <p:sp>
            <p:nvSpPr>
              <p:cNvPr id="3087633" name="Rectangle 273">
                <a:extLst>
                  <a:ext uri="{FF2B5EF4-FFF2-40B4-BE49-F238E27FC236}">
                    <a16:creationId xmlns:a16="http://schemas.microsoft.com/office/drawing/2014/main" id="{5CE3870B-1417-4480-ECCF-82B40D27ED56}"/>
                  </a:ext>
                </a:extLst>
              </p:cNvPr>
              <p:cNvSpPr>
                <a:spLocks noChangeArrowheads="1"/>
              </p:cNvSpPr>
              <p:nvPr/>
            </p:nvSpPr>
            <p:spPr bwMode="auto">
              <a:xfrm>
                <a:off x="1048" y="2112"/>
                <a:ext cx="496" cy="136"/>
              </a:xfrm>
              <a:prstGeom prst="rect">
                <a:avLst/>
              </a:prstGeom>
              <a:solidFill>
                <a:srgbClr val="EAEAEA"/>
              </a:solidFill>
              <a:ln>
                <a:noFill/>
              </a:ln>
              <a:effectLst>
                <a:prstShdw prst="shdw17" dist="17961" dir="2700000">
                  <a:srgbClr val="EAEAEA">
                    <a:gamma/>
                    <a:shade val="60000"/>
                    <a:invGamma/>
                  </a:srgbClr>
                </a:prstShdw>
              </a:effectLst>
              <a:extLst>
                <a:ext uri="{91240B29-F687-4F45-9708-019B960494DF}">
                  <a14:hiddenLine xmlns:a14="http://schemas.microsoft.com/office/drawing/2010/main" w="25400" algn="ctr">
                    <a:solidFill>
                      <a:srgbClr val="FF0000"/>
                    </a:solidFill>
                    <a:miter lim="800000"/>
                    <a:headEnd/>
                    <a:tailEnd type="none" w="lg" len="med"/>
                  </a14:hiddenLine>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800">
                    <a:solidFill>
                      <a:srgbClr val="003580"/>
                    </a:solidFill>
                    <a:ea typeface="宋体" panose="02010600030101010101" pitchFamily="2" charset="-122"/>
                  </a:rPr>
                  <a:t>DB App</a:t>
                </a:r>
              </a:p>
            </p:txBody>
          </p:sp>
        </p:grpSp>
      </p:grpSp>
      <p:grpSp>
        <p:nvGrpSpPr>
          <p:cNvPr id="3087476" name="Group 116">
            <a:extLst>
              <a:ext uri="{FF2B5EF4-FFF2-40B4-BE49-F238E27FC236}">
                <a16:creationId xmlns:a16="http://schemas.microsoft.com/office/drawing/2014/main" id="{E24880B3-1E6E-340D-8E98-665289629AD5}"/>
              </a:ext>
            </a:extLst>
          </p:cNvPr>
          <p:cNvGrpSpPr>
            <a:grpSpLocks/>
          </p:cNvGrpSpPr>
          <p:nvPr/>
        </p:nvGrpSpPr>
        <p:grpSpPr bwMode="auto">
          <a:xfrm>
            <a:off x="777875" y="5441950"/>
            <a:ext cx="7932738" cy="760413"/>
            <a:chOff x="490" y="3428"/>
            <a:chExt cx="4997" cy="479"/>
          </a:xfrm>
        </p:grpSpPr>
        <p:sp>
          <p:nvSpPr>
            <p:cNvPr id="3087477" name="AutoShape 117">
              <a:extLst>
                <a:ext uri="{FF2B5EF4-FFF2-40B4-BE49-F238E27FC236}">
                  <a16:creationId xmlns:a16="http://schemas.microsoft.com/office/drawing/2014/main" id="{2077BBB3-EE3A-31EF-B0AC-E5A8977EDEFE}"/>
                </a:ext>
              </a:extLst>
            </p:cNvPr>
            <p:cNvSpPr>
              <a:spLocks noChangeArrowheads="1"/>
            </p:cNvSpPr>
            <p:nvPr/>
          </p:nvSpPr>
          <p:spPr bwMode="auto">
            <a:xfrm>
              <a:off x="490" y="3428"/>
              <a:ext cx="4997" cy="479"/>
            </a:xfrm>
            <a:prstGeom prst="wedgeRectCallout">
              <a:avLst>
                <a:gd name="adj1" fmla="val -29690"/>
                <a:gd name="adj2" fmla="val -228495"/>
              </a:avLst>
            </a:prstGeom>
            <a:solidFill>
              <a:srgbClr val="C0C0C0"/>
            </a:solidFill>
            <a:ln>
              <a:noFill/>
            </a:ln>
            <a:effectLst/>
            <a:extLst>
              <a:ext uri="{91240B29-F687-4F45-9708-019B960494DF}">
                <a14:hiddenLine xmlns:a14="http://schemas.microsoft.com/office/drawing/2010/main" w="34925" algn="ctr">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a:solidFill>
                  <a:srgbClr val="003580"/>
                </a:solidFill>
                <a:ea typeface="宋体" panose="02010600030101010101" pitchFamily="2" charset="-122"/>
              </a:endParaRPr>
            </a:p>
          </p:txBody>
        </p:sp>
        <p:pic>
          <p:nvPicPr>
            <p:cNvPr id="3087478" name="Picture 118">
              <a:extLst>
                <a:ext uri="{FF2B5EF4-FFF2-40B4-BE49-F238E27FC236}">
                  <a16:creationId xmlns:a16="http://schemas.microsoft.com/office/drawing/2014/main" id="{DC3BB68C-FEC2-FC6B-DC31-AA0882D964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4" y="3459"/>
              <a:ext cx="4944" cy="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88056" name="Group 696">
            <a:extLst>
              <a:ext uri="{FF2B5EF4-FFF2-40B4-BE49-F238E27FC236}">
                <a16:creationId xmlns:a16="http://schemas.microsoft.com/office/drawing/2014/main" id="{986F898C-DF9A-76F3-09FC-480760EDAF5A}"/>
              </a:ext>
            </a:extLst>
          </p:cNvPr>
          <p:cNvGrpSpPr>
            <a:grpSpLocks/>
          </p:cNvGrpSpPr>
          <p:nvPr/>
        </p:nvGrpSpPr>
        <p:grpSpPr bwMode="auto">
          <a:xfrm>
            <a:off x="3533775" y="3448050"/>
            <a:ext cx="923925" cy="381000"/>
            <a:chOff x="2490" y="1998"/>
            <a:chExt cx="510" cy="186"/>
          </a:xfrm>
        </p:grpSpPr>
        <p:sp>
          <p:nvSpPr>
            <p:cNvPr id="3088051" name="AutoShape 691">
              <a:extLst>
                <a:ext uri="{FF2B5EF4-FFF2-40B4-BE49-F238E27FC236}">
                  <a16:creationId xmlns:a16="http://schemas.microsoft.com/office/drawing/2014/main" id="{6891C61F-3C74-0EEB-71CA-AFD5569B2D6E}"/>
                </a:ext>
              </a:extLst>
            </p:cNvPr>
            <p:cNvSpPr>
              <a:spLocks noChangeArrowheads="1"/>
            </p:cNvSpPr>
            <p:nvPr/>
          </p:nvSpPr>
          <p:spPr bwMode="auto">
            <a:xfrm>
              <a:off x="2490" y="1998"/>
              <a:ext cx="510" cy="186"/>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088052" name="Freeform 692">
              <a:extLst>
                <a:ext uri="{FF2B5EF4-FFF2-40B4-BE49-F238E27FC236}">
                  <a16:creationId xmlns:a16="http://schemas.microsoft.com/office/drawing/2014/main" id="{46C7C3C2-7322-9EFB-3750-736F71CADEAA}"/>
                </a:ext>
              </a:extLst>
            </p:cNvPr>
            <p:cNvSpPr>
              <a:spLocks/>
            </p:cNvSpPr>
            <p:nvPr/>
          </p:nvSpPr>
          <p:spPr bwMode="auto">
            <a:xfrm>
              <a:off x="2554" y="2042"/>
              <a:ext cx="195"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88053" name="Freeform 693">
              <a:extLst>
                <a:ext uri="{FF2B5EF4-FFF2-40B4-BE49-F238E27FC236}">
                  <a16:creationId xmlns:a16="http://schemas.microsoft.com/office/drawing/2014/main" id="{3CD74786-4D6C-7600-CAB3-7DCC1FDF26F5}"/>
                </a:ext>
              </a:extLst>
            </p:cNvPr>
            <p:cNvSpPr>
              <a:spLocks/>
            </p:cNvSpPr>
            <p:nvPr/>
          </p:nvSpPr>
          <p:spPr bwMode="auto">
            <a:xfrm>
              <a:off x="2554" y="2107"/>
              <a:ext cx="195"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88054" name="Freeform 694">
              <a:extLst>
                <a:ext uri="{FF2B5EF4-FFF2-40B4-BE49-F238E27FC236}">
                  <a16:creationId xmlns:a16="http://schemas.microsoft.com/office/drawing/2014/main" id="{9963EF37-DED4-7F86-49D1-D5B351945574}"/>
                </a:ext>
              </a:extLst>
            </p:cNvPr>
            <p:cNvSpPr>
              <a:spLocks/>
            </p:cNvSpPr>
            <p:nvPr/>
          </p:nvSpPr>
          <p:spPr bwMode="auto">
            <a:xfrm flipH="1">
              <a:off x="2748" y="2076"/>
              <a:ext cx="196"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88055" name="Freeform 695">
              <a:extLst>
                <a:ext uri="{FF2B5EF4-FFF2-40B4-BE49-F238E27FC236}">
                  <a16:creationId xmlns:a16="http://schemas.microsoft.com/office/drawing/2014/main" id="{4CE69537-EABC-47C7-F619-18B7B0476EFE}"/>
                </a:ext>
              </a:extLst>
            </p:cNvPr>
            <p:cNvSpPr>
              <a:spLocks/>
            </p:cNvSpPr>
            <p:nvPr/>
          </p:nvSpPr>
          <p:spPr bwMode="auto">
            <a:xfrm flipH="1">
              <a:off x="2748" y="2140"/>
              <a:ext cx="196"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88057" name="Group 697">
            <a:extLst>
              <a:ext uri="{FF2B5EF4-FFF2-40B4-BE49-F238E27FC236}">
                <a16:creationId xmlns:a16="http://schemas.microsoft.com/office/drawing/2014/main" id="{2D1D5604-EF61-5F8D-BA7E-BF933EB96257}"/>
              </a:ext>
            </a:extLst>
          </p:cNvPr>
          <p:cNvGrpSpPr>
            <a:grpSpLocks/>
          </p:cNvGrpSpPr>
          <p:nvPr/>
        </p:nvGrpSpPr>
        <p:grpSpPr bwMode="auto">
          <a:xfrm>
            <a:off x="3517900" y="2476500"/>
            <a:ext cx="923925" cy="381000"/>
            <a:chOff x="2490" y="1998"/>
            <a:chExt cx="510" cy="186"/>
          </a:xfrm>
        </p:grpSpPr>
        <p:sp>
          <p:nvSpPr>
            <p:cNvPr id="3088058" name="AutoShape 698">
              <a:extLst>
                <a:ext uri="{FF2B5EF4-FFF2-40B4-BE49-F238E27FC236}">
                  <a16:creationId xmlns:a16="http://schemas.microsoft.com/office/drawing/2014/main" id="{373C168C-E400-14C7-D5A8-3B363673FC3E}"/>
                </a:ext>
              </a:extLst>
            </p:cNvPr>
            <p:cNvSpPr>
              <a:spLocks noChangeArrowheads="1"/>
            </p:cNvSpPr>
            <p:nvPr/>
          </p:nvSpPr>
          <p:spPr bwMode="auto">
            <a:xfrm>
              <a:off x="2490" y="1998"/>
              <a:ext cx="510" cy="186"/>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088059" name="Freeform 699">
              <a:extLst>
                <a:ext uri="{FF2B5EF4-FFF2-40B4-BE49-F238E27FC236}">
                  <a16:creationId xmlns:a16="http://schemas.microsoft.com/office/drawing/2014/main" id="{71218075-A20E-0131-254C-902D72CEFE40}"/>
                </a:ext>
              </a:extLst>
            </p:cNvPr>
            <p:cNvSpPr>
              <a:spLocks/>
            </p:cNvSpPr>
            <p:nvPr/>
          </p:nvSpPr>
          <p:spPr bwMode="auto">
            <a:xfrm>
              <a:off x="2554" y="2042"/>
              <a:ext cx="195"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88060" name="Freeform 700">
              <a:extLst>
                <a:ext uri="{FF2B5EF4-FFF2-40B4-BE49-F238E27FC236}">
                  <a16:creationId xmlns:a16="http://schemas.microsoft.com/office/drawing/2014/main" id="{D248B193-4055-94F6-F2FA-45108ED5C0C7}"/>
                </a:ext>
              </a:extLst>
            </p:cNvPr>
            <p:cNvSpPr>
              <a:spLocks/>
            </p:cNvSpPr>
            <p:nvPr/>
          </p:nvSpPr>
          <p:spPr bwMode="auto">
            <a:xfrm>
              <a:off x="2554" y="2107"/>
              <a:ext cx="195"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88061" name="Freeform 701">
              <a:extLst>
                <a:ext uri="{FF2B5EF4-FFF2-40B4-BE49-F238E27FC236}">
                  <a16:creationId xmlns:a16="http://schemas.microsoft.com/office/drawing/2014/main" id="{81386285-B6E6-8AAA-D6A5-D7CBD30F7A21}"/>
                </a:ext>
              </a:extLst>
            </p:cNvPr>
            <p:cNvSpPr>
              <a:spLocks/>
            </p:cNvSpPr>
            <p:nvPr/>
          </p:nvSpPr>
          <p:spPr bwMode="auto">
            <a:xfrm flipH="1">
              <a:off x="2748" y="2076"/>
              <a:ext cx="196"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88062" name="Freeform 702">
              <a:extLst>
                <a:ext uri="{FF2B5EF4-FFF2-40B4-BE49-F238E27FC236}">
                  <a16:creationId xmlns:a16="http://schemas.microsoft.com/office/drawing/2014/main" id="{ACE6AFD1-7793-2A07-ACE0-DE9E999197D4}"/>
                </a:ext>
              </a:extLst>
            </p:cNvPr>
            <p:cNvSpPr>
              <a:spLocks/>
            </p:cNvSpPr>
            <p:nvPr/>
          </p:nvSpPr>
          <p:spPr bwMode="auto">
            <a:xfrm flipH="1">
              <a:off x="2748" y="2140"/>
              <a:ext cx="196"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pic>
        <p:nvPicPr>
          <p:cNvPr id="3088080" name="Picture 720">
            <a:extLst>
              <a:ext uri="{FF2B5EF4-FFF2-40B4-BE49-F238E27FC236}">
                <a16:creationId xmlns:a16="http://schemas.microsoft.com/office/drawing/2014/main" id="{E4455100-E462-868D-8EAF-6B1B5B8F127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65825" y="3494088"/>
            <a:ext cx="817563" cy="739775"/>
          </a:xfrm>
          <a:prstGeom prst="rect">
            <a:avLst/>
          </a:prstGeom>
          <a:noFill/>
          <a:extLst>
            <a:ext uri="{909E8E84-426E-40DD-AFC4-6F175D3DCCD1}">
              <a14:hiddenFill xmlns:a14="http://schemas.microsoft.com/office/drawing/2010/main">
                <a:solidFill>
                  <a:schemeClr val="tx2"/>
                </a:solidFill>
              </a14:hiddenFill>
            </a:ext>
          </a:extLst>
        </p:spPr>
      </p:pic>
      <p:pic>
        <p:nvPicPr>
          <p:cNvPr id="3088081" name="Picture 721">
            <a:extLst>
              <a:ext uri="{FF2B5EF4-FFF2-40B4-BE49-F238E27FC236}">
                <a16:creationId xmlns:a16="http://schemas.microsoft.com/office/drawing/2014/main" id="{C0EDAC0C-2454-652E-A467-3FDA1856DAD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3650" y="3506788"/>
            <a:ext cx="817563" cy="739775"/>
          </a:xfrm>
          <a:prstGeom prst="rect">
            <a:avLst/>
          </a:prstGeom>
          <a:noFill/>
          <a:extLst>
            <a:ext uri="{909E8E84-426E-40DD-AFC4-6F175D3DCCD1}">
              <a14:hiddenFill xmlns:a14="http://schemas.microsoft.com/office/drawing/2010/main">
                <a:solidFill>
                  <a:schemeClr val="tx2"/>
                </a:solidFill>
              </a14:hiddenFill>
            </a:ext>
          </a:extLst>
        </p:spPr>
      </p:pic>
      <p:pic>
        <p:nvPicPr>
          <p:cNvPr id="3088082" name="Picture 722">
            <a:extLst>
              <a:ext uri="{FF2B5EF4-FFF2-40B4-BE49-F238E27FC236}">
                <a16:creationId xmlns:a16="http://schemas.microsoft.com/office/drawing/2014/main" id="{2AA10CA6-74E7-0267-2674-9002AEC487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3125" y="2287588"/>
            <a:ext cx="817563" cy="739775"/>
          </a:xfrm>
          <a:prstGeom prst="rect">
            <a:avLst/>
          </a:prstGeom>
          <a:noFill/>
          <a:extLst>
            <a:ext uri="{909E8E84-426E-40DD-AFC4-6F175D3DCCD1}">
              <a14:hiddenFill xmlns:a14="http://schemas.microsoft.com/office/drawing/2010/main">
                <a:solidFill>
                  <a:srgbClr val="FFFFFF"/>
                </a:solidFill>
              </a14:hiddenFill>
            </a:ext>
          </a:extLst>
        </p:spPr>
      </p:pic>
      <p:pic>
        <p:nvPicPr>
          <p:cNvPr id="3088084" name="Picture 724">
            <a:extLst>
              <a:ext uri="{FF2B5EF4-FFF2-40B4-BE49-F238E27FC236}">
                <a16:creationId xmlns:a16="http://schemas.microsoft.com/office/drawing/2014/main" id="{A84F4E88-793F-CF4C-59E4-35442D3D1B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60950" y="2300288"/>
            <a:ext cx="817563" cy="739775"/>
          </a:xfrm>
          <a:prstGeom prst="rect">
            <a:avLst/>
          </a:prstGeom>
          <a:noFill/>
          <a:extLst>
            <a:ext uri="{909E8E84-426E-40DD-AFC4-6F175D3DCCD1}">
              <a14:hiddenFill xmlns:a14="http://schemas.microsoft.com/office/drawing/2010/main">
                <a:solidFill>
                  <a:srgbClr val="008000"/>
                </a:solidFill>
              </a14:hiddenFill>
            </a:ext>
          </a:extLst>
        </p:spPr>
      </p:pic>
      <p:sp>
        <p:nvSpPr>
          <p:cNvPr id="3088085" name="Text Box 725">
            <a:extLst>
              <a:ext uri="{FF2B5EF4-FFF2-40B4-BE49-F238E27FC236}">
                <a16:creationId xmlns:a16="http://schemas.microsoft.com/office/drawing/2014/main" id="{BEB33659-6D98-81E2-DA5E-6E7BC81FCAF6}"/>
              </a:ext>
            </a:extLst>
          </p:cNvPr>
          <p:cNvSpPr txBox="1">
            <a:spLocks noChangeArrowheads="1"/>
          </p:cNvSpPr>
          <p:nvPr/>
        </p:nvSpPr>
        <p:spPr bwMode="auto">
          <a:xfrm>
            <a:off x="5067300" y="2590800"/>
            <a:ext cx="8255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3580"/>
                </a:solidFill>
                <a:ea typeface="宋体" panose="02010600030101010101" pitchFamily="2" charset="-122"/>
              </a:rPr>
              <a:t>Production</a:t>
            </a:r>
          </a:p>
        </p:txBody>
      </p:sp>
      <p:sp>
        <p:nvSpPr>
          <p:cNvPr id="3088087" name="Text Box 727">
            <a:extLst>
              <a:ext uri="{FF2B5EF4-FFF2-40B4-BE49-F238E27FC236}">
                <a16:creationId xmlns:a16="http://schemas.microsoft.com/office/drawing/2014/main" id="{883F31F3-804A-356B-7493-85C2B1959338}"/>
              </a:ext>
            </a:extLst>
          </p:cNvPr>
          <p:cNvSpPr txBox="1">
            <a:spLocks noChangeArrowheads="1"/>
          </p:cNvSpPr>
          <p:nvPr/>
        </p:nvSpPr>
        <p:spPr bwMode="auto">
          <a:xfrm>
            <a:off x="5092700" y="3695700"/>
            <a:ext cx="8255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3580"/>
                </a:solidFill>
                <a:ea typeface="宋体" panose="02010600030101010101" pitchFamily="2" charset="-122"/>
              </a:rPr>
              <a:t>Local</a:t>
            </a:r>
          </a:p>
          <a:p>
            <a:pPr algn="ctr">
              <a:spcBef>
                <a:spcPct val="50000"/>
              </a:spcBef>
            </a:pPr>
            <a:r>
              <a:rPr lang="en-US" altLang="zh-CN" sz="1000" b="1">
                <a:solidFill>
                  <a:srgbClr val="003580"/>
                </a:solidFill>
                <a:ea typeface="宋体" panose="02010600030101010101" pitchFamily="2" charset="-122"/>
              </a:rPr>
              <a:t>Replica</a:t>
            </a:r>
          </a:p>
        </p:txBody>
      </p:sp>
      <p:sp>
        <p:nvSpPr>
          <p:cNvPr id="3088088" name="Text Box 728">
            <a:extLst>
              <a:ext uri="{FF2B5EF4-FFF2-40B4-BE49-F238E27FC236}">
                <a16:creationId xmlns:a16="http://schemas.microsoft.com/office/drawing/2014/main" id="{53D8FF27-2193-F7BE-F081-1A75C8CC472F}"/>
              </a:ext>
            </a:extLst>
          </p:cNvPr>
          <p:cNvSpPr txBox="1">
            <a:spLocks noChangeArrowheads="1"/>
          </p:cNvSpPr>
          <p:nvPr/>
        </p:nvSpPr>
        <p:spPr bwMode="auto">
          <a:xfrm>
            <a:off x="5997575" y="3670300"/>
            <a:ext cx="7747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3580"/>
                </a:solidFill>
                <a:ea typeface="宋体" panose="02010600030101010101" pitchFamily="2" charset="-122"/>
              </a:rPr>
              <a:t>Local</a:t>
            </a:r>
          </a:p>
          <a:p>
            <a:pPr algn="ctr">
              <a:spcBef>
                <a:spcPct val="50000"/>
              </a:spcBef>
            </a:pPr>
            <a:r>
              <a:rPr lang="en-US" altLang="zh-CN" sz="1000" b="1">
                <a:solidFill>
                  <a:srgbClr val="003580"/>
                </a:solidFill>
                <a:ea typeface="宋体" panose="02010600030101010101" pitchFamily="2" charset="-122"/>
              </a:rPr>
              <a:t>Replica</a:t>
            </a:r>
          </a:p>
        </p:txBody>
      </p:sp>
      <p:sp>
        <p:nvSpPr>
          <p:cNvPr id="3088089" name="Text Box 729">
            <a:extLst>
              <a:ext uri="{FF2B5EF4-FFF2-40B4-BE49-F238E27FC236}">
                <a16:creationId xmlns:a16="http://schemas.microsoft.com/office/drawing/2014/main" id="{F1C0ACED-416F-020D-8AFE-63EB8FAEE0EE}"/>
              </a:ext>
            </a:extLst>
          </p:cNvPr>
          <p:cNvSpPr txBox="1">
            <a:spLocks noChangeArrowheads="1"/>
          </p:cNvSpPr>
          <p:nvPr/>
        </p:nvSpPr>
        <p:spPr bwMode="auto">
          <a:xfrm>
            <a:off x="5959475" y="2603500"/>
            <a:ext cx="8255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3580"/>
                </a:solidFill>
                <a:ea typeface="宋体" panose="02010600030101010101" pitchFamily="2" charset="-122"/>
              </a:rPr>
              <a:t>Production</a:t>
            </a:r>
          </a:p>
        </p:txBody>
      </p:sp>
      <p:sp>
        <p:nvSpPr>
          <p:cNvPr id="3088090" name="AutoShape 730">
            <a:extLst>
              <a:ext uri="{FF2B5EF4-FFF2-40B4-BE49-F238E27FC236}">
                <a16:creationId xmlns:a16="http://schemas.microsoft.com/office/drawing/2014/main" id="{E04659B8-ED32-F4A4-ACC0-3D3FD304E61A}"/>
              </a:ext>
            </a:extLst>
          </p:cNvPr>
          <p:cNvSpPr>
            <a:spLocks noChangeArrowheads="1"/>
          </p:cNvSpPr>
          <p:nvPr/>
        </p:nvSpPr>
        <p:spPr bwMode="auto">
          <a:xfrm>
            <a:off x="7099300" y="1954213"/>
            <a:ext cx="1844675" cy="2528887"/>
          </a:xfrm>
          <a:prstGeom prst="roundRect">
            <a:avLst>
              <a:gd name="adj" fmla="val 11657"/>
            </a:avLst>
          </a:prstGeom>
          <a:solidFill>
            <a:srgbClr val="E1FFE1"/>
          </a:solidFill>
          <a:ln w="6350" algn="ctr">
            <a:solidFill>
              <a:srgbClr val="000000"/>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pic>
        <p:nvPicPr>
          <p:cNvPr id="3088091" name="Picture 731">
            <a:extLst>
              <a:ext uri="{FF2B5EF4-FFF2-40B4-BE49-F238E27FC236}">
                <a16:creationId xmlns:a16="http://schemas.microsoft.com/office/drawing/2014/main" id="{1D8CB63B-7F60-06FA-5BEA-5E8BB76046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48625" y="3494088"/>
            <a:ext cx="817563" cy="739775"/>
          </a:xfrm>
          <a:prstGeom prst="rect">
            <a:avLst/>
          </a:prstGeom>
          <a:noFill/>
          <a:extLst>
            <a:ext uri="{909E8E84-426E-40DD-AFC4-6F175D3DCCD1}">
              <a14:hiddenFill xmlns:a14="http://schemas.microsoft.com/office/drawing/2010/main">
                <a:solidFill>
                  <a:schemeClr val="tx2"/>
                </a:solidFill>
              </a14:hiddenFill>
            </a:ext>
          </a:extLst>
        </p:spPr>
      </p:pic>
      <p:pic>
        <p:nvPicPr>
          <p:cNvPr id="3088092" name="Picture 732">
            <a:extLst>
              <a:ext uri="{FF2B5EF4-FFF2-40B4-BE49-F238E27FC236}">
                <a16:creationId xmlns:a16="http://schemas.microsoft.com/office/drawing/2014/main" id="{C7B84EA5-0867-A90A-F0E1-1262A36B08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56450" y="3506788"/>
            <a:ext cx="817563" cy="739775"/>
          </a:xfrm>
          <a:prstGeom prst="rect">
            <a:avLst/>
          </a:prstGeom>
          <a:noFill/>
          <a:extLst>
            <a:ext uri="{909E8E84-426E-40DD-AFC4-6F175D3DCCD1}">
              <a14:hiddenFill xmlns:a14="http://schemas.microsoft.com/office/drawing/2010/main">
                <a:solidFill>
                  <a:schemeClr val="tx2"/>
                </a:solidFill>
              </a14:hiddenFill>
            </a:ext>
          </a:extLst>
        </p:spPr>
      </p:pic>
      <p:pic>
        <p:nvPicPr>
          <p:cNvPr id="3088093" name="Picture 733">
            <a:extLst>
              <a:ext uri="{FF2B5EF4-FFF2-40B4-BE49-F238E27FC236}">
                <a16:creationId xmlns:a16="http://schemas.microsoft.com/office/drawing/2014/main" id="{B826396C-263C-6B16-CC5D-5E3A5BC72D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35925" y="2287588"/>
            <a:ext cx="817563" cy="739775"/>
          </a:xfrm>
          <a:prstGeom prst="rect">
            <a:avLst/>
          </a:prstGeom>
          <a:noFill/>
          <a:extLst>
            <a:ext uri="{909E8E84-426E-40DD-AFC4-6F175D3DCCD1}">
              <a14:hiddenFill xmlns:a14="http://schemas.microsoft.com/office/drawing/2010/main">
                <a:solidFill>
                  <a:srgbClr val="FFFFFF"/>
                </a:solidFill>
              </a14:hiddenFill>
            </a:ext>
          </a:extLst>
        </p:spPr>
      </p:pic>
      <p:pic>
        <p:nvPicPr>
          <p:cNvPr id="3088094" name="Picture 734">
            <a:extLst>
              <a:ext uri="{FF2B5EF4-FFF2-40B4-BE49-F238E27FC236}">
                <a16:creationId xmlns:a16="http://schemas.microsoft.com/office/drawing/2014/main" id="{CE04141F-7FF8-F2CE-962F-889A6D9147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750" y="2300288"/>
            <a:ext cx="817563" cy="739775"/>
          </a:xfrm>
          <a:prstGeom prst="rect">
            <a:avLst/>
          </a:prstGeom>
          <a:noFill/>
          <a:extLst>
            <a:ext uri="{909E8E84-426E-40DD-AFC4-6F175D3DCCD1}">
              <a14:hiddenFill xmlns:a14="http://schemas.microsoft.com/office/drawing/2010/main">
                <a:solidFill>
                  <a:srgbClr val="008000"/>
                </a:solidFill>
              </a14:hiddenFill>
            </a:ext>
          </a:extLst>
        </p:spPr>
      </p:pic>
      <p:sp>
        <p:nvSpPr>
          <p:cNvPr id="3088099" name="Text Box 739">
            <a:extLst>
              <a:ext uri="{FF2B5EF4-FFF2-40B4-BE49-F238E27FC236}">
                <a16:creationId xmlns:a16="http://schemas.microsoft.com/office/drawing/2014/main" id="{9EE3B7D2-FFDE-E677-51CA-4C80FCB6E59C}"/>
              </a:ext>
            </a:extLst>
          </p:cNvPr>
          <p:cNvSpPr txBox="1">
            <a:spLocks noChangeArrowheads="1"/>
          </p:cNvSpPr>
          <p:nvPr/>
        </p:nvSpPr>
        <p:spPr bwMode="auto">
          <a:xfrm>
            <a:off x="7131050" y="2457450"/>
            <a:ext cx="8255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3580"/>
                </a:solidFill>
                <a:ea typeface="宋体" panose="02010600030101010101" pitchFamily="2" charset="-122"/>
              </a:rPr>
              <a:t>Remote</a:t>
            </a:r>
          </a:p>
          <a:p>
            <a:pPr algn="ctr">
              <a:spcBef>
                <a:spcPct val="50000"/>
              </a:spcBef>
            </a:pPr>
            <a:r>
              <a:rPr lang="en-US" altLang="zh-CN" sz="1000" b="1">
                <a:solidFill>
                  <a:srgbClr val="003580"/>
                </a:solidFill>
                <a:ea typeface="宋体" panose="02010600030101010101" pitchFamily="2" charset="-122"/>
              </a:rPr>
              <a:t>Replica</a:t>
            </a:r>
          </a:p>
        </p:txBody>
      </p:sp>
      <p:sp>
        <p:nvSpPr>
          <p:cNvPr id="3088100" name="Text Box 740">
            <a:extLst>
              <a:ext uri="{FF2B5EF4-FFF2-40B4-BE49-F238E27FC236}">
                <a16:creationId xmlns:a16="http://schemas.microsoft.com/office/drawing/2014/main" id="{F0801FEB-6552-E045-4858-4EF91EBCD2BF}"/>
              </a:ext>
            </a:extLst>
          </p:cNvPr>
          <p:cNvSpPr txBox="1">
            <a:spLocks noChangeArrowheads="1"/>
          </p:cNvSpPr>
          <p:nvPr/>
        </p:nvSpPr>
        <p:spPr bwMode="auto">
          <a:xfrm>
            <a:off x="8026400" y="2457450"/>
            <a:ext cx="8255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3580"/>
                </a:solidFill>
                <a:ea typeface="宋体" panose="02010600030101010101" pitchFamily="2" charset="-122"/>
              </a:rPr>
              <a:t>Remote</a:t>
            </a:r>
          </a:p>
          <a:p>
            <a:pPr algn="ctr">
              <a:spcBef>
                <a:spcPct val="50000"/>
              </a:spcBef>
            </a:pPr>
            <a:r>
              <a:rPr lang="en-US" altLang="zh-CN" sz="1000" b="1">
                <a:solidFill>
                  <a:srgbClr val="003580"/>
                </a:solidFill>
                <a:ea typeface="宋体" panose="02010600030101010101" pitchFamily="2" charset="-122"/>
              </a:rPr>
              <a:t>Replica</a:t>
            </a:r>
          </a:p>
        </p:txBody>
      </p:sp>
      <p:sp>
        <p:nvSpPr>
          <p:cNvPr id="3088101" name="Text Box 741">
            <a:extLst>
              <a:ext uri="{FF2B5EF4-FFF2-40B4-BE49-F238E27FC236}">
                <a16:creationId xmlns:a16="http://schemas.microsoft.com/office/drawing/2014/main" id="{B5240958-E3B0-704D-79E1-F47670E14C77}"/>
              </a:ext>
            </a:extLst>
          </p:cNvPr>
          <p:cNvSpPr txBox="1">
            <a:spLocks noChangeArrowheads="1"/>
          </p:cNvSpPr>
          <p:nvPr/>
        </p:nvSpPr>
        <p:spPr bwMode="auto">
          <a:xfrm>
            <a:off x="7159625" y="3790950"/>
            <a:ext cx="8636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3580"/>
                </a:solidFill>
                <a:ea typeface="宋体" panose="02010600030101010101" pitchFamily="2" charset="-122"/>
              </a:rPr>
              <a:t>Unallocated</a:t>
            </a:r>
          </a:p>
        </p:txBody>
      </p:sp>
      <p:sp>
        <p:nvSpPr>
          <p:cNvPr id="3088102" name="Text Box 742">
            <a:extLst>
              <a:ext uri="{FF2B5EF4-FFF2-40B4-BE49-F238E27FC236}">
                <a16:creationId xmlns:a16="http://schemas.microsoft.com/office/drawing/2014/main" id="{6FEB30CE-8385-F89A-A0F9-B55B9602B022}"/>
              </a:ext>
            </a:extLst>
          </p:cNvPr>
          <p:cNvSpPr txBox="1">
            <a:spLocks noChangeArrowheads="1"/>
          </p:cNvSpPr>
          <p:nvPr/>
        </p:nvSpPr>
        <p:spPr bwMode="auto">
          <a:xfrm>
            <a:off x="8026400" y="3790950"/>
            <a:ext cx="8636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000" b="1">
                <a:solidFill>
                  <a:srgbClr val="003580"/>
                </a:solidFill>
                <a:ea typeface="宋体" panose="02010600030101010101" pitchFamily="2" charset="-122"/>
              </a:rPr>
              <a:t>Unallocated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087476"/>
                                        </p:tgtEl>
                                        <p:attrNameLst>
                                          <p:attrName>style.visibility</p:attrName>
                                        </p:attrNameLst>
                                      </p:cBhvr>
                                      <p:to>
                                        <p:strVal val="visible"/>
                                      </p:to>
                                    </p:set>
                                    <p:animEffect transition="in" filter="wipe(up)">
                                      <p:cBhvr>
                                        <p:cTn id="7" dur="2000"/>
                                        <p:tgtEl>
                                          <p:spTgt spid="3087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10BF8F22-00FE-9B02-D118-0CB5652204CB}"/>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D68E79E8-8076-4689-FF14-4F31475EA6E1}"/>
              </a:ext>
            </a:extLst>
          </p:cNvPr>
          <p:cNvSpPr>
            <a:spLocks noGrp="1"/>
          </p:cNvSpPr>
          <p:nvPr>
            <p:ph type="sldNum" sz="quarter" idx="11"/>
          </p:nvPr>
        </p:nvSpPr>
        <p:spPr/>
        <p:txBody>
          <a:bodyPr/>
          <a:lstStyle/>
          <a:p>
            <a:r>
              <a:rPr lang="zh-CN" altLang="en-US"/>
              <a:t> </a:t>
            </a:r>
            <a:r>
              <a:rPr lang="en-US" altLang="zh-CN"/>
              <a:t>- </a:t>
            </a:r>
            <a:fld id="{175CB438-CABA-4CFD-8128-39DD8FD36BE1}" type="slidenum">
              <a:rPr lang="en-US" altLang="zh-CN" sz="800"/>
              <a:pPr/>
              <a:t>78</a:t>
            </a:fld>
            <a:endParaRPr lang="en-US" altLang="zh-CN" sz="800"/>
          </a:p>
        </p:txBody>
      </p:sp>
      <p:sp>
        <p:nvSpPr>
          <p:cNvPr id="3089410" name="Rectangle 2">
            <a:extLst>
              <a:ext uri="{FF2B5EF4-FFF2-40B4-BE49-F238E27FC236}">
                <a16:creationId xmlns:a16="http://schemas.microsoft.com/office/drawing/2014/main" id="{E7A5D2FC-B1F5-094F-1B36-3ED6BCE84A5E}"/>
              </a:ext>
            </a:extLst>
          </p:cNvPr>
          <p:cNvSpPr>
            <a:spLocks noGrp="1" noChangeArrowheads="1"/>
          </p:cNvSpPr>
          <p:nvPr>
            <p:ph type="title"/>
          </p:nvPr>
        </p:nvSpPr>
        <p:spPr/>
        <p:txBody>
          <a:bodyPr/>
          <a:lstStyle/>
          <a:p>
            <a:r>
              <a:rPr lang="en-US" altLang="zh-CN">
                <a:ea typeface="宋体" panose="02010600030101010101" pitchFamily="2" charset="-122"/>
              </a:rPr>
              <a:t>Managing Example: Chargeback Report - Tasks</a:t>
            </a:r>
          </a:p>
        </p:txBody>
      </p:sp>
      <p:sp>
        <p:nvSpPr>
          <p:cNvPr id="3089497" name="Rectangle 89">
            <a:extLst>
              <a:ext uri="{FF2B5EF4-FFF2-40B4-BE49-F238E27FC236}">
                <a16:creationId xmlns:a16="http://schemas.microsoft.com/office/drawing/2014/main" id="{250B7B30-1861-21F7-7807-010336AFCF04}"/>
              </a:ext>
            </a:extLst>
          </p:cNvPr>
          <p:cNvSpPr>
            <a:spLocks noGrp="1" noChangeArrowheads="1"/>
          </p:cNvSpPr>
          <p:nvPr>
            <p:ph type="body" idx="1"/>
          </p:nvPr>
        </p:nvSpPr>
        <p:spPr/>
        <p:txBody>
          <a:bodyPr/>
          <a:lstStyle/>
          <a:p>
            <a:r>
              <a:rPr lang="en-US" altLang="zh-CN">
                <a:ea typeface="宋体" panose="02010600030101010101" pitchFamily="2" charset="-122"/>
              </a:rPr>
              <a:t>Correlate Application </a:t>
            </a:r>
            <a:r>
              <a:rPr lang="en-US" altLang="zh-CN">
                <a:ea typeface="宋体" panose="02010600030101010101" pitchFamily="2" charset="-122"/>
                <a:sym typeface="Wingdings" panose="05000000000000000000" pitchFamily="2" charset="2"/>
              </a:rPr>
              <a:t> File Systems  Logical Volumes  Volume Groups  Host Physical Devices  Array Devices (Production)</a:t>
            </a:r>
          </a:p>
          <a:p>
            <a:r>
              <a:rPr lang="en-US" altLang="zh-CN">
                <a:ea typeface="宋体" panose="02010600030101010101" pitchFamily="2" charset="-122"/>
                <a:sym typeface="Wingdings" panose="05000000000000000000" pitchFamily="2" charset="2"/>
              </a:rPr>
              <a:t>Determine Array Devices used for Local Replication </a:t>
            </a:r>
          </a:p>
          <a:p>
            <a:r>
              <a:rPr lang="en-US" altLang="zh-CN">
                <a:ea typeface="宋体" panose="02010600030101010101" pitchFamily="2" charset="-122"/>
                <a:sym typeface="Wingdings" panose="05000000000000000000" pitchFamily="2" charset="2"/>
              </a:rPr>
              <a:t>Determine Array Devices used for Remote Replication</a:t>
            </a:r>
          </a:p>
          <a:p>
            <a:r>
              <a:rPr lang="en-US" altLang="zh-CN">
                <a:ea typeface="宋体" panose="02010600030101010101" pitchFamily="2" charset="-122"/>
                <a:sym typeface="Wingdings" panose="05000000000000000000" pitchFamily="2" charset="2"/>
              </a:rPr>
              <a:t>Determine storage allocated to application based on the size of the array devices</a:t>
            </a:r>
          </a:p>
          <a:p>
            <a:r>
              <a:rPr lang="en-US" altLang="zh-CN" sz="2400">
                <a:ea typeface="宋体" panose="02010600030101010101" pitchFamily="2" charset="-122"/>
                <a:sym typeface="Wingdings" panose="05000000000000000000" pitchFamily="2" charset="2"/>
              </a:rPr>
              <a:t>Determine RAID type for Production/Local Replica/Remote Replica devices</a:t>
            </a:r>
          </a:p>
          <a:p>
            <a:r>
              <a:rPr lang="en-US" altLang="zh-CN" sz="2400">
                <a:ea typeface="宋体" panose="02010600030101010101" pitchFamily="2" charset="-122"/>
                <a:sym typeface="Wingdings" panose="05000000000000000000" pitchFamily="2" charset="2"/>
              </a:rPr>
              <a:t>Determine the total raw space allocated to application for production/local replication/remote replication</a:t>
            </a:r>
            <a:endParaRPr lang="en-US" altLang="zh-CN">
              <a:ea typeface="宋体" panose="02010600030101010101" pitchFamily="2" charset="-12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8EB3597-49F9-F7C0-86B1-82115A81B654}"/>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C3191B5D-8849-AC65-0131-61EA52E8A9A7}"/>
              </a:ext>
            </a:extLst>
          </p:cNvPr>
          <p:cNvSpPr>
            <a:spLocks noGrp="1"/>
          </p:cNvSpPr>
          <p:nvPr>
            <p:ph type="sldNum" sz="quarter" idx="11"/>
          </p:nvPr>
        </p:nvSpPr>
        <p:spPr/>
        <p:txBody>
          <a:bodyPr/>
          <a:lstStyle/>
          <a:p>
            <a:r>
              <a:rPr lang="zh-CN" altLang="en-US"/>
              <a:t> </a:t>
            </a:r>
            <a:r>
              <a:rPr lang="en-US" altLang="zh-CN"/>
              <a:t>- </a:t>
            </a:r>
            <a:fld id="{69315FDE-CA4D-4DC8-B730-149A9948E0D1}" type="slidenum">
              <a:rPr lang="en-US" altLang="zh-CN" sz="800"/>
              <a:pPr/>
              <a:t>79</a:t>
            </a:fld>
            <a:endParaRPr lang="en-US" altLang="zh-CN" sz="800"/>
          </a:p>
        </p:txBody>
      </p:sp>
      <p:sp>
        <p:nvSpPr>
          <p:cNvPr id="3091458" name="Rectangle 2">
            <a:extLst>
              <a:ext uri="{FF2B5EF4-FFF2-40B4-BE49-F238E27FC236}">
                <a16:creationId xmlns:a16="http://schemas.microsoft.com/office/drawing/2014/main" id="{47FEC968-5CE5-B655-210B-BD37A41DAB49}"/>
              </a:ext>
            </a:extLst>
          </p:cNvPr>
          <p:cNvSpPr>
            <a:spLocks noGrp="1" noChangeArrowheads="1"/>
          </p:cNvSpPr>
          <p:nvPr>
            <p:ph type="title"/>
          </p:nvPr>
        </p:nvSpPr>
        <p:spPr/>
        <p:txBody>
          <a:bodyPr/>
          <a:lstStyle/>
          <a:p>
            <a:r>
              <a:rPr lang="en-US" altLang="zh-CN">
                <a:ea typeface="宋体" panose="02010600030101010101" pitchFamily="2" charset="-122"/>
              </a:rPr>
              <a:t>Chargeback Report – Tasks, </a:t>
            </a:r>
            <a:r>
              <a:rPr lang="en-US" altLang="zh-CN" sz="2400">
                <a:ea typeface="宋体" panose="02010600030101010101" pitchFamily="2" charset="-122"/>
              </a:rPr>
              <a:t>continued</a:t>
            </a:r>
          </a:p>
        </p:txBody>
      </p:sp>
      <p:sp>
        <p:nvSpPr>
          <p:cNvPr id="3091461" name="Rectangle 5">
            <a:extLst>
              <a:ext uri="{FF2B5EF4-FFF2-40B4-BE49-F238E27FC236}">
                <a16:creationId xmlns:a16="http://schemas.microsoft.com/office/drawing/2014/main" id="{3F892981-0CF7-AC07-91F1-8AFD4F7744DF}"/>
              </a:ext>
            </a:extLst>
          </p:cNvPr>
          <p:cNvSpPr>
            <a:spLocks noGrp="1" noChangeArrowheads="1"/>
          </p:cNvSpPr>
          <p:nvPr>
            <p:ph type="body" idx="1"/>
          </p:nvPr>
        </p:nvSpPr>
        <p:spPr/>
        <p:txBody>
          <a:bodyPr/>
          <a:lstStyle/>
          <a:p>
            <a:pPr>
              <a:lnSpc>
                <a:spcPct val="90000"/>
              </a:lnSpc>
            </a:pPr>
            <a:r>
              <a:rPr lang="en-US" altLang="zh-CN">
                <a:ea typeface="宋体" panose="02010600030101010101" pitchFamily="2" charset="-122"/>
                <a:sym typeface="Wingdings" panose="05000000000000000000" pitchFamily="2" charset="2"/>
              </a:rPr>
              <a:t>Compute the chargeback amount based of price/raw GB of storage</a:t>
            </a:r>
          </a:p>
          <a:p>
            <a:pPr>
              <a:lnSpc>
                <a:spcPct val="90000"/>
              </a:lnSpc>
            </a:pPr>
            <a:r>
              <a:rPr lang="en-US" altLang="zh-CN">
                <a:ea typeface="宋体" panose="02010600030101010101" pitchFamily="2" charset="-122"/>
                <a:sym typeface="Wingdings" panose="05000000000000000000" pitchFamily="2" charset="2"/>
              </a:rPr>
              <a:t>Repeat steps for each application and create report</a:t>
            </a:r>
          </a:p>
          <a:p>
            <a:pPr>
              <a:lnSpc>
                <a:spcPct val="90000"/>
              </a:lnSpc>
            </a:pPr>
            <a:r>
              <a:rPr lang="en-US" altLang="zh-CN">
                <a:ea typeface="宋体" panose="02010600030101010101" pitchFamily="2" charset="-122"/>
              </a:rPr>
              <a:t>Example:</a:t>
            </a:r>
          </a:p>
          <a:p>
            <a:pPr lvl="1">
              <a:lnSpc>
                <a:spcPct val="90000"/>
              </a:lnSpc>
            </a:pPr>
            <a:r>
              <a:rPr lang="en-US" altLang="zh-CN">
                <a:ea typeface="宋体" panose="02010600030101010101" pitchFamily="2" charset="-122"/>
              </a:rPr>
              <a:t>Allocated Storage (2 Source Vols) = 2*50GB = 100 GB</a:t>
            </a:r>
          </a:p>
          <a:p>
            <a:pPr lvl="1">
              <a:lnSpc>
                <a:spcPct val="90000"/>
              </a:lnSpc>
            </a:pPr>
            <a:r>
              <a:rPr lang="en-US" altLang="zh-CN">
                <a:ea typeface="宋体" panose="02010600030101010101" pitchFamily="2" charset="-122"/>
              </a:rPr>
              <a:t>For Local Replica = 100 GB</a:t>
            </a:r>
          </a:p>
          <a:p>
            <a:pPr lvl="1">
              <a:lnSpc>
                <a:spcPct val="90000"/>
              </a:lnSpc>
            </a:pPr>
            <a:r>
              <a:rPr lang="en-US" altLang="zh-CN">
                <a:ea typeface="宋体" panose="02010600030101010101" pitchFamily="2" charset="-122"/>
              </a:rPr>
              <a:t>For Remote Replica = 100 GB</a:t>
            </a:r>
          </a:p>
          <a:p>
            <a:pPr lvl="1">
              <a:lnSpc>
                <a:spcPct val="90000"/>
              </a:lnSpc>
            </a:pPr>
            <a:r>
              <a:rPr lang="en-US" altLang="zh-CN">
                <a:ea typeface="宋体" panose="02010600030101010101" pitchFamily="2" charset="-122"/>
              </a:rPr>
              <a:t>Production Volume Raw capacity (RAID 1) = 200 (100 *2) GB</a:t>
            </a:r>
          </a:p>
          <a:p>
            <a:pPr lvl="1">
              <a:lnSpc>
                <a:spcPct val="90000"/>
              </a:lnSpc>
            </a:pPr>
            <a:r>
              <a:rPr lang="en-US" altLang="zh-CN">
                <a:ea typeface="宋体" panose="02010600030101010101" pitchFamily="2" charset="-122"/>
              </a:rPr>
              <a:t>Local Replica Raw Capacity (un-protected) = 100 GB </a:t>
            </a:r>
          </a:p>
          <a:p>
            <a:pPr lvl="1">
              <a:lnSpc>
                <a:spcPct val="90000"/>
              </a:lnSpc>
            </a:pPr>
            <a:r>
              <a:rPr lang="en-US" altLang="zh-CN">
                <a:ea typeface="宋体" panose="02010600030101010101" pitchFamily="2" charset="-122"/>
              </a:rPr>
              <a:t>Remote Replica Raw capacity (RAID 5) = 125 GB (4+1 RAID 5)</a:t>
            </a:r>
          </a:p>
          <a:p>
            <a:pPr lvl="1">
              <a:lnSpc>
                <a:spcPct val="90000"/>
              </a:lnSpc>
            </a:pPr>
            <a:r>
              <a:rPr lang="en-US" altLang="zh-CN">
                <a:ea typeface="宋体" panose="02010600030101010101" pitchFamily="2" charset="-122"/>
              </a:rPr>
              <a:t>Total Raw capacity used by the applications = 425 GB</a:t>
            </a:r>
          </a:p>
          <a:p>
            <a:pPr lvl="1">
              <a:lnSpc>
                <a:spcPct val="90000"/>
              </a:lnSpc>
            </a:pPr>
            <a:r>
              <a:rPr lang="en-US" altLang="zh-CN">
                <a:ea typeface="宋体" panose="02010600030101010101" pitchFamily="2" charset="-122"/>
              </a:rPr>
              <a:t>Chargeback cost = 425 * $0.25 = $106.25</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860DD59-60A4-5BA0-1118-6C6B7B94CE2A}"/>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B875D938-DE7A-39ED-E4F1-5294F09F2BDC}"/>
              </a:ext>
            </a:extLst>
          </p:cNvPr>
          <p:cNvSpPr>
            <a:spLocks noGrp="1"/>
          </p:cNvSpPr>
          <p:nvPr>
            <p:ph type="sldNum" sz="quarter" idx="11"/>
          </p:nvPr>
        </p:nvSpPr>
        <p:spPr/>
        <p:txBody>
          <a:bodyPr/>
          <a:lstStyle/>
          <a:p>
            <a:r>
              <a:rPr lang="zh-CN" altLang="en-US"/>
              <a:t> </a:t>
            </a:r>
            <a:r>
              <a:rPr lang="en-US" altLang="zh-CN"/>
              <a:t>- </a:t>
            </a:r>
            <a:fld id="{81F51CA4-F5E2-422D-A361-57F2C04493FB}" type="slidenum">
              <a:rPr lang="en-US" altLang="zh-CN" sz="800"/>
              <a:pPr/>
              <a:t>80</a:t>
            </a:fld>
            <a:endParaRPr lang="en-US" altLang="zh-CN" sz="800"/>
          </a:p>
        </p:txBody>
      </p:sp>
      <p:sp>
        <p:nvSpPr>
          <p:cNvPr id="3096578" name="Rectangle 2">
            <a:extLst>
              <a:ext uri="{FF2B5EF4-FFF2-40B4-BE49-F238E27FC236}">
                <a16:creationId xmlns:a16="http://schemas.microsoft.com/office/drawing/2014/main" id="{09D2756D-4F5F-FC88-E1F3-F49DE96E5B76}"/>
              </a:ext>
            </a:extLst>
          </p:cNvPr>
          <p:cNvSpPr>
            <a:spLocks noGrp="1" noChangeArrowheads="1"/>
          </p:cNvSpPr>
          <p:nvPr>
            <p:ph type="title"/>
          </p:nvPr>
        </p:nvSpPr>
        <p:spPr/>
        <p:txBody>
          <a:bodyPr/>
          <a:lstStyle/>
          <a:p>
            <a:r>
              <a:rPr lang="en-US" altLang="zh-CN">
                <a:ea typeface="宋体" panose="02010600030101010101" pitchFamily="2" charset="-122"/>
              </a:rPr>
              <a:t>Storage Infrastructure Management Challenges</a:t>
            </a:r>
          </a:p>
        </p:txBody>
      </p:sp>
      <p:sp>
        <p:nvSpPr>
          <p:cNvPr id="3096611" name="Text Box 35">
            <a:extLst>
              <a:ext uri="{FF2B5EF4-FFF2-40B4-BE49-F238E27FC236}">
                <a16:creationId xmlns:a16="http://schemas.microsoft.com/office/drawing/2014/main" id="{975B0587-2763-EB74-4A32-5614CB8CBD07}"/>
              </a:ext>
            </a:extLst>
          </p:cNvPr>
          <p:cNvSpPr txBox="1">
            <a:spLocks noChangeArrowheads="1"/>
          </p:cNvSpPr>
          <p:nvPr/>
        </p:nvSpPr>
        <p:spPr bwMode="auto">
          <a:xfrm>
            <a:off x="354013" y="6159500"/>
            <a:ext cx="928687" cy="428625"/>
          </a:xfrm>
          <a:prstGeom prst="rect">
            <a:avLst/>
          </a:prstGeom>
          <a:solidFill>
            <a:srgbClr val="A5A5A5"/>
          </a:solidFill>
          <a:ln>
            <a:noFill/>
          </a:ln>
          <a:effectLst>
            <a:prstShdw prst="shdw17" dist="17961" dir="2700000">
              <a:srgbClr val="A5A5A5">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Oracle</a:t>
            </a:r>
          </a:p>
        </p:txBody>
      </p:sp>
      <p:sp>
        <p:nvSpPr>
          <p:cNvPr id="3096612" name="Text Box 36">
            <a:extLst>
              <a:ext uri="{FF2B5EF4-FFF2-40B4-BE49-F238E27FC236}">
                <a16:creationId xmlns:a16="http://schemas.microsoft.com/office/drawing/2014/main" id="{77150B09-1917-061D-ED2D-9694A7073D8B}"/>
              </a:ext>
            </a:extLst>
          </p:cNvPr>
          <p:cNvSpPr txBox="1">
            <a:spLocks noChangeArrowheads="1"/>
          </p:cNvSpPr>
          <p:nvPr/>
        </p:nvSpPr>
        <p:spPr bwMode="auto">
          <a:xfrm>
            <a:off x="1697038" y="6167438"/>
            <a:ext cx="1320800" cy="428625"/>
          </a:xfrm>
          <a:prstGeom prst="rect">
            <a:avLst/>
          </a:prstGeom>
          <a:solidFill>
            <a:srgbClr val="A5A5A5"/>
          </a:solidFill>
          <a:ln>
            <a:noFill/>
          </a:ln>
          <a:effectLst>
            <a:prstShdw prst="shdw17" dist="17961" dir="2700000">
              <a:srgbClr val="A5A5A5">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Informix</a:t>
            </a:r>
          </a:p>
        </p:txBody>
      </p:sp>
      <p:sp>
        <p:nvSpPr>
          <p:cNvPr id="3096613" name="Text Box 37">
            <a:extLst>
              <a:ext uri="{FF2B5EF4-FFF2-40B4-BE49-F238E27FC236}">
                <a16:creationId xmlns:a16="http://schemas.microsoft.com/office/drawing/2014/main" id="{598CA157-E82C-0DDC-3EE1-B2C1C1C10CAA}"/>
              </a:ext>
            </a:extLst>
          </p:cNvPr>
          <p:cNvSpPr txBox="1">
            <a:spLocks noChangeArrowheads="1"/>
          </p:cNvSpPr>
          <p:nvPr/>
        </p:nvSpPr>
        <p:spPr bwMode="auto">
          <a:xfrm>
            <a:off x="3321050" y="6180138"/>
            <a:ext cx="1422400" cy="428625"/>
          </a:xfrm>
          <a:prstGeom prst="rect">
            <a:avLst/>
          </a:prstGeom>
          <a:solidFill>
            <a:srgbClr val="A5A5A5"/>
          </a:solidFill>
          <a:ln>
            <a:noFill/>
          </a:ln>
          <a:effectLst>
            <a:prstShdw prst="shdw17" dist="17961" dir="2700000">
              <a:srgbClr val="A5A5A5">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MS SQL</a:t>
            </a:r>
          </a:p>
        </p:txBody>
      </p:sp>
      <p:sp>
        <p:nvSpPr>
          <p:cNvPr id="3096614" name="Text Box 38">
            <a:extLst>
              <a:ext uri="{FF2B5EF4-FFF2-40B4-BE49-F238E27FC236}">
                <a16:creationId xmlns:a16="http://schemas.microsoft.com/office/drawing/2014/main" id="{8843E4EC-3B03-B181-004A-9C209A4A342D}"/>
              </a:ext>
            </a:extLst>
          </p:cNvPr>
          <p:cNvSpPr txBox="1">
            <a:spLocks noChangeArrowheads="1"/>
          </p:cNvSpPr>
          <p:nvPr/>
        </p:nvSpPr>
        <p:spPr bwMode="auto">
          <a:xfrm>
            <a:off x="6384925" y="5600700"/>
            <a:ext cx="1247775" cy="428625"/>
          </a:xfrm>
          <a:prstGeom prst="rect">
            <a:avLst/>
          </a:prstGeom>
          <a:solidFill>
            <a:srgbClr val="AA9B52"/>
          </a:solidFill>
          <a:ln>
            <a:noFill/>
          </a:ln>
          <a:effectLst>
            <a:prstShdw prst="shdw17" dist="17961" dir="2700000">
              <a:srgbClr val="AA9B52">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Brocade</a:t>
            </a:r>
          </a:p>
        </p:txBody>
      </p:sp>
      <p:sp>
        <p:nvSpPr>
          <p:cNvPr id="3096616" name="Text Box 40">
            <a:extLst>
              <a:ext uri="{FF2B5EF4-FFF2-40B4-BE49-F238E27FC236}">
                <a16:creationId xmlns:a16="http://schemas.microsoft.com/office/drawing/2014/main" id="{E83DFB82-A209-1A57-ADD2-24E0F4EE52D6}"/>
              </a:ext>
            </a:extLst>
          </p:cNvPr>
          <p:cNvSpPr txBox="1">
            <a:spLocks noChangeArrowheads="1"/>
          </p:cNvSpPr>
          <p:nvPr/>
        </p:nvSpPr>
        <p:spPr bwMode="auto">
          <a:xfrm>
            <a:off x="7813675" y="4206875"/>
            <a:ext cx="1103313" cy="428625"/>
          </a:xfrm>
          <a:prstGeom prst="rect">
            <a:avLst/>
          </a:prstGeom>
          <a:solidFill>
            <a:srgbClr val="AA9B52"/>
          </a:solidFill>
          <a:ln>
            <a:noFill/>
          </a:ln>
          <a:effectLst>
            <a:prstShdw prst="shdw17" dist="17961" dir="2700000">
              <a:srgbClr val="AA9B52">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Cisco</a:t>
            </a:r>
          </a:p>
        </p:txBody>
      </p:sp>
      <p:sp>
        <p:nvSpPr>
          <p:cNvPr id="3096617" name="Text Box 41">
            <a:extLst>
              <a:ext uri="{FF2B5EF4-FFF2-40B4-BE49-F238E27FC236}">
                <a16:creationId xmlns:a16="http://schemas.microsoft.com/office/drawing/2014/main" id="{F9E1FE4F-43D3-81DC-7E1E-1411337E46E3}"/>
              </a:ext>
            </a:extLst>
          </p:cNvPr>
          <p:cNvSpPr txBox="1">
            <a:spLocks noChangeArrowheads="1"/>
          </p:cNvSpPr>
          <p:nvPr/>
        </p:nvSpPr>
        <p:spPr bwMode="auto">
          <a:xfrm>
            <a:off x="217488" y="3194050"/>
            <a:ext cx="928687" cy="428625"/>
          </a:xfrm>
          <a:prstGeom prst="rect">
            <a:avLst/>
          </a:prstGeom>
          <a:solidFill>
            <a:srgbClr val="A1A1C1"/>
          </a:solidFill>
          <a:ln>
            <a:noFill/>
          </a:ln>
          <a:effectLst>
            <a:prstShdw prst="shdw17" dist="17961" dir="2700000">
              <a:srgbClr val="A1A1C1">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SUN</a:t>
            </a:r>
          </a:p>
        </p:txBody>
      </p:sp>
      <p:sp>
        <p:nvSpPr>
          <p:cNvPr id="3096618" name="Text Box 42">
            <a:extLst>
              <a:ext uri="{FF2B5EF4-FFF2-40B4-BE49-F238E27FC236}">
                <a16:creationId xmlns:a16="http://schemas.microsoft.com/office/drawing/2014/main" id="{7D3961FC-6B94-F9D1-6E00-1419BD179162}"/>
              </a:ext>
            </a:extLst>
          </p:cNvPr>
          <p:cNvSpPr txBox="1">
            <a:spLocks noChangeArrowheads="1"/>
          </p:cNvSpPr>
          <p:nvPr/>
        </p:nvSpPr>
        <p:spPr bwMode="auto">
          <a:xfrm>
            <a:off x="1338263" y="2655888"/>
            <a:ext cx="928687" cy="428625"/>
          </a:xfrm>
          <a:prstGeom prst="rect">
            <a:avLst/>
          </a:prstGeom>
          <a:solidFill>
            <a:srgbClr val="A1A1C1"/>
          </a:solidFill>
          <a:ln>
            <a:noFill/>
          </a:ln>
          <a:effectLst>
            <a:prstShdw prst="shdw17" dist="17961" dir="2700000">
              <a:srgbClr val="A1A1C1">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IBM</a:t>
            </a:r>
          </a:p>
        </p:txBody>
      </p:sp>
      <p:sp>
        <p:nvSpPr>
          <p:cNvPr id="3096619" name="Text Box 43">
            <a:extLst>
              <a:ext uri="{FF2B5EF4-FFF2-40B4-BE49-F238E27FC236}">
                <a16:creationId xmlns:a16="http://schemas.microsoft.com/office/drawing/2014/main" id="{050C7C9A-BCB6-35EC-D15D-E742A47370FF}"/>
              </a:ext>
            </a:extLst>
          </p:cNvPr>
          <p:cNvSpPr txBox="1">
            <a:spLocks noChangeArrowheads="1"/>
          </p:cNvSpPr>
          <p:nvPr/>
        </p:nvSpPr>
        <p:spPr bwMode="auto">
          <a:xfrm>
            <a:off x="398463" y="2073275"/>
            <a:ext cx="928687" cy="428625"/>
          </a:xfrm>
          <a:prstGeom prst="rect">
            <a:avLst/>
          </a:prstGeom>
          <a:solidFill>
            <a:srgbClr val="A1A1C1"/>
          </a:solidFill>
          <a:ln>
            <a:noFill/>
          </a:ln>
          <a:effectLst>
            <a:prstShdw prst="shdw17" dist="17961" dir="2700000">
              <a:srgbClr val="A1A1C1">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HP</a:t>
            </a:r>
          </a:p>
        </p:txBody>
      </p:sp>
      <p:sp>
        <p:nvSpPr>
          <p:cNvPr id="3096755" name="Text Box 179">
            <a:extLst>
              <a:ext uri="{FF2B5EF4-FFF2-40B4-BE49-F238E27FC236}">
                <a16:creationId xmlns:a16="http://schemas.microsoft.com/office/drawing/2014/main" id="{C10A0895-A43C-BFD1-FA7C-67BB56CFDFDD}"/>
              </a:ext>
            </a:extLst>
          </p:cNvPr>
          <p:cNvSpPr txBox="1">
            <a:spLocks noChangeArrowheads="1"/>
          </p:cNvSpPr>
          <p:nvPr/>
        </p:nvSpPr>
        <p:spPr bwMode="auto">
          <a:xfrm>
            <a:off x="6691313" y="2800350"/>
            <a:ext cx="1103312" cy="428625"/>
          </a:xfrm>
          <a:prstGeom prst="rect">
            <a:avLst/>
          </a:prstGeom>
          <a:solidFill>
            <a:srgbClr val="6B9B94"/>
          </a:solidFill>
          <a:ln>
            <a:noFill/>
          </a:ln>
          <a:effectLst>
            <a:prstShdw prst="shdw17" dist="17961" dir="2700000">
              <a:srgbClr val="6B9B94">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NetApp</a:t>
            </a:r>
          </a:p>
        </p:txBody>
      </p:sp>
      <p:sp>
        <p:nvSpPr>
          <p:cNvPr id="3096756" name="Text Box 180">
            <a:extLst>
              <a:ext uri="{FF2B5EF4-FFF2-40B4-BE49-F238E27FC236}">
                <a16:creationId xmlns:a16="http://schemas.microsoft.com/office/drawing/2014/main" id="{70D13CC8-D0F8-DE78-EAA5-D2A9EA47E78B}"/>
              </a:ext>
            </a:extLst>
          </p:cNvPr>
          <p:cNvSpPr txBox="1">
            <a:spLocks noChangeArrowheads="1"/>
          </p:cNvSpPr>
          <p:nvPr/>
        </p:nvSpPr>
        <p:spPr bwMode="auto">
          <a:xfrm>
            <a:off x="6684963" y="1558925"/>
            <a:ext cx="1103312" cy="428625"/>
          </a:xfrm>
          <a:prstGeom prst="rect">
            <a:avLst/>
          </a:prstGeom>
          <a:solidFill>
            <a:srgbClr val="7BA7A1"/>
          </a:solidFill>
          <a:ln>
            <a:noFill/>
          </a:ln>
          <a:effectLst>
            <a:prstShdw prst="shdw17" dist="17961" dir="2700000">
              <a:srgbClr val="7BA7A1">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EMC</a:t>
            </a:r>
          </a:p>
        </p:txBody>
      </p:sp>
      <p:sp>
        <p:nvSpPr>
          <p:cNvPr id="3096757" name="Text Box 181">
            <a:extLst>
              <a:ext uri="{FF2B5EF4-FFF2-40B4-BE49-F238E27FC236}">
                <a16:creationId xmlns:a16="http://schemas.microsoft.com/office/drawing/2014/main" id="{40A8DF27-D374-21C5-3EEE-02228CBD327F}"/>
              </a:ext>
            </a:extLst>
          </p:cNvPr>
          <p:cNvSpPr txBox="1">
            <a:spLocks noChangeArrowheads="1"/>
          </p:cNvSpPr>
          <p:nvPr/>
        </p:nvSpPr>
        <p:spPr bwMode="auto">
          <a:xfrm>
            <a:off x="904875" y="1357313"/>
            <a:ext cx="1103313" cy="428625"/>
          </a:xfrm>
          <a:prstGeom prst="rect">
            <a:avLst/>
          </a:prstGeom>
          <a:solidFill>
            <a:srgbClr val="6B9B94"/>
          </a:solidFill>
          <a:ln>
            <a:noFill/>
          </a:ln>
          <a:effectLst>
            <a:prstShdw prst="shdw17" dist="17961" dir="2700000">
              <a:srgbClr val="6B9B94">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Hitachi</a:t>
            </a:r>
          </a:p>
        </p:txBody>
      </p:sp>
      <p:grpSp>
        <p:nvGrpSpPr>
          <p:cNvPr id="3096760" name="Group 184">
            <a:extLst>
              <a:ext uri="{FF2B5EF4-FFF2-40B4-BE49-F238E27FC236}">
                <a16:creationId xmlns:a16="http://schemas.microsoft.com/office/drawing/2014/main" id="{F72472B0-FE91-295D-3833-5BE5A8BB91A6}"/>
              </a:ext>
            </a:extLst>
          </p:cNvPr>
          <p:cNvGrpSpPr>
            <a:grpSpLocks/>
          </p:cNvGrpSpPr>
          <p:nvPr/>
        </p:nvGrpSpPr>
        <p:grpSpPr bwMode="auto">
          <a:xfrm>
            <a:off x="1001713" y="3656013"/>
            <a:ext cx="3697287" cy="2336800"/>
            <a:chOff x="631" y="2303"/>
            <a:chExt cx="2329" cy="1472"/>
          </a:xfrm>
        </p:grpSpPr>
        <p:sp>
          <p:nvSpPr>
            <p:cNvPr id="3096581" name="Text Box 5">
              <a:extLst>
                <a:ext uri="{FF2B5EF4-FFF2-40B4-BE49-F238E27FC236}">
                  <a16:creationId xmlns:a16="http://schemas.microsoft.com/office/drawing/2014/main" id="{826D130A-B433-A152-F9E8-6EE9DF6E72C7}"/>
                </a:ext>
              </a:extLst>
            </p:cNvPr>
            <p:cNvSpPr txBox="1">
              <a:spLocks noChangeArrowheads="1"/>
            </p:cNvSpPr>
            <p:nvPr/>
          </p:nvSpPr>
          <p:spPr bwMode="auto">
            <a:xfrm>
              <a:off x="1955" y="3505"/>
              <a:ext cx="1005" cy="270"/>
            </a:xfrm>
            <a:prstGeom prst="rect">
              <a:avLst/>
            </a:prstGeom>
            <a:solidFill>
              <a:srgbClr val="DDDDDD"/>
            </a:solidFill>
            <a:ln>
              <a:noFill/>
            </a:ln>
            <a:effectLst>
              <a:prstShdw prst="shdw17" dist="17961" dir="2700000">
                <a:srgbClr val="DDDDDD">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Applications</a:t>
              </a:r>
            </a:p>
          </p:txBody>
        </p:sp>
        <p:sp>
          <p:nvSpPr>
            <p:cNvPr id="3096582" name="Text Box 6">
              <a:extLst>
                <a:ext uri="{FF2B5EF4-FFF2-40B4-BE49-F238E27FC236}">
                  <a16:creationId xmlns:a16="http://schemas.microsoft.com/office/drawing/2014/main" id="{9E4840CD-FB01-4D64-FB32-8396B68FB36A}"/>
                </a:ext>
              </a:extLst>
            </p:cNvPr>
            <p:cNvSpPr txBox="1">
              <a:spLocks noChangeArrowheads="1"/>
            </p:cNvSpPr>
            <p:nvPr/>
          </p:nvSpPr>
          <p:spPr bwMode="auto">
            <a:xfrm>
              <a:off x="631" y="3499"/>
              <a:ext cx="1005" cy="270"/>
            </a:xfrm>
            <a:prstGeom prst="rect">
              <a:avLst/>
            </a:prstGeom>
            <a:solidFill>
              <a:srgbClr val="DDDDDD"/>
            </a:solidFill>
            <a:ln>
              <a:noFill/>
            </a:ln>
            <a:effectLst>
              <a:prstShdw prst="shdw17" dist="17961" dir="2700000">
                <a:srgbClr val="DDDDDD">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Databases</a:t>
              </a:r>
            </a:p>
          </p:txBody>
        </p:sp>
        <p:grpSp>
          <p:nvGrpSpPr>
            <p:cNvPr id="3096759" name="Group 183">
              <a:extLst>
                <a:ext uri="{FF2B5EF4-FFF2-40B4-BE49-F238E27FC236}">
                  <a16:creationId xmlns:a16="http://schemas.microsoft.com/office/drawing/2014/main" id="{AC51D636-BC02-F99A-92F3-63EBC81030BF}"/>
                </a:ext>
              </a:extLst>
            </p:cNvPr>
            <p:cNvGrpSpPr>
              <a:grpSpLocks/>
            </p:cNvGrpSpPr>
            <p:nvPr/>
          </p:nvGrpSpPr>
          <p:grpSpPr bwMode="auto">
            <a:xfrm>
              <a:off x="704" y="2303"/>
              <a:ext cx="2222" cy="1115"/>
              <a:chOff x="704" y="2303"/>
              <a:chExt cx="2222" cy="1115"/>
            </a:xfrm>
          </p:grpSpPr>
          <p:sp>
            <p:nvSpPr>
              <p:cNvPr id="3096580" name="AutoShape 4">
                <a:extLst>
                  <a:ext uri="{FF2B5EF4-FFF2-40B4-BE49-F238E27FC236}">
                    <a16:creationId xmlns:a16="http://schemas.microsoft.com/office/drawing/2014/main" id="{EC213ED5-97F9-7014-BB51-C577C2811B3E}"/>
                  </a:ext>
                </a:extLst>
              </p:cNvPr>
              <p:cNvSpPr>
                <a:spLocks noChangeArrowheads="1"/>
              </p:cNvSpPr>
              <p:nvPr/>
            </p:nvSpPr>
            <p:spPr bwMode="auto">
              <a:xfrm>
                <a:off x="704" y="2303"/>
                <a:ext cx="2222" cy="1115"/>
              </a:xfrm>
              <a:prstGeom prst="roundRect">
                <a:avLst>
                  <a:gd name="adj" fmla="val 16667"/>
                </a:avLst>
              </a:prstGeom>
              <a:solidFill>
                <a:srgbClr val="DDE3F7"/>
              </a:solidFill>
              <a:ln w="3175" algn="ctr">
                <a:solidFill>
                  <a:srgbClr val="001636"/>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sz="1400">
                  <a:solidFill>
                    <a:srgbClr val="003580"/>
                  </a:solidFill>
                  <a:ea typeface="宋体" panose="02010600030101010101" pitchFamily="2" charset="-122"/>
                </a:endParaRPr>
              </a:p>
            </p:txBody>
          </p:sp>
          <p:sp>
            <p:nvSpPr>
              <p:cNvPr id="3096584" name="Text Box 8">
                <a:extLst>
                  <a:ext uri="{FF2B5EF4-FFF2-40B4-BE49-F238E27FC236}">
                    <a16:creationId xmlns:a16="http://schemas.microsoft.com/office/drawing/2014/main" id="{736401C3-160B-ED0B-D76C-C23C6B5B696A}"/>
                  </a:ext>
                </a:extLst>
              </p:cNvPr>
              <p:cNvSpPr txBox="1">
                <a:spLocks noChangeArrowheads="1"/>
              </p:cNvSpPr>
              <p:nvPr/>
            </p:nvSpPr>
            <p:spPr bwMode="auto">
              <a:xfrm>
                <a:off x="1131" y="2895"/>
                <a:ext cx="502" cy="270"/>
              </a:xfrm>
              <a:prstGeom prst="rect">
                <a:avLst/>
              </a:prstGeom>
              <a:solidFill>
                <a:srgbClr val="F5F7FD"/>
              </a:solidFill>
              <a:ln>
                <a:noFill/>
              </a:ln>
              <a:effectLst>
                <a:prstShdw prst="shdw17" dist="17961" dir="2700000">
                  <a:srgbClr val="F5F7FD">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UNIX</a:t>
                </a:r>
              </a:p>
            </p:txBody>
          </p:sp>
          <p:sp>
            <p:nvSpPr>
              <p:cNvPr id="3096585" name="Text Box 9">
                <a:extLst>
                  <a:ext uri="{FF2B5EF4-FFF2-40B4-BE49-F238E27FC236}">
                    <a16:creationId xmlns:a16="http://schemas.microsoft.com/office/drawing/2014/main" id="{1859C797-8CD5-733D-84F4-73E3608E8273}"/>
                  </a:ext>
                </a:extLst>
              </p:cNvPr>
              <p:cNvSpPr txBox="1">
                <a:spLocks noChangeArrowheads="1"/>
              </p:cNvSpPr>
              <p:nvPr/>
            </p:nvSpPr>
            <p:spPr bwMode="auto">
              <a:xfrm>
                <a:off x="1719" y="3039"/>
                <a:ext cx="502" cy="270"/>
              </a:xfrm>
              <a:prstGeom prst="rect">
                <a:avLst/>
              </a:prstGeom>
              <a:solidFill>
                <a:srgbClr val="F2F4FC"/>
              </a:solidFill>
              <a:ln>
                <a:noFill/>
              </a:ln>
              <a:effectLst>
                <a:prstShdw prst="shdw17" dist="17961" dir="2700000">
                  <a:srgbClr val="F2F4FC">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WIN</a:t>
                </a:r>
              </a:p>
            </p:txBody>
          </p:sp>
          <p:sp>
            <p:nvSpPr>
              <p:cNvPr id="3096586" name="Text Box 10">
                <a:extLst>
                  <a:ext uri="{FF2B5EF4-FFF2-40B4-BE49-F238E27FC236}">
                    <a16:creationId xmlns:a16="http://schemas.microsoft.com/office/drawing/2014/main" id="{E3B9D8C4-A7FC-B077-EEC2-66271008F99D}"/>
                  </a:ext>
                </a:extLst>
              </p:cNvPr>
              <p:cNvSpPr txBox="1">
                <a:spLocks noChangeArrowheads="1"/>
              </p:cNvSpPr>
              <p:nvPr/>
            </p:nvSpPr>
            <p:spPr bwMode="auto">
              <a:xfrm>
                <a:off x="1573" y="2383"/>
                <a:ext cx="66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Servers</a:t>
                </a:r>
              </a:p>
            </p:txBody>
          </p:sp>
          <p:sp>
            <p:nvSpPr>
              <p:cNvPr id="3096587" name="Text Box 11">
                <a:extLst>
                  <a:ext uri="{FF2B5EF4-FFF2-40B4-BE49-F238E27FC236}">
                    <a16:creationId xmlns:a16="http://schemas.microsoft.com/office/drawing/2014/main" id="{A9454D75-BEF6-458E-286F-2469526CA80B}"/>
                  </a:ext>
                </a:extLst>
              </p:cNvPr>
              <p:cNvSpPr txBox="1">
                <a:spLocks noChangeArrowheads="1"/>
              </p:cNvSpPr>
              <p:nvPr/>
            </p:nvSpPr>
            <p:spPr bwMode="auto">
              <a:xfrm>
                <a:off x="2270" y="2806"/>
                <a:ext cx="502" cy="270"/>
              </a:xfrm>
              <a:prstGeom prst="rect">
                <a:avLst/>
              </a:prstGeom>
              <a:solidFill>
                <a:srgbClr val="F2F4FC"/>
              </a:solidFill>
              <a:ln>
                <a:noFill/>
              </a:ln>
              <a:effectLst>
                <a:prstShdw prst="shdw17" dist="17961" dir="2700000">
                  <a:srgbClr val="F2F4FC">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MF</a:t>
                </a:r>
              </a:p>
            </p:txBody>
          </p:sp>
          <p:pic>
            <p:nvPicPr>
              <p:cNvPr id="3096758" name="Picture 182">
                <a:extLst>
                  <a:ext uri="{FF2B5EF4-FFF2-40B4-BE49-F238E27FC236}">
                    <a16:creationId xmlns:a16="http://schemas.microsoft.com/office/drawing/2014/main" id="{866B45DF-1203-FF7B-BC8F-26BABBB61A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 y="2404"/>
                <a:ext cx="351" cy="57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096777" name="Group 201">
            <a:extLst>
              <a:ext uri="{FF2B5EF4-FFF2-40B4-BE49-F238E27FC236}">
                <a16:creationId xmlns:a16="http://schemas.microsoft.com/office/drawing/2014/main" id="{6E05D2D9-E8EA-C6C8-7D83-6D6747933EE7}"/>
              </a:ext>
            </a:extLst>
          </p:cNvPr>
          <p:cNvGrpSpPr>
            <a:grpSpLocks/>
          </p:cNvGrpSpPr>
          <p:nvPr/>
        </p:nvGrpSpPr>
        <p:grpSpPr bwMode="auto">
          <a:xfrm>
            <a:off x="5276850" y="3662363"/>
            <a:ext cx="2439988" cy="1857375"/>
            <a:chOff x="3324" y="2307"/>
            <a:chExt cx="1537" cy="1170"/>
          </a:xfrm>
        </p:grpSpPr>
        <p:sp>
          <p:nvSpPr>
            <p:cNvPr id="3096589" name="AutoShape 13">
              <a:extLst>
                <a:ext uri="{FF2B5EF4-FFF2-40B4-BE49-F238E27FC236}">
                  <a16:creationId xmlns:a16="http://schemas.microsoft.com/office/drawing/2014/main" id="{3A38908C-1E4B-092A-07EB-EF25A254DF5B}"/>
                </a:ext>
              </a:extLst>
            </p:cNvPr>
            <p:cNvSpPr>
              <a:spLocks noChangeArrowheads="1"/>
            </p:cNvSpPr>
            <p:nvPr/>
          </p:nvSpPr>
          <p:spPr bwMode="auto">
            <a:xfrm>
              <a:off x="3324" y="2307"/>
              <a:ext cx="1537" cy="1170"/>
            </a:xfrm>
            <a:prstGeom prst="roundRect">
              <a:avLst>
                <a:gd name="adj" fmla="val 16667"/>
              </a:avLst>
            </a:prstGeom>
            <a:solidFill>
              <a:srgbClr val="CEC49A"/>
            </a:solidFill>
            <a:ln w="3175" algn="ctr">
              <a:solidFill>
                <a:srgbClr val="996633"/>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sz="1400">
                <a:solidFill>
                  <a:srgbClr val="003580"/>
                </a:solidFill>
                <a:ea typeface="宋体" panose="02010600030101010101" pitchFamily="2" charset="-122"/>
              </a:endParaRPr>
            </a:p>
          </p:txBody>
        </p:sp>
        <p:sp>
          <p:nvSpPr>
            <p:cNvPr id="3096594" name="Text Box 18">
              <a:extLst>
                <a:ext uri="{FF2B5EF4-FFF2-40B4-BE49-F238E27FC236}">
                  <a16:creationId xmlns:a16="http://schemas.microsoft.com/office/drawing/2014/main" id="{74866626-DA3F-D09B-50BD-0E342AF247D2}"/>
                </a:ext>
              </a:extLst>
            </p:cNvPr>
            <p:cNvSpPr txBox="1">
              <a:spLocks noChangeArrowheads="1"/>
            </p:cNvSpPr>
            <p:nvPr/>
          </p:nvSpPr>
          <p:spPr bwMode="auto">
            <a:xfrm>
              <a:off x="3790" y="2370"/>
              <a:ext cx="705"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Network</a:t>
              </a:r>
            </a:p>
          </p:txBody>
        </p:sp>
        <p:sp>
          <p:nvSpPr>
            <p:cNvPr id="3096595" name="Text Box 19">
              <a:extLst>
                <a:ext uri="{FF2B5EF4-FFF2-40B4-BE49-F238E27FC236}">
                  <a16:creationId xmlns:a16="http://schemas.microsoft.com/office/drawing/2014/main" id="{AAE8E5A1-A626-F712-0E1C-FA46CCCAAE20}"/>
                </a:ext>
              </a:extLst>
            </p:cNvPr>
            <p:cNvSpPr txBox="1">
              <a:spLocks noChangeArrowheads="1"/>
            </p:cNvSpPr>
            <p:nvPr/>
          </p:nvSpPr>
          <p:spPr bwMode="auto">
            <a:xfrm>
              <a:off x="3516" y="3093"/>
              <a:ext cx="502" cy="270"/>
            </a:xfrm>
            <a:prstGeom prst="rect">
              <a:avLst/>
            </a:prstGeom>
            <a:solidFill>
              <a:srgbClr val="F3F1E7"/>
            </a:solidFill>
            <a:ln>
              <a:noFill/>
            </a:ln>
            <a:effectLst>
              <a:prstShdw prst="shdw17" dist="17961" dir="2700000">
                <a:srgbClr val="F3F1E7">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SAN</a:t>
              </a:r>
            </a:p>
          </p:txBody>
        </p:sp>
        <p:sp>
          <p:nvSpPr>
            <p:cNvPr id="3096610" name="Text Box 34">
              <a:extLst>
                <a:ext uri="{FF2B5EF4-FFF2-40B4-BE49-F238E27FC236}">
                  <a16:creationId xmlns:a16="http://schemas.microsoft.com/office/drawing/2014/main" id="{54B767F6-EADC-C880-6378-E8FC2F080D61}"/>
                </a:ext>
              </a:extLst>
            </p:cNvPr>
            <p:cNvSpPr txBox="1">
              <a:spLocks noChangeArrowheads="1"/>
            </p:cNvSpPr>
            <p:nvPr/>
          </p:nvSpPr>
          <p:spPr bwMode="auto">
            <a:xfrm>
              <a:off x="4252" y="3093"/>
              <a:ext cx="502" cy="270"/>
            </a:xfrm>
            <a:prstGeom prst="rect">
              <a:avLst/>
            </a:prstGeom>
            <a:solidFill>
              <a:srgbClr val="F3F1E7"/>
            </a:solidFill>
            <a:ln>
              <a:noFill/>
            </a:ln>
            <a:effectLst>
              <a:prstShdw prst="shdw17" dist="17961" dir="2700000">
                <a:srgbClr val="F3F1E7">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IP</a:t>
              </a:r>
            </a:p>
          </p:txBody>
        </p:sp>
        <p:grpSp>
          <p:nvGrpSpPr>
            <p:cNvPr id="3096761" name="Group 185">
              <a:extLst>
                <a:ext uri="{FF2B5EF4-FFF2-40B4-BE49-F238E27FC236}">
                  <a16:creationId xmlns:a16="http://schemas.microsoft.com/office/drawing/2014/main" id="{E4BB21F4-7F60-01ED-0361-5CC3C48EDC7E}"/>
                </a:ext>
              </a:extLst>
            </p:cNvPr>
            <p:cNvGrpSpPr>
              <a:grpSpLocks/>
            </p:cNvGrpSpPr>
            <p:nvPr/>
          </p:nvGrpSpPr>
          <p:grpSpPr bwMode="auto">
            <a:xfrm>
              <a:off x="3444" y="2694"/>
              <a:ext cx="582" cy="240"/>
              <a:chOff x="2490" y="1998"/>
              <a:chExt cx="510" cy="186"/>
            </a:xfrm>
          </p:grpSpPr>
          <p:sp>
            <p:nvSpPr>
              <p:cNvPr id="3096762" name="AutoShape 186">
                <a:extLst>
                  <a:ext uri="{FF2B5EF4-FFF2-40B4-BE49-F238E27FC236}">
                    <a16:creationId xmlns:a16="http://schemas.microsoft.com/office/drawing/2014/main" id="{8EF573AB-8EAD-2E69-19F6-36A438322321}"/>
                  </a:ext>
                </a:extLst>
              </p:cNvPr>
              <p:cNvSpPr>
                <a:spLocks noChangeArrowheads="1"/>
              </p:cNvSpPr>
              <p:nvPr/>
            </p:nvSpPr>
            <p:spPr bwMode="auto">
              <a:xfrm>
                <a:off x="2490" y="1998"/>
                <a:ext cx="510" cy="186"/>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096763" name="Freeform 187">
                <a:extLst>
                  <a:ext uri="{FF2B5EF4-FFF2-40B4-BE49-F238E27FC236}">
                    <a16:creationId xmlns:a16="http://schemas.microsoft.com/office/drawing/2014/main" id="{96F1E23E-7DA9-5B04-9857-85248D4B98B6}"/>
                  </a:ext>
                </a:extLst>
              </p:cNvPr>
              <p:cNvSpPr>
                <a:spLocks/>
              </p:cNvSpPr>
              <p:nvPr/>
            </p:nvSpPr>
            <p:spPr bwMode="auto">
              <a:xfrm>
                <a:off x="2554" y="2042"/>
                <a:ext cx="195"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6764" name="Freeform 188">
                <a:extLst>
                  <a:ext uri="{FF2B5EF4-FFF2-40B4-BE49-F238E27FC236}">
                    <a16:creationId xmlns:a16="http://schemas.microsoft.com/office/drawing/2014/main" id="{945DCA4A-9B82-68E2-C07A-C4C2102C14BE}"/>
                  </a:ext>
                </a:extLst>
              </p:cNvPr>
              <p:cNvSpPr>
                <a:spLocks/>
              </p:cNvSpPr>
              <p:nvPr/>
            </p:nvSpPr>
            <p:spPr bwMode="auto">
              <a:xfrm>
                <a:off x="2554" y="2107"/>
                <a:ext cx="195"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6765" name="Freeform 189">
                <a:extLst>
                  <a:ext uri="{FF2B5EF4-FFF2-40B4-BE49-F238E27FC236}">
                    <a16:creationId xmlns:a16="http://schemas.microsoft.com/office/drawing/2014/main" id="{D2F6D700-9619-B920-A21F-6471EE883058}"/>
                  </a:ext>
                </a:extLst>
              </p:cNvPr>
              <p:cNvSpPr>
                <a:spLocks/>
              </p:cNvSpPr>
              <p:nvPr/>
            </p:nvSpPr>
            <p:spPr bwMode="auto">
              <a:xfrm flipH="1">
                <a:off x="2748" y="2076"/>
                <a:ext cx="196"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6766" name="Freeform 190">
                <a:extLst>
                  <a:ext uri="{FF2B5EF4-FFF2-40B4-BE49-F238E27FC236}">
                    <a16:creationId xmlns:a16="http://schemas.microsoft.com/office/drawing/2014/main" id="{8CC56CC2-D560-A653-2E3B-90BA1AA3E0F1}"/>
                  </a:ext>
                </a:extLst>
              </p:cNvPr>
              <p:cNvSpPr>
                <a:spLocks/>
              </p:cNvSpPr>
              <p:nvPr/>
            </p:nvSpPr>
            <p:spPr bwMode="auto">
              <a:xfrm flipH="1">
                <a:off x="2748" y="2140"/>
                <a:ext cx="196"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96768" name="Group 192">
              <a:extLst>
                <a:ext uri="{FF2B5EF4-FFF2-40B4-BE49-F238E27FC236}">
                  <a16:creationId xmlns:a16="http://schemas.microsoft.com/office/drawing/2014/main" id="{38CF949B-6E64-4DD7-02F6-90764409EA35}"/>
                </a:ext>
              </a:extLst>
            </p:cNvPr>
            <p:cNvGrpSpPr>
              <a:grpSpLocks/>
            </p:cNvGrpSpPr>
            <p:nvPr/>
          </p:nvGrpSpPr>
          <p:grpSpPr bwMode="auto">
            <a:xfrm>
              <a:off x="4158" y="2712"/>
              <a:ext cx="594" cy="216"/>
              <a:chOff x="2736" y="3264"/>
              <a:chExt cx="960" cy="480"/>
            </a:xfrm>
          </p:grpSpPr>
          <p:sp>
            <p:nvSpPr>
              <p:cNvPr id="3096769" name="AutoShape 193">
                <a:extLst>
                  <a:ext uri="{FF2B5EF4-FFF2-40B4-BE49-F238E27FC236}">
                    <a16:creationId xmlns:a16="http://schemas.microsoft.com/office/drawing/2014/main" id="{98D14D8F-A85E-6142-A807-9C405D6222BF}"/>
                  </a:ext>
                </a:extLst>
              </p:cNvPr>
              <p:cNvSpPr>
                <a:spLocks noChangeAspect="1" noChangeArrowheads="1"/>
              </p:cNvSpPr>
              <p:nvPr/>
            </p:nvSpPr>
            <p:spPr bwMode="auto">
              <a:xfrm>
                <a:off x="2736" y="3264"/>
                <a:ext cx="960" cy="48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096770" name="Line 194">
                <a:extLst>
                  <a:ext uri="{FF2B5EF4-FFF2-40B4-BE49-F238E27FC236}">
                    <a16:creationId xmlns:a16="http://schemas.microsoft.com/office/drawing/2014/main" id="{CE60D03B-0F80-EF27-E5EB-4A335916A5A5}"/>
                  </a:ext>
                </a:extLst>
              </p:cNvPr>
              <p:cNvSpPr>
                <a:spLocks noChangeAspect="1" noChangeShapeType="1"/>
              </p:cNvSpPr>
              <p:nvPr/>
            </p:nvSpPr>
            <p:spPr bwMode="auto">
              <a:xfrm>
                <a:off x="2862" y="3504"/>
                <a:ext cx="720" cy="0"/>
              </a:xfrm>
              <a:prstGeom prst="line">
                <a:avLst/>
              </a:prstGeom>
              <a:noFill/>
              <a:ln w="1270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6771" name="Line 195">
                <a:extLst>
                  <a:ext uri="{FF2B5EF4-FFF2-40B4-BE49-F238E27FC236}">
                    <a16:creationId xmlns:a16="http://schemas.microsoft.com/office/drawing/2014/main" id="{63B6E32C-9D6B-4CB3-135A-384F0861BC2D}"/>
                  </a:ext>
                </a:extLst>
              </p:cNvPr>
              <p:cNvSpPr>
                <a:spLocks noChangeAspect="1" noChangeShapeType="1"/>
              </p:cNvSpPr>
              <p:nvPr/>
            </p:nvSpPr>
            <p:spPr bwMode="auto">
              <a:xfrm>
                <a:off x="3224" y="3288"/>
                <a:ext cx="0" cy="432"/>
              </a:xfrm>
              <a:prstGeom prst="line">
                <a:avLst/>
              </a:prstGeom>
              <a:noFill/>
              <a:ln w="1270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6772" name="Line 196">
                <a:extLst>
                  <a:ext uri="{FF2B5EF4-FFF2-40B4-BE49-F238E27FC236}">
                    <a16:creationId xmlns:a16="http://schemas.microsoft.com/office/drawing/2014/main" id="{2C0A533C-4846-7B16-03ED-A24496352D08}"/>
                  </a:ext>
                </a:extLst>
              </p:cNvPr>
              <p:cNvSpPr>
                <a:spLocks noChangeAspect="1" noChangeShapeType="1"/>
              </p:cNvSpPr>
              <p:nvPr/>
            </p:nvSpPr>
            <p:spPr bwMode="auto">
              <a:xfrm>
                <a:off x="2928" y="3312"/>
                <a:ext cx="576" cy="384"/>
              </a:xfrm>
              <a:prstGeom prst="line">
                <a:avLst/>
              </a:prstGeom>
              <a:noFill/>
              <a:ln w="1270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6773" name="Line 197">
                <a:extLst>
                  <a:ext uri="{FF2B5EF4-FFF2-40B4-BE49-F238E27FC236}">
                    <a16:creationId xmlns:a16="http://schemas.microsoft.com/office/drawing/2014/main" id="{30AB3129-2935-A28B-4817-985BECE2F1E5}"/>
                  </a:ext>
                </a:extLst>
              </p:cNvPr>
              <p:cNvSpPr>
                <a:spLocks noChangeAspect="1" noChangeShapeType="1"/>
              </p:cNvSpPr>
              <p:nvPr/>
            </p:nvSpPr>
            <p:spPr bwMode="auto">
              <a:xfrm flipV="1">
                <a:off x="2958" y="3304"/>
                <a:ext cx="552" cy="390"/>
              </a:xfrm>
              <a:prstGeom prst="line">
                <a:avLst/>
              </a:prstGeom>
              <a:noFill/>
              <a:ln w="1270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3096776" name="Group 200">
            <a:extLst>
              <a:ext uri="{FF2B5EF4-FFF2-40B4-BE49-F238E27FC236}">
                <a16:creationId xmlns:a16="http://schemas.microsoft.com/office/drawing/2014/main" id="{364ED277-BA1A-C098-3B86-1D32CE80B8C9}"/>
              </a:ext>
            </a:extLst>
          </p:cNvPr>
          <p:cNvGrpSpPr>
            <a:grpSpLocks/>
          </p:cNvGrpSpPr>
          <p:nvPr/>
        </p:nvGrpSpPr>
        <p:grpSpPr bwMode="auto">
          <a:xfrm>
            <a:off x="2574925" y="1597025"/>
            <a:ext cx="3925888" cy="1954213"/>
            <a:chOff x="1622" y="1006"/>
            <a:chExt cx="2473" cy="1231"/>
          </a:xfrm>
        </p:grpSpPr>
        <p:sp>
          <p:nvSpPr>
            <p:cNvPr id="3096621" name="AutoShape 45">
              <a:extLst>
                <a:ext uri="{FF2B5EF4-FFF2-40B4-BE49-F238E27FC236}">
                  <a16:creationId xmlns:a16="http://schemas.microsoft.com/office/drawing/2014/main" id="{503B9456-2578-DDCC-315A-72E3AB48E93D}"/>
                </a:ext>
              </a:extLst>
            </p:cNvPr>
            <p:cNvSpPr>
              <a:spLocks noChangeArrowheads="1"/>
            </p:cNvSpPr>
            <p:nvPr/>
          </p:nvSpPr>
          <p:spPr bwMode="auto">
            <a:xfrm>
              <a:off x="1622" y="1006"/>
              <a:ext cx="2473" cy="1231"/>
            </a:xfrm>
            <a:prstGeom prst="roundRect">
              <a:avLst>
                <a:gd name="adj" fmla="val 11657"/>
              </a:avLst>
            </a:prstGeom>
            <a:gradFill rotWithShape="1">
              <a:gsLst>
                <a:gs pos="0">
                  <a:srgbClr val="E2EAEA"/>
                </a:gs>
                <a:gs pos="100000">
                  <a:srgbClr val="E2EAEA">
                    <a:gamma/>
                    <a:tint val="24706"/>
                    <a:invGamma/>
                  </a:srgbClr>
                </a:gs>
              </a:gsLst>
              <a:lin ang="2700000" scaled="1"/>
            </a:gradFill>
            <a:ln w="6350" algn="ctr">
              <a:solidFill>
                <a:srgbClr val="6F999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3096622" name="Text Box 46">
              <a:extLst>
                <a:ext uri="{FF2B5EF4-FFF2-40B4-BE49-F238E27FC236}">
                  <a16:creationId xmlns:a16="http://schemas.microsoft.com/office/drawing/2014/main" id="{A2ADA019-4FDF-0496-7755-6EBAF5C8691A}"/>
                </a:ext>
              </a:extLst>
            </p:cNvPr>
            <p:cNvSpPr txBox="1">
              <a:spLocks noChangeArrowheads="1"/>
            </p:cNvSpPr>
            <p:nvPr/>
          </p:nvSpPr>
          <p:spPr bwMode="auto">
            <a:xfrm>
              <a:off x="2197" y="1046"/>
              <a:ext cx="12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Storage Arrays</a:t>
              </a:r>
            </a:p>
          </p:txBody>
        </p:sp>
        <p:sp>
          <p:nvSpPr>
            <p:cNvPr id="3096750" name="Text Box 174">
              <a:extLst>
                <a:ext uri="{FF2B5EF4-FFF2-40B4-BE49-F238E27FC236}">
                  <a16:creationId xmlns:a16="http://schemas.microsoft.com/office/drawing/2014/main" id="{20B4F323-1D08-0B4E-0BFB-A7AE9F613869}"/>
                </a:ext>
              </a:extLst>
            </p:cNvPr>
            <p:cNvSpPr txBox="1">
              <a:spLocks noChangeArrowheads="1"/>
            </p:cNvSpPr>
            <p:nvPr/>
          </p:nvSpPr>
          <p:spPr bwMode="auto">
            <a:xfrm>
              <a:off x="3489" y="1841"/>
              <a:ext cx="502" cy="270"/>
            </a:xfrm>
            <a:prstGeom prst="rect">
              <a:avLst/>
            </a:prstGeom>
            <a:solidFill>
              <a:srgbClr val="AFC9BF"/>
            </a:solidFill>
            <a:ln>
              <a:noFill/>
            </a:ln>
            <a:effectLst>
              <a:prstShdw prst="shdw17" dist="17961" dir="2700000">
                <a:srgbClr val="AFC9BF">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TLU</a:t>
              </a:r>
            </a:p>
          </p:txBody>
        </p:sp>
        <p:sp>
          <p:nvSpPr>
            <p:cNvPr id="3096751" name="Text Box 175">
              <a:extLst>
                <a:ext uri="{FF2B5EF4-FFF2-40B4-BE49-F238E27FC236}">
                  <a16:creationId xmlns:a16="http://schemas.microsoft.com/office/drawing/2014/main" id="{A45C87A3-B7FF-E9B2-9A88-A181234B3FC5}"/>
                </a:ext>
              </a:extLst>
            </p:cNvPr>
            <p:cNvSpPr txBox="1">
              <a:spLocks noChangeArrowheads="1"/>
            </p:cNvSpPr>
            <p:nvPr/>
          </p:nvSpPr>
          <p:spPr bwMode="auto">
            <a:xfrm>
              <a:off x="2241" y="1389"/>
              <a:ext cx="502" cy="270"/>
            </a:xfrm>
            <a:prstGeom prst="rect">
              <a:avLst/>
            </a:prstGeom>
            <a:solidFill>
              <a:srgbClr val="AFC9BF"/>
            </a:solidFill>
            <a:ln>
              <a:noFill/>
            </a:ln>
            <a:effectLst>
              <a:prstShdw prst="shdw17" dist="17961" dir="2700000">
                <a:srgbClr val="AFC9BF">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NAS</a:t>
              </a:r>
            </a:p>
          </p:txBody>
        </p:sp>
        <p:sp>
          <p:nvSpPr>
            <p:cNvPr id="3096752" name="Text Box 176">
              <a:extLst>
                <a:ext uri="{FF2B5EF4-FFF2-40B4-BE49-F238E27FC236}">
                  <a16:creationId xmlns:a16="http://schemas.microsoft.com/office/drawing/2014/main" id="{83D6A8F1-5B16-6036-BA7C-D737A0BF93C6}"/>
                </a:ext>
              </a:extLst>
            </p:cNvPr>
            <p:cNvSpPr txBox="1">
              <a:spLocks noChangeArrowheads="1"/>
            </p:cNvSpPr>
            <p:nvPr/>
          </p:nvSpPr>
          <p:spPr bwMode="auto">
            <a:xfrm>
              <a:off x="2429" y="1778"/>
              <a:ext cx="502" cy="270"/>
            </a:xfrm>
            <a:prstGeom prst="rect">
              <a:avLst/>
            </a:prstGeom>
            <a:solidFill>
              <a:srgbClr val="AFC9BF"/>
            </a:solidFill>
            <a:ln>
              <a:noFill/>
            </a:ln>
            <a:effectLst>
              <a:prstShdw prst="shdw17" dist="17961" dir="2700000">
                <a:srgbClr val="AFC9BF">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SAN</a:t>
              </a:r>
            </a:p>
          </p:txBody>
        </p:sp>
        <p:sp>
          <p:nvSpPr>
            <p:cNvPr id="3096753" name="Text Box 177">
              <a:extLst>
                <a:ext uri="{FF2B5EF4-FFF2-40B4-BE49-F238E27FC236}">
                  <a16:creationId xmlns:a16="http://schemas.microsoft.com/office/drawing/2014/main" id="{096B2A7B-4FC1-5E54-5365-BAF0A98D0538}"/>
                </a:ext>
              </a:extLst>
            </p:cNvPr>
            <p:cNvSpPr txBox="1">
              <a:spLocks noChangeArrowheads="1"/>
            </p:cNvSpPr>
            <p:nvPr/>
          </p:nvSpPr>
          <p:spPr bwMode="auto">
            <a:xfrm>
              <a:off x="2991" y="1556"/>
              <a:ext cx="502" cy="270"/>
            </a:xfrm>
            <a:prstGeom prst="rect">
              <a:avLst/>
            </a:prstGeom>
            <a:solidFill>
              <a:srgbClr val="AFC9BF"/>
            </a:solidFill>
            <a:ln>
              <a:noFill/>
            </a:ln>
            <a:effectLst>
              <a:prstShdw prst="shdw17" dist="17961" dir="2700000">
                <a:srgbClr val="AFC9BF">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DAS</a:t>
              </a:r>
            </a:p>
          </p:txBody>
        </p:sp>
        <p:sp>
          <p:nvSpPr>
            <p:cNvPr id="3096754" name="Text Box 178">
              <a:extLst>
                <a:ext uri="{FF2B5EF4-FFF2-40B4-BE49-F238E27FC236}">
                  <a16:creationId xmlns:a16="http://schemas.microsoft.com/office/drawing/2014/main" id="{8889AC75-674A-74B2-0031-AAB63CF267D9}"/>
                </a:ext>
              </a:extLst>
            </p:cNvPr>
            <p:cNvSpPr txBox="1">
              <a:spLocks noChangeArrowheads="1"/>
            </p:cNvSpPr>
            <p:nvPr/>
          </p:nvSpPr>
          <p:spPr bwMode="auto">
            <a:xfrm>
              <a:off x="3490" y="1248"/>
              <a:ext cx="502" cy="270"/>
            </a:xfrm>
            <a:prstGeom prst="rect">
              <a:avLst/>
            </a:prstGeom>
            <a:solidFill>
              <a:srgbClr val="AFC9BF"/>
            </a:solidFill>
            <a:ln>
              <a:noFill/>
            </a:ln>
            <a:effectLst>
              <a:prstShdw prst="shdw17" dist="17961" dir="2700000">
                <a:srgbClr val="AFC9BF">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CAS</a:t>
              </a:r>
            </a:p>
          </p:txBody>
        </p:sp>
        <p:pic>
          <p:nvPicPr>
            <p:cNvPr id="3096775" name="Picture 199">
              <a:extLst>
                <a:ext uri="{FF2B5EF4-FFF2-40B4-BE49-F238E27FC236}">
                  <a16:creationId xmlns:a16="http://schemas.microsoft.com/office/drawing/2014/main" id="{72750A77-F665-54A7-8F31-DD18E2F266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2" y="1247"/>
              <a:ext cx="462" cy="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96760"/>
                                        </p:tgtEl>
                                        <p:attrNameLst>
                                          <p:attrName>style.visibility</p:attrName>
                                        </p:attrNameLst>
                                      </p:cBhvr>
                                      <p:to>
                                        <p:strVal val="visible"/>
                                      </p:to>
                                    </p:set>
                                  </p:childTnLst>
                                </p:cTn>
                              </p:par>
                            </p:childTnLst>
                          </p:cTn>
                        </p:par>
                        <p:par>
                          <p:cTn id="7" fill="hold" nodeType="afterGroup">
                            <p:stCondLst>
                              <p:cond delay="0"/>
                            </p:stCondLst>
                            <p:childTnLst>
                              <p:par>
                                <p:cTn id="8" presetID="10" presetClass="entr" presetSubtype="0" fill="hold" nodeType="afterEffect">
                                  <p:stCondLst>
                                    <p:cond delay="0"/>
                                  </p:stCondLst>
                                  <p:childTnLst>
                                    <p:set>
                                      <p:cBhvr>
                                        <p:cTn id="9" dur="1" fill="hold">
                                          <p:stCondLst>
                                            <p:cond delay="0"/>
                                          </p:stCondLst>
                                        </p:cTn>
                                        <p:tgtEl>
                                          <p:spTgt spid="3096777"/>
                                        </p:tgtEl>
                                        <p:attrNameLst>
                                          <p:attrName>style.visibility</p:attrName>
                                        </p:attrNameLst>
                                      </p:cBhvr>
                                      <p:to>
                                        <p:strVal val="visible"/>
                                      </p:to>
                                    </p:set>
                                    <p:animEffect transition="in" filter="fade">
                                      <p:cBhvr>
                                        <p:cTn id="10" dur="2000"/>
                                        <p:tgtEl>
                                          <p:spTgt spid="3096777"/>
                                        </p:tgtEl>
                                      </p:cBhvr>
                                    </p:animEffect>
                                  </p:childTnLst>
                                </p:cTn>
                              </p:par>
                            </p:childTnLst>
                          </p:cTn>
                        </p:par>
                        <p:par>
                          <p:cTn id="11" fill="hold" nodeType="afterGroup">
                            <p:stCondLst>
                              <p:cond delay="2000"/>
                            </p:stCondLst>
                            <p:childTnLst>
                              <p:par>
                                <p:cTn id="12" presetID="1" presetClass="entr" presetSubtype="0" fill="hold" nodeType="afterEffect">
                                  <p:stCondLst>
                                    <p:cond delay="1000"/>
                                  </p:stCondLst>
                                  <p:childTnLst>
                                    <p:set>
                                      <p:cBhvr>
                                        <p:cTn id="13" dur="1" fill="hold">
                                          <p:stCondLst>
                                            <p:cond delay="0"/>
                                          </p:stCondLst>
                                        </p:cTn>
                                        <p:tgtEl>
                                          <p:spTgt spid="3096776"/>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09661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09675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09661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09661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09661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09661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09661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096618"/>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09661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09675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096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6611" grpId="0" animBg="1"/>
      <p:bldP spid="3096612" grpId="0" animBg="1"/>
      <p:bldP spid="3096613" grpId="0" animBg="1"/>
      <p:bldP spid="3096614" grpId="0" animBg="1"/>
      <p:bldP spid="3096616" grpId="0" animBg="1"/>
      <p:bldP spid="3096617" grpId="0" animBg="1"/>
      <p:bldP spid="3096618" grpId="0" animBg="1"/>
      <p:bldP spid="3096619" grpId="0" animBg="1"/>
      <p:bldP spid="3096755" grpId="0" animBg="1"/>
      <p:bldP spid="3096756" grpId="0" animBg="1"/>
      <p:bldP spid="3096757"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2681BF9-BB29-84EC-A47D-D2D78634920B}"/>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26F8A7AC-0F7B-0D0C-EADD-B412D9B4CEAB}"/>
              </a:ext>
            </a:extLst>
          </p:cNvPr>
          <p:cNvSpPr>
            <a:spLocks noGrp="1"/>
          </p:cNvSpPr>
          <p:nvPr>
            <p:ph type="sldNum" sz="quarter" idx="11"/>
          </p:nvPr>
        </p:nvSpPr>
        <p:spPr/>
        <p:txBody>
          <a:bodyPr/>
          <a:lstStyle/>
          <a:p>
            <a:r>
              <a:rPr lang="zh-CN" altLang="en-US"/>
              <a:t> </a:t>
            </a:r>
            <a:r>
              <a:rPr lang="en-US" altLang="zh-CN"/>
              <a:t>- </a:t>
            </a:r>
            <a:fld id="{D87B4AB9-5BDF-4F67-91DF-A755C3F07514}" type="slidenum">
              <a:rPr lang="en-US" altLang="zh-CN" sz="800"/>
              <a:pPr/>
              <a:t>81</a:t>
            </a:fld>
            <a:endParaRPr lang="en-US" altLang="zh-CN" sz="800"/>
          </a:p>
        </p:txBody>
      </p:sp>
      <p:sp>
        <p:nvSpPr>
          <p:cNvPr id="3168258" name="Rectangle 2">
            <a:extLst>
              <a:ext uri="{FF2B5EF4-FFF2-40B4-BE49-F238E27FC236}">
                <a16:creationId xmlns:a16="http://schemas.microsoft.com/office/drawing/2014/main" id="{CA40CEEB-E9C2-1961-4BD3-63207B6F1A76}"/>
              </a:ext>
            </a:extLst>
          </p:cNvPr>
          <p:cNvSpPr>
            <a:spLocks noGrp="1" noChangeArrowheads="1"/>
          </p:cNvSpPr>
          <p:nvPr>
            <p:ph type="title"/>
          </p:nvPr>
        </p:nvSpPr>
        <p:spPr/>
        <p:txBody>
          <a:bodyPr/>
          <a:lstStyle/>
          <a:p>
            <a:r>
              <a:rPr lang="en-US" altLang="zh-CN">
                <a:ea typeface="宋体" panose="02010600030101010101" pitchFamily="2" charset="-122"/>
              </a:rPr>
              <a:t>Without Standards…</a:t>
            </a:r>
          </a:p>
        </p:txBody>
      </p:sp>
      <p:sp>
        <p:nvSpPr>
          <p:cNvPr id="3168259" name="Rectangle 3">
            <a:extLst>
              <a:ext uri="{FF2B5EF4-FFF2-40B4-BE49-F238E27FC236}">
                <a16:creationId xmlns:a16="http://schemas.microsoft.com/office/drawing/2014/main" id="{13D9F683-4FEC-7539-25B2-5BEE455D7002}"/>
              </a:ext>
            </a:extLst>
          </p:cNvPr>
          <p:cNvSpPr>
            <a:spLocks noGrp="1" noChangeArrowheads="1"/>
          </p:cNvSpPr>
          <p:nvPr>
            <p:ph type="body" idx="1"/>
          </p:nvPr>
        </p:nvSpPr>
        <p:spPr>
          <a:xfrm>
            <a:off x="228600" y="1233488"/>
            <a:ext cx="5067300" cy="5329237"/>
          </a:xfrm>
        </p:spPr>
        <p:txBody>
          <a:bodyPr/>
          <a:lstStyle/>
          <a:p>
            <a:pPr>
              <a:spcBef>
                <a:spcPct val="35000"/>
              </a:spcBef>
            </a:pPr>
            <a:r>
              <a:rPr lang="en-US" altLang="zh-CN" sz="2200">
                <a:ea typeface="宋体" panose="02010600030101010101" pitchFamily="2" charset="-122"/>
              </a:rPr>
              <a:t>No common access layer between managed objects and applications – vendor specific</a:t>
            </a:r>
          </a:p>
          <a:p>
            <a:pPr>
              <a:spcBef>
                <a:spcPct val="35000"/>
              </a:spcBef>
            </a:pPr>
            <a:r>
              <a:rPr lang="en-US" altLang="zh-CN" sz="2200">
                <a:ea typeface="宋体" panose="02010600030101010101" pitchFamily="2" charset="-122"/>
              </a:rPr>
              <a:t>No common data model</a:t>
            </a:r>
          </a:p>
          <a:p>
            <a:pPr>
              <a:spcBef>
                <a:spcPct val="35000"/>
              </a:spcBef>
            </a:pPr>
            <a:r>
              <a:rPr lang="en-US" altLang="zh-CN" sz="2200">
                <a:ea typeface="宋体" panose="02010600030101010101" pitchFamily="2" charset="-122"/>
              </a:rPr>
              <a:t>No interconnect independence</a:t>
            </a:r>
          </a:p>
          <a:p>
            <a:pPr>
              <a:spcBef>
                <a:spcPct val="35000"/>
              </a:spcBef>
            </a:pPr>
            <a:r>
              <a:rPr lang="en-US" altLang="zh-CN" sz="2200">
                <a:ea typeface="宋体" panose="02010600030101010101" pitchFamily="2" charset="-122"/>
              </a:rPr>
              <a:t>Multi-layer management difficulty</a:t>
            </a:r>
          </a:p>
          <a:p>
            <a:pPr>
              <a:spcBef>
                <a:spcPct val="35000"/>
              </a:spcBef>
            </a:pPr>
            <a:r>
              <a:rPr lang="en-US" altLang="zh-CN" sz="2200">
                <a:ea typeface="宋体" panose="02010600030101010101" pitchFamily="2" charset="-122"/>
              </a:rPr>
              <a:t>Legacy systems can not be accommodated</a:t>
            </a:r>
          </a:p>
          <a:p>
            <a:pPr>
              <a:spcBef>
                <a:spcPct val="35000"/>
              </a:spcBef>
            </a:pPr>
            <a:r>
              <a:rPr lang="en-US" altLang="zh-CN" sz="2200">
                <a:ea typeface="宋体" panose="02010600030101010101" pitchFamily="2" charset="-122"/>
              </a:rPr>
              <a:t>No multi-vendor automated discovery</a:t>
            </a:r>
          </a:p>
          <a:p>
            <a:pPr>
              <a:spcBef>
                <a:spcPct val="35000"/>
              </a:spcBef>
            </a:pPr>
            <a:r>
              <a:rPr lang="en-US" altLang="zh-CN" sz="2200">
                <a:ea typeface="宋体" panose="02010600030101010101" pitchFamily="2" charset="-122"/>
              </a:rPr>
              <a:t>Policy-based management is not possible across entire classes of devices</a:t>
            </a:r>
          </a:p>
        </p:txBody>
      </p:sp>
      <p:sp>
        <p:nvSpPr>
          <p:cNvPr id="3168260" name="Rectangle 4">
            <a:extLst>
              <a:ext uri="{FF2B5EF4-FFF2-40B4-BE49-F238E27FC236}">
                <a16:creationId xmlns:a16="http://schemas.microsoft.com/office/drawing/2014/main" id="{2EE862AB-6800-B0B0-A2A7-8E2A88F2C44B}"/>
              </a:ext>
            </a:extLst>
          </p:cNvPr>
          <p:cNvSpPr>
            <a:spLocks noChangeArrowheads="1"/>
          </p:cNvSpPr>
          <p:nvPr/>
        </p:nvSpPr>
        <p:spPr bwMode="auto">
          <a:xfrm>
            <a:off x="5562600" y="1600200"/>
            <a:ext cx="28956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1800">
                <a:solidFill>
                  <a:schemeClr val="tx1"/>
                </a:solidFill>
                <a:ea typeface="宋体" panose="02010600030101010101" pitchFamily="2" charset="-122"/>
              </a:rPr>
              <a:t>Network Management</a:t>
            </a:r>
          </a:p>
        </p:txBody>
      </p:sp>
      <p:sp>
        <p:nvSpPr>
          <p:cNvPr id="3168261" name="Rectangle 5">
            <a:extLst>
              <a:ext uri="{FF2B5EF4-FFF2-40B4-BE49-F238E27FC236}">
                <a16:creationId xmlns:a16="http://schemas.microsoft.com/office/drawing/2014/main" id="{552146AC-9FB1-187A-5702-3BE2312A9984}"/>
              </a:ext>
            </a:extLst>
          </p:cNvPr>
          <p:cNvSpPr>
            <a:spLocks noChangeArrowheads="1"/>
          </p:cNvSpPr>
          <p:nvPr/>
        </p:nvSpPr>
        <p:spPr bwMode="auto">
          <a:xfrm>
            <a:off x="5562600" y="2286000"/>
            <a:ext cx="28956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1800">
                <a:solidFill>
                  <a:schemeClr val="tx1"/>
                </a:solidFill>
                <a:ea typeface="宋体" panose="02010600030101010101" pitchFamily="2" charset="-122"/>
              </a:rPr>
              <a:t>Applications Management</a:t>
            </a:r>
          </a:p>
        </p:txBody>
      </p:sp>
      <p:sp>
        <p:nvSpPr>
          <p:cNvPr id="3168262" name="Rectangle 6">
            <a:extLst>
              <a:ext uri="{FF2B5EF4-FFF2-40B4-BE49-F238E27FC236}">
                <a16:creationId xmlns:a16="http://schemas.microsoft.com/office/drawing/2014/main" id="{C1802297-8F71-DB91-778E-EB1BFA3E5F31}"/>
              </a:ext>
            </a:extLst>
          </p:cNvPr>
          <p:cNvSpPr>
            <a:spLocks noChangeArrowheads="1"/>
          </p:cNvSpPr>
          <p:nvPr/>
        </p:nvSpPr>
        <p:spPr bwMode="auto">
          <a:xfrm>
            <a:off x="5562600" y="2971800"/>
            <a:ext cx="28956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1800">
                <a:solidFill>
                  <a:schemeClr val="tx1"/>
                </a:solidFill>
                <a:ea typeface="宋体" panose="02010600030101010101" pitchFamily="2" charset="-122"/>
              </a:rPr>
              <a:t>Host Management</a:t>
            </a:r>
          </a:p>
        </p:txBody>
      </p:sp>
      <p:sp>
        <p:nvSpPr>
          <p:cNvPr id="3168263" name="Rectangle 7">
            <a:extLst>
              <a:ext uri="{FF2B5EF4-FFF2-40B4-BE49-F238E27FC236}">
                <a16:creationId xmlns:a16="http://schemas.microsoft.com/office/drawing/2014/main" id="{2EAF0F5A-F156-4940-F3C6-AC6CB7964200}"/>
              </a:ext>
            </a:extLst>
          </p:cNvPr>
          <p:cNvSpPr>
            <a:spLocks noChangeArrowheads="1"/>
          </p:cNvSpPr>
          <p:nvPr/>
        </p:nvSpPr>
        <p:spPr bwMode="auto">
          <a:xfrm>
            <a:off x="5562600" y="3657600"/>
            <a:ext cx="28956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1800">
                <a:solidFill>
                  <a:schemeClr val="tx1"/>
                </a:solidFill>
                <a:ea typeface="宋体" panose="02010600030101010101" pitchFamily="2" charset="-122"/>
              </a:rPr>
              <a:t>Storage Management</a:t>
            </a:r>
          </a:p>
        </p:txBody>
      </p:sp>
      <p:sp>
        <p:nvSpPr>
          <p:cNvPr id="3168264" name="Rectangle 8">
            <a:extLst>
              <a:ext uri="{FF2B5EF4-FFF2-40B4-BE49-F238E27FC236}">
                <a16:creationId xmlns:a16="http://schemas.microsoft.com/office/drawing/2014/main" id="{B66EB8CC-7F80-CA84-C8C6-6635C84C3041}"/>
              </a:ext>
            </a:extLst>
          </p:cNvPr>
          <p:cNvSpPr>
            <a:spLocks noChangeArrowheads="1"/>
          </p:cNvSpPr>
          <p:nvPr/>
        </p:nvSpPr>
        <p:spPr bwMode="auto">
          <a:xfrm>
            <a:off x="5562600" y="4343400"/>
            <a:ext cx="28956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0"/>
              </a:spcBef>
              <a:buClrTx/>
              <a:buFontTx/>
              <a:buNone/>
            </a:pPr>
            <a:r>
              <a:rPr lang="en-US" altLang="zh-CN" sz="1800">
                <a:solidFill>
                  <a:schemeClr val="tx1"/>
                </a:solidFill>
                <a:ea typeface="宋体" panose="02010600030101010101" pitchFamily="2" charset="-122"/>
              </a:rPr>
              <a:t>Database Management</a:t>
            </a:r>
          </a:p>
        </p:txBody>
      </p:sp>
      <p:sp>
        <p:nvSpPr>
          <p:cNvPr id="3168265" name="Text Box 9">
            <a:extLst>
              <a:ext uri="{FF2B5EF4-FFF2-40B4-BE49-F238E27FC236}">
                <a16:creationId xmlns:a16="http://schemas.microsoft.com/office/drawing/2014/main" id="{C46B3697-C9B2-D767-6C78-775CBB429284}"/>
              </a:ext>
            </a:extLst>
          </p:cNvPr>
          <p:cNvSpPr txBox="1">
            <a:spLocks noChangeArrowheads="1"/>
          </p:cNvSpPr>
          <p:nvPr/>
        </p:nvSpPr>
        <p:spPr bwMode="auto">
          <a:xfrm>
            <a:off x="5562600" y="5791200"/>
            <a:ext cx="2743200" cy="36671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buClrTx/>
              <a:buFontTx/>
              <a:buNone/>
            </a:pPr>
            <a:r>
              <a:rPr lang="zh-CN" altLang="en-US" sz="1800">
                <a:solidFill>
                  <a:schemeClr val="tx1"/>
                </a:solidFill>
                <a:ea typeface="宋体" panose="02010600030101010101" pitchFamily="2" charset="-122"/>
              </a:rPr>
              <a:t>   </a:t>
            </a:r>
            <a:r>
              <a:rPr lang="en-US" altLang="zh-CN" sz="1800" b="1">
                <a:solidFill>
                  <a:schemeClr val="tx1"/>
                </a:solidFill>
                <a:ea typeface="宋体" panose="02010600030101010101" pitchFamily="2" charset="-122"/>
              </a:rPr>
              <a:t>Interoperability!</a:t>
            </a:r>
          </a:p>
        </p:txBody>
      </p:sp>
      <p:sp>
        <p:nvSpPr>
          <p:cNvPr id="3168266" name="AutoShape 10">
            <a:extLst>
              <a:ext uri="{FF2B5EF4-FFF2-40B4-BE49-F238E27FC236}">
                <a16:creationId xmlns:a16="http://schemas.microsoft.com/office/drawing/2014/main" id="{37A4DDCD-E84D-B11F-5126-B612E653A9C8}"/>
              </a:ext>
            </a:extLst>
          </p:cNvPr>
          <p:cNvSpPr>
            <a:spLocks noChangeArrowheads="1"/>
          </p:cNvSpPr>
          <p:nvPr/>
        </p:nvSpPr>
        <p:spPr bwMode="auto">
          <a:xfrm>
            <a:off x="6324600" y="1371600"/>
            <a:ext cx="1295400" cy="4419600"/>
          </a:xfrm>
          <a:prstGeom prst="downArrow">
            <a:avLst>
              <a:gd name="adj1" fmla="val 50000"/>
              <a:gd name="adj2" fmla="val 85294"/>
            </a:avLst>
          </a:prstGeom>
          <a:solidFill>
            <a:srgbClr val="008080">
              <a:alpha val="34000"/>
            </a:srgbClr>
          </a:solidFill>
          <a:ln>
            <a:noFill/>
          </a:ln>
          <a:effectLst/>
          <a:extLs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spcBef>
                <a:spcPct val="0"/>
              </a:spcBef>
              <a:buClrTx/>
              <a:buFontTx/>
              <a:buNone/>
            </a:pPr>
            <a:endParaRPr lang="zh-CN" altLang="en-US" sz="1800">
              <a:solidFill>
                <a:schemeClr val="tx1"/>
              </a:solidFill>
              <a:ea typeface="宋体" panose="02010600030101010101" pitchFamily="2" charset="-122"/>
            </a:endParaRPr>
          </a:p>
        </p:txBody>
      </p:sp>
    </p:spTree>
    <p:custDataLst>
      <p:tags r:id="rId1"/>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8793581E-4FC7-78D0-282A-CE91FCEC59FA}"/>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5">
            <a:extLst>
              <a:ext uri="{FF2B5EF4-FFF2-40B4-BE49-F238E27FC236}">
                <a16:creationId xmlns:a16="http://schemas.microsoft.com/office/drawing/2014/main" id="{20A8B8F0-05FC-EA77-951E-A1BC3A6F00F1}"/>
              </a:ext>
            </a:extLst>
          </p:cNvPr>
          <p:cNvSpPr>
            <a:spLocks noGrp="1"/>
          </p:cNvSpPr>
          <p:nvPr>
            <p:ph type="sldNum" sz="quarter" idx="11"/>
          </p:nvPr>
        </p:nvSpPr>
        <p:spPr/>
        <p:txBody>
          <a:bodyPr/>
          <a:lstStyle/>
          <a:p>
            <a:r>
              <a:rPr lang="zh-CN" altLang="en-US"/>
              <a:t> </a:t>
            </a:r>
            <a:r>
              <a:rPr lang="en-US" altLang="zh-CN"/>
              <a:t>- </a:t>
            </a:r>
            <a:fld id="{F3B475AC-D82D-41C1-B0A7-6811F2B7DC66}" type="slidenum">
              <a:rPr lang="en-US" altLang="zh-CN" sz="800"/>
              <a:pPr/>
              <a:t>82</a:t>
            </a:fld>
            <a:endParaRPr lang="en-US" altLang="zh-CN" sz="800"/>
          </a:p>
        </p:txBody>
      </p:sp>
      <p:sp>
        <p:nvSpPr>
          <p:cNvPr id="3099653" name="Rectangle 5">
            <a:extLst>
              <a:ext uri="{FF2B5EF4-FFF2-40B4-BE49-F238E27FC236}">
                <a16:creationId xmlns:a16="http://schemas.microsoft.com/office/drawing/2014/main" id="{D08CC3F8-014A-641C-184D-ABB857E2C3CC}"/>
              </a:ext>
            </a:extLst>
          </p:cNvPr>
          <p:cNvSpPr>
            <a:spLocks noChangeArrowheads="1"/>
          </p:cNvSpPr>
          <p:nvPr/>
        </p:nvSpPr>
        <p:spPr bwMode="auto">
          <a:xfrm>
            <a:off x="5878513" y="801688"/>
            <a:ext cx="3032125" cy="2706687"/>
          </a:xfrm>
          <a:prstGeom prst="rect">
            <a:avLst/>
          </a:prstGeom>
          <a:solidFill>
            <a:srgbClr val="F7E199"/>
          </a:solidFill>
          <a:ln w="12700" algn="ctr">
            <a:solidFill>
              <a:srgbClr val="001636"/>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91440" rIns="0" bIns="0"/>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003580"/>
                </a:solidFill>
                <a:ea typeface="宋体" panose="02010600030101010101" pitchFamily="2" charset="-122"/>
              </a:rPr>
              <a:t>Monitoring/Management</a:t>
            </a:r>
          </a:p>
          <a:p>
            <a:pPr algn="ctr">
              <a:spcBef>
                <a:spcPct val="50000"/>
              </a:spcBef>
            </a:pPr>
            <a:r>
              <a:rPr lang="en-US" altLang="zh-CN" sz="1800" b="1">
                <a:solidFill>
                  <a:srgbClr val="003580"/>
                </a:solidFill>
                <a:ea typeface="宋体" panose="02010600030101010101" pitchFamily="2" charset="-122"/>
              </a:rPr>
              <a:t>Engine</a:t>
            </a:r>
          </a:p>
          <a:p>
            <a:pPr algn="ctr">
              <a:spcBef>
                <a:spcPct val="50000"/>
              </a:spcBef>
            </a:pPr>
            <a:endParaRPr lang="zh-CN" altLang="en-US" sz="1800" b="1">
              <a:solidFill>
                <a:srgbClr val="003580"/>
              </a:solidFill>
              <a:ea typeface="宋体" panose="02010600030101010101" pitchFamily="2" charset="-122"/>
            </a:endParaRPr>
          </a:p>
        </p:txBody>
      </p:sp>
      <p:sp>
        <p:nvSpPr>
          <p:cNvPr id="3099651" name="Rectangle 3">
            <a:extLst>
              <a:ext uri="{FF2B5EF4-FFF2-40B4-BE49-F238E27FC236}">
                <a16:creationId xmlns:a16="http://schemas.microsoft.com/office/drawing/2014/main" id="{8E8E4252-6A73-8A75-AABC-232A569F580E}"/>
              </a:ext>
            </a:extLst>
          </p:cNvPr>
          <p:cNvSpPr>
            <a:spLocks noGrp="1" noChangeArrowheads="1"/>
          </p:cNvSpPr>
          <p:nvPr>
            <p:ph type="title"/>
          </p:nvPr>
        </p:nvSpPr>
        <p:spPr/>
        <p:txBody>
          <a:bodyPr/>
          <a:lstStyle/>
          <a:p>
            <a:r>
              <a:rPr lang="en-US" altLang="zh-CN">
                <a:ea typeface="宋体" panose="02010600030101010101" pitchFamily="2" charset="-122"/>
              </a:rPr>
              <a:t>Developing an Ideal Solution</a:t>
            </a:r>
          </a:p>
        </p:txBody>
      </p:sp>
      <p:sp>
        <p:nvSpPr>
          <p:cNvPr id="3099655" name="Line 7">
            <a:extLst>
              <a:ext uri="{FF2B5EF4-FFF2-40B4-BE49-F238E27FC236}">
                <a16:creationId xmlns:a16="http://schemas.microsoft.com/office/drawing/2014/main" id="{A7ADF2E6-D478-A859-70FC-E9C507E7680A}"/>
              </a:ext>
            </a:extLst>
          </p:cNvPr>
          <p:cNvSpPr>
            <a:spLocks noChangeShapeType="1"/>
          </p:cNvSpPr>
          <p:nvPr/>
        </p:nvSpPr>
        <p:spPr bwMode="auto">
          <a:xfrm flipH="1" flipV="1">
            <a:off x="7388225" y="3551238"/>
            <a:ext cx="3175" cy="682625"/>
          </a:xfrm>
          <a:prstGeom prst="line">
            <a:avLst/>
          </a:prstGeom>
          <a:noFill/>
          <a:ln w="28575">
            <a:solidFill>
              <a:srgbClr val="00163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99656" name="Line 8">
            <a:extLst>
              <a:ext uri="{FF2B5EF4-FFF2-40B4-BE49-F238E27FC236}">
                <a16:creationId xmlns:a16="http://schemas.microsoft.com/office/drawing/2014/main" id="{B9855ED0-8D85-0477-787F-12535B6E812E}"/>
              </a:ext>
            </a:extLst>
          </p:cNvPr>
          <p:cNvSpPr>
            <a:spLocks noChangeShapeType="1"/>
          </p:cNvSpPr>
          <p:nvPr/>
        </p:nvSpPr>
        <p:spPr bwMode="auto">
          <a:xfrm flipV="1">
            <a:off x="4224338" y="3527425"/>
            <a:ext cx="1636712" cy="806450"/>
          </a:xfrm>
          <a:prstGeom prst="line">
            <a:avLst/>
          </a:prstGeom>
          <a:noFill/>
          <a:ln w="28575">
            <a:solidFill>
              <a:srgbClr val="00163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99658" name="Line 10">
            <a:extLst>
              <a:ext uri="{FF2B5EF4-FFF2-40B4-BE49-F238E27FC236}">
                <a16:creationId xmlns:a16="http://schemas.microsoft.com/office/drawing/2014/main" id="{CF24CD39-654C-9FC3-4801-599BC3C85ABB}"/>
              </a:ext>
            </a:extLst>
          </p:cNvPr>
          <p:cNvSpPr>
            <a:spLocks noChangeShapeType="1"/>
          </p:cNvSpPr>
          <p:nvPr/>
        </p:nvSpPr>
        <p:spPr bwMode="auto">
          <a:xfrm flipV="1">
            <a:off x="5889625" y="1641475"/>
            <a:ext cx="3021013" cy="0"/>
          </a:xfrm>
          <a:prstGeom prst="line">
            <a:avLst/>
          </a:prstGeom>
          <a:noFill/>
          <a:ln w="12700">
            <a:solidFill>
              <a:srgbClr val="001636"/>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sp>
        <p:nvSpPr>
          <p:cNvPr id="3099654" name="Line 6">
            <a:extLst>
              <a:ext uri="{FF2B5EF4-FFF2-40B4-BE49-F238E27FC236}">
                <a16:creationId xmlns:a16="http://schemas.microsoft.com/office/drawing/2014/main" id="{3896A725-F8BE-333B-5AEC-21AA93E06E32}"/>
              </a:ext>
            </a:extLst>
          </p:cNvPr>
          <p:cNvSpPr>
            <a:spLocks noChangeShapeType="1"/>
          </p:cNvSpPr>
          <p:nvPr/>
        </p:nvSpPr>
        <p:spPr bwMode="auto">
          <a:xfrm>
            <a:off x="5214938" y="1422400"/>
            <a:ext cx="657225" cy="0"/>
          </a:xfrm>
          <a:prstGeom prst="line">
            <a:avLst/>
          </a:prstGeom>
          <a:noFill/>
          <a:ln w="28575">
            <a:solidFill>
              <a:srgbClr val="00163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nvGrpSpPr>
          <p:cNvPr id="3099688" name="Group 40">
            <a:extLst>
              <a:ext uri="{FF2B5EF4-FFF2-40B4-BE49-F238E27FC236}">
                <a16:creationId xmlns:a16="http://schemas.microsoft.com/office/drawing/2014/main" id="{3A3D9D0C-39BE-5D6F-8F1A-41677798E01B}"/>
              </a:ext>
            </a:extLst>
          </p:cNvPr>
          <p:cNvGrpSpPr>
            <a:grpSpLocks/>
          </p:cNvGrpSpPr>
          <p:nvPr/>
        </p:nvGrpSpPr>
        <p:grpSpPr bwMode="auto">
          <a:xfrm>
            <a:off x="4287838" y="1039813"/>
            <a:ext cx="1004887" cy="884237"/>
            <a:chOff x="2519" y="682"/>
            <a:chExt cx="633" cy="557"/>
          </a:xfrm>
        </p:grpSpPr>
        <p:pic>
          <p:nvPicPr>
            <p:cNvPr id="3099689" name="Picture 41">
              <a:extLst>
                <a:ext uri="{FF2B5EF4-FFF2-40B4-BE49-F238E27FC236}">
                  <a16:creationId xmlns:a16="http://schemas.microsoft.com/office/drawing/2014/main" id="{8B629C58-9AD3-6C52-1964-A36687E575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9" y="682"/>
              <a:ext cx="633" cy="5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99690" name="Text Box 42">
              <a:extLst>
                <a:ext uri="{FF2B5EF4-FFF2-40B4-BE49-F238E27FC236}">
                  <a16:creationId xmlns:a16="http://schemas.microsoft.com/office/drawing/2014/main" id="{6FEA468B-AC04-126E-4C8C-0B63343AB74C}"/>
                </a:ext>
              </a:extLst>
            </p:cNvPr>
            <p:cNvSpPr txBox="1">
              <a:spLocks noChangeArrowheads="1"/>
            </p:cNvSpPr>
            <p:nvPr/>
          </p:nvSpPr>
          <p:spPr bwMode="auto">
            <a:xfrm>
              <a:off x="2637" y="762"/>
              <a:ext cx="41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One UI</a:t>
              </a:r>
            </a:p>
          </p:txBody>
        </p:sp>
      </p:grpSp>
      <p:grpSp>
        <p:nvGrpSpPr>
          <p:cNvPr id="3099837" name="Group 189">
            <a:extLst>
              <a:ext uri="{FF2B5EF4-FFF2-40B4-BE49-F238E27FC236}">
                <a16:creationId xmlns:a16="http://schemas.microsoft.com/office/drawing/2014/main" id="{7BEDF120-4C63-83B9-1126-29FD377DA687}"/>
              </a:ext>
            </a:extLst>
          </p:cNvPr>
          <p:cNvGrpSpPr>
            <a:grpSpLocks/>
          </p:cNvGrpSpPr>
          <p:nvPr/>
        </p:nvGrpSpPr>
        <p:grpSpPr bwMode="auto">
          <a:xfrm>
            <a:off x="182563" y="4294188"/>
            <a:ext cx="4116387" cy="2336800"/>
            <a:chOff x="631" y="2303"/>
            <a:chExt cx="2329" cy="1472"/>
          </a:xfrm>
        </p:grpSpPr>
        <p:sp>
          <p:nvSpPr>
            <p:cNvPr id="3099838" name="Text Box 190">
              <a:extLst>
                <a:ext uri="{FF2B5EF4-FFF2-40B4-BE49-F238E27FC236}">
                  <a16:creationId xmlns:a16="http://schemas.microsoft.com/office/drawing/2014/main" id="{E389C51D-EE0C-2331-4244-E565B8B828B6}"/>
                </a:ext>
              </a:extLst>
            </p:cNvPr>
            <p:cNvSpPr txBox="1">
              <a:spLocks noChangeArrowheads="1"/>
            </p:cNvSpPr>
            <p:nvPr/>
          </p:nvSpPr>
          <p:spPr bwMode="auto">
            <a:xfrm>
              <a:off x="1955" y="3505"/>
              <a:ext cx="1005" cy="270"/>
            </a:xfrm>
            <a:prstGeom prst="rect">
              <a:avLst/>
            </a:prstGeom>
            <a:solidFill>
              <a:srgbClr val="DDDDDD"/>
            </a:solidFill>
            <a:ln>
              <a:noFill/>
            </a:ln>
            <a:effectLst>
              <a:prstShdw prst="shdw17" dist="17961" dir="2700000">
                <a:srgbClr val="DDDDDD">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Applications</a:t>
              </a:r>
            </a:p>
          </p:txBody>
        </p:sp>
        <p:sp>
          <p:nvSpPr>
            <p:cNvPr id="3099839" name="Text Box 191">
              <a:extLst>
                <a:ext uri="{FF2B5EF4-FFF2-40B4-BE49-F238E27FC236}">
                  <a16:creationId xmlns:a16="http://schemas.microsoft.com/office/drawing/2014/main" id="{7A5E2EA0-D61C-8382-1E36-DD9060264201}"/>
                </a:ext>
              </a:extLst>
            </p:cNvPr>
            <p:cNvSpPr txBox="1">
              <a:spLocks noChangeArrowheads="1"/>
            </p:cNvSpPr>
            <p:nvPr/>
          </p:nvSpPr>
          <p:spPr bwMode="auto">
            <a:xfrm>
              <a:off x="631" y="3499"/>
              <a:ext cx="1005" cy="270"/>
            </a:xfrm>
            <a:prstGeom prst="rect">
              <a:avLst/>
            </a:prstGeom>
            <a:solidFill>
              <a:srgbClr val="DDDDDD"/>
            </a:solidFill>
            <a:ln>
              <a:noFill/>
            </a:ln>
            <a:effectLst>
              <a:prstShdw prst="shdw17" dist="17961" dir="2700000">
                <a:srgbClr val="DDDDDD">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Databases</a:t>
              </a:r>
            </a:p>
          </p:txBody>
        </p:sp>
        <p:grpSp>
          <p:nvGrpSpPr>
            <p:cNvPr id="3099840" name="Group 192">
              <a:extLst>
                <a:ext uri="{FF2B5EF4-FFF2-40B4-BE49-F238E27FC236}">
                  <a16:creationId xmlns:a16="http://schemas.microsoft.com/office/drawing/2014/main" id="{989E9320-424E-9700-A94F-91C6624D1F01}"/>
                </a:ext>
              </a:extLst>
            </p:cNvPr>
            <p:cNvGrpSpPr>
              <a:grpSpLocks/>
            </p:cNvGrpSpPr>
            <p:nvPr/>
          </p:nvGrpSpPr>
          <p:grpSpPr bwMode="auto">
            <a:xfrm>
              <a:off x="704" y="2303"/>
              <a:ext cx="2222" cy="1115"/>
              <a:chOff x="704" y="2303"/>
              <a:chExt cx="2222" cy="1115"/>
            </a:xfrm>
          </p:grpSpPr>
          <p:sp>
            <p:nvSpPr>
              <p:cNvPr id="3099841" name="AutoShape 193">
                <a:extLst>
                  <a:ext uri="{FF2B5EF4-FFF2-40B4-BE49-F238E27FC236}">
                    <a16:creationId xmlns:a16="http://schemas.microsoft.com/office/drawing/2014/main" id="{5CA3AF9F-C67B-B5A8-C308-D1C010100D8A}"/>
                  </a:ext>
                </a:extLst>
              </p:cNvPr>
              <p:cNvSpPr>
                <a:spLocks noChangeArrowheads="1"/>
              </p:cNvSpPr>
              <p:nvPr/>
            </p:nvSpPr>
            <p:spPr bwMode="auto">
              <a:xfrm>
                <a:off x="704" y="2303"/>
                <a:ext cx="2222" cy="1115"/>
              </a:xfrm>
              <a:prstGeom prst="roundRect">
                <a:avLst>
                  <a:gd name="adj" fmla="val 16667"/>
                </a:avLst>
              </a:prstGeom>
              <a:solidFill>
                <a:srgbClr val="DDE3F7"/>
              </a:solidFill>
              <a:ln w="3175" algn="ctr">
                <a:solidFill>
                  <a:srgbClr val="001636"/>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sz="1400">
                  <a:solidFill>
                    <a:srgbClr val="003580"/>
                  </a:solidFill>
                  <a:ea typeface="宋体" panose="02010600030101010101" pitchFamily="2" charset="-122"/>
                </a:endParaRPr>
              </a:p>
            </p:txBody>
          </p:sp>
          <p:sp>
            <p:nvSpPr>
              <p:cNvPr id="3099842" name="Text Box 194">
                <a:extLst>
                  <a:ext uri="{FF2B5EF4-FFF2-40B4-BE49-F238E27FC236}">
                    <a16:creationId xmlns:a16="http://schemas.microsoft.com/office/drawing/2014/main" id="{5CE61BB9-EB5D-C902-D8DC-F875243F5A08}"/>
                  </a:ext>
                </a:extLst>
              </p:cNvPr>
              <p:cNvSpPr txBox="1">
                <a:spLocks noChangeArrowheads="1"/>
              </p:cNvSpPr>
              <p:nvPr/>
            </p:nvSpPr>
            <p:spPr bwMode="auto">
              <a:xfrm>
                <a:off x="1131" y="2895"/>
                <a:ext cx="502" cy="270"/>
              </a:xfrm>
              <a:prstGeom prst="rect">
                <a:avLst/>
              </a:prstGeom>
              <a:solidFill>
                <a:srgbClr val="F5F7FD"/>
              </a:solidFill>
              <a:ln>
                <a:noFill/>
              </a:ln>
              <a:effectLst>
                <a:prstShdw prst="shdw17" dist="17961" dir="2700000">
                  <a:srgbClr val="F5F7FD">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UNIX</a:t>
                </a:r>
              </a:p>
            </p:txBody>
          </p:sp>
          <p:sp>
            <p:nvSpPr>
              <p:cNvPr id="3099843" name="Text Box 195">
                <a:extLst>
                  <a:ext uri="{FF2B5EF4-FFF2-40B4-BE49-F238E27FC236}">
                    <a16:creationId xmlns:a16="http://schemas.microsoft.com/office/drawing/2014/main" id="{61E33A0F-3615-8147-A77C-D028B14384DF}"/>
                  </a:ext>
                </a:extLst>
              </p:cNvPr>
              <p:cNvSpPr txBox="1">
                <a:spLocks noChangeArrowheads="1"/>
              </p:cNvSpPr>
              <p:nvPr/>
            </p:nvSpPr>
            <p:spPr bwMode="auto">
              <a:xfrm>
                <a:off x="1719" y="3039"/>
                <a:ext cx="502" cy="270"/>
              </a:xfrm>
              <a:prstGeom prst="rect">
                <a:avLst/>
              </a:prstGeom>
              <a:solidFill>
                <a:srgbClr val="F2F4FC"/>
              </a:solidFill>
              <a:ln>
                <a:noFill/>
              </a:ln>
              <a:effectLst>
                <a:prstShdw prst="shdw17" dist="17961" dir="2700000">
                  <a:srgbClr val="F2F4FC">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WIN</a:t>
                </a:r>
              </a:p>
            </p:txBody>
          </p:sp>
          <p:sp>
            <p:nvSpPr>
              <p:cNvPr id="3099844" name="Text Box 196">
                <a:extLst>
                  <a:ext uri="{FF2B5EF4-FFF2-40B4-BE49-F238E27FC236}">
                    <a16:creationId xmlns:a16="http://schemas.microsoft.com/office/drawing/2014/main" id="{202D7F29-5E80-357F-A580-22DB0D66733D}"/>
                  </a:ext>
                </a:extLst>
              </p:cNvPr>
              <p:cNvSpPr txBox="1">
                <a:spLocks noChangeArrowheads="1"/>
              </p:cNvSpPr>
              <p:nvPr/>
            </p:nvSpPr>
            <p:spPr bwMode="auto">
              <a:xfrm>
                <a:off x="1607" y="2383"/>
                <a:ext cx="594"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Servers</a:t>
                </a:r>
              </a:p>
            </p:txBody>
          </p:sp>
          <p:sp>
            <p:nvSpPr>
              <p:cNvPr id="3099845" name="Text Box 197">
                <a:extLst>
                  <a:ext uri="{FF2B5EF4-FFF2-40B4-BE49-F238E27FC236}">
                    <a16:creationId xmlns:a16="http://schemas.microsoft.com/office/drawing/2014/main" id="{BCF879DE-8B34-0BF9-7282-D8D5702692E3}"/>
                  </a:ext>
                </a:extLst>
              </p:cNvPr>
              <p:cNvSpPr txBox="1">
                <a:spLocks noChangeArrowheads="1"/>
              </p:cNvSpPr>
              <p:nvPr/>
            </p:nvSpPr>
            <p:spPr bwMode="auto">
              <a:xfrm>
                <a:off x="2270" y="2806"/>
                <a:ext cx="502" cy="270"/>
              </a:xfrm>
              <a:prstGeom prst="rect">
                <a:avLst/>
              </a:prstGeom>
              <a:solidFill>
                <a:srgbClr val="F2F4FC"/>
              </a:solidFill>
              <a:ln>
                <a:noFill/>
              </a:ln>
              <a:effectLst>
                <a:prstShdw prst="shdw17" dist="17961" dir="2700000">
                  <a:srgbClr val="F2F4FC">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MF</a:t>
                </a:r>
              </a:p>
            </p:txBody>
          </p:sp>
          <p:pic>
            <p:nvPicPr>
              <p:cNvPr id="3099846" name="Picture 198">
                <a:extLst>
                  <a:ext uri="{FF2B5EF4-FFF2-40B4-BE49-F238E27FC236}">
                    <a16:creationId xmlns:a16="http://schemas.microsoft.com/office/drawing/2014/main" id="{F08F0602-490D-4D23-A319-D61F4759C9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 y="2404"/>
                <a:ext cx="351" cy="578"/>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099847" name="Group 199">
            <a:extLst>
              <a:ext uri="{FF2B5EF4-FFF2-40B4-BE49-F238E27FC236}">
                <a16:creationId xmlns:a16="http://schemas.microsoft.com/office/drawing/2014/main" id="{314C32C9-2A13-789E-0C65-166F12975EDD}"/>
              </a:ext>
            </a:extLst>
          </p:cNvPr>
          <p:cNvGrpSpPr>
            <a:grpSpLocks/>
          </p:cNvGrpSpPr>
          <p:nvPr/>
        </p:nvGrpSpPr>
        <p:grpSpPr bwMode="auto">
          <a:xfrm>
            <a:off x="6143625" y="4291013"/>
            <a:ext cx="2439988" cy="1857375"/>
            <a:chOff x="3324" y="2307"/>
            <a:chExt cx="1537" cy="1170"/>
          </a:xfrm>
        </p:grpSpPr>
        <p:sp>
          <p:nvSpPr>
            <p:cNvPr id="3099848" name="AutoShape 200">
              <a:extLst>
                <a:ext uri="{FF2B5EF4-FFF2-40B4-BE49-F238E27FC236}">
                  <a16:creationId xmlns:a16="http://schemas.microsoft.com/office/drawing/2014/main" id="{AA5DE962-0C58-9B00-10A9-87BEFE641D77}"/>
                </a:ext>
              </a:extLst>
            </p:cNvPr>
            <p:cNvSpPr>
              <a:spLocks noChangeArrowheads="1"/>
            </p:cNvSpPr>
            <p:nvPr/>
          </p:nvSpPr>
          <p:spPr bwMode="auto">
            <a:xfrm>
              <a:off x="3324" y="2307"/>
              <a:ext cx="1537" cy="1170"/>
            </a:xfrm>
            <a:prstGeom prst="roundRect">
              <a:avLst>
                <a:gd name="adj" fmla="val 16667"/>
              </a:avLst>
            </a:prstGeom>
            <a:solidFill>
              <a:srgbClr val="CEC49A"/>
            </a:solidFill>
            <a:ln w="3175" algn="ctr">
              <a:solidFill>
                <a:srgbClr val="996633"/>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endParaRPr lang="zh-CN" altLang="en-US" sz="1400">
                <a:solidFill>
                  <a:srgbClr val="003580"/>
                </a:solidFill>
                <a:ea typeface="宋体" panose="02010600030101010101" pitchFamily="2" charset="-122"/>
              </a:endParaRPr>
            </a:p>
          </p:txBody>
        </p:sp>
        <p:sp>
          <p:nvSpPr>
            <p:cNvPr id="3099849" name="Text Box 201">
              <a:extLst>
                <a:ext uri="{FF2B5EF4-FFF2-40B4-BE49-F238E27FC236}">
                  <a16:creationId xmlns:a16="http://schemas.microsoft.com/office/drawing/2014/main" id="{2B485552-77C4-BC27-F96B-F8ECDBFF1A14}"/>
                </a:ext>
              </a:extLst>
            </p:cNvPr>
            <p:cNvSpPr txBox="1">
              <a:spLocks noChangeArrowheads="1"/>
            </p:cNvSpPr>
            <p:nvPr/>
          </p:nvSpPr>
          <p:spPr bwMode="auto">
            <a:xfrm>
              <a:off x="3790" y="2370"/>
              <a:ext cx="705"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Network</a:t>
              </a:r>
            </a:p>
          </p:txBody>
        </p:sp>
        <p:sp>
          <p:nvSpPr>
            <p:cNvPr id="3099850" name="Text Box 202">
              <a:extLst>
                <a:ext uri="{FF2B5EF4-FFF2-40B4-BE49-F238E27FC236}">
                  <a16:creationId xmlns:a16="http://schemas.microsoft.com/office/drawing/2014/main" id="{BFAC0671-1A67-4F8C-A680-50947E18A801}"/>
                </a:ext>
              </a:extLst>
            </p:cNvPr>
            <p:cNvSpPr txBox="1">
              <a:spLocks noChangeArrowheads="1"/>
            </p:cNvSpPr>
            <p:nvPr/>
          </p:nvSpPr>
          <p:spPr bwMode="auto">
            <a:xfrm>
              <a:off x="3516" y="3093"/>
              <a:ext cx="502" cy="270"/>
            </a:xfrm>
            <a:prstGeom prst="rect">
              <a:avLst/>
            </a:prstGeom>
            <a:solidFill>
              <a:srgbClr val="F3F1E7"/>
            </a:solidFill>
            <a:ln>
              <a:noFill/>
            </a:ln>
            <a:effectLst>
              <a:prstShdw prst="shdw17" dist="17961" dir="2700000">
                <a:srgbClr val="F3F1E7">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SAN</a:t>
              </a:r>
            </a:p>
          </p:txBody>
        </p:sp>
        <p:sp>
          <p:nvSpPr>
            <p:cNvPr id="3099851" name="Text Box 203">
              <a:extLst>
                <a:ext uri="{FF2B5EF4-FFF2-40B4-BE49-F238E27FC236}">
                  <a16:creationId xmlns:a16="http://schemas.microsoft.com/office/drawing/2014/main" id="{5B1E0DC7-90E1-D23B-EAD1-968C8EAF8F08}"/>
                </a:ext>
              </a:extLst>
            </p:cNvPr>
            <p:cNvSpPr txBox="1">
              <a:spLocks noChangeArrowheads="1"/>
            </p:cNvSpPr>
            <p:nvPr/>
          </p:nvSpPr>
          <p:spPr bwMode="auto">
            <a:xfrm>
              <a:off x="4252" y="3093"/>
              <a:ext cx="502" cy="270"/>
            </a:xfrm>
            <a:prstGeom prst="rect">
              <a:avLst/>
            </a:prstGeom>
            <a:solidFill>
              <a:srgbClr val="F3F1E7"/>
            </a:solidFill>
            <a:ln>
              <a:noFill/>
            </a:ln>
            <a:effectLst>
              <a:prstShdw prst="shdw17" dist="17961" dir="2700000">
                <a:srgbClr val="F3F1E7">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IP</a:t>
              </a:r>
            </a:p>
          </p:txBody>
        </p:sp>
        <p:grpSp>
          <p:nvGrpSpPr>
            <p:cNvPr id="3099852" name="Group 204">
              <a:extLst>
                <a:ext uri="{FF2B5EF4-FFF2-40B4-BE49-F238E27FC236}">
                  <a16:creationId xmlns:a16="http://schemas.microsoft.com/office/drawing/2014/main" id="{18DF5B25-6F0F-93AA-A633-EE43622F5EA1}"/>
                </a:ext>
              </a:extLst>
            </p:cNvPr>
            <p:cNvGrpSpPr>
              <a:grpSpLocks/>
            </p:cNvGrpSpPr>
            <p:nvPr/>
          </p:nvGrpSpPr>
          <p:grpSpPr bwMode="auto">
            <a:xfrm>
              <a:off x="3444" y="2694"/>
              <a:ext cx="582" cy="240"/>
              <a:chOff x="2490" y="1998"/>
              <a:chExt cx="510" cy="186"/>
            </a:xfrm>
          </p:grpSpPr>
          <p:sp>
            <p:nvSpPr>
              <p:cNvPr id="3099853" name="AutoShape 205">
                <a:extLst>
                  <a:ext uri="{FF2B5EF4-FFF2-40B4-BE49-F238E27FC236}">
                    <a16:creationId xmlns:a16="http://schemas.microsoft.com/office/drawing/2014/main" id="{74345DA1-2B6E-9771-70E3-249DF2686AFA}"/>
                  </a:ext>
                </a:extLst>
              </p:cNvPr>
              <p:cNvSpPr>
                <a:spLocks noChangeArrowheads="1"/>
              </p:cNvSpPr>
              <p:nvPr/>
            </p:nvSpPr>
            <p:spPr bwMode="auto">
              <a:xfrm>
                <a:off x="2490" y="1998"/>
                <a:ext cx="510" cy="186"/>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099854" name="Freeform 206">
                <a:extLst>
                  <a:ext uri="{FF2B5EF4-FFF2-40B4-BE49-F238E27FC236}">
                    <a16:creationId xmlns:a16="http://schemas.microsoft.com/office/drawing/2014/main" id="{A6B5E593-1392-6D2D-C47A-75961DFC12B2}"/>
                  </a:ext>
                </a:extLst>
              </p:cNvPr>
              <p:cNvSpPr>
                <a:spLocks/>
              </p:cNvSpPr>
              <p:nvPr/>
            </p:nvSpPr>
            <p:spPr bwMode="auto">
              <a:xfrm>
                <a:off x="2554" y="2042"/>
                <a:ext cx="195" cy="1"/>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9855" name="Freeform 207">
                <a:extLst>
                  <a:ext uri="{FF2B5EF4-FFF2-40B4-BE49-F238E27FC236}">
                    <a16:creationId xmlns:a16="http://schemas.microsoft.com/office/drawing/2014/main" id="{4E76A002-EEBD-2027-F42C-1641ECBA6F9B}"/>
                  </a:ext>
                </a:extLst>
              </p:cNvPr>
              <p:cNvSpPr>
                <a:spLocks/>
              </p:cNvSpPr>
              <p:nvPr/>
            </p:nvSpPr>
            <p:spPr bwMode="auto">
              <a:xfrm>
                <a:off x="2554" y="2107"/>
                <a:ext cx="195"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9856" name="Freeform 208">
                <a:extLst>
                  <a:ext uri="{FF2B5EF4-FFF2-40B4-BE49-F238E27FC236}">
                    <a16:creationId xmlns:a16="http://schemas.microsoft.com/office/drawing/2014/main" id="{78039A45-7B9F-35DA-3505-B0E0EC64E80A}"/>
                  </a:ext>
                </a:extLst>
              </p:cNvPr>
              <p:cNvSpPr>
                <a:spLocks/>
              </p:cNvSpPr>
              <p:nvPr/>
            </p:nvSpPr>
            <p:spPr bwMode="auto">
              <a:xfrm flipH="1">
                <a:off x="2748" y="2076"/>
                <a:ext cx="196" cy="0"/>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9857" name="Freeform 209">
                <a:extLst>
                  <a:ext uri="{FF2B5EF4-FFF2-40B4-BE49-F238E27FC236}">
                    <a16:creationId xmlns:a16="http://schemas.microsoft.com/office/drawing/2014/main" id="{C3ABFFE1-5283-9C19-2EC4-BE260AD2160C}"/>
                  </a:ext>
                </a:extLst>
              </p:cNvPr>
              <p:cNvSpPr>
                <a:spLocks/>
              </p:cNvSpPr>
              <p:nvPr/>
            </p:nvSpPr>
            <p:spPr bwMode="auto">
              <a:xfrm flipH="1">
                <a:off x="2748" y="2140"/>
                <a:ext cx="196" cy="2"/>
              </a:xfrm>
              <a:custGeom>
                <a:avLst/>
                <a:gdLst>
                  <a:gd name="T0" fmla="*/ 367 w 367"/>
                  <a:gd name="T1" fmla="*/ 2 h 2"/>
                  <a:gd name="T2" fmla="*/ 0 w 367"/>
                  <a:gd name="T3" fmla="*/ 0 h 2"/>
                </a:gdLst>
                <a:ahLst/>
                <a:cxnLst>
                  <a:cxn ang="0">
                    <a:pos x="T0" y="T1"/>
                  </a:cxn>
                  <a:cxn ang="0">
                    <a:pos x="T2" y="T3"/>
                  </a:cxn>
                </a:cxnLst>
                <a:rect l="0" t="0" r="r" b="b"/>
                <a:pathLst>
                  <a:path w="367" h="2">
                    <a:moveTo>
                      <a:pt x="367" y="2"/>
                    </a:moveTo>
                    <a:lnTo>
                      <a:pt x="0" y="0"/>
                    </a:lnTo>
                  </a:path>
                </a:pathLst>
              </a:custGeom>
              <a:noFill/>
              <a:ln w="19050" cap="flat" cmpd="sng">
                <a:solidFill>
                  <a:srgbClr val="FF99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3099858" name="Group 210">
              <a:extLst>
                <a:ext uri="{FF2B5EF4-FFF2-40B4-BE49-F238E27FC236}">
                  <a16:creationId xmlns:a16="http://schemas.microsoft.com/office/drawing/2014/main" id="{F9DA83B2-59E7-E5F6-7667-0EFE9F4ACB4E}"/>
                </a:ext>
              </a:extLst>
            </p:cNvPr>
            <p:cNvGrpSpPr>
              <a:grpSpLocks/>
            </p:cNvGrpSpPr>
            <p:nvPr/>
          </p:nvGrpSpPr>
          <p:grpSpPr bwMode="auto">
            <a:xfrm>
              <a:off x="4158" y="2712"/>
              <a:ext cx="594" cy="216"/>
              <a:chOff x="2736" y="3264"/>
              <a:chExt cx="960" cy="480"/>
            </a:xfrm>
          </p:grpSpPr>
          <p:sp>
            <p:nvSpPr>
              <p:cNvPr id="3099859" name="AutoShape 211">
                <a:extLst>
                  <a:ext uri="{FF2B5EF4-FFF2-40B4-BE49-F238E27FC236}">
                    <a16:creationId xmlns:a16="http://schemas.microsoft.com/office/drawing/2014/main" id="{5A7B1293-82A1-B0C0-AD60-E917FE731A69}"/>
                  </a:ext>
                </a:extLst>
              </p:cNvPr>
              <p:cNvSpPr>
                <a:spLocks noChangeAspect="1" noChangeArrowheads="1"/>
              </p:cNvSpPr>
              <p:nvPr/>
            </p:nvSpPr>
            <p:spPr bwMode="auto">
              <a:xfrm>
                <a:off x="2736" y="3264"/>
                <a:ext cx="960" cy="480"/>
              </a:xfrm>
              <a:prstGeom prst="roundRect">
                <a:avLst>
                  <a:gd name="adj" fmla="val 16667"/>
                </a:avLst>
              </a:prstGeom>
              <a:gradFill rotWithShape="1">
                <a:gsLst>
                  <a:gs pos="0">
                    <a:srgbClr val="E6E6E6"/>
                  </a:gs>
                  <a:gs pos="100000">
                    <a:srgbClr val="E6E6E6">
                      <a:gamma/>
                      <a:shade val="92157"/>
                      <a:invGamma/>
                    </a:srgbClr>
                  </a:gs>
                </a:gsLst>
                <a:lin ang="0" scaled="1"/>
              </a:gradFill>
              <a:ln w="9525">
                <a:round/>
                <a:headEnd/>
                <a:tailEnd/>
              </a:ln>
              <a:effectLst/>
              <a:scene3d>
                <a:camera prst="legacyObliqueBottomRight"/>
                <a:lightRig rig="legacyFlat3" dir="l"/>
              </a:scene3d>
              <a:sp3d extrusionH="227000" prstMaterial="legacyMetal">
                <a:bevelT w="13500" h="13500" prst="angle"/>
                <a:bevelB w="13500" h="13500" prst="angle"/>
                <a:extrusionClr>
                  <a:srgbClr val="E6E6E6"/>
                </a:extrusionClr>
                <a:contourClr>
                  <a:srgbClr val="E6E6E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IN"/>
              </a:p>
            </p:txBody>
          </p:sp>
          <p:sp>
            <p:nvSpPr>
              <p:cNvPr id="3099860" name="Line 212">
                <a:extLst>
                  <a:ext uri="{FF2B5EF4-FFF2-40B4-BE49-F238E27FC236}">
                    <a16:creationId xmlns:a16="http://schemas.microsoft.com/office/drawing/2014/main" id="{B21DD1C9-F397-A3E1-481F-DFDD9E657E16}"/>
                  </a:ext>
                </a:extLst>
              </p:cNvPr>
              <p:cNvSpPr>
                <a:spLocks noChangeAspect="1" noChangeShapeType="1"/>
              </p:cNvSpPr>
              <p:nvPr/>
            </p:nvSpPr>
            <p:spPr bwMode="auto">
              <a:xfrm>
                <a:off x="2862" y="3504"/>
                <a:ext cx="720" cy="0"/>
              </a:xfrm>
              <a:prstGeom prst="line">
                <a:avLst/>
              </a:prstGeom>
              <a:noFill/>
              <a:ln w="1270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9861" name="Line 213">
                <a:extLst>
                  <a:ext uri="{FF2B5EF4-FFF2-40B4-BE49-F238E27FC236}">
                    <a16:creationId xmlns:a16="http://schemas.microsoft.com/office/drawing/2014/main" id="{BE15CA05-2D8D-C102-23E8-67049D911809}"/>
                  </a:ext>
                </a:extLst>
              </p:cNvPr>
              <p:cNvSpPr>
                <a:spLocks noChangeAspect="1" noChangeShapeType="1"/>
              </p:cNvSpPr>
              <p:nvPr/>
            </p:nvSpPr>
            <p:spPr bwMode="auto">
              <a:xfrm>
                <a:off x="3224" y="3288"/>
                <a:ext cx="0" cy="432"/>
              </a:xfrm>
              <a:prstGeom prst="line">
                <a:avLst/>
              </a:prstGeom>
              <a:noFill/>
              <a:ln w="1270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9862" name="Line 214">
                <a:extLst>
                  <a:ext uri="{FF2B5EF4-FFF2-40B4-BE49-F238E27FC236}">
                    <a16:creationId xmlns:a16="http://schemas.microsoft.com/office/drawing/2014/main" id="{F3CB4A7D-628F-F6C7-A2FC-B6CAC3DF8E72}"/>
                  </a:ext>
                </a:extLst>
              </p:cNvPr>
              <p:cNvSpPr>
                <a:spLocks noChangeAspect="1" noChangeShapeType="1"/>
              </p:cNvSpPr>
              <p:nvPr/>
            </p:nvSpPr>
            <p:spPr bwMode="auto">
              <a:xfrm>
                <a:off x="2928" y="3312"/>
                <a:ext cx="576" cy="384"/>
              </a:xfrm>
              <a:prstGeom prst="line">
                <a:avLst/>
              </a:prstGeom>
              <a:noFill/>
              <a:ln w="1270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99863" name="Line 215">
                <a:extLst>
                  <a:ext uri="{FF2B5EF4-FFF2-40B4-BE49-F238E27FC236}">
                    <a16:creationId xmlns:a16="http://schemas.microsoft.com/office/drawing/2014/main" id="{D5D67863-8D8D-FB40-90BA-7CB313B3421B}"/>
                  </a:ext>
                </a:extLst>
              </p:cNvPr>
              <p:cNvSpPr>
                <a:spLocks noChangeAspect="1" noChangeShapeType="1"/>
              </p:cNvSpPr>
              <p:nvPr/>
            </p:nvSpPr>
            <p:spPr bwMode="auto">
              <a:xfrm flipV="1">
                <a:off x="2958" y="3304"/>
                <a:ext cx="552" cy="390"/>
              </a:xfrm>
              <a:prstGeom prst="line">
                <a:avLst/>
              </a:prstGeom>
              <a:noFill/>
              <a:ln w="12700">
                <a:solidFill>
                  <a:srgbClr val="0000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sp>
        <p:nvSpPr>
          <p:cNvPr id="3099657" name="Line 9">
            <a:extLst>
              <a:ext uri="{FF2B5EF4-FFF2-40B4-BE49-F238E27FC236}">
                <a16:creationId xmlns:a16="http://schemas.microsoft.com/office/drawing/2014/main" id="{E79B7D24-EBF1-1067-8696-B119737BF4C3}"/>
              </a:ext>
            </a:extLst>
          </p:cNvPr>
          <p:cNvSpPr>
            <a:spLocks noChangeShapeType="1"/>
          </p:cNvSpPr>
          <p:nvPr/>
        </p:nvSpPr>
        <p:spPr bwMode="auto">
          <a:xfrm>
            <a:off x="4238625" y="2994025"/>
            <a:ext cx="1624013" cy="0"/>
          </a:xfrm>
          <a:prstGeom prst="line">
            <a:avLst/>
          </a:prstGeom>
          <a:noFill/>
          <a:ln w="28575">
            <a:solidFill>
              <a:srgbClr val="001636"/>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endParaRPr lang="en-IN"/>
          </a:p>
        </p:txBody>
      </p:sp>
      <p:grpSp>
        <p:nvGrpSpPr>
          <p:cNvPr id="3099871" name="Group 223">
            <a:extLst>
              <a:ext uri="{FF2B5EF4-FFF2-40B4-BE49-F238E27FC236}">
                <a16:creationId xmlns:a16="http://schemas.microsoft.com/office/drawing/2014/main" id="{0C0B96E9-55FE-3BC2-DADA-0AB0F7E03FE0}"/>
              </a:ext>
            </a:extLst>
          </p:cNvPr>
          <p:cNvGrpSpPr>
            <a:grpSpLocks/>
          </p:cNvGrpSpPr>
          <p:nvPr/>
        </p:nvGrpSpPr>
        <p:grpSpPr bwMode="auto">
          <a:xfrm>
            <a:off x="269875" y="1701800"/>
            <a:ext cx="3925888" cy="1954213"/>
            <a:chOff x="170" y="1072"/>
            <a:chExt cx="2473" cy="1231"/>
          </a:xfrm>
        </p:grpSpPr>
        <p:sp>
          <p:nvSpPr>
            <p:cNvPr id="3099827" name="AutoShape 179">
              <a:extLst>
                <a:ext uri="{FF2B5EF4-FFF2-40B4-BE49-F238E27FC236}">
                  <a16:creationId xmlns:a16="http://schemas.microsoft.com/office/drawing/2014/main" id="{2F74A9BD-1052-232C-942C-97428E01A9C1}"/>
                </a:ext>
              </a:extLst>
            </p:cNvPr>
            <p:cNvSpPr>
              <a:spLocks noChangeArrowheads="1"/>
            </p:cNvSpPr>
            <p:nvPr/>
          </p:nvSpPr>
          <p:spPr bwMode="auto">
            <a:xfrm>
              <a:off x="170" y="1072"/>
              <a:ext cx="2473" cy="1231"/>
            </a:xfrm>
            <a:prstGeom prst="roundRect">
              <a:avLst>
                <a:gd name="adj" fmla="val 11657"/>
              </a:avLst>
            </a:prstGeom>
            <a:gradFill rotWithShape="1">
              <a:gsLst>
                <a:gs pos="0">
                  <a:srgbClr val="E2EAEA"/>
                </a:gs>
                <a:gs pos="100000">
                  <a:srgbClr val="E2EAEA">
                    <a:gamma/>
                    <a:tint val="24706"/>
                    <a:invGamma/>
                  </a:srgbClr>
                </a:gs>
              </a:gsLst>
              <a:lin ang="2700000" scaled="1"/>
            </a:gradFill>
            <a:ln w="6350" algn="ctr">
              <a:solidFill>
                <a:srgbClr val="6F9995"/>
              </a:solidFill>
              <a:round/>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en-IN"/>
            </a:p>
          </p:txBody>
        </p:sp>
        <p:sp>
          <p:nvSpPr>
            <p:cNvPr id="3099828" name="Text Box 180">
              <a:extLst>
                <a:ext uri="{FF2B5EF4-FFF2-40B4-BE49-F238E27FC236}">
                  <a16:creationId xmlns:a16="http://schemas.microsoft.com/office/drawing/2014/main" id="{EB8B72D1-2336-A600-6808-7EF8564AB105}"/>
                </a:ext>
              </a:extLst>
            </p:cNvPr>
            <p:cNvSpPr txBox="1">
              <a:spLocks noChangeArrowheads="1"/>
            </p:cNvSpPr>
            <p:nvPr/>
          </p:nvSpPr>
          <p:spPr bwMode="auto">
            <a:xfrm>
              <a:off x="745" y="1112"/>
              <a:ext cx="1281"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2400">
                  <a:solidFill>
                    <a:srgbClr val="003580"/>
                  </a:solidFill>
                  <a:ea typeface="宋体" panose="02010600030101010101" pitchFamily="2" charset="-122"/>
                </a:rPr>
                <a:t>Storage Arrays</a:t>
              </a:r>
            </a:p>
          </p:txBody>
        </p:sp>
        <p:sp>
          <p:nvSpPr>
            <p:cNvPr id="3099829" name="Text Box 181">
              <a:extLst>
                <a:ext uri="{FF2B5EF4-FFF2-40B4-BE49-F238E27FC236}">
                  <a16:creationId xmlns:a16="http://schemas.microsoft.com/office/drawing/2014/main" id="{BC910B5F-06A3-AA4C-EBDC-B5AFD4A3814B}"/>
                </a:ext>
              </a:extLst>
            </p:cNvPr>
            <p:cNvSpPr txBox="1">
              <a:spLocks noChangeArrowheads="1"/>
            </p:cNvSpPr>
            <p:nvPr/>
          </p:nvSpPr>
          <p:spPr bwMode="auto">
            <a:xfrm>
              <a:off x="2037" y="1925"/>
              <a:ext cx="502" cy="270"/>
            </a:xfrm>
            <a:prstGeom prst="rect">
              <a:avLst/>
            </a:prstGeom>
            <a:solidFill>
              <a:srgbClr val="AFC9BF"/>
            </a:solidFill>
            <a:ln>
              <a:noFill/>
            </a:ln>
            <a:effectLst>
              <a:prstShdw prst="shdw17" dist="17961" dir="2700000">
                <a:srgbClr val="AFC9BF">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TLU</a:t>
              </a:r>
            </a:p>
          </p:txBody>
        </p:sp>
        <p:sp>
          <p:nvSpPr>
            <p:cNvPr id="3099830" name="Text Box 182">
              <a:extLst>
                <a:ext uri="{FF2B5EF4-FFF2-40B4-BE49-F238E27FC236}">
                  <a16:creationId xmlns:a16="http://schemas.microsoft.com/office/drawing/2014/main" id="{2DF2C66B-CCF4-7256-555D-4794FB68B8FD}"/>
                </a:ext>
              </a:extLst>
            </p:cNvPr>
            <p:cNvSpPr txBox="1">
              <a:spLocks noChangeArrowheads="1"/>
            </p:cNvSpPr>
            <p:nvPr/>
          </p:nvSpPr>
          <p:spPr bwMode="auto">
            <a:xfrm>
              <a:off x="789" y="1455"/>
              <a:ext cx="502" cy="270"/>
            </a:xfrm>
            <a:prstGeom prst="rect">
              <a:avLst/>
            </a:prstGeom>
            <a:solidFill>
              <a:srgbClr val="AFC9BF"/>
            </a:solidFill>
            <a:ln>
              <a:noFill/>
            </a:ln>
            <a:effectLst>
              <a:prstShdw prst="shdw17" dist="17961" dir="2700000">
                <a:srgbClr val="AFC9BF">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NAS</a:t>
              </a:r>
            </a:p>
          </p:txBody>
        </p:sp>
        <p:sp>
          <p:nvSpPr>
            <p:cNvPr id="3099831" name="Text Box 183">
              <a:extLst>
                <a:ext uri="{FF2B5EF4-FFF2-40B4-BE49-F238E27FC236}">
                  <a16:creationId xmlns:a16="http://schemas.microsoft.com/office/drawing/2014/main" id="{C3BAE676-EEFA-33C7-F561-F7405E47CC38}"/>
                </a:ext>
              </a:extLst>
            </p:cNvPr>
            <p:cNvSpPr txBox="1">
              <a:spLocks noChangeArrowheads="1"/>
            </p:cNvSpPr>
            <p:nvPr/>
          </p:nvSpPr>
          <p:spPr bwMode="auto">
            <a:xfrm>
              <a:off x="929" y="1844"/>
              <a:ext cx="502" cy="270"/>
            </a:xfrm>
            <a:prstGeom prst="rect">
              <a:avLst/>
            </a:prstGeom>
            <a:solidFill>
              <a:srgbClr val="AFC9BF"/>
            </a:solidFill>
            <a:ln>
              <a:noFill/>
            </a:ln>
            <a:effectLst>
              <a:prstShdw prst="shdw17" dist="17961" dir="2700000">
                <a:srgbClr val="AFC9BF">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SAN</a:t>
              </a:r>
            </a:p>
          </p:txBody>
        </p:sp>
        <p:sp>
          <p:nvSpPr>
            <p:cNvPr id="3099832" name="Text Box 184">
              <a:extLst>
                <a:ext uri="{FF2B5EF4-FFF2-40B4-BE49-F238E27FC236}">
                  <a16:creationId xmlns:a16="http://schemas.microsoft.com/office/drawing/2014/main" id="{7CFC0DB6-5F02-9942-3927-45A4B5C8986D}"/>
                </a:ext>
              </a:extLst>
            </p:cNvPr>
            <p:cNvSpPr txBox="1">
              <a:spLocks noChangeArrowheads="1"/>
            </p:cNvSpPr>
            <p:nvPr/>
          </p:nvSpPr>
          <p:spPr bwMode="auto">
            <a:xfrm>
              <a:off x="1503" y="1610"/>
              <a:ext cx="502" cy="270"/>
            </a:xfrm>
            <a:prstGeom prst="rect">
              <a:avLst/>
            </a:prstGeom>
            <a:solidFill>
              <a:srgbClr val="AFC9BF"/>
            </a:solidFill>
            <a:ln>
              <a:noFill/>
            </a:ln>
            <a:effectLst>
              <a:prstShdw prst="shdw17" dist="17961" dir="2700000">
                <a:srgbClr val="AFC9BF">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DAS</a:t>
              </a:r>
            </a:p>
          </p:txBody>
        </p:sp>
        <p:sp>
          <p:nvSpPr>
            <p:cNvPr id="3099833" name="Text Box 185">
              <a:extLst>
                <a:ext uri="{FF2B5EF4-FFF2-40B4-BE49-F238E27FC236}">
                  <a16:creationId xmlns:a16="http://schemas.microsoft.com/office/drawing/2014/main" id="{0281FAB4-CA30-6080-F960-A4DA08314425}"/>
                </a:ext>
              </a:extLst>
            </p:cNvPr>
            <p:cNvSpPr txBox="1">
              <a:spLocks noChangeArrowheads="1"/>
            </p:cNvSpPr>
            <p:nvPr/>
          </p:nvSpPr>
          <p:spPr bwMode="auto">
            <a:xfrm>
              <a:off x="2038" y="1314"/>
              <a:ext cx="502" cy="270"/>
            </a:xfrm>
            <a:prstGeom prst="rect">
              <a:avLst/>
            </a:prstGeom>
            <a:solidFill>
              <a:srgbClr val="AFC9BF"/>
            </a:solidFill>
            <a:ln>
              <a:noFill/>
            </a:ln>
            <a:effectLst>
              <a:prstShdw prst="shdw17" dist="17961" dir="2700000">
                <a:srgbClr val="AFC9BF">
                  <a:gamma/>
                  <a:shade val="60000"/>
                  <a:invGamma/>
                </a:srgbClr>
              </a:prstShdw>
            </a:effectLst>
            <a:extLst>
              <a:ext uri="{91240B29-F687-4F45-9708-019B960494DF}">
                <a14:hiddenLine xmlns:a14="http://schemas.microsoft.com/office/drawing/2010/main" w="12700" algn="ctr">
                  <a:solidFill>
                    <a:srgbClr val="001636"/>
                  </a:solidFill>
                  <a:miter lim="800000"/>
                  <a:headEnd/>
                  <a:tailEnd type="none" w="lg" len="med"/>
                </a14:hiddenLine>
              </a:ext>
            </a:extLst>
          </p:spPr>
          <p:txBody>
            <a:bodyPr tIns="91440" bIns="91440">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600" b="1">
                  <a:solidFill>
                    <a:srgbClr val="003580"/>
                  </a:solidFill>
                  <a:ea typeface="宋体" panose="02010600030101010101" pitchFamily="2" charset="-122"/>
                </a:rPr>
                <a:t>CAS</a:t>
              </a:r>
            </a:p>
          </p:txBody>
        </p:sp>
        <p:pic>
          <p:nvPicPr>
            <p:cNvPr id="3099834" name="Picture 186">
              <a:extLst>
                <a:ext uri="{FF2B5EF4-FFF2-40B4-BE49-F238E27FC236}">
                  <a16:creationId xmlns:a16="http://schemas.microsoft.com/office/drawing/2014/main" id="{909CE01E-52DC-2249-22CE-F39C027118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 y="1313"/>
              <a:ext cx="462" cy="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99867" name="Rectangle 219">
            <a:extLst>
              <a:ext uri="{FF2B5EF4-FFF2-40B4-BE49-F238E27FC236}">
                <a16:creationId xmlns:a16="http://schemas.microsoft.com/office/drawing/2014/main" id="{A0447565-B100-6301-58B4-BDB1844B6200}"/>
              </a:ext>
            </a:extLst>
          </p:cNvPr>
          <p:cNvSpPr>
            <a:spLocks noChangeArrowheads="1"/>
          </p:cNvSpPr>
          <p:nvPr/>
        </p:nvSpPr>
        <p:spPr bwMode="auto">
          <a:xfrm>
            <a:off x="5876925" y="1643063"/>
            <a:ext cx="3019425" cy="1863725"/>
          </a:xfrm>
          <a:prstGeom prst="rect">
            <a:avLst/>
          </a:prstGeom>
          <a:solidFill>
            <a:srgbClr val="F7E199"/>
          </a:solidFill>
          <a:ln w="12700" algn="ctr">
            <a:solidFill>
              <a:srgbClr val="001636"/>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91440" rIns="0" bIns="0"/>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003580"/>
                </a:solidFill>
                <a:ea typeface="宋体" panose="02010600030101010101" pitchFamily="2" charset="-122"/>
              </a:rPr>
              <a:t>Storage Arrays</a:t>
            </a:r>
          </a:p>
          <a:p>
            <a:pPr algn="ctr">
              <a:spcBef>
                <a:spcPct val="50000"/>
              </a:spcBef>
            </a:pPr>
            <a:endParaRPr lang="zh-CN" altLang="en-US" sz="1800" b="1">
              <a:solidFill>
                <a:srgbClr val="003580"/>
              </a:solidFill>
              <a:ea typeface="宋体" panose="02010600030101010101" pitchFamily="2" charset="-122"/>
            </a:endParaRPr>
          </a:p>
        </p:txBody>
      </p:sp>
      <p:sp>
        <p:nvSpPr>
          <p:cNvPr id="3099868" name="Rectangle 220">
            <a:extLst>
              <a:ext uri="{FF2B5EF4-FFF2-40B4-BE49-F238E27FC236}">
                <a16:creationId xmlns:a16="http://schemas.microsoft.com/office/drawing/2014/main" id="{178716D3-41C8-121D-DDD2-31EE77CE60BB}"/>
              </a:ext>
            </a:extLst>
          </p:cNvPr>
          <p:cNvSpPr>
            <a:spLocks noChangeArrowheads="1"/>
          </p:cNvSpPr>
          <p:nvPr/>
        </p:nvSpPr>
        <p:spPr bwMode="auto">
          <a:xfrm>
            <a:off x="5915025" y="2235200"/>
            <a:ext cx="297180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003580"/>
                </a:solidFill>
                <a:ea typeface="宋体" panose="02010600030101010101" pitchFamily="2" charset="-122"/>
              </a:rPr>
              <a:t>Network</a:t>
            </a:r>
          </a:p>
          <a:p>
            <a:pPr algn="ctr">
              <a:spcBef>
                <a:spcPct val="50000"/>
              </a:spcBef>
            </a:pPr>
            <a:endParaRPr lang="zh-CN" altLang="en-US" sz="1800" b="1">
              <a:solidFill>
                <a:srgbClr val="003580"/>
              </a:solidFill>
              <a:ea typeface="宋体" panose="02010600030101010101" pitchFamily="2" charset="-122"/>
            </a:endParaRPr>
          </a:p>
        </p:txBody>
      </p:sp>
      <p:sp>
        <p:nvSpPr>
          <p:cNvPr id="3099870" name="Rectangle 222">
            <a:extLst>
              <a:ext uri="{FF2B5EF4-FFF2-40B4-BE49-F238E27FC236}">
                <a16:creationId xmlns:a16="http://schemas.microsoft.com/office/drawing/2014/main" id="{391A45D9-67B7-6A17-22DF-E350A28E173B}"/>
              </a:ext>
            </a:extLst>
          </p:cNvPr>
          <p:cNvSpPr>
            <a:spLocks noChangeArrowheads="1"/>
          </p:cNvSpPr>
          <p:nvPr/>
        </p:nvSpPr>
        <p:spPr bwMode="auto">
          <a:xfrm>
            <a:off x="5981700" y="2695575"/>
            <a:ext cx="2847975"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354013" indent="-354013"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spcBef>
                <a:spcPct val="50000"/>
              </a:spcBef>
            </a:pPr>
            <a:r>
              <a:rPr lang="en-US" altLang="zh-CN" sz="1800" b="1">
                <a:solidFill>
                  <a:srgbClr val="003580"/>
                </a:solidFill>
                <a:ea typeface="宋体" panose="02010600030101010101" pitchFamily="2" charset="-122"/>
              </a:rPr>
              <a:t>Servers, Databases,</a:t>
            </a:r>
          </a:p>
          <a:p>
            <a:pPr algn="ctr">
              <a:spcBef>
                <a:spcPct val="50000"/>
              </a:spcBef>
            </a:pPr>
            <a:r>
              <a:rPr lang="en-US" altLang="zh-CN" sz="1800" b="1">
                <a:solidFill>
                  <a:srgbClr val="003580"/>
                </a:solidFill>
                <a:ea typeface="宋体" panose="02010600030101010101" pitchFamily="2" charset="-122"/>
              </a:rPr>
              <a:t>Applications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3099654"/>
                                        </p:tgtEl>
                                        <p:attrNameLst>
                                          <p:attrName>style.visibility</p:attrName>
                                        </p:attrNameLst>
                                      </p:cBhvr>
                                      <p:to>
                                        <p:strVal val="visible"/>
                                      </p:to>
                                    </p:set>
                                    <p:animEffect transition="in" filter="fade">
                                      <p:cBhvr>
                                        <p:cTn id="7" dur="1000"/>
                                        <p:tgtEl>
                                          <p:spTgt spid="3099654"/>
                                        </p:tgtEl>
                                      </p:cBhvr>
                                    </p:animEffect>
                                  </p:childTnLst>
                                </p:cTn>
                              </p:par>
                              <p:par>
                                <p:cTn id="8" presetID="10" presetClass="entr" presetSubtype="0" fill="hold" nodeType="withEffect">
                                  <p:stCondLst>
                                    <p:cond delay="0"/>
                                  </p:stCondLst>
                                  <p:childTnLst>
                                    <p:set>
                                      <p:cBhvr>
                                        <p:cTn id="9" dur="1" fill="hold">
                                          <p:stCondLst>
                                            <p:cond delay="0"/>
                                          </p:stCondLst>
                                        </p:cTn>
                                        <p:tgtEl>
                                          <p:spTgt spid="3099688"/>
                                        </p:tgtEl>
                                        <p:attrNameLst>
                                          <p:attrName>style.visibility</p:attrName>
                                        </p:attrNameLst>
                                      </p:cBhvr>
                                      <p:to>
                                        <p:strVal val="visible"/>
                                      </p:to>
                                    </p:set>
                                    <p:animEffect transition="in" filter="fade">
                                      <p:cBhvr>
                                        <p:cTn id="10" dur="1000"/>
                                        <p:tgtEl>
                                          <p:spTgt spid="3099688"/>
                                        </p:tgtEl>
                                      </p:cBhvr>
                                    </p:animEffect>
                                  </p:childTnLst>
                                </p:cTn>
                              </p:par>
                            </p:childTnLst>
                          </p:cTn>
                        </p:par>
                        <p:par>
                          <p:cTn id="11" fill="hold" nodeType="afterGroup">
                            <p:stCondLst>
                              <p:cond delay="1000"/>
                            </p:stCondLst>
                            <p:childTnLst>
                              <p:par>
                                <p:cTn id="12" presetID="10" presetClass="entr" presetSubtype="0" fill="hold" nodeType="afterEffect">
                                  <p:stCondLst>
                                    <p:cond delay="0"/>
                                  </p:stCondLst>
                                  <p:childTnLst>
                                    <p:set>
                                      <p:cBhvr>
                                        <p:cTn id="13" dur="1" fill="hold">
                                          <p:stCondLst>
                                            <p:cond delay="0"/>
                                          </p:stCondLst>
                                        </p:cTn>
                                        <p:tgtEl>
                                          <p:spTgt spid="3099653">
                                            <p:txEl>
                                              <p:pRg st="0" end="0"/>
                                            </p:txEl>
                                          </p:spTgt>
                                        </p:tgtEl>
                                        <p:attrNameLst>
                                          <p:attrName>style.visibility</p:attrName>
                                        </p:attrNameLst>
                                      </p:cBhvr>
                                      <p:to>
                                        <p:strVal val="visible"/>
                                      </p:to>
                                    </p:set>
                                    <p:animEffect transition="in" filter="fade">
                                      <p:cBhvr>
                                        <p:cTn id="14" dur="1000"/>
                                        <p:tgtEl>
                                          <p:spTgt spid="3099653">
                                            <p:txEl>
                                              <p:pRg st="0" end="0"/>
                                            </p:txEl>
                                          </p:spTgt>
                                        </p:tgtEl>
                                      </p:cBhvr>
                                    </p:animEffect>
                                  </p:childTnLst>
                                </p:cTn>
                              </p:par>
                            </p:childTnLst>
                          </p:cTn>
                        </p:par>
                        <p:par>
                          <p:cTn id="15" fill="hold" nodeType="afterGroup">
                            <p:stCondLst>
                              <p:cond delay="2000"/>
                            </p:stCondLst>
                            <p:childTnLst>
                              <p:par>
                                <p:cTn id="16" presetID="10" presetClass="entr" presetSubtype="0" fill="hold" nodeType="afterEffect">
                                  <p:stCondLst>
                                    <p:cond delay="0"/>
                                  </p:stCondLst>
                                  <p:childTnLst>
                                    <p:set>
                                      <p:cBhvr>
                                        <p:cTn id="17" dur="1" fill="hold">
                                          <p:stCondLst>
                                            <p:cond delay="0"/>
                                          </p:stCondLst>
                                        </p:cTn>
                                        <p:tgtEl>
                                          <p:spTgt spid="3099653">
                                            <p:txEl>
                                              <p:pRg st="1" end="1"/>
                                            </p:txEl>
                                          </p:spTgt>
                                        </p:tgtEl>
                                        <p:attrNameLst>
                                          <p:attrName>style.visibility</p:attrName>
                                        </p:attrNameLst>
                                      </p:cBhvr>
                                      <p:to>
                                        <p:strVal val="visible"/>
                                      </p:to>
                                    </p:set>
                                    <p:animEffect transition="in" filter="fade">
                                      <p:cBhvr>
                                        <p:cTn id="18" dur="1000"/>
                                        <p:tgtEl>
                                          <p:spTgt spid="3099653">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2" fill="hold" nodeType="clickEffect">
                                  <p:stCondLst>
                                    <p:cond delay="0"/>
                                  </p:stCondLst>
                                  <p:childTnLst>
                                    <p:set>
                                      <p:cBhvr>
                                        <p:cTn id="22" dur="1" fill="hold">
                                          <p:stCondLst>
                                            <p:cond delay="0"/>
                                          </p:stCondLst>
                                        </p:cTn>
                                        <p:tgtEl>
                                          <p:spTgt spid="3099657"/>
                                        </p:tgtEl>
                                        <p:attrNameLst>
                                          <p:attrName>style.visibility</p:attrName>
                                        </p:attrNameLst>
                                      </p:cBhvr>
                                      <p:to>
                                        <p:strVal val="visible"/>
                                      </p:to>
                                    </p:set>
                                    <p:animEffect transition="in" filter="wipe(right)">
                                      <p:cBhvr>
                                        <p:cTn id="23" dur="1000"/>
                                        <p:tgtEl>
                                          <p:spTgt spid="3099657"/>
                                        </p:tgtEl>
                                      </p:cBhvr>
                                    </p:animEffect>
                                  </p:childTnLst>
                                </p:cTn>
                              </p:par>
                            </p:childTnLst>
                          </p:cTn>
                        </p:par>
                        <p:par>
                          <p:cTn id="24" fill="hold" nodeType="afterGroup">
                            <p:stCondLst>
                              <p:cond delay="1000"/>
                            </p:stCondLst>
                            <p:childTnLst>
                              <p:par>
                                <p:cTn id="25" presetID="10" presetClass="entr" presetSubtype="0" fill="hold" nodeType="afterEffect">
                                  <p:stCondLst>
                                    <p:cond delay="0"/>
                                  </p:stCondLst>
                                  <p:childTnLst>
                                    <p:set>
                                      <p:cBhvr>
                                        <p:cTn id="26" dur="1" fill="hold">
                                          <p:stCondLst>
                                            <p:cond delay="0"/>
                                          </p:stCondLst>
                                        </p:cTn>
                                        <p:tgtEl>
                                          <p:spTgt spid="3099871"/>
                                        </p:tgtEl>
                                        <p:attrNameLst>
                                          <p:attrName>style.visibility</p:attrName>
                                        </p:attrNameLst>
                                      </p:cBhvr>
                                      <p:to>
                                        <p:strVal val="visible"/>
                                      </p:to>
                                    </p:set>
                                    <p:animEffect transition="in" filter="fade">
                                      <p:cBhvr>
                                        <p:cTn id="27" dur="1000"/>
                                        <p:tgtEl>
                                          <p:spTgt spid="3099871"/>
                                        </p:tgtEl>
                                      </p:cBhvr>
                                    </p:animEffect>
                                  </p:childTnLst>
                                </p:cTn>
                              </p:par>
                            </p:childTnLst>
                          </p:cTn>
                        </p:par>
                        <p:par>
                          <p:cTn id="28" fill="hold" nodeType="afterGroup">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3099867"/>
                                        </p:tgtEl>
                                        <p:attrNameLst>
                                          <p:attrName>style.visibility</p:attrName>
                                        </p:attrNameLst>
                                      </p:cBhvr>
                                      <p:to>
                                        <p:strVal val="visible"/>
                                      </p:to>
                                    </p:set>
                                    <p:animEffect transition="in" filter="fade">
                                      <p:cBhvr>
                                        <p:cTn id="31" dur="1000"/>
                                        <p:tgtEl>
                                          <p:spTgt spid="309986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3099655"/>
                                        </p:tgtEl>
                                        <p:attrNameLst>
                                          <p:attrName>style.visibility</p:attrName>
                                        </p:attrNameLst>
                                      </p:cBhvr>
                                      <p:to>
                                        <p:strVal val="visible"/>
                                      </p:to>
                                    </p:set>
                                    <p:animEffect transition="in" filter="wipe(up)">
                                      <p:cBhvr>
                                        <p:cTn id="36" dur="1000"/>
                                        <p:tgtEl>
                                          <p:spTgt spid="3099655"/>
                                        </p:tgtEl>
                                      </p:cBhvr>
                                    </p:animEffect>
                                  </p:childTnLst>
                                </p:cTn>
                              </p:par>
                            </p:childTnLst>
                          </p:cTn>
                        </p:par>
                        <p:par>
                          <p:cTn id="37" fill="hold" nodeType="afterGroup">
                            <p:stCondLst>
                              <p:cond delay="1000"/>
                            </p:stCondLst>
                            <p:childTnLst>
                              <p:par>
                                <p:cTn id="38" presetID="10" presetClass="entr" presetSubtype="0" fill="hold" nodeType="afterEffect">
                                  <p:stCondLst>
                                    <p:cond delay="0"/>
                                  </p:stCondLst>
                                  <p:childTnLst>
                                    <p:set>
                                      <p:cBhvr>
                                        <p:cTn id="39" dur="1" fill="hold">
                                          <p:stCondLst>
                                            <p:cond delay="0"/>
                                          </p:stCondLst>
                                        </p:cTn>
                                        <p:tgtEl>
                                          <p:spTgt spid="3099847"/>
                                        </p:tgtEl>
                                        <p:attrNameLst>
                                          <p:attrName>style.visibility</p:attrName>
                                        </p:attrNameLst>
                                      </p:cBhvr>
                                      <p:to>
                                        <p:strVal val="visible"/>
                                      </p:to>
                                    </p:set>
                                    <p:animEffect transition="in" filter="fade">
                                      <p:cBhvr>
                                        <p:cTn id="40" dur="1000"/>
                                        <p:tgtEl>
                                          <p:spTgt spid="3099847"/>
                                        </p:tgtEl>
                                      </p:cBhvr>
                                    </p:animEffect>
                                  </p:childTnLst>
                                </p:cTn>
                              </p:par>
                            </p:childTnLst>
                          </p:cTn>
                        </p:par>
                        <p:par>
                          <p:cTn id="41" fill="hold" nodeType="afterGroup">
                            <p:stCondLst>
                              <p:cond delay="2000"/>
                            </p:stCondLst>
                            <p:childTnLst>
                              <p:par>
                                <p:cTn id="42" presetID="10" presetClass="entr" presetSubtype="0" fill="hold" grpId="0" nodeType="afterEffect">
                                  <p:stCondLst>
                                    <p:cond delay="0"/>
                                  </p:stCondLst>
                                  <p:childTnLst>
                                    <p:set>
                                      <p:cBhvr>
                                        <p:cTn id="43" dur="1" fill="hold">
                                          <p:stCondLst>
                                            <p:cond delay="0"/>
                                          </p:stCondLst>
                                        </p:cTn>
                                        <p:tgtEl>
                                          <p:spTgt spid="3099868"/>
                                        </p:tgtEl>
                                        <p:attrNameLst>
                                          <p:attrName>style.visibility</p:attrName>
                                        </p:attrNameLst>
                                      </p:cBhvr>
                                      <p:to>
                                        <p:strVal val="visible"/>
                                      </p:to>
                                    </p:set>
                                    <p:animEffect transition="in" filter="fade">
                                      <p:cBhvr>
                                        <p:cTn id="44" dur="1000"/>
                                        <p:tgtEl>
                                          <p:spTgt spid="309986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nodeType="clickEffect">
                                  <p:stCondLst>
                                    <p:cond delay="0"/>
                                  </p:stCondLst>
                                  <p:childTnLst>
                                    <p:set>
                                      <p:cBhvr>
                                        <p:cTn id="48" dur="1" fill="hold">
                                          <p:stCondLst>
                                            <p:cond delay="0"/>
                                          </p:stCondLst>
                                        </p:cTn>
                                        <p:tgtEl>
                                          <p:spTgt spid="3099656"/>
                                        </p:tgtEl>
                                        <p:attrNameLst>
                                          <p:attrName>style.visibility</p:attrName>
                                        </p:attrNameLst>
                                      </p:cBhvr>
                                      <p:to>
                                        <p:strVal val="visible"/>
                                      </p:to>
                                    </p:set>
                                    <p:animEffect transition="in" filter="wipe(up)">
                                      <p:cBhvr>
                                        <p:cTn id="49" dur="1000"/>
                                        <p:tgtEl>
                                          <p:spTgt spid="3099656"/>
                                        </p:tgtEl>
                                      </p:cBhvr>
                                    </p:animEffect>
                                  </p:childTnLst>
                                </p:cTn>
                              </p:par>
                            </p:childTnLst>
                          </p:cTn>
                        </p:par>
                        <p:par>
                          <p:cTn id="50" fill="hold" nodeType="afterGroup">
                            <p:stCondLst>
                              <p:cond delay="1000"/>
                            </p:stCondLst>
                            <p:childTnLst>
                              <p:par>
                                <p:cTn id="51" presetID="10" presetClass="entr" presetSubtype="0" fill="hold" nodeType="afterEffect">
                                  <p:stCondLst>
                                    <p:cond delay="0"/>
                                  </p:stCondLst>
                                  <p:childTnLst>
                                    <p:set>
                                      <p:cBhvr>
                                        <p:cTn id="52" dur="1" fill="hold">
                                          <p:stCondLst>
                                            <p:cond delay="0"/>
                                          </p:stCondLst>
                                        </p:cTn>
                                        <p:tgtEl>
                                          <p:spTgt spid="3099837"/>
                                        </p:tgtEl>
                                        <p:attrNameLst>
                                          <p:attrName>style.visibility</p:attrName>
                                        </p:attrNameLst>
                                      </p:cBhvr>
                                      <p:to>
                                        <p:strVal val="visible"/>
                                      </p:to>
                                    </p:set>
                                    <p:animEffect transition="in" filter="fade">
                                      <p:cBhvr>
                                        <p:cTn id="53" dur="1000"/>
                                        <p:tgtEl>
                                          <p:spTgt spid="3099837"/>
                                        </p:tgtEl>
                                      </p:cBhvr>
                                    </p:animEffect>
                                  </p:childTnLst>
                                </p:cTn>
                              </p:par>
                            </p:childTnLst>
                          </p:cTn>
                        </p:par>
                        <p:par>
                          <p:cTn id="54" fill="hold" nodeType="afterGroup">
                            <p:stCondLst>
                              <p:cond delay="2000"/>
                            </p:stCondLst>
                            <p:childTnLst>
                              <p:par>
                                <p:cTn id="55" presetID="10" presetClass="entr" presetSubtype="0" fill="hold" grpId="0" nodeType="afterEffect">
                                  <p:stCondLst>
                                    <p:cond delay="0"/>
                                  </p:stCondLst>
                                  <p:childTnLst>
                                    <p:set>
                                      <p:cBhvr>
                                        <p:cTn id="56" dur="1" fill="hold">
                                          <p:stCondLst>
                                            <p:cond delay="0"/>
                                          </p:stCondLst>
                                        </p:cTn>
                                        <p:tgtEl>
                                          <p:spTgt spid="3099870"/>
                                        </p:tgtEl>
                                        <p:attrNameLst>
                                          <p:attrName>style.visibility</p:attrName>
                                        </p:attrNameLst>
                                      </p:cBhvr>
                                      <p:to>
                                        <p:strVal val="visible"/>
                                      </p:to>
                                    </p:set>
                                    <p:animEffect transition="in" filter="fade">
                                      <p:cBhvr>
                                        <p:cTn id="57" dur="1000"/>
                                        <p:tgtEl>
                                          <p:spTgt spid="3099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9867" grpId="0" animBg="1"/>
      <p:bldP spid="3099868" grpId="0"/>
      <p:bldP spid="309987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7739BDBD-2CA6-AEEB-12D3-AE9CBB6D8CC7}"/>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BD9EA71B-97B5-EA90-154B-66F0606BA586}"/>
              </a:ext>
            </a:extLst>
          </p:cNvPr>
          <p:cNvSpPr>
            <a:spLocks noGrp="1"/>
          </p:cNvSpPr>
          <p:nvPr>
            <p:ph type="sldNum" sz="quarter" idx="11"/>
          </p:nvPr>
        </p:nvSpPr>
        <p:spPr/>
        <p:txBody>
          <a:bodyPr/>
          <a:lstStyle/>
          <a:p>
            <a:r>
              <a:rPr lang="zh-CN" altLang="en-US"/>
              <a:t> </a:t>
            </a:r>
            <a:r>
              <a:rPr lang="en-US" altLang="zh-CN"/>
              <a:t>- </a:t>
            </a:r>
            <a:fld id="{D07434C1-3F8C-474C-BCD6-58FE3365499E}" type="slidenum">
              <a:rPr lang="en-US" altLang="zh-CN" sz="800"/>
              <a:pPr/>
              <a:t>83</a:t>
            </a:fld>
            <a:endParaRPr lang="en-US" altLang="zh-CN" sz="800"/>
          </a:p>
        </p:txBody>
      </p:sp>
      <p:sp>
        <p:nvSpPr>
          <p:cNvPr id="3124226" name="Rectangle 2">
            <a:extLst>
              <a:ext uri="{FF2B5EF4-FFF2-40B4-BE49-F238E27FC236}">
                <a16:creationId xmlns:a16="http://schemas.microsoft.com/office/drawing/2014/main" id="{75C3BA8F-98A0-D4C9-0709-06C4C3087C16}"/>
              </a:ext>
            </a:extLst>
          </p:cNvPr>
          <p:cNvSpPr>
            <a:spLocks noGrp="1" noChangeArrowheads="1"/>
          </p:cNvSpPr>
          <p:nvPr>
            <p:ph type="title"/>
          </p:nvPr>
        </p:nvSpPr>
        <p:spPr/>
        <p:txBody>
          <a:bodyPr/>
          <a:lstStyle/>
          <a:p>
            <a:r>
              <a:rPr lang="en-US" altLang="zh-CN">
                <a:ea typeface="宋体" panose="02010600030101010101" pitchFamily="2" charset="-122"/>
              </a:rPr>
              <a:t>Storage Management Initiative (SMI)</a:t>
            </a:r>
          </a:p>
        </p:txBody>
      </p:sp>
      <p:sp>
        <p:nvSpPr>
          <p:cNvPr id="3124227" name="Rectangle 3">
            <a:extLst>
              <a:ext uri="{FF2B5EF4-FFF2-40B4-BE49-F238E27FC236}">
                <a16:creationId xmlns:a16="http://schemas.microsoft.com/office/drawing/2014/main" id="{031BF036-697F-6ACE-E42C-7DA0C4D25B04}"/>
              </a:ext>
            </a:extLst>
          </p:cNvPr>
          <p:cNvSpPr>
            <a:spLocks noGrp="1" noChangeArrowheads="1"/>
          </p:cNvSpPr>
          <p:nvPr>
            <p:ph type="body" idx="1"/>
          </p:nvPr>
        </p:nvSpPr>
        <p:spPr/>
        <p:txBody>
          <a:bodyPr/>
          <a:lstStyle/>
          <a:p>
            <a:r>
              <a:rPr lang="en-US" altLang="zh-CN">
                <a:ea typeface="宋体" panose="02010600030101010101" pitchFamily="2" charset="-122"/>
              </a:rPr>
              <a:t>SMI Specification (SMI-S): Created by the SNIA</a:t>
            </a:r>
          </a:p>
          <a:p>
            <a:pPr lvl="1"/>
            <a:r>
              <a:rPr lang="en-US" altLang="zh-CN" i="1">
                <a:solidFill>
                  <a:schemeClr val="accent2"/>
                </a:solidFill>
                <a:ea typeface="宋体" panose="02010600030101010101" pitchFamily="2" charset="-122"/>
              </a:rPr>
              <a:t>Objective: “To unify the management of enterprise-computing environments that were traditionally administered through disparate vendor specific technologies and platforms” </a:t>
            </a:r>
          </a:p>
          <a:p>
            <a:pPr lvl="1"/>
            <a:r>
              <a:rPr lang="en-US" altLang="zh-CN">
                <a:ea typeface="宋体" panose="02010600030101010101" pitchFamily="2" charset="-122"/>
              </a:rPr>
              <a:t>Forms an abstracted model</a:t>
            </a:r>
          </a:p>
          <a:p>
            <a:pPr lvl="2"/>
            <a:r>
              <a:rPr lang="en-US" altLang="zh-CN">
                <a:ea typeface="宋体" panose="02010600030101010101" pitchFamily="2" charset="-122"/>
              </a:rPr>
              <a:t>Physical and logical components mapped</a:t>
            </a:r>
          </a:p>
          <a:p>
            <a:pPr lvl="2"/>
            <a:r>
              <a:rPr lang="en-US" altLang="zh-CN">
                <a:ea typeface="宋体" panose="02010600030101010101" pitchFamily="2" charset="-122"/>
              </a:rPr>
              <a:t>For standardized, effective, end-to-end control of storage resources</a:t>
            </a:r>
          </a:p>
          <a:p>
            <a:pPr lvl="1"/>
            <a:r>
              <a:rPr lang="en-US" altLang="zh-CN">
                <a:ea typeface="宋体" panose="02010600030101010101" pitchFamily="2" charset="-122"/>
              </a:rPr>
              <a:t>Eliminates need for development of vendor-proprietary management interfaces</a:t>
            </a:r>
          </a:p>
          <a:p>
            <a:pPr lvl="1"/>
            <a:r>
              <a:rPr lang="en-US" altLang="zh-CN">
                <a:ea typeface="宋体" panose="02010600030101010101" pitchFamily="2" charset="-122"/>
              </a:rPr>
              <a:t>Vendors can build new features and functions to manage storage subsystems and expose them via SMI-S</a:t>
            </a:r>
          </a:p>
          <a:p>
            <a:pPr lvl="1"/>
            <a:r>
              <a:rPr lang="en-US" altLang="zh-CN">
                <a:ea typeface="宋体" panose="02010600030101010101" pitchFamily="2" charset="-122"/>
              </a:rPr>
              <a:t>Lead to easier, faster deployment, and accelerated adoption of policy-based storage management frameworks</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C944C2CB-29CB-65D0-7980-CF5EADC117CC}"/>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1C0F318B-ED82-5113-6CEE-AE7493700985}"/>
              </a:ext>
            </a:extLst>
          </p:cNvPr>
          <p:cNvSpPr>
            <a:spLocks noGrp="1"/>
          </p:cNvSpPr>
          <p:nvPr>
            <p:ph type="sldNum" sz="quarter" idx="11"/>
          </p:nvPr>
        </p:nvSpPr>
        <p:spPr/>
        <p:txBody>
          <a:bodyPr/>
          <a:lstStyle/>
          <a:p>
            <a:r>
              <a:rPr lang="zh-CN" altLang="en-US"/>
              <a:t> </a:t>
            </a:r>
            <a:r>
              <a:rPr lang="en-US" altLang="zh-CN"/>
              <a:t>- </a:t>
            </a:r>
            <a:fld id="{DFBA1F36-7B0F-4E14-A4B7-77B014A8F54D}" type="slidenum">
              <a:rPr lang="en-US" altLang="zh-CN" sz="800"/>
              <a:pPr/>
              <a:t>84</a:t>
            </a:fld>
            <a:endParaRPr lang="en-US" altLang="zh-CN" sz="800"/>
          </a:p>
        </p:txBody>
      </p:sp>
      <p:sp>
        <p:nvSpPr>
          <p:cNvPr id="3111938" name="Rectangle 2">
            <a:extLst>
              <a:ext uri="{FF2B5EF4-FFF2-40B4-BE49-F238E27FC236}">
                <a16:creationId xmlns:a16="http://schemas.microsoft.com/office/drawing/2014/main" id="{EE5EC3D8-AF88-828D-D323-077B981DD983}"/>
              </a:ext>
            </a:extLst>
          </p:cNvPr>
          <p:cNvSpPr>
            <a:spLocks noGrp="1" noChangeArrowheads="1"/>
          </p:cNvSpPr>
          <p:nvPr>
            <p:ph type="title"/>
          </p:nvPr>
        </p:nvSpPr>
        <p:spPr/>
        <p:txBody>
          <a:bodyPr/>
          <a:lstStyle/>
          <a:p>
            <a:r>
              <a:rPr lang="en-US" altLang="zh-CN">
                <a:ea typeface="宋体" panose="02010600030101010101" pitchFamily="2" charset="-122"/>
              </a:rPr>
              <a:t>Enterprise Management Platforms (EMPs)</a:t>
            </a:r>
          </a:p>
        </p:txBody>
      </p:sp>
      <p:sp>
        <p:nvSpPr>
          <p:cNvPr id="3111939" name="Rectangle 3">
            <a:extLst>
              <a:ext uri="{FF2B5EF4-FFF2-40B4-BE49-F238E27FC236}">
                <a16:creationId xmlns:a16="http://schemas.microsoft.com/office/drawing/2014/main" id="{3FF1BE33-7B28-6765-BA73-4B1C6A6900AD}"/>
              </a:ext>
            </a:extLst>
          </p:cNvPr>
          <p:cNvSpPr>
            <a:spLocks noGrp="1" noChangeArrowheads="1"/>
          </p:cNvSpPr>
          <p:nvPr>
            <p:ph type="body" idx="1"/>
          </p:nvPr>
        </p:nvSpPr>
        <p:spPr/>
        <p:txBody>
          <a:bodyPr/>
          <a:lstStyle/>
          <a:p>
            <a:r>
              <a:rPr lang="en-US" altLang="zh-CN">
                <a:ea typeface="宋体" panose="02010600030101010101" pitchFamily="2" charset="-122"/>
              </a:rPr>
              <a:t>Applications for managing and monitoring an enterprise storage infrastructure</a:t>
            </a:r>
          </a:p>
          <a:p>
            <a:pPr lvl="1"/>
            <a:r>
              <a:rPr lang="en-US" altLang="zh-CN">
                <a:ea typeface="宋体" panose="02010600030101010101" pitchFamily="2" charset="-122"/>
              </a:rPr>
              <a:t>Proactive monitoring of many data center components</a:t>
            </a:r>
          </a:p>
          <a:p>
            <a:pPr lvl="1"/>
            <a:r>
              <a:rPr lang="en-US" altLang="zh-CN">
                <a:ea typeface="宋体" panose="02010600030101010101" pitchFamily="2" charset="-122"/>
              </a:rPr>
              <a:t>Alerting of errors reported by those components</a:t>
            </a:r>
          </a:p>
          <a:p>
            <a:r>
              <a:rPr lang="en-US" altLang="zh-CN">
                <a:ea typeface="宋体" panose="02010600030101010101" pitchFamily="2" charset="-122"/>
              </a:rPr>
              <a:t>Provides necessary management functionality</a:t>
            </a:r>
          </a:p>
          <a:p>
            <a:pPr lvl="1"/>
            <a:r>
              <a:rPr lang="en-US" altLang="zh-CN">
                <a:ea typeface="宋体" panose="02010600030101010101" pitchFamily="2" charset="-122"/>
              </a:rPr>
              <a:t>Can often launch proprietary management applications</a:t>
            </a:r>
          </a:p>
          <a:p>
            <a:pPr lvl="1"/>
            <a:r>
              <a:rPr lang="en-US" altLang="zh-CN">
                <a:ea typeface="宋体" panose="02010600030101010101" pitchFamily="2" charset="-122"/>
              </a:rPr>
              <a:t>Automatic provisioning</a:t>
            </a:r>
          </a:p>
          <a:p>
            <a:pPr lvl="1"/>
            <a:r>
              <a:rPr lang="en-US" altLang="zh-CN">
                <a:ea typeface="宋体" panose="02010600030101010101" pitchFamily="2" charset="-122"/>
              </a:rPr>
              <a:t>Scheduling of maintenance activities</a:t>
            </a:r>
          </a:p>
          <a:p>
            <a:r>
              <a:rPr lang="en-US" altLang="zh-CN">
                <a:ea typeface="宋体" panose="02010600030101010101" pitchFamily="2" charset="-122"/>
              </a:rPr>
              <a:t>Example</a:t>
            </a:r>
          </a:p>
          <a:p>
            <a:pPr lvl="1"/>
            <a:r>
              <a:rPr lang="en-US" altLang="zh-CN">
                <a:ea typeface="宋体" panose="02010600030101010101" pitchFamily="2" charset="-122"/>
              </a:rPr>
              <a:t>EMC ControlCenter</a:t>
            </a:r>
          </a:p>
          <a:p>
            <a:endParaRPr lang="en-US" altLang="zh-CN">
              <a:ea typeface="宋体" panose="02010600030101010101" pitchFamily="2"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E3B641A3-ED42-561A-A843-EB4EB0DA8B63}"/>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EEC27134-C46A-B79B-B27A-998FDFCC1D13}"/>
              </a:ext>
            </a:extLst>
          </p:cNvPr>
          <p:cNvSpPr>
            <a:spLocks noGrp="1"/>
          </p:cNvSpPr>
          <p:nvPr>
            <p:ph type="sldNum" sz="quarter" idx="11"/>
          </p:nvPr>
        </p:nvSpPr>
        <p:spPr/>
        <p:txBody>
          <a:bodyPr/>
          <a:lstStyle/>
          <a:p>
            <a:r>
              <a:rPr lang="zh-CN" altLang="en-US"/>
              <a:t> </a:t>
            </a:r>
            <a:r>
              <a:rPr lang="en-US" altLang="zh-CN"/>
              <a:t>- </a:t>
            </a:r>
            <a:fld id="{37802D59-33AD-46E6-AA8C-AA71E4170339}" type="slidenum">
              <a:rPr lang="en-US" altLang="zh-CN" sz="800"/>
              <a:pPr/>
              <a:t>85</a:t>
            </a:fld>
            <a:endParaRPr lang="en-US" altLang="zh-CN" sz="800"/>
          </a:p>
        </p:txBody>
      </p:sp>
      <p:sp>
        <p:nvSpPr>
          <p:cNvPr id="3139586" name="Rectangle 2">
            <a:extLst>
              <a:ext uri="{FF2B5EF4-FFF2-40B4-BE49-F238E27FC236}">
                <a16:creationId xmlns:a16="http://schemas.microsoft.com/office/drawing/2014/main" id="{17685D1C-3A26-9AAF-6352-71E588A72F99}"/>
              </a:ext>
            </a:extLst>
          </p:cNvPr>
          <p:cNvSpPr>
            <a:spLocks noGrp="1" noChangeArrowheads="1"/>
          </p:cNvSpPr>
          <p:nvPr>
            <p:ph type="title"/>
          </p:nvPr>
        </p:nvSpPr>
        <p:spPr/>
        <p:txBody>
          <a:bodyPr/>
          <a:lstStyle/>
          <a:p>
            <a:r>
              <a:rPr lang="en-US" altLang="zh-CN">
                <a:ea typeface="宋体" panose="02010600030101010101" pitchFamily="2" charset="-122"/>
              </a:rPr>
              <a:t>Lesson Summary </a:t>
            </a:r>
          </a:p>
        </p:txBody>
      </p:sp>
      <p:sp>
        <p:nvSpPr>
          <p:cNvPr id="3139587" name="Rectangle 3">
            <a:extLst>
              <a:ext uri="{FF2B5EF4-FFF2-40B4-BE49-F238E27FC236}">
                <a16:creationId xmlns:a16="http://schemas.microsoft.com/office/drawing/2014/main" id="{28371A39-AA7B-34E5-6192-BE16D428A043}"/>
              </a:ext>
            </a:extLst>
          </p:cNvPr>
          <p:cNvSpPr>
            <a:spLocks noGrp="1" noChangeArrowheads="1"/>
          </p:cNvSpPr>
          <p:nvPr>
            <p:ph type="body" idx="1"/>
          </p:nvPr>
        </p:nvSpPr>
        <p:spPr/>
        <p:txBody>
          <a:bodyPr/>
          <a:lstStyle/>
          <a:p>
            <a:pPr>
              <a:buFont typeface="Wingdings" panose="05000000000000000000" pitchFamily="2" charset="2"/>
              <a:buNone/>
            </a:pPr>
            <a:r>
              <a:rPr lang="en-US" altLang="zh-CN">
                <a:ea typeface="宋体" panose="02010600030101010101" pitchFamily="2" charset="-122"/>
              </a:rPr>
              <a:t>Key concepts covered in this module are: </a:t>
            </a:r>
          </a:p>
          <a:p>
            <a:r>
              <a:rPr lang="en-US" altLang="zh-CN">
                <a:ea typeface="宋体" panose="02010600030101010101" pitchFamily="2" charset="-122"/>
              </a:rPr>
              <a:t>Storage management activities</a:t>
            </a:r>
          </a:p>
          <a:p>
            <a:pPr lvl="1"/>
            <a:r>
              <a:rPr lang="en-US" altLang="zh-CN">
                <a:ea typeface="宋体" panose="02010600030101010101" pitchFamily="2" charset="-122"/>
              </a:rPr>
              <a:t>Availability management</a:t>
            </a:r>
          </a:p>
          <a:p>
            <a:pPr lvl="1"/>
            <a:r>
              <a:rPr lang="en-US" altLang="zh-CN">
                <a:ea typeface="宋体" panose="02010600030101010101" pitchFamily="2" charset="-122"/>
              </a:rPr>
              <a:t>Capacity management</a:t>
            </a:r>
          </a:p>
          <a:p>
            <a:pPr lvl="1"/>
            <a:r>
              <a:rPr lang="en-US" altLang="zh-CN">
                <a:ea typeface="宋体" panose="02010600030101010101" pitchFamily="2" charset="-122"/>
              </a:rPr>
              <a:t>Performance management</a:t>
            </a:r>
          </a:p>
          <a:p>
            <a:pPr lvl="1"/>
            <a:r>
              <a:rPr lang="en-US" altLang="zh-CN">
                <a:ea typeface="宋体" panose="02010600030101010101" pitchFamily="2" charset="-122"/>
              </a:rPr>
              <a:t>Security management</a:t>
            </a:r>
          </a:p>
          <a:p>
            <a:pPr lvl="1"/>
            <a:r>
              <a:rPr lang="en-US" altLang="zh-CN">
                <a:ea typeface="宋体" panose="02010600030101010101" pitchFamily="2" charset="-122"/>
              </a:rPr>
              <a:t>Reporting</a:t>
            </a:r>
          </a:p>
          <a:p>
            <a:r>
              <a:rPr lang="en-US" altLang="zh-CN">
                <a:ea typeface="宋体" panose="02010600030101010101" pitchFamily="2" charset="-122"/>
              </a:rPr>
              <a:t>Storage infrastructure management challenges</a:t>
            </a:r>
          </a:p>
          <a:p>
            <a:r>
              <a:rPr lang="en-US" altLang="zh-CN">
                <a:ea typeface="宋体" panose="02010600030101010101" pitchFamily="2" charset="-122"/>
              </a:rPr>
              <a:t>SMI Specification (SMI-S)</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60409984-5926-5552-0450-9392A80DDFAE}"/>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7278EAA9-5887-39F3-21B1-ECE7217125C5}"/>
              </a:ext>
            </a:extLst>
          </p:cNvPr>
          <p:cNvSpPr>
            <a:spLocks noGrp="1"/>
          </p:cNvSpPr>
          <p:nvPr>
            <p:ph type="sldNum" sz="quarter" idx="11"/>
          </p:nvPr>
        </p:nvSpPr>
        <p:spPr/>
        <p:txBody>
          <a:bodyPr/>
          <a:lstStyle/>
          <a:p>
            <a:r>
              <a:rPr lang="zh-CN" altLang="en-US"/>
              <a:t> </a:t>
            </a:r>
            <a:r>
              <a:rPr lang="en-US" altLang="zh-CN"/>
              <a:t>- </a:t>
            </a:r>
            <a:fld id="{AA4EABF3-8B8C-43B9-999A-4F8699136D22}" type="slidenum">
              <a:rPr lang="en-US" altLang="zh-CN" sz="800"/>
              <a:pPr/>
              <a:t>86</a:t>
            </a:fld>
            <a:endParaRPr lang="en-US" altLang="zh-CN" sz="800"/>
          </a:p>
        </p:txBody>
      </p:sp>
      <p:sp>
        <p:nvSpPr>
          <p:cNvPr id="3144706" name="Rectangle 2">
            <a:extLst>
              <a:ext uri="{FF2B5EF4-FFF2-40B4-BE49-F238E27FC236}">
                <a16:creationId xmlns:a16="http://schemas.microsoft.com/office/drawing/2014/main" id="{FCA5497F-6C29-7986-5215-8FBD33FD30EB}"/>
              </a:ext>
            </a:extLst>
          </p:cNvPr>
          <p:cNvSpPr>
            <a:spLocks noGrp="1" noChangeArrowheads="1"/>
          </p:cNvSpPr>
          <p:nvPr>
            <p:ph type="title"/>
          </p:nvPr>
        </p:nvSpPr>
        <p:spPr/>
        <p:txBody>
          <a:bodyPr/>
          <a:lstStyle/>
          <a:p>
            <a:r>
              <a:rPr lang="en-US" altLang="zh-CN">
                <a:ea typeface="宋体" panose="02010600030101010101" pitchFamily="2" charset="-122"/>
              </a:rPr>
              <a:t>Module Summary</a:t>
            </a:r>
          </a:p>
        </p:txBody>
      </p:sp>
      <p:sp>
        <p:nvSpPr>
          <p:cNvPr id="3144707" name="Rectangle 3">
            <a:extLst>
              <a:ext uri="{FF2B5EF4-FFF2-40B4-BE49-F238E27FC236}">
                <a16:creationId xmlns:a16="http://schemas.microsoft.com/office/drawing/2014/main" id="{381F8B0F-BE55-82CC-99E9-0620A6389799}"/>
              </a:ext>
            </a:extLst>
          </p:cNvPr>
          <p:cNvSpPr>
            <a:spLocks noGrp="1" noChangeArrowheads="1"/>
          </p:cNvSpPr>
          <p:nvPr>
            <p:ph type="body" idx="1"/>
          </p:nvPr>
        </p:nvSpPr>
        <p:spPr>
          <a:xfrm>
            <a:off x="220663" y="1196975"/>
            <a:ext cx="8705850" cy="5329238"/>
          </a:xfrm>
        </p:spPr>
        <p:txBody>
          <a:bodyPr/>
          <a:lstStyle/>
          <a:p>
            <a:pPr>
              <a:buFont typeface="Wingdings" panose="05000000000000000000" pitchFamily="2" charset="2"/>
              <a:buNone/>
            </a:pPr>
            <a:r>
              <a:rPr lang="en-US" altLang="zh-CN">
                <a:ea typeface="宋体" panose="02010600030101010101" pitchFamily="2" charset="-122"/>
              </a:rPr>
              <a:t>Key points covered in this module:</a:t>
            </a:r>
          </a:p>
          <a:p>
            <a:r>
              <a:rPr lang="en-US" altLang="zh-CN">
                <a:ea typeface="宋体" panose="02010600030101010101" pitchFamily="2" charset="-122"/>
              </a:rPr>
              <a:t>Storage infrastructure components that should be monitored and managed</a:t>
            </a:r>
          </a:p>
          <a:p>
            <a:r>
              <a:rPr lang="en-US" altLang="zh-CN">
                <a:ea typeface="宋体" panose="02010600030101010101" pitchFamily="2" charset="-122"/>
              </a:rPr>
              <a:t>Parameters monitored:</a:t>
            </a:r>
          </a:p>
          <a:p>
            <a:pPr lvl="1"/>
            <a:r>
              <a:rPr lang="en-US" altLang="zh-CN">
                <a:ea typeface="宋体" panose="02010600030101010101" pitchFamily="2" charset="-122"/>
              </a:rPr>
              <a:t>Accessibility/Capacity/Performance/Security </a:t>
            </a:r>
          </a:p>
          <a:p>
            <a:r>
              <a:rPr lang="en-US" altLang="zh-CN">
                <a:ea typeface="宋体" panose="02010600030101010101" pitchFamily="2" charset="-122"/>
              </a:rPr>
              <a:t>Storage management activities</a:t>
            </a:r>
          </a:p>
          <a:p>
            <a:pPr lvl="1"/>
            <a:r>
              <a:rPr lang="en-US" altLang="zh-CN">
                <a:ea typeface="宋体" panose="02010600030101010101" pitchFamily="2" charset="-122"/>
              </a:rPr>
              <a:t>Availability management/Capacity management/Performance management/Security management/Reporting</a:t>
            </a:r>
          </a:p>
          <a:p>
            <a:r>
              <a:rPr lang="en-US" altLang="zh-CN">
                <a:ea typeface="宋体" panose="02010600030101010101" pitchFamily="2" charset="-122"/>
              </a:rPr>
              <a:t>SMI Specification (SMI-S)</a:t>
            </a: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42C52683-F1D1-06C5-35FE-D99F0E9B0A64}"/>
              </a:ext>
            </a:extLst>
          </p:cNvPr>
          <p:cNvSpPr>
            <a:spLocks noGrp="1"/>
          </p:cNvSpPr>
          <p:nvPr>
            <p:ph type="ftr" sz="quarter" idx="10"/>
          </p:nvPr>
        </p:nvSpPr>
        <p:spPr/>
        <p:txBody>
          <a:bodyPr/>
          <a:lstStyle/>
          <a:p>
            <a:r>
              <a:rPr lang="zh-CN" altLang="en-US"/>
              <a:t>Managing the Storage Infrastructure</a:t>
            </a:r>
            <a:endParaRPr lang="en-US" altLang="zh-CN"/>
          </a:p>
        </p:txBody>
      </p:sp>
      <p:sp>
        <p:nvSpPr>
          <p:cNvPr id="3" name="Slide Number Placeholder 4">
            <a:extLst>
              <a:ext uri="{FF2B5EF4-FFF2-40B4-BE49-F238E27FC236}">
                <a16:creationId xmlns:a16="http://schemas.microsoft.com/office/drawing/2014/main" id="{4B08001C-64CE-E449-60A2-CF79A2493C9A}"/>
              </a:ext>
            </a:extLst>
          </p:cNvPr>
          <p:cNvSpPr>
            <a:spLocks noGrp="1"/>
          </p:cNvSpPr>
          <p:nvPr>
            <p:ph type="sldNum" sz="quarter" idx="11"/>
          </p:nvPr>
        </p:nvSpPr>
        <p:spPr/>
        <p:txBody>
          <a:bodyPr/>
          <a:lstStyle/>
          <a:p>
            <a:r>
              <a:rPr lang="zh-CN" altLang="en-US"/>
              <a:t> </a:t>
            </a:r>
            <a:r>
              <a:rPr lang="en-US" altLang="zh-CN"/>
              <a:t>- </a:t>
            </a:r>
            <a:fld id="{3F4270E4-B6DF-4F7B-AFF6-28E249612150}" type="slidenum">
              <a:rPr lang="en-US" altLang="zh-CN" sz="800"/>
              <a:pPr/>
              <a:t>87</a:t>
            </a:fld>
            <a:endParaRPr lang="en-US" altLang="zh-CN" sz="800"/>
          </a:p>
        </p:txBody>
      </p:sp>
      <p:sp>
        <p:nvSpPr>
          <p:cNvPr id="3187714" name="Rectangle 2">
            <a:extLst>
              <a:ext uri="{FF2B5EF4-FFF2-40B4-BE49-F238E27FC236}">
                <a16:creationId xmlns:a16="http://schemas.microsoft.com/office/drawing/2014/main" id="{3ABC481F-93FD-56AB-4895-9A3200F82594}"/>
              </a:ext>
            </a:extLst>
          </p:cNvPr>
          <p:cNvSpPr>
            <a:spLocks noGrp="1" noChangeArrowheads="1"/>
          </p:cNvSpPr>
          <p:nvPr>
            <p:ph type="title"/>
          </p:nvPr>
        </p:nvSpPr>
        <p:spPr/>
        <p:txBody>
          <a:bodyPr/>
          <a:lstStyle/>
          <a:p>
            <a:r>
              <a:rPr lang="zh-CN" altLang="en-US">
                <a:ea typeface="宋体" panose="02010600030101010101" pitchFamily="2" charset="-122"/>
              </a:rPr>
              <a:t>      </a:t>
            </a:r>
            <a:r>
              <a:rPr lang="en-US" altLang="zh-CN">
                <a:ea typeface="宋体" panose="02010600030101010101" pitchFamily="2" charset="-122"/>
              </a:rPr>
              <a:t>Check Your Knowledge</a:t>
            </a:r>
          </a:p>
        </p:txBody>
      </p:sp>
      <p:sp>
        <p:nvSpPr>
          <p:cNvPr id="3187715" name="Rectangle 3">
            <a:extLst>
              <a:ext uri="{FF2B5EF4-FFF2-40B4-BE49-F238E27FC236}">
                <a16:creationId xmlns:a16="http://schemas.microsoft.com/office/drawing/2014/main" id="{08A55919-368E-5463-3889-7A35FB159200}"/>
              </a:ext>
            </a:extLst>
          </p:cNvPr>
          <p:cNvSpPr>
            <a:spLocks noGrp="1" noChangeArrowheads="1"/>
          </p:cNvSpPr>
          <p:nvPr>
            <p:ph type="body" idx="1"/>
          </p:nvPr>
        </p:nvSpPr>
        <p:spPr/>
        <p:txBody>
          <a:bodyPr/>
          <a:lstStyle/>
          <a:p>
            <a:r>
              <a:rPr lang="en-US" altLang="zh-CN">
                <a:ea typeface="宋体" panose="02010600030101010101" pitchFamily="2" charset="-122"/>
              </a:rPr>
              <a:t>List the parameters for monitoring storage infrastructure components?</a:t>
            </a:r>
          </a:p>
          <a:p>
            <a:r>
              <a:rPr lang="en-US" altLang="zh-CN">
                <a:ea typeface="宋体" panose="02010600030101010101" pitchFamily="2" charset="-122"/>
              </a:rPr>
              <a:t>List the  storage infrastructure components that need to be managed?</a:t>
            </a:r>
          </a:p>
          <a:p>
            <a:r>
              <a:rPr lang="en-US" altLang="zh-CN">
                <a:ea typeface="宋体" panose="02010600030101010101" pitchFamily="2" charset="-122"/>
              </a:rPr>
              <a:t>What are the purpose of reporting?</a:t>
            </a:r>
          </a:p>
          <a:p>
            <a:r>
              <a:rPr lang="en-US" altLang="zh-CN">
                <a:ea typeface="宋体" panose="02010600030101010101" pitchFamily="2" charset="-122"/>
              </a:rPr>
              <a:t>What Storage Array tasks need to be performed in order to allocate storage to a new server?</a:t>
            </a:r>
          </a:p>
          <a:p>
            <a:r>
              <a:rPr lang="en-US" altLang="zh-CN">
                <a:ea typeface="宋体" panose="02010600030101010101" pitchFamily="2" charset="-122"/>
              </a:rPr>
              <a:t>What SAN Management tasks need to be performed in order to allocate storage to a new server?</a:t>
            </a:r>
          </a:p>
        </p:txBody>
      </p:sp>
      <p:sp>
        <p:nvSpPr>
          <p:cNvPr id="3187716" name="Text Box 4">
            <a:extLst>
              <a:ext uri="{FF2B5EF4-FFF2-40B4-BE49-F238E27FC236}">
                <a16:creationId xmlns:a16="http://schemas.microsoft.com/office/drawing/2014/main" id="{6077C455-858E-A190-DAC9-FDA35D44E820}"/>
              </a:ext>
            </a:extLst>
          </p:cNvPr>
          <p:cNvSpPr txBox="1">
            <a:spLocks noChangeArrowheads="1"/>
          </p:cNvSpPr>
          <p:nvPr/>
        </p:nvSpPr>
        <p:spPr bwMode="auto">
          <a:xfrm>
            <a:off x="4808538" y="1506538"/>
            <a:ext cx="174625" cy="38100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lg"/>
              </a14:hiddenLine>
            </a:ext>
          </a:extLst>
        </p:spPr>
        <p:txBody>
          <a:bodyPr wrap="none">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0" hangingPunct="0">
              <a:buClrTx/>
              <a:buFontTx/>
              <a:buNone/>
            </a:pPr>
            <a:endParaRPr lang="zh-CN" altLang="en-US" sz="1900">
              <a:ea typeface="宋体" panose="02010600030101010101" pitchFamily="2" charset="-122"/>
            </a:endParaRPr>
          </a:p>
        </p:txBody>
      </p:sp>
      <p:sp>
        <p:nvSpPr>
          <p:cNvPr id="3187717" name="Text Box 5">
            <a:extLst>
              <a:ext uri="{FF2B5EF4-FFF2-40B4-BE49-F238E27FC236}">
                <a16:creationId xmlns:a16="http://schemas.microsoft.com/office/drawing/2014/main" id="{8009E6E4-C84B-1775-DC8C-F024776B7372}"/>
              </a:ext>
            </a:extLst>
          </p:cNvPr>
          <p:cNvSpPr txBox="1">
            <a:spLocks noChangeArrowheads="1"/>
          </p:cNvSpPr>
          <p:nvPr/>
        </p:nvSpPr>
        <p:spPr bwMode="auto">
          <a:xfrm>
            <a:off x="207963" y="450850"/>
            <a:ext cx="663575" cy="82391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lg"/>
              </a14:hiddenLine>
            </a:ext>
          </a:extLst>
        </p:spPr>
        <p:txBody>
          <a:bodyPr>
            <a:spAutoFit/>
          </a:bodyPr>
          <a:lstStyle>
            <a:lvl1pPr defTabSz="941388">
              <a:spcBef>
                <a:spcPct val="0"/>
              </a:spcBef>
              <a:defRPr>
                <a:solidFill>
                  <a:schemeClr val="tx1"/>
                </a:solidFill>
                <a:latin typeface="Arial" panose="020B0604020202020204" pitchFamily="34" charset="0"/>
                <a:cs typeface="Arial" panose="020B0604020202020204" pitchFamily="34" charset="0"/>
              </a:defRPr>
            </a:lvl1pPr>
            <a:lvl2pPr defTabSz="941388">
              <a:spcBef>
                <a:spcPct val="0"/>
              </a:spcBef>
              <a:defRPr>
                <a:solidFill>
                  <a:schemeClr val="tx1"/>
                </a:solidFill>
                <a:latin typeface="Arial" panose="020B0604020202020204" pitchFamily="34" charset="0"/>
                <a:cs typeface="Arial" panose="020B0604020202020204" pitchFamily="34" charset="0"/>
              </a:defRPr>
            </a:lvl2pPr>
            <a:lvl3pPr defTabSz="941388">
              <a:spcBef>
                <a:spcPct val="0"/>
              </a:spcBef>
              <a:defRPr>
                <a:solidFill>
                  <a:schemeClr val="tx1"/>
                </a:solidFill>
                <a:latin typeface="Arial" panose="020B0604020202020204" pitchFamily="34" charset="0"/>
                <a:cs typeface="Arial" panose="020B0604020202020204" pitchFamily="34" charset="0"/>
              </a:defRPr>
            </a:lvl3pPr>
            <a:lvl4pPr defTabSz="941388">
              <a:spcBef>
                <a:spcPct val="0"/>
              </a:spcBef>
              <a:defRPr>
                <a:solidFill>
                  <a:schemeClr val="tx1"/>
                </a:solidFill>
                <a:latin typeface="Arial" panose="020B0604020202020204" pitchFamily="34" charset="0"/>
                <a:cs typeface="Arial" panose="020B0604020202020204" pitchFamily="34" charset="0"/>
              </a:defRPr>
            </a:lvl4pPr>
            <a:lvl5pPr defTabSz="941388">
              <a:spcBef>
                <a:spcPct val="0"/>
              </a:spcBef>
              <a:defRPr>
                <a:solidFill>
                  <a:schemeClr val="tx1"/>
                </a:solidFill>
                <a:latin typeface="Arial" panose="020B0604020202020204" pitchFamily="34" charset="0"/>
                <a:cs typeface="Arial" panose="020B0604020202020204" pitchFamily="34" charset="0"/>
              </a:defRPr>
            </a:lvl5pPr>
            <a:lvl6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defTabSz="941388"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0" hangingPunct="0">
              <a:buClrTx/>
              <a:buFontTx/>
              <a:buNone/>
            </a:pPr>
            <a:r>
              <a:rPr lang="zh-CN" altLang="en-US" sz="4800" b="1">
                <a:solidFill>
                  <a:srgbClr val="FF0000"/>
                </a:solidFill>
                <a:latin typeface="Wingdings" panose="05000000000000000000" pitchFamily="2" charset="2"/>
                <a:ea typeface="宋体" panose="02010600030101010101" pitchFamily="2" charset="-122"/>
                <a:sym typeface="Wingdings" panose="05000000000000000000" pitchFamily="2" charset="2"/>
              </a:rPr>
              <a:t></a:t>
            </a:r>
            <a:endParaRPr lang="zh-CN" altLang="en-US" sz="4800" b="1">
              <a:solidFill>
                <a:srgbClr val="FF0000"/>
              </a:solidFill>
              <a:latin typeface="Wingdings" panose="05000000000000000000" pitchFamily="2" charset="2"/>
              <a:ea typeface="宋体" panose="02010600030101010101" pitchFamily="2"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UDIO_IMPORT" val="W:\ArticulatePresenter\TSE IMPACTS and Self Study\SAN Monitoring and Policy Management\Content\Voice Over\Slide017.wav"/>
  <p:tag name="ELAPSEDTIME" val="10.068"/>
  <p:tag name="ARTICULATE_SLIDE_PAUSE" val="0"/>
</p:tagLst>
</file>

<file path=ppt/theme/theme1.xml><?xml version="1.0" encoding="utf-8"?>
<a:theme xmlns:a="http://schemas.openxmlformats.org/drawingml/2006/main" name="MR_2009_ILT_Courseware Template">
  <a:themeElements>
    <a:clrScheme name="MR_2009_ILT_Courseware Template 14">
      <a:dk1>
        <a:srgbClr val="003580"/>
      </a:dk1>
      <a:lt1>
        <a:srgbClr val="FFFFFF"/>
      </a:lt1>
      <a:dk2>
        <a:srgbClr val="003580"/>
      </a:dk2>
      <a:lt2>
        <a:srgbClr val="C7BD8A"/>
      </a:lt2>
      <a:accent1>
        <a:srgbClr val="E0AD12"/>
      </a:accent1>
      <a:accent2>
        <a:srgbClr val="D97300"/>
      </a:accent2>
      <a:accent3>
        <a:srgbClr val="FFFFFF"/>
      </a:accent3>
      <a:accent4>
        <a:srgbClr val="002C6C"/>
      </a:accent4>
      <a:accent5>
        <a:srgbClr val="EDD3AA"/>
      </a:accent5>
      <a:accent6>
        <a:srgbClr val="C46800"/>
      </a:accent6>
      <a:hlink>
        <a:srgbClr val="5274A6"/>
      </a:hlink>
      <a:folHlink>
        <a:srgbClr val="A1A646"/>
      </a:folHlink>
    </a:clrScheme>
    <a:fontScheme name="MR_2009_ILT_Courseware Templat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FF0000"/>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t" anchorCtr="0" compatLnSpc="1">
        <a:prstTxWarp prst="textNoShape">
          <a:avLst/>
        </a:prstTxWarp>
      </a:bodyPr>
      <a:lstStyle>
        <a:defPPr marL="354013" marR="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kumimoji="0" lang="en-US" altLang="en-US" sz="2600" b="0" i="0" u="none" strike="noStrike" cap="none" normalizeH="0" baseline="0" smtClean="0">
            <a:ln>
              <a:noFill/>
            </a:ln>
            <a:solidFill>
              <a:srgbClr val="003580"/>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FF0000"/>
          </a:solidFill>
          <a:prstDash val="solid"/>
          <a:round/>
          <a:headEnd type="none" w="med" len="med"/>
          <a:tailEnd type="triangl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t" anchorCtr="0" compatLnSpc="1">
        <a:prstTxWarp prst="textNoShape">
          <a:avLst/>
        </a:prstTxWarp>
      </a:bodyPr>
      <a:lstStyle>
        <a:defPPr marL="354013" marR="0" indent="-354013" algn="ctr" defTabSz="941388" rtl="0" eaLnBrk="1" fontAlgn="base" latinLnBrk="0" hangingPunct="1">
          <a:lnSpc>
            <a:spcPct val="100000"/>
          </a:lnSpc>
          <a:spcBef>
            <a:spcPct val="50000"/>
          </a:spcBef>
          <a:spcAft>
            <a:spcPct val="0"/>
          </a:spcAft>
          <a:buClr>
            <a:srgbClr val="003580"/>
          </a:buClr>
          <a:buSzTx/>
          <a:buFont typeface="Wingdings" panose="05000000000000000000" pitchFamily="2" charset="2"/>
          <a:buNone/>
          <a:tabLst/>
          <a:defRPr kumimoji="0" lang="en-US" altLang="en-US" sz="2600" b="0" i="0" u="none" strike="noStrike" cap="none" normalizeH="0" baseline="0" smtClean="0">
            <a:ln>
              <a:noFill/>
            </a:ln>
            <a:solidFill>
              <a:srgbClr val="003580"/>
            </a:solidFill>
            <a:effectLst/>
            <a:latin typeface="Arial" panose="020B0604020202020204" pitchFamily="34" charset="0"/>
            <a:cs typeface="Arial" panose="020B0604020202020204" pitchFamily="34" charset="0"/>
          </a:defRPr>
        </a:defPPr>
      </a:lstStyle>
    </a:lnDef>
  </a:objectDefaults>
  <a:extraClrSchemeLst>
    <a:extraClrScheme>
      <a:clrScheme name="MR_2009_ILT_Courseware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R_2009_ILT_Courseware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R_2009_ILT_Courseware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R_2009_ILT_Courseware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R_2009_ILT_Courseware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R_2009_ILT_Courseware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R_2009_ILT_Courseware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R_2009_ILT_Courseware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R_2009_ILT_Courseware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R_2009_ILT_Courseware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R_2009_ILT_Courseware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R_2009_ILT_Courseware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MR_2009_ILT_Courseware Template 13">
        <a:dk1>
          <a:srgbClr val="000000"/>
        </a:dk1>
        <a:lt1>
          <a:srgbClr val="FFFFFF"/>
        </a:lt1>
        <a:dk2>
          <a:srgbClr val="003580"/>
        </a:dk2>
        <a:lt2>
          <a:srgbClr val="C7BD8A"/>
        </a:lt2>
        <a:accent1>
          <a:srgbClr val="E0AD12"/>
        </a:accent1>
        <a:accent2>
          <a:srgbClr val="D97300"/>
        </a:accent2>
        <a:accent3>
          <a:srgbClr val="FFFFFF"/>
        </a:accent3>
        <a:accent4>
          <a:srgbClr val="000000"/>
        </a:accent4>
        <a:accent5>
          <a:srgbClr val="EDD3AA"/>
        </a:accent5>
        <a:accent6>
          <a:srgbClr val="C46800"/>
        </a:accent6>
        <a:hlink>
          <a:srgbClr val="5274A6"/>
        </a:hlink>
        <a:folHlink>
          <a:srgbClr val="A1A646"/>
        </a:folHlink>
      </a:clrScheme>
      <a:clrMap bg1="lt1" tx1="dk1" bg2="lt2" tx2="dk2" accent1="accent1" accent2="accent2" accent3="accent3" accent4="accent4" accent5="accent5" accent6="accent6" hlink="hlink" folHlink="folHlink"/>
    </a:extraClrScheme>
    <a:extraClrScheme>
      <a:clrScheme name="MR_2009_ILT_Courseware Template 14">
        <a:dk1>
          <a:srgbClr val="003580"/>
        </a:dk1>
        <a:lt1>
          <a:srgbClr val="FFFFFF"/>
        </a:lt1>
        <a:dk2>
          <a:srgbClr val="003580"/>
        </a:dk2>
        <a:lt2>
          <a:srgbClr val="C7BD8A"/>
        </a:lt2>
        <a:accent1>
          <a:srgbClr val="E0AD12"/>
        </a:accent1>
        <a:accent2>
          <a:srgbClr val="D97300"/>
        </a:accent2>
        <a:accent3>
          <a:srgbClr val="FFFFFF"/>
        </a:accent3>
        <a:accent4>
          <a:srgbClr val="002C6C"/>
        </a:accent4>
        <a:accent5>
          <a:srgbClr val="EDD3AA"/>
        </a:accent5>
        <a:accent6>
          <a:srgbClr val="C46800"/>
        </a:accent6>
        <a:hlink>
          <a:srgbClr val="5274A6"/>
        </a:hlink>
        <a:folHlink>
          <a:srgbClr val="A1A64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MR_2009_ILT_Courseware Template</Template>
  <TotalTime>2535</TotalTime>
  <Words>28664</Words>
  <Application>Microsoft Office PowerPoint</Application>
  <PresentationFormat>On-screen Show (4:3)</PresentationFormat>
  <Paragraphs>1730</Paragraphs>
  <Slides>87</Slides>
  <Notes>86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87</vt:i4>
      </vt:variant>
    </vt:vector>
  </HeadingPairs>
  <TitlesOfParts>
    <vt:vector size="96" baseType="lpstr">
      <vt:lpstr>Arial</vt:lpstr>
      <vt:lpstr>Wingdings</vt:lpstr>
      <vt:lpstr>Times New Roman</vt:lpstr>
      <vt:lpstr>宋体</vt:lpstr>
      <vt:lpstr>Times-Roman</vt:lpstr>
      <vt:lpstr>Arial Narrow</vt:lpstr>
      <vt:lpstr>Verdana</vt:lpstr>
      <vt:lpstr>Arial Black</vt:lpstr>
      <vt:lpstr>MR_2009_ILT_Courseware Template</vt:lpstr>
      <vt:lpstr>Unit-V</vt:lpstr>
      <vt:lpstr>Securing the Storage Infrastructure</vt:lpstr>
      <vt:lpstr>Lesson: Building Storage Security Framework</vt:lpstr>
      <vt:lpstr>What is Storage Security?</vt:lpstr>
      <vt:lpstr>Storage Security Framework</vt:lpstr>
      <vt:lpstr>Storage Security Framework: Attribute</vt:lpstr>
      <vt:lpstr>Understanding Security Elements</vt:lpstr>
      <vt:lpstr>Security Elements: Assets</vt:lpstr>
      <vt:lpstr>Security Elements: Threats</vt:lpstr>
      <vt:lpstr>Security Elements: Vulnerabilities</vt:lpstr>
      <vt:lpstr>Security Elements: Vulnerabilities (cont.)</vt:lpstr>
      <vt:lpstr>Countermeasures to Vulnerability </vt:lpstr>
      <vt:lpstr>Lesson Summary</vt:lpstr>
      <vt:lpstr>Lesson: Storage Security Domains</vt:lpstr>
      <vt:lpstr>Storage Security Domains</vt:lpstr>
      <vt:lpstr>Application Access Domain: Threats</vt:lpstr>
      <vt:lpstr>Securing the Application Access Domain</vt:lpstr>
      <vt:lpstr>Securing the Application Access Domain</vt:lpstr>
      <vt:lpstr>Management Access Domain: Threats</vt:lpstr>
      <vt:lpstr>Securing the Management Access Domain</vt:lpstr>
      <vt:lpstr>BURA Domain: Threats</vt:lpstr>
      <vt:lpstr>Protecting Secondary Storage and Replication Infrastructure</vt:lpstr>
      <vt:lpstr>Lesson Summary</vt:lpstr>
      <vt:lpstr>Lesson 3: Security Implementations in Storage Networking</vt:lpstr>
      <vt:lpstr>Security Implementation in SAN</vt:lpstr>
      <vt:lpstr>SAN Security Architecture – “defense-in-depth”</vt:lpstr>
      <vt:lpstr>Basic SAN Security Mechanism</vt:lpstr>
      <vt:lpstr>Array-based Volume Access Control</vt:lpstr>
      <vt:lpstr>Security on FC Switch Ports</vt:lpstr>
      <vt:lpstr>Switch-wide and Fabric-wide Access Control</vt:lpstr>
      <vt:lpstr>Logical Partitioning of a Fabric: VSAN</vt:lpstr>
      <vt:lpstr>Security Implementation in NAS </vt:lpstr>
      <vt:lpstr>NAS File Sharing: Windows ACLs</vt:lpstr>
      <vt:lpstr>NAS File Sharing: UNIX Permissions</vt:lpstr>
      <vt:lpstr>Authentication and Authorization</vt:lpstr>
      <vt:lpstr>Kerberos</vt:lpstr>
      <vt:lpstr>Kerberos authorization</vt:lpstr>
      <vt:lpstr>Network Layer Firewalls</vt:lpstr>
      <vt:lpstr>Securing Implementation in IP SAN</vt:lpstr>
      <vt:lpstr>One-Way CHAP Authentication</vt:lpstr>
      <vt:lpstr>Two-Way CHAP Authentication</vt:lpstr>
      <vt:lpstr>Securing IPSAN with iSNS discovery domains</vt:lpstr>
      <vt:lpstr>Lesson Summary</vt:lpstr>
      <vt:lpstr>Module Summary</vt:lpstr>
      <vt:lpstr>Check Your Knowledge</vt:lpstr>
      <vt:lpstr>Managing the Storage Infrastructure</vt:lpstr>
      <vt:lpstr>Managing the Storage Infrastructure</vt:lpstr>
      <vt:lpstr>Storage Infrastructure Management</vt:lpstr>
      <vt:lpstr>Lesson: Monitoring the Storage Infrastructure</vt:lpstr>
      <vt:lpstr>Monitoring Storage Infrastructure</vt:lpstr>
      <vt:lpstr>Parameters Monitored – Accessibility </vt:lpstr>
      <vt:lpstr>Parameters Monitored – Capacity</vt:lpstr>
      <vt:lpstr>Parameters Monitored – Performance</vt:lpstr>
      <vt:lpstr>Parameters Monitored – Security</vt:lpstr>
      <vt:lpstr>Monitoring Hosts </vt:lpstr>
      <vt:lpstr>Monitoring the SAN</vt:lpstr>
      <vt:lpstr>Monitoring Storage Arrays</vt:lpstr>
      <vt:lpstr>Accessibility Monitoring Example: Array Port Failure</vt:lpstr>
      <vt:lpstr>Accessibility Monitoring Example: HBA Failure</vt:lpstr>
      <vt:lpstr>Accessibility Monitoring Example: Switch Failure</vt:lpstr>
      <vt:lpstr>Capacity Monitoring Example: Storage Array</vt:lpstr>
      <vt:lpstr>Capacity Monitoring Example: File System Space</vt:lpstr>
      <vt:lpstr>Performance Monitoring Example: Array Port Utilization</vt:lpstr>
      <vt:lpstr>Performance Monitoring Example: Servers CPU Utilization</vt:lpstr>
      <vt:lpstr>Security Monitoring Example: Storage Array</vt:lpstr>
      <vt:lpstr>Alerting of Events</vt:lpstr>
      <vt:lpstr>Lesson Summary </vt:lpstr>
      <vt:lpstr>Lesson: Managing Storage Infrastructure</vt:lpstr>
      <vt:lpstr>Storage Infrastructure Management Activities</vt:lpstr>
      <vt:lpstr>Availability Management </vt:lpstr>
      <vt:lpstr>Capacity Management</vt:lpstr>
      <vt:lpstr>Performance Management</vt:lpstr>
      <vt:lpstr>Security Management</vt:lpstr>
      <vt:lpstr>Reporting</vt:lpstr>
      <vt:lpstr>Managing Example: Storage Allocation to New Host</vt:lpstr>
      <vt:lpstr>Managing Example: Configuring File System Space</vt:lpstr>
      <vt:lpstr>Managing Example: Chargeback Report</vt:lpstr>
      <vt:lpstr>Managing Example: Chargeback Report - Tasks</vt:lpstr>
      <vt:lpstr>Chargeback Report – Tasks, continued</vt:lpstr>
      <vt:lpstr>Storage Infrastructure Management Challenges</vt:lpstr>
      <vt:lpstr>Without Standards…</vt:lpstr>
      <vt:lpstr>Developing an Ideal Solution</vt:lpstr>
      <vt:lpstr>Storage Management Initiative (SMI)</vt:lpstr>
      <vt:lpstr>Enterprise Management Platforms (EMPs)</vt:lpstr>
      <vt:lpstr>Lesson Summary </vt:lpstr>
      <vt:lpstr>Module Summary</vt:lpstr>
      <vt:lpstr>      Check Your Knowledge</vt:lpstr>
    </vt:vector>
  </TitlesOfParts>
  <Company>EMC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Securing the Storage Infrastructure</dc:title>
  <dc:creator>Sagar Kotekar Patil</dc:creator>
  <cp:lastModifiedBy>rajshri shettar</cp:lastModifiedBy>
  <cp:revision>197</cp:revision>
  <dcterms:created xsi:type="dcterms:W3CDTF">2009-03-12T09:16:39Z</dcterms:created>
  <dcterms:modified xsi:type="dcterms:W3CDTF">2026-01-08T09:46:51Z</dcterms:modified>
</cp:coreProperties>
</file>